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170" r:id="rId23"/>
    <p:sldId id="4171" r:id="rId11"/>
    <p:sldId id="4172" r:id="rId12"/>
    <p:sldId id="4173" r:id="rId13"/>
    <p:sldId id="4174" r:id="rId14"/>
    <p:sldId id="4175" r:id="rId15"/>
    <p:sldId id="4176" r:id="rId16"/>
    <p:sldId id="4177" r:id="rId17"/>
    <p:sldId id="4178" r:id="rId18"/>
    <p:sldId id="4179" r:id="rId19"/>
    <p:sldId id="4180" r:id="rId20"/>
    <p:sldId id="4181" r:id="rId21"/>
    <p:sldId id="4182" r:id="rId22"/>
    <p:sldId id="41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4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518952" y="2926079"/>
            <a:ext cx="215066" cy="218168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6176889" y="3517513"/>
            <a:ext cx="45068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619548" y="1833372"/>
            <a:ext cx="2953511" cy="2953511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4729276" y="1943100"/>
            <a:ext cx="2734056" cy="2734056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4866436" y="2573121"/>
            <a:ext cx="2459736" cy="95097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4912156" y="3571646"/>
            <a:ext cx="2368296" cy="653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  <p:transition advTm="12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Tm="2200">
        <p159:morph option="byObject"/>
      </p:transition>
    </mc:Choice>
    <mc:Fallback>
      <p:transition spd="slow" advTm="22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Science &amp; Strategy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822960" y="1234440"/>
            <a:ext cx="1051560" cy="1066730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3" name="!!c1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4" name="!!c1_pill"/>
          <p:cNvSpPr/>
          <p:nvPr/>
        </p:nvSpPr>
        <p:spPr>
          <a:xfrm>
            <a:off x="822960" y="4983480"/>
            <a:ext cx="937808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0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Teams have difficulty building strategy to financial goals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22199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Data driven roadmap ensuring financial results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Profitable Segmentation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Cost of Acquisition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Integrated Strategy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224527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224527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224527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Alignment of goals &amp; tactics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Process &amp; Customer Engagement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2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2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3" name="!!c2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34" name="!!c2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5" name="!!c2_pill"/>
          <p:cNvSpPr/>
          <p:nvPr/>
        </p:nvSpPr>
        <p:spPr>
          <a:xfrm>
            <a:off x="822960" y="4983480"/>
            <a:ext cx="2335743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36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1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Legacy processes don’t work today</a:t>
            </a:r>
          </a:p>
        </p:txBody>
      </p:sp>
      <p:sp>
        <p:nvSpPr>
          <p:cNvPr id="43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Disciplines are siloed and focused on how we sell vs. how customers buy</a:t>
            </a:r>
          </a:p>
        </p:txBody>
      </p:sp>
      <p:sp>
        <p:nvSpPr>
          <p:cNvPr id="45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6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Relevant Sales Approach</a:t>
            </a:r>
          </a:p>
        </p:txBody>
      </p:sp>
      <p:sp>
        <p:nvSpPr>
          <p:cNvPr id="49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Marketing Enablement</a:t>
            </a:r>
          </a:p>
        </p:txBody>
      </p:sp>
      <p:sp>
        <p:nvSpPr>
          <p:cNvPr id="52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Customer Buying Journey Enablement</a:t>
            </a:r>
          </a:p>
        </p:txBody>
      </p:sp>
      <p:sp>
        <p:nvSpPr>
          <p:cNvPr id="55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Optimized Total Revenue Management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Art &amp; Talent Optimization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3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3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83" y="1439114"/>
            <a:ext cx="666712" cy="655958"/>
          </a:xfrm>
          <a:prstGeom prst="rect">
            <a:avLst/>
          </a:prstGeom>
        </p:spPr>
      </p:pic>
      <p:sp>
        <p:nvSpPr>
          <p:cNvPr id="30" name="!!c3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31" name="!!c3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32" name="!!c3_pill"/>
          <p:cNvSpPr/>
          <p:nvPr/>
        </p:nvSpPr>
        <p:spPr>
          <a:xfrm>
            <a:off x="822960" y="4983480"/>
            <a:ext cx="1690542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to build skills and competencies within teams and leaders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Performance plans for revenue teams built off operational mindset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Attract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Retain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Lead &amp; Coach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Build Performance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Development Path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Revenue Performance &amp; Metrics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4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4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31" name="!!c4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32" name="!!c4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Having the right metric for the right outcome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do we separate the performance of our people to that of the market, “wheat from the chaff”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Metric Development &amp; Benchmarking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Distribution Performance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NOI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ROI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CRM and Reporting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1BC337E-AE6D-35E6-6882-B8C8086D0D64}"/>
              </a:ext>
            </a:extLst>
          </p:cNvPr>
          <p:cNvSpPr txBox="1">
            <a:spLocks/>
          </p:cNvSpPr>
          <p:nvPr/>
        </p:nvSpPr>
        <p:spPr>
          <a:xfrm>
            <a:off x="8922726" y="6503763"/>
            <a:ext cx="3224189" cy="328295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121917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8111B1-F5BB-486D-8B3C-017EE72F0AF7}" type="slidenum">
              <a:rPr lang="en-US" sz="1000" smtClean="0"/>
              <a:pPr/>
              <a:t>22</a:t>
            </a:fld>
            <a:endParaRPr lang="en-US" sz="1000"/>
          </a:p>
        </p:txBody>
      </p:sp>
      <p:sp>
        <p:nvSpPr>
          <p:cNvPr id="12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000">
        <p159:morph option="byObject"/>
      </p:transition>
    </mc:Choice>
    <mc:Fallback>
      <p:transition spd="slow" advTm="4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