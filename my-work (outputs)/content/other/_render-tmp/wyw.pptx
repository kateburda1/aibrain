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5E026-B86F-B74B-B4B8-0924ADCCF1E6}" v="50" dt="2022-04-23T10:57:26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9E56-6BAE-DE03-6348-E7170758E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AFA89-0C26-287C-342A-EA73E570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4B83-4223-138E-C18B-C527A7EC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95E4E-F516-6CD5-71F0-D8CF0E80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EB0D-E502-7EEC-95DE-029E05DC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4BFD-7590-6A3A-0110-7E926030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602C-410D-2738-5A12-4B447A43E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13A2-864C-2663-AFB7-BA3D59A0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DD0C-3541-EFD8-301B-9A83F60A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AB7A6-8654-8396-056F-7406341D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0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563B-E988-D542-00D2-17FFE61D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324B0-F2D9-98D5-BD73-92C2C67A3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A33AA-9E4B-07E5-9438-8CD52DE3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E6D7-AB38-C414-F076-B1A38EB9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9150-29B1-DF7E-168C-B16DA50F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525B-48CC-5B94-F4D8-A5265974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7DEE-D661-0DC1-88E4-3610B79CC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785BA-48C2-D460-7276-2AD1AAEF0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3BF1A-CADE-C51F-DC8B-0095DF7E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04E79-2FCB-38BD-2932-7EB9BC92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1FFA-7274-F1FB-7782-CD6E9F36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7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5E3E-D50A-F03B-6468-52A3664E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61AA6-B813-F613-24DC-1AF5D2824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D01EA-0BC9-4F42-9D53-28240167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3C5B7-D452-F577-9A11-CFA2FD1CE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DA98C-4171-FD83-61C1-0FB67CAE7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0BA0-3F36-4A42-5DAC-F98865EB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E69FC-8312-E334-A227-946CC533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42993-FE94-0371-D68C-37ED83BE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1795-3587-2B9C-DDF9-C9D8E6CB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E3DD6-1F31-0FDC-E6BA-7FCAF58B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1B32B-872B-8BD9-715E-D7376AE2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21155-79B9-9203-815D-D3D0BE90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35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1EA1C-6090-E52C-C201-F42BF77A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D662-1CEA-C749-8905-41631A0E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410E1-196B-0C29-01B0-205D8ACE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3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BBD5-4D0A-91D7-5532-6AF22347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9AB98-2004-1889-AD6B-BBA256DF4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2E882-0034-7677-F19D-57EFC8761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27115-7E74-02F2-91CC-D736B030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24C9-4E98-E4AD-698E-33831ACF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26794-B201-1829-D256-2F5CB208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0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28CE-37A5-3831-3C5C-3B111B27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3B6DD-91B1-5F45-AABF-42FA38145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EF65E-F88E-E2D6-27B5-4C515DA0A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79162-D504-4744-54AC-A53756C0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A47C-6A23-B9CF-D8CE-732638F7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14DA1-197A-23FB-6202-EE07D548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3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8A65-5D62-06DB-81C1-9C5F4FA9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8952F-30FD-319E-23AB-CAC998468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52F6-CB4F-92D9-9BDD-92A501D0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52112-8135-3C73-778B-0E13FD56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08C2-5AAA-F2EC-8BC3-8BCB90F6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6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498C3-8F7E-00B8-277E-670EB2D7A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A5B3B-5701-DADD-9A26-E061DCD96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3133D-464D-69C8-F6AE-539689B4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516B4-5A7C-1012-94AB-3B4ADA56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64300-6D57-6CBF-D9EA-3F039D4E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2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22DE-07B6-903C-FE11-51D1DC07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F7CCB-0E76-FF95-A81B-E6B7360AD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5C9E-2DB2-6983-6444-03351ACB1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EDEF5-FA84-4D42-99B4-5B789CE2C8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66EF5-3A11-95D0-38C3-46B0A646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D8ED0-65DD-E9AB-9D60-C9D7F47F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7253654-F1F4-C11F-8CEA-8BA3CCFA829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6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1207247" y="5668459"/>
            <a:ext cx="960500" cy="9605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10023859" y="264078"/>
            <a:ext cx="933564" cy="947032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1234577" y="277743"/>
            <a:ext cx="960500" cy="96050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9967415" y="5638500"/>
            <a:ext cx="960500" cy="96050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08" y="5855410"/>
            <a:ext cx="608978" cy="599156"/>
          </a:xfrm>
          <a:prstGeom prst="rect">
            <a:avLst/>
          </a:prstGeom>
        </p:spPr>
      </p:pic>
      <p:sp>
        <p:nvSpPr>
          <p:cNvPr id="45" name="Arc 44">
            <a:extLst>
              <a:ext uri="{FF2B5EF4-FFF2-40B4-BE49-F238E27FC236}">
                <a16:creationId xmlns:a16="http://schemas.microsoft.com/office/drawing/2014/main" id="{E64E18D2-20F5-A2FF-CBFC-BA68FF0352B4}"/>
              </a:ext>
            </a:extLst>
          </p:cNvPr>
          <p:cNvSpPr/>
          <p:nvPr/>
        </p:nvSpPr>
        <p:spPr>
          <a:xfrm>
            <a:off x="2739255" y="327712"/>
            <a:ext cx="6736838" cy="5951589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rgbClr val="B523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0430C7FE-8607-33FB-38F4-5F6880CDC823}"/>
              </a:ext>
            </a:extLst>
          </p:cNvPr>
          <p:cNvSpPr/>
          <p:nvPr/>
        </p:nvSpPr>
        <p:spPr>
          <a:xfrm rot="16200000">
            <a:off x="2982744" y="74302"/>
            <a:ext cx="6150832" cy="6657653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DC345CA4-1A42-34C2-4A59-134D410D360F}"/>
              </a:ext>
            </a:extLst>
          </p:cNvPr>
          <p:cNvSpPr/>
          <p:nvPr/>
        </p:nvSpPr>
        <p:spPr>
          <a:xfrm rot="10800000">
            <a:off x="2719017" y="419973"/>
            <a:ext cx="6736838" cy="6024402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rgbClr val="B523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F4CF05BA-AA96-F48A-E55D-CCDC33BBBEC4}"/>
              </a:ext>
            </a:extLst>
          </p:cNvPr>
          <p:cNvSpPr/>
          <p:nvPr/>
        </p:nvSpPr>
        <p:spPr>
          <a:xfrm rot="5400000">
            <a:off x="3020521" y="-20488"/>
            <a:ext cx="6173949" cy="6743082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6B227B7-939A-AFDE-59C3-DEE06D428FED}"/>
              </a:ext>
            </a:extLst>
          </p:cNvPr>
          <p:cNvGrpSpPr/>
          <p:nvPr/>
        </p:nvGrpSpPr>
        <p:grpSpPr>
          <a:xfrm>
            <a:off x="3591124" y="904132"/>
            <a:ext cx="4992624" cy="4994031"/>
            <a:chOff x="3564691" y="928069"/>
            <a:chExt cx="4992624" cy="499403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BEB42C6-244D-6E72-F387-E6E6AC47572F}"/>
                </a:ext>
              </a:extLst>
            </p:cNvPr>
            <p:cNvSpPr/>
            <p:nvPr/>
          </p:nvSpPr>
          <p:spPr>
            <a:xfrm>
              <a:off x="3564691" y="928069"/>
              <a:ext cx="4992624" cy="499403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CA7C230-4127-0EB5-C216-AC2A1BE2A378}"/>
                </a:ext>
              </a:extLst>
            </p:cNvPr>
            <p:cNvSpPr/>
            <p:nvPr/>
          </p:nvSpPr>
          <p:spPr>
            <a:xfrm>
              <a:off x="4017319" y="1379841"/>
              <a:ext cx="4087368" cy="409048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005F6FF-E46E-D605-E87A-B86BAB602945}"/>
                </a:ext>
              </a:extLst>
            </p:cNvPr>
            <p:cNvSpPr/>
            <p:nvPr/>
          </p:nvSpPr>
          <p:spPr>
            <a:xfrm>
              <a:off x="4909721" y="2272127"/>
              <a:ext cx="2302565" cy="2305914"/>
            </a:xfrm>
            <a:prstGeom prst="ellipse">
              <a:avLst/>
            </a:prstGeom>
            <a:gradFill flip="none" rotWithShape="1">
              <a:gsLst>
                <a:gs pos="0">
                  <a:srgbClr val="BA3967"/>
                </a:gs>
                <a:gs pos="0">
                  <a:srgbClr val="89204A"/>
                </a:gs>
                <a:gs pos="73000">
                  <a:srgbClr val="E0E0E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D4247C3-41CE-70B2-5B15-E59918666016}"/>
                </a:ext>
              </a:extLst>
            </p:cNvPr>
            <p:cNvSpPr/>
            <p:nvPr/>
          </p:nvSpPr>
          <p:spPr>
            <a:xfrm>
              <a:off x="5578824" y="2950135"/>
              <a:ext cx="950976" cy="94989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0">
                  <a:schemeClr val="bg1">
                    <a:lumMod val="50000"/>
                  </a:schemeClr>
                </a:gs>
                <a:gs pos="73000">
                  <a:srgbClr val="E0E0E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Franklin Gothic Book" panose="020B0503020102020204" pitchFamily="34" charset="0"/>
              </a:endParaRP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FAB73E-4D6C-208F-227A-CA76A429551A}"/>
              </a:ext>
            </a:extLst>
          </p:cNvPr>
          <p:cNvCxnSpPr>
            <a:cxnSpLocks/>
            <a:stCxn id="53" idx="0"/>
            <a:endCxn id="54" idx="0"/>
          </p:cNvCxnSpPr>
          <p:nvPr/>
        </p:nvCxnSpPr>
        <p:spPr>
          <a:xfrm flipH="1">
            <a:off x="6080745" y="2248190"/>
            <a:ext cx="6692" cy="67800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5304B39-FD66-75C8-BE08-FF5B1FF0541E}"/>
              </a:ext>
            </a:extLst>
          </p:cNvPr>
          <p:cNvCxnSpPr>
            <a:cxnSpLocks/>
          </p:cNvCxnSpPr>
          <p:nvPr/>
        </p:nvCxnSpPr>
        <p:spPr>
          <a:xfrm>
            <a:off x="6531067" y="3578253"/>
            <a:ext cx="640590" cy="26733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A87B019-2F65-2018-C697-00980E94120D}"/>
              </a:ext>
            </a:extLst>
          </p:cNvPr>
          <p:cNvCxnSpPr>
            <a:cxnSpLocks/>
          </p:cNvCxnSpPr>
          <p:nvPr/>
        </p:nvCxnSpPr>
        <p:spPr>
          <a:xfrm flipH="1">
            <a:off x="5066971" y="3625016"/>
            <a:ext cx="600154" cy="3184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4CF9689-5819-3423-A43D-BD840B85D9FF}"/>
              </a:ext>
            </a:extLst>
          </p:cNvPr>
          <p:cNvSpPr txBox="1"/>
          <p:nvPr/>
        </p:nvSpPr>
        <p:spPr>
          <a:xfrm>
            <a:off x="5605257" y="3118556"/>
            <a:ext cx="957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Profitable Growth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1D40B0-134A-FF82-C66B-3E33FF7E6F2B}"/>
              </a:ext>
            </a:extLst>
          </p:cNvPr>
          <p:cNvCxnSpPr>
            <a:cxnSpLocks/>
          </p:cNvCxnSpPr>
          <p:nvPr/>
        </p:nvCxnSpPr>
        <p:spPr>
          <a:xfrm>
            <a:off x="3955880" y="1411610"/>
            <a:ext cx="1289733" cy="11578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A1A1905-D1FE-CBD8-C585-B215B99C70DB}"/>
              </a:ext>
            </a:extLst>
          </p:cNvPr>
          <p:cNvCxnSpPr>
            <a:cxnSpLocks/>
            <a:endCxn id="53" idx="5"/>
          </p:cNvCxnSpPr>
          <p:nvPr/>
        </p:nvCxnSpPr>
        <p:spPr>
          <a:xfrm flipH="1" flipV="1">
            <a:off x="6901516" y="4216411"/>
            <a:ext cx="1318763" cy="1106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D77899B-F3FF-882A-892B-60AF98A95A87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6901516" y="1411610"/>
            <a:ext cx="1325384" cy="11742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D7F4512-A20D-6284-70AE-C7B29B31FD78}"/>
              </a:ext>
            </a:extLst>
          </p:cNvPr>
          <p:cNvCxnSpPr>
            <a:cxnSpLocks/>
            <a:endCxn id="53" idx="3"/>
          </p:cNvCxnSpPr>
          <p:nvPr/>
        </p:nvCxnSpPr>
        <p:spPr>
          <a:xfrm flipV="1">
            <a:off x="3904981" y="4216411"/>
            <a:ext cx="1368376" cy="110572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BD38845-A5C8-3586-471E-53D55FAC91FD}"/>
              </a:ext>
            </a:extLst>
          </p:cNvPr>
          <p:cNvSpPr/>
          <p:nvPr/>
        </p:nvSpPr>
        <p:spPr>
          <a:xfrm>
            <a:off x="4194731" y="16433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65E5EE5-B39C-F5BA-D2FC-24C4B3902BF6}"/>
              </a:ext>
            </a:extLst>
          </p:cNvPr>
          <p:cNvSpPr/>
          <p:nvPr/>
        </p:nvSpPr>
        <p:spPr>
          <a:xfrm>
            <a:off x="4194731" y="501243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C49D297-C90B-50F8-F837-885D49006C81}"/>
              </a:ext>
            </a:extLst>
          </p:cNvPr>
          <p:cNvSpPr/>
          <p:nvPr/>
        </p:nvSpPr>
        <p:spPr>
          <a:xfrm>
            <a:off x="4539209" y="19481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7D004A1-C462-7C05-8068-1E19A5EE3E9C}"/>
              </a:ext>
            </a:extLst>
          </p:cNvPr>
          <p:cNvSpPr/>
          <p:nvPr/>
        </p:nvSpPr>
        <p:spPr>
          <a:xfrm>
            <a:off x="7853397" y="5015077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84DA9E7-280D-1AFA-0430-F67E11AD0C19}"/>
              </a:ext>
            </a:extLst>
          </p:cNvPr>
          <p:cNvSpPr/>
          <p:nvPr/>
        </p:nvSpPr>
        <p:spPr>
          <a:xfrm>
            <a:off x="7853397" y="16433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7BFA78C-6909-D62A-94A5-5C1D50918A92}"/>
              </a:ext>
            </a:extLst>
          </p:cNvPr>
          <p:cNvSpPr/>
          <p:nvPr/>
        </p:nvSpPr>
        <p:spPr>
          <a:xfrm>
            <a:off x="7501461" y="19481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CC2EFF2-6B62-E936-BE0D-956D54EC4A00}"/>
              </a:ext>
            </a:extLst>
          </p:cNvPr>
          <p:cNvSpPr/>
          <p:nvPr/>
        </p:nvSpPr>
        <p:spPr>
          <a:xfrm>
            <a:off x="4484153" y="4755044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62FBF68F-1FF3-19C4-5710-E78AF8FF4E53}"/>
              </a:ext>
            </a:extLst>
          </p:cNvPr>
          <p:cNvSpPr/>
          <p:nvPr/>
        </p:nvSpPr>
        <p:spPr>
          <a:xfrm>
            <a:off x="7501461" y="4755044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F7D1A7E-4A68-86A0-1C35-54362034C66A}"/>
              </a:ext>
            </a:extLst>
          </p:cNvPr>
          <p:cNvSpPr txBox="1"/>
          <p:nvPr/>
        </p:nvSpPr>
        <p:spPr>
          <a:xfrm>
            <a:off x="10098094" y="1326574"/>
            <a:ext cx="1718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Science &amp; Strategy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93A2087-60BB-0FFE-B0C4-14CE90C706F3}"/>
              </a:ext>
            </a:extLst>
          </p:cNvPr>
          <p:cNvSpPr txBox="1"/>
          <p:nvPr/>
        </p:nvSpPr>
        <p:spPr>
          <a:xfrm>
            <a:off x="174265" y="3675569"/>
            <a:ext cx="1951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Art &amp; Talent Optimization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550094-E96E-B8F3-5A2A-942EEECF6670}"/>
              </a:ext>
            </a:extLst>
          </p:cNvPr>
          <p:cNvSpPr txBox="1"/>
          <p:nvPr/>
        </p:nvSpPr>
        <p:spPr>
          <a:xfrm>
            <a:off x="243904" y="1272205"/>
            <a:ext cx="171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Revenue Performance &amp; Metrics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08EA2C5-AA4B-CBA4-39C2-624A2983BF2E}"/>
              </a:ext>
            </a:extLst>
          </p:cNvPr>
          <p:cNvSpPr txBox="1"/>
          <p:nvPr/>
        </p:nvSpPr>
        <p:spPr>
          <a:xfrm>
            <a:off x="10101704" y="3591511"/>
            <a:ext cx="171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Process &amp; Customer Engagement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3BCDFB-F758-F6EC-B662-02132AAA5AAD}"/>
              </a:ext>
            </a:extLst>
          </p:cNvPr>
          <p:cNvSpPr txBox="1"/>
          <p:nvPr/>
        </p:nvSpPr>
        <p:spPr>
          <a:xfrm>
            <a:off x="402848" y="1748359"/>
            <a:ext cx="18804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“We have a lot of reporting, but does it show how or if we are doing better?”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BF27E03-9061-5FE6-3C4E-C4A595A8A365}"/>
              </a:ext>
            </a:extLst>
          </p:cNvPr>
          <p:cNvSpPr txBox="1"/>
          <p:nvPr/>
        </p:nvSpPr>
        <p:spPr>
          <a:xfrm>
            <a:off x="379077" y="3974744"/>
            <a:ext cx="188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400EDFB-C4BE-2C0A-D65E-C88C158A727F}"/>
              </a:ext>
            </a:extLst>
          </p:cNvPr>
          <p:cNvSpPr txBox="1"/>
          <p:nvPr/>
        </p:nvSpPr>
        <p:spPr>
          <a:xfrm>
            <a:off x="10404829" y="1607782"/>
            <a:ext cx="18804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“Our targets are increasing, but we keep doing the same thing?”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CAF12C5-2855-3BE2-AFC8-636FE13D0B27}"/>
              </a:ext>
            </a:extLst>
          </p:cNvPr>
          <p:cNvSpPr txBox="1"/>
          <p:nvPr/>
        </p:nvSpPr>
        <p:spPr>
          <a:xfrm>
            <a:off x="10404829" y="3974744"/>
            <a:ext cx="1718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“Are we showing up relevant to our customers?  How do we not become commoditized?”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22521B5-D757-331E-8011-78B9AD5DC6CD}"/>
              </a:ext>
            </a:extLst>
          </p:cNvPr>
          <p:cNvSpPr txBox="1"/>
          <p:nvPr/>
        </p:nvSpPr>
        <p:spPr>
          <a:xfrm>
            <a:off x="10252429" y="2193281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Who we hunt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6CBB3D4-60BF-B960-3A28-A861DCF92313}"/>
              </a:ext>
            </a:extLst>
          </p:cNvPr>
          <p:cNvSpPr txBox="1"/>
          <p:nvPr/>
        </p:nvSpPr>
        <p:spPr>
          <a:xfrm>
            <a:off x="309935" y="4800676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develop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0BF162D-5FBB-07CC-C722-D48E85FD52CD}"/>
              </a:ext>
            </a:extLst>
          </p:cNvPr>
          <p:cNvSpPr txBox="1"/>
          <p:nvPr/>
        </p:nvSpPr>
        <p:spPr>
          <a:xfrm>
            <a:off x="10196334" y="4814480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hunt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FCE698E-0273-41CD-0BDC-AC2DE85E6FFC}"/>
              </a:ext>
            </a:extLst>
          </p:cNvPr>
          <p:cNvSpPr txBox="1"/>
          <p:nvPr/>
        </p:nvSpPr>
        <p:spPr>
          <a:xfrm>
            <a:off x="249316" y="2427272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measure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B21E8A-EBD9-3222-256E-C909947407F5}"/>
              </a:ext>
            </a:extLst>
          </p:cNvPr>
          <p:cNvSpPr txBox="1"/>
          <p:nvPr/>
        </p:nvSpPr>
        <p:spPr>
          <a:xfrm>
            <a:off x="10759651" y="2629759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IGNITE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BC9D8D1-EE5A-2A3C-2B7D-4351131CFCD2}"/>
              </a:ext>
            </a:extLst>
          </p:cNvPr>
          <p:cNvSpPr txBox="1"/>
          <p:nvPr/>
        </p:nvSpPr>
        <p:spPr>
          <a:xfrm>
            <a:off x="10696175" y="5217058"/>
            <a:ext cx="11160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CONNECT</a:t>
            </a:r>
          </a:p>
          <a:p>
            <a:r>
              <a:rPr lang="en-US" sz="1100" dirty="0">
                <a:latin typeface="Franklin Gothic Book" panose="020B0503020102020204" pitchFamily="34" charset="0"/>
              </a:rPr>
              <a:t>ABM PROGRAM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67A3487-B704-8341-3755-071F34DF88C8}"/>
              </a:ext>
            </a:extLst>
          </p:cNvPr>
          <p:cNvSpPr txBox="1"/>
          <p:nvPr/>
        </p:nvSpPr>
        <p:spPr>
          <a:xfrm>
            <a:off x="522378" y="5171892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IGNITE TALENT</a:t>
            </a:r>
          </a:p>
        </p:txBody>
      </p:sp>
      <p:pic>
        <p:nvPicPr>
          <p:cNvPr id="133" name="Picture 132" descr="Icon&#10;&#10;Description automatically generated">
            <a:extLst>
              <a:ext uri="{FF2B5EF4-FFF2-40B4-BE49-F238E27FC236}">
                <a16:creationId xmlns:a16="http://schemas.microsoft.com/office/drawing/2014/main" id="{7B576F3F-C55C-4A6B-DA74-D64508F10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006" y="2552705"/>
            <a:ext cx="380211" cy="382171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F680D10D-B6B5-64CC-60BF-74B2BE8DADD2}"/>
              </a:ext>
            </a:extLst>
          </p:cNvPr>
          <p:cNvSpPr txBox="1"/>
          <p:nvPr/>
        </p:nvSpPr>
        <p:spPr>
          <a:xfrm rot="18542943">
            <a:off x="5098640" y="2782351"/>
            <a:ext cx="1511084" cy="91972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Sales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8A146F3-D925-1A1B-8DB3-F39B3DC5C291}"/>
              </a:ext>
            </a:extLst>
          </p:cNvPr>
          <p:cNvSpPr txBox="1"/>
          <p:nvPr/>
        </p:nvSpPr>
        <p:spPr>
          <a:xfrm>
            <a:off x="5353834" y="3118556"/>
            <a:ext cx="1511084" cy="94262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Pricing / </a:t>
            </a:r>
          </a:p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Rev Mgmt.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A1A7BA8-1E21-A2ED-994F-C2DBA0E9B241}"/>
              </a:ext>
            </a:extLst>
          </p:cNvPr>
          <p:cNvSpPr txBox="1"/>
          <p:nvPr/>
        </p:nvSpPr>
        <p:spPr>
          <a:xfrm rot="3544395">
            <a:off x="5565545" y="2777453"/>
            <a:ext cx="1511084" cy="9138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Marketing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F7298C-7ACF-A75C-977B-0C68548B382A}"/>
              </a:ext>
            </a:extLst>
          </p:cNvPr>
          <p:cNvSpPr txBox="1"/>
          <p:nvPr/>
        </p:nvSpPr>
        <p:spPr>
          <a:xfrm>
            <a:off x="5382602" y="4657326"/>
            <a:ext cx="1441681" cy="66888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Focus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DEC2C54-BE40-4A8F-6417-2AF7A5FBFF23}"/>
              </a:ext>
            </a:extLst>
          </p:cNvPr>
          <p:cNvSpPr txBox="1"/>
          <p:nvPr/>
        </p:nvSpPr>
        <p:spPr>
          <a:xfrm>
            <a:off x="5402207" y="5176774"/>
            <a:ext cx="1402471" cy="52934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Framework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016618F-B7F9-9632-21ED-1EF2611EB908}"/>
              </a:ext>
            </a:extLst>
          </p:cNvPr>
          <p:cNvSpPr txBox="1"/>
          <p:nvPr/>
        </p:nvSpPr>
        <p:spPr>
          <a:xfrm>
            <a:off x="5409563" y="5463786"/>
            <a:ext cx="1387759" cy="56424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Foundation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BB7F732-13A0-B075-E166-948E77939EB0}"/>
              </a:ext>
            </a:extLst>
          </p:cNvPr>
          <p:cNvSpPr txBox="1"/>
          <p:nvPr/>
        </p:nvSpPr>
        <p:spPr>
          <a:xfrm>
            <a:off x="6183784" y="129207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Profitable Segmentation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A7B6EEE-56DF-392B-DC9F-8702A25C1E26}"/>
              </a:ext>
            </a:extLst>
          </p:cNvPr>
          <p:cNvSpPr txBox="1"/>
          <p:nvPr/>
        </p:nvSpPr>
        <p:spPr>
          <a:xfrm>
            <a:off x="9100335" y="3581553"/>
            <a:ext cx="73927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Relevant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Sales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Approach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84629D9-A2F1-3502-34C7-0757BC2C1FD4}"/>
              </a:ext>
            </a:extLst>
          </p:cNvPr>
          <p:cNvSpPr txBox="1"/>
          <p:nvPr/>
        </p:nvSpPr>
        <p:spPr>
          <a:xfrm>
            <a:off x="7664291" y="637132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Cost of </a:t>
            </a:r>
          </a:p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Acquisition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05EAC14-B2CA-3F35-8907-C7C610CC756B}"/>
              </a:ext>
            </a:extLst>
          </p:cNvPr>
          <p:cNvSpPr txBox="1"/>
          <p:nvPr/>
        </p:nvSpPr>
        <p:spPr>
          <a:xfrm>
            <a:off x="8477030" y="1388129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Integrated Strategy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E63BE4D-4D4D-16B2-2FD8-FFF7A4D7A1A1}"/>
              </a:ext>
            </a:extLst>
          </p:cNvPr>
          <p:cNvSpPr txBox="1"/>
          <p:nvPr/>
        </p:nvSpPr>
        <p:spPr>
          <a:xfrm>
            <a:off x="9059236" y="2536418"/>
            <a:ext cx="74962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Alignment of goals &amp; tactics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9138CB0-3220-9B65-5D67-E405F25CF35F}"/>
              </a:ext>
            </a:extLst>
          </p:cNvPr>
          <p:cNvSpPr txBox="1"/>
          <p:nvPr/>
        </p:nvSpPr>
        <p:spPr>
          <a:xfrm>
            <a:off x="6223236" y="6133840"/>
            <a:ext cx="10569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Optimized Total Revenue Management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ECE8D25-EBC4-7B57-4FDD-9C6ABED2F2DE}"/>
              </a:ext>
            </a:extLst>
          </p:cNvPr>
          <p:cNvSpPr txBox="1"/>
          <p:nvPr/>
        </p:nvSpPr>
        <p:spPr>
          <a:xfrm>
            <a:off x="3256420" y="1278305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NOI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D95B698-8941-5E16-49FB-3666BE5CAFAE}"/>
              </a:ext>
            </a:extLst>
          </p:cNvPr>
          <p:cNvSpPr txBox="1"/>
          <p:nvPr/>
        </p:nvSpPr>
        <p:spPr>
          <a:xfrm>
            <a:off x="3599662" y="781380"/>
            <a:ext cx="965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Distribution Performance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77AD61-063C-D927-7EF0-A38F6BDE2BE4}"/>
              </a:ext>
            </a:extLst>
          </p:cNvPr>
          <p:cNvSpPr txBox="1"/>
          <p:nvPr/>
        </p:nvSpPr>
        <p:spPr>
          <a:xfrm>
            <a:off x="2822642" y="1990543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ROI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A5CD845-9542-D783-EA96-1024804C39DA}"/>
              </a:ext>
            </a:extLst>
          </p:cNvPr>
          <p:cNvSpPr txBox="1"/>
          <p:nvPr/>
        </p:nvSpPr>
        <p:spPr>
          <a:xfrm>
            <a:off x="4422863" y="293406"/>
            <a:ext cx="15311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Metric Development &amp; Benchmarking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4AA173B-8972-4B07-8AEB-CFBE18A37700}"/>
              </a:ext>
            </a:extLst>
          </p:cNvPr>
          <p:cNvSpPr txBox="1"/>
          <p:nvPr/>
        </p:nvSpPr>
        <p:spPr>
          <a:xfrm>
            <a:off x="7732611" y="5563351"/>
            <a:ext cx="1056927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chemeClr val="bg1"/>
                </a:solidFill>
                <a:latin typeface="Franklin Gothic Book" panose="020B0503020102020204" pitchFamily="34" charset="0"/>
              </a:rPr>
              <a:t>Customer Buying Journey</a:t>
            </a:r>
          </a:p>
          <a:p>
            <a:r>
              <a:rPr lang="en-US" sz="950" dirty="0">
                <a:solidFill>
                  <a:schemeClr val="bg1"/>
                </a:solidFill>
                <a:latin typeface="Franklin Gothic Book" panose="020B0503020102020204" pitchFamily="34" charset="0"/>
              </a:rPr>
              <a:t>Enablement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1E4477B-2B66-F665-AE80-09A468FF7E53}"/>
              </a:ext>
            </a:extLst>
          </p:cNvPr>
          <p:cNvSpPr txBox="1"/>
          <p:nvPr/>
        </p:nvSpPr>
        <p:spPr>
          <a:xfrm>
            <a:off x="2412072" y="2760564"/>
            <a:ext cx="739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CRM and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Reporting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C6A8EA-4839-165F-BB1F-11CA076639F5}"/>
              </a:ext>
            </a:extLst>
          </p:cNvPr>
          <p:cNvSpPr txBox="1"/>
          <p:nvPr/>
        </p:nvSpPr>
        <p:spPr>
          <a:xfrm>
            <a:off x="8731065" y="4649980"/>
            <a:ext cx="105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Franklin Gothic Book" panose="020B0503020102020204" pitchFamily="34" charset="0"/>
              </a:rPr>
              <a:t>Marketing Enablement</a:t>
            </a:r>
            <a:endParaRPr lang="en-US" sz="9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8D97300-A41E-B672-EB83-6945EE3D1E69}"/>
              </a:ext>
            </a:extLst>
          </p:cNvPr>
          <p:cNvSpPr txBox="1"/>
          <p:nvPr/>
        </p:nvSpPr>
        <p:spPr>
          <a:xfrm>
            <a:off x="3204021" y="5171892"/>
            <a:ext cx="739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Lead &amp; Coach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730F33D-C5AC-4D9A-DA38-D508B42199CB}"/>
              </a:ext>
            </a:extLst>
          </p:cNvPr>
          <p:cNvSpPr txBox="1"/>
          <p:nvPr/>
        </p:nvSpPr>
        <p:spPr>
          <a:xfrm>
            <a:off x="3971880" y="5831866"/>
            <a:ext cx="10569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Build Performance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11EAA8A-98D1-7D22-19AA-469C0733C595}"/>
              </a:ext>
            </a:extLst>
          </p:cNvPr>
          <p:cNvSpPr txBox="1"/>
          <p:nvPr/>
        </p:nvSpPr>
        <p:spPr>
          <a:xfrm>
            <a:off x="5031908" y="6167576"/>
            <a:ext cx="10249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Development Path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CE67BE-7BF6-D80A-B39C-10E2964DDBCF}"/>
              </a:ext>
            </a:extLst>
          </p:cNvPr>
          <p:cNvSpPr txBox="1"/>
          <p:nvPr/>
        </p:nvSpPr>
        <p:spPr>
          <a:xfrm>
            <a:off x="2628324" y="4403410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Retain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AD0FBDF-31D4-01C6-34EB-E0FEEFBC345B}"/>
              </a:ext>
            </a:extLst>
          </p:cNvPr>
          <p:cNvSpPr txBox="1"/>
          <p:nvPr/>
        </p:nvSpPr>
        <p:spPr>
          <a:xfrm>
            <a:off x="2394359" y="3662344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Attract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87902B6-4F83-0059-60A9-54A38AA2151E}"/>
              </a:ext>
            </a:extLst>
          </p:cNvPr>
          <p:cNvSpPr txBox="1"/>
          <p:nvPr/>
        </p:nvSpPr>
        <p:spPr>
          <a:xfrm>
            <a:off x="6673613" y="1173885"/>
            <a:ext cx="14251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Teams have difficulty building strategy to financial goals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854E679-BC62-DAED-D630-9CB91A3A7333}"/>
              </a:ext>
            </a:extLst>
          </p:cNvPr>
          <p:cNvSpPr txBox="1"/>
          <p:nvPr/>
        </p:nvSpPr>
        <p:spPr>
          <a:xfrm>
            <a:off x="7331513" y="2170312"/>
            <a:ext cx="14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Data driven roadmap ensuring financial results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1E0FE83-113C-C554-B26F-AF487D1900C9}"/>
              </a:ext>
            </a:extLst>
          </p:cNvPr>
          <p:cNvSpPr txBox="1"/>
          <p:nvPr/>
        </p:nvSpPr>
        <p:spPr>
          <a:xfrm>
            <a:off x="6777988" y="4735310"/>
            <a:ext cx="81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Legacy processes don’t work today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9206A8A-702C-5BAB-1520-CD538534816E}"/>
              </a:ext>
            </a:extLst>
          </p:cNvPr>
          <p:cNvSpPr txBox="1"/>
          <p:nvPr/>
        </p:nvSpPr>
        <p:spPr>
          <a:xfrm>
            <a:off x="4792629" y="4604426"/>
            <a:ext cx="10423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How to build skills and competencies within teams and leaders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340914-3998-5FDA-6CE0-12FED3D0B8B5}"/>
              </a:ext>
            </a:extLst>
          </p:cNvPr>
          <p:cNvSpPr txBox="1"/>
          <p:nvPr/>
        </p:nvSpPr>
        <p:spPr>
          <a:xfrm>
            <a:off x="3581392" y="3933450"/>
            <a:ext cx="8099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Performance plans for revenue teams built off operational mindset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62AE231-A61F-D641-0FEE-EC5A6D508A8D}"/>
              </a:ext>
            </a:extLst>
          </p:cNvPr>
          <p:cNvSpPr txBox="1"/>
          <p:nvPr/>
        </p:nvSpPr>
        <p:spPr>
          <a:xfrm>
            <a:off x="3873575" y="2128460"/>
            <a:ext cx="844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How do we separate the performance of our people to that of the market, “wheat from the chaff”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0003360-1960-3EB9-33BC-5CF508743FB7}"/>
              </a:ext>
            </a:extLst>
          </p:cNvPr>
          <p:cNvSpPr txBox="1"/>
          <p:nvPr/>
        </p:nvSpPr>
        <p:spPr>
          <a:xfrm>
            <a:off x="4326875" y="1308461"/>
            <a:ext cx="14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Having the right metric for the right outcome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F819C18-FE60-A16B-4055-373E9395B607}"/>
              </a:ext>
            </a:extLst>
          </p:cNvPr>
          <p:cNvSpPr txBox="1"/>
          <p:nvPr/>
        </p:nvSpPr>
        <p:spPr>
          <a:xfrm>
            <a:off x="7930990" y="4029650"/>
            <a:ext cx="10569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Disciplines are siloed and focused on how we sell vs. how customers buy</a:t>
            </a:r>
          </a:p>
        </p:txBody>
      </p:sp>
    </p:spTree>
    <p:extLst>
      <p:ext uri="{BB962C8B-B14F-4D97-AF65-F5344CB8AC3E}">
        <p14:creationId xmlns:p14="http://schemas.microsoft.com/office/powerpoint/2010/main" val="235584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244</Words>
  <Application>Microsoft Macintosh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Franklin Gothic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3</cp:revision>
  <dcterms:created xsi:type="dcterms:W3CDTF">2022-04-22T21:51:48Z</dcterms:created>
  <dcterms:modified xsi:type="dcterms:W3CDTF">2026-09-30T01:30:39Z</dcterms:modified>
</cp:coreProperties>
</file>