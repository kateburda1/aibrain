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charcoal panel"/>
          <p:cNvSpPr/>
          <p:nvPr/>
        </p:nvSpPr>
        <p:spPr>
          <a:xfrm>
            <a:off x="2926080" y="274320"/>
            <a:ext cx="3931920" cy="1783080"/>
          </a:xfrm>
          <a:prstGeom prst="rect">
            <a:avLst/>
          </a:prstGeom>
          <a:solidFill>
            <a:srgbClr val="1C1112"/>
          </a:solidFill>
          <a:ln>
            <a:noFill/>
          </a:ln>
          <a:effectLst/>
        </p:spPr>
        <p:txBody>
          <a:bodyPr rtlCol="0" anchor="ctr"/>
          <a:lstStyle/>
          <a:p>
            <a:pPr algn="ctr"/>
          </a:p>
        </p:txBody>
      </p:sp>
      <p:pic>
        <p:nvPicPr>
          <p:cNvPr id="3" name="Header coral angle" descr="coral_angle.png"/>
          <p:cNvPicPr>
            <a:picLocks noChangeAspect="1"/>
          </p:cNvPicPr>
          <p:nvPr/>
        </p:nvPicPr>
        <p:blipFill>
          <a:blip r:embed="rId2"/>
          <a:stretch>
            <a:fillRect/>
          </a:stretch>
        </p:blipFill>
        <p:spPr>
          <a:xfrm>
            <a:off x="0" y="0"/>
            <a:ext cx="4709160" cy="2286000"/>
          </a:xfrm>
          <a:prstGeom prst="rect">
            <a:avLst/>
          </a:prstGeom>
        </p:spPr>
      </p:pic>
      <p:pic>
        <p:nvPicPr>
          <p:cNvPr id="4" name="Ignite logo" descr="logo_light_crop.png"/>
          <p:cNvPicPr>
            <a:picLocks noChangeAspect="1"/>
          </p:cNvPicPr>
          <p:nvPr/>
        </p:nvPicPr>
        <p:blipFill>
          <a:blip r:embed="rId3"/>
          <a:stretch>
            <a:fillRect/>
          </a:stretch>
        </p:blipFill>
        <p:spPr>
          <a:xfrm>
            <a:off x="4583091" y="457199"/>
            <a:ext cx="1954868" cy="1417320"/>
          </a:xfrm>
          <a:prstGeom prst="rect">
            <a:avLst/>
          </a:prstGeom>
        </p:spPr>
      </p:pic>
      <p:sp>
        <p:nvSpPr>
          <p:cNvPr id="5" name="Header eyebrow"/>
          <p:cNvSpPr txBox="1"/>
          <p:nvPr/>
        </p:nvSpPr>
        <p:spPr>
          <a:xfrm>
            <a:off x="274320" y="219456"/>
            <a:ext cx="3886200" cy="219456"/>
          </a:xfrm>
          <a:prstGeom prst="rect">
            <a:avLst/>
          </a:prstGeom>
          <a:noFill/>
        </p:spPr>
        <p:txBody>
          <a:bodyPr wrap="square" lIns="0" tIns="0" rIns="0" bIns="0" anchor="t">
            <a:noAutofit/>
          </a:bodyPr>
          <a:lstStyle/>
          <a:p>
            <a:pPr algn="l">
              <a:lnSpc>
                <a:spcPct val="100000"/>
              </a:lnSpc>
              <a:spcBef>
                <a:spcPts val="0"/>
              </a:spcBef>
              <a:spcAft>
                <a:spcPts val="0"/>
              </a:spcAft>
            </a:pPr>
            <a:r>
              <a:rPr sz="1000" b="1" i="0">
                <a:solidFill>
                  <a:srgbClr val="FFFFFF"/>
                </a:solidFill>
                <a:latin typeface="Galyon"/>
              </a:rPr>
              <a:t>THE AGENTIC PLATFORM FOR REVENUE STRATEGY</a:t>
            </a:r>
          </a:p>
        </p:txBody>
      </p:sp>
      <p:sp>
        <p:nvSpPr>
          <p:cNvPr id="6" name="Header headline"/>
          <p:cNvSpPr txBox="1"/>
          <p:nvPr/>
        </p:nvSpPr>
        <p:spPr>
          <a:xfrm>
            <a:off x="274320" y="457200"/>
            <a:ext cx="3657600" cy="868680"/>
          </a:xfrm>
          <a:prstGeom prst="rect">
            <a:avLst/>
          </a:prstGeom>
          <a:noFill/>
        </p:spPr>
        <p:txBody>
          <a:bodyPr wrap="square" lIns="0" tIns="0" rIns="0" bIns="0" anchor="t">
            <a:noAutofit/>
          </a:bodyPr>
          <a:lstStyle/>
          <a:p>
            <a:pPr algn="l">
              <a:lnSpc>
                <a:spcPct val="95000"/>
              </a:lnSpc>
              <a:spcBef>
                <a:spcPts val="0"/>
              </a:spcBef>
              <a:spcAft>
                <a:spcPts val="0"/>
              </a:spcAft>
            </a:pPr>
            <a:r>
              <a:rPr sz="1900" b="1" i="0">
                <a:solidFill>
                  <a:srgbClr val="FFFFFF"/>
                </a:solidFill>
                <a:latin typeface="Galyon"/>
              </a:rPr>
              <a:t>Ignite replaces activity</a:t>
            </a:r>
            <a:br/>
            <a:r>
              <a:rPr sz="1900" b="1" i="0">
                <a:solidFill>
                  <a:srgbClr val="FFFFFF"/>
                </a:solidFill>
                <a:latin typeface="Galyon"/>
              </a:rPr>
              <a:t>with strategy, and proves</a:t>
            </a:r>
            <a:br/>
            <a:r>
              <a:rPr sz="1900" b="1" i="0">
                <a:solidFill>
                  <a:srgbClr val="FFFFFF"/>
                </a:solidFill>
                <a:latin typeface="Galyon"/>
              </a:rPr>
              <a:t>it worked.</a:t>
            </a:r>
          </a:p>
        </p:txBody>
      </p:sp>
      <p:sp>
        <p:nvSpPr>
          <p:cNvPr id="7" name="Header placing line"/>
          <p:cNvSpPr txBox="1"/>
          <p:nvPr/>
        </p:nvSpPr>
        <p:spPr>
          <a:xfrm>
            <a:off x="274320" y="1371600"/>
            <a:ext cx="3108960" cy="731520"/>
          </a:xfrm>
          <a:prstGeom prst="rect">
            <a:avLst/>
          </a:prstGeom>
          <a:noFill/>
        </p:spPr>
        <p:txBody>
          <a:bodyPr wrap="square" lIns="0" tIns="0" rIns="0" bIns="0" anchor="t">
            <a:noAutofit/>
          </a:bodyPr>
          <a:lstStyle/>
          <a:p>
            <a:pPr algn="l">
              <a:lnSpc>
                <a:spcPct val="100000"/>
              </a:lnSpc>
              <a:spcBef>
                <a:spcPts val="0"/>
              </a:spcBef>
              <a:spcAft>
                <a:spcPts val="400"/>
              </a:spcAft>
            </a:pPr>
            <a:r>
              <a:rPr sz="1100" b="0" i="0">
                <a:solidFill>
                  <a:srgbClr val="FFFFFF"/>
                </a:solidFill>
                <a:latin typeface="Galyon"/>
              </a:rPr>
              <a:t>Right, or just lucky? Now you'll know.</a:t>
            </a:r>
          </a:p>
          <a:p>
            <a:pPr algn="l">
              <a:lnSpc>
                <a:spcPct val="100000"/>
              </a:lnSpc>
              <a:spcBef>
                <a:spcPts val="0"/>
              </a:spcBef>
              <a:spcAft>
                <a:spcPts val="0"/>
              </a:spcAft>
            </a:pPr>
            <a:r>
              <a:rPr sz="1200" b="1" i="0">
                <a:solidFill>
                  <a:srgbClr val="FFFFFF"/>
                </a:solidFill>
                <a:latin typeface="Galyon"/>
              </a:rPr>
              <a:t>do less. make it mean more.</a:t>
            </a:r>
          </a:p>
        </p:txBody>
      </p:sp>
      <p:sp>
        <p:nvSpPr>
          <p:cNvPr id="8" name="Panel Problem"/>
          <p:cNvSpPr/>
          <p:nvPr/>
        </p:nvSpPr>
        <p:spPr>
          <a:xfrm>
            <a:off x="228600" y="2377440"/>
            <a:ext cx="6400800" cy="1645920"/>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PROBLEM</a:t>
            </a:r>
          </a:p>
          <a:p>
            <a:pPr algn="l">
              <a:lnSpc>
                <a:spcPct val="100000"/>
              </a:lnSpc>
              <a:spcBef>
                <a:spcPts val="0"/>
              </a:spcBef>
              <a:spcAft>
                <a:spcPts val="300"/>
              </a:spcAft>
            </a:pPr>
            <a:r>
              <a:rPr sz="1050" b="1" i="0">
                <a:solidFill>
                  <a:srgbClr val="1C1112"/>
                </a:solidFill>
                <a:latin typeface="Galyon"/>
              </a:rPr>
              <a:t>Busy isn't a strategy.</a:t>
            </a:r>
          </a:p>
          <a:p>
            <a:pPr algn="l">
              <a:lnSpc>
                <a:spcPct val="100000"/>
              </a:lnSpc>
              <a:spcBef>
                <a:spcPts val="0"/>
              </a:spcBef>
              <a:spcAft>
                <a:spcPts val="0"/>
              </a:spcAft>
            </a:pPr>
            <a:r>
              <a:rPr sz="1050" b="0" i="0">
                <a:solidFill>
                  <a:srgbClr val="1C1112"/>
                </a:solidFill>
                <a:latin typeface="Galyon"/>
              </a:rPr>
              <a:t>Talented teams, good tools, a budget, a forecast, and a 30-60-90 list for every hotel. Then the market outruns the forecast and the year turns into reacting. Nobody dropped the ball. Planning was built for budgets and task lists, so great teams drown in activity, starved for impact.</a:t>
            </a:r>
          </a:p>
        </p:txBody>
      </p:sp>
      <p:sp>
        <p:nvSpPr>
          <p:cNvPr id="9" name="Stat 1"/>
          <p:cNvSpPr txBox="1"/>
          <p:nvPr/>
        </p:nvSpPr>
        <p:spPr>
          <a:xfrm>
            <a:off x="356616"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3 months</a:t>
            </a:r>
          </a:p>
          <a:p>
            <a:pPr algn="l">
              <a:lnSpc>
                <a:spcPct val="95000"/>
              </a:lnSpc>
              <a:spcBef>
                <a:spcPts val="0"/>
              </a:spcBef>
              <a:spcAft>
                <a:spcPts val="0"/>
              </a:spcAft>
            </a:pPr>
            <a:r>
              <a:rPr sz="950" b="0" i="0">
                <a:solidFill>
                  <a:srgbClr val="1C1112"/>
                </a:solidFill>
                <a:latin typeface="Galyon"/>
              </a:rPr>
              <a:t>at best, from spotting a shift to acting on it. Results take longer.</a:t>
            </a:r>
          </a:p>
        </p:txBody>
      </p:sp>
      <p:sp>
        <p:nvSpPr>
          <p:cNvPr id="10" name="Stat 2"/>
          <p:cNvSpPr txBox="1"/>
          <p:nvPr/>
        </p:nvSpPr>
        <p:spPr>
          <a:xfrm>
            <a:off x="1920240"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30-60-90</a:t>
            </a:r>
          </a:p>
          <a:p>
            <a:pPr algn="l">
              <a:lnSpc>
                <a:spcPct val="95000"/>
              </a:lnSpc>
              <a:spcBef>
                <a:spcPts val="0"/>
              </a:spcBef>
              <a:spcAft>
                <a:spcPts val="0"/>
              </a:spcAft>
            </a:pPr>
            <a:r>
              <a:rPr sz="950" b="0" i="0">
                <a:solidFill>
                  <a:srgbClr val="1C1112"/>
                </a:solidFill>
                <a:latin typeface="Galyon"/>
              </a:rPr>
              <a:t>day task lists in the field, the same as they have always been</a:t>
            </a:r>
          </a:p>
        </p:txBody>
      </p:sp>
      <p:sp>
        <p:nvSpPr>
          <p:cNvPr id="11" name="Stat 3"/>
          <p:cNvSpPr txBox="1"/>
          <p:nvPr/>
        </p:nvSpPr>
        <p:spPr>
          <a:xfrm>
            <a:off x="3483864"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15.5 hours</a:t>
            </a:r>
          </a:p>
          <a:p>
            <a:pPr algn="l">
              <a:lnSpc>
                <a:spcPct val="95000"/>
              </a:lnSpc>
              <a:spcBef>
                <a:spcPts val="0"/>
              </a:spcBef>
              <a:spcAft>
                <a:spcPts val="0"/>
              </a:spcAft>
            </a:pPr>
            <a:r>
              <a:rPr sz="950" b="0" i="0">
                <a:solidFill>
                  <a:srgbClr val="1C1112"/>
                </a:solidFill>
                <a:latin typeface="Galyon"/>
              </a:rPr>
              <a:t>per hotel, at a management group, on a plan that was never used</a:t>
            </a:r>
          </a:p>
        </p:txBody>
      </p:sp>
      <p:sp>
        <p:nvSpPr>
          <p:cNvPr id="12" name="Stat 4"/>
          <p:cNvSpPr txBox="1"/>
          <p:nvPr/>
        </p:nvSpPr>
        <p:spPr>
          <a:xfrm>
            <a:off x="5047488" y="3346704"/>
            <a:ext cx="1453895" cy="676656"/>
          </a:xfrm>
          <a:prstGeom prst="rect">
            <a:avLst/>
          </a:prstGeom>
          <a:noFill/>
        </p:spPr>
        <p:txBody>
          <a:bodyPr wrap="square" lIns="0" tIns="0" rIns="0" bIns="0" anchor="t">
            <a:noAutofit/>
          </a:bodyPr>
          <a:lstStyle/>
          <a:p>
            <a:pPr algn="l">
              <a:lnSpc>
                <a:spcPct val="100000"/>
              </a:lnSpc>
              <a:spcBef>
                <a:spcPts val="0"/>
              </a:spcBef>
              <a:spcAft>
                <a:spcPts val="100"/>
              </a:spcAft>
            </a:pPr>
            <a:r>
              <a:rPr sz="1350" b="1" i="0">
                <a:solidFill>
                  <a:srgbClr val="ED536F"/>
                </a:solidFill>
                <a:latin typeface="Galyon"/>
              </a:rPr>
              <a:t>$1.3M to $2M</a:t>
            </a:r>
          </a:p>
          <a:p>
            <a:pPr algn="l">
              <a:lnSpc>
                <a:spcPct val="95000"/>
              </a:lnSpc>
              <a:spcBef>
                <a:spcPts val="0"/>
              </a:spcBef>
              <a:spcAft>
                <a:spcPts val="0"/>
              </a:spcAft>
            </a:pPr>
            <a:r>
              <a:rPr sz="950" b="0" i="0">
                <a:solidFill>
                  <a:srgbClr val="1C1112"/>
                </a:solidFill>
                <a:latin typeface="Galyon"/>
              </a:rPr>
              <a:t>estimated missed revenue in one 100-room asset in a tertiary market</a:t>
            </a:r>
          </a:p>
        </p:txBody>
      </p:sp>
      <p:sp>
        <p:nvSpPr>
          <p:cNvPr id="13" name="Panel Solution"/>
          <p:cNvSpPr/>
          <p:nvPr/>
        </p:nvSpPr>
        <p:spPr>
          <a:xfrm>
            <a:off x="228600" y="4105656"/>
            <a:ext cx="6400800" cy="1810512"/>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IGNITE DOES</a:t>
            </a:r>
          </a:p>
          <a:p>
            <a:pPr algn="l">
              <a:lnSpc>
                <a:spcPct val="100000"/>
              </a:lnSpc>
              <a:spcBef>
                <a:spcPts val="0"/>
              </a:spcBef>
              <a:spcAft>
                <a:spcPts val="0"/>
              </a:spcAft>
            </a:pPr>
            <a:r>
              <a:rPr sz="1050" b="1" i="0">
                <a:solidFill>
                  <a:srgbClr val="1C1112"/>
                </a:solidFill>
                <a:latin typeface="Galyon"/>
              </a:rPr>
              <a:t>Agentic, because it does the structuring work. Continuously, not once a year.</a:t>
            </a:r>
          </a:p>
        </p:txBody>
      </p:sp>
      <p:sp>
        <p:nvSpPr>
          <p:cNvPr id="14" name="Value 1"/>
          <p:cNvSpPr txBox="1"/>
          <p:nvPr/>
        </p:nvSpPr>
        <p:spPr>
          <a:xfrm>
            <a:off x="356616"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Strategy</a:t>
            </a:r>
          </a:p>
          <a:p>
            <a:pPr algn="l">
              <a:lnSpc>
                <a:spcPct val="95000"/>
              </a:lnSpc>
              <a:spcBef>
                <a:spcPts val="0"/>
              </a:spcBef>
              <a:spcAft>
                <a:spcPts val="0"/>
              </a:spcAft>
            </a:pPr>
            <a:r>
              <a:rPr sz="950" b="0" i="0">
                <a:solidFill>
                  <a:srgbClr val="1C1112"/>
                </a:solidFill>
                <a:latin typeface="Galyon"/>
              </a:rPr>
              <a:t>Spots the quake, a shift in demand, a segment, a feeder market or a competitor's move, before it hits your numbers.</a:t>
            </a:r>
          </a:p>
        </p:txBody>
      </p:sp>
      <p:sp>
        <p:nvSpPr>
          <p:cNvPr id="15" name="Value 2"/>
          <p:cNvSpPr txBox="1"/>
          <p:nvPr/>
        </p:nvSpPr>
        <p:spPr>
          <a:xfrm>
            <a:off x="1920240"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Focus</a:t>
            </a:r>
          </a:p>
          <a:p>
            <a:pPr algn="l">
              <a:lnSpc>
                <a:spcPct val="95000"/>
              </a:lnSpc>
              <a:spcBef>
                <a:spcPts val="0"/>
              </a:spcBef>
              <a:spcAft>
                <a:spcPts val="0"/>
              </a:spcAft>
            </a:pPr>
            <a:r>
              <a:rPr sz="950" b="0" i="0">
                <a:solidFill>
                  <a:srgbClr val="1C1112"/>
                </a:solidFill>
                <a:latin typeface="Galyon"/>
              </a:rPr>
              <a:t>Builds the revenue roadmap and ranks every move by revenue and profit together. Fewer moves. Bigger ones.</a:t>
            </a:r>
          </a:p>
        </p:txBody>
      </p:sp>
      <p:sp>
        <p:nvSpPr>
          <p:cNvPr id="16" name="Value 3"/>
          <p:cNvSpPr txBox="1"/>
          <p:nvPr/>
        </p:nvSpPr>
        <p:spPr>
          <a:xfrm>
            <a:off x="3483864"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Timing</a:t>
            </a:r>
          </a:p>
          <a:p>
            <a:pPr algn="l">
              <a:lnSpc>
                <a:spcPct val="95000"/>
              </a:lnSpc>
              <a:spcBef>
                <a:spcPts val="0"/>
              </a:spcBef>
              <a:spcAft>
                <a:spcPts val="0"/>
              </a:spcAft>
            </a:pPr>
            <a:r>
              <a:rPr sz="950" b="0" i="0">
                <a:solidFill>
                  <a:srgbClr val="1C1112"/>
                </a:solidFill>
                <a:latin typeface="Galyon"/>
              </a:rPr>
              <a:t>The playbook lands with every hotel's sales, marketing, and revenue people, and stays current as the market shifts.</a:t>
            </a:r>
          </a:p>
        </p:txBody>
      </p:sp>
      <p:sp>
        <p:nvSpPr>
          <p:cNvPr id="17" name="Value 4"/>
          <p:cNvSpPr txBox="1"/>
          <p:nvPr/>
        </p:nvSpPr>
        <p:spPr>
          <a:xfrm>
            <a:off x="5047488" y="4617720"/>
            <a:ext cx="1453895" cy="896112"/>
          </a:xfrm>
          <a:prstGeom prst="rect">
            <a:avLst/>
          </a:prstGeom>
          <a:noFill/>
        </p:spPr>
        <p:txBody>
          <a:bodyPr wrap="square" lIns="0" tIns="0" rIns="0" bIns="0" anchor="t">
            <a:noAutofit/>
          </a:bodyPr>
          <a:lstStyle/>
          <a:p>
            <a:pPr algn="l">
              <a:lnSpc>
                <a:spcPct val="100000"/>
              </a:lnSpc>
              <a:spcBef>
                <a:spcPts val="0"/>
              </a:spcBef>
              <a:spcAft>
                <a:spcPts val="100"/>
              </a:spcAft>
            </a:pPr>
            <a:r>
              <a:rPr sz="1200" b="1" i="0">
                <a:solidFill>
                  <a:srgbClr val="ED536F"/>
                </a:solidFill>
                <a:latin typeface="Galyon"/>
              </a:rPr>
              <a:t>Proof</a:t>
            </a:r>
          </a:p>
          <a:p>
            <a:pPr algn="l">
              <a:lnSpc>
                <a:spcPct val="95000"/>
              </a:lnSpc>
              <a:spcBef>
                <a:spcPts val="0"/>
              </a:spcBef>
              <a:spcAft>
                <a:spcPts val="0"/>
              </a:spcAft>
            </a:pPr>
            <a:r>
              <a:rPr sz="950" b="0" i="0">
                <a:solidFill>
                  <a:srgbClr val="1C1112"/>
                </a:solidFill>
                <a:latin typeface="Galyon"/>
              </a:rPr>
              <a:t>Shows the impact of each action, so owners see what your team did, apart from what the market did.</a:t>
            </a:r>
          </a:p>
        </p:txBody>
      </p:sp>
      <p:sp>
        <p:nvSpPr>
          <p:cNvPr id="18" name="Solution unlike line"/>
          <p:cNvSpPr txBox="1"/>
          <p:nvPr/>
        </p:nvSpPr>
        <p:spPr>
          <a:xfrm>
            <a:off x="356616" y="5550408"/>
            <a:ext cx="6144768" cy="329184"/>
          </a:xfrm>
          <a:prstGeom prst="rect">
            <a:avLst/>
          </a:prstGeom>
          <a:noFill/>
        </p:spPr>
        <p:txBody>
          <a:bodyPr wrap="square" lIns="0" tIns="0" rIns="0" bIns="0" anchor="t">
            <a:noAutofit/>
          </a:bodyPr>
          <a:lstStyle/>
          <a:p>
            <a:pPr algn="l">
              <a:lnSpc>
                <a:spcPct val="100000"/>
              </a:lnSpc>
              <a:spcBef>
                <a:spcPts val="0"/>
              </a:spcBef>
              <a:spcAft>
                <a:spcPts val="0"/>
              </a:spcAft>
            </a:pPr>
            <a:r>
              <a:rPr sz="1050" b="1" i="0">
                <a:solidFill>
                  <a:srgbClr val="1C1112"/>
                </a:solidFill>
                <a:latin typeface="Galyon"/>
              </a:rPr>
              <a:t>Unlike your RMS, your dashboards, or a once-a-year plan. </a:t>
            </a:r>
            <a:r>
              <a:rPr sz="1050" b="0" i="0">
                <a:solidFill>
                  <a:srgbClr val="1C1112"/>
                </a:solidFill>
                <a:latin typeface="Galyon"/>
              </a:rPr>
              <a:t>The RMS sets tonight's rate (Ignite sits above it). Dashboards add reports. The plan retires to a shelf by spring. Ignite hands you decisions.</a:t>
            </a:r>
          </a:p>
        </p:txBody>
      </p:sp>
      <p:sp>
        <p:nvSpPr>
          <p:cNvPr id="19" name="Panel Strategy Beta Group"/>
          <p:cNvSpPr/>
          <p:nvPr/>
        </p:nvSpPr>
        <p:spPr>
          <a:xfrm>
            <a:off x="228600" y="5998464"/>
            <a:ext cx="3136392" cy="127101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STRATEGY BETA GROUP</a:t>
            </a:r>
          </a:p>
          <a:p>
            <a:pPr algn="l">
              <a:lnSpc>
                <a:spcPct val="100000"/>
              </a:lnSpc>
              <a:spcBef>
                <a:spcPts val="0"/>
              </a:spcBef>
              <a:spcAft>
                <a:spcPts val="300"/>
              </a:spcAft>
            </a:pPr>
            <a:r>
              <a:rPr sz="1500" b="1" i="0">
                <a:solidFill>
                  <a:srgbClr val="ED536F"/>
                </a:solidFill>
                <a:latin typeface="Galyon"/>
              </a:rPr>
              <a:t>$20,000</a:t>
            </a:r>
            <a:r>
              <a:rPr sz="1050" b="1" i="0">
                <a:solidFill>
                  <a:srgbClr val="1C1112"/>
                </a:solidFill>
                <a:latin typeface="Galyon"/>
              </a:rPr>
              <a:t> per account. Three to five members.</a:t>
            </a:r>
          </a:p>
          <a:p>
            <a:pPr algn="l">
              <a:lnSpc>
                <a:spcPct val="100000"/>
              </a:lnSpc>
              <a:spcBef>
                <a:spcPts val="0"/>
              </a:spcBef>
              <a:spcAft>
                <a:spcPts val="0"/>
              </a:spcAft>
            </a:pPr>
            <a:r>
              <a:rPr sz="1050" b="0" i="0">
                <a:solidFill>
                  <a:srgbClr val="1C1112"/>
                </a:solidFill>
                <a:latin typeface="Galyon"/>
              </a:rPr>
              <a:t>Not investors. Cash for access, not equity for access. Each member commits several properties and defines success in writing, in their own numbers, before day one.</a:t>
            </a:r>
          </a:p>
        </p:txBody>
      </p:sp>
      <p:sp>
        <p:nvSpPr>
          <p:cNvPr id="20" name="Panel Charter Rate"/>
          <p:cNvSpPr/>
          <p:nvPr/>
        </p:nvSpPr>
        <p:spPr>
          <a:xfrm>
            <a:off x="3493008" y="5998464"/>
            <a:ext cx="3136392" cy="127101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THE CHARTER RATE</a:t>
            </a:r>
          </a:p>
          <a:p>
            <a:pPr algn="l">
              <a:lnSpc>
                <a:spcPct val="100000"/>
              </a:lnSpc>
              <a:spcBef>
                <a:spcPts val="0"/>
              </a:spcBef>
              <a:spcAft>
                <a:spcPts val="300"/>
              </a:spcAft>
            </a:pPr>
            <a:r>
              <a:rPr sz="1500" b="1" i="0">
                <a:solidFill>
                  <a:srgbClr val="ED536F"/>
                </a:solidFill>
                <a:latin typeface="Galyon"/>
              </a:rPr>
              <a:t>20%</a:t>
            </a:r>
            <a:r>
              <a:rPr sz="1050" b="1" i="0">
                <a:solidFill>
                  <a:srgbClr val="1C1112"/>
                </a:solidFill>
                <a:latin typeface="Galyon"/>
              </a:rPr>
              <a:t> under list for three years.</a:t>
            </a:r>
          </a:p>
          <a:p>
            <a:pPr algn="l">
              <a:lnSpc>
                <a:spcPct val="100000"/>
              </a:lnSpc>
              <a:spcBef>
                <a:spcPts val="0"/>
              </a:spcBef>
              <a:spcAft>
                <a:spcPts val="0"/>
              </a:spcAft>
            </a:pPr>
            <a:r>
              <a:rPr sz="1050" b="0" i="0">
                <a:solidFill>
                  <a:srgbClr val="1C1112"/>
                </a:solidFill>
                <a:latin typeface="Galyon"/>
              </a:rPr>
              <a:t>After general availability, on every property you bring on, not just the beta ones. Onboarding waived. Does not stack with other multi-year discounts. Offered once, to this first group.</a:t>
            </a:r>
          </a:p>
        </p:txBody>
      </p:sp>
      <p:sp>
        <p:nvSpPr>
          <p:cNvPr id="21" name="Panel What members get"/>
          <p:cNvSpPr/>
          <p:nvPr/>
        </p:nvSpPr>
        <p:spPr>
          <a:xfrm>
            <a:off x="228600" y="7351776"/>
            <a:ext cx="3136392" cy="95097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WHAT MEMBERS GET</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Ignite across your committed properties</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A direct hand in the multi-property build</a:t>
            </a:r>
          </a:p>
          <a:p>
            <a:pPr algn="l">
              <a:lnSpc>
                <a:spcPct val="100000"/>
              </a:lnSpc>
              <a:spcBef>
                <a:spcPts val="0"/>
              </a:spcBef>
              <a:spcAft>
                <a:spcPts val="150"/>
              </a:spcAft>
            </a:pPr>
            <a:r>
              <a:rPr sz="1050" b="1" i="0">
                <a:solidFill>
                  <a:srgbClr val="ED536F"/>
                </a:solidFill>
                <a:latin typeface="Galyon"/>
              </a:rPr>
              <a:t>•  </a:t>
            </a:r>
            <a:r>
              <a:rPr sz="1050" b="0" i="0">
                <a:solidFill>
                  <a:srgbClr val="1C1112"/>
                </a:solidFill>
                <a:latin typeface="Galyon"/>
              </a:rPr>
              <a:t>Your portfolio's patterns in the engine first</a:t>
            </a:r>
          </a:p>
          <a:p>
            <a:pPr algn="l">
              <a:lnSpc>
                <a:spcPct val="100000"/>
              </a:lnSpc>
              <a:spcBef>
                <a:spcPts val="0"/>
              </a:spcBef>
              <a:spcAft>
                <a:spcPts val="0"/>
              </a:spcAft>
            </a:pPr>
            <a:r>
              <a:rPr sz="1050" b="1" i="0">
                <a:solidFill>
                  <a:srgbClr val="ED536F"/>
                </a:solidFill>
                <a:latin typeface="Galyon"/>
              </a:rPr>
              <a:t>•  </a:t>
            </a:r>
            <a:r>
              <a:rPr sz="1050" b="0" i="0">
                <a:solidFill>
                  <a:srgbClr val="1C1112"/>
                </a:solidFill>
                <a:latin typeface="Galyon"/>
              </a:rPr>
              <a:t>Kate Burda &amp; Company alongside your team</a:t>
            </a:r>
          </a:p>
        </p:txBody>
      </p:sp>
      <p:sp>
        <p:nvSpPr>
          <p:cNvPr id="22" name="Panel Straight talk on Fuse"/>
          <p:cNvSpPr/>
          <p:nvPr/>
        </p:nvSpPr>
        <p:spPr>
          <a:xfrm>
            <a:off x="3493008" y="7351776"/>
            <a:ext cx="3136392" cy="950976"/>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STRAIGHT TALK ON FUSE</a:t>
            </a:r>
          </a:p>
          <a:p>
            <a:pPr algn="l">
              <a:lnSpc>
                <a:spcPct val="100000"/>
              </a:lnSpc>
              <a:spcBef>
                <a:spcPts val="0"/>
              </a:spcBef>
              <a:spcAft>
                <a:spcPts val="300"/>
              </a:spcAft>
            </a:pPr>
            <a:r>
              <a:rPr sz="1050" b="1" i="0">
                <a:solidFill>
                  <a:srgbClr val="1C1112"/>
                </a:solidFill>
                <a:latin typeface="Galyon"/>
              </a:rPr>
              <a:t>Ignite is live. Fuse, the multi-property layer, is not built yet.</a:t>
            </a:r>
          </a:p>
          <a:p>
            <a:pPr algn="l">
              <a:lnSpc>
                <a:spcPct val="100000"/>
              </a:lnSpc>
              <a:spcBef>
                <a:spcPts val="0"/>
              </a:spcBef>
              <a:spcAft>
                <a:spcPts val="0"/>
              </a:spcAft>
            </a:pPr>
            <a:r>
              <a:rPr sz="1050" b="0" i="0">
                <a:solidFill>
                  <a:srgbClr val="1C1112"/>
                </a:solidFill>
                <a:latin typeface="Galyon"/>
              </a:rPr>
              <a:t>We are building it now, with the members who will run it.</a:t>
            </a:r>
          </a:p>
        </p:txBody>
      </p:sp>
      <p:sp>
        <p:nvSpPr>
          <p:cNvPr id="23" name="Panel Core team"/>
          <p:cNvSpPr/>
          <p:nvPr/>
        </p:nvSpPr>
        <p:spPr>
          <a:xfrm>
            <a:off x="228600" y="8385048"/>
            <a:ext cx="6400800" cy="612648"/>
          </a:xfrm>
          <a:prstGeom prst="rect">
            <a:avLst/>
          </a:prstGeom>
          <a:solidFill>
            <a:srgbClr val="F1F2F2"/>
          </a:solidFill>
          <a:ln>
            <a:noFill/>
          </a:ln>
          <a:effectLst/>
        </p:spPr>
        <p:txBody>
          <a:bodyPr rtlCol="0" anchor="t" wrap="square" lIns="128016" tIns="100584" rIns="128016" bIns="73152">
            <a:noAutofit/>
          </a:bodyPr>
          <a:lstStyle/>
          <a:p>
            <a:pPr algn="l">
              <a:lnSpc>
                <a:spcPct val="100000"/>
              </a:lnSpc>
              <a:spcBef>
                <a:spcPts val="0"/>
              </a:spcBef>
              <a:spcAft>
                <a:spcPts val="400"/>
              </a:spcAft>
            </a:pPr>
            <a:r>
              <a:rPr sz="1150" b="1" i="0">
                <a:solidFill>
                  <a:srgbClr val="1C1112"/>
                </a:solidFill>
                <a:latin typeface="Galyon"/>
              </a:rPr>
              <a:t>MEET THE CORE TEAM</a:t>
            </a:r>
          </a:p>
          <a:p>
            <a:pPr algn="l">
              <a:lnSpc>
                <a:spcPct val="100000"/>
              </a:lnSpc>
              <a:spcBef>
                <a:spcPts val="0"/>
              </a:spcBef>
              <a:spcAft>
                <a:spcPts val="0"/>
              </a:spcAft>
            </a:pPr>
            <a:r>
              <a:rPr sz="1050" b="1" i="0">
                <a:solidFill>
                  <a:srgbClr val="1C1112"/>
                </a:solidFill>
                <a:latin typeface="Galyon"/>
              </a:rPr>
              <a:t>Kate Burda</a:t>
            </a:r>
            <a:r>
              <a:rPr sz="1050" b="0" i="0">
                <a:solidFill>
                  <a:srgbClr val="1C1112"/>
                </a:solidFill>
                <a:latin typeface="Galyon"/>
              </a:rPr>
              <a:t>, Founder.  </a:t>
            </a:r>
            <a:r>
              <a:rPr sz="1050" b="1" i="0">
                <a:solidFill>
                  <a:srgbClr val="1C1112"/>
                </a:solidFill>
                <a:latin typeface="Galyon"/>
              </a:rPr>
              <a:t>Eddie Westerfield</a:t>
            </a:r>
            <a:r>
              <a:rPr sz="1050" b="0" i="0">
                <a:solidFill>
                  <a:srgbClr val="1C1112"/>
                </a:solidFill>
                <a:latin typeface="Galyon"/>
              </a:rPr>
              <a:t>, CTO.  </a:t>
            </a:r>
            <a:r>
              <a:rPr sz="1050" b="1" i="0">
                <a:solidFill>
                  <a:srgbClr val="1C1112"/>
                </a:solidFill>
                <a:latin typeface="Galyon"/>
              </a:rPr>
              <a:t>Recardo Poole</a:t>
            </a:r>
            <a:r>
              <a:rPr sz="1050" b="0" i="0">
                <a:solidFill>
                  <a:srgbClr val="1C1112"/>
                </a:solidFill>
                <a:latin typeface="Galyon"/>
              </a:rPr>
              <a:t>, UI/UX.  </a:t>
            </a:r>
            <a:r>
              <a:rPr sz="1050" b="1" i="0">
                <a:solidFill>
                  <a:srgbClr val="1C1112"/>
                </a:solidFill>
                <a:latin typeface="Galyon"/>
              </a:rPr>
              <a:t>Tristan Carty</a:t>
            </a:r>
            <a:r>
              <a:rPr sz="1050" b="0" i="0">
                <a:solidFill>
                  <a:srgbClr val="1C1112"/>
                </a:solidFill>
                <a:latin typeface="Galyon"/>
              </a:rPr>
              <a:t>, Operations.</a:t>
            </a:r>
          </a:p>
          <a:p>
            <a:pPr algn="l">
              <a:lnSpc>
                <a:spcPct val="100000"/>
              </a:lnSpc>
              <a:spcBef>
                <a:spcPts val="100"/>
              </a:spcBef>
              <a:spcAft>
                <a:spcPts val="0"/>
              </a:spcAft>
            </a:pPr>
            <a:r>
              <a:rPr sz="1050" b="0" i="1">
                <a:solidFill>
                  <a:srgbClr val="1C1112"/>
                </a:solidFill>
                <a:latin typeface="Galyon"/>
              </a:rPr>
              <a:t>Kate brings 28+ years in revenue strategy. Four builders, so three to five members, not thirty.</a:t>
            </a:r>
          </a:p>
        </p:txBody>
      </p:sp>
      <p:sp>
        <p:nvSpPr>
          <p:cNvPr id="24" name="Next step"/>
          <p:cNvSpPr/>
          <p:nvPr/>
        </p:nvSpPr>
        <p:spPr>
          <a:xfrm>
            <a:off x="228600" y="9079992"/>
            <a:ext cx="6400800" cy="594359"/>
          </a:xfrm>
          <a:prstGeom prst="rect">
            <a:avLst/>
          </a:prstGeom>
          <a:solidFill>
            <a:srgbClr val="1C1112"/>
          </a:solidFill>
          <a:ln>
            <a:noFill/>
          </a:ln>
          <a:effectLst/>
        </p:spPr>
        <p:txBody>
          <a:bodyPr rtlCol="0" anchor="ctr" wrap="square" lIns="164592" tIns="54864" rIns="274320" bIns="54864">
            <a:noAutofit/>
          </a:bodyPr>
          <a:lstStyle/>
          <a:p>
            <a:pPr algn="l">
              <a:lnSpc>
                <a:spcPct val="100000"/>
              </a:lnSpc>
              <a:spcBef>
                <a:spcPts val="0"/>
              </a:spcBef>
              <a:spcAft>
                <a:spcPts val="200"/>
              </a:spcAft>
            </a:pPr>
            <a:r>
              <a:rPr sz="1150" b="1" i="0">
                <a:solidFill>
                  <a:srgbClr val="FF8983"/>
                </a:solidFill>
                <a:latin typeface="Galyon"/>
              </a:rPr>
              <a:t>NEXT STEP  </a:t>
            </a:r>
            <a:r>
              <a:rPr sz="1150" b="1" i="0">
                <a:solidFill>
                  <a:srgbClr val="FFFFFF"/>
                </a:solidFill>
                <a:latin typeface="Galyon"/>
              </a:rPr>
              <a:t>45 minutes. Nothing required from your side.</a:t>
            </a:r>
          </a:p>
          <a:p>
            <a:pPr algn="l">
              <a:lnSpc>
                <a:spcPct val="100000"/>
              </a:lnSpc>
              <a:spcBef>
                <a:spcPts val="0"/>
              </a:spcBef>
              <a:spcAft>
                <a:spcPts val="0"/>
              </a:spcAft>
            </a:pPr>
            <a:r>
              <a:rPr sz="1000" b="0" i="0">
                <a:solidFill>
                  <a:srgbClr val="FFFFFF"/>
                </a:solidFill>
                <a:latin typeface="Galyon"/>
              </a:rPr>
              <a:t>Watch Ignite run on Flying Horse Resort &amp; Club's live data, with their permission,</a:t>
            </a:r>
            <a:br/>
            <a:r>
              <a:rPr sz="1000" b="0" i="0">
                <a:solidFill>
                  <a:srgbClr val="FFFFFF"/>
                </a:solidFill>
                <a:latin typeface="Galyon"/>
              </a:rPr>
              <a:t>or on public data from your own market. Somebody else's numbers first, then yours.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