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6858000" cy="9905695"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charcoal panel"/>
          <p:cNvSpPr/>
          <p:nvPr/>
        </p:nvSpPr>
        <p:spPr>
          <a:xfrm>
            <a:off x="2926080" y="274320"/>
            <a:ext cx="3931920" cy="1783080"/>
          </a:xfrm>
          <a:prstGeom prst="rect">
            <a:avLst/>
          </a:prstGeom>
          <a:solidFill>
            <a:srgbClr val="1C1112"/>
          </a:solidFill>
          <a:ln>
            <a:noFill/>
          </a:ln>
          <a:effectLst/>
        </p:spPr>
        <p:txBody>
          <a:bodyPr rtlCol="0" anchor="ctr"/>
          <a:lstStyle/>
          <a:p>
            <a:pPr algn="ctr"/>
          </a:p>
        </p:txBody>
      </p:sp>
      <p:pic>
        <p:nvPicPr>
          <p:cNvPr id="3" name="Header coral angle" descr="coral_angle.png"/>
          <p:cNvPicPr>
            <a:picLocks noChangeAspect="1"/>
          </p:cNvPicPr>
          <p:nvPr/>
        </p:nvPicPr>
        <p:blipFill>
          <a:blip r:embed="rId2"/>
          <a:stretch>
            <a:fillRect/>
          </a:stretch>
        </p:blipFill>
        <p:spPr>
          <a:xfrm>
            <a:off x="0" y="0"/>
            <a:ext cx="4709160" cy="2286000"/>
          </a:xfrm>
          <a:prstGeom prst="rect">
            <a:avLst/>
          </a:prstGeom>
        </p:spPr>
      </p:pic>
      <p:pic>
        <p:nvPicPr>
          <p:cNvPr id="4" name="Ignite logo" descr="logo_light_crop.png"/>
          <p:cNvPicPr>
            <a:picLocks noChangeAspect="1"/>
          </p:cNvPicPr>
          <p:nvPr/>
        </p:nvPicPr>
        <p:blipFill>
          <a:blip r:embed="rId3"/>
          <a:stretch>
            <a:fillRect/>
          </a:stretch>
        </p:blipFill>
        <p:spPr>
          <a:xfrm>
            <a:off x="4583091" y="457199"/>
            <a:ext cx="1954868" cy="1417320"/>
          </a:xfrm>
          <a:prstGeom prst="rect">
            <a:avLst/>
          </a:prstGeom>
        </p:spPr>
      </p:pic>
      <p:sp>
        <p:nvSpPr>
          <p:cNvPr id="5" name="Header headline"/>
          <p:cNvSpPr txBox="1"/>
          <p:nvPr/>
        </p:nvSpPr>
        <p:spPr>
          <a:xfrm>
            <a:off x="274320" y="237744"/>
            <a:ext cx="3886200" cy="713232"/>
          </a:xfrm>
          <a:prstGeom prst="rect">
            <a:avLst/>
          </a:prstGeom>
          <a:noFill/>
        </p:spPr>
        <p:txBody>
          <a:bodyPr wrap="square" lIns="0" tIns="0" rIns="0" bIns="0" anchor="t">
            <a:noAutofit/>
          </a:bodyPr>
          <a:lstStyle/>
          <a:p>
            <a:pPr algn="l">
              <a:lnSpc>
                <a:spcPct val="95000"/>
              </a:lnSpc>
              <a:spcBef>
                <a:spcPts val="0"/>
              </a:spcBef>
              <a:spcAft>
                <a:spcPts val="0"/>
              </a:spcAft>
            </a:pPr>
            <a:r>
              <a:rPr sz="1800" b="1" i="0">
                <a:solidFill>
                  <a:srgbClr val="FFFFFF"/>
                </a:solidFill>
                <a:latin typeface="Galyon"/>
              </a:rPr>
              <a:t>The Revenue Growth System</a:t>
            </a:r>
            <a:br/>
            <a:r>
              <a:rPr sz="1800" b="1" i="0">
                <a:solidFill>
                  <a:srgbClr val="FFFFFF"/>
                </a:solidFill>
                <a:latin typeface="Galyon"/>
              </a:rPr>
              <a:t>for multi-property portfolios</a:t>
            </a:r>
          </a:p>
        </p:txBody>
      </p:sp>
      <p:sp>
        <p:nvSpPr>
          <p:cNvPr id="6" name="Header placing line"/>
          <p:cNvSpPr txBox="1"/>
          <p:nvPr/>
        </p:nvSpPr>
        <p:spPr>
          <a:xfrm>
            <a:off x="274320" y="1024128"/>
            <a:ext cx="3108960" cy="1097280"/>
          </a:xfrm>
          <a:prstGeom prst="rect">
            <a:avLst/>
          </a:prstGeom>
          <a:noFill/>
        </p:spPr>
        <p:txBody>
          <a:bodyPr wrap="square" lIns="0" tIns="0" rIns="0" bIns="0" anchor="t">
            <a:noAutofit/>
          </a:bodyPr>
          <a:lstStyle/>
          <a:p>
            <a:pPr algn="l">
              <a:lnSpc>
                <a:spcPct val="100000"/>
              </a:lnSpc>
              <a:spcBef>
                <a:spcPts val="0"/>
              </a:spcBef>
              <a:spcAft>
                <a:spcPts val="500"/>
              </a:spcAft>
            </a:pPr>
            <a:r>
              <a:rPr sz="1100" b="0" i="0">
                <a:solidFill>
                  <a:srgbClr val="FFFFFF"/>
                </a:solidFill>
                <a:latin typeface="Galyon"/>
              </a:rPr>
              <a:t>Revenue management decides what to charge tonight. Ignite decides where next year's growth comes from, and who has to do what to get it.</a:t>
            </a:r>
          </a:p>
          <a:p>
            <a:pPr algn="l">
              <a:lnSpc>
                <a:spcPct val="100000"/>
              </a:lnSpc>
              <a:spcBef>
                <a:spcPts val="0"/>
              </a:spcBef>
              <a:spcAft>
                <a:spcPts val="0"/>
              </a:spcAft>
            </a:pPr>
            <a:r>
              <a:rPr sz="1200" b="1" i="0">
                <a:solidFill>
                  <a:srgbClr val="FFFFFF"/>
                </a:solidFill>
                <a:latin typeface="Galyon"/>
              </a:rPr>
              <a:t>do less. make it mean more.</a:t>
            </a:r>
          </a:p>
        </p:txBody>
      </p:sp>
      <p:sp>
        <p:nvSpPr>
          <p:cNvPr id="7" name="Panel Problem"/>
          <p:cNvSpPr/>
          <p:nvPr/>
        </p:nvSpPr>
        <p:spPr>
          <a:xfrm>
            <a:off x="228600" y="2395728"/>
            <a:ext cx="6400800" cy="1719072"/>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THE PROBLEM</a:t>
            </a:r>
          </a:p>
          <a:p>
            <a:pPr algn="l">
              <a:lnSpc>
                <a:spcPct val="100000"/>
              </a:lnSpc>
              <a:spcBef>
                <a:spcPts val="0"/>
              </a:spcBef>
              <a:spcAft>
                <a:spcPts val="300"/>
              </a:spcAft>
            </a:pPr>
            <a:r>
              <a:rPr sz="1050" b="1" i="0">
                <a:solidFill>
                  <a:srgbClr val="1C1112"/>
                </a:solidFill>
                <a:latin typeface="Galyon"/>
              </a:rPr>
              <a:t>Your commercial team has never been busier. That is the problem.</a:t>
            </a:r>
          </a:p>
          <a:p>
            <a:pPr algn="l">
              <a:lnSpc>
                <a:spcPct val="100000"/>
              </a:lnSpc>
              <a:spcBef>
                <a:spcPts val="0"/>
              </a:spcBef>
              <a:spcAft>
                <a:spcPts val="0"/>
              </a:spcAft>
            </a:pPr>
            <a:r>
              <a:rPr sz="1050" b="0" i="0">
                <a:solidFill>
                  <a:srgbClr val="1C1112"/>
                </a:solidFill>
                <a:latin typeface="Galyon"/>
              </a:rPr>
              <a:t>A hotel in a major leisure market celebrated a 16:1 return on ad spend. It was aimed at the hotel's least valuable segment, where the bar was 22:1. A loss, applauded. Nothing in the stack was broken. It was grading the work against the wrong customer.</a:t>
            </a:r>
          </a:p>
        </p:txBody>
      </p:sp>
      <p:sp>
        <p:nvSpPr>
          <p:cNvPr id="8" name="Stat 1"/>
          <p:cNvSpPr txBox="1"/>
          <p:nvPr/>
        </p:nvSpPr>
        <p:spPr>
          <a:xfrm>
            <a:off x="356616" y="3401568"/>
            <a:ext cx="1453895" cy="676656"/>
          </a:xfrm>
          <a:prstGeom prst="rect">
            <a:avLst/>
          </a:prstGeom>
          <a:noFill/>
        </p:spPr>
        <p:txBody>
          <a:bodyPr wrap="square" lIns="0" tIns="0" rIns="0" bIns="0" anchor="t">
            <a:noAutofit/>
          </a:bodyPr>
          <a:lstStyle/>
          <a:p>
            <a:pPr algn="l">
              <a:lnSpc>
                <a:spcPct val="100000"/>
              </a:lnSpc>
              <a:spcBef>
                <a:spcPts val="0"/>
              </a:spcBef>
              <a:spcAft>
                <a:spcPts val="100"/>
              </a:spcAft>
            </a:pPr>
            <a:r>
              <a:rPr sz="1350" b="1" i="0">
                <a:solidFill>
                  <a:srgbClr val="ED536F"/>
                </a:solidFill>
                <a:latin typeface="Galyon"/>
              </a:rPr>
              <a:t>5%</a:t>
            </a:r>
          </a:p>
          <a:p>
            <a:pPr algn="l">
              <a:lnSpc>
                <a:spcPct val="95000"/>
              </a:lnSpc>
              <a:spcBef>
                <a:spcPts val="0"/>
              </a:spcBef>
              <a:spcAft>
                <a:spcPts val="0"/>
              </a:spcAft>
            </a:pPr>
            <a:r>
              <a:rPr sz="900" b="0" i="0">
                <a:solidFill>
                  <a:srgbClr val="1C1112"/>
                </a:solidFill>
                <a:latin typeface="Galyon"/>
              </a:rPr>
              <a:t>of sales and marketing tactics aimed at the most profitable segments</a:t>
            </a:r>
          </a:p>
        </p:txBody>
      </p:sp>
      <p:sp>
        <p:nvSpPr>
          <p:cNvPr id="9" name="Stat 2"/>
          <p:cNvSpPr txBox="1"/>
          <p:nvPr/>
        </p:nvSpPr>
        <p:spPr>
          <a:xfrm>
            <a:off x="1920240" y="3401568"/>
            <a:ext cx="1453895" cy="676656"/>
          </a:xfrm>
          <a:prstGeom prst="rect">
            <a:avLst/>
          </a:prstGeom>
          <a:noFill/>
        </p:spPr>
        <p:txBody>
          <a:bodyPr wrap="square" lIns="0" tIns="0" rIns="0" bIns="0" anchor="t">
            <a:noAutofit/>
          </a:bodyPr>
          <a:lstStyle/>
          <a:p>
            <a:pPr algn="l">
              <a:lnSpc>
                <a:spcPct val="100000"/>
              </a:lnSpc>
              <a:spcBef>
                <a:spcPts val="0"/>
              </a:spcBef>
              <a:spcAft>
                <a:spcPts val="100"/>
              </a:spcAft>
            </a:pPr>
            <a:r>
              <a:rPr sz="1350" b="1" i="0">
                <a:solidFill>
                  <a:srgbClr val="ED536F"/>
                </a:solidFill>
                <a:latin typeface="Galyon"/>
              </a:rPr>
              <a:t>$1.3M to $2M</a:t>
            </a:r>
          </a:p>
          <a:p>
            <a:pPr algn="l">
              <a:lnSpc>
                <a:spcPct val="95000"/>
              </a:lnSpc>
              <a:spcBef>
                <a:spcPts val="0"/>
              </a:spcBef>
              <a:spcAft>
                <a:spcPts val="0"/>
              </a:spcAft>
            </a:pPr>
            <a:r>
              <a:rPr sz="900" b="0" i="0">
                <a:solidFill>
                  <a:srgbClr val="1C1112"/>
                </a:solidFill>
                <a:latin typeface="Galyon"/>
              </a:rPr>
              <a:t>estimated missed revenue in one 100-room asset in a tertiary market</a:t>
            </a:r>
          </a:p>
        </p:txBody>
      </p:sp>
      <p:sp>
        <p:nvSpPr>
          <p:cNvPr id="10" name="Stat 3"/>
          <p:cNvSpPr txBox="1"/>
          <p:nvPr/>
        </p:nvSpPr>
        <p:spPr>
          <a:xfrm>
            <a:off x="3483864" y="3401568"/>
            <a:ext cx="1453895" cy="676656"/>
          </a:xfrm>
          <a:prstGeom prst="rect">
            <a:avLst/>
          </a:prstGeom>
          <a:noFill/>
        </p:spPr>
        <p:txBody>
          <a:bodyPr wrap="square" lIns="0" tIns="0" rIns="0" bIns="0" anchor="t">
            <a:noAutofit/>
          </a:bodyPr>
          <a:lstStyle/>
          <a:p>
            <a:pPr algn="l">
              <a:lnSpc>
                <a:spcPct val="100000"/>
              </a:lnSpc>
              <a:spcBef>
                <a:spcPts val="0"/>
              </a:spcBef>
              <a:spcAft>
                <a:spcPts val="100"/>
              </a:spcAft>
            </a:pPr>
            <a:r>
              <a:rPr sz="1350" b="1" i="0">
                <a:solidFill>
                  <a:srgbClr val="ED536F"/>
                </a:solidFill>
                <a:latin typeface="Galyon"/>
              </a:rPr>
              <a:t>60+ reports</a:t>
            </a:r>
          </a:p>
          <a:p>
            <a:pPr algn="l">
              <a:lnSpc>
                <a:spcPct val="95000"/>
              </a:lnSpc>
              <a:spcBef>
                <a:spcPts val="0"/>
              </a:spcBef>
              <a:spcAft>
                <a:spcPts val="0"/>
              </a:spcAft>
            </a:pPr>
            <a:r>
              <a:rPr sz="900" b="0" i="0">
                <a:solidFill>
                  <a:srgbClr val="1C1112"/>
                </a:solidFill>
                <a:latin typeface="Galyon"/>
              </a:rPr>
              <a:t>across seven systems, and no central hub</a:t>
            </a:r>
          </a:p>
        </p:txBody>
      </p:sp>
      <p:sp>
        <p:nvSpPr>
          <p:cNvPr id="11" name="Stat 4"/>
          <p:cNvSpPr txBox="1"/>
          <p:nvPr/>
        </p:nvSpPr>
        <p:spPr>
          <a:xfrm>
            <a:off x="5047488" y="3401568"/>
            <a:ext cx="1453895" cy="676656"/>
          </a:xfrm>
          <a:prstGeom prst="rect">
            <a:avLst/>
          </a:prstGeom>
          <a:noFill/>
        </p:spPr>
        <p:txBody>
          <a:bodyPr wrap="square" lIns="0" tIns="0" rIns="0" bIns="0" anchor="t">
            <a:noAutofit/>
          </a:bodyPr>
          <a:lstStyle/>
          <a:p>
            <a:pPr algn="l">
              <a:lnSpc>
                <a:spcPct val="100000"/>
              </a:lnSpc>
              <a:spcBef>
                <a:spcPts val="0"/>
              </a:spcBef>
              <a:spcAft>
                <a:spcPts val="100"/>
              </a:spcAft>
            </a:pPr>
            <a:r>
              <a:rPr sz="1350" b="1" i="0">
                <a:solidFill>
                  <a:srgbClr val="ED536F"/>
                </a:solidFill>
                <a:latin typeface="Galyon"/>
              </a:rPr>
              <a:t>15.5 hours</a:t>
            </a:r>
          </a:p>
          <a:p>
            <a:pPr algn="l">
              <a:lnSpc>
                <a:spcPct val="95000"/>
              </a:lnSpc>
              <a:spcBef>
                <a:spcPts val="0"/>
              </a:spcBef>
              <a:spcAft>
                <a:spcPts val="0"/>
              </a:spcAft>
            </a:pPr>
            <a:r>
              <a:rPr sz="900" b="0" i="0">
                <a:solidFill>
                  <a:srgbClr val="1C1112"/>
                </a:solidFill>
                <a:latin typeface="Galyon"/>
              </a:rPr>
              <a:t>per hotel, at a management group, on a plan nobody used</a:t>
            </a:r>
          </a:p>
        </p:txBody>
      </p:sp>
      <p:sp>
        <p:nvSpPr>
          <p:cNvPr id="12" name="Panel Solution"/>
          <p:cNvSpPr/>
          <p:nvPr/>
        </p:nvSpPr>
        <p:spPr>
          <a:xfrm>
            <a:off x="228600" y="4233672"/>
            <a:ext cx="3136392" cy="1627632"/>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THE SOLUTION</a:t>
            </a:r>
          </a:p>
          <a:p>
            <a:pPr algn="l">
              <a:lnSpc>
                <a:spcPct val="100000"/>
              </a:lnSpc>
              <a:spcBef>
                <a:spcPts val="0"/>
              </a:spcBef>
              <a:spcAft>
                <a:spcPts val="300"/>
              </a:spcAft>
            </a:pPr>
            <a:r>
              <a:rPr sz="1050" b="1" i="0">
                <a:solidFill>
                  <a:srgbClr val="1C1112"/>
                </a:solidFill>
                <a:latin typeface="Galyon"/>
              </a:rPr>
              <a:t>Know where next year's growth comes from.</a:t>
            </a:r>
          </a:p>
          <a:p>
            <a:pPr algn="l">
              <a:lnSpc>
                <a:spcPct val="100000"/>
              </a:lnSpc>
              <a:spcBef>
                <a:spcPts val="0"/>
              </a:spcBef>
              <a:spcAft>
                <a:spcPts val="0"/>
              </a:spcAft>
            </a:pPr>
            <a:r>
              <a:rPr sz="1050" b="0" i="0">
                <a:solidFill>
                  <a:srgbClr val="1C1112"/>
                </a:solidFill>
                <a:latin typeface="Galyon"/>
              </a:rPr>
              <a:t>The Ignition Score ranks segments, accounts, and actions by revenue and profitability together, so "most valuable" stops being an opinion. Each property gets a ranked next move with the reasoning attached. It sits above your RMS, never in place of it.</a:t>
            </a:r>
          </a:p>
        </p:txBody>
      </p:sp>
      <p:sp>
        <p:nvSpPr>
          <p:cNvPr id="13" name="Panel Strategy Beta Group"/>
          <p:cNvSpPr/>
          <p:nvPr/>
        </p:nvSpPr>
        <p:spPr>
          <a:xfrm>
            <a:off x="3493008" y="4233672"/>
            <a:ext cx="3136392" cy="1627632"/>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STRATEGY BETA GROUP</a:t>
            </a:r>
          </a:p>
          <a:p>
            <a:pPr algn="l">
              <a:lnSpc>
                <a:spcPct val="100000"/>
              </a:lnSpc>
              <a:spcBef>
                <a:spcPts val="0"/>
              </a:spcBef>
              <a:spcAft>
                <a:spcPts val="300"/>
              </a:spcAft>
            </a:pPr>
            <a:r>
              <a:rPr sz="1500" b="1" i="0">
                <a:solidFill>
                  <a:srgbClr val="ED536F"/>
                </a:solidFill>
                <a:latin typeface="Galyon"/>
              </a:rPr>
              <a:t>$20,000</a:t>
            </a:r>
            <a:r>
              <a:rPr sz="1050" b="1" i="0">
                <a:solidFill>
                  <a:srgbClr val="1C1112"/>
                </a:solidFill>
                <a:latin typeface="Galyon"/>
              </a:rPr>
              <a:t> per account. Three to five members.</a:t>
            </a:r>
          </a:p>
          <a:p>
            <a:pPr algn="l">
              <a:lnSpc>
                <a:spcPct val="100000"/>
              </a:lnSpc>
              <a:spcBef>
                <a:spcPts val="0"/>
              </a:spcBef>
              <a:spcAft>
                <a:spcPts val="0"/>
              </a:spcAft>
            </a:pPr>
            <a:r>
              <a:rPr sz="1050" b="0" i="0">
                <a:solidFill>
                  <a:srgbClr val="1C1112"/>
                </a:solidFill>
                <a:latin typeface="Galyon"/>
              </a:rPr>
              <a:t>Not investors. Cash for access, not equity for access. Each member commits several properties and defines success in writing, in their own numbers, before day one. You are not buying software at a discount. You are building the proof.</a:t>
            </a:r>
          </a:p>
        </p:txBody>
      </p:sp>
      <p:sp>
        <p:nvSpPr>
          <p:cNvPr id="14" name="Panel Charter Rate"/>
          <p:cNvSpPr/>
          <p:nvPr/>
        </p:nvSpPr>
        <p:spPr>
          <a:xfrm>
            <a:off x="228600" y="5980176"/>
            <a:ext cx="3136392" cy="1499616"/>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THE CHARTER RATE</a:t>
            </a:r>
          </a:p>
          <a:p>
            <a:pPr algn="l">
              <a:lnSpc>
                <a:spcPct val="100000"/>
              </a:lnSpc>
              <a:spcBef>
                <a:spcPts val="0"/>
              </a:spcBef>
              <a:spcAft>
                <a:spcPts val="300"/>
              </a:spcAft>
            </a:pPr>
            <a:r>
              <a:rPr sz="1500" b="1" i="0">
                <a:solidFill>
                  <a:srgbClr val="ED536F"/>
                </a:solidFill>
                <a:latin typeface="Galyon"/>
              </a:rPr>
              <a:t>20%</a:t>
            </a:r>
            <a:r>
              <a:rPr sz="1050" b="1" i="0">
                <a:solidFill>
                  <a:srgbClr val="1C1112"/>
                </a:solidFill>
                <a:latin typeface="Galyon"/>
              </a:rPr>
              <a:t> under list for three years.</a:t>
            </a:r>
          </a:p>
          <a:p>
            <a:pPr algn="l">
              <a:lnSpc>
                <a:spcPct val="100000"/>
              </a:lnSpc>
              <a:spcBef>
                <a:spcPts val="0"/>
              </a:spcBef>
              <a:spcAft>
                <a:spcPts val="0"/>
              </a:spcAft>
            </a:pPr>
            <a:r>
              <a:rPr sz="1050" b="0" i="0">
                <a:solidFill>
                  <a:srgbClr val="1C1112"/>
                </a:solidFill>
                <a:latin typeface="Galyon"/>
              </a:rPr>
              <a:t>After general availability, on every property you bring on, not just the beta ones. Onboarding waived. Does not stack with other multi-year discounts. Offered once, to this first group. The wider you roll it out, the more it pays.</a:t>
            </a:r>
          </a:p>
        </p:txBody>
      </p:sp>
      <p:sp>
        <p:nvSpPr>
          <p:cNvPr id="15" name="Panel What members get"/>
          <p:cNvSpPr/>
          <p:nvPr/>
        </p:nvSpPr>
        <p:spPr>
          <a:xfrm>
            <a:off x="3493008" y="5980176"/>
            <a:ext cx="3136392" cy="1499616"/>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WHAT MEMBERS GET</a:t>
            </a:r>
          </a:p>
          <a:p>
            <a:pPr algn="l">
              <a:lnSpc>
                <a:spcPct val="100000"/>
              </a:lnSpc>
              <a:spcBef>
                <a:spcPts val="0"/>
              </a:spcBef>
              <a:spcAft>
                <a:spcPts val="150"/>
              </a:spcAft>
            </a:pPr>
            <a:r>
              <a:rPr sz="1050" b="1" i="0">
                <a:solidFill>
                  <a:srgbClr val="ED536F"/>
                </a:solidFill>
                <a:latin typeface="Galyon"/>
              </a:rPr>
              <a:t>•  </a:t>
            </a:r>
            <a:r>
              <a:rPr sz="1050" b="0" i="0">
                <a:solidFill>
                  <a:srgbClr val="1C1112"/>
                </a:solidFill>
                <a:latin typeface="Galyon"/>
              </a:rPr>
              <a:t>Ignite across your committed properties</a:t>
            </a:r>
          </a:p>
          <a:p>
            <a:pPr algn="l">
              <a:lnSpc>
                <a:spcPct val="100000"/>
              </a:lnSpc>
              <a:spcBef>
                <a:spcPts val="0"/>
              </a:spcBef>
              <a:spcAft>
                <a:spcPts val="150"/>
              </a:spcAft>
            </a:pPr>
            <a:r>
              <a:rPr sz="1050" b="1" i="0">
                <a:solidFill>
                  <a:srgbClr val="ED536F"/>
                </a:solidFill>
                <a:latin typeface="Galyon"/>
              </a:rPr>
              <a:t>•  </a:t>
            </a:r>
            <a:r>
              <a:rPr sz="1050" b="0" i="0">
                <a:solidFill>
                  <a:srgbClr val="1C1112"/>
                </a:solidFill>
                <a:latin typeface="Galyon"/>
              </a:rPr>
              <a:t>A direct hand in the multi-property build</a:t>
            </a:r>
          </a:p>
          <a:p>
            <a:pPr algn="l">
              <a:lnSpc>
                <a:spcPct val="100000"/>
              </a:lnSpc>
              <a:spcBef>
                <a:spcPts val="0"/>
              </a:spcBef>
              <a:spcAft>
                <a:spcPts val="150"/>
              </a:spcAft>
            </a:pPr>
            <a:r>
              <a:rPr sz="1050" b="1" i="0">
                <a:solidFill>
                  <a:srgbClr val="ED536F"/>
                </a:solidFill>
                <a:latin typeface="Galyon"/>
              </a:rPr>
              <a:t>•  </a:t>
            </a:r>
            <a:r>
              <a:rPr sz="1050" b="0" i="0">
                <a:solidFill>
                  <a:srgbClr val="1C1112"/>
                </a:solidFill>
                <a:latin typeface="Galyon"/>
              </a:rPr>
              <a:t>Your portfolio's patterns in the engine first</a:t>
            </a:r>
          </a:p>
          <a:p>
            <a:pPr algn="l">
              <a:lnSpc>
                <a:spcPct val="100000"/>
              </a:lnSpc>
              <a:spcBef>
                <a:spcPts val="0"/>
              </a:spcBef>
              <a:spcAft>
                <a:spcPts val="150"/>
              </a:spcAft>
            </a:pPr>
            <a:r>
              <a:rPr sz="1050" b="1" i="0">
                <a:solidFill>
                  <a:srgbClr val="ED536F"/>
                </a:solidFill>
                <a:latin typeface="Galyon"/>
              </a:rPr>
              <a:t>•  </a:t>
            </a:r>
            <a:r>
              <a:rPr sz="1050" b="0" i="0">
                <a:solidFill>
                  <a:srgbClr val="1C1112"/>
                </a:solidFill>
                <a:latin typeface="Galyon"/>
              </a:rPr>
              <a:t>Kate Burda &amp; Company alongside your team</a:t>
            </a:r>
          </a:p>
          <a:p>
            <a:pPr algn="l">
              <a:lnSpc>
                <a:spcPct val="100000"/>
              </a:lnSpc>
              <a:spcBef>
                <a:spcPts val="0"/>
              </a:spcBef>
              <a:spcAft>
                <a:spcPts val="0"/>
              </a:spcAft>
            </a:pPr>
            <a:r>
              <a:rPr sz="1050" b="1" i="0">
                <a:solidFill>
                  <a:srgbClr val="ED536F"/>
                </a:solidFill>
                <a:latin typeface="Galyon"/>
              </a:rPr>
              <a:t>•  </a:t>
            </a:r>
            <a:r>
              <a:rPr sz="1050" b="0" i="0">
                <a:solidFill>
                  <a:srgbClr val="1C1112"/>
                </a:solidFill>
                <a:latin typeface="Galyon"/>
              </a:rPr>
              <a:t>The Charter Rate when the beta ends</a:t>
            </a:r>
          </a:p>
        </p:txBody>
      </p:sp>
      <p:sp>
        <p:nvSpPr>
          <p:cNvPr id="16" name="Panel Straight talk on Fuse"/>
          <p:cNvSpPr/>
          <p:nvPr/>
        </p:nvSpPr>
        <p:spPr>
          <a:xfrm>
            <a:off x="228600" y="7598664"/>
            <a:ext cx="3136392" cy="1298448"/>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STRAIGHT TALK ON FUSE</a:t>
            </a:r>
          </a:p>
          <a:p>
            <a:pPr algn="l">
              <a:lnSpc>
                <a:spcPct val="100000"/>
              </a:lnSpc>
              <a:spcBef>
                <a:spcPts val="0"/>
              </a:spcBef>
              <a:spcAft>
                <a:spcPts val="300"/>
              </a:spcAft>
            </a:pPr>
            <a:r>
              <a:rPr sz="1050" b="0" i="0">
                <a:solidFill>
                  <a:srgbClr val="1C1112"/>
                </a:solidFill>
                <a:latin typeface="Galyon"/>
              </a:rPr>
              <a:t>Live today: the Revenue Roadmap, Ignition Score, STR and CoStar benchmarking, the Sales, Marketing, and ABM engines, and Iggy.</a:t>
            </a:r>
          </a:p>
          <a:p>
            <a:pPr algn="l">
              <a:lnSpc>
                <a:spcPct val="100000"/>
              </a:lnSpc>
              <a:spcBef>
                <a:spcPts val="0"/>
              </a:spcBef>
              <a:spcAft>
                <a:spcPts val="0"/>
              </a:spcAft>
            </a:pPr>
            <a:r>
              <a:rPr sz="1050" b="1" i="0">
                <a:solidFill>
                  <a:srgbClr val="1C1112"/>
                </a:solidFill>
                <a:latin typeface="Galyon"/>
              </a:rPr>
              <a:t>Fuse, the multi-property layer, is not built yet.</a:t>
            </a:r>
            <a:r>
              <a:rPr sz="1050" b="0" i="0">
                <a:solidFill>
                  <a:srgbClr val="1C1112"/>
                </a:solidFill>
                <a:latin typeface="Galyon"/>
              </a:rPr>
              <a:t> We are building it now, with the members who will run it.</a:t>
            </a:r>
          </a:p>
        </p:txBody>
      </p:sp>
      <p:sp>
        <p:nvSpPr>
          <p:cNvPr id="17" name="Panel Core team"/>
          <p:cNvSpPr/>
          <p:nvPr/>
        </p:nvSpPr>
        <p:spPr>
          <a:xfrm>
            <a:off x="3493008" y="7598664"/>
            <a:ext cx="3136392" cy="1298448"/>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MEET THE CORE TEAM</a:t>
            </a:r>
          </a:p>
          <a:p>
            <a:pPr algn="l">
              <a:lnSpc>
                <a:spcPct val="100000"/>
              </a:lnSpc>
              <a:spcBef>
                <a:spcPts val="0"/>
              </a:spcBef>
              <a:spcAft>
                <a:spcPts val="150"/>
              </a:spcAft>
            </a:pPr>
            <a:r>
              <a:rPr sz="1050" b="1" i="0">
                <a:solidFill>
                  <a:srgbClr val="1C1112"/>
                </a:solidFill>
                <a:latin typeface="Galyon"/>
              </a:rPr>
              <a:t>Kate Burda</a:t>
            </a:r>
            <a:r>
              <a:rPr sz="1050" b="0" i="0">
                <a:solidFill>
                  <a:srgbClr val="1C1112"/>
                </a:solidFill>
                <a:latin typeface="Galyon"/>
              </a:rPr>
              <a:t>, Founder</a:t>
            </a:r>
          </a:p>
          <a:p>
            <a:pPr algn="l">
              <a:lnSpc>
                <a:spcPct val="100000"/>
              </a:lnSpc>
              <a:spcBef>
                <a:spcPts val="0"/>
              </a:spcBef>
              <a:spcAft>
                <a:spcPts val="150"/>
              </a:spcAft>
            </a:pPr>
            <a:r>
              <a:rPr sz="1050" b="1" i="0">
                <a:solidFill>
                  <a:srgbClr val="1C1112"/>
                </a:solidFill>
                <a:latin typeface="Galyon"/>
              </a:rPr>
              <a:t>Eddie Westerfield</a:t>
            </a:r>
            <a:r>
              <a:rPr sz="1050" b="0" i="0">
                <a:solidFill>
                  <a:srgbClr val="1C1112"/>
                </a:solidFill>
                <a:latin typeface="Galyon"/>
              </a:rPr>
              <a:t>, Chief Technology Officer</a:t>
            </a:r>
          </a:p>
          <a:p>
            <a:pPr algn="l">
              <a:lnSpc>
                <a:spcPct val="100000"/>
              </a:lnSpc>
              <a:spcBef>
                <a:spcPts val="0"/>
              </a:spcBef>
              <a:spcAft>
                <a:spcPts val="150"/>
              </a:spcAft>
            </a:pPr>
            <a:r>
              <a:rPr sz="1050" b="1" i="0">
                <a:solidFill>
                  <a:srgbClr val="1C1112"/>
                </a:solidFill>
                <a:latin typeface="Galyon"/>
              </a:rPr>
              <a:t>Recardo Poole</a:t>
            </a:r>
            <a:r>
              <a:rPr sz="1050" b="0" i="0">
                <a:solidFill>
                  <a:srgbClr val="1C1112"/>
                </a:solidFill>
                <a:latin typeface="Galyon"/>
              </a:rPr>
              <a:t>, UI/UX</a:t>
            </a:r>
          </a:p>
          <a:p>
            <a:pPr algn="l">
              <a:lnSpc>
                <a:spcPct val="100000"/>
              </a:lnSpc>
              <a:spcBef>
                <a:spcPts val="0"/>
              </a:spcBef>
              <a:spcAft>
                <a:spcPts val="150"/>
              </a:spcAft>
            </a:pPr>
            <a:r>
              <a:rPr sz="1050" b="1" i="0">
                <a:solidFill>
                  <a:srgbClr val="1C1112"/>
                </a:solidFill>
                <a:latin typeface="Galyon"/>
              </a:rPr>
              <a:t>Tristan Carty</a:t>
            </a:r>
            <a:r>
              <a:rPr sz="1050" b="0" i="0">
                <a:solidFill>
                  <a:srgbClr val="1C1112"/>
                </a:solidFill>
                <a:latin typeface="Galyon"/>
              </a:rPr>
              <a:t>, Operations</a:t>
            </a:r>
          </a:p>
          <a:p>
            <a:pPr algn="l">
              <a:lnSpc>
                <a:spcPct val="100000"/>
              </a:lnSpc>
              <a:spcBef>
                <a:spcPts val="100"/>
              </a:spcBef>
              <a:spcAft>
                <a:spcPts val="0"/>
              </a:spcAft>
            </a:pPr>
            <a:r>
              <a:rPr sz="1050" b="0" i="1">
                <a:solidFill>
                  <a:srgbClr val="1C1112"/>
                </a:solidFill>
                <a:latin typeface="Galyon"/>
              </a:rPr>
              <a:t>Four builders, which is why it is three to five members and not thirty.</a:t>
            </a:r>
          </a:p>
        </p:txBody>
      </p:sp>
      <p:sp>
        <p:nvSpPr>
          <p:cNvPr id="18" name="Next step"/>
          <p:cNvSpPr/>
          <p:nvPr/>
        </p:nvSpPr>
        <p:spPr>
          <a:xfrm>
            <a:off x="228600" y="9015984"/>
            <a:ext cx="6400800" cy="658367"/>
          </a:xfrm>
          <a:prstGeom prst="rect">
            <a:avLst/>
          </a:prstGeom>
          <a:solidFill>
            <a:srgbClr val="1C1112"/>
          </a:solidFill>
          <a:ln>
            <a:noFill/>
          </a:ln>
          <a:effectLst/>
        </p:spPr>
        <p:txBody>
          <a:bodyPr rtlCol="0" anchor="ctr" wrap="square" lIns="164592" tIns="54864" rIns="274320" bIns="54864">
            <a:noAutofit/>
          </a:bodyPr>
          <a:lstStyle/>
          <a:p>
            <a:pPr algn="l">
              <a:lnSpc>
                <a:spcPct val="100000"/>
              </a:lnSpc>
              <a:spcBef>
                <a:spcPts val="0"/>
              </a:spcBef>
              <a:spcAft>
                <a:spcPts val="200"/>
              </a:spcAft>
            </a:pPr>
            <a:r>
              <a:rPr sz="1150" b="1" i="0">
                <a:solidFill>
                  <a:srgbClr val="FF8983"/>
                </a:solidFill>
                <a:latin typeface="Galyon"/>
              </a:rPr>
              <a:t>NEXT STEP  </a:t>
            </a:r>
            <a:r>
              <a:rPr sz="1150" b="1" i="0">
                <a:solidFill>
                  <a:srgbClr val="FFFFFF"/>
                </a:solidFill>
                <a:latin typeface="Galyon"/>
              </a:rPr>
              <a:t>45 minutes. Nothing required from your side.</a:t>
            </a:r>
          </a:p>
          <a:p>
            <a:pPr algn="l">
              <a:lnSpc>
                <a:spcPct val="100000"/>
              </a:lnSpc>
              <a:spcBef>
                <a:spcPts val="0"/>
              </a:spcBef>
              <a:spcAft>
                <a:spcPts val="0"/>
              </a:spcAft>
            </a:pPr>
            <a:r>
              <a:rPr sz="1000" b="0" i="0">
                <a:solidFill>
                  <a:srgbClr val="FFFFFF"/>
                </a:solidFill>
                <a:latin typeface="Galyon"/>
              </a:rPr>
              <a:t>Watch Ignite run on Flying Horse Resort &amp; Club's live data, with their permission,</a:t>
            </a:r>
            <a:br/>
            <a:r>
              <a:rPr sz="1000" b="0" i="0">
                <a:solidFill>
                  <a:srgbClr val="FFFFFF"/>
                </a:solidFill>
                <a:latin typeface="Galyon"/>
              </a:rPr>
              <a:t>or on public data from your own market. Somebody else's numbers first, then yours.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