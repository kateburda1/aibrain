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905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charcoal panel"/>
          <p:cNvSpPr/>
          <p:nvPr/>
        </p:nvSpPr>
        <p:spPr>
          <a:xfrm>
            <a:off x="2926080" y="274320"/>
            <a:ext cx="3931920" cy="1783080"/>
          </a:xfrm>
          <a:prstGeom prst="rect">
            <a:avLst/>
          </a:prstGeom>
          <a:solidFill>
            <a:srgbClr val="1C11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Header coral angle" descr="coral_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09160" cy="2286000"/>
          </a:xfrm>
          <a:prstGeom prst="rect">
            <a:avLst/>
          </a:prstGeom>
        </p:spPr>
      </p:pic>
      <p:pic>
        <p:nvPicPr>
          <p:cNvPr id="4" name="Ignite logo" descr="logo_ligh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091" y="457199"/>
            <a:ext cx="1954868" cy="1417320"/>
          </a:xfrm>
          <a:prstGeom prst="rect">
            <a:avLst/>
          </a:prstGeom>
        </p:spPr>
      </p:pic>
      <p:sp>
        <p:nvSpPr>
          <p:cNvPr id="5" name="Header headline"/>
          <p:cNvSpPr txBox="1"/>
          <p:nvPr/>
        </p:nvSpPr>
        <p:spPr>
          <a:xfrm>
            <a:off x="274320" y="237744"/>
            <a:ext cx="38862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alyon"/>
              </a:rPr>
              <a:t>The agentic platform</a:t>
            </a:r>
            <a:br/>
            <a:r>
              <a:rPr sz="1800" b="1" i="0">
                <a:solidFill>
                  <a:srgbClr val="FFFFFF"/>
                </a:solidFill>
                <a:latin typeface="Galyon"/>
              </a:rPr>
              <a:t>for revenue strategy</a:t>
            </a:r>
          </a:p>
        </p:txBody>
      </p:sp>
      <p:sp>
        <p:nvSpPr>
          <p:cNvPr id="6" name="Header placing line"/>
          <p:cNvSpPr txBox="1"/>
          <p:nvPr/>
        </p:nvSpPr>
        <p:spPr>
          <a:xfrm>
            <a:off x="274320" y="1024128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Galyon"/>
              </a:rPr>
              <a:t>Your team sees the market shift months before the field can act on it. Ignite closes that gap, from first signal to a working playbook.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Galyon"/>
              </a:rPr>
              <a:t>do less. make it mean more.</a:t>
            </a:r>
          </a:p>
        </p:txBody>
      </p:sp>
      <p:sp>
        <p:nvSpPr>
          <p:cNvPr id="7" name="Panel Problem"/>
          <p:cNvSpPr/>
          <p:nvPr/>
        </p:nvSpPr>
        <p:spPr>
          <a:xfrm>
            <a:off x="228600" y="2377440"/>
            <a:ext cx="6400800" cy="1645920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txBody>
          <a:bodyPr rtlCol="0" anchor="t" wrap="square" lIns="128016" tIns="100584" rIns="12801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1112"/>
                </a:solidFill>
                <a:latin typeface="Galyon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C1112"/>
                </a:solidFill>
                <a:latin typeface="Galyon"/>
              </a:rPr>
              <a:t>It is not a strategy failure. It is an operationalization problem.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112"/>
                </a:solidFill>
                <a:latin typeface="Galyon"/>
              </a:rPr>
              <a:t>Most leaders see the shift coming. Then it has to be modeled, planned, approved, and handed down. By the time it reaches the field, it looks like the same 30-60-90 day task list the field has always run. Good people, good tools, slow handoff. The market does not wait for it.</a:t>
            </a:r>
          </a:p>
        </p:txBody>
      </p:sp>
      <p:sp>
        <p:nvSpPr>
          <p:cNvPr id="8" name="Stat 1"/>
          <p:cNvSpPr txBox="1"/>
          <p:nvPr/>
        </p:nvSpPr>
        <p:spPr>
          <a:xfrm>
            <a:off x="356616" y="3346704"/>
            <a:ext cx="1453895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D536F"/>
                </a:solidFill>
                <a:latin typeface="Galyon"/>
              </a:rPr>
              <a:t>3 months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1112"/>
                </a:solidFill>
                <a:latin typeface="Galyon"/>
              </a:rPr>
              <a:t>at best, from spotting a trend to executing on it. Results take longer.</a:t>
            </a:r>
          </a:p>
        </p:txBody>
      </p:sp>
      <p:sp>
        <p:nvSpPr>
          <p:cNvPr id="9" name="Stat 2"/>
          <p:cNvSpPr txBox="1"/>
          <p:nvPr/>
        </p:nvSpPr>
        <p:spPr>
          <a:xfrm>
            <a:off x="1920240" y="3346704"/>
            <a:ext cx="1453895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D536F"/>
                </a:solidFill>
                <a:latin typeface="Galyon"/>
              </a:rPr>
              <a:t>30-60-90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1112"/>
                </a:solidFill>
                <a:latin typeface="Galyon"/>
              </a:rPr>
              <a:t>day task lists in the field, the same as they have always been</a:t>
            </a:r>
          </a:p>
        </p:txBody>
      </p:sp>
      <p:sp>
        <p:nvSpPr>
          <p:cNvPr id="10" name="Stat 3"/>
          <p:cNvSpPr txBox="1"/>
          <p:nvPr/>
        </p:nvSpPr>
        <p:spPr>
          <a:xfrm>
            <a:off x="3483864" y="3346704"/>
            <a:ext cx="1453895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D536F"/>
                </a:solidFill>
                <a:latin typeface="Galyon"/>
              </a:rPr>
              <a:t>15.5 hours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1112"/>
                </a:solidFill>
                <a:latin typeface="Galyon"/>
              </a:rPr>
              <a:t>per hotel, at a management group, on a plan that was never used</a:t>
            </a:r>
          </a:p>
        </p:txBody>
      </p:sp>
      <p:sp>
        <p:nvSpPr>
          <p:cNvPr id="11" name="Stat 4"/>
          <p:cNvSpPr txBox="1"/>
          <p:nvPr/>
        </p:nvSpPr>
        <p:spPr>
          <a:xfrm>
            <a:off x="5047488" y="3346704"/>
            <a:ext cx="1453895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D536F"/>
                </a:solidFill>
                <a:latin typeface="Galyon"/>
              </a:rPr>
              <a:t>$1.3M to $2M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1112"/>
                </a:solidFill>
                <a:latin typeface="Galyon"/>
              </a:rPr>
              <a:t>estimated missed revenue in one 100-room asset in a tertiary market</a:t>
            </a:r>
          </a:p>
        </p:txBody>
      </p:sp>
      <p:sp>
        <p:nvSpPr>
          <p:cNvPr id="12" name="Panel Solution"/>
          <p:cNvSpPr/>
          <p:nvPr/>
        </p:nvSpPr>
        <p:spPr>
          <a:xfrm>
            <a:off x="228600" y="4123944"/>
            <a:ext cx="6400800" cy="1609344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txBody>
          <a:bodyPr rtlCol="0" anchor="t" wrap="square" lIns="128016" tIns="100584" rIns="12801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1112"/>
                </a:solidFill>
                <a:latin typeface="Galyon"/>
              </a:rPr>
              <a:t>WHAT IGNITE DOES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112"/>
                </a:solidFill>
                <a:latin typeface="Galyon"/>
              </a:rPr>
              <a:t>Agentic, because it does the structuring work. Continuous, not episodic.</a:t>
            </a:r>
          </a:p>
        </p:txBody>
      </p:sp>
      <p:sp>
        <p:nvSpPr>
          <p:cNvPr id="13" name="Step 1"/>
          <p:cNvSpPr txBox="1"/>
          <p:nvPr/>
        </p:nvSpPr>
        <p:spPr>
          <a:xfrm>
            <a:off x="356616" y="4654296"/>
            <a:ext cx="197510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D536F"/>
                </a:solidFill>
                <a:latin typeface="Galyon"/>
              </a:rPr>
              <a:t>Spots the quake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1112"/>
                </a:solidFill>
                <a:latin typeface="Galyon"/>
              </a:rPr>
              <a:t>The shift on the horizon, before it registers broadly.</a:t>
            </a:r>
          </a:p>
        </p:txBody>
      </p:sp>
      <p:sp>
        <p:nvSpPr>
          <p:cNvPr id="14" name="Step 2"/>
          <p:cNvSpPr txBox="1"/>
          <p:nvPr/>
        </p:nvSpPr>
        <p:spPr>
          <a:xfrm>
            <a:off x="2441448" y="4654296"/>
            <a:ext cx="197510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D536F"/>
                </a:solidFill>
                <a:latin typeface="Galyon"/>
              </a:rPr>
              <a:t>Builds the roadmap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1112"/>
                </a:solidFill>
                <a:latin typeface="Galyon"/>
              </a:rPr>
              <a:t>Built on a decade of revenue strategy work, not a blank page.</a:t>
            </a:r>
          </a:p>
        </p:txBody>
      </p:sp>
      <p:sp>
        <p:nvSpPr>
          <p:cNvPr id="15" name="Step 3"/>
          <p:cNvSpPr txBox="1"/>
          <p:nvPr/>
        </p:nvSpPr>
        <p:spPr>
          <a:xfrm>
            <a:off x="4526279" y="4654296"/>
            <a:ext cx="197510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D536F"/>
                </a:solidFill>
                <a:latin typeface="Galyon"/>
              </a:rPr>
              <a:t>Deploys the playbook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1112"/>
                </a:solidFill>
                <a:latin typeface="Galyon"/>
              </a:rPr>
              <a:t>Deployed to the field, ranked by revenue and profit together.</a:t>
            </a:r>
          </a:p>
        </p:txBody>
      </p:sp>
      <p:sp>
        <p:nvSpPr>
          <p:cNvPr id="16" name="Solution close"/>
          <p:cNvSpPr txBox="1"/>
          <p:nvPr/>
        </p:nvSpPr>
        <p:spPr>
          <a:xfrm>
            <a:off x="356616" y="5193792"/>
            <a:ext cx="61447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112"/>
                </a:solidFill>
                <a:latin typeface="Galyon"/>
              </a:rPr>
              <a:t>Plenty of AI makes the task list faster. Ignite decides what belongs on it, </a:t>
            </a:r>
            <a:r>
              <a:rPr sz="1050" b="0" i="0">
                <a:solidFill>
                  <a:srgbClr val="1C1112"/>
                </a:solidFill>
                <a:latin typeface="Galyon"/>
              </a:rPr>
              <a:t>then tracks which moves show up in the number, so the owner conversation runs on proof. It sits above your RMS, never in place of it.</a:t>
            </a:r>
          </a:p>
        </p:txBody>
      </p:sp>
      <p:sp>
        <p:nvSpPr>
          <p:cNvPr id="17" name="Panel Strategy Beta Group"/>
          <p:cNvSpPr/>
          <p:nvPr/>
        </p:nvSpPr>
        <p:spPr>
          <a:xfrm>
            <a:off x="228600" y="5833872"/>
            <a:ext cx="3136392" cy="1280160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txBody>
          <a:bodyPr rtlCol="0" anchor="t" wrap="square" lIns="128016" tIns="100584" rIns="12801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1112"/>
                </a:solidFill>
                <a:latin typeface="Galyon"/>
              </a:rPr>
              <a:t>STRATEGY BETA GROUP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D536F"/>
                </a:solidFill>
                <a:latin typeface="Galyon"/>
              </a:rPr>
              <a:t>$20,000</a:t>
            </a:r>
            <a:r>
              <a:rPr sz="1050" b="1" i="0">
                <a:solidFill>
                  <a:srgbClr val="1C1112"/>
                </a:solidFill>
                <a:latin typeface="Galyon"/>
              </a:rPr>
              <a:t> per account. Three to five members.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112"/>
                </a:solidFill>
                <a:latin typeface="Galyon"/>
              </a:rPr>
              <a:t>Not investors. Cash for access, not equity for access. Each member commits several properties and defines success in writing, in their own numbers, before day one.</a:t>
            </a:r>
          </a:p>
        </p:txBody>
      </p:sp>
      <p:sp>
        <p:nvSpPr>
          <p:cNvPr id="18" name="Panel Charter Rate"/>
          <p:cNvSpPr/>
          <p:nvPr/>
        </p:nvSpPr>
        <p:spPr>
          <a:xfrm>
            <a:off x="3493008" y="5833872"/>
            <a:ext cx="3136392" cy="1280160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txBody>
          <a:bodyPr rtlCol="0" anchor="t" wrap="square" lIns="128016" tIns="100584" rIns="12801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1112"/>
                </a:solidFill>
                <a:latin typeface="Galyon"/>
              </a:rPr>
              <a:t>THE CHARTER 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D536F"/>
                </a:solidFill>
                <a:latin typeface="Galyon"/>
              </a:rPr>
              <a:t>20%</a:t>
            </a:r>
            <a:r>
              <a:rPr sz="1050" b="1" i="0">
                <a:solidFill>
                  <a:srgbClr val="1C1112"/>
                </a:solidFill>
                <a:latin typeface="Galyon"/>
              </a:rPr>
              <a:t> under list for three years.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112"/>
                </a:solidFill>
                <a:latin typeface="Galyon"/>
              </a:rPr>
              <a:t>After general availability, on every property you bring on, not just the beta ones. Onboarding waived. Does not stack with other multi-year discounts. Offered once, to this first group.</a:t>
            </a:r>
          </a:p>
        </p:txBody>
      </p:sp>
      <p:sp>
        <p:nvSpPr>
          <p:cNvPr id="19" name="Panel What members get"/>
          <p:cNvSpPr/>
          <p:nvPr/>
        </p:nvSpPr>
        <p:spPr>
          <a:xfrm>
            <a:off x="228600" y="7214616"/>
            <a:ext cx="3136392" cy="969264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txBody>
          <a:bodyPr rtlCol="0" anchor="t" wrap="square" lIns="128016" tIns="100584" rIns="12801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1112"/>
                </a:solidFill>
                <a:latin typeface="Galyon"/>
              </a:rPr>
              <a:t>WHAT MEMBERS GET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ED536F"/>
                </a:solidFill>
                <a:latin typeface="Galyon"/>
              </a:rPr>
              <a:t>•  </a:t>
            </a:r>
            <a:r>
              <a:rPr sz="1050" b="0" i="0">
                <a:solidFill>
                  <a:srgbClr val="1C1112"/>
                </a:solidFill>
                <a:latin typeface="Galyon"/>
              </a:rPr>
              <a:t>Ignite across your committed properties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ED536F"/>
                </a:solidFill>
                <a:latin typeface="Galyon"/>
              </a:rPr>
              <a:t>•  </a:t>
            </a:r>
            <a:r>
              <a:rPr sz="1050" b="0" i="0">
                <a:solidFill>
                  <a:srgbClr val="1C1112"/>
                </a:solidFill>
                <a:latin typeface="Galyon"/>
              </a:rPr>
              <a:t>A direct hand in the multi-property build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ED536F"/>
                </a:solidFill>
                <a:latin typeface="Galyon"/>
              </a:rPr>
              <a:t>•  </a:t>
            </a:r>
            <a:r>
              <a:rPr sz="1050" b="0" i="0">
                <a:solidFill>
                  <a:srgbClr val="1C1112"/>
                </a:solidFill>
                <a:latin typeface="Galyon"/>
              </a:rPr>
              <a:t>Your portfolio's patterns in the engine first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536F"/>
                </a:solidFill>
                <a:latin typeface="Galyon"/>
              </a:rPr>
              <a:t>•  </a:t>
            </a:r>
            <a:r>
              <a:rPr sz="1050" b="0" i="0">
                <a:solidFill>
                  <a:srgbClr val="1C1112"/>
                </a:solidFill>
                <a:latin typeface="Galyon"/>
              </a:rPr>
              <a:t>Kate Burda &amp; Company alongside your team</a:t>
            </a:r>
          </a:p>
        </p:txBody>
      </p:sp>
      <p:sp>
        <p:nvSpPr>
          <p:cNvPr id="20" name="Panel Straight talk on Fuse"/>
          <p:cNvSpPr/>
          <p:nvPr/>
        </p:nvSpPr>
        <p:spPr>
          <a:xfrm>
            <a:off x="3493008" y="7214616"/>
            <a:ext cx="3136392" cy="969264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txBody>
          <a:bodyPr rtlCol="0" anchor="t" wrap="square" lIns="128016" tIns="100584" rIns="12801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1112"/>
                </a:solidFill>
                <a:latin typeface="Galyon"/>
              </a:rPr>
              <a:t>STRAIGHT TALK ON FUSE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C1112"/>
                </a:solidFill>
                <a:latin typeface="Galyon"/>
              </a:rPr>
              <a:t>Ignite is live. Fuse, the multi-property layer, is not built yet.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112"/>
                </a:solidFill>
                <a:latin typeface="Galyon"/>
              </a:rPr>
              <a:t>We are building it now, with the members who will run it.</a:t>
            </a:r>
          </a:p>
        </p:txBody>
      </p:sp>
      <p:sp>
        <p:nvSpPr>
          <p:cNvPr id="21" name="Panel Core team"/>
          <p:cNvSpPr/>
          <p:nvPr/>
        </p:nvSpPr>
        <p:spPr>
          <a:xfrm>
            <a:off x="228600" y="8284464"/>
            <a:ext cx="6400800" cy="658368"/>
          </a:xfrm>
          <a:prstGeom prst="rect">
            <a:avLst/>
          </a:prstGeom>
          <a:solidFill>
            <a:srgbClr val="F1F2F2"/>
          </a:solidFill>
          <a:ln>
            <a:noFill/>
          </a:ln>
          <a:effectLst/>
        </p:spPr>
        <p:txBody>
          <a:bodyPr rtlCol="0" anchor="t" wrap="square" lIns="128016" tIns="100584" rIns="128016" bIns="7315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1112"/>
                </a:solidFill>
                <a:latin typeface="Galyon"/>
              </a:rPr>
              <a:t>MEET THE CORE TEAM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112"/>
                </a:solidFill>
                <a:latin typeface="Galyon"/>
              </a:rPr>
              <a:t>Kate Burda</a:t>
            </a:r>
            <a:r>
              <a:rPr sz="1050" b="0" i="0">
                <a:solidFill>
                  <a:srgbClr val="1C1112"/>
                </a:solidFill>
                <a:latin typeface="Galyon"/>
              </a:rPr>
              <a:t>, Founder.  </a:t>
            </a:r>
            <a:r>
              <a:rPr sz="1050" b="1" i="0">
                <a:solidFill>
                  <a:srgbClr val="1C1112"/>
                </a:solidFill>
                <a:latin typeface="Galyon"/>
              </a:rPr>
              <a:t>Eddie Westerfield</a:t>
            </a:r>
            <a:r>
              <a:rPr sz="1050" b="0" i="0">
                <a:solidFill>
                  <a:srgbClr val="1C1112"/>
                </a:solidFill>
                <a:latin typeface="Galyon"/>
              </a:rPr>
              <a:t>, CTO.  </a:t>
            </a:r>
            <a:r>
              <a:rPr sz="1050" b="1" i="0">
                <a:solidFill>
                  <a:srgbClr val="1C1112"/>
                </a:solidFill>
                <a:latin typeface="Galyon"/>
              </a:rPr>
              <a:t>Recardo Poole</a:t>
            </a:r>
            <a:r>
              <a:rPr sz="1050" b="0" i="0">
                <a:solidFill>
                  <a:srgbClr val="1C1112"/>
                </a:solidFill>
                <a:latin typeface="Galyon"/>
              </a:rPr>
              <a:t>, UI/UX.  </a:t>
            </a:r>
            <a:r>
              <a:rPr sz="1050" b="1" i="0">
                <a:solidFill>
                  <a:srgbClr val="1C1112"/>
                </a:solidFill>
                <a:latin typeface="Galyon"/>
              </a:rPr>
              <a:t>Tristan Carty</a:t>
            </a:r>
            <a:r>
              <a:rPr sz="1050" b="0" i="0">
                <a:solidFill>
                  <a:srgbClr val="1C1112"/>
                </a:solidFill>
                <a:latin typeface="Galyon"/>
              </a:rPr>
              <a:t>, Operations.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 i="1">
                <a:solidFill>
                  <a:srgbClr val="1C1112"/>
                </a:solidFill>
                <a:latin typeface="Galyon"/>
              </a:rPr>
              <a:t>Kate brings 28+ years in revenue strategy. Four builders, so three to five members, not thirty.</a:t>
            </a:r>
          </a:p>
        </p:txBody>
      </p:sp>
      <p:sp>
        <p:nvSpPr>
          <p:cNvPr id="22" name="Next step"/>
          <p:cNvSpPr/>
          <p:nvPr/>
        </p:nvSpPr>
        <p:spPr>
          <a:xfrm>
            <a:off x="228600" y="9043416"/>
            <a:ext cx="6400800" cy="630935"/>
          </a:xfrm>
          <a:prstGeom prst="rect">
            <a:avLst/>
          </a:prstGeom>
          <a:solidFill>
            <a:srgbClr val="1C1112"/>
          </a:solidFill>
          <a:ln>
            <a:noFill/>
          </a:ln>
          <a:effectLst/>
        </p:spPr>
        <p:txBody>
          <a:bodyPr rtlCol="0" anchor="ctr" wrap="square" lIns="164592" tIns="54864" rIns="274320" bIns="54864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8983"/>
                </a:solidFill>
                <a:latin typeface="Galyon"/>
              </a:rPr>
              <a:t>NEXT STEP  </a:t>
            </a:r>
            <a:r>
              <a:rPr sz="1150" b="1" i="0">
                <a:solidFill>
                  <a:srgbClr val="FFFFFF"/>
                </a:solidFill>
                <a:latin typeface="Galyon"/>
              </a:rPr>
              <a:t>45 minutes. Nothing required from your side.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Galyon"/>
              </a:rPr>
              <a:t>Watch Ignite run on Flying Horse Resort &amp; Club's live data, with their permission,</a:t>
            </a:r>
            <a:br/>
            <a:r>
              <a:rPr sz="1000" b="0" i="0">
                <a:solidFill>
                  <a:srgbClr val="FFFFFF"/>
                </a:solidFill>
                <a:latin typeface="Galyon"/>
              </a:rPr>
              <a:t>or on public data from your own market. Somebody else's numbers first, then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