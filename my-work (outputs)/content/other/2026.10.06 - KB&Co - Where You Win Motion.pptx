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6"/>
  </p:notesMasterIdLst>
  <p:handoutMasterIdLst>
    <p:handoutMasterId r:id="rId87"/>
  </p:handoutMasterIdLst>
  <p:sldIdLst>
    <p:sldId id="4170" r:id="rId23"/>
    <p:sldId id="4171" r:id="rId11"/>
    <p:sldId id="4172" r:id="rId12"/>
    <p:sldId id="4173" r:id="rId13"/>
    <p:sldId id="4174" r:id="rId14"/>
    <p:sldId id="4175" r:id="rId15"/>
    <p:sldId id="4176" r:id="rId16"/>
    <p:sldId id="4177" r:id="rId17"/>
    <p:sldId id="4178" r:id="rId18"/>
    <p:sldId id="4179" r:id="rId19"/>
    <p:sldId id="4180" r:id="rId20"/>
    <p:sldId id="4181" r:id="rId21"/>
    <p:sldId id="4182" r:id="rId22"/>
    <p:sldId id="418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52372"/>
    <a:srgbClr val="D5646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43352FC-D1E2-444E-94AD-20225883F498}" v="3" dt="2025-08-24T16:39:32.3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746"/>
  </p:normalViewPr>
  <p:slideViewPr>
    <p:cSldViewPr snapToGrid="0">
      <p:cViewPr varScale="1">
        <p:scale>
          <a:sx n="195" d="100"/>
          <a:sy n="195" d="100"/>
        </p:scale>
        <p:origin x="16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14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.xml"/><Relationship Id="rId86" Type="http://schemas.openxmlformats.org/officeDocument/2006/relationships/notesMaster" Target="notesMasters/notesMaster1.xml"/><Relationship Id="rId87" Type="http://schemas.openxmlformats.org/officeDocument/2006/relationships/handoutMaster" Target="handoutMasters/handoutMaster1.xml"/><Relationship Id="rId88" Type="http://schemas.openxmlformats.org/officeDocument/2006/relationships/presProps" Target="presProps.xml"/><Relationship Id="rId89" Type="http://schemas.openxmlformats.org/officeDocument/2006/relationships/viewProps" Target="viewProps.xml"/><Relationship Id="rId90" Type="http://schemas.openxmlformats.org/officeDocument/2006/relationships/theme" Target="theme/theme1.xml"/><Relationship Id="rId91" Type="http://schemas.openxmlformats.org/officeDocument/2006/relationships/tableStyles" Target="tableStyles.xml"/><Relationship Id="rId92" Type="http://schemas.microsoft.com/office/2016/11/relationships/changesInfo" Target="changesInfos/changesInfo1.xml"/><Relationship Id="rId9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te Burda" userId="44c1ea53-84f5-4c7e-8f48-bfeb434f1f02" providerId="ADAL" clId="{0958D787-98EF-5E19-B5FD-55C8C1E4F96E}"/>
    <pc:docChg chg="addSld modSld">
      <pc:chgData name="Kate Burda" userId="44c1ea53-84f5-4c7e-8f48-bfeb434f1f02" providerId="ADAL" clId="{0958D787-98EF-5E19-B5FD-55C8C1E4F96E}" dt="2025-08-24T16:39:32.366" v="2"/>
      <pc:docMkLst>
        <pc:docMk/>
      </pc:docMkLst>
      <pc:sldChg chg="add">
        <pc:chgData name="Kate Burda" userId="44c1ea53-84f5-4c7e-8f48-bfeb434f1f02" providerId="ADAL" clId="{0958D787-98EF-5E19-B5FD-55C8C1E4F96E}" dt="2025-08-24T16:38:25.606" v="0"/>
        <pc:sldMkLst>
          <pc:docMk/>
          <pc:sldMk cId="1067499377" sldId="4649"/>
        </pc:sldMkLst>
      </pc:sldChg>
      <pc:sldChg chg="add">
        <pc:chgData name="Kate Burda" userId="44c1ea53-84f5-4c7e-8f48-bfeb434f1f02" providerId="ADAL" clId="{0958D787-98EF-5E19-B5FD-55C8C1E4F96E}" dt="2025-08-24T16:38:37.375" v="1"/>
        <pc:sldMkLst>
          <pc:docMk/>
          <pc:sldMk cId="2361467117" sldId="4650"/>
        </pc:sldMkLst>
      </pc:sldChg>
      <pc:sldChg chg="add">
        <pc:chgData name="Kate Burda" userId="44c1ea53-84f5-4c7e-8f48-bfeb434f1f02" providerId="ADAL" clId="{0958D787-98EF-5E19-B5FD-55C8C1E4F96E}" dt="2025-08-24T16:39:32.366" v="2"/>
        <pc:sldMkLst>
          <pc:docMk/>
          <pc:sldMk cId="3799929714" sldId="4652"/>
        </pc:sldMkLst>
      </pc:sldChg>
    </pc:docChg>
  </pc:docChgLst>
  <pc:docChgLst>
    <pc:chgData name="Kate Burda" userId="44c1ea53-84f5-4c7e-8f48-bfeb434f1f02" providerId="ADAL" clId="{03972463-BA03-2C47-9081-E9B7B383BDBB}"/>
    <pc:docChg chg="modSld">
      <pc:chgData name="Kate Burda" userId="44c1ea53-84f5-4c7e-8f48-bfeb434f1f02" providerId="ADAL" clId="{03972463-BA03-2C47-9081-E9B7B383BDBB}" dt="2024-06-11T16:09:53.291" v="1" actId="1076"/>
      <pc:docMkLst>
        <pc:docMk/>
      </pc:docMkLst>
      <pc:sldChg chg="modSp mod">
        <pc:chgData name="Kate Burda" userId="44c1ea53-84f5-4c7e-8f48-bfeb434f1f02" providerId="ADAL" clId="{03972463-BA03-2C47-9081-E9B7B383BDBB}" dt="2024-06-11T16:09:53.291" v="1" actId="1076"/>
        <pc:sldMkLst>
          <pc:docMk/>
          <pc:sldMk cId="1618416655" sldId="4178"/>
        </pc:sldMkLst>
      </pc:sldChg>
    </pc:docChg>
  </pc:docChgLst>
  <pc:docChgLst>
    <pc:chgData name="Kate Burda" userId="44c1ea53-84f5-4c7e-8f48-bfeb434f1f02" providerId="ADAL" clId="{7B8F245A-2CFA-9C45-91F7-025D96A430FA}"/>
    <pc:docChg chg="undo custSel addSld delSld modSld">
      <pc:chgData name="Kate Burda" userId="44c1ea53-84f5-4c7e-8f48-bfeb434f1f02" providerId="ADAL" clId="{7B8F245A-2CFA-9C45-91F7-025D96A430FA}" dt="2024-05-21T21:21:50.131" v="30"/>
      <pc:docMkLst>
        <pc:docMk/>
      </pc:docMkLst>
      <pc:sldChg chg="del">
        <pc:chgData name="Kate Burda" userId="44c1ea53-84f5-4c7e-8f48-bfeb434f1f02" providerId="ADAL" clId="{7B8F245A-2CFA-9C45-91F7-025D96A430FA}" dt="2024-05-21T19:38:21.962" v="28" actId="2696"/>
        <pc:sldMkLst>
          <pc:docMk/>
          <pc:sldMk cId="2355843516" sldId="256"/>
        </pc:sldMkLst>
      </pc:sldChg>
      <pc:sldChg chg="modSp mod">
        <pc:chgData name="Kate Burda" userId="44c1ea53-84f5-4c7e-8f48-bfeb434f1f02" providerId="ADAL" clId="{7B8F245A-2CFA-9C45-91F7-025D96A430FA}" dt="2024-05-21T19:39:24.827" v="29" actId="1076"/>
        <pc:sldMkLst>
          <pc:docMk/>
          <pc:sldMk cId="2852193332" sldId="389"/>
        </pc:sldMkLst>
      </pc:sldChg>
      <pc:sldChg chg="addSp delSp mod">
        <pc:chgData name="Kate Burda" userId="44c1ea53-84f5-4c7e-8f48-bfeb434f1f02" providerId="ADAL" clId="{7B8F245A-2CFA-9C45-91F7-025D96A430FA}" dt="2024-05-10T14:28:25.111" v="8" actId="478"/>
        <pc:sldMkLst>
          <pc:docMk/>
          <pc:sldMk cId="1227795063" sldId="475"/>
        </pc:sldMkLst>
      </pc:sldChg>
      <pc:sldChg chg="del">
        <pc:chgData name="Kate Burda" userId="44c1ea53-84f5-4c7e-8f48-bfeb434f1f02" providerId="ADAL" clId="{7B8F245A-2CFA-9C45-91F7-025D96A430FA}" dt="2024-05-10T14:26:47.153" v="6" actId="2696"/>
        <pc:sldMkLst>
          <pc:docMk/>
          <pc:sldMk cId="849105803" sldId="483"/>
        </pc:sldMkLst>
      </pc:sldChg>
      <pc:sldChg chg="add">
        <pc:chgData name="Kate Burda" userId="44c1ea53-84f5-4c7e-8f48-bfeb434f1f02" providerId="ADAL" clId="{7B8F245A-2CFA-9C45-91F7-025D96A430FA}" dt="2024-05-21T21:21:50.131" v="30"/>
        <pc:sldMkLst>
          <pc:docMk/>
          <pc:sldMk cId="221605093" sldId="1689"/>
        </pc:sldMkLst>
      </pc:sldChg>
      <pc:sldChg chg="add">
        <pc:chgData name="Kate Burda" userId="44c1ea53-84f5-4c7e-8f48-bfeb434f1f02" providerId="ADAL" clId="{7B8F245A-2CFA-9C45-91F7-025D96A430FA}" dt="2024-05-17T15:36:50.164" v="9"/>
        <pc:sldMkLst>
          <pc:docMk/>
          <pc:sldMk cId="3505011003" sldId="1699"/>
        </pc:sldMkLst>
      </pc:sldChg>
      <pc:sldChg chg="addSp mod">
        <pc:chgData name="Kate Burda" userId="44c1ea53-84f5-4c7e-8f48-bfeb434f1f02" providerId="ADAL" clId="{7B8F245A-2CFA-9C45-91F7-025D96A430FA}" dt="2024-05-10T13:57:19.772" v="0" actId="22"/>
        <pc:sldMkLst>
          <pc:docMk/>
          <pc:sldMk cId="1407055369" sldId="2184"/>
        </pc:sldMkLst>
      </pc:sldChg>
      <pc:sldChg chg="modSp mod">
        <pc:chgData name="Kate Burda" userId="44c1ea53-84f5-4c7e-8f48-bfeb434f1f02" providerId="ADAL" clId="{7B8F245A-2CFA-9C45-91F7-025D96A430FA}" dt="2024-05-10T14:01:28.015" v="4" actId="1076"/>
        <pc:sldMkLst>
          <pc:docMk/>
          <pc:sldMk cId="1073116862" sldId="4144"/>
        </pc:sldMkLst>
      </pc:sldChg>
      <pc:sldChg chg="del">
        <pc:chgData name="Kate Burda" userId="44c1ea53-84f5-4c7e-8f48-bfeb434f1f02" providerId="ADAL" clId="{7B8F245A-2CFA-9C45-91F7-025D96A430FA}" dt="2024-05-10T13:57:46.334" v="2" actId="2696"/>
        <pc:sldMkLst>
          <pc:docMk/>
          <pc:sldMk cId="2075257336" sldId="4151"/>
        </pc:sldMkLst>
      </pc:sldChg>
      <pc:sldChg chg="modSp mod">
        <pc:chgData name="Kate Burda" userId="44c1ea53-84f5-4c7e-8f48-bfeb434f1f02" providerId="ADAL" clId="{7B8F245A-2CFA-9C45-91F7-025D96A430FA}" dt="2024-05-21T19:22:45.154" v="27" actId="20577"/>
        <pc:sldMkLst>
          <pc:docMk/>
          <pc:sldMk cId="2900319377" sldId="4158"/>
        </pc:sldMkLst>
      </pc:sldChg>
      <pc:sldChg chg="add">
        <pc:chgData name="Kate Burda" userId="44c1ea53-84f5-4c7e-8f48-bfeb434f1f02" providerId="ADAL" clId="{7B8F245A-2CFA-9C45-91F7-025D96A430FA}" dt="2024-05-10T13:57:35.259" v="1"/>
        <pc:sldMkLst>
          <pc:docMk/>
          <pc:sldMk cId="3041186309" sldId="4197"/>
        </pc:sldMkLst>
      </pc:sldChg>
      <pc:sldChg chg="add">
        <pc:chgData name="Kate Burda" userId="44c1ea53-84f5-4c7e-8f48-bfeb434f1f02" providerId="ADAL" clId="{7B8F245A-2CFA-9C45-91F7-025D96A430FA}" dt="2024-05-10T14:26:44.107" v="5"/>
        <pc:sldMkLst>
          <pc:docMk/>
          <pc:sldMk cId="2169955483" sldId="4198"/>
        </pc:sldMkLst>
      </pc:sldChg>
      <pc:sldChg chg="add">
        <pc:chgData name="Kate Burda" userId="44c1ea53-84f5-4c7e-8f48-bfeb434f1f02" providerId="ADAL" clId="{7B8F245A-2CFA-9C45-91F7-025D96A430FA}" dt="2024-05-21T21:21:50.131" v="30"/>
        <pc:sldMkLst>
          <pc:docMk/>
          <pc:sldMk cId="471735093" sldId="4212"/>
        </pc:sldMkLst>
      </pc:sldChg>
      <pc:sldChg chg="add">
        <pc:chgData name="Kate Burda" userId="44c1ea53-84f5-4c7e-8f48-bfeb434f1f02" providerId="ADAL" clId="{7B8F245A-2CFA-9C45-91F7-025D96A430FA}" dt="2024-05-21T21:21:50.131" v="30"/>
        <pc:sldMkLst>
          <pc:docMk/>
          <pc:sldMk cId="437535136" sldId="4215"/>
        </pc:sldMkLst>
      </pc:sldChg>
      <pc:sldChg chg="add">
        <pc:chgData name="Kate Burda" userId="44c1ea53-84f5-4c7e-8f48-bfeb434f1f02" providerId="ADAL" clId="{7B8F245A-2CFA-9C45-91F7-025D96A430FA}" dt="2024-05-17T15:36:50.164" v="9"/>
        <pc:sldMkLst>
          <pc:docMk/>
          <pc:sldMk cId="4257973665" sldId="4626"/>
        </pc:sldMkLst>
      </pc:sldChg>
      <pc:sldChg chg="add">
        <pc:chgData name="Kate Burda" userId="44c1ea53-84f5-4c7e-8f48-bfeb434f1f02" providerId="ADAL" clId="{7B8F245A-2CFA-9C45-91F7-025D96A430FA}" dt="2024-05-21T19:21:17.277" v="10"/>
        <pc:sldMkLst>
          <pc:docMk/>
          <pc:sldMk cId="2786289873" sldId="4627"/>
        </pc:sldMkLst>
      </pc:sldChg>
    </pc:docChg>
  </pc:docChgLst>
  <pc:docChgLst>
    <pc:chgData name="Kate Burda" userId="44c1ea53-84f5-4c7e-8f48-bfeb434f1f02" providerId="ADAL" clId="{BE436AA0-69F0-1246-AD28-9CD99DA1D6A3}"/>
    <pc:docChg chg="addSld modSld">
      <pc:chgData name="Kate Burda" userId="44c1ea53-84f5-4c7e-8f48-bfeb434f1f02" providerId="ADAL" clId="{BE436AA0-69F0-1246-AD28-9CD99DA1D6A3}" dt="2025-04-13T13:42:48.932" v="23" actId="20577"/>
      <pc:docMkLst>
        <pc:docMk/>
      </pc:docMkLst>
      <pc:sldChg chg="modSp add">
        <pc:chgData name="Kate Burda" userId="44c1ea53-84f5-4c7e-8f48-bfeb434f1f02" providerId="ADAL" clId="{BE436AA0-69F0-1246-AD28-9CD99DA1D6A3}" dt="2025-04-13T13:42:48.932" v="23" actId="20577"/>
        <pc:sldMkLst>
          <pc:docMk/>
          <pc:sldMk cId="3035815204" sldId="4632"/>
        </pc:sldMkLst>
      </pc:sldChg>
    </pc:docChg>
  </pc:docChgLst>
  <pc:docChgLst>
    <pc:chgData name="Kate Burda" userId="44c1ea53-84f5-4c7e-8f48-bfeb434f1f02" providerId="ADAL" clId="{B1B6110C-3784-1643-B1A5-CE502DC142C0}"/>
    <pc:docChg chg="custSel addSld modSld">
      <pc:chgData name="Kate Burda" userId="44c1ea53-84f5-4c7e-8f48-bfeb434f1f02" providerId="ADAL" clId="{B1B6110C-3784-1643-B1A5-CE502DC142C0}" dt="2023-09-24T23:14:15.182" v="72" actId="27636"/>
      <pc:docMkLst>
        <pc:docMk/>
      </pc:docMkLst>
      <pc:sldChg chg="add">
        <pc:chgData name="Kate Burda" userId="44c1ea53-84f5-4c7e-8f48-bfeb434f1f02" providerId="ADAL" clId="{B1B6110C-3784-1643-B1A5-CE502DC142C0}" dt="2023-09-17T15:44:56.681" v="69"/>
        <pc:sldMkLst>
          <pc:docMk/>
          <pc:sldMk cId="2355843516" sldId="256"/>
        </pc:sldMkLst>
      </pc:sldChg>
      <pc:sldChg chg="delSp modSp mod">
        <pc:chgData name="Kate Burda" userId="44c1ea53-84f5-4c7e-8f48-bfeb434f1f02" providerId="ADAL" clId="{B1B6110C-3784-1643-B1A5-CE502DC142C0}" dt="2023-09-04T19:03:35.310" v="60" actId="208"/>
        <pc:sldMkLst>
          <pc:docMk/>
          <pc:sldMk cId="2852193332" sldId="389"/>
        </pc:sldMkLst>
      </pc:sldChg>
      <pc:sldChg chg="modSp mod">
        <pc:chgData name="Kate Burda" userId="44c1ea53-84f5-4c7e-8f48-bfeb434f1f02" providerId="ADAL" clId="{B1B6110C-3784-1643-B1A5-CE502DC142C0}" dt="2023-09-03T21:58:11.200" v="37" actId="2711"/>
        <pc:sldMkLst>
          <pc:docMk/>
          <pc:sldMk cId="4203825270" sldId="3317"/>
        </pc:sldMkLst>
      </pc:sldChg>
      <pc:sldChg chg="modSp mod">
        <pc:chgData name="Kate Burda" userId="44c1ea53-84f5-4c7e-8f48-bfeb434f1f02" providerId="ADAL" clId="{B1B6110C-3784-1643-B1A5-CE502DC142C0}" dt="2023-09-04T18:59:58.192" v="44" actId="2711"/>
        <pc:sldMkLst>
          <pc:docMk/>
          <pc:sldMk cId="1423287674" sldId="4068"/>
        </pc:sldMkLst>
      </pc:sldChg>
      <pc:sldChg chg="modSp mod">
        <pc:chgData name="Kate Burda" userId="44c1ea53-84f5-4c7e-8f48-bfeb434f1f02" providerId="ADAL" clId="{B1B6110C-3784-1643-B1A5-CE502DC142C0}" dt="2023-09-04T19:02:48.847" v="57" actId="2711"/>
        <pc:sldMkLst>
          <pc:docMk/>
          <pc:sldMk cId="1159041811" sldId="4069"/>
        </pc:sldMkLst>
      </pc:sldChg>
      <pc:sldChg chg="modSp mod">
        <pc:chgData name="Kate Burda" userId="44c1ea53-84f5-4c7e-8f48-bfeb434f1f02" providerId="ADAL" clId="{B1B6110C-3784-1643-B1A5-CE502DC142C0}" dt="2023-09-04T19:01:00.781" v="50" actId="13926"/>
        <pc:sldMkLst>
          <pc:docMk/>
          <pc:sldMk cId="165470004" sldId="4135"/>
        </pc:sldMkLst>
      </pc:sldChg>
      <pc:sldChg chg="modSp mod">
        <pc:chgData name="Kate Burda" userId="44c1ea53-84f5-4c7e-8f48-bfeb434f1f02" providerId="ADAL" clId="{B1B6110C-3784-1643-B1A5-CE502DC142C0}" dt="2023-09-04T19:04:00.265" v="61" actId="2711"/>
        <pc:sldMkLst>
          <pc:docMk/>
          <pc:sldMk cId="3596794159" sldId="4136"/>
        </pc:sldMkLst>
      </pc:sldChg>
      <pc:sldChg chg="modSp mod">
        <pc:chgData name="Kate Burda" userId="44c1ea53-84f5-4c7e-8f48-bfeb434f1f02" providerId="ADAL" clId="{B1B6110C-3784-1643-B1A5-CE502DC142C0}" dt="2023-09-03T21:58:40.274" v="38" actId="2711"/>
        <pc:sldMkLst>
          <pc:docMk/>
          <pc:sldMk cId="2530237771" sldId="4148"/>
        </pc:sldMkLst>
      </pc:sldChg>
      <pc:sldChg chg="modSp mod">
        <pc:chgData name="Kate Burda" userId="44c1ea53-84f5-4c7e-8f48-bfeb434f1f02" providerId="ADAL" clId="{B1B6110C-3784-1643-B1A5-CE502DC142C0}" dt="2023-09-04T19:00:53.446" v="49" actId="13926"/>
        <pc:sldMkLst>
          <pc:docMk/>
          <pc:sldMk cId="2900319377" sldId="4158"/>
        </pc:sldMkLst>
      </pc:sldChg>
      <pc:sldChg chg="delSp modSp mod">
        <pc:chgData name="Kate Burda" userId="44c1ea53-84f5-4c7e-8f48-bfeb434f1f02" providerId="ADAL" clId="{B1B6110C-3784-1643-B1A5-CE502DC142C0}" dt="2023-09-03T21:56:31.603" v="31" actId="478"/>
        <pc:sldMkLst>
          <pc:docMk/>
          <pc:sldMk cId="2315330111" sldId="4161"/>
        </pc:sldMkLst>
      </pc:sldChg>
      <pc:sldChg chg="modSp mod">
        <pc:chgData name="Kate Burda" userId="44c1ea53-84f5-4c7e-8f48-bfeb434f1f02" providerId="ADAL" clId="{B1B6110C-3784-1643-B1A5-CE502DC142C0}" dt="2023-09-04T19:05:30.650" v="66" actId="2711"/>
        <pc:sldMkLst>
          <pc:docMk/>
          <pc:sldMk cId="3531580380" sldId="4164"/>
        </pc:sldMkLst>
      </pc:sldChg>
      <pc:sldChg chg="modSp mod">
        <pc:chgData name="Kate Burda" userId="44c1ea53-84f5-4c7e-8f48-bfeb434f1f02" providerId="ADAL" clId="{B1B6110C-3784-1643-B1A5-CE502DC142C0}" dt="2023-09-03T21:40:02.753" v="5" actId="2711"/>
        <pc:sldMkLst>
          <pc:docMk/>
          <pc:sldMk cId="1516901474" sldId="4169"/>
        </pc:sldMkLst>
      </pc:sldChg>
      <pc:sldChg chg="modSp mod">
        <pc:chgData name="Kate Burda" userId="44c1ea53-84f5-4c7e-8f48-bfeb434f1f02" providerId="ADAL" clId="{B1B6110C-3784-1643-B1A5-CE502DC142C0}" dt="2023-09-04T19:04:20.496" v="62" actId="2711"/>
        <pc:sldMkLst>
          <pc:docMk/>
          <pc:sldMk cId="2041618948" sldId="4170"/>
        </pc:sldMkLst>
      </pc:sldChg>
      <pc:sldChg chg="delSp modSp mod">
        <pc:chgData name="Kate Burda" userId="44c1ea53-84f5-4c7e-8f48-bfeb434f1f02" providerId="ADAL" clId="{B1B6110C-3784-1643-B1A5-CE502DC142C0}" dt="2023-09-03T21:57:15.454" v="33" actId="2711"/>
        <pc:sldMkLst>
          <pc:docMk/>
          <pc:sldMk cId="1758519867" sldId="4171"/>
        </pc:sldMkLst>
      </pc:sldChg>
      <pc:sldChg chg="modSp mod">
        <pc:chgData name="Kate Burda" userId="44c1ea53-84f5-4c7e-8f48-bfeb434f1f02" providerId="ADAL" clId="{B1B6110C-3784-1643-B1A5-CE502DC142C0}" dt="2023-09-03T21:56:06.707" v="28" actId="122"/>
        <pc:sldMkLst>
          <pc:docMk/>
          <pc:sldMk cId="2178493451" sldId="4172"/>
        </pc:sldMkLst>
      </pc:sldChg>
      <pc:sldChg chg="delSp modSp mod">
        <pc:chgData name="Kate Burda" userId="44c1ea53-84f5-4c7e-8f48-bfeb434f1f02" providerId="ADAL" clId="{B1B6110C-3784-1643-B1A5-CE502DC142C0}" dt="2023-09-03T21:57:30.516" v="34" actId="2711"/>
        <pc:sldMkLst>
          <pc:docMk/>
          <pc:sldMk cId="940108447" sldId="4173"/>
        </pc:sldMkLst>
      </pc:sldChg>
      <pc:sldChg chg="modSp mod">
        <pc:chgData name="Kate Burda" userId="44c1ea53-84f5-4c7e-8f48-bfeb434f1f02" providerId="ADAL" clId="{B1B6110C-3784-1643-B1A5-CE502DC142C0}" dt="2023-09-03T21:41:03.805" v="12" actId="2711"/>
        <pc:sldMkLst>
          <pc:docMk/>
          <pc:sldMk cId="1131175987" sldId="4174"/>
        </pc:sldMkLst>
      </pc:sldChg>
      <pc:sldChg chg="delSp modSp mod">
        <pc:chgData name="Kate Burda" userId="44c1ea53-84f5-4c7e-8f48-bfeb434f1f02" providerId="ADAL" clId="{B1B6110C-3784-1643-B1A5-CE502DC142C0}" dt="2023-09-04T19:02:08.307" v="56" actId="255"/>
        <pc:sldMkLst>
          <pc:docMk/>
          <pc:sldMk cId="3367831977" sldId="4183"/>
        </pc:sldMkLst>
      </pc:sldChg>
      <pc:sldChg chg="delSp modSp mod">
        <pc:chgData name="Kate Burda" userId="44c1ea53-84f5-4c7e-8f48-bfeb434f1f02" providerId="ADAL" clId="{B1B6110C-3784-1643-B1A5-CE502DC142C0}" dt="2023-09-03T21:57:38.956" v="35" actId="2711"/>
        <pc:sldMkLst>
          <pc:docMk/>
          <pc:sldMk cId="1645932139" sldId="4187"/>
        </pc:sldMkLst>
      </pc:sldChg>
      <pc:sldChg chg="modSp add mod modClrScheme chgLayout">
        <pc:chgData name="Kate Burda" userId="44c1ea53-84f5-4c7e-8f48-bfeb434f1f02" providerId="ADAL" clId="{B1B6110C-3784-1643-B1A5-CE502DC142C0}" dt="2023-09-17T15:44:27.850" v="68" actId="700"/>
        <pc:sldMkLst>
          <pc:docMk/>
          <pc:sldMk cId="1505481118" sldId="4190"/>
        </pc:sldMkLst>
      </pc:sldChg>
      <pc:sldChg chg="add">
        <pc:chgData name="Kate Burda" userId="44c1ea53-84f5-4c7e-8f48-bfeb434f1f02" providerId="ADAL" clId="{B1B6110C-3784-1643-B1A5-CE502DC142C0}" dt="2023-09-24T23:13:53.851" v="70"/>
        <pc:sldMkLst>
          <pc:docMk/>
          <pc:sldMk cId="730722277" sldId="4191"/>
        </pc:sldMkLst>
      </pc:sldChg>
      <pc:sldChg chg="modSp add mod">
        <pc:chgData name="Kate Burda" userId="44c1ea53-84f5-4c7e-8f48-bfeb434f1f02" providerId="ADAL" clId="{B1B6110C-3784-1643-B1A5-CE502DC142C0}" dt="2023-09-24T23:14:15.182" v="72" actId="27636"/>
        <pc:sldMkLst>
          <pc:docMk/>
          <pc:sldMk cId="2926873268" sldId="4192"/>
        </pc:sldMkLst>
      </pc:sldChg>
      <pc:sldChg chg="add modTransition">
        <pc:chgData name="Kate Burda" userId="44c1ea53-84f5-4c7e-8f48-bfeb434f1f02" providerId="ADAL" clId="{B1B6110C-3784-1643-B1A5-CE502DC142C0}" dt="2023-09-24T23:14:15.077" v="71"/>
        <pc:sldMkLst>
          <pc:docMk/>
          <pc:sldMk cId="4052318816" sldId="4193"/>
        </pc:sldMkLst>
      </pc:sldChg>
    </pc:docChg>
  </pc:docChgLst>
  <pc:docChgLst>
    <pc:chgData name="Kate Burda" userId="44c1ea53-84f5-4c7e-8f48-bfeb434f1f02" providerId="ADAL" clId="{A33DC087-DE47-AD4C-9AD7-44E223934C41}"/>
    <pc:docChg chg="modSld">
      <pc:chgData name="Kate Burda" userId="44c1ea53-84f5-4c7e-8f48-bfeb434f1f02" providerId="ADAL" clId="{A33DC087-DE47-AD4C-9AD7-44E223934C41}" dt="2023-10-10T14:51:01.768" v="7" actId="20577"/>
      <pc:docMkLst>
        <pc:docMk/>
      </pc:docMkLst>
      <pc:sldChg chg="modSp mod">
        <pc:chgData name="Kate Burda" userId="44c1ea53-84f5-4c7e-8f48-bfeb434f1f02" providerId="ADAL" clId="{A33DC087-DE47-AD4C-9AD7-44E223934C41}" dt="2023-10-10T14:51:01.768" v="7" actId="20577"/>
        <pc:sldMkLst>
          <pc:docMk/>
          <pc:sldMk cId="1423287674" sldId="4068"/>
        </pc:sldMkLst>
      </pc:sldChg>
    </pc:docChg>
  </pc:docChgLst>
  <pc:docChgLst>
    <pc:chgData name="Kate Burda" userId="44c1ea53-84f5-4c7e-8f48-bfeb434f1f02" providerId="ADAL" clId="{5F90837C-4F91-D942-9D00-0D4BF3E78EBC}"/>
    <pc:docChg chg="undo custSel addSld delSld modSld">
      <pc:chgData name="Kate Burda" userId="44c1ea53-84f5-4c7e-8f48-bfeb434f1f02" providerId="ADAL" clId="{5F90837C-4F91-D942-9D00-0D4BF3E78EBC}" dt="2024-02-21T14:09:05.873" v="793"/>
      <pc:docMkLst>
        <pc:docMk/>
      </pc:docMkLst>
      <pc:sldChg chg="addSp delSp modSp mod">
        <pc:chgData name="Kate Burda" userId="44c1ea53-84f5-4c7e-8f48-bfeb434f1f02" providerId="ADAL" clId="{5F90837C-4F91-D942-9D00-0D4BF3E78EBC}" dt="2024-02-21T14:08:54.885" v="792" actId="478"/>
        <pc:sldMkLst>
          <pc:docMk/>
          <pc:sldMk cId="2141784699" sldId="357"/>
        </pc:sldMkLst>
      </pc:sldChg>
      <pc:sldChg chg="modSp modAnim">
        <pc:chgData name="Kate Burda" userId="44c1ea53-84f5-4c7e-8f48-bfeb434f1f02" providerId="ADAL" clId="{5F90837C-4F91-D942-9D00-0D4BF3E78EBC}" dt="2024-02-06T21:40:54.132" v="720" actId="20577"/>
        <pc:sldMkLst>
          <pc:docMk/>
          <pc:sldMk cId="492905647" sldId="399"/>
        </pc:sldMkLst>
      </pc:sldChg>
      <pc:sldChg chg="delSp modSp mod">
        <pc:chgData name="Kate Burda" userId="44c1ea53-84f5-4c7e-8f48-bfeb434f1f02" providerId="ADAL" clId="{5F90837C-4F91-D942-9D00-0D4BF3E78EBC}" dt="2024-02-21T14:05:07.906" v="788" actId="478"/>
        <pc:sldMkLst>
          <pc:docMk/>
          <pc:sldMk cId="4083292989" sldId="402"/>
        </pc:sldMkLst>
      </pc:sldChg>
      <pc:sldChg chg="modSp mod">
        <pc:chgData name="Kate Burda" userId="44c1ea53-84f5-4c7e-8f48-bfeb434f1f02" providerId="ADAL" clId="{5F90837C-4F91-D942-9D00-0D4BF3E78EBC}" dt="2024-02-20T19:13:24.340" v="722" actId="2711"/>
        <pc:sldMkLst>
          <pc:docMk/>
          <pc:sldMk cId="827288725" sldId="4166"/>
        </pc:sldMkLst>
      </pc:sldChg>
      <pc:sldChg chg="del">
        <pc:chgData name="Kate Burda" userId="44c1ea53-84f5-4c7e-8f48-bfeb434f1f02" providerId="ADAL" clId="{5F90837C-4F91-D942-9D00-0D4BF3E78EBC}" dt="2024-02-20T16:06:34.378" v="721" actId="2696"/>
        <pc:sldMkLst>
          <pc:docMk/>
          <pc:sldMk cId="3245116273" sldId="4186"/>
        </pc:sldMkLst>
      </pc:sldChg>
      <pc:sldChg chg="addSp delSp modSp new mod setBg setClrOvrMap">
        <pc:chgData name="Kate Burda" userId="44c1ea53-84f5-4c7e-8f48-bfeb434f1f02" providerId="ADAL" clId="{5F90837C-4F91-D942-9D00-0D4BF3E78EBC}" dt="2024-02-20T19:35:47.195" v="783" actId="113"/>
        <pc:sldMkLst>
          <pc:docMk/>
          <pc:sldMk cId="3141498097" sldId="4194"/>
        </pc:sldMkLst>
      </pc:sldChg>
      <pc:sldChg chg="add">
        <pc:chgData name="Kate Burda" userId="44c1ea53-84f5-4c7e-8f48-bfeb434f1f02" providerId="ADAL" clId="{5F90837C-4F91-D942-9D00-0D4BF3E78EBC}" dt="2024-02-21T14:09:05.873" v="793"/>
        <pc:sldMkLst>
          <pc:docMk/>
          <pc:sldMk cId="4249296606" sldId="4196"/>
        </pc:sldMkLst>
      </pc:sldChg>
    </pc:docChg>
  </pc:docChgLst>
  <pc:docChgLst>
    <pc:chgData name="Kate Burda" userId="44c1ea53-84f5-4c7e-8f48-bfeb434f1f02" providerId="ADAL" clId="{4590FC5E-C86D-AF43-BA69-5CD23CA741BA}"/>
    <pc:docChg chg="modSld">
      <pc:chgData name="Kate Burda" userId="44c1ea53-84f5-4c7e-8f48-bfeb434f1f02" providerId="ADAL" clId="{4590FC5E-C86D-AF43-BA69-5CD23CA741BA}" dt="2023-08-03T21:39:48.385" v="20" actId="20577"/>
      <pc:docMkLst>
        <pc:docMk/>
      </pc:docMkLst>
      <pc:sldChg chg="modSp mod">
        <pc:chgData name="Kate Burda" userId="44c1ea53-84f5-4c7e-8f48-bfeb434f1f02" providerId="ADAL" clId="{4590FC5E-C86D-AF43-BA69-5CD23CA741BA}" dt="2023-08-03T21:39:48.385" v="20" actId="20577"/>
        <pc:sldMkLst>
          <pc:docMk/>
          <pc:sldMk cId="0" sldId="270"/>
        </pc:sldMkLst>
      </pc:sldChg>
    </pc:docChg>
  </pc:docChgLst>
  <pc:docChgLst>
    <pc:chgData name="Kate Burda" userId="44c1ea53-84f5-4c7e-8f48-bfeb434f1f02" providerId="ADAL" clId="{6D234CAA-72EA-D548-81C8-9CCD2D05A51C}"/>
    <pc:docChg chg="addSld delSld modSld">
      <pc:chgData name="Kate Burda" userId="44c1ea53-84f5-4c7e-8f48-bfeb434f1f02" providerId="ADAL" clId="{6D234CAA-72EA-D548-81C8-9CCD2D05A51C}" dt="2023-08-22T16:19:20.933" v="1" actId="2696"/>
      <pc:docMkLst>
        <pc:docMk/>
      </pc:docMkLst>
      <pc:sldChg chg="del">
        <pc:chgData name="Kate Burda" userId="44c1ea53-84f5-4c7e-8f48-bfeb434f1f02" providerId="ADAL" clId="{6D234CAA-72EA-D548-81C8-9CCD2D05A51C}" dt="2023-08-22T16:19:20.933" v="1" actId="2696"/>
        <pc:sldMkLst>
          <pc:docMk/>
          <pc:sldMk cId="1408551012" sldId="4185"/>
        </pc:sldMkLst>
      </pc:sldChg>
      <pc:sldChg chg="add">
        <pc:chgData name="Kate Burda" userId="44c1ea53-84f5-4c7e-8f48-bfeb434f1f02" providerId="ADAL" clId="{6D234CAA-72EA-D548-81C8-9CCD2D05A51C}" dt="2023-08-22T16:19:18.839" v="0"/>
        <pc:sldMkLst>
          <pc:docMk/>
          <pc:sldMk cId="207505112" sldId="4189"/>
        </pc:sldMkLst>
      </pc:sldChg>
    </pc:docChg>
  </pc:docChgLst>
  <pc:docChgLst>
    <pc:chgData name="Kate Burda" userId="44c1ea53-84f5-4c7e-8f48-bfeb434f1f02" providerId="ADAL" clId="{23C94EC4-559A-C040-B7CE-99122257FE69}"/>
    <pc:docChg chg="addSld modSld">
      <pc:chgData name="Kate Burda" userId="44c1ea53-84f5-4c7e-8f48-bfeb434f1f02" providerId="ADAL" clId="{23C94EC4-559A-C040-B7CE-99122257FE69}" dt="2024-09-11T17:04:15.647" v="0"/>
      <pc:docMkLst>
        <pc:docMk/>
      </pc:docMkLst>
      <pc:sldChg chg="add">
        <pc:chgData name="Kate Burda" userId="44c1ea53-84f5-4c7e-8f48-bfeb434f1f02" providerId="ADAL" clId="{23C94EC4-559A-C040-B7CE-99122257FE69}" dt="2024-09-11T17:04:15.647" v="0"/>
        <pc:sldMkLst>
          <pc:docMk/>
          <pc:sldMk cId="3245116273" sldId="4186"/>
        </pc:sldMkLst>
      </pc:sldChg>
      <pc:sldChg chg="add">
        <pc:chgData name="Kate Burda" userId="44c1ea53-84f5-4c7e-8f48-bfeb434f1f02" providerId="ADAL" clId="{23C94EC4-559A-C040-B7CE-99122257FE69}" dt="2024-09-11T17:04:15.647" v="0"/>
        <pc:sldMkLst>
          <pc:docMk/>
          <pc:sldMk cId="2607735526" sldId="4631"/>
        </pc:sldMkLst>
      </pc:sldChg>
    </pc:docChg>
  </pc:docChgLst>
  <pc:docChgLst>
    <pc:chgData name="Kate Burda" userId="44c1ea53-84f5-4c7e-8f48-bfeb434f1f02" providerId="ADAL" clId="{C1F61144-3EFB-1A43-A0A6-EC80D078A7E5}"/>
    <pc:docChg chg="undo custSel modSld">
      <pc:chgData name="Kate Burda" userId="44c1ea53-84f5-4c7e-8f48-bfeb434f1f02" providerId="ADAL" clId="{C1F61144-3EFB-1A43-A0A6-EC80D078A7E5}" dt="2024-04-02T13:05:38.314" v="86" actId="1076"/>
      <pc:docMkLst>
        <pc:docMk/>
      </pc:docMkLst>
      <pc:sldChg chg="addSp delSp modSp mod addAnim delAnim">
        <pc:chgData name="Kate Burda" userId="44c1ea53-84f5-4c7e-8f48-bfeb434f1f02" providerId="ADAL" clId="{C1F61144-3EFB-1A43-A0A6-EC80D078A7E5}" dt="2024-04-02T13:05:38.314" v="86" actId="1076"/>
        <pc:sldMkLst>
          <pc:docMk/>
          <pc:sldMk cId="1036771892" sldId="1817"/>
        </pc:sldMkLst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E77D29B-A84F-8DAF-4DD9-5C3978B9ABB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08C45E-2DEE-9C8D-4F99-67548FB7399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B41864-CD90-3244-B677-A2D5FE685BF9}" type="datetimeFigureOut">
              <a:rPr lang="en-US" smtClean="0"/>
              <a:t>8/24/25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50AB63-638E-DD7B-CF4F-618583AB465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C72759-57D7-02D6-54C1-4600A56F841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6CF653-701A-1840-AE7C-78D8E3A50A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5815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86B9B4-CBC9-3A48-9A9C-455003932958}" type="datetimeFigureOut">
              <a:rPr lang="en-US" smtClean="0"/>
              <a:t>8/24/25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8F6C56-3E14-034D-AF27-6C904A40B6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3812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We incorporate all four quadrants into your Brand Positioning that then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841D7A-7318-DF42-A89E-2F30BB3CE33C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26877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F825C-F5E4-1B7D-E504-DCA4E438FD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23DAC0-5EE8-06A8-EA9F-03470AB51F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59945F-36F7-99DE-3752-71C5FFDFF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4B0E-DFF7-024B-A1B7-263AA7331561}" type="datetimeFigureOut">
              <a:rPr lang="en-US" smtClean="0"/>
              <a:t>8/24/25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FC03AE-7DEC-0FD1-EF26-0C4D97454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0DCE4C-B2C3-B032-ECCD-C64EDDE30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E4FCF-A6C5-1446-A3B3-DDF1BB5772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5274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16BC8-E775-CA73-A9DB-F2818C431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38340C-3E26-C2DE-51B9-99177BC72B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1F8ECB-31A2-E00F-8512-84384FF55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4B0E-DFF7-024B-A1B7-263AA7331561}" type="datetimeFigureOut">
              <a:rPr lang="en-US" smtClean="0"/>
              <a:t>8/24/25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9EAAF3-B3B7-05B3-ACC6-E6E744F7F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DC2122-FAA1-9C76-35E7-9686C2BBA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E4FCF-A6C5-1446-A3B3-DDF1BB5772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671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25716-752C-ACBC-A090-03C691D63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0FE9C3-1D3F-DF64-479C-0C0D948D95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541982-23C2-8D5B-A7FD-57C073D99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4B0E-DFF7-024B-A1B7-263AA7331561}" type="datetimeFigureOut">
              <a:rPr lang="en-US" smtClean="0"/>
              <a:t>8/24/25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950077-7C40-ADA4-47D4-2B193D321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9C6976-8248-AE96-9C52-CB230AC51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E4FCF-A6C5-1446-A3B3-DDF1BB5772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9583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5A103-A14D-F7E0-07FA-015F53EF9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5BA737-868B-3B1A-3AB3-884EE18C0C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A051DF-E35C-E592-0252-F87D168A9C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23C2A0-24D4-E4E0-0749-9384302C5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4B0E-DFF7-024B-A1B7-263AA7331561}" type="datetimeFigureOut">
              <a:rPr lang="en-US" smtClean="0"/>
              <a:t>8/24/25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C6063D-9FBC-C034-E425-1A39A3B22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49338A-837D-968D-5396-9CB50070D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E4FCF-A6C5-1446-A3B3-DDF1BB5772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397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B45D7-A65A-512B-3010-6F61F3108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90EDDB-C065-8383-902D-0E3FF7C2AE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621A7D-01D2-B6C1-BE24-FDDA9B1A8D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4BA3CD-AE96-8DF8-1293-70DB272E36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D4A757-8389-B31E-8F26-E06CEAEDD7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88CC1EC-6AE0-DF42-0550-E3EDDEE13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4B0E-DFF7-024B-A1B7-263AA7331561}" type="datetimeFigureOut">
              <a:rPr lang="en-US" smtClean="0"/>
              <a:t>8/24/25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16C73C6-F740-DCA2-86A2-9A6BE0637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2A308D-1C73-6310-3440-97565633B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E4FCF-A6C5-1446-A3B3-DDF1BB5772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9103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0C5EF-AC39-B2FB-30CE-8360CF777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F46F6C-29BF-239E-2507-FAEB360F5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4B0E-DFF7-024B-A1B7-263AA7331561}" type="datetimeFigureOut">
              <a:rPr lang="en-US" smtClean="0"/>
              <a:t>8/24/25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F10048-BAC3-508D-C518-32466EFF9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E4FCF-A6C5-1446-A3B3-DDF1BB577287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DE12363-2680-F1E9-B937-023F13CC666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2817" t="42064" r="21306" b="40328"/>
          <a:stretch/>
        </p:blipFill>
        <p:spPr>
          <a:xfrm>
            <a:off x="5613400" y="6390639"/>
            <a:ext cx="965200" cy="426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736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CA0C81-4B14-87A6-52CD-D45ADDE1A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4B0E-DFF7-024B-A1B7-263AA7331561}" type="datetimeFigureOut">
              <a:rPr lang="en-US" smtClean="0"/>
              <a:t>8/24/25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BC8E38-11C0-9080-CB65-1A71AA59A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E4FCF-A6C5-1446-A3B3-DDF1BB577287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7EE7DC-D57E-D899-B97A-295AAD6716F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2817" t="42064" r="21306" b="40328"/>
          <a:stretch/>
        </p:blipFill>
        <p:spPr>
          <a:xfrm>
            <a:off x="5613400" y="6390639"/>
            <a:ext cx="965200" cy="426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0506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CCCD1-902E-2973-FE0F-A431829F4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AB8E58-58E4-5966-CC5B-73B82EB275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7DB433-0909-ACF3-5661-ACB8DF397B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17D3AE-D6DA-168B-8B19-619CA15E5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4B0E-DFF7-024B-A1B7-263AA7331561}" type="datetimeFigureOut">
              <a:rPr lang="en-US" smtClean="0"/>
              <a:t>8/24/25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CCB074-48F2-6E75-C539-4C207B518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3800FD-4994-13E7-6AC5-E5D086745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E4FCF-A6C5-1446-A3B3-DDF1BB5772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3759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0C78B-2C50-6A69-682A-ACC7C3E81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39889B-AFDB-821D-050C-B99FA2B118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A9CB8A-E14C-F7DC-549F-BC39A04C91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C17124-6E91-38DB-FF22-352D1D40A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4B0E-DFF7-024B-A1B7-263AA7331561}" type="datetimeFigureOut">
              <a:rPr lang="en-US" smtClean="0"/>
              <a:t>8/24/25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3EF5AB-6238-0E11-C6BC-4228674A2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A24D13-6EC4-D52A-7AC9-3F75243D8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E4FCF-A6C5-1446-A3B3-DDF1BB5772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041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E4C57-E42E-0592-F949-1B238DE95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B91ACA-62B9-6C02-C611-F7178423CD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5E0836-8D93-73D1-3F68-53235637B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4B0E-DFF7-024B-A1B7-263AA7331561}" type="datetimeFigureOut">
              <a:rPr lang="en-US" smtClean="0"/>
              <a:t>8/24/25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4A98AE-92EB-2341-F0E1-29391AF32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BC988C-8FAA-63C3-E577-E11FF91F4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E4FCF-A6C5-1446-A3B3-DDF1BB5772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7873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BCC19B-2113-DDB2-F0CA-956A1DAF0E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2D7049-D5C6-2574-8246-E3AA62A195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0AD8DD-EF49-6528-1DAB-805B88512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94B0E-DFF7-024B-A1B7-263AA7331561}" type="datetimeFigureOut">
              <a:rPr lang="en-US" smtClean="0"/>
              <a:t>8/24/25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556047-AA88-E394-47CF-FA2B25D0E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955A95-AAD8-CAFF-F395-83C566A08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DE4FCF-A6C5-1446-A3B3-DDF1BB5772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7073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Kate Burda &amp; Co. - 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9" name="Rectangle 8"/>
          <p:cNvSpPr/>
          <p:nvPr userDrawn="1"/>
        </p:nvSpPr>
        <p:spPr>
          <a:xfrm>
            <a:off x="0" y="914400"/>
            <a:ext cx="12192000" cy="5943600"/>
          </a:xfrm>
          <a:prstGeom prst="rect">
            <a:avLst/>
          </a:prstGeom>
          <a:solidFill>
            <a:srgbClr val="CA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rgbClr val="CAC8C8"/>
              </a:solidFill>
            </a:endParaRPr>
          </a:p>
        </p:txBody>
      </p:sp>
      <p:sp>
        <p:nvSpPr>
          <p:cNvPr id="15" name="Picture Placeholder 14"/>
          <p:cNvSpPr>
            <a:spLocks noGrp="1"/>
          </p:cNvSpPr>
          <p:nvPr>
            <p:ph type="pic" sz="quarter" idx="10"/>
          </p:nvPr>
        </p:nvSpPr>
        <p:spPr>
          <a:xfrm>
            <a:off x="0" y="914400"/>
            <a:ext cx="12192000" cy="594360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itle 1"/>
          <p:cNvSpPr>
            <a:spLocks noGrp="1"/>
          </p:cNvSpPr>
          <p:nvPr>
            <p:ph type="ctrTitle" hasCustomPrompt="1"/>
          </p:nvPr>
        </p:nvSpPr>
        <p:spPr>
          <a:xfrm>
            <a:off x="1524000" y="228601"/>
            <a:ext cx="10363200" cy="430887"/>
          </a:xfrm>
        </p:spPr>
        <p:txBody>
          <a:bodyPr/>
          <a:lstStyle>
            <a:lvl1pPr algn="r">
              <a:defRPr sz="2800" b="1" baseline="0">
                <a:solidFill>
                  <a:srgbClr val="8A8C8C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en-US"/>
              <a:t>Click to Insert Title Here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82860" y="-716347"/>
            <a:ext cx="1727363" cy="2423291"/>
          </a:xfrm>
          <a:prstGeom prst="rect">
            <a:avLst/>
          </a:prstGeom>
        </p:spPr>
      </p:pic>
      <p:sp>
        <p:nvSpPr>
          <p:cNvPr id="7" name="Holder 4">
            <a:extLst>
              <a:ext uri="{FF2B5EF4-FFF2-40B4-BE49-F238E27FC236}">
                <a16:creationId xmlns:a16="http://schemas.microsoft.com/office/drawing/2014/main" id="{9581F233-BCDC-1D47-8FFD-154F2846ECE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1176000" y="6377940"/>
            <a:ext cx="406400" cy="246221"/>
          </a:xfrm>
        </p:spPr>
        <p:txBody>
          <a:bodyPr lIns="0" tIns="0" rIns="0" bIns="0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2314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964B4F5-B3EC-E9D8-A1A7-D7DA1DE0E41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2817" t="42064" r="21306" b="40328"/>
          <a:stretch/>
        </p:blipFill>
        <p:spPr>
          <a:xfrm>
            <a:off x="5613400" y="6390639"/>
            <a:ext cx="965200" cy="426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2033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5ED4CF-792E-3945-926D-4FAABFB91DAC}"/>
              </a:ext>
            </a:extLst>
          </p:cNvPr>
          <p:cNvSpPr/>
          <p:nvPr userDrawn="1"/>
        </p:nvSpPr>
        <p:spPr>
          <a:xfrm>
            <a:off x="0" y="1"/>
            <a:ext cx="12192000" cy="594732"/>
          </a:xfrm>
          <a:prstGeom prst="rect">
            <a:avLst/>
          </a:prstGeom>
          <a:pattFill prst="pct50">
            <a:fgClr>
              <a:schemeClr val="bg1">
                <a:lumMod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8" name="Holder 2">
            <a:extLst>
              <a:ext uri="{FF2B5EF4-FFF2-40B4-BE49-F238E27FC236}">
                <a16:creationId xmlns:a16="http://schemas.microsoft.com/office/drawing/2014/main" id="{4FADDF76-B979-194B-8CB4-21933D95A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446" y="67073"/>
            <a:ext cx="11617108" cy="430887"/>
          </a:xfrm>
        </p:spPr>
        <p:txBody>
          <a:bodyPr lIns="0" tIns="0" rIns="0" bIns="0"/>
          <a:lstStyle>
            <a:lvl1pPr algn="ctr">
              <a:defRPr sz="2800" b="0" i="0">
                <a:solidFill>
                  <a:srgbClr val="8A8C8C"/>
                </a:solidFill>
                <a:latin typeface="Franklin Gothic Book" panose="020B0503020102020204" pitchFamily="34" charset="0"/>
                <a:cs typeface="Arial"/>
              </a:defRPr>
            </a:lvl1pPr>
          </a:lstStyle>
          <a:p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1CFD3D5-0D87-68F5-D6E5-DA955E54194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2817" t="42064" r="21306" b="40328"/>
          <a:stretch/>
        </p:blipFill>
        <p:spPr>
          <a:xfrm>
            <a:off x="5613400" y="6390639"/>
            <a:ext cx="965200" cy="426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1703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Kate Burda &amp; Co. - 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7" name="Picture 6" descr="kb_PPT-Template-01.png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5640"/>
            <a:ext cx="8331200" cy="6359760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914400"/>
            <a:ext cx="12192000" cy="5943600"/>
          </a:xfrm>
          <a:prstGeom prst="rect">
            <a:avLst/>
          </a:prstGeom>
          <a:solidFill>
            <a:srgbClr val="CA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rgbClr val="CAC8C8"/>
              </a:solidFill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ctrTitle" hasCustomPrompt="1"/>
          </p:nvPr>
        </p:nvSpPr>
        <p:spPr>
          <a:xfrm>
            <a:off x="1828800" y="1676408"/>
            <a:ext cx="10363200" cy="1661993"/>
          </a:xfrm>
        </p:spPr>
        <p:txBody>
          <a:bodyPr/>
          <a:lstStyle>
            <a:lvl1pPr>
              <a:defRPr baseline="0">
                <a:solidFill>
                  <a:srgbClr val="8A8C8C"/>
                </a:solidFill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Insert Title</a:t>
            </a:r>
            <a:br>
              <a:rPr lang="en-US"/>
            </a:br>
            <a:r>
              <a:rPr lang="en-US"/>
              <a:t>Here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828800" y="5334000"/>
            <a:ext cx="10363200" cy="381000"/>
          </a:xfrm>
        </p:spPr>
        <p:txBody>
          <a:bodyPr anchor="t">
            <a:normAutofit/>
          </a:bodyPr>
          <a:lstStyle>
            <a:lvl1pPr marL="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16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49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66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83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99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16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32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Additional Information</a:t>
            </a:r>
          </a:p>
        </p:txBody>
      </p:sp>
    </p:spTree>
    <p:extLst>
      <p:ext uri="{BB962C8B-B14F-4D97-AF65-F5344CB8AC3E}">
        <p14:creationId xmlns:p14="http://schemas.microsoft.com/office/powerpoint/2010/main" val="3662019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  <p:sp>
        <p:nvSpPr>
          <p:cNvPr id="8" name="Holder 2">
            <a:extLst>
              <a:ext uri="{FF2B5EF4-FFF2-40B4-BE49-F238E27FC236}">
                <a16:creationId xmlns:a16="http://schemas.microsoft.com/office/drawing/2014/main" id="{4FADDF76-B979-194B-8CB4-21933D95A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446" y="67073"/>
            <a:ext cx="11617108" cy="430887"/>
          </a:xfrm>
        </p:spPr>
        <p:txBody>
          <a:bodyPr lIns="0" tIns="0" rIns="0" bIns="0"/>
          <a:lstStyle>
            <a:lvl1pPr algn="ctr">
              <a:defRPr sz="2800" b="0" i="0">
                <a:solidFill>
                  <a:srgbClr val="8A8C8C"/>
                </a:solidFill>
                <a:latin typeface="Franklin Gothic Book" panose="020B0503020102020204" pitchFamily="34" charset="0"/>
                <a:cs typeface="Arial"/>
              </a:defRPr>
            </a:lvl1pPr>
          </a:lstStyle>
          <a:p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442EE0-1B84-B132-9CEA-BE6D2642559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2817" t="42064" r="21306" b="40328"/>
          <a:stretch/>
        </p:blipFill>
        <p:spPr>
          <a:xfrm>
            <a:off x="5613400" y="6390639"/>
            <a:ext cx="965200" cy="426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3800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8A8C8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3877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3877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4245405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_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5ED4CF-792E-3945-926D-4FAABFB91DAC}"/>
              </a:ext>
            </a:extLst>
          </p:cNvPr>
          <p:cNvSpPr/>
          <p:nvPr userDrawn="1"/>
        </p:nvSpPr>
        <p:spPr>
          <a:xfrm>
            <a:off x="0" y="1"/>
            <a:ext cx="12192000" cy="594732"/>
          </a:xfrm>
          <a:prstGeom prst="rect">
            <a:avLst/>
          </a:prstGeom>
          <a:pattFill prst="pct50">
            <a:fgClr>
              <a:schemeClr val="bg1">
                <a:lumMod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8" name="Holder 2">
            <a:extLst>
              <a:ext uri="{FF2B5EF4-FFF2-40B4-BE49-F238E27FC236}">
                <a16:creationId xmlns:a16="http://schemas.microsoft.com/office/drawing/2014/main" id="{4FADDF76-B979-194B-8CB4-21933D95A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446" y="67073"/>
            <a:ext cx="11617108" cy="430887"/>
          </a:xfrm>
        </p:spPr>
        <p:txBody>
          <a:bodyPr lIns="0" tIns="0" rIns="0" bIns="0"/>
          <a:lstStyle>
            <a:lvl1pPr algn="ctr">
              <a:defRPr sz="2800" b="0" i="0">
                <a:solidFill>
                  <a:srgbClr val="8A8C8C"/>
                </a:solidFill>
                <a:latin typeface="Franklin Gothic Book" panose="020B0503020102020204" pitchFamily="34" charset="0"/>
                <a:cs typeface="Arial"/>
              </a:defRPr>
            </a:lvl1pPr>
          </a:lstStyle>
          <a:p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FEE4A1-3E5A-3384-D922-A5279BA0A45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2817" t="42064" r="21306" b="40328"/>
          <a:stretch/>
        </p:blipFill>
        <p:spPr>
          <a:xfrm>
            <a:off x="5613400" y="6390639"/>
            <a:ext cx="965200" cy="426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85317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_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5ED4CF-792E-3945-926D-4FAABFB91DAC}"/>
              </a:ext>
            </a:extLst>
          </p:cNvPr>
          <p:cNvSpPr/>
          <p:nvPr userDrawn="1"/>
        </p:nvSpPr>
        <p:spPr>
          <a:xfrm>
            <a:off x="0" y="1"/>
            <a:ext cx="12192000" cy="594732"/>
          </a:xfrm>
          <a:prstGeom prst="rect">
            <a:avLst/>
          </a:prstGeom>
          <a:pattFill prst="pct50">
            <a:fgClr>
              <a:schemeClr val="bg1">
                <a:lumMod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8" name="Holder 2">
            <a:extLst>
              <a:ext uri="{FF2B5EF4-FFF2-40B4-BE49-F238E27FC236}">
                <a16:creationId xmlns:a16="http://schemas.microsoft.com/office/drawing/2014/main" id="{4FADDF76-B979-194B-8CB4-21933D95A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446" y="67073"/>
            <a:ext cx="11617108" cy="430887"/>
          </a:xfrm>
        </p:spPr>
        <p:txBody>
          <a:bodyPr lIns="0" tIns="0" rIns="0" bIns="0"/>
          <a:lstStyle>
            <a:lvl1pPr algn="ctr">
              <a:defRPr sz="2800" b="0" i="0">
                <a:solidFill>
                  <a:srgbClr val="8A8C8C"/>
                </a:solidFill>
                <a:latin typeface="Franklin Gothic Book" panose="020B0503020102020204" pitchFamily="34" charset="0"/>
                <a:cs typeface="Arial"/>
              </a:defRPr>
            </a:lvl1pPr>
          </a:lstStyle>
          <a:p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FE8E36-6DA2-538D-60AA-28E20C8BD90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2817" t="42064" r="21306" b="40328"/>
          <a:stretch/>
        </p:blipFill>
        <p:spPr>
          <a:xfrm>
            <a:off x="5613400" y="6390639"/>
            <a:ext cx="965200" cy="426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55563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_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0D43EF-5490-42E6-6E1F-DEF33529BF4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2817" t="42064" r="21306" b="40328"/>
          <a:stretch/>
        </p:blipFill>
        <p:spPr>
          <a:xfrm>
            <a:off x="5613400" y="6390639"/>
            <a:ext cx="965200" cy="426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7121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6_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5ED4CF-792E-3945-926D-4FAABFB91DAC}"/>
              </a:ext>
            </a:extLst>
          </p:cNvPr>
          <p:cNvSpPr/>
          <p:nvPr userDrawn="1"/>
        </p:nvSpPr>
        <p:spPr>
          <a:xfrm>
            <a:off x="0" y="1"/>
            <a:ext cx="12192000" cy="594732"/>
          </a:xfrm>
          <a:prstGeom prst="rect">
            <a:avLst/>
          </a:prstGeom>
          <a:pattFill prst="pct50">
            <a:fgClr>
              <a:schemeClr val="bg1">
                <a:lumMod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8" name="Holder 2">
            <a:extLst>
              <a:ext uri="{FF2B5EF4-FFF2-40B4-BE49-F238E27FC236}">
                <a16:creationId xmlns:a16="http://schemas.microsoft.com/office/drawing/2014/main" id="{4FADDF76-B979-194B-8CB4-21933D95A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446" y="67073"/>
            <a:ext cx="11617108" cy="430887"/>
          </a:xfrm>
        </p:spPr>
        <p:txBody>
          <a:bodyPr lIns="0" tIns="0" rIns="0" bIns="0"/>
          <a:lstStyle>
            <a:lvl1pPr algn="ctr">
              <a:defRPr sz="2800" b="0" i="0">
                <a:solidFill>
                  <a:srgbClr val="8A8C8C"/>
                </a:solidFill>
                <a:latin typeface="Franklin Gothic Book" panose="020B0503020102020204" pitchFamily="34" charset="0"/>
                <a:cs typeface="Arial"/>
              </a:defRPr>
            </a:lvl1pPr>
          </a:lstStyle>
          <a:p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E777316-E3AB-10F5-B1A2-D428D6941E3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2817" t="42064" r="21306" b="40328"/>
          <a:stretch/>
        </p:blipFill>
        <p:spPr>
          <a:xfrm>
            <a:off x="5613400" y="6390639"/>
            <a:ext cx="965200" cy="426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26989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350708" y="911763"/>
            <a:ext cx="3490585" cy="3877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1"/>
            <a:ext cx="8534400" cy="3877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A8945F7-1706-4613-BF31-568E85A47E5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2817" t="42064" r="21306" b="40328"/>
          <a:stretch/>
        </p:blipFill>
        <p:spPr>
          <a:xfrm>
            <a:off x="5613400" y="6390639"/>
            <a:ext cx="965200" cy="426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65538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149601" y="53202"/>
            <a:ext cx="5727665" cy="553997"/>
          </a:xfrm>
        </p:spPr>
        <p:txBody>
          <a:bodyPr lIns="0" tIns="0" rIns="0" bIns="0"/>
          <a:lstStyle>
            <a:lvl1pPr algn="ctr">
              <a:defRPr sz="3600" b="0" i="0">
                <a:solidFill>
                  <a:schemeClr val="tx1"/>
                </a:solidFill>
                <a:latin typeface="Franklin Gothic Book"/>
                <a:cs typeface="Franklin Gothic Book"/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1D7E73-92BC-6EDB-771A-A09136443E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2817" t="42064" r="21306" b="40328"/>
          <a:stretch/>
        </p:blipFill>
        <p:spPr>
          <a:xfrm>
            <a:off x="5613400" y="6390639"/>
            <a:ext cx="965200" cy="42672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773F062-A581-59A7-0A07-2125BBD0B137}"/>
              </a:ext>
            </a:extLst>
          </p:cNvPr>
          <p:cNvSpPr/>
          <p:nvPr userDrawn="1"/>
        </p:nvSpPr>
        <p:spPr>
          <a:xfrm>
            <a:off x="0" y="1"/>
            <a:ext cx="12192000" cy="594732"/>
          </a:xfrm>
          <a:prstGeom prst="rect">
            <a:avLst/>
          </a:prstGeom>
          <a:pattFill prst="pct50">
            <a:fgClr>
              <a:schemeClr val="bg1">
                <a:lumMod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48449690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_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5335046" y="5882641"/>
            <a:ext cx="993588" cy="9905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9" name="bk object 29"/>
          <p:cNvSpPr/>
          <p:nvPr/>
        </p:nvSpPr>
        <p:spPr>
          <a:xfrm>
            <a:off x="0" y="1"/>
            <a:ext cx="12192000" cy="660400"/>
          </a:xfrm>
          <a:custGeom>
            <a:avLst/>
            <a:gdLst/>
            <a:ahLst/>
            <a:cxnLst/>
            <a:rect l="l" t="t" r="r" b="b"/>
            <a:pathLst>
              <a:path w="9144000" h="660400">
                <a:moveTo>
                  <a:pt x="0" y="660398"/>
                </a:moveTo>
                <a:lnTo>
                  <a:pt x="9143998" y="660398"/>
                </a:lnTo>
                <a:lnTo>
                  <a:pt x="9143998" y="0"/>
                </a:lnTo>
                <a:lnTo>
                  <a:pt x="0" y="0"/>
                </a:lnTo>
                <a:lnTo>
                  <a:pt x="0" y="660398"/>
                </a:lnTo>
                <a:close/>
              </a:path>
            </a:pathLst>
          </a:custGeom>
          <a:solidFill>
            <a:srgbClr val="E0E0E0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0" name="bk object 30"/>
          <p:cNvSpPr/>
          <p:nvPr/>
        </p:nvSpPr>
        <p:spPr>
          <a:xfrm>
            <a:off x="0" y="2"/>
            <a:ext cx="12191997" cy="6603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algn="ctr"/>
            <a:endParaRPr sz="240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149601" y="53202"/>
            <a:ext cx="5727665" cy="553997"/>
          </a:xfrm>
        </p:spPr>
        <p:txBody>
          <a:bodyPr lIns="0" tIns="0" rIns="0" bIns="0"/>
          <a:lstStyle>
            <a:lvl1pPr algn="ctr">
              <a:defRPr sz="3600" b="0" i="0">
                <a:solidFill>
                  <a:schemeClr val="tx1"/>
                </a:solidFill>
                <a:latin typeface="Franklin Gothic Book"/>
                <a:cs typeface="Franklin Gothic Book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>
          <a:xfrm>
            <a:off x="4145280" y="6377941"/>
            <a:ext cx="3373120" cy="369332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0803452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3A3F80-B0DC-5073-EAAC-569125EC1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ABFD91-C27E-B00C-8CDB-60EB6AECBE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19D7B8-A44E-0B01-9433-C497DEE559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094B0E-DFF7-024B-A1B7-263AA7331561}" type="datetimeFigureOut">
              <a:rPr lang="en-US" smtClean="0"/>
              <a:t>8/24/25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2E797E-D5B9-035C-BF2F-5DA9B04DBB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6DE664-9CDB-B813-BF13-005E69CF66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DE4FCF-A6C5-1446-A3B3-DDF1BB5772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4917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1" r:id="rId22"/>
    <p:sldLayoutId id="2147483672" r:id="rId23"/>
    <p:sldLayoutId id="2147483673" r:id="rId2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emf"/><Relationship Id="rId4" Type="http://schemas.openxmlformats.org/officeDocument/2006/relationships/image" Target="../media/image5.wmf"/><Relationship Id="rId5" Type="http://schemas.openxmlformats.org/officeDocument/2006/relationships/image" Target="../media/image6.wmf"/><Relationship Id="rId6" Type="http://schemas.openxmlformats.org/officeDocument/2006/relationships/image" Target="../media/image7.wm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wmf"/><Relationship Id="rId3" Type="http://schemas.openxmlformats.org/officeDocument/2006/relationships/image" Target="../media/image6.wmf"/><Relationship Id="rId4" Type="http://schemas.openxmlformats.org/officeDocument/2006/relationships/image" Target="../media/image7.wm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wmf"/><Relationship Id="rId3" Type="http://schemas.openxmlformats.org/officeDocument/2006/relationships/image" Target="../media/image6.wmf"/><Relationship Id="rId4" Type="http://schemas.openxmlformats.org/officeDocument/2006/relationships/image" Target="../media/image7.wm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wmf"/><Relationship Id="rId3" Type="http://schemas.openxmlformats.org/officeDocument/2006/relationships/image" Target="../media/image6.wmf"/><Relationship Id="rId4" Type="http://schemas.openxmlformats.org/officeDocument/2006/relationships/image" Target="../media/image7.wm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wmf"/><Relationship Id="rId3" Type="http://schemas.openxmlformats.org/officeDocument/2006/relationships/image" Target="../media/image6.wmf"/><Relationship Id="rId4" Type="http://schemas.openxmlformats.org/officeDocument/2006/relationships/image" Target="../media/image7.wm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wmf"/><Relationship Id="rId3" Type="http://schemas.openxmlformats.org/officeDocument/2006/relationships/image" Target="../media/image6.wmf"/><Relationship Id="rId4" Type="http://schemas.openxmlformats.org/officeDocument/2006/relationships/image" Target="../media/image7.wm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wmf"/><Relationship Id="rId3" Type="http://schemas.openxmlformats.org/officeDocument/2006/relationships/image" Target="../media/image6.wmf"/><Relationship Id="rId4" Type="http://schemas.openxmlformats.org/officeDocument/2006/relationships/image" Target="../media/image7.wm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wm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wmf"/><Relationship Id="rId3" Type="http://schemas.openxmlformats.org/officeDocument/2006/relationships/image" Target="../media/image6.wmf"/><Relationship Id="rId4" Type="http://schemas.openxmlformats.org/officeDocument/2006/relationships/image" Target="../media/image7.wm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wm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wmf"/><Relationship Id="rId3" Type="http://schemas.openxmlformats.org/officeDocument/2006/relationships/image" Target="../media/image6.wmf"/><Relationship Id="rId4" Type="http://schemas.openxmlformats.org/officeDocument/2006/relationships/image" Target="../media/image7.wmf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wmf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wmf"/><Relationship Id="rId3" Type="http://schemas.openxmlformats.org/officeDocument/2006/relationships/image" Target="../media/image6.wmf"/><Relationship Id="rId4" Type="http://schemas.openxmlformats.org/officeDocument/2006/relationships/image" Target="../media/image7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title"/>
          <p:cNvSpPr>
            <a:spLocks noGrp="1"/>
          </p:cNvSpPr>
          <p:nvPr>
            <p:ph type="title" idx="4294967295"/>
          </p:nvPr>
        </p:nvSpPr>
        <p:spPr>
          <a:xfrm>
            <a:off x="0" y="230457"/>
            <a:ext cx="12192000" cy="430887"/>
          </a:xfrm>
        </p:spPr>
        <p:txBody>
          <a:bodyPr>
            <a:noAutofit/>
          </a:bodyPr>
          <a:lstStyle/>
          <a:p>
            <a:pPr algn="ctr"/>
            <a:r>
              <a:rPr lang="en-US" sz="320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</a:rPr>
              <a:t>Where You Win </a:t>
            </a:r>
            <a:r>
              <a:rPr lang="en-US" sz="3200">
                <a:solidFill>
                  <a:srgbClr val="B52372"/>
                </a:solidFill>
                <a:latin typeface="Franklin Gothic Book" panose="020B0503020102020204" pitchFamily="34" charset="0"/>
              </a:rPr>
              <a:t>| Profitable Growth</a:t>
            </a:r>
          </a:p>
        </p:txBody>
      </p:sp>
      <p:sp>
        <p:nvSpPr>
          <p:cNvPr id="3" name="!!c1_bg"/>
          <p:cNvSpPr/>
          <p:nvPr/>
        </p:nvSpPr>
        <p:spPr>
          <a:xfrm>
            <a:off x="5488228" y="2961924"/>
            <a:ext cx="1216152" cy="696407"/>
          </a:xfrm>
          <a:prstGeom prst="rect">
            <a:avLst/>
          </a:prstGeom>
          <a:solidFill>
            <a:srgbClr val="F4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c1_band"/>
          <p:cNvSpPr/>
          <p:nvPr/>
        </p:nvSpPr>
        <p:spPr>
          <a:xfrm>
            <a:off x="5488228" y="2961924"/>
            <a:ext cx="1216152" cy="148498"/>
          </a:xfrm>
          <a:prstGeom prst="rect">
            <a:avLst/>
          </a:prstGeom>
          <a:solidFill>
            <a:srgbClr val="B52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c1_name"/>
          <p:cNvSpPr txBox="1"/>
          <p:nvPr/>
        </p:nvSpPr>
        <p:spPr>
          <a:xfrm>
            <a:off x="5757062" y="2961924"/>
            <a:ext cx="908913" cy="148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448" i="0">
                <a:solidFill>
                  <a:srgbClr val="FFFFFF"/>
                </a:solidFill>
                <a:latin typeface="Franklin Gothic Medium"/>
              </a:rPr>
              <a:t>1   Science &amp; Strategy</a:t>
            </a:r>
          </a:p>
        </p:txBody>
      </p:sp>
      <p:grpSp>
        <p:nvGrpSpPr>
          <p:cNvPr id="31" name="!!c1_icon">
            <a:extLst>
              <a:ext uri="{FF2B5EF4-FFF2-40B4-BE49-F238E27FC236}">
                <a16:creationId xmlns:a16="http://schemas.microsoft.com/office/drawing/2014/main" id="{64401AE8-1991-1341-CC55-F342691AA60D}"/>
              </a:ext>
            </a:extLst>
          </p:cNvPr>
          <p:cNvGrpSpPr/>
          <p:nvPr/>
        </p:nvGrpSpPr>
        <p:grpSpPr>
          <a:xfrm>
            <a:off x="5518952" y="2926079"/>
            <a:ext cx="215066" cy="218168"/>
            <a:chOff x="10023859" y="264078"/>
            <a:chExt cx="933564" cy="947032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E3F64412-42DA-A373-E8FF-487F3BC37CB3}"/>
                </a:ext>
              </a:extLst>
            </p:cNvPr>
            <p:cNvSpPr/>
            <p:nvPr/>
          </p:nvSpPr>
          <p:spPr>
            <a:xfrm>
              <a:off x="10023859" y="264078"/>
              <a:ext cx="933564" cy="947032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65000"/>
                    <a:shade val="30000"/>
                    <a:satMod val="115000"/>
                  </a:schemeClr>
                </a:gs>
                <a:gs pos="50000">
                  <a:schemeClr val="bg1">
                    <a:lumMod val="65000"/>
                    <a:shade val="67500"/>
                    <a:satMod val="115000"/>
                  </a:schemeClr>
                </a:gs>
                <a:gs pos="100000">
                  <a:schemeClr val="bg1">
                    <a:lumMod val="65000"/>
                    <a:shade val="100000"/>
                    <a:satMod val="115000"/>
                  </a:schemeClr>
                </a:gs>
              </a:gsLst>
              <a:lin ang="0" scaled="1"/>
              <a:tileRect/>
            </a:gradFill>
            <a:ln w="19050">
              <a:solidFill>
                <a:srgbClr val="B523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: Shape 25">
              <a:extLst>
                <a:ext uri="{FF2B5EF4-FFF2-40B4-BE49-F238E27FC236}">
                  <a16:creationId xmlns:a16="http://schemas.microsoft.com/office/drawing/2014/main" id="{B3723BE5-1E0C-63A4-66D5-E56AEF2E3AAB}"/>
                </a:ext>
              </a:extLst>
            </p:cNvPr>
            <p:cNvSpPr/>
            <p:nvPr/>
          </p:nvSpPr>
          <p:spPr>
            <a:xfrm>
              <a:off x="10275283" y="399791"/>
              <a:ext cx="430716" cy="675605"/>
            </a:xfrm>
            <a:custGeom>
              <a:avLst/>
              <a:gdLst>
                <a:gd name="connsiteX0" fmla="*/ 633032 w 736282"/>
                <a:gd name="connsiteY0" fmla="*/ 1098614 h 1238252"/>
                <a:gd name="connsiteX1" fmla="*/ 623507 w 736282"/>
                <a:gd name="connsiteY1" fmla="*/ 1108139 h 1238252"/>
                <a:gd name="connsiteX2" fmla="*/ 623507 w 736282"/>
                <a:gd name="connsiteY2" fmla="*/ 1170242 h 1238252"/>
                <a:gd name="connsiteX3" fmla="*/ 633032 w 736282"/>
                <a:gd name="connsiteY3" fmla="*/ 1179767 h 1238252"/>
                <a:gd name="connsiteX4" fmla="*/ 642557 w 736282"/>
                <a:gd name="connsiteY4" fmla="*/ 1170242 h 1238252"/>
                <a:gd name="connsiteX5" fmla="*/ 642557 w 736282"/>
                <a:gd name="connsiteY5" fmla="*/ 1108139 h 1238252"/>
                <a:gd name="connsiteX6" fmla="*/ 633032 w 736282"/>
                <a:gd name="connsiteY6" fmla="*/ 1098614 h 1238252"/>
                <a:gd name="connsiteX7" fmla="*/ 536163 w 736282"/>
                <a:gd name="connsiteY7" fmla="*/ 1098614 h 1238252"/>
                <a:gd name="connsiteX8" fmla="*/ 526638 w 736282"/>
                <a:gd name="connsiteY8" fmla="*/ 1108139 h 1238252"/>
                <a:gd name="connsiteX9" fmla="*/ 526638 w 736282"/>
                <a:gd name="connsiteY9" fmla="*/ 1170242 h 1238252"/>
                <a:gd name="connsiteX10" fmla="*/ 536163 w 736282"/>
                <a:gd name="connsiteY10" fmla="*/ 1179767 h 1238252"/>
                <a:gd name="connsiteX11" fmla="*/ 545688 w 736282"/>
                <a:gd name="connsiteY11" fmla="*/ 1170242 h 1238252"/>
                <a:gd name="connsiteX12" fmla="*/ 545688 w 736282"/>
                <a:gd name="connsiteY12" fmla="*/ 1108139 h 1238252"/>
                <a:gd name="connsiteX13" fmla="*/ 536163 w 736282"/>
                <a:gd name="connsiteY13" fmla="*/ 1098614 h 1238252"/>
                <a:gd name="connsiteX14" fmla="*/ 439198 w 736282"/>
                <a:gd name="connsiteY14" fmla="*/ 1098614 h 1238252"/>
                <a:gd name="connsiteX15" fmla="*/ 429673 w 736282"/>
                <a:gd name="connsiteY15" fmla="*/ 1108139 h 1238252"/>
                <a:gd name="connsiteX16" fmla="*/ 429673 w 736282"/>
                <a:gd name="connsiteY16" fmla="*/ 1170242 h 1238252"/>
                <a:gd name="connsiteX17" fmla="*/ 439198 w 736282"/>
                <a:gd name="connsiteY17" fmla="*/ 1179767 h 1238252"/>
                <a:gd name="connsiteX18" fmla="*/ 448723 w 736282"/>
                <a:gd name="connsiteY18" fmla="*/ 1170242 h 1238252"/>
                <a:gd name="connsiteX19" fmla="*/ 448723 w 736282"/>
                <a:gd name="connsiteY19" fmla="*/ 1108139 h 1238252"/>
                <a:gd name="connsiteX20" fmla="*/ 439198 w 736282"/>
                <a:gd name="connsiteY20" fmla="*/ 1098614 h 1238252"/>
                <a:gd name="connsiteX21" fmla="*/ 342329 w 736282"/>
                <a:gd name="connsiteY21" fmla="*/ 1098614 h 1238252"/>
                <a:gd name="connsiteX22" fmla="*/ 332804 w 736282"/>
                <a:gd name="connsiteY22" fmla="*/ 1108139 h 1238252"/>
                <a:gd name="connsiteX23" fmla="*/ 332804 w 736282"/>
                <a:gd name="connsiteY23" fmla="*/ 1170242 h 1238252"/>
                <a:gd name="connsiteX24" fmla="*/ 342329 w 736282"/>
                <a:gd name="connsiteY24" fmla="*/ 1179767 h 1238252"/>
                <a:gd name="connsiteX25" fmla="*/ 351854 w 736282"/>
                <a:gd name="connsiteY25" fmla="*/ 1170242 h 1238252"/>
                <a:gd name="connsiteX26" fmla="*/ 351854 w 736282"/>
                <a:gd name="connsiteY26" fmla="*/ 1108139 h 1238252"/>
                <a:gd name="connsiteX27" fmla="*/ 342329 w 736282"/>
                <a:gd name="connsiteY27" fmla="*/ 1098614 h 1238252"/>
                <a:gd name="connsiteX28" fmla="*/ 245459 w 736282"/>
                <a:gd name="connsiteY28" fmla="*/ 1098614 h 1238252"/>
                <a:gd name="connsiteX29" fmla="*/ 235934 w 736282"/>
                <a:gd name="connsiteY29" fmla="*/ 1108139 h 1238252"/>
                <a:gd name="connsiteX30" fmla="*/ 235934 w 736282"/>
                <a:gd name="connsiteY30" fmla="*/ 1170242 h 1238252"/>
                <a:gd name="connsiteX31" fmla="*/ 245459 w 736282"/>
                <a:gd name="connsiteY31" fmla="*/ 1179767 h 1238252"/>
                <a:gd name="connsiteX32" fmla="*/ 254984 w 736282"/>
                <a:gd name="connsiteY32" fmla="*/ 1170242 h 1238252"/>
                <a:gd name="connsiteX33" fmla="*/ 254984 w 736282"/>
                <a:gd name="connsiteY33" fmla="*/ 1108139 h 1238252"/>
                <a:gd name="connsiteX34" fmla="*/ 245459 w 736282"/>
                <a:gd name="connsiteY34" fmla="*/ 1098614 h 1238252"/>
                <a:gd name="connsiteX35" fmla="*/ 148494 w 736282"/>
                <a:gd name="connsiteY35" fmla="*/ 1098614 h 1238252"/>
                <a:gd name="connsiteX36" fmla="*/ 138969 w 736282"/>
                <a:gd name="connsiteY36" fmla="*/ 1108139 h 1238252"/>
                <a:gd name="connsiteX37" fmla="*/ 138969 w 736282"/>
                <a:gd name="connsiteY37" fmla="*/ 1170242 h 1238252"/>
                <a:gd name="connsiteX38" fmla="*/ 148494 w 736282"/>
                <a:gd name="connsiteY38" fmla="*/ 1179767 h 1238252"/>
                <a:gd name="connsiteX39" fmla="*/ 158019 w 736282"/>
                <a:gd name="connsiteY39" fmla="*/ 1170242 h 1238252"/>
                <a:gd name="connsiteX40" fmla="*/ 158019 w 736282"/>
                <a:gd name="connsiteY40" fmla="*/ 1108139 h 1238252"/>
                <a:gd name="connsiteX41" fmla="*/ 148494 w 736282"/>
                <a:gd name="connsiteY41" fmla="*/ 1098614 h 1238252"/>
                <a:gd name="connsiteX42" fmla="*/ 45244 w 736282"/>
                <a:gd name="connsiteY42" fmla="*/ 1059182 h 1238252"/>
                <a:gd name="connsiteX43" fmla="*/ 736282 w 736282"/>
                <a:gd name="connsiteY43" fmla="*/ 1059182 h 1238252"/>
                <a:gd name="connsiteX44" fmla="*/ 736282 w 736282"/>
                <a:gd name="connsiteY44" fmla="*/ 1228727 h 1238252"/>
                <a:gd name="connsiteX45" fmla="*/ 726757 w 736282"/>
                <a:gd name="connsiteY45" fmla="*/ 1238252 h 1238252"/>
                <a:gd name="connsiteX46" fmla="*/ 54769 w 736282"/>
                <a:gd name="connsiteY46" fmla="*/ 1238252 h 1238252"/>
                <a:gd name="connsiteX47" fmla="*/ 45244 w 736282"/>
                <a:gd name="connsiteY47" fmla="*/ 1228727 h 1238252"/>
                <a:gd name="connsiteX48" fmla="*/ 147258 w 736282"/>
                <a:gd name="connsiteY48" fmla="*/ 960218 h 1238252"/>
                <a:gd name="connsiteX49" fmla="*/ 634270 w 736282"/>
                <a:gd name="connsiteY49" fmla="*/ 960218 h 1238252"/>
                <a:gd name="connsiteX50" fmla="*/ 671703 w 736282"/>
                <a:gd name="connsiteY50" fmla="*/ 1040131 h 1238252"/>
                <a:gd name="connsiteX51" fmla="*/ 109824 w 736282"/>
                <a:gd name="connsiteY51" fmla="*/ 1040131 h 1238252"/>
                <a:gd name="connsiteX52" fmla="*/ 285370 w 736282"/>
                <a:gd name="connsiteY52" fmla="*/ 245651 h 1238252"/>
                <a:gd name="connsiteX53" fmla="*/ 235077 w 736282"/>
                <a:gd name="connsiteY53" fmla="*/ 295944 h 1238252"/>
                <a:gd name="connsiteX54" fmla="*/ 285370 w 736282"/>
                <a:gd name="connsiteY54" fmla="*/ 346045 h 1238252"/>
                <a:gd name="connsiteX55" fmla="*/ 335471 w 736282"/>
                <a:gd name="connsiteY55" fmla="*/ 295944 h 1238252"/>
                <a:gd name="connsiteX56" fmla="*/ 285370 w 736282"/>
                <a:gd name="connsiteY56" fmla="*/ 245651 h 1238252"/>
                <a:gd name="connsiteX57" fmla="*/ 404146 w 736282"/>
                <a:gd name="connsiteY57" fmla="*/ 176214 h 1238252"/>
                <a:gd name="connsiteX58" fmla="*/ 393954 w 736282"/>
                <a:gd name="connsiteY58" fmla="*/ 184976 h 1238252"/>
                <a:gd name="connsiteX59" fmla="*/ 402622 w 736282"/>
                <a:gd name="connsiteY59" fmla="*/ 195264 h 1238252"/>
                <a:gd name="connsiteX60" fmla="*/ 429100 w 736282"/>
                <a:gd name="connsiteY60" fmla="*/ 197359 h 1238252"/>
                <a:gd name="connsiteX61" fmla="*/ 602456 w 736282"/>
                <a:gd name="connsiteY61" fmla="*/ 314422 h 1238252"/>
                <a:gd name="connsiteX62" fmla="*/ 627221 w 736282"/>
                <a:gd name="connsiteY62" fmla="*/ 416720 h 1238252"/>
                <a:gd name="connsiteX63" fmla="*/ 636746 w 736282"/>
                <a:gd name="connsiteY63" fmla="*/ 425959 h 1238252"/>
                <a:gd name="connsiteX64" fmla="*/ 637032 w 736282"/>
                <a:gd name="connsiteY64" fmla="*/ 425959 h 1238252"/>
                <a:gd name="connsiteX65" fmla="*/ 646271 w 736282"/>
                <a:gd name="connsiteY65" fmla="*/ 416148 h 1238252"/>
                <a:gd name="connsiteX66" fmla="*/ 619315 w 736282"/>
                <a:gd name="connsiteY66" fmla="*/ 305657 h 1238252"/>
                <a:gd name="connsiteX67" fmla="*/ 430721 w 736282"/>
                <a:gd name="connsiteY67" fmla="*/ 178404 h 1238252"/>
                <a:gd name="connsiteX68" fmla="*/ 344424 w 736282"/>
                <a:gd name="connsiteY68" fmla="*/ 955 h 1238252"/>
                <a:gd name="connsiteX69" fmla="*/ 442627 w 736282"/>
                <a:gd name="connsiteY69" fmla="*/ 116111 h 1238252"/>
                <a:gd name="connsiteX70" fmla="*/ 675418 w 736282"/>
                <a:gd name="connsiteY70" fmla="*/ 276512 h 1238252"/>
                <a:gd name="connsiteX71" fmla="*/ 709423 w 736282"/>
                <a:gd name="connsiteY71" fmla="*/ 414529 h 1238252"/>
                <a:gd name="connsiteX72" fmla="*/ 658558 w 736282"/>
                <a:gd name="connsiteY72" fmla="*/ 714853 h 1238252"/>
                <a:gd name="connsiteX73" fmla="*/ 627221 w 736282"/>
                <a:gd name="connsiteY73" fmla="*/ 941167 h 1238252"/>
                <a:gd name="connsiteX74" fmla="*/ 153733 w 736282"/>
                <a:gd name="connsiteY74" fmla="*/ 941167 h 1238252"/>
                <a:gd name="connsiteX75" fmla="*/ 215455 w 736282"/>
                <a:gd name="connsiteY75" fmla="*/ 673228 h 1238252"/>
                <a:gd name="connsiteX76" fmla="*/ 219932 w 736282"/>
                <a:gd name="connsiteY76" fmla="*/ 667419 h 1238252"/>
                <a:gd name="connsiteX77" fmla="*/ 231076 w 736282"/>
                <a:gd name="connsiteY77" fmla="*/ 652559 h 1238252"/>
                <a:gd name="connsiteX78" fmla="*/ 370332 w 736282"/>
                <a:gd name="connsiteY78" fmla="*/ 512351 h 1238252"/>
                <a:gd name="connsiteX79" fmla="*/ 224790 w 736282"/>
                <a:gd name="connsiteY79" fmla="*/ 500920 h 1238252"/>
                <a:gd name="connsiteX80" fmla="*/ 86582 w 736282"/>
                <a:gd name="connsiteY80" fmla="*/ 558737 h 1238252"/>
                <a:gd name="connsiteX81" fmla="*/ 13335 w 736282"/>
                <a:gd name="connsiteY81" fmla="*/ 507112 h 1238252"/>
                <a:gd name="connsiteX82" fmla="*/ 41147 w 736282"/>
                <a:gd name="connsiteY82" fmla="*/ 374144 h 1238252"/>
                <a:gd name="connsiteX83" fmla="*/ 42291 w 736282"/>
                <a:gd name="connsiteY83" fmla="*/ 373190 h 1238252"/>
                <a:gd name="connsiteX84" fmla="*/ 175069 w 736282"/>
                <a:gd name="connsiteY84" fmla="*/ 236031 h 1238252"/>
                <a:gd name="connsiteX85" fmla="*/ 258508 w 736282"/>
                <a:gd name="connsiteY85" fmla="*/ 156782 h 1238252"/>
                <a:gd name="connsiteX86" fmla="*/ 330423 w 736282"/>
                <a:gd name="connsiteY86" fmla="*/ 138686 h 1238252"/>
                <a:gd name="connsiteX87" fmla="*/ 330709 w 736282"/>
                <a:gd name="connsiteY87" fmla="*/ 138686 h 1238252"/>
                <a:gd name="connsiteX88" fmla="*/ 330709 w 736282"/>
                <a:gd name="connsiteY88" fmla="*/ 9526 h 1238252"/>
                <a:gd name="connsiteX89" fmla="*/ 335185 w 736282"/>
                <a:gd name="connsiteY89" fmla="*/ 1429 h 1238252"/>
                <a:gd name="connsiteX90" fmla="*/ 344424 w 736282"/>
                <a:gd name="connsiteY90" fmla="*/ 955 h 1238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</a:cxnLst>
              <a:rect l="l" t="t" r="r" b="b"/>
              <a:pathLst>
                <a:path w="736282" h="1238252">
                  <a:moveTo>
                    <a:pt x="633032" y="1098614"/>
                  </a:moveTo>
                  <a:cubicBezTo>
                    <a:pt x="627793" y="1098614"/>
                    <a:pt x="623507" y="1102902"/>
                    <a:pt x="623507" y="1108139"/>
                  </a:cubicBezTo>
                  <a:lnTo>
                    <a:pt x="623507" y="1170242"/>
                  </a:lnTo>
                  <a:cubicBezTo>
                    <a:pt x="623507" y="1175577"/>
                    <a:pt x="627793" y="1179767"/>
                    <a:pt x="633032" y="1179767"/>
                  </a:cubicBezTo>
                  <a:cubicBezTo>
                    <a:pt x="638270" y="1179767"/>
                    <a:pt x="642557" y="1175577"/>
                    <a:pt x="642557" y="1170242"/>
                  </a:cubicBezTo>
                  <a:lnTo>
                    <a:pt x="642557" y="1108139"/>
                  </a:lnTo>
                  <a:cubicBezTo>
                    <a:pt x="642557" y="1102902"/>
                    <a:pt x="638270" y="1098614"/>
                    <a:pt x="633032" y="1098614"/>
                  </a:cubicBezTo>
                  <a:close/>
                  <a:moveTo>
                    <a:pt x="536163" y="1098614"/>
                  </a:moveTo>
                  <a:cubicBezTo>
                    <a:pt x="530829" y="1098614"/>
                    <a:pt x="526638" y="1102902"/>
                    <a:pt x="526638" y="1108139"/>
                  </a:cubicBezTo>
                  <a:lnTo>
                    <a:pt x="526638" y="1170242"/>
                  </a:lnTo>
                  <a:cubicBezTo>
                    <a:pt x="526638" y="1175577"/>
                    <a:pt x="530829" y="1179767"/>
                    <a:pt x="536163" y="1179767"/>
                  </a:cubicBezTo>
                  <a:cubicBezTo>
                    <a:pt x="541401" y="1179767"/>
                    <a:pt x="545688" y="1175577"/>
                    <a:pt x="545688" y="1170242"/>
                  </a:cubicBezTo>
                  <a:lnTo>
                    <a:pt x="545688" y="1108139"/>
                  </a:lnTo>
                  <a:cubicBezTo>
                    <a:pt x="545688" y="1102902"/>
                    <a:pt x="541401" y="1098614"/>
                    <a:pt x="536163" y="1098614"/>
                  </a:cubicBezTo>
                  <a:close/>
                  <a:moveTo>
                    <a:pt x="439198" y="1098614"/>
                  </a:moveTo>
                  <a:cubicBezTo>
                    <a:pt x="433958" y="1098614"/>
                    <a:pt x="429673" y="1102902"/>
                    <a:pt x="429673" y="1108139"/>
                  </a:cubicBezTo>
                  <a:lnTo>
                    <a:pt x="429673" y="1170242"/>
                  </a:lnTo>
                  <a:cubicBezTo>
                    <a:pt x="429673" y="1175577"/>
                    <a:pt x="433958" y="1179767"/>
                    <a:pt x="439198" y="1179767"/>
                  </a:cubicBezTo>
                  <a:cubicBezTo>
                    <a:pt x="444532" y="1179767"/>
                    <a:pt x="448723" y="1175577"/>
                    <a:pt x="448723" y="1170242"/>
                  </a:cubicBezTo>
                  <a:lnTo>
                    <a:pt x="448723" y="1108139"/>
                  </a:lnTo>
                  <a:cubicBezTo>
                    <a:pt x="448723" y="1102902"/>
                    <a:pt x="444532" y="1098614"/>
                    <a:pt x="439198" y="1098614"/>
                  </a:cubicBezTo>
                  <a:close/>
                  <a:moveTo>
                    <a:pt x="342329" y="1098614"/>
                  </a:moveTo>
                  <a:cubicBezTo>
                    <a:pt x="337090" y="1098614"/>
                    <a:pt x="332804" y="1102902"/>
                    <a:pt x="332804" y="1108139"/>
                  </a:cubicBezTo>
                  <a:lnTo>
                    <a:pt x="332804" y="1170242"/>
                  </a:lnTo>
                  <a:cubicBezTo>
                    <a:pt x="332804" y="1175577"/>
                    <a:pt x="337090" y="1179767"/>
                    <a:pt x="342329" y="1179767"/>
                  </a:cubicBezTo>
                  <a:cubicBezTo>
                    <a:pt x="347567" y="1179767"/>
                    <a:pt x="351854" y="1175577"/>
                    <a:pt x="351854" y="1170242"/>
                  </a:cubicBezTo>
                  <a:lnTo>
                    <a:pt x="351854" y="1108139"/>
                  </a:lnTo>
                  <a:cubicBezTo>
                    <a:pt x="351854" y="1102902"/>
                    <a:pt x="347567" y="1098614"/>
                    <a:pt x="342329" y="1098614"/>
                  </a:cubicBezTo>
                  <a:close/>
                  <a:moveTo>
                    <a:pt x="245459" y="1098614"/>
                  </a:moveTo>
                  <a:cubicBezTo>
                    <a:pt x="240126" y="1098614"/>
                    <a:pt x="235934" y="1102902"/>
                    <a:pt x="235934" y="1108139"/>
                  </a:cubicBezTo>
                  <a:lnTo>
                    <a:pt x="235934" y="1170242"/>
                  </a:lnTo>
                  <a:cubicBezTo>
                    <a:pt x="235934" y="1175577"/>
                    <a:pt x="240126" y="1179767"/>
                    <a:pt x="245459" y="1179767"/>
                  </a:cubicBezTo>
                  <a:cubicBezTo>
                    <a:pt x="250697" y="1179767"/>
                    <a:pt x="254984" y="1175577"/>
                    <a:pt x="254984" y="1170242"/>
                  </a:cubicBezTo>
                  <a:lnTo>
                    <a:pt x="254984" y="1108139"/>
                  </a:lnTo>
                  <a:cubicBezTo>
                    <a:pt x="254984" y="1102902"/>
                    <a:pt x="250697" y="1098614"/>
                    <a:pt x="245459" y="1098614"/>
                  </a:cubicBezTo>
                  <a:close/>
                  <a:moveTo>
                    <a:pt x="148494" y="1098614"/>
                  </a:moveTo>
                  <a:cubicBezTo>
                    <a:pt x="143256" y="1098614"/>
                    <a:pt x="138969" y="1102902"/>
                    <a:pt x="138969" y="1108139"/>
                  </a:cubicBezTo>
                  <a:lnTo>
                    <a:pt x="138969" y="1170242"/>
                  </a:lnTo>
                  <a:cubicBezTo>
                    <a:pt x="138969" y="1175577"/>
                    <a:pt x="143256" y="1179767"/>
                    <a:pt x="148494" y="1179767"/>
                  </a:cubicBezTo>
                  <a:cubicBezTo>
                    <a:pt x="153829" y="1179767"/>
                    <a:pt x="158019" y="1175577"/>
                    <a:pt x="158019" y="1170242"/>
                  </a:cubicBezTo>
                  <a:lnTo>
                    <a:pt x="158019" y="1108139"/>
                  </a:lnTo>
                  <a:cubicBezTo>
                    <a:pt x="158019" y="1102902"/>
                    <a:pt x="153829" y="1098614"/>
                    <a:pt x="148494" y="1098614"/>
                  </a:cubicBezTo>
                  <a:close/>
                  <a:moveTo>
                    <a:pt x="45244" y="1059182"/>
                  </a:moveTo>
                  <a:lnTo>
                    <a:pt x="736282" y="1059182"/>
                  </a:lnTo>
                  <a:lnTo>
                    <a:pt x="736282" y="1228727"/>
                  </a:lnTo>
                  <a:cubicBezTo>
                    <a:pt x="736282" y="1233966"/>
                    <a:pt x="732091" y="1238252"/>
                    <a:pt x="726757" y="1238252"/>
                  </a:cubicBezTo>
                  <a:lnTo>
                    <a:pt x="54769" y="1238252"/>
                  </a:lnTo>
                  <a:cubicBezTo>
                    <a:pt x="49531" y="1238252"/>
                    <a:pt x="45244" y="1233966"/>
                    <a:pt x="45244" y="1228727"/>
                  </a:cubicBezTo>
                  <a:close/>
                  <a:moveTo>
                    <a:pt x="147258" y="960218"/>
                  </a:moveTo>
                  <a:lnTo>
                    <a:pt x="634270" y="960218"/>
                  </a:lnTo>
                  <a:lnTo>
                    <a:pt x="671703" y="1040131"/>
                  </a:lnTo>
                  <a:lnTo>
                    <a:pt x="109824" y="1040131"/>
                  </a:lnTo>
                  <a:close/>
                  <a:moveTo>
                    <a:pt x="285370" y="245651"/>
                  </a:moveTo>
                  <a:cubicBezTo>
                    <a:pt x="257650" y="245651"/>
                    <a:pt x="235077" y="268224"/>
                    <a:pt x="235077" y="295944"/>
                  </a:cubicBezTo>
                  <a:cubicBezTo>
                    <a:pt x="235077" y="323565"/>
                    <a:pt x="257650" y="346045"/>
                    <a:pt x="285370" y="346045"/>
                  </a:cubicBezTo>
                  <a:cubicBezTo>
                    <a:pt x="312991" y="346045"/>
                    <a:pt x="335471" y="323565"/>
                    <a:pt x="335471" y="295944"/>
                  </a:cubicBezTo>
                  <a:cubicBezTo>
                    <a:pt x="335471" y="268224"/>
                    <a:pt x="312991" y="245651"/>
                    <a:pt x="285370" y="245651"/>
                  </a:cubicBezTo>
                  <a:close/>
                  <a:moveTo>
                    <a:pt x="404146" y="176214"/>
                  </a:moveTo>
                  <a:cubicBezTo>
                    <a:pt x="398811" y="175737"/>
                    <a:pt x="394335" y="179739"/>
                    <a:pt x="393954" y="184976"/>
                  </a:cubicBezTo>
                  <a:cubicBezTo>
                    <a:pt x="393477" y="190215"/>
                    <a:pt x="397384" y="194787"/>
                    <a:pt x="402622" y="195264"/>
                  </a:cubicBezTo>
                  <a:lnTo>
                    <a:pt x="429100" y="197359"/>
                  </a:lnTo>
                  <a:cubicBezTo>
                    <a:pt x="433958" y="197836"/>
                    <a:pt x="548163" y="209742"/>
                    <a:pt x="602456" y="314422"/>
                  </a:cubicBezTo>
                  <a:cubicBezTo>
                    <a:pt x="617791" y="344138"/>
                    <a:pt x="626173" y="378525"/>
                    <a:pt x="627221" y="416720"/>
                  </a:cubicBezTo>
                  <a:cubicBezTo>
                    <a:pt x="627316" y="421864"/>
                    <a:pt x="631602" y="425959"/>
                    <a:pt x="636746" y="425959"/>
                  </a:cubicBezTo>
                  <a:lnTo>
                    <a:pt x="637032" y="425959"/>
                  </a:lnTo>
                  <a:cubicBezTo>
                    <a:pt x="642271" y="425864"/>
                    <a:pt x="646366" y="421483"/>
                    <a:pt x="646271" y="416148"/>
                  </a:cubicBezTo>
                  <a:cubicBezTo>
                    <a:pt x="645129" y="375095"/>
                    <a:pt x="636080" y="337948"/>
                    <a:pt x="619315" y="305657"/>
                  </a:cubicBezTo>
                  <a:cubicBezTo>
                    <a:pt x="560260" y="191836"/>
                    <a:pt x="436150" y="178881"/>
                    <a:pt x="430721" y="178404"/>
                  </a:cubicBezTo>
                  <a:close/>
                  <a:moveTo>
                    <a:pt x="344424" y="955"/>
                  </a:moveTo>
                  <a:cubicBezTo>
                    <a:pt x="347662" y="2573"/>
                    <a:pt x="421862" y="39720"/>
                    <a:pt x="442627" y="116111"/>
                  </a:cubicBezTo>
                  <a:cubicBezTo>
                    <a:pt x="474725" y="120399"/>
                    <a:pt x="607505" y="145544"/>
                    <a:pt x="675418" y="276512"/>
                  </a:cubicBezTo>
                  <a:cubicBezTo>
                    <a:pt x="696658" y="317375"/>
                    <a:pt x="708088" y="363760"/>
                    <a:pt x="709423" y="414529"/>
                  </a:cubicBezTo>
                  <a:cubicBezTo>
                    <a:pt x="711137" y="479870"/>
                    <a:pt x="706946" y="605885"/>
                    <a:pt x="658558" y="714853"/>
                  </a:cubicBezTo>
                  <a:cubicBezTo>
                    <a:pt x="658272" y="715804"/>
                    <a:pt x="609695" y="845059"/>
                    <a:pt x="627221" y="941167"/>
                  </a:cubicBezTo>
                  <a:lnTo>
                    <a:pt x="153733" y="941167"/>
                  </a:lnTo>
                  <a:cubicBezTo>
                    <a:pt x="145637" y="893826"/>
                    <a:pt x="136779" y="777242"/>
                    <a:pt x="215455" y="673228"/>
                  </a:cubicBezTo>
                  <a:lnTo>
                    <a:pt x="219932" y="667419"/>
                  </a:lnTo>
                  <a:cubicBezTo>
                    <a:pt x="223648" y="662561"/>
                    <a:pt x="227457" y="657608"/>
                    <a:pt x="231076" y="652559"/>
                  </a:cubicBezTo>
                  <a:cubicBezTo>
                    <a:pt x="249174" y="627317"/>
                    <a:pt x="295465" y="568834"/>
                    <a:pt x="370332" y="512351"/>
                  </a:cubicBezTo>
                  <a:cubicBezTo>
                    <a:pt x="333850" y="518160"/>
                    <a:pt x="281653" y="519970"/>
                    <a:pt x="224790" y="500920"/>
                  </a:cubicBezTo>
                  <a:cubicBezTo>
                    <a:pt x="209170" y="518542"/>
                    <a:pt x="154972" y="572264"/>
                    <a:pt x="86582" y="558737"/>
                  </a:cubicBezTo>
                  <a:cubicBezTo>
                    <a:pt x="55721" y="552547"/>
                    <a:pt x="29050" y="533783"/>
                    <a:pt x="13335" y="507112"/>
                  </a:cubicBezTo>
                  <a:cubicBezTo>
                    <a:pt x="-1048" y="482728"/>
                    <a:pt x="-16574" y="432912"/>
                    <a:pt x="41147" y="374144"/>
                  </a:cubicBezTo>
                  <a:cubicBezTo>
                    <a:pt x="41529" y="373762"/>
                    <a:pt x="41910" y="373476"/>
                    <a:pt x="42291" y="373190"/>
                  </a:cubicBezTo>
                  <a:cubicBezTo>
                    <a:pt x="43148" y="372430"/>
                    <a:pt x="134207" y="304992"/>
                    <a:pt x="175069" y="236031"/>
                  </a:cubicBezTo>
                  <a:cubicBezTo>
                    <a:pt x="195644" y="201263"/>
                    <a:pt x="224503" y="173928"/>
                    <a:pt x="258508" y="156782"/>
                  </a:cubicBezTo>
                  <a:cubicBezTo>
                    <a:pt x="282607" y="144781"/>
                    <a:pt x="306801" y="138686"/>
                    <a:pt x="330423" y="138686"/>
                  </a:cubicBezTo>
                  <a:lnTo>
                    <a:pt x="330709" y="138686"/>
                  </a:lnTo>
                  <a:lnTo>
                    <a:pt x="330709" y="9526"/>
                  </a:lnTo>
                  <a:cubicBezTo>
                    <a:pt x="330709" y="6192"/>
                    <a:pt x="332422" y="3145"/>
                    <a:pt x="335185" y="1429"/>
                  </a:cubicBezTo>
                  <a:cubicBezTo>
                    <a:pt x="337948" y="-285"/>
                    <a:pt x="341471" y="-475"/>
                    <a:pt x="344424" y="955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135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32" name="!!c1_quote"/>
          <p:cNvSpPr txBox="1"/>
          <p:nvPr/>
        </p:nvSpPr>
        <p:spPr>
          <a:xfrm>
            <a:off x="5565038" y="3171870"/>
            <a:ext cx="10625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34" i="1">
                <a:solidFill>
                  <a:srgbClr val="2E2925"/>
                </a:solidFill>
                <a:latin typeface="Franklin Gothic Book"/>
              </a:rPr>
              <a:t>“Our targets are increasing, but we keep doing the same thing?”</a:t>
            </a:r>
          </a:p>
        </p:txBody>
      </p:sp>
      <p:sp>
        <p:nvSpPr>
          <p:cNvPr id="33" name="!!c1_how"/>
          <p:cNvSpPr txBox="1"/>
          <p:nvPr/>
        </p:nvSpPr>
        <p:spPr>
          <a:xfrm>
            <a:off x="5565038" y="3517513"/>
            <a:ext cx="563270" cy="87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36" i="0">
                <a:solidFill>
                  <a:srgbClr val="55575A"/>
                </a:solidFill>
                <a:latin typeface="Franklin Gothic Medium"/>
              </a:rPr>
              <a:t>Who we hunt</a:t>
            </a:r>
          </a:p>
        </p:txBody>
      </p:sp>
      <p:sp>
        <p:nvSpPr>
          <p:cNvPr id="34" name="!!c1_pill"/>
          <p:cNvSpPr/>
          <p:nvPr/>
        </p:nvSpPr>
        <p:spPr>
          <a:xfrm>
            <a:off x="6176889" y="3517513"/>
            <a:ext cx="450682" cy="87050"/>
          </a:xfrm>
          <a:prstGeom prst="roundRect">
            <a:avLst>
              <a:gd name="adj" fmla="val 50000"/>
            </a:avLst>
          </a:prstGeom>
          <a:solidFill>
            <a:srgbClr val="D51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294">
                <a:solidFill>
                  <a:srgbClr val="FFFFFF"/>
                </a:solidFill>
                <a:latin typeface="Franklin Gothic Medium"/>
              </a:rPr>
              <a:t>IGNITE</a:t>
            </a:r>
          </a:p>
        </p:txBody>
      </p:sp>
      <p:sp>
        <p:nvSpPr>
          <p:cNvPr id="35" name="!!c2_bg"/>
          <p:cNvSpPr/>
          <p:nvPr/>
        </p:nvSpPr>
        <p:spPr>
          <a:xfrm>
            <a:off x="5488228" y="2961924"/>
            <a:ext cx="1216152" cy="696407"/>
          </a:xfrm>
          <a:prstGeom prst="rect">
            <a:avLst/>
          </a:prstGeom>
          <a:solidFill>
            <a:srgbClr val="F4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!!c2_band"/>
          <p:cNvSpPr/>
          <p:nvPr/>
        </p:nvSpPr>
        <p:spPr>
          <a:xfrm>
            <a:off x="5488228" y="2961924"/>
            <a:ext cx="1216152" cy="148498"/>
          </a:xfrm>
          <a:prstGeom prst="rect">
            <a:avLst/>
          </a:prstGeom>
          <a:solidFill>
            <a:srgbClr val="555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!!c2_name"/>
          <p:cNvSpPr txBox="1"/>
          <p:nvPr/>
        </p:nvSpPr>
        <p:spPr>
          <a:xfrm>
            <a:off x="5757062" y="2961924"/>
            <a:ext cx="908913" cy="148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448" i="0">
                <a:solidFill>
                  <a:srgbClr val="FFFFFF"/>
                </a:solidFill>
                <a:latin typeface="Franklin Gothic Medium"/>
              </a:rPr>
              <a:t>2   Process &amp; Customer Engagement</a:t>
            </a:r>
          </a:p>
        </p:txBody>
      </p:sp>
      <p:grpSp>
        <p:nvGrpSpPr>
          <p:cNvPr id="32" name="!!c2_icon">
            <a:extLst>
              <a:ext uri="{FF2B5EF4-FFF2-40B4-BE49-F238E27FC236}">
                <a16:creationId xmlns:a16="http://schemas.microsoft.com/office/drawing/2014/main" id="{77041D4C-755A-3D94-1710-AD2EB06AA12A}"/>
              </a:ext>
            </a:extLst>
          </p:cNvPr>
          <p:cNvGrpSpPr/>
          <p:nvPr/>
        </p:nvGrpSpPr>
        <p:grpSpPr>
          <a:xfrm>
            <a:off x="5518952" y="2926079"/>
            <a:ext cx="215066" cy="215066"/>
            <a:chOff x="9967415" y="5638500"/>
            <a:chExt cx="960500" cy="960500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0B46943B-8095-DFB5-802D-B1C35FD52F07}"/>
                </a:ext>
              </a:extLst>
            </p:cNvPr>
            <p:cNvSpPr/>
            <p:nvPr/>
          </p:nvSpPr>
          <p:spPr>
            <a:xfrm>
              <a:off x="9967415" y="5638500"/>
              <a:ext cx="960500" cy="960500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65000"/>
                    <a:shade val="30000"/>
                    <a:satMod val="115000"/>
                  </a:schemeClr>
                </a:gs>
                <a:gs pos="50000">
                  <a:schemeClr val="bg1">
                    <a:lumMod val="65000"/>
                    <a:shade val="67500"/>
                    <a:satMod val="115000"/>
                  </a:schemeClr>
                </a:gs>
                <a:gs pos="100000">
                  <a:schemeClr val="bg1">
                    <a:lumMod val="65000"/>
                    <a:shade val="100000"/>
                    <a:satMod val="115000"/>
                  </a:schemeClr>
                </a:gs>
              </a:gsLst>
              <a:lin ang="0" scaled="1"/>
              <a:tileRect/>
            </a:gradFill>
            <a:ln w="19050">
              <a:solidFill>
                <a:srgbClr val="B523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5AF0AA7D-B943-9379-2F28-A53E9C4EE12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159322" y="5855410"/>
              <a:ext cx="628041" cy="473182"/>
            </a:xfrm>
            <a:prstGeom prst="rect">
              <a:avLst/>
            </a:prstGeom>
          </p:spPr>
        </p:pic>
      </p:grpSp>
      <p:sp>
        <p:nvSpPr>
          <p:cNvPr id="38" name="!!c2_quote"/>
          <p:cNvSpPr txBox="1"/>
          <p:nvPr/>
        </p:nvSpPr>
        <p:spPr>
          <a:xfrm>
            <a:off x="5565038" y="3171870"/>
            <a:ext cx="10625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34" i="1">
                <a:solidFill>
                  <a:srgbClr val="2E2925"/>
                </a:solidFill>
                <a:latin typeface="Franklin Gothic Book"/>
              </a:rPr>
              <a:t>“Are we showing up relevant to our customers? How do we not become commoditized?”</a:t>
            </a:r>
          </a:p>
        </p:txBody>
      </p:sp>
      <p:sp>
        <p:nvSpPr>
          <p:cNvPr id="39" name="!!c2_how"/>
          <p:cNvSpPr txBox="1"/>
          <p:nvPr/>
        </p:nvSpPr>
        <p:spPr>
          <a:xfrm>
            <a:off x="5565038" y="3517513"/>
            <a:ext cx="563270" cy="87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36" i="0">
                <a:solidFill>
                  <a:srgbClr val="55575A"/>
                </a:solidFill>
                <a:latin typeface="Franklin Gothic Medium"/>
              </a:rPr>
              <a:t>How we hunt</a:t>
            </a:r>
          </a:p>
        </p:txBody>
      </p:sp>
      <p:sp>
        <p:nvSpPr>
          <p:cNvPr id="40" name="!!c2_pill"/>
          <p:cNvSpPr/>
          <p:nvPr/>
        </p:nvSpPr>
        <p:spPr>
          <a:xfrm>
            <a:off x="5834395" y="3517513"/>
            <a:ext cx="793176" cy="87050"/>
          </a:xfrm>
          <a:prstGeom prst="roundRect">
            <a:avLst>
              <a:gd name="adj" fmla="val 50000"/>
            </a:avLst>
          </a:prstGeom>
          <a:solidFill>
            <a:srgbClr val="D51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294">
                <a:solidFill>
                  <a:srgbClr val="FFFFFF"/>
                </a:solidFill>
                <a:latin typeface="Franklin Gothic Medium"/>
              </a:rPr>
              <a:t>CONNECT ABM PROGRAM</a:t>
            </a:r>
          </a:p>
        </p:txBody>
      </p:sp>
      <p:sp>
        <p:nvSpPr>
          <p:cNvPr id="41" name="!!c3_bg"/>
          <p:cNvSpPr/>
          <p:nvPr/>
        </p:nvSpPr>
        <p:spPr>
          <a:xfrm>
            <a:off x="5488228" y="2961924"/>
            <a:ext cx="1216152" cy="696407"/>
          </a:xfrm>
          <a:prstGeom prst="rect">
            <a:avLst/>
          </a:prstGeom>
          <a:solidFill>
            <a:srgbClr val="F4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!!c3_band"/>
          <p:cNvSpPr/>
          <p:nvPr/>
        </p:nvSpPr>
        <p:spPr>
          <a:xfrm>
            <a:off x="5488228" y="2961924"/>
            <a:ext cx="1216152" cy="148498"/>
          </a:xfrm>
          <a:prstGeom prst="rect">
            <a:avLst/>
          </a:prstGeom>
          <a:solidFill>
            <a:srgbClr val="B52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!!c3_name"/>
          <p:cNvSpPr txBox="1"/>
          <p:nvPr/>
        </p:nvSpPr>
        <p:spPr>
          <a:xfrm>
            <a:off x="5757062" y="2961924"/>
            <a:ext cx="908913" cy="148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448" i="0">
                <a:solidFill>
                  <a:srgbClr val="FFFFFF"/>
                </a:solidFill>
                <a:latin typeface="Franklin Gothic Medium"/>
              </a:rPr>
              <a:t>3   Art &amp; Talent Optimization</a:t>
            </a:r>
          </a:p>
        </p:txBody>
      </p:sp>
      <p:sp>
        <p:nvSpPr>
          <p:cNvPr id="20" name="!!c3_icon">
            <a:extLst>
              <a:ext uri="{FF2B5EF4-FFF2-40B4-BE49-F238E27FC236}">
                <a16:creationId xmlns:a16="http://schemas.microsoft.com/office/drawing/2014/main" id="{1554B659-AB45-0829-BE35-18A4734CC740}"/>
              </a:ext>
            </a:extLst>
          </p:cNvPr>
          <p:cNvSpPr/>
          <p:nvPr/>
        </p:nvSpPr>
        <p:spPr>
          <a:xfrm>
            <a:off x="5518952" y="2926079"/>
            <a:ext cx="215066" cy="215066"/>
          </a:xfrm>
          <a:prstGeom prst="ellipse">
            <a:avLst/>
          </a:prstGeom>
          <a:gradFill flip="none" rotWithShape="1">
            <a:gsLst>
              <a:gs pos="0">
                <a:schemeClr val="bg1">
                  <a:lumMod val="65000"/>
                  <a:shade val="30000"/>
                  <a:satMod val="115000"/>
                </a:schemeClr>
              </a:gs>
              <a:gs pos="50000">
                <a:schemeClr val="bg1">
                  <a:lumMod val="65000"/>
                  <a:shade val="67500"/>
                  <a:satMod val="115000"/>
                </a:schemeClr>
              </a:gs>
              <a:gs pos="100000">
                <a:schemeClr val="bg1">
                  <a:lumMod val="65000"/>
                  <a:shade val="100000"/>
                  <a:satMod val="115000"/>
                </a:schemeClr>
              </a:gs>
            </a:gsLst>
            <a:lin ang="0" scaled="1"/>
            <a:tileRect/>
          </a:gradFill>
          <a:ln w="19050">
            <a:solidFill>
              <a:srgbClr val="B523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!!c3_icon2">
            <a:extLst>
              <a:ext uri="{FF2B5EF4-FFF2-40B4-BE49-F238E27FC236}">
                <a16:creationId xmlns:a16="http://schemas.microsoft.com/office/drawing/2014/main" id="{1D374ABD-935D-2940-6A79-175341756B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58307" y="2967940"/>
            <a:ext cx="136357" cy="134157"/>
          </a:xfrm>
          <a:prstGeom prst="rect">
            <a:avLst/>
          </a:prstGeom>
        </p:spPr>
      </p:pic>
      <p:sp>
        <p:nvSpPr>
          <p:cNvPr id="44" name="!!c3_quote"/>
          <p:cNvSpPr txBox="1"/>
          <p:nvPr/>
        </p:nvSpPr>
        <p:spPr>
          <a:xfrm>
            <a:off x="5565038" y="3171870"/>
            <a:ext cx="10625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34" i="1">
                <a:solidFill>
                  <a:srgbClr val="2E2925"/>
                </a:solidFill>
                <a:latin typeface="Franklin Gothic Book"/>
              </a:rPr>
              <a:t>“We have to develop our people. We can’t afford the cost of turnover and talent is hard to find.”</a:t>
            </a:r>
          </a:p>
        </p:txBody>
      </p:sp>
      <p:sp>
        <p:nvSpPr>
          <p:cNvPr id="45" name="!!c3_how"/>
          <p:cNvSpPr txBox="1"/>
          <p:nvPr/>
        </p:nvSpPr>
        <p:spPr>
          <a:xfrm>
            <a:off x="5565038" y="3517513"/>
            <a:ext cx="563270" cy="87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36" i="0">
                <a:solidFill>
                  <a:srgbClr val="55575A"/>
                </a:solidFill>
                <a:latin typeface="Franklin Gothic Medium"/>
              </a:rPr>
              <a:t>How we develop</a:t>
            </a:r>
          </a:p>
        </p:txBody>
      </p:sp>
      <p:sp>
        <p:nvSpPr>
          <p:cNvPr id="46" name="!!c3_pill"/>
          <p:cNvSpPr/>
          <p:nvPr/>
        </p:nvSpPr>
        <p:spPr>
          <a:xfrm>
            <a:off x="5992469" y="3517513"/>
            <a:ext cx="635102" cy="87050"/>
          </a:xfrm>
          <a:prstGeom prst="roundRect">
            <a:avLst>
              <a:gd name="adj" fmla="val 50000"/>
            </a:avLst>
          </a:prstGeom>
          <a:solidFill>
            <a:srgbClr val="D51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294">
                <a:solidFill>
                  <a:srgbClr val="FFFFFF"/>
                </a:solidFill>
                <a:latin typeface="Franklin Gothic Medium"/>
              </a:rPr>
              <a:t>IGNITE TALENT</a:t>
            </a:r>
          </a:p>
        </p:txBody>
      </p:sp>
      <p:sp>
        <p:nvSpPr>
          <p:cNvPr id="47" name="!!c4_bg"/>
          <p:cNvSpPr/>
          <p:nvPr/>
        </p:nvSpPr>
        <p:spPr>
          <a:xfrm>
            <a:off x="5488228" y="2961924"/>
            <a:ext cx="1216152" cy="696407"/>
          </a:xfrm>
          <a:prstGeom prst="rect">
            <a:avLst/>
          </a:prstGeom>
          <a:solidFill>
            <a:srgbClr val="F4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!!c4_band"/>
          <p:cNvSpPr/>
          <p:nvPr/>
        </p:nvSpPr>
        <p:spPr>
          <a:xfrm>
            <a:off x="5488228" y="2961924"/>
            <a:ext cx="1216152" cy="148498"/>
          </a:xfrm>
          <a:prstGeom prst="rect">
            <a:avLst/>
          </a:prstGeom>
          <a:solidFill>
            <a:srgbClr val="555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!!c4_name"/>
          <p:cNvSpPr txBox="1"/>
          <p:nvPr/>
        </p:nvSpPr>
        <p:spPr>
          <a:xfrm>
            <a:off x="5757062" y="2961924"/>
            <a:ext cx="908913" cy="148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448" i="0">
                <a:solidFill>
                  <a:srgbClr val="FFFFFF"/>
                </a:solidFill>
                <a:latin typeface="Franklin Gothic Medium"/>
              </a:rPr>
              <a:t>4   Revenue Performance &amp; Metrics</a:t>
            </a:r>
          </a:p>
        </p:txBody>
      </p:sp>
      <p:grpSp>
        <p:nvGrpSpPr>
          <p:cNvPr id="30" name="!!c4_icon">
            <a:extLst>
              <a:ext uri="{FF2B5EF4-FFF2-40B4-BE49-F238E27FC236}">
                <a16:creationId xmlns:a16="http://schemas.microsoft.com/office/drawing/2014/main" id="{A34F56AE-6E15-CA17-553A-4BF952104907}"/>
              </a:ext>
            </a:extLst>
          </p:cNvPr>
          <p:cNvGrpSpPr/>
          <p:nvPr/>
        </p:nvGrpSpPr>
        <p:grpSpPr>
          <a:xfrm>
            <a:off x="5518952" y="2926079"/>
            <a:ext cx="215066" cy="215066"/>
            <a:chOff x="1234577" y="277743"/>
            <a:chExt cx="960500" cy="960500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B9C1869-EBAB-161D-2DA4-8C653FBF65E5}"/>
                </a:ext>
              </a:extLst>
            </p:cNvPr>
            <p:cNvSpPr/>
            <p:nvPr/>
          </p:nvSpPr>
          <p:spPr>
            <a:xfrm>
              <a:off x="1234577" y="277743"/>
              <a:ext cx="960500" cy="960500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65000"/>
                    <a:shade val="30000"/>
                    <a:satMod val="115000"/>
                  </a:schemeClr>
                </a:gs>
                <a:gs pos="50000">
                  <a:schemeClr val="bg1">
                    <a:lumMod val="65000"/>
                    <a:shade val="67500"/>
                    <a:satMod val="115000"/>
                  </a:schemeClr>
                </a:gs>
                <a:gs pos="100000">
                  <a:schemeClr val="bg1">
                    <a:lumMod val="65000"/>
                    <a:shade val="100000"/>
                    <a:satMod val="115000"/>
                  </a:schemeClr>
                </a:gs>
              </a:gsLst>
              <a:lin ang="0" scaled="1"/>
              <a:tileRect/>
            </a:gradFill>
            <a:ln w="19050">
              <a:solidFill>
                <a:srgbClr val="B523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A2EA54A9-541A-CDCD-7A9C-8ABB1FBB1F5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348085" y="547117"/>
              <a:ext cx="706154" cy="380952"/>
            </a:xfrm>
            <a:prstGeom prst="rect">
              <a:avLst/>
            </a:prstGeom>
          </p:spPr>
        </p:pic>
      </p:grpSp>
      <p:sp>
        <p:nvSpPr>
          <p:cNvPr id="50" name="!!c4_quote"/>
          <p:cNvSpPr txBox="1"/>
          <p:nvPr/>
        </p:nvSpPr>
        <p:spPr>
          <a:xfrm>
            <a:off x="5565038" y="3171870"/>
            <a:ext cx="10625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34" i="1">
                <a:solidFill>
                  <a:srgbClr val="2E2925"/>
                </a:solidFill>
                <a:latin typeface="Franklin Gothic Book"/>
              </a:rPr>
              <a:t>“We have a lot of reporting, but does it show how or if we are doing better?”</a:t>
            </a:r>
          </a:p>
        </p:txBody>
      </p:sp>
      <p:sp>
        <p:nvSpPr>
          <p:cNvPr id="51" name="!!c4_how"/>
          <p:cNvSpPr txBox="1"/>
          <p:nvPr/>
        </p:nvSpPr>
        <p:spPr>
          <a:xfrm>
            <a:off x="5565038" y="3517513"/>
            <a:ext cx="563270" cy="87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36" i="0">
                <a:solidFill>
                  <a:srgbClr val="55575A"/>
                </a:solidFill>
                <a:latin typeface="Franklin Gothic Medium"/>
              </a:rPr>
              <a:t>How we measure</a:t>
            </a:r>
          </a:p>
        </p:txBody>
      </p:sp>
      <p:sp>
        <p:nvSpPr>
          <p:cNvPr id="52" name="!!hub_ring"/>
          <p:cNvSpPr/>
          <p:nvPr/>
        </p:nvSpPr>
        <p:spPr>
          <a:xfrm>
            <a:off x="4619548" y="1833372"/>
            <a:ext cx="2953511" cy="2953511"/>
          </a:xfrm>
          <a:prstGeom prst="ellipse">
            <a:avLst/>
          </a:prstGeom>
          <a:noFill/>
          <a:ln w="28575">
            <a:solidFill>
              <a:srgbClr val="D510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!!hub"/>
          <p:cNvSpPr/>
          <p:nvPr/>
        </p:nvSpPr>
        <p:spPr>
          <a:xfrm>
            <a:off x="4729276" y="1943100"/>
            <a:ext cx="2734056" cy="2734056"/>
          </a:xfrm>
          <a:prstGeom prst="ellipse">
            <a:avLst/>
          </a:prstGeom>
          <a:solidFill>
            <a:srgbClr val="555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!!hub_t"/>
          <p:cNvSpPr txBox="1"/>
          <p:nvPr/>
        </p:nvSpPr>
        <p:spPr>
          <a:xfrm>
            <a:off x="4866436" y="2573121"/>
            <a:ext cx="2459736" cy="950976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/>
            <a:r>
              <a:rPr sz="2730" i="0">
                <a:solidFill>
                  <a:srgbClr val="FFFFFF"/>
                </a:solidFill>
                <a:latin typeface="Franklin Gothic Medium"/>
              </a:rPr>
              <a:t>Profitable</a:t>
            </a:r>
          </a:p>
          <a:p>
            <a:pPr algn="ctr"/>
            <a:r>
              <a:rPr sz="2730" i="0">
                <a:solidFill>
                  <a:srgbClr val="FFFFFF"/>
                </a:solidFill>
                <a:latin typeface="Franklin Gothic Medium"/>
              </a:rPr>
              <a:t>Growth</a:t>
            </a:r>
          </a:p>
        </p:txBody>
      </p:sp>
      <p:sp>
        <p:nvSpPr>
          <p:cNvPr id="55" name="!!hub_s"/>
          <p:cNvSpPr txBox="1"/>
          <p:nvPr/>
        </p:nvSpPr>
        <p:spPr>
          <a:xfrm>
            <a:off x="4912156" y="3571646"/>
            <a:ext cx="2368296" cy="6537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65" i="0">
                <a:solidFill>
                  <a:srgbClr val="FFFFFF"/>
                </a:solidFill>
                <a:latin typeface="Franklin Gothic Book"/>
              </a:rPr>
              <a:t>Sales  ·  Marketing</a:t>
            </a:r>
          </a:p>
          <a:p>
            <a:pPr algn="ctr"/>
            <a:r>
              <a:rPr sz="1365" i="0">
                <a:solidFill>
                  <a:srgbClr val="FFFFFF"/>
                </a:solidFill>
                <a:latin typeface="Franklin Gothic Book"/>
              </a:rPr>
              <a:t>Pricing / Rev Mgmt.</a:t>
            </a:r>
          </a:p>
        </p:txBody>
      </p:sp>
    </p:spTree>
    <p:extLst>
      <p:ext uri="{BB962C8B-B14F-4D97-AF65-F5344CB8AC3E}">
        <p14:creationId xmlns:p14="http://schemas.microsoft.com/office/powerpoint/2010/main" val="2041618948"/>
      </p:ext>
    </p:extLst>
  </p:cSld>
  <p:clrMapOvr>
    <a:masterClrMapping/>
  </p:clrMapOvr>
  <p:transition advTm="1200"/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 idx="4294967295"/>
          </p:nvPr>
        </p:nvSpPr>
        <p:spPr>
          <a:xfrm>
            <a:off x="0" y="230457"/>
            <a:ext cx="12192000" cy="430887"/>
          </a:xfrm>
        </p:spPr>
        <p:txBody>
          <a:bodyPr>
            <a:noAutofit/>
          </a:bodyPr>
          <a:lstStyle/>
          <a:p>
            <a:pPr algn="ctr"/>
            <a:r>
              <a:rPr lang="en-US" sz="320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</a:rPr>
              <a:t>Where You Win </a:t>
            </a:r>
            <a:r>
              <a:rPr lang="en-US" sz="3200">
                <a:solidFill>
                  <a:srgbClr val="B52372"/>
                </a:solidFill>
                <a:latin typeface="Franklin Gothic Book" panose="020B0503020102020204" pitchFamily="34" charset="0"/>
              </a:rPr>
              <a:t>| Profitable Growth</a:t>
            </a:r>
          </a:p>
        </p:txBody>
      </p:sp>
      <p:sp>
        <p:nvSpPr>
          <p:cNvPr id="3" name="!!c1_bg"/>
          <p:cNvSpPr/>
          <p:nvPr/>
        </p:nvSpPr>
        <p:spPr>
          <a:xfrm>
            <a:off x="411480" y="896112"/>
            <a:ext cx="4343400" cy="2487168"/>
          </a:xfrm>
          <a:prstGeom prst="rect">
            <a:avLst/>
          </a:prstGeom>
          <a:solidFill>
            <a:srgbClr val="F4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c1_band"/>
          <p:cNvSpPr/>
          <p:nvPr/>
        </p:nvSpPr>
        <p:spPr>
          <a:xfrm>
            <a:off x="411480" y="896112"/>
            <a:ext cx="4343400" cy="530352"/>
          </a:xfrm>
          <a:prstGeom prst="rect">
            <a:avLst/>
          </a:prstGeom>
          <a:solidFill>
            <a:srgbClr val="B52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c1_name"/>
          <p:cNvSpPr txBox="1"/>
          <p:nvPr/>
        </p:nvSpPr>
        <p:spPr>
          <a:xfrm>
            <a:off x="1371600" y="896112"/>
            <a:ext cx="32461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i="0">
                <a:solidFill>
                  <a:srgbClr val="FFFFFF"/>
                </a:solidFill>
                <a:latin typeface="Franklin Gothic Medium"/>
              </a:rPr>
              <a:t>1   Science &amp; Strategy</a:t>
            </a:r>
          </a:p>
        </p:txBody>
      </p:sp>
      <p:grpSp>
        <p:nvGrpSpPr>
          <p:cNvPr id="31" name="!!c1_icon">
            <a:extLst>
              <a:ext uri="{FF2B5EF4-FFF2-40B4-BE49-F238E27FC236}">
                <a16:creationId xmlns:a16="http://schemas.microsoft.com/office/drawing/2014/main" id="{64401AE8-1991-1341-CC55-F342691AA60D}"/>
              </a:ext>
            </a:extLst>
          </p:cNvPr>
          <p:cNvGrpSpPr/>
          <p:nvPr/>
        </p:nvGrpSpPr>
        <p:grpSpPr>
          <a:xfrm>
            <a:off x="521208" y="768096"/>
            <a:ext cx="768096" cy="779176"/>
            <a:chOff x="10023859" y="264078"/>
            <a:chExt cx="933564" cy="947032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E3F64412-42DA-A373-E8FF-487F3BC37CB3}"/>
                </a:ext>
              </a:extLst>
            </p:cNvPr>
            <p:cNvSpPr/>
            <p:nvPr/>
          </p:nvSpPr>
          <p:spPr>
            <a:xfrm>
              <a:off x="10023859" y="264078"/>
              <a:ext cx="933564" cy="947032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65000"/>
                    <a:shade val="30000"/>
                    <a:satMod val="115000"/>
                  </a:schemeClr>
                </a:gs>
                <a:gs pos="50000">
                  <a:schemeClr val="bg1">
                    <a:lumMod val="65000"/>
                    <a:shade val="67500"/>
                    <a:satMod val="115000"/>
                  </a:schemeClr>
                </a:gs>
                <a:gs pos="100000">
                  <a:schemeClr val="bg1">
                    <a:lumMod val="65000"/>
                    <a:shade val="100000"/>
                    <a:satMod val="115000"/>
                  </a:schemeClr>
                </a:gs>
              </a:gsLst>
              <a:lin ang="0" scaled="1"/>
              <a:tileRect/>
            </a:gradFill>
            <a:ln w="19050">
              <a:solidFill>
                <a:srgbClr val="B523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: Shape 25">
              <a:extLst>
                <a:ext uri="{FF2B5EF4-FFF2-40B4-BE49-F238E27FC236}">
                  <a16:creationId xmlns:a16="http://schemas.microsoft.com/office/drawing/2014/main" id="{B3723BE5-1E0C-63A4-66D5-E56AEF2E3AAB}"/>
                </a:ext>
              </a:extLst>
            </p:cNvPr>
            <p:cNvSpPr/>
            <p:nvPr/>
          </p:nvSpPr>
          <p:spPr>
            <a:xfrm>
              <a:off x="10275283" y="399791"/>
              <a:ext cx="430716" cy="675605"/>
            </a:xfrm>
            <a:custGeom>
              <a:avLst/>
              <a:gdLst>
                <a:gd name="connsiteX0" fmla="*/ 633032 w 736282"/>
                <a:gd name="connsiteY0" fmla="*/ 1098614 h 1238252"/>
                <a:gd name="connsiteX1" fmla="*/ 623507 w 736282"/>
                <a:gd name="connsiteY1" fmla="*/ 1108139 h 1238252"/>
                <a:gd name="connsiteX2" fmla="*/ 623507 w 736282"/>
                <a:gd name="connsiteY2" fmla="*/ 1170242 h 1238252"/>
                <a:gd name="connsiteX3" fmla="*/ 633032 w 736282"/>
                <a:gd name="connsiteY3" fmla="*/ 1179767 h 1238252"/>
                <a:gd name="connsiteX4" fmla="*/ 642557 w 736282"/>
                <a:gd name="connsiteY4" fmla="*/ 1170242 h 1238252"/>
                <a:gd name="connsiteX5" fmla="*/ 642557 w 736282"/>
                <a:gd name="connsiteY5" fmla="*/ 1108139 h 1238252"/>
                <a:gd name="connsiteX6" fmla="*/ 633032 w 736282"/>
                <a:gd name="connsiteY6" fmla="*/ 1098614 h 1238252"/>
                <a:gd name="connsiteX7" fmla="*/ 536163 w 736282"/>
                <a:gd name="connsiteY7" fmla="*/ 1098614 h 1238252"/>
                <a:gd name="connsiteX8" fmla="*/ 526638 w 736282"/>
                <a:gd name="connsiteY8" fmla="*/ 1108139 h 1238252"/>
                <a:gd name="connsiteX9" fmla="*/ 526638 w 736282"/>
                <a:gd name="connsiteY9" fmla="*/ 1170242 h 1238252"/>
                <a:gd name="connsiteX10" fmla="*/ 536163 w 736282"/>
                <a:gd name="connsiteY10" fmla="*/ 1179767 h 1238252"/>
                <a:gd name="connsiteX11" fmla="*/ 545688 w 736282"/>
                <a:gd name="connsiteY11" fmla="*/ 1170242 h 1238252"/>
                <a:gd name="connsiteX12" fmla="*/ 545688 w 736282"/>
                <a:gd name="connsiteY12" fmla="*/ 1108139 h 1238252"/>
                <a:gd name="connsiteX13" fmla="*/ 536163 w 736282"/>
                <a:gd name="connsiteY13" fmla="*/ 1098614 h 1238252"/>
                <a:gd name="connsiteX14" fmla="*/ 439198 w 736282"/>
                <a:gd name="connsiteY14" fmla="*/ 1098614 h 1238252"/>
                <a:gd name="connsiteX15" fmla="*/ 429673 w 736282"/>
                <a:gd name="connsiteY15" fmla="*/ 1108139 h 1238252"/>
                <a:gd name="connsiteX16" fmla="*/ 429673 w 736282"/>
                <a:gd name="connsiteY16" fmla="*/ 1170242 h 1238252"/>
                <a:gd name="connsiteX17" fmla="*/ 439198 w 736282"/>
                <a:gd name="connsiteY17" fmla="*/ 1179767 h 1238252"/>
                <a:gd name="connsiteX18" fmla="*/ 448723 w 736282"/>
                <a:gd name="connsiteY18" fmla="*/ 1170242 h 1238252"/>
                <a:gd name="connsiteX19" fmla="*/ 448723 w 736282"/>
                <a:gd name="connsiteY19" fmla="*/ 1108139 h 1238252"/>
                <a:gd name="connsiteX20" fmla="*/ 439198 w 736282"/>
                <a:gd name="connsiteY20" fmla="*/ 1098614 h 1238252"/>
                <a:gd name="connsiteX21" fmla="*/ 342329 w 736282"/>
                <a:gd name="connsiteY21" fmla="*/ 1098614 h 1238252"/>
                <a:gd name="connsiteX22" fmla="*/ 332804 w 736282"/>
                <a:gd name="connsiteY22" fmla="*/ 1108139 h 1238252"/>
                <a:gd name="connsiteX23" fmla="*/ 332804 w 736282"/>
                <a:gd name="connsiteY23" fmla="*/ 1170242 h 1238252"/>
                <a:gd name="connsiteX24" fmla="*/ 342329 w 736282"/>
                <a:gd name="connsiteY24" fmla="*/ 1179767 h 1238252"/>
                <a:gd name="connsiteX25" fmla="*/ 351854 w 736282"/>
                <a:gd name="connsiteY25" fmla="*/ 1170242 h 1238252"/>
                <a:gd name="connsiteX26" fmla="*/ 351854 w 736282"/>
                <a:gd name="connsiteY26" fmla="*/ 1108139 h 1238252"/>
                <a:gd name="connsiteX27" fmla="*/ 342329 w 736282"/>
                <a:gd name="connsiteY27" fmla="*/ 1098614 h 1238252"/>
                <a:gd name="connsiteX28" fmla="*/ 245459 w 736282"/>
                <a:gd name="connsiteY28" fmla="*/ 1098614 h 1238252"/>
                <a:gd name="connsiteX29" fmla="*/ 235934 w 736282"/>
                <a:gd name="connsiteY29" fmla="*/ 1108139 h 1238252"/>
                <a:gd name="connsiteX30" fmla="*/ 235934 w 736282"/>
                <a:gd name="connsiteY30" fmla="*/ 1170242 h 1238252"/>
                <a:gd name="connsiteX31" fmla="*/ 245459 w 736282"/>
                <a:gd name="connsiteY31" fmla="*/ 1179767 h 1238252"/>
                <a:gd name="connsiteX32" fmla="*/ 254984 w 736282"/>
                <a:gd name="connsiteY32" fmla="*/ 1170242 h 1238252"/>
                <a:gd name="connsiteX33" fmla="*/ 254984 w 736282"/>
                <a:gd name="connsiteY33" fmla="*/ 1108139 h 1238252"/>
                <a:gd name="connsiteX34" fmla="*/ 245459 w 736282"/>
                <a:gd name="connsiteY34" fmla="*/ 1098614 h 1238252"/>
                <a:gd name="connsiteX35" fmla="*/ 148494 w 736282"/>
                <a:gd name="connsiteY35" fmla="*/ 1098614 h 1238252"/>
                <a:gd name="connsiteX36" fmla="*/ 138969 w 736282"/>
                <a:gd name="connsiteY36" fmla="*/ 1108139 h 1238252"/>
                <a:gd name="connsiteX37" fmla="*/ 138969 w 736282"/>
                <a:gd name="connsiteY37" fmla="*/ 1170242 h 1238252"/>
                <a:gd name="connsiteX38" fmla="*/ 148494 w 736282"/>
                <a:gd name="connsiteY38" fmla="*/ 1179767 h 1238252"/>
                <a:gd name="connsiteX39" fmla="*/ 158019 w 736282"/>
                <a:gd name="connsiteY39" fmla="*/ 1170242 h 1238252"/>
                <a:gd name="connsiteX40" fmla="*/ 158019 w 736282"/>
                <a:gd name="connsiteY40" fmla="*/ 1108139 h 1238252"/>
                <a:gd name="connsiteX41" fmla="*/ 148494 w 736282"/>
                <a:gd name="connsiteY41" fmla="*/ 1098614 h 1238252"/>
                <a:gd name="connsiteX42" fmla="*/ 45244 w 736282"/>
                <a:gd name="connsiteY42" fmla="*/ 1059182 h 1238252"/>
                <a:gd name="connsiteX43" fmla="*/ 736282 w 736282"/>
                <a:gd name="connsiteY43" fmla="*/ 1059182 h 1238252"/>
                <a:gd name="connsiteX44" fmla="*/ 736282 w 736282"/>
                <a:gd name="connsiteY44" fmla="*/ 1228727 h 1238252"/>
                <a:gd name="connsiteX45" fmla="*/ 726757 w 736282"/>
                <a:gd name="connsiteY45" fmla="*/ 1238252 h 1238252"/>
                <a:gd name="connsiteX46" fmla="*/ 54769 w 736282"/>
                <a:gd name="connsiteY46" fmla="*/ 1238252 h 1238252"/>
                <a:gd name="connsiteX47" fmla="*/ 45244 w 736282"/>
                <a:gd name="connsiteY47" fmla="*/ 1228727 h 1238252"/>
                <a:gd name="connsiteX48" fmla="*/ 147258 w 736282"/>
                <a:gd name="connsiteY48" fmla="*/ 960218 h 1238252"/>
                <a:gd name="connsiteX49" fmla="*/ 634270 w 736282"/>
                <a:gd name="connsiteY49" fmla="*/ 960218 h 1238252"/>
                <a:gd name="connsiteX50" fmla="*/ 671703 w 736282"/>
                <a:gd name="connsiteY50" fmla="*/ 1040131 h 1238252"/>
                <a:gd name="connsiteX51" fmla="*/ 109824 w 736282"/>
                <a:gd name="connsiteY51" fmla="*/ 1040131 h 1238252"/>
                <a:gd name="connsiteX52" fmla="*/ 285370 w 736282"/>
                <a:gd name="connsiteY52" fmla="*/ 245651 h 1238252"/>
                <a:gd name="connsiteX53" fmla="*/ 235077 w 736282"/>
                <a:gd name="connsiteY53" fmla="*/ 295944 h 1238252"/>
                <a:gd name="connsiteX54" fmla="*/ 285370 w 736282"/>
                <a:gd name="connsiteY54" fmla="*/ 346045 h 1238252"/>
                <a:gd name="connsiteX55" fmla="*/ 335471 w 736282"/>
                <a:gd name="connsiteY55" fmla="*/ 295944 h 1238252"/>
                <a:gd name="connsiteX56" fmla="*/ 285370 w 736282"/>
                <a:gd name="connsiteY56" fmla="*/ 245651 h 1238252"/>
                <a:gd name="connsiteX57" fmla="*/ 404146 w 736282"/>
                <a:gd name="connsiteY57" fmla="*/ 176214 h 1238252"/>
                <a:gd name="connsiteX58" fmla="*/ 393954 w 736282"/>
                <a:gd name="connsiteY58" fmla="*/ 184976 h 1238252"/>
                <a:gd name="connsiteX59" fmla="*/ 402622 w 736282"/>
                <a:gd name="connsiteY59" fmla="*/ 195264 h 1238252"/>
                <a:gd name="connsiteX60" fmla="*/ 429100 w 736282"/>
                <a:gd name="connsiteY60" fmla="*/ 197359 h 1238252"/>
                <a:gd name="connsiteX61" fmla="*/ 602456 w 736282"/>
                <a:gd name="connsiteY61" fmla="*/ 314422 h 1238252"/>
                <a:gd name="connsiteX62" fmla="*/ 627221 w 736282"/>
                <a:gd name="connsiteY62" fmla="*/ 416720 h 1238252"/>
                <a:gd name="connsiteX63" fmla="*/ 636746 w 736282"/>
                <a:gd name="connsiteY63" fmla="*/ 425959 h 1238252"/>
                <a:gd name="connsiteX64" fmla="*/ 637032 w 736282"/>
                <a:gd name="connsiteY64" fmla="*/ 425959 h 1238252"/>
                <a:gd name="connsiteX65" fmla="*/ 646271 w 736282"/>
                <a:gd name="connsiteY65" fmla="*/ 416148 h 1238252"/>
                <a:gd name="connsiteX66" fmla="*/ 619315 w 736282"/>
                <a:gd name="connsiteY66" fmla="*/ 305657 h 1238252"/>
                <a:gd name="connsiteX67" fmla="*/ 430721 w 736282"/>
                <a:gd name="connsiteY67" fmla="*/ 178404 h 1238252"/>
                <a:gd name="connsiteX68" fmla="*/ 344424 w 736282"/>
                <a:gd name="connsiteY68" fmla="*/ 955 h 1238252"/>
                <a:gd name="connsiteX69" fmla="*/ 442627 w 736282"/>
                <a:gd name="connsiteY69" fmla="*/ 116111 h 1238252"/>
                <a:gd name="connsiteX70" fmla="*/ 675418 w 736282"/>
                <a:gd name="connsiteY70" fmla="*/ 276512 h 1238252"/>
                <a:gd name="connsiteX71" fmla="*/ 709423 w 736282"/>
                <a:gd name="connsiteY71" fmla="*/ 414529 h 1238252"/>
                <a:gd name="connsiteX72" fmla="*/ 658558 w 736282"/>
                <a:gd name="connsiteY72" fmla="*/ 714853 h 1238252"/>
                <a:gd name="connsiteX73" fmla="*/ 627221 w 736282"/>
                <a:gd name="connsiteY73" fmla="*/ 941167 h 1238252"/>
                <a:gd name="connsiteX74" fmla="*/ 153733 w 736282"/>
                <a:gd name="connsiteY74" fmla="*/ 941167 h 1238252"/>
                <a:gd name="connsiteX75" fmla="*/ 215455 w 736282"/>
                <a:gd name="connsiteY75" fmla="*/ 673228 h 1238252"/>
                <a:gd name="connsiteX76" fmla="*/ 219932 w 736282"/>
                <a:gd name="connsiteY76" fmla="*/ 667419 h 1238252"/>
                <a:gd name="connsiteX77" fmla="*/ 231076 w 736282"/>
                <a:gd name="connsiteY77" fmla="*/ 652559 h 1238252"/>
                <a:gd name="connsiteX78" fmla="*/ 370332 w 736282"/>
                <a:gd name="connsiteY78" fmla="*/ 512351 h 1238252"/>
                <a:gd name="connsiteX79" fmla="*/ 224790 w 736282"/>
                <a:gd name="connsiteY79" fmla="*/ 500920 h 1238252"/>
                <a:gd name="connsiteX80" fmla="*/ 86582 w 736282"/>
                <a:gd name="connsiteY80" fmla="*/ 558737 h 1238252"/>
                <a:gd name="connsiteX81" fmla="*/ 13335 w 736282"/>
                <a:gd name="connsiteY81" fmla="*/ 507112 h 1238252"/>
                <a:gd name="connsiteX82" fmla="*/ 41147 w 736282"/>
                <a:gd name="connsiteY82" fmla="*/ 374144 h 1238252"/>
                <a:gd name="connsiteX83" fmla="*/ 42291 w 736282"/>
                <a:gd name="connsiteY83" fmla="*/ 373190 h 1238252"/>
                <a:gd name="connsiteX84" fmla="*/ 175069 w 736282"/>
                <a:gd name="connsiteY84" fmla="*/ 236031 h 1238252"/>
                <a:gd name="connsiteX85" fmla="*/ 258508 w 736282"/>
                <a:gd name="connsiteY85" fmla="*/ 156782 h 1238252"/>
                <a:gd name="connsiteX86" fmla="*/ 330423 w 736282"/>
                <a:gd name="connsiteY86" fmla="*/ 138686 h 1238252"/>
                <a:gd name="connsiteX87" fmla="*/ 330709 w 736282"/>
                <a:gd name="connsiteY87" fmla="*/ 138686 h 1238252"/>
                <a:gd name="connsiteX88" fmla="*/ 330709 w 736282"/>
                <a:gd name="connsiteY88" fmla="*/ 9526 h 1238252"/>
                <a:gd name="connsiteX89" fmla="*/ 335185 w 736282"/>
                <a:gd name="connsiteY89" fmla="*/ 1429 h 1238252"/>
                <a:gd name="connsiteX90" fmla="*/ 344424 w 736282"/>
                <a:gd name="connsiteY90" fmla="*/ 955 h 1238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</a:cxnLst>
              <a:rect l="l" t="t" r="r" b="b"/>
              <a:pathLst>
                <a:path w="736282" h="1238252">
                  <a:moveTo>
                    <a:pt x="633032" y="1098614"/>
                  </a:moveTo>
                  <a:cubicBezTo>
                    <a:pt x="627793" y="1098614"/>
                    <a:pt x="623507" y="1102902"/>
                    <a:pt x="623507" y="1108139"/>
                  </a:cubicBezTo>
                  <a:lnTo>
                    <a:pt x="623507" y="1170242"/>
                  </a:lnTo>
                  <a:cubicBezTo>
                    <a:pt x="623507" y="1175577"/>
                    <a:pt x="627793" y="1179767"/>
                    <a:pt x="633032" y="1179767"/>
                  </a:cubicBezTo>
                  <a:cubicBezTo>
                    <a:pt x="638270" y="1179767"/>
                    <a:pt x="642557" y="1175577"/>
                    <a:pt x="642557" y="1170242"/>
                  </a:cubicBezTo>
                  <a:lnTo>
                    <a:pt x="642557" y="1108139"/>
                  </a:lnTo>
                  <a:cubicBezTo>
                    <a:pt x="642557" y="1102902"/>
                    <a:pt x="638270" y="1098614"/>
                    <a:pt x="633032" y="1098614"/>
                  </a:cubicBezTo>
                  <a:close/>
                  <a:moveTo>
                    <a:pt x="536163" y="1098614"/>
                  </a:moveTo>
                  <a:cubicBezTo>
                    <a:pt x="530829" y="1098614"/>
                    <a:pt x="526638" y="1102902"/>
                    <a:pt x="526638" y="1108139"/>
                  </a:cubicBezTo>
                  <a:lnTo>
                    <a:pt x="526638" y="1170242"/>
                  </a:lnTo>
                  <a:cubicBezTo>
                    <a:pt x="526638" y="1175577"/>
                    <a:pt x="530829" y="1179767"/>
                    <a:pt x="536163" y="1179767"/>
                  </a:cubicBezTo>
                  <a:cubicBezTo>
                    <a:pt x="541401" y="1179767"/>
                    <a:pt x="545688" y="1175577"/>
                    <a:pt x="545688" y="1170242"/>
                  </a:cubicBezTo>
                  <a:lnTo>
                    <a:pt x="545688" y="1108139"/>
                  </a:lnTo>
                  <a:cubicBezTo>
                    <a:pt x="545688" y="1102902"/>
                    <a:pt x="541401" y="1098614"/>
                    <a:pt x="536163" y="1098614"/>
                  </a:cubicBezTo>
                  <a:close/>
                  <a:moveTo>
                    <a:pt x="439198" y="1098614"/>
                  </a:moveTo>
                  <a:cubicBezTo>
                    <a:pt x="433958" y="1098614"/>
                    <a:pt x="429673" y="1102902"/>
                    <a:pt x="429673" y="1108139"/>
                  </a:cubicBezTo>
                  <a:lnTo>
                    <a:pt x="429673" y="1170242"/>
                  </a:lnTo>
                  <a:cubicBezTo>
                    <a:pt x="429673" y="1175577"/>
                    <a:pt x="433958" y="1179767"/>
                    <a:pt x="439198" y="1179767"/>
                  </a:cubicBezTo>
                  <a:cubicBezTo>
                    <a:pt x="444532" y="1179767"/>
                    <a:pt x="448723" y="1175577"/>
                    <a:pt x="448723" y="1170242"/>
                  </a:cubicBezTo>
                  <a:lnTo>
                    <a:pt x="448723" y="1108139"/>
                  </a:lnTo>
                  <a:cubicBezTo>
                    <a:pt x="448723" y="1102902"/>
                    <a:pt x="444532" y="1098614"/>
                    <a:pt x="439198" y="1098614"/>
                  </a:cubicBezTo>
                  <a:close/>
                  <a:moveTo>
                    <a:pt x="342329" y="1098614"/>
                  </a:moveTo>
                  <a:cubicBezTo>
                    <a:pt x="337090" y="1098614"/>
                    <a:pt x="332804" y="1102902"/>
                    <a:pt x="332804" y="1108139"/>
                  </a:cubicBezTo>
                  <a:lnTo>
                    <a:pt x="332804" y="1170242"/>
                  </a:lnTo>
                  <a:cubicBezTo>
                    <a:pt x="332804" y="1175577"/>
                    <a:pt x="337090" y="1179767"/>
                    <a:pt x="342329" y="1179767"/>
                  </a:cubicBezTo>
                  <a:cubicBezTo>
                    <a:pt x="347567" y="1179767"/>
                    <a:pt x="351854" y="1175577"/>
                    <a:pt x="351854" y="1170242"/>
                  </a:cubicBezTo>
                  <a:lnTo>
                    <a:pt x="351854" y="1108139"/>
                  </a:lnTo>
                  <a:cubicBezTo>
                    <a:pt x="351854" y="1102902"/>
                    <a:pt x="347567" y="1098614"/>
                    <a:pt x="342329" y="1098614"/>
                  </a:cubicBezTo>
                  <a:close/>
                  <a:moveTo>
                    <a:pt x="245459" y="1098614"/>
                  </a:moveTo>
                  <a:cubicBezTo>
                    <a:pt x="240126" y="1098614"/>
                    <a:pt x="235934" y="1102902"/>
                    <a:pt x="235934" y="1108139"/>
                  </a:cubicBezTo>
                  <a:lnTo>
                    <a:pt x="235934" y="1170242"/>
                  </a:lnTo>
                  <a:cubicBezTo>
                    <a:pt x="235934" y="1175577"/>
                    <a:pt x="240126" y="1179767"/>
                    <a:pt x="245459" y="1179767"/>
                  </a:cubicBezTo>
                  <a:cubicBezTo>
                    <a:pt x="250697" y="1179767"/>
                    <a:pt x="254984" y="1175577"/>
                    <a:pt x="254984" y="1170242"/>
                  </a:cubicBezTo>
                  <a:lnTo>
                    <a:pt x="254984" y="1108139"/>
                  </a:lnTo>
                  <a:cubicBezTo>
                    <a:pt x="254984" y="1102902"/>
                    <a:pt x="250697" y="1098614"/>
                    <a:pt x="245459" y="1098614"/>
                  </a:cubicBezTo>
                  <a:close/>
                  <a:moveTo>
                    <a:pt x="148494" y="1098614"/>
                  </a:moveTo>
                  <a:cubicBezTo>
                    <a:pt x="143256" y="1098614"/>
                    <a:pt x="138969" y="1102902"/>
                    <a:pt x="138969" y="1108139"/>
                  </a:cubicBezTo>
                  <a:lnTo>
                    <a:pt x="138969" y="1170242"/>
                  </a:lnTo>
                  <a:cubicBezTo>
                    <a:pt x="138969" y="1175577"/>
                    <a:pt x="143256" y="1179767"/>
                    <a:pt x="148494" y="1179767"/>
                  </a:cubicBezTo>
                  <a:cubicBezTo>
                    <a:pt x="153829" y="1179767"/>
                    <a:pt x="158019" y="1175577"/>
                    <a:pt x="158019" y="1170242"/>
                  </a:cubicBezTo>
                  <a:lnTo>
                    <a:pt x="158019" y="1108139"/>
                  </a:lnTo>
                  <a:cubicBezTo>
                    <a:pt x="158019" y="1102902"/>
                    <a:pt x="153829" y="1098614"/>
                    <a:pt x="148494" y="1098614"/>
                  </a:cubicBezTo>
                  <a:close/>
                  <a:moveTo>
                    <a:pt x="45244" y="1059182"/>
                  </a:moveTo>
                  <a:lnTo>
                    <a:pt x="736282" y="1059182"/>
                  </a:lnTo>
                  <a:lnTo>
                    <a:pt x="736282" y="1228727"/>
                  </a:lnTo>
                  <a:cubicBezTo>
                    <a:pt x="736282" y="1233966"/>
                    <a:pt x="732091" y="1238252"/>
                    <a:pt x="726757" y="1238252"/>
                  </a:cubicBezTo>
                  <a:lnTo>
                    <a:pt x="54769" y="1238252"/>
                  </a:lnTo>
                  <a:cubicBezTo>
                    <a:pt x="49531" y="1238252"/>
                    <a:pt x="45244" y="1233966"/>
                    <a:pt x="45244" y="1228727"/>
                  </a:cubicBezTo>
                  <a:close/>
                  <a:moveTo>
                    <a:pt x="147258" y="960218"/>
                  </a:moveTo>
                  <a:lnTo>
                    <a:pt x="634270" y="960218"/>
                  </a:lnTo>
                  <a:lnTo>
                    <a:pt x="671703" y="1040131"/>
                  </a:lnTo>
                  <a:lnTo>
                    <a:pt x="109824" y="1040131"/>
                  </a:lnTo>
                  <a:close/>
                  <a:moveTo>
                    <a:pt x="285370" y="245651"/>
                  </a:moveTo>
                  <a:cubicBezTo>
                    <a:pt x="257650" y="245651"/>
                    <a:pt x="235077" y="268224"/>
                    <a:pt x="235077" y="295944"/>
                  </a:cubicBezTo>
                  <a:cubicBezTo>
                    <a:pt x="235077" y="323565"/>
                    <a:pt x="257650" y="346045"/>
                    <a:pt x="285370" y="346045"/>
                  </a:cubicBezTo>
                  <a:cubicBezTo>
                    <a:pt x="312991" y="346045"/>
                    <a:pt x="335471" y="323565"/>
                    <a:pt x="335471" y="295944"/>
                  </a:cubicBezTo>
                  <a:cubicBezTo>
                    <a:pt x="335471" y="268224"/>
                    <a:pt x="312991" y="245651"/>
                    <a:pt x="285370" y="245651"/>
                  </a:cubicBezTo>
                  <a:close/>
                  <a:moveTo>
                    <a:pt x="404146" y="176214"/>
                  </a:moveTo>
                  <a:cubicBezTo>
                    <a:pt x="398811" y="175737"/>
                    <a:pt x="394335" y="179739"/>
                    <a:pt x="393954" y="184976"/>
                  </a:cubicBezTo>
                  <a:cubicBezTo>
                    <a:pt x="393477" y="190215"/>
                    <a:pt x="397384" y="194787"/>
                    <a:pt x="402622" y="195264"/>
                  </a:cubicBezTo>
                  <a:lnTo>
                    <a:pt x="429100" y="197359"/>
                  </a:lnTo>
                  <a:cubicBezTo>
                    <a:pt x="433958" y="197836"/>
                    <a:pt x="548163" y="209742"/>
                    <a:pt x="602456" y="314422"/>
                  </a:cubicBezTo>
                  <a:cubicBezTo>
                    <a:pt x="617791" y="344138"/>
                    <a:pt x="626173" y="378525"/>
                    <a:pt x="627221" y="416720"/>
                  </a:cubicBezTo>
                  <a:cubicBezTo>
                    <a:pt x="627316" y="421864"/>
                    <a:pt x="631602" y="425959"/>
                    <a:pt x="636746" y="425959"/>
                  </a:cubicBezTo>
                  <a:lnTo>
                    <a:pt x="637032" y="425959"/>
                  </a:lnTo>
                  <a:cubicBezTo>
                    <a:pt x="642271" y="425864"/>
                    <a:pt x="646366" y="421483"/>
                    <a:pt x="646271" y="416148"/>
                  </a:cubicBezTo>
                  <a:cubicBezTo>
                    <a:pt x="645129" y="375095"/>
                    <a:pt x="636080" y="337948"/>
                    <a:pt x="619315" y="305657"/>
                  </a:cubicBezTo>
                  <a:cubicBezTo>
                    <a:pt x="560260" y="191836"/>
                    <a:pt x="436150" y="178881"/>
                    <a:pt x="430721" y="178404"/>
                  </a:cubicBezTo>
                  <a:close/>
                  <a:moveTo>
                    <a:pt x="344424" y="955"/>
                  </a:moveTo>
                  <a:cubicBezTo>
                    <a:pt x="347662" y="2573"/>
                    <a:pt x="421862" y="39720"/>
                    <a:pt x="442627" y="116111"/>
                  </a:cubicBezTo>
                  <a:cubicBezTo>
                    <a:pt x="474725" y="120399"/>
                    <a:pt x="607505" y="145544"/>
                    <a:pt x="675418" y="276512"/>
                  </a:cubicBezTo>
                  <a:cubicBezTo>
                    <a:pt x="696658" y="317375"/>
                    <a:pt x="708088" y="363760"/>
                    <a:pt x="709423" y="414529"/>
                  </a:cubicBezTo>
                  <a:cubicBezTo>
                    <a:pt x="711137" y="479870"/>
                    <a:pt x="706946" y="605885"/>
                    <a:pt x="658558" y="714853"/>
                  </a:cubicBezTo>
                  <a:cubicBezTo>
                    <a:pt x="658272" y="715804"/>
                    <a:pt x="609695" y="845059"/>
                    <a:pt x="627221" y="941167"/>
                  </a:cubicBezTo>
                  <a:lnTo>
                    <a:pt x="153733" y="941167"/>
                  </a:lnTo>
                  <a:cubicBezTo>
                    <a:pt x="145637" y="893826"/>
                    <a:pt x="136779" y="777242"/>
                    <a:pt x="215455" y="673228"/>
                  </a:cubicBezTo>
                  <a:lnTo>
                    <a:pt x="219932" y="667419"/>
                  </a:lnTo>
                  <a:cubicBezTo>
                    <a:pt x="223648" y="662561"/>
                    <a:pt x="227457" y="657608"/>
                    <a:pt x="231076" y="652559"/>
                  </a:cubicBezTo>
                  <a:cubicBezTo>
                    <a:pt x="249174" y="627317"/>
                    <a:pt x="295465" y="568834"/>
                    <a:pt x="370332" y="512351"/>
                  </a:cubicBezTo>
                  <a:cubicBezTo>
                    <a:pt x="333850" y="518160"/>
                    <a:pt x="281653" y="519970"/>
                    <a:pt x="224790" y="500920"/>
                  </a:cubicBezTo>
                  <a:cubicBezTo>
                    <a:pt x="209170" y="518542"/>
                    <a:pt x="154972" y="572264"/>
                    <a:pt x="86582" y="558737"/>
                  </a:cubicBezTo>
                  <a:cubicBezTo>
                    <a:pt x="55721" y="552547"/>
                    <a:pt x="29050" y="533783"/>
                    <a:pt x="13335" y="507112"/>
                  </a:cubicBezTo>
                  <a:cubicBezTo>
                    <a:pt x="-1048" y="482728"/>
                    <a:pt x="-16574" y="432912"/>
                    <a:pt x="41147" y="374144"/>
                  </a:cubicBezTo>
                  <a:cubicBezTo>
                    <a:pt x="41529" y="373762"/>
                    <a:pt x="41910" y="373476"/>
                    <a:pt x="42291" y="373190"/>
                  </a:cubicBezTo>
                  <a:cubicBezTo>
                    <a:pt x="43148" y="372430"/>
                    <a:pt x="134207" y="304992"/>
                    <a:pt x="175069" y="236031"/>
                  </a:cubicBezTo>
                  <a:cubicBezTo>
                    <a:pt x="195644" y="201263"/>
                    <a:pt x="224503" y="173928"/>
                    <a:pt x="258508" y="156782"/>
                  </a:cubicBezTo>
                  <a:cubicBezTo>
                    <a:pt x="282607" y="144781"/>
                    <a:pt x="306801" y="138686"/>
                    <a:pt x="330423" y="138686"/>
                  </a:cubicBezTo>
                  <a:lnTo>
                    <a:pt x="330709" y="138686"/>
                  </a:lnTo>
                  <a:lnTo>
                    <a:pt x="330709" y="9526"/>
                  </a:lnTo>
                  <a:cubicBezTo>
                    <a:pt x="330709" y="6192"/>
                    <a:pt x="332422" y="3145"/>
                    <a:pt x="335185" y="1429"/>
                  </a:cubicBezTo>
                  <a:cubicBezTo>
                    <a:pt x="337948" y="-285"/>
                    <a:pt x="341471" y="-475"/>
                    <a:pt x="344424" y="955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135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32" name="!!c1_quote"/>
          <p:cNvSpPr txBox="1"/>
          <p:nvPr/>
        </p:nvSpPr>
        <p:spPr>
          <a:xfrm>
            <a:off x="685800" y="1645919"/>
            <a:ext cx="37947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i="1">
                <a:solidFill>
                  <a:srgbClr val="2E2925"/>
                </a:solidFill>
                <a:latin typeface="Franklin Gothic Book"/>
              </a:rPr>
              <a:t>“Our targets are increasing, but we keep doing the same thing?”</a:t>
            </a:r>
          </a:p>
        </p:txBody>
      </p:sp>
      <p:sp>
        <p:nvSpPr>
          <p:cNvPr id="33" name="!!c1_how"/>
          <p:cNvSpPr txBox="1"/>
          <p:nvPr/>
        </p:nvSpPr>
        <p:spPr>
          <a:xfrm>
            <a:off x="685800" y="2880360"/>
            <a:ext cx="2011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i="0">
                <a:solidFill>
                  <a:srgbClr val="55575A"/>
                </a:solidFill>
                <a:latin typeface="Franklin Gothic Medium"/>
              </a:rPr>
              <a:t>Who we hunt</a:t>
            </a:r>
          </a:p>
        </p:txBody>
      </p:sp>
      <p:sp>
        <p:nvSpPr>
          <p:cNvPr id="34" name="!!c1_pill"/>
          <p:cNvSpPr/>
          <p:nvPr/>
        </p:nvSpPr>
        <p:spPr>
          <a:xfrm>
            <a:off x="3623401" y="2880360"/>
            <a:ext cx="857158" cy="310896"/>
          </a:xfrm>
          <a:prstGeom prst="roundRect">
            <a:avLst>
              <a:gd name="adj" fmla="val 50000"/>
            </a:avLst>
          </a:prstGeom>
          <a:solidFill>
            <a:srgbClr val="D51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1050">
                <a:solidFill>
                  <a:srgbClr val="FFFFFF"/>
                </a:solidFill>
                <a:latin typeface="Franklin Gothic Medium"/>
              </a:rPr>
              <a:t>IGNITE</a:t>
            </a:r>
          </a:p>
        </p:txBody>
      </p:sp>
      <p:sp>
        <p:nvSpPr>
          <p:cNvPr id="35" name="!!c2_bg"/>
          <p:cNvSpPr/>
          <p:nvPr/>
        </p:nvSpPr>
        <p:spPr>
          <a:xfrm>
            <a:off x="5488228" y="2961924"/>
            <a:ext cx="1216152" cy="696407"/>
          </a:xfrm>
          <a:prstGeom prst="rect">
            <a:avLst/>
          </a:prstGeom>
          <a:solidFill>
            <a:srgbClr val="F4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!!c2_band"/>
          <p:cNvSpPr/>
          <p:nvPr/>
        </p:nvSpPr>
        <p:spPr>
          <a:xfrm>
            <a:off x="5488228" y="2961924"/>
            <a:ext cx="1216152" cy="148498"/>
          </a:xfrm>
          <a:prstGeom prst="rect">
            <a:avLst/>
          </a:prstGeom>
          <a:solidFill>
            <a:srgbClr val="555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!!c2_name"/>
          <p:cNvSpPr txBox="1"/>
          <p:nvPr/>
        </p:nvSpPr>
        <p:spPr>
          <a:xfrm>
            <a:off x="5757062" y="2961924"/>
            <a:ext cx="908913" cy="148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448" i="0">
                <a:solidFill>
                  <a:srgbClr val="FFFFFF"/>
                </a:solidFill>
                <a:latin typeface="Franklin Gothic Medium"/>
              </a:rPr>
              <a:t>2   Process &amp; Customer Engagement</a:t>
            </a:r>
          </a:p>
        </p:txBody>
      </p:sp>
      <p:grpSp>
        <p:nvGrpSpPr>
          <p:cNvPr id="32" name="!!c2_icon">
            <a:extLst>
              <a:ext uri="{FF2B5EF4-FFF2-40B4-BE49-F238E27FC236}">
                <a16:creationId xmlns:a16="http://schemas.microsoft.com/office/drawing/2014/main" id="{77041D4C-755A-3D94-1710-AD2EB06AA12A}"/>
              </a:ext>
            </a:extLst>
          </p:cNvPr>
          <p:cNvGrpSpPr/>
          <p:nvPr/>
        </p:nvGrpSpPr>
        <p:grpSpPr>
          <a:xfrm>
            <a:off x="5518952" y="2926079"/>
            <a:ext cx="215066" cy="215066"/>
            <a:chOff x="9967415" y="5638500"/>
            <a:chExt cx="960500" cy="960500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0B46943B-8095-DFB5-802D-B1C35FD52F07}"/>
                </a:ext>
              </a:extLst>
            </p:cNvPr>
            <p:cNvSpPr/>
            <p:nvPr/>
          </p:nvSpPr>
          <p:spPr>
            <a:xfrm>
              <a:off x="9967415" y="5638500"/>
              <a:ext cx="960500" cy="960500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65000"/>
                    <a:shade val="30000"/>
                    <a:satMod val="115000"/>
                  </a:schemeClr>
                </a:gs>
                <a:gs pos="50000">
                  <a:schemeClr val="bg1">
                    <a:lumMod val="65000"/>
                    <a:shade val="67500"/>
                    <a:satMod val="115000"/>
                  </a:schemeClr>
                </a:gs>
                <a:gs pos="100000">
                  <a:schemeClr val="bg1">
                    <a:lumMod val="65000"/>
                    <a:shade val="100000"/>
                    <a:satMod val="115000"/>
                  </a:schemeClr>
                </a:gs>
              </a:gsLst>
              <a:lin ang="0" scaled="1"/>
              <a:tileRect/>
            </a:gradFill>
            <a:ln w="19050">
              <a:solidFill>
                <a:srgbClr val="B523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5AF0AA7D-B943-9379-2F28-A53E9C4EE12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159322" y="5855410"/>
              <a:ext cx="628041" cy="473182"/>
            </a:xfrm>
            <a:prstGeom prst="rect">
              <a:avLst/>
            </a:prstGeom>
          </p:spPr>
        </p:pic>
      </p:grpSp>
      <p:sp>
        <p:nvSpPr>
          <p:cNvPr id="38" name="!!c2_quote"/>
          <p:cNvSpPr txBox="1"/>
          <p:nvPr/>
        </p:nvSpPr>
        <p:spPr>
          <a:xfrm>
            <a:off x="5565038" y="3171870"/>
            <a:ext cx="10625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34" i="1">
                <a:solidFill>
                  <a:srgbClr val="2E2925"/>
                </a:solidFill>
                <a:latin typeface="Franklin Gothic Book"/>
              </a:rPr>
              <a:t>“Are we showing up relevant to our customers? How do we not become commoditized?”</a:t>
            </a:r>
          </a:p>
        </p:txBody>
      </p:sp>
      <p:sp>
        <p:nvSpPr>
          <p:cNvPr id="39" name="!!c2_how"/>
          <p:cNvSpPr txBox="1"/>
          <p:nvPr/>
        </p:nvSpPr>
        <p:spPr>
          <a:xfrm>
            <a:off x="5565038" y="3517513"/>
            <a:ext cx="563270" cy="87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36" i="0">
                <a:solidFill>
                  <a:srgbClr val="55575A"/>
                </a:solidFill>
                <a:latin typeface="Franklin Gothic Medium"/>
              </a:rPr>
              <a:t>How we hunt</a:t>
            </a:r>
          </a:p>
        </p:txBody>
      </p:sp>
      <p:sp>
        <p:nvSpPr>
          <p:cNvPr id="40" name="!!c2_pill"/>
          <p:cNvSpPr/>
          <p:nvPr/>
        </p:nvSpPr>
        <p:spPr>
          <a:xfrm>
            <a:off x="5834395" y="3517513"/>
            <a:ext cx="793176" cy="87050"/>
          </a:xfrm>
          <a:prstGeom prst="roundRect">
            <a:avLst>
              <a:gd name="adj" fmla="val 50000"/>
            </a:avLst>
          </a:prstGeom>
          <a:solidFill>
            <a:srgbClr val="D51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294">
                <a:solidFill>
                  <a:srgbClr val="FFFFFF"/>
                </a:solidFill>
                <a:latin typeface="Franklin Gothic Medium"/>
              </a:rPr>
              <a:t>CONNECT ABM PROGRAM</a:t>
            </a:r>
          </a:p>
        </p:txBody>
      </p:sp>
      <p:sp>
        <p:nvSpPr>
          <p:cNvPr id="41" name="!!c3_bg"/>
          <p:cNvSpPr/>
          <p:nvPr/>
        </p:nvSpPr>
        <p:spPr>
          <a:xfrm>
            <a:off x="5488228" y="2961924"/>
            <a:ext cx="1216152" cy="696407"/>
          </a:xfrm>
          <a:prstGeom prst="rect">
            <a:avLst/>
          </a:prstGeom>
          <a:solidFill>
            <a:srgbClr val="F4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!!c3_band"/>
          <p:cNvSpPr/>
          <p:nvPr/>
        </p:nvSpPr>
        <p:spPr>
          <a:xfrm>
            <a:off x="5488228" y="2961924"/>
            <a:ext cx="1216152" cy="148498"/>
          </a:xfrm>
          <a:prstGeom prst="rect">
            <a:avLst/>
          </a:prstGeom>
          <a:solidFill>
            <a:srgbClr val="B52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!!c3_name"/>
          <p:cNvSpPr txBox="1"/>
          <p:nvPr/>
        </p:nvSpPr>
        <p:spPr>
          <a:xfrm>
            <a:off x="5757062" y="2961924"/>
            <a:ext cx="908913" cy="148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448" i="0">
                <a:solidFill>
                  <a:srgbClr val="FFFFFF"/>
                </a:solidFill>
                <a:latin typeface="Franklin Gothic Medium"/>
              </a:rPr>
              <a:t>3   Art &amp; Talent Optimization</a:t>
            </a:r>
          </a:p>
        </p:txBody>
      </p:sp>
      <p:sp>
        <p:nvSpPr>
          <p:cNvPr id="20" name="!!c3_icon">
            <a:extLst>
              <a:ext uri="{FF2B5EF4-FFF2-40B4-BE49-F238E27FC236}">
                <a16:creationId xmlns:a16="http://schemas.microsoft.com/office/drawing/2014/main" id="{1554B659-AB45-0829-BE35-18A4734CC740}"/>
              </a:ext>
            </a:extLst>
          </p:cNvPr>
          <p:cNvSpPr/>
          <p:nvPr/>
        </p:nvSpPr>
        <p:spPr>
          <a:xfrm>
            <a:off x="5518952" y="2926079"/>
            <a:ext cx="215066" cy="215066"/>
          </a:xfrm>
          <a:prstGeom prst="ellipse">
            <a:avLst/>
          </a:prstGeom>
          <a:gradFill flip="none" rotWithShape="1">
            <a:gsLst>
              <a:gs pos="0">
                <a:schemeClr val="bg1">
                  <a:lumMod val="65000"/>
                  <a:shade val="30000"/>
                  <a:satMod val="115000"/>
                </a:schemeClr>
              </a:gs>
              <a:gs pos="50000">
                <a:schemeClr val="bg1">
                  <a:lumMod val="65000"/>
                  <a:shade val="67500"/>
                  <a:satMod val="115000"/>
                </a:schemeClr>
              </a:gs>
              <a:gs pos="100000">
                <a:schemeClr val="bg1">
                  <a:lumMod val="65000"/>
                  <a:shade val="100000"/>
                  <a:satMod val="115000"/>
                </a:schemeClr>
              </a:gs>
            </a:gsLst>
            <a:lin ang="0" scaled="1"/>
            <a:tileRect/>
          </a:gradFill>
          <a:ln w="19050">
            <a:solidFill>
              <a:srgbClr val="B523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!!c3_icon2">
            <a:extLst>
              <a:ext uri="{FF2B5EF4-FFF2-40B4-BE49-F238E27FC236}">
                <a16:creationId xmlns:a16="http://schemas.microsoft.com/office/drawing/2014/main" id="{1D374ABD-935D-2940-6A79-175341756B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8307" y="2967940"/>
            <a:ext cx="136357" cy="134157"/>
          </a:xfrm>
          <a:prstGeom prst="rect">
            <a:avLst/>
          </a:prstGeom>
        </p:spPr>
      </p:pic>
      <p:sp>
        <p:nvSpPr>
          <p:cNvPr id="44" name="!!c3_quote"/>
          <p:cNvSpPr txBox="1"/>
          <p:nvPr/>
        </p:nvSpPr>
        <p:spPr>
          <a:xfrm>
            <a:off x="5565038" y="3171870"/>
            <a:ext cx="10625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34" i="1">
                <a:solidFill>
                  <a:srgbClr val="2E2925"/>
                </a:solidFill>
                <a:latin typeface="Franklin Gothic Book"/>
              </a:rPr>
              <a:t>“We have to develop our people. We can’t afford the cost of turnover and talent is hard to find.”</a:t>
            </a:r>
          </a:p>
        </p:txBody>
      </p:sp>
      <p:sp>
        <p:nvSpPr>
          <p:cNvPr id="45" name="!!c3_how"/>
          <p:cNvSpPr txBox="1"/>
          <p:nvPr/>
        </p:nvSpPr>
        <p:spPr>
          <a:xfrm>
            <a:off x="5565038" y="3517513"/>
            <a:ext cx="563270" cy="87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36" i="0">
                <a:solidFill>
                  <a:srgbClr val="55575A"/>
                </a:solidFill>
                <a:latin typeface="Franklin Gothic Medium"/>
              </a:rPr>
              <a:t>How we develop</a:t>
            </a:r>
          </a:p>
        </p:txBody>
      </p:sp>
      <p:sp>
        <p:nvSpPr>
          <p:cNvPr id="46" name="!!c3_pill"/>
          <p:cNvSpPr/>
          <p:nvPr/>
        </p:nvSpPr>
        <p:spPr>
          <a:xfrm>
            <a:off x="5992469" y="3517513"/>
            <a:ext cx="635102" cy="87050"/>
          </a:xfrm>
          <a:prstGeom prst="roundRect">
            <a:avLst>
              <a:gd name="adj" fmla="val 50000"/>
            </a:avLst>
          </a:prstGeom>
          <a:solidFill>
            <a:srgbClr val="D51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294">
                <a:solidFill>
                  <a:srgbClr val="FFFFFF"/>
                </a:solidFill>
                <a:latin typeface="Franklin Gothic Medium"/>
              </a:rPr>
              <a:t>IGNITE TALENT</a:t>
            </a:r>
          </a:p>
        </p:txBody>
      </p:sp>
      <p:sp>
        <p:nvSpPr>
          <p:cNvPr id="47" name="!!c4_bg"/>
          <p:cNvSpPr/>
          <p:nvPr/>
        </p:nvSpPr>
        <p:spPr>
          <a:xfrm>
            <a:off x="5488228" y="2961924"/>
            <a:ext cx="1216152" cy="696407"/>
          </a:xfrm>
          <a:prstGeom prst="rect">
            <a:avLst/>
          </a:prstGeom>
          <a:solidFill>
            <a:srgbClr val="F4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!!c4_band"/>
          <p:cNvSpPr/>
          <p:nvPr/>
        </p:nvSpPr>
        <p:spPr>
          <a:xfrm>
            <a:off x="5488228" y="2961924"/>
            <a:ext cx="1216152" cy="148498"/>
          </a:xfrm>
          <a:prstGeom prst="rect">
            <a:avLst/>
          </a:prstGeom>
          <a:solidFill>
            <a:srgbClr val="555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!!c4_name"/>
          <p:cNvSpPr txBox="1"/>
          <p:nvPr/>
        </p:nvSpPr>
        <p:spPr>
          <a:xfrm>
            <a:off x="5757062" y="2961924"/>
            <a:ext cx="908913" cy="148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448" i="0">
                <a:solidFill>
                  <a:srgbClr val="FFFFFF"/>
                </a:solidFill>
                <a:latin typeface="Franklin Gothic Medium"/>
              </a:rPr>
              <a:t>4   Revenue Performance &amp; Metrics</a:t>
            </a:r>
          </a:p>
        </p:txBody>
      </p:sp>
      <p:grpSp>
        <p:nvGrpSpPr>
          <p:cNvPr id="30" name="!!c4_icon">
            <a:extLst>
              <a:ext uri="{FF2B5EF4-FFF2-40B4-BE49-F238E27FC236}">
                <a16:creationId xmlns:a16="http://schemas.microsoft.com/office/drawing/2014/main" id="{A34F56AE-6E15-CA17-553A-4BF952104907}"/>
              </a:ext>
            </a:extLst>
          </p:cNvPr>
          <p:cNvGrpSpPr/>
          <p:nvPr/>
        </p:nvGrpSpPr>
        <p:grpSpPr>
          <a:xfrm>
            <a:off x="5518952" y="2926079"/>
            <a:ext cx="215066" cy="215066"/>
            <a:chOff x="1234577" y="277743"/>
            <a:chExt cx="960500" cy="960500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B9C1869-EBAB-161D-2DA4-8C653FBF65E5}"/>
                </a:ext>
              </a:extLst>
            </p:cNvPr>
            <p:cNvSpPr/>
            <p:nvPr/>
          </p:nvSpPr>
          <p:spPr>
            <a:xfrm>
              <a:off x="1234577" y="277743"/>
              <a:ext cx="960500" cy="960500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65000"/>
                    <a:shade val="30000"/>
                    <a:satMod val="115000"/>
                  </a:schemeClr>
                </a:gs>
                <a:gs pos="50000">
                  <a:schemeClr val="bg1">
                    <a:lumMod val="65000"/>
                    <a:shade val="67500"/>
                    <a:satMod val="115000"/>
                  </a:schemeClr>
                </a:gs>
                <a:gs pos="100000">
                  <a:schemeClr val="bg1">
                    <a:lumMod val="65000"/>
                    <a:shade val="100000"/>
                    <a:satMod val="115000"/>
                  </a:schemeClr>
                </a:gs>
              </a:gsLst>
              <a:lin ang="0" scaled="1"/>
              <a:tileRect/>
            </a:gradFill>
            <a:ln w="19050">
              <a:solidFill>
                <a:srgbClr val="B523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A2EA54A9-541A-CDCD-7A9C-8ABB1FBB1F5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48085" y="547117"/>
              <a:ext cx="706154" cy="380952"/>
            </a:xfrm>
            <a:prstGeom prst="rect">
              <a:avLst/>
            </a:prstGeom>
          </p:spPr>
        </p:pic>
      </p:grpSp>
      <p:sp>
        <p:nvSpPr>
          <p:cNvPr id="50" name="!!c4_quote"/>
          <p:cNvSpPr txBox="1"/>
          <p:nvPr/>
        </p:nvSpPr>
        <p:spPr>
          <a:xfrm>
            <a:off x="5565038" y="3171870"/>
            <a:ext cx="10625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34" i="1">
                <a:solidFill>
                  <a:srgbClr val="2E2925"/>
                </a:solidFill>
                <a:latin typeface="Franklin Gothic Book"/>
              </a:rPr>
              <a:t>“We have a lot of reporting, but does it show how or if we are doing better?”</a:t>
            </a:r>
          </a:p>
        </p:txBody>
      </p:sp>
      <p:sp>
        <p:nvSpPr>
          <p:cNvPr id="51" name="!!c4_how"/>
          <p:cNvSpPr txBox="1"/>
          <p:nvPr/>
        </p:nvSpPr>
        <p:spPr>
          <a:xfrm>
            <a:off x="5565038" y="3517513"/>
            <a:ext cx="563270" cy="87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36" i="0">
                <a:solidFill>
                  <a:srgbClr val="55575A"/>
                </a:solidFill>
                <a:latin typeface="Franklin Gothic Medium"/>
              </a:rPr>
              <a:t>How we measure</a:t>
            </a:r>
          </a:p>
        </p:txBody>
      </p:sp>
      <p:sp>
        <p:nvSpPr>
          <p:cNvPr id="52" name="!!hub_ring"/>
          <p:cNvSpPr/>
          <p:nvPr/>
        </p:nvSpPr>
        <p:spPr>
          <a:xfrm>
            <a:off x="4935016" y="2148840"/>
            <a:ext cx="2322576" cy="2322576"/>
          </a:xfrm>
          <a:prstGeom prst="ellipse">
            <a:avLst/>
          </a:prstGeom>
          <a:noFill/>
          <a:ln w="28575">
            <a:solidFill>
              <a:srgbClr val="D510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!!hub"/>
          <p:cNvSpPr/>
          <p:nvPr/>
        </p:nvSpPr>
        <p:spPr>
          <a:xfrm>
            <a:off x="5044744" y="2258568"/>
            <a:ext cx="2103120" cy="2103120"/>
          </a:xfrm>
          <a:prstGeom prst="ellipse">
            <a:avLst/>
          </a:prstGeom>
          <a:solidFill>
            <a:srgbClr val="555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!!hub_t"/>
          <p:cNvSpPr txBox="1"/>
          <p:nvPr/>
        </p:nvSpPr>
        <p:spPr>
          <a:xfrm>
            <a:off x="5181904" y="2743200"/>
            <a:ext cx="1828799" cy="7315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/>
            <a:r>
              <a:rPr sz="2100" i="0">
                <a:solidFill>
                  <a:srgbClr val="FFFFFF"/>
                </a:solidFill>
                <a:latin typeface="Franklin Gothic Medium"/>
              </a:rPr>
              <a:t>Profitable</a:t>
            </a:r>
          </a:p>
          <a:p>
            <a:pPr algn="ctr"/>
            <a:r>
              <a:rPr sz="2100" i="0">
                <a:solidFill>
                  <a:srgbClr val="FFFFFF"/>
                </a:solidFill>
                <a:latin typeface="Franklin Gothic Medium"/>
              </a:rPr>
              <a:t>Growth</a:t>
            </a:r>
          </a:p>
        </p:txBody>
      </p:sp>
      <p:sp>
        <p:nvSpPr>
          <p:cNvPr id="55" name="!!hub_s"/>
          <p:cNvSpPr txBox="1"/>
          <p:nvPr/>
        </p:nvSpPr>
        <p:spPr>
          <a:xfrm>
            <a:off x="5227624" y="3511296"/>
            <a:ext cx="1737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i="0">
                <a:solidFill>
                  <a:srgbClr val="FFFFFF"/>
                </a:solidFill>
                <a:latin typeface="Franklin Gothic Book"/>
              </a:rPr>
              <a:t>Sales  ·  Marketing</a:t>
            </a:r>
          </a:p>
          <a:p>
            <a:pPr algn="ctr"/>
            <a:r>
              <a:rPr sz="1050" i="0">
                <a:solidFill>
                  <a:srgbClr val="FFFFFF"/>
                </a:solidFill>
                <a:latin typeface="Franklin Gothic Book"/>
              </a:rPr>
              <a:t>Pricing / Rev Mgmt.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000" advTm="700">
        <p159:morph option="byObject"/>
      </p:transition>
    </mc:Choice>
    <mc:Fallback>
      <p:transition spd="slow" advTm="700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 idx="4294967295"/>
          </p:nvPr>
        </p:nvSpPr>
        <p:spPr>
          <a:xfrm>
            <a:off x="0" y="230457"/>
            <a:ext cx="12192000" cy="430887"/>
          </a:xfrm>
        </p:spPr>
        <p:txBody>
          <a:bodyPr>
            <a:noAutofit/>
          </a:bodyPr>
          <a:lstStyle/>
          <a:p>
            <a:pPr algn="ctr"/>
            <a:r>
              <a:rPr lang="en-US" sz="320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</a:rPr>
              <a:t>Where You Win </a:t>
            </a:r>
            <a:r>
              <a:rPr lang="en-US" sz="3200">
                <a:solidFill>
                  <a:srgbClr val="B52372"/>
                </a:solidFill>
                <a:latin typeface="Franklin Gothic Book" panose="020B0503020102020204" pitchFamily="34" charset="0"/>
              </a:rPr>
              <a:t>| Profitable Growth</a:t>
            </a:r>
          </a:p>
        </p:txBody>
      </p:sp>
      <p:sp>
        <p:nvSpPr>
          <p:cNvPr id="3" name="!!c1_bg"/>
          <p:cNvSpPr/>
          <p:nvPr/>
        </p:nvSpPr>
        <p:spPr>
          <a:xfrm>
            <a:off x="411480" y="896112"/>
            <a:ext cx="4343400" cy="2487168"/>
          </a:xfrm>
          <a:prstGeom prst="rect">
            <a:avLst/>
          </a:prstGeom>
          <a:solidFill>
            <a:srgbClr val="F4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c1_band"/>
          <p:cNvSpPr/>
          <p:nvPr/>
        </p:nvSpPr>
        <p:spPr>
          <a:xfrm>
            <a:off x="411480" y="896112"/>
            <a:ext cx="4343400" cy="530352"/>
          </a:xfrm>
          <a:prstGeom prst="rect">
            <a:avLst/>
          </a:prstGeom>
          <a:solidFill>
            <a:srgbClr val="B52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c1_name"/>
          <p:cNvSpPr txBox="1"/>
          <p:nvPr/>
        </p:nvSpPr>
        <p:spPr>
          <a:xfrm>
            <a:off x="1371600" y="896112"/>
            <a:ext cx="32461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i="0">
                <a:solidFill>
                  <a:srgbClr val="FFFFFF"/>
                </a:solidFill>
                <a:latin typeface="Franklin Gothic Medium"/>
              </a:rPr>
              <a:t>1   Science &amp; Strategy</a:t>
            </a:r>
          </a:p>
        </p:txBody>
      </p:sp>
      <p:grpSp>
        <p:nvGrpSpPr>
          <p:cNvPr id="31" name="!!c1_icon">
            <a:extLst>
              <a:ext uri="{FF2B5EF4-FFF2-40B4-BE49-F238E27FC236}">
                <a16:creationId xmlns:a16="http://schemas.microsoft.com/office/drawing/2014/main" id="{64401AE8-1991-1341-CC55-F342691AA60D}"/>
              </a:ext>
            </a:extLst>
          </p:cNvPr>
          <p:cNvGrpSpPr/>
          <p:nvPr/>
        </p:nvGrpSpPr>
        <p:grpSpPr>
          <a:xfrm>
            <a:off x="521208" y="768096"/>
            <a:ext cx="768096" cy="779176"/>
            <a:chOff x="10023859" y="264078"/>
            <a:chExt cx="933564" cy="947032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E3F64412-42DA-A373-E8FF-487F3BC37CB3}"/>
                </a:ext>
              </a:extLst>
            </p:cNvPr>
            <p:cNvSpPr/>
            <p:nvPr/>
          </p:nvSpPr>
          <p:spPr>
            <a:xfrm>
              <a:off x="10023859" y="264078"/>
              <a:ext cx="933564" cy="947032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65000"/>
                    <a:shade val="30000"/>
                    <a:satMod val="115000"/>
                  </a:schemeClr>
                </a:gs>
                <a:gs pos="50000">
                  <a:schemeClr val="bg1">
                    <a:lumMod val="65000"/>
                    <a:shade val="67500"/>
                    <a:satMod val="115000"/>
                  </a:schemeClr>
                </a:gs>
                <a:gs pos="100000">
                  <a:schemeClr val="bg1">
                    <a:lumMod val="65000"/>
                    <a:shade val="100000"/>
                    <a:satMod val="115000"/>
                  </a:schemeClr>
                </a:gs>
              </a:gsLst>
              <a:lin ang="0" scaled="1"/>
              <a:tileRect/>
            </a:gradFill>
            <a:ln w="19050">
              <a:solidFill>
                <a:srgbClr val="B523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: Shape 25">
              <a:extLst>
                <a:ext uri="{FF2B5EF4-FFF2-40B4-BE49-F238E27FC236}">
                  <a16:creationId xmlns:a16="http://schemas.microsoft.com/office/drawing/2014/main" id="{B3723BE5-1E0C-63A4-66D5-E56AEF2E3AAB}"/>
                </a:ext>
              </a:extLst>
            </p:cNvPr>
            <p:cNvSpPr/>
            <p:nvPr/>
          </p:nvSpPr>
          <p:spPr>
            <a:xfrm>
              <a:off x="10275283" y="399791"/>
              <a:ext cx="430716" cy="675605"/>
            </a:xfrm>
            <a:custGeom>
              <a:avLst/>
              <a:gdLst>
                <a:gd name="connsiteX0" fmla="*/ 633032 w 736282"/>
                <a:gd name="connsiteY0" fmla="*/ 1098614 h 1238252"/>
                <a:gd name="connsiteX1" fmla="*/ 623507 w 736282"/>
                <a:gd name="connsiteY1" fmla="*/ 1108139 h 1238252"/>
                <a:gd name="connsiteX2" fmla="*/ 623507 w 736282"/>
                <a:gd name="connsiteY2" fmla="*/ 1170242 h 1238252"/>
                <a:gd name="connsiteX3" fmla="*/ 633032 w 736282"/>
                <a:gd name="connsiteY3" fmla="*/ 1179767 h 1238252"/>
                <a:gd name="connsiteX4" fmla="*/ 642557 w 736282"/>
                <a:gd name="connsiteY4" fmla="*/ 1170242 h 1238252"/>
                <a:gd name="connsiteX5" fmla="*/ 642557 w 736282"/>
                <a:gd name="connsiteY5" fmla="*/ 1108139 h 1238252"/>
                <a:gd name="connsiteX6" fmla="*/ 633032 w 736282"/>
                <a:gd name="connsiteY6" fmla="*/ 1098614 h 1238252"/>
                <a:gd name="connsiteX7" fmla="*/ 536163 w 736282"/>
                <a:gd name="connsiteY7" fmla="*/ 1098614 h 1238252"/>
                <a:gd name="connsiteX8" fmla="*/ 526638 w 736282"/>
                <a:gd name="connsiteY8" fmla="*/ 1108139 h 1238252"/>
                <a:gd name="connsiteX9" fmla="*/ 526638 w 736282"/>
                <a:gd name="connsiteY9" fmla="*/ 1170242 h 1238252"/>
                <a:gd name="connsiteX10" fmla="*/ 536163 w 736282"/>
                <a:gd name="connsiteY10" fmla="*/ 1179767 h 1238252"/>
                <a:gd name="connsiteX11" fmla="*/ 545688 w 736282"/>
                <a:gd name="connsiteY11" fmla="*/ 1170242 h 1238252"/>
                <a:gd name="connsiteX12" fmla="*/ 545688 w 736282"/>
                <a:gd name="connsiteY12" fmla="*/ 1108139 h 1238252"/>
                <a:gd name="connsiteX13" fmla="*/ 536163 w 736282"/>
                <a:gd name="connsiteY13" fmla="*/ 1098614 h 1238252"/>
                <a:gd name="connsiteX14" fmla="*/ 439198 w 736282"/>
                <a:gd name="connsiteY14" fmla="*/ 1098614 h 1238252"/>
                <a:gd name="connsiteX15" fmla="*/ 429673 w 736282"/>
                <a:gd name="connsiteY15" fmla="*/ 1108139 h 1238252"/>
                <a:gd name="connsiteX16" fmla="*/ 429673 w 736282"/>
                <a:gd name="connsiteY16" fmla="*/ 1170242 h 1238252"/>
                <a:gd name="connsiteX17" fmla="*/ 439198 w 736282"/>
                <a:gd name="connsiteY17" fmla="*/ 1179767 h 1238252"/>
                <a:gd name="connsiteX18" fmla="*/ 448723 w 736282"/>
                <a:gd name="connsiteY18" fmla="*/ 1170242 h 1238252"/>
                <a:gd name="connsiteX19" fmla="*/ 448723 w 736282"/>
                <a:gd name="connsiteY19" fmla="*/ 1108139 h 1238252"/>
                <a:gd name="connsiteX20" fmla="*/ 439198 w 736282"/>
                <a:gd name="connsiteY20" fmla="*/ 1098614 h 1238252"/>
                <a:gd name="connsiteX21" fmla="*/ 342329 w 736282"/>
                <a:gd name="connsiteY21" fmla="*/ 1098614 h 1238252"/>
                <a:gd name="connsiteX22" fmla="*/ 332804 w 736282"/>
                <a:gd name="connsiteY22" fmla="*/ 1108139 h 1238252"/>
                <a:gd name="connsiteX23" fmla="*/ 332804 w 736282"/>
                <a:gd name="connsiteY23" fmla="*/ 1170242 h 1238252"/>
                <a:gd name="connsiteX24" fmla="*/ 342329 w 736282"/>
                <a:gd name="connsiteY24" fmla="*/ 1179767 h 1238252"/>
                <a:gd name="connsiteX25" fmla="*/ 351854 w 736282"/>
                <a:gd name="connsiteY25" fmla="*/ 1170242 h 1238252"/>
                <a:gd name="connsiteX26" fmla="*/ 351854 w 736282"/>
                <a:gd name="connsiteY26" fmla="*/ 1108139 h 1238252"/>
                <a:gd name="connsiteX27" fmla="*/ 342329 w 736282"/>
                <a:gd name="connsiteY27" fmla="*/ 1098614 h 1238252"/>
                <a:gd name="connsiteX28" fmla="*/ 245459 w 736282"/>
                <a:gd name="connsiteY28" fmla="*/ 1098614 h 1238252"/>
                <a:gd name="connsiteX29" fmla="*/ 235934 w 736282"/>
                <a:gd name="connsiteY29" fmla="*/ 1108139 h 1238252"/>
                <a:gd name="connsiteX30" fmla="*/ 235934 w 736282"/>
                <a:gd name="connsiteY30" fmla="*/ 1170242 h 1238252"/>
                <a:gd name="connsiteX31" fmla="*/ 245459 w 736282"/>
                <a:gd name="connsiteY31" fmla="*/ 1179767 h 1238252"/>
                <a:gd name="connsiteX32" fmla="*/ 254984 w 736282"/>
                <a:gd name="connsiteY32" fmla="*/ 1170242 h 1238252"/>
                <a:gd name="connsiteX33" fmla="*/ 254984 w 736282"/>
                <a:gd name="connsiteY33" fmla="*/ 1108139 h 1238252"/>
                <a:gd name="connsiteX34" fmla="*/ 245459 w 736282"/>
                <a:gd name="connsiteY34" fmla="*/ 1098614 h 1238252"/>
                <a:gd name="connsiteX35" fmla="*/ 148494 w 736282"/>
                <a:gd name="connsiteY35" fmla="*/ 1098614 h 1238252"/>
                <a:gd name="connsiteX36" fmla="*/ 138969 w 736282"/>
                <a:gd name="connsiteY36" fmla="*/ 1108139 h 1238252"/>
                <a:gd name="connsiteX37" fmla="*/ 138969 w 736282"/>
                <a:gd name="connsiteY37" fmla="*/ 1170242 h 1238252"/>
                <a:gd name="connsiteX38" fmla="*/ 148494 w 736282"/>
                <a:gd name="connsiteY38" fmla="*/ 1179767 h 1238252"/>
                <a:gd name="connsiteX39" fmla="*/ 158019 w 736282"/>
                <a:gd name="connsiteY39" fmla="*/ 1170242 h 1238252"/>
                <a:gd name="connsiteX40" fmla="*/ 158019 w 736282"/>
                <a:gd name="connsiteY40" fmla="*/ 1108139 h 1238252"/>
                <a:gd name="connsiteX41" fmla="*/ 148494 w 736282"/>
                <a:gd name="connsiteY41" fmla="*/ 1098614 h 1238252"/>
                <a:gd name="connsiteX42" fmla="*/ 45244 w 736282"/>
                <a:gd name="connsiteY42" fmla="*/ 1059182 h 1238252"/>
                <a:gd name="connsiteX43" fmla="*/ 736282 w 736282"/>
                <a:gd name="connsiteY43" fmla="*/ 1059182 h 1238252"/>
                <a:gd name="connsiteX44" fmla="*/ 736282 w 736282"/>
                <a:gd name="connsiteY44" fmla="*/ 1228727 h 1238252"/>
                <a:gd name="connsiteX45" fmla="*/ 726757 w 736282"/>
                <a:gd name="connsiteY45" fmla="*/ 1238252 h 1238252"/>
                <a:gd name="connsiteX46" fmla="*/ 54769 w 736282"/>
                <a:gd name="connsiteY46" fmla="*/ 1238252 h 1238252"/>
                <a:gd name="connsiteX47" fmla="*/ 45244 w 736282"/>
                <a:gd name="connsiteY47" fmla="*/ 1228727 h 1238252"/>
                <a:gd name="connsiteX48" fmla="*/ 147258 w 736282"/>
                <a:gd name="connsiteY48" fmla="*/ 960218 h 1238252"/>
                <a:gd name="connsiteX49" fmla="*/ 634270 w 736282"/>
                <a:gd name="connsiteY49" fmla="*/ 960218 h 1238252"/>
                <a:gd name="connsiteX50" fmla="*/ 671703 w 736282"/>
                <a:gd name="connsiteY50" fmla="*/ 1040131 h 1238252"/>
                <a:gd name="connsiteX51" fmla="*/ 109824 w 736282"/>
                <a:gd name="connsiteY51" fmla="*/ 1040131 h 1238252"/>
                <a:gd name="connsiteX52" fmla="*/ 285370 w 736282"/>
                <a:gd name="connsiteY52" fmla="*/ 245651 h 1238252"/>
                <a:gd name="connsiteX53" fmla="*/ 235077 w 736282"/>
                <a:gd name="connsiteY53" fmla="*/ 295944 h 1238252"/>
                <a:gd name="connsiteX54" fmla="*/ 285370 w 736282"/>
                <a:gd name="connsiteY54" fmla="*/ 346045 h 1238252"/>
                <a:gd name="connsiteX55" fmla="*/ 335471 w 736282"/>
                <a:gd name="connsiteY55" fmla="*/ 295944 h 1238252"/>
                <a:gd name="connsiteX56" fmla="*/ 285370 w 736282"/>
                <a:gd name="connsiteY56" fmla="*/ 245651 h 1238252"/>
                <a:gd name="connsiteX57" fmla="*/ 404146 w 736282"/>
                <a:gd name="connsiteY57" fmla="*/ 176214 h 1238252"/>
                <a:gd name="connsiteX58" fmla="*/ 393954 w 736282"/>
                <a:gd name="connsiteY58" fmla="*/ 184976 h 1238252"/>
                <a:gd name="connsiteX59" fmla="*/ 402622 w 736282"/>
                <a:gd name="connsiteY59" fmla="*/ 195264 h 1238252"/>
                <a:gd name="connsiteX60" fmla="*/ 429100 w 736282"/>
                <a:gd name="connsiteY60" fmla="*/ 197359 h 1238252"/>
                <a:gd name="connsiteX61" fmla="*/ 602456 w 736282"/>
                <a:gd name="connsiteY61" fmla="*/ 314422 h 1238252"/>
                <a:gd name="connsiteX62" fmla="*/ 627221 w 736282"/>
                <a:gd name="connsiteY62" fmla="*/ 416720 h 1238252"/>
                <a:gd name="connsiteX63" fmla="*/ 636746 w 736282"/>
                <a:gd name="connsiteY63" fmla="*/ 425959 h 1238252"/>
                <a:gd name="connsiteX64" fmla="*/ 637032 w 736282"/>
                <a:gd name="connsiteY64" fmla="*/ 425959 h 1238252"/>
                <a:gd name="connsiteX65" fmla="*/ 646271 w 736282"/>
                <a:gd name="connsiteY65" fmla="*/ 416148 h 1238252"/>
                <a:gd name="connsiteX66" fmla="*/ 619315 w 736282"/>
                <a:gd name="connsiteY66" fmla="*/ 305657 h 1238252"/>
                <a:gd name="connsiteX67" fmla="*/ 430721 w 736282"/>
                <a:gd name="connsiteY67" fmla="*/ 178404 h 1238252"/>
                <a:gd name="connsiteX68" fmla="*/ 344424 w 736282"/>
                <a:gd name="connsiteY68" fmla="*/ 955 h 1238252"/>
                <a:gd name="connsiteX69" fmla="*/ 442627 w 736282"/>
                <a:gd name="connsiteY69" fmla="*/ 116111 h 1238252"/>
                <a:gd name="connsiteX70" fmla="*/ 675418 w 736282"/>
                <a:gd name="connsiteY70" fmla="*/ 276512 h 1238252"/>
                <a:gd name="connsiteX71" fmla="*/ 709423 w 736282"/>
                <a:gd name="connsiteY71" fmla="*/ 414529 h 1238252"/>
                <a:gd name="connsiteX72" fmla="*/ 658558 w 736282"/>
                <a:gd name="connsiteY72" fmla="*/ 714853 h 1238252"/>
                <a:gd name="connsiteX73" fmla="*/ 627221 w 736282"/>
                <a:gd name="connsiteY73" fmla="*/ 941167 h 1238252"/>
                <a:gd name="connsiteX74" fmla="*/ 153733 w 736282"/>
                <a:gd name="connsiteY74" fmla="*/ 941167 h 1238252"/>
                <a:gd name="connsiteX75" fmla="*/ 215455 w 736282"/>
                <a:gd name="connsiteY75" fmla="*/ 673228 h 1238252"/>
                <a:gd name="connsiteX76" fmla="*/ 219932 w 736282"/>
                <a:gd name="connsiteY76" fmla="*/ 667419 h 1238252"/>
                <a:gd name="connsiteX77" fmla="*/ 231076 w 736282"/>
                <a:gd name="connsiteY77" fmla="*/ 652559 h 1238252"/>
                <a:gd name="connsiteX78" fmla="*/ 370332 w 736282"/>
                <a:gd name="connsiteY78" fmla="*/ 512351 h 1238252"/>
                <a:gd name="connsiteX79" fmla="*/ 224790 w 736282"/>
                <a:gd name="connsiteY79" fmla="*/ 500920 h 1238252"/>
                <a:gd name="connsiteX80" fmla="*/ 86582 w 736282"/>
                <a:gd name="connsiteY80" fmla="*/ 558737 h 1238252"/>
                <a:gd name="connsiteX81" fmla="*/ 13335 w 736282"/>
                <a:gd name="connsiteY81" fmla="*/ 507112 h 1238252"/>
                <a:gd name="connsiteX82" fmla="*/ 41147 w 736282"/>
                <a:gd name="connsiteY82" fmla="*/ 374144 h 1238252"/>
                <a:gd name="connsiteX83" fmla="*/ 42291 w 736282"/>
                <a:gd name="connsiteY83" fmla="*/ 373190 h 1238252"/>
                <a:gd name="connsiteX84" fmla="*/ 175069 w 736282"/>
                <a:gd name="connsiteY84" fmla="*/ 236031 h 1238252"/>
                <a:gd name="connsiteX85" fmla="*/ 258508 w 736282"/>
                <a:gd name="connsiteY85" fmla="*/ 156782 h 1238252"/>
                <a:gd name="connsiteX86" fmla="*/ 330423 w 736282"/>
                <a:gd name="connsiteY86" fmla="*/ 138686 h 1238252"/>
                <a:gd name="connsiteX87" fmla="*/ 330709 w 736282"/>
                <a:gd name="connsiteY87" fmla="*/ 138686 h 1238252"/>
                <a:gd name="connsiteX88" fmla="*/ 330709 w 736282"/>
                <a:gd name="connsiteY88" fmla="*/ 9526 h 1238252"/>
                <a:gd name="connsiteX89" fmla="*/ 335185 w 736282"/>
                <a:gd name="connsiteY89" fmla="*/ 1429 h 1238252"/>
                <a:gd name="connsiteX90" fmla="*/ 344424 w 736282"/>
                <a:gd name="connsiteY90" fmla="*/ 955 h 1238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</a:cxnLst>
              <a:rect l="l" t="t" r="r" b="b"/>
              <a:pathLst>
                <a:path w="736282" h="1238252">
                  <a:moveTo>
                    <a:pt x="633032" y="1098614"/>
                  </a:moveTo>
                  <a:cubicBezTo>
                    <a:pt x="627793" y="1098614"/>
                    <a:pt x="623507" y="1102902"/>
                    <a:pt x="623507" y="1108139"/>
                  </a:cubicBezTo>
                  <a:lnTo>
                    <a:pt x="623507" y="1170242"/>
                  </a:lnTo>
                  <a:cubicBezTo>
                    <a:pt x="623507" y="1175577"/>
                    <a:pt x="627793" y="1179767"/>
                    <a:pt x="633032" y="1179767"/>
                  </a:cubicBezTo>
                  <a:cubicBezTo>
                    <a:pt x="638270" y="1179767"/>
                    <a:pt x="642557" y="1175577"/>
                    <a:pt x="642557" y="1170242"/>
                  </a:cubicBezTo>
                  <a:lnTo>
                    <a:pt x="642557" y="1108139"/>
                  </a:lnTo>
                  <a:cubicBezTo>
                    <a:pt x="642557" y="1102902"/>
                    <a:pt x="638270" y="1098614"/>
                    <a:pt x="633032" y="1098614"/>
                  </a:cubicBezTo>
                  <a:close/>
                  <a:moveTo>
                    <a:pt x="536163" y="1098614"/>
                  </a:moveTo>
                  <a:cubicBezTo>
                    <a:pt x="530829" y="1098614"/>
                    <a:pt x="526638" y="1102902"/>
                    <a:pt x="526638" y="1108139"/>
                  </a:cubicBezTo>
                  <a:lnTo>
                    <a:pt x="526638" y="1170242"/>
                  </a:lnTo>
                  <a:cubicBezTo>
                    <a:pt x="526638" y="1175577"/>
                    <a:pt x="530829" y="1179767"/>
                    <a:pt x="536163" y="1179767"/>
                  </a:cubicBezTo>
                  <a:cubicBezTo>
                    <a:pt x="541401" y="1179767"/>
                    <a:pt x="545688" y="1175577"/>
                    <a:pt x="545688" y="1170242"/>
                  </a:cubicBezTo>
                  <a:lnTo>
                    <a:pt x="545688" y="1108139"/>
                  </a:lnTo>
                  <a:cubicBezTo>
                    <a:pt x="545688" y="1102902"/>
                    <a:pt x="541401" y="1098614"/>
                    <a:pt x="536163" y="1098614"/>
                  </a:cubicBezTo>
                  <a:close/>
                  <a:moveTo>
                    <a:pt x="439198" y="1098614"/>
                  </a:moveTo>
                  <a:cubicBezTo>
                    <a:pt x="433958" y="1098614"/>
                    <a:pt x="429673" y="1102902"/>
                    <a:pt x="429673" y="1108139"/>
                  </a:cubicBezTo>
                  <a:lnTo>
                    <a:pt x="429673" y="1170242"/>
                  </a:lnTo>
                  <a:cubicBezTo>
                    <a:pt x="429673" y="1175577"/>
                    <a:pt x="433958" y="1179767"/>
                    <a:pt x="439198" y="1179767"/>
                  </a:cubicBezTo>
                  <a:cubicBezTo>
                    <a:pt x="444532" y="1179767"/>
                    <a:pt x="448723" y="1175577"/>
                    <a:pt x="448723" y="1170242"/>
                  </a:cubicBezTo>
                  <a:lnTo>
                    <a:pt x="448723" y="1108139"/>
                  </a:lnTo>
                  <a:cubicBezTo>
                    <a:pt x="448723" y="1102902"/>
                    <a:pt x="444532" y="1098614"/>
                    <a:pt x="439198" y="1098614"/>
                  </a:cubicBezTo>
                  <a:close/>
                  <a:moveTo>
                    <a:pt x="342329" y="1098614"/>
                  </a:moveTo>
                  <a:cubicBezTo>
                    <a:pt x="337090" y="1098614"/>
                    <a:pt x="332804" y="1102902"/>
                    <a:pt x="332804" y="1108139"/>
                  </a:cubicBezTo>
                  <a:lnTo>
                    <a:pt x="332804" y="1170242"/>
                  </a:lnTo>
                  <a:cubicBezTo>
                    <a:pt x="332804" y="1175577"/>
                    <a:pt x="337090" y="1179767"/>
                    <a:pt x="342329" y="1179767"/>
                  </a:cubicBezTo>
                  <a:cubicBezTo>
                    <a:pt x="347567" y="1179767"/>
                    <a:pt x="351854" y="1175577"/>
                    <a:pt x="351854" y="1170242"/>
                  </a:cubicBezTo>
                  <a:lnTo>
                    <a:pt x="351854" y="1108139"/>
                  </a:lnTo>
                  <a:cubicBezTo>
                    <a:pt x="351854" y="1102902"/>
                    <a:pt x="347567" y="1098614"/>
                    <a:pt x="342329" y="1098614"/>
                  </a:cubicBezTo>
                  <a:close/>
                  <a:moveTo>
                    <a:pt x="245459" y="1098614"/>
                  </a:moveTo>
                  <a:cubicBezTo>
                    <a:pt x="240126" y="1098614"/>
                    <a:pt x="235934" y="1102902"/>
                    <a:pt x="235934" y="1108139"/>
                  </a:cubicBezTo>
                  <a:lnTo>
                    <a:pt x="235934" y="1170242"/>
                  </a:lnTo>
                  <a:cubicBezTo>
                    <a:pt x="235934" y="1175577"/>
                    <a:pt x="240126" y="1179767"/>
                    <a:pt x="245459" y="1179767"/>
                  </a:cubicBezTo>
                  <a:cubicBezTo>
                    <a:pt x="250697" y="1179767"/>
                    <a:pt x="254984" y="1175577"/>
                    <a:pt x="254984" y="1170242"/>
                  </a:cubicBezTo>
                  <a:lnTo>
                    <a:pt x="254984" y="1108139"/>
                  </a:lnTo>
                  <a:cubicBezTo>
                    <a:pt x="254984" y="1102902"/>
                    <a:pt x="250697" y="1098614"/>
                    <a:pt x="245459" y="1098614"/>
                  </a:cubicBezTo>
                  <a:close/>
                  <a:moveTo>
                    <a:pt x="148494" y="1098614"/>
                  </a:moveTo>
                  <a:cubicBezTo>
                    <a:pt x="143256" y="1098614"/>
                    <a:pt x="138969" y="1102902"/>
                    <a:pt x="138969" y="1108139"/>
                  </a:cubicBezTo>
                  <a:lnTo>
                    <a:pt x="138969" y="1170242"/>
                  </a:lnTo>
                  <a:cubicBezTo>
                    <a:pt x="138969" y="1175577"/>
                    <a:pt x="143256" y="1179767"/>
                    <a:pt x="148494" y="1179767"/>
                  </a:cubicBezTo>
                  <a:cubicBezTo>
                    <a:pt x="153829" y="1179767"/>
                    <a:pt x="158019" y="1175577"/>
                    <a:pt x="158019" y="1170242"/>
                  </a:cubicBezTo>
                  <a:lnTo>
                    <a:pt x="158019" y="1108139"/>
                  </a:lnTo>
                  <a:cubicBezTo>
                    <a:pt x="158019" y="1102902"/>
                    <a:pt x="153829" y="1098614"/>
                    <a:pt x="148494" y="1098614"/>
                  </a:cubicBezTo>
                  <a:close/>
                  <a:moveTo>
                    <a:pt x="45244" y="1059182"/>
                  </a:moveTo>
                  <a:lnTo>
                    <a:pt x="736282" y="1059182"/>
                  </a:lnTo>
                  <a:lnTo>
                    <a:pt x="736282" y="1228727"/>
                  </a:lnTo>
                  <a:cubicBezTo>
                    <a:pt x="736282" y="1233966"/>
                    <a:pt x="732091" y="1238252"/>
                    <a:pt x="726757" y="1238252"/>
                  </a:cubicBezTo>
                  <a:lnTo>
                    <a:pt x="54769" y="1238252"/>
                  </a:lnTo>
                  <a:cubicBezTo>
                    <a:pt x="49531" y="1238252"/>
                    <a:pt x="45244" y="1233966"/>
                    <a:pt x="45244" y="1228727"/>
                  </a:cubicBezTo>
                  <a:close/>
                  <a:moveTo>
                    <a:pt x="147258" y="960218"/>
                  </a:moveTo>
                  <a:lnTo>
                    <a:pt x="634270" y="960218"/>
                  </a:lnTo>
                  <a:lnTo>
                    <a:pt x="671703" y="1040131"/>
                  </a:lnTo>
                  <a:lnTo>
                    <a:pt x="109824" y="1040131"/>
                  </a:lnTo>
                  <a:close/>
                  <a:moveTo>
                    <a:pt x="285370" y="245651"/>
                  </a:moveTo>
                  <a:cubicBezTo>
                    <a:pt x="257650" y="245651"/>
                    <a:pt x="235077" y="268224"/>
                    <a:pt x="235077" y="295944"/>
                  </a:cubicBezTo>
                  <a:cubicBezTo>
                    <a:pt x="235077" y="323565"/>
                    <a:pt x="257650" y="346045"/>
                    <a:pt x="285370" y="346045"/>
                  </a:cubicBezTo>
                  <a:cubicBezTo>
                    <a:pt x="312991" y="346045"/>
                    <a:pt x="335471" y="323565"/>
                    <a:pt x="335471" y="295944"/>
                  </a:cubicBezTo>
                  <a:cubicBezTo>
                    <a:pt x="335471" y="268224"/>
                    <a:pt x="312991" y="245651"/>
                    <a:pt x="285370" y="245651"/>
                  </a:cubicBezTo>
                  <a:close/>
                  <a:moveTo>
                    <a:pt x="404146" y="176214"/>
                  </a:moveTo>
                  <a:cubicBezTo>
                    <a:pt x="398811" y="175737"/>
                    <a:pt x="394335" y="179739"/>
                    <a:pt x="393954" y="184976"/>
                  </a:cubicBezTo>
                  <a:cubicBezTo>
                    <a:pt x="393477" y="190215"/>
                    <a:pt x="397384" y="194787"/>
                    <a:pt x="402622" y="195264"/>
                  </a:cubicBezTo>
                  <a:lnTo>
                    <a:pt x="429100" y="197359"/>
                  </a:lnTo>
                  <a:cubicBezTo>
                    <a:pt x="433958" y="197836"/>
                    <a:pt x="548163" y="209742"/>
                    <a:pt x="602456" y="314422"/>
                  </a:cubicBezTo>
                  <a:cubicBezTo>
                    <a:pt x="617791" y="344138"/>
                    <a:pt x="626173" y="378525"/>
                    <a:pt x="627221" y="416720"/>
                  </a:cubicBezTo>
                  <a:cubicBezTo>
                    <a:pt x="627316" y="421864"/>
                    <a:pt x="631602" y="425959"/>
                    <a:pt x="636746" y="425959"/>
                  </a:cubicBezTo>
                  <a:lnTo>
                    <a:pt x="637032" y="425959"/>
                  </a:lnTo>
                  <a:cubicBezTo>
                    <a:pt x="642271" y="425864"/>
                    <a:pt x="646366" y="421483"/>
                    <a:pt x="646271" y="416148"/>
                  </a:cubicBezTo>
                  <a:cubicBezTo>
                    <a:pt x="645129" y="375095"/>
                    <a:pt x="636080" y="337948"/>
                    <a:pt x="619315" y="305657"/>
                  </a:cubicBezTo>
                  <a:cubicBezTo>
                    <a:pt x="560260" y="191836"/>
                    <a:pt x="436150" y="178881"/>
                    <a:pt x="430721" y="178404"/>
                  </a:cubicBezTo>
                  <a:close/>
                  <a:moveTo>
                    <a:pt x="344424" y="955"/>
                  </a:moveTo>
                  <a:cubicBezTo>
                    <a:pt x="347662" y="2573"/>
                    <a:pt x="421862" y="39720"/>
                    <a:pt x="442627" y="116111"/>
                  </a:cubicBezTo>
                  <a:cubicBezTo>
                    <a:pt x="474725" y="120399"/>
                    <a:pt x="607505" y="145544"/>
                    <a:pt x="675418" y="276512"/>
                  </a:cubicBezTo>
                  <a:cubicBezTo>
                    <a:pt x="696658" y="317375"/>
                    <a:pt x="708088" y="363760"/>
                    <a:pt x="709423" y="414529"/>
                  </a:cubicBezTo>
                  <a:cubicBezTo>
                    <a:pt x="711137" y="479870"/>
                    <a:pt x="706946" y="605885"/>
                    <a:pt x="658558" y="714853"/>
                  </a:cubicBezTo>
                  <a:cubicBezTo>
                    <a:pt x="658272" y="715804"/>
                    <a:pt x="609695" y="845059"/>
                    <a:pt x="627221" y="941167"/>
                  </a:cubicBezTo>
                  <a:lnTo>
                    <a:pt x="153733" y="941167"/>
                  </a:lnTo>
                  <a:cubicBezTo>
                    <a:pt x="145637" y="893826"/>
                    <a:pt x="136779" y="777242"/>
                    <a:pt x="215455" y="673228"/>
                  </a:cubicBezTo>
                  <a:lnTo>
                    <a:pt x="219932" y="667419"/>
                  </a:lnTo>
                  <a:cubicBezTo>
                    <a:pt x="223648" y="662561"/>
                    <a:pt x="227457" y="657608"/>
                    <a:pt x="231076" y="652559"/>
                  </a:cubicBezTo>
                  <a:cubicBezTo>
                    <a:pt x="249174" y="627317"/>
                    <a:pt x="295465" y="568834"/>
                    <a:pt x="370332" y="512351"/>
                  </a:cubicBezTo>
                  <a:cubicBezTo>
                    <a:pt x="333850" y="518160"/>
                    <a:pt x="281653" y="519970"/>
                    <a:pt x="224790" y="500920"/>
                  </a:cubicBezTo>
                  <a:cubicBezTo>
                    <a:pt x="209170" y="518542"/>
                    <a:pt x="154972" y="572264"/>
                    <a:pt x="86582" y="558737"/>
                  </a:cubicBezTo>
                  <a:cubicBezTo>
                    <a:pt x="55721" y="552547"/>
                    <a:pt x="29050" y="533783"/>
                    <a:pt x="13335" y="507112"/>
                  </a:cubicBezTo>
                  <a:cubicBezTo>
                    <a:pt x="-1048" y="482728"/>
                    <a:pt x="-16574" y="432912"/>
                    <a:pt x="41147" y="374144"/>
                  </a:cubicBezTo>
                  <a:cubicBezTo>
                    <a:pt x="41529" y="373762"/>
                    <a:pt x="41910" y="373476"/>
                    <a:pt x="42291" y="373190"/>
                  </a:cubicBezTo>
                  <a:cubicBezTo>
                    <a:pt x="43148" y="372430"/>
                    <a:pt x="134207" y="304992"/>
                    <a:pt x="175069" y="236031"/>
                  </a:cubicBezTo>
                  <a:cubicBezTo>
                    <a:pt x="195644" y="201263"/>
                    <a:pt x="224503" y="173928"/>
                    <a:pt x="258508" y="156782"/>
                  </a:cubicBezTo>
                  <a:cubicBezTo>
                    <a:pt x="282607" y="144781"/>
                    <a:pt x="306801" y="138686"/>
                    <a:pt x="330423" y="138686"/>
                  </a:cubicBezTo>
                  <a:lnTo>
                    <a:pt x="330709" y="138686"/>
                  </a:lnTo>
                  <a:lnTo>
                    <a:pt x="330709" y="9526"/>
                  </a:lnTo>
                  <a:cubicBezTo>
                    <a:pt x="330709" y="6192"/>
                    <a:pt x="332422" y="3145"/>
                    <a:pt x="335185" y="1429"/>
                  </a:cubicBezTo>
                  <a:cubicBezTo>
                    <a:pt x="337948" y="-285"/>
                    <a:pt x="341471" y="-475"/>
                    <a:pt x="344424" y="955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135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32" name="!!c1_quote"/>
          <p:cNvSpPr txBox="1"/>
          <p:nvPr/>
        </p:nvSpPr>
        <p:spPr>
          <a:xfrm>
            <a:off x="685800" y="1645919"/>
            <a:ext cx="37947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i="1">
                <a:solidFill>
                  <a:srgbClr val="2E2925"/>
                </a:solidFill>
                <a:latin typeface="Franklin Gothic Book"/>
              </a:rPr>
              <a:t>“Our targets are increasing, but we keep doing the same thing?”</a:t>
            </a:r>
          </a:p>
        </p:txBody>
      </p:sp>
      <p:sp>
        <p:nvSpPr>
          <p:cNvPr id="33" name="!!c1_how"/>
          <p:cNvSpPr txBox="1"/>
          <p:nvPr/>
        </p:nvSpPr>
        <p:spPr>
          <a:xfrm>
            <a:off x="685800" y="2880360"/>
            <a:ext cx="2011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i="0">
                <a:solidFill>
                  <a:srgbClr val="55575A"/>
                </a:solidFill>
                <a:latin typeface="Franklin Gothic Medium"/>
              </a:rPr>
              <a:t>Who we hunt</a:t>
            </a:r>
          </a:p>
        </p:txBody>
      </p:sp>
      <p:sp>
        <p:nvSpPr>
          <p:cNvPr id="34" name="!!c1_pill"/>
          <p:cNvSpPr/>
          <p:nvPr/>
        </p:nvSpPr>
        <p:spPr>
          <a:xfrm>
            <a:off x="3623401" y="2880360"/>
            <a:ext cx="857158" cy="310896"/>
          </a:xfrm>
          <a:prstGeom prst="roundRect">
            <a:avLst>
              <a:gd name="adj" fmla="val 50000"/>
            </a:avLst>
          </a:prstGeom>
          <a:solidFill>
            <a:srgbClr val="D51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1050">
                <a:solidFill>
                  <a:srgbClr val="FFFFFF"/>
                </a:solidFill>
                <a:latin typeface="Franklin Gothic Medium"/>
              </a:rPr>
              <a:t>IGNITE</a:t>
            </a:r>
          </a:p>
        </p:txBody>
      </p:sp>
      <p:sp>
        <p:nvSpPr>
          <p:cNvPr id="35" name="!!c2_bg"/>
          <p:cNvSpPr/>
          <p:nvPr/>
        </p:nvSpPr>
        <p:spPr>
          <a:xfrm>
            <a:off x="7434071" y="896112"/>
            <a:ext cx="4343400" cy="2487168"/>
          </a:xfrm>
          <a:prstGeom prst="rect">
            <a:avLst/>
          </a:prstGeom>
          <a:solidFill>
            <a:srgbClr val="F4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!!c2_band"/>
          <p:cNvSpPr/>
          <p:nvPr/>
        </p:nvSpPr>
        <p:spPr>
          <a:xfrm>
            <a:off x="7434071" y="896112"/>
            <a:ext cx="4343400" cy="530352"/>
          </a:xfrm>
          <a:prstGeom prst="rect">
            <a:avLst/>
          </a:prstGeom>
          <a:solidFill>
            <a:srgbClr val="555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!!c2_name"/>
          <p:cNvSpPr txBox="1"/>
          <p:nvPr/>
        </p:nvSpPr>
        <p:spPr>
          <a:xfrm>
            <a:off x="8394192" y="896112"/>
            <a:ext cx="32461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i="0">
                <a:solidFill>
                  <a:srgbClr val="FFFFFF"/>
                </a:solidFill>
                <a:latin typeface="Franklin Gothic Medium"/>
              </a:rPr>
              <a:t>2   Process &amp; Customer Engagement</a:t>
            </a:r>
          </a:p>
        </p:txBody>
      </p:sp>
      <p:grpSp>
        <p:nvGrpSpPr>
          <p:cNvPr id="32" name="!!c2_icon">
            <a:extLst>
              <a:ext uri="{FF2B5EF4-FFF2-40B4-BE49-F238E27FC236}">
                <a16:creationId xmlns:a16="http://schemas.microsoft.com/office/drawing/2014/main" id="{77041D4C-755A-3D94-1710-AD2EB06AA12A}"/>
              </a:ext>
            </a:extLst>
          </p:cNvPr>
          <p:cNvGrpSpPr/>
          <p:nvPr/>
        </p:nvGrpSpPr>
        <p:grpSpPr>
          <a:xfrm>
            <a:off x="7543799" y="768096"/>
            <a:ext cx="768096" cy="768096"/>
            <a:chOff x="9967415" y="5638500"/>
            <a:chExt cx="960500" cy="960500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0B46943B-8095-DFB5-802D-B1C35FD52F07}"/>
                </a:ext>
              </a:extLst>
            </p:cNvPr>
            <p:cNvSpPr/>
            <p:nvPr/>
          </p:nvSpPr>
          <p:spPr>
            <a:xfrm>
              <a:off x="9967415" y="5638500"/>
              <a:ext cx="960500" cy="960500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65000"/>
                    <a:shade val="30000"/>
                    <a:satMod val="115000"/>
                  </a:schemeClr>
                </a:gs>
                <a:gs pos="50000">
                  <a:schemeClr val="bg1">
                    <a:lumMod val="65000"/>
                    <a:shade val="67500"/>
                    <a:satMod val="115000"/>
                  </a:schemeClr>
                </a:gs>
                <a:gs pos="100000">
                  <a:schemeClr val="bg1">
                    <a:lumMod val="65000"/>
                    <a:shade val="100000"/>
                    <a:satMod val="115000"/>
                  </a:schemeClr>
                </a:gs>
              </a:gsLst>
              <a:lin ang="0" scaled="1"/>
              <a:tileRect/>
            </a:gradFill>
            <a:ln w="19050">
              <a:solidFill>
                <a:srgbClr val="B523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5AF0AA7D-B943-9379-2F28-A53E9C4EE12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159322" y="5855410"/>
              <a:ext cx="628041" cy="473182"/>
            </a:xfrm>
            <a:prstGeom prst="rect">
              <a:avLst/>
            </a:prstGeom>
          </p:spPr>
        </p:pic>
      </p:grpSp>
      <p:sp>
        <p:nvSpPr>
          <p:cNvPr id="38" name="!!c2_quote"/>
          <p:cNvSpPr txBox="1"/>
          <p:nvPr/>
        </p:nvSpPr>
        <p:spPr>
          <a:xfrm>
            <a:off x="7708392" y="1645919"/>
            <a:ext cx="37947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i="1">
                <a:solidFill>
                  <a:srgbClr val="2E2925"/>
                </a:solidFill>
                <a:latin typeface="Franklin Gothic Book"/>
              </a:rPr>
              <a:t>“Are we showing up relevant to our customers? How do we not become commoditized?”</a:t>
            </a:r>
          </a:p>
        </p:txBody>
      </p:sp>
      <p:sp>
        <p:nvSpPr>
          <p:cNvPr id="39" name="!!c2_how"/>
          <p:cNvSpPr txBox="1"/>
          <p:nvPr/>
        </p:nvSpPr>
        <p:spPr>
          <a:xfrm>
            <a:off x="7708392" y="2880360"/>
            <a:ext cx="2011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i="0">
                <a:solidFill>
                  <a:srgbClr val="55575A"/>
                </a:solidFill>
                <a:latin typeface="Franklin Gothic Medium"/>
              </a:rPr>
              <a:t>How we hunt</a:t>
            </a:r>
          </a:p>
        </p:txBody>
      </p:sp>
      <p:sp>
        <p:nvSpPr>
          <p:cNvPr id="40" name="!!c2_pill"/>
          <p:cNvSpPr/>
          <p:nvPr/>
        </p:nvSpPr>
        <p:spPr>
          <a:xfrm>
            <a:off x="9422800" y="2880360"/>
            <a:ext cx="2080351" cy="310896"/>
          </a:xfrm>
          <a:prstGeom prst="roundRect">
            <a:avLst>
              <a:gd name="adj" fmla="val 50000"/>
            </a:avLst>
          </a:prstGeom>
          <a:solidFill>
            <a:srgbClr val="D51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1050">
                <a:solidFill>
                  <a:srgbClr val="FFFFFF"/>
                </a:solidFill>
                <a:latin typeface="Franklin Gothic Medium"/>
              </a:rPr>
              <a:t>CONNECT ABM PROGRAM</a:t>
            </a:r>
          </a:p>
        </p:txBody>
      </p:sp>
      <p:sp>
        <p:nvSpPr>
          <p:cNvPr id="41" name="!!c3_bg"/>
          <p:cNvSpPr/>
          <p:nvPr/>
        </p:nvSpPr>
        <p:spPr>
          <a:xfrm>
            <a:off x="5488228" y="2961924"/>
            <a:ext cx="1216152" cy="696407"/>
          </a:xfrm>
          <a:prstGeom prst="rect">
            <a:avLst/>
          </a:prstGeom>
          <a:solidFill>
            <a:srgbClr val="F4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!!c3_band"/>
          <p:cNvSpPr/>
          <p:nvPr/>
        </p:nvSpPr>
        <p:spPr>
          <a:xfrm>
            <a:off x="5488228" y="2961924"/>
            <a:ext cx="1216152" cy="148498"/>
          </a:xfrm>
          <a:prstGeom prst="rect">
            <a:avLst/>
          </a:prstGeom>
          <a:solidFill>
            <a:srgbClr val="B52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!!c3_name"/>
          <p:cNvSpPr txBox="1"/>
          <p:nvPr/>
        </p:nvSpPr>
        <p:spPr>
          <a:xfrm>
            <a:off x="5757062" y="2961924"/>
            <a:ext cx="908913" cy="148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448" i="0">
                <a:solidFill>
                  <a:srgbClr val="FFFFFF"/>
                </a:solidFill>
                <a:latin typeface="Franklin Gothic Medium"/>
              </a:rPr>
              <a:t>3   Art &amp; Talent Optimization</a:t>
            </a:r>
          </a:p>
        </p:txBody>
      </p:sp>
      <p:sp>
        <p:nvSpPr>
          <p:cNvPr id="20" name="!!c3_icon">
            <a:extLst>
              <a:ext uri="{FF2B5EF4-FFF2-40B4-BE49-F238E27FC236}">
                <a16:creationId xmlns:a16="http://schemas.microsoft.com/office/drawing/2014/main" id="{1554B659-AB45-0829-BE35-18A4734CC740}"/>
              </a:ext>
            </a:extLst>
          </p:cNvPr>
          <p:cNvSpPr/>
          <p:nvPr/>
        </p:nvSpPr>
        <p:spPr>
          <a:xfrm>
            <a:off x="5518952" y="2926079"/>
            <a:ext cx="215066" cy="215066"/>
          </a:xfrm>
          <a:prstGeom prst="ellipse">
            <a:avLst/>
          </a:prstGeom>
          <a:gradFill flip="none" rotWithShape="1">
            <a:gsLst>
              <a:gs pos="0">
                <a:schemeClr val="bg1">
                  <a:lumMod val="65000"/>
                  <a:shade val="30000"/>
                  <a:satMod val="115000"/>
                </a:schemeClr>
              </a:gs>
              <a:gs pos="50000">
                <a:schemeClr val="bg1">
                  <a:lumMod val="65000"/>
                  <a:shade val="67500"/>
                  <a:satMod val="115000"/>
                </a:schemeClr>
              </a:gs>
              <a:gs pos="100000">
                <a:schemeClr val="bg1">
                  <a:lumMod val="65000"/>
                  <a:shade val="100000"/>
                  <a:satMod val="115000"/>
                </a:schemeClr>
              </a:gs>
            </a:gsLst>
            <a:lin ang="0" scaled="1"/>
            <a:tileRect/>
          </a:gradFill>
          <a:ln w="19050">
            <a:solidFill>
              <a:srgbClr val="B523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!!c3_icon2">
            <a:extLst>
              <a:ext uri="{FF2B5EF4-FFF2-40B4-BE49-F238E27FC236}">
                <a16:creationId xmlns:a16="http://schemas.microsoft.com/office/drawing/2014/main" id="{1D374ABD-935D-2940-6A79-175341756B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8307" y="2967940"/>
            <a:ext cx="136357" cy="134157"/>
          </a:xfrm>
          <a:prstGeom prst="rect">
            <a:avLst/>
          </a:prstGeom>
        </p:spPr>
      </p:pic>
      <p:sp>
        <p:nvSpPr>
          <p:cNvPr id="44" name="!!c3_quote"/>
          <p:cNvSpPr txBox="1"/>
          <p:nvPr/>
        </p:nvSpPr>
        <p:spPr>
          <a:xfrm>
            <a:off x="5565038" y="3171870"/>
            <a:ext cx="10625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34" i="1">
                <a:solidFill>
                  <a:srgbClr val="2E2925"/>
                </a:solidFill>
                <a:latin typeface="Franklin Gothic Book"/>
              </a:rPr>
              <a:t>“We have to develop our people. We can’t afford the cost of turnover and talent is hard to find.”</a:t>
            </a:r>
          </a:p>
        </p:txBody>
      </p:sp>
      <p:sp>
        <p:nvSpPr>
          <p:cNvPr id="45" name="!!c3_how"/>
          <p:cNvSpPr txBox="1"/>
          <p:nvPr/>
        </p:nvSpPr>
        <p:spPr>
          <a:xfrm>
            <a:off x="5565038" y="3517513"/>
            <a:ext cx="563270" cy="87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36" i="0">
                <a:solidFill>
                  <a:srgbClr val="55575A"/>
                </a:solidFill>
                <a:latin typeface="Franklin Gothic Medium"/>
              </a:rPr>
              <a:t>How we develop</a:t>
            </a:r>
          </a:p>
        </p:txBody>
      </p:sp>
      <p:sp>
        <p:nvSpPr>
          <p:cNvPr id="46" name="!!c3_pill"/>
          <p:cNvSpPr/>
          <p:nvPr/>
        </p:nvSpPr>
        <p:spPr>
          <a:xfrm>
            <a:off x="5992469" y="3517513"/>
            <a:ext cx="635102" cy="87050"/>
          </a:xfrm>
          <a:prstGeom prst="roundRect">
            <a:avLst>
              <a:gd name="adj" fmla="val 50000"/>
            </a:avLst>
          </a:prstGeom>
          <a:solidFill>
            <a:srgbClr val="D51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294">
                <a:solidFill>
                  <a:srgbClr val="FFFFFF"/>
                </a:solidFill>
                <a:latin typeface="Franklin Gothic Medium"/>
              </a:rPr>
              <a:t>IGNITE TALENT</a:t>
            </a:r>
          </a:p>
        </p:txBody>
      </p:sp>
      <p:sp>
        <p:nvSpPr>
          <p:cNvPr id="47" name="!!c4_bg"/>
          <p:cNvSpPr/>
          <p:nvPr/>
        </p:nvSpPr>
        <p:spPr>
          <a:xfrm>
            <a:off x="5488228" y="2961924"/>
            <a:ext cx="1216152" cy="696407"/>
          </a:xfrm>
          <a:prstGeom prst="rect">
            <a:avLst/>
          </a:prstGeom>
          <a:solidFill>
            <a:srgbClr val="F4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!!c4_band"/>
          <p:cNvSpPr/>
          <p:nvPr/>
        </p:nvSpPr>
        <p:spPr>
          <a:xfrm>
            <a:off x="5488228" y="2961924"/>
            <a:ext cx="1216152" cy="148498"/>
          </a:xfrm>
          <a:prstGeom prst="rect">
            <a:avLst/>
          </a:prstGeom>
          <a:solidFill>
            <a:srgbClr val="555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!!c4_name"/>
          <p:cNvSpPr txBox="1"/>
          <p:nvPr/>
        </p:nvSpPr>
        <p:spPr>
          <a:xfrm>
            <a:off x="5757062" y="2961924"/>
            <a:ext cx="908913" cy="148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448" i="0">
                <a:solidFill>
                  <a:srgbClr val="FFFFFF"/>
                </a:solidFill>
                <a:latin typeface="Franklin Gothic Medium"/>
              </a:rPr>
              <a:t>4   Revenue Performance &amp; Metrics</a:t>
            </a:r>
          </a:p>
        </p:txBody>
      </p:sp>
      <p:grpSp>
        <p:nvGrpSpPr>
          <p:cNvPr id="30" name="!!c4_icon">
            <a:extLst>
              <a:ext uri="{FF2B5EF4-FFF2-40B4-BE49-F238E27FC236}">
                <a16:creationId xmlns:a16="http://schemas.microsoft.com/office/drawing/2014/main" id="{A34F56AE-6E15-CA17-553A-4BF952104907}"/>
              </a:ext>
            </a:extLst>
          </p:cNvPr>
          <p:cNvGrpSpPr/>
          <p:nvPr/>
        </p:nvGrpSpPr>
        <p:grpSpPr>
          <a:xfrm>
            <a:off x="5518952" y="2926079"/>
            <a:ext cx="215066" cy="215066"/>
            <a:chOff x="1234577" y="277743"/>
            <a:chExt cx="960500" cy="960500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B9C1869-EBAB-161D-2DA4-8C653FBF65E5}"/>
                </a:ext>
              </a:extLst>
            </p:cNvPr>
            <p:cNvSpPr/>
            <p:nvPr/>
          </p:nvSpPr>
          <p:spPr>
            <a:xfrm>
              <a:off x="1234577" y="277743"/>
              <a:ext cx="960500" cy="960500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65000"/>
                    <a:shade val="30000"/>
                    <a:satMod val="115000"/>
                  </a:schemeClr>
                </a:gs>
                <a:gs pos="50000">
                  <a:schemeClr val="bg1">
                    <a:lumMod val="65000"/>
                    <a:shade val="67500"/>
                    <a:satMod val="115000"/>
                  </a:schemeClr>
                </a:gs>
                <a:gs pos="100000">
                  <a:schemeClr val="bg1">
                    <a:lumMod val="65000"/>
                    <a:shade val="100000"/>
                    <a:satMod val="115000"/>
                  </a:schemeClr>
                </a:gs>
              </a:gsLst>
              <a:lin ang="0" scaled="1"/>
              <a:tileRect/>
            </a:gradFill>
            <a:ln w="19050">
              <a:solidFill>
                <a:srgbClr val="B523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A2EA54A9-541A-CDCD-7A9C-8ABB1FBB1F5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48085" y="547117"/>
              <a:ext cx="706154" cy="380952"/>
            </a:xfrm>
            <a:prstGeom prst="rect">
              <a:avLst/>
            </a:prstGeom>
          </p:spPr>
        </p:pic>
      </p:grpSp>
      <p:sp>
        <p:nvSpPr>
          <p:cNvPr id="50" name="!!c4_quote"/>
          <p:cNvSpPr txBox="1"/>
          <p:nvPr/>
        </p:nvSpPr>
        <p:spPr>
          <a:xfrm>
            <a:off x="5565038" y="3171870"/>
            <a:ext cx="10625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34" i="1">
                <a:solidFill>
                  <a:srgbClr val="2E2925"/>
                </a:solidFill>
                <a:latin typeface="Franklin Gothic Book"/>
              </a:rPr>
              <a:t>“We have a lot of reporting, but does it show how or if we are doing better?”</a:t>
            </a:r>
          </a:p>
        </p:txBody>
      </p:sp>
      <p:sp>
        <p:nvSpPr>
          <p:cNvPr id="51" name="!!c4_how"/>
          <p:cNvSpPr txBox="1"/>
          <p:nvPr/>
        </p:nvSpPr>
        <p:spPr>
          <a:xfrm>
            <a:off x="5565038" y="3517513"/>
            <a:ext cx="563270" cy="87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36" i="0">
                <a:solidFill>
                  <a:srgbClr val="55575A"/>
                </a:solidFill>
                <a:latin typeface="Franklin Gothic Medium"/>
              </a:rPr>
              <a:t>How we measure</a:t>
            </a:r>
          </a:p>
        </p:txBody>
      </p:sp>
      <p:sp>
        <p:nvSpPr>
          <p:cNvPr id="52" name="!!hub_ring"/>
          <p:cNvSpPr/>
          <p:nvPr/>
        </p:nvSpPr>
        <p:spPr>
          <a:xfrm>
            <a:off x="4935016" y="2148840"/>
            <a:ext cx="2322576" cy="2322576"/>
          </a:xfrm>
          <a:prstGeom prst="ellipse">
            <a:avLst/>
          </a:prstGeom>
          <a:noFill/>
          <a:ln w="28575">
            <a:solidFill>
              <a:srgbClr val="D510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!!hub"/>
          <p:cNvSpPr/>
          <p:nvPr/>
        </p:nvSpPr>
        <p:spPr>
          <a:xfrm>
            <a:off x="5044744" y="2258568"/>
            <a:ext cx="2103120" cy="2103120"/>
          </a:xfrm>
          <a:prstGeom prst="ellipse">
            <a:avLst/>
          </a:prstGeom>
          <a:solidFill>
            <a:srgbClr val="555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!!hub_t"/>
          <p:cNvSpPr txBox="1"/>
          <p:nvPr/>
        </p:nvSpPr>
        <p:spPr>
          <a:xfrm>
            <a:off x="5181904" y="2743200"/>
            <a:ext cx="1828799" cy="7315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/>
            <a:r>
              <a:rPr sz="2100" i="0">
                <a:solidFill>
                  <a:srgbClr val="FFFFFF"/>
                </a:solidFill>
                <a:latin typeface="Franklin Gothic Medium"/>
              </a:rPr>
              <a:t>Profitable</a:t>
            </a:r>
          </a:p>
          <a:p>
            <a:pPr algn="ctr"/>
            <a:r>
              <a:rPr sz="2100" i="0">
                <a:solidFill>
                  <a:srgbClr val="FFFFFF"/>
                </a:solidFill>
                <a:latin typeface="Franklin Gothic Medium"/>
              </a:rPr>
              <a:t>Growth</a:t>
            </a:r>
          </a:p>
        </p:txBody>
      </p:sp>
      <p:sp>
        <p:nvSpPr>
          <p:cNvPr id="55" name="!!hub_s"/>
          <p:cNvSpPr txBox="1"/>
          <p:nvPr/>
        </p:nvSpPr>
        <p:spPr>
          <a:xfrm>
            <a:off x="5227624" y="3511296"/>
            <a:ext cx="1737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i="0">
                <a:solidFill>
                  <a:srgbClr val="FFFFFF"/>
                </a:solidFill>
                <a:latin typeface="Franklin Gothic Book"/>
              </a:rPr>
              <a:t>Sales  ·  Marketing</a:t>
            </a:r>
          </a:p>
          <a:p>
            <a:pPr algn="ctr"/>
            <a:r>
              <a:rPr sz="1050" i="0">
                <a:solidFill>
                  <a:srgbClr val="FFFFFF"/>
                </a:solidFill>
                <a:latin typeface="Franklin Gothic Book"/>
              </a:rPr>
              <a:t>Pricing / Rev Mgmt.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000" advTm="700">
        <p159:morph option="byObject"/>
      </p:transition>
    </mc:Choice>
    <mc:Fallback>
      <p:transition spd="slow" advTm="700"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 idx="4294967295"/>
          </p:nvPr>
        </p:nvSpPr>
        <p:spPr>
          <a:xfrm>
            <a:off x="0" y="230457"/>
            <a:ext cx="12192000" cy="430887"/>
          </a:xfrm>
        </p:spPr>
        <p:txBody>
          <a:bodyPr>
            <a:noAutofit/>
          </a:bodyPr>
          <a:lstStyle/>
          <a:p>
            <a:pPr algn="ctr"/>
            <a:r>
              <a:rPr lang="en-US" sz="320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</a:rPr>
              <a:t>Where You Win </a:t>
            </a:r>
            <a:r>
              <a:rPr lang="en-US" sz="3200">
                <a:solidFill>
                  <a:srgbClr val="B52372"/>
                </a:solidFill>
                <a:latin typeface="Franklin Gothic Book" panose="020B0503020102020204" pitchFamily="34" charset="0"/>
              </a:rPr>
              <a:t>| Profitable Growth</a:t>
            </a:r>
          </a:p>
        </p:txBody>
      </p:sp>
      <p:sp>
        <p:nvSpPr>
          <p:cNvPr id="3" name="!!c1_bg"/>
          <p:cNvSpPr/>
          <p:nvPr/>
        </p:nvSpPr>
        <p:spPr>
          <a:xfrm>
            <a:off x="411480" y="896112"/>
            <a:ext cx="4343400" cy="2487168"/>
          </a:xfrm>
          <a:prstGeom prst="rect">
            <a:avLst/>
          </a:prstGeom>
          <a:solidFill>
            <a:srgbClr val="F4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c1_band"/>
          <p:cNvSpPr/>
          <p:nvPr/>
        </p:nvSpPr>
        <p:spPr>
          <a:xfrm>
            <a:off x="411480" y="896112"/>
            <a:ext cx="4343400" cy="530352"/>
          </a:xfrm>
          <a:prstGeom prst="rect">
            <a:avLst/>
          </a:prstGeom>
          <a:solidFill>
            <a:srgbClr val="B52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c1_name"/>
          <p:cNvSpPr txBox="1"/>
          <p:nvPr/>
        </p:nvSpPr>
        <p:spPr>
          <a:xfrm>
            <a:off x="1371600" y="896112"/>
            <a:ext cx="32461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i="0">
                <a:solidFill>
                  <a:srgbClr val="FFFFFF"/>
                </a:solidFill>
                <a:latin typeface="Franklin Gothic Medium"/>
              </a:rPr>
              <a:t>1   Science &amp; Strategy</a:t>
            </a:r>
          </a:p>
        </p:txBody>
      </p:sp>
      <p:grpSp>
        <p:nvGrpSpPr>
          <p:cNvPr id="31" name="!!c1_icon">
            <a:extLst>
              <a:ext uri="{FF2B5EF4-FFF2-40B4-BE49-F238E27FC236}">
                <a16:creationId xmlns:a16="http://schemas.microsoft.com/office/drawing/2014/main" id="{64401AE8-1991-1341-CC55-F342691AA60D}"/>
              </a:ext>
            </a:extLst>
          </p:cNvPr>
          <p:cNvGrpSpPr/>
          <p:nvPr/>
        </p:nvGrpSpPr>
        <p:grpSpPr>
          <a:xfrm>
            <a:off x="521208" y="768096"/>
            <a:ext cx="768096" cy="779176"/>
            <a:chOff x="10023859" y="264078"/>
            <a:chExt cx="933564" cy="947032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E3F64412-42DA-A373-E8FF-487F3BC37CB3}"/>
                </a:ext>
              </a:extLst>
            </p:cNvPr>
            <p:cNvSpPr/>
            <p:nvPr/>
          </p:nvSpPr>
          <p:spPr>
            <a:xfrm>
              <a:off x="10023859" y="264078"/>
              <a:ext cx="933564" cy="947032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65000"/>
                    <a:shade val="30000"/>
                    <a:satMod val="115000"/>
                  </a:schemeClr>
                </a:gs>
                <a:gs pos="50000">
                  <a:schemeClr val="bg1">
                    <a:lumMod val="65000"/>
                    <a:shade val="67500"/>
                    <a:satMod val="115000"/>
                  </a:schemeClr>
                </a:gs>
                <a:gs pos="100000">
                  <a:schemeClr val="bg1">
                    <a:lumMod val="65000"/>
                    <a:shade val="100000"/>
                    <a:satMod val="115000"/>
                  </a:schemeClr>
                </a:gs>
              </a:gsLst>
              <a:lin ang="0" scaled="1"/>
              <a:tileRect/>
            </a:gradFill>
            <a:ln w="19050">
              <a:solidFill>
                <a:srgbClr val="B523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: Shape 25">
              <a:extLst>
                <a:ext uri="{FF2B5EF4-FFF2-40B4-BE49-F238E27FC236}">
                  <a16:creationId xmlns:a16="http://schemas.microsoft.com/office/drawing/2014/main" id="{B3723BE5-1E0C-63A4-66D5-E56AEF2E3AAB}"/>
                </a:ext>
              </a:extLst>
            </p:cNvPr>
            <p:cNvSpPr/>
            <p:nvPr/>
          </p:nvSpPr>
          <p:spPr>
            <a:xfrm>
              <a:off x="10275283" y="399791"/>
              <a:ext cx="430716" cy="675605"/>
            </a:xfrm>
            <a:custGeom>
              <a:avLst/>
              <a:gdLst>
                <a:gd name="connsiteX0" fmla="*/ 633032 w 736282"/>
                <a:gd name="connsiteY0" fmla="*/ 1098614 h 1238252"/>
                <a:gd name="connsiteX1" fmla="*/ 623507 w 736282"/>
                <a:gd name="connsiteY1" fmla="*/ 1108139 h 1238252"/>
                <a:gd name="connsiteX2" fmla="*/ 623507 w 736282"/>
                <a:gd name="connsiteY2" fmla="*/ 1170242 h 1238252"/>
                <a:gd name="connsiteX3" fmla="*/ 633032 w 736282"/>
                <a:gd name="connsiteY3" fmla="*/ 1179767 h 1238252"/>
                <a:gd name="connsiteX4" fmla="*/ 642557 w 736282"/>
                <a:gd name="connsiteY4" fmla="*/ 1170242 h 1238252"/>
                <a:gd name="connsiteX5" fmla="*/ 642557 w 736282"/>
                <a:gd name="connsiteY5" fmla="*/ 1108139 h 1238252"/>
                <a:gd name="connsiteX6" fmla="*/ 633032 w 736282"/>
                <a:gd name="connsiteY6" fmla="*/ 1098614 h 1238252"/>
                <a:gd name="connsiteX7" fmla="*/ 536163 w 736282"/>
                <a:gd name="connsiteY7" fmla="*/ 1098614 h 1238252"/>
                <a:gd name="connsiteX8" fmla="*/ 526638 w 736282"/>
                <a:gd name="connsiteY8" fmla="*/ 1108139 h 1238252"/>
                <a:gd name="connsiteX9" fmla="*/ 526638 w 736282"/>
                <a:gd name="connsiteY9" fmla="*/ 1170242 h 1238252"/>
                <a:gd name="connsiteX10" fmla="*/ 536163 w 736282"/>
                <a:gd name="connsiteY10" fmla="*/ 1179767 h 1238252"/>
                <a:gd name="connsiteX11" fmla="*/ 545688 w 736282"/>
                <a:gd name="connsiteY11" fmla="*/ 1170242 h 1238252"/>
                <a:gd name="connsiteX12" fmla="*/ 545688 w 736282"/>
                <a:gd name="connsiteY12" fmla="*/ 1108139 h 1238252"/>
                <a:gd name="connsiteX13" fmla="*/ 536163 w 736282"/>
                <a:gd name="connsiteY13" fmla="*/ 1098614 h 1238252"/>
                <a:gd name="connsiteX14" fmla="*/ 439198 w 736282"/>
                <a:gd name="connsiteY14" fmla="*/ 1098614 h 1238252"/>
                <a:gd name="connsiteX15" fmla="*/ 429673 w 736282"/>
                <a:gd name="connsiteY15" fmla="*/ 1108139 h 1238252"/>
                <a:gd name="connsiteX16" fmla="*/ 429673 w 736282"/>
                <a:gd name="connsiteY16" fmla="*/ 1170242 h 1238252"/>
                <a:gd name="connsiteX17" fmla="*/ 439198 w 736282"/>
                <a:gd name="connsiteY17" fmla="*/ 1179767 h 1238252"/>
                <a:gd name="connsiteX18" fmla="*/ 448723 w 736282"/>
                <a:gd name="connsiteY18" fmla="*/ 1170242 h 1238252"/>
                <a:gd name="connsiteX19" fmla="*/ 448723 w 736282"/>
                <a:gd name="connsiteY19" fmla="*/ 1108139 h 1238252"/>
                <a:gd name="connsiteX20" fmla="*/ 439198 w 736282"/>
                <a:gd name="connsiteY20" fmla="*/ 1098614 h 1238252"/>
                <a:gd name="connsiteX21" fmla="*/ 342329 w 736282"/>
                <a:gd name="connsiteY21" fmla="*/ 1098614 h 1238252"/>
                <a:gd name="connsiteX22" fmla="*/ 332804 w 736282"/>
                <a:gd name="connsiteY22" fmla="*/ 1108139 h 1238252"/>
                <a:gd name="connsiteX23" fmla="*/ 332804 w 736282"/>
                <a:gd name="connsiteY23" fmla="*/ 1170242 h 1238252"/>
                <a:gd name="connsiteX24" fmla="*/ 342329 w 736282"/>
                <a:gd name="connsiteY24" fmla="*/ 1179767 h 1238252"/>
                <a:gd name="connsiteX25" fmla="*/ 351854 w 736282"/>
                <a:gd name="connsiteY25" fmla="*/ 1170242 h 1238252"/>
                <a:gd name="connsiteX26" fmla="*/ 351854 w 736282"/>
                <a:gd name="connsiteY26" fmla="*/ 1108139 h 1238252"/>
                <a:gd name="connsiteX27" fmla="*/ 342329 w 736282"/>
                <a:gd name="connsiteY27" fmla="*/ 1098614 h 1238252"/>
                <a:gd name="connsiteX28" fmla="*/ 245459 w 736282"/>
                <a:gd name="connsiteY28" fmla="*/ 1098614 h 1238252"/>
                <a:gd name="connsiteX29" fmla="*/ 235934 w 736282"/>
                <a:gd name="connsiteY29" fmla="*/ 1108139 h 1238252"/>
                <a:gd name="connsiteX30" fmla="*/ 235934 w 736282"/>
                <a:gd name="connsiteY30" fmla="*/ 1170242 h 1238252"/>
                <a:gd name="connsiteX31" fmla="*/ 245459 w 736282"/>
                <a:gd name="connsiteY31" fmla="*/ 1179767 h 1238252"/>
                <a:gd name="connsiteX32" fmla="*/ 254984 w 736282"/>
                <a:gd name="connsiteY32" fmla="*/ 1170242 h 1238252"/>
                <a:gd name="connsiteX33" fmla="*/ 254984 w 736282"/>
                <a:gd name="connsiteY33" fmla="*/ 1108139 h 1238252"/>
                <a:gd name="connsiteX34" fmla="*/ 245459 w 736282"/>
                <a:gd name="connsiteY34" fmla="*/ 1098614 h 1238252"/>
                <a:gd name="connsiteX35" fmla="*/ 148494 w 736282"/>
                <a:gd name="connsiteY35" fmla="*/ 1098614 h 1238252"/>
                <a:gd name="connsiteX36" fmla="*/ 138969 w 736282"/>
                <a:gd name="connsiteY36" fmla="*/ 1108139 h 1238252"/>
                <a:gd name="connsiteX37" fmla="*/ 138969 w 736282"/>
                <a:gd name="connsiteY37" fmla="*/ 1170242 h 1238252"/>
                <a:gd name="connsiteX38" fmla="*/ 148494 w 736282"/>
                <a:gd name="connsiteY38" fmla="*/ 1179767 h 1238252"/>
                <a:gd name="connsiteX39" fmla="*/ 158019 w 736282"/>
                <a:gd name="connsiteY39" fmla="*/ 1170242 h 1238252"/>
                <a:gd name="connsiteX40" fmla="*/ 158019 w 736282"/>
                <a:gd name="connsiteY40" fmla="*/ 1108139 h 1238252"/>
                <a:gd name="connsiteX41" fmla="*/ 148494 w 736282"/>
                <a:gd name="connsiteY41" fmla="*/ 1098614 h 1238252"/>
                <a:gd name="connsiteX42" fmla="*/ 45244 w 736282"/>
                <a:gd name="connsiteY42" fmla="*/ 1059182 h 1238252"/>
                <a:gd name="connsiteX43" fmla="*/ 736282 w 736282"/>
                <a:gd name="connsiteY43" fmla="*/ 1059182 h 1238252"/>
                <a:gd name="connsiteX44" fmla="*/ 736282 w 736282"/>
                <a:gd name="connsiteY44" fmla="*/ 1228727 h 1238252"/>
                <a:gd name="connsiteX45" fmla="*/ 726757 w 736282"/>
                <a:gd name="connsiteY45" fmla="*/ 1238252 h 1238252"/>
                <a:gd name="connsiteX46" fmla="*/ 54769 w 736282"/>
                <a:gd name="connsiteY46" fmla="*/ 1238252 h 1238252"/>
                <a:gd name="connsiteX47" fmla="*/ 45244 w 736282"/>
                <a:gd name="connsiteY47" fmla="*/ 1228727 h 1238252"/>
                <a:gd name="connsiteX48" fmla="*/ 147258 w 736282"/>
                <a:gd name="connsiteY48" fmla="*/ 960218 h 1238252"/>
                <a:gd name="connsiteX49" fmla="*/ 634270 w 736282"/>
                <a:gd name="connsiteY49" fmla="*/ 960218 h 1238252"/>
                <a:gd name="connsiteX50" fmla="*/ 671703 w 736282"/>
                <a:gd name="connsiteY50" fmla="*/ 1040131 h 1238252"/>
                <a:gd name="connsiteX51" fmla="*/ 109824 w 736282"/>
                <a:gd name="connsiteY51" fmla="*/ 1040131 h 1238252"/>
                <a:gd name="connsiteX52" fmla="*/ 285370 w 736282"/>
                <a:gd name="connsiteY52" fmla="*/ 245651 h 1238252"/>
                <a:gd name="connsiteX53" fmla="*/ 235077 w 736282"/>
                <a:gd name="connsiteY53" fmla="*/ 295944 h 1238252"/>
                <a:gd name="connsiteX54" fmla="*/ 285370 w 736282"/>
                <a:gd name="connsiteY54" fmla="*/ 346045 h 1238252"/>
                <a:gd name="connsiteX55" fmla="*/ 335471 w 736282"/>
                <a:gd name="connsiteY55" fmla="*/ 295944 h 1238252"/>
                <a:gd name="connsiteX56" fmla="*/ 285370 w 736282"/>
                <a:gd name="connsiteY56" fmla="*/ 245651 h 1238252"/>
                <a:gd name="connsiteX57" fmla="*/ 404146 w 736282"/>
                <a:gd name="connsiteY57" fmla="*/ 176214 h 1238252"/>
                <a:gd name="connsiteX58" fmla="*/ 393954 w 736282"/>
                <a:gd name="connsiteY58" fmla="*/ 184976 h 1238252"/>
                <a:gd name="connsiteX59" fmla="*/ 402622 w 736282"/>
                <a:gd name="connsiteY59" fmla="*/ 195264 h 1238252"/>
                <a:gd name="connsiteX60" fmla="*/ 429100 w 736282"/>
                <a:gd name="connsiteY60" fmla="*/ 197359 h 1238252"/>
                <a:gd name="connsiteX61" fmla="*/ 602456 w 736282"/>
                <a:gd name="connsiteY61" fmla="*/ 314422 h 1238252"/>
                <a:gd name="connsiteX62" fmla="*/ 627221 w 736282"/>
                <a:gd name="connsiteY62" fmla="*/ 416720 h 1238252"/>
                <a:gd name="connsiteX63" fmla="*/ 636746 w 736282"/>
                <a:gd name="connsiteY63" fmla="*/ 425959 h 1238252"/>
                <a:gd name="connsiteX64" fmla="*/ 637032 w 736282"/>
                <a:gd name="connsiteY64" fmla="*/ 425959 h 1238252"/>
                <a:gd name="connsiteX65" fmla="*/ 646271 w 736282"/>
                <a:gd name="connsiteY65" fmla="*/ 416148 h 1238252"/>
                <a:gd name="connsiteX66" fmla="*/ 619315 w 736282"/>
                <a:gd name="connsiteY66" fmla="*/ 305657 h 1238252"/>
                <a:gd name="connsiteX67" fmla="*/ 430721 w 736282"/>
                <a:gd name="connsiteY67" fmla="*/ 178404 h 1238252"/>
                <a:gd name="connsiteX68" fmla="*/ 344424 w 736282"/>
                <a:gd name="connsiteY68" fmla="*/ 955 h 1238252"/>
                <a:gd name="connsiteX69" fmla="*/ 442627 w 736282"/>
                <a:gd name="connsiteY69" fmla="*/ 116111 h 1238252"/>
                <a:gd name="connsiteX70" fmla="*/ 675418 w 736282"/>
                <a:gd name="connsiteY70" fmla="*/ 276512 h 1238252"/>
                <a:gd name="connsiteX71" fmla="*/ 709423 w 736282"/>
                <a:gd name="connsiteY71" fmla="*/ 414529 h 1238252"/>
                <a:gd name="connsiteX72" fmla="*/ 658558 w 736282"/>
                <a:gd name="connsiteY72" fmla="*/ 714853 h 1238252"/>
                <a:gd name="connsiteX73" fmla="*/ 627221 w 736282"/>
                <a:gd name="connsiteY73" fmla="*/ 941167 h 1238252"/>
                <a:gd name="connsiteX74" fmla="*/ 153733 w 736282"/>
                <a:gd name="connsiteY74" fmla="*/ 941167 h 1238252"/>
                <a:gd name="connsiteX75" fmla="*/ 215455 w 736282"/>
                <a:gd name="connsiteY75" fmla="*/ 673228 h 1238252"/>
                <a:gd name="connsiteX76" fmla="*/ 219932 w 736282"/>
                <a:gd name="connsiteY76" fmla="*/ 667419 h 1238252"/>
                <a:gd name="connsiteX77" fmla="*/ 231076 w 736282"/>
                <a:gd name="connsiteY77" fmla="*/ 652559 h 1238252"/>
                <a:gd name="connsiteX78" fmla="*/ 370332 w 736282"/>
                <a:gd name="connsiteY78" fmla="*/ 512351 h 1238252"/>
                <a:gd name="connsiteX79" fmla="*/ 224790 w 736282"/>
                <a:gd name="connsiteY79" fmla="*/ 500920 h 1238252"/>
                <a:gd name="connsiteX80" fmla="*/ 86582 w 736282"/>
                <a:gd name="connsiteY80" fmla="*/ 558737 h 1238252"/>
                <a:gd name="connsiteX81" fmla="*/ 13335 w 736282"/>
                <a:gd name="connsiteY81" fmla="*/ 507112 h 1238252"/>
                <a:gd name="connsiteX82" fmla="*/ 41147 w 736282"/>
                <a:gd name="connsiteY82" fmla="*/ 374144 h 1238252"/>
                <a:gd name="connsiteX83" fmla="*/ 42291 w 736282"/>
                <a:gd name="connsiteY83" fmla="*/ 373190 h 1238252"/>
                <a:gd name="connsiteX84" fmla="*/ 175069 w 736282"/>
                <a:gd name="connsiteY84" fmla="*/ 236031 h 1238252"/>
                <a:gd name="connsiteX85" fmla="*/ 258508 w 736282"/>
                <a:gd name="connsiteY85" fmla="*/ 156782 h 1238252"/>
                <a:gd name="connsiteX86" fmla="*/ 330423 w 736282"/>
                <a:gd name="connsiteY86" fmla="*/ 138686 h 1238252"/>
                <a:gd name="connsiteX87" fmla="*/ 330709 w 736282"/>
                <a:gd name="connsiteY87" fmla="*/ 138686 h 1238252"/>
                <a:gd name="connsiteX88" fmla="*/ 330709 w 736282"/>
                <a:gd name="connsiteY88" fmla="*/ 9526 h 1238252"/>
                <a:gd name="connsiteX89" fmla="*/ 335185 w 736282"/>
                <a:gd name="connsiteY89" fmla="*/ 1429 h 1238252"/>
                <a:gd name="connsiteX90" fmla="*/ 344424 w 736282"/>
                <a:gd name="connsiteY90" fmla="*/ 955 h 1238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</a:cxnLst>
              <a:rect l="l" t="t" r="r" b="b"/>
              <a:pathLst>
                <a:path w="736282" h="1238252">
                  <a:moveTo>
                    <a:pt x="633032" y="1098614"/>
                  </a:moveTo>
                  <a:cubicBezTo>
                    <a:pt x="627793" y="1098614"/>
                    <a:pt x="623507" y="1102902"/>
                    <a:pt x="623507" y="1108139"/>
                  </a:cubicBezTo>
                  <a:lnTo>
                    <a:pt x="623507" y="1170242"/>
                  </a:lnTo>
                  <a:cubicBezTo>
                    <a:pt x="623507" y="1175577"/>
                    <a:pt x="627793" y="1179767"/>
                    <a:pt x="633032" y="1179767"/>
                  </a:cubicBezTo>
                  <a:cubicBezTo>
                    <a:pt x="638270" y="1179767"/>
                    <a:pt x="642557" y="1175577"/>
                    <a:pt x="642557" y="1170242"/>
                  </a:cubicBezTo>
                  <a:lnTo>
                    <a:pt x="642557" y="1108139"/>
                  </a:lnTo>
                  <a:cubicBezTo>
                    <a:pt x="642557" y="1102902"/>
                    <a:pt x="638270" y="1098614"/>
                    <a:pt x="633032" y="1098614"/>
                  </a:cubicBezTo>
                  <a:close/>
                  <a:moveTo>
                    <a:pt x="536163" y="1098614"/>
                  </a:moveTo>
                  <a:cubicBezTo>
                    <a:pt x="530829" y="1098614"/>
                    <a:pt x="526638" y="1102902"/>
                    <a:pt x="526638" y="1108139"/>
                  </a:cubicBezTo>
                  <a:lnTo>
                    <a:pt x="526638" y="1170242"/>
                  </a:lnTo>
                  <a:cubicBezTo>
                    <a:pt x="526638" y="1175577"/>
                    <a:pt x="530829" y="1179767"/>
                    <a:pt x="536163" y="1179767"/>
                  </a:cubicBezTo>
                  <a:cubicBezTo>
                    <a:pt x="541401" y="1179767"/>
                    <a:pt x="545688" y="1175577"/>
                    <a:pt x="545688" y="1170242"/>
                  </a:cubicBezTo>
                  <a:lnTo>
                    <a:pt x="545688" y="1108139"/>
                  </a:lnTo>
                  <a:cubicBezTo>
                    <a:pt x="545688" y="1102902"/>
                    <a:pt x="541401" y="1098614"/>
                    <a:pt x="536163" y="1098614"/>
                  </a:cubicBezTo>
                  <a:close/>
                  <a:moveTo>
                    <a:pt x="439198" y="1098614"/>
                  </a:moveTo>
                  <a:cubicBezTo>
                    <a:pt x="433958" y="1098614"/>
                    <a:pt x="429673" y="1102902"/>
                    <a:pt x="429673" y="1108139"/>
                  </a:cubicBezTo>
                  <a:lnTo>
                    <a:pt x="429673" y="1170242"/>
                  </a:lnTo>
                  <a:cubicBezTo>
                    <a:pt x="429673" y="1175577"/>
                    <a:pt x="433958" y="1179767"/>
                    <a:pt x="439198" y="1179767"/>
                  </a:cubicBezTo>
                  <a:cubicBezTo>
                    <a:pt x="444532" y="1179767"/>
                    <a:pt x="448723" y="1175577"/>
                    <a:pt x="448723" y="1170242"/>
                  </a:cubicBezTo>
                  <a:lnTo>
                    <a:pt x="448723" y="1108139"/>
                  </a:lnTo>
                  <a:cubicBezTo>
                    <a:pt x="448723" y="1102902"/>
                    <a:pt x="444532" y="1098614"/>
                    <a:pt x="439198" y="1098614"/>
                  </a:cubicBezTo>
                  <a:close/>
                  <a:moveTo>
                    <a:pt x="342329" y="1098614"/>
                  </a:moveTo>
                  <a:cubicBezTo>
                    <a:pt x="337090" y="1098614"/>
                    <a:pt x="332804" y="1102902"/>
                    <a:pt x="332804" y="1108139"/>
                  </a:cubicBezTo>
                  <a:lnTo>
                    <a:pt x="332804" y="1170242"/>
                  </a:lnTo>
                  <a:cubicBezTo>
                    <a:pt x="332804" y="1175577"/>
                    <a:pt x="337090" y="1179767"/>
                    <a:pt x="342329" y="1179767"/>
                  </a:cubicBezTo>
                  <a:cubicBezTo>
                    <a:pt x="347567" y="1179767"/>
                    <a:pt x="351854" y="1175577"/>
                    <a:pt x="351854" y="1170242"/>
                  </a:cubicBezTo>
                  <a:lnTo>
                    <a:pt x="351854" y="1108139"/>
                  </a:lnTo>
                  <a:cubicBezTo>
                    <a:pt x="351854" y="1102902"/>
                    <a:pt x="347567" y="1098614"/>
                    <a:pt x="342329" y="1098614"/>
                  </a:cubicBezTo>
                  <a:close/>
                  <a:moveTo>
                    <a:pt x="245459" y="1098614"/>
                  </a:moveTo>
                  <a:cubicBezTo>
                    <a:pt x="240126" y="1098614"/>
                    <a:pt x="235934" y="1102902"/>
                    <a:pt x="235934" y="1108139"/>
                  </a:cubicBezTo>
                  <a:lnTo>
                    <a:pt x="235934" y="1170242"/>
                  </a:lnTo>
                  <a:cubicBezTo>
                    <a:pt x="235934" y="1175577"/>
                    <a:pt x="240126" y="1179767"/>
                    <a:pt x="245459" y="1179767"/>
                  </a:cubicBezTo>
                  <a:cubicBezTo>
                    <a:pt x="250697" y="1179767"/>
                    <a:pt x="254984" y="1175577"/>
                    <a:pt x="254984" y="1170242"/>
                  </a:cubicBezTo>
                  <a:lnTo>
                    <a:pt x="254984" y="1108139"/>
                  </a:lnTo>
                  <a:cubicBezTo>
                    <a:pt x="254984" y="1102902"/>
                    <a:pt x="250697" y="1098614"/>
                    <a:pt x="245459" y="1098614"/>
                  </a:cubicBezTo>
                  <a:close/>
                  <a:moveTo>
                    <a:pt x="148494" y="1098614"/>
                  </a:moveTo>
                  <a:cubicBezTo>
                    <a:pt x="143256" y="1098614"/>
                    <a:pt x="138969" y="1102902"/>
                    <a:pt x="138969" y="1108139"/>
                  </a:cubicBezTo>
                  <a:lnTo>
                    <a:pt x="138969" y="1170242"/>
                  </a:lnTo>
                  <a:cubicBezTo>
                    <a:pt x="138969" y="1175577"/>
                    <a:pt x="143256" y="1179767"/>
                    <a:pt x="148494" y="1179767"/>
                  </a:cubicBezTo>
                  <a:cubicBezTo>
                    <a:pt x="153829" y="1179767"/>
                    <a:pt x="158019" y="1175577"/>
                    <a:pt x="158019" y="1170242"/>
                  </a:cubicBezTo>
                  <a:lnTo>
                    <a:pt x="158019" y="1108139"/>
                  </a:lnTo>
                  <a:cubicBezTo>
                    <a:pt x="158019" y="1102902"/>
                    <a:pt x="153829" y="1098614"/>
                    <a:pt x="148494" y="1098614"/>
                  </a:cubicBezTo>
                  <a:close/>
                  <a:moveTo>
                    <a:pt x="45244" y="1059182"/>
                  </a:moveTo>
                  <a:lnTo>
                    <a:pt x="736282" y="1059182"/>
                  </a:lnTo>
                  <a:lnTo>
                    <a:pt x="736282" y="1228727"/>
                  </a:lnTo>
                  <a:cubicBezTo>
                    <a:pt x="736282" y="1233966"/>
                    <a:pt x="732091" y="1238252"/>
                    <a:pt x="726757" y="1238252"/>
                  </a:cubicBezTo>
                  <a:lnTo>
                    <a:pt x="54769" y="1238252"/>
                  </a:lnTo>
                  <a:cubicBezTo>
                    <a:pt x="49531" y="1238252"/>
                    <a:pt x="45244" y="1233966"/>
                    <a:pt x="45244" y="1228727"/>
                  </a:cubicBezTo>
                  <a:close/>
                  <a:moveTo>
                    <a:pt x="147258" y="960218"/>
                  </a:moveTo>
                  <a:lnTo>
                    <a:pt x="634270" y="960218"/>
                  </a:lnTo>
                  <a:lnTo>
                    <a:pt x="671703" y="1040131"/>
                  </a:lnTo>
                  <a:lnTo>
                    <a:pt x="109824" y="1040131"/>
                  </a:lnTo>
                  <a:close/>
                  <a:moveTo>
                    <a:pt x="285370" y="245651"/>
                  </a:moveTo>
                  <a:cubicBezTo>
                    <a:pt x="257650" y="245651"/>
                    <a:pt x="235077" y="268224"/>
                    <a:pt x="235077" y="295944"/>
                  </a:cubicBezTo>
                  <a:cubicBezTo>
                    <a:pt x="235077" y="323565"/>
                    <a:pt x="257650" y="346045"/>
                    <a:pt x="285370" y="346045"/>
                  </a:cubicBezTo>
                  <a:cubicBezTo>
                    <a:pt x="312991" y="346045"/>
                    <a:pt x="335471" y="323565"/>
                    <a:pt x="335471" y="295944"/>
                  </a:cubicBezTo>
                  <a:cubicBezTo>
                    <a:pt x="335471" y="268224"/>
                    <a:pt x="312991" y="245651"/>
                    <a:pt x="285370" y="245651"/>
                  </a:cubicBezTo>
                  <a:close/>
                  <a:moveTo>
                    <a:pt x="404146" y="176214"/>
                  </a:moveTo>
                  <a:cubicBezTo>
                    <a:pt x="398811" y="175737"/>
                    <a:pt x="394335" y="179739"/>
                    <a:pt x="393954" y="184976"/>
                  </a:cubicBezTo>
                  <a:cubicBezTo>
                    <a:pt x="393477" y="190215"/>
                    <a:pt x="397384" y="194787"/>
                    <a:pt x="402622" y="195264"/>
                  </a:cubicBezTo>
                  <a:lnTo>
                    <a:pt x="429100" y="197359"/>
                  </a:lnTo>
                  <a:cubicBezTo>
                    <a:pt x="433958" y="197836"/>
                    <a:pt x="548163" y="209742"/>
                    <a:pt x="602456" y="314422"/>
                  </a:cubicBezTo>
                  <a:cubicBezTo>
                    <a:pt x="617791" y="344138"/>
                    <a:pt x="626173" y="378525"/>
                    <a:pt x="627221" y="416720"/>
                  </a:cubicBezTo>
                  <a:cubicBezTo>
                    <a:pt x="627316" y="421864"/>
                    <a:pt x="631602" y="425959"/>
                    <a:pt x="636746" y="425959"/>
                  </a:cubicBezTo>
                  <a:lnTo>
                    <a:pt x="637032" y="425959"/>
                  </a:lnTo>
                  <a:cubicBezTo>
                    <a:pt x="642271" y="425864"/>
                    <a:pt x="646366" y="421483"/>
                    <a:pt x="646271" y="416148"/>
                  </a:cubicBezTo>
                  <a:cubicBezTo>
                    <a:pt x="645129" y="375095"/>
                    <a:pt x="636080" y="337948"/>
                    <a:pt x="619315" y="305657"/>
                  </a:cubicBezTo>
                  <a:cubicBezTo>
                    <a:pt x="560260" y="191836"/>
                    <a:pt x="436150" y="178881"/>
                    <a:pt x="430721" y="178404"/>
                  </a:cubicBezTo>
                  <a:close/>
                  <a:moveTo>
                    <a:pt x="344424" y="955"/>
                  </a:moveTo>
                  <a:cubicBezTo>
                    <a:pt x="347662" y="2573"/>
                    <a:pt x="421862" y="39720"/>
                    <a:pt x="442627" y="116111"/>
                  </a:cubicBezTo>
                  <a:cubicBezTo>
                    <a:pt x="474725" y="120399"/>
                    <a:pt x="607505" y="145544"/>
                    <a:pt x="675418" y="276512"/>
                  </a:cubicBezTo>
                  <a:cubicBezTo>
                    <a:pt x="696658" y="317375"/>
                    <a:pt x="708088" y="363760"/>
                    <a:pt x="709423" y="414529"/>
                  </a:cubicBezTo>
                  <a:cubicBezTo>
                    <a:pt x="711137" y="479870"/>
                    <a:pt x="706946" y="605885"/>
                    <a:pt x="658558" y="714853"/>
                  </a:cubicBezTo>
                  <a:cubicBezTo>
                    <a:pt x="658272" y="715804"/>
                    <a:pt x="609695" y="845059"/>
                    <a:pt x="627221" y="941167"/>
                  </a:cubicBezTo>
                  <a:lnTo>
                    <a:pt x="153733" y="941167"/>
                  </a:lnTo>
                  <a:cubicBezTo>
                    <a:pt x="145637" y="893826"/>
                    <a:pt x="136779" y="777242"/>
                    <a:pt x="215455" y="673228"/>
                  </a:cubicBezTo>
                  <a:lnTo>
                    <a:pt x="219932" y="667419"/>
                  </a:lnTo>
                  <a:cubicBezTo>
                    <a:pt x="223648" y="662561"/>
                    <a:pt x="227457" y="657608"/>
                    <a:pt x="231076" y="652559"/>
                  </a:cubicBezTo>
                  <a:cubicBezTo>
                    <a:pt x="249174" y="627317"/>
                    <a:pt x="295465" y="568834"/>
                    <a:pt x="370332" y="512351"/>
                  </a:cubicBezTo>
                  <a:cubicBezTo>
                    <a:pt x="333850" y="518160"/>
                    <a:pt x="281653" y="519970"/>
                    <a:pt x="224790" y="500920"/>
                  </a:cubicBezTo>
                  <a:cubicBezTo>
                    <a:pt x="209170" y="518542"/>
                    <a:pt x="154972" y="572264"/>
                    <a:pt x="86582" y="558737"/>
                  </a:cubicBezTo>
                  <a:cubicBezTo>
                    <a:pt x="55721" y="552547"/>
                    <a:pt x="29050" y="533783"/>
                    <a:pt x="13335" y="507112"/>
                  </a:cubicBezTo>
                  <a:cubicBezTo>
                    <a:pt x="-1048" y="482728"/>
                    <a:pt x="-16574" y="432912"/>
                    <a:pt x="41147" y="374144"/>
                  </a:cubicBezTo>
                  <a:cubicBezTo>
                    <a:pt x="41529" y="373762"/>
                    <a:pt x="41910" y="373476"/>
                    <a:pt x="42291" y="373190"/>
                  </a:cubicBezTo>
                  <a:cubicBezTo>
                    <a:pt x="43148" y="372430"/>
                    <a:pt x="134207" y="304992"/>
                    <a:pt x="175069" y="236031"/>
                  </a:cubicBezTo>
                  <a:cubicBezTo>
                    <a:pt x="195644" y="201263"/>
                    <a:pt x="224503" y="173928"/>
                    <a:pt x="258508" y="156782"/>
                  </a:cubicBezTo>
                  <a:cubicBezTo>
                    <a:pt x="282607" y="144781"/>
                    <a:pt x="306801" y="138686"/>
                    <a:pt x="330423" y="138686"/>
                  </a:cubicBezTo>
                  <a:lnTo>
                    <a:pt x="330709" y="138686"/>
                  </a:lnTo>
                  <a:lnTo>
                    <a:pt x="330709" y="9526"/>
                  </a:lnTo>
                  <a:cubicBezTo>
                    <a:pt x="330709" y="6192"/>
                    <a:pt x="332422" y="3145"/>
                    <a:pt x="335185" y="1429"/>
                  </a:cubicBezTo>
                  <a:cubicBezTo>
                    <a:pt x="337948" y="-285"/>
                    <a:pt x="341471" y="-475"/>
                    <a:pt x="344424" y="955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135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32" name="!!c1_quote"/>
          <p:cNvSpPr txBox="1"/>
          <p:nvPr/>
        </p:nvSpPr>
        <p:spPr>
          <a:xfrm>
            <a:off x="685800" y="1645919"/>
            <a:ext cx="37947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i="1">
                <a:solidFill>
                  <a:srgbClr val="2E2925"/>
                </a:solidFill>
                <a:latin typeface="Franklin Gothic Book"/>
              </a:rPr>
              <a:t>“Our targets are increasing, but we keep doing the same thing?”</a:t>
            </a:r>
          </a:p>
        </p:txBody>
      </p:sp>
      <p:sp>
        <p:nvSpPr>
          <p:cNvPr id="33" name="!!c1_how"/>
          <p:cNvSpPr txBox="1"/>
          <p:nvPr/>
        </p:nvSpPr>
        <p:spPr>
          <a:xfrm>
            <a:off x="685800" y="2880360"/>
            <a:ext cx="2011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i="0">
                <a:solidFill>
                  <a:srgbClr val="55575A"/>
                </a:solidFill>
                <a:latin typeface="Franklin Gothic Medium"/>
              </a:rPr>
              <a:t>Who we hunt</a:t>
            </a:r>
          </a:p>
        </p:txBody>
      </p:sp>
      <p:sp>
        <p:nvSpPr>
          <p:cNvPr id="34" name="!!c1_pill"/>
          <p:cNvSpPr/>
          <p:nvPr/>
        </p:nvSpPr>
        <p:spPr>
          <a:xfrm>
            <a:off x="3623401" y="2880360"/>
            <a:ext cx="857158" cy="310896"/>
          </a:xfrm>
          <a:prstGeom prst="roundRect">
            <a:avLst>
              <a:gd name="adj" fmla="val 50000"/>
            </a:avLst>
          </a:prstGeom>
          <a:solidFill>
            <a:srgbClr val="D51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1050">
                <a:solidFill>
                  <a:srgbClr val="FFFFFF"/>
                </a:solidFill>
                <a:latin typeface="Franklin Gothic Medium"/>
              </a:rPr>
              <a:t>IGNITE</a:t>
            </a:r>
          </a:p>
        </p:txBody>
      </p:sp>
      <p:sp>
        <p:nvSpPr>
          <p:cNvPr id="35" name="!!c2_bg"/>
          <p:cNvSpPr/>
          <p:nvPr/>
        </p:nvSpPr>
        <p:spPr>
          <a:xfrm>
            <a:off x="7434071" y="896112"/>
            <a:ext cx="4343400" cy="2487168"/>
          </a:xfrm>
          <a:prstGeom prst="rect">
            <a:avLst/>
          </a:prstGeom>
          <a:solidFill>
            <a:srgbClr val="F4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!!c2_band"/>
          <p:cNvSpPr/>
          <p:nvPr/>
        </p:nvSpPr>
        <p:spPr>
          <a:xfrm>
            <a:off x="7434071" y="896112"/>
            <a:ext cx="4343400" cy="530352"/>
          </a:xfrm>
          <a:prstGeom prst="rect">
            <a:avLst/>
          </a:prstGeom>
          <a:solidFill>
            <a:srgbClr val="555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!!c2_name"/>
          <p:cNvSpPr txBox="1"/>
          <p:nvPr/>
        </p:nvSpPr>
        <p:spPr>
          <a:xfrm>
            <a:off x="8394192" y="896112"/>
            <a:ext cx="32461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i="0">
                <a:solidFill>
                  <a:srgbClr val="FFFFFF"/>
                </a:solidFill>
                <a:latin typeface="Franklin Gothic Medium"/>
              </a:rPr>
              <a:t>2   Process &amp; Customer Engagement</a:t>
            </a:r>
          </a:p>
        </p:txBody>
      </p:sp>
      <p:grpSp>
        <p:nvGrpSpPr>
          <p:cNvPr id="32" name="!!c2_icon">
            <a:extLst>
              <a:ext uri="{FF2B5EF4-FFF2-40B4-BE49-F238E27FC236}">
                <a16:creationId xmlns:a16="http://schemas.microsoft.com/office/drawing/2014/main" id="{77041D4C-755A-3D94-1710-AD2EB06AA12A}"/>
              </a:ext>
            </a:extLst>
          </p:cNvPr>
          <p:cNvGrpSpPr/>
          <p:nvPr/>
        </p:nvGrpSpPr>
        <p:grpSpPr>
          <a:xfrm>
            <a:off x="7543799" y="768096"/>
            <a:ext cx="768096" cy="768096"/>
            <a:chOff x="9967415" y="5638500"/>
            <a:chExt cx="960500" cy="960500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0B46943B-8095-DFB5-802D-B1C35FD52F07}"/>
                </a:ext>
              </a:extLst>
            </p:cNvPr>
            <p:cNvSpPr/>
            <p:nvPr/>
          </p:nvSpPr>
          <p:spPr>
            <a:xfrm>
              <a:off x="9967415" y="5638500"/>
              <a:ext cx="960500" cy="960500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65000"/>
                    <a:shade val="30000"/>
                    <a:satMod val="115000"/>
                  </a:schemeClr>
                </a:gs>
                <a:gs pos="50000">
                  <a:schemeClr val="bg1">
                    <a:lumMod val="65000"/>
                    <a:shade val="67500"/>
                    <a:satMod val="115000"/>
                  </a:schemeClr>
                </a:gs>
                <a:gs pos="100000">
                  <a:schemeClr val="bg1">
                    <a:lumMod val="65000"/>
                    <a:shade val="100000"/>
                    <a:satMod val="115000"/>
                  </a:schemeClr>
                </a:gs>
              </a:gsLst>
              <a:lin ang="0" scaled="1"/>
              <a:tileRect/>
            </a:gradFill>
            <a:ln w="19050">
              <a:solidFill>
                <a:srgbClr val="B523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5AF0AA7D-B943-9379-2F28-A53E9C4EE12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159322" y="5855410"/>
              <a:ext cx="628041" cy="473182"/>
            </a:xfrm>
            <a:prstGeom prst="rect">
              <a:avLst/>
            </a:prstGeom>
          </p:spPr>
        </p:pic>
      </p:grpSp>
      <p:sp>
        <p:nvSpPr>
          <p:cNvPr id="38" name="!!c2_quote"/>
          <p:cNvSpPr txBox="1"/>
          <p:nvPr/>
        </p:nvSpPr>
        <p:spPr>
          <a:xfrm>
            <a:off x="7708392" y="1645919"/>
            <a:ext cx="37947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i="1">
                <a:solidFill>
                  <a:srgbClr val="2E2925"/>
                </a:solidFill>
                <a:latin typeface="Franklin Gothic Book"/>
              </a:rPr>
              <a:t>“Are we showing up relevant to our customers? How do we not become commoditized?”</a:t>
            </a:r>
          </a:p>
        </p:txBody>
      </p:sp>
      <p:sp>
        <p:nvSpPr>
          <p:cNvPr id="39" name="!!c2_how"/>
          <p:cNvSpPr txBox="1"/>
          <p:nvPr/>
        </p:nvSpPr>
        <p:spPr>
          <a:xfrm>
            <a:off x="7708392" y="2880360"/>
            <a:ext cx="2011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i="0">
                <a:solidFill>
                  <a:srgbClr val="55575A"/>
                </a:solidFill>
                <a:latin typeface="Franklin Gothic Medium"/>
              </a:rPr>
              <a:t>How we hunt</a:t>
            </a:r>
          </a:p>
        </p:txBody>
      </p:sp>
      <p:sp>
        <p:nvSpPr>
          <p:cNvPr id="40" name="!!c2_pill"/>
          <p:cNvSpPr/>
          <p:nvPr/>
        </p:nvSpPr>
        <p:spPr>
          <a:xfrm>
            <a:off x="9422800" y="2880360"/>
            <a:ext cx="2080351" cy="310896"/>
          </a:xfrm>
          <a:prstGeom prst="roundRect">
            <a:avLst>
              <a:gd name="adj" fmla="val 50000"/>
            </a:avLst>
          </a:prstGeom>
          <a:solidFill>
            <a:srgbClr val="D51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1050">
                <a:solidFill>
                  <a:srgbClr val="FFFFFF"/>
                </a:solidFill>
                <a:latin typeface="Franklin Gothic Medium"/>
              </a:rPr>
              <a:t>CONNECT ABM PROGRAM</a:t>
            </a:r>
          </a:p>
        </p:txBody>
      </p:sp>
      <p:sp>
        <p:nvSpPr>
          <p:cNvPr id="41" name="!!c3_bg"/>
          <p:cNvSpPr/>
          <p:nvPr/>
        </p:nvSpPr>
        <p:spPr>
          <a:xfrm>
            <a:off x="7434071" y="3675887"/>
            <a:ext cx="4343400" cy="2487168"/>
          </a:xfrm>
          <a:prstGeom prst="rect">
            <a:avLst/>
          </a:prstGeom>
          <a:solidFill>
            <a:srgbClr val="F4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!!c3_band"/>
          <p:cNvSpPr/>
          <p:nvPr/>
        </p:nvSpPr>
        <p:spPr>
          <a:xfrm>
            <a:off x="7434071" y="3675887"/>
            <a:ext cx="4343400" cy="530352"/>
          </a:xfrm>
          <a:prstGeom prst="rect">
            <a:avLst/>
          </a:prstGeom>
          <a:solidFill>
            <a:srgbClr val="B52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!!c3_name"/>
          <p:cNvSpPr txBox="1"/>
          <p:nvPr/>
        </p:nvSpPr>
        <p:spPr>
          <a:xfrm>
            <a:off x="8394192" y="3675887"/>
            <a:ext cx="32461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i="0">
                <a:solidFill>
                  <a:srgbClr val="FFFFFF"/>
                </a:solidFill>
                <a:latin typeface="Franklin Gothic Medium"/>
              </a:rPr>
              <a:t>3   Art &amp; Talent Optimization</a:t>
            </a:r>
          </a:p>
        </p:txBody>
      </p:sp>
      <p:sp>
        <p:nvSpPr>
          <p:cNvPr id="20" name="!!c3_icon">
            <a:extLst>
              <a:ext uri="{FF2B5EF4-FFF2-40B4-BE49-F238E27FC236}">
                <a16:creationId xmlns:a16="http://schemas.microsoft.com/office/drawing/2014/main" id="{1554B659-AB45-0829-BE35-18A4734CC740}"/>
              </a:ext>
            </a:extLst>
          </p:cNvPr>
          <p:cNvSpPr/>
          <p:nvPr/>
        </p:nvSpPr>
        <p:spPr>
          <a:xfrm>
            <a:off x="7543799" y="3547871"/>
            <a:ext cx="768096" cy="768096"/>
          </a:xfrm>
          <a:prstGeom prst="ellipse">
            <a:avLst/>
          </a:prstGeom>
          <a:gradFill flip="none" rotWithShape="1">
            <a:gsLst>
              <a:gs pos="0">
                <a:schemeClr val="bg1">
                  <a:lumMod val="65000"/>
                  <a:shade val="30000"/>
                  <a:satMod val="115000"/>
                </a:schemeClr>
              </a:gs>
              <a:gs pos="50000">
                <a:schemeClr val="bg1">
                  <a:lumMod val="65000"/>
                  <a:shade val="67500"/>
                  <a:satMod val="115000"/>
                </a:schemeClr>
              </a:gs>
              <a:gs pos="100000">
                <a:schemeClr val="bg1">
                  <a:lumMod val="65000"/>
                  <a:shade val="100000"/>
                  <a:satMod val="115000"/>
                </a:schemeClr>
              </a:gs>
            </a:gsLst>
            <a:lin ang="0" scaled="1"/>
            <a:tileRect/>
          </a:gradFill>
          <a:ln w="19050">
            <a:solidFill>
              <a:srgbClr val="B523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!!c3_icon2">
            <a:extLst>
              <a:ext uri="{FF2B5EF4-FFF2-40B4-BE49-F238E27FC236}">
                <a16:creationId xmlns:a16="http://schemas.microsoft.com/office/drawing/2014/main" id="{1D374ABD-935D-2940-6A79-175341756B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4353" y="3697373"/>
            <a:ext cx="486989" cy="479134"/>
          </a:xfrm>
          <a:prstGeom prst="rect">
            <a:avLst/>
          </a:prstGeom>
        </p:spPr>
      </p:pic>
      <p:sp>
        <p:nvSpPr>
          <p:cNvPr id="44" name="!!c3_quote"/>
          <p:cNvSpPr txBox="1"/>
          <p:nvPr/>
        </p:nvSpPr>
        <p:spPr>
          <a:xfrm>
            <a:off x="7708392" y="4425696"/>
            <a:ext cx="37947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i="1">
                <a:solidFill>
                  <a:srgbClr val="2E2925"/>
                </a:solidFill>
                <a:latin typeface="Franklin Gothic Book"/>
              </a:rPr>
              <a:t>“We have to develop our people. We can’t afford the cost of turnover and talent is hard to find.”</a:t>
            </a:r>
          </a:p>
        </p:txBody>
      </p:sp>
      <p:sp>
        <p:nvSpPr>
          <p:cNvPr id="45" name="!!c3_how"/>
          <p:cNvSpPr txBox="1"/>
          <p:nvPr/>
        </p:nvSpPr>
        <p:spPr>
          <a:xfrm>
            <a:off x="7708392" y="5660136"/>
            <a:ext cx="2011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i="0">
                <a:solidFill>
                  <a:srgbClr val="55575A"/>
                </a:solidFill>
                <a:latin typeface="Franklin Gothic Medium"/>
              </a:rPr>
              <a:t>How we develop</a:t>
            </a:r>
          </a:p>
        </p:txBody>
      </p:sp>
      <p:sp>
        <p:nvSpPr>
          <p:cNvPr id="46" name="!!c3_pill"/>
          <p:cNvSpPr/>
          <p:nvPr/>
        </p:nvSpPr>
        <p:spPr>
          <a:xfrm>
            <a:off x="9987351" y="5660136"/>
            <a:ext cx="1515800" cy="310896"/>
          </a:xfrm>
          <a:prstGeom prst="roundRect">
            <a:avLst>
              <a:gd name="adj" fmla="val 50000"/>
            </a:avLst>
          </a:prstGeom>
          <a:solidFill>
            <a:srgbClr val="D51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1050">
                <a:solidFill>
                  <a:srgbClr val="FFFFFF"/>
                </a:solidFill>
                <a:latin typeface="Franklin Gothic Medium"/>
              </a:rPr>
              <a:t>IGNITE TALENT</a:t>
            </a:r>
          </a:p>
        </p:txBody>
      </p:sp>
      <p:sp>
        <p:nvSpPr>
          <p:cNvPr id="47" name="!!c4_bg"/>
          <p:cNvSpPr/>
          <p:nvPr/>
        </p:nvSpPr>
        <p:spPr>
          <a:xfrm>
            <a:off x="5488228" y="2961924"/>
            <a:ext cx="1216152" cy="696407"/>
          </a:xfrm>
          <a:prstGeom prst="rect">
            <a:avLst/>
          </a:prstGeom>
          <a:solidFill>
            <a:srgbClr val="F4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!!c4_band"/>
          <p:cNvSpPr/>
          <p:nvPr/>
        </p:nvSpPr>
        <p:spPr>
          <a:xfrm>
            <a:off x="5488228" y="2961924"/>
            <a:ext cx="1216152" cy="148498"/>
          </a:xfrm>
          <a:prstGeom prst="rect">
            <a:avLst/>
          </a:prstGeom>
          <a:solidFill>
            <a:srgbClr val="555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!!c4_name"/>
          <p:cNvSpPr txBox="1"/>
          <p:nvPr/>
        </p:nvSpPr>
        <p:spPr>
          <a:xfrm>
            <a:off x="5757062" y="2961924"/>
            <a:ext cx="908913" cy="148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448" i="0">
                <a:solidFill>
                  <a:srgbClr val="FFFFFF"/>
                </a:solidFill>
                <a:latin typeface="Franklin Gothic Medium"/>
              </a:rPr>
              <a:t>4   Revenue Performance &amp; Metrics</a:t>
            </a:r>
          </a:p>
        </p:txBody>
      </p:sp>
      <p:grpSp>
        <p:nvGrpSpPr>
          <p:cNvPr id="30" name="!!c4_icon">
            <a:extLst>
              <a:ext uri="{FF2B5EF4-FFF2-40B4-BE49-F238E27FC236}">
                <a16:creationId xmlns:a16="http://schemas.microsoft.com/office/drawing/2014/main" id="{A34F56AE-6E15-CA17-553A-4BF952104907}"/>
              </a:ext>
            </a:extLst>
          </p:cNvPr>
          <p:cNvGrpSpPr/>
          <p:nvPr/>
        </p:nvGrpSpPr>
        <p:grpSpPr>
          <a:xfrm>
            <a:off x="5518952" y="2926079"/>
            <a:ext cx="215066" cy="215066"/>
            <a:chOff x="1234577" y="277743"/>
            <a:chExt cx="960500" cy="960500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B9C1869-EBAB-161D-2DA4-8C653FBF65E5}"/>
                </a:ext>
              </a:extLst>
            </p:cNvPr>
            <p:cNvSpPr/>
            <p:nvPr/>
          </p:nvSpPr>
          <p:spPr>
            <a:xfrm>
              <a:off x="1234577" y="277743"/>
              <a:ext cx="960500" cy="960500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65000"/>
                    <a:shade val="30000"/>
                    <a:satMod val="115000"/>
                  </a:schemeClr>
                </a:gs>
                <a:gs pos="50000">
                  <a:schemeClr val="bg1">
                    <a:lumMod val="65000"/>
                    <a:shade val="67500"/>
                    <a:satMod val="115000"/>
                  </a:schemeClr>
                </a:gs>
                <a:gs pos="100000">
                  <a:schemeClr val="bg1">
                    <a:lumMod val="65000"/>
                    <a:shade val="100000"/>
                    <a:satMod val="115000"/>
                  </a:schemeClr>
                </a:gs>
              </a:gsLst>
              <a:lin ang="0" scaled="1"/>
              <a:tileRect/>
            </a:gradFill>
            <a:ln w="19050">
              <a:solidFill>
                <a:srgbClr val="B523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A2EA54A9-541A-CDCD-7A9C-8ABB1FBB1F5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48085" y="547117"/>
              <a:ext cx="706154" cy="380952"/>
            </a:xfrm>
            <a:prstGeom prst="rect">
              <a:avLst/>
            </a:prstGeom>
          </p:spPr>
        </p:pic>
      </p:grpSp>
      <p:sp>
        <p:nvSpPr>
          <p:cNvPr id="50" name="!!c4_quote"/>
          <p:cNvSpPr txBox="1"/>
          <p:nvPr/>
        </p:nvSpPr>
        <p:spPr>
          <a:xfrm>
            <a:off x="5565038" y="3171870"/>
            <a:ext cx="10625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34" i="1">
                <a:solidFill>
                  <a:srgbClr val="2E2925"/>
                </a:solidFill>
                <a:latin typeface="Franklin Gothic Book"/>
              </a:rPr>
              <a:t>“We have a lot of reporting, but does it show how or if we are doing better?”</a:t>
            </a:r>
          </a:p>
        </p:txBody>
      </p:sp>
      <p:sp>
        <p:nvSpPr>
          <p:cNvPr id="51" name="!!c4_how"/>
          <p:cNvSpPr txBox="1"/>
          <p:nvPr/>
        </p:nvSpPr>
        <p:spPr>
          <a:xfrm>
            <a:off x="5565038" y="3517513"/>
            <a:ext cx="563270" cy="87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36" i="0">
                <a:solidFill>
                  <a:srgbClr val="55575A"/>
                </a:solidFill>
                <a:latin typeface="Franklin Gothic Medium"/>
              </a:rPr>
              <a:t>How we measure</a:t>
            </a:r>
          </a:p>
        </p:txBody>
      </p:sp>
      <p:sp>
        <p:nvSpPr>
          <p:cNvPr id="52" name="!!hub_ring"/>
          <p:cNvSpPr/>
          <p:nvPr/>
        </p:nvSpPr>
        <p:spPr>
          <a:xfrm>
            <a:off x="4935016" y="2148840"/>
            <a:ext cx="2322576" cy="2322576"/>
          </a:xfrm>
          <a:prstGeom prst="ellipse">
            <a:avLst/>
          </a:prstGeom>
          <a:noFill/>
          <a:ln w="28575">
            <a:solidFill>
              <a:srgbClr val="D510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!!hub"/>
          <p:cNvSpPr/>
          <p:nvPr/>
        </p:nvSpPr>
        <p:spPr>
          <a:xfrm>
            <a:off x="5044744" y="2258568"/>
            <a:ext cx="2103120" cy="2103120"/>
          </a:xfrm>
          <a:prstGeom prst="ellipse">
            <a:avLst/>
          </a:prstGeom>
          <a:solidFill>
            <a:srgbClr val="555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!!hub_t"/>
          <p:cNvSpPr txBox="1"/>
          <p:nvPr/>
        </p:nvSpPr>
        <p:spPr>
          <a:xfrm>
            <a:off x="5181904" y="2743200"/>
            <a:ext cx="1828799" cy="7315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/>
            <a:r>
              <a:rPr sz="2100" i="0">
                <a:solidFill>
                  <a:srgbClr val="FFFFFF"/>
                </a:solidFill>
                <a:latin typeface="Franklin Gothic Medium"/>
              </a:rPr>
              <a:t>Profitable</a:t>
            </a:r>
          </a:p>
          <a:p>
            <a:pPr algn="ctr"/>
            <a:r>
              <a:rPr sz="2100" i="0">
                <a:solidFill>
                  <a:srgbClr val="FFFFFF"/>
                </a:solidFill>
                <a:latin typeface="Franklin Gothic Medium"/>
              </a:rPr>
              <a:t>Growth</a:t>
            </a:r>
          </a:p>
        </p:txBody>
      </p:sp>
      <p:sp>
        <p:nvSpPr>
          <p:cNvPr id="55" name="!!hub_s"/>
          <p:cNvSpPr txBox="1"/>
          <p:nvPr/>
        </p:nvSpPr>
        <p:spPr>
          <a:xfrm>
            <a:off x="5227624" y="3511296"/>
            <a:ext cx="1737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i="0">
                <a:solidFill>
                  <a:srgbClr val="FFFFFF"/>
                </a:solidFill>
                <a:latin typeface="Franklin Gothic Book"/>
              </a:rPr>
              <a:t>Sales  ·  Marketing</a:t>
            </a:r>
          </a:p>
          <a:p>
            <a:pPr algn="ctr"/>
            <a:r>
              <a:rPr sz="1050" i="0">
                <a:solidFill>
                  <a:srgbClr val="FFFFFF"/>
                </a:solidFill>
                <a:latin typeface="Franklin Gothic Book"/>
              </a:rPr>
              <a:t>Pricing / Rev Mgmt.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000" advTm="700">
        <p159:morph option="byObject"/>
      </p:transition>
    </mc:Choice>
    <mc:Fallback>
      <p:transition spd="slow" advTm="700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 idx="4294967295"/>
          </p:nvPr>
        </p:nvSpPr>
        <p:spPr>
          <a:xfrm>
            <a:off x="0" y="230457"/>
            <a:ext cx="12192000" cy="430887"/>
          </a:xfrm>
        </p:spPr>
        <p:txBody>
          <a:bodyPr>
            <a:noAutofit/>
          </a:bodyPr>
          <a:lstStyle/>
          <a:p>
            <a:pPr algn="ctr"/>
            <a:r>
              <a:rPr lang="en-US" sz="320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</a:rPr>
              <a:t>Where You Win </a:t>
            </a:r>
            <a:r>
              <a:rPr lang="en-US" sz="3200">
                <a:solidFill>
                  <a:srgbClr val="B52372"/>
                </a:solidFill>
                <a:latin typeface="Franklin Gothic Book" panose="020B0503020102020204" pitchFamily="34" charset="0"/>
              </a:rPr>
              <a:t>| Profitable Growth</a:t>
            </a:r>
          </a:p>
        </p:txBody>
      </p:sp>
      <p:sp>
        <p:nvSpPr>
          <p:cNvPr id="3" name="!!c1_bg"/>
          <p:cNvSpPr/>
          <p:nvPr/>
        </p:nvSpPr>
        <p:spPr>
          <a:xfrm>
            <a:off x="411480" y="896112"/>
            <a:ext cx="4343400" cy="2487168"/>
          </a:xfrm>
          <a:prstGeom prst="rect">
            <a:avLst/>
          </a:prstGeom>
          <a:solidFill>
            <a:srgbClr val="F4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c1_band"/>
          <p:cNvSpPr/>
          <p:nvPr/>
        </p:nvSpPr>
        <p:spPr>
          <a:xfrm>
            <a:off x="411480" y="896112"/>
            <a:ext cx="4343400" cy="530352"/>
          </a:xfrm>
          <a:prstGeom prst="rect">
            <a:avLst/>
          </a:prstGeom>
          <a:solidFill>
            <a:srgbClr val="B52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c1_name"/>
          <p:cNvSpPr txBox="1"/>
          <p:nvPr/>
        </p:nvSpPr>
        <p:spPr>
          <a:xfrm>
            <a:off x="1371600" y="896112"/>
            <a:ext cx="32461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i="0">
                <a:solidFill>
                  <a:srgbClr val="FFFFFF"/>
                </a:solidFill>
                <a:latin typeface="Franklin Gothic Medium"/>
              </a:rPr>
              <a:t>1   Science &amp; Strategy</a:t>
            </a:r>
          </a:p>
        </p:txBody>
      </p:sp>
      <p:grpSp>
        <p:nvGrpSpPr>
          <p:cNvPr id="31" name="!!c1_icon">
            <a:extLst>
              <a:ext uri="{FF2B5EF4-FFF2-40B4-BE49-F238E27FC236}">
                <a16:creationId xmlns:a16="http://schemas.microsoft.com/office/drawing/2014/main" id="{64401AE8-1991-1341-CC55-F342691AA60D}"/>
              </a:ext>
            </a:extLst>
          </p:cNvPr>
          <p:cNvGrpSpPr/>
          <p:nvPr/>
        </p:nvGrpSpPr>
        <p:grpSpPr>
          <a:xfrm>
            <a:off x="521208" y="768096"/>
            <a:ext cx="768096" cy="779176"/>
            <a:chOff x="10023859" y="264078"/>
            <a:chExt cx="933564" cy="947032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E3F64412-42DA-A373-E8FF-487F3BC37CB3}"/>
                </a:ext>
              </a:extLst>
            </p:cNvPr>
            <p:cNvSpPr/>
            <p:nvPr/>
          </p:nvSpPr>
          <p:spPr>
            <a:xfrm>
              <a:off x="10023859" y="264078"/>
              <a:ext cx="933564" cy="947032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65000"/>
                    <a:shade val="30000"/>
                    <a:satMod val="115000"/>
                  </a:schemeClr>
                </a:gs>
                <a:gs pos="50000">
                  <a:schemeClr val="bg1">
                    <a:lumMod val="65000"/>
                    <a:shade val="67500"/>
                    <a:satMod val="115000"/>
                  </a:schemeClr>
                </a:gs>
                <a:gs pos="100000">
                  <a:schemeClr val="bg1">
                    <a:lumMod val="65000"/>
                    <a:shade val="100000"/>
                    <a:satMod val="115000"/>
                  </a:schemeClr>
                </a:gs>
              </a:gsLst>
              <a:lin ang="0" scaled="1"/>
              <a:tileRect/>
            </a:gradFill>
            <a:ln w="19050">
              <a:solidFill>
                <a:srgbClr val="B523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: Shape 25">
              <a:extLst>
                <a:ext uri="{FF2B5EF4-FFF2-40B4-BE49-F238E27FC236}">
                  <a16:creationId xmlns:a16="http://schemas.microsoft.com/office/drawing/2014/main" id="{B3723BE5-1E0C-63A4-66D5-E56AEF2E3AAB}"/>
                </a:ext>
              </a:extLst>
            </p:cNvPr>
            <p:cNvSpPr/>
            <p:nvPr/>
          </p:nvSpPr>
          <p:spPr>
            <a:xfrm>
              <a:off x="10275283" y="399791"/>
              <a:ext cx="430716" cy="675605"/>
            </a:xfrm>
            <a:custGeom>
              <a:avLst/>
              <a:gdLst>
                <a:gd name="connsiteX0" fmla="*/ 633032 w 736282"/>
                <a:gd name="connsiteY0" fmla="*/ 1098614 h 1238252"/>
                <a:gd name="connsiteX1" fmla="*/ 623507 w 736282"/>
                <a:gd name="connsiteY1" fmla="*/ 1108139 h 1238252"/>
                <a:gd name="connsiteX2" fmla="*/ 623507 w 736282"/>
                <a:gd name="connsiteY2" fmla="*/ 1170242 h 1238252"/>
                <a:gd name="connsiteX3" fmla="*/ 633032 w 736282"/>
                <a:gd name="connsiteY3" fmla="*/ 1179767 h 1238252"/>
                <a:gd name="connsiteX4" fmla="*/ 642557 w 736282"/>
                <a:gd name="connsiteY4" fmla="*/ 1170242 h 1238252"/>
                <a:gd name="connsiteX5" fmla="*/ 642557 w 736282"/>
                <a:gd name="connsiteY5" fmla="*/ 1108139 h 1238252"/>
                <a:gd name="connsiteX6" fmla="*/ 633032 w 736282"/>
                <a:gd name="connsiteY6" fmla="*/ 1098614 h 1238252"/>
                <a:gd name="connsiteX7" fmla="*/ 536163 w 736282"/>
                <a:gd name="connsiteY7" fmla="*/ 1098614 h 1238252"/>
                <a:gd name="connsiteX8" fmla="*/ 526638 w 736282"/>
                <a:gd name="connsiteY8" fmla="*/ 1108139 h 1238252"/>
                <a:gd name="connsiteX9" fmla="*/ 526638 w 736282"/>
                <a:gd name="connsiteY9" fmla="*/ 1170242 h 1238252"/>
                <a:gd name="connsiteX10" fmla="*/ 536163 w 736282"/>
                <a:gd name="connsiteY10" fmla="*/ 1179767 h 1238252"/>
                <a:gd name="connsiteX11" fmla="*/ 545688 w 736282"/>
                <a:gd name="connsiteY11" fmla="*/ 1170242 h 1238252"/>
                <a:gd name="connsiteX12" fmla="*/ 545688 w 736282"/>
                <a:gd name="connsiteY12" fmla="*/ 1108139 h 1238252"/>
                <a:gd name="connsiteX13" fmla="*/ 536163 w 736282"/>
                <a:gd name="connsiteY13" fmla="*/ 1098614 h 1238252"/>
                <a:gd name="connsiteX14" fmla="*/ 439198 w 736282"/>
                <a:gd name="connsiteY14" fmla="*/ 1098614 h 1238252"/>
                <a:gd name="connsiteX15" fmla="*/ 429673 w 736282"/>
                <a:gd name="connsiteY15" fmla="*/ 1108139 h 1238252"/>
                <a:gd name="connsiteX16" fmla="*/ 429673 w 736282"/>
                <a:gd name="connsiteY16" fmla="*/ 1170242 h 1238252"/>
                <a:gd name="connsiteX17" fmla="*/ 439198 w 736282"/>
                <a:gd name="connsiteY17" fmla="*/ 1179767 h 1238252"/>
                <a:gd name="connsiteX18" fmla="*/ 448723 w 736282"/>
                <a:gd name="connsiteY18" fmla="*/ 1170242 h 1238252"/>
                <a:gd name="connsiteX19" fmla="*/ 448723 w 736282"/>
                <a:gd name="connsiteY19" fmla="*/ 1108139 h 1238252"/>
                <a:gd name="connsiteX20" fmla="*/ 439198 w 736282"/>
                <a:gd name="connsiteY20" fmla="*/ 1098614 h 1238252"/>
                <a:gd name="connsiteX21" fmla="*/ 342329 w 736282"/>
                <a:gd name="connsiteY21" fmla="*/ 1098614 h 1238252"/>
                <a:gd name="connsiteX22" fmla="*/ 332804 w 736282"/>
                <a:gd name="connsiteY22" fmla="*/ 1108139 h 1238252"/>
                <a:gd name="connsiteX23" fmla="*/ 332804 w 736282"/>
                <a:gd name="connsiteY23" fmla="*/ 1170242 h 1238252"/>
                <a:gd name="connsiteX24" fmla="*/ 342329 w 736282"/>
                <a:gd name="connsiteY24" fmla="*/ 1179767 h 1238252"/>
                <a:gd name="connsiteX25" fmla="*/ 351854 w 736282"/>
                <a:gd name="connsiteY25" fmla="*/ 1170242 h 1238252"/>
                <a:gd name="connsiteX26" fmla="*/ 351854 w 736282"/>
                <a:gd name="connsiteY26" fmla="*/ 1108139 h 1238252"/>
                <a:gd name="connsiteX27" fmla="*/ 342329 w 736282"/>
                <a:gd name="connsiteY27" fmla="*/ 1098614 h 1238252"/>
                <a:gd name="connsiteX28" fmla="*/ 245459 w 736282"/>
                <a:gd name="connsiteY28" fmla="*/ 1098614 h 1238252"/>
                <a:gd name="connsiteX29" fmla="*/ 235934 w 736282"/>
                <a:gd name="connsiteY29" fmla="*/ 1108139 h 1238252"/>
                <a:gd name="connsiteX30" fmla="*/ 235934 w 736282"/>
                <a:gd name="connsiteY30" fmla="*/ 1170242 h 1238252"/>
                <a:gd name="connsiteX31" fmla="*/ 245459 w 736282"/>
                <a:gd name="connsiteY31" fmla="*/ 1179767 h 1238252"/>
                <a:gd name="connsiteX32" fmla="*/ 254984 w 736282"/>
                <a:gd name="connsiteY32" fmla="*/ 1170242 h 1238252"/>
                <a:gd name="connsiteX33" fmla="*/ 254984 w 736282"/>
                <a:gd name="connsiteY33" fmla="*/ 1108139 h 1238252"/>
                <a:gd name="connsiteX34" fmla="*/ 245459 w 736282"/>
                <a:gd name="connsiteY34" fmla="*/ 1098614 h 1238252"/>
                <a:gd name="connsiteX35" fmla="*/ 148494 w 736282"/>
                <a:gd name="connsiteY35" fmla="*/ 1098614 h 1238252"/>
                <a:gd name="connsiteX36" fmla="*/ 138969 w 736282"/>
                <a:gd name="connsiteY36" fmla="*/ 1108139 h 1238252"/>
                <a:gd name="connsiteX37" fmla="*/ 138969 w 736282"/>
                <a:gd name="connsiteY37" fmla="*/ 1170242 h 1238252"/>
                <a:gd name="connsiteX38" fmla="*/ 148494 w 736282"/>
                <a:gd name="connsiteY38" fmla="*/ 1179767 h 1238252"/>
                <a:gd name="connsiteX39" fmla="*/ 158019 w 736282"/>
                <a:gd name="connsiteY39" fmla="*/ 1170242 h 1238252"/>
                <a:gd name="connsiteX40" fmla="*/ 158019 w 736282"/>
                <a:gd name="connsiteY40" fmla="*/ 1108139 h 1238252"/>
                <a:gd name="connsiteX41" fmla="*/ 148494 w 736282"/>
                <a:gd name="connsiteY41" fmla="*/ 1098614 h 1238252"/>
                <a:gd name="connsiteX42" fmla="*/ 45244 w 736282"/>
                <a:gd name="connsiteY42" fmla="*/ 1059182 h 1238252"/>
                <a:gd name="connsiteX43" fmla="*/ 736282 w 736282"/>
                <a:gd name="connsiteY43" fmla="*/ 1059182 h 1238252"/>
                <a:gd name="connsiteX44" fmla="*/ 736282 w 736282"/>
                <a:gd name="connsiteY44" fmla="*/ 1228727 h 1238252"/>
                <a:gd name="connsiteX45" fmla="*/ 726757 w 736282"/>
                <a:gd name="connsiteY45" fmla="*/ 1238252 h 1238252"/>
                <a:gd name="connsiteX46" fmla="*/ 54769 w 736282"/>
                <a:gd name="connsiteY46" fmla="*/ 1238252 h 1238252"/>
                <a:gd name="connsiteX47" fmla="*/ 45244 w 736282"/>
                <a:gd name="connsiteY47" fmla="*/ 1228727 h 1238252"/>
                <a:gd name="connsiteX48" fmla="*/ 147258 w 736282"/>
                <a:gd name="connsiteY48" fmla="*/ 960218 h 1238252"/>
                <a:gd name="connsiteX49" fmla="*/ 634270 w 736282"/>
                <a:gd name="connsiteY49" fmla="*/ 960218 h 1238252"/>
                <a:gd name="connsiteX50" fmla="*/ 671703 w 736282"/>
                <a:gd name="connsiteY50" fmla="*/ 1040131 h 1238252"/>
                <a:gd name="connsiteX51" fmla="*/ 109824 w 736282"/>
                <a:gd name="connsiteY51" fmla="*/ 1040131 h 1238252"/>
                <a:gd name="connsiteX52" fmla="*/ 285370 w 736282"/>
                <a:gd name="connsiteY52" fmla="*/ 245651 h 1238252"/>
                <a:gd name="connsiteX53" fmla="*/ 235077 w 736282"/>
                <a:gd name="connsiteY53" fmla="*/ 295944 h 1238252"/>
                <a:gd name="connsiteX54" fmla="*/ 285370 w 736282"/>
                <a:gd name="connsiteY54" fmla="*/ 346045 h 1238252"/>
                <a:gd name="connsiteX55" fmla="*/ 335471 w 736282"/>
                <a:gd name="connsiteY55" fmla="*/ 295944 h 1238252"/>
                <a:gd name="connsiteX56" fmla="*/ 285370 w 736282"/>
                <a:gd name="connsiteY56" fmla="*/ 245651 h 1238252"/>
                <a:gd name="connsiteX57" fmla="*/ 404146 w 736282"/>
                <a:gd name="connsiteY57" fmla="*/ 176214 h 1238252"/>
                <a:gd name="connsiteX58" fmla="*/ 393954 w 736282"/>
                <a:gd name="connsiteY58" fmla="*/ 184976 h 1238252"/>
                <a:gd name="connsiteX59" fmla="*/ 402622 w 736282"/>
                <a:gd name="connsiteY59" fmla="*/ 195264 h 1238252"/>
                <a:gd name="connsiteX60" fmla="*/ 429100 w 736282"/>
                <a:gd name="connsiteY60" fmla="*/ 197359 h 1238252"/>
                <a:gd name="connsiteX61" fmla="*/ 602456 w 736282"/>
                <a:gd name="connsiteY61" fmla="*/ 314422 h 1238252"/>
                <a:gd name="connsiteX62" fmla="*/ 627221 w 736282"/>
                <a:gd name="connsiteY62" fmla="*/ 416720 h 1238252"/>
                <a:gd name="connsiteX63" fmla="*/ 636746 w 736282"/>
                <a:gd name="connsiteY63" fmla="*/ 425959 h 1238252"/>
                <a:gd name="connsiteX64" fmla="*/ 637032 w 736282"/>
                <a:gd name="connsiteY64" fmla="*/ 425959 h 1238252"/>
                <a:gd name="connsiteX65" fmla="*/ 646271 w 736282"/>
                <a:gd name="connsiteY65" fmla="*/ 416148 h 1238252"/>
                <a:gd name="connsiteX66" fmla="*/ 619315 w 736282"/>
                <a:gd name="connsiteY66" fmla="*/ 305657 h 1238252"/>
                <a:gd name="connsiteX67" fmla="*/ 430721 w 736282"/>
                <a:gd name="connsiteY67" fmla="*/ 178404 h 1238252"/>
                <a:gd name="connsiteX68" fmla="*/ 344424 w 736282"/>
                <a:gd name="connsiteY68" fmla="*/ 955 h 1238252"/>
                <a:gd name="connsiteX69" fmla="*/ 442627 w 736282"/>
                <a:gd name="connsiteY69" fmla="*/ 116111 h 1238252"/>
                <a:gd name="connsiteX70" fmla="*/ 675418 w 736282"/>
                <a:gd name="connsiteY70" fmla="*/ 276512 h 1238252"/>
                <a:gd name="connsiteX71" fmla="*/ 709423 w 736282"/>
                <a:gd name="connsiteY71" fmla="*/ 414529 h 1238252"/>
                <a:gd name="connsiteX72" fmla="*/ 658558 w 736282"/>
                <a:gd name="connsiteY72" fmla="*/ 714853 h 1238252"/>
                <a:gd name="connsiteX73" fmla="*/ 627221 w 736282"/>
                <a:gd name="connsiteY73" fmla="*/ 941167 h 1238252"/>
                <a:gd name="connsiteX74" fmla="*/ 153733 w 736282"/>
                <a:gd name="connsiteY74" fmla="*/ 941167 h 1238252"/>
                <a:gd name="connsiteX75" fmla="*/ 215455 w 736282"/>
                <a:gd name="connsiteY75" fmla="*/ 673228 h 1238252"/>
                <a:gd name="connsiteX76" fmla="*/ 219932 w 736282"/>
                <a:gd name="connsiteY76" fmla="*/ 667419 h 1238252"/>
                <a:gd name="connsiteX77" fmla="*/ 231076 w 736282"/>
                <a:gd name="connsiteY77" fmla="*/ 652559 h 1238252"/>
                <a:gd name="connsiteX78" fmla="*/ 370332 w 736282"/>
                <a:gd name="connsiteY78" fmla="*/ 512351 h 1238252"/>
                <a:gd name="connsiteX79" fmla="*/ 224790 w 736282"/>
                <a:gd name="connsiteY79" fmla="*/ 500920 h 1238252"/>
                <a:gd name="connsiteX80" fmla="*/ 86582 w 736282"/>
                <a:gd name="connsiteY80" fmla="*/ 558737 h 1238252"/>
                <a:gd name="connsiteX81" fmla="*/ 13335 w 736282"/>
                <a:gd name="connsiteY81" fmla="*/ 507112 h 1238252"/>
                <a:gd name="connsiteX82" fmla="*/ 41147 w 736282"/>
                <a:gd name="connsiteY82" fmla="*/ 374144 h 1238252"/>
                <a:gd name="connsiteX83" fmla="*/ 42291 w 736282"/>
                <a:gd name="connsiteY83" fmla="*/ 373190 h 1238252"/>
                <a:gd name="connsiteX84" fmla="*/ 175069 w 736282"/>
                <a:gd name="connsiteY84" fmla="*/ 236031 h 1238252"/>
                <a:gd name="connsiteX85" fmla="*/ 258508 w 736282"/>
                <a:gd name="connsiteY85" fmla="*/ 156782 h 1238252"/>
                <a:gd name="connsiteX86" fmla="*/ 330423 w 736282"/>
                <a:gd name="connsiteY86" fmla="*/ 138686 h 1238252"/>
                <a:gd name="connsiteX87" fmla="*/ 330709 w 736282"/>
                <a:gd name="connsiteY87" fmla="*/ 138686 h 1238252"/>
                <a:gd name="connsiteX88" fmla="*/ 330709 w 736282"/>
                <a:gd name="connsiteY88" fmla="*/ 9526 h 1238252"/>
                <a:gd name="connsiteX89" fmla="*/ 335185 w 736282"/>
                <a:gd name="connsiteY89" fmla="*/ 1429 h 1238252"/>
                <a:gd name="connsiteX90" fmla="*/ 344424 w 736282"/>
                <a:gd name="connsiteY90" fmla="*/ 955 h 1238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</a:cxnLst>
              <a:rect l="l" t="t" r="r" b="b"/>
              <a:pathLst>
                <a:path w="736282" h="1238252">
                  <a:moveTo>
                    <a:pt x="633032" y="1098614"/>
                  </a:moveTo>
                  <a:cubicBezTo>
                    <a:pt x="627793" y="1098614"/>
                    <a:pt x="623507" y="1102902"/>
                    <a:pt x="623507" y="1108139"/>
                  </a:cubicBezTo>
                  <a:lnTo>
                    <a:pt x="623507" y="1170242"/>
                  </a:lnTo>
                  <a:cubicBezTo>
                    <a:pt x="623507" y="1175577"/>
                    <a:pt x="627793" y="1179767"/>
                    <a:pt x="633032" y="1179767"/>
                  </a:cubicBezTo>
                  <a:cubicBezTo>
                    <a:pt x="638270" y="1179767"/>
                    <a:pt x="642557" y="1175577"/>
                    <a:pt x="642557" y="1170242"/>
                  </a:cubicBezTo>
                  <a:lnTo>
                    <a:pt x="642557" y="1108139"/>
                  </a:lnTo>
                  <a:cubicBezTo>
                    <a:pt x="642557" y="1102902"/>
                    <a:pt x="638270" y="1098614"/>
                    <a:pt x="633032" y="1098614"/>
                  </a:cubicBezTo>
                  <a:close/>
                  <a:moveTo>
                    <a:pt x="536163" y="1098614"/>
                  </a:moveTo>
                  <a:cubicBezTo>
                    <a:pt x="530829" y="1098614"/>
                    <a:pt x="526638" y="1102902"/>
                    <a:pt x="526638" y="1108139"/>
                  </a:cubicBezTo>
                  <a:lnTo>
                    <a:pt x="526638" y="1170242"/>
                  </a:lnTo>
                  <a:cubicBezTo>
                    <a:pt x="526638" y="1175577"/>
                    <a:pt x="530829" y="1179767"/>
                    <a:pt x="536163" y="1179767"/>
                  </a:cubicBezTo>
                  <a:cubicBezTo>
                    <a:pt x="541401" y="1179767"/>
                    <a:pt x="545688" y="1175577"/>
                    <a:pt x="545688" y="1170242"/>
                  </a:cubicBezTo>
                  <a:lnTo>
                    <a:pt x="545688" y="1108139"/>
                  </a:lnTo>
                  <a:cubicBezTo>
                    <a:pt x="545688" y="1102902"/>
                    <a:pt x="541401" y="1098614"/>
                    <a:pt x="536163" y="1098614"/>
                  </a:cubicBezTo>
                  <a:close/>
                  <a:moveTo>
                    <a:pt x="439198" y="1098614"/>
                  </a:moveTo>
                  <a:cubicBezTo>
                    <a:pt x="433958" y="1098614"/>
                    <a:pt x="429673" y="1102902"/>
                    <a:pt x="429673" y="1108139"/>
                  </a:cubicBezTo>
                  <a:lnTo>
                    <a:pt x="429673" y="1170242"/>
                  </a:lnTo>
                  <a:cubicBezTo>
                    <a:pt x="429673" y="1175577"/>
                    <a:pt x="433958" y="1179767"/>
                    <a:pt x="439198" y="1179767"/>
                  </a:cubicBezTo>
                  <a:cubicBezTo>
                    <a:pt x="444532" y="1179767"/>
                    <a:pt x="448723" y="1175577"/>
                    <a:pt x="448723" y="1170242"/>
                  </a:cubicBezTo>
                  <a:lnTo>
                    <a:pt x="448723" y="1108139"/>
                  </a:lnTo>
                  <a:cubicBezTo>
                    <a:pt x="448723" y="1102902"/>
                    <a:pt x="444532" y="1098614"/>
                    <a:pt x="439198" y="1098614"/>
                  </a:cubicBezTo>
                  <a:close/>
                  <a:moveTo>
                    <a:pt x="342329" y="1098614"/>
                  </a:moveTo>
                  <a:cubicBezTo>
                    <a:pt x="337090" y="1098614"/>
                    <a:pt x="332804" y="1102902"/>
                    <a:pt x="332804" y="1108139"/>
                  </a:cubicBezTo>
                  <a:lnTo>
                    <a:pt x="332804" y="1170242"/>
                  </a:lnTo>
                  <a:cubicBezTo>
                    <a:pt x="332804" y="1175577"/>
                    <a:pt x="337090" y="1179767"/>
                    <a:pt x="342329" y="1179767"/>
                  </a:cubicBezTo>
                  <a:cubicBezTo>
                    <a:pt x="347567" y="1179767"/>
                    <a:pt x="351854" y="1175577"/>
                    <a:pt x="351854" y="1170242"/>
                  </a:cubicBezTo>
                  <a:lnTo>
                    <a:pt x="351854" y="1108139"/>
                  </a:lnTo>
                  <a:cubicBezTo>
                    <a:pt x="351854" y="1102902"/>
                    <a:pt x="347567" y="1098614"/>
                    <a:pt x="342329" y="1098614"/>
                  </a:cubicBezTo>
                  <a:close/>
                  <a:moveTo>
                    <a:pt x="245459" y="1098614"/>
                  </a:moveTo>
                  <a:cubicBezTo>
                    <a:pt x="240126" y="1098614"/>
                    <a:pt x="235934" y="1102902"/>
                    <a:pt x="235934" y="1108139"/>
                  </a:cubicBezTo>
                  <a:lnTo>
                    <a:pt x="235934" y="1170242"/>
                  </a:lnTo>
                  <a:cubicBezTo>
                    <a:pt x="235934" y="1175577"/>
                    <a:pt x="240126" y="1179767"/>
                    <a:pt x="245459" y="1179767"/>
                  </a:cubicBezTo>
                  <a:cubicBezTo>
                    <a:pt x="250697" y="1179767"/>
                    <a:pt x="254984" y="1175577"/>
                    <a:pt x="254984" y="1170242"/>
                  </a:cubicBezTo>
                  <a:lnTo>
                    <a:pt x="254984" y="1108139"/>
                  </a:lnTo>
                  <a:cubicBezTo>
                    <a:pt x="254984" y="1102902"/>
                    <a:pt x="250697" y="1098614"/>
                    <a:pt x="245459" y="1098614"/>
                  </a:cubicBezTo>
                  <a:close/>
                  <a:moveTo>
                    <a:pt x="148494" y="1098614"/>
                  </a:moveTo>
                  <a:cubicBezTo>
                    <a:pt x="143256" y="1098614"/>
                    <a:pt x="138969" y="1102902"/>
                    <a:pt x="138969" y="1108139"/>
                  </a:cubicBezTo>
                  <a:lnTo>
                    <a:pt x="138969" y="1170242"/>
                  </a:lnTo>
                  <a:cubicBezTo>
                    <a:pt x="138969" y="1175577"/>
                    <a:pt x="143256" y="1179767"/>
                    <a:pt x="148494" y="1179767"/>
                  </a:cubicBezTo>
                  <a:cubicBezTo>
                    <a:pt x="153829" y="1179767"/>
                    <a:pt x="158019" y="1175577"/>
                    <a:pt x="158019" y="1170242"/>
                  </a:cubicBezTo>
                  <a:lnTo>
                    <a:pt x="158019" y="1108139"/>
                  </a:lnTo>
                  <a:cubicBezTo>
                    <a:pt x="158019" y="1102902"/>
                    <a:pt x="153829" y="1098614"/>
                    <a:pt x="148494" y="1098614"/>
                  </a:cubicBezTo>
                  <a:close/>
                  <a:moveTo>
                    <a:pt x="45244" y="1059182"/>
                  </a:moveTo>
                  <a:lnTo>
                    <a:pt x="736282" y="1059182"/>
                  </a:lnTo>
                  <a:lnTo>
                    <a:pt x="736282" y="1228727"/>
                  </a:lnTo>
                  <a:cubicBezTo>
                    <a:pt x="736282" y="1233966"/>
                    <a:pt x="732091" y="1238252"/>
                    <a:pt x="726757" y="1238252"/>
                  </a:cubicBezTo>
                  <a:lnTo>
                    <a:pt x="54769" y="1238252"/>
                  </a:lnTo>
                  <a:cubicBezTo>
                    <a:pt x="49531" y="1238252"/>
                    <a:pt x="45244" y="1233966"/>
                    <a:pt x="45244" y="1228727"/>
                  </a:cubicBezTo>
                  <a:close/>
                  <a:moveTo>
                    <a:pt x="147258" y="960218"/>
                  </a:moveTo>
                  <a:lnTo>
                    <a:pt x="634270" y="960218"/>
                  </a:lnTo>
                  <a:lnTo>
                    <a:pt x="671703" y="1040131"/>
                  </a:lnTo>
                  <a:lnTo>
                    <a:pt x="109824" y="1040131"/>
                  </a:lnTo>
                  <a:close/>
                  <a:moveTo>
                    <a:pt x="285370" y="245651"/>
                  </a:moveTo>
                  <a:cubicBezTo>
                    <a:pt x="257650" y="245651"/>
                    <a:pt x="235077" y="268224"/>
                    <a:pt x="235077" y="295944"/>
                  </a:cubicBezTo>
                  <a:cubicBezTo>
                    <a:pt x="235077" y="323565"/>
                    <a:pt x="257650" y="346045"/>
                    <a:pt x="285370" y="346045"/>
                  </a:cubicBezTo>
                  <a:cubicBezTo>
                    <a:pt x="312991" y="346045"/>
                    <a:pt x="335471" y="323565"/>
                    <a:pt x="335471" y="295944"/>
                  </a:cubicBezTo>
                  <a:cubicBezTo>
                    <a:pt x="335471" y="268224"/>
                    <a:pt x="312991" y="245651"/>
                    <a:pt x="285370" y="245651"/>
                  </a:cubicBezTo>
                  <a:close/>
                  <a:moveTo>
                    <a:pt x="404146" y="176214"/>
                  </a:moveTo>
                  <a:cubicBezTo>
                    <a:pt x="398811" y="175737"/>
                    <a:pt x="394335" y="179739"/>
                    <a:pt x="393954" y="184976"/>
                  </a:cubicBezTo>
                  <a:cubicBezTo>
                    <a:pt x="393477" y="190215"/>
                    <a:pt x="397384" y="194787"/>
                    <a:pt x="402622" y="195264"/>
                  </a:cubicBezTo>
                  <a:lnTo>
                    <a:pt x="429100" y="197359"/>
                  </a:lnTo>
                  <a:cubicBezTo>
                    <a:pt x="433958" y="197836"/>
                    <a:pt x="548163" y="209742"/>
                    <a:pt x="602456" y="314422"/>
                  </a:cubicBezTo>
                  <a:cubicBezTo>
                    <a:pt x="617791" y="344138"/>
                    <a:pt x="626173" y="378525"/>
                    <a:pt x="627221" y="416720"/>
                  </a:cubicBezTo>
                  <a:cubicBezTo>
                    <a:pt x="627316" y="421864"/>
                    <a:pt x="631602" y="425959"/>
                    <a:pt x="636746" y="425959"/>
                  </a:cubicBezTo>
                  <a:lnTo>
                    <a:pt x="637032" y="425959"/>
                  </a:lnTo>
                  <a:cubicBezTo>
                    <a:pt x="642271" y="425864"/>
                    <a:pt x="646366" y="421483"/>
                    <a:pt x="646271" y="416148"/>
                  </a:cubicBezTo>
                  <a:cubicBezTo>
                    <a:pt x="645129" y="375095"/>
                    <a:pt x="636080" y="337948"/>
                    <a:pt x="619315" y="305657"/>
                  </a:cubicBezTo>
                  <a:cubicBezTo>
                    <a:pt x="560260" y="191836"/>
                    <a:pt x="436150" y="178881"/>
                    <a:pt x="430721" y="178404"/>
                  </a:cubicBezTo>
                  <a:close/>
                  <a:moveTo>
                    <a:pt x="344424" y="955"/>
                  </a:moveTo>
                  <a:cubicBezTo>
                    <a:pt x="347662" y="2573"/>
                    <a:pt x="421862" y="39720"/>
                    <a:pt x="442627" y="116111"/>
                  </a:cubicBezTo>
                  <a:cubicBezTo>
                    <a:pt x="474725" y="120399"/>
                    <a:pt x="607505" y="145544"/>
                    <a:pt x="675418" y="276512"/>
                  </a:cubicBezTo>
                  <a:cubicBezTo>
                    <a:pt x="696658" y="317375"/>
                    <a:pt x="708088" y="363760"/>
                    <a:pt x="709423" y="414529"/>
                  </a:cubicBezTo>
                  <a:cubicBezTo>
                    <a:pt x="711137" y="479870"/>
                    <a:pt x="706946" y="605885"/>
                    <a:pt x="658558" y="714853"/>
                  </a:cubicBezTo>
                  <a:cubicBezTo>
                    <a:pt x="658272" y="715804"/>
                    <a:pt x="609695" y="845059"/>
                    <a:pt x="627221" y="941167"/>
                  </a:cubicBezTo>
                  <a:lnTo>
                    <a:pt x="153733" y="941167"/>
                  </a:lnTo>
                  <a:cubicBezTo>
                    <a:pt x="145637" y="893826"/>
                    <a:pt x="136779" y="777242"/>
                    <a:pt x="215455" y="673228"/>
                  </a:cubicBezTo>
                  <a:lnTo>
                    <a:pt x="219932" y="667419"/>
                  </a:lnTo>
                  <a:cubicBezTo>
                    <a:pt x="223648" y="662561"/>
                    <a:pt x="227457" y="657608"/>
                    <a:pt x="231076" y="652559"/>
                  </a:cubicBezTo>
                  <a:cubicBezTo>
                    <a:pt x="249174" y="627317"/>
                    <a:pt x="295465" y="568834"/>
                    <a:pt x="370332" y="512351"/>
                  </a:cubicBezTo>
                  <a:cubicBezTo>
                    <a:pt x="333850" y="518160"/>
                    <a:pt x="281653" y="519970"/>
                    <a:pt x="224790" y="500920"/>
                  </a:cubicBezTo>
                  <a:cubicBezTo>
                    <a:pt x="209170" y="518542"/>
                    <a:pt x="154972" y="572264"/>
                    <a:pt x="86582" y="558737"/>
                  </a:cubicBezTo>
                  <a:cubicBezTo>
                    <a:pt x="55721" y="552547"/>
                    <a:pt x="29050" y="533783"/>
                    <a:pt x="13335" y="507112"/>
                  </a:cubicBezTo>
                  <a:cubicBezTo>
                    <a:pt x="-1048" y="482728"/>
                    <a:pt x="-16574" y="432912"/>
                    <a:pt x="41147" y="374144"/>
                  </a:cubicBezTo>
                  <a:cubicBezTo>
                    <a:pt x="41529" y="373762"/>
                    <a:pt x="41910" y="373476"/>
                    <a:pt x="42291" y="373190"/>
                  </a:cubicBezTo>
                  <a:cubicBezTo>
                    <a:pt x="43148" y="372430"/>
                    <a:pt x="134207" y="304992"/>
                    <a:pt x="175069" y="236031"/>
                  </a:cubicBezTo>
                  <a:cubicBezTo>
                    <a:pt x="195644" y="201263"/>
                    <a:pt x="224503" y="173928"/>
                    <a:pt x="258508" y="156782"/>
                  </a:cubicBezTo>
                  <a:cubicBezTo>
                    <a:pt x="282607" y="144781"/>
                    <a:pt x="306801" y="138686"/>
                    <a:pt x="330423" y="138686"/>
                  </a:cubicBezTo>
                  <a:lnTo>
                    <a:pt x="330709" y="138686"/>
                  </a:lnTo>
                  <a:lnTo>
                    <a:pt x="330709" y="9526"/>
                  </a:lnTo>
                  <a:cubicBezTo>
                    <a:pt x="330709" y="6192"/>
                    <a:pt x="332422" y="3145"/>
                    <a:pt x="335185" y="1429"/>
                  </a:cubicBezTo>
                  <a:cubicBezTo>
                    <a:pt x="337948" y="-285"/>
                    <a:pt x="341471" y="-475"/>
                    <a:pt x="344424" y="955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135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32" name="!!c1_quote"/>
          <p:cNvSpPr txBox="1"/>
          <p:nvPr/>
        </p:nvSpPr>
        <p:spPr>
          <a:xfrm>
            <a:off x="685800" y="1645919"/>
            <a:ext cx="37947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i="1">
                <a:solidFill>
                  <a:srgbClr val="2E2925"/>
                </a:solidFill>
                <a:latin typeface="Franklin Gothic Book"/>
              </a:rPr>
              <a:t>“Our targets are increasing, but we keep doing the same thing?”</a:t>
            </a:r>
          </a:p>
        </p:txBody>
      </p:sp>
      <p:sp>
        <p:nvSpPr>
          <p:cNvPr id="33" name="!!c1_how"/>
          <p:cNvSpPr txBox="1"/>
          <p:nvPr/>
        </p:nvSpPr>
        <p:spPr>
          <a:xfrm>
            <a:off x="685800" y="2880360"/>
            <a:ext cx="2011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i="0">
                <a:solidFill>
                  <a:srgbClr val="55575A"/>
                </a:solidFill>
                <a:latin typeface="Franklin Gothic Medium"/>
              </a:rPr>
              <a:t>Who we hunt</a:t>
            </a:r>
          </a:p>
        </p:txBody>
      </p:sp>
      <p:sp>
        <p:nvSpPr>
          <p:cNvPr id="34" name="!!c1_pill"/>
          <p:cNvSpPr/>
          <p:nvPr/>
        </p:nvSpPr>
        <p:spPr>
          <a:xfrm>
            <a:off x="3623401" y="2880360"/>
            <a:ext cx="857158" cy="310896"/>
          </a:xfrm>
          <a:prstGeom prst="roundRect">
            <a:avLst>
              <a:gd name="adj" fmla="val 50000"/>
            </a:avLst>
          </a:prstGeom>
          <a:solidFill>
            <a:srgbClr val="D51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1050">
                <a:solidFill>
                  <a:srgbClr val="FFFFFF"/>
                </a:solidFill>
                <a:latin typeface="Franklin Gothic Medium"/>
              </a:rPr>
              <a:t>IGNITE</a:t>
            </a:r>
          </a:p>
        </p:txBody>
      </p:sp>
      <p:sp>
        <p:nvSpPr>
          <p:cNvPr id="35" name="!!c2_bg"/>
          <p:cNvSpPr/>
          <p:nvPr/>
        </p:nvSpPr>
        <p:spPr>
          <a:xfrm>
            <a:off x="7434071" y="896112"/>
            <a:ext cx="4343400" cy="2487168"/>
          </a:xfrm>
          <a:prstGeom prst="rect">
            <a:avLst/>
          </a:prstGeom>
          <a:solidFill>
            <a:srgbClr val="F4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!!c2_band"/>
          <p:cNvSpPr/>
          <p:nvPr/>
        </p:nvSpPr>
        <p:spPr>
          <a:xfrm>
            <a:off x="7434071" y="896112"/>
            <a:ext cx="4343400" cy="530352"/>
          </a:xfrm>
          <a:prstGeom prst="rect">
            <a:avLst/>
          </a:prstGeom>
          <a:solidFill>
            <a:srgbClr val="555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!!c2_name"/>
          <p:cNvSpPr txBox="1"/>
          <p:nvPr/>
        </p:nvSpPr>
        <p:spPr>
          <a:xfrm>
            <a:off x="8394192" y="896112"/>
            <a:ext cx="32461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i="0">
                <a:solidFill>
                  <a:srgbClr val="FFFFFF"/>
                </a:solidFill>
                <a:latin typeface="Franklin Gothic Medium"/>
              </a:rPr>
              <a:t>2   Process &amp; Customer Engagement</a:t>
            </a:r>
          </a:p>
        </p:txBody>
      </p:sp>
      <p:grpSp>
        <p:nvGrpSpPr>
          <p:cNvPr id="32" name="!!c2_icon">
            <a:extLst>
              <a:ext uri="{FF2B5EF4-FFF2-40B4-BE49-F238E27FC236}">
                <a16:creationId xmlns:a16="http://schemas.microsoft.com/office/drawing/2014/main" id="{77041D4C-755A-3D94-1710-AD2EB06AA12A}"/>
              </a:ext>
            </a:extLst>
          </p:cNvPr>
          <p:cNvGrpSpPr/>
          <p:nvPr/>
        </p:nvGrpSpPr>
        <p:grpSpPr>
          <a:xfrm>
            <a:off x="7543799" y="768096"/>
            <a:ext cx="768096" cy="768096"/>
            <a:chOff x="9967415" y="5638500"/>
            <a:chExt cx="960500" cy="960500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0B46943B-8095-DFB5-802D-B1C35FD52F07}"/>
                </a:ext>
              </a:extLst>
            </p:cNvPr>
            <p:cNvSpPr/>
            <p:nvPr/>
          </p:nvSpPr>
          <p:spPr>
            <a:xfrm>
              <a:off x="9967415" y="5638500"/>
              <a:ext cx="960500" cy="960500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65000"/>
                    <a:shade val="30000"/>
                    <a:satMod val="115000"/>
                  </a:schemeClr>
                </a:gs>
                <a:gs pos="50000">
                  <a:schemeClr val="bg1">
                    <a:lumMod val="65000"/>
                    <a:shade val="67500"/>
                    <a:satMod val="115000"/>
                  </a:schemeClr>
                </a:gs>
                <a:gs pos="100000">
                  <a:schemeClr val="bg1">
                    <a:lumMod val="65000"/>
                    <a:shade val="100000"/>
                    <a:satMod val="115000"/>
                  </a:schemeClr>
                </a:gs>
              </a:gsLst>
              <a:lin ang="0" scaled="1"/>
              <a:tileRect/>
            </a:gradFill>
            <a:ln w="19050">
              <a:solidFill>
                <a:srgbClr val="B523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5AF0AA7D-B943-9379-2F28-A53E9C4EE12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159322" y="5855410"/>
              <a:ext cx="628041" cy="473182"/>
            </a:xfrm>
            <a:prstGeom prst="rect">
              <a:avLst/>
            </a:prstGeom>
          </p:spPr>
        </p:pic>
      </p:grpSp>
      <p:sp>
        <p:nvSpPr>
          <p:cNvPr id="38" name="!!c2_quote"/>
          <p:cNvSpPr txBox="1"/>
          <p:nvPr/>
        </p:nvSpPr>
        <p:spPr>
          <a:xfrm>
            <a:off x="7708392" y="1645919"/>
            <a:ext cx="37947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i="1">
                <a:solidFill>
                  <a:srgbClr val="2E2925"/>
                </a:solidFill>
                <a:latin typeface="Franklin Gothic Book"/>
              </a:rPr>
              <a:t>“Are we showing up relevant to our customers? How do we not become commoditized?”</a:t>
            </a:r>
          </a:p>
        </p:txBody>
      </p:sp>
      <p:sp>
        <p:nvSpPr>
          <p:cNvPr id="39" name="!!c2_how"/>
          <p:cNvSpPr txBox="1"/>
          <p:nvPr/>
        </p:nvSpPr>
        <p:spPr>
          <a:xfrm>
            <a:off x="7708392" y="2880360"/>
            <a:ext cx="2011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i="0">
                <a:solidFill>
                  <a:srgbClr val="55575A"/>
                </a:solidFill>
                <a:latin typeface="Franklin Gothic Medium"/>
              </a:rPr>
              <a:t>How we hunt</a:t>
            </a:r>
          </a:p>
        </p:txBody>
      </p:sp>
      <p:sp>
        <p:nvSpPr>
          <p:cNvPr id="40" name="!!c2_pill"/>
          <p:cNvSpPr/>
          <p:nvPr/>
        </p:nvSpPr>
        <p:spPr>
          <a:xfrm>
            <a:off x="9422800" y="2880360"/>
            <a:ext cx="2080351" cy="310896"/>
          </a:xfrm>
          <a:prstGeom prst="roundRect">
            <a:avLst>
              <a:gd name="adj" fmla="val 50000"/>
            </a:avLst>
          </a:prstGeom>
          <a:solidFill>
            <a:srgbClr val="D51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1050">
                <a:solidFill>
                  <a:srgbClr val="FFFFFF"/>
                </a:solidFill>
                <a:latin typeface="Franklin Gothic Medium"/>
              </a:rPr>
              <a:t>CONNECT ABM PROGRAM</a:t>
            </a:r>
          </a:p>
        </p:txBody>
      </p:sp>
      <p:sp>
        <p:nvSpPr>
          <p:cNvPr id="41" name="!!c3_bg"/>
          <p:cNvSpPr/>
          <p:nvPr/>
        </p:nvSpPr>
        <p:spPr>
          <a:xfrm>
            <a:off x="7434071" y="3675887"/>
            <a:ext cx="4343400" cy="2487168"/>
          </a:xfrm>
          <a:prstGeom prst="rect">
            <a:avLst/>
          </a:prstGeom>
          <a:solidFill>
            <a:srgbClr val="F4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!!c3_band"/>
          <p:cNvSpPr/>
          <p:nvPr/>
        </p:nvSpPr>
        <p:spPr>
          <a:xfrm>
            <a:off x="7434071" y="3675887"/>
            <a:ext cx="4343400" cy="530352"/>
          </a:xfrm>
          <a:prstGeom prst="rect">
            <a:avLst/>
          </a:prstGeom>
          <a:solidFill>
            <a:srgbClr val="B52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!!c3_name"/>
          <p:cNvSpPr txBox="1"/>
          <p:nvPr/>
        </p:nvSpPr>
        <p:spPr>
          <a:xfrm>
            <a:off x="8394192" y="3675887"/>
            <a:ext cx="32461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i="0">
                <a:solidFill>
                  <a:srgbClr val="FFFFFF"/>
                </a:solidFill>
                <a:latin typeface="Franklin Gothic Medium"/>
              </a:rPr>
              <a:t>3   Art &amp; Talent Optimization</a:t>
            </a:r>
          </a:p>
        </p:txBody>
      </p:sp>
      <p:sp>
        <p:nvSpPr>
          <p:cNvPr id="20" name="!!c3_icon">
            <a:extLst>
              <a:ext uri="{FF2B5EF4-FFF2-40B4-BE49-F238E27FC236}">
                <a16:creationId xmlns:a16="http://schemas.microsoft.com/office/drawing/2014/main" id="{1554B659-AB45-0829-BE35-18A4734CC740}"/>
              </a:ext>
            </a:extLst>
          </p:cNvPr>
          <p:cNvSpPr/>
          <p:nvPr/>
        </p:nvSpPr>
        <p:spPr>
          <a:xfrm>
            <a:off x="7543799" y="3547871"/>
            <a:ext cx="768096" cy="768096"/>
          </a:xfrm>
          <a:prstGeom prst="ellipse">
            <a:avLst/>
          </a:prstGeom>
          <a:gradFill flip="none" rotWithShape="1">
            <a:gsLst>
              <a:gs pos="0">
                <a:schemeClr val="bg1">
                  <a:lumMod val="65000"/>
                  <a:shade val="30000"/>
                  <a:satMod val="115000"/>
                </a:schemeClr>
              </a:gs>
              <a:gs pos="50000">
                <a:schemeClr val="bg1">
                  <a:lumMod val="65000"/>
                  <a:shade val="67500"/>
                  <a:satMod val="115000"/>
                </a:schemeClr>
              </a:gs>
              <a:gs pos="100000">
                <a:schemeClr val="bg1">
                  <a:lumMod val="65000"/>
                  <a:shade val="100000"/>
                  <a:satMod val="115000"/>
                </a:schemeClr>
              </a:gs>
            </a:gsLst>
            <a:lin ang="0" scaled="1"/>
            <a:tileRect/>
          </a:gradFill>
          <a:ln w="19050">
            <a:solidFill>
              <a:srgbClr val="B523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!!c3_icon2">
            <a:extLst>
              <a:ext uri="{FF2B5EF4-FFF2-40B4-BE49-F238E27FC236}">
                <a16:creationId xmlns:a16="http://schemas.microsoft.com/office/drawing/2014/main" id="{1D374ABD-935D-2940-6A79-175341756B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4353" y="3697373"/>
            <a:ext cx="486989" cy="479134"/>
          </a:xfrm>
          <a:prstGeom prst="rect">
            <a:avLst/>
          </a:prstGeom>
        </p:spPr>
      </p:pic>
      <p:sp>
        <p:nvSpPr>
          <p:cNvPr id="44" name="!!c3_quote"/>
          <p:cNvSpPr txBox="1"/>
          <p:nvPr/>
        </p:nvSpPr>
        <p:spPr>
          <a:xfrm>
            <a:off x="7708392" y="4425696"/>
            <a:ext cx="37947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i="1">
                <a:solidFill>
                  <a:srgbClr val="2E2925"/>
                </a:solidFill>
                <a:latin typeface="Franklin Gothic Book"/>
              </a:rPr>
              <a:t>“We have to develop our people. We can’t afford the cost of turnover and talent is hard to find.”</a:t>
            </a:r>
          </a:p>
        </p:txBody>
      </p:sp>
      <p:sp>
        <p:nvSpPr>
          <p:cNvPr id="45" name="!!c3_how"/>
          <p:cNvSpPr txBox="1"/>
          <p:nvPr/>
        </p:nvSpPr>
        <p:spPr>
          <a:xfrm>
            <a:off x="7708392" y="5660136"/>
            <a:ext cx="2011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i="0">
                <a:solidFill>
                  <a:srgbClr val="55575A"/>
                </a:solidFill>
                <a:latin typeface="Franklin Gothic Medium"/>
              </a:rPr>
              <a:t>How we develop</a:t>
            </a:r>
          </a:p>
        </p:txBody>
      </p:sp>
      <p:sp>
        <p:nvSpPr>
          <p:cNvPr id="46" name="!!c3_pill"/>
          <p:cNvSpPr/>
          <p:nvPr/>
        </p:nvSpPr>
        <p:spPr>
          <a:xfrm>
            <a:off x="9987351" y="5660136"/>
            <a:ext cx="1515800" cy="310896"/>
          </a:xfrm>
          <a:prstGeom prst="roundRect">
            <a:avLst>
              <a:gd name="adj" fmla="val 50000"/>
            </a:avLst>
          </a:prstGeom>
          <a:solidFill>
            <a:srgbClr val="D51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1050">
                <a:solidFill>
                  <a:srgbClr val="FFFFFF"/>
                </a:solidFill>
                <a:latin typeface="Franklin Gothic Medium"/>
              </a:rPr>
              <a:t>IGNITE TALENT</a:t>
            </a:r>
          </a:p>
        </p:txBody>
      </p:sp>
      <p:sp>
        <p:nvSpPr>
          <p:cNvPr id="47" name="!!c4_bg"/>
          <p:cNvSpPr/>
          <p:nvPr/>
        </p:nvSpPr>
        <p:spPr>
          <a:xfrm>
            <a:off x="411480" y="3675887"/>
            <a:ext cx="4343400" cy="2487168"/>
          </a:xfrm>
          <a:prstGeom prst="rect">
            <a:avLst/>
          </a:prstGeom>
          <a:solidFill>
            <a:srgbClr val="F4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!!c4_band"/>
          <p:cNvSpPr/>
          <p:nvPr/>
        </p:nvSpPr>
        <p:spPr>
          <a:xfrm>
            <a:off x="411480" y="3675887"/>
            <a:ext cx="4343400" cy="530352"/>
          </a:xfrm>
          <a:prstGeom prst="rect">
            <a:avLst/>
          </a:prstGeom>
          <a:solidFill>
            <a:srgbClr val="555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!!c4_name"/>
          <p:cNvSpPr txBox="1"/>
          <p:nvPr/>
        </p:nvSpPr>
        <p:spPr>
          <a:xfrm>
            <a:off x="1371600" y="3675887"/>
            <a:ext cx="32461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i="0">
                <a:solidFill>
                  <a:srgbClr val="FFFFFF"/>
                </a:solidFill>
                <a:latin typeface="Franklin Gothic Medium"/>
              </a:rPr>
              <a:t>4   Revenue Performance &amp; Metrics</a:t>
            </a:r>
          </a:p>
        </p:txBody>
      </p:sp>
      <p:grpSp>
        <p:nvGrpSpPr>
          <p:cNvPr id="30" name="!!c4_icon">
            <a:extLst>
              <a:ext uri="{FF2B5EF4-FFF2-40B4-BE49-F238E27FC236}">
                <a16:creationId xmlns:a16="http://schemas.microsoft.com/office/drawing/2014/main" id="{A34F56AE-6E15-CA17-553A-4BF952104907}"/>
              </a:ext>
            </a:extLst>
          </p:cNvPr>
          <p:cNvGrpSpPr/>
          <p:nvPr/>
        </p:nvGrpSpPr>
        <p:grpSpPr>
          <a:xfrm>
            <a:off x="521208" y="3547871"/>
            <a:ext cx="768096" cy="768096"/>
            <a:chOff x="1234577" y="277743"/>
            <a:chExt cx="960500" cy="960500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B9C1869-EBAB-161D-2DA4-8C653FBF65E5}"/>
                </a:ext>
              </a:extLst>
            </p:cNvPr>
            <p:cNvSpPr/>
            <p:nvPr/>
          </p:nvSpPr>
          <p:spPr>
            <a:xfrm>
              <a:off x="1234577" y="277743"/>
              <a:ext cx="960500" cy="960500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65000"/>
                    <a:shade val="30000"/>
                    <a:satMod val="115000"/>
                  </a:schemeClr>
                </a:gs>
                <a:gs pos="50000">
                  <a:schemeClr val="bg1">
                    <a:lumMod val="65000"/>
                    <a:shade val="67500"/>
                    <a:satMod val="115000"/>
                  </a:schemeClr>
                </a:gs>
                <a:gs pos="100000">
                  <a:schemeClr val="bg1">
                    <a:lumMod val="65000"/>
                    <a:shade val="100000"/>
                    <a:satMod val="115000"/>
                  </a:schemeClr>
                </a:gs>
              </a:gsLst>
              <a:lin ang="0" scaled="1"/>
              <a:tileRect/>
            </a:gradFill>
            <a:ln w="19050">
              <a:solidFill>
                <a:srgbClr val="B523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A2EA54A9-541A-CDCD-7A9C-8ABB1FBB1F5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48085" y="547117"/>
              <a:ext cx="706154" cy="380952"/>
            </a:xfrm>
            <a:prstGeom prst="rect">
              <a:avLst/>
            </a:prstGeom>
          </p:spPr>
        </p:pic>
      </p:grpSp>
      <p:sp>
        <p:nvSpPr>
          <p:cNvPr id="50" name="!!c4_quote"/>
          <p:cNvSpPr txBox="1"/>
          <p:nvPr/>
        </p:nvSpPr>
        <p:spPr>
          <a:xfrm>
            <a:off x="685800" y="4425696"/>
            <a:ext cx="37947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i="1">
                <a:solidFill>
                  <a:srgbClr val="2E2925"/>
                </a:solidFill>
                <a:latin typeface="Franklin Gothic Book"/>
              </a:rPr>
              <a:t>“We have a lot of reporting, but does it show how or if we are doing better?”</a:t>
            </a:r>
          </a:p>
        </p:txBody>
      </p:sp>
      <p:sp>
        <p:nvSpPr>
          <p:cNvPr id="51" name="!!c4_how"/>
          <p:cNvSpPr txBox="1"/>
          <p:nvPr/>
        </p:nvSpPr>
        <p:spPr>
          <a:xfrm>
            <a:off x="685800" y="5660136"/>
            <a:ext cx="2011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i="0">
                <a:solidFill>
                  <a:srgbClr val="55575A"/>
                </a:solidFill>
                <a:latin typeface="Franklin Gothic Medium"/>
              </a:rPr>
              <a:t>How we measure</a:t>
            </a:r>
          </a:p>
        </p:txBody>
      </p:sp>
      <p:sp>
        <p:nvSpPr>
          <p:cNvPr id="52" name="!!hub_ring"/>
          <p:cNvSpPr/>
          <p:nvPr/>
        </p:nvSpPr>
        <p:spPr>
          <a:xfrm>
            <a:off x="4935016" y="2148840"/>
            <a:ext cx="2322576" cy="2322576"/>
          </a:xfrm>
          <a:prstGeom prst="ellipse">
            <a:avLst/>
          </a:prstGeom>
          <a:noFill/>
          <a:ln w="28575">
            <a:solidFill>
              <a:srgbClr val="D510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!!hub"/>
          <p:cNvSpPr/>
          <p:nvPr/>
        </p:nvSpPr>
        <p:spPr>
          <a:xfrm>
            <a:off x="5044744" y="2258568"/>
            <a:ext cx="2103120" cy="2103120"/>
          </a:xfrm>
          <a:prstGeom prst="ellipse">
            <a:avLst/>
          </a:prstGeom>
          <a:solidFill>
            <a:srgbClr val="555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!!hub_t"/>
          <p:cNvSpPr txBox="1"/>
          <p:nvPr/>
        </p:nvSpPr>
        <p:spPr>
          <a:xfrm>
            <a:off x="5181904" y="2743200"/>
            <a:ext cx="1828799" cy="7315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/>
            <a:r>
              <a:rPr sz="2100" i="0">
                <a:solidFill>
                  <a:srgbClr val="FFFFFF"/>
                </a:solidFill>
                <a:latin typeface="Franklin Gothic Medium"/>
              </a:rPr>
              <a:t>Profitable</a:t>
            </a:r>
          </a:p>
          <a:p>
            <a:pPr algn="ctr"/>
            <a:r>
              <a:rPr sz="2100" i="0">
                <a:solidFill>
                  <a:srgbClr val="FFFFFF"/>
                </a:solidFill>
                <a:latin typeface="Franklin Gothic Medium"/>
              </a:rPr>
              <a:t>Growth</a:t>
            </a:r>
          </a:p>
        </p:txBody>
      </p:sp>
      <p:sp>
        <p:nvSpPr>
          <p:cNvPr id="55" name="!!hub_s"/>
          <p:cNvSpPr txBox="1"/>
          <p:nvPr/>
        </p:nvSpPr>
        <p:spPr>
          <a:xfrm>
            <a:off x="5227624" y="3511296"/>
            <a:ext cx="1737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i="0">
                <a:solidFill>
                  <a:srgbClr val="FFFFFF"/>
                </a:solidFill>
                <a:latin typeface="Franklin Gothic Book"/>
              </a:rPr>
              <a:t>Sales  ·  Marketing</a:t>
            </a:r>
          </a:p>
          <a:p>
            <a:pPr algn="ctr"/>
            <a:r>
              <a:rPr sz="1050" i="0">
                <a:solidFill>
                  <a:srgbClr val="FFFFFF"/>
                </a:solidFill>
                <a:latin typeface="Franklin Gothic Book"/>
              </a:rPr>
              <a:t>Pricing / Rev Mgmt.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000" advTm="700">
        <p159:morph option="byObject"/>
      </p:transition>
    </mc:Choice>
    <mc:Fallback>
      <p:transition spd="slow" advTm="700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 idx="4294967295"/>
          </p:nvPr>
        </p:nvSpPr>
        <p:spPr>
          <a:xfrm>
            <a:off x="0" y="230457"/>
            <a:ext cx="12192000" cy="430887"/>
          </a:xfrm>
        </p:spPr>
        <p:txBody>
          <a:bodyPr>
            <a:noAutofit/>
          </a:bodyPr>
          <a:lstStyle/>
          <a:p>
            <a:pPr algn="ctr"/>
            <a:r>
              <a:rPr lang="en-US" sz="320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</a:rPr>
              <a:t>Where You Win </a:t>
            </a:r>
            <a:r>
              <a:rPr lang="en-US" sz="3200">
                <a:solidFill>
                  <a:srgbClr val="B52372"/>
                </a:solidFill>
                <a:latin typeface="Franklin Gothic Book" panose="020B0503020102020204" pitchFamily="34" charset="0"/>
              </a:rPr>
              <a:t>| Profitable Growth</a:t>
            </a:r>
          </a:p>
        </p:txBody>
      </p:sp>
      <p:sp>
        <p:nvSpPr>
          <p:cNvPr id="3" name="!!c1_bg"/>
          <p:cNvSpPr/>
          <p:nvPr/>
        </p:nvSpPr>
        <p:spPr>
          <a:xfrm>
            <a:off x="411480" y="896112"/>
            <a:ext cx="4343400" cy="2487168"/>
          </a:xfrm>
          <a:prstGeom prst="rect">
            <a:avLst/>
          </a:prstGeom>
          <a:solidFill>
            <a:srgbClr val="F4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c1_band"/>
          <p:cNvSpPr/>
          <p:nvPr/>
        </p:nvSpPr>
        <p:spPr>
          <a:xfrm>
            <a:off x="411480" y="896112"/>
            <a:ext cx="4343400" cy="530352"/>
          </a:xfrm>
          <a:prstGeom prst="rect">
            <a:avLst/>
          </a:prstGeom>
          <a:solidFill>
            <a:srgbClr val="B52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c1_name"/>
          <p:cNvSpPr txBox="1"/>
          <p:nvPr/>
        </p:nvSpPr>
        <p:spPr>
          <a:xfrm>
            <a:off x="1371600" y="896112"/>
            <a:ext cx="32461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i="0">
                <a:solidFill>
                  <a:srgbClr val="FFFFFF"/>
                </a:solidFill>
                <a:latin typeface="Franklin Gothic Medium"/>
              </a:rPr>
              <a:t>1   Science &amp; Strategy</a:t>
            </a:r>
          </a:p>
        </p:txBody>
      </p:sp>
      <p:grpSp>
        <p:nvGrpSpPr>
          <p:cNvPr id="31" name="!!c1_icon">
            <a:extLst>
              <a:ext uri="{FF2B5EF4-FFF2-40B4-BE49-F238E27FC236}">
                <a16:creationId xmlns:a16="http://schemas.microsoft.com/office/drawing/2014/main" id="{64401AE8-1991-1341-CC55-F342691AA60D}"/>
              </a:ext>
            </a:extLst>
          </p:cNvPr>
          <p:cNvGrpSpPr/>
          <p:nvPr/>
        </p:nvGrpSpPr>
        <p:grpSpPr>
          <a:xfrm>
            <a:off x="521208" y="768096"/>
            <a:ext cx="768096" cy="779176"/>
            <a:chOff x="10023859" y="264078"/>
            <a:chExt cx="933564" cy="947032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E3F64412-42DA-A373-E8FF-487F3BC37CB3}"/>
                </a:ext>
              </a:extLst>
            </p:cNvPr>
            <p:cNvSpPr/>
            <p:nvPr/>
          </p:nvSpPr>
          <p:spPr>
            <a:xfrm>
              <a:off x="10023859" y="264078"/>
              <a:ext cx="933564" cy="947032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65000"/>
                    <a:shade val="30000"/>
                    <a:satMod val="115000"/>
                  </a:schemeClr>
                </a:gs>
                <a:gs pos="50000">
                  <a:schemeClr val="bg1">
                    <a:lumMod val="65000"/>
                    <a:shade val="67500"/>
                    <a:satMod val="115000"/>
                  </a:schemeClr>
                </a:gs>
                <a:gs pos="100000">
                  <a:schemeClr val="bg1">
                    <a:lumMod val="65000"/>
                    <a:shade val="100000"/>
                    <a:satMod val="115000"/>
                  </a:schemeClr>
                </a:gs>
              </a:gsLst>
              <a:lin ang="0" scaled="1"/>
              <a:tileRect/>
            </a:gradFill>
            <a:ln w="19050">
              <a:solidFill>
                <a:srgbClr val="B523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: Shape 25">
              <a:extLst>
                <a:ext uri="{FF2B5EF4-FFF2-40B4-BE49-F238E27FC236}">
                  <a16:creationId xmlns:a16="http://schemas.microsoft.com/office/drawing/2014/main" id="{B3723BE5-1E0C-63A4-66D5-E56AEF2E3AAB}"/>
                </a:ext>
              </a:extLst>
            </p:cNvPr>
            <p:cNvSpPr/>
            <p:nvPr/>
          </p:nvSpPr>
          <p:spPr>
            <a:xfrm>
              <a:off x="10275283" y="399791"/>
              <a:ext cx="430716" cy="675605"/>
            </a:xfrm>
            <a:custGeom>
              <a:avLst/>
              <a:gdLst>
                <a:gd name="connsiteX0" fmla="*/ 633032 w 736282"/>
                <a:gd name="connsiteY0" fmla="*/ 1098614 h 1238252"/>
                <a:gd name="connsiteX1" fmla="*/ 623507 w 736282"/>
                <a:gd name="connsiteY1" fmla="*/ 1108139 h 1238252"/>
                <a:gd name="connsiteX2" fmla="*/ 623507 w 736282"/>
                <a:gd name="connsiteY2" fmla="*/ 1170242 h 1238252"/>
                <a:gd name="connsiteX3" fmla="*/ 633032 w 736282"/>
                <a:gd name="connsiteY3" fmla="*/ 1179767 h 1238252"/>
                <a:gd name="connsiteX4" fmla="*/ 642557 w 736282"/>
                <a:gd name="connsiteY4" fmla="*/ 1170242 h 1238252"/>
                <a:gd name="connsiteX5" fmla="*/ 642557 w 736282"/>
                <a:gd name="connsiteY5" fmla="*/ 1108139 h 1238252"/>
                <a:gd name="connsiteX6" fmla="*/ 633032 w 736282"/>
                <a:gd name="connsiteY6" fmla="*/ 1098614 h 1238252"/>
                <a:gd name="connsiteX7" fmla="*/ 536163 w 736282"/>
                <a:gd name="connsiteY7" fmla="*/ 1098614 h 1238252"/>
                <a:gd name="connsiteX8" fmla="*/ 526638 w 736282"/>
                <a:gd name="connsiteY8" fmla="*/ 1108139 h 1238252"/>
                <a:gd name="connsiteX9" fmla="*/ 526638 w 736282"/>
                <a:gd name="connsiteY9" fmla="*/ 1170242 h 1238252"/>
                <a:gd name="connsiteX10" fmla="*/ 536163 w 736282"/>
                <a:gd name="connsiteY10" fmla="*/ 1179767 h 1238252"/>
                <a:gd name="connsiteX11" fmla="*/ 545688 w 736282"/>
                <a:gd name="connsiteY11" fmla="*/ 1170242 h 1238252"/>
                <a:gd name="connsiteX12" fmla="*/ 545688 w 736282"/>
                <a:gd name="connsiteY12" fmla="*/ 1108139 h 1238252"/>
                <a:gd name="connsiteX13" fmla="*/ 536163 w 736282"/>
                <a:gd name="connsiteY13" fmla="*/ 1098614 h 1238252"/>
                <a:gd name="connsiteX14" fmla="*/ 439198 w 736282"/>
                <a:gd name="connsiteY14" fmla="*/ 1098614 h 1238252"/>
                <a:gd name="connsiteX15" fmla="*/ 429673 w 736282"/>
                <a:gd name="connsiteY15" fmla="*/ 1108139 h 1238252"/>
                <a:gd name="connsiteX16" fmla="*/ 429673 w 736282"/>
                <a:gd name="connsiteY16" fmla="*/ 1170242 h 1238252"/>
                <a:gd name="connsiteX17" fmla="*/ 439198 w 736282"/>
                <a:gd name="connsiteY17" fmla="*/ 1179767 h 1238252"/>
                <a:gd name="connsiteX18" fmla="*/ 448723 w 736282"/>
                <a:gd name="connsiteY18" fmla="*/ 1170242 h 1238252"/>
                <a:gd name="connsiteX19" fmla="*/ 448723 w 736282"/>
                <a:gd name="connsiteY19" fmla="*/ 1108139 h 1238252"/>
                <a:gd name="connsiteX20" fmla="*/ 439198 w 736282"/>
                <a:gd name="connsiteY20" fmla="*/ 1098614 h 1238252"/>
                <a:gd name="connsiteX21" fmla="*/ 342329 w 736282"/>
                <a:gd name="connsiteY21" fmla="*/ 1098614 h 1238252"/>
                <a:gd name="connsiteX22" fmla="*/ 332804 w 736282"/>
                <a:gd name="connsiteY22" fmla="*/ 1108139 h 1238252"/>
                <a:gd name="connsiteX23" fmla="*/ 332804 w 736282"/>
                <a:gd name="connsiteY23" fmla="*/ 1170242 h 1238252"/>
                <a:gd name="connsiteX24" fmla="*/ 342329 w 736282"/>
                <a:gd name="connsiteY24" fmla="*/ 1179767 h 1238252"/>
                <a:gd name="connsiteX25" fmla="*/ 351854 w 736282"/>
                <a:gd name="connsiteY25" fmla="*/ 1170242 h 1238252"/>
                <a:gd name="connsiteX26" fmla="*/ 351854 w 736282"/>
                <a:gd name="connsiteY26" fmla="*/ 1108139 h 1238252"/>
                <a:gd name="connsiteX27" fmla="*/ 342329 w 736282"/>
                <a:gd name="connsiteY27" fmla="*/ 1098614 h 1238252"/>
                <a:gd name="connsiteX28" fmla="*/ 245459 w 736282"/>
                <a:gd name="connsiteY28" fmla="*/ 1098614 h 1238252"/>
                <a:gd name="connsiteX29" fmla="*/ 235934 w 736282"/>
                <a:gd name="connsiteY29" fmla="*/ 1108139 h 1238252"/>
                <a:gd name="connsiteX30" fmla="*/ 235934 w 736282"/>
                <a:gd name="connsiteY30" fmla="*/ 1170242 h 1238252"/>
                <a:gd name="connsiteX31" fmla="*/ 245459 w 736282"/>
                <a:gd name="connsiteY31" fmla="*/ 1179767 h 1238252"/>
                <a:gd name="connsiteX32" fmla="*/ 254984 w 736282"/>
                <a:gd name="connsiteY32" fmla="*/ 1170242 h 1238252"/>
                <a:gd name="connsiteX33" fmla="*/ 254984 w 736282"/>
                <a:gd name="connsiteY33" fmla="*/ 1108139 h 1238252"/>
                <a:gd name="connsiteX34" fmla="*/ 245459 w 736282"/>
                <a:gd name="connsiteY34" fmla="*/ 1098614 h 1238252"/>
                <a:gd name="connsiteX35" fmla="*/ 148494 w 736282"/>
                <a:gd name="connsiteY35" fmla="*/ 1098614 h 1238252"/>
                <a:gd name="connsiteX36" fmla="*/ 138969 w 736282"/>
                <a:gd name="connsiteY36" fmla="*/ 1108139 h 1238252"/>
                <a:gd name="connsiteX37" fmla="*/ 138969 w 736282"/>
                <a:gd name="connsiteY37" fmla="*/ 1170242 h 1238252"/>
                <a:gd name="connsiteX38" fmla="*/ 148494 w 736282"/>
                <a:gd name="connsiteY38" fmla="*/ 1179767 h 1238252"/>
                <a:gd name="connsiteX39" fmla="*/ 158019 w 736282"/>
                <a:gd name="connsiteY39" fmla="*/ 1170242 h 1238252"/>
                <a:gd name="connsiteX40" fmla="*/ 158019 w 736282"/>
                <a:gd name="connsiteY40" fmla="*/ 1108139 h 1238252"/>
                <a:gd name="connsiteX41" fmla="*/ 148494 w 736282"/>
                <a:gd name="connsiteY41" fmla="*/ 1098614 h 1238252"/>
                <a:gd name="connsiteX42" fmla="*/ 45244 w 736282"/>
                <a:gd name="connsiteY42" fmla="*/ 1059182 h 1238252"/>
                <a:gd name="connsiteX43" fmla="*/ 736282 w 736282"/>
                <a:gd name="connsiteY43" fmla="*/ 1059182 h 1238252"/>
                <a:gd name="connsiteX44" fmla="*/ 736282 w 736282"/>
                <a:gd name="connsiteY44" fmla="*/ 1228727 h 1238252"/>
                <a:gd name="connsiteX45" fmla="*/ 726757 w 736282"/>
                <a:gd name="connsiteY45" fmla="*/ 1238252 h 1238252"/>
                <a:gd name="connsiteX46" fmla="*/ 54769 w 736282"/>
                <a:gd name="connsiteY46" fmla="*/ 1238252 h 1238252"/>
                <a:gd name="connsiteX47" fmla="*/ 45244 w 736282"/>
                <a:gd name="connsiteY47" fmla="*/ 1228727 h 1238252"/>
                <a:gd name="connsiteX48" fmla="*/ 147258 w 736282"/>
                <a:gd name="connsiteY48" fmla="*/ 960218 h 1238252"/>
                <a:gd name="connsiteX49" fmla="*/ 634270 w 736282"/>
                <a:gd name="connsiteY49" fmla="*/ 960218 h 1238252"/>
                <a:gd name="connsiteX50" fmla="*/ 671703 w 736282"/>
                <a:gd name="connsiteY50" fmla="*/ 1040131 h 1238252"/>
                <a:gd name="connsiteX51" fmla="*/ 109824 w 736282"/>
                <a:gd name="connsiteY51" fmla="*/ 1040131 h 1238252"/>
                <a:gd name="connsiteX52" fmla="*/ 285370 w 736282"/>
                <a:gd name="connsiteY52" fmla="*/ 245651 h 1238252"/>
                <a:gd name="connsiteX53" fmla="*/ 235077 w 736282"/>
                <a:gd name="connsiteY53" fmla="*/ 295944 h 1238252"/>
                <a:gd name="connsiteX54" fmla="*/ 285370 w 736282"/>
                <a:gd name="connsiteY54" fmla="*/ 346045 h 1238252"/>
                <a:gd name="connsiteX55" fmla="*/ 335471 w 736282"/>
                <a:gd name="connsiteY55" fmla="*/ 295944 h 1238252"/>
                <a:gd name="connsiteX56" fmla="*/ 285370 w 736282"/>
                <a:gd name="connsiteY56" fmla="*/ 245651 h 1238252"/>
                <a:gd name="connsiteX57" fmla="*/ 404146 w 736282"/>
                <a:gd name="connsiteY57" fmla="*/ 176214 h 1238252"/>
                <a:gd name="connsiteX58" fmla="*/ 393954 w 736282"/>
                <a:gd name="connsiteY58" fmla="*/ 184976 h 1238252"/>
                <a:gd name="connsiteX59" fmla="*/ 402622 w 736282"/>
                <a:gd name="connsiteY59" fmla="*/ 195264 h 1238252"/>
                <a:gd name="connsiteX60" fmla="*/ 429100 w 736282"/>
                <a:gd name="connsiteY60" fmla="*/ 197359 h 1238252"/>
                <a:gd name="connsiteX61" fmla="*/ 602456 w 736282"/>
                <a:gd name="connsiteY61" fmla="*/ 314422 h 1238252"/>
                <a:gd name="connsiteX62" fmla="*/ 627221 w 736282"/>
                <a:gd name="connsiteY62" fmla="*/ 416720 h 1238252"/>
                <a:gd name="connsiteX63" fmla="*/ 636746 w 736282"/>
                <a:gd name="connsiteY63" fmla="*/ 425959 h 1238252"/>
                <a:gd name="connsiteX64" fmla="*/ 637032 w 736282"/>
                <a:gd name="connsiteY64" fmla="*/ 425959 h 1238252"/>
                <a:gd name="connsiteX65" fmla="*/ 646271 w 736282"/>
                <a:gd name="connsiteY65" fmla="*/ 416148 h 1238252"/>
                <a:gd name="connsiteX66" fmla="*/ 619315 w 736282"/>
                <a:gd name="connsiteY66" fmla="*/ 305657 h 1238252"/>
                <a:gd name="connsiteX67" fmla="*/ 430721 w 736282"/>
                <a:gd name="connsiteY67" fmla="*/ 178404 h 1238252"/>
                <a:gd name="connsiteX68" fmla="*/ 344424 w 736282"/>
                <a:gd name="connsiteY68" fmla="*/ 955 h 1238252"/>
                <a:gd name="connsiteX69" fmla="*/ 442627 w 736282"/>
                <a:gd name="connsiteY69" fmla="*/ 116111 h 1238252"/>
                <a:gd name="connsiteX70" fmla="*/ 675418 w 736282"/>
                <a:gd name="connsiteY70" fmla="*/ 276512 h 1238252"/>
                <a:gd name="connsiteX71" fmla="*/ 709423 w 736282"/>
                <a:gd name="connsiteY71" fmla="*/ 414529 h 1238252"/>
                <a:gd name="connsiteX72" fmla="*/ 658558 w 736282"/>
                <a:gd name="connsiteY72" fmla="*/ 714853 h 1238252"/>
                <a:gd name="connsiteX73" fmla="*/ 627221 w 736282"/>
                <a:gd name="connsiteY73" fmla="*/ 941167 h 1238252"/>
                <a:gd name="connsiteX74" fmla="*/ 153733 w 736282"/>
                <a:gd name="connsiteY74" fmla="*/ 941167 h 1238252"/>
                <a:gd name="connsiteX75" fmla="*/ 215455 w 736282"/>
                <a:gd name="connsiteY75" fmla="*/ 673228 h 1238252"/>
                <a:gd name="connsiteX76" fmla="*/ 219932 w 736282"/>
                <a:gd name="connsiteY76" fmla="*/ 667419 h 1238252"/>
                <a:gd name="connsiteX77" fmla="*/ 231076 w 736282"/>
                <a:gd name="connsiteY77" fmla="*/ 652559 h 1238252"/>
                <a:gd name="connsiteX78" fmla="*/ 370332 w 736282"/>
                <a:gd name="connsiteY78" fmla="*/ 512351 h 1238252"/>
                <a:gd name="connsiteX79" fmla="*/ 224790 w 736282"/>
                <a:gd name="connsiteY79" fmla="*/ 500920 h 1238252"/>
                <a:gd name="connsiteX80" fmla="*/ 86582 w 736282"/>
                <a:gd name="connsiteY80" fmla="*/ 558737 h 1238252"/>
                <a:gd name="connsiteX81" fmla="*/ 13335 w 736282"/>
                <a:gd name="connsiteY81" fmla="*/ 507112 h 1238252"/>
                <a:gd name="connsiteX82" fmla="*/ 41147 w 736282"/>
                <a:gd name="connsiteY82" fmla="*/ 374144 h 1238252"/>
                <a:gd name="connsiteX83" fmla="*/ 42291 w 736282"/>
                <a:gd name="connsiteY83" fmla="*/ 373190 h 1238252"/>
                <a:gd name="connsiteX84" fmla="*/ 175069 w 736282"/>
                <a:gd name="connsiteY84" fmla="*/ 236031 h 1238252"/>
                <a:gd name="connsiteX85" fmla="*/ 258508 w 736282"/>
                <a:gd name="connsiteY85" fmla="*/ 156782 h 1238252"/>
                <a:gd name="connsiteX86" fmla="*/ 330423 w 736282"/>
                <a:gd name="connsiteY86" fmla="*/ 138686 h 1238252"/>
                <a:gd name="connsiteX87" fmla="*/ 330709 w 736282"/>
                <a:gd name="connsiteY87" fmla="*/ 138686 h 1238252"/>
                <a:gd name="connsiteX88" fmla="*/ 330709 w 736282"/>
                <a:gd name="connsiteY88" fmla="*/ 9526 h 1238252"/>
                <a:gd name="connsiteX89" fmla="*/ 335185 w 736282"/>
                <a:gd name="connsiteY89" fmla="*/ 1429 h 1238252"/>
                <a:gd name="connsiteX90" fmla="*/ 344424 w 736282"/>
                <a:gd name="connsiteY90" fmla="*/ 955 h 1238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</a:cxnLst>
              <a:rect l="l" t="t" r="r" b="b"/>
              <a:pathLst>
                <a:path w="736282" h="1238252">
                  <a:moveTo>
                    <a:pt x="633032" y="1098614"/>
                  </a:moveTo>
                  <a:cubicBezTo>
                    <a:pt x="627793" y="1098614"/>
                    <a:pt x="623507" y="1102902"/>
                    <a:pt x="623507" y="1108139"/>
                  </a:cubicBezTo>
                  <a:lnTo>
                    <a:pt x="623507" y="1170242"/>
                  </a:lnTo>
                  <a:cubicBezTo>
                    <a:pt x="623507" y="1175577"/>
                    <a:pt x="627793" y="1179767"/>
                    <a:pt x="633032" y="1179767"/>
                  </a:cubicBezTo>
                  <a:cubicBezTo>
                    <a:pt x="638270" y="1179767"/>
                    <a:pt x="642557" y="1175577"/>
                    <a:pt x="642557" y="1170242"/>
                  </a:cubicBezTo>
                  <a:lnTo>
                    <a:pt x="642557" y="1108139"/>
                  </a:lnTo>
                  <a:cubicBezTo>
                    <a:pt x="642557" y="1102902"/>
                    <a:pt x="638270" y="1098614"/>
                    <a:pt x="633032" y="1098614"/>
                  </a:cubicBezTo>
                  <a:close/>
                  <a:moveTo>
                    <a:pt x="536163" y="1098614"/>
                  </a:moveTo>
                  <a:cubicBezTo>
                    <a:pt x="530829" y="1098614"/>
                    <a:pt x="526638" y="1102902"/>
                    <a:pt x="526638" y="1108139"/>
                  </a:cubicBezTo>
                  <a:lnTo>
                    <a:pt x="526638" y="1170242"/>
                  </a:lnTo>
                  <a:cubicBezTo>
                    <a:pt x="526638" y="1175577"/>
                    <a:pt x="530829" y="1179767"/>
                    <a:pt x="536163" y="1179767"/>
                  </a:cubicBezTo>
                  <a:cubicBezTo>
                    <a:pt x="541401" y="1179767"/>
                    <a:pt x="545688" y="1175577"/>
                    <a:pt x="545688" y="1170242"/>
                  </a:cubicBezTo>
                  <a:lnTo>
                    <a:pt x="545688" y="1108139"/>
                  </a:lnTo>
                  <a:cubicBezTo>
                    <a:pt x="545688" y="1102902"/>
                    <a:pt x="541401" y="1098614"/>
                    <a:pt x="536163" y="1098614"/>
                  </a:cubicBezTo>
                  <a:close/>
                  <a:moveTo>
                    <a:pt x="439198" y="1098614"/>
                  </a:moveTo>
                  <a:cubicBezTo>
                    <a:pt x="433958" y="1098614"/>
                    <a:pt x="429673" y="1102902"/>
                    <a:pt x="429673" y="1108139"/>
                  </a:cubicBezTo>
                  <a:lnTo>
                    <a:pt x="429673" y="1170242"/>
                  </a:lnTo>
                  <a:cubicBezTo>
                    <a:pt x="429673" y="1175577"/>
                    <a:pt x="433958" y="1179767"/>
                    <a:pt x="439198" y="1179767"/>
                  </a:cubicBezTo>
                  <a:cubicBezTo>
                    <a:pt x="444532" y="1179767"/>
                    <a:pt x="448723" y="1175577"/>
                    <a:pt x="448723" y="1170242"/>
                  </a:cubicBezTo>
                  <a:lnTo>
                    <a:pt x="448723" y="1108139"/>
                  </a:lnTo>
                  <a:cubicBezTo>
                    <a:pt x="448723" y="1102902"/>
                    <a:pt x="444532" y="1098614"/>
                    <a:pt x="439198" y="1098614"/>
                  </a:cubicBezTo>
                  <a:close/>
                  <a:moveTo>
                    <a:pt x="342329" y="1098614"/>
                  </a:moveTo>
                  <a:cubicBezTo>
                    <a:pt x="337090" y="1098614"/>
                    <a:pt x="332804" y="1102902"/>
                    <a:pt x="332804" y="1108139"/>
                  </a:cubicBezTo>
                  <a:lnTo>
                    <a:pt x="332804" y="1170242"/>
                  </a:lnTo>
                  <a:cubicBezTo>
                    <a:pt x="332804" y="1175577"/>
                    <a:pt x="337090" y="1179767"/>
                    <a:pt x="342329" y="1179767"/>
                  </a:cubicBezTo>
                  <a:cubicBezTo>
                    <a:pt x="347567" y="1179767"/>
                    <a:pt x="351854" y="1175577"/>
                    <a:pt x="351854" y="1170242"/>
                  </a:cubicBezTo>
                  <a:lnTo>
                    <a:pt x="351854" y="1108139"/>
                  </a:lnTo>
                  <a:cubicBezTo>
                    <a:pt x="351854" y="1102902"/>
                    <a:pt x="347567" y="1098614"/>
                    <a:pt x="342329" y="1098614"/>
                  </a:cubicBezTo>
                  <a:close/>
                  <a:moveTo>
                    <a:pt x="245459" y="1098614"/>
                  </a:moveTo>
                  <a:cubicBezTo>
                    <a:pt x="240126" y="1098614"/>
                    <a:pt x="235934" y="1102902"/>
                    <a:pt x="235934" y="1108139"/>
                  </a:cubicBezTo>
                  <a:lnTo>
                    <a:pt x="235934" y="1170242"/>
                  </a:lnTo>
                  <a:cubicBezTo>
                    <a:pt x="235934" y="1175577"/>
                    <a:pt x="240126" y="1179767"/>
                    <a:pt x="245459" y="1179767"/>
                  </a:cubicBezTo>
                  <a:cubicBezTo>
                    <a:pt x="250697" y="1179767"/>
                    <a:pt x="254984" y="1175577"/>
                    <a:pt x="254984" y="1170242"/>
                  </a:cubicBezTo>
                  <a:lnTo>
                    <a:pt x="254984" y="1108139"/>
                  </a:lnTo>
                  <a:cubicBezTo>
                    <a:pt x="254984" y="1102902"/>
                    <a:pt x="250697" y="1098614"/>
                    <a:pt x="245459" y="1098614"/>
                  </a:cubicBezTo>
                  <a:close/>
                  <a:moveTo>
                    <a:pt x="148494" y="1098614"/>
                  </a:moveTo>
                  <a:cubicBezTo>
                    <a:pt x="143256" y="1098614"/>
                    <a:pt x="138969" y="1102902"/>
                    <a:pt x="138969" y="1108139"/>
                  </a:cubicBezTo>
                  <a:lnTo>
                    <a:pt x="138969" y="1170242"/>
                  </a:lnTo>
                  <a:cubicBezTo>
                    <a:pt x="138969" y="1175577"/>
                    <a:pt x="143256" y="1179767"/>
                    <a:pt x="148494" y="1179767"/>
                  </a:cubicBezTo>
                  <a:cubicBezTo>
                    <a:pt x="153829" y="1179767"/>
                    <a:pt x="158019" y="1175577"/>
                    <a:pt x="158019" y="1170242"/>
                  </a:cubicBezTo>
                  <a:lnTo>
                    <a:pt x="158019" y="1108139"/>
                  </a:lnTo>
                  <a:cubicBezTo>
                    <a:pt x="158019" y="1102902"/>
                    <a:pt x="153829" y="1098614"/>
                    <a:pt x="148494" y="1098614"/>
                  </a:cubicBezTo>
                  <a:close/>
                  <a:moveTo>
                    <a:pt x="45244" y="1059182"/>
                  </a:moveTo>
                  <a:lnTo>
                    <a:pt x="736282" y="1059182"/>
                  </a:lnTo>
                  <a:lnTo>
                    <a:pt x="736282" y="1228727"/>
                  </a:lnTo>
                  <a:cubicBezTo>
                    <a:pt x="736282" y="1233966"/>
                    <a:pt x="732091" y="1238252"/>
                    <a:pt x="726757" y="1238252"/>
                  </a:cubicBezTo>
                  <a:lnTo>
                    <a:pt x="54769" y="1238252"/>
                  </a:lnTo>
                  <a:cubicBezTo>
                    <a:pt x="49531" y="1238252"/>
                    <a:pt x="45244" y="1233966"/>
                    <a:pt x="45244" y="1228727"/>
                  </a:cubicBezTo>
                  <a:close/>
                  <a:moveTo>
                    <a:pt x="147258" y="960218"/>
                  </a:moveTo>
                  <a:lnTo>
                    <a:pt x="634270" y="960218"/>
                  </a:lnTo>
                  <a:lnTo>
                    <a:pt x="671703" y="1040131"/>
                  </a:lnTo>
                  <a:lnTo>
                    <a:pt x="109824" y="1040131"/>
                  </a:lnTo>
                  <a:close/>
                  <a:moveTo>
                    <a:pt x="285370" y="245651"/>
                  </a:moveTo>
                  <a:cubicBezTo>
                    <a:pt x="257650" y="245651"/>
                    <a:pt x="235077" y="268224"/>
                    <a:pt x="235077" y="295944"/>
                  </a:cubicBezTo>
                  <a:cubicBezTo>
                    <a:pt x="235077" y="323565"/>
                    <a:pt x="257650" y="346045"/>
                    <a:pt x="285370" y="346045"/>
                  </a:cubicBezTo>
                  <a:cubicBezTo>
                    <a:pt x="312991" y="346045"/>
                    <a:pt x="335471" y="323565"/>
                    <a:pt x="335471" y="295944"/>
                  </a:cubicBezTo>
                  <a:cubicBezTo>
                    <a:pt x="335471" y="268224"/>
                    <a:pt x="312991" y="245651"/>
                    <a:pt x="285370" y="245651"/>
                  </a:cubicBezTo>
                  <a:close/>
                  <a:moveTo>
                    <a:pt x="404146" y="176214"/>
                  </a:moveTo>
                  <a:cubicBezTo>
                    <a:pt x="398811" y="175737"/>
                    <a:pt x="394335" y="179739"/>
                    <a:pt x="393954" y="184976"/>
                  </a:cubicBezTo>
                  <a:cubicBezTo>
                    <a:pt x="393477" y="190215"/>
                    <a:pt x="397384" y="194787"/>
                    <a:pt x="402622" y="195264"/>
                  </a:cubicBezTo>
                  <a:lnTo>
                    <a:pt x="429100" y="197359"/>
                  </a:lnTo>
                  <a:cubicBezTo>
                    <a:pt x="433958" y="197836"/>
                    <a:pt x="548163" y="209742"/>
                    <a:pt x="602456" y="314422"/>
                  </a:cubicBezTo>
                  <a:cubicBezTo>
                    <a:pt x="617791" y="344138"/>
                    <a:pt x="626173" y="378525"/>
                    <a:pt x="627221" y="416720"/>
                  </a:cubicBezTo>
                  <a:cubicBezTo>
                    <a:pt x="627316" y="421864"/>
                    <a:pt x="631602" y="425959"/>
                    <a:pt x="636746" y="425959"/>
                  </a:cubicBezTo>
                  <a:lnTo>
                    <a:pt x="637032" y="425959"/>
                  </a:lnTo>
                  <a:cubicBezTo>
                    <a:pt x="642271" y="425864"/>
                    <a:pt x="646366" y="421483"/>
                    <a:pt x="646271" y="416148"/>
                  </a:cubicBezTo>
                  <a:cubicBezTo>
                    <a:pt x="645129" y="375095"/>
                    <a:pt x="636080" y="337948"/>
                    <a:pt x="619315" y="305657"/>
                  </a:cubicBezTo>
                  <a:cubicBezTo>
                    <a:pt x="560260" y="191836"/>
                    <a:pt x="436150" y="178881"/>
                    <a:pt x="430721" y="178404"/>
                  </a:cubicBezTo>
                  <a:close/>
                  <a:moveTo>
                    <a:pt x="344424" y="955"/>
                  </a:moveTo>
                  <a:cubicBezTo>
                    <a:pt x="347662" y="2573"/>
                    <a:pt x="421862" y="39720"/>
                    <a:pt x="442627" y="116111"/>
                  </a:cubicBezTo>
                  <a:cubicBezTo>
                    <a:pt x="474725" y="120399"/>
                    <a:pt x="607505" y="145544"/>
                    <a:pt x="675418" y="276512"/>
                  </a:cubicBezTo>
                  <a:cubicBezTo>
                    <a:pt x="696658" y="317375"/>
                    <a:pt x="708088" y="363760"/>
                    <a:pt x="709423" y="414529"/>
                  </a:cubicBezTo>
                  <a:cubicBezTo>
                    <a:pt x="711137" y="479870"/>
                    <a:pt x="706946" y="605885"/>
                    <a:pt x="658558" y="714853"/>
                  </a:cubicBezTo>
                  <a:cubicBezTo>
                    <a:pt x="658272" y="715804"/>
                    <a:pt x="609695" y="845059"/>
                    <a:pt x="627221" y="941167"/>
                  </a:cubicBezTo>
                  <a:lnTo>
                    <a:pt x="153733" y="941167"/>
                  </a:lnTo>
                  <a:cubicBezTo>
                    <a:pt x="145637" y="893826"/>
                    <a:pt x="136779" y="777242"/>
                    <a:pt x="215455" y="673228"/>
                  </a:cubicBezTo>
                  <a:lnTo>
                    <a:pt x="219932" y="667419"/>
                  </a:lnTo>
                  <a:cubicBezTo>
                    <a:pt x="223648" y="662561"/>
                    <a:pt x="227457" y="657608"/>
                    <a:pt x="231076" y="652559"/>
                  </a:cubicBezTo>
                  <a:cubicBezTo>
                    <a:pt x="249174" y="627317"/>
                    <a:pt x="295465" y="568834"/>
                    <a:pt x="370332" y="512351"/>
                  </a:cubicBezTo>
                  <a:cubicBezTo>
                    <a:pt x="333850" y="518160"/>
                    <a:pt x="281653" y="519970"/>
                    <a:pt x="224790" y="500920"/>
                  </a:cubicBezTo>
                  <a:cubicBezTo>
                    <a:pt x="209170" y="518542"/>
                    <a:pt x="154972" y="572264"/>
                    <a:pt x="86582" y="558737"/>
                  </a:cubicBezTo>
                  <a:cubicBezTo>
                    <a:pt x="55721" y="552547"/>
                    <a:pt x="29050" y="533783"/>
                    <a:pt x="13335" y="507112"/>
                  </a:cubicBezTo>
                  <a:cubicBezTo>
                    <a:pt x="-1048" y="482728"/>
                    <a:pt x="-16574" y="432912"/>
                    <a:pt x="41147" y="374144"/>
                  </a:cubicBezTo>
                  <a:cubicBezTo>
                    <a:pt x="41529" y="373762"/>
                    <a:pt x="41910" y="373476"/>
                    <a:pt x="42291" y="373190"/>
                  </a:cubicBezTo>
                  <a:cubicBezTo>
                    <a:pt x="43148" y="372430"/>
                    <a:pt x="134207" y="304992"/>
                    <a:pt x="175069" y="236031"/>
                  </a:cubicBezTo>
                  <a:cubicBezTo>
                    <a:pt x="195644" y="201263"/>
                    <a:pt x="224503" y="173928"/>
                    <a:pt x="258508" y="156782"/>
                  </a:cubicBezTo>
                  <a:cubicBezTo>
                    <a:pt x="282607" y="144781"/>
                    <a:pt x="306801" y="138686"/>
                    <a:pt x="330423" y="138686"/>
                  </a:cubicBezTo>
                  <a:lnTo>
                    <a:pt x="330709" y="138686"/>
                  </a:lnTo>
                  <a:lnTo>
                    <a:pt x="330709" y="9526"/>
                  </a:lnTo>
                  <a:cubicBezTo>
                    <a:pt x="330709" y="6192"/>
                    <a:pt x="332422" y="3145"/>
                    <a:pt x="335185" y="1429"/>
                  </a:cubicBezTo>
                  <a:cubicBezTo>
                    <a:pt x="337948" y="-285"/>
                    <a:pt x="341471" y="-475"/>
                    <a:pt x="344424" y="955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135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32" name="!!c1_quote"/>
          <p:cNvSpPr txBox="1"/>
          <p:nvPr/>
        </p:nvSpPr>
        <p:spPr>
          <a:xfrm>
            <a:off x="685800" y="1645919"/>
            <a:ext cx="37947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i="1">
                <a:solidFill>
                  <a:srgbClr val="2E2925"/>
                </a:solidFill>
                <a:latin typeface="Franklin Gothic Book"/>
              </a:rPr>
              <a:t>“Our targets are increasing, but we keep doing the same thing?”</a:t>
            </a:r>
          </a:p>
        </p:txBody>
      </p:sp>
      <p:sp>
        <p:nvSpPr>
          <p:cNvPr id="33" name="!!c1_how"/>
          <p:cNvSpPr txBox="1"/>
          <p:nvPr/>
        </p:nvSpPr>
        <p:spPr>
          <a:xfrm>
            <a:off x="685800" y="2880360"/>
            <a:ext cx="2011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i="0">
                <a:solidFill>
                  <a:srgbClr val="55575A"/>
                </a:solidFill>
                <a:latin typeface="Franklin Gothic Medium"/>
              </a:rPr>
              <a:t>Who we hunt</a:t>
            </a:r>
          </a:p>
        </p:txBody>
      </p:sp>
      <p:sp>
        <p:nvSpPr>
          <p:cNvPr id="34" name="!!c1_pill"/>
          <p:cNvSpPr/>
          <p:nvPr/>
        </p:nvSpPr>
        <p:spPr>
          <a:xfrm>
            <a:off x="3623401" y="2880360"/>
            <a:ext cx="857158" cy="310896"/>
          </a:xfrm>
          <a:prstGeom prst="roundRect">
            <a:avLst>
              <a:gd name="adj" fmla="val 50000"/>
            </a:avLst>
          </a:prstGeom>
          <a:solidFill>
            <a:srgbClr val="D51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1050">
                <a:solidFill>
                  <a:srgbClr val="FFFFFF"/>
                </a:solidFill>
                <a:latin typeface="Franklin Gothic Medium"/>
              </a:rPr>
              <a:t>IGNITE</a:t>
            </a:r>
          </a:p>
        </p:txBody>
      </p:sp>
      <p:sp>
        <p:nvSpPr>
          <p:cNvPr id="35" name="!!c2_bg"/>
          <p:cNvSpPr/>
          <p:nvPr/>
        </p:nvSpPr>
        <p:spPr>
          <a:xfrm>
            <a:off x="7434071" y="896112"/>
            <a:ext cx="4343400" cy="2487168"/>
          </a:xfrm>
          <a:prstGeom prst="rect">
            <a:avLst/>
          </a:prstGeom>
          <a:solidFill>
            <a:srgbClr val="F4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!!c2_band"/>
          <p:cNvSpPr/>
          <p:nvPr/>
        </p:nvSpPr>
        <p:spPr>
          <a:xfrm>
            <a:off x="7434071" y="896112"/>
            <a:ext cx="4343400" cy="530352"/>
          </a:xfrm>
          <a:prstGeom prst="rect">
            <a:avLst/>
          </a:prstGeom>
          <a:solidFill>
            <a:srgbClr val="555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!!c2_name"/>
          <p:cNvSpPr txBox="1"/>
          <p:nvPr/>
        </p:nvSpPr>
        <p:spPr>
          <a:xfrm>
            <a:off x="8394192" y="896112"/>
            <a:ext cx="32461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i="0">
                <a:solidFill>
                  <a:srgbClr val="FFFFFF"/>
                </a:solidFill>
                <a:latin typeface="Franklin Gothic Medium"/>
              </a:rPr>
              <a:t>2   Process &amp; Customer Engagement</a:t>
            </a:r>
          </a:p>
        </p:txBody>
      </p:sp>
      <p:grpSp>
        <p:nvGrpSpPr>
          <p:cNvPr id="32" name="!!c2_icon">
            <a:extLst>
              <a:ext uri="{FF2B5EF4-FFF2-40B4-BE49-F238E27FC236}">
                <a16:creationId xmlns:a16="http://schemas.microsoft.com/office/drawing/2014/main" id="{77041D4C-755A-3D94-1710-AD2EB06AA12A}"/>
              </a:ext>
            </a:extLst>
          </p:cNvPr>
          <p:cNvGrpSpPr/>
          <p:nvPr/>
        </p:nvGrpSpPr>
        <p:grpSpPr>
          <a:xfrm>
            <a:off x="7543799" y="768096"/>
            <a:ext cx="768096" cy="768096"/>
            <a:chOff x="9967415" y="5638500"/>
            <a:chExt cx="960500" cy="960500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0B46943B-8095-DFB5-802D-B1C35FD52F07}"/>
                </a:ext>
              </a:extLst>
            </p:cNvPr>
            <p:cNvSpPr/>
            <p:nvPr/>
          </p:nvSpPr>
          <p:spPr>
            <a:xfrm>
              <a:off x="9967415" y="5638500"/>
              <a:ext cx="960500" cy="960500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65000"/>
                    <a:shade val="30000"/>
                    <a:satMod val="115000"/>
                  </a:schemeClr>
                </a:gs>
                <a:gs pos="50000">
                  <a:schemeClr val="bg1">
                    <a:lumMod val="65000"/>
                    <a:shade val="67500"/>
                    <a:satMod val="115000"/>
                  </a:schemeClr>
                </a:gs>
                <a:gs pos="100000">
                  <a:schemeClr val="bg1">
                    <a:lumMod val="65000"/>
                    <a:shade val="100000"/>
                    <a:satMod val="115000"/>
                  </a:schemeClr>
                </a:gs>
              </a:gsLst>
              <a:lin ang="0" scaled="1"/>
              <a:tileRect/>
            </a:gradFill>
            <a:ln w="19050">
              <a:solidFill>
                <a:srgbClr val="B523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5AF0AA7D-B943-9379-2F28-A53E9C4EE12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159322" y="5855410"/>
              <a:ext cx="628041" cy="473182"/>
            </a:xfrm>
            <a:prstGeom prst="rect">
              <a:avLst/>
            </a:prstGeom>
          </p:spPr>
        </p:pic>
      </p:grpSp>
      <p:sp>
        <p:nvSpPr>
          <p:cNvPr id="38" name="!!c2_quote"/>
          <p:cNvSpPr txBox="1"/>
          <p:nvPr/>
        </p:nvSpPr>
        <p:spPr>
          <a:xfrm>
            <a:off x="7708392" y="1645919"/>
            <a:ext cx="37947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i="1">
                <a:solidFill>
                  <a:srgbClr val="2E2925"/>
                </a:solidFill>
                <a:latin typeface="Franklin Gothic Book"/>
              </a:rPr>
              <a:t>“Are we showing up relevant to our customers? How do we not become commoditized?”</a:t>
            </a:r>
          </a:p>
        </p:txBody>
      </p:sp>
      <p:sp>
        <p:nvSpPr>
          <p:cNvPr id="39" name="!!c2_how"/>
          <p:cNvSpPr txBox="1"/>
          <p:nvPr/>
        </p:nvSpPr>
        <p:spPr>
          <a:xfrm>
            <a:off x="7708392" y="2880360"/>
            <a:ext cx="2011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i="0">
                <a:solidFill>
                  <a:srgbClr val="55575A"/>
                </a:solidFill>
                <a:latin typeface="Franklin Gothic Medium"/>
              </a:rPr>
              <a:t>How we hunt</a:t>
            </a:r>
          </a:p>
        </p:txBody>
      </p:sp>
      <p:sp>
        <p:nvSpPr>
          <p:cNvPr id="40" name="!!c2_pill"/>
          <p:cNvSpPr/>
          <p:nvPr/>
        </p:nvSpPr>
        <p:spPr>
          <a:xfrm>
            <a:off x="9422800" y="2880360"/>
            <a:ext cx="2080351" cy="310896"/>
          </a:xfrm>
          <a:prstGeom prst="roundRect">
            <a:avLst>
              <a:gd name="adj" fmla="val 50000"/>
            </a:avLst>
          </a:prstGeom>
          <a:solidFill>
            <a:srgbClr val="D51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1050">
                <a:solidFill>
                  <a:srgbClr val="FFFFFF"/>
                </a:solidFill>
                <a:latin typeface="Franklin Gothic Medium"/>
              </a:rPr>
              <a:t>CONNECT ABM PROGRAM</a:t>
            </a:r>
          </a:p>
        </p:txBody>
      </p:sp>
      <p:sp>
        <p:nvSpPr>
          <p:cNvPr id="41" name="!!c3_bg"/>
          <p:cNvSpPr/>
          <p:nvPr/>
        </p:nvSpPr>
        <p:spPr>
          <a:xfrm>
            <a:off x="7434071" y="3675887"/>
            <a:ext cx="4343400" cy="2487168"/>
          </a:xfrm>
          <a:prstGeom prst="rect">
            <a:avLst/>
          </a:prstGeom>
          <a:solidFill>
            <a:srgbClr val="F4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!!c3_band"/>
          <p:cNvSpPr/>
          <p:nvPr/>
        </p:nvSpPr>
        <p:spPr>
          <a:xfrm>
            <a:off x="7434071" y="3675887"/>
            <a:ext cx="4343400" cy="530352"/>
          </a:xfrm>
          <a:prstGeom prst="rect">
            <a:avLst/>
          </a:prstGeom>
          <a:solidFill>
            <a:srgbClr val="B52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!!c3_name"/>
          <p:cNvSpPr txBox="1"/>
          <p:nvPr/>
        </p:nvSpPr>
        <p:spPr>
          <a:xfrm>
            <a:off x="8394192" y="3675887"/>
            <a:ext cx="32461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i="0">
                <a:solidFill>
                  <a:srgbClr val="FFFFFF"/>
                </a:solidFill>
                <a:latin typeface="Franklin Gothic Medium"/>
              </a:rPr>
              <a:t>3   Art &amp; Talent Optimization</a:t>
            </a:r>
          </a:p>
        </p:txBody>
      </p:sp>
      <p:sp>
        <p:nvSpPr>
          <p:cNvPr id="20" name="!!c3_icon">
            <a:extLst>
              <a:ext uri="{FF2B5EF4-FFF2-40B4-BE49-F238E27FC236}">
                <a16:creationId xmlns:a16="http://schemas.microsoft.com/office/drawing/2014/main" id="{1554B659-AB45-0829-BE35-18A4734CC740}"/>
              </a:ext>
            </a:extLst>
          </p:cNvPr>
          <p:cNvSpPr/>
          <p:nvPr/>
        </p:nvSpPr>
        <p:spPr>
          <a:xfrm>
            <a:off x="7543799" y="3547871"/>
            <a:ext cx="768096" cy="768096"/>
          </a:xfrm>
          <a:prstGeom prst="ellipse">
            <a:avLst/>
          </a:prstGeom>
          <a:gradFill flip="none" rotWithShape="1">
            <a:gsLst>
              <a:gs pos="0">
                <a:schemeClr val="bg1">
                  <a:lumMod val="65000"/>
                  <a:shade val="30000"/>
                  <a:satMod val="115000"/>
                </a:schemeClr>
              </a:gs>
              <a:gs pos="50000">
                <a:schemeClr val="bg1">
                  <a:lumMod val="65000"/>
                  <a:shade val="67500"/>
                  <a:satMod val="115000"/>
                </a:schemeClr>
              </a:gs>
              <a:gs pos="100000">
                <a:schemeClr val="bg1">
                  <a:lumMod val="65000"/>
                  <a:shade val="100000"/>
                  <a:satMod val="115000"/>
                </a:schemeClr>
              </a:gs>
            </a:gsLst>
            <a:lin ang="0" scaled="1"/>
            <a:tileRect/>
          </a:gradFill>
          <a:ln w="19050">
            <a:solidFill>
              <a:srgbClr val="B523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!!c3_icon2">
            <a:extLst>
              <a:ext uri="{FF2B5EF4-FFF2-40B4-BE49-F238E27FC236}">
                <a16:creationId xmlns:a16="http://schemas.microsoft.com/office/drawing/2014/main" id="{1D374ABD-935D-2940-6A79-175341756B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4353" y="3697373"/>
            <a:ext cx="486989" cy="479134"/>
          </a:xfrm>
          <a:prstGeom prst="rect">
            <a:avLst/>
          </a:prstGeom>
        </p:spPr>
      </p:pic>
      <p:sp>
        <p:nvSpPr>
          <p:cNvPr id="44" name="!!c3_quote"/>
          <p:cNvSpPr txBox="1"/>
          <p:nvPr/>
        </p:nvSpPr>
        <p:spPr>
          <a:xfrm>
            <a:off x="7708392" y="4425696"/>
            <a:ext cx="37947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i="1">
                <a:solidFill>
                  <a:srgbClr val="2E2925"/>
                </a:solidFill>
                <a:latin typeface="Franklin Gothic Book"/>
              </a:rPr>
              <a:t>“We have to develop our people. We can’t afford the cost of turnover and talent is hard to find.”</a:t>
            </a:r>
          </a:p>
        </p:txBody>
      </p:sp>
      <p:sp>
        <p:nvSpPr>
          <p:cNvPr id="45" name="!!c3_how"/>
          <p:cNvSpPr txBox="1"/>
          <p:nvPr/>
        </p:nvSpPr>
        <p:spPr>
          <a:xfrm>
            <a:off x="7708392" y="5660136"/>
            <a:ext cx="2011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i="0">
                <a:solidFill>
                  <a:srgbClr val="55575A"/>
                </a:solidFill>
                <a:latin typeface="Franklin Gothic Medium"/>
              </a:rPr>
              <a:t>How we develop</a:t>
            </a:r>
          </a:p>
        </p:txBody>
      </p:sp>
      <p:sp>
        <p:nvSpPr>
          <p:cNvPr id="46" name="!!c3_pill"/>
          <p:cNvSpPr/>
          <p:nvPr/>
        </p:nvSpPr>
        <p:spPr>
          <a:xfrm>
            <a:off x="9987351" y="5660136"/>
            <a:ext cx="1515800" cy="310896"/>
          </a:xfrm>
          <a:prstGeom prst="roundRect">
            <a:avLst>
              <a:gd name="adj" fmla="val 50000"/>
            </a:avLst>
          </a:prstGeom>
          <a:solidFill>
            <a:srgbClr val="D51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1050">
                <a:solidFill>
                  <a:srgbClr val="FFFFFF"/>
                </a:solidFill>
                <a:latin typeface="Franklin Gothic Medium"/>
              </a:rPr>
              <a:t>IGNITE TALENT</a:t>
            </a:r>
          </a:p>
        </p:txBody>
      </p:sp>
      <p:sp>
        <p:nvSpPr>
          <p:cNvPr id="47" name="!!c4_bg"/>
          <p:cNvSpPr/>
          <p:nvPr/>
        </p:nvSpPr>
        <p:spPr>
          <a:xfrm>
            <a:off x="411480" y="3675887"/>
            <a:ext cx="4343400" cy="2487168"/>
          </a:xfrm>
          <a:prstGeom prst="rect">
            <a:avLst/>
          </a:prstGeom>
          <a:solidFill>
            <a:srgbClr val="F4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!!c4_band"/>
          <p:cNvSpPr/>
          <p:nvPr/>
        </p:nvSpPr>
        <p:spPr>
          <a:xfrm>
            <a:off x="411480" y="3675887"/>
            <a:ext cx="4343400" cy="530352"/>
          </a:xfrm>
          <a:prstGeom prst="rect">
            <a:avLst/>
          </a:prstGeom>
          <a:solidFill>
            <a:srgbClr val="555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!!c4_name"/>
          <p:cNvSpPr txBox="1"/>
          <p:nvPr/>
        </p:nvSpPr>
        <p:spPr>
          <a:xfrm>
            <a:off x="1371600" y="3675887"/>
            <a:ext cx="32461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i="0">
                <a:solidFill>
                  <a:srgbClr val="FFFFFF"/>
                </a:solidFill>
                <a:latin typeface="Franklin Gothic Medium"/>
              </a:rPr>
              <a:t>4   Revenue Performance &amp; Metrics</a:t>
            </a:r>
          </a:p>
        </p:txBody>
      </p:sp>
      <p:grpSp>
        <p:nvGrpSpPr>
          <p:cNvPr id="30" name="!!c4_icon">
            <a:extLst>
              <a:ext uri="{FF2B5EF4-FFF2-40B4-BE49-F238E27FC236}">
                <a16:creationId xmlns:a16="http://schemas.microsoft.com/office/drawing/2014/main" id="{A34F56AE-6E15-CA17-553A-4BF952104907}"/>
              </a:ext>
            </a:extLst>
          </p:cNvPr>
          <p:cNvGrpSpPr/>
          <p:nvPr/>
        </p:nvGrpSpPr>
        <p:grpSpPr>
          <a:xfrm>
            <a:off x="521208" y="3547871"/>
            <a:ext cx="768096" cy="768096"/>
            <a:chOff x="1234577" y="277743"/>
            <a:chExt cx="960500" cy="960500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B9C1869-EBAB-161D-2DA4-8C653FBF65E5}"/>
                </a:ext>
              </a:extLst>
            </p:cNvPr>
            <p:cNvSpPr/>
            <p:nvPr/>
          </p:nvSpPr>
          <p:spPr>
            <a:xfrm>
              <a:off x="1234577" y="277743"/>
              <a:ext cx="960500" cy="960500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65000"/>
                    <a:shade val="30000"/>
                    <a:satMod val="115000"/>
                  </a:schemeClr>
                </a:gs>
                <a:gs pos="50000">
                  <a:schemeClr val="bg1">
                    <a:lumMod val="65000"/>
                    <a:shade val="67500"/>
                    <a:satMod val="115000"/>
                  </a:schemeClr>
                </a:gs>
                <a:gs pos="100000">
                  <a:schemeClr val="bg1">
                    <a:lumMod val="65000"/>
                    <a:shade val="100000"/>
                    <a:satMod val="115000"/>
                  </a:schemeClr>
                </a:gs>
              </a:gsLst>
              <a:lin ang="0" scaled="1"/>
              <a:tileRect/>
            </a:gradFill>
            <a:ln w="19050">
              <a:solidFill>
                <a:srgbClr val="B523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A2EA54A9-541A-CDCD-7A9C-8ABB1FBB1F5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48085" y="547117"/>
              <a:ext cx="706154" cy="380952"/>
            </a:xfrm>
            <a:prstGeom prst="rect">
              <a:avLst/>
            </a:prstGeom>
          </p:spPr>
        </p:pic>
      </p:grpSp>
      <p:sp>
        <p:nvSpPr>
          <p:cNvPr id="50" name="!!c4_quote"/>
          <p:cNvSpPr txBox="1"/>
          <p:nvPr/>
        </p:nvSpPr>
        <p:spPr>
          <a:xfrm>
            <a:off x="685800" y="4425696"/>
            <a:ext cx="37947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i="1">
                <a:solidFill>
                  <a:srgbClr val="2E2925"/>
                </a:solidFill>
                <a:latin typeface="Franklin Gothic Book"/>
              </a:rPr>
              <a:t>“We have a lot of reporting, but does it show how or if we are doing better?”</a:t>
            </a:r>
          </a:p>
        </p:txBody>
      </p:sp>
      <p:sp>
        <p:nvSpPr>
          <p:cNvPr id="51" name="!!c4_how"/>
          <p:cNvSpPr txBox="1"/>
          <p:nvPr/>
        </p:nvSpPr>
        <p:spPr>
          <a:xfrm>
            <a:off x="685800" y="5660136"/>
            <a:ext cx="2011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i="0">
                <a:solidFill>
                  <a:srgbClr val="55575A"/>
                </a:solidFill>
                <a:latin typeface="Franklin Gothic Medium"/>
              </a:rPr>
              <a:t>How we measure</a:t>
            </a:r>
          </a:p>
        </p:txBody>
      </p:sp>
      <p:sp>
        <p:nvSpPr>
          <p:cNvPr id="52" name="!!hub_ring"/>
          <p:cNvSpPr/>
          <p:nvPr/>
        </p:nvSpPr>
        <p:spPr>
          <a:xfrm>
            <a:off x="4935016" y="2148840"/>
            <a:ext cx="2322576" cy="2322576"/>
          </a:xfrm>
          <a:prstGeom prst="ellipse">
            <a:avLst/>
          </a:prstGeom>
          <a:noFill/>
          <a:ln w="28575">
            <a:solidFill>
              <a:srgbClr val="D510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!!hub"/>
          <p:cNvSpPr/>
          <p:nvPr/>
        </p:nvSpPr>
        <p:spPr>
          <a:xfrm>
            <a:off x="5044744" y="2258568"/>
            <a:ext cx="2103120" cy="2103120"/>
          </a:xfrm>
          <a:prstGeom prst="ellipse">
            <a:avLst/>
          </a:prstGeom>
          <a:solidFill>
            <a:srgbClr val="555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!!hub_t"/>
          <p:cNvSpPr txBox="1"/>
          <p:nvPr/>
        </p:nvSpPr>
        <p:spPr>
          <a:xfrm>
            <a:off x="5181904" y="2743200"/>
            <a:ext cx="1828799" cy="7315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/>
            <a:r>
              <a:rPr sz="2100" i="0">
                <a:solidFill>
                  <a:srgbClr val="FFFFFF"/>
                </a:solidFill>
                <a:latin typeface="Franklin Gothic Medium"/>
              </a:rPr>
              <a:t>Profitable</a:t>
            </a:r>
          </a:p>
          <a:p>
            <a:pPr algn="ctr"/>
            <a:r>
              <a:rPr sz="2100" i="0">
                <a:solidFill>
                  <a:srgbClr val="FFFFFF"/>
                </a:solidFill>
                <a:latin typeface="Franklin Gothic Medium"/>
              </a:rPr>
              <a:t>Growth</a:t>
            </a:r>
          </a:p>
        </p:txBody>
      </p:sp>
      <p:sp>
        <p:nvSpPr>
          <p:cNvPr id="55" name="!!hub_s"/>
          <p:cNvSpPr txBox="1"/>
          <p:nvPr/>
        </p:nvSpPr>
        <p:spPr>
          <a:xfrm>
            <a:off x="5227624" y="3511296"/>
            <a:ext cx="1737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i="0">
                <a:solidFill>
                  <a:srgbClr val="FFFFFF"/>
                </a:solidFill>
                <a:latin typeface="Franklin Gothic Book"/>
              </a:rPr>
              <a:t>Sales  ·  Marketing</a:t>
            </a:r>
          </a:p>
          <a:p>
            <a:pPr algn="ctr"/>
            <a:r>
              <a:rPr sz="1050" i="0">
                <a:solidFill>
                  <a:srgbClr val="FFFFFF"/>
                </a:solidFill>
                <a:latin typeface="Franklin Gothic Book"/>
              </a:rPr>
              <a:t>Pricing / Rev Mgmt.</a:t>
            </a:r>
          </a:p>
        </p:txBody>
      </p:sp>
      <p:sp>
        <p:nvSpPr>
          <p:cNvPr id="56" name="!!fff_rule"/>
          <p:cNvSpPr/>
          <p:nvPr/>
        </p:nvSpPr>
        <p:spPr>
          <a:xfrm>
            <a:off x="5547664" y="4690872"/>
            <a:ext cx="1097280" cy="91"/>
          </a:xfrm>
          <a:prstGeom prst="rect">
            <a:avLst/>
          </a:prstGeom>
          <a:noFill/>
          <a:ln w="9525">
            <a:solidFill>
              <a:srgbClr val="CA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!!fff0"/>
          <p:cNvSpPr txBox="1"/>
          <p:nvPr/>
        </p:nvSpPr>
        <p:spPr>
          <a:xfrm>
            <a:off x="4816144" y="4754880"/>
            <a:ext cx="25603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i="0">
                <a:solidFill>
                  <a:srgbClr val="B52372"/>
                </a:solidFill>
                <a:latin typeface="Franklin Gothic Medium"/>
              </a:rPr>
              <a:t>Focus</a:t>
            </a:r>
          </a:p>
        </p:txBody>
      </p:sp>
      <p:sp>
        <p:nvSpPr>
          <p:cNvPr id="58" name="!!fff1"/>
          <p:cNvSpPr txBox="1"/>
          <p:nvPr/>
        </p:nvSpPr>
        <p:spPr>
          <a:xfrm>
            <a:off x="4816144" y="5084064"/>
            <a:ext cx="25603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i="0">
                <a:solidFill>
                  <a:srgbClr val="55575A"/>
                </a:solidFill>
                <a:latin typeface="Franklin Gothic Book"/>
              </a:rPr>
              <a:t>Framework</a:t>
            </a:r>
          </a:p>
        </p:txBody>
      </p:sp>
      <p:sp>
        <p:nvSpPr>
          <p:cNvPr id="59" name="!!fff2"/>
          <p:cNvSpPr txBox="1"/>
          <p:nvPr/>
        </p:nvSpPr>
        <p:spPr>
          <a:xfrm>
            <a:off x="4816144" y="5413248"/>
            <a:ext cx="25603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i="0">
                <a:solidFill>
                  <a:srgbClr val="55575A"/>
                </a:solidFill>
                <a:latin typeface="Franklin Gothic Book"/>
              </a:rPr>
              <a:t>Foundation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900" advTm="2200">
        <p159:morph option="byObject"/>
      </p:transition>
    </mc:Choice>
    <mc:Fallback>
      <p:transition spd="slow" advTm="2200"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 idx="4294967295"/>
          </p:nvPr>
        </p:nvSpPr>
        <p:spPr>
          <a:xfrm>
            <a:off x="0" y="230457"/>
            <a:ext cx="12192000" cy="430887"/>
          </a:xfrm>
        </p:spPr>
        <p:txBody>
          <a:bodyPr>
            <a:noAutofit/>
          </a:bodyPr>
          <a:lstStyle/>
          <a:p>
            <a:pPr algn="ctr"/>
            <a:r>
              <a:rPr lang="en-US" sz="320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</a:rPr>
              <a:t>Where You Win </a:t>
            </a:r>
            <a:r>
              <a:rPr lang="en-US" sz="3200">
                <a:solidFill>
                  <a:srgbClr val="B52372"/>
                </a:solidFill>
                <a:latin typeface="Franklin Gothic Book" panose="020B0503020102020204" pitchFamily="34" charset="0"/>
              </a:rPr>
              <a:t>| Science &amp; Strategy</a:t>
            </a:r>
          </a:p>
        </p:txBody>
      </p:sp>
      <p:sp>
        <p:nvSpPr>
          <p:cNvPr id="3" name="!!c1_bg"/>
          <p:cNvSpPr/>
          <p:nvPr/>
        </p:nvSpPr>
        <p:spPr>
          <a:xfrm>
            <a:off x="411480" y="914400"/>
            <a:ext cx="5120640" cy="5257800"/>
          </a:xfrm>
          <a:prstGeom prst="rect">
            <a:avLst/>
          </a:prstGeom>
          <a:solidFill>
            <a:srgbClr val="F4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c1_band"/>
          <p:cNvSpPr/>
          <p:nvPr/>
        </p:nvSpPr>
        <p:spPr>
          <a:xfrm>
            <a:off x="411480" y="914400"/>
            <a:ext cx="82296" cy="5257800"/>
          </a:xfrm>
          <a:prstGeom prst="rect">
            <a:avLst/>
          </a:prstGeom>
          <a:solidFill>
            <a:srgbClr val="B52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1" name="!!c1_icon">
            <a:extLst>
              <a:ext uri="{FF2B5EF4-FFF2-40B4-BE49-F238E27FC236}">
                <a16:creationId xmlns:a16="http://schemas.microsoft.com/office/drawing/2014/main" id="{64401AE8-1991-1341-CC55-F342691AA60D}"/>
              </a:ext>
            </a:extLst>
          </p:cNvPr>
          <p:cNvGrpSpPr/>
          <p:nvPr/>
        </p:nvGrpSpPr>
        <p:grpSpPr>
          <a:xfrm>
            <a:off x="822960" y="1234440"/>
            <a:ext cx="1051560" cy="1066730"/>
            <a:chOff x="10023859" y="264078"/>
            <a:chExt cx="933564" cy="947032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E3F64412-42DA-A373-E8FF-487F3BC37CB3}"/>
                </a:ext>
              </a:extLst>
            </p:cNvPr>
            <p:cNvSpPr/>
            <p:nvPr/>
          </p:nvSpPr>
          <p:spPr>
            <a:xfrm>
              <a:off x="10023859" y="264078"/>
              <a:ext cx="933564" cy="947032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65000"/>
                    <a:shade val="30000"/>
                    <a:satMod val="115000"/>
                  </a:schemeClr>
                </a:gs>
                <a:gs pos="50000">
                  <a:schemeClr val="bg1">
                    <a:lumMod val="65000"/>
                    <a:shade val="67500"/>
                    <a:satMod val="115000"/>
                  </a:schemeClr>
                </a:gs>
                <a:gs pos="100000">
                  <a:schemeClr val="bg1">
                    <a:lumMod val="65000"/>
                    <a:shade val="100000"/>
                    <a:satMod val="115000"/>
                  </a:schemeClr>
                </a:gs>
              </a:gsLst>
              <a:lin ang="0" scaled="1"/>
              <a:tileRect/>
            </a:gradFill>
            <a:ln w="19050">
              <a:solidFill>
                <a:srgbClr val="B523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: Shape 25">
              <a:extLst>
                <a:ext uri="{FF2B5EF4-FFF2-40B4-BE49-F238E27FC236}">
                  <a16:creationId xmlns:a16="http://schemas.microsoft.com/office/drawing/2014/main" id="{B3723BE5-1E0C-63A4-66D5-E56AEF2E3AAB}"/>
                </a:ext>
              </a:extLst>
            </p:cNvPr>
            <p:cNvSpPr/>
            <p:nvPr/>
          </p:nvSpPr>
          <p:spPr>
            <a:xfrm>
              <a:off x="10275283" y="399791"/>
              <a:ext cx="430716" cy="675605"/>
            </a:xfrm>
            <a:custGeom>
              <a:avLst/>
              <a:gdLst>
                <a:gd name="connsiteX0" fmla="*/ 633032 w 736282"/>
                <a:gd name="connsiteY0" fmla="*/ 1098614 h 1238252"/>
                <a:gd name="connsiteX1" fmla="*/ 623507 w 736282"/>
                <a:gd name="connsiteY1" fmla="*/ 1108139 h 1238252"/>
                <a:gd name="connsiteX2" fmla="*/ 623507 w 736282"/>
                <a:gd name="connsiteY2" fmla="*/ 1170242 h 1238252"/>
                <a:gd name="connsiteX3" fmla="*/ 633032 w 736282"/>
                <a:gd name="connsiteY3" fmla="*/ 1179767 h 1238252"/>
                <a:gd name="connsiteX4" fmla="*/ 642557 w 736282"/>
                <a:gd name="connsiteY4" fmla="*/ 1170242 h 1238252"/>
                <a:gd name="connsiteX5" fmla="*/ 642557 w 736282"/>
                <a:gd name="connsiteY5" fmla="*/ 1108139 h 1238252"/>
                <a:gd name="connsiteX6" fmla="*/ 633032 w 736282"/>
                <a:gd name="connsiteY6" fmla="*/ 1098614 h 1238252"/>
                <a:gd name="connsiteX7" fmla="*/ 536163 w 736282"/>
                <a:gd name="connsiteY7" fmla="*/ 1098614 h 1238252"/>
                <a:gd name="connsiteX8" fmla="*/ 526638 w 736282"/>
                <a:gd name="connsiteY8" fmla="*/ 1108139 h 1238252"/>
                <a:gd name="connsiteX9" fmla="*/ 526638 w 736282"/>
                <a:gd name="connsiteY9" fmla="*/ 1170242 h 1238252"/>
                <a:gd name="connsiteX10" fmla="*/ 536163 w 736282"/>
                <a:gd name="connsiteY10" fmla="*/ 1179767 h 1238252"/>
                <a:gd name="connsiteX11" fmla="*/ 545688 w 736282"/>
                <a:gd name="connsiteY11" fmla="*/ 1170242 h 1238252"/>
                <a:gd name="connsiteX12" fmla="*/ 545688 w 736282"/>
                <a:gd name="connsiteY12" fmla="*/ 1108139 h 1238252"/>
                <a:gd name="connsiteX13" fmla="*/ 536163 w 736282"/>
                <a:gd name="connsiteY13" fmla="*/ 1098614 h 1238252"/>
                <a:gd name="connsiteX14" fmla="*/ 439198 w 736282"/>
                <a:gd name="connsiteY14" fmla="*/ 1098614 h 1238252"/>
                <a:gd name="connsiteX15" fmla="*/ 429673 w 736282"/>
                <a:gd name="connsiteY15" fmla="*/ 1108139 h 1238252"/>
                <a:gd name="connsiteX16" fmla="*/ 429673 w 736282"/>
                <a:gd name="connsiteY16" fmla="*/ 1170242 h 1238252"/>
                <a:gd name="connsiteX17" fmla="*/ 439198 w 736282"/>
                <a:gd name="connsiteY17" fmla="*/ 1179767 h 1238252"/>
                <a:gd name="connsiteX18" fmla="*/ 448723 w 736282"/>
                <a:gd name="connsiteY18" fmla="*/ 1170242 h 1238252"/>
                <a:gd name="connsiteX19" fmla="*/ 448723 w 736282"/>
                <a:gd name="connsiteY19" fmla="*/ 1108139 h 1238252"/>
                <a:gd name="connsiteX20" fmla="*/ 439198 w 736282"/>
                <a:gd name="connsiteY20" fmla="*/ 1098614 h 1238252"/>
                <a:gd name="connsiteX21" fmla="*/ 342329 w 736282"/>
                <a:gd name="connsiteY21" fmla="*/ 1098614 h 1238252"/>
                <a:gd name="connsiteX22" fmla="*/ 332804 w 736282"/>
                <a:gd name="connsiteY22" fmla="*/ 1108139 h 1238252"/>
                <a:gd name="connsiteX23" fmla="*/ 332804 w 736282"/>
                <a:gd name="connsiteY23" fmla="*/ 1170242 h 1238252"/>
                <a:gd name="connsiteX24" fmla="*/ 342329 w 736282"/>
                <a:gd name="connsiteY24" fmla="*/ 1179767 h 1238252"/>
                <a:gd name="connsiteX25" fmla="*/ 351854 w 736282"/>
                <a:gd name="connsiteY25" fmla="*/ 1170242 h 1238252"/>
                <a:gd name="connsiteX26" fmla="*/ 351854 w 736282"/>
                <a:gd name="connsiteY26" fmla="*/ 1108139 h 1238252"/>
                <a:gd name="connsiteX27" fmla="*/ 342329 w 736282"/>
                <a:gd name="connsiteY27" fmla="*/ 1098614 h 1238252"/>
                <a:gd name="connsiteX28" fmla="*/ 245459 w 736282"/>
                <a:gd name="connsiteY28" fmla="*/ 1098614 h 1238252"/>
                <a:gd name="connsiteX29" fmla="*/ 235934 w 736282"/>
                <a:gd name="connsiteY29" fmla="*/ 1108139 h 1238252"/>
                <a:gd name="connsiteX30" fmla="*/ 235934 w 736282"/>
                <a:gd name="connsiteY30" fmla="*/ 1170242 h 1238252"/>
                <a:gd name="connsiteX31" fmla="*/ 245459 w 736282"/>
                <a:gd name="connsiteY31" fmla="*/ 1179767 h 1238252"/>
                <a:gd name="connsiteX32" fmla="*/ 254984 w 736282"/>
                <a:gd name="connsiteY32" fmla="*/ 1170242 h 1238252"/>
                <a:gd name="connsiteX33" fmla="*/ 254984 w 736282"/>
                <a:gd name="connsiteY33" fmla="*/ 1108139 h 1238252"/>
                <a:gd name="connsiteX34" fmla="*/ 245459 w 736282"/>
                <a:gd name="connsiteY34" fmla="*/ 1098614 h 1238252"/>
                <a:gd name="connsiteX35" fmla="*/ 148494 w 736282"/>
                <a:gd name="connsiteY35" fmla="*/ 1098614 h 1238252"/>
                <a:gd name="connsiteX36" fmla="*/ 138969 w 736282"/>
                <a:gd name="connsiteY36" fmla="*/ 1108139 h 1238252"/>
                <a:gd name="connsiteX37" fmla="*/ 138969 w 736282"/>
                <a:gd name="connsiteY37" fmla="*/ 1170242 h 1238252"/>
                <a:gd name="connsiteX38" fmla="*/ 148494 w 736282"/>
                <a:gd name="connsiteY38" fmla="*/ 1179767 h 1238252"/>
                <a:gd name="connsiteX39" fmla="*/ 158019 w 736282"/>
                <a:gd name="connsiteY39" fmla="*/ 1170242 h 1238252"/>
                <a:gd name="connsiteX40" fmla="*/ 158019 w 736282"/>
                <a:gd name="connsiteY40" fmla="*/ 1108139 h 1238252"/>
                <a:gd name="connsiteX41" fmla="*/ 148494 w 736282"/>
                <a:gd name="connsiteY41" fmla="*/ 1098614 h 1238252"/>
                <a:gd name="connsiteX42" fmla="*/ 45244 w 736282"/>
                <a:gd name="connsiteY42" fmla="*/ 1059182 h 1238252"/>
                <a:gd name="connsiteX43" fmla="*/ 736282 w 736282"/>
                <a:gd name="connsiteY43" fmla="*/ 1059182 h 1238252"/>
                <a:gd name="connsiteX44" fmla="*/ 736282 w 736282"/>
                <a:gd name="connsiteY44" fmla="*/ 1228727 h 1238252"/>
                <a:gd name="connsiteX45" fmla="*/ 726757 w 736282"/>
                <a:gd name="connsiteY45" fmla="*/ 1238252 h 1238252"/>
                <a:gd name="connsiteX46" fmla="*/ 54769 w 736282"/>
                <a:gd name="connsiteY46" fmla="*/ 1238252 h 1238252"/>
                <a:gd name="connsiteX47" fmla="*/ 45244 w 736282"/>
                <a:gd name="connsiteY47" fmla="*/ 1228727 h 1238252"/>
                <a:gd name="connsiteX48" fmla="*/ 147258 w 736282"/>
                <a:gd name="connsiteY48" fmla="*/ 960218 h 1238252"/>
                <a:gd name="connsiteX49" fmla="*/ 634270 w 736282"/>
                <a:gd name="connsiteY49" fmla="*/ 960218 h 1238252"/>
                <a:gd name="connsiteX50" fmla="*/ 671703 w 736282"/>
                <a:gd name="connsiteY50" fmla="*/ 1040131 h 1238252"/>
                <a:gd name="connsiteX51" fmla="*/ 109824 w 736282"/>
                <a:gd name="connsiteY51" fmla="*/ 1040131 h 1238252"/>
                <a:gd name="connsiteX52" fmla="*/ 285370 w 736282"/>
                <a:gd name="connsiteY52" fmla="*/ 245651 h 1238252"/>
                <a:gd name="connsiteX53" fmla="*/ 235077 w 736282"/>
                <a:gd name="connsiteY53" fmla="*/ 295944 h 1238252"/>
                <a:gd name="connsiteX54" fmla="*/ 285370 w 736282"/>
                <a:gd name="connsiteY54" fmla="*/ 346045 h 1238252"/>
                <a:gd name="connsiteX55" fmla="*/ 335471 w 736282"/>
                <a:gd name="connsiteY55" fmla="*/ 295944 h 1238252"/>
                <a:gd name="connsiteX56" fmla="*/ 285370 w 736282"/>
                <a:gd name="connsiteY56" fmla="*/ 245651 h 1238252"/>
                <a:gd name="connsiteX57" fmla="*/ 404146 w 736282"/>
                <a:gd name="connsiteY57" fmla="*/ 176214 h 1238252"/>
                <a:gd name="connsiteX58" fmla="*/ 393954 w 736282"/>
                <a:gd name="connsiteY58" fmla="*/ 184976 h 1238252"/>
                <a:gd name="connsiteX59" fmla="*/ 402622 w 736282"/>
                <a:gd name="connsiteY59" fmla="*/ 195264 h 1238252"/>
                <a:gd name="connsiteX60" fmla="*/ 429100 w 736282"/>
                <a:gd name="connsiteY60" fmla="*/ 197359 h 1238252"/>
                <a:gd name="connsiteX61" fmla="*/ 602456 w 736282"/>
                <a:gd name="connsiteY61" fmla="*/ 314422 h 1238252"/>
                <a:gd name="connsiteX62" fmla="*/ 627221 w 736282"/>
                <a:gd name="connsiteY62" fmla="*/ 416720 h 1238252"/>
                <a:gd name="connsiteX63" fmla="*/ 636746 w 736282"/>
                <a:gd name="connsiteY63" fmla="*/ 425959 h 1238252"/>
                <a:gd name="connsiteX64" fmla="*/ 637032 w 736282"/>
                <a:gd name="connsiteY64" fmla="*/ 425959 h 1238252"/>
                <a:gd name="connsiteX65" fmla="*/ 646271 w 736282"/>
                <a:gd name="connsiteY65" fmla="*/ 416148 h 1238252"/>
                <a:gd name="connsiteX66" fmla="*/ 619315 w 736282"/>
                <a:gd name="connsiteY66" fmla="*/ 305657 h 1238252"/>
                <a:gd name="connsiteX67" fmla="*/ 430721 w 736282"/>
                <a:gd name="connsiteY67" fmla="*/ 178404 h 1238252"/>
                <a:gd name="connsiteX68" fmla="*/ 344424 w 736282"/>
                <a:gd name="connsiteY68" fmla="*/ 955 h 1238252"/>
                <a:gd name="connsiteX69" fmla="*/ 442627 w 736282"/>
                <a:gd name="connsiteY69" fmla="*/ 116111 h 1238252"/>
                <a:gd name="connsiteX70" fmla="*/ 675418 w 736282"/>
                <a:gd name="connsiteY70" fmla="*/ 276512 h 1238252"/>
                <a:gd name="connsiteX71" fmla="*/ 709423 w 736282"/>
                <a:gd name="connsiteY71" fmla="*/ 414529 h 1238252"/>
                <a:gd name="connsiteX72" fmla="*/ 658558 w 736282"/>
                <a:gd name="connsiteY72" fmla="*/ 714853 h 1238252"/>
                <a:gd name="connsiteX73" fmla="*/ 627221 w 736282"/>
                <a:gd name="connsiteY73" fmla="*/ 941167 h 1238252"/>
                <a:gd name="connsiteX74" fmla="*/ 153733 w 736282"/>
                <a:gd name="connsiteY74" fmla="*/ 941167 h 1238252"/>
                <a:gd name="connsiteX75" fmla="*/ 215455 w 736282"/>
                <a:gd name="connsiteY75" fmla="*/ 673228 h 1238252"/>
                <a:gd name="connsiteX76" fmla="*/ 219932 w 736282"/>
                <a:gd name="connsiteY76" fmla="*/ 667419 h 1238252"/>
                <a:gd name="connsiteX77" fmla="*/ 231076 w 736282"/>
                <a:gd name="connsiteY77" fmla="*/ 652559 h 1238252"/>
                <a:gd name="connsiteX78" fmla="*/ 370332 w 736282"/>
                <a:gd name="connsiteY78" fmla="*/ 512351 h 1238252"/>
                <a:gd name="connsiteX79" fmla="*/ 224790 w 736282"/>
                <a:gd name="connsiteY79" fmla="*/ 500920 h 1238252"/>
                <a:gd name="connsiteX80" fmla="*/ 86582 w 736282"/>
                <a:gd name="connsiteY80" fmla="*/ 558737 h 1238252"/>
                <a:gd name="connsiteX81" fmla="*/ 13335 w 736282"/>
                <a:gd name="connsiteY81" fmla="*/ 507112 h 1238252"/>
                <a:gd name="connsiteX82" fmla="*/ 41147 w 736282"/>
                <a:gd name="connsiteY82" fmla="*/ 374144 h 1238252"/>
                <a:gd name="connsiteX83" fmla="*/ 42291 w 736282"/>
                <a:gd name="connsiteY83" fmla="*/ 373190 h 1238252"/>
                <a:gd name="connsiteX84" fmla="*/ 175069 w 736282"/>
                <a:gd name="connsiteY84" fmla="*/ 236031 h 1238252"/>
                <a:gd name="connsiteX85" fmla="*/ 258508 w 736282"/>
                <a:gd name="connsiteY85" fmla="*/ 156782 h 1238252"/>
                <a:gd name="connsiteX86" fmla="*/ 330423 w 736282"/>
                <a:gd name="connsiteY86" fmla="*/ 138686 h 1238252"/>
                <a:gd name="connsiteX87" fmla="*/ 330709 w 736282"/>
                <a:gd name="connsiteY87" fmla="*/ 138686 h 1238252"/>
                <a:gd name="connsiteX88" fmla="*/ 330709 w 736282"/>
                <a:gd name="connsiteY88" fmla="*/ 9526 h 1238252"/>
                <a:gd name="connsiteX89" fmla="*/ 335185 w 736282"/>
                <a:gd name="connsiteY89" fmla="*/ 1429 h 1238252"/>
                <a:gd name="connsiteX90" fmla="*/ 344424 w 736282"/>
                <a:gd name="connsiteY90" fmla="*/ 955 h 1238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</a:cxnLst>
              <a:rect l="l" t="t" r="r" b="b"/>
              <a:pathLst>
                <a:path w="736282" h="1238252">
                  <a:moveTo>
                    <a:pt x="633032" y="1098614"/>
                  </a:moveTo>
                  <a:cubicBezTo>
                    <a:pt x="627793" y="1098614"/>
                    <a:pt x="623507" y="1102902"/>
                    <a:pt x="623507" y="1108139"/>
                  </a:cubicBezTo>
                  <a:lnTo>
                    <a:pt x="623507" y="1170242"/>
                  </a:lnTo>
                  <a:cubicBezTo>
                    <a:pt x="623507" y="1175577"/>
                    <a:pt x="627793" y="1179767"/>
                    <a:pt x="633032" y="1179767"/>
                  </a:cubicBezTo>
                  <a:cubicBezTo>
                    <a:pt x="638270" y="1179767"/>
                    <a:pt x="642557" y="1175577"/>
                    <a:pt x="642557" y="1170242"/>
                  </a:cubicBezTo>
                  <a:lnTo>
                    <a:pt x="642557" y="1108139"/>
                  </a:lnTo>
                  <a:cubicBezTo>
                    <a:pt x="642557" y="1102902"/>
                    <a:pt x="638270" y="1098614"/>
                    <a:pt x="633032" y="1098614"/>
                  </a:cubicBezTo>
                  <a:close/>
                  <a:moveTo>
                    <a:pt x="536163" y="1098614"/>
                  </a:moveTo>
                  <a:cubicBezTo>
                    <a:pt x="530829" y="1098614"/>
                    <a:pt x="526638" y="1102902"/>
                    <a:pt x="526638" y="1108139"/>
                  </a:cubicBezTo>
                  <a:lnTo>
                    <a:pt x="526638" y="1170242"/>
                  </a:lnTo>
                  <a:cubicBezTo>
                    <a:pt x="526638" y="1175577"/>
                    <a:pt x="530829" y="1179767"/>
                    <a:pt x="536163" y="1179767"/>
                  </a:cubicBezTo>
                  <a:cubicBezTo>
                    <a:pt x="541401" y="1179767"/>
                    <a:pt x="545688" y="1175577"/>
                    <a:pt x="545688" y="1170242"/>
                  </a:cubicBezTo>
                  <a:lnTo>
                    <a:pt x="545688" y="1108139"/>
                  </a:lnTo>
                  <a:cubicBezTo>
                    <a:pt x="545688" y="1102902"/>
                    <a:pt x="541401" y="1098614"/>
                    <a:pt x="536163" y="1098614"/>
                  </a:cubicBezTo>
                  <a:close/>
                  <a:moveTo>
                    <a:pt x="439198" y="1098614"/>
                  </a:moveTo>
                  <a:cubicBezTo>
                    <a:pt x="433958" y="1098614"/>
                    <a:pt x="429673" y="1102902"/>
                    <a:pt x="429673" y="1108139"/>
                  </a:cubicBezTo>
                  <a:lnTo>
                    <a:pt x="429673" y="1170242"/>
                  </a:lnTo>
                  <a:cubicBezTo>
                    <a:pt x="429673" y="1175577"/>
                    <a:pt x="433958" y="1179767"/>
                    <a:pt x="439198" y="1179767"/>
                  </a:cubicBezTo>
                  <a:cubicBezTo>
                    <a:pt x="444532" y="1179767"/>
                    <a:pt x="448723" y="1175577"/>
                    <a:pt x="448723" y="1170242"/>
                  </a:cubicBezTo>
                  <a:lnTo>
                    <a:pt x="448723" y="1108139"/>
                  </a:lnTo>
                  <a:cubicBezTo>
                    <a:pt x="448723" y="1102902"/>
                    <a:pt x="444532" y="1098614"/>
                    <a:pt x="439198" y="1098614"/>
                  </a:cubicBezTo>
                  <a:close/>
                  <a:moveTo>
                    <a:pt x="342329" y="1098614"/>
                  </a:moveTo>
                  <a:cubicBezTo>
                    <a:pt x="337090" y="1098614"/>
                    <a:pt x="332804" y="1102902"/>
                    <a:pt x="332804" y="1108139"/>
                  </a:cubicBezTo>
                  <a:lnTo>
                    <a:pt x="332804" y="1170242"/>
                  </a:lnTo>
                  <a:cubicBezTo>
                    <a:pt x="332804" y="1175577"/>
                    <a:pt x="337090" y="1179767"/>
                    <a:pt x="342329" y="1179767"/>
                  </a:cubicBezTo>
                  <a:cubicBezTo>
                    <a:pt x="347567" y="1179767"/>
                    <a:pt x="351854" y="1175577"/>
                    <a:pt x="351854" y="1170242"/>
                  </a:cubicBezTo>
                  <a:lnTo>
                    <a:pt x="351854" y="1108139"/>
                  </a:lnTo>
                  <a:cubicBezTo>
                    <a:pt x="351854" y="1102902"/>
                    <a:pt x="347567" y="1098614"/>
                    <a:pt x="342329" y="1098614"/>
                  </a:cubicBezTo>
                  <a:close/>
                  <a:moveTo>
                    <a:pt x="245459" y="1098614"/>
                  </a:moveTo>
                  <a:cubicBezTo>
                    <a:pt x="240126" y="1098614"/>
                    <a:pt x="235934" y="1102902"/>
                    <a:pt x="235934" y="1108139"/>
                  </a:cubicBezTo>
                  <a:lnTo>
                    <a:pt x="235934" y="1170242"/>
                  </a:lnTo>
                  <a:cubicBezTo>
                    <a:pt x="235934" y="1175577"/>
                    <a:pt x="240126" y="1179767"/>
                    <a:pt x="245459" y="1179767"/>
                  </a:cubicBezTo>
                  <a:cubicBezTo>
                    <a:pt x="250697" y="1179767"/>
                    <a:pt x="254984" y="1175577"/>
                    <a:pt x="254984" y="1170242"/>
                  </a:cubicBezTo>
                  <a:lnTo>
                    <a:pt x="254984" y="1108139"/>
                  </a:lnTo>
                  <a:cubicBezTo>
                    <a:pt x="254984" y="1102902"/>
                    <a:pt x="250697" y="1098614"/>
                    <a:pt x="245459" y="1098614"/>
                  </a:cubicBezTo>
                  <a:close/>
                  <a:moveTo>
                    <a:pt x="148494" y="1098614"/>
                  </a:moveTo>
                  <a:cubicBezTo>
                    <a:pt x="143256" y="1098614"/>
                    <a:pt x="138969" y="1102902"/>
                    <a:pt x="138969" y="1108139"/>
                  </a:cubicBezTo>
                  <a:lnTo>
                    <a:pt x="138969" y="1170242"/>
                  </a:lnTo>
                  <a:cubicBezTo>
                    <a:pt x="138969" y="1175577"/>
                    <a:pt x="143256" y="1179767"/>
                    <a:pt x="148494" y="1179767"/>
                  </a:cubicBezTo>
                  <a:cubicBezTo>
                    <a:pt x="153829" y="1179767"/>
                    <a:pt x="158019" y="1175577"/>
                    <a:pt x="158019" y="1170242"/>
                  </a:cubicBezTo>
                  <a:lnTo>
                    <a:pt x="158019" y="1108139"/>
                  </a:lnTo>
                  <a:cubicBezTo>
                    <a:pt x="158019" y="1102902"/>
                    <a:pt x="153829" y="1098614"/>
                    <a:pt x="148494" y="1098614"/>
                  </a:cubicBezTo>
                  <a:close/>
                  <a:moveTo>
                    <a:pt x="45244" y="1059182"/>
                  </a:moveTo>
                  <a:lnTo>
                    <a:pt x="736282" y="1059182"/>
                  </a:lnTo>
                  <a:lnTo>
                    <a:pt x="736282" y="1228727"/>
                  </a:lnTo>
                  <a:cubicBezTo>
                    <a:pt x="736282" y="1233966"/>
                    <a:pt x="732091" y="1238252"/>
                    <a:pt x="726757" y="1238252"/>
                  </a:cubicBezTo>
                  <a:lnTo>
                    <a:pt x="54769" y="1238252"/>
                  </a:lnTo>
                  <a:cubicBezTo>
                    <a:pt x="49531" y="1238252"/>
                    <a:pt x="45244" y="1233966"/>
                    <a:pt x="45244" y="1228727"/>
                  </a:cubicBezTo>
                  <a:close/>
                  <a:moveTo>
                    <a:pt x="147258" y="960218"/>
                  </a:moveTo>
                  <a:lnTo>
                    <a:pt x="634270" y="960218"/>
                  </a:lnTo>
                  <a:lnTo>
                    <a:pt x="671703" y="1040131"/>
                  </a:lnTo>
                  <a:lnTo>
                    <a:pt x="109824" y="1040131"/>
                  </a:lnTo>
                  <a:close/>
                  <a:moveTo>
                    <a:pt x="285370" y="245651"/>
                  </a:moveTo>
                  <a:cubicBezTo>
                    <a:pt x="257650" y="245651"/>
                    <a:pt x="235077" y="268224"/>
                    <a:pt x="235077" y="295944"/>
                  </a:cubicBezTo>
                  <a:cubicBezTo>
                    <a:pt x="235077" y="323565"/>
                    <a:pt x="257650" y="346045"/>
                    <a:pt x="285370" y="346045"/>
                  </a:cubicBezTo>
                  <a:cubicBezTo>
                    <a:pt x="312991" y="346045"/>
                    <a:pt x="335471" y="323565"/>
                    <a:pt x="335471" y="295944"/>
                  </a:cubicBezTo>
                  <a:cubicBezTo>
                    <a:pt x="335471" y="268224"/>
                    <a:pt x="312991" y="245651"/>
                    <a:pt x="285370" y="245651"/>
                  </a:cubicBezTo>
                  <a:close/>
                  <a:moveTo>
                    <a:pt x="404146" y="176214"/>
                  </a:moveTo>
                  <a:cubicBezTo>
                    <a:pt x="398811" y="175737"/>
                    <a:pt x="394335" y="179739"/>
                    <a:pt x="393954" y="184976"/>
                  </a:cubicBezTo>
                  <a:cubicBezTo>
                    <a:pt x="393477" y="190215"/>
                    <a:pt x="397384" y="194787"/>
                    <a:pt x="402622" y="195264"/>
                  </a:cubicBezTo>
                  <a:lnTo>
                    <a:pt x="429100" y="197359"/>
                  </a:lnTo>
                  <a:cubicBezTo>
                    <a:pt x="433958" y="197836"/>
                    <a:pt x="548163" y="209742"/>
                    <a:pt x="602456" y="314422"/>
                  </a:cubicBezTo>
                  <a:cubicBezTo>
                    <a:pt x="617791" y="344138"/>
                    <a:pt x="626173" y="378525"/>
                    <a:pt x="627221" y="416720"/>
                  </a:cubicBezTo>
                  <a:cubicBezTo>
                    <a:pt x="627316" y="421864"/>
                    <a:pt x="631602" y="425959"/>
                    <a:pt x="636746" y="425959"/>
                  </a:cubicBezTo>
                  <a:lnTo>
                    <a:pt x="637032" y="425959"/>
                  </a:lnTo>
                  <a:cubicBezTo>
                    <a:pt x="642271" y="425864"/>
                    <a:pt x="646366" y="421483"/>
                    <a:pt x="646271" y="416148"/>
                  </a:cubicBezTo>
                  <a:cubicBezTo>
                    <a:pt x="645129" y="375095"/>
                    <a:pt x="636080" y="337948"/>
                    <a:pt x="619315" y="305657"/>
                  </a:cubicBezTo>
                  <a:cubicBezTo>
                    <a:pt x="560260" y="191836"/>
                    <a:pt x="436150" y="178881"/>
                    <a:pt x="430721" y="178404"/>
                  </a:cubicBezTo>
                  <a:close/>
                  <a:moveTo>
                    <a:pt x="344424" y="955"/>
                  </a:moveTo>
                  <a:cubicBezTo>
                    <a:pt x="347662" y="2573"/>
                    <a:pt x="421862" y="39720"/>
                    <a:pt x="442627" y="116111"/>
                  </a:cubicBezTo>
                  <a:cubicBezTo>
                    <a:pt x="474725" y="120399"/>
                    <a:pt x="607505" y="145544"/>
                    <a:pt x="675418" y="276512"/>
                  </a:cubicBezTo>
                  <a:cubicBezTo>
                    <a:pt x="696658" y="317375"/>
                    <a:pt x="708088" y="363760"/>
                    <a:pt x="709423" y="414529"/>
                  </a:cubicBezTo>
                  <a:cubicBezTo>
                    <a:pt x="711137" y="479870"/>
                    <a:pt x="706946" y="605885"/>
                    <a:pt x="658558" y="714853"/>
                  </a:cubicBezTo>
                  <a:cubicBezTo>
                    <a:pt x="658272" y="715804"/>
                    <a:pt x="609695" y="845059"/>
                    <a:pt x="627221" y="941167"/>
                  </a:cubicBezTo>
                  <a:lnTo>
                    <a:pt x="153733" y="941167"/>
                  </a:lnTo>
                  <a:cubicBezTo>
                    <a:pt x="145637" y="893826"/>
                    <a:pt x="136779" y="777242"/>
                    <a:pt x="215455" y="673228"/>
                  </a:cubicBezTo>
                  <a:lnTo>
                    <a:pt x="219932" y="667419"/>
                  </a:lnTo>
                  <a:cubicBezTo>
                    <a:pt x="223648" y="662561"/>
                    <a:pt x="227457" y="657608"/>
                    <a:pt x="231076" y="652559"/>
                  </a:cubicBezTo>
                  <a:cubicBezTo>
                    <a:pt x="249174" y="627317"/>
                    <a:pt x="295465" y="568834"/>
                    <a:pt x="370332" y="512351"/>
                  </a:cubicBezTo>
                  <a:cubicBezTo>
                    <a:pt x="333850" y="518160"/>
                    <a:pt x="281653" y="519970"/>
                    <a:pt x="224790" y="500920"/>
                  </a:cubicBezTo>
                  <a:cubicBezTo>
                    <a:pt x="209170" y="518542"/>
                    <a:pt x="154972" y="572264"/>
                    <a:pt x="86582" y="558737"/>
                  </a:cubicBezTo>
                  <a:cubicBezTo>
                    <a:pt x="55721" y="552547"/>
                    <a:pt x="29050" y="533783"/>
                    <a:pt x="13335" y="507112"/>
                  </a:cubicBezTo>
                  <a:cubicBezTo>
                    <a:pt x="-1048" y="482728"/>
                    <a:pt x="-16574" y="432912"/>
                    <a:pt x="41147" y="374144"/>
                  </a:cubicBezTo>
                  <a:cubicBezTo>
                    <a:pt x="41529" y="373762"/>
                    <a:pt x="41910" y="373476"/>
                    <a:pt x="42291" y="373190"/>
                  </a:cubicBezTo>
                  <a:cubicBezTo>
                    <a:pt x="43148" y="372430"/>
                    <a:pt x="134207" y="304992"/>
                    <a:pt x="175069" y="236031"/>
                  </a:cubicBezTo>
                  <a:cubicBezTo>
                    <a:pt x="195644" y="201263"/>
                    <a:pt x="224503" y="173928"/>
                    <a:pt x="258508" y="156782"/>
                  </a:cubicBezTo>
                  <a:cubicBezTo>
                    <a:pt x="282607" y="144781"/>
                    <a:pt x="306801" y="138686"/>
                    <a:pt x="330423" y="138686"/>
                  </a:cubicBezTo>
                  <a:lnTo>
                    <a:pt x="330709" y="138686"/>
                  </a:lnTo>
                  <a:lnTo>
                    <a:pt x="330709" y="9526"/>
                  </a:lnTo>
                  <a:cubicBezTo>
                    <a:pt x="330709" y="6192"/>
                    <a:pt x="332422" y="3145"/>
                    <a:pt x="335185" y="1429"/>
                  </a:cubicBezTo>
                  <a:cubicBezTo>
                    <a:pt x="337948" y="-285"/>
                    <a:pt x="341471" y="-475"/>
                    <a:pt x="344424" y="955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135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32" name="!!c1_how"/>
          <p:cNvSpPr txBox="1"/>
          <p:nvPr/>
        </p:nvSpPr>
        <p:spPr>
          <a:xfrm>
            <a:off x="2057400" y="1234440"/>
            <a:ext cx="329184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i="0">
                <a:solidFill>
                  <a:srgbClr val="D51067"/>
                </a:solidFill>
                <a:latin typeface="Franklin Gothic Medium"/>
              </a:rPr>
              <a:t>Who we hunt</a:t>
            </a:r>
          </a:p>
        </p:txBody>
      </p:sp>
      <p:sp>
        <p:nvSpPr>
          <p:cNvPr id="33" name="!!c1_quote"/>
          <p:cNvSpPr txBox="1"/>
          <p:nvPr/>
        </p:nvSpPr>
        <p:spPr>
          <a:xfrm>
            <a:off x="822960" y="2697480"/>
            <a:ext cx="44348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i="1">
                <a:solidFill>
                  <a:srgbClr val="2E2925"/>
                </a:solidFill>
                <a:latin typeface="Franklin Gothic Book"/>
              </a:rPr>
              <a:t>“Our targets are increasing, but we keep doing the same thing?”</a:t>
            </a:r>
          </a:p>
        </p:txBody>
      </p:sp>
      <p:sp>
        <p:nvSpPr>
          <p:cNvPr id="34" name="!!c1_pill"/>
          <p:cNvSpPr/>
          <p:nvPr/>
        </p:nvSpPr>
        <p:spPr>
          <a:xfrm>
            <a:off x="822960" y="4983480"/>
            <a:ext cx="937808" cy="384048"/>
          </a:xfrm>
          <a:prstGeom prst="roundRect">
            <a:avLst>
              <a:gd name="adj" fmla="val 50000"/>
            </a:avLst>
          </a:prstGeom>
          <a:solidFill>
            <a:srgbClr val="D51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1200">
                <a:solidFill>
                  <a:srgbClr val="FFFFFF"/>
                </a:solidFill>
                <a:latin typeface="Franklin Gothic Medium"/>
              </a:rPr>
              <a:t>IGNITE</a:t>
            </a:r>
          </a:p>
        </p:txBody>
      </p:sp>
      <p:sp>
        <p:nvSpPr>
          <p:cNvPr id="35" name="!!map0"/>
          <p:cNvSpPr/>
          <p:nvPr/>
        </p:nvSpPr>
        <p:spPr>
          <a:xfrm>
            <a:off x="4754880" y="5623560"/>
            <a:ext cx="210312" cy="210312"/>
          </a:xfrm>
          <a:prstGeom prst="rect">
            <a:avLst/>
          </a:prstGeom>
          <a:solidFill>
            <a:srgbClr val="B52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!!map1"/>
          <p:cNvSpPr/>
          <p:nvPr/>
        </p:nvSpPr>
        <p:spPr>
          <a:xfrm>
            <a:off x="5001768" y="5623560"/>
            <a:ext cx="210312" cy="210312"/>
          </a:xfrm>
          <a:prstGeom prst="rect">
            <a:avLst/>
          </a:prstGeom>
          <a:solidFill>
            <a:srgbClr val="CA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!!map2"/>
          <p:cNvSpPr/>
          <p:nvPr/>
        </p:nvSpPr>
        <p:spPr>
          <a:xfrm>
            <a:off x="5001768" y="5870448"/>
            <a:ext cx="210312" cy="210312"/>
          </a:xfrm>
          <a:prstGeom prst="rect">
            <a:avLst/>
          </a:prstGeom>
          <a:solidFill>
            <a:srgbClr val="CA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!!map3"/>
          <p:cNvSpPr/>
          <p:nvPr/>
        </p:nvSpPr>
        <p:spPr>
          <a:xfrm>
            <a:off x="4754880" y="5870448"/>
            <a:ext cx="210312" cy="210312"/>
          </a:xfrm>
          <a:prstGeom prst="rect">
            <a:avLst/>
          </a:prstGeom>
          <a:solidFill>
            <a:srgbClr val="CA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!!hear_h"/>
          <p:cNvSpPr txBox="1"/>
          <p:nvPr/>
        </p:nvSpPr>
        <p:spPr>
          <a:xfrm>
            <a:off x="5989320" y="914400"/>
            <a:ext cx="576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i="0">
                <a:solidFill>
                  <a:srgbClr val="D51067"/>
                </a:solidFill>
                <a:latin typeface="Franklin Gothic Medium"/>
              </a:rPr>
              <a:t>WHAT WE HEAR</a:t>
            </a:r>
          </a:p>
        </p:txBody>
      </p:sp>
      <p:sp>
        <p:nvSpPr>
          <p:cNvPr id="40" name="!!hear_dot0"/>
          <p:cNvSpPr/>
          <p:nvPr/>
        </p:nvSpPr>
        <p:spPr>
          <a:xfrm>
            <a:off x="5989320" y="1417320"/>
            <a:ext cx="82296" cy="82296"/>
          </a:xfrm>
          <a:prstGeom prst="ellipse">
            <a:avLst/>
          </a:prstGeom>
          <a:solidFill>
            <a:srgbClr val="D51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!!hear0"/>
          <p:cNvSpPr txBox="1"/>
          <p:nvPr/>
        </p:nvSpPr>
        <p:spPr>
          <a:xfrm>
            <a:off x="6217920" y="1325880"/>
            <a:ext cx="55321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i="0">
                <a:solidFill>
                  <a:srgbClr val="2E2925"/>
                </a:solidFill>
                <a:latin typeface="Franklin Gothic Book"/>
              </a:rPr>
              <a:t>Teams have difficulty building strategy to financial goals</a:t>
            </a:r>
          </a:p>
        </p:txBody>
      </p:sp>
      <p:sp>
        <p:nvSpPr>
          <p:cNvPr id="42" name="!!focus_h"/>
          <p:cNvSpPr txBox="1"/>
          <p:nvPr/>
        </p:nvSpPr>
        <p:spPr>
          <a:xfrm>
            <a:off x="5989320" y="2221991"/>
            <a:ext cx="576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i="0">
                <a:solidFill>
                  <a:srgbClr val="D51067"/>
                </a:solidFill>
                <a:latin typeface="Franklin Gothic Medium"/>
              </a:rPr>
              <a:t>WHERE WE FOCUS</a:t>
            </a:r>
          </a:p>
        </p:txBody>
      </p:sp>
      <p:sp>
        <p:nvSpPr>
          <p:cNvPr id="43" name="!!chip0"/>
          <p:cNvSpPr/>
          <p:nvPr/>
        </p:nvSpPr>
        <p:spPr>
          <a:xfrm>
            <a:off x="5989320" y="2651759"/>
            <a:ext cx="27889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A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!!chipbar0"/>
          <p:cNvSpPr/>
          <p:nvPr/>
        </p:nvSpPr>
        <p:spPr>
          <a:xfrm>
            <a:off x="5989320" y="2651759"/>
            <a:ext cx="64008" cy="658368"/>
          </a:xfrm>
          <a:prstGeom prst="rect">
            <a:avLst/>
          </a:prstGeom>
          <a:solidFill>
            <a:srgbClr val="B52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!!chiptxt0"/>
          <p:cNvSpPr txBox="1"/>
          <p:nvPr/>
        </p:nvSpPr>
        <p:spPr>
          <a:xfrm>
            <a:off x="6172200" y="2651759"/>
            <a:ext cx="2514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i="0">
                <a:solidFill>
                  <a:srgbClr val="2E2925"/>
                </a:solidFill>
                <a:latin typeface="Franklin Gothic Book"/>
              </a:rPr>
              <a:t>Data driven roadmap ensuring financial results</a:t>
            </a:r>
          </a:p>
        </p:txBody>
      </p:sp>
      <p:sp>
        <p:nvSpPr>
          <p:cNvPr id="46" name="!!chip1"/>
          <p:cNvSpPr/>
          <p:nvPr/>
        </p:nvSpPr>
        <p:spPr>
          <a:xfrm>
            <a:off x="8887967" y="2651759"/>
            <a:ext cx="27889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A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!!chipbar1"/>
          <p:cNvSpPr/>
          <p:nvPr/>
        </p:nvSpPr>
        <p:spPr>
          <a:xfrm>
            <a:off x="8887967" y="2651759"/>
            <a:ext cx="64008" cy="658368"/>
          </a:xfrm>
          <a:prstGeom prst="rect">
            <a:avLst/>
          </a:prstGeom>
          <a:solidFill>
            <a:srgbClr val="B52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!!chiptxt1"/>
          <p:cNvSpPr txBox="1"/>
          <p:nvPr/>
        </p:nvSpPr>
        <p:spPr>
          <a:xfrm>
            <a:off x="9070847" y="2651759"/>
            <a:ext cx="2514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i="0">
                <a:solidFill>
                  <a:srgbClr val="2E2925"/>
                </a:solidFill>
                <a:latin typeface="Franklin Gothic Book"/>
              </a:rPr>
              <a:t>Profitable Segmentation</a:t>
            </a:r>
          </a:p>
        </p:txBody>
      </p:sp>
      <p:sp>
        <p:nvSpPr>
          <p:cNvPr id="49" name="!!chip2"/>
          <p:cNvSpPr/>
          <p:nvPr/>
        </p:nvSpPr>
        <p:spPr>
          <a:xfrm>
            <a:off x="5989320" y="3438143"/>
            <a:ext cx="27889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A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!!chipbar2"/>
          <p:cNvSpPr/>
          <p:nvPr/>
        </p:nvSpPr>
        <p:spPr>
          <a:xfrm>
            <a:off x="5989320" y="3438143"/>
            <a:ext cx="64008" cy="658368"/>
          </a:xfrm>
          <a:prstGeom prst="rect">
            <a:avLst/>
          </a:prstGeom>
          <a:solidFill>
            <a:srgbClr val="B52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!!chiptxt2"/>
          <p:cNvSpPr txBox="1"/>
          <p:nvPr/>
        </p:nvSpPr>
        <p:spPr>
          <a:xfrm>
            <a:off x="6172200" y="3438143"/>
            <a:ext cx="2514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i="0">
                <a:solidFill>
                  <a:srgbClr val="2E2925"/>
                </a:solidFill>
                <a:latin typeface="Franklin Gothic Book"/>
              </a:rPr>
              <a:t>Cost of Acquisition</a:t>
            </a:r>
          </a:p>
        </p:txBody>
      </p:sp>
      <p:sp>
        <p:nvSpPr>
          <p:cNvPr id="52" name="!!chip3"/>
          <p:cNvSpPr/>
          <p:nvPr/>
        </p:nvSpPr>
        <p:spPr>
          <a:xfrm>
            <a:off x="8887967" y="3438143"/>
            <a:ext cx="27889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A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!!chipbar3"/>
          <p:cNvSpPr/>
          <p:nvPr/>
        </p:nvSpPr>
        <p:spPr>
          <a:xfrm>
            <a:off x="8887967" y="3438143"/>
            <a:ext cx="64008" cy="658368"/>
          </a:xfrm>
          <a:prstGeom prst="rect">
            <a:avLst/>
          </a:prstGeom>
          <a:solidFill>
            <a:srgbClr val="B52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!!chiptxt3"/>
          <p:cNvSpPr txBox="1"/>
          <p:nvPr/>
        </p:nvSpPr>
        <p:spPr>
          <a:xfrm>
            <a:off x="9070847" y="3438143"/>
            <a:ext cx="2514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i="0">
                <a:solidFill>
                  <a:srgbClr val="2E2925"/>
                </a:solidFill>
                <a:latin typeface="Franklin Gothic Book"/>
              </a:rPr>
              <a:t>Integrated Strategy</a:t>
            </a:r>
          </a:p>
        </p:txBody>
      </p:sp>
      <p:sp>
        <p:nvSpPr>
          <p:cNvPr id="55" name="!!chip4"/>
          <p:cNvSpPr/>
          <p:nvPr/>
        </p:nvSpPr>
        <p:spPr>
          <a:xfrm>
            <a:off x="5989320" y="4224527"/>
            <a:ext cx="27889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A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!!chipbar4"/>
          <p:cNvSpPr/>
          <p:nvPr/>
        </p:nvSpPr>
        <p:spPr>
          <a:xfrm>
            <a:off x="5989320" y="4224527"/>
            <a:ext cx="64008" cy="658368"/>
          </a:xfrm>
          <a:prstGeom prst="rect">
            <a:avLst/>
          </a:prstGeom>
          <a:solidFill>
            <a:srgbClr val="B52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!!chiptxt4"/>
          <p:cNvSpPr txBox="1"/>
          <p:nvPr/>
        </p:nvSpPr>
        <p:spPr>
          <a:xfrm>
            <a:off x="6172200" y="4224527"/>
            <a:ext cx="2514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i="0">
                <a:solidFill>
                  <a:srgbClr val="2E2925"/>
                </a:solidFill>
                <a:latin typeface="Franklin Gothic Book"/>
              </a:rPr>
              <a:t>Alignment of goals &amp; tactics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 advTm="4200">
        <p159:morph option="byObject"/>
      </p:transition>
    </mc:Choice>
    <mc:Fallback>
      <p:transition spd="slow" advTm="4200">
        <p:fade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 idx="4294967295"/>
          </p:nvPr>
        </p:nvSpPr>
        <p:spPr>
          <a:xfrm>
            <a:off x="0" y="230457"/>
            <a:ext cx="12192000" cy="430887"/>
          </a:xfrm>
        </p:spPr>
        <p:txBody>
          <a:bodyPr>
            <a:noAutofit/>
          </a:bodyPr>
          <a:lstStyle/>
          <a:p>
            <a:pPr algn="ctr"/>
            <a:r>
              <a:rPr lang="en-US" sz="320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</a:rPr>
              <a:t>Where You Win </a:t>
            </a:r>
            <a:r>
              <a:rPr lang="en-US" sz="3200">
                <a:solidFill>
                  <a:srgbClr val="B52372"/>
                </a:solidFill>
                <a:latin typeface="Franklin Gothic Book" panose="020B0503020102020204" pitchFamily="34" charset="0"/>
              </a:rPr>
              <a:t>| Profitable Growth</a:t>
            </a:r>
          </a:p>
        </p:txBody>
      </p:sp>
      <p:sp>
        <p:nvSpPr>
          <p:cNvPr id="3" name="!!c1_bg"/>
          <p:cNvSpPr/>
          <p:nvPr/>
        </p:nvSpPr>
        <p:spPr>
          <a:xfrm>
            <a:off x="411480" y="896112"/>
            <a:ext cx="4343400" cy="2487168"/>
          </a:xfrm>
          <a:prstGeom prst="rect">
            <a:avLst/>
          </a:prstGeom>
          <a:solidFill>
            <a:srgbClr val="F4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c1_band"/>
          <p:cNvSpPr/>
          <p:nvPr/>
        </p:nvSpPr>
        <p:spPr>
          <a:xfrm>
            <a:off x="411480" y="896112"/>
            <a:ext cx="4343400" cy="530352"/>
          </a:xfrm>
          <a:prstGeom prst="rect">
            <a:avLst/>
          </a:prstGeom>
          <a:solidFill>
            <a:srgbClr val="B52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c1_name"/>
          <p:cNvSpPr txBox="1"/>
          <p:nvPr/>
        </p:nvSpPr>
        <p:spPr>
          <a:xfrm>
            <a:off x="1371600" y="896112"/>
            <a:ext cx="32461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i="0">
                <a:solidFill>
                  <a:srgbClr val="FFFFFF"/>
                </a:solidFill>
                <a:latin typeface="Franklin Gothic Medium"/>
              </a:rPr>
              <a:t>1   Science &amp; Strategy</a:t>
            </a:r>
          </a:p>
        </p:txBody>
      </p:sp>
      <p:grpSp>
        <p:nvGrpSpPr>
          <p:cNvPr id="31" name="!!c1_icon">
            <a:extLst>
              <a:ext uri="{FF2B5EF4-FFF2-40B4-BE49-F238E27FC236}">
                <a16:creationId xmlns:a16="http://schemas.microsoft.com/office/drawing/2014/main" id="{64401AE8-1991-1341-CC55-F342691AA60D}"/>
              </a:ext>
            </a:extLst>
          </p:cNvPr>
          <p:cNvGrpSpPr/>
          <p:nvPr/>
        </p:nvGrpSpPr>
        <p:grpSpPr>
          <a:xfrm>
            <a:off x="521208" y="768096"/>
            <a:ext cx="768096" cy="779176"/>
            <a:chOff x="10023859" y="264078"/>
            <a:chExt cx="933564" cy="947032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E3F64412-42DA-A373-E8FF-487F3BC37CB3}"/>
                </a:ext>
              </a:extLst>
            </p:cNvPr>
            <p:cNvSpPr/>
            <p:nvPr/>
          </p:nvSpPr>
          <p:spPr>
            <a:xfrm>
              <a:off x="10023859" y="264078"/>
              <a:ext cx="933564" cy="947032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65000"/>
                    <a:shade val="30000"/>
                    <a:satMod val="115000"/>
                  </a:schemeClr>
                </a:gs>
                <a:gs pos="50000">
                  <a:schemeClr val="bg1">
                    <a:lumMod val="65000"/>
                    <a:shade val="67500"/>
                    <a:satMod val="115000"/>
                  </a:schemeClr>
                </a:gs>
                <a:gs pos="100000">
                  <a:schemeClr val="bg1">
                    <a:lumMod val="65000"/>
                    <a:shade val="100000"/>
                    <a:satMod val="115000"/>
                  </a:schemeClr>
                </a:gs>
              </a:gsLst>
              <a:lin ang="0" scaled="1"/>
              <a:tileRect/>
            </a:gradFill>
            <a:ln w="19050">
              <a:solidFill>
                <a:srgbClr val="B523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: Shape 25">
              <a:extLst>
                <a:ext uri="{FF2B5EF4-FFF2-40B4-BE49-F238E27FC236}">
                  <a16:creationId xmlns:a16="http://schemas.microsoft.com/office/drawing/2014/main" id="{B3723BE5-1E0C-63A4-66D5-E56AEF2E3AAB}"/>
                </a:ext>
              </a:extLst>
            </p:cNvPr>
            <p:cNvSpPr/>
            <p:nvPr/>
          </p:nvSpPr>
          <p:spPr>
            <a:xfrm>
              <a:off x="10275283" y="399791"/>
              <a:ext cx="430716" cy="675605"/>
            </a:xfrm>
            <a:custGeom>
              <a:avLst/>
              <a:gdLst>
                <a:gd name="connsiteX0" fmla="*/ 633032 w 736282"/>
                <a:gd name="connsiteY0" fmla="*/ 1098614 h 1238252"/>
                <a:gd name="connsiteX1" fmla="*/ 623507 w 736282"/>
                <a:gd name="connsiteY1" fmla="*/ 1108139 h 1238252"/>
                <a:gd name="connsiteX2" fmla="*/ 623507 w 736282"/>
                <a:gd name="connsiteY2" fmla="*/ 1170242 h 1238252"/>
                <a:gd name="connsiteX3" fmla="*/ 633032 w 736282"/>
                <a:gd name="connsiteY3" fmla="*/ 1179767 h 1238252"/>
                <a:gd name="connsiteX4" fmla="*/ 642557 w 736282"/>
                <a:gd name="connsiteY4" fmla="*/ 1170242 h 1238252"/>
                <a:gd name="connsiteX5" fmla="*/ 642557 w 736282"/>
                <a:gd name="connsiteY5" fmla="*/ 1108139 h 1238252"/>
                <a:gd name="connsiteX6" fmla="*/ 633032 w 736282"/>
                <a:gd name="connsiteY6" fmla="*/ 1098614 h 1238252"/>
                <a:gd name="connsiteX7" fmla="*/ 536163 w 736282"/>
                <a:gd name="connsiteY7" fmla="*/ 1098614 h 1238252"/>
                <a:gd name="connsiteX8" fmla="*/ 526638 w 736282"/>
                <a:gd name="connsiteY8" fmla="*/ 1108139 h 1238252"/>
                <a:gd name="connsiteX9" fmla="*/ 526638 w 736282"/>
                <a:gd name="connsiteY9" fmla="*/ 1170242 h 1238252"/>
                <a:gd name="connsiteX10" fmla="*/ 536163 w 736282"/>
                <a:gd name="connsiteY10" fmla="*/ 1179767 h 1238252"/>
                <a:gd name="connsiteX11" fmla="*/ 545688 w 736282"/>
                <a:gd name="connsiteY11" fmla="*/ 1170242 h 1238252"/>
                <a:gd name="connsiteX12" fmla="*/ 545688 w 736282"/>
                <a:gd name="connsiteY12" fmla="*/ 1108139 h 1238252"/>
                <a:gd name="connsiteX13" fmla="*/ 536163 w 736282"/>
                <a:gd name="connsiteY13" fmla="*/ 1098614 h 1238252"/>
                <a:gd name="connsiteX14" fmla="*/ 439198 w 736282"/>
                <a:gd name="connsiteY14" fmla="*/ 1098614 h 1238252"/>
                <a:gd name="connsiteX15" fmla="*/ 429673 w 736282"/>
                <a:gd name="connsiteY15" fmla="*/ 1108139 h 1238252"/>
                <a:gd name="connsiteX16" fmla="*/ 429673 w 736282"/>
                <a:gd name="connsiteY16" fmla="*/ 1170242 h 1238252"/>
                <a:gd name="connsiteX17" fmla="*/ 439198 w 736282"/>
                <a:gd name="connsiteY17" fmla="*/ 1179767 h 1238252"/>
                <a:gd name="connsiteX18" fmla="*/ 448723 w 736282"/>
                <a:gd name="connsiteY18" fmla="*/ 1170242 h 1238252"/>
                <a:gd name="connsiteX19" fmla="*/ 448723 w 736282"/>
                <a:gd name="connsiteY19" fmla="*/ 1108139 h 1238252"/>
                <a:gd name="connsiteX20" fmla="*/ 439198 w 736282"/>
                <a:gd name="connsiteY20" fmla="*/ 1098614 h 1238252"/>
                <a:gd name="connsiteX21" fmla="*/ 342329 w 736282"/>
                <a:gd name="connsiteY21" fmla="*/ 1098614 h 1238252"/>
                <a:gd name="connsiteX22" fmla="*/ 332804 w 736282"/>
                <a:gd name="connsiteY22" fmla="*/ 1108139 h 1238252"/>
                <a:gd name="connsiteX23" fmla="*/ 332804 w 736282"/>
                <a:gd name="connsiteY23" fmla="*/ 1170242 h 1238252"/>
                <a:gd name="connsiteX24" fmla="*/ 342329 w 736282"/>
                <a:gd name="connsiteY24" fmla="*/ 1179767 h 1238252"/>
                <a:gd name="connsiteX25" fmla="*/ 351854 w 736282"/>
                <a:gd name="connsiteY25" fmla="*/ 1170242 h 1238252"/>
                <a:gd name="connsiteX26" fmla="*/ 351854 w 736282"/>
                <a:gd name="connsiteY26" fmla="*/ 1108139 h 1238252"/>
                <a:gd name="connsiteX27" fmla="*/ 342329 w 736282"/>
                <a:gd name="connsiteY27" fmla="*/ 1098614 h 1238252"/>
                <a:gd name="connsiteX28" fmla="*/ 245459 w 736282"/>
                <a:gd name="connsiteY28" fmla="*/ 1098614 h 1238252"/>
                <a:gd name="connsiteX29" fmla="*/ 235934 w 736282"/>
                <a:gd name="connsiteY29" fmla="*/ 1108139 h 1238252"/>
                <a:gd name="connsiteX30" fmla="*/ 235934 w 736282"/>
                <a:gd name="connsiteY30" fmla="*/ 1170242 h 1238252"/>
                <a:gd name="connsiteX31" fmla="*/ 245459 w 736282"/>
                <a:gd name="connsiteY31" fmla="*/ 1179767 h 1238252"/>
                <a:gd name="connsiteX32" fmla="*/ 254984 w 736282"/>
                <a:gd name="connsiteY32" fmla="*/ 1170242 h 1238252"/>
                <a:gd name="connsiteX33" fmla="*/ 254984 w 736282"/>
                <a:gd name="connsiteY33" fmla="*/ 1108139 h 1238252"/>
                <a:gd name="connsiteX34" fmla="*/ 245459 w 736282"/>
                <a:gd name="connsiteY34" fmla="*/ 1098614 h 1238252"/>
                <a:gd name="connsiteX35" fmla="*/ 148494 w 736282"/>
                <a:gd name="connsiteY35" fmla="*/ 1098614 h 1238252"/>
                <a:gd name="connsiteX36" fmla="*/ 138969 w 736282"/>
                <a:gd name="connsiteY36" fmla="*/ 1108139 h 1238252"/>
                <a:gd name="connsiteX37" fmla="*/ 138969 w 736282"/>
                <a:gd name="connsiteY37" fmla="*/ 1170242 h 1238252"/>
                <a:gd name="connsiteX38" fmla="*/ 148494 w 736282"/>
                <a:gd name="connsiteY38" fmla="*/ 1179767 h 1238252"/>
                <a:gd name="connsiteX39" fmla="*/ 158019 w 736282"/>
                <a:gd name="connsiteY39" fmla="*/ 1170242 h 1238252"/>
                <a:gd name="connsiteX40" fmla="*/ 158019 w 736282"/>
                <a:gd name="connsiteY40" fmla="*/ 1108139 h 1238252"/>
                <a:gd name="connsiteX41" fmla="*/ 148494 w 736282"/>
                <a:gd name="connsiteY41" fmla="*/ 1098614 h 1238252"/>
                <a:gd name="connsiteX42" fmla="*/ 45244 w 736282"/>
                <a:gd name="connsiteY42" fmla="*/ 1059182 h 1238252"/>
                <a:gd name="connsiteX43" fmla="*/ 736282 w 736282"/>
                <a:gd name="connsiteY43" fmla="*/ 1059182 h 1238252"/>
                <a:gd name="connsiteX44" fmla="*/ 736282 w 736282"/>
                <a:gd name="connsiteY44" fmla="*/ 1228727 h 1238252"/>
                <a:gd name="connsiteX45" fmla="*/ 726757 w 736282"/>
                <a:gd name="connsiteY45" fmla="*/ 1238252 h 1238252"/>
                <a:gd name="connsiteX46" fmla="*/ 54769 w 736282"/>
                <a:gd name="connsiteY46" fmla="*/ 1238252 h 1238252"/>
                <a:gd name="connsiteX47" fmla="*/ 45244 w 736282"/>
                <a:gd name="connsiteY47" fmla="*/ 1228727 h 1238252"/>
                <a:gd name="connsiteX48" fmla="*/ 147258 w 736282"/>
                <a:gd name="connsiteY48" fmla="*/ 960218 h 1238252"/>
                <a:gd name="connsiteX49" fmla="*/ 634270 w 736282"/>
                <a:gd name="connsiteY49" fmla="*/ 960218 h 1238252"/>
                <a:gd name="connsiteX50" fmla="*/ 671703 w 736282"/>
                <a:gd name="connsiteY50" fmla="*/ 1040131 h 1238252"/>
                <a:gd name="connsiteX51" fmla="*/ 109824 w 736282"/>
                <a:gd name="connsiteY51" fmla="*/ 1040131 h 1238252"/>
                <a:gd name="connsiteX52" fmla="*/ 285370 w 736282"/>
                <a:gd name="connsiteY52" fmla="*/ 245651 h 1238252"/>
                <a:gd name="connsiteX53" fmla="*/ 235077 w 736282"/>
                <a:gd name="connsiteY53" fmla="*/ 295944 h 1238252"/>
                <a:gd name="connsiteX54" fmla="*/ 285370 w 736282"/>
                <a:gd name="connsiteY54" fmla="*/ 346045 h 1238252"/>
                <a:gd name="connsiteX55" fmla="*/ 335471 w 736282"/>
                <a:gd name="connsiteY55" fmla="*/ 295944 h 1238252"/>
                <a:gd name="connsiteX56" fmla="*/ 285370 w 736282"/>
                <a:gd name="connsiteY56" fmla="*/ 245651 h 1238252"/>
                <a:gd name="connsiteX57" fmla="*/ 404146 w 736282"/>
                <a:gd name="connsiteY57" fmla="*/ 176214 h 1238252"/>
                <a:gd name="connsiteX58" fmla="*/ 393954 w 736282"/>
                <a:gd name="connsiteY58" fmla="*/ 184976 h 1238252"/>
                <a:gd name="connsiteX59" fmla="*/ 402622 w 736282"/>
                <a:gd name="connsiteY59" fmla="*/ 195264 h 1238252"/>
                <a:gd name="connsiteX60" fmla="*/ 429100 w 736282"/>
                <a:gd name="connsiteY60" fmla="*/ 197359 h 1238252"/>
                <a:gd name="connsiteX61" fmla="*/ 602456 w 736282"/>
                <a:gd name="connsiteY61" fmla="*/ 314422 h 1238252"/>
                <a:gd name="connsiteX62" fmla="*/ 627221 w 736282"/>
                <a:gd name="connsiteY62" fmla="*/ 416720 h 1238252"/>
                <a:gd name="connsiteX63" fmla="*/ 636746 w 736282"/>
                <a:gd name="connsiteY63" fmla="*/ 425959 h 1238252"/>
                <a:gd name="connsiteX64" fmla="*/ 637032 w 736282"/>
                <a:gd name="connsiteY64" fmla="*/ 425959 h 1238252"/>
                <a:gd name="connsiteX65" fmla="*/ 646271 w 736282"/>
                <a:gd name="connsiteY65" fmla="*/ 416148 h 1238252"/>
                <a:gd name="connsiteX66" fmla="*/ 619315 w 736282"/>
                <a:gd name="connsiteY66" fmla="*/ 305657 h 1238252"/>
                <a:gd name="connsiteX67" fmla="*/ 430721 w 736282"/>
                <a:gd name="connsiteY67" fmla="*/ 178404 h 1238252"/>
                <a:gd name="connsiteX68" fmla="*/ 344424 w 736282"/>
                <a:gd name="connsiteY68" fmla="*/ 955 h 1238252"/>
                <a:gd name="connsiteX69" fmla="*/ 442627 w 736282"/>
                <a:gd name="connsiteY69" fmla="*/ 116111 h 1238252"/>
                <a:gd name="connsiteX70" fmla="*/ 675418 w 736282"/>
                <a:gd name="connsiteY70" fmla="*/ 276512 h 1238252"/>
                <a:gd name="connsiteX71" fmla="*/ 709423 w 736282"/>
                <a:gd name="connsiteY71" fmla="*/ 414529 h 1238252"/>
                <a:gd name="connsiteX72" fmla="*/ 658558 w 736282"/>
                <a:gd name="connsiteY72" fmla="*/ 714853 h 1238252"/>
                <a:gd name="connsiteX73" fmla="*/ 627221 w 736282"/>
                <a:gd name="connsiteY73" fmla="*/ 941167 h 1238252"/>
                <a:gd name="connsiteX74" fmla="*/ 153733 w 736282"/>
                <a:gd name="connsiteY74" fmla="*/ 941167 h 1238252"/>
                <a:gd name="connsiteX75" fmla="*/ 215455 w 736282"/>
                <a:gd name="connsiteY75" fmla="*/ 673228 h 1238252"/>
                <a:gd name="connsiteX76" fmla="*/ 219932 w 736282"/>
                <a:gd name="connsiteY76" fmla="*/ 667419 h 1238252"/>
                <a:gd name="connsiteX77" fmla="*/ 231076 w 736282"/>
                <a:gd name="connsiteY77" fmla="*/ 652559 h 1238252"/>
                <a:gd name="connsiteX78" fmla="*/ 370332 w 736282"/>
                <a:gd name="connsiteY78" fmla="*/ 512351 h 1238252"/>
                <a:gd name="connsiteX79" fmla="*/ 224790 w 736282"/>
                <a:gd name="connsiteY79" fmla="*/ 500920 h 1238252"/>
                <a:gd name="connsiteX80" fmla="*/ 86582 w 736282"/>
                <a:gd name="connsiteY80" fmla="*/ 558737 h 1238252"/>
                <a:gd name="connsiteX81" fmla="*/ 13335 w 736282"/>
                <a:gd name="connsiteY81" fmla="*/ 507112 h 1238252"/>
                <a:gd name="connsiteX82" fmla="*/ 41147 w 736282"/>
                <a:gd name="connsiteY82" fmla="*/ 374144 h 1238252"/>
                <a:gd name="connsiteX83" fmla="*/ 42291 w 736282"/>
                <a:gd name="connsiteY83" fmla="*/ 373190 h 1238252"/>
                <a:gd name="connsiteX84" fmla="*/ 175069 w 736282"/>
                <a:gd name="connsiteY84" fmla="*/ 236031 h 1238252"/>
                <a:gd name="connsiteX85" fmla="*/ 258508 w 736282"/>
                <a:gd name="connsiteY85" fmla="*/ 156782 h 1238252"/>
                <a:gd name="connsiteX86" fmla="*/ 330423 w 736282"/>
                <a:gd name="connsiteY86" fmla="*/ 138686 h 1238252"/>
                <a:gd name="connsiteX87" fmla="*/ 330709 w 736282"/>
                <a:gd name="connsiteY87" fmla="*/ 138686 h 1238252"/>
                <a:gd name="connsiteX88" fmla="*/ 330709 w 736282"/>
                <a:gd name="connsiteY88" fmla="*/ 9526 h 1238252"/>
                <a:gd name="connsiteX89" fmla="*/ 335185 w 736282"/>
                <a:gd name="connsiteY89" fmla="*/ 1429 h 1238252"/>
                <a:gd name="connsiteX90" fmla="*/ 344424 w 736282"/>
                <a:gd name="connsiteY90" fmla="*/ 955 h 1238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</a:cxnLst>
              <a:rect l="l" t="t" r="r" b="b"/>
              <a:pathLst>
                <a:path w="736282" h="1238252">
                  <a:moveTo>
                    <a:pt x="633032" y="1098614"/>
                  </a:moveTo>
                  <a:cubicBezTo>
                    <a:pt x="627793" y="1098614"/>
                    <a:pt x="623507" y="1102902"/>
                    <a:pt x="623507" y="1108139"/>
                  </a:cubicBezTo>
                  <a:lnTo>
                    <a:pt x="623507" y="1170242"/>
                  </a:lnTo>
                  <a:cubicBezTo>
                    <a:pt x="623507" y="1175577"/>
                    <a:pt x="627793" y="1179767"/>
                    <a:pt x="633032" y="1179767"/>
                  </a:cubicBezTo>
                  <a:cubicBezTo>
                    <a:pt x="638270" y="1179767"/>
                    <a:pt x="642557" y="1175577"/>
                    <a:pt x="642557" y="1170242"/>
                  </a:cubicBezTo>
                  <a:lnTo>
                    <a:pt x="642557" y="1108139"/>
                  </a:lnTo>
                  <a:cubicBezTo>
                    <a:pt x="642557" y="1102902"/>
                    <a:pt x="638270" y="1098614"/>
                    <a:pt x="633032" y="1098614"/>
                  </a:cubicBezTo>
                  <a:close/>
                  <a:moveTo>
                    <a:pt x="536163" y="1098614"/>
                  </a:moveTo>
                  <a:cubicBezTo>
                    <a:pt x="530829" y="1098614"/>
                    <a:pt x="526638" y="1102902"/>
                    <a:pt x="526638" y="1108139"/>
                  </a:cubicBezTo>
                  <a:lnTo>
                    <a:pt x="526638" y="1170242"/>
                  </a:lnTo>
                  <a:cubicBezTo>
                    <a:pt x="526638" y="1175577"/>
                    <a:pt x="530829" y="1179767"/>
                    <a:pt x="536163" y="1179767"/>
                  </a:cubicBezTo>
                  <a:cubicBezTo>
                    <a:pt x="541401" y="1179767"/>
                    <a:pt x="545688" y="1175577"/>
                    <a:pt x="545688" y="1170242"/>
                  </a:cubicBezTo>
                  <a:lnTo>
                    <a:pt x="545688" y="1108139"/>
                  </a:lnTo>
                  <a:cubicBezTo>
                    <a:pt x="545688" y="1102902"/>
                    <a:pt x="541401" y="1098614"/>
                    <a:pt x="536163" y="1098614"/>
                  </a:cubicBezTo>
                  <a:close/>
                  <a:moveTo>
                    <a:pt x="439198" y="1098614"/>
                  </a:moveTo>
                  <a:cubicBezTo>
                    <a:pt x="433958" y="1098614"/>
                    <a:pt x="429673" y="1102902"/>
                    <a:pt x="429673" y="1108139"/>
                  </a:cubicBezTo>
                  <a:lnTo>
                    <a:pt x="429673" y="1170242"/>
                  </a:lnTo>
                  <a:cubicBezTo>
                    <a:pt x="429673" y="1175577"/>
                    <a:pt x="433958" y="1179767"/>
                    <a:pt x="439198" y="1179767"/>
                  </a:cubicBezTo>
                  <a:cubicBezTo>
                    <a:pt x="444532" y="1179767"/>
                    <a:pt x="448723" y="1175577"/>
                    <a:pt x="448723" y="1170242"/>
                  </a:cubicBezTo>
                  <a:lnTo>
                    <a:pt x="448723" y="1108139"/>
                  </a:lnTo>
                  <a:cubicBezTo>
                    <a:pt x="448723" y="1102902"/>
                    <a:pt x="444532" y="1098614"/>
                    <a:pt x="439198" y="1098614"/>
                  </a:cubicBezTo>
                  <a:close/>
                  <a:moveTo>
                    <a:pt x="342329" y="1098614"/>
                  </a:moveTo>
                  <a:cubicBezTo>
                    <a:pt x="337090" y="1098614"/>
                    <a:pt x="332804" y="1102902"/>
                    <a:pt x="332804" y="1108139"/>
                  </a:cubicBezTo>
                  <a:lnTo>
                    <a:pt x="332804" y="1170242"/>
                  </a:lnTo>
                  <a:cubicBezTo>
                    <a:pt x="332804" y="1175577"/>
                    <a:pt x="337090" y="1179767"/>
                    <a:pt x="342329" y="1179767"/>
                  </a:cubicBezTo>
                  <a:cubicBezTo>
                    <a:pt x="347567" y="1179767"/>
                    <a:pt x="351854" y="1175577"/>
                    <a:pt x="351854" y="1170242"/>
                  </a:cubicBezTo>
                  <a:lnTo>
                    <a:pt x="351854" y="1108139"/>
                  </a:lnTo>
                  <a:cubicBezTo>
                    <a:pt x="351854" y="1102902"/>
                    <a:pt x="347567" y="1098614"/>
                    <a:pt x="342329" y="1098614"/>
                  </a:cubicBezTo>
                  <a:close/>
                  <a:moveTo>
                    <a:pt x="245459" y="1098614"/>
                  </a:moveTo>
                  <a:cubicBezTo>
                    <a:pt x="240126" y="1098614"/>
                    <a:pt x="235934" y="1102902"/>
                    <a:pt x="235934" y="1108139"/>
                  </a:cubicBezTo>
                  <a:lnTo>
                    <a:pt x="235934" y="1170242"/>
                  </a:lnTo>
                  <a:cubicBezTo>
                    <a:pt x="235934" y="1175577"/>
                    <a:pt x="240126" y="1179767"/>
                    <a:pt x="245459" y="1179767"/>
                  </a:cubicBezTo>
                  <a:cubicBezTo>
                    <a:pt x="250697" y="1179767"/>
                    <a:pt x="254984" y="1175577"/>
                    <a:pt x="254984" y="1170242"/>
                  </a:cubicBezTo>
                  <a:lnTo>
                    <a:pt x="254984" y="1108139"/>
                  </a:lnTo>
                  <a:cubicBezTo>
                    <a:pt x="254984" y="1102902"/>
                    <a:pt x="250697" y="1098614"/>
                    <a:pt x="245459" y="1098614"/>
                  </a:cubicBezTo>
                  <a:close/>
                  <a:moveTo>
                    <a:pt x="148494" y="1098614"/>
                  </a:moveTo>
                  <a:cubicBezTo>
                    <a:pt x="143256" y="1098614"/>
                    <a:pt x="138969" y="1102902"/>
                    <a:pt x="138969" y="1108139"/>
                  </a:cubicBezTo>
                  <a:lnTo>
                    <a:pt x="138969" y="1170242"/>
                  </a:lnTo>
                  <a:cubicBezTo>
                    <a:pt x="138969" y="1175577"/>
                    <a:pt x="143256" y="1179767"/>
                    <a:pt x="148494" y="1179767"/>
                  </a:cubicBezTo>
                  <a:cubicBezTo>
                    <a:pt x="153829" y="1179767"/>
                    <a:pt x="158019" y="1175577"/>
                    <a:pt x="158019" y="1170242"/>
                  </a:cubicBezTo>
                  <a:lnTo>
                    <a:pt x="158019" y="1108139"/>
                  </a:lnTo>
                  <a:cubicBezTo>
                    <a:pt x="158019" y="1102902"/>
                    <a:pt x="153829" y="1098614"/>
                    <a:pt x="148494" y="1098614"/>
                  </a:cubicBezTo>
                  <a:close/>
                  <a:moveTo>
                    <a:pt x="45244" y="1059182"/>
                  </a:moveTo>
                  <a:lnTo>
                    <a:pt x="736282" y="1059182"/>
                  </a:lnTo>
                  <a:lnTo>
                    <a:pt x="736282" y="1228727"/>
                  </a:lnTo>
                  <a:cubicBezTo>
                    <a:pt x="736282" y="1233966"/>
                    <a:pt x="732091" y="1238252"/>
                    <a:pt x="726757" y="1238252"/>
                  </a:cubicBezTo>
                  <a:lnTo>
                    <a:pt x="54769" y="1238252"/>
                  </a:lnTo>
                  <a:cubicBezTo>
                    <a:pt x="49531" y="1238252"/>
                    <a:pt x="45244" y="1233966"/>
                    <a:pt x="45244" y="1228727"/>
                  </a:cubicBezTo>
                  <a:close/>
                  <a:moveTo>
                    <a:pt x="147258" y="960218"/>
                  </a:moveTo>
                  <a:lnTo>
                    <a:pt x="634270" y="960218"/>
                  </a:lnTo>
                  <a:lnTo>
                    <a:pt x="671703" y="1040131"/>
                  </a:lnTo>
                  <a:lnTo>
                    <a:pt x="109824" y="1040131"/>
                  </a:lnTo>
                  <a:close/>
                  <a:moveTo>
                    <a:pt x="285370" y="245651"/>
                  </a:moveTo>
                  <a:cubicBezTo>
                    <a:pt x="257650" y="245651"/>
                    <a:pt x="235077" y="268224"/>
                    <a:pt x="235077" y="295944"/>
                  </a:cubicBezTo>
                  <a:cubicBezTo>
                    <a:pt x="235077" y="323565"/>
                    <a:pt x="257650" y="346045"/>
                    <a:pt x="285370" y="346045"/>
                  </a:cubicBezTo>
                  <a:cubicBezTo>
                    <a:pt x="312991" y="346045"/>
                    <a:pt x="335471" y="323565"/>
                    <a:pt x="335471" y="295944"/>
                  </a:cubicBezTo>
                  <a:cubicBezTo>
                    <a:pt x="335471" y="268224"/>
                    <a:pt x="312991" y="245651"/>
                    <a:pt x="285370" y="245651"/>
                  </a:cubicBezTo>
                  <a:close/>
                  <a:moveTo>
                    <a:pt x="404146" y="176214"/>
                  </a:moveTo>
                  <a:cubicBezTo>
                    <a:pt x="398811" y="175737"/>
                    <a:pt x="394335" y="179739"/>
                    <a:pt x="393954" y="184976"/>
                  </a:cubicBezTo>
                  <a:cubicBezTo>
                    <a:pt x="393477" y="190215"/>
                    <a:pt x="397384" y="194787"/>
                    <a:pt x="402622" y="195264"/>
                  </a:cubicBezTo>
                  <a:lnTo>
                    <a:pt x="429100" y="197359"/>
                  </a:lnTo>
                  <a:cubicBezTo>
                    <a:pt x="433958" y="197836"/>
                    <a:pt x="548163" y="209742"/>
                    <a:pt x="602456" y="314422"/>
                  </a:cubicBezTo>
                  <a:cubicBezTo>
                    <a:pt x="617791" y="344138"/>
                    <a:pt x="626173" y="378525"/>
                    <a:pt x="627221" y="416720"/>
                  </a:cubicBezTo>
                  <a:cubicBezTo>
                    <a:pt x="627316" y="421864"/>
                    <a:pt x="631602" y="425959"/>
                    <a:pt x="636746" y="425959"/>
                  </a:cubicBezTo>
                  <a:lnTo>
                    <a:pt x="637032" y="425959"/>
                  </a:lnTo>
                  <a:cubicBezTo>
                    <a:pt x="642271" y="425864"/>
                    <a:pt x="646366" y="421483"/>
                    <a:pt x="646271" y="416148"/>
                  </a:cubicBezTo>
                  <a:cubicBezTo>
                    <a:pt x="645129" y="375095"/>
                    <a:pt x="636080" y="337948"/>
                    <a:pt x="619315" y="305657"/>
                  </a:cubicBezTo>
                  <a:cubicBezTo>
                    <a:pt x="560260" y="191836"/>
                    <a:pt x="436150" y="178881"/>
                    <a:pt x="430721" y="178404"/>
                  </a:cubicBezTo>
                  <a:close/>
                  <a:moveTo>
                    <a:pt x="344424" y="955"/>
                  </a:moveTo>
                  <a:cubicBezTo>
                    <a:pt x="347662" y="2573"/>
                    <a:pt x="421862" y="39720"/>
                    <a:pt x="442627" y="116111"/>
                  </a:cubicBezTo>
                  <a:cubicBezTo>
                    <a:pt x="474725" y="120399"/>
                    <a:pt x="607505" y="145544"/>
                    <a:pt x="675418" y="276512"/>
                  </a:cubicBezTo>
                  <a:cubicBezTo>
                    <a:pt x="696658" y="317375"/>
                    <a:pt x="708088" y="363760"/>
                    <a:pt x="709423" y="414529"/>
                  </a:cubicBezTo>
                  <a:cubicBezTo>
                    <a:pt x="711137" y="479870"/>
                    <a:pt x="706946" y="605885"/>
                    <a:pt x="658558" y="714853"/>
                  </a:cubicBezTo>
                  <a:cubicBezTo>
                    <a:pt x="658272" y="715804"/>
                    <a:pt x="609695" y="845059"/>
                    <a:pt x="627221" y="941167"/>
                  </a:cubicBezTo>
                  <a:lnTo>
                    <a:pt x="153733" y="941167"/>
                  </a:lnTo>
                  <a:cubicBezTo>
                    <a:pt x="145637" y="893826"/>
                    <a:pt x="136779" y="777242"/>
                    <a:pt x="215455" y="673228"/>
                  </a:cubicBezTo>
                  <a:lnTo>
                    <a:pt x="219932" y="667419"/>
                  </a:lnTo>
                  <a:cubicBezTo>
                    <a:pt x="223648" y="662561"/>
                    <a:pt x="227457" y="657608"/>
                    <a:pt x="231076" y="652559"/>
                  </a:cubicBezTo>
                  <a:cubicBezTo>
                    <a:pt x="249174" y="627317"/>
                    <a:pt x="295465" y="568834"/>
                    <a:pt x="370332" y="512351"/>
                  </a:cubicBezTo>
                  <a:cubicBezTo>
                    <a:pt x="333850" y="518160"/>
                    <a:pt x="281653" y="519970"/>
                    <a:pt x="224790" y="500920"/>
                  </a:cubicBezTo>
                  <a:cubicBezTo>
                    <a:pt x="209170" y="518542"/>
                    <a:pt x="154972" y="572264"/>
                    <a:pt x="86582" y="558737"/>
                  </a:cubicBezTo>
                  <a:cubicBezTo>
                    <a:pt x="55721" y="552547"/>
                    <a:pt x="29050" y="533783"/>
                    <a:pt x="13335" y="507112"/>
                  </a:cubicBezTo>
                  <a:cubicBezTo>
                    <a:pt x="-1048" y="482728"/>
                    <a:pt x="-16574" y="432912"/>
                    <a:pt x="41147" y="374144"/>
                  </a:cubicBezTo>
                  <a:cubicBezTo>
                    <a:pt x="41529" y="373762"/>
                    <a:pt x="41910" y="373476"/>
                    <a:pt x="42291" y="373190"/>
                  </a:cubicBezTo>
                  <a:cubicBezTo>
                    <a:pt x="43148" y="372430"/>
                    <a:pt x="134207" y="304992"/>
                    <a:pt x="175069" y="236031"/>
                  </a:cubicBezTo>
                  <a:cubicBezTo>
                    <a:pt x="195644" y="201263"/>
                    <a:pt x="224503" y="173928"/>
                    <a:pt x="258508" y="156782"/>
                  </a:cubicBezTo>
                  <a:cubicBezTo>
                    <a:pt x="282607" y="144781"/>
                    <a:pt x="306801" y="138686"/>
                    <a:pt x="330423" y="138686"/>
                  </a:cubicBezTo>
                  <a:lnTo>
                    <a:pt x="330709" y="138686"/>
                  </a:lnTo>
                  <a:lnTo>
                    <a:pt x="330709" y="9526"/>
                  </a:lnTo>
                  <a:cubicBezTo>
                    <a:pt x="330709" y="6192"/>
                    <a:pt x="332422" y="3145"/>
                    <a:pt x="335185" y="1429"/>
                  </a:cubicBezTo>
                  <a:cubicBezTo>
                    <a:pt x="337948" y="-285"/>
                    <a:pt x="341471" y="-475"/>
                    <a:pt x="344424" y="955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135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32" name="!!c1_quote"/>
          <p:cNvSpPr txBox="1"/>
          <p:nvPr/>
        </p:nvSpPr>
        <p:spPr>
          <a:xfrm>
            <a:off x="685800" y="1645919"/>
            <a:ext cx="37947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i="1">
                <a:solidFill>
                  <a:srgbClr val="2E2925"/>
                </a:solidFill>
                <a:latin typeface="Franklin Gothic Book"/>
              </a:rPr>
              <a:t>“Our targets are increasing, but we keep doing the same thing?”</a:t>
            </a:r>
          </a:p>
        </p:txBody>
      </p:sp>
      <p:sp>
        <p:nvSpPr>
          <p:cNvPr id="33" name="!!c1_how"/>
          <p:cNvSpPr txBox="1"/>
          <p:nvPr/>
        </p:nvSpPr>
        <p:spPr>
          <a:xfrm>
            <a:off x="685800" y="2880360"/>
            <a:ext cx="2011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i="0">
                <a:solidFill>
                  <a:srgbClr val="55575A"/>
                </a:solidFill>
                <a:latin typeface="Franklin Gothic Medium"/>
              </a:rPr>
              <a:t>Who we hunt</a:t>
            </a:r>
          </a:p>
        </p:txBody>
      </p:sp>
      <p:sp>
        <p:nvSpPr>
          <p:cNvPr id="34" name="!!c1_pill"/>
          <p:cNvSpPr/>
          <p:nvPr/>
        </p:nvSpPr>
        <p:spPr>
          <a:xfrm>
            <a:off x="3623401" y="2880360"/>
            <a:ext cx="857158" cy="310896"/>
          </a:xfrm>
          <a:prstGeom prst="roundRect">
            <a:avLst>
              <a:gd name="adj" fmla="val 50000"/>
            </a:avLst>
          </a:prstGeom>
          <a:solidFill>
            <a:srgbClr val="D51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1050">
                <a:solidFill>
                  <a:srgbClr val="FFFFFF"/>
                </a:solidFill>
                <a:latin typeface="Franklin Gothic Medium"/>
              </a:rPr>
              <a:t>IGNITE</a:t>
            </a:r>
          </a:p>
        </p:txBody>
      </p:sp>
      <p:sp>
        <p:nvSpPr>
          <p:cNvPr id="35" name="!!c2_bg"/>
          <p:cNvSpPr/>
          <p:nvPr/>
        </p:nvSpPr>
        <p:spPr>
          <a:xfrm>
            <a:off x="7434071" y="896112"/>
            <a:ext cx="4343400" cy="2487168"/>
          </a:xfrm>
          <a:prstGeom prst="rect">
            <a:avLst/>
          </a:prstGeom>
          <a:solidFill>
            <a:srgbClr val="F4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!!c2_band"/>
          <p:cNvSpPr/>
          <p:nvPr/>
        </p:nvSpPr>
        <p:spPr>
          <a:xfrm>
            <a:off x="7434071" y="896112"/>
            <a:ext cx="4343400" cy="530352"/>
          </a:xfrm>
          <a:prstGeom prst="rect">
            <a:avLst/>
          </a:prstGeom>
          <a:solidFill>
            <a:srgbClr val="555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!!c2_name"/>
          <p:cNvSpPr txBox="1"/>
          <p:nvPr/>
        </p:nvSpPr>
        <p:spPr>
          <a:xfrm>
            <a:off x="8394192" y="896112"/>
            <a:ext cx="32461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i="0">
                <a:solidFill>
                  <a:srgbClr val="FFFFFF"/>
                </a:solidFill>
                <a:latin typeface="Franklin Gothic Medium"/>
              </a:rPr>
              <a:t>2   Process &amp; Customer Engagement</a:t>
            </a:r>
          </a:p>
        </p:txBody>
      </p:sp>
      <p:grpSp>
        <p:nvGrpSpPr>
          <p:cNvPr id="32" name="!!c2_icon">
            <a:extLst>
              <a:ext uri="{FF2B5EF4-FFF2-40B4-BE49-F238E27FC236}">
                <a16:creationId xmlns:a16="http://schemas.microsoft.com/office/drawing/2014/main" id="{77041D4C-755A-3D94-1710-AD2EB06AA12A}"/>
              </a:ext>
            </a:extLst>
          </p:cNvPr>
          <p:cNvGrpSpPr/>
          <p:nvPr/>
        </p:nvGrpSpPr>
        <p:grpSpPr>
          <a:xfrm>
            <a:off x="7543799" y="768096"/>
            <a:ext cx="768096" cy="768096"/>
            <a:chOff x="9967415" y="5638500"/>
            <a:chExt cx="960500" cy="960500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0B46943B-8095-DFB5-802D-B1C35FD52F07}"/>
                </a:ext>
              </a:extLst>
            </p:cNvPr>
            <p:cNvSpPr/>
            <p:nvPr/>
          </p:nvSpPr>
          <p:spPr>
            <a:xfrm>
              <a:off x="9967415" y="5638500"/>
              <a:ext cx="960500" cy="960500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65000"/>
                    <a:shade val="30000"/>
                    <a:satMod val="115000"/>
                  </a:schemeClr>
                </a:gs>
                <a:gs pos="50000">
                  <a:schemeClr val="bg1">
                    <a:lumMod val="65000"/>
                    <a:shade val="67500"/>
                    <a:satMod val="115000"/>
                  </a:schemeClr>
                </a:gs>
                <a:gs pos="100000">
                  <a:schemeClr val="bg1">
                    <a:lumMod val="65000"/>
                    <a:shade val="100000"/>
                    <a:satMod val="115000"/>
                  </a:schemeClr>
                </a:gs>
              </a:gsLst>
              <a:lin ang="0" scaled="1"/>
              <a:tileRect/>
            </a:gradFill>
            <a:ln w="19050">
              <a:solidFill>
                <a:srgbClr val="B523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5AF0AA7D-B943-9379-2F28-A53E9C4EE12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159322" y="5855410"/>
              <a:ext cx="628041" cy="473182"/>
            </a:xfrm>
            <a:prstGeom prst="rect">
              <a:avLst/>
            </a:prstGeom>
          </p:spPr>
        </p:pic>
      </p:grpSp>
      <p:sp>
        <p:nvSpPr>
          <p:cNvPr id="38" name="!!c2_quote"/>
          <p:cNvSpPr txBox="1"/>
          <p:nvPr/>
        </p:nvSpPr>
        <p:spPr>
          <a:xfrm>
            <a:off x="7708392" y="1645919"/>
            <a:ext cx="37947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i="1">
                <a:solidFill>
                  <a:srgbClr val="2E2925"/>
                </a:solidFill>
                <a:latin typeface="Franklin Gothic Book"/>
              </a:rPr>
              <a:t>“Are we showing up relevant to our customers? How do we not become commoditized?”</a:t>
            </a:r>
          </a:p>
        </p:txBody>
      </p:sp>
      <p:sp>
        <p:nvSpPr>
          <p:cNvPr id="39" name="!!c2_how"/>
          <p:cNvSpPr txBox="1"/>
          <p:nvPr/>
        </p:nvSpPr>
        <p:spPr>
          <a:xfrm>
            <a:off x="7708392" y="2880360"/>
            <a:ext cx="2011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i="0">
                <a:solidFill>
                  <a:srgbClr val="55575A"/>
                </a:solidFill>
                <a:latin typeface="Franklin Gothic Medium"/>
              </a:rPr>
              <a:t>How we hunt</a:t>
            </a:r>
          </a:p>
        </p:txBody>
      </p:sp>
      <p:sp>
        <p:nvSpPr>
          <p:cNvPr id="40" name="!!c2_pill"/>
          <p:cNvSpPr/>
          <p:nvPr/>
        </p:nvSpPr>
        <p:spPr>
          <a:xfrm>
            <a:off x="9422800" y="2880360"/>
            <a:ext cx="2080351" cy="310896"/>
          </a:xfrm>
          <a:prstGeom prst="roundRect">
            <a:avLst>
              <a:gd name="adj" fmla="val 50000"/>
            </a:avLst>
          </a:prstGeom>
          <a:solidFill>
            <a:srgbClr val="D51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1050">
                <a:solidFill>
                  <a:srgbClr val="FFFFFF"/>
                </a:solidFill>
                <a:latin typeface="Franklin Gothic Medium"/>
              </a:rPr>
              <a:t>CONNECT ABM PROGRAM</a:t>
            </a:r>
          </a:p>
        </p:txBody>
      </p:sp>
      <p:sp>
        <p:nvSpPr>
          <p:cNvPr id="41" name="!!c3_bg"/>
          <p:cNvSpPr/>
          <p:nvPr/>
        </p:nvSpPr>
        <p:spPr>
          <a:xfrm>
            <a:off x="7434071" y="3675887"/>
            <a:ext cx="4343400" cy="2487168"/>
          </a:xfrm>
          <a:prstGeom prst="rect">
            <a:avLst/>
          </a:prstGeom>
          <a:solidFill>
            <a:srgbClr val="F4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!!c3_band"/>
          <p:cNvSpPr/>
          <p:nvPr/>
        </p:nvSpPr>
        <p:spPr>
          <a:xfrm>
            <a:off x="7434071" y="3675887"/>
            <a:ext cx="4343400" cy="530352"/>
          </a:xfrm>
          <a:prstGeom prst="rect">
            <a:avLst/>
          </a:prstGeom>
          <a:solidFill>
            <a:srgbClr val="B52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!!c3_name"/>
          <p:cNvSpPr txBox="1"/>
          <p:nvPr/>
        </p:nvSpPr>
        <p:spPr>
          <a:xfrm>
            <a:off x="8394192" y="3675887"/>
            <a:ext cx="32461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i="0">
                <a:solidFill>
                  <a:srgbClr val="FFFFFF"/>
                </a:solidFill>
                <a:latin typeface="Franklin Gothic Medium"/>
              </a:rPr>
              <a:t>3   Art &amp; Talent Optimization</a:t>
            </a:r>
          </a:p>
        </p:txBody>
      </p:sp>
      <p:sp>
        <p:nvSpPr>
          <p:cNvPr id="20" name="!!c3_icon">
            <a:extLst>
              <a:ext uri="{FF2B5EF4-FFF2-40B4-BE49-F238E27FC236}">
                <a16:creationId xmlns:a16="http://schemas.microsoft.com/office/drawing/2014/main" id="{1554B659-AB45-0829-BE35-18A4734CC740}"/>
              </a:ext>
            </a:extLst>
          </p:cNvPr>
          <p:cNvSpPr/>
          <p:nvPr/>
        </p:nvSpPr>
        <p:spPr>
          <a:xfrm>
            <a:off x="7543799" y="3547871"/>
            <a:ext cx="768096" cy="768096"/>
          </a:xfrm>
          <a:prstGeom prst="ellipse">
            <a:avLst/>
          </a:prstGeom>
          <a:gradFill flip="none" rotWithShape="1">
            <a:gsLst>
              <a:gs pos="0">
                <a:schemeClr val="bg1">
                  <a:lumMod val="65000"/>
                  <a:shade val="30000"/>
                  <a:satMod val="115000"/>
                </a:schemeClr>
              </a:gs>
              <a:gs pos="50000">
                <a:schemeClr val="bg1">
                  <a:lumMod val="65000"/>
                  <a:shade val="67500"/>
                  <a:satMod val="115000"/>
                </a:schemeClr>
              </a:gs>
              <a:gs pos="100000">
                <a:schemeClr val="bg1">
                  <a:lumMod val="65000"/>
                  <a:shade val="100000"/>
                  <a:satMod val="115000"/>
                </a:schemeClr>
              </a:gs>
            </a:gsLst>
            <a:lin ang="0" scaled="1"/>
            <a:tileRect/>
          </a:gradFill>
          <a:ln w="19050">
            <a:solidFill>
              <a:srgbClr val="B523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!!c3_icon2">
            <a:extLst>
              <a:ext uri="{FF2B5EF4-FFF2-40B4-BE49-F238E27FC236}">
                <a16:creationId xmlns:a16="http://schemas.microsoft.com/office/drawing/2014/main" id="{1D374ABD-935D-2940-6A79-175341756B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4353" y="3697373"/>
            <a:ext cx="486989" cy="479134"/>
          </a:xfrm>
          <a:prstGeom prst="rect">
            <a:avLst/>
          </a:prstGeom>
        </p:spPr>
      </p:pic>
      <p:sp>
        <p:nvSpPr>
          <p:cNvPr id="44" name="!!c3_quote"/>
          <p:cNvSpPr txBox="1"/>
          <p:nvPr/>
        </p:nvSpPr>
        <p:spPr>
          <a:xfrm>
            <a:off x="7708392" y="4425696"/>
            <a:ext cx="37947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i="1">
                <a:solidFill>
                  <a:srgbClr val="2E2925"/>
                </a:solidFill>
                <a:latin typeface="Franklin Gothic Book"/>
              </a:rPr>
              <a:t>“We have to develop our people. We can’t afford the cost of turnover and talent is hard to find.”</a:t>
            </a:r>
          </a:p>
        </p:txBody>
      </p:sp>
      <p:sp>
        <p:nvSpPr>
          <p:cNvPr id="45" name="!!c3_how"/>
          <p:cNvSpPr txBox="1"/>
          <p:nvPr/>
        </p:nvSpPr>
        <p:spPr>
          <a:xfrm>
            <a:off x="7708392" y="5660136"/>
            <a:ext cx="2011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i="0">
                <a:solidFill>
                  <a:srgbClr val="55575A"/>
                </a:solidFill>
                <a:latin typeface="Franklin Gothic Medium"/>
              </a:rPr>
              <a:t>How we develop</a:t>
            </a:r>
          </a:p>
        </p:txBody>
      </p:sp>
      <p:sp>
        <p:nvSpPr>
          <p:cNvPr id="46" name="!!c3_pill"/>
          <p:cNvSpPr/>
          <p:nvPr/>
        </p:nvSpPr>
        <p:spPr>
          <a:xfrm>
            <a:off x="9987351" y="5660136"/>
            <a:ext cx="1515800" cy="310896"/>
          </a:xfrm>
          <a:prstGeom prst="roundRect">
            <a:avLst>
              <a:gd name="adj" fmla="val 50000"/>
            </a:avLst>
          </a:prstGeom>
          <a:solidFill>
            <a:srgbClr val="D51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1050">
                <a:solidFill>
                  <a:srgbClr val="FFFFFF"/>
                </a:solidFill>
                <a:latin typeface="Franklin Gothic Medium"/>
              </a:rPr>
              <a:t>IGNITE TALENT</a:t>
            </a:r>
          </a:p>
        </p:txBody>
      </p:sp>
      <p:sp>
        <p:nvSpPr>
          <p:cNvPr id="47" name="!!c4_bg"/>
          <p:cNvSpPr/>
          <p:nvPr/>
        </p:nvSpPr>
        <p:spPr>
          <a:xfrm>
            <a:off x="411480" y="3675887"/>
            <a:ext cx="4343400" cy="2487168"/>
          </a:xfrm>
          <a:prstGeom prst="rect">
            <a:avLst/>
          </a:prstGeom>
          <a:solidFill>
            <a:srgbClr val="F4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!!c4_band"/>
          <p:cNvSpPr/>
          <p:nvPr/>
        </p:nvSpPr>
        <p:spPr>
          <a:xfrm>
            <a:off x="411480" y="3675887"/>
            <a:ext cx="4343400" cy="530352"/>
          </a:xfrm>
          <a:prstGeom prst="rect">
            <a:avLst/>
          </a:prstGeom>
          <a:solidFill>
            <a:srgbClr val="555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!!c4_name"/>
          <p:cNvSpPr txBox="1"/>
          <p:nvPr/>
        </p:nvSpPr>
        <p:spPr>
          <a:xfrm>
            <a:off x="1371600" y="3675887"/>
            <a:ext cx="32461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i="0">
                <a:solidFill>
                  <a:srgbClr val="FFFFFF"/>
                </a:solidFill>
                <a:latin typeface="Franklin Gothic Medium"/>
              </a:rPr>
              <a:t>4   Revenue Performance &amp; Metrics</a:t>
            </a:r>
          </a:p>
        </p:txBody>
      </p:sp>
      <p:grpSp>
        <p:nvGrpSpPr>
          <p:cNvPr id="30" name="!!c4_icon">
            <a:extLst>
              <a:ext uri="{FF2B5EF4-FFF2-40B4-BE49-F238E27FC236}">
                <a16:creationId xmlns:a16="http://schemas.microsoft.com/office/drawing/2014/main" id="{A34F56AE-6E15-CA17-553A-4BF952104907}"/>
              </a:ext>
            </a:extLst>
          </p:cNvPr>
          <p:cNvGrpSpPr/>
          <p:nvPr/>
        </p:nvGrpSpPr>
        <p:grpSpPr>
          <a:xfrm>
            <a:off x="521208" y="3547871"/>
            <a:ext cx="768096" cy="768096"/>
            <a:chOff x="1234577" y="277743"/>
            <a:chExt cx="960500" cy="960500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B9C1869-EBAB-161D-2DA4-8C653FBF65E5}"/>
                </a:ext>
              </a:extLst>
            </p:cNvPr>
            <p:cNvSpPr/>
            <p:nvPr/>
          </p:nvSpPr>
          <p:spPr>
            <a:xfrm>
              <a:off x="1234577" y="277743"/>
              <a:ext cx="960500" cy="960500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65000"/>
                    <a:shade val="30000"/>
                    <a:satMod val="115000"/>
                  </a:schemeClr>
                </a:gs>
                <a:gs pos="50000">
                  <a:schemeClr val="bg1">
                    <a:lumMod val="65000"/>
                    <a:shade val="67500"/>
                    <a:satMod val="115000"/>
                  </a:schemeClr>
                </a:gs>
                <a:gs pos="100000">
                  <a:schemeClr val="bg1">
                    <a:lumMod val="65000"/>
                    <a:shade val="100000"/>
                    <a:satMod val="115000"/>
                  </a:schemeClr>
                </a:gs>
              </a:gsLst>
              <a:lin ang="0" scaled="1"/>
              <a:tileRect/>
            </a:gradFill>
            <a:ln w="19050">
              <a:solidFill>
                <a:srgbClr val="B523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A2EA54A9-541A-CDCD-7A9C-8ABB1FBB1F5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48085" y="547117"/>
              <a:ext cx="706154" cy="380952"/>
            </a:xfrm>
            <a:prstGeom prst="rect">
              <a:avLst/>
            </a:prstGeom>
          </p:spPr>
        </p:pic>
      </p:grpSp>
      <p:sp>
        <p:nvSpPr>
          <p:cNvPr id="50" name="!!c4_quote"/>
          <p:cNvSpPr txBox="1"/>
          <p:nvPr/>
        </p:nvSpPr>
        <p:spPr>
          <a:xfrm>
            <a:off x="685800" y="4425696"/>
            <a:ext cx="37947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i="1">
                <a:solidFill>
                  <a:srgbClr val="2E2925"/>
                </a:solidFill>
                <a:latin typeface="Franklin Gothic Book"/>
              </a:rPr>
              <a:t>“We have a lot of reporting, but does it show how or if we are doing better?”</a:t>
            </a:r>
          </a:p>
        </p:txBody>
      </p:sp>
      <p:sp>
        <p:nvSpPr>
          <p:cNvPr id="51" name="!!c4_how"/>
          <p:cNvSpPr txBox="1"/>
          <p:nvPr/>
        </p:nvSpPr>
        <p:spPr>
          <a:xfrm>
            <a:off x="685800" y="5660136"/>
            <a:ext cx="2011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i="0">
                <a:solidFill>
                  <a:srgbClr val="55575A"/>
                </a:solidFill>
                <a:latin typeface="Franklin Gothic Medium"/>
              </a:rPr>
              <a:t>How we measure</a:t>
            </a:r>
          </a:p>
        </p:txBody>
      </p:sp>
      <p:sp>
        <p:nvSpPr>
          <p:cNvPr id="52" name="!!hub_ring"/>
          <p:cNvSpPr/>
          <p:nvPr/>
        </p:nvSpPr>
        <p:spPr>
          <a:xfrm>
            <a:off x="4935016" y="2148840"/>
            <a:ext cx="2322576" cy="2322576"/>
          </a:xfrm>
          <a:prstGeom prst="ellipse">
            <a:avLst/>
          </a:prstGeom>
          <a:noFill/>
          <a:ln w="28575">
            <a:solidFill>
              <a:srgbClr val="D510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!!hub"/>
          <p:cNvSpPr/>
          <p:nvPr/>
        </p:nvSpPr>
        <p:spPr>
          <a:xfrm>
            <a:off x="5044744" y="2258568"/>
            <a:ext cx="2103120" cy="2103120"/>
          </a:xfrm>
          <a:prstGeom prst="ellipse">
            <a:avLst/>
          </a:prstGeom>
          <a:solidFill>
            <a:srgbClr val="555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!!hub_t"/>
          <p:cNvSpPr txBox="1"/>
          <p:nvPr/>
        </p:nvSpPr>
        <p:spPr>
          <a:xfrm>
            <a:off x="5181904" y="2743200"/>
            <a:ext cx="1828799" cy="7315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/>
            <a:r>
              <a:rPr sz="2100" i="0">
                <a:solidFill>
                  <a:srgbClr val="FFFFFF"/>
                </a:solidFill>
                <a:latin typeface="Franklin Gothic Medium"/>
              </a:rPr>
              <a:t>Profitable</a:t>
            </a:r>
          </a:p>
          <a:p>
            <a:pPr algn="ctr"/>
            <a:r>
              <a:rPr sz="2100" i="0">
                <a:solidFill>
                  <a:srgbClr val="FFFFFF"/>
                </a:solidFill>
                <a:latin typeface="Franklin Gothic Medium"/>
              </a:rPr>
              <a:t>Growth</a:t>
            </a:r>
          </a:p>
        </p:txBody>
      </p:sp>
      <p:sp>
        <p:nvSpPr>
          <p:cNvPr id="55" name="!!hub_s"/>
          <p:cNvSpPr txBox="1"/>
          <p:nvPr/>
        </p:nvSpPr>
        <p:spPr>
          <a:xfrm>
            <a:off x="5227624" y="3511296"/>
            <a:ext cx="1737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i="0">
                <a:solidFill>
                  <a:srgbClr val="FFFFFF"/>
                </a:solidFill>
                <a:latin typeface="Franklin Gothic Book"/>
              </a:rPr>
              <a:t>Sales  ·  Marketing</a:t>
            </a:r>
          </a:p>
          <a:p>
            <a:pPr algn="ctr"/>
            <a:r>
              <a:rPr sz="1050" i="0">
                <a:solidFill>
                  <a:srgbClr val="FFFFFF"/>
                </a:solidFill>
                <a:latin typeface="Franklin Gothic Book"/>
              </a:rPr>
              <a:t>Pricing / Rev Mgmt.</a:t>
            </a:r>
          </a:p>
        </p:txBody>
      </p:sp>
      <p:sp>
        <p:nvSpPr>
          <p:cNvPr id="56" name="!!fff_rule"/>
          <p:cNvSpPr/>
          <p:nvPr/>
        </p:nvSpPr>
        <p:spPr>
          <a:xfrm>
            <a:off x="5547664" y="4690872"/>
            <a:ext cx="1097280" cy="91"/>
          </a:xfrm>
          <a:prstGeom prst="rect">
            <a:avLst/>
          </a:prstGeom>
          <a:noFill/>
          <a:ln w="9525">
            <a:solidFill>
              <a:srgbClr val="CA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!!fff0"/>
          <p:cNvSpPr txBox="1"/>
          <p:nvPr/>
        </p:nvSpPr>
        <p:spPr>
          <a:xfrm>
            <a:off x="4816144" y="4754880"/>
            <a:ext cx="25603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i="0">
                <a:solidFill>
                  <a:srgbClr val="B52372"/>
                </a:solidFill>
                <a:latin typeface="Franklin Gothic Medium"/>
              </a:rPr>
              <a:t>Focus</a:t>
            </a:r>
          </a:p>
        </p:txBody>
      </p:sp>
      <p:sp>
        <p:nvSpPr>
          <p:cNvPr id="58" name="!!fff1"/>
          <p:cNvSpPr txBox="1"/>
          <p:nvPr/>
        </p:nvSpPr>
        <p:spPr>
          <a:xfrm>
            <a:off x="4816144" y="5084064"/>
            <a:ext cx="25603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i="0">
                <a:solidFill>
                  <a:srgbClr val="55575A"/>
                </a:solidFill>
                <a:latin typeface="Franklin Gothic Book"/>
              </a:rPr>
              <a:t>Framework</a:t>
            </a:r>
          </a:p>
        </p:txBody>
      </p:sp>
      <p:sp>
        <p:nvSpPr>
          <p:cNvPr id="59" name="!!fff2"/>
          <p:cNvSpPr txBox="1"/>
          <p:nvPr/>
        </p:nvSpPr>
        <p:spPr>
          <a:xfrm>
            <a:off x="4816144" y="5413248"/>
            <a:ext cx="25603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i="0">
                <a:solidFill>
                  <a:srgbClr val="55575A"/>
                </a:solidFill>
                <a:latin typeface="Franklin Gothic Book"/>
              </a:rPr>
              <a:t>Foundation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 advTm="1300">
        <p159:morph option="byObject"/>
      </p:transition>
    </mc:Choice>
    <mc:Fallback>
      <p:transition spd="slow" advTm="1300">
        <p:fade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 idx="4294967295"/>
          </p:nvPr>
        </p:nvSpPr>
        <p:spPr>
          <a:xfrm>
            <a:off x="0" y="230457"/>
            <a:ext cx="12192000" cy="430887"/>
          </a:xfrm>
        </p:spPr>
        <p:txBody>
          <a:bodyPr>
            <a:noAutofit/>
          </a:bodyPr>
          <a:lstStyle/>
          <a:p>
            <a:pPr algn="ctr"/>
            <a:r>
              <a:rPr lang="en-US" sz="320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</a:rPr>
              <a:t>Where You Win </a:t>
            </a:r>
            <a:r>
              <a:rPr lang="en-US" sz="3200">
                <a:solidFill>
                  <a:srgbClr val="B52372"/>
                </a:solidFill>
                <a:latin typeface="Franklin Gothic Book" panose="020B0503020102020204" pitchFamily="34" charset="0"/>
              </a:rPr>
              <a:t>| Process &amp; Customer Engagement</a:t>
            </a:r>
          </a:p>
        </p:txBody>
      </p:sp>
      <p:sp>
        <p:nvSpPr>
          <p:cNvPr id="3" name="!!c2_bg"/>
          <p:cNvSpPr/>
          <p:nvPr/>
        </p:nvSpPr>
        <p:spPr>
          <a:xfrm>
            <a:off x="411480" y="914400"/>
            <a:ext cx="5120640" cy="5257800"/>
          </a:xfrm>
          <a:prstGeom prst="rect">
            <a:avLst/>
          </a:prstGeom>
          <a:solidFill>
            <a:srgbClr val="F4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c2_band"/>
          <p:cNvSpPr/>
          <p:nvPr/>
        </p:nvSpPr>
        <p:spPr>
          <a:xfrm>
            <a:off x="411480" y="914400"/>
            <a:ext cx="82296" cy="5257800"/>
          </a:xfrm>
          <a:prstGeom prst="rect">
            <a:avLst/>
          </a:prstGeom>
          <a:solidFill>
            <a:srgbClr val="555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2" name="!!c2_icon">
            <a:extLst>
              <a:ext uri="{FF2B5EF4-FFF2-40B4-BE49-F238E27FC236}">
                <a16:creationId xmlns:a16="http://schemas.microsoft.com/office/drawing/2014/main" id="{77041D4C-755A-3D94-1710-AD2EB06AA12A}"/>
              </a:ext>
            </a:extLst>
          </p:cNvPr>
          <p:cNvGrpSpPr/>
          <p:nvPr/>
        </p:nvGrpSpPr>
        <p:grpSpPr>
          <a:xfrm>
            <a:off x="822960" y="1234440"/>
            <a:ext cx="1051560" cy="1051560"/>
            <a:chOff x="9967415" y="5638500"/>
            <a:chExt cx="960500" cy="960500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0B46943B-8095-DFB5-802D-B1C35FD52F07}"/>
                </a:ext>
              </a:extLst>
            </p:cNvPr>
            <p:cNvSpPr/>
            <p:nvPr/>
          </p:nvSpPr>
          <p:spPr>
            <a:xfrm>
              <a:off x="9967415" y="5638500"/>
              <a:ext cx="960500" cy="960500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65000"/>
                    <a:shade val="30000"/>
                    <a:satMod val="115000"/>
                  </a:schemeClr>
                </a:gs>
                <a:gs pos="50000">
                  <a:schemeClr val="bg1">
                    <a:lumMod val="65000"/>
                    <a:shade val="67500"/>
                    <a:satMod val="115000"/>
                  </a:schemeClr>
                </a:gs>
                <a:gs pos="100000">
                  <a:schemeClr val="bg1">
                    <a:lumMod val="65000"/>
                    <a:shade val="100000"/>
                    <a:satMod val="115000"/>
                  </a:schemeClr>
                </a:gs>
              </a:gsLst>
              <a:lin ang="0" scaled="1"/>
              <a:tileRect/>
            </a:gradFill>
            <a:ln w="19050">
              <a:solidFill>
                <a:srgbClr val="B523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5AF0AA7D-B943-9379-2F28-A53E9C4EE12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159322" y="5855410"/>
              <a:ext cx="628041" cy="473182"/>
            </a:xfrm>
            <a:prstGeom prst="rect">
              <a:avLst/>
            </a:prstGeom>
          </p:spPr>
        </p:pic>
      </p:grpSp>
      <p:sp>
        <p:nvSpPr>
          <p:cNvPr id="33" name="!!c2_how"/>
          <p:cNvSpPr txBox="1"/>
          <p:nvPr/>
        </p:nvSpPr>
        <p:spPr>
          <a:xfrm>
            <a:off x="2057400" y="1234440"/>
            <a:ext cx="329184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i="0">
                <a:solidFill>
                  <a:srgbClr val="D51067"/>
                </a:solidFill>
                <a:latin typeface="Franklin Gothic Medium"/>
              </a:rPr>
              <a:t>How we hunt</a:t>
            </a:r>
          </a:p>
        </p:txBody>
      </p:sp>
      <p:sp>
        <p:nvSpPr>
          <p:cNvPr id="34" name="!!c2_quote"/>
          <p:cNvSpPr txBox="1"/>
          <p:nvPr/>
        </p:nvSpPr>
        <p:spPr>
          <a:xfrm>
            <a:off x="822960" y="2697480"/>
            <a:ext cx="44348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i="1">
                <a:solidFill>
                  <a:srgbClr val="2E2925"/>
                </a:solidFill>
                <a:latin typeface="Franklin Gothic Book"/>
              </a:rPr>
              <a:t>“Are we showing up relevant to our customers? How do we not become commoditized?”</a:t>
            </a:r>
          </a:p>
        </p:txBody>
      </p:sp>
      <p:sp>
        <p:nvSpPr>
          <p:cNvPr id="35" name="!!c2_pill"/>
          <p:cNvSpPr/>
          <p:nvPr/>
        </p:nvSpPr>
        <p:spPr>
          <a:xfrm>
            <a:off x="822960" y="4983480"/>
            <a:ext cx="2335743" cy="384048"/>
          </a:xfrm>
          <a:prstGeom prst="roundRect">
            <a:avLst>
              <a:gd name="adj" fmla="val 50000"/>
            </a:avLst>
          </a:prstGeom>
          <a:solidFill>
            <a:srgbClr val="D51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1200">
                <a:solidFill>
                  <a:srgbClr val="FFFFFF"/>
                </a:solidFill>
                <a:latin typeface="Franklin Gothic Medium"/>
              </a:rPr>
              <a:t>CONNECT ABM PROGRAM</a:t>
            </a:r>
          </a:p>
        </p:txBody>
      </p:sp>
      <p:sp>
        <p:nvSpPr>
          <p:cNvPr id="36" name="!!map0"/>
          <p:cNvSpPr/>
          <p:nvPr/>
        </p:nvSpPr>
        <p:spPr>
          <a:xfrm>
            <a:off x="4754880" y="5623560"/>
            <a:ext cx="210312" cy="210312"/>
          </a:xfrm>
          <a:prstGeom prst="rect">
            <a:avLst/>
          </a:prstGeom>
          <a:solidFill>
            <a:srgbClr val="CA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!!map1"/>
          <p:cNvSpPr/>
          <p:nvPr/>
        </p:nvSpPr>
        <p:spPr>
          <a:xfrm>
            <a:off x="5001768" y="5623560"/>
            <a:ext cx="210312" cy="210312"/>
          </a:xfrm>
          <a:prstGeom prst="rect">
            <a:avLst/>
          </a:prstGeom>
          <a:solidFill>
            <a:srgbClr val="555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!!map2"/>
          <p:cNvSpPr/>
          <p:nvPr/>
        </p:nvSpPr>
        <p:spPr>
          <a:xfrm>
            <a:off x="5001768" y="5870448"/>
            <a:ext cx="210312" cy="210312"/>
          </a:xfrm>
          <a:prstGeom prst="rect">
            <a:avLst/>
          </a:prstGeom>
          <a:solidFill>
            <a:srgbClr val="CA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!!map3"/>
          <p:cNvSpPr/>
          <p:nvPr/>
        </p:nvSpPr>
        <p:spPr>
          <a:xfrm>
            <a:off x="4754880" y="5870448"/>
            <a:ext cx="210312" cy="210312"/>
          </a:xfrm>
          <a:prstGeom prst="rect">
            <a:avLst/>
          </a:prstGeom>
          <a:solidFill>
            <a:srgbClr val="CA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!!hear_h"/>
          <p:cNvSpPr txBox="1"/>
          <p:nvPr/>
        </p:nvSpPr>
        <p:spPr>
          <a:xfrm>
            <a:off x="5989320" y="914400"/>
            <a:ext cx="576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i="0">
                <a:solidFill>
                  <a:srgbClr val="D51067"/>
                </a:solidFill>
                <a:latin typeface="Franklin Gothic Medium"/>
              </a:rPr>
              <a:t>WHAT WE HEAR</a:t>
            </a:r>
          </a:p>
        </p:txBody>
      </p:sp>
      <p:sp>
        <p:nvSpPr>
          <p:cNvPr id="41" name="!!hear_dot0"/>
          <p:cNvSpPr/>
          <p:nvPr/>
        </p:nvSpPr>
        <p:spPr>
          <a:xfrm>
            <a:off x="5989320" y="1417320"/>
            <a:ext cx="82296" cy="82296"/>
          </a:xfrm>
          <a:prstGeom prst="ellipse">
            <a:avLst/>
          </a:prstGeom>
          <a:solidFill>
            <a:srgbClr val="D51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!!hear0"/>
          <p:cNvSpPr txBox="1"/>
          <p:nvPr/>
        </p:nvSpPr>
        <p:spPr>
          <a:xfrm>
            <a:off x="6217920" y="1325880"/>
            <a:ext cx="55321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i="0">
                <a:solidFill>
                  <a:srgbClr val="2E2925"/>
                </a:solidFill>
                <a:latin typeface="Franklin Gothic Book"/>
              </a:rPr>
              <a:t>Legacy processes don’t work today</a:t>
            </a:r>
          </a:p>
        </p:txBody>
      </p:sp>
      <p:sp>
        <p:nvSpPr>
          <p:cNvPr id="43" name="!!hear_dot1"/>
          <p:cNvSpPr/>
          <p:nvPr/>
        </p:nvSpPr>
        <p:spPr>
          <a:xfrm>
            <a:off x="5989320" y="2039112"/>
            <a:ext cx="82296" cy="82296"/>
          </a:xfrm>
          <a:prstGeom prst="ellipse">
            <a:avLst/>
          </a:prstGeom>
          <a:solidFill>
            <a:srgbClr val="D51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!!hear1"/>
          <p:cNvSpPr txBox="1"/>
          <p:nvPr/>
        </p:nvSpPr>
        <p:spPr>
          <a:xfrm>
            <a:off x="6217920" y="1947672"/>
            <a:ext cx="55321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i="0">
                <a:solidFill>
                  <a:srgbClr val="2E2925"/>
                </a:solidFill>
                <a:latin typeface="Franklin Gothic Book"/>
              </a:rPr>
              <a:t>Disciplines are siloed and focused on how we sell vs. how customers buy</a:t>
            </a:r>
          </a:p>
        </p:txBody>
      </p:sp>
      <p:sp>
        <p:nvSpPr>
          <p:cNvPr id="45" name="!!focus_h"/>
          <p:cNvSpPr txBox="1"/>
          <p:nvPr/>
        </p:nvSpPr>
        <p:spPr>
          <a:xfrm>
            <a:off x="5989320" y="2843784"/>
            <a:ext cx="576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i="0">
                <a:solidFill>
                  <a:srgbClr val="D51067"/>
                </a:solidFill>
                <a:latin typeface="Franklin Gothic Medium"/>
              </a:rPr>
              <a:t>WHERE WE FOCUS</a:t>
            </a:r>
          </a:p>
        </p:txBody>
      </p:sp>
      <p:sp>
        <p:nvSpPr>
          <p:cNvPr id="46" name="!!chip0"/>
          <p:cNvSpPr/>
          <p:nvPr/>
        </p:nvSpPr>
        <p:spPr>
          <a:xfrm>
            <a:off x="5989320" y="3273552"/>
            <a:ext cx="27889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A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!!chipbar0"/>
          <p:cNvSpPr/>
          <p:nvPr/>
        </p:nvSpPr>
        <p:spPr>
          <a:xfrm>
            <a:off x="5989320" y="3273552"/>
            <a:ext cx="64008" cy="658368"/>
          </a:xfrm>
          <a:prstGeom prst="rect">
            <a:avLst/>
          </a:prstGeom>
          <a:solidFill>
            <a:srgbClr val="555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!!chiptxt0"/>
          <p:cNvSpPr txBox="1"/>
          <p:nvPr/>
        </p:nvSpPr>
        <p:spPr>
          <a:xfrm>
            <a:off x="6172200" y="3273552"/>
            <a:ext cx="2514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i="0">
                <a:solidFill>
                  <a:srgbClr val="2E2925"/>
                </a:solidFill>
                <a:latin typeface="Franklin Gothic Book"/>
              </a:rPr>
              <a:t>Relevant Sales Approach</a:t>
            </a:r>
          </a:p>
        </p:txBody>
      </p:sp>
      <p:sp>
        <p:nvSpPr>
          <p:cNvPr id="49" name="!!chip1"/>
          <p:cNvSpPr/>
          <p:nvPr/>
        </p:nvSpPr>
        <p:spPr>
          <a:xfrm>
            <a:off x="8887967" y="3273552"/>
            <a:ext cx="27889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A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!!chipbar1"/>
          <p:cNvSpPr/>
          <p:nvPr/>
        </p:nvSpPr>
        <p:spPr>
          <a:xfrm>
            <a:off x="8887967" y="3273552"/>
            <a:ext cx="64008" cy="658368"/>
          </a:xfrm>
          <a:prstGeom prst="rect">
            <a:avLst/>
          </a:prstGeom>
          <a:solidFill>
            <a:srgbClr val="555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!!chiptxt1"/>
          <p:cNvSpPr txBox="1"/>
          <p:nvPr/>
        </p:nvSpPr>
        <p:spPr>
          <a:xfrm>
            <a:off x="9070847" y="3273552"/>
            <a:ext cx="2514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i="0">
                <a:solidFill>
                  <a:srgbClr val="2E2925"/>
                </a:solidFill>
                <a:latin typeface="Franklin Gothic Book"/>
              </a:rPr>
              <a:t>Marketing Enablement</a:t>
            </a:r>
          </a:p>
        </p:txBody>
      </p:sp>
      <p:sp>
        <p:nvSpPr>
          <p:cNvPr id="52" name="!!chip2"/>
          <p:cNvSpPr/>
          <p:nvPr/>
        </p:nvSpPr>
        <p:spPr>
          <a:xfrm>
            <a:off x="5989320" y="4059936"/>
            <a:ext cx="27889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A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!!chipbar2"/>
          <p:cNvSpPr/>
          <p:nvPr/>
        </p:nvSpPr>
        <p:spPr>
          <a:xfrm>
            <a:off x="5989320" y="4059936"/>
            <a:ext cx="64008" cy="658368"/>
          </a:xfrm>
          <a:prstGeom prst="rect">
            <a:avLst/>
          </a:prstGeom>
          <a:solidFill>
            <a:srgbClr val="555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!!chiptxt2"/>
          <p:cNvSpPr txBox="1"/>
          <p:nvPr/>
        </p:nvSpPr>
        <p:spPr>
          <a:xfrm>
            <a:off x="6172200" y="4059936"/>
            <a:ext cx="2514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i="0">
                <a:solidFill>
                  <a:srgbClr val="2E2925"/>
                </a:solidFill>
                <a:latin typeface="Franklin Gothic Book"/>
              </a:rPr>
              <a:t>Customer Buying Journey Enablement</a:t>
            </a:r>
          </a:p>
        </p:txBody>
      </p:sp>
      <p:sp>
        <p:nvSpPr>
          <p:cNvPr id="55" name="!!chip3"/>
          <p:cNvSpPr/>
          <p:nvPr/>
        </p:nvSpPr>
        <p:spPr>
          <a:xfrm>
            <a:off x="8887967" y="4059936"/>
            <a:ext cx="27889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A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!!chipbar3"/>
          <p:cNvSpPr/>
          <p:nvPr/>
        </p:nvSpPr>
        <p:spPr>
          <a:xfrm>
            <a:off x="8887967" y="4059936"/>
            <a:ext cx="64008" cy="658368"/>
          </a:xfrm>
          <a:prstGeom prst="rect">
            <a:avLst/>
          </a:prstGeom>
          <a:solidFill>
            <a:srgbClr val="555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!!chiptxt3"/>
          <p:cNvSpPr txBox="1"/>
          <p:nvPr/>
        </p:nvSpPr>
        <p:spPr>
          <a:xfrm>
            <a:off x="9070847" y="4059936"/>
            <a:ext cx="2514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i="0">
                <a:solidFill>
                  <a:srgbClr val="2E2925"/>
                </a:solidFill>
                <a:latin typeface="Franklin Gothic Book"/>
              </a:rPr>
              <a:t>Optimized Total Revenue Management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 advTm="4200">
        <p159:morph option="byObject"/>
      </p:transition>
    </mc:Choice>
    <mc:Fallback>
      <p:transition spd="slow" advTm="4200">
        <p:fade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 idx="4294967295"/>
          </p:nvPr>
        </p:nvSpPr>
        <p:spPr>
          <a:xfrm>
            <a:off x="0" y="230457"/>
            <a:ext cx="12192000" cy="430887"/>
          </a:xfrm>
        </p:spPr>
        <p:txBody>
          <a:bodyPr>
            <a:noAutofit/>
          </a:bodyPr>
          <a:lstStyle/>
          <a:p>
            <a:pPr algn="ctr"/>
            <a:r>
              <a:rPr lang="en-US" sz="320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</a:rPr>
              <a:t>Where You Win </a:t>
            </a:r>
            <a:r>
              <a:rPr lang="en-US" sz="3200">
                <a:solidFill>
                  <a:srgbClr val="B52372"/>
                </a:solidFill>
                <a:latin typeface="Franklin Gothic Book" panose="020B0503020102020204" pitchFamily="34" charset="0"/>
              </a:rPr>
              <a:t>| Profitable Growth</a:t>
            </a:r>
          </a:p>
        </p:txBody>
      </p:sp>
      <p:sp>
        <p:nvSpPr>
          <p:cNvPr id="3" name="!!c1_bg"/>
          <p:cNvSpPr/>
          <p:nvPr/>
        </p:nvSpPr>
        <p:spPr>
          <a:xfrm>
            <a:off x="411480" y="896112"/>
            <a:ext cx="4343400" cy="2487168"/>
          </a:xfrm>
          <a:prstGeom prst="rect">
            <a:avLst/>
          </a:prstGeom>
          <a:solidFill>
            <a:srgbClr val="F4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c1_band"/>
          <p:cNvSpPr/>
          <p:nvPr/>
        </p:nvSpPr>
        <p:spPr>
          <a:xfrm>
            <a:off x="411480" y="896112"/>
            <a:ext cx="4343400" cy="530352"/>
          </a:xfrm>
          <a:prstGeom prst="rect">
            <a:avLst/>
          </a:prstGeom>
          <a:solidFill>
            <a:srgbClr val="B52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c1_name"/>
          <p:cNvSpPr txBox="1"/>
          <p:nvPr/>
        </p:nvSpPr>
        <p:spPr>
          <a:xfrm>
            <a:off x="1371600" y="896112"/>
            <a:ext cx="32461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i="0">
                <a:solidFill>
                  <a:srgbClr val="FFFFFF"/>
                </a:solidFill>
                <a:latin typeface="Franklin Gothic Medium"/>
              </a:rPr>
              <a:t>1   Science &amp; Strategy</a:t>
            </a:r>
          </a:p>
        </p:txBody>
      </p:sp>
      <p:grpSp>
        <p:nvGrpSpPr>
          <p:cNvPr id="31" name="!!c1_icon">
            <a:extLst>
              <a:ext uri="{FF2B5EF4-FFF2-40B4-BE49-F238E27FC236}">
                <a16:creationId xmlns:a16="http://schemas.microsoft.com/office/drawing/2014/main" id="{64401AE8-1991-1341-CC55-F342691AA60D}"/>
              </a:ext>
            </a:extLst>
          </p:cNvPr>
          <p:cNvGrpSpPr/>
          <p:nvPr/>
        </p:nvGrpSpPr>
        <p:grpSpPr>
          <a:xfrm>
            <a:off x="521208" y="768096"/>
            <a:ext cx="768096" cy="779176"/>
            <a:chOff x="10023859" y="264078"/>
            <a:chExt cx="933564" cy="947032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E3F64412-42DA-A373-E8FF-487F3BC37CB3}"/>
                </a:ext>
              </a:extLst>
            </p:cNvPr>
            <p:cNvSpPr/>
            <p:nvPr/>
          </p:nvSpPr>
          <p:spPr>
            <a:xfrm>
              <a:off x="10023859" y="264078"/>
              <a:ext cx="933564" cy="947032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65000"/>
                    <a:shade val="30000"/>
                    <a:satMod val="115000"/>
                  </a:schemeClr>
                </a:gs>
                <a:gs pos="50000">
                  <a:schemeClr val="bg1">
                    <a:lumMod val="65000"/>
                    <a:shade val="67500"/>
                    <a:satMod val="115000"/>
                  </a:schemeClr>
                </a:gs>
                <a:gs pos="100000">
                  <a:schemeClr val="bg1">
                    <a:lumMod val="65000"/>
                    <a:shade val="100000"/>
                    <a:satMod val="115000"/>
                  </a:schemeClr>
                </a:gs>
              </a:gsLst>
              <a:lin ang="0" scaled="1"/>
              <a:tileRect/>
            </a:gradFill>
            <a:ln w="19050">
              <a:solidFill>
                <a:srgbClr val="B523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: Shape 25">
              <a:extLst>
                <a:ext uri="{FF2B5EF4-FFF2-40B4-BE49-F238E27FC236}">
                  <a16:creationId xmlns:a16="http://schemas.microsoft.com/office/drawing/2014/main" id="{B3723BE5-1E0C-63A4-66D5-E56AEF2E3AAB}"/>
                </a:ext>
              </a:extLst>
            </p:cNvPr>
            <p:cNvSpPr/>
            <p:nvPr/>
          </p:nvSpPr>
          <p:spPr>
            <a:xfrm>
              <a:off x="10275283" y="399791"/>
              <a:ext cx="430716" cy="675605"/>
            </a:xfrm>
            <a:custGeom>
              <a:avLst/>
              <a:gdLst>
                <a:gd name="connsiteX0" fmla="*/ 633032 w 736282"/>
                <a:gd name="connsiteY0" fmla="*/ 1098614 h 1238252"/>
                <a:gd name="connsiteX1" fmla="*/ 623507 w 736282"/>
                <a:gd name="connsiteY1" fmla="*/ 1108139 h 1238252"/>
                <a:gd name="connsiteX2" fmla="*/ 623507 w 736282"/>
                <a:gd name="connsiteY2" fmla="*/ 1170242 h 1238252"/>
                <a:gd name="connsiteX3" fmla="*/ 633032 w 736282"/>
                <a:gd name="connsiteY3" fmla="*/ 1179767 h 1238252"/>
                <a:gd name="connsiteX4" fmla="*/ 642557 w 736282"/>
                <a:gd name="connsiteY4" fmla="*/ 1170242 h 1238252"/>
                <a:gd name="connsiteX5" fmla="*/ 642557 w 736282"/>
                <a:gd name="connsiteY5" fmla="*/ 1108139 h 1238252"/>
                <a:gd name="connsiteX6" fmla="*/ 633032 w 736282"/>
                <a:gd name="connsiteY6" fmla="*/ 1098614 h 1238252"/>
                <a:gd name="connsiteX7" fmla="*/ 536163 w 736282"/>
                <a:gd name="connsiteY7" fmla="*/ 1098614 h 1238252"/>
                <a:gd name="connsiteX8" fmla="*/ 526638 w 736282"/>
                <a:gd name="connsiteY8" fmla="*/ 1108139 h 1238252"/>
                <a:gd name="connsiteX9" fmla="*/ 526638 w 736282"/>
                <a:gd name="connsiteY9" fmla="*/ 1170242 h 1238252"/>
                <a:gd name="connsiteX10" fmla="*/ 536163 w 736282"/>
                <a:gd name="connsiteY10" fmla="*/ 1179767 h 1238252"/>
                <a:gd name="connsiteX11" fmla="*/ 545688 w 736282"/>
                <a:gd name="connsiteY11" fmla="*/ 1170242 h 1238252"/>
                <a:gd name="connsiteX12" fmla="*/ 545688 w 736282"/>
                <a:gd name="connsiteY12" fmla="*/ 1108139 h 1238252"/>
                <a:gd name="connsiteX13" fmla="*/ 536163 w 736282"/>
                <a:gd name="connsiteY13" fmla="*/ 1098614 h 1238252"/>
                <a:gd name="connsiteX14" fmla="*/ 439198 w 736282"/>
                <a:gd name="connsiteY14" fmla="*/ 1098614 h 1238252"/>
                <a:gd name="connsiteX15" fmla="*/ 429673 w 736282"/>
                <a:gd name="connsiteY15" fmla="*/ 1108139 h 1238252"/>
                <a:gd name="connsiteX16" fmla="*/ 429673 w 736282"/>
                <a:gd name="connsiteY16" fmla="*/ 1170242 h 1238252"/>
                <a:gd name="connsiteX17" fmla="*/ 439198 w 736282"/>
                <a:gd name="connsiteY17" fmla="*/ 1179767 h 1238252"/>
                <a:gd name="connsiteX18" fmla="*/ 448723 w 736282"/>
                <a:gd name="connsiteY18" fmla="*/ 1170242 h 1238252"/>
                <a:gd name="connsiteX19" fmla="*/ 448723 w 736282"/>
                <a:gd name="connsiteY19" fmla="*/ 1108139 h 1238252"/>
                <a:gd name="connsiteX20" fmla="*/ 439198 w 736282"/>
                <a:gd name="connsiteY20" fmla="*/ 1098614 h 1238252"/>
                <a:gd name="connsiteX21" fmla="*/ 342329 w 736282"/>
                <a:gd name="connsiteY21" fmla="*/ 1098614 h 1238252"/>
                <a:gd name="connsiteX22" fmla="*/ 332804 w 736282"/>
                <a:gd name="connsiteY22" fmla="*/ 1108139 h 1238252"/>
                <a:gd name="connsiteX23" fmla="*/ 332804 w 736282"/>
                <a:gd name="connsiteY23" fmla="*/ 1170242 h 1238252"/>
                <a:gd name="connsiteX24" fmla="*/ 342329 w 736282"/>
                <a:gd name="connsiteY24" fmla="*/ 1179767 h 1238252"/>
                <a:gd name="connsiteX25" fmla="*/ 351854 w 736282"/>
                <a:gd name="connsiteY25" fmla="*/ 1170242 h 1238252"/>
                <a:gd name="connsiteX26" fmla="*/ 351854 w 736282"/>
                <a:gd name="connsiteY26" fmla="*/ 1108139 h 1238252"/>
                <a:gd name="connsiteX27" fmla="*/ 342329 w 736282"/>
                <a:gd name="connsiteY27" fmla="*/ 1098614 h 1238252"/>
                <a:gd name="connsiteX28" fmla="*/ 245459 w 736282"/>
                <a:gd name="connsiteY28" fmla="*/ 1098614 h 1238252"/>
                <a:gd name="connsiteX29" fmla="*/ 235934 w 736282"/>
                <a:gd name="connsiteY29" fmla="*/ 1108139 h 1238252"/>
                <a:gd name="connsiteX30" fmla="*/ 235934 w 736282"/>
                <a:gd name="connsiteY30" fmla="*/ 1170242 h 1238252"/>
                <a:gd name="connsiteX31" fmla="*/ 245459 w 736282"/>
                <a:gd name="connsiteY31" fmla="*/ 1179767 h 1238252"/>
                <a:gd name="connsiteX32" fmla="*/ 254984 w 736282"/>
                <a:gd name="connsiteY32" fmla="*/ 1170242 h 1238252"/>
                <a:gd name="connsiteX33" fmla="*/ 254984 w 736282"/>
                <a:gd name="connsiteY33" fmla="*/ 1108139 h 1238252"/>
                <a:gd name="connsiteX34" fmla="*/ 245459 w 736282"/>
                <a:gd name="connsiteY34" fmla="*/ 1098614 h 1238252"/>
                <a:gd name="connsiteX35" fmla="*/ 148494 w 736282"/>
                <a:gd name="connsiteY35" fmla="*/ 1098614 h 1238252"/>
                <a:gd name="connsiteX36" fmla="*/ 138969 w 736282"/>
                <a:gd name="connsiteY36" fmla="*/ 1108139 h 1238252"/>
                <a:gd name="connsiteX37" fmla="*/ 138969 w 736282"/>
                <a:gd name="connsiteY37" fmla="*/ 1170242 h 1238252"/>
                <a:gd name="connsiteX38" fmla="*/ 148494 w 736282"/>
                <a:gd name="connsiteY38" fmla="*/ 1179767 h 1238252"/>
                <a:gd name="connsiteX39" fmla="*/ 158019 w 736282"/>
                <a:gd name="connsiteY39" fmla="*/ 1170242 h 1238252"/>
                <a:gd name="connsiteX40" fmla="*/ 158019 w 736282"/>
                <a:gd name="connsiteY40" fmla="*/ 1108139 h 1238252"/>
                <a:gd name="connsiteX41" fmla="*/ 148494 w 736282"/>
                <a:gd name="connsiteY41" fmla="*/ 1098614 h 1238252"/>
                <a:gd name="connsiteX42" fmla="*/ 45244 w 736282"/>
                <a:gd name="connsiteY42" fmla="*/ 1059182 h 1238252"/>
                <a:gd name="connsiteX43" fmla="*/ 736282 w 736282"/>
                <a:gd name="connsiteY43" fmla="*/ 1059182 h 1238252"/>
                <a:gd name="connsiteX44" fmla="*/ 736282 w 736282"/>
                <a:gd name="connsiteY44" fmla="*/ 1228727 h 1238252"/>
                <a:gd name="connsiteX45" fmla="*/ 726757 w 736282"/>
                <a:gd name="connsiteY45" fmla="*/ 1238252 h 1238252"/>
                <a:gd name="connsiteX46" fmla="*/ 54769 w 736282"/>
                <a:gd name="connsiteY46" fmla="*/ 1238252 h 1238252"/>
                <a:gd name="connsiteX47" fmla="*/ 45244 w 736282"/>
                <a:gd name="connsiteY47" fmla="*/ 1228727 h 1238252"/>
                <a:gd name="connsiteX48" fmla="*/ 147258 w 736282"/>
                <a:gd name="connsiteY48" fmla="*/ 960218 h 1238252"/>
                <a:gd name="connsiteX49" fmla="*/ 634270 w 736282"/>
                <a:gd name="connsiteY49" fmla="*/ 960218 h 1238252"/>
                <a:gd name="connsiteX50" fmla="*/ 671703 w 736282"/>
                <a:gd name="connsiteY50" fmla="*/ 1040131 h 1238252"/>
                <a:gd name="connsiteX51" fmla="*/ 109824 w 736282"/>
                <a:gd name="connsiteY51" fmla="*/ 1040131 h 1238252"/>
                <a:gd name="connsiteX52" fmla="*/ 285370 w 736282"/>
                <a:gd name="connsiteY52" fmla="*/ 245651 h 1238252"/>
                <a:gd name="connsiteX53" fmla="*/ 235077 w 736282"/>
                <a:gd name="connsiteY53" fmla="*/ 295944 h 1238252"/>
                <a:gd name="connsiteX54" fmla="*/ 285370 w 736282"/>
                <a:gd name="connsiteY54" fmla="*/ 346045 h 1238252"/>
                <a:gd name="connsiteX55" fmla="*/ 335471 w 736282"/>
                <a:gd name="connsiteY55" fmla="*/ 295944 h 1238252"/>
                <a:gd name="connsiteX56" fmla="*/ 285370 w 736282"/>
                <a:gd name="connsiteY56" fmla="*/ 245651 h 1238252"/>
                <a:gd name="connsiteX57" fmla="*/ 404146 w 736282"/>
                <a:gd name="connsiteY57" fmla="*/ 176214 h 1238252"/>
                <a:gd name="connsiteX58" fmla="*/ 393954 w 736282"/>
                <a:gd name="connsiteY58" fmla="*/ 184976 h 1238252"/>
                <a:gd name="connsiteX59" fmla="*/ 402622 w 736282"/>
                <a:gd name="connsiteY59" fmla="*/ 195264 h 1238252"/>
                <a:gd name="connsiteX60" fmla="*/ 429100 w 736282"/>
                <a:gd name="connsiteY60" fmla="*/ 197359 h 1238252"/>
                <a:gd name="connsiteX61" fmla="*/ 602456 w 736282"/>
                <a:gd name="connsiteY61" fmla="*/ 314422 h 1238252"/>
                <a:gd name="connsiteX62" fmla="*/ 627221 w 736282"/>
                <a:gd name="connsiteY62" fmla="*/ 416720 h 1238252"/>
                <a:gd name="connsiteX63" fmla="*/ 636746 w 736282"/>
                <a:gd name="connsiteY63" fmla="*/ 425959 h 1238252"/>
                <a:gd name="connsiteX64" fmla="*/ 637032 w 736282"/>
                <a:gd name="connsiteY64" fmla="*/ 425959 h 1238252"/>
                <a:gd name="connsiteX65" fmla="*/ 646271 w 736282"/>
                <a:gd name="connsiteY65" fmla="*/ 416148 h 1238252"/>
                <a:gd name="connsiteX66" fmla="*/ 619315 w 736282"/>
                <a:gd name="connsiteY66" fmla="*/ 305657 h 1238252"/>
                <a:gd name="connsiteX67" fmla="*/ 430721 w 736282"/>
                <a:gd name="connsiteY67" fmla="*/ 178404 h 1238252"/>
                <a:gd name="connsiteX68" fmla="*/ 344424 w 736282"/>
                <a:gd name="connsiteY68" fmla="*/ 955 h 1238252"/>
                <a:gd name="connsiteX69" fmla="*/ 442627 w 736282"/>
                <a:gd name="connsiteY69" fmla="*/ 116111 h 1238252"/>
                <a:gd name="connsiteX70" fmla="*/ 675418 w 736282"/>
                <a:gd name="connsiteY70" fmla="*/ 276512 h 1238252"/>
                <a:gd name="connsiteX71" fmla="*/ 709423 w 736282"/>
                <a:gd name="connsiteY71" fmla="*/ 414529 h 1238252"/>
                <a:gd name="connsiteX72" fmla="*/ 658558 w 736282"/>
                <a:gd name="connsiteY72" fmla="*/ 714853 h 1238252"/>
                <a:gd name="connsiteX73" fmla="*/ 627221 w 736282"/>
                <a:gd name="connsiteY73" fmla="*/ 941167 h 1238252"/>
                <a:gd name="connsiteX74" fmla="*/ 153733 w 736282"/>
                <a:gd name="connsiteY74" fmla="*/ 941167 h 1238252"/>
                <a:gd name="connsiteX75" fmla="*/ 215455 w 736282"/>
                <a:gd name="connsiteY75" fmla="*/ 673228 h 1238252"/>
                <a:gd name="connsiteX76" fmla="*/ 219932 w 736282"/>
                <a:gd name="connsiteY76" fmla="*/ 667419 h 1238252"/>
                <a:gd name="connsiteX77" fmla="*/ 231076 w 736282"/>
                <a:gd name="connsiteY77" fmla="*/ 652559 h 1238252"/>
                <a:gd name="connsiteX78" fmla="*/ 370332 w 736282"/>
                <a:gd name="connsiteY78" fmla="*/ 512351 h 1238252"/>
                <a:gd name="connsiteX79" fmla="*/ 224790 w 736282"/>
                <a:gd name="connsiteY79" fmla="*/ 500920 h 1238252"/>
                <a:gd name="connsiteX80" fmla="*/ 86582 w 736282"/>
                <a:gd name="connsiteY80" fmla="*/ 558737 h 1238252"/>
                <a:gd name="connsiteX81" fmla="*/ 13335 w 736282"/>
                <a:gd name="connsiteY81" fmla="*/ 507112 h 1238252"/>
                <a:gd name="connsiteX82" fmla="*/ 41147 w 736282"/>
                <a:gd name="connsiteY82" fmla="*/ 374144 h 1238252"/>
                <a:gd name="connsiteX83" fmla="*/ 42291 w 736282"/>
                <a:gd name="connsiteY83" fmla="*/ 373190 h 1238252"/>
                <a:gd name="connsiteX84" fmla="*/ 175069 w 736282"/>
                <a:gd name="connsiteY84" fmla="*/ 236031 h 1238252"/>
                <a:gd name="connsiteX85" fmla="*/ 258508 w 736282"/>
                <a:gd name="connsiteY85" fmla="*/ 156782 h 1238252"/>
                <a:gd name="connsiteX86" fmla="*/ 330423 w 736282"/>
                <a:gd name="connsiteY86" fmla="*/ 138686 h 1238252"/>
                <a:gd name="connsiteX87" fmla="*/ 330709 w 736282"/>
                <a:gd name="connsiteY87" fmla="*/ 138686 h 1238252"/>
                <a:gd name="connsiteX88" fmla="*/ 330709 w 736282"/>
                <a:gd name="connsiteY88" fmla="*/ 9526 h 1238252"/>
                <a:gd name="connsiteX89" fmla="*/ 335185 w 736282"/>
                <a:gd name="connsiteY89" fmla="*/ 1429 h 1238252"/>
                <a:gd name="connsiteX90" fmla="*/ 344424 w 736282"/>
                <a:gd name="connsiteY90" fmla="*/ 955 h 1238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</a:cxnLst>
              <a:rect l="l" t="t" r="r" b="b"/>
              <a:pathLst>
                <a:path w="736282" h="1238252">
                  <a:moveTo>
                    <a:pt x="633032" y="1098614"/>
                  </a:moveTo>
                  <a:cubicBezTo>
                    <a:pt x="627793" y="1098614"/>
                    <a:pt x="623507" y="1102902"/>
                    <a:pt x="623507" y="1108139"/>
                  </a:cubicBezTo>
                  <a:lnTo>
                    <a:pt x="623507" y="1170242"/>
                  </a:lnTo>
                  <a:cubicBezTo>
                    <a:pt x="623507" y="1175577"/>
                    <a:pt x="627793" y="1179767"/>
                    <a:pt x="633032" y="1179767"/>
                  </a:cubicBezTo>
                  <a:cubicBezTo>
                    <a:pt x="638270" y="1179767"/>
                    <a:pt x="642557" y="1175577"/>
                    <a:pt x="642557" y="1170242"/>
                  </a:cubicBezTo>
                  <a:lnTo>
                    <a:pt x="642557" y="1108139"/>
                  </a:lnTo>
                  <a:cubicBezTo>
                    <a:pt x="642557" y="1102902"/>
                    <a:pt x="638270" y="1098614"/>
                    <a:pt x="633032" y="1098614"/>
                  </a:cubicBezTo>
                  <a:close/>
                  <a:moveTo>
                    <a:pt x="536163" y="1098614"/>
                  </a:moveTo>
                  <a:cubicBezTo>
                    <a:pt x="530829" y="1098614"/>
                    <a:pt x="526638" y="1102902"/>
                    <a:pt x="526638" y="1108139"/>
                  </a:cubicBezTo>
                  <a:lnTo>
                    <a:pt x="526638" y="1170242"/>
                  </a:lnTo>
                  <a:cubicBezTo>
                    <a:pt x="526638" y="1175577"/>
                    <a:pt x="530829" y="1179767"/>
                    <a:pt x="536163" y="1179767"/>
                  </a:cubicBezTo>
                  <a:cubicBezTo>
                    <a:pt x="541401" y="1179767"/>
                    <a:pt x="545688" y="1175577"/>
                    <a:pt x="545688" y="1170242"/>
                  </a:cubicBezTo>
                  <a:lnTo>
                    <a:pt x="545688" y="1108139"/>
                  </a:lnTo>
                  <a:cubicBezTo>
                    <a:pt x="545688" y="1102902"/>
                    <a:pt x="541401" y="1098614"/>
                    <a:pt x="536163" y="1098614"/>
                  </a:cubicBezTo>
                  <a:close/>
                  <a:moveTo>
                    <a:pt x="439198" y="1098614"/>
                  </a:moveTo>
                  <a:cubicBezTo>
                    <a:pt x="433958" y="1098614"/>
                    <a:pt x="429673" y="1102902"/>
                    <a:pt x="429673" y="1108139"/>
                  </a:cubicBezTo>
                  <a:lnTo>
                    <a:pt x="429673" y="1170242"/>
                  </a:lnTo>
                  <a:cubicBezTo>
                    <a:pt x="429673" y="1175577"/>
                    <a:pt x="433958" y="1179767"/>
                    <a:pt x="439198" y="1179767"/>
                  </a:cubicBezTo>
                  <a:cubicBezTo>
                    <a:pt x="444532" y="1179767"/>
                    <a:pt x="448723" y="1175577"/>
                    <a:pt x="448723" y="1170242"/>
                  </a:cubicBezTo>
                  <a:lnTo>
                    <a:pt x="448723" y="1108139"/>
                  </a:lnTo>
                  <a:cubicBezTo>
                    <a:pt x="448723" y="1102902"/>
                    <a:pt x="444532" y="1098614"/>
                    <a:pt x="439198" y="1098614"/>
                  </a:cubicBezTo>
                  <a:close/>
                  <a:moveTo>
                    <a:pt x="342329" y="1098614"/>
                  </a:moveTo>
                  <a:cubicBezTo>
                    <a:pt x="337090" y="1098614"/>
                    <a:pt x="332804" y="1102902"/>
                    <a:pt x="332804" y="1108139"/>
                  </a:cubicBezTo>
                  <a:lnTo>
                    <a:pt x="332804" y="1170242"/>
                  </a:lnTo>
                  <a:cubicBezTo>
                    <a:pt x="332804" y="1175577"/>
                    <a:pt x="337090" y="1179767"/>
                    <a:pt x="342329" y="1179767"/>
                  </a:cubicBezTo>
                  <a:cubicBezTo>
                    <a:pt x="347567" y="1179767"/>
                    <a:pt x="351854" y="1175577"/>
                    <a:pt x="351854" y="1170242"/>
                  </a:cubicBezTo>
                  <a:lnTo>
                    <a:pt x="351854" y="1108139"/>
                  </a:lnTo>
                  <a:cubicBezTo>
                    <a:pt x="351854" y="1102902"/>
                    <a:pt x="347567" y="1098614"/>
                    <a:pt x="342329" y="1098614"/>
                  </a:cubicBezTo>
                  <a:close/>
                  <a:moveTo>
                    <a:pt x="245459" y="1098614"/>
                  </a:moveTo>
                  <a:cubicBezTo>
                    <a:pt x="240126" y="1098614"/>
                    <a:pt x="235934" y="1102902"/>
                    <a:pt x="235934" y="1108139"/>
                  </a:cubicBezTo>
                  <a:lnTo>
                    <a:pt x="235934" y="1170242"/>
                  </a:lnTo>
                  <a:cubicBezTo>
                    <a:pt x="235934" y="1175577"/>
                    <a:pt x="240126" y="1179767"/>
                    <a:pt x="245459" y="1179767"/>
                  </a:cubicBezTo>
                  <a:cubicBezTo>
                    <a:pt x="250697" y="1179767"/>
                    <a:pt x="254984" y="1175577"/>
                    <a:pt x="254984" y="1170242"/>
                  </a:cubicBezTo>
                  <a:lnTo>
                    <a:pt x="254984" y="1108139"/>
                  </a:lnTo>
                  <a:cubicBezTo>
                    <a:pt x="254984" y="1102902"/>
                    <a:pt x="250697" y="1098614"/>
                    <a:pt x="245459" y="1098614"/>
                  </a:cubicBezTo>
                  <a:close/>
                  <a:moveTo>
                    <a:pt x="148494" y="1098614"/>
                  </a:moveTo>
                  <a:cubicBezTo>
                    <a:pt x="143256" y="1098614"/>
                    <a:pt x="138969" y="1102902"/>
                    <a:pt x="138969" y="1108139"/>
                  </a:cubicBezTo>
                  <a:lnTo>
                    <a:pt x="138969" y="1170242"/>
                  </a:lnTo>
                  <a:cubicBezTo>
                    <a:pt x="138969" y="1175577"/>
                    <a:pt x="143256" y="1179767"/>
                    <a:pt x="148494" y="1179767"/>
                  </a:cubicBezTo>
                  <a:cubicBezTo>
                    <a:pt x="153829" y="1179767"/>
                    <a:pt x="158019" y="1175577"/>
                    <a:pt x="158019" y="1170242"/>
                  </a:cubicBezTo>
                  <a:lnTo>
                    <a:pt x="158019" y="1108139"/>
                  </a:lnTo>
                  <a:cubicBezTo>
                    <a:pt x="158019" y="1102902"/>
                    <a:pt x="153829" y="1098614"/>
                    <a:pt x="148494" y="1098614"/>
                  </a:cubicBezTo>
                  <a:close/>
                  <a:moveTo>
                    <a:pt x="45244" y="1059182"/>
                  </a:moveTo>
                  <a:lnTo>
                    <a:pt x="736282" y="1059182"/>
                  </a:lnTo>
                  <a:lnTo>
                    <a:pt x="736282" y="1228727"/>
                  </a:lnTo>
                  <a:cubicBezTo>
                    <a:pt x="736282" y="1233966"/>
                    <a:pt x="732091" y="1238252"/>
                    <a:pt x="726757" y="1238252"/>
                  </a:cubicBezTo>
                  <a:lnTo>
                    <a:pt x="54769" y="1238252"/>
                  </a:lnTo>
                  <a:cubicBezTo>
                    <a:pt x="49531" y="1238252"/>
                    <a:pt x="45244" y="1233966"/>
                    <a:pt x="45244" y="1228727"/>
                  </a:cubicBezTo>
                  <a:close/>
                  <a:moveTo>
                    <a:pt x="147258" y="960218"/>
                  </a:moveTo>
                  <a:lnTo>
                    <a:pt x="634270" y="960218"/>
                  </a:lnTo>
                  <a:lnTo>
                    <a:pt x="671703" y="1040131"/>
                  </a:lnTo>
                  <a:lnTo>
                    <a:pt x="109824" y="1040131"/>
                  </a:lnTo>
                  <a:close/>
                  <a:moveTo>
                    <a:pt x="285370" y="245651"/>
                  </a:moveTo>
                  <a:cubicBezTo>
                    <a:pt x="257650" y="245651"/>
                    <a:pt x="235077" y="268224"/>
                    <a:pt x="235077" y="295944"/>
                  </a:cubicBezTo>
                  <a:cubicBezTo>
                    <a:pt x="235077" y="323565"/>
                    <a:pt x="257650" y="346045"/>
                    <a:pt x="285370" y="346045"/>
                  </a:cubicBezTo>
                  <a:cubicBezTo>
                    <a:pt x="312991" y="346045"/>
                    <a:pt x="335471" y="323565"/>
                    <a:pt x="335471" y="295944"/>
                  </a:cubicBezTo>
                  <a:cubicBezTo>
                    <a:pt x="335471" y="268224"/>
                    <a:pt x="312991" y="245651"/>
                    <a:pt x="285370" y="245651"/>
                  </a:cubicBezTo>
                  <a:close/>
                  <a:moveTo>
                    <a:pt x="404146" y="176214"/>
                  </a:moveTo>
                  <a:cubicBezTo>
                    <a:pt x="398811" y="175737"/>
                    <a:pt x="394335" y="179739"/>
                    <a:pt x="393954" y="184976"/>
                  </a:cubicBezTo>
                  <a:cubicBezTo>
                    <a:pt x="393477" y="190215"/>
                    <a:pt x="397384" y="194787"/>
                    <a:pt x="402622" y="195264"/>
                  </a:cubicBezTo>
                  <a:lnTo>
                    <a:pt x="429100" y="197359"/>
                  </a:lnTo>
                  <a:cubicBezTo>
                    <a:pt x="433958" y="197836"/>
                    <a:pt x="548163" y="209742"/>
                    <a:pt x="602456" y="314422"/>
                  </a:cubicBezTo>
                  <a:cubicBezTo>
                    <a:pt x="617791" y="344138"/>
                    <a:pt x="626173" y="378525"/>
                    <a:pt x="627221" y="416720"/>
                  </a:cubicBezTo>
                  <a:cubicBezTo>
                    <a:pt x="627316" y="421864"/>
                    <a:pt x="631602" y="425959"/>
                    <a:pt x="636746" y="425959"/>
                  </a:cubicBezTo>
                  <a:lnTo>
                    <a:pt x="637032" y="425959"/>
                  </a:lnTo>
                  <a:cubicBezTo>
                    <a:pt x="642271" y="425864"/>
                    <a:pt x="646366" y="421483"/>
                    <a:pt x="646271" y="416148"/>
                  </a:cubicBezTo>
                  <a:cubicBezTo>
                    <a:pt x="645129" y="375095"/>
                    <a:pt x="636080" y="337948"/>
                    <a:pt x="619315" y="305657"/>
                  </a:cubicBezTo>
                  <a:cubicBezTo>
                    <a:pt x="560260" y="191836"/>
                    <a:pt x="436150" y="178881"/>
                    <a:pt x="430721" y="178404"/>
                  </a:cubicBezTo>
                  <a:close/>
                  <a:moveTo>
                    <a:pt x="344424" y="955"/>
                  </a:moveTo>
                  <a:cubicBezTo>
                    <a:pt x="347662" y="2573"/>
                    <a:pt x="421862" y="39720"/>
                    <a:pt x="442627" y="116111"/>
                  </a:cubicBezTo>
                  <a:cubicBezTo>
                    <a:pt x="474725" y="120399"/>
                    <a:pt x="607505" y="145544"/>
                    <a:pt x="675418" y="276512"/>
                  </a:cubicBezTo>
                  <a:cubicBezTo>
                    <a:pt x="696658" y="317375"/>
                    <a:pt x="708088" y="363760"/>
                    <a:pt x="709423" y="414529"/>
                  </a:cubicBezTo>
                  <a:cubicBezTo>
                    <a:pt x="711137" y="479870"/>
                    <a:pt x="706946" y="605885"/>
                    <a:pt x="658558" y="714853"/>
                  </a:cubicBezTo>
                  <a:cubicBezTo>
                    <a:pt x="658272" y="715804"/>
                    <a:pt x="609695" y="845059"/>
                    <a:pt x="627221" y="941167"/>
                  </a:cubicBezTo>
                  <a:lnTo>
                    <a:pt x="153733" y="941167"/>
                  </a:lnTo>
                  <a:cubicBezTo>
                    <a:pt x="145637" y="893826"/>
                    <a:pt x="136779" y="777242"/>
                    <a:pt x="215455" y="673228"/>
                  </a:cubicBezTo>
                  <a:lnTo>
                    <a:pt x="219932" y="667419"/>
                  </a:lnTo>
                  <a:cubicBezTo>
                    <a:pt x="223648" y="662561"/>
                    <a:pt x="227457" y="657608"/>
                    <a:pt x="231076" y="652559"/>
                  </a:cubicBezTo>
                  <a:cubicBezTo>
                    <a:pt x="249174" y="627317"/>
                    <a:pt x="295465" y="568834"/>
                    <a:pt x="370332" y="512351"/>
                  </a:cubicBezTo>
                  <a:cubicBezTo>
                    <a:pt x="333850" y="518160"/>
                    <a:pt x="281653" y="519970"/>
                    <a:pt x="224790" y="500920"/>
                  </a:cubicBezTo>
                  <a:cubicBezTo>
                    <a:pt x="209170" y="518542"/>
                    <a:pt x="154972" y="572264"/>
                    <a:pt x="86582" y="558737"/>
                  </a:cubicBezTo>
                  <a:cubicBezTo>
                    <a:pt x="55721" y="552547"/>
                    <a:pt x="29050" y="533783"/>
                    <a:pt x="13335" y="507112"/>
                  </a:cubicBezTo>
                  <a:cubicBezTo>
                    <a:pt x="-1048" y="482728"/>
                    <a:pt x="-16574" y="432912"/>
                    <a:pt x="41147" y="374144"/>
                  </a:cubicBezTo>
                  <a:cubicBezTo>
                    <a:pt x="41529" y="373762"/>
                    <a:pt x="41910" y="373476"/>
                    <a:pt x="42291" y="373190"/>
                  </a:cubicBezTo>
                  <a:cubicBezTo>
                    <a:pt x="43148" y="372430"/>
                    <a:pt x="134207" y="304992"/>
                    <a:pt x="175069" y="236031"/>
                  </a:cubicBezTo>
                  <a:cubicBezTo>
                    <a:pt x="195644" y="201263"/>
                    <a:pt x="224503" y="173928"/>
                    <a:pt x="258508" y="156782"/>
                  </a:cubicBezTo>
                  <a:cubicBezTo>
                    <a:pt x="282607" y="144781"/>
                    <a:pt x="306801" y="138686"/>
                    <a:pt x="330423" y="138686"/>
                  </a:cubicBezTo>
                  <a:lnTo>
                    <a:pt x="330709" y="138686"/>
                  </a:lnTo>
                  <a:lnTo>
                    <a:pt x="330709" y="9526"/>
                  </a:lnTo>
                  <a:cubicBezTo>
                    <a:pt x="330709" y="6192"/>
                    <a:pt x="332422" y="3145"/>
                    <a:pt x="335185" y="1429"/>
                  </a:cubicBezTo>
                  <a:cubicBezTo>
                    <a:pt x="337948" y="-285"/>
                    <a:pt x="341471" y="-475"/>
                    <a:pt x="344424" y="955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135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32" name="!!c1_quote"/>
          <p:cNvSpPr txBox="1"/>
          <p:nvPr/>
        </p:nvSpPr>
        <p:spPr>
          <a:xfrm>
            <a:off x="685800" y="1645919"/>
            <a:ext cx="37947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i="1">
                <a:solidFill>
                  <a:srgbClr val="2E2925"/>
                </a:solidFill>
                <a:latin typeface="Franklin Gothic Book"/>
              </a:rPr>
              <a:t>“Our targets are increasing, but we keep doing the same thing?”</a:t>
            </a:r>
          </a:p>
        </p:txBody>
      </p:sp>
      <p:sp>
        <p:nvSpPr>
          <p:cNvPr id="33" name="!!c1_how"/>
          <p:cNvSpPr txBox="1"/>
          <p:nvPr/>
        </p:nvSpPr>
        <p:spPr>
          <a:xfrm>
            <a:off x="685800" y="2880360"/>
            <a:ext cx="2011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i="0">
                <a:solidFill>
                  <a:srgbClr val="55575A"/>
                </a:solidFill>
                <a:latin typeface="Franklin Gothic Medium"/>
              </a:rPr>
              <a:t>Who we hunt</a:t>
            </a:r>
          </a:p>
        </p:txBody>
      </p:sp>
      <p:sp>
        <p:nvSpPr>
          <p:cNvPr id="34" name="!!c1_pill"/>
          <p:cNvSpPr/>
          <p:nvPr/>
        </p:nvSpPr>
        <p:spPr>
          <a:xfrm>
            <a:off x="3623401" y="2880360"/>
            <a:ext cx="857158" cy="310896"/>
          </a:xfrm>
          <a:prstGeom prst="roundRect">
            <a:avLst>
              <a:gd name="adj" fmla="val 50000"/>
            </a:avLst>
          </a:prstGeom>
          <a:solidFill>
            <a:srgbClr val="D51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1050">
                <a:solidFill>
                  <a:srgbClr val="FFFFFF"/>
                </a:solidFill>
                <a:latin typeface="Franklin Gothic Medium"/>
              </a:rPr>
              <a:t>IGNITE</a:t>
            </a:r>
          </a:p>
        </p:txBody>
      </p:sp>
      <p:sp>
        <p:nvSpPr>
          <p:cNvPr id="35" name="!!c2_bg"/>
          <p:cNvSpPr/>
          <p:nvPr/>
        </p:nvSpPr>
        <p:spPr>
          <a:xfrm>
            <a:off x="7434071" y="896112"/>
            <a:ext cx="4343400" cy="2487168"/>
          </a:xfrm>
          <a:prstGeom prst="rect">
            <a:avLst/>
          </a:prstGeom>
          <a:solidFill>
            <a:srgbClr val="F4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!!c2_band"/>
          <p:cNvSpPr/>
          <p:nvPr/>
        </p:nvSpPr>
        <p:spPr>
          <a:xfrm>
            <a:off x="7434071" y="896112"/>
            <a:ext cx="4343400" cy="530352"/>
          </a:xfrm>
          <a:prstGeom prst="rect">
            <a:avLst/>
          </a:prstGeom>
          <a:solidFill>
            <a:srgbClr val="555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!!c2_name"/>
          <p:cNvSpPr txBox="1"/>
          <p:nvPr/>
        </p:nvSpPr>
        <p:spPr>
          <a:xfrm>
            <a:off x="8394192" y="896112"/>
            <a:ext cx="32461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i="0">
                <a:solidFill>
                  <a:srgbClr val="FFFFFF"/>
                </a:solidFill>
                <a:latin typeface="Franklin Gothic Medium"/>
              </a:rPr>
              <a:t>2   Process &amp; Customer Engagement</a:t>
            </a:r>
          </a:p>
        </p:txBody>
      </p:sp>
      <p:grpSp>
        <p:nvGrpSpPr>
          <p:cNvPr id="32" name="!!c2_icon">
            <a:extLst>
              <a:ext uri="{FF2B5EF4-FFF2-40B4-BE49-F238E27FC236}">
                <a16:creationId xmlns:a16="http://schemas.microsoft.com/office/drawing/2014/main" id="{77041D4C-755A-3D94-1710-AD2EB06AA12A}"/>
              </a:ext>
            </a:extLst>
          </p:cNvPr>
          <p:cNvGrpSpPr/>
          <p:nvPr/>
        </p:nvGrpSpPr>
        <p:grpSpPr>
          <a:xfrm>
            <a:off x="7543799" y="768096"/>
            <a:ext cx="768096" cy="768096"/>
            <a:chOff x="9967415" y="5638500"/>
            <a:chExt cx="960500" cy="960500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0B46943B-8095-DFB5-802D-B1C35FD52F07}"/>
                </a:ext>
              </a:extLst>
            </p:cNvPr>
            <p:cNvSpPr/>
            <p:nvPr/>
          </p:nvSpPr>
          <p:spPr>
            <a:xfrm>
              <a:off x="9967415" y="5638500"/>
              <a:ext cx="960500" cy="960500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65000"/>
                    <a:shade val="30000"/>
                    <a:satMod val="115000"/>
                  </a:schemeClr>
                </a:gs>
                <a:gs pos="50000">
                  <a:schemeClr val="bg1">
                    <a:lumMod val="65000"/>
                    <a:shade val="67500"/>
                    <a:satMod val="115000"/>
                  </a:schemeClr>
                </a:gs>
                <a:gs pos="100000">
                  <a:schemeClr val="bg1">
                    <a:lumMod val="65000"/>
                    <a:shade val="100000"/>
                    <a:satMod val="115000"/>
                  </a:schemeClr>
                </a:gs>
              </a:gsLst>
              <a:lin ang="0" scaled="1"/>
              <a:tileRect/>
            </a:gradFill>
            <a:ln w="19050">
              <a:solidFill>
                <a:srgbClr val="B523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5AF0AA7D-B943-9379-2F28-A53E9C4EE12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159322" y="5855410"/>
              <a:ext cx="628041" cy="473182"/>
            </a:xfrm>
            <a:prstGeom prst="rect">
              <a:avLst/>
            </a:prstGeom>
          </p:spPr>
        </p:pic>
      </p:grpSp>
      <p:sp>
        <p:nvSpPr>
          <p:cNvPr id="38" name="!!c2_quote"/>
          <p:cNvSpPr txBox="1"/>
          <p:nvPr/>
        </p:nvSpPr>
        <p:spPr>
          <a:xfrm>
            <a:off x="7708392" y="1645919"/>
            <a:ext cx="37947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i="1">
                <a:solidFill>
                  <a:srgbClr val="2E2925"/>
                </a:solidFill>
                <a:latin typeface="Franklin Gothic Book"/>
              </a:rPr>
              <a:t>“Are we showing up relevant to our customers? How do we not become commoditized?”</a:t>
            </a:r>
          </a:p>
        </p:txBody>
      </p:sp>
      <p:sp>
        <p:nvSpPr>
          <p:cNvPr id="39" name="!!c2_how"/>
          <p:cNvSpPr txBox="1"/>
          <p:nvPr/>
        </p:nvSpPr>
        <p:spPr>
          <a:xfrm>
            <a:off x="7708392" y="2880360"/>
            <a:ext cx="2011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i="0">
                <a:solidFill>
                  <a:srgbClr val="55575A"/>
                </a:solidFill>
                <a:latin typeface="Franklin Gothic Medium"/>
              </a:rPr>
              <a:t>How we hunt</a:t>
            </a:r>
          </a:p>
        </p:txBody>
      </p:sp>
      <p:sp>
        <p:nvSpPr>
          <p:cNvPr id="40" name="!!c2_pill"/>
          <p:cNvSpPr/>
          <p:nvPr/>
        </p:nvSpPr>
        <p:spPr>
          <a:xfrm>
            <a:off x="9422800" y="2880360"/>
            <a:ext cx="2080351" cy="310896"/>
          </a:xfrm>
          <a:prstGeom prst="roundRect">
            <a:avLst>
              <a:gd name="adj" fmla="val 50000"/>
            </a:avLst>
          </a:prstGeom>
          <a:solidFill>
            <a:srgbClr val="D51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1050">
                <a:solidFill>
                  <a:srgbClr val="FFFFFF"/>
                </a:solidFill>
                <a:latin typeface="Franklin Gothic Medium"/>
              </a:rPr>
              <a:t>CONNECT ABM PROGRAM</a:t>
            </a:r>
          </a:p>
        </p:txBody>
      </p:sp>
      <p:sp>
        <p:nvSpPr>
          <p:cNvPr id="41" name="!!c3_bg"/>
          <p:cNvSpPr/>
          <p:nvPr/>
        </p:nvSpPr>
        <p:spPr>
          <a:xfrm>
            <a:off x="7434071" y="3675887"/>
            <a:ext cx="4343400" cy="2487168"/>
          </a:xfrm>
          <a:prstGeom prst="rect">
            <a:avLst/>
          </a:prstGeom>
          <a:solidFill>
            <a:srgbClr val="F4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!!c3_band"/>
          <p:cNvSpPr/>
          <p:nvPr/>
        </p:nvSpPr>
        <p:spPr>
          <a:xfrm>
            <a:off x="7434071" y="3675887"/>
            <a:ext cx="4343400" cy="530352"/>
          </a:xfrm>
          <a:prstGeom prst="rect">
            <a:avLst/>
          </a:prstGeom>
          <a:solidFill>
            <a:srgbClr val="B52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!!c3_name"/>
          <p:cNvSpPr txBox="1"/>
          <p:nvPr/>
        </p:nvSpPr>
        <p:spPr>
          <a:xfrm>
            <a:off x="8394192" y="3675887"/>
            <a:ext cx="32461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i="0">
                <a:solidFill>
                  <a:srgbClr val="FFFFFF"/>
                </a:solidFill>
                <a:latin typeface="Franklin Gothic Medium"/>
              </a:rPr>
              <a:t>3   Art &amp; Talent Optimization</a:t>
            </a:r>
          </a:p>
        </p:txBody>
      </p:sp>
      <p:sp>
        <p:nvSpPr>
          <p:cNvPr id="20" name="!!c3_icon">
            <a:extLst>
              <a:ext uri="{FF2B5EF4-FFF2-40B4-BE49-F238E27FC236}">
                <a16:creationId xmlns:a16="http://schemas.microsoft.com/office/drawing/2014/main" id="{1554B659-AB45-0829-BE35-18A4734CC740}"/>
              </a:ext>
            </a:extLst>
          </p:cNvPr>
          <p:cNvSpPr/>
          <p:nvPr/>
        </p:nvSpPr>
        <p:spPr>
          <a:xfrm>
            <a:off x="7543799" y="3547871"/>
            <a:ext cx="768096" cy="768096"/>
          </a:xfrm>
          <a:prstGeom prst="ellipse">
            <a:avLst/>
          </a:prstGeom>
          <a:gradFill flip="none" rotWithShape="1">
            <a:gsLst>
              <a:gs pos="0">
                <a:schemeClr val="bg1">
                  <a:lumMod val="65000"/>
                  <a:shade val="30000"/>
                  <a:satMod val="115000"/>
                </a:schemeClr>
              </a:gs>
              <a:gs pos="50000">
                <a:schemeClr val="bg1">
                  <a:lumMod val="65000"/>
                  <a:shade val="67500"/>
                  <a:satMod val="115000"/>
                </a:schemeClr>
              </a:gs>
              <a:gs pos="100000">
                <a:schemeClr val="bg1">
                  <a:lumMod val="65000"/>
                  <a:shade val="100000"/>
                  <a:satMod val="115000"/>
                </a:schemeClr>
              </a:gs>
            </a:gsLst>
            <a:lin ang="0" scaled="1"/>
            <a:tileRect/>
          </a:gradFill>
          <a:ln w="19050">
            <a:solidFill>
              <a:srgbClr val="B523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!!c3_icon2">
            <a:extLst>
              <a:ext uri="{FF2B5EF4-FFF2-40B4-BE49-F238E27FC236}">
                <a16:creationId xmlns:a16="http://schemas.microsoft.com/office/drawing/2014/main" id="{1D374ABD-935D-2940-6A79-175341756B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4353" y="3697373"/>
            <a:ext cx="486989" cy="479134"/>
          </a:xfrm>
          <a:prstGeom prst="rect">
            <a:avLst/>
          </a:prstGeom>
        </p:spPr>
      </p:pic>
      <p:sp>
        <p:nvSpPr>
          <p:cNvPr id="44" name="!!c3_quote"/>
          <p:cNvSpPr txBox="1"/>
          <p:nvPr/>
        </p:nvSpPr>
        <p:spPr>
          <a:xfrm>
            <a:off x="7708392" y="4425696"/>
            <a:ext cx="37947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i="1">
                <a:solidFill>
                  <a:srgbClr val="2E2925"/>
                </a:solidFill>
                <a:latin typeface="Franklin Gothic Book"/>
              </a:rPr>
              <a:t>“We have to develop our people. We can’t afford the cost of turnover and talent is hard to find.”</a:t>
            </a:r>
          </a:p>
        </p:txBody>
      </p:sp>
      <p:sp>
        <p:nvSpPr>
          <p:cNvPr id="45" name="!!c3_how"/>
          <p:cNvSpPr txBox="1"/>
          <p:nvPr/>
        </p:nvSpPr>
        <p:spPr>
          <a:xfrm>
            <a:off x="7708392" y="5660136"/>
            <a:ext cx="2011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i="0">
                <a:solidFill>
                  <a:srgbClr val="55575A"/>
                </a:solidFill>
                <a:latin typeface="Franklin Gothic Medium"/>
              </a:rPr>
              <a:t>How we develop</a:t>
            </a:r>
          </a:p>
        </p:txBody>
      </p:sp>
      <p:sp>
        <p:nvSpPr>
          <p:cNvPr id="46" name="!!c3_pill"/>
          <p:cNvSpPr/>
          <p:nvPr/>
        </p:nvSpPr>
        <p:spPr>
          <a:xfrm>
            <a:off x="9987351" y="5660136"/>
            <a:ext cx="1515800" cy="310896"/>
          </a:xfrm>
          <a:prstGeom prst="roundRect">
            <a:avLst>
              <a:gd name="adj" fmla="val 50000"/>
            </a:avLst>
          </a:prstGeom>
          <a:solidFill>
            <a:srgbClr val="D51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1050">
                <a:solidFill>
                  <a:srgbClr val="FFFFFF"/>
                </a:solidFill>
                <a:latin typeface="Franklin Gothic Medium"/>
              </a:rPr>
              <a:t>IGNITE TALENT</a:t>
            </a:r>
          </a:p>
        </p:txBody>
      </p:sp>
      <p:sp>
        <p:nvSpPr>
          <p:cNvPr id="47" name="!!c4_bg"/>
          <p:cNvSpPr/>
          <p:nvPr/>
        </p:nvSpPr>
        <p:spPr>
          <a:xfrm>
            <a:off x="411480" y="3675887"/>
            <a:ext cx="4343400" cy="2487168"/>
          </a:xfrm>
          <a:prstGeom prst="rect">
            <a:avLst/>
          </a:prstGeom>
          <a:solidFill>
            <a:srgbClr val="F4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!!c4_band"/>
          <p:cNvSpPr/>
          <p:nvPr/>
        </p:nvSpPr>
        <p:spPr>
          <a:xfrm>
            <a:off x="411480" y="3675887"/>
            <a:ext cx="4343400" cy="530352"/>
          </a:xfrm>
          <a:prstGeom prst="rect">
            <a:avLst/>
          </a:prstGeom>
          <a:solidFill>
            <a:srgbClr val="555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!!c4_name"/>
          <p:cNvSpPr txBox="1"/>
          <p:nvPr/>
        </p:nvSpPr>
        <p:spPr>
          <a:xfrm>
            <a:off x="1371600" y="3675887"/>
            <a:ext cx="32461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i="0">
                <a:solidFill>
                  <a:srgbClr val="FFFFFF"/>
                </a:solidFill>
                <a:latin typeface="Franklin Gothic Medium"/>
              </a:rPr>
              <a:t>4   Revenue Performance &amp; Metrics</a:t>
            </a:r>
          </a:p>
        </p:txBody>
      </p:sp>
      <p:grpSp>
        <p:nvGrpSpPr>
          <p:cNvPr id="30" name="!!c4_icon">
            <a:extLst>
              <a:ext uri="{FF2B5EF4-FFF2-40B4-BE49-F238E27FC236}">
                <a16:creationId xmlns:a16="http://schemas.microsoft.com/office/drawing/2014/main" id="{A34F56AE-6E15-CA17-553A-4BF952104907}"/>
              </a:ext>
            </a:extLst>
          </p:cNvPr>
          <p:cNvGrpSpPr/>
          <p:nvPr/>
        </p:nvGrpSpPr>
        <p:grpSpPr>
          <a:xfrm>
            <a:off x="521208" y="3547871"/>
            <a:ext cx="768096" cy="768096"/>
            <a:chOff x="1234577" y="277743"/>
            <a:chExt cx="960500" cy="960500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B9C1869-EBAB-161D-2DA4-8C653FBF65E5}"/>
                </a:ext>
              </a:extLst>
            </p:cNvPr>
            <p:cNvSpPr/>
            <p:nvPr/>
          </p:nvSpPr>
          <p:spPr>
            <a:xfrm>
              <a:off x="1234577" y="277743"/>
              <a:ext cx="960500" cy="960500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65000"/>
                    <a:shade val="30000"/>
                    <a:satMod val="115000"/>
                  </a:schemeClr>
                </a:gs>
                <a:gs pos="50000">
                  <a:schemeClr val="bg1">
                    <a:lumMod val="65000"/>
                    <a:shade val="67500"/>
                    <a:satMod val="115000"/>
                  </a:schemeClr>
                </a:gs>
                <a:gs pos="100000">
                  <a:schemeClr val="bg1">
                    <a:lumMod val="65000"/>
                    <a:shade val="100000"/>
                    <a:satMod val="115000"/>
                  </a:schemeClr>
                </a:gs>
              </a:gsLst>
              <a:lin ang="0" scaled="1"/>
              <a:tileRect/>
            </a:gradFill>
            <a:ln w="19050">
              <a:solidFill>
                <a:srgbClr val="B523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A2EA54A9-541A-CDCD-7A9C-8ABB1FBB1F5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48085" y="547117"/>
              <a:ext cx="706154" cy="380952"/>
            </a:xfrm>
            <a:prstGeom prst="rect">
              <a:avLst/>
            </a:prstGeom>
          </p:spPr>
        </p:pic>
      </p:grpSp>
      <p:sp>
        <p:nvSpPr>
          <p:cNvPr id="50" name="!!c4_quote"/>
          <p:cNvSpPr txBox="1"/>
          <p:nvPr/>
        </p:nvSpPr>
        <p:spPr>
          <a:xfrm>
            <a:off x="685800" y="4425696"/>
            <a:ext cx="37947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i="1">
                <a:solidFill>
                  <a:srgbClr val="2E2925"/>
                </a:solidFill>
                <a:latin typeface="Franklin Gothic Book"/>
              </a:rPr>
              <a:t>“We have a lot of reporting, but does it show how or if we are doing better?”</a:t>
            </a:r>
          </a:p>
        </p:txBody>
      </p:sp>
      <p:sp>
        <p:nvSpPr>
          <p:cNvPr id="51" name="!!c4_how"/>
          <p:cNvSpPr txBox="1"/>
          <p:nvPr/>
        </p:nvSpPr>
        <p:spPr>
          <a:xfrm>
            <a:off x="685800" y="5660136"/>
            <a:ext cx="2011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i="0">
                <a:solidFill>
                  <a:srgbClr val="55575A"/>
                </a:solidFill>
                <a:latin typeface="Franklin Gothic Medium"/>
              </a:rPr>
              <a:t>How we measure</a:t>
            </a:r>
          </a:p>
        </p:txBody>
      </p:sp>
      <p:sp>
        <p:nvSpPr>
          <p:cNvPr id="52" name="!!hub_ring"/>
          <p:cNvSpPr/>
          <p:nvPr/>
        </p:nvSpPr>
        <p:spPr>
          <a:xfrm>
            <a:off x="4935016" y="2148840"/>
            <a:ext cx="2322576" cy="2322576"/>
          </a:xfrm>
          <a:prstGeom prst="ellipse">
            <a:avLst/>
          </a:prstGeom>
          <a:noFill/>
          <a:ln w="28575">
            <a:solidFill>
              <a:srgbClr val="D510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!!hub"/>
          <p:cNvSpPr/>
          <p:nvPr/>
        </p:nvSpPr>
        <p:spPr>
          <a:xfrm>
            <a:off x="5044744" y="2258568"/>
            <a:ext cx="2103120" cy="2103120"/>
          </a:xfrm>
          <a:prstGeom prst="ellipse">
            <a:avLst/>
          </a:prstGeom>
          <a:solidFill>
            <a:srgbClr val="555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!!hub_t"/>
          <p:cNvSpPr txBox="1"/>
          <p:nvPr/>
        </p:nvSpPr>
        <p:spPr>
          <a:xfrm>
            <a:off x="5181904" y="2743200"/>
            <a:ext cx="1828799" cy="7315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/>
            <a:r>
              <a:rPr sz="2100" i="0">
                <a:solidFill>
                  <a:srgbClr val="FFFFFF"/>
                </a:solidFill>
                <a:latin typeface="Franklin Gothic Medium"/>
              </a:rPr>
              <a:t>Profitable</a:t>
            </a:r>
          </a:p>
          <a:p>
            <a:pPr algn="ctr"/>
            <a:r>
              <a:rPr sz="2100" i="0">
                <a:solidFill>
                  <a:srgbClr val="FFFFFF"/>
                </a:solidFill>
                <a:latin typeface="Franklin Gothic Medium"/>
              </a:rPr>
              <a:t>Growth</a:t>
            </a:r>
          </a:p>
        </p:txBody>
      </p:sp>
      <p:sp>
        <p:nvSpPr>
          <p:cNvPr id="55" name="!!hub_s"/>
          <p:cNvSpPr txBox="1"/>
          <p:nvPr/>
        </p:nvSpPr>
        <p:spPr>
          <a:xfrm>
            <a:off x="5227624" y="3511296"/>
            <a:ext cx="1737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i="0">
                <a:solidFill>
                  <a:srgbClr val="FFFFFF"/>
                </a:solidFill>
                <a:latin typeface="Franklin Gothic Book"/>
              </a:rPr>
              <a:t>Sales  ·  Marketing</a:t>
            </a:r>
          </a:p>
          <a:p>
            <a:pPr algn="ctr"/>
            <a:r>
              <a:rPr sz="1050" i="0">
                <a:solidFill>
                  <a:srgbClr val="FFFFFF"/>
                </a:solidFill>
                <a:latin typeface="Franklin Gothic Book"/>
              </a:rPr>
              <a:t>Pricing / Rev Mgmt.</a:t>
            </a:r>
          </a:p>
        </p:txBody>
      </p:sp>
      <p:sp>
        <p:nvSpPr>
          <p:cNvPr id="56" name="!!fff_rule"/>
          <p:cNvSpPr/>
          <p:nvPr/>
        </p:nvSpPr>
        <p:spPr>
          <a:xfrm>
            <a:off x="5547664" y="4690872"/>
            <a:ext cx="1097280" cy="91"/>
          </a:xfrm>
          <a:prstGeom prst="rect">
            <a:avLst/>
          </a:prstGeom>
          <a:noFill/>
          <a:ln w="9525">
            <a:solidFill>
              <a:srgbClr val="CA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!!fff0"/>
          <p:cNvSpPr txBox="1"/>
          <p:nvPr/>
        </p:nvSpPr>
        <p:spPr>
          <a:xfrm>
            <a:off x="4816144" y="4754880"/>
            <a:ext cx="25603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i="0">
                <a:solidFill>
                  <a:srgbClr val="B52372"/>
                </a:solidFill>
                <a:latin typeface="Franklin Gothic Medium"/>
              </a:rPr>
              <a:t>Focus</a:t>
            </a:r>
          </a:p>
        </p:txBody>
      </p:sp>
      <p:sp>
        <p:nvSpPr>
          <p:cNvPr id="58" name="!!fff1"/>
          <p:cNvSpPr txBox="1"/>
          <p:nvPr/>
        </p:nvSpPr>
        <p:spPr>
          <a:xfrm>
            <a:off x="4816144" y="5084064"/>
            <a:ext cx="25603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i="0">
                <a:solidFill>
                  <a:srgbClr val="55575A"/>
                </a:solidFill>
                <a:latin typeface="Franklin Gothic Book"/>
              </a:rPr>
              <a:t>Framework</a:t>
            </a:r>
          </a:p>
        </p:txBody>
      </p:sp>
      <p:sp>
        <p:nvSpPr>
          <p:cNvPr id="59" name="!!fff2"/>
          <p:cNvSpPr txBox="1"/>
          <p:nvPr/>
        </p:nvSpPr>
        <p:spPr>
          <a:xfrm>
            <a:off x="4816144" y="5413248"/>
            <a:ext cx="25603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i="0">
                <a:solidFill>
                  <a:srgbClr val="55575A"/>
                </a:solidFill>
                <a:latin typeface="Franklin Gothic Book"/>
              </a:rPr>
              <a:t>Foundation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 advTm="1300">
        <p159:morph option="byObject"/>
      </p:transition>
    </mc:Choice>
    <mc:Fallback>
      <p:transition spd="slow" advTm="1300">
        <p:fade/>
      </p:transition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 idx="4294967295"/>
          </p:nvPr>
        </p:nvSpPr>
        <p:spPr>
          <a:xfrm>
            <a:off x="0" y="230457"/>
            <a:ext cx="12192000" cy="430887"/>
          </a:xfrm>
        </p:spPr>
        <p:txBody>
          <a:bodyPr>
            <a:noAutofit/>
          </a:bodyPr>
          <a:lstStyle/>
          <a:p>
            <a:pPr algn="ctr"/>
            <a:r>
              <a:rPr lang="en-US" sz="320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</a:rPr>
              <a:t>Where You Win </a:t>
            </a:r>
            <a:r>
              <a:rPr lang="en-US" sz="3200">
                <a:solidFill>
                  <a:srgbClr val="B52372"/>
                </a:solidFill>
                <a:latin typeface="Franklin Gothic Book" panose="020B0503020102020204" pitchFamily="34" charset="0"/>
              </a:rPr>
              <a:t>| Art &amp; Talent Optimization</a:t>
            </a:r>
          </a:p>
        </p:txBody>
      </p:sp>
      <p:sp>
        <p:nvSpPr>
          <p:cNvPr id="3" name="!!c3_bg"/>
          <p:cNvSpPr/>
          <p:nvPr/>
        </p:nvSpPr>
        <p:spPr>
          <a:xfrm>
            <a:off x="411480" y="914400"/>
            <a:ext cx="5120640" cy="5257800"/>
          </a:xfrm>
          <a:prstGeom prst="rect">
            <a:avLst/>
          </a:prstGeom>
          <a:solidFill>
            <a:srgbClr val="F4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c3_band"/>
          <p:cNvSpPr/>
          <p:nvPr/>
        </p:nvSpPr>
        <p:spPr>
          <a:xfrm>
            <a:off x="411480" y="914400"/>
            <a:ext cx="82296" cy="5257800"/>
          </a:xfrm>
          <a:prstGeom prst="rect">
            <a:avLst/>
          </a:prstGeom>
          <a:solidFill>
            <a:srgbClr val="B52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!!c3_icon">
            <a:extLst>
              <a:ext uri="{FF2B5EF4-FFF2-40B4-BE49-F238E27FC236}">
                <a16:creationId xmlns:a16="http://schemas.microsoft.com/office/drawing/2014/main" id="{1554B659-AB45-0829-BE35-18A4734CC740}"/>
              </a:ext>
            </a:extLst>
          </p:cNvPr>
          <p:cNvSpPr/>
          <p:nvPr/>
        </p:nvSpPr>
        <p:spPr>
          <a:xfrm>
            <a:off x="822960" y="1234440"/>
            <a:ext cx="1051560" cy="1051560"/>
          </a:xfrm>
          <a:prstGeom prst="ellipse">
            <a:avLst/>
          </a:prstGeom>
          <a:gradFill flip="none" rotWithShape="1">
            <a:gsLst>
              <a:gs pos="0">
                <a:schemeClr val="bg1">
                  <a:lumMod val="65000"/>
                  <a:shade val="30000"/>
                  <a:satMod val="115000"/>
                </a:schemeClr>
              </a:gs>
              <a:gs pos="50000">
                <a:schemeClr val="bg1">
                  <a:lumMod val="65000"/>
                  <a:shade val="67500"/>
                  <a:satMod val="115000"/>
                </a:schemeClr>
              </a:gs>
              <a:gs pos="100000">
                <a:schemeClr val="bg1">
                  <a:lumMod val="65000"/>
                  <a:shade val="100000"/>
                  <a:satMod val="115000"/>
                </a:schemeClr>
              </a:gs>
            </a:gsLst>
            <a:lin ang="0" scaled="1"/>
            <a:tileRect/>
          </a:gradFill>
          <a:ln w="19050">
            <a:solidFill>
              <a:srgbClr val="B523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!!c3_icon2">
            <a:extLst>
              <a:ext uri="{FF2B5EF4-FFF2-40B4-BE49-F238E27FC236}">
                <a16:creationId xmlns:a16="http://schemas.microsoft.com/office/drawing/2014/main" id="{1D374ABD-935D-2940-6A79-175341756B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383" y="1439114"/>
            <a:ext cx="666712" cy="655958"/>
          </a:xfrm>
          <a:prstGeom prst="rect">
            <a:avLst/>
          </a:prstGeom>
        </p:spPr>
      </p:pic>
      <p:sp>
        <p:nvSpPr>
          <p:cNvPr id="30" name="!!c3_how"/>
          <p:cNvSpPr txBox="1"/>
          <p:nvPr/>
        </p:nvSpPr>
        <p:spPr>
          <a:xfrm>
            <a:off x="2057400" y="1234440"/>
            <a:ext cx="329184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i="0">
                <a:solidFill>
                  <a:srgbClr val="D51067"/>
                </a:solidFill>
                <a:latin typeface="Franklin Gothic Medium"/>
              </a:rPr>
              <a:t>How we develop</a:t>
            </a:r>
          </a:p>
        </p:txBody>
      </p:sp>
      <p:sp>
        <p:nvSpPr>
          <p:cNvPr id="31" name="!!c3_quote"/>
          <p:cNvSpPr txBox="1"/>
          <p:nvPr/>
        </p:nvSpPr>
        <p:spPr>
          <a:xfrm>
            <a:off x="822960" y="2697480"/>
            <a:ext cx="44348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i="1">
                <a:solidFill>
                  <a:srgbClr val="2E2925"/>
                </a:solidFill>
                <a:latin typeface="Franklin Gothic Book"/>
              </a:rPr>
              <a:t>“We have to develop our people. We can’t afford the cost of turnover and talent is hard to find.”</a:t>
            </a:r>
          </a:p>
        </p:txBody>
      </p:sp>
      <p:sp>
        <p:nvSpPr>
          <p:cNvPr id="32" name="!!c3_pill"/>
          <p:cNvSpPr/>
          <p:nvPr/>
        </p:nvSpPr>
        <p:spPr>
          <a:xfrm>
            <a:off x="822960" y="4983480"/>
            <a:ext cx="1690542" cy="384048"/>
          </a:xfrm>
          <a:prstGeom prst="roundRect">
            <a:avLst>
              <a:gd name="adj" fmla="val 50000"/>
            </a:avLst>
          </a:prstGeom>
          <a:solidFill>
            <a:srgbClr val="D51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1200">
                <a:solidFill>
                  <a:srgbClr val="FFFFFF"/>
                </a:solidFill>
                <a:latin typeface="Franklin Gothic Medium"/>
              </a:rPr>
              <a:t>IGNITE TALENT</a:t>
            </a:r>
          </a:p>
        </p:txBody>
      </p:sp>
      <p:sp>
        <p:nvSpPr>
          <p:cNvPr id="33" name="!!map0"/>
          <p:cNvSpPr/>
          <p:nvPr/>
        </p:nvSpPr>
        <p:spPr>
          <a:xfrm>
            <a:off x="4754880" y="5623560"/>
            <a:ext cx="210312" cy="210312"/>
          </a:xfrm>
          <a:prstGeom prst="rect">
            <a:avLst/>
          </a:prstGeom>
          <a:solidFill>
            <a:srgbClr val="CA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!!map1"/>
          <p:cNvSpPr/>
          <p:nvPr/>
        </p:nvSpPr>
        <p:spPr>
          <a:xfrm>
            <a:off x="5001768" y="5623560"/>
            <a:ext cx="210312" cy="210312"/>
          </a:xfrm>
          <a:prstGeom prst="rect">
            <a:avLst/>
          </a:prstGeom>
          <a:solidFill>
            <a:srgbClr val="CA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!!map2"/>
          <p:cNvSpPr/>
          <p:nvPr/>
        </p:nvSpPr>
        <p:spPr>
          <a:xfrm>
            <a:off x="5001768" y="5870448"/>
            <a:ext cx="210312" cy="210312"/>
          </a:xfrm>
          <a:prstGeom prst="rect">
            <a:avLst/>
          </a:prstGeom>
          <a:solidFill>
            <a:srgbClr val="B52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!!map3"/>
          <p:cNvSpPr/>
          <p:nvPr/>
        </p:nvSpPr>
        <p:spPr>
          <a:xfrm>
            <a:off x="4754880" y="5870448"/>
            <a:ext cx="210312" cy="210312"/>
          </a:xfrm>
          <a:prstGeom prst="rect">
            <a:avLst/>
          </a:prstGeom>
          <a:solidFill>
            <a:srgbClr val="CA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!!hear_h"/>
          <p:cNvSpPr txBox="1"/>
          <p:nvPr/>
        </p:nvSpPr>
        <p:spPr>
          <a:xfrm>
            <a:off x="5989320" y="914400"/>
            <a:ext cx="576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i="0">
                <a:solidFill>
                  <a:srgbClr val="D51067"/>
                </a:solidFill>
                <a:latin typeface="Franklin Gothic Medium"/>
              </a:rPr>
              <a:t>WHAT WE HEAR</a:t>
            </a:r>
          </a:p>
        </p:txBody>
      </p:sp>
      <p:sp>
        <p:nvSpPr>
          <p:cNvPr id="38" name="!!hear_dot0"/>
          <p:cNvSpPr/>
          <p:nvPr/>
        </p:nvSpPr>
        <p:spPr>
          <a:xfrm>
            <a:off x="5989320" y="1417320"/>
            <a:ext cx="82296" cy="82296"/>
          </a:xfrm>
          <a:prstGeom prst="ellipse">
            <a:avLst/>
          </a:prstGeom>
          <a:solidFill>
            <a:srgbClr val="D51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!!hear0"/>
          <p:cNvSpPr txBox="1"/>
          <p:nvPr/>
        </p:nvSpPr>
        <p:spPr>
          <a:xfrm>
            <a:off x="6217920" y="1325880"/>
            <a:ext cx="55321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i="0">
                <a:solidFill>
                  <a:srgbClr val="2E2925"/>
                </a:solidFill>
                <a:latin typeface="Franklin Gothic Book"/>
              </a:rPr>
              <a:t>How to build skills and competencies within teams and leaders</a:t>
            </a:r>
          </a:p>
        </p:txBody>
      </p:sp>
      <p:sp>
        <p:nvSpPr>
          <p:cNvPr id="40" name="!!hear_dot1"/>
          <p:cNvSpPr/>
          <p:nvPr/>
        </p:nvSpPr>
        <p:spPr>
          <a:xfrm>
            <a:off x="5989320" y="2039112"/>
            <a:ext cx="82296" cy="82296"/>
          </a:xfrm>
          <a:prstGeom prst="ellipse">
            <a:avLst/>
          </a:prstGeom>
          <a:solidFill>
            <a:srgbClr val="D51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!!hear1"/>
          <p:cNvSpPr txBox="1"/>
          <p:nvPr/>
        </p:nvSpPr>
        <p:spPr>
          <a:xfrm>
            <a:off x="6217920" y="1947672"/>
            <a:ext cx="55321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i="0">
                <a:solidFill>
                  <a:srgbClr val="2E2925"/>
                </a:solidFill>
                <a:latin typeface="Franklin Gothic Book"/>
              </a:rPr>
              <a:t>Performance plans for revenue teams built off operational mindset</a:t>
            </a:r>
          </a:p>
        </p:txBody>
      </p:sp>
      <p:sp>
        <p:nvSpPr>
          <p:cNvPr id="42" name="!!focus_h"/>
          <p:cNvSpPr txBox="1"/>
          <p:nvPr/>
        </p:nvSpPr>
        <p:spPr>
          <a:xfrm>
            <a:off x="5989320" y="2843784"/>
            <a:ext cx="576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i="0">
                <a:solidFill>
                  <a:srgbClr val="D51067"/>
                </a:solidFill>
                <a:latin typeface="Franklin Gothic Medium"/>
              </a:rPr>
              <a:t>WHERE WE FOCUS</a:t>
            </a:r>
          </a:p>
        </p:txBody>
      </p:sp>
      <p:sp>
        <p:nvSpPr>
          <p:cNvPr id="43" name="!!chip0"/>
          <p:cNvSpPr/>
          <p:nvPr/>
        </p:nvSpPr>
        <p:spPr>
          <a:xfrm>
            <a:off x="5989320" y="3273552"/>
            <a:ext cx="27889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A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!!chipbar0"/>
          <p:cNvSpPr/>
          <p:nvPr/>
        </p:nvSpPr>
        <p:spPr>
          <a:xfrm>
            <a:off x="5989320" y="3273552"/>
            <a:ext cx="64008" cy="658368"/>
          </a:xfrm>
          <a:prstGeom prst="rect">
            <a:avLst/>
          </a:prstGeom>
          <a:solidFill>
            <a:srgbClr val="B52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!!chiptxt0"/>
          <p:cNvSpPr txBox="1"/>
          <p:nvPr/>
        </p:nvSpPr>
        <p:spPr>
          <a:xfrm>
            <a:off x="6172200" y="3273552"/>
            <a:ext cx="2514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i="0">
                <a:solidFill>
                  <a:srgbClr val="2E2925"/>
                </a:solidFill>
                <a:latin typeface="Franklin Gothic Book"/>
              </a:rPr>
              <a:t>Attract</a:t>
            </a:r>
          </a:p>
        </p:txBody>
      </p:sp>
      <p:sp>
        <p:nvSpPr>
          <p:cNvPr id="46" name="!!chip1"/>
          <p:cNvSpPr/>
          <p:nvPr/>
        </p:nvSpPr>
        <p:spPr>
          <a:xfrm>
            <a:off x="8887967" y="3273552"/>
            <a:ext cx="27889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A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!!chipbar1"/>
          <p:cNvSpPr/>
          <p:nvPr/>
        </p:nvSpPr>
        <p:spPr>
          <a:xfrm>
            <a:off x="8887967" y="3273552"/>
            <a:ext cx="64008" cy="658368"/>
          </a:xfrm>
          <a:prstGeom prst="rect">
            <a:avLst/>
          </a:prstGeom>
          <a:solidFill>
            <a:srgbClr val="B52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!!chiptxt1"/>
          <p:cNvSpPr txBox="1"/>
          <p:nvPr/>
        </p:nvSpPr>
        <p:spPr>
          <a:xfrm>
            <a:off x="9070847" y="3273552"/>
            <a:ext cx="2514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i="0">
                <a:solidFill>
                  <a:srgbClr val="2E2925"/>
                </a:solidFill>
                <a:latin typeface="Franklin Gothic Book"/>
              </a:rPr>
              <a:t>Retain</a:t>
            </a:r>
          </a:p>
        </p:txBody>
      </p:sp>
      <p:sp>
        <p:nvSpPr>
          <p:cNvPr id="49" name="!!chip2"/>
          <p:cNvSpPr/>
          <p:nvPr/>
        </p:nvSpPr>
        <p:spPr>
          <a:xfrm>
            <a:off x="5989320" y="4059936"/>
            <a:ext cx="27889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A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!!chipbar2"/>
          <p:cNvSpPr/>
          <p:nvPr/>
        </p:nvSpPr>
        <p:spPr>
          <a:xfrm>
            <a:off x="5989320" y="4059936"/>
            <a:ext cx="64008" cy="658368"/>
          </a:xfrm>
          <a:prstGeom prst="rect">
            <a:avLst/>
          </a:prstGeom>
          <a:solidFill>
            <a:srgbClr val="B52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!!chiptxt2"/>
          <p:cNvSpPr txBox="1"/>
          <p:nvPr/>
        </p:nvSpPr>
        <p:spPr>
          <a:xfrm>
            <a:off x="6172200" y="4059936"/>
            <a:ext cx="2514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i="0">
                <a:solidFill>
                  <a:srgbClr val="2E2925"/>
                </a:solidFill>
                <a:latin typeface="Franklin Gothic Book"/>
              </a:rPr>
              <a:t>Lead &amp; Coach</a:t>
            </a:r>
          </a:p>
        </p:txBody>
      </p:sp>
      <p:sp>
        <p:nvSpPr>
          <p:cNvPr id="52" name="!!chip3"/>
          <p:cNvSpPr/>
          <p:nvPr/>
        </p:nvSpPr>
        <p:spPr>
          <a:xfrm>
            <a:off x="8887967" y="4059936"/>
            <a:ext cx="27889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A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!!chipbar3"/>
          <p:cNvSpPr/>
          <p:nvPr/>
        </p:nvSpPr>
        <p:spPr>
          <a:xfrm>
            <a:off x="8887967" y="4059936"/>
            <a:ext cx="64008" cy="658368"/>
          </a:xfrm>
          <a:prstGeom prst="rect">
            <a:avLst/>
          </a:prstGeom>
          <a:solidFill>
            <a:srgbClr val="B52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!!chiptxt3"/>
          <p:cNvSpPr txBox="1"/>
          <p:nvPr/>
        </p:nvSpPr>
        <p:spPr>
          <a:xfrm>
            <a:off x="9070847" y="4059936"/>
            <a:ext cx="2514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i="0">
                <a:solidFill>
                  <a:srgbClr val="2E2925"/>
                </a:solidFill>
                <a:latin typeface="Franklin Gothic Book"/>
              </a:rPr>
              <a:t>Build Performance</a:t>
            </a:r>
          </a:p>
        </p:txBody>
      </p:sp>
      <p:sp>
        <p:nvSpPr>
          <p:cNvPr id="55" name="!!chip4"/>
          <p:cNvSpPr/>
          <p:nvPr/>
        </p:nvSpPr>
        <p:spPr>
          <a:xfrm>
            <a:off x="5989320" y="4846320"/>
            <a:ext cx="27889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A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!!chipbar4"/>
          <p:cNvSpPr/>
          <p:nvPr/>
        </p:nvSpPr>
        <p:spPr>
          <a:xfrm>
            <a:off x="5989320" y="4846320"/>
            <a:ext cx="64008" cy="658368"/>
          </a:xfrm>
          <a:prstGeom prst="rect">
            <a:avLst/>
          </a:prstGeom>
          <a:solidFill>
            <a:srgbClr val="B52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!!chiptxt4"/>
          <p:cNvSpPr txBox="1"/>
          <p:nvPr/>
        </p:nvSpPr>
        <p:spPr>
          <a:xfrm>
            <a:off x="6172200" y="4846320"/>
            <a:ext cx="2514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i="0">
                <a:solidFill>
                  <a:srgbClr val="2E2925"/>
                </a:solidFill>
                <a:latin typeface="Franklin Gothic Book"/>
              </a:rPr>
              <a:t>Development Path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 advTm="4200">
        <p159:morph option="byObject"/>
      </p:transition>
    </mc:Choice>
    <mc:Fallback>
      <p:transition spd="slow" advTm="4200">
        <p:fade/>
      </p:transition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 idx="4294967295"/>
          </p:nvPr>
        </p:nvSpPr>
        <p:spPr>
          <a:xfrm>
            <a:off x="0" y="230457"/>
            <a:ext cx="12192000" cy="430887"/>
          </a:xfrm>
        </p:spPr>
        <p:txBody>
          <a:bodyPr>
            <a:noAutofit/>
          </a:bodyPr>
          <a:lstStyle/>
          <a:p>
            <a:pPr algn="ctr"/>
            <a:r>
              <a:rPr lang="en-US" sz="320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</a:rPr>
              <a:t>Where You Win </a:t>
            </a:r>
            <a:r>
              <a:rPr lang="en-US" sz="3200">
                <a:solidFill>
                  <a:srgbClr val="B52372"/>
                </a:solidFill>
                <a:latin typeface="Franklin Gothic Book" panose="020B0503020102020204" pitchFamily="34" charset="0"/>
              </a:rPr>
              <a:t>| Profitable Growth</a:t>
            </a:r>
          </a:p>
        </p:txBody>
      </p:sp>
      <p:sp>
        <p:nvSpPr>
          <p:cNvPr id="3" name="!!c1_bg"/>
          <p:cNvSpPr/>
          <p:nvPr/>
        </p:nvSpPr>
        <p:spPr>
          <a:xfrm>
            <a:off x="411480" y="896112"/>
            <a:ext cx="4343400" cy="2487168"/>
          </a:xfrm>
          <a:prstGeom prst="rect">
            <a:avLst/>
          </a:prstGeom>
          <a:solidFill>
            <a:srgbClr val="F4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c1_band"/>
          <p:cNvSpPr/>
          <p:nvPr/>
        </p:nvSpPr>
        <p:spPr>
          <a:xfrm>
            <a:off x="411480" y="896112"/>
            <a:ext cx="4343400" cy="530352"/>
          </a:xfrm>
          <a:prstGeom prst="rect">
            <a:avLst/>
          </a:prstGeom>
          <a:solidFill>
            <a:srgbClr val="B52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c1_name"/>
          <p:cNvSpPr txBox="1"/>
          <p:nvPr/>
        </p:nvSpPr>
        <p:spPr>
          <a:xfrm>
            <a:off x="1371600" y="896112"/>
            <a:ext cx="32461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i="0">
                <a:solidFill>
                  <a:srgbClr val="FFFFFF"/>
                </a:solidFill>
                <a:latin typeface="Franklin Gothic Medium"/>
              </a:rPr>
              <a:t>1   Science &amp; Strategy</a:t>
            </a:r>
          </a:p>
        </p:txBody>
      </p:sp>
      <p:grpSp>
        <p:nvGrpSpPr>
          <p:cNvPr id="31" name="!!c1_icon">
            <a:extLst>
              <a:ext uri="{FF2B5EF4-FFF2-40B4-BE49-F238E27FC236}">
                <a16:creationId xmlns:a16="http://schemas.microsoft.com/office/drawing/2014/main" id="{64401AE8-1991-1341-CC55-F342691AA60D}"/>
              </a:ext>
            </a:extLst>
          </p:cNvPr>
          <p:cNvGrpSpPr/>
          <p:nvPr/>
        </p:nvGrpSpPr>
        <p:grpSpPr>
          <a:xfrm>
            <a:off x="521208" y="768096"/>
            <a:ext cx="768096" cy="779176"/>
            <a:chOff x="10023859" y="264078"/>
            <a:chExt cx="933564" cy="947032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E3F64412-42DA-A373-E8FF-487F3BC37CB3}"/>
                </a:ext>
              </a:extLst>
            </p:cNvPr>
            <p:cNvSpPr/>
            <p:nvPr/>
          </p:nvSpPr>
          <p:spPr>
            <a:xfrm>
              <a:off x="10023859" y="264078"/>
              <a:ext cx="933564" cy="947032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65000"/>
                    <a:shade val="30000"/>
                    <a:satMod val="115000"/>
                  </a:schemeClr>
                </a:gs>
                <a:gs pos="50000">
                  <a:schemeClr val="bg1">
                    <a:lumMod val="65000"/>
                    <a:shade val="67500"/>
                    <a:satMod val="115000"/>
                  </a:schemeClr>
                </a:gs>
                <a:gs pos="100000">
                  <a:schemeClr val="bg1">
                    <a:lumMod val="65000"/>
                    <a:shade val="100000"/>
                    <a:satMod val="115000"/>
                  </a:schemeClr>
                </a:gs>
              </a:gsLst>
              <a:lin ang="0" scaled="1"/>
              <a:tileRect/>
            </a:gradFill>
            <a:ln w="19050">
              <a:solidFill>
                <a:srgbClr val="B523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: Shape 25">
              <a:extLst>
                <a:ext uri="{FF2B5EF4-FFF2-40B4-BE49-F238E27FC236}">
                  <a16:creationId xmlns:a16="http://schemas.microsoft.com/office/drawing/2014/main" id="{B3723BE5-1E0C-63A4-66D5-E56AEF2E3AAB}"/>
                </a:ext>
              </a:extLst>
            </p:cNvPr>
            <p:cNvSpPr/>
            <p:nvPr/>
          </p:nvSpPr>
          <p:spPr>
            <a:xfrm>
              <a:off x="10275283" y="399791"/>
              <a:ext cx="430716" cy="675605"/>
            </a:xfrm>
            <a:custGeom>
              <a:avLst/>
              <a:gdLst>
                <a:gd name="connsiteX0" fmla="*/ 633032 w 736282"/>
                <a:gd name="connsiteY0" fmla="*/ 1098614 h 1238252"/>
                <a:gd name="connsiteX1" fmla="*/ 623507 w 736282"/>
                <a:gd name="connsiteY1" fmla="*/ 1108139 h 1238252"/>
                <a:gd name="connsiteX2" fmla="*/ 623507 w 736282"/>
                <a:gd name="connsiteY2" fmla="*/ 1170242 h 1238252"/>
                <a:gd name="connsiteX3" fmla="*/ 633032 w 736282"/>
                <a:gd name="connsiteY3" fmla="*/ 1179767 h 1238252"/>
                <a:gd name="connsiteX4" fmla="*/ 642557 w 736282"/>
                <a:gd name="connsiteY4" fmla="*/ 1170242 h 1238252"/>
                <a:gd name="connsiteX5" fmla="*/ 642557 w 736282"/>
                <a:gd name="connsiteY5" fmla="*/ 1108139 h 1238252"/>
                <a:gd name="connsiteX6" fmla="*/ 633032 w 736282"/>
                <a:gd name="connsiteY6" fmla="*/ 1098614 h 1238252"/>
                <a:gd name="connsiteX7" fmla="*/ 536163 w 736282"/>
                <a:gd name="connsiteY7" fmla="*/ 1098614 h 1238252"/>
                <a:gd name="connsiteX8" fmla="*/ 526638 w 736282"/>
                <a:gd name="connsiteY8" fmla="*/ 1108139 h 1238252"/>
                <a:gd name="connsiteX9" fmla="*/ 526638 w 736282"/>
                <a:gd name="connsiteY9" fmla="*/ 1170242 h 1238252"/>
                <a:gd name="connsiteX10" fmla="*/ 536163 w 736282"/>
                <a:gd name="connsiteY10" fmla="*/ 1179767 h 1238252"/>
                <a:gd name="connsiteX11" fmla="*/ 545688 w 736282"/>
                <a:gd name="connsiteY11" fmla="*/ 1170242 h 1238252"/>
                <a:gd name="connsiteX12" fmla="*/ 545688 w 736282"/>
                <a:gd name="connsiteY12" fmla="*/ 1108139 h 1238252"/>
                <a:gd name="connsiteX13" fmla="*/ 536163 w 736282"/>
                <a:gd name="connsiteY13" fmla="*/ 1098614 h 1238252"/>
                <a:gd name="connsiteX14" fmla="*/ 439198 w 736282"/>
                <a:gd name="connsiteY14" fmla="*/ 1098614 h 1238252"/>
                <a:gd name="connsiteX15" fmla="*/ 429673 w 736282"/>
                <a:gd name="connsiteY15" fmla="*/ 1108139 h 1238252"/>
                <a:gd name="connsiteX16" fmla="*/ 429673 w 736282"/>
                <a:gd name="connsiteY16" fmla="*/ 1170242 h 1238252"/>
                <a:gd name="connsiteX17" fmla="*/ 439198 w 736282"/>
                <a:gd name="connsiteY17" fmla="*/ 1179767 h 1238252"/>
                <a:gd name="connsiteX18" fmla="*/ 448723 w 736282"/>
                <a:gd name="connsiteY18" fmla="*/ 1170242 h 1238252"/>
                <a:gd name="connsiteX19" fmla="*/ 448723 w 736282"/>
                <a:gd name="connsiteY19" fmla="*/ 1108139 h 1238252"/>
                <a:gd name="connsiteX20" fmla="*/ 439198 w 736282"/>
                <a:gd name="connsiteY20" fmla="*/ 1098614 h 1238252"/>
                <a:gd name="connsiteX21" fmla="*/ 342329 w 736282"/>
                <a:gd name="connsiteY21" fmla="*/ 1098614 h 1238252"/>
                <a:gd name="connsiteX22" fmla="*/ 332804 w 736282"/>
                <a:gd name="connsiteY22" fmla="*/ 1108139 h 1238252"/>
                <a:gd name="connsiteX23" fmla="*/ 332804 w 736282"/>
                <a:gd name="connsiteY23" fmla="*/ 1170242 h 1238252"/>
                <a:gd name="connsiteX24" fmla="*/ 342329 w 736282"/>
                <a:gd name="connsiteY24" fmla="*/ 1179767 h 1238252"/>
                <a:gd name="connsiteX25" fmla="*/ 351854 w 736282"/>
                <a:gd name="connsiteY25" fmla="*/ 1170242 h 1238252"/>
                <a:gd name="connsiteX26" fmla="*/ 351854 w 736282"/>
                <a:gd name="connsiteY26" fmla="*/ 1108139 h 1238252"/>
                <a:gd name="connsiteX27" fmla="*/ 342329 w 736282"/>
                <a:gd name="connsiteY27" fmla="*/ 1098614 h 1238252"/>
                <a:gd name="connsiteX28" fmla="*/ 245459 w 736282"/>
                <a:gd name="connsiteY28" fmla="*/ 1098614 h 1238252"/>
                <a:gd name="connsiteX29" fmla="*/ 235934 w 736282"/>
                <a:gd name="connsiteY29" fmla="*/ 1108139 h 1238252"/>
                <a:gd name="connsiteX30" fmla="*/ 235934 w 736282"/>
                <a:gd name="connsiteY30" fmla="*/ 1170242 h 1238252"/>
                <a:gd name="connsiteX31" fmla="*/ 245459 w 736282"/>
                <a:gd name="connsiteY31" fmla="*/ 1179767 h 1238252"/>
                <a:gd name="connsiteX32" fmla="*/ 254984 w 736282"/>
                <a:gd name="connsiteY32" fmla="*/ 1170242 h 1238252"/>
                <a:gd name="connsiteX33" fmla="*/ 254984 w 736282"/>
                <a:gd name="connsiteY33" fmla="*/ 1108139 h 1238252"/>
                <a:gd name="connsiteX34" fmla="*/ 245459 w 736282"/>
                <a:gd name="connsiteY34" fmla="*/ 1098614 h 1238252"/>
                <a:gd name="connsiteX35" fmla="*/ 148494 w 736282"/>
                <a:gd name="connsiteY35" fmla="*/ 1098614 h 1238252"/>
                <a:gd name="connsiteX36" fmla="*/ 138969 w 736282"/>
                <a:gd name="connsiteY36" fmla="*/ 1108139 h 1238252"/>
                <a:gd name="connsiteX37" fmla="*/ 138969 w 736282"/>
                <a:gd name="connsiteY37" fmla="*/ 1170242 h 1238252"/>
                <a:gd name="connsiteX38" fmla="*/ 148494 w 736282"/>
                <a:gd name="connsiteY38" fmla="*/ 1179767 h 1238252"/>
                <a:gd name="connsiteX39" fmla="*/ 158019 w 736282"/>
                <a:gd name="connsiteY39" fmla="*/ 1170242 h 1238252"/>
                <a:gd name="connsiteX40" fmla="*/ 158019 w 736282"/>
                <a:gd name="connsiteY40" fmla="*/ 1108139 h 1238252"/>
                <a:gd name="connsiteX41" fmla="*/ 148494 w 736282"/>
                <a:gd name="connsiteY41" fmla="*/ 1098614 h 1238252"/>
                <a:gd name="connsiteX42" fmla="*/ 45244 w 736282"/>
                <a:gd name="connsiteY42" fmla="*/ 1059182 h 1238252"/>
                <a:gd name="connsiteX43" fmla="*/ 736282 w 736282"/>
                <a:gd name="connsiteY43" fmla="*/ 1059182 h 1238252"/>
                <a:gd name="connsiteX44" fmla="*/ 736282 w 736282"/>
                <a:gd name="connsiteY44" fmla="*/ 1228727 h 1238252"/>
                <a:gd name="connsiteX45" fmla="*/ 726757 w 736282"/>
                <a:gd name="connsiteY45" fmla="*/ 1238252 h 1238252"/>
                <a:gd name="connsiteX46" fmla="*/ 54769 w 736282"/>
                <a:gd name="connsiteY46" fmla="*/ 1238252 h 1238252"/>
                <a:gd name="connsiteX47" fmla="*/ 45244 w 736282"/>
                <a:gd name="connsiteY47" fmla="*/ 1228727 h 1238252"/>
                <a:gd name="connsiteX48" fmla="*/ 147258 w 736282"/>
                <a:gd name="connsiteY48" fmla="*/ 960218 h 1238252"/>
                <a:gd name="connsiteX49" fmla="*/ 634270 w 736282"/>
                <a:gd name="connsiteY49" fmla="*/ 960218 h 1238252"/>
                <a:gd name="connsiteX50" fmla="*/ 671703 w 736282"/>
                <a:gd name="connsiteY50" fmla="*/ 1040131 h 1238252"/>
                <a:gd name="connsiteX51" fmla="*/ 109824 w 736282"/>
                <a:gd name="connsiteY51" fmla="*/ 1040131 h 1238252"/>
                <a:gd name="connsiteX52" fmla="*/ 285370 w 736282"/>
                <a:gd name="connsiteY52" fmla="*/ 245651 h 1238252"/>
                <a:gd name="connsiteX53" fmla="*/ 235077 w 736282"/>
                <a:gd name="connsiteY53" fmla="*/ 295944 h 1238252"/>
                <a:gd name="connsiteX54" fmla="*/ 285370 w 736282"/>
                <a:gd name="connsiteY54" fmla="*/ 346045 h 1238252"/>
                <a:gd name="connsiteX55" fmla="*/ 335471 w 736282"/>
                <a:gd name="connsiteY55" fmla="*/ 295944 h 1238252"/>
                <a:gd name="connsiteX56" fmla="*/ 285370 w 736282"/>
                <a:gd name="connsiteY56" fmla="*/ 245651 h 1238252"/>
                <a:gd name="connsiteX57" fmla="*/ 404146 w 736282"/>
                <a:gd name="connsiteY57" fmla="*/ 176214 h 1238252"/>
                <a:gd name="connsiteX58" fmla="*/ 393954 w 736282"/>
                <a:gd name="connsiteY58" fmla="*/ 184976 h 1238252"/>
                <a:gd name="connsiteX59" fmla="*/ 402622 w 736282"/>
                <a:gd name="connsiteY59" fmla="*/ 195264 h 1238252"/>
                <a:gd name="connsiteX60" fmla="*/ 429100 w 736282"/>
                <a:gd name="connsiteY60" fmla="*/ 197359 h 1238252"/>
                <a:gd name="connsiteX61" fmla="*/ 602456 w 736282"/>
                <a:gd name="connsiteY61" fmla="*/ 314422 h 1238252"/>
                <a:gd name="connsiteX62" fmla="*/ 627221 w 736282"/>
                <a:gd name="connsiteY62" fmla="*/ 416720 h 1238252"/>
                <a:gd name="connsiteX63" fmla="*/ 636746 w 736282"/>
                <a:gd name="connsiteY63" fmla="*/ 425959 h 1238252"/>
                <a:gd name="connsiteX64" fmla="*/ 637032 w 736282"/>
                <a:gd name="connsiteY64" fmla="*/ 425959 h 1238252"/>
                <a:gd name="connsiteX65" fmla="*/ 646271 w 736282"/>
                <a:gd name="connsiteY65" fmla="*/ 416148 h 1238252"/>
                <a:gd name="connsiteX66" fmla="*/ 619315 w 736282"/>
                <a:gd name="connsiteY66" fmla="*/ 305657 h 1238252"/>
                <a:gd name="connsiteX67" fmla="*/ 430721 w 736282"/>
                <a:gd name="connsiteY67" fmla="*/ 178404 h 1238252"/>
                <a:gd name="connsiteX68" fmla="*/ 344424 w 736282"/>
                <a:gd name="connsiteY68" fmla="*/ 955 h 1238252"/>
                <a:gd name="connsiteX69" fmla="*/ 442627 w 736282"/>
                <a:gd name="connsiteY69" fmla="*/ 116111 h 1238252"/>
                <a:gd name="connsiteX70" fmla="*/ 675418 w 736282"/>
                <a:gd name="connsiteY70" fmla="*/ 276512 h 1238252"/>
                <a:gd name="connsiteX71" fmla="*/ 709423 w 736282"/>
                <a:gd name="connsiteY71" fmla="*/ 414529 h 1238252"/>
                <a:gd name="connsiteX72" fmla="*/ 658558 w 736282"/>
                <a:gd name="connsiteY72" fmla="*/ 714853 h 1238252"/>
                <a:gd name="connsiteX73" fmla="*/ 627221 w 736282"/>
                <a:gd name="connsiteY73" fmla="*/ 941167 h 1238252"/>
                <a:gd name="connsiteX74" fmla="*/ 153733 w 736282"/>
                <a:gd name="connsiteY74" fmla="*/ 941167 h 1238252"/>
                <a:gd name="connsiteX75" fmla="*/ 215455 w 736282"/>
                <a:gd name="connsiteY75" fmla="*/ 673228 h 1238252"/>
                <a:gd name="connsiteX76" fmla="*/ 219932 w 736282"/>
                <a:gd name="connsiteY76" fmla="*/ 667419 h 1238252"/>
                <a:gd name="connsiteX77" fmla="*/ 231076 w 736282"/>
                <a:gd name="connsiteY77" fmla="*/ 652559 h 1238252"/>
                <a:gd name="connsiteX78" fmla="*/ 370332 w 736282"/>
                <a:gd name="connsiteY78" fmla="*/ 512351 h 1238252"/>
                <a:gd name="connsiteX79" fmla="*/ 224790 w 736282"/>
                <a:gd name="connsiteY79" fmla="*/ 500920 h 1238252"/>
                <a:gd name="connsiteX80" fmla="*/ 86582 w 736282"/>
                <a:gd name="connsiteY80" fmla="*/ 558737 h 1238252"/>
                <a:gd name="connsiteX81" fmla="*/ 13335 w 736282"/>
                <a:gd name="connsiteY81" fmla="*/ 507112 h 1238252"/>
                <a:gd name="connsiteX82" fmla="*/ 41147 w 736282"/>
                <a:gd name="connsiteY82" fmla="*/ 374144 h 1238252"/>
                <a:gd name="connsiteX83" fmla="*/ 42291 w 736282"/>
                <a:gd name="connsiteY83" fmla="*/ 373190 h 1238252"/>
                <a:gd name="connsiteX84" fmla="*/ 175069 w 736282"/>
                <a:gd name="connsiteY84" fmla="*/ 236031 h 1238252"/>
                <a:gd name="connsiteX85" fmla="*/ 258508 w 736282"/>
                <a:gd name="connsiteY85" fmla="*/ 156782 h 1238252"/>
                <a:gd name="connsiteX86" fmla="*/ 330423 w 736282"/>
                <a:gd name="connsiteY86" fmla="*/ 138686 h 1238252"/>
                <a:gd name="connsiteX87" fmla="*/ 330709 w 736282"/>
                <a:gd name="connsiteY87" fmla="*/ 138686 h 1238252"/>
                <a:gd name="connsiteX88" fmla="*/ 330709 w 736282"/>
                <a:gd name="connsiteY88" fmla="*/ 9526 h 1238252"/>
                <a:gd name="connsiteX89" fmla="*/ 335185 w 736282"/>
                <a:gd name="connsiteY89" fmla="*/ 1429 h 1238252"/>
                <a:gd name="connsiteX90" fmla="*/ 344424 w 736282"/>
                <a:gd name="connsiteY90" fmla="*/ 955 h 1238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</a:cxnLst>
              <a:rect l="l" t="t" r="r" b="b"/>
              <a:pathLst>
                <a:path w="736282" h="1238252">
                  <a:moveTo>
                    <a:pt x="633032" y="1098614"/>
                  </a:moveTo>
                  <a:cubicBezTo>
                    <a:pt x="627793" y="1098614"/>
                    <a:pt x="623507" y="1102902"/>
                    <a:pt x="623507" y="1108139"/>
                  </a:cubicBezTo>
                  <a:lnTo>
                    <a:pt x="623507" y="1170242"/>
                  </a:lnTo>
                  <a:cubicBezTo>
                    <a:pt x="623507" y="1175577"/>
                    <a:pt x="627793" y="1179767"/>
                    <a:pt x="633032" y="1179767"/>
                  </a:cubicBezTo>
                  <a:cubicBezTo>
                    <a:pt x="638270" y="1179767"/>
                    <a:pt x="642557" y="1175577"/>
                    <a:pt x="642557" y="1170242"/>
                  </a:cubicBezTo>
                  <a:lnTo>
                    <a:pt x="642557" y="1108139"/>
                  </a:lnTo>
                  <a:cubicBezTo>
                    <a:pt x="642557" y="1102902"/>
                    <a:pt x="638270" y="1098614"/>
                    <a:pt x="633032" y="1098614"/>
                  </a:cubicBezTo>
                  <a:close/>
                  <a:moveTo>
                    <a:pt x="536163" y="1098614"/>
                  </a:moveTo>
                  <a:cubicBezTo>
                    <a:pt x="530829" y="1098614"/>
                    <a:pt x="526638" y="1102902"/>
                    <a:pt x="526638" y="1108139"/>
                  </a:cubicBezTo>
                  <a:lnTo>
                    <a:pt x="526638" y="1170242"/>
                  </a:lnTo>
                  <a:cubicBezTo>
                    <a:pt x="526638" y="1175577"/>
                    <a:pt x="530829" y="1179767"/>
                    <a:pt x="536163" y="1179767"/>
                  </a:cubicBezTo>
                  <a:cubicBezTo>
                    <a:pt x="541401" y="1179767"/>
                    <a:pt x="545688" y="1175577"/>
                    <a:pt x="545688" y="1170242"/>
                  </a:cubicBezTo>
                  <a:lnTo>
                    <a:pt x="545688" y="1108139"/>
                  </a:lnTo>
                  <a:cubicBezTo>
                    <a:pt x="545688" y="1102902"/>
                    <a:pt x="541401" y="1098614"/>
                    <a:pt x="536163" y="1098614"/>
                  </a:cubicBezTo>
                  <a:close/>
                  <a:moveTo>
                    <a:pt x="439198" y="1098614"/>
                  </a:moveTo>
                  <a:cubicBezTo>
                    <a:pt x="433958" y="1098614"/>
                    <a:pt x="429673" y="1102902"/>
                    <a:pt x="429673" y="1108139"/>
                  </a:cubicBezTo>
                  <a:lnTo>
                    <a:pt x="429673" y="1170242"/>
                  </a:lnTo>
                  <a:cubicBezTo>
                    <a:pt x="429673" y="1175577"/>
                    <a:pt x="433958" y="1179767"/>
                    <a:pt x="439198" y="1179767"/>
                  </a:cubicBezTo>
                  <a:cubicBezTo>
                    <a:pt x="444532" y="1179767"/>
                    <a:pt x="448723" y="1175577"/>
                    <a:pt x="448723" y="1170242"/>
                  </a:cubicBezTo>
                  <a:lnTo>
                    <a:pt x="448723" y="1108139"/>
                  </a:lnTo>
                  <a:cubicBezTo>
                    <a:pt x="448723" y="1102902"/>
                    <a:pt x="444532" y="1098614"/>
                    <a:pt x="439198" y="1098614"/>
                  </a:cubicBezTo>
                  <a:close/>
                  <a:moveTo>
                    <a:pt x="342329" y="1098614"/>
                  </a:moveTo>
                  <a:cubicBezTo>
                    <a:pt x="337090" y="1098614"/>
                    <a:pt x="332804" y="1102902"/>
                    <a:pt x="332804" y="1108139"/>
                  </a:cubicBezTo>
                  <a:lnTo>
                    <a:pt x="332804" y="1170242"/>
                  </a:lnTo>
                  <a:cubicBezTo>
                    <a:pt x="332804" y="1175577"/>
                    <a:pt x="337090" y="1179767"/>
                    <a:pt x="342329" y="1179767"/>
                  </a:cubicBezTo>
                  <a:cubicBezTo>
                    <a:pt x="347567" y="1179767"/>
                    <a:pt x="351854" y="1175577"/>
                    <a:pt x="351854" y="1170242"/>
                  </a:cubicBezTo>
                  <a:lnTo>
                    <a:pt x="351854" y="1108139"/>
                  </a:lnTo>
                  <a:cubicBezTo>
                    <a:pt x="351854" y="1102902"/>
                    <a:pt x="347567" y="1098614"/>
                    <a:pt x="342329" y="1098614"/>
                  </a:cubicBezTo>
                  <a:close/>
                  <a:moveTo>
                    <a:pt x="245459" y="1098614"/>
                  </a:moveTo>
                  <a:cubicBezTo>
                    <a:pt x="240126" y="1098614"/>
                    <a:pt x="235934" y="1102902"/>
                    <a:pt x="235934" y="1108139"/>
                  </a:cubicBezTo>
                  <a:lnTo>
                    <a:pt x="235934" y="1170242"/>
                  </a:lnTo>
                  <a:cubicBezTo>
                    <a:pt x="235934" y="1175577"/>
                    <a:pt x="240126" y="1179767"/>
                    <a:pt x="245459" y="1179767"/>
                  </a:cubicBezTo>
                  <a:cubicBezTo>
                    <a:pt x="250697" y="1179767"/>
                    <a:pt x="254984" y="1175577"/>
                    <a:pt x="254984" y="1170242"/>
                  </a:cubicBezTo>
                  <a:lnTo>
                    <a:pt x="254984" y="1108139"/>
                  </a:lnTo>
                  <a:cubicBezTo>
                    <a:pt x="254984" y="1102902"/>
                    <a:pt x="250697" y="1098614"/>
                    <a:pt x="245459" y="1098614"/>
                  </a:cubicBezTo>
                  <a:close/>
                  <a:moveTo>
                    <a:pt x="148494" y="1098614"/>
                  </a:moveTo>
                  <a:cubicBezTo>
                    <a:pt x="143256" y="1098614"/>
                    <a:pt x="138969" y="1102902"/>
                    <a:pt x="138969" y="1108139"/>
                  </a:cubicBezTo>
                  <a:lnTo>
                    <a:pt x="138969" y="1170242"/>
                  </a:lnTo>
                  <a:cubicBezTo>
                    <a:pt x="138969" y="1175577"/>
                    <a:pt x="143256" y="1179767"/>
                    <a:pt x="148494" y="1179767"/>
                  </a:cubicBezTo>
                  <a:cubicBezTo>
                    <a:pt x="153829" y="1179767"/>
                    <a:pt x="158019" y="1175577"/>
                    <a:pt x="158019" y="1170242"/>
                  </a:cubicBezTo>
                  <a:lnTo>
                    <a:pt x="158019" y="1108139"/>
                  </a:lnTo>
                  <a:cubicBezTo>
                    <a:pt x="158019" y="1102902"/>
                    <a:pt x="153829" y="1098614"/>
                    <a:pt x="148494" y="1098614"/>
                  </a:cubicBezTo>
                  <a:close/>
                  <a:moveTo>
                    <a:pt x="45244" y="1059182"/>
                  </a:moveTo>
                  <a:lnTo>
                    <a:pt x="736282" y="1059182"/>
                  </a:lnTo>
                  <a:lnTo>
                    <a:pt x="736282" y="1228727"/>
                  </a:lnTo>
                  <a:cubicBezTo>
                    <a:pt x="736282" y="1233966"/>
                    <a:pt x="732091" y="1238252"/>
                    <a:pt x="726757" y="1238252"/>
                  </a:cubicBezTo>
                  <a:lnTo>
                    <a:pt x="54769" y="1238252"/>
                  </a:lnTo>
                  <a:cubicBezTo>
                    <a:pt x="49531" y="1238252"/>
                    <a:pt x="45244" y="1233966"/>
                    <a:pt x="45244" y="1228727"/>
                  </a:cubicBezTo>
                  <a:close/>
                  <a:moveTo>
                    <a:pt x="147258" y="960218"/>
                  </a:moveTo>
                  <a:lnTo>
                    <a:pt x="634270" y="960218"/>
                  </a:lnTo>
                  <a:lnTo>
                    <a:pt x="671703" y="1040131"/>
                  </a:lnTo>
                  <a:lnTo>
                    <a:pt x="109824" y="1040131"/>
                  </a:lnTo>
                  <a:close/>
                  <a:moveTo>
                    <a:pt x="285370" y="245651"/>
                  </a:moveTo>
                  <a:cubicBezTo>
                    <a:pt x="257650" y="245651"/>
                    <a:pt x="235077" y="268224"/>
                    <a:pt x="235077" y="295944"/>
                  </a:cubicBezTo>
                  <a:cubicBezTo>
                    <a:pt x="235077" y="323565"/>
                    <a:pt x="257650" y="346045"/>
                    <a:pt x="285370" y="346045"/>
                  </a:cubicBezTo>
                  <a:cubicBezTo>
                    <a:pt x="312991" y="346045"/>
                    <a:pt x="335471" y="323565"/>
                    <a:pt x="335471" y="295944"/>
                  </a:cubicBezTo>
                  <a:cubicBezTo>
                    <a:pt x="335471" y="268224"/>
                    <a:pt x="312991" y="245651"/>
                    <a:pt x="285370" y="245651"/>
                  </a:cubicBezTo>
                  <a:close/>
                  <a:moveTo>
                    <a:pt x="404146" y="176214"/>
                  </a:moveTo>
                  <a:cubicBezTo>
                    <a:pt x="398811" y="175737"/>
                    <a:pt x="394335" y="179739"/>
                    <a:pt x="393954" y="184976"/>
                  </a:cubicBezTo>
                  <a:cubicBezTo>
                    <a:pt x="393477" y="190215"/>
                    <a:pt x="397384" y="194787"/>
                    <a:pt x="402622" y="195264"/>
                  </a:cubicBezTo>
                  <a:lnTo>
                    <a:pt x="429100" y="197359"/>
                  </a:lnTo>
                  <a:cubicBezTo>
                    <a:pt x="433958" y="197836"/>
                    <a:pt x="548163" y="209742"/>
                    <a:pt x="602456" y="314422"/>
                  </a:cubicBezTo>
                  <a:cubicBezTo>
                    <a:pt x="617791" y="344138"/>
                    <a:pt x="626173" y="378525"/>
                    <a:pt x="627221" y="416720"/>
                  </a:cubicBezTo>
                  <a:cubicBezTo>
                    <a:pt x="627316" y="421864"/>
                    <a:pt x="631602" y="425959"/>
                    <a:pt x="636746" y="425959"/>
                  </a:cubicBezTo>
                  <a:lnTo>
                    <a:pt x="637032" y="425959"/>
                  </a:lnTo>
                  <a:cubicBezTo>
                    <a:pt x="642271" y="425864"/>
                    <a:pt x="646366" y="421483"/>
                    <a:pt x="646271" y="416148"/>
                  </a:cubicBezTo>
                  <a:cubicBezTo>
                    <a:pt x="645129" y="375095"/>
                    <a:pt x="636080" y="337948"/>
                    <a:pt x="619315" y="305657"/>
                  </a:cubicBezTo>
                  <a:cubicBezTo>
                    <a:pt x="560260" y="191836"/>
                    <a:pt x="436150" y="178881"/>
                    <a:pt x="430721" y="178404"/>
                  </a:cubicBezTo>
                  <a:close/>
                  <a:moveTo>
                    <a:pt x="344424" y="955"/>
                  </a:moveTo>
                  <a:cubicBezTo>
                    <a:pt x="347662" y="2573"/>
                    <a:pt x="421862" y="39720"/>
                    <a:pt x="442627" y="116111"/>
                  </a:cubicBezTo>
                  <a:cubicBezTo>
                    <a:pt x="474725" y="120399"/>
                    <a:pt x="607505" y="145544"/>
                    <a:pt x="675418" y="276512"/>
                  </a:cubicBezTo>
                  <a:cubicBezTo>
                    <a:pt x="696658" y="317375"/>
                    <a:pt x="708088" y="363760"/>
                    <a:pt x="709423" y="414529"/>
                  </a:cubicBezTo>
                  <a:cubicBezTo>
                    <a:pt x="711137" y="479870"/>
                    <a:pt x="706946" y="605885"/>
                    <a:pt x="658558" y="714853"/>
                  </a:cubicBezTo>
                  <a:cubicBezTo>
                    <a:pt x="658272" y="715804"/>
                    <a:pt x="609695" y="845059"/>
                    <a:pt x="627221" y="941167"/>
                  </a:cubicBezTo>
                  <a:lnTo>
                    <a:pt x="153733" y="941167"/>
                  </a:lnTo>
                  <a:cubicBezTo>
                    <a:pt x="145637" y="893826"/>
                    <a:pt x="136779" y="777242"/>
                    <a:pt x="215455" y="673228"/>
                  </a:cubicBezTo>
                  <a:lnTo>
                    <a:pt x="219932" y="667419"/>
                  </a:lnTo>
                  <a:cubicBezTo>
                    <a:pt x="223648" y="662561"/>
                    <a:pt x="227457" y="657608"/>
                    <a:pt x="231076" y="652559"/>
                  </a:cubicBezTo>
                  <a:cubicBezTo>
                    <a:pt x="249174" y="627317"/>
                    <a:pt x="295465" y="568834"/>
                    <a:pt x="370332" y="512351"/>
                  </a:cubicBezTo>
                  <a:cubicBezTo>
                    <a:pt x="333850" y="518160"/>
                    <a:pt x="281653" y="519970"/>
                    <a:pt x="224790" y="500920"/>
                  </a:cubicBezTo>
                  <a:cubicBezTo>
                    <a:pt x="209170" y="518542"/>
                    <a:pt x="154972" y="572264"/>
                    <a:pt x="86582" y="558737"/>
                  </a:cubicBezTo>
                  <a:cubicBezTo>
                    <a:pt x="55721" y="552547"/>
                    <a:pt x="29050" y="533783"/>
                    <a:pt x="13335" y="507112"/>
                  </a:cubicBezTo>
                  <a:cubicBezTo>
                    <a:pt x="-1048" y="482728"/>
                    <a:pt x="-16574" y="432912"/>
                    <a:pt x="41147" y="374144"/>
                  </a:cubicBezTo>
                  <a:cubicBezTo>
                    <a:pt x="41529" y="373762"/>
                    <a:pt x="41910" y="373476"/>
                    <a:pt x="42291" y="373190"/>
                  </a:cubicBezTo>
                  <a:cubicBezTo>
                    <a:pt x="43148" y="372430"/>
                    <a:pt x="134207" y="304992"/>
                    <a:pt x="175069" y="236031"/>
                  </a:cubicBezTo>
                  <a:cubicBezTo>
                    <a:pt x="195644" y="201263"/>
                    <a:pt x="224503" y="173928"/>
                    <a:pt x="258508" y="156782"/>
                  </a:cubicBezTo>
                  <a:cubicBezTo>
                    <a:pt x="282607" y="144781"/>
                    <a:pt x="306801" y="138686"/>
                    <a:pt x="330423" y="138686"/>
                  </a:cubicBezTo>
                  <a:lnTo>
                    <a:pt x="330709" y="138686"/>
                  </a:lnTo>
                  <a:lnTo>
                    <a:pt x="330709" y="9526"/>
                  </a:lnTo>
                  <a:cubicBezTo>
                    <a:pt x="330709" y="6192"/>
                    <a:pt x="332422" y="3145"/>
                    <a:pt x="335185" y="1429"/>
                  </a:cubicBezTo>
                  <a:cubicBezTo>
                    <a:pt x="337948" y="-285"/>
                    <a:pt x="341471" y="-475"/>
                    <a:pt x="344424" y="955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135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32" name="!!c1_quote"/>
          <p:cNvSpPr txBox="1"/>
          <p:nvPr/>
        </p:nvSpPr>
        <p:spPr>
          <a:xfrm>
            <a:off x="685800" y="1645919"/>
            <a:ext cx="37947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i="1">
                <a:solidFill>
                  <a:srgbClr val="2E2925"/>
                </a:solidFill>
                <a:latin typeface="Franklin Gothic Book"/>
              </a:rPr>
              <a:t>“Our targets are increasing, but we keep doing the same thing?”</a:t>
            </a:r>
          </a:p>
        </p:txBody>
      </p:sp>
      <p:sp>
        <p:nvSpPr>
          <p:cNvPr id="33" name="!!c1_how"/>
          <p:cNvSpPr txBox="1"/>
          <p:nvPr/>
        </p:nvSpPr>
        <p:spPr>
          <a:xfrm>
            <a:off x="685800" y="2880360"/>
            <a:ext cx="2011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i="0">
                <a:solidFill>
                  <a:srgbClr val="55575A"/>
                </a:solidFill>
                <a:latin typeface="Franklin Gothic Medium"/>
              </a:rPr>
              <a:t>Who we hunt</a:t>
            </a:r>
          </a:p>
        </p:txBody>
      </p:sp>
      <p:sp>
        <p:nvSpPr>
          <p:cNvPr id="34" name="!!c1_pill"/>
          <p:cNvSpPr/>
          <p:nvPr/>
        </p:nvSpPr>
        <p:spPr>
          <a:xfrm>
            <a:off x="3623401" y="2880360"/>
            <a:ext cx="857158" cy="310896"/>
          </a:xfrm>
          <a:prstGeom prst="roundRect">
            <a:avLst>
              <a:gd name="adj" fmla="val 50000"/>
            </a:avLst>
          </a:prstGeom>
          <a:solidFill>
            <a:srgbClr val="D51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1050">
                <a:solidFill>
                  <a:srgbClr val="FFFFFF"/>
                </a:solidFill>
                <a:latin typeface="Franklin Gothic Medium"/>
              </a:rPr>
              <a:t>IGNITE</a:t>
            </a:r>
          </a:p>
        </p:txBody>
      </p:sp>
      <p:sp>
        <p:nvSpPr>
          <p:cNvPr id="35" name="!!c2_bg"/>
          <p:cNvSpPr/>
          <p:nvPr/>
        </p:nvSpPr>
        <p:spPr>
          <a:xfrm>
            <a:off x="7434071" y="896112"/>
            <a:ext cx="4343400" cy="2487168"/>
          </a:xfrm>
          <a:prstGeom prst="rect">
            <a:avLst/>
          </a:prstGeom>
          <a:solidFill>
            <a:srgbClr val="F4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!!c2_band"/>
          <p:cNvSpPr/>
          <p:nvPr/>
        </p:nvSpPr>
        <p:spPr>
          <a:xfrm>
            <a:off x="7434071" y="896112"/>
            <a:ext cx="4343400" cy="530352"/>
          </a:xfrm>
          <a:prstGeom prst="rect">
            <a:avLst/>
          </a:prstGeom>
          <a:solidFill>
            <a:srgbClr val="555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!!c2_name"/>
          <p:cNvSpPr txBox="1"/>
          <p:nvPr/>
        </p:nvSpPr>
        <p:spPr>
          <a:xfrm>
            <a:off x="8394192" y="896112"/>
            <a:ext cx="32461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i="0">
                <a:solidFill>
                  <a:srgbClr val="FFFFFF"/>
                </a:solidFill>
                <a:latin typeface="Franklin Gothic Medium"/>
              </a:rPr>
              <a:t>2   Process &amp; Customer Engagement</a:t>
            </a:r>
          </a:p>
        </p:txBody>
      </p:sp>
      <p:grpSp>
        <p:nvGrpSpPr>
          <p:cNvPr id="32" name="!!c2_icon">
            <a:extLst>
              <a:ext uri="{FF2B5EF4-FFF2-40B4-BE49-F238E27FC236}">
                <a16:creationId xmlns:a16="http://schemas.microsoft.com/office/drawing/2014/main" id="{77041D4C-755A-3D94-1710-AD2EB06AA12A}"/>
              </a:ext>
            </a:extLst>
          </p:cNvPr>
          <p:cNvGrpSpPr/>
          <p:nvPr/>
        </p:nvGrpSpPr>
        <p:grpSpPr>
          <a:xfrm>
            <a:off x="7543799" y="768096"/>
            <a:ext cx="768096" cy="768096"/>
            <a:chOff x="9967415" y="5638500"/>
            <a:chExt cx="960500" cy="960500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0B46943B-8095-DFB5-802D-B1C35FD52F07}"/>
                </a:ext>
              </a:extLst>
            </p:cNvPr>
            <p:cNvSpPr/>
            <p:nvPr/>
          </p:nvSpPr>
          <p:spPr>
            <a:xfrm>
              <a:off x="9967415" y="5638500"/>
              <a:ext cx="960500" cy="960500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65000"/>
                    <a:shade val="30000"/>
                    <a:satMod val="115000"/>
                  </a:schemeClr>
                </a:gs>
                <a:gs pos="50000">
                  <a:schemeClr val="bg1">
                    <a:lumMod val="65000"/>
                    <a:shade val="67500"/>
                    <a:satMod val="115000"/>
                  </a:schemeClr>
                </a:gs>
                <a:gs pos="100000">
                  <a:schemeClr val="bg1">
                    <a:lumMod val="65000"/>
                    <a:shade val="100000"/>
                    <a:satMod val="115000"/>
                  </a:schemeClr>
                </a:gs>
              </a:gsLst>
              <a:lin ang="0" scaled="1"/>
              <a:tileRect/>
            </a:gradFill>
            <a:ln w="19050">
              <a:solidFill>
                <a:srgbClr val="B523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5AF0AA7D-B943-9379-2F28-A53E9C4EE12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159322" y="5855410"/>
              <a:ext cx="628041" cy="473182"/>
            </a:xfrm>
            <a:prstGeom prst="rect">
              <a:avLst/>
            </a:prstGeom>
          </p:spPr>
        </p:pic>
      </p:grpSp>
      <p:sp>
        <p:nvSpPr>
          <p:cNvPr id="38" name="!!c2_quote"/>
          <p:cNvSpPr txBox="1"/>
          <p:nvPr/>
        </p:nvSpPr>
        <p:spPr>
          <a:xfrm>
            <a:off x="7708392" y="1645919"/>
            <a:ext cx="37947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i="1">
                <a:solidFill>
                  <a:srgbClr val="2E2925"/>
                </a:solidFill>
                <a:latin typeface="Franklin Gothic Book"/>
              </a:rPr>
              <a:t>“Are we showing up relevant to our customers? How do we not become commoditized?”</a:t>
            </a:r>
          </a:p>
        </p:txBody>
      </p:sp>
      <p:sp>
        <p:nvSpPr>
          <p:cNvPr id="39" name="!!c2_how"/>
          <p:cNvSpPr txBox="1"/>
          <p:nvPr/>
        </p:nvSpPr>
        <p:spPr>
          <a:xfrm>
            <a:off x="7708392" y="2880360"/>
            <a:ext cx="2011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i="0">
                <a:solidFill>
                  <a:srgbClr val="55575A"/>
                </a:solidFill>
                <a:latin typeface="Franklin Gothic Medium"/>
              </a:rPr>
              <a:t>How we hunt</a:t>
            </a:r>
          </a:p>
        </p:txBody>
      </p:sp>
      <p:sp>
        <p:nvSpPr>
          <p:cNvPr id="40" name="!!c2_pill"/>
          <p:cNvSpPr/>
          <p:nvPr/>
        </p:nvSpPr>
        <p:spPr>
          <a:xfrm>
            <a:off x="9422800" y="2880360"/>
            <a:ext cx="2080351" cy="310896"/>
          </a:xfrm>
          <a:prstGeom prst="roundRect">
            <a:avLst>
              <a:gd name="adj" fmla="val 50000"/>
            </a:avLst>
          </a:prstGeom>
          <a:solidFill>
            <a:srgbClr val="D51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1050">
                <a:solidFill>
                  <a:srgbClr val="FFFFFF"/>
                </a:solidFill>
                <a:latin typeface="Franklin Gothic Medium"/>
              </a:rPr>
              <a:t>CONNECT ABM PROGRAM</a:t>
            </a:r>
          </a:p>
        </p:txBody>
      </p:sp>
      <p:sp>
        <p:nvSpPr>
          <p:cNvPr id="41" name="!!c3_bg"/>
          <p:cNvSpPr/>
          <p:nvPr/>
        </p:nvSpPr>
        <p:spPr>
          <a:xfrm>
            <a:off x="7434071" y="3675887"/>
            <a:ext cx="4343400" cy="2487168"/>
          </a:xfrm>
          <a:prstGeom prst="rect">
            <a:avLst/>
          </a:prstGeom>
          <a:solidFill>
            <a:srgbClr val="F4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!!c3_band"/>
          <p:cNvSpPr/>
          <p:nvPr/>
        </p:nvSpPr>
        <p:spPr>
          <a:xfrm>
            <a:off x="7434071" y="3675887"/>
            <a:ext cx="4343400" cy="530352"/>
          </a:xfrm>
          <a:prstGeom prst="rect">
            <a:avLst/>
          </a:prstGeom>
          <a:solidFill>
            <a:srgbClr val="B52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!!c3_name"/>
          <p:cNvSpPr txBox="1"/>
          <p:nvPr/>
        </p:nvSpPr>
        <p:spPr>
          <a:xfrm>
            <a:off x="8394192" y="3675887"/>
            <a:ext cx="32461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i="0">
                <a:solidFill>
                  <a:srgbClr val="FFFFFF"/>
                </a:solidFill>
                <a:latin typeface="Franklin Gothic Medium"/>
              </a:rPr>
              <a:t>3   Art &amp; Talent Optimization</a:t>
            </a:r>
          </a:p>
        </p:txBody>
      </p:sp>
      <p:sp>
        <p:nvSpPr>
          <p:cNvPr id="20" name="!!c3_icon">
            <a:extLst>
              <a:ext uri="{FF2B5EF4-FFF2-40B4-BE49-F238E27FC236}">
                <a16:creationId xmlns:a16="http://schemas.microsoft.com/office/drawing/2014/main" id="{1554B659-AB45-0829-BE35-18A4734CC740}"/>
              </a:ext>
            </a:extLst>
          </p:cNvPr>
          <p:cNvSpPr/>
          <p:nvPr/>
        </p:nvSpPr>
        <p:spPr>
          <a:xfrm>
            <a:off x="7543799" y="3547871"/>
            <a:ext cx="768096" cy="768096"/>
          </a:xfrm>
          <a:prstGeom prst="ellipse">
            <a:avLst/>
          </a:prstGeom>
          <a:gradFill flip="none" rotWithShape="1">
            <a:gsLst>
              <a:gs pos="0">
                <a:schemeClr val="bg1">
                  <a:lumMod val="65000"/>
                  <a:shade val="30000"/>
                  <a:satMod val="115000"/>
                </a:schemeClr>
              </a:gs>
              <a:gs pos="50000">
                <a:schemeClr val="bg1">
                  <a:lumMod val="65000"/>
                  <a:shade val="67500"/>
                  <a:satMod val="115000"/>
                </a:schemeClr>
              </a:gs>
              <a:gs pos="100000">
                <a:schemeClr val="bg1">
                  <a:lumMod val="65000"/>
                  <a:shade val="100000"/>
                  <a:satMod val="115000"/>
                </a:schemeClr>
              </a:gs>
            </a:gsLst>
            <a:lin ang="0" scaled="1"/>
            <a:tileRect/>
          </a:gradFill>
          <a:ln w="19050">
            <a:solidFill>
              <a:srgbClr val="B523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!!c3_icon2">
            <a:extLst>
              <a:ext uri="{FF2B5EF4-FFF2-40B4-BE49-F238E27FC236}">
                <a16:creationId xmlns:a16="http://schemas.microsoft.com/office/drawing/2014/main" id="{1D374ABD-935D-2940-6A79-175341756B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4353" y="3697373"/>
            <a:ext cx="486989" cy="479134"/>
          </a:xfrm>
          <a:prstGeom prst="rect">
            <a:avLst/>
          </a:prstGeom>
        </p:spPr>
      </p:pic>
      <p:sp>
        <p:nvSpPr>
          <p:cNvPr id="44" name="!!c3_quote"/>
          <p:cNvSpPr txBox="1"/>
          <p:nvPr/>
        </p:nvSpPr>
        <p:spPr>
          <a:xfrm>
            <a:off x="7708392" y="4425696"/>
            <a:ext cx="37947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i="1">
                <a:solidFill>
                  <a:srgbClr val="2E2925"/>
                </a:solidFill>
                <a:latin typeface="Franklin Gothic Book"/>
              </a:rPr>
              <a:t>“We have to develop our people. We can’t afford the cost of turnover and talent is hard to find.”</a:t>
            </a:r>
          </a:p>
        </p:txBody>
      </p:sp>
      <p:sp>
        <p:nvSpPr>
          <p:cNvPr id="45" name="!!c3_how"/>
          <p:cNvSpPr txBox="1"/>
          <p:nvPr/>
        </p:nvSpPr>
        <p:spPr>
          <a:xfrm>
            <a:off x="7708392" y="5660136"/>
            <a:ext cx="2011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i="0">
                <a:solidFill>
                  <a:srgbClr val="55575A"/>
                </a:solidFill>
                <a:latin typeface="Franklin Gothic Medium"/>
              </a:rPr>
              <a:t>How we develop</a:t>
            </a:r>
          </a:p>
        </p:txBody>
      </p:sp>
      <p:sp>
        <p:nvSpPr>
          <p:cNvPr id="46" name="!!c3_pill"/>
          <p:cNvSpPr/>
          <p:nvPr/>
        </p:nvSpPr>
        <p:spPr>
          <a:xfrm>
            <a:off x="9987351" y="5660136"/>
            <a:ext cx="1515800" cy="310896"/>
          </a:xfrm>
          <a:prstGeom prst="roundRect">
            <a:avLst>
              <a:gd name="adj" fmla="val 50000"/>
            </a:avLst>
          </a:prstGeom>
          <a:solidFill>
            <a:srgbClr val="D51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1050">
                <a:solidFill>
                  <a:srgbClr val="FFFFFF"/>
                </a:solidFill>
                <a:latin typeface="Franklin Gothic Medium"/>
              </a:rPr>
              <a:t>IGNITE TALENT</a:t>
            </a:r>
          </a:p>
        </p:txBody>
      </p:sp>
      <p:sp>
        <p:nvSpPr>
          <p:cNvPr id="47" name="!!c4_bg"/>
          <p:cNvSpPr/>
          <p:nvPr/>
        </p:nvSpPr>
        <p:spPr>
          <a:xfrm>
            <a:off x="411480" y="3675887"/>
            <a:ext cx="4343400" cy="2487168"/>
          </a:xfrm>
          <a:prstGeom prst="rect">
            <a:avLst/>
          </a:prstGeom>
          <a:solidFill>
            <a:srgbClr val="F4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!!c4_band"/>
          <p:cNvSpPr/>
          <p:nvPr/>
        </p:nvSpPr>
        <p:spPr>
          <a:xfrm>
            <a:off x="411480" y="3675887"/>
            <a:ext cx="4343400" cy="530352"/>
          </a:xfrm>
          <a:prstGeom prst="rect">
            <a:avLst/>
          </a:prstGeom>
          <a:solidFill>
            <a:srgbClr val="555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!!c4_name"/>
          <p:cNvSpPr txBox="1"/>
          <p:nvPr/>
        </p:nvSpPr>
        <p:spPr>
          <a:xfrm>
            <a:off x="1371600" y="3675887"/>
            <a:ext cx="32461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i="0">
                <a:solidFill>
                  <a:srgbClr val="FFFFFF"/>
                </a:solidFill>
                <a:latin typeface="Franklin Gothic Medium"/>
              </a:rPr>
              <a:t>4   Revenue Performance &amp; Metrics</a:t>
            </a:r>
          </a:p>
        </p:txBody>
      </p:sp>
      <p:grpSp>
        <p:nvGrpSpPr>
          <p:cNvPr id="30" name="!!c4_icon">
            <a:extLst>
              <a:ext uri="{FF2B5EF4-FFF2-40B4-BE49-F238E27FC236}">
                <a16:creationId xmlns:a16="http://schemas.microsoft.com/office/drawing/2014/main" id="{A34F56AE-6E15-CA17-553A-4BF952104907}"/>
              </a:ext>
            </a:extLst>
          </p:cNvPr>
          <p:cNvGrpSpPr/>
          <p:nvPr/>
        </p:nvGrpSpPr>
        <p:grpSpPr>
          <a:xfrm>
            <a:off x="521208" y="3547871"/>
            <a:ext cx="768096" cy="768096"/>
            <a:chOff x="1234577" y="277743"/>
            <a:chExt cx="960500" cy="960500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B9C1869-EBAB-161D-2DA4-8C653FBF65E5}"/>
                </a:ext>
              </a:extLst>
            </p:cNvPr>
            <p:cNvSpPr/>
            <p:nvPr/>
          </p:nvSpPr>
          <p:spPr>
            <a:xfrm>
              <a:off x="1234577" y="277743"/>
              <a:ext cx="960500" cy="960500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65000"/>
                    <a:shade val="30000"/>
                    <a:satMod val="115000"/>
                  </a:schemeClr>
                </a:gs>
                <a:gs pos="50000">
                  <a:schemeClr val="bg1">
                    <a:lumMod val="65000"/>
                    <a:shade val="67500"/>
                    <a:satMod val="115000"/>
                  </a:schemeClr>
                </a:gs>
                <a:gs pos="100000">
                  <a:schemeClr val="bg1">
                    <a:lumMod val="65000"/>
                    <a:shade val="100000"/>
                    <a:satMod val="115000"/>
                  </a:schemeClr>
                </a:gs>
              </a:gsLst>
              <a:lin ang="0" scaled="1"/>
              <a:tileRect/>
            </a:gradFill>
            <a:ln w="19050">
              <a:solidFill>
                <a:srgbClr val="B523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A2EA54A9-541A-CDCD-7A9C-8ABB1FBB1F5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48085" y="547117"/>
              <a:ext cx="706154" cy="380952"/>
            </a:xfrm>
            <a:prstGeom prst="rect">
              <a:avLst/>
            </a:prstGeom>
          </p:spPr>
        </p:pic>
      </p:grpSp>
      <p:sp>
        <p:nvSpPr>
          <p:cNvPr id="50" name="!!c4_quote"/>
          <p:cNvSpPr txBox="1"/>
          <p:nvPr/>
        </p:nvSpPr>
        <p:spPr>
          <a:xfrm>
            <a:off x="685800" y="4425696"/>
            <a:ext cx="37947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i="1">
                <a:solidFill>
                  <a:srgbClr val="2E2925"/>
                </a:solidFill>
                <a:latin typeface="Franklin Gothic Book"/>
              </a:rPr>
              <a:t>“We have a lot of reporting, but does it show how or if we are doing better?”</a:t>
            </a:r>
          </a:p>
        </p:txBody>
      </p:sp>
      <p:sp>
        <p:nvSpPr>
          <p:cNvPr id="51" name="!!c4_how"/>
          <p:cNvSpPr txBox="1"/>
          <p:nvPr/>
        </p:nvSpPr>
        <p:spPr>
          <a:xfrm>
            <a:off x="685800" y="5660136"/>
            <a:ext cx="2011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i="0">
                <a:solidFill>
                  <a:srgbClr val="55575A"/>
                </a:solidFill>
                <a:latin typeface="Franklin Gothic Medium"/>
              </a:rPr>
              <a:t>How we measure</a:t>
            </a:r>
          </a:p>
        </p:txBody>
      </p:sp>
      <p:sp>
        <p:nvSpPr>
          <p:cNvPr id="52" name="!!hub_ring"/>
          <p:cNvSpPr/>
          <p:nvPr/>
        </p:nvSpPr>
        <p:spPr>
          <a:xfrm>
            <a:off x="4935016" y="2148840"/>
            <a:ext cx="2322576" cy="2322576"/>
          </a:xfrm>
          <a:prstGeom prst="ellipse">
            <a:avLst/>
          </a:prstGeom>
          <a:noFill/>
          <a:ln w="28575">
            <a:solidFill>
              <a:srgbClr val="D510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!!hub"/>
          <p:cNvSpPr/>
          <p:nvPr/>
        </p:nvSpPr>
        <p:spPr>
          <a:xfrm>
            <a:off x="5044744" y="2258568"/>
            <a:ext cx="2103120" cy="2103120"/>
          </a:xfrm>
          <a:prstGeom prst="ellipse">
            <a:avLst/>
          </a:prstGeom>
          <a:solidFill>
            <a:srgbClr val="555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!!hub_t"/>
          <p:cNvSpPr txBox="1"/>
          <p:nvPr/>
        </p:nvSpPr>
        <p:spPr>
          <a:xfrm>
            <a:off x="5181904" y="2743200"/>
            <a:ext cx="1828799" cy="7315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/>
            <a:r>
              <a:rPr sz="2100" i="0">
                <a:solidFill>
                  <a:srgbClr val="FFFFFF"/>
                </a:solidFill>
                <a:latin typeface="Franklin Gothic Medium"/>
              </a:rPr>
              <a:t>Profitable</a:t>
            </a:r>
          </a:p>
          <a:p>
            <a:pPr algn="ctr"/>
            <a:r>
              <a:rPr sz="2100" i="0">
                <a:solidFill>
                  <a:srgbClr val="FFFFFF"/>
                </a:solidFill>
                <a:latin typeface="Franklin Gothic Medium"/>
              </a:rPr>
              <a:t>Growth</a:t>
            </a:r>
          </a:p>
        </p:txBody>
      </p:sp>
      <p:sp>
        <p:nvSpPr>
          <p:cNvPr id="55" name="!!hub_s"/>
          <p:cNvSpPr txBox="1"/>
          <p:nvPr/>
        </p:nvSpPr>
        <p:spPr>
          <a:xfrm>
            <a:off x="5227624" y="3511296"/>
            <a:ext cx="1737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i="0">
                <a:solidFill>
                  <a:srgbClr val="FFFFFF"/>
                </a:solidFill>
                <a:latin typeface="Franklin Gothic Book"/>
              </a:rPr>
              <a:t>Sales  ·  Marketing</a:t>
            </a:r>
          </a:p>
          <a:p>
            <a:pPr algn="ctr"/>
            <a:r>
              <a:rPr sz="1050" i="0">
                <a:solidFill>
                  <a:srgbClr val="FFFFFF"/>
                </a:solidFill>
                <a:latin typeface="Franklin Gothic Book"/>
              </a:rPr>
              <a:t>Pricing / Rev Mgmt.</a:t>
            </a:r>
          </a:p>
        </p:txBody>
      </p:sp>
      <p:sp>
        <p:nvSpPr>
          <p:cNvPr id="56" name="!!fff_rule"/>
          <p:cNvSpPr/>
          <p:nvPr/>
        </p:nvSpPr>
        <p:spPr>
          <a:xfrm>
            <a:off x="5547664" y="4690872"/>
            <a:ext cx="1097280" cy="91"/>
          </a:xfrm>
          <a:prstGeom prst="rect">
            <a:avLst/>
          </a:prstGeom>
          <a:noFill/>
          <a:ln w="9525">
            <a:solidFill>
              <a:srgbClr val="CA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!!fff0"/>
          <p:cNvSpPr txBox="1"/>
          <p:nvPr/>
        </p:nvSpPr>
        <p:spPr>
          <a:xfrm>
            <a:off x="4816144" y="4754880"/>
            <a:ext cx="25603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i="0">
                <a:solidFill>
                  <a:srgbClr val="B52372"/>
                </a:solidFill>
                <a:latin typeface="Franklin Gothic Medium"/>
              </a:rPr>
              <a:t>Focus</a:t>
            </a:r>
          </a:p>
        </p:txBody>
      </p:sp>
      <p:sp>
        <p:nvSpPr>
          <p:cNvPr id="58" name="!!fff1"/>
          <p:cNvSpPr txBox="1"/>
          <p:nvPr/>
        </p:nvSpPr>
        <p:spPr>
          <a:xfrm>
            <a:off x="4816144" y="5084064"/>
            <a:ext cx="25603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i="0">
                <a:solidFill>
                  <a:srgbClr val="55575A"/>
                </a:solidFill>
                <a:latin typeface="Franklin Gothic Book"/>
              </a:rPr>
              <a:t>Framework</a:t>
            </a:r>
          </a:p>
        </p:txBody>
      </p:sp>
      <p:sp>
        <p:nvSpPr>
          <p:cNvPr id="59" name="!!fff2"/>
          <p:cNvSpPr txBox="1"/>
          <p:nvPr/>
        </p:nvSpPr>
        <p:spPr>
          <a:xfrm>
            <a:off x="4816144" y="5413248"/>
            <a:ext cx="25603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i="0">
                <a:solidFill>
                  <a:srgbClr val="55575A"/>
                </a:solidFill>
                <a:latin typeface="Franklin Gothic Book"/>
              </a:rPr>
              <a:t>Foundation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 advTm="1300">
        <p159:morph option="byObject"/>
      </p:transition>
    </mc:Choice>
    <mc:Fallback>
      <p:transition spd="slow" advTm="1300">
        <p:fade/>
      </p:transition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 idx="4294967295"/>
          </p:nvPr>
        </p:nvSpPr>
        <p:spPr>
          <a:xfrm>
            <a:off x="0" y="230457"/>
            <a:ext cx="12192000" cy="430887"/>
          </a:xfrm>
        </p:spPr>
        <p:txBody>
          <a:bodyPr>
            <a:noAutofit/>
          </a:bodyPr>
          <a:lstStyle/>
          <a:p>
            <a:pPr algn="ctr"/>
            <a:r>
              <a:rPr lang="en-US" sz="320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</a:rPr>
              <a:t>Where You Win </a:t>
            </a:r>
            <a:r>
              <a:rPr lang="en-US" sz="3200">
                <a:solidFill>
                  <a:srgbClr val="B52372"/>
                </a:solidFill>
                <a:latin typeface="Franklin Gothic Book" panose="020B0503020102020204" pitchFamily="34" charset="0"/>
              </a:rPr>
              <a:t>| Revenue Performance &amp; Metrics</a:t>
            </a:r>
          </a:p>
        </p:txBody>
      </p:sp>
      <p:sp>
        <p:nvSpPr>
          <p:cNvPr id="3" name="!!c4_bg"/>
          <p:cNvSpPr/>
          <p:nvPr/>
        </p:nvSpPr>
        <p:spPr>
          <a:xfrm>
            <a:off x="411480" y="914400"/>
            <a:ext cx="5120640" cy="5257800"/>
          </a:xfrm>
          <a:prstGeom prst="rect">
            <a:avLst/>
          </a:prstGeom>
          <a:solidFill>
            <a:srgbClr val="F4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c4_band"/>
          <p:cNvSpPr/>
          <p:nvPr/>
        </p:nvSpPr>
        <p:spPr>
          <a:xfrm>
            <a:off x="411480" y="914400"/>
            <a:ext cx="82296" cy="5257800"/>
          </a:xfrm>
          <a:prstGeom prst="rect">
            <a:avLst/>
          </a:prstGeom>
          <a:solidFill>
            <a:srgbClr val="555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0" name="!!c4_icon">
            <a:extLst>
              <a:ext uri="{FF2B5EF4-FFF2-40B4-BE49-F238E27FC236}">
                <a16:creationId xmlns:a16="http://schemas.microsoft.com/office/drawing/2014/main" id="{A34F56AE-6E15-CA17-553A-4BF952104907}"/>
              </a:ext>
            </a:extLst>
          </p:cNvPr>
          <p:cNvGrpSpPr/>
          <p:nvPr/>
        </p:nvGrpSpPr>
        <p:grpSpPr>
          <a:xfrm>
            <a:off x="822960" y="1234440"/>
            <a:ext cx="1051560" cy="1051560"/>
            <a:chOff x="1234577" y="277743"/>
            <a:chExt cx="960500" cy="960500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B9C1869-EBAB-161D-2DA4-8C653FBF65E5}"/>
                </a:ext>
              </a:extLst>
            </p:cNvPr>
            <p:cNvSpPr/>
            <p:nvPr/>
          </p:nvSpPr>
          <p:spPr>
            <a:xfrm>
              <a:off x="1234577" y="277743"/>
              <a:ext cx="960500" cy="960500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65000"/>
                    <a:shade val="30000"/>
                    <a:satMod val="115000"/>
                  </a:schemeClr>
                </a:gs>
                <a:gs pos="50000">
                  <a:schemeClr val="bg1">
                    <a:lumMod val="65000"/>
                    <a:shade val="67500"/>
                    <a:satMod val="115000"/>
                  </a:schemeClr>
                </a:gs>
                <a:gs pos="100000">
                  <a:schemeClr val="bg1">
                    <a:lumMod val="65000"/>
                    <a:shade val="100000"/>
                    <a:satMod val="115000"/>
                  </a:schemeClr>
                </a:gs>
              </a:gsLst>
              <a:lin ang="0" scaled="1"/>
              <a:tileRect/>
            </a:gradFill>
            <a:ln w="19050">
              <a:solidFill>
                <a:srgbClr val="B523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A2EA54A9-541A-CDCD-7A9C-8ABB1FBB1F5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48085" y="547117"/>
              <a:ext cx="706154" cy="380952"/>
            </a:xfrm>
            <a:prstGeom prst="rect">
              <a:avLst/>
            </a:prstGeom>
          </p:spPr>
        </p:pic>
      </p:grpSp>
      <p:sp>
        <p:nvSpPr>
          <p:cNvPr id="31" name="!!c4_how"/>
          <p:cNvSpPr txBox="1"/>
          <p:nvPr/>
        </p:nvSpPr>
        <p:spPr>
          <a:xfrm>
            <a:off x="2057400" y="1234440"/>
            <a:ext cx="329184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i="0">
                <a:solidFill>
                  <a:srgbClr val="D51067"/>
                </a:solidFill>
                <a:latin typeface="Franklin Gothic Medium"/>
              </a:rPr>
              <a:t>How we measure</a:t>
            </a:r>
          </a:p>
        </p:txBody>
      </p:sp>
      <p:sp>
        <p:nvSpPr>
          <p:cNvPr id="32" name="!!c4_quote"/>
          <p:cNvSpPr txBox="1"/>
          <p:nvPr/>
        </p:nvSpPr>
        <p:spPr>
          <a:xfrm>
            <a:off x="822960" y="2697480"/>
            <a:ext cx="44348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i="1">
                <a:solidFill>
                  <a:srgbClr val="2E2925"/>
                </a:solidFill>
                <a:latin typeface="Franklin Gothic Book"/>
              </a:rPr>
              <a:t>“We have a lot of reporting, but does it show how or if we are doing better?”</a:t>
            </a:r>
          </a:p>
        </p:txBody>
      </p:sp>
      <p:sp>
        <p:nvSpPr>
          <p:cNvPr id="33" name="!!map0"/>
          <p:cNvSpPr/>
          <p:nvPr/>
        </p:nvSpPr>
        <p:spPr>
          <a:xfrm>
            <a:off x="4754880" y="5623560"/>
            <a:ext cx="210312" cy="210312"/>
          </a:xfrm>
          <a:prstGeom prst="rect">
            <a:avLst/>
          </a:prstGeom>
          <a:solidFill>
            <a:srgbClr val="CA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!!map1"/>
          <p:cNvSpPr/>
          <p:nvPr/>
        </p:nvSpPr>
        <p:spPr>
          <a:xfrm>
            <a:off x="5001768" y="5623560"/>
            <a:ext cx="210312" cy="210312"/>
          </a:xfrm>
          <a:prstGeom prst="rect">
            <a:avLst/>
          </a:prstGeom>
          <a:solidFill>
            <a:srgbClr val="CA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!!map2"/>
          <p:cNvSpPr/>
          <p:nvPr/>
        </p:nvSpPr>
        <p:spPr>
          <a:xfrm>
            <a:off x="5001768" y="5870448"/>
            <a:ext cx="210312" cy="210312"/>
          </a:xfrm>
          <a:prstGeom prst="rect">
            <a:avLst/>
          </a:prstGeom>
          <a:solidFill>
            <a:srgbClr val="CA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!!map3"/>
          <p:cNvSpPr/>
          <p:nvPr/>
        </p:nvSpPr>
        <p:spPr>
          <a:xfrm>
            <a:off x="4754880" y="5870448"/>
            <a:ext cx="210312" cy="210312"/>
          </a:xfrm>
          <a:prstGeom prst="rect">
            <a:avLst/>
          </a:prstGeom>
          <a:solidFill>
            <a:srgbClr val="555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!!hear_h"/>
          <p:cNvSpPr txBox="1"/>
          <p:nvPr/>
        </p:nvSpPr>
        <p:spPr>
          <a:xfrm>
            <a:off x="5989320" y="914400"/>
            <a:ext cx="576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i="0">
                <a:solidFill>
                  <a:srgbClr val="D51067"/>
                </a:solidFill>
                <a:latin typeface="Franklin Gothic Medium"/>
              </a:rPr>
              <a:t>WHAT WE HEAR</a:t>
            </a:r>
          </a:p>
        </p:txBody>
      </p:sp>
      <p:sp>
        <p:nvSpPr>
          <p:cNvPr id="38" name="!!hear_dot0"/>
          <p:cNvSpPr/>
          <p:nvPr/>
        </p:nvSpPr>
        <p:spPr>
          <a:xfrm>
            <a:off x="5989320" y="1417320"/>
            <a:ext cx="82296" cy="82296"/>
          </a:xfrm>
          <a:prstGeom prst="ellipse">
            <a:avLst/>
          </a:prstGeom>
          <a:solidFill>
            <a:srgbClr val="D51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!!hear0"/>
          <p:cNvSpPr txBox="1"/>
          <p:nvPr/>
        </p:nvSpPr>
        <p:spPr>
          <a:xfrm>
            <a:off x="6217920" y="1325880"/>
            <a:ext cx="55321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i="0">
                <a:solidFill>
                  <a:srgbClr val="2E2925"/>
                </a:solidFill>
                <a:latin typeface="Franklin Gothic Book"/>
              </a:rPr>
              <a:t>Having the right metric for the right outcome</a:t>
            </a:r>
          </a:p>
        </p:txBody>
      </p:sp>
      <p:sp>
        <p:nvSpPr>
          <p:cNvPr id="40" name="!!hear_dot1"/>
          <p:cNvSpPr/>
          <p:nvPr/>
        </p:nvSpPr>
        <p:spPr>
          <a:xfrm>
            <a:off x="5989320" y="2039112"/>
            <a:ext cx="82296" cy="82296"/>
          </a:xfrm>
          <a:prstGeom prst="ellipse">
            <a:avLst/>
          </a:prstGeom>
          <a:solidFill>
            <a:srgbClr val="D51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!!hear1"/>
          <p:cNvSpPr txBox="1"/>
          <p:nvPr/>
        </p:nvSpPr>
        <p:spPr>
          <a:xfrm>
            <a:off x="6217920" y="1947672"/>
            <a:ext cx="55321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i="0">
                <a:solidFill>
                  <a:srgbClr val="2E2925"/>
                </a:solidFill>
                <a:latin typeface="Franklin Gothic Book"/>
              </a:rPr>
              <a:t>How do we separate the performance of our people to that of the market, “wheat from the chaff”</a:t>
            </a:r>
          </a:p>
        </p:txBody>
      </p:sp>
      <p:sp>
        <p:nvSpPr>
          <p:cNvPr id="42" name="!!focus_h"/>
          <p:cNvSpPr txBox="1"/>
          <p:nvPr/>
        </p:nvSpPr>
        <p:spPr>
          <a:xfrm>
            <a:off x="5989320" y="2843784"/>
            <a:ext cx="576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i="0">
                <a:solidFill>
                  <a:srgbClr val="D51067"/>
                </a:solidFill>
                <a:latin typeface="Franklin Gothic Medium"/>
              </a:rPr>
              <a:t>WHERE WE FOCUS</a:t>
            </a:r>
          </a:p>
        </p:txBody>
      </p:sp>
      <p:sp>
        <p:nvSpPr>
          <p:cNvPr id="43" name="!!chip0"/>
          <p:cNvSpPr/>
          <p:nvPr/>
        </p:nvSpPr>
        <p:spPr>
          <a:xfrm>
            <a:off x="5989320" y="3273552"/>
            <a:ext cx="27889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A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!!chipbar0"/>
          <p:cNvSpPr/>
          <p:nvPr/>
        </p:nvSpPr>
        <p:spPr>
          <a:xfrm>
            <a:off x="5989320" y="3273552"/>
            <a:ext cx="64008" cy="658368"/>
          </a:xfrm>
          <a:prstGeom prst="rect">
            <a:avLst/>
          </a:prstGeom>
          <a:solidFill>
            <a:srgbClr val="555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!!chiptxt0"/>
          <p:cNvSpPr txBox="1"/>
          <p:nvPr/>
        </p:nvSpPr>
        <p:spPr>
          <a:xfrm>
            <a:off x="6172200" y="3273552"/>
            <a:ext cx="2514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i="0">
                <a:solidFill>
                  <a:srgbClr val="2E2925"/>
                </a:solidFill>
                <a:latin typeface="Franklin Gothic Book"/>
              </a:rPr>
              <a:t>Metric Development &amp; Benchmarking</a:t>
            </a:r>
          </a:p>
        </p:txBody>
      </p:sp>
      <p:sp>
        <p:nvSpPr>
          <p:cNvPr id="46" name="!!chip1"/>
          <p:cNvSpPr/>
          <p:nvPr/>
        </p:nvSpPr>
        <p:spPr>
          <a:xfrm>
            <a:off x="8887967" y="3273552"/>
            <a:ext cx="27889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A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!!chipbar1"/>
          <p:cNvSpPr/>
          <p:nvPr/>
        </p:nvSpPr>
        <p:spPr>
          <a:xfrm>
            <a:off x="8887967" y="3273552"/>
            <a:ext cx="64008" cy="658368"/>
          </a:xfrm>
          <a:prstGeom prst="rect">
            <a:avLst/>
          </a:prstGeom>
          <a:solidFill>
            <a:srgbClr val="555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!!chiptxt1"/>
          <p:cNvSpPr txBox="1"/>
          <p:nvPr/>
        </p:nvSpPr>
        <p:spPr>
          <a:xfrm>
            <a:off x="9070847" y="3273552"/>
            <a:ext cx="2514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i="0">
                <a:solidFill>
                  <a:srgbClr val="2E2925"/>
                </a:solidFill>
                <a:latin typeface="Franklin Gothic Book"/>
              </a:rPr>
              <a:t>Distribution Performance</a:t>
            </a:r>
          </a:p>
        </p:txBody>
      </p:sp>
      <p:sp>
        <p:nvSpPr>
          <p:cNvPr id="49" name="!!chip2"/>
          <p:cNvSpPr/>
          <p:nvPr/>
        </p:nvSpPr>
        <p:spPr>
          <a:xfrm>
            <a:off x="5989320" y="4059936"/>
            <a:ext cx="27889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A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!!chipbar2"/>
          <p:cNvSpPr/>
          <p:nvPr/>
        </p:nvSpPr>
        <p:spPr>
          <a:xfrm>
            <a:off x="5989320" y="4059936"/>
            <a:ext cx="64008" cy="658368"/>
          </a:xfrm>
          <a:prstGeom prst="rect">
            <a:avLst/>
          </a:prstGeom>
          <a:solidFill>
            <a:srgbClr val="555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!!chiptxt2"/>
          <p:cNvSpPr txBox="1"/>
          <p:nvPr/>
        </p:nvSpPr>
        <p:spPr>
          <a:xfrm>
            <a:off x="6172200" y="4059936"/>
            <a:ext cx="2514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i="0">
                <a:solidFill>
                  <a:srgbClr val="2E2925"/>
                </a:solidFill>
                <a:latin typeface="Franklin Gothic Book"/>
              </a:rPr>
              <a:t>NOI</a:t>
            </a:r>
          </a:p>
        </p:txBody>
      </p:sp>
      <p:sp>
        <p:nvSpPr>
          <p:cNvPr id="52" name="!!chip3"/>
          <p:cNvSpPr/>
          <p:nvPr/>
        </p:nvSpPr>
        <p:spPr>
          <a:xfrm>
            <a:off x="8887967" y="4059936"/>
            <a:ext cx="27889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A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!!chipbar3"/>
          <p:cNvSpPr/>
          <p:nvPr/>
        </p:nvSpPr>
        <p:spPr>
          <a:xfrm>
            <a:off x="8887967" y="4059936"/>
            <a:ext cx="64008" cy="658368"/>
          </a:xfrm>
          <a:prstGeom prst="rect">
            <a:avLst/>
          </a:prstGeom>
          <a:solidFill>
            <a:srgbClr val="555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!!chiptxt3"/>
          <p:cNvSpPr txBox="1"/>
          <p:nvPr/>
        </p:nvSpPr>
        <p:spPr>
          <a:xfrm>
            <a:off x="9070847" y="4059936"/>
            <a:ext cx="2514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i="0">
                <a:solidFill>
                  <a:srgbClr val="2E2925"/>
                </a:solidFill>
                <a:latin typeface="Franklin Gothic Book"/>
              </a:rPr>
              <a:t>ROI</a:t>
            </a:r>
          </a:p>
        </p:txBody>
      </p:sp>
      <p:sp>
        <p:nvSpPr>
          <p:cNvPr id="55" name="!!chip4"/>
          <p:cNvSpPr/>
          <p:nvPr/>
        </p:nvSpPr>
        <p:spPr>
          <a:xfrm>
            <a:off x="5989320" y="4846320"/>
            <a:ext cx="27889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A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!!chipbar4"/>
          <p:cNvSpPr/>
          <p:nvPr/>
        </p:nvSpPr>
        <p:spPr>
          <a:xfrm>
            <a:off x="5989320" y="4846320"/>
            <a:ext cx="64008" cy="658368"/>
          </a:xfrm>
          <a:prstGeom prst="rect">
            <a:avLst/>
          </a:prstGeom>
          <a:solidFill>
            <a:srgbClr val="555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!!chiptxt4"/>
          <p:cNvSpPr txBox="1"/>
          <p:nvPr/>
        </p:nvSpPr>
        <p:spPr>
          <a:xfrm>
            <a:off x="6172200" y="4846320"/>
            <a:ext cx="2514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i="0">
                <a:solidFill>
                  <a:srgbClr val="2E2925"/>
                </a:solidFill>
                <a:latin typeface="Franklin Gothic Book"/>
              </a:rPr>
              <a:t>CRM and Reporting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 advTm="4200">
        <p159:morph option="byObject"/>
      </p:transition>
    </mc:Choice>
    <mc:Fallback>
      <p:transition spd="slow" advTm="4200">
        <p:fade/>
      </p:transition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 idx="4294967295"/>
          </p:nvPr>
        </p:nvSpPr>
        <p:spPr>
          <a:xfrm>
            <a:off x="0" y="230457"/>
            <a:ext cx="12192000" cy="430887"/>
          </a:xfrm>
        </p:spPr>
        <p:txBody>
          <a:bodyPr>
            <a:noAutofit/>
          </a:bodyPr>
          <a:lstStyle/>
          <a:p>
            <a:pPr algn="ctr"/>
            <a:r>
              <a:rPr lang="en-US" sz="320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 panose="020B0503020102020204" pitchFamily="34" charset="0"/>
              </a:rPr>
              <a:t>Where You Win </a:t>
            </a:r>
            <a:r>
              <a:rPr lang="en-US" sz="3200">
                <a:solidFill>
                  <a:srgbClr val="B52372"/>
                </a:solidFill>
                <a:latin typeface="Franklin Gothic Book" panose="020B0503020102020204" pitchFamily="34" charset="0"/>
              </a:rPr>
              <a:t>| Profitable Growth</a:t>
            </a:r>
          </a:p>
        </p:txBody>
      </p:sp>
      <p:sp>
        <p:nvSpPr>
          <p:cNvPr id="3" name="!!c1_bg"/>
          <p:cNvSpPr/>
          <p:nvPr/>
        </p:nvSpPr>
        <p:spPr>
          <a:xfrm>
            <a:off x="411480" y="896112"/>
            <a:ext cx="4343400" cy="2487168"/>
          </a:xfrm>
          <a:prstGeom prst="rect">
            <a:avLst/>
          </a:prstGeom>
          <a:solidFill>
            <a:srgbClr val="F4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c1_band"/>
          <p:cNvSpPr/>
          <p:nvPr/>
        </p:nvSpPr>
        <p:spPr>
          <a:xfrm>
            <a:off x="411480" y="896112"/>
            <a:ext cx="4343400" cy="530352"/>
          </a:xfrm>
          <a:prstGeom prst="rect">
            <a:avLst/>
          </a:prstGeom>
          <a:solidFill>
            <a:srgbClr val="B52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c1_name"/>
          <p:cNvSpPr txBox="1"/>
          <p:nvPr/>
        </p:nvSpPr>
        <p:spPr>
          <a:xfrm>
            <a:off x="1371600" y="896112"/>
            <a:ext cx="32461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i="0">
                <a:solidFill>
                  <a:srgbClr val="FFFFFF"/>
                </a:solidFill>
                <a:latin typeface="Franklin Gothic Medium"/>
              </a:rPr>
              <a:t>1   Science &amp; Strategy</a:t>
            </a:r>
          </a:p>
        </p:txBody>
      </p:sp>
      <p:grpSp>
        <p:nvGrpSpPr>
          <p:cNvPr id="31" name="!!c1_icon">
            <a:extLst>
              <a:ext uri="{FF2B5EF4-FFF2-40B4-BE49-F238E27FC236}">
                <a16:creationId xmlns:a16="http://schemas.microsoft.com/office/drawing/2014/main" id="{64401AE8-1991-1341-CC55-F342691AA60D}"/>
              </a:ext>
            </a:extLst>
          </p:cNvPr>
          <p:cNvGrpSpPr/>
          <p:nvPr/>
        </p:nvGrpSpPr>
        <p:grpSpPr>
          <a:xfrm>
            <a:off x="521208" y="768096"/>
            <a:ext cx="768096" cy="779176"/>
            <a:chOff x="10023859" y="264078"/>
            <a:chExt cx="933564" cy="947032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E3F64412-42DA-A373-E8FF-487F3BC37CB3}"/>
                </a:ext>
              </a:extLst>
            </p:cNvPr>
            <p:cNvSpPr/>
            <p:nvPr/>
          </p:nvSpPr>
          <p:spPr>
            <a:xfrm>
              <a:off x="10023859" y="264078"/>
              <a:ext cx="933564" cy="947032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65000"/>
                    <a:shade val="30000"/>
                    <a:satMod val="115000"/>
                  </a:schemeClr>
                </a:gs>
                <a:gs pos="50000">
                  <a:schemeClr val="bg1">
                    <a:lumMod val="65000"/>
                    <a:shade val="67500"/>
                    <a:satMod val="115000"/>
                  </a:schemeClr>
                </a:gs>
                <a:gs pos="100000">
                  <a:schemeClr val="bg1">
                    <a:lumMod val="65000"/>
                    <a:shade val="100000"/>
                    <a:satMod val="115000"/>
                  </a:schemeClr>
                </a:gs>
              </a:gsLst>
              <a:lin ang="0" scaled="1"/>
              <a:tileRect/>
            </a:gradFill>
            <a:ln w="19050">
              <a:solidFill>
                <a:srgbClr val="B523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: Shape 25">
              <a:extLst>
                <a:ext uri="{FF2B5EF4-FFF2-40B4-BE49-F238E27FC236}">
                  <a16:creationId xmlns:a16="http://schemas.microsoft.com/office/drawing/2014/main" id="{B3723BE5-1E0C-63A4-66D5-E56AEF2E3AAB}"/>
                </a:ext>
              </a:extLst>
            </p:cNvPr>
            <p:cNvSpPr/>
            <p:nvPr/>
          </p:nvSpPr>
          <p:spPr>
            <a:xfrm>
              <a:off x="10275283" y="399791"/>
              <a:ext cx="430716" cy="675605"/>
            </a:xfrm>
            <a:custGeom>
              <a:avLst/>
              <a:gdLst>
                <a:gd name="connsiteX0" fmla="*/ 633032 w 736282"/>
                <a:gd name="connsiteY0" fmla="*/ 1098614 h 1238252"/>
                <a:gd name="connsiteX1" fmla="*/ 623507 w 736282"/>
                <a:gd name="connsiteY1" fmla="*/ 1108139 h 1238252"/>
                <a:gd name="connsiteX2" fmla="*/ 623507 w 736282"/>
                <a:gd name="connsiteY2" fmla="*/ 1170242 h 1238252"/>
                <a:gd name="connsiteX3" fmla="*/ 633032 w 736282"/>
                <a:gd name="connsiteY3" fmla="*/ 1179767 h 1238252"/>
                <a:gd name="connsiteX4" fmla="*/ 642557 w 736282"/>
                <a:gd name="connsiteY4" fmla="*/ 1170242 h 1238252"/>
                <a:gd name="connsiteX5" fmla="*/ 642557 w 736282"/>
                <a:gd name="connsiteY5" fmla="*/ 1108139 h 1238252"/>
                <a:gd name="connsiteX6" fmla="*/ 633032 w 736282"/>
                <a:gd name="connsiteY6" fmla="*/ 1098614 h 1238252"/>
                <a:gd name="connsiteX7" fmla="*/ 536163 w 736282"/>
                <a:gd name="connsiteY7" fmla="*/ 1098614 h 1238252"/>
                <a:gd name="connsiteX8" fmla="*/ 526638 w 736282"/>
                <a:gd name="connsiteY8" fmla="*/ 1108139 h 1238252"/>
                <a:gd name="connsiteX9" fmla="*/ 526638 w 736282"/>
                <a:gd name="connsiteY9" fmla="*/ 1170242 h 1238252"/>
                <a:gd name="connsiteX10" fmla="*/ 536163 w 736282"/>
                <a:gd name="connsiteY10" fmla="*/ 1179767 h 1238252"/>
                <a:gd name="connsiteX11" fmla="*/ 545688 w 736282"/>
                <a:gd name="connsiteY11" fmla="*/ 1170242 h 1238252"/>
                <a:gd name="connsiteX12" fmla="*/ 545688 w 736282"/>
                <a:gd name="connsiteY12" fmla="*/ 1108139 h 1238252"/>
                <a:gd name="connsiteX13" fmla="*/ 536163 w 736282"/>
                <a:gd name="connsiteY13" fmla="*/ 1098614 h 1238252"/>
                <a:gd name="connsiteX14" fmla="*/ 439198 w 736282"/>
                <a:gd name="connsiteY14" fmla="*/ 1098614 h 1238252"/>
                <a:gd name="connsiteX15" fmla="*/ 429673 w 736282"/>
                <a:gd name="connsiteY15" fmla="*/ 1108139 h 1238252"/>
                <a:gd name="connsiteX16" fmla="*/ 429673 w 736282"/>
                <a:gd name="connsiteY16" fmla="*/ 1170242 h 1238252"/>
                <a:gd name="connsiteX17" fmla="*/ 439198 w 736282"/>
                <a:gd name="connsiteY17" fmla="*/ 1179767 h 1238252"/>
                <a:gd name="connsiteX18" fmla="*/ 448723 w 736282"/>
                <a:gd name="connsiteY18" fmla="*/ 1170242 h 1238252"/>
                <a:gd name="connsiteX19" fmla="*/ 448723 w 736282"/>
                <a:gd name="connsiteY19" fmla="*/ 1108139 h 1238252"/>
                <a:gd name="connsiteX20" fmla="*/ 439198 w 736282"/>
                <a:gd name="connsiteY20" fmla="*/ 1098614 h 1238252"/>
                <a:gd name="connsiteX21" fmla="*/ 342329 w 736282"/>
                <a:gd name="connsiteY21" fmla="*/ 1098614 h 1238252"/>
                <a:gd name="connsiteX22" fmla="*/ 332804 w 736282"/>
                <a:gd name="connsiteY22" fmla="*/ 1108139 h 1238252"/>
                <a:gd name="connsiteX23" fmla="*/ 332804 w 736282"/>
                <a:gd name="connsiteY23" fmla="*/ 1170242 h 1238252"/>
                <a:gd name="connsiteX24" fmla="*/ 342329 w 736282"/>
                <a:gd name="connsiteY24" fmla="*/ 1179767 h 1238252"/>
                <a:gd name="connsiteX25" fmla="*/ 351854 w 736282"/>
                <a:gd name="connsiteY25" fmla="*/ 1170242 h 1238252"/>
                <a:gd name="connsiteX26" fmla="*/ 351854 w 736282"/>
                <a:gd name="connsiteY26" fmla="*/ 1108139 h 1238252"/>
                <a:gd name="connsiteX27" fmla="*/ 342329 w 736282"/>
                <a:gd name="connsiteY27" fmla="*/ 1098614 h 1238252"/>
                <a:gd name="connsiteX28" fmla="*/ 245459 w 736282"/>
                <a:gd name="connsiteY28" fmla="*/ 1098614 h 1238252"/>
                <a:gd name="connsiteX29" fmla="*/ 235934 w 736282"/>
                <a:gd name="connsiteY29" fmla="*/ 1108139 h 1238252"/>
                <a:gd name="connsiteX30" fmla="*/ 235934 w 736282"/>
                <a:gd name="connsiteY30" fmla="*/ 1170242 h 1238252"/>
                <a:gd name="connsiteX31" fmla="*/ 245459 w 736282"/>
                <a:gd name="connsiteY31" fmla="*/ 1179767 h 1238252"/>
                <a:gd name="connsiteX32" fmla="*/ 254984 w 736282"/>
                <a:gd name="connsiteY32" fmla="*/ 1170242 h 1238252"/>
                <a:gd name="connsiteX33" fmla="*/ 254984 w 736282"/>
                <a:gd name="connsiteY33" fmla="*/ 1108139 h 1238252"/>
                <a:gd name="connsiteX34" fmla="*/ 245459 w 736282"/>
                <a:gd name="connsiteY34" fmla="*/ 1098614 h 1238252"/>
                <a:gd name="connsiteX35" fmla="*/ 148494 w 736282"/>
                <a:gd name="connsiteY35" fmla="*/ 1098614 h 1238252"/>
                <a:gd name="connsiteX36" fmla="*/ 138969 w 736282"/>
                <a:gd name="connsiteY36" fmla="*/ 1108139 h 1238252"/>
                <a:gd name="connsiteX37" fmla="*/ 138969 w 736282"/>
                <a:gd name="connsiteY37" fmla="*/ 1170242 h 1238252"/>
                <a:gd name="connsiteX38" fmla="*/ 148494 w 736282"/>
                <a:gd name="connsiteY38" fmla="*/ 1179767 h 1238252"/>
                <a:gd name="connsiteX39" fmla="*/ 158019 w 736282"/>
                <a:gd name="connsiteY39" fmla="*/ 1170242 h 1238252"/>
                <a:gd name="connsiteX40" fmla="*/ 158019 w 736282"/>
                <a:gd name="connsiteY40" fmla="*/ 1108139 h 1238252"/>
                <a:gd name="connsiteX41" fmla="*/ 148494 w 736282"/>
                <a:gd name="connsiteY41" fmla="*/ 1098614 h 1238252"/>
                <a:gd name="connsiteX42" fmla="*/ 45244 w 736282"/>
                <a:gd name="connsiteY42" fmla="*/ 1059182 h 1238252"/>
                <a:gd name="connsiteX43" fmla="*/ 736282 w 736282"/>
                <a:gd name="connsiteY43" fmla="*/ 1059182 h 1238252"/>
                <a:gd name="connsiteX44" fmla="*/ 736282 w 736282"/>
                <a:gd name="connsiteY44" fmla="*/ 1228727 h 1238252"/>
                <a:gd name="connsiteX45" fmla="*/ 726757 w 736282"/>
                <a:gd name="connsiteY45" fmla="*/ 1238252 h 1238252"/>
                <a:gd name="connsiteX46" fmla="*/ 54769 w 736282"/>
                <a:gd name="connsiteY46" fmla="*/ 1238252 h 1238252"/>
                <a:gd name="connsiteX47" fmla="*/ 45244 w 736282"/>
                <a:gd name="connsiteY47" fmla="*/ 1228727 h 1238252"/>
                <a:gd name="connsiteX48" fmla="*/ 147258 w 736282"/>
                <a:gd name="connsiteY48" fmla="*/ 960218 h 1238252"/>
                <a:gd name="connsiteX49" fmla="*/ 634270 w 736282"/>
                <a:gd name="connsiteY49" fmla="*/ 960218 h 1238252"/>
                <a:gd name="connsiteX50" fmla="*/ 671703 w 736282"/>
                <a:gd name="connsiteY50" fmla="*/ 1040131 h 1238252"/>
                <a:gd name="connsiteX51" fmla="*/ 109824 w 736282"/>
                <a:gd name="connsiteY51" fmla="*/ 1040131 h 1238252"/>
                <a:gd name="connsiteX52" fmla="*/ 285370 w 736282"/>
                <a:gd name="connsiteY52" fmla="*/ 245651 h 1238252"/>
                <a:gd name="connsiteX53" fmla="*/ 235077 w 736282"/>
                <a:gd name="connsiteY53" fmla="*/ 295944 h 1238252"/>
                <a:gd name="connsiteX54" fmla="*/ 285370 w 736282"/>
                <a:gd name="connsiteY54" fmla="*/ 346045 h 1238252"/>
                <a:gd name="connsiteX55" fmla="*/ 335471 w 736282"/>
                <a:gd name="connsiteY55" fmla="*/ 295944 h 1238252"/>
                <a:gd name="connsiteX56" fmla="*/ 285370 w 736282"/>
                <a:gd name="connsiteY56" fmla="*/ 245651 h 1238252"/>
                <a:gd name="connsiteX57" fmla="*/ 404146 w 736282"/>
                <a:gd name="connsiteY57" fmla="*/ 176214 h 1238252"/>
                <a:gd name="connsiteX58" fmla="*/ 393954 w 736282"/>
                <a:gd name="connsiteY58" fmla="*/ 184976 h 1238252"/>
                <a:gd name="connsiteX59" fmla="*/ 402622 w 736282"/>
                <a:gd name="connsiteY59" fmla="*/ 195264 h 1238252"/>
                <a:gd name="connsiteX60" fmla="*/ 429100 w 736282"/>
                <a:gd name="connsiteY60" fmla="*/ 197359 h 1238252"/>
                <a:gd name="connsiteX61" fmla="*/ 602456 w 736282"/>
                <a:gd name="connsiteY61" fmla="*/ 314422 h 1238252"/>
                <a:gd name="connsiteX62" fmla="*/ 627221 w 736282"/>
                <a:gd name="connsiteY62" fmla="*/ 416720 h 1238252"/>
                <a:gd name="connsiteX63" fmla="*/ 636746 w 736282"/>
                <a:gd name="connsiteY63" fmla="*/ 425959 h 1238252"/>
                <a:gd name="connsiteX64" fmla="*/ 637032 w 736282"/>
                <a:gd name="connsiteY64" fmla="*/ 425959 h 1238252"/>
                <a:gd name="connsiteX65" fmla="*/ 646271 w 736282"/>
                <a:gd name="connsiteY65" fmla="*/ 416148 h 1238252"/>
                <a:gd name="connsiteX66" fmla="*/ 619315 w 736282"/>
                <a:gd name="connsiteY66" fmla="*/ 305657 h 1238252"/>
                <a:gd name="connsiteX67" fmla="*/ 430721 w 736282"/>
                <a:gd name="connsiteY67" fmla="*/ 178404 h 1238252"/>
                <a:gd name="connsiteX68" fmla="*/ 344424 w 736282"/>
                <a:gd name="connsiteY68" fmla="*/ 955 h 1238252"/>
                <a:gd name="connsiteX69" fmla="*/ 442627 w 736282"/>
                <a:gd name="connsiteY69" fmla="*/ 116111 h 1238252"/>
                <a:gd name="connsiteX70" fmla="*/ 675418 w 736282"/>
                <a:gd name="connsiteY70" fmla="*/ 276512 h 1238252"/>
                <a:gd name="connsiteX71" fmla="*/ 709423 w 736282"/>
                <a:gd name="connsiteY71" fmla="*/ 414529 h 1238252"/>
                <a:gd name="connsiteX72" fmla="*/ 658558 w 736282"/>
                <a:gd name="connsiteY72" fmla="*/ 714853 h 1238252"/>
                <a:gd name="connsiteX73" fmla="*/ 627221 w 736282"/>
                <a:gd name="connsiteY73" fmla="*/ 941167 h 1238252"/>
                <a:gd name="connsiteX74" fmla="*/ 153733 w 736282"/>
                <a:gd name="connsiteY74" fmla="*/ 941167 h 1238252"/>
                <a:gd name="connsiteX75" fmla="*/ 215455 w 736282"/>
                <a:gd name="connsiteY75" fmla="*/ 673228 h 1238252"/>
                <a:gd name="connsiteX76" fmla="*/ 219932 w 736282"/>
                <a:gd name="connsiteY76" fmla="*/ 667419 h 1238252"/>
                <a:gd name="connsiteX77" fmla="*/ 231076 w 736282"/>
                <a:gd name="connsiteY77" fmla="*/ 652559 h 1238252"/>
                <a:gd name="connsiteX78" fmla="*/ 370332 w 736282"/>
                <a:gd name="connsiteY78" fmla="*/ 512351 h 1238252"/>
                <a:gd name="connsiteX79" fmla="*/ 224790 w 736282"/>
                <a:gd name="connsiteY79" fmla="*/ 500920 h 1238252"/>
                <a:gd name="connsiteX80" fmla="*/ 86582 w 736282"/>
                <a:gd name="connsiteY80" fmla="*/ 558737 h 1238252"/>
                <a:gd name="connsiteX81" fmla="*/ 13335 w 736282"/>
                <a:gd name="connsiteY81" fmla="*/ 507112 h 1238252"/>
                <a:gd name="connsiteX82" fmla="*/ 41147 w 736282"/>
                <a:gd name="connsiteY82" fmla="*/ 374144 h 1238252"/>
                <a:gd name="connsiteX83" fmla="*/ 42291 w 736282"/>
                <a:gd name="connsiteY83" fmla="*/ 373190 h 1238252"/>
                <a:gd name="connsiteX84" fmla="*/ 175069 w 736282"/>
                <a:gd name="connsiteY84" fmla="*/ 236031 h 1238252"/>
                <a:gd name="connsiteX85" fmla="*/ 258508 w 736282"/>
                <a:gd name="connsiteY85" fmla="*/ 156782 h 1238252"/>
                <a:gd name="connsiteX86" fmla="*/ 330423 w 736282"/>
                <a:gd name="connsiteY86" fmla="*/ 138686 h 1238252"/>
                <a:gd name="connsiteX87" fmla="*/ 330709 w 736282"/>
                <a:gd name="connsiteY87" fmla="*/ 138686 h 1238252"/>
                <a:gd name="connsiteX88" fmla="*/ 330709 w 736282"/>
                <a:gd name="connsiteY88" fmla="*/ 9526 h 1238252"/>
                <a:gd name="connsiteX89" fmla="*/ 335185 w 736282"/>
                <a:gd name="connsiteY89" fmla="*/ 1429 h 1238252"/>
                <a:gd name="connsiteX90" fmla="*/ 344424 w 736282"/>
                <a:gd name="connsiteY90" fmla="*/ 955 h 1238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</a:cxnLst>
              <a:rect l="l" t="t" r="r" b="b"/>
              <a:pathLst>
                <a:path w="736282" h="1238252">
                  <a:moveTo>
                    <a:pt x="633032" y="1098614"/>
                  </a:moveTo>
                  <a:cubicBezTo>
                    <a:pt x="627793" y="1098614"/>
                    <a:pt x="623507" y="1102902"/>
                    <a:pt x="623507" y="1108139"/>
                  </a:cubicBezTo>
                  <a:lnTo>
                    <a:pt x="623507" y="1170242"/>
                  </a:lnTo>
                  <a:cubicBezTo>
                    <a:pt x="623507" y="1175577"/>
                    <a:pt x="627793" y="1179767"/>
                    <a:pt x="633032" y="1179767"/>
                  </a:cubicBezTo>
                  <a:cubicBezTo>
                    <a:pt x="638270" y="1179767"/>
                    <a:pt x="642557" y="1175577"/>
                    <a:pt x="642557" y="1170242"/>
                  </a:cubicBezTo>
                  <a:lnTo>
                    <a:pt x="642557" y="1108139"/>
                  </a:lnTo>
                  <a:cubicBezTo>
                    <a:pt x="642557" y="1102902"/>
                    <a:pt x="638270" y="1098614"/>
                    <a:pt x="633032" y="1098614"/>
                  </a:cubicBezTo>
                  <a:close/>
                  <a:moveTo>
                    <a:pt x="536163" y="1098614"/>
                  </a:moveTo>
                  <a:cubicBezTo>
                    <a:pt x="530829" y="1098614"/>
                    <a:pt x="526638" y="1102902"/>
                    <a:pt x="526638" y="1108139"/>
                  </a:cubicBezTo>
                  <a:lnTo>
                    <a:pt x="526638" y="1170242"/>
                  </a:lnTo>
                  <a:cubicBezTo>
                    <a:pt x="526638" y="1175577"/>
                    <a:pt x="530829" y="1179767"/>
                    <a:pt x="536163" y="1179767"/>
                  </a:cubicBezTo>
                  <a:cubicBezTo>
                    <a:pt x="541401" y="1179767"/>
                    <a:pt x="545688" y="1175577"/>
                    <a:pt x="545688" y="1170242"/>
                  </a:cubicBezTo>
                  <a:lnTo>
                    <a:pt x="545688" y="1108139"/>
                  </a:lnTo>
                  <a:cubicBezTo>
                    <a:pt x="545688" y="1102902"/>
                    <a:pt x="541401" y="1098614"/>
                    <a:pt x="536163" y="1098614"/>
                  </a:cubicBezTo>
                  <a:close/>
                  <a:moveTo>
                    <a:pt x="439198" y="1098614"/>
                  </a:moveTo>
                  <a:cubicBezTo>
                    <a:pt x="433958" y="1098614"/>
                    <a:pt x="429673" y="1102902"/>
                    <a:pt x="429673" y="1108139"/>
                  </a:cubicBezTo>
                  <a:lnTo>
                    <a:pt x="429673" y="1170242"/>
                  </a:lnTo>
                  <a:cubicBezTo>
                    <a:pt x="429673" y="1175577"/>
                    <a:pt x="433958" y="1179767"/>
                    <a:pt x="439198" y="1179767"/>
                  </a:cubicBezTo>
                  <a:cubicBezTo>
                    <a:pt x="444532" y="1179767"/>
                    <a:pt x="448723" y="1175577"/>
                    <a:pt x="448723" y="1170242"/>
                  </a:cubicBezTo>
                  <a:lnTo>
                    <a:pt x="448723" y="1108139"/>
                  </a:lnTo>
                  <a:cubicBezTo>
                    <a:pt x="448723" y="1102902"/>
                    <a:pt x="444532" y="1098614"/>
                    <a:pt x="439198" y="1098614"/>
                  </a:cubicBezTo>
                  <a:close/>
                  <a:moveTo>
                    <a:pt x="342329" y="1098614"/>
                  </a:moveTo>
                  <a:cubicBezTo>
                    <a:pt x="337090" y="1098614"/>
                    <a:pt x="332804" y="1102902"/>
                    <a:pt x="332804" y="1108139"/>
                  </a:cubicBezTo>
                  <a:lnTo>
                    <a:pt x="332804" y="1170242"/>
                  </a:lnTo>
                  <a:cubicBezTo>
                    <a:pt x="332804" y="1175577"/>
                    <a:pt x="337090" y="1179767"/>
                    <a:pt x="342329" y="1179767"/>
                  </a:cubicBezTo>
                  <a:cubicBezTo>
                    <a:pt x="347567" y="1179767"/>
                    <a:pt x="351854" y="1175577"/>
                    <a:pt x="351854" y="1170242"/>
                  </a:cubicBezTo>
                  <a:lnTo>
                    <a:pt x="351854" y="1108139"/>
                  </a:lnTo>
                  <a:cubicBezTo>
                    <a:pt x="351854" y="1102902"/>
                    <a:pt x="347567" y="1098614"/>
                    <a:pt x="342329" y="1098614"/>
                  </a:cubicBezTo>
                  <a:close/>
                  <a:moveTo>
                    <a:pt x="245459" y="1098614"/>
                  </a:moveTo>
                  <a:cubicBezTo>
                    <a:pt x="240126" y="1098614"/>
                    <a:pt x="235934" y="1102902"/>
                    <a:pt x="235934" y="1108139"/>
                  </a:cubicBezTo>
                  <a:lnTo>
                    <a:pt x="235934" y="1170242"/>
                  </a:lnTo>
                  <a:cubicBezTo>
                    <a:pt x="235934" y="1175577"/>
                    <a:pt x="240126" y="1179767"/>
                    <a:pt x="245459" y="1179767"/>
                  </a:cubicBezTo>
                  <a:cubicBezTo>
                    <a:pt x="250697" y="1179767"/>
                    <a:pt x="254984" y="1175577"/>
                    <a:pt x="254984" y="1170242"/>
                  </a:cubicBezTo>
                  <a:lnTo>
                    <a:pt x="254984" y="1108139"/>
                  </a:lnTo>
                  <a:cubicBezTo>
                    <a:pt x="254984" y="1102902"/>
                    <a:pt x="250697" y="1098614"/>
                    <a:pt x="245459" y="1098614"/>
                  </a:cubicBezTo>
                  <a:close/>
                  <a:moveTo>
                    <a:pt x="148494" y="1098614"/>
                  </a:moveTo>
                  <a:cubicBezTo>
                    <a:pt x="143256" y="1098614"/>
                    <a:pt x="138969" y="1102902"/>
                    <a:pt x="138969" y="1108139"/>
                  </a:cubicBezTo>
                  <a:lnTo>
                    <a:pt x="138969" y="1170242"/>
                  </a:lnTo>
                  <a:cubicBezTo>
                    <a:pt x="138969" y="1175577"/>
                    <a:pt x="143256" y="1179767"/>
                    <a:pt x="148494" y="1179767"/>
                  </a:cubicBezTo>
                  <a:cubicBezTo>
                    <a:pt x="153829" y="1179767"/>
                    <a:pt x="158019" y="1175577"/>
                    <a:pt x="158019" y="1170242"/>
                  </a:cubicBezTo>
                  <a:lnTo>
                    <a:pt x="158019" y="1108139"/>
                  </a:lnTo>
                  <a:cubicBezTo>
                    <a:pt x="158019" y="1102902"/>
                    <a:pt x="153829" y="1098614"/>
                    <a:pt x="148494" y="1098614"/>
                  </a:cubicBezTo>
                  <a:close/>
                  <a:moveTo>
                    <a:pt x="45244" y="1059182"/>
                  </a:moveTo>
                  <a:lnTo>
                    <a:pt x="736282" y="1059182"/>
                  </a:lnTo>
                  <a:lnTo>
                    <a:pt x="736282" y="1228727"/>
                  </a:lnTo>
                  <a:cubicBezTo>
                    <a:pt x="736282" y="1233966"/>
                    <a:pt x="732091" y="1238252"/>
                    <a:pt x="726757" y="1238252"/>
                  </a:cubicBezTo>
                  <a:lnTo>
                    <a:pt x="54769" y="1238252"/>
                  </a:lnTo>
                  <a:cubicBezTo>
                    <a:pt x="49531" y="1238252"/>
                    <a:pt x="45244" y="1233966"/>
                    <a:pt x="45244" y="1228727"/>
                  </a:cubicBezTo>
                  <a:close/>
                  <a:moveTo>
                    <a:pt x="147258" y="960218"/>
                  </a:moveTo>
                  <a:lnTo>
                    <a:pt x="634270" y="960218"/>
                  </a:lnTo>
                  <a:lnTo>
                    <a:pt x="671703" y="1040131"/>
                  </a:lnTo>
                  <a:lnTo>
                    <a:pt x="109824" y="1040131"/>
                  </a:lnTo>
                  <a:close/>
                  <a:moveTo>
                    <a:pt x="285370" y="245651"/>
                  </a:moveTo>
                  <a:cubicBezTo>
                    <a:pt x="257650" y="245651"/>
                    <a:pt x="235077" y="268224"/>
                    <a:pt x="235077" y="295944"/>
                  </a:cubicBezTo>
                  <a:cubicBezTo>
                    <a:pt x="235077" y="323565"/>
                    <a:pt x="257650" y="346045"/>
                    <a:pt x="285370" y="346045"/>
                  </a:cubicBezTo>
                  <a:cubicBezTo>
                    <a:pt x="312991" y="346045"/>
                    <a:pt x="335471" y="323565"/>
                    <a:pt x="335471" y="295944"/>
                  </a:cubicBezTo>
                  <a:cubicBezTo>
                    <a:pt x="335471" y="268224"/>
                    <a:pt x="312991" y="245651"/>
                    <a:pt x="285370" y="245651"/>
                  </a:cubicBezTo>
                  <a:close/>
                  <a:moveTo>
                    <a:pt x="404146" y="176214"/>
                  </a:moveTo>
                  <a:cubicBezTo>
                    <a:pt x="398811" y="175737"/>
                    <a:pt x="394335" y="179739"/>
                    <a:pt x="393954" y="184976"/>
                  </a:cubicBezTo>
                  <a:cubicBezTo>
                    <a:pt x="393477" y="190215"/>
                    <a:pt x="397384" y="194787"/>
                    <a:pt x="402622" y="195264"/>
                  </a:cubicBezTo>
                  <a:lnTo>
                    <a:pt x="429100" y="197359"/>
                  </a:lnTo>
                  <a:cubicBezTo>
                    <a:pt x="433958" y="197836"/>
                    <a:pt x="548163" y="209742"/>
                    <a:pt x="602456" y="314422"/>
                  </a:cubicBezTo>
                  <a:cubicBezTo>
                    <a:pt x="617791" y="344138"/>
                    <a:pt x="626173" y="378525"/>
                    <a:pt x="627221" y="416720"/>
                  </a:cubicBezTo>
                  <a:cubicBezTo>
                    <a:pt x="627316" y="421864"/>
                    <a:pt x="631602" y="425959"/>
                    <a:pt x="636746" y="425959"/>
                  </a:cubicBezTo>
                  <a:lnTo>
                    <a:pt x="637032" y="425959"/>
                  </a:lnTo>
                  <a:cubicBezTo>
                    <a:pt x="642271" y="425864"/>
                    <a:pt x="646366" y="421483"/>
                    <a:pt x="646271" y="416148"/>
                  </a:cubicBezTo>
                  <a:cubicBezTo>
                    <a:pt x="645129" y="375095"/>
                    <a:pt x="636080" y="337948"/>
                    <a:pt x="619315" y="305657"/>
                  </a:cubicBezTo>
                  <a:cubicBezTo>
                    <a:pt x="560260" y="191836"/>
                    <a:pt x="436150" y="178881"/>
                    <a:pt x="430721" y="178404"/>
                  </a:cubicBezTo>
                  <a:close/>
                  <a:moveTo>
                    <a:pt x="344424" y="955"/>
                  </a:moveTo>
                  <a:cubicBezTo>
                    <a:pt x="347662" y="2573"/>
                    <a:pt x="421862" y="39720"/>
                    <a:pt x="442627" y="116111"/>
                  </a:cubicBezTo>
                  <a:cubicBezTo>
                    <a:pt x="474725" y="120399"/>
                    <a:pt x="607505" y="145544"/>
                    <a:pt x="675418" y="276512"/>
                  </a:cubicBezTo>
                  <a:cubicBezTo>
                    <a:pt x="696658" y="317375"/>
                    <a:pt x="708088" y="363760"/>
                    <a:pt x="709423" y="414529"/>
                  </a:cubicBezTo>
                  <a:cubicBezTo>
                    <a:pt x="711137" y="479870"/>
                    <a:pt x="706946" y="605885"/>
                    <a:pt x="658558" y="714853"/>
                  </a:cubicBezTo>
                  <a:cubicBezTo>
                    <a:pt x="658272" y="715804"/>
                    <a:pt x="609695" y="845059"/>
                    <a:pt x="627221" y="941167"/>
                  </a:cubicBezTo>
                  <a:lnTo>
                    <a:pt x="153733" y="941167"/>
                  </a:lnTo>
                  <a:cubicBezTo>
                    <a:pt x="145637" y="893826"/>
                    <a:pt x="136779" y="777242"/>
                    <a:pt x="215455" y="673228"/>
                  </a:cubicBezTo>
                  <a:lnTo>
                    <a:pt x="219932" y="667419"/>
                  </a:lnTo>
                  <a:cubicBezTo>
                    <a:pt x="223648" y="662561"/>
                    <a:pt x="227457" y="657608"/>
                    <a:pt x="231076" y="652559"/>
                  </a:cubicBezTo>
                  <a:cubicBezTo>
                    <a:pt x="249174" y="627317"/>
                    <a:pt x="295465" y="568834"/>
                    <a:pt x="370332" y="512351"/>
                  </a:cubicBezTo>
                  <a:cubicBezTo>
                    <a:pt x="333850" y="518160"/>
                    <a:pt x="281653" y="519970"/>
                    <a:pt x="224790" y="500920"/>
                  </a:cubicBezTo>
                  <a:cubicBezTo>
                    <a:pt x="209170" y="518542"/>
                    <a:pt x="154972" y="572264"/>
                    <a:pt x="86582" y="558737"/>
                  </a:cubicBezTo>
                  <a:cubicBezTo>
                    <a:pt x="55721" y="552547"/>
                    <a:pt x="29050" y="533783"/>
                    <a:pt x="13335" y="507112"/>
                  </a:cubicBezTo>
                  <a:cubicBezTo>
                    <a:pt x="-1048" y="482728"/>
                    <a:pt x="-16574" y="432912"/>
                    <a:pt x="41147" y="374144"/>
                  </a:cubicBezTo>
                  <a:cubicBezTo>
                    <a:pt x="41529" y="373762"/>
                    <a:pt x="41910" y="373476"/>
                    <a:pt x="42291" y="373190"/>
                  </a:cubicBezTo>
                  <a:cubicBezTo>
                    <a:pt x="43148" y="372430"/>
                    <a:pt x="134207" y="304992"/>
                    <a:pt x="175069" y="236031"/>
                  </a:cubicBezTo>
                  <a:cubicBezTo>
                    <a:pt x="195644" y="201263"/>
                    <a:pt x="224503" y="173928"/>
                    <a:pt x="258508" y="156782"/>
                  </a:cubicBezTo>
                  <a:cubicBezTo>
                    <a:pt x="282607" y="144781"/>
                    <a:pt x="306801" y="138686"/>
                    <a:pt x="330423" y="138686"/>
                  </a:cubicBezTo>
                  <a:lnTo>
                    <a:pt x="330709" y="138686"/>
                  </a:lnTo>
                  <a:lnTo>
                    <a:pt x="330709" y="9526"/>
                  </a:lnTo>
                  <a:cubicBezTo>
                    <a:pt x="330709" y="6192"/>
                    <a:pt x="332422" y="3145"/>
                    <a:pt x="335185" y="1429"/>
                  </a:cubicBezTo>
                  <a:cubicBezTo>
                    <a:pt x="337948" y="-285"/>
                    <a:pt x="341471" y="-475"/>
                    <a:pt x="344424" y="955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135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32" name="!!c1_quote"/>
          <p:cNvSpPr txBox="1"/>
          <p:nvPr/>
        </p:nvSpPr>
        <p:spPr>
          <a:xfrm>
            <a:off x="685800" y="1645919"/>
            <a:ext cx="37947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i="1">
                <a:solidFill>
                  <a:srgbClr val="2E2925"/>
                </a:solidFill>
                <a:latin typeface="Franklin Gothic Book"/>
              </a:rPr>
              <a:t>“Our targets are increasing, but we keep doing the same thing?”</a:t>
            </a:r>
          </a:p>
        </p:txBody>
      </p:sp>
      <p:sp>
        <p:nvSpPr>
          <p:cNvPr id="33" name="!!c1_how"/>
          <p:cNvSpPr txBox="1"/>
          <p:nvPr/>
        </p:nvSpPr>
        <p:spPr>
          <a:xfrm>
            <a:off x="685800" y="2880360"/>
            <a:ext cx="2011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i="0">
                <a:solidFill>
                  <a:srgbClr val="55575A"/>
                </a:solidFill>
                <a:latin typeface="Franklin Gothic Medium"/>
              </a:rPr>
              <a:t>Who we hunt</a:t>
            </a:r>
          </a:p>
        </p:txBody>
      </p:sp>
      <p:sp>
        <p:nvSpPr>
          <p:cNvPr id="34" name="!!c1_pill"/>
          <p:cNvSpPr/>
          <p:nvPr/>
        </p:nvSpPr>
        <p:spPr>
          <a:xfrm>
            <a:off x="3623401" y="2880360"/>
            <a:ext cx="857158" cy="310896"/>
          </a:xfrm>
          <a:prstGeom prst="roundRect">
            <a:avLst>
              <a:gd name="adj" fmla="val 50000"/>
            </a:avLst>
          </a:prstGeom>
          <a:solidFill>
            <a:srgbClr val="D51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1050">
                <a:solidFill>
                  <a:srgbClr val="FFFFFF"/>
                </a:solidFill>
                <a:latin typeface="Franklin Gothic Medium"/>
              </a:rPr>
              <a:t>IGNITE</a:t>
            </a:r>
          </a:p>
        </p:txBody>
      </p:sp>
      <p:sp>
        <p:nvSpPr>
          <p:cNvPr id="35" name="!!c2_bg"/>
          <p:cNvSpPr/>
          <p:nvPr/>
        </p:nvSpPr>
        <p:spPr>
          <a:xfrm>
            <a:off x="7434071" y="896112"/>
            <a:ext cx="4343400" cy="2487168"/>
          </a:xfrm>
          <a:prstGeom prst="rect">
            <a:avLst/>
          </a:prstGeom>
          <a:solidFill>
            <a:srgbClr val="F4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!!c2_band"/>
          <p:cNvSpPr/>
          <p:nvPr/>
        </p:nvSpPr>
        <p:spPr>
          <a:xfrm>
            <a:off x="7434071" y="896112"/>
            <a:ext cx="4343400" cy="530352"/>
          </a:xfrm>
          <a:prstGeom prst="rect">
            <a:avLst/>
          </a:prstGeom>
          <a:solidFill>
            <a:srgbClr val="555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!!c2_name"/>
          <p:cNvSpPr txBox="1"/>
          <p:nvPr/>
        </p:nvSpPr>
        <p:spPr>
          <a:xfrm>
            <a:off x="8394192" y="896112"/>
            <a:ext cx="32461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i="0">
                <a:solidFill>
                  <a:srgbClr val="FFFFFF"/>
                </a:solidFill>
                <a:latin typeface="Franklin Gothic Medium"/>
              </a:rPr>
              <a:t>2   Process &amp; Customer Engagement</a:t>
            </a:r>
          </a:p>
        </p:txBody>
      </p:sp>
      <p:grpSp>
        <p:nvGrpSpPr>
          <p:cNvPr id="32" name="!!c2_icon">
            <a:extLst>
              <a:ext uri="{FF2B5EF4-FFF2-40B4-BE49-F238E27FC236}">
                <a16:creationId xmlns:a16="http://schemas.microsoft.com/office/drawing/2014/main" id="{77041D4C-755A-3D94-1710-AD2EB06AA12A}"/>
              </a:ext>
            </a:extLst>
          </p:cNvPr>
          <p:cNvGrpSpPr/>
          <p:nvPr/>
        </p:nvGrpSpPr>
        <p:grpSpPr>
          <a:xfrm>
            <a:off x="7543799" y="768096"/>
            <a:ext cx="768096" cy="768096"/>
            <a:chOff x="9967415" y="5638500"/>
            <a:chExt cx="960500" cy="960500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0B46943B-8095-DFB5-802D-B1C35FD52F07}"/>
                </a:ext>
              </a:extLst>
            </p:cNvPr>
            <p:cNvSpPr/>
            <p:nvPr/>
          </p:nvSpPr>
          <p:spPr>
            <a:xfrm>
              <a:off x="9967415" y="5638500"/>
              <a:ext cx="960500" cy="960500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65000"/>
                    <a:shade val="30000"/>
                    <a:satMod val="115000"/>
                  </a:schemeClr>
                </a:gs>
                <a:gs pos="50000">
                  <a:schemeClr val="bg1">
                    <a:lumMod val="65000"/>
                    <a:shade val="67500"/>
                    <a:satMod val="115000"/>
                  </a:schemeClr>
                </a:gs>
                <a:gs pos="100000">
                  <a:schemeClr val="bg1">
                    <a:lumMod val="65000"/>
                    <a:shade val="100000"/>
                    <a:satMod val="115000"/>
                  </a:schemeClr>
                </a:gs>
              </a:gsLst>
              <a:lin ang="0" scaled="1"/>
              <a:tileRect/>
            </a:gradFill>
            <a:ln w="19050">
              <a:solidFill>
                <a:srgbClr val="B523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5AF0AA7D-B943-9379-2F28-A53E9C4EE12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159322" y="5855410"/>
              <a:ext cx="628041" cy="473182"/>
            </a:xfrm>
            <a:prstGeom prst="rect">
              <a:avLst/>
            </a:prstGeom>
          </p:spPr>
        </p:pic>
      </p:grpSp>
      <p:sp>
        <p:nvSpPr>
          <p:cNvPr id="38" name="!!c2_quote"/>
          <p:cNvSpPr txBox="1"/>
          <p:nvPr/>
        </p:nvSpPr>
        <p:spPr>
          <a:xfrm>
            <a:off x="7708392" y="1645919"/>
            <a:ext cx="37947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i="1">
                <a:solidFill>
                  <a:srgbClr val="2E2925"/>
                </a:solidFill>
                <a:latin typeface="Franklin Gothic Book"/>
              </a:rPr>
              <a:t>“Are we showing up relevant to our customers? How do we not become commoditized?”</a:t>
            </a:r>
          </a:p>
        </p:txBody>
      </p:sp>
      <p:sp>
        <p:nvSpPr>
          <p:cNvPr id="39" name="!!c2_how"/>
          <p:cNvSpPr txBox="1"/>
          <p:nvPr/>
        </p:nvSpPr>
        <p:spPr>
          <a:xfrm>
            <a:off x="7708392" y="2880360"/>
            <a:ext cx="2011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i="0">
                <a:solidFill>
                  <a:srgbClr val="55575A"/>
                </a:solidFill>
                <a:latin typeface="Franklin Gothic Medium"/>
              </a:rPr>
              <a:t>How we hunt</a:t>
            </a:r>
          </a:p>
        </p:txBody>
      </p:sp>
      <p:sp>
        <p:nvSpPr>
          <p:cNvPr id="40" name="!!c2_pill"/>
          <p:cNvSpPr/>
          <p:nvPr/>
        </p:nvSpPr>
        <p:spPr>
          <a:xfrm>
            <a:off x="9422800" y="2880360"/>
            <a:ext cx="2080351" cy="310896"/>
          </a:xfrm>
          <a:prstGeom prst="roundRect">
            <a:avLst>
              <a:gd name="adj" fmla="val 50000"/>
            </a:avLst>
          </a:prstGeom>
          <a:solidFill>
            <a:srgbClr val="D51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1050">
                <a:solidFill>
                  <a:srgbClr val="FFFFFF"/>
                </a:solidFill>
                <a:latin typeface="Franklin Gothic Medium"/>
              </a:rPr>
              <a:t>CONNECT ABM PROGRAM</a:t>
            </a:r>
          </a:p>
        </p:txBody>
      </p:sp>
      <p:sp>
        <p:nvSpPr>
          <p:cNvPr id="41" name="!!c3_bg"/>
          <p:cNvSpPr/>
          <p:nvPr/>
        </p:nvSpPr>
        <p:spPr>
          <a:xfrm>
            <a:off x="7434071" y="3675887"/>
            <a:ext cx="4343400" cy="2487168"/>
          </a:xfrm>
          <a:prstGeom prst="rect">
            <a:avLst/>
          </a:prstGeom>
          <a:solidFill>
            <a:srgbClr val="F4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!!c3_band"/>
          <p:cNvSpPr/>
          <p:nvPr/>
        </p:nvSpPr>
        <p:spPr>
          <a:xfrm>
            <a:off x="7434071" y="3675887"/>
            <a:ext cx="4343400" cy="530352"/>
          </a:xfrm>
          <a:prstGeom prst="rect">
            <a:avLst/>
          </a:prstGeom>
          <a:solidFill>
            <a:srgbClr val="B52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!!c3_name"/>
          <p:cNvSpPr txBox="1"/>
          <p:nvPr/>
        </p:nvSpPr>
        <p:spPr>
          <a:xfrm>
            <a:off x="8394192" y="3675887"/>
            <a:ext cx="32461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i="0">
                <a:solidFill>
                  <a:srgbClr val="FFFFFF"/>
                </a:solidFill>
                <a:latin typeface="Franklin Gothic Medium"/>
              </a:rPr>
              <a:t>3   Art &amp; Talent Optimization</a:t>
            </a:r>
          </a:p>
        </p:txBody>
      </p:sp>
      <p:sp>
        <p:nvSpPr>
          <p:cNvPr id="20" name="!!c3_icon">
            <a:extLst>
              <a:ext uri="{FF2B5EF4-FFF2-40B4-BE49-F238E27FC236}">
                <a16:creationId xmlns:a16="http://schemas.microsoft.com/office/drawing/2014/main" id="{1554B659-AB45-0829-BE35-18A4734CC740}"/>
              </a:ext>
            </a:extLst>
          </p:cNvPr>
          <p:cNvSpPr/>
          <p:nvPr/>
        </p:nvSpPr>
        <p:spPr>
          <a:xfrm>
            <a:off x="7543799" y="3547871"/>
            <a:ext cx="768096" cy="768096"/>
          </a:xfrm>
          <a:prstGeom prst="ellipse">
            <a:avLst/>
          </a:prstGeom>
          <a:gradFill flip="none" rotWithShape="1">
            <a:gsLst>
              <a:gs pos="0">
                <a:schemeClr val="bg1">
                  <a:lumMod val="65000"/>
                  <a:shade val="30000"/>
                  <a:satMod val="115000"/>
                </a:schemeClr>
              </a:gs>
              <a:gs pos="50000">
                <a:schemeClr val="bg1">
                  <a:lumMod val="65000"/>
                  <a:shade val="67500"/>
                  <a:satMod val="115000"/>
                </a:schemeClr>
              </a:gs>
              <a:gs pos="100000">
                <a:schemeClr val="bg1">
                  <a:lumMod val="65000"/>
                  <a:shade val="100000"/>
                  <a:satMod val="115000"/>
                </a:schemeClr>
              </a:gs>
            </a:gsLst>
            <a:lin ang="0" scaled="1"/>
            <a:tileRect/>
          </a:gradFill>
          <a:ln w="19050">
            <a:solidFill>
              <a:srgbClr val="B5237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!!c3_icon2">
            <a:extLst>
              <a:ext uri="{FF2B5EF4-FFF2-40B4-BE49-F238E27FC236}">
                <a16:creationId xmlns:a16="http://schemas.microsoft.com/office/drawing/2014/main" id="{1D374ABD-935D-2940-6A79-175341756B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4353" y="3697373"/>
            <a:ext cx="486989" cy="479134"/>
          </a:xfrm>
          <a:prstGeom prst="rect">
            <a:avLst/>
          </a:prstGeom>
        </p:spPr>
      </p:pic>
      <p:sp>
        <p:nvSpPr>
          <p:cNvPr id="44" name="!!c3_quote"/>
          <p:cNvSpPr txBox="1"/>
          <p:nvPr/>
        </p:nvSpPr>
        <p:spPr>
          <a:xfrm>
            <a:off x="7708392" y="4425696"/>
            <a:ext cx="37947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i="1">
                <a:solidFill>
                  <a:srgbClr val="2E2925"/>
                </a:solidFill>
                <a:latin typeface="Franklin Gothic Book"/>
              </a:rPr>
              <a:t>“We have to develop our people. We can’t afford the cost of turnover and talent is hard to find.”</a:t>
            </a:r>
          </a:p>
        </p:txBody>
      </p:sp>
      <p:sp>
        <p:nvSpPr>
          <p:cNvPr id="45" name="!!c3_how"/>
          <p:cNvSpPr txBox="1"/>
          <p:nvPr/>
        </p:nvSpPr>
        <p:spPr>
          <a:xfrm>
            <a:off x="7708392" y="5660136"/>
            <a:ext cx="2011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i="0">
                <a:solidFill>
                  <a:srgbClr val="55575A"/>
                </a:solidFill>
                <a:latin typeface="Franklin Gothic Medium"/>
              </a:rPr>
              <a:t>How we develop</a:t>
            </a:r>
          </a:p>
        </p:txBody>
      </p:sp>
      <p:sp>
        <p:nvSpPr>
          <p:cNvPr id="46" name="!!c3_pill"/>
          <p:cNvSpPr/>
          <p:nvPr/>
        </p:nvSpPr>
        <p:spPr>
          <a:xfrm>
            <a:off x="9987351" y="5660136"/>
            <a:ext cx="1515800" cy="310896"/>
          </a:xfrm>
          <a:prstGeom prst="roundRect">
            <a:avLst>
              <a:gd name="adj" fmla="val 50000"/>
            </a:avLst>
          </a:prstGeom>
          <a:solidFill>
            <a:srgbClr val="D510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1050">
                <a:solidFill>
                  <a:srgbClr val="FFFFFF"/>
                </a:solidFill>
                <a:latin typeface="Franklin Gothic Medium"/>
              </a:rPr>
              <a:t>IGNITE TALENT</a:t>
            </a:r>
          </a:p>
        </p:txBody>
      </p:sp>
      <p:sp>
        <p:nvSpPr>
          <p:cNvPr id="47" name="!!c4_bg"/>
          <p:cNvSpPr/>
          <p:nvPr/>
        </p:nvSpPr>
        <p:spPr>
          <a:xfrm>
            <a:off x="411480" y="3675887"/>
            <a:ext cx="4343400" cy="2487168"/>
          </a:xfrm>
          <a:prstGeom prst="rect">
            <a:avLst/>
          </a:prstGeom>
          <a:solidFill>
            <a:srgbClr val="F4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!!c4_band"/>
          <p:cNvSpPr/>
          <p:nvPr/>
        </p:nvSpPr>
        <p:spPr>
          <a:xfrm>
            <a:off x="411480" y="3675887"/>
            <a:ext cx="4343400" cy="530352"/>
          </a:xfrm>
          <a:prstGeom prst="rect">
            <a:avLst/>
          </a:prstGeom>
          <a:solidFill>
            <a:srgbClr val="555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!!c4_name"/>
          <p:cNvSpPr txBox="1"/>
          <p:nvPr/>
        </p:nvSpPr>
        <p:spPr>
          <a:xfrm>
            <a:off x="1371600" y="3675887"/>
            <a:ext cx="32461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i="0">
                <a:solidFill>
                  <a:srgbClr val="FFFFFF"/>
                </a:solidFill>
                <a:latin typeface="Franklin Gothic Medium"/>
              </a:rPr>
              <a:t>4   Revenue Performance &amp; Metrics</a:t>
            </a:r>
          </a:p>
        </p:txBody>
      </p:sp>
      <p:grpSp>
        <p:nvGrpSpPr>
          <p:cNvPr id="30" name="!!c4_icon">
            <a:extLst>
              <a:ext uri="{FF2B5EF4-FFF2-40B4-BE49-F238E27FC236}">
                <a16:creationId xmlns:a16="http://schemas.microsoft.com/office/drawing/2014/main" id="{A34F56AE-6E15-CA17-553A-4BF952104907}"/>
              </a:ext>
            </a:extLst>
          </p:cNvPr>
          <p:cNvGrpSpPr/>
          <p:nvPr/>
        </p:nvGrpSpPr>
        <p:grpSpPr>
          <a:xfrm>
            <a:off x="521208" y="3547871"/>
            <a:ext cx="768096" cy="768096"/>
            <a:chOff x="1234577" y="277743"/>
            <a:chExt cx="960500" cy="960500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B9C1869-EBAB-161D-2DA4-8C653FBF65E5}"/>
                </a:ext>
              </a:extLst>
            </p:cNvPr>
            <p:cNvSpPr/>
            <p:nvPr/>
          </p:nvSpPr>
          <p:spPr>
            <a:xfrm>
              <a:off x="1234577" y="277743"/>
              <a:ext cx="960500" cy="960500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65000"/>
                    <a:shade val="30000"/>
                    <a:satMod val="115000"/>
                  </a:schemeClr>
                </a:gs>
                <a:gs pos="50000">
                  <a:schemeClr val="bg1">
                    <a:lumMod val="65000"/>
                    <a:shade val="67500"/>
                    <a:satMod val="115000"/>
                  </a:schemeClr>
                </a:gs>
                <a:gs pos="100000">
                  <a:schemeClr val="bg1">
                    <a:lumMod val="65000"/>
                    <a:shade val="100000"/>
                    <a:satMod val="115000"/>
                  </a:schemeClr>
                </a:gs>
              </a:gsLst>
              <a:lin ang="0" scaled="1"/>
              <a:tileRect/>
            </a:gradFill>
            <a:ln w="19050">
              <a:solidFill>
                <a:srgbClr val="B5237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A2EA54A9-541A-CDCD-7A9C-8ABB1FBB1F5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48085" y="547117"/>
              <a:ext cx="706154" cy="380952"/>
            </a:xfrm>
            <a:prstGeom prst="rect">
              <a:avLst/>
            </a:prstGeom>
          </p:spPr>
        </p:pic>
      </p:grpSp>
      <p:sp>
        <p:nvSpPr>
          <p:cNvPr id="50" name="!!c4_quote"/>
          <p:cNvSpPr txBox="1"/>
          <p:nvPr/>
        </p:nvSpPr>
        <p:spPr>
          <a:xfrm>
            <a:off x="685800" y="4425696"/>
            <a:ext cx="37947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i="1">
                <a:solidFill>
                  <a:srgbClr val="2E2925"/>
                </a:solidFill>
                <a:latin typeface="Franklin Gothic Book"/>
              </a:rPr>
              <a:t>“We have a lot of reporting, but does it show how or if we are doing better?”</a:t>
            </a:r>
          </a:p>
        </p:txBody>
      </p:sp>
      <p:sp>
        <p:nvSpPr>
          <p:cNvPr id="51" name="!!c4_how"/>
          <p:cNvSpPr txBox="1"/>
          <p:nvPr/>
        </p:nvSpPr>
        <p:spPr>
          <a:xfrm>
            <a:off x="685800" y="5660136"/>
            <a:ext cx="2011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i="0">
                <a:solidFill>
                  <a:srgbClr val="55575A"/>
                </a:solidFill>
                <a:latin typeface="Franklin Gothic Medium"/>
              </a:rPr>
              <a:t>How we measure</a:t>
            </a:r>
          </a:p>
        </p:txBody>
      </p:sp>
      <p:sp>
        <p:nvSpPr>
          <p:cNvPr id="52" name="!!hub_ring"/>
          <p:cNvSpPr/>
          <p:nvPr/>
        </p:nvSpPr>
        <p:spPr>
          <a:xfrm>
            <a:off x="4935016" y="2148840"/>
            <a:ext cx="2322576" cy="2322576"/>
          </a:xfrm>
          <a:prstGeom prst="ellipse">
            <a:avLst/>
          </a:prstGeom>
          <a:noFill/>
          <a:ln w="28575">
            <a:solidFill>
              <a:srgbClr val="D510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!!hub"/>
          <p:cNvSpPr/>
          <p:nvPr/>
        </p:nvSpPr>
        <p:spPr>
          <a:xfrm>
            <a:off x="5044744" y="2258568"/>
            <a:ext cx="2103120" cy="2103120"/>
          </a:xfrm>
          <a:prstGeom prst="ellipse">
            <a:avLst/>
          </a:prstGeom>
          <a:solidFill>
            <a:srgbClr val="555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!!hub_t"/>
          <p:cNvSpPr txBox="1"/>
          <p:nvPr/>
        </p:nvSpPr>
        <p:spPr>
          <a:xfrm>
            <a:off x="5181904" y="2743200"/>
            <a:ext cx="1828799" cy="7315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/>
            <a:r>
              <a:rPr sz="2100" i="0">
                <a:solidFill>
                  <a:srgbClr val="FFFFFF"/>
                </a:solidFill>
                <a:latin typeface="Franklin Gothic Medium"/>
              </a:rPr>
              <a:t>Profitable</a:t>
            </a:r>
          </a:p>
          <a:p>
            <a:pPr algn="ctr"/>
            <a:r>
              <a:rPr sz="2100" i="0">
                <a:solidFill>
                  <a:srgbClr val="FFFFFF"/>
                </a:solidFill>
                <a:latin typeface="Franklin Gothic Medium"/>
              </a:rPr>
              <a:t>Growth</a:t>
            </a:r>
          </a:p>
        </p:txBody>
      </p:sp>
      <p:sp>
        <p:nvSpPr>
          <p:cNvPr id="55" name="!!hub_s"/>
          <p:cNvSpPr txBox="1"/>
          <p:nvPr/>
        </p:nvSpPr>
        <p:spPr>
          <a:xfrm>
            <a:off x="5227624" y="3511296"/>
            <a:ext cx="1737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i="0">
                <a:solidFill>
                  <a:srgbClr val="FFFFFF"/>
                </a:solidFill>
                <a:latin typeface="Franklin Gothic Book"/>
              </a:rPr>
              <a:t>Sales  ·  Marketing</a:t>
            </a:r>
          </a:p>
          <a:p>
            <a:pPr algn="ctr"/>
            <a:r>
              <a:rPr sz="1050" i="0">
                <a:solidFill>
                  <a:srgbClr val="FFFFFF"/>
                </a:solidFill>
                <a:latin typeface="Franklin Gothic Book"/>
              </a:rPr>
              <a:t>Pricing / Rev Mgmt.</a:t>
            </a:r>
          </a:p>
        </p:txBody>
      </p:sp>
      <p:sp>
        <p:nvSpPr>
          <p:cNvPr id="56" name="!!fff_rule"/>
          <p:cNvSpPr/>
          <p:nvPr/>
        </p:nvSpPr>
        <p:spPr>
          <a:xfrm>
            <a:off x="5547664" y="4690872"/>
            <a:ext cx="1097280" cy="91"/>
          </a:xfrm>
          <a:prstGeom prst="rect">
            <a:avLst/>
          </a:prstGeom>
          <a:noFill/>
          <a:ln w="9525">
            <a:solidFill>
              <a:srgbClr val="CA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!!fff0"/>
          <p:cNvSpPr txBox="1"/>
          <p:nvPr/>
        </p:nvSpPr>
        <p:spPr>
          <a:xfrm>
            <a:off x="4816144" y="4754880"/>
            <a:ext cx="25603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i="0">
                <a:solidFill>
                  <a:srgbClr val="B52372"/>
                </a:solidFill>
                <a:latin typeface="Franklin Gothic Medium"/>
              </a:rPr>
              <a:t>Focus</a:t>
            </a:r>
          </a:p>
        </p:txBody>
      </p:sp>
      <p:sp>
        <p:nvSpPr>
          <p:cNvPr id="58" name="!!fff1"/>
          <p:cNvSpPr txBox="1"/>
          <p:nvPr/>
        </p:nvSpPr>
        <p:spPr>
          <a:xfrm>
            <a:off x="4816144" y="5084064"/>
            <a:ext cx="25603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i="0">
                <a:solidFill>
                  <a:srgbClr val="55575A"/>
                </a:solidFill>
                <a:latin typeface="Franklin Gothic Book"/>
              </a:rPr>
              <a:t>Framework</a:t>
            </a:r>
          </a:p>
        </p:txBody>
      </p:sp>
      <p:sp>
        <p:nvSpPr>
          <p:cNvPr id="59" name="!!fff2"/>
          <p:cNvSpPr txBox="1"/>
          <p:nvPr/>
        </p:nvSpPr>
        <p:spPr>
          <a:xfrm>
            <a:off x="4816144" y="5413248"/>
            <a:ext cx="25603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i="0">
                <a:solidFill>
                  <a:srgbClr val="55575A"/>
                </a:solidFill>
                <a:latin typeface="Franklin Gothic Book"/>
              </a:rPr>
              <a:t>Foundation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 advTm="4000">
        <p159:morph option="byObject"/>
      </p:transition>
    </mc:Choice>
    <mc:Fallback>
      <p:transition spd="slow" advTm="4000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11109</Words>
  <Application>Microsoft Macintosh PowerPoint</Application>
  <PresentationFormat>Widescreen</PresentationFormat>
  <Paragraphs>1527</Paragraphs>
  <Slides>84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84</vt:i4>
      </vt:variant>
    </vt:vector>
  </HeadingPairs>
  <TitlesOfParts>
    <vt:vector size="105" baseType="lpstr">
      <vt:lpstr>Arial</vt:lpstr>
      <vt:lpstr>Avenir Medium</vt:lpstr>
      <vt:lpstr>Bradley Hand</vt:lpstr>
      <vt:lpstr>Calibri</vt:lpstr>
      <vt:lpstr>Calibri Light</vt:lpstr>
      <vt:lpstr>Cavolini</vt:lpstr>
      <vt:lpstr>Century Gothic</vt:lpstr>
      <vt:lpstr>DM Sans 14pt</vt:lpstr>
      <vt:lpstr>DM Sans 14pt Medium</vt:lpstr>
      <vt:lpstr>Franklin Gothic Book</vt:lpstr>
      <vt:lpstr>Franklin Gothic Book Italic</vt:lpstr>
      <vt:lpstr>Franklin Gothic Medium</vt:lpstr>
      <vt:lpstr>Lato Light</vt:lpstr>
      <vt:lpstr>Poppins</vt:lpstr>
      <vt:lpstr>Slack-Lato</vt:lpstr>
      <vt:lpstr>Tahoma</vt:lpstr>
      <vt:lpstr>Times New Roman</vt:lpstr>
      <vt:lpstr>Trebuchet MS</vt:lpstr>
      <vt:lpstr>Verdana</vt:lpstr>
      <vt:lpstr>Vijaya</vt:lpstr>
      <vt:lpstr>Office Theme</vt:lpstr>
      <vt:lpstr>PowerPoint Presentation</vt:lpstr>
      <vt:lpstr>We take the noise, disruption, frustration and complexity of the new economy and bring you a clear, concise and simple path for you to get results.</vt:lpstr>
      <vt:lpstr>We Create Impact</vt:lpstr>
      <vt:lpstr>PowerPoint Presentation</vt:lpstr>
      <vt:lpstr>PowerPoint Presentation</vt:lpstr>
      <vt:lpstr>PowerPoint Presentation</vt:lpstr>
      <vt:lpstr>PowerPoint Presentation</vt:lpstr>
      <vt:lpstr>What The Best Do Differently</vt:lpstr>
      <vt:lpstr>PowerPoint Presentation</vt:lpstr>
      <vt:lpstr>Execs Are Unsatisfied With Interactions</vt:lpstr>
      <vt:lpstr>Outside In Thinking | Customer Centric Thinking </vt:lpstr>
      <vt:lpstr>Outside In Thinking | Customer Centric Thinking </vt:lpstr>
      <vt:lpstr>PowerPoint Presentation</vt:lpstr>
      <vt:lpstr>How Sales and Marketing Create Demand</vt:lpstr>
      <vt:lpstr>How Sales and Marketing Create Demand</vt:lpstr>
      <vt:lpstr>PowerPoint Presentation</vt:lpstr>
      <vt:lpstr>PowerPoint Presentation</vt:lpstr>
      <vt:lpstr>Brand Framework</vt:lpstr>
      <vt:lpstr>PowerPoint Presentation</vt:lpstr>
      <vt:lpstr>Awareness to Consideration to Conversion </vt:lpstr>
      <vt:lpstr>TARGETING THE MOST VALUABLE CUSTOMER | Customer Journey</vt:lpstr>
      <vt:lpstr>1 – Revenue Reveal | The Approach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Vision–to–Value Roadmap</vt:lpstr>
      <vt:lpstr>FEI Membership Growth Formula</vt:lpstr>
      <vt:lpstr>The Building Blocks to Achieve FEI’s Vision</vt:lpstr>
      <vt:lpstr>PowerPoint Presentation</vt:lpstr>
      <vt:lpstr>Install the thinking</vt:lpstr>
      <vt:lpstr>PowerPoint Presentation</vt:lpstr>
      <vt:lpstr>ADDIE Model</vt:lpstr>
      <vt:lpstr>Illustrative Timeline</vt:lpstr>
      <vt:lpstr>Investment for Performance</vt:lpstr>
      <vt:lpstr>Where you win</vt:lpstr>
      <vt:lpstr>Results </vt:lpstr>
      <vt:lpstr>What it is like to work with us</vt:lpstr>
      <vt:lpstr>&amp;Who we are</vt:lpstr>
      <vt:lpstr>Experience is at the core</vt:lpstr>
      <vt:lpstr>Experience is at the core</vt:lpstr>
      <vt:lpstr>Experience is at the core</vt:lpstr>
      <vt:lpstr>Experience is at the core</vt:lpstr>
      <vt:lpstr>&amp;In good company</vt:lpstr>
      <vt:lpstr>PowerPoint Presentation</vt:lpstr>
      <vt:lpstr>PowerPoint Presentation</vt:lpstr>
      <vt:lpstr>Articles &amp; Speaking Engagements</vt:lpstr>
      <vt:lpstr>Articles &amp; Speaking Engagements</vt:lpstr>
      <vt:lpstr>PowerPoint Presentation</vt:lpstr>
      <vt:lpstr>PowerPoint Presentation</vt:lpstr>
      <vt:lpstr>Thank you</vt:lpstr>
      <vt:lpstr>Appendices:</vt:lpstr>
      <vt:lpstr>Foundational Discovery and Install Within Marketing</vt:lpstr>
      <vt:lpstr>Foundational Discovery and Install Within Sales</vt:lpstr>
      <vt:lpstr>PowerPoint Presentation</vt:lpstr>
      <vt:lpstr>PowerPoint Presentation</vt:lpstr>
      <vt:lpstr>PowerPoint Presentation</vt:lpstr>
      <vt:lpstr>The Cinderella player that you are looking for may not be out there,       …without breaking the bank.</vt:lpstr>
      <vt:lpstr>Reinvent</vt:lpstr>
      <vt:lpstr>PowerPoint Presentation</vt:lpstr>
      <vt:lpstr>Elevating the revenue approach</vt:lpstr>
      <vt:lpstr>Yet, we expect the performance meant for today</vt:lpstr>
      <vt:lpstr>A website is just the beginning. Even a new race car needs gas.</vt:lpstr>
      <vt:lpstr>The weather has changed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Execs are Unsatisfied with Interactions</vt:lpstr>
      <vt:lpstr>Emerging vs. Established Demand</vt:lpstr>
      <vt:lpstr>What it is like to work with us</vt:lpstr>
      <vt:lpstr>Results</vt:lpstr>
      <vt:lpstr>You can’t give away what you don’t have</vt:lpstr>
      <vt:lpstr>PowerPoint Presentation</vt:lpstr>
      <vt:lpstr>Amadeus Value Proposition (COSA) </vt:lpstr>
      <vt:lpstr>Think Different</vt:lpstr>
      <vt:lpstr>Customer Value Chain</vt:lpstr>
      <vt:lpstr>Customer Value Chain</vt:lpstr>
      <vt:lpstr>Investment for Performance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Kate Burda</dc:creator>
  <cp:lastModifiedBy>Kate Burda</cp:lastModifiedBy>
  <cp:revision>1</cp:revision>
  <dcterms:created xsi:type="dcterms:W3CDTF">2023-07-29T16:22:48Z</dcterms:created>
  <dcterms:modified xsi:type="dcterms:W3CDTF">2025-08-24T16:39:42Z</dcterms:modified>
</cp:coreProperties>
</file>