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6858000" cy="9905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charcoal panel"/>
          <p:cNvSpPr/>
          <p:nvPr/>
        </p:nvSpPr>
        <p:spPr>
          <a:xfrm>
            <a:off x="2926080" y="274320"/>
            <a:ext cx="3931920" cy="1783080"/>
          </a:xfrm>
          <a:prstGeom prst="rect">
            <a:avLst/>
          </a:prstGeom>
          <a:solidFill>
            <a:srgbClr val="1C1112"/>
          </a:solidFill>
          <a:ln>
            <a:noFill/>
          </a:ln>
          <a:effectLst/>
        </p:spPr>
        <p:txBody>
          <a:bodyPr rtlCol="0" anchor="ctr"/>
          <a:lstStyle/>
          <a:p>
            <a:pPr algn="ctr"/>
          </a:p>
        </p:txBody>
      </p:sp>
      <p:pic>
        <p:nvPicPr>
          <p:cNvPr id="3" name="Header coral angle" descr="coral_angle.png"/>
          <p:cNvPicPr>
            <a:picLocks noChangeAspect="1"/>
          </p:cNvPicPr>
          <p:nvPr/>
        </p:nvPicPr>
        <p:blipFill>
          <a:blip r:embed="rId2"/>
          <a:stretch>
            <a:fillRect/>
          </a:stretch>
        </p:blipFill>
        <p:spPr>
          <a:xfrm>
            <a:off x="0" y="0"/>
            <a:ext cx="4709160" cy="2286000"/>
          </a:xfrm>
          <a:prstGeom prst="rect">
            <a:avLst/>
          </a:prstGeom>
        </p:spPr>
      </p:pic>
      <p:pic>
        <p:nvPicPr>
          <p:cNvPr id="4" name="Ignite logo" descr="logo_light_crop.png"/>
          <p:cNvPicPr>
            <a:picLocks noChangeAspect="1"/>
          </p:cNvPicPr>
          <p:nvPr/>
        </p:nvPicPr>
        <p:blipFill>
          <a:blip r:embed="rId3"/>
          <a:stretch>
            <a:fillRect/>
          </a:stretch>
        </p:blipFill>
        <p:spPr>
          <a:xfrm>
            <a:off x="4583091" y="457199"/>
            <a:ext cx="1954868" cy="1417320"/>
          </a:xfrm>
          <a:prstGeom prst="rect">
            <a:avLst/>
          </a:prstGeom>
        </p:spPr>
      </p:pic>
      <p:sp>
        <p:nvSpPr>
          <p:cNvPr id="5" name="Header headline"/>
          <p:cNvSpPr txBox="1"/>
          <p:nvPr/>
        </p:nvSpPr>
        <p:spPr>
          <a:xfrm>
            <a:off x="274320" y="237744"/>
            <a:ext cx="3886200" cy="713232"/>
          </a:xfrm>
          <a:prstGeom prst="rect">
            <a:avLst/>
          </a:prstGeom>
          <a:noFill/>
        </p:spPr>
        <p:txBody>
          <a:bodyPr wrap="square" lIns="0" tIns="0" rIns="0" bIns="0" anchor="t">
            <a:noAutofit/>
          </a:bodyPr>
          <a:lstStyle/>
          <a:p>
            <a:pPr algn="l">
              <a:lnSpc>
                <a:spcPct val="95000"/>
              </a:lnSpc>
              <a:spcBef>
                <a:spcPts val="0"/>
              </a:spcBef>
              <a:spcAft>
                <a:spcPts val="0"/>
              </a:spcAft>
            </a:pPr>
            <a:r>
              <a:rPr sz="1800" b="1" i="0">
                <a:solidFill>
                  <a:srgbClr val="FFFFFF"/>
                </a:solidFill>
                <a:latin typeface="Galyon"/>
              </a:rPr>
              <a:t>The agentic platform</a:t>
            </a:r>
            <a:br/>
            <a:r>
              <a:rPr sz="1800" b="1" i="0">
                <a:solidFill>
                  <a:srgbClr val="FFFFFF"/>
                </a:solidFill>
                <a:latin typeface="Galyon"/>
              </a:rPr>
              <a:t>for revenue strategy</a:t>
            </a:r>
          </a:p>
        </p:txBody>
      </p:sp>
      <p:sp>
        <p:nvSpPr>
          <p:cNvPr id="6" name="Header placing line"/>
          <p:cNvSpPr txBox="1"/>
          <p:nvPr/>
        </p:nvSpPr>
        <p:spPr>
          <a:xfrm>
            <a:off x="274320" y="1024128"/>
            <a:ext cx="3108960" cy="1097280"/>
          </a:xfrm>
          <a:prstGeom prst="rect">
            <a:avLst/>
          </a:prstGeom>
          <a:noFill/>
        </p:spPr>
        <p:txBody>
          <a:bodyPr wrap="square" lIns="0" tIns="0" rIns="0" bIns="0" anchor="t">
            <a:noAutofit/>
          </a:bodyPr>
          <a:lstStyle/>
          <a:p>
            <a:pPr algn="l">
              <a:lnSpc>
                <a:spcPct val="100000"/>
              </a:lnSpc>
              <a:spcBef>
                <a:spcPts val="0"/>
              </a:spcBef>
              <a:spcAft>
                <a:spcPts val="500"/>
              </a:spcAft>
            </a:pPr>
            <a:r>
              <a:rPr sz="1100" b="0" i="0">
                <a:solidFill>
                  <a:srgbClr val="FFFFFF"/>
                </a:solidFill>
                <a:latin typeface="Galyon"/>
              </a:rPr>
              <a:t>Your team sees the market shift months before the field can act on it. Ignite closes that gap, from first signal to a working playbook.</a:t>
            </a:r>
          </a:p>
          <a:p>
            <a:pPr algn="l">
              <a:lnSpc>
                <a:spcPct val="100000"/>
              </a:lnSpc>
              <a:spcBef>
                <a:spcPts val="0"/>
              </a:spcBef>
              <a:spcAft>
                <a:spcPts val="0"/>
              </a:spcAft>
            </a:pPr>
            <a:r>
              <a:rPr sz="1200" b="1" i="0">
                <a:solidFill>
                  <a:srgbClr val="FFFFFF"/>
                </a:solidFill>
                <a:latin typeface="Galyon"/>
              </a:rPr>
              <a:t>do less. make it mean more.</a:t>
            </a:r>
          </a:p>
        </p:txBody>
      </p:sp>
      <p:sp>
        <p:nvSpPr>
          <p:cNvPr id="7" name="Panel Problem"/>
          <p:cNvSpPr/>
          <p:nvPr/>
        </p:nvSpPr>
        <p:spPr>
          <a:xfrm>
            <a:off x="228600" y="2377440"/>
            <a:ext cx="6400800" cy="1645920"/>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THE PROBLEM</a:t>
            </a:r>
          </a:p>
          <a:p>
            <a:pPr algn="l">
              <a:lnSpc>
                <a:spcPct val="100000"/>
              </a:lnSpc>
              <a:spcBef>
                <a:spcPts val="0"/>
              </a:spcBef>
              <a:spcAft>
                <a:spcPts val="300"/>
              </a:spcAft>
            </a:pPr>
            <a:r>
              <a:rPr sz="1050" b="1" i="0">
                <a:solidFill>
                  <a:srgbClr val="1C1112"/>
                </a:solidFill>
                <a:latin typeface="Galyon"/>
              </a:rPr>
              <a:t>It is not a strategy failure. It is an operationalization problem.</a:t>
            </a:r>
          </a:p>
          <a:p>
            <a:pPr algn="l">
              <a:lnSpc>
                <a:spcPct val="100000"/>
              </a:lnSpc>
              <a:spcBef>
                <a:spcPts val="0"/>
              </a:spcBef>
              <a:spcAft>
                <a:spcPts val="0"/>
              </a:spcAft>
            </a:pPr>
            <a:r>
              <a:rPr sz="1050" b="0" i="0">
                <a:solidFill>
                  <a:srgbClr val="1C1112"/>
                </a:solidFill>
                <a:latin typeface="Galyon"/>
              </a:rPr>
              <a:t>Most leaders see the shift coming. Then the strategy travels from the leadership team to the sales, marketing, and revenue people at each property, and it lands as the same 30-60-90 day task list they have always run. Good people, good tools. The strategy gets lost on the way down.</a:t>
            </a:r>
          </a:p>
        </p:txBody>
      </p:sp>
      <p:sp>
        <p:nvSpPr>
          <p:cNvPr id="8" name="Stat 1"/>
          <p:cNvSpPr txBox="1"/>
          <p:nvPr/>
        </p:nvSpPr>
        <p:spPr>
          <a:xfrm>
            <a:off x="356616"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3 months</a:t>
            </a:r>
          </a:p>
          <a:p>
            <a:pPr algn="l">
              <a:lnSpc>
                <a:spcPct val="95000"/>
              </a:lnSpc>
              <a:spcBef>
                <a:spcPts val="0"/>
              </a:spcBef>
              <a:spcAft>
                <a:spcPts val="0"/>
              </a:spcAft>
            </a:pPr>
            <a:r>
              <a:rPr sz="950" b="0" i="0">
                <a:solidFill>
                  <a:srgbClr val="1C1112"/>
                </a:solidFill>
                <a:latin typeface="Galyon"/>
              </a:rPr>
              <a:t>at best, from spotting a trend to executing on it. Results take longer.</a:t>
            </a:r>
          </a:p>
        </p:txBody>
      </p:sp>
      <p:sp>
        <p:nvSpPr>
          <p:cNvPr id="9" name="Stat 2"/>
          <p:cNvSpPr txBox="1"/>
          <p:nvPr/>
        </p:nvSpPr>
        <p:spPr>
          <a:xfrm>
            <a:off x="1920240"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30-60-90</a:t>
            </a:r>
          </a:p>
          <a:p>
            <a:pPr algn="l">
              <a:lnSpc>
                <a:spcPct val="95000"/>
              </a:lnSpc>
              <a:spcBef>
                <a:spcPts val="0"/>
              </a:spcBef>
              <a:spcAft>
                <a:spcPts val="0"/>
              </a:spcAft>
            </a:pPr>
            <a:r>
              <a:rPr sz="950" b="0" i="0">
                <a:solidFill>
                  <a:srgbClr val="1C1112"/>
                </a:solidFill>
                <a:latin typeface="Galyon"/>
              </a:rPr>
              <a:t>day task lists in the field, the same as they have always been</a:t>
            </a:r>
          </a:p>
        </p:txBody>
      </p:sp>
      <p:sp>
        <p:nvSpPr>
          <p:cNvPr id="10" name="Stat 3"/>
          <p:cNvSpPr txBox="1"/>
          <p:nvPr/>
        </p:nvSpPr>
        <p:spPr>
          <a:xfrm>
            <a:off x="3483864"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15.5 hours</a:t>
            </a:r>
          </a:p>
          <a:p>
            <a:pPr algn="l">
              <a:lnSpc>
                <a:spcPct val="95000"/>
              </a:lnSpc>
              <a:spcBef>
                <a:spcPts val="0"/>
              </a:spcBef>
              <a:spcAft>
                <a:spcPts val="0"/>
              </a:spcAft>
            </a:pPr>
            <a:r>
              <a:rPr sz="950" b="0" i="0">
                <a:solidFill>
                  <a:srgbClr val="1C1112"/>
                </a:solidFill>
                <a:latin typeface="Galyon"/>
              </a:rPr>
              <a:t>per hotel, at a management group, on a plan that was never used</a:t>
            </a:r>
          </a:p>
        </p:txBody>
      </p:sp>
      <p:sp>
        <p:nvSpPr>
          <p:cNvPr id="11" name="Stat 4"/>
          <p:cNvSpPr txBox="1"/>
          <p:nvPr/>
        </p:nvSpPr>
        <p:spPr>
          <a:xfrm>
            <a:off x="5047488"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$1.3M to $2M</a:t>
            </a:r>
          </a:p>
          <a:p>
            <a:pPr algn="l">
              <a:lnSpc>
                <a:spcPct val="95000"/>
              </a:lnSpc>
              <a:spcBef>
                <a:spcPts val="0"/>
              </a:spcBef>
              <a:spcAft>
                <a:spcPts val="0"/>
              </a:spcAft>
            </a:pPr>
            <a:r>
              <a:rPr sz="950" b="0" i="0">
                <a:solidFill>
                  <a:srgbClr val="1C1112"/>
                </a:solidFill>
                <a:latin typeface="Galyon"/>
              </a:rPr>
              <a:t>estimated missed revenue in one 100-room asset in a tertiary market</a:t>
            </a:r>
          </a:p>
        </p:txBody>
      </p:sp>
      <p:sp>
        <p:nvSpPr>
          <p:cNvPr id="12" name="Panel Solution"/>
          <p:cNvSpPr/>
          <p:nvPr/>
        </p:nvSpPr>
        <p:spPr>
          <a:xfrm>
            <a:off x="228600" y="4114800"/>
            <a:ext cx="6400800" cy="1700784"/>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WHAT IGNITE DOES</a:t>
            </a:r>
          </a:p>
          <a:p>
            <a:pPr algn="l">
              <a:lnSpc>
                <a:spcPct val="100000"/>
              </a:lnSpc>
              <a:spcBef>
                <a:spcPts val="0"/>
              </a:spcBef>
              <a:spcAft>
                <a:spcPts val="0"/>
              </a:spcAft>
            </a:pPr>
            <a:r>
              <a:rPr sz="1050" b="1" i="0">
                <a:solidFill>
                  <a:srgbClr val="1C1112"/>
                </a:solidFill>
                <a:latin typeface="Galyon"/>
              </a:rPr>
              <a:t>Agentic, because it does the structuring work. Continuous, not episodic.</a:t>
            </a:r>
          </a:p>
        </p:txBody>
      </p:sp>
      <p:sp>
        <p:nvSpPr>
          <p:cNvPr id="13" name="Step 1"/>
          <p:cNvSpPr txBox="1"/>
          <p:nvPr/>
        </p:nvSpPr>
        <p:spPr>
          <a:xfrm>
            <a:off x="356616" y="4645152"/>
            <a:ext cx="1975103" cy="566928"/>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Spots the quake</a:t>
            </a:r>
          </a:p>
          <a:p>
            <a:pPr algn="l">
              <a:lnSpc>
                <a:spcPct val="95000"/>
              </a:lnSpc>
              <a:spcBef>
                <a:spcPts val="0"/>
              </a:spcBef>
              <a:spcAft>
                <a:spcPts val="0"/>
              </a:spcAft>
            </a:pPr>
            <a:r>
              <a:rPr sz="950" b="0" i="0">
                <a:solidFill>
                  <a:srgbClr val="1C1112"/>
                </a:solidFill>
                <a:latin typeface="Galyon"/>
              </a:rPr>
              <a:t>A shift in demand, a segment, a feeder market, or a competitor's move, before it hits your numbers.</a:t>
            </a:r>
          </a:p>
        </p:txBody>
      </p:sp>
      <p:sp>
        <p:nvSpPr>
          <p:cNvPr id="14" name="Step 2"/>
          <p:cNvSpPr txBox="1"/>
          <p:nvPr/>
        </p:nvSpPr>
        <p:spPr>
          <a:xfrm>
            <a:off x="2441448" y="4645152"/>
            <a:ext cx="1975103" cy="566928"/>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Builds the roadmap</a:t>
            </a:r>
          </a:p>
          <a:p>
            <a:pPr algn="l">
              <a:lnSpc>
                <a:spcPct val="95000"/>
              </a:lnSpc>
              <a:spcBef>
                <a:spcPts val="0"/>
              </a:spcBef>
              <a:spcAft>
                <a:spcPts val="0"/>
              </a:spcAft>
            </a:pPr>
            <a:r>
              <a:rPr sz="950" b="0" i="0">
                <a:solidFill>
                  <a:srgbClr val="1C1112"/>
                </a:solidFill>
                <a:latin typeface="Galyon"/>
              </a:rPr>
              <a:t>Built on a decade of revenue strategy work, not a blank page.</a:t>
            </a:r>
          </a:p>
        </p:txBody>
      </p:sp>
      <p:sp>
        <p:nvSpPr>
          <p:cNvPr id="15" name="Step 3"/>
          <p:cNvSpPr txBox="1"/>
          <p:nvPr/>
        </p:nvSpPr>
        <p:spPr>
          <a:xfrm>
            <a:off x="4526279" y="4645152"/>
            <a:ext cx="1975103" cy="566928"/>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Deploys the playbook</a:t>
            </a:r>
          </a:p>
          <a:p>
            <a:pPr algn="l">
              <a:lnSpc>
                <a:spcPct val="95000"/>
              </a:lnSpc>
              <a:spcBef>
                <a:spcPts val="0"/>
              </a:spcBef>
              <a:spcAft>
                <a:spcPts val="0"/>
              </a:spcAft>
            </a:pPr>
            <a:r>
              <a:rPr sz="950" b="0" i="0">
                <a:solidFill>
                  <a:srgbClr val="1C1112"/>
                </a:solidFill>
                <a:latin typeface="Galyon"/>
              </a:rPr>
              <a:t>Deployed to the field, ranked by revenue and profit together.</a:t>
            </a:r>
          </a:p>
        </p:txBody>
      </p:sp>
      <p:sp>
        <p:nvSpPr>
          <p:cNvPr id="16" name="Solution close"/>
          <p:cNvSpPr txBox="1"/>
          <p:nvPr/>
        </p:nvSpPr>
        <p:spPr>
          <a:xfrm>
            <a:off x="356616" y="5276088"/>
            <a:ext cx="6144768" cy="475488"/>
          </a:xfrm>
          <a:prstGeom prst="rect">
            <a:avLst/>
          </a:prstGeom>
          <a:noFill/>
        </p:spPr>
        <p:txBody>
          <a:bodyPr wrap="square" lIns="0" tIns="0" rIns="0" bIns="0" anchor="t">
            <a:noAutofit/>
          </a:bodyPr>
          <a:lstStyle/>
          <a:p>
            <a:pPr algn="l">
              <a:lnSpc>
                <a:spcPct val="100000"/>
              </a:lnSpc>
              <a:spcBef>
                <a:spcPts val="0"/>
              </a:spcBef>
              <a:spcAft>
                <a:spcPts val="0"/>
              </a:spcAft>
            </a:pPr>
            <a:r>
              <a:rPr sz="1050" b="1" i="0">
                <a:solidFill>
                  <a:srgbClr val="1C1112"/>
                </a:solidFill>
                <a:latin typeface="Galyon"/>
              </a:rPr>
              <a:t>Plenty of AI makes the task list faster. Ignite decides what belongs on it, </a:t>
            </a:r>
            <a:r>
              <a:rPr sz="1050" b="0" i="0">
                <a:solidFill>
                  <a:srgbClr val="1C1112"/>
                </a:solidFill>
                <a:latin typeface="Galyon"/>
              </a:rPr>
              <a:t>then tracks which moves show up in the number, so the owner conversation runs on proof. It sits above your RMS, never in place of it.</a:t>
            </a:r>
          </a:p>
        </p:txBody>
      </p:sp>
      <p:sp>
        <p:nvSpPr>
          <p:cNvPr id="17" name="Panel Strategy Beta Group"/>
          <p:cNvSpPr/>
          <p:nvPr/>
        </p:nvSpPr>
        <p:spPr>
          <a:xfrm>
            <a:off x="228600" y="5907024"/>
            <a:ext cx="3136392" cy="1280160"/>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STRATEGY BETA GROUP</a:t>
            </a:r>
          </a:p>
          <a:p>
            <a:pPr algn="l">
              <a:lnSpc>
                <a:spcPct val="100000"/>
              </a:lnSpc>
              <a:spcBef>
                <a:spcPts val="0"/>
              </a:spcBef>
              <a:spcAft>
                <a:spcPts val="300"/>
              </a:spcAft>
            </a:pPr>
            <a:r>
              <a:rPr sz="1500" b="1" i="0">
                <a:solidFill>
                  <a:srgbClr val="ED536F"/>
                </a:solidFill>
                <a:latin typeface="Galyon"/>
              </a:rPr>
              <a:t>$20,000</a:t>
            </a:r>
            <a:r>
              <a:rPr sz="1050" b="1" i="0">
                <a:solidFill>
                  <a:srgbClr val="1C1112"/>
                </a:solidFill>
                <a:latin typeface="Galyon"/>
              </a:rPr>
              <a:t> per account. Three to five members.</a:t>
            </a:r>
          </a:p>
          <a:p>
            <a:pPr algn="l">
              <a:lnSpc>
                <a:spcPct val="100000"/>
              </a:lnSpc>
              <a:spcBef>
                <a:spcPts val="0"/>
              </a:spcBef>
              <a:spcAft>
                <a:spcPts val="0"/>
              </a:spcAft>
            </a:pPr>
            <a:r>
              <a:rPr sz="1050" b="0" i="0">
                <a:solidFill>
                  <a:srgbClr val="1C1112"/>
                </a:solidFill>
                <a:latin typeface="Galyon"/>
              </a:rPr>
              <a:t>Not investors. Cash for access, not equity for access. Each member commits several properties and defines success in writing, in their own numbers, before day one.</a:t>
            </a:r>
          </a:p>
        </p:txBody>
      </p:sp>
      <p:sp>
        <p:nvSpPr>
          <p:cNvPr id="18" name="Panel Charter Rate"/>
          <p:cNvSpPr/>
          <p:nvPr/>
        </p:nvSpPr>
        <p:spPr>
          <a:xfrm>
            <a:off x="3493008" y="5907024"/>
            <a:ext cx="3136392" cy="1280160"/>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THE CHARTER RATE</a:t>
            </a:r>
          </a:p>
          <a:p>
            <a:pPr algn="l">
              <a:lnSpc>
                <a:spcPct val="100000"/>
              </a:lnSpc>
              <a:spcBef>
                <a:spcPts val="0"/>
              </a:spcBef>
              <a:spcAft>
                <a:spcPts val="300"/>
              </a:spcAft>
            </a:pPr>
            <a:r>
              <a:rPr sz="1500" b="1" i="0">
                <a:solidFill>
                  <a:srgbClr val="ED536F"/>
                </a:solidFill>
                <a:latin typeface="Galyon"/>
              </a:rPr>
              <a:t>20%</a:t>
            </a:r>
            <a:r>
              <a:rPr sz="1050" b="1" i="0">
                <a:solidFill>
                  <a:srgbClr val="1C1112"/>
                </a:solidFill>
                <a:latin typeface="Galyon"/>
              </a:rPr>
              <a:t> under list for three years.</a:t>
            </a:r>
          </a:p>
          <a:p>
            <a:pPr algn="l">
              <a:lnSpc>
                <a:spcPct val="100000"/>
              </a:lnSpc>
              <a:spcBef>
                <a:spcPts val="0"/>
              </a:spcBef>
              <a:spcAft>
                <a:spcPts val="0"/>
              </a:spcAft>
            </a:pPr>
            <a:r>
              <a:rPr sz="1050" b="0" i="0">
                <a:solidFill>
                  <a:srgbClr val="1C1112"/>
                </a:solidFill>
                <a:latin typeface="Galyon"/>
              </a:rPr>
              <a:t>After general availability, on every property you bring on, not just the beta ones. Onboarding waived. Does not stack with other multi-year discounts. Offered once, to this first group.</a:t>
            </a:r>
          </a:p>
        </p:txBody>
      </p:sp>
      <p:sp>
        <p:nvSpPr>
          <p:cNvPr id="19" name="Panel What members get"/>
          <p:cNvSpPr/>
          <p:nvPr/>
        </p:nvSpPr>
        <p:spPr>
          <a:xfrm>
            <a:off x="228600" y="7278624"/>
            <a:ext cx="3136392" cy="969264"/>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WHAT MEMBERS GET</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Ignite across your committed properties</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A direct hand in the multi-property build</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Your portfolio's patterns in the engine first</a:t>
            </a:r>
          </a:p>
          <a:p>
            <a:pPr algn="l">
              <a:lnSpc>
                <a:spcPct val="100000"/>
              </a:lnSpc>
              <a:spcBef>
                <a:spcPts val="0"/>
              </a:spcBef>
              <a:spcAft>
                <a:spcPts val="0"/>
              </a:spcAft>
            </a:pPr>
            <a:r>
              <a:rPr sz="1050" b="1" i="0">
                <a:solidFill>
                  <a:srgbClr val="ED536F"/>
                </a:solidFill>
                <a:latin typeface="Galyon"/>
              </a:rPr>
              <a:t>•  </a:t>
            </a:r>
            <a:r>
              <a:rPr sz="1050" b="0" i="0">
                <a:solidFill>
                  <a:srgbClr val="1C1112"/>
                </a:solidFill>
                <a:latin typeface="Galyon"/>
              </a:rPr>
              <a:t>Kate Burda &amp; Company alongside your team</a:t>
            </a:r>
          </a:p>
        </p:txBody>
      </p:sp>
      <p:sp>
        <p:nvSpPr>
          <p:cNvPr id="20" name="Panel Straight talk on Fuse"/>
          <p:cNvSpPr/>
          <p:nvPr/>
        </p:nvSpPr>
        <p:spPr>
          <a:xfrm>
            <a:off x="3493008" y="7278624"/>
            <a:ext cx="3136392" cy="969264"/>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STRAIGHT TALK ON FUSE</a:t>
            </a:r>
          </a:p>
          <a:p>
            <a:pPr algn="l">
              <a:lnSpc>
                <a:spcPct val="100000"/>
              </a:lnSpc>
              <a:spcBef>
                <a:spcPts val="0"/>
              </a:spcBef>
              <a:spcAft>
                <a:spcPts val="300"/>
              </a:spcAft>
            </a:pPr>
            <a:r>
              <a:rPr sz="1050" b="1" i="0">
                <a:solidFill>
                  <a:srgbClr val="1C1112"/>
                </a:solidFill>
                <a:latin typeface="Galyon"/>
              </a:rPr>
              <a:t>Ignite is live. Fuse, the multi-property layer, is not built yet.</a:t>
            </a:r>
          </a:p>
          <a:p>
            <a:pPr algn="l">
              <a:lnSpc>
                <a:spcPct val="100000"/>
              </a:lnSpc>
              <a:spcBef>
                <a:spcPts val="0"/>
              </a:spcBef>
              <a:spcAft>
                <a:spcPts val="0"/>
              </a:spcAft>
            </a:pPr>
            <a:r>
              <a:rPr sz="1050" b="0" i="0">
                <a:solidFill>
                  <a:srgbClr val="1C1112"/>
                </a:solidFill>
                <a:latin typeface="Galyon"/>
              </a:rPr>
              <a:t>We are building it now, with the members who will run it.</a:t>
            </a:r>
          </a:p>
        </p:txBody>
      </p:sp>
      <p:sp>
        <p:nvSpPr>
          <p:cNvPr id="21" name="Panel Core team"/>
          <p:cNvSpPr/>
          <p:nvPr/>
        </p:nvSpPr>
        <p:spPr>
          <a:xfrm>
            <a:off x="228600" y="8339328"/>
            <a:ext cx="6400800" cy="63093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MEET THE CORE TEAM</a:t>
            </a:r>
          </a:p>
          <a:p>
            <a:pPr algn="l">
              <a:lnSpc>
                <a:spcPct val="100000"/>
              </a:lnSpc>
              <a:spcBef>
                <a:spcPts val="0"/>
              </a:spcBef>
              <a:spcAft>
                <a:spcPts val="0"/>
              </a:spcAft>
            </a:pPr>
            <a:r>
              <a:rPr sz="1050" b="1" i="0">
                <a:solidFill>
                  <a:srgbClr val="1C1112"/>
                </a:solidFill>
                <a:latin typeface="Galyon"/>
              </a:rPr>
              <a:t>Kate Burda</a:t>
            </a:r>
            <a:r>
              <a:rPr sz="1050" b="0" i="0">
                <a:solidFill>
                  <a:srgbClr val="1C1112"/>
                </a:solidFill>
                <a:latin typeface="Galyon"/>
              </a:rPr>
              <a:t>, Founder.  </a:t>
            </a:r>
            <a:r>
              <a:rPr sz="1050" b="1" i="0">
                <a:solidFill>
                  <a:srgbClr val="1C1112"/>
                </a:solidFill>
                <a:latin typeface="Galyon"/>
              </a:rPr>
              <a:t>Eddie Westerfield</a:t>
            </a:r>
            <a:r>
              <a:rPr sz="1050" b="0" i="0">
                <a:solidFill>
                  <a:srgbClr val="1C1112"/>
                </a:solidFill>
                <a:latin typeface="Galyon"/>
              </a:rPr>
              <a:t>, CTO.  </a:t>
            </a:r>
            <a:r>
              <a:rPr sz="1050" b="1" i="0">
                <a:solidFill>
                  <a:srgbClr val="1C1112"/>
                </a:solidFill>
                <a:latin typeface="Galyon"/>
              </a:rPr>
              <a:t>Recardo Poole</a:t>
            </a:r>
            <a:r>
              <a:rPr sz="1050" b="0" i="0">
                <a:solidFill>
                  <a:srgbClr val="1C1112"/>
                </a:solidFill>
                <a:latin typeface="Galyon"/>
              </a:rPr>
              <a:t>, UI/UX.  </a:t>
            </a:r>
            <a:r>
              <a:rPr sz="1050" b="1" i="0">
                <a:solidFill>
                  <a:srgbClr val="1C1112"/>
                </a:solidFill>
                <a:latin typeface="Galyon"/>
              </a:rPr>
              <a:t>Tristan Carty</a:t>
            </a:r>
            <a:r>
              <a:rPr sz="1050" b="0" i="0">
                <a:solidFill>
                  <a:srgbClr val="1C1112"/>
                </a:solidFill>
                <a:latin typeface="Galyon"/>
              </a:rPr>
              <a:t>, Operations.</a:t>
            </a:r>
          </a:p>
          <a:p>
            <a:pPr algn="l">
              <a:lnSpc>
                <a:spcPct val="100000"/>
              </a:lnSpc>
              <a:spcBef>
                <a:spcPts val="100"/>
              </a:spcBef>
              <a:spcAft>
                <a:spcPts val="0"/>
              </a:spcAft>
            </a:pPr>
            <a:r>
              <a:rPr sz="1050" b="0" i="1">
                <a:solidFill>
                  <a:srgbClr val="1C1112"/>
                </a:solidFill>
                <a:latin typeface="Galyon"/>
              </a:rPr>
              <a:t>Kate brings 28+ years in revenue strategy. Four builders, so three to five members, not thirty.</a:t>
            </a:r>
          </a:p>
        </p:txBody>
      </p:sp>
      <p:sp>
        <p:nvSpPr>
          <p:cNvPr id="22" name="Next step"/>
          <p:cNvSpPr/>
          <p:nvPr/>
        </p:nvSpPr>
        <p:spPr>
          <a:xfrm>
            <a:off x="228600" y="9061704"/>
            <a:ext cx="6400800" cy="612647"/>
          </a:xfrm>
          <a:prstGeom prst="rect">
            <a:avLst/>
          </a:prstGeom>
          <a:solidFill>
            <a:srgbClr val="1C1112"/>
          </a:solidFill>
          <a:ln>
            <a:noFill/>
          </a:ln>
          <a:effectLst/>
        </p:spPr>
        <p:txBody>
          <a:bodyPr rtlCol="0" anchor="ctr" wrap="square" lIns="164592" tIns="54864" rIns="274320" bIns="54864">
            <a:noAutofit/>
          </a:bodyPr>
          <a:lstStyle/>
          <a:p>
            <a:pPr algn="l">
              <a:lnSpc>
                <a:spcPct val="100000"/>
              </a:lnSpc>
              <a:spcBef>
                <a:spcPts val="0"/>
              </a:spcBef>
              <a:spcAft>
                <a:spcPts val="200"/>
              </a:spcAft>
            </a:pPr>
            <a:r>
              <a:rPr sz="1150" b="1" i="0">
                <a:solidFill>
                  <a:srgbClr val="FF8983"/>
                </a:solidFill>
                <a:latin typeface="Galyon"/>
              </a:rPr>
              <a:t>NEXT STEP  </a:t>
            </a:r>
            <a:r>
              <a:rPr sz="1150" b="1" i="0">
                <a:solidFill>
                  <a:srgbClr val="FFFFFF"/>
                </a:solidFill>
                <a:latin typeface="Galyon"/>
              </a:rPr>
              <a:t>45 minutes. Nothing required from your side.</a:t>
            </a:r>
          </a:p>
          <a:p>
            <a:pPr algn="l">
              <a:lnSpc>
                <a:spcPct val="100000"/>
              </a:lnSpc>
              <a:spcBef>
                <a:spcPts val="0"/>
              </a:spcBef>
              <a:spcAft>
                <a:spcPts val="0"/>
              </a:spcAft>
            </a:pPr>
            <a:r>
              <a:rPr sz="1000" b="0" i="0">
                <a:solidFill>
                  <a:srgbClr val="FFFFFF"/>
                </a:solidFill>
                <a:latin typeface="Galyon"/>
              </a:rPr>
              <a:t>Watch Ignite run on Flying Horse Resort &amp; Club's live data, with their permission,</a:t>
            </a:r>
            <a:br/>
            <a:r>
              <a:rPr sz="1000" b="0" i="0">
                <a:solidFill>
                  <a:srgbClr val="FFFFFF"/>
                </a:solidFill>
                <a:latin typeface="Galyon"/>
              </a:rPr>
              <a:t>or on public data from your own market. Somebody else's numbers first, then yours.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