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b_Logo_2.FullColor_Horizo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7055" y="320040"/>
            <a:ext cx="2194560" cy="284001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D51067"/>
                </a:solidFill>
                <a:latin typeface="Calibri"/>
              </a:rPr>
              <a:t>SESSION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2E2925"/>
                </a:solidFill>
                <a:latin typeface="Times New Roman"/>
              </a:rPr>
              <a:t>Advisory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4805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5575A"/>
                </a:solidFill>
                <a:latin typeface="Calibri"/>
              </a:rPr>
              <a:t>August 31,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463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5575A"/>
                </a:solidFill>
                <a:latin typeface="Calibri"/>
              </a:rPr>
              <a:t>Attendees: Kate · Jack · Scout · Finn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093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55575A"/>
                </a:solidFill>
                <a:latin typeface="Calibri"/>
              </a:rPr>
              <a:t>Advisory &amp; Ignite — Session Output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D51067"/>
                </a:solidFill>
                <a:latin typeface="Calibri"/>
              </a:rPr>
              <a:t>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E2925"/>
                </a:solidFill>
                <a:latin typeface="Times New Roman"/>
              </a:rPr>
              <a:t>What was decided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10881360" cy="4846320"/>
          </a:xfrm>
          <a:prstGeom prst="roundRect">
            <a:avLst>
              <a:gd name="adj" fmla="val 4000"/>
            </a:avLst>
          </a:prstGeom>
          <a:solidFill>
            <a:srgbClr val="F7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1014984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2E2925"/>
                </a:solidFill>
                <a:latin typeface="Calibri"/>
              </a:rPr>
              <a:t>•  Growth thesis: 3 new dual-purpose clients (Advisory + candidate Ignite beta customer) at $25,000 each = $75,000 in new revenue.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2E2925"/>
                </a:solidFill>
                <a:latin typeface="Calibri"/>
              </a:rPr>
              <a:t>•  Total Advisory revenue target: $460,800 — inside the $350K floor to $500K aspirational range, deliberately short of $500K given the time tradeoff.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2E2925"/>
                </a:solidFill>
                <a:latin typeface="Calibri"/>
              </a:rPr>
              <a:t>•  Target close date: end of 2027.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2E2925"/>
                </a:solidFill>
                <a:latin typeface="Calibri"/>
              </a:rPr>
              <a:t>•  Capacity decision: Thoughtware time is capped at these 3 engagements — any additional working time goes to Ignite, not further Advisory growth.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2E2925"/>
                </a:solidFill>
                <a:latin typeface="Calibri"/>
              </a:rPr>
              <a:t>•  Pricing clears the $15K floor with room to spare ($25K vs. $15K).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2E2925"/>
                </a:solidFill>
                <a:latin typeface="Calibri"/>
              </a:rPr>
              <a:t>•  The old pro forma's “Empty Slot 1/2” placeholder language is retired — those were rollover-file artifacts, not a real 2-slot constraint.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D51067"/>
                </a:solidFill>
                <a:latin typeface="Calibri"/>
              </a:rPr>
              <a:t>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E2925"/>
                </a:solidFill>
                <a:latin typeface="Times New Roman"/>
              </a:rPr>
              <a:t>What this session produced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10881360" cy="4846320"/>
          </a:xfrm>
          <a:prstGeom prst="roundRect">
            <a:avLst>
              <a:gd name="adj" fmla="val 4000"/>
            </a:avLst>
          </a:prstGeom>
          <a:solidFill>
            <a:srgbClr val="F7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1014984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2E2925"/>
                </a:solidFill>
                <a:latin typeface="Calibri"/>
              </a:rPr>
              <a:t>•  Growth thesis, target client profile, timeline, and pricing discipline check all confirmed and locked.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2E2925"/>
                </a:solidFill>
                <a:latin typeface="Calibri"/>
              </a:rPr>
              <a:t>•  Resolved: the $25,000 figure is modeled as a one-time engagement fee (not a retainer) for Session 2's pro forma purposes — per-client deal structure remains a negotiating point.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2E2925"/>
                </a:solidFill>
                <a:latin typeface="Calibri"/>
              </a:rPr>
              <a:t>•  These 3 Advisory prospects are also candidate Ignite beta partners — same names later carried onto the Session 3B-ii target list.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D51067"/>
                </a:solidFill>
                <a:latin typeface="Calibri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E2925"/>
                </a:solidFill>
                <a:latin typeface="Times New Roman"/>
              </a:rPr>
              <a:t>What needs to happen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5257800" cy="4846320"/>
          </a:xfrm>
          <a:prstGeom prst="roundRect">
            <a:avLst>
              <a:gd name="adj" fmla="val 4000"/>
            </a:avLst>
          </a:prstGeom>
          <a:solidFill>
            <a:srgbClr val="F7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37360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D51067"/>
                </a:solidFill>
                <a:latin typeface="Calibri"/>
              </a:rPr>
              <a:t>THIS WEEK  ·  → Weekly Compass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240280"/>
            <a:ext cx="4617720" cy="3749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2E2925"/>
                </a:solidFill>
                <a:latin typeface="Calibri"/>
              </a:rPr>
              <a:t>•  Hand decisions to Janice for the Weekly Compass  —  Janice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63040"/>
            <a:ext cx="5257800" cy="4846320"/>
          </a:xfrm>
          <a:prstGeom prst="roundRect">
            <a:avLst>
              <a:gd name="adj" fmla="val 4000"/>
            </a:avLst>
          </a:prstGeom>
          <a:solidFill>
            <a:srgbClr val="F7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737360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D51067"/>
                </a:solidFill>
                <a:latin typeface="Calibri"/>
              </a:rPr>
              <a:t>LATER  ·  → Master Plan backlog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240280"/>
            <a:ext cx="4617720" cy="3749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55575A"/>
                </a:solidFill>
                <a:latin typeface="Calibri"/>
              </a:rPr>
              <a:t>Nothing outstanding beyond this week.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