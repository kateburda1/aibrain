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E2925"/>
                </a:solidFill>
                <a:latin typeface="Times New Roman"/>
              </a:rPr>
              <a:t>Advisory &amp; Ignite — Session Status
</a:t>
            </a:r>
            <a:r>
              <a:rPr sz="1050" b="0" i="0">
                <a:solidFill>
                  <a:srgbClr val="55575A"/>
                </a:solidFill>
                <a:latin typeface="Franklin Gothic Book"/>
              </a:rPr>
              <a:t>As of 2026.09.23. One page, printable. Full detail lives in the master plan and each session’s Outputs file.</a:t>
            </a:r>
          </a:p>
        </p:txBody>
      </p:sp>
      <p:sp>
        <p:nvSpPr>
          <p:cNvPr id="4" name="Oval 3"/>
          <p:cNvSpPr/>
          <p:nvPr/>
        </p:nvSpPr>
        <p:spPr>
          <a:xfrm>
            <a:off x="8869680" y="384048"/>
            <a:ext cx="100584" cy="100584"/>
          </a:xfrm>
          <a:prstGeom prst="ellipse">
            <a:avLst/>
          </a:prstGeom>
          <a:solidFill>
            <a:srgbClr val="2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5984" y="32918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575A"/>
                </a:solidFill>
                <a:latin typeface="Franklin Gothic Book"/>
              </a:rPr>
              <a:t>Done</a:t>
            </a:r>
          </a:p>
        </p:txBody>
      </p:sp>
      <p:sp>
        <p:nvSpPr>
          <p:cNvPr id="6" name="Oval 5"/>
          <p:cNvSpPr/>
          <p:nvPr/>
        </p:nvSpPr>
        <p:spPr>
          <a:xfrm>
            <a:off x="9829800" y="384048"/>
            <a:ext cx="100584" cy="100584"/>
          </a:xfrm>
          <a:prstGeom prst="ellipse">
            <a:avLst/>
          </a:prstGeom>
          <a:solidFill>
            <a:srgbClr val="B47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6104" y="32918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575A"/>
                </a:solidFill>
                <a:latin typeface="Franklin Gothic Book"/>
              </a:rPr>
              <a:t>In progress</a:t>
            </a:r>
          </a:p>
        </p:txBody>
      </p:sp>
      <p:sp>
        <p:nvSpPr>
          <p:cNvPr id="8" name="Oval 7"/>
          <p:cNvSpPr/>
          <p:nvPr/>
        </p:nvSpPr>
        <p:spPr>
          <a:xfrm>
            <a:off x="10789920" y="384048"/>
            <a:ext cx="100584" cy="100584"/>
          </a:xfrm>
          <a:prstGeom prst="ellipse">
            <a:avLst/>
          </a:prstGeom>
          <a:solidFill>
            <a:srgbClr val="71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36224" y="32918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575A"/>
                </a:solidFill>
                <a:latin typeface="Franklin Gothic Book"/>
              </a:rPr>
              <a:t>Not started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624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3656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5520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1552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3416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9448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312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97344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9208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5240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7104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3136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5000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1032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896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28928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1572768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1655064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F6B5E"/>
                </a:solidFill>
                <a:latin typeface="Times New Roman"/>
              </a:rPr>
              <a:t>S1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Advisory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1901952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F6B5E"/>
                </a:solidFill>
                <a:latin typeface="Franklin Gothic Medium"/>
              </a:rPr>
              <a:t>● DONE (8/31)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2103120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· Jack · Scout · Finn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2340864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3 clients × $25K = $75K new. $460.8K total Advisory revenue, EOY 2027.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840736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Nothing. Handed to Janice for the Weekly Compass 9/23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8490" y="1572768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4794" y="1655064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F6B5E"/>
                </a:solidFill>
                <a:latin typeface="Times New Roman"/>
              </a:rPr>
              <a:t>S2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Advisory Pro Forma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4794" y="1901952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F6B5E"/>
                </a:solidFill>
                <a:latin typeface="Franklin Gothic Medium"/>
              </a:rPr>
              <a:t>● DONE (9/13)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4794" y="2103120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· Finn · Shelby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4794" y="2340864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Pro forma rebuilt: $468.6K revenue, $254.3K after-tax profit.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4794" y="2840736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Swap real close dates for the May/Aug/Nov placeholders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1220" y="1572768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7524" y="1655064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4711F"/>
                </a:solidFill>
                <a:latin typeface="Times New Roman"/>
              </a:rPr>
              <a:t>S3A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Ignite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7524" y="1901952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B4711F"/>
                </a:solidFill>
                <a:latin typeface="Franklin Gothic Medium"/>
              </a:rPr>
              <a:t>● OUTPUT DONE (9/20) · WAITING ON EDDIE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7524" y="2103120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+ Eddie, Tristan · Scout · Finn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7524" y="2340864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5 partners. $23.5K 6-mo cash need, $4.7K/partner. Cap table corrected.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7524" y="2840736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B52372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B52372"/>
                </a:solidFill>
                <a:latin typeface="Franklin Gothic Book"/>
              </a:rPr>
              <a:t>Eddie signs the equity amendment (reminder 9/25)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3261360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" y="3343656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F6B5E"/>
                </a:solidFill>
                <a:latin typeface="Times New Roman"/>
              </a:rPr>
              <a:t>S3B-i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GTM: Marketing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" y="3590544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F6B5E"/>
                </a:solidFill>
                <a:latin typeface="Franklin Gothic Medium"/>
              </a:rPr>
              <a:t>● DONE (8/31)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" y="3791712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Marcus · Kate · Scout · Maxell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" y="4029456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Positioning locked (“Revenue Growth System”). Pitch drafted &amp; split.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4529328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Decide the founding-partner post-beta pricing advantage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28490" y="3261360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4794" y="3343656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S3B-ii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GTM: Sales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4794" y="3590544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NOT STARTED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4794" y="3791712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Jack · Kate · Marcus · Finn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4794" y="4029456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Target list built: Noble, Raines, Crescent, PM Hotel Group. Outreach on hold.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4794" y="4529328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Draft the pilot agreement — lawyer not yet named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1220" y="3261360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37524" y="3343656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S4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Ignite Financial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7524" y="3590544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NOT STARTED · OPENS WHEN EDDIE SIGNS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7524" y="3791712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+ Eddie, Tristan · Finn · Shelby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7524" y="4029456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Funded model on 3A’s numbers, replacing 2024 assumptions.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37524" y="4529328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Load 3A’s numbers into the Ignite financial model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4949952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5032248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S5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Kate &amp; Co Budget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" y="5279136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BLOCKED ON 4 (2 IS DONE)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" y="5480304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· Finn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" y="5718048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Real budget funding both engines, replacing the flat rollover.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064" y="6217920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Calculate cash needed to fund Sessions 1–4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228490" y="4949952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74794" y="5032248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S6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Tech Stack Review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4794" y="5279136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PARALLEL · NOT STARTED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74794" y="5480304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+ Tristan · Shelby · Jack · Finn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74794" y="5718048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Confirmed tooling decisions and cost/ROI read.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4794" y="6217920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Decide who works the 20 unworked Kisaco leads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91220" y="4949952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37524" y="5032248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S7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Roll-Up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37524" y="5279136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BLOCKED ON ALL ABOVE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37524" y="5480304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+ Eddie + Tristan · Finn · Marcus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37524" y="5718048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One integrated Advisory + Ignite view and decision log.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37524" y="6217920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Set the next review cadence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241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E2925"/>
                </a:solidFill>
                <a:latin typeface="Times New Roman"/>
              </a:rPr>
              <a:t>How the sessions connect</a:t>
            </a:r>
          </a:p>
          <a:p>
            <a:pPr algn="l"/>
            <a:r>
              <a:rPr sz="1100" b="0" i="0">
                <a:solidFill>
                  <a:srgbClr val="55575A"/>
                </a:solidFill>
                <a:latin typeface="Franklin Gothic Book"/>
              </a:rPr>
              <a:t>Each arrow is one session’s output becoming the next session’s input. As of 2026.09.23.</a:t>
            </a:r>
          </a:p>
        </p:txBody>
      </p:sp>
      <p:sp>
        <p:nvSpPr>
          <p:cNvPr id="3" name="Oval 2"/>
          <p:cNvSpPr/>
          <p:nvPr/>
        </p:nvSpPr>
        <p:spPr>
          <a:xfrm>
            <a:off x="7223760" y="384048"/>
            <a:ext cx="100584" cy="100584"/>
          </a:xfrm>
          <a:prstGeom prst="ellipse">
            <a:avLst/>
          </a:prstGeom>
          <a:solidFill>
            <a:srgbClr val="2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60920" y="310896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75A"/>
                </a:solidFill>
                <a:latin typeface="Franklin Gothic Book"/>
              </a:rPr>
              <a:t>Done</a:t>
            </a:r>
          </a:p>
        </p:txBody>
      </p:sp>
      <p:sp>
        <p:nvSpPr>
          <p:cNvPr id="5" name="Oval 4"/>
          <p:cNvSpPr/>
          <p:nvPr/>
        </p:nvSpPr>
        <p:spPr>
          <a:xfrm>
            <a:off x="8823960" y="384048"/>
            <a:ext cx="100584" cy="100584"/>
          </a:xfrm>
          <a:prstGeom prst="ellipse">
            <a:avLst/>
          </a:prstGeom>
          <a:solidFill>
            <a:srgbClr val="B47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310896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75A"/>
                </a:solidFill>
                <a:latin typeface="Franklin Gothic Book"/>
              </a:rPr>
              <a:t>In progress / waiting</a:t>
            </a:r>
          </a:p>
        </p:txBody>
      </p:sp>
      <p:sp>
        <p:nvSpPr>
          <p:cNvPr id="7" name="Oval 6"/>
          <p:cNvSpPr/>
          <p:nvPr/>
        </p:nvSpPr>
        <p:spPr>
          <a:xfrm>
            <a:off x="10424160" y="384048"/>
            <a:ext cx="100584" cy="100584"/>
          </a:xfrm>
          <a:prstGeom prst="ellipse">
            <a:avLst/>
          </a:prstGeom>
          <a:solidFill>
            <a:srgbClr val="71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61320" y="310896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75A"/>
                </a:solidFill>
                <a:latin typeface="Franklin Gothic Book"/>
              </a:rPr>
              <a:t>Not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4937760"/>
            <a:ext cx="2514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97280"/>
            <a:ext cx="2514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ADVISORY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097280"/>
            <a:ext cx="2514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IGNITE STRATEGY &amp;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097280"/>
            <a:ext cx="2514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IGNITE GO-TO-MARKET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41732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2F6B5E"/>
                </a:solidFill>
                <a:latin typeface="Franklin Gothic Medium"/>
              </a:rPr>
              <a:t>S1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Advisory Strategy</a:t>
            </a:r>
          </a:p>
          <a:p>
            <a:pPr algn="l"/>
            <a:r>
              <a:rPr sz="850" b="1" i="0">
                <a:solidFill>
                  <a:srgbClr val="2F6B5E"/>
                </a:solidFill>
                <a:latin typeface="Franklin Gothic Medium"/>
              </a:rPr>
              <a:t>● DONE 8/31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3 clients × $25K, EOY 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9748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2F6B5E"/>
                </a:solidFill>
                <a:latin typeface="Franklin Gothic Medium"/>
              </a:rPr>
              <a:t>S2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Advisory Pro Forma</a:t>
            </a:r>
          </a:p>
          <a:p>
            <a:pPr algn="l"/>
            <a:r>
              <a:rPr sz="850" b="1" i="0">
                <a:solidFill>
                  <a:srgbClr val="2F6B5E"/>
                </a:solidFill>
                <a:latin typeface="Franklin Gothic Medium"/>
              </a:rPr>
              <a:t>● DONE 9/13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$468.6K revenue, $254.3K profit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41732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B4711F"/>
                </a:solidFill>
                <a:latin typeface="Franklin Gothic Medium"/>
              </a:rPr>
              <a:t>S3A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Ignite Strategy</a:t>
            </a:r>
          </a:p>
          <a:p>
            <a:pPr algn="l"/>
            <a:r>
              <a:rPr sz="850" b="1" i="0">
                <a:solidFill>
                  <a:srgbClr val="B4711F"/>
                </a:solidFill>
                <a:latin typeface="Franklin Gothic Medium"/>
              </a:rPr>
              <a:t>● WAITING ON EDDIE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5 partners, $23.5K cash need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69748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S4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Ignite Financial Model</a:t>
            </a:r>
          </a:p>
          <a:p>
            <a:pPr algn="l"/>
            <a:r>
              <a:rPr sz="850" b="1" i="0">
                <a:solidFill>
                  <a:srgbClr val="717271"/>
                </a:solidFill>
                <a:latin typeface="Franklin Gothic Medium"/>
              </a:rPr>
              <a:t>● OPENS WHEN EDDIE SIGNS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Load 3A’s numbers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41732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2F6B5E"/>
                </a:solidFill>
                <a:latin typeface="Franklin Gothic Medium"/>
              </a:rPr>
              <a:t>S3B-i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GTM: Marketing</a:t>
            </a:r>
          </a:p>
          <a:p>
            <a:pPr algn="l"/>
            <a:r>
              <a:rPr sz="850" b="1" i="0">
                <a:solidFill>
                  <a:srgbClr val="2F6B5E"/>
                </a:solidFill>
                <a:latin typeface="Franklin Gothic Medium"/>
              </a:rPr>
              <a:t>● DONE 8/31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“Revenue Growth System” locked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69748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S3B-ii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GTM: Sales</a:t>
            </a:r>
          </a:p>
          <a:p>
            <a:pPr algn="l"/>
            <a:r>
              <a:rPr sz="850" b="1" i="0">
                <a:solidFill>
                  <a:srgbClr val="717271"/>
                </a:solidFill>
                <a:latin typeface="Franklin Gothic Medium"/>
              </a:rPr>
              <a:t>● NOT STARTED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Target list built, outreach on 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525780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S6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Tech Stack Review</a:t>
            </a:r>
          </a:p>
          <a:p>
            <a:pPr algn="l"/>
            <a:r>
              <a:rPr sz="850" b="1" i="0">
                <a:solidFill>
                  <a:srgbClr val="717271"/>
                </a:solidFill>
                <a:latin typeface="Franklin Gothic Medium"/>
              </a:rPr>
              <a:t>● PARALLEL, NOT BLOCKING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ZoomInfo, Zoho, Ignite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3977639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S5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Kate &amp; Co Budget</a:t>
            </a:r>
          </a:p>
          <a:p>
            <a:pPr algn="l"/>
            <a:r>
              <a:rPr sz="850" b="1" i="0">
                <a:solidFill>
                  <a:srgbClr val="717271"/>
                </a:solidFill>
                <a:latin typeface="Franklin Gothic Medium"/>
              </a:rPr>
              <a:t>● WAITING ON S4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The merge point: funds both engines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525780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576" tIns="73152" bIns="18288"/>
          <a:lstStyle/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S7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Roll-Up</a:t>
            </a:r>
          </a:p>
          <a:p>
            <a:pPr algn="l"/>
            <a:r>
              <a:rPr sz="850" b="1" i="0">
                <a:solidFill>
                  <a:srgbClr val="717271"/>
                </a:solidFill>
                <a:latin typeface="Franklin Gothic Medium"/>
              </a:rPr>
              <a:t>● WAITING ON ALL ABOVE</a:t>
            </a:r>
          </a:p>
          <a:p>
            <a:pPr algn="l"/>
            <a:r>
              <a:rPr sz="950" b="0" i="0">
                <a:solidFill>
                  <a:srgbClr val="55575A"/>
                </a:solidFill>
                <a:latin typeface="Franklin Gothic Book"/>
              </a:rPr>
              <a:t>One integrated view + decision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59" y="4142231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6F4F1"/>
          </a:solidFill>
          <a:ln w="12700">
            <a:solidFill>
              <a:srgbClr val="C9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55575A"/>
                </a:solidFill>
                <a:latin typeface="Franklin Gothic Medium"/>
              </a:rPr>
              <a:t>Outreach begins</a:t>
            </a:r>
          </a:p>
          <a:p>
            <a:pPr algn="ctr"/>
            <a:r>
              <a:rPr sz="900" b="0" i="1">
                <a:solidFill>
                  <a:srgbClr val="8A8B8C"/>
                </a:solidFill>
                <a:latin typeface="Franklin Gothic Book"/>
              </a:rPr>
              <a:t>held until S3B-ii is in place</a:t>
            </a:r>
          </a:p>
        </p:txBody>
      </p:sp>
      <p:cxnSp>
        <p:nvCxnSpPr>
          <p:cNvPr id="23" name="Connector 22"/>
          <p:cNvCxnSpPr>
            <a:stCxn id="13" idx="2"/>
            <a:endCxn id="14" idx="0"/>
          </p:cNvCxnSpPr>
          <p:nvPr/>
        </p:nvCxnSpPr>
        <p:spPr>
          <a:xfrm flipH="1">
            <a:off x="1668780" y="2240280"/>
            <a:ext cx="0" cy="457200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3" idx="3"/>
            <a:endCxn id="15" idx="1"/>
          </p:cNvCxnSpPr>
          <p:nvPr/>
        </p:nvCxnSpPr>
        <p:spPr>
          <a:xfrm flipV="1">
            <a:off x="2926080" y="1828800"/>
            <a:ext cx="502920" cy="0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5" idx="3"/>
            <a:endCxn id="17" idx="1"/>
          </p:cNvCxnSpPr>
          <p:nvPr/>
        </p:nvCxnSpPr>
        <p:spPr>
          <a:xfrm flipV="1">
            <a:off x="5943600" y="1828800"/>
            <a:ext cx="502920" cy="0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5" idx="2"/>
            <a:endCxn id="16" idx="0"/>
          </p:cNvCxnSpPr>
          <p:nvPr/>
        </p:nvCxnSpPr>
        <p:spPr>
          <a:xfrm flipH="1">
            <a:off x="4686300" y="2240280"/>
            <a:ext cx="0" cy="457200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7" idx="2"/>
            <a:endCxn id="18" idx="0"/>
          </p:cNvCxnSpPr>
          <p:nvPr/>
        </p:nvCxnSpPr>
        <p:spPr>
          <a:xfrm flipH="1">
            <a:off x="7703820" y="2240280"/>
            <a:ext cx="0" cy="457200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8" idx="2"/>
            <a:endCxn id="22" idx="0"/>
          </p:cNvCxnSpPr>
          <p:nvPr/>
        </p:nvCxnSpPr>
        <p:spPr>
          <a:xfrm flipH="1">
            <a:off x="7703818" y="3520440"/>
            <a:ext cx="2" cy="621791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4" idx="2"/>
            <a:endCxn id="20" idx="1"/>
          </p:cNvCxnSpPr>
          <p:nvPr/>
        </p:nvCxnSpPr>
        <p:spPr>
          <a:xfrm>
            <a:off x="1668780" y="3520440"/>
            <a:ext cx="251460" cy="868679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6" idx="2"/>
            <a:endCxn id="20" idx="3"/>
          </p:cNvCxnSpPr>
          <p:nvPr/>
        </p:nvCxnSpPr>
        <p:spPr>
          <a:xfrm flipH="1">
            <a:off x="4434840" y="3520440"/>
            <a:ext cx="251460" cy="868679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0" idx="2"/>
            <a:endCxn id="21" idx="0"/>
          </p:cNvCxnSpPr>
          <p:nvPr/>
        </p:nvCxnSpPr>
        <p:spPr>
          <a:xfrm flipH="1">
            <a:off x="3177540" y="4800599"/>
            <a:ext cx="0" cy="457201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9" idx="1"/>
            <a:endCxn id="21" idx="3"/>
          </p:cNvCxnSpPr>
          <p:nvPr/>
        </p:nvCxnSpPr>
        <p:spPr>
          <a:xfrm flipH="1" flipV="1">
            <a:off x="4434840" y="5669280"/>
            <a:ext cx="4892040" cy="0"/>
          </a:xfrm>
          <a:prstGeom prst="bentConnector3">
            <a:avLst/>
          </a:prstGeom>
          <a:ln w="19050">
            <a:solidFill>
              <a:srgbClr val="9C9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2286000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growth 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162763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162763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numbers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2286000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partners, cash need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286000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positioning, pricing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566160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funded Advisory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5661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Ignite cash need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funded budget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394960"/>
            <a:ext cx="20116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8A8B8C"/>
                </a:solidFill>
                <a:latin typeface="Franklin Gothic Book"/>
              </a:rPr>
              <a:t>tooling decisions, cost/ROI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6B5E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1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F6B5E"/>
                </a:solidFill>
                <a:latin typeface="Times New Roman"/>
              </a:rPr>
              <a:t>S1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Advisory Strategy</a:t>
            </a:r>
          </a:p>
          <a:p>
            <a:pPr algn="l"/>
            <a:r>
              <a:rPr sz="1100" b="1" i="0">
                <a:solidFill>
                  <a:srgbClr val="2F6B5E"/>
                </a:solidFill>
                <a:latin typeface="Franklin Gothic Medium"/>
              </a:rPr>
              <a:t>● DONE · 8/31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Kate · Jack (pipeline fit) · Scout (ICP research) · Finn (revenue targets)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Growth thesis: what “next level” means for Thoughtware, in dollars and clients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Target client profile and a realistic timeline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Pricing discipline check against the $15K floor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None. This is where the plan starts.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2F6B5E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3 dual-purpose clients (Advisory + candidate Ignite partner) × $25K = $75K new revenue. Total Advisory $460,800 by end of 2027. Thoughtware time capped at these 3; extra time goes to Ignite.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S2 (revenue assumptions) · S3A (dual-purpose targeting) · S3B-ii (same target list)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4 of 4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Set the growth target: 3 × $25,000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Confirm timeline: end of 2027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Check price against the $15K floor: passes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Hand decisions to Janice for the Weekly Compass (9/23)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6B5E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2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F6B5E"/>
                </a:solidFill>
                <a:latin typeface="Times New Roman"/>
              </a:rPr>
              <a:t>S2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Advisory Pro Forma</a:t>
            </a:r>
          </a:p>
          <a:p>
            <a:pPr algn="l"/>
            <a:r>
              <a:rPr sz="1100" b="1" i="0">
                <a:solidFill>
                  <a:srgbClr val="2F6B5E"/>
                </a:solidFill>
                <a:latin typeface="Franklin Gothic Medium"/>
              </a:rPr>
              <a:t>● DONE · 9/13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Kate · Finn (numbers) · Shelby (built the model)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Turn S1’s thesis into monthly revenue assumptions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Rebuild 2027_Advisory_Proforma_1.xlsx to model growth, not flat expenses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Sanity-check against the IRS ($24,835) and SBA loan payoff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S1’s growth thesis: 3 × $25K, one-time fees, EOY 2027.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2F6B5E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Formula-driven pro forma. $468,600 revenue ($393,600 recurring + $75,000 new). $254,320 after-tax profit. Fixed a mixed tax rate (now 15%) and stale hardcoded totals along the way.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S5 (Kate &amp; Co budget)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3 of 4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Convert S1’s thesis into monthly revenue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Rebuild the pro forma to model growth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Cross-check IRS and SBA payoff: Q1 2027 plan holds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Swap real close dates in for the May/Aug/Nov placeholders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B4711F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3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B4711F"/>
                </a:solidFill>
                <a:latin typeface="Times New Roman"/>
              </a:rPr>
              <a:t>S3A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Ignite Strategy</a:t>
            </a:r>
          </a:p>
          <a:p>
            <a:pPr algn="l"/>
            <a:r>
              <a:rPr sz="1100" b="1" i="0">
                <a:solidFill>
                  <a:srgbClr val="B4711F"/>
                </a:solidFill>
                <a:latin typeface="Franklin Gothic Medium"/>
              </a:rPr>
              <a:t>● OUTPUT DONE 9/20 · WAITING ON EDDIE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Kate · Finn (beta economics) · Scout · Jack · Maxell · Marcus · Janice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4711F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Where Ignite stands: beta slots vs. capacity, beta-to-GA path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4711F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Realistic near-term revenue, replacing the 2024 assumptions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4711F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What Eddie, Recardo and Tristan need to hit that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Finn’s 3–5 partner analysis (8/26) · capacity flag from the Launch Timeline.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B4711F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5 beta partners. $23,500 six-month cash need, $4,700 per partner. Cap table matched to signed agreements (Kate 70, Eddie 15, Recardo 5, Tristan 2, 8% pool). Draft amendment for Recardo 5%→10%.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S4 (financial model) · both 3B tracks, now anchored at 5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3 of 8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Confirm partner count: 5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Build the beta cash-need model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Correct the cap table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Eddie signs the equity amendment (reminder 9/25)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Eddie’s dev/infrastructure costs (5 lines still $0)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Real travel itinerary: Atlanta, Boston, New Orleans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Legal quote once a lawyer is named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Decide onboarding: all partners at once, or staged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2F6B5E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4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F6B5E"/>
                </a:solidFill>
                <a:latin typeface="Times New Roman"/>
              </a:rPr>
              <a:t>S3B-i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GTM: Marketing</a:t>
            </a:r>
          </a:p>
          <a:p>
            <a:pPr algn="l"/>
            <a:r>
              <a:rPr sz="1100" b="1" i="0">
                <a:solidFill>
                  <a:srgbClr val="2F6B5E"/>
                </a:solidFill>
                <a:latin typeface="Franklin Gothic Medium"/>
              </a:rPr>
              <a:t>● DONE · 8/31 · 3 FOLLOW-UPS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Marcus (ran positioning) · Kate (every decision) · Scout · Maxell (drafting)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Fuse framing: roadmap item vs. narrowed pitch vs. hold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Full positioning: alternatives, attributes, value, market, category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Proof assets: 16:1 ROAS case, HRI hours finding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2F6B5E"/>
                </a:solidFill>
                <a:latin typeface="Franklin Gothic Medium"/>
              </a:rPr>
              <a:t>4.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Pitch one-pager, split into external and internal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S1’s dual-purpose targeting · existing brand assets, verified.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2F6B5E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Positioning locked: category “Revenue Growth System,” statement, buyer map. Prospect-safe one-pager plus internal source notes. Ignite brand standards captured.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S3B-ii inherits this positioning and pricing for outreach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4 of 7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Lock positioning: category, statement, buyer map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Source and verify proof stories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Draft and split the one-pager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Capture Ignite brand standards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Confirm Conductor AI / Revvie / Ella vs. Iggy naming, with Eddie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igniteyourgrowth.com launch check (Tristan, Shelby)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Decide the founding-partner post-beta pricing advantage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717271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5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717271"/>
                </a:solidFill>
                <a:latin typeface="Times New Roman"/>
              </a:rPr>
              <a:t>S3B-ii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GTM: Sales</a:t>
            </a:r>
          </a:p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● NOT STARTED · OUTREACH ON 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Jack (pipeline, outreach) · Kate · Marcus (agreement) · Finn (metrics) · Eddie &amp; Tristan (security)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Finalize and prioritize the outreach list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Pilot agreement terms: Fuse refund, data ownership, term, exit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Data-security and compliance posture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4.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Per-partner success metrics, set before day one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5.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Get Zoho in active use, incl. 20 unworked Kisaco leads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Positioning and pricing from S3B-i · S1’s target profile.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A ready-to-run outreach plan: prioritized list, pilot terms (pending legal review), security posture, success metrics, active CRM.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Actual outreach (Launch Timeline Phase 3), held until this closes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1 of 7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6B5E"/>
                </a:solidFill>
                <a:latin typeface="Segoe UI Symbol"/>
              </a:rPr>
              <a:t>☑  </a:t>
            </a:r>
            <a:r>
              <a:rPr sz="1300" b="0" i="0">
                <a:solidFill>
                  <a:srgbClr val="8A8B8C"/>
                </a:solidFill>
                <a:latin typeface="Franklin Gothic Book"/>
              </a:rPr>
              <a:t>Target list: Noble, Raines, Crescent, PM Hotel Group + backups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Draft pilot agreement: Marcus frames, lawyer reviews (none named)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Security/compliance posture (Eddie, Tristan)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Per-partner success metrics (Finn)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Work the 20 Kisaco leads in Zoho (Jack)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Pick who takes a Flying Horse reference call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Hold all outreach until the above are done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717271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6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717271"/>
                </a:solidFill>
                <a:latin typeface="Times New Roman"/>
              </a:rPr>
              <a:t>S4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Ignite Financial Model</a:t>
            </a:r>
          </a:p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● NOT STARTED · OPENS WHEN EDDIE SIGNS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Kate + Eddie, Tristan (cost inputs) · Finn · Shelby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Replace the model’s 2024 assumptions with S3A’s numbers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Fix the cap table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Reconcile COGS and salaries against the current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S3A’s partner count, pricing and cash need (landed 9/20).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A funded, current Ignite financial model with a correct cap table.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S5 (Ignite’s real cash need) · the written basis for the $1.3M–$2M pitch 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0 of 4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Load S3A’s numbers into Ignite Financial Architecture vkb.xlsx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Confirm Garrard and Tavares are out of the cap table (S3A corrected it)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Reconcile COGS and salaries against the current team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Write down the basis for the $1.3M–$2M figure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717271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7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717271"/>
                </a:solidFill>
                <a:latin typeface="Times New Roman"/>
              </a:rPr>
              <a:t>S5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Kate &amp; Co Budget</a:t>
            </a:r>
          </a:p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● WAITING ON S4 · S2 IS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Kate · Finn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Cash needed to fund the Advisory and Ignite plans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Draw vs. reinvestment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Debt payoff sequencing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S2’s pro forma (done: $254,320 after-tax) · S4’s Ignite model (not built yet).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A real Kate &amp; Co budget that funds both engines, replacing the flat expense rollover.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S7 (roll-up)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0 of 4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Calculate cash needed to fund Sessions 1–4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Decide draw vs. reinvestment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Sequence debt payoff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Remove the canceled $199/mo ActiveCampaign 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717271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8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717271"/>
                </a:solidFill>
                <a:latin typeface="Times New Roman"/>
              </a:rPr>
              <a:t>S6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Tech Stack Review</a:t>
            </a:r>
          </a:p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● NOT STARTED · CAN RUN ANY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Kate + Tristan · Shelby (tool fit) · Jack (daily user) · Finn (cost/ROI)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ZoomInfo ($833/mo) against the S1 pipeline plan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Zoho as system of record: who works the Kisaco leads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Ignite tooling (Vercel, Supabase) against S3/S4 needs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S1’s pipeline plan · S3/S4 tooling needs.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Confirmed tech stack decisions and a cost/ROI read.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S7 (roll-up). Runs alongside S4 and S5, doesn’t block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0 of 3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Evaluate ZoomInfo ROI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Decide who works the 20 Kisaco leads (same item as S3B-ii)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Check Vercel and Supabase against S3/S4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B4711F"/>
                </a:solidFill>
                <a:latin typeface="Franklin Gothic Medium"/>
              </a:rPr>
              <a:t>S3A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2F6B5E"/>
                </a:solidFill>
                <a:latin typeface="Franklin Gothic Medium"/>
              </a:rPr>
              <a:t>S3B-i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"/>
            <a:ext cx="896112" cy="274320"/>
          </a:xfrm>
          <a:prstGeom prst="roundRect">
            <a:avLst>
              <a:gd name="adj" fmla="val 30000"/>
            </a:avLst>
          </a:prstGeom>
          <a:solidFill>
            <a:srgbClr val="717271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Franklin Gothic Medium"/>
              </a:rPr>
              <a:t>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4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8A8B8C"/>
                </a:solidFill>
                <a:latin typeface="Franklin Gothic Book"/>
              </a:rPr>
              <a:t>Session 9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31520"/>
            <a:ext cx="11338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717271"/>
                </a:solidFill>
                <a:latin typeface="Times New Roman"/>
              </a:rPr>
              <a:t>S7  </a:t>
            </a:r>
            <a:r>
              <a:rPr sz="2800" b="1" i="0">
                <a:solidFill>
                  <a:srgbClr val="2E2925"/>
                </a:solidFill>
                <a:latin typeface="Times New Roman"/>
              </a:rPr>
              <a:t>Roll-Up</a:t>
            </a:r>
          </a:p>
          <a:p>
            <a:pPr algn="l"/>
            <a:r>
              <a:rPr sz="1100" b="1" i="0">
                <a:solidFill>
                  <a:srgbClr val="717271"/>
                </a:solidFill>
                <a:latin typeface="Franklin Gothic Medium"/>
              </a:rPr>
              <a:t>● WAITING ON ALL ABOVE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75A"/>
                </a:solidFill>
                <a:latin typeface="Franklin Gothic Book"/>
              </a:rPr>
              <a:t>Kate + Eddie + Tristan · Finn · Marcus (synthesis)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480060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TOPICS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1.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One view: Advisory (cash) + Ignite (growth/equity) under Kate &amp; Co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2.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Every open decision from S1–S6 has a Weekly Compass entry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17271"/>
                </a:solidFill>
                <a:latin typeface="Franklin Gothic Medium"/>
              </a:rPr>
              <a:t>3.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Set the next review cadence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1539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80644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INPUTS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Every session’s output.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OUTPUT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One integrated view and a decision log.</a:t>
            </a:r>
          </a:p>
          <a:p>
            <a:pPr algn="l">
              <a:spcBef>
                <a:spcPts val="700"/>
              </a:spcBef>
            </a:pPr>
            <a:r>
              <a:rPr sz="900" b="1" i="0">
                <a:solidFill>
                  <a:srgbClr val="8A8B8C"/>
                </a:solidFill>
                <a:latin typeface="Franklin Gothic Medium"/>
              </a:rPr>
              <a:t>FEEDS    </a:t>
            </a:r>
            <a:r>
              <a:rPr sz="1250" b="0" i="0">
                <a:solidFill>
                  <a:srgbClr val="2E2925"/>
                </a:solidFill>
                <a:latin typeface="Franklin Gothic Book"/>
              </a:rPr>
              <a:t>Ongoing operation. This is the end of the 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8A8B8C"/>
                </a:solidFill>
                <a:latin typeface="Franklin Gothic Medium"/>
              </a:rPr>
              <a:t>ACTIONS</a:t>
            </a:r>
            <a:r>
              <a:rPr sz="900" b="0" i="0">
                <a:solidFill>
                  <a:srgbClr val="8A8B8C"/>
                </a:solidFill>
                <a:latin typeface="Franklin Gothic Book"/>
              </a:rPr>
              <a:t>   0 of 3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557784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Build the consolidated Advisory + Ignite view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Check every S1–S6 decision is on the Weekly Compass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D51067"/>
                </a:solidFill>
                <a:latin typeface="Segoe UI Symbol"/>
              </a:rPr>
              <a:t>☐  </a:t>
            </a:r>
            <a:r>
              <a:rPr sz="1300" b="0" i="0">
                <a:solidFill>
                  <a:srgbClr val="2E2925"/>
                </a:solidFill>
                <a:latin typeface="Franklin Gothic Book"/>
              </a:rPr>
              <a:t>Set the next review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