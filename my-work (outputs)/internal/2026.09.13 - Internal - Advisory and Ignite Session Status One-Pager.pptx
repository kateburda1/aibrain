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2E2925"/>
                </a:solidFill>
                <a:latin typeface="Times New Roman"/>
              </a:rPr>
              <a:t>Advisory &amp; Ignite — Session Status
</a:t>
            </a:r>
            <a:r>
              <a:rPr sz="1050" b="0" i="0">
                <a:solidFill>
                  <a:srgbClr val="55575A"/>
                </a:solidFill>
                <a:latin typeface="Franklin Gothic Book"/>
              </a:rPr>
              <a:t>One page, printable. Full detail lives in the dependency-graph artifact and the master plan doc.</a:t>
            </a:r>
          </a:p>
        </p:txBody>
      </p:sp>
      <p:sp>
        <p:nvSpPr>
          <p:cNvPr id="4" name="Oval 3"/>
          <p:cNvSpPr/>
          <p:nvPr/>
        </p:nvSpPr>
        <p:spPr>
          <a:xfrm>
            <a:off x="8869680" y="384048"/>
            <a:ext cx="100584" cy="100584"/>
          </a:xfrm>
          <a:prstGeom prst="ellipse">
            <a:avLst/>
          </a:prstGeom>
          <a:solidFill>
            <a:srgbClr val="2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5984" y="32918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575A"/>
                </a:solidFill>
                <a:latin typeface="Franklin Gothic Book"/>
              </a:rPr>
              <a:t>Done</a:t>
            </a:r>
          </a:p>
        </p:txBody>
      </p:sp>
      <p:sp>
        <p:nvSpPr>
          <p:cNvPr id="6" name="Oval 5"/>
          <p:cNvSpPr/>
          <p:nvPr/>
        </p:nvSpPr>
        <p:spPr>
          <a:xfrm>
            <a:off x="9829800" y="384048"/>
            <a:ext cx="100584" cy="100584"/>
          </a:xfrm>
          <a:prstGeom prst="ellipse">
            <a:avLst/>
          </a:prstGeom>
          <a:solidFill>
            <a:srgbClr val="B47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76104" y="32918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575A"/>
                </a:solidFill>
                <a:latin typeface="Franklin Gothic Book"/>
              </a:rPr>
              <a:t>In progress</a:t>
            </a:r>
          </a:p>
        </p:txBody>
      </p:sp>
      <p:sp>
        <p:nvSpPr>
          <p:cNvPr id="8" name="Oval 7"/>
          <p:cNvSpPr/>
          <p:nvPr/>
        </p:nvSpPr>
        <p:spPr>
          <a:xfrm>
            <a:off x="10789920" y="384048"/>
            <a:ext cx="100584" cy="100584"/>
          </a:xfrm>
          <a:prstGeom prst="ellipse">
            <a:avLst/>
          </a:prstGeom>
          <a:solidFill>
            <a:srgbClr val="7172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36224" y="32918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575A"/>
                </a:solidFill>
                <a:latin typeface="Franklin Gothic Book"/>
              </a:rPr>
              <a:t>Not started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1EEEA"/>
          </a:solidFill>
          <a:ln w="12700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F6B5E"/>
                </a:solidFill>
                <a:latin typeface="Franklin Gothic Medium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624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3656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5520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1552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S3A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3416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9448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F3E3CE"/>
          </a:solidFill>
          <a:ln w="12700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4711F"/>
                </a:solidFill>
                <a:latin typeface="Franklin Gothic Medium"/>
              </a:rPr>
              <a:t>S3B-i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312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97344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S3B-ii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9208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5240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7104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3136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5000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1032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896" y="1024128"/>
            <a:ext cx="20116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5575A"/>
                </a:solidFill>
                <a:latin typeface="Franklin Gothic Book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28928" y="1024128"/>
            <a:ext cx="997000" cy="384048"/>
          </a:xfrm>
          <a:prstGeom prst="roundRect">
            <a:avLst>
              <a:gd name="adj" fmla="val 28000"/>
            </a:avLst>
          </a:prstGeom>
          <a:solidFill>
            <a:srgbClr val="E7E7E6"/>
          </a:solidFill>
          <a:ln w="12700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717271"/>
                </a:solidFill>
                <a:latin typeface="Franklin Gothic Medium"/>
              </a:rPr>
              <a:t>S7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1572768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1655064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F6B5E"/>
                </a:solidFill>
                <a:latin typeface="Times New Roman"/>
              </a:rPr>
              <a:t>S1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Advisory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1901952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F6B5E"/>
                </a:solidFill>
                <a:latin typeface="Franklin Gothic Medium"/>
              </a:rPr>
              <a:t>●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2103120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· Jack · Scout · Finn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2340864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3 clients × $25K = $75K new. $460.8K total Advisory revenue, EOY 2027.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840736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Hand to Janice for the Weekly Compass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8490" y="1572768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4794" y="1655064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S2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Advisory Pro Forma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4794" y="1901952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READY TO SCHEDULE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4794" y="2103120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· Finn · Shelby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4794" y="2340864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Working pro forma that models real growth, not flat expenses.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4794" y="2840736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Convert S1's thesis into monthly revenue assumptions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1220" y="1572768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7524" y="1655064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S3A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Ignite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7524" y="1901952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NOT STARTED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7524" y="2103120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+ Eddie, Tristan · Scout · Finn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7524" y="2340864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Confirmed partner count, near-term revenue target, capacity plan.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7524" y="2840736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B52372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B52372"/>
                </a:solidFill>
                <a:latin typeface="Franklin Gothic Book"/>
              </a:rPr>
              <a:t>⚠ Confirm 3–5 partners — 3B already assumes this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3261360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" y="3343656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4711F"/>
                </a:solidFill>
                <a:latin typeface="Times New Roman"/>
              </a:rPr>
              <a:t>S3B-i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GTM: Marketing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" y="3590544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B4711F"/>
                </a:solidFill>
                <a:latin typeface="Franklin Gothic Medium"/>
              </a:rPr>
              <a:t>● IN PROGRESS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" y="3791712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Marcus · Kate · Scout · Maxell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" y="4029456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Positioning locked (“Revenue Growth System”). Pitch drafted &amp; split.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4529328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Decide the founding-partner post-beta pricing advantage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28490" y="3261360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4794" y="3343656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S3B-ii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GTM: Sales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4794" y="3590544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NOT STARTED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4794" y="3791712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Jack · Kate · Marcus · Finn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4794" y="4029456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Target list built: Noble, Raines, Crescent, PM Hotel Group.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4794" y="4529328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Draft the pilot agreement — lawyer not yet named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1220" y="3261360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37524" y="3343656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S4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Ignite Financial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7524" y="3590544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BLOCKED ON 3A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7524" y="3791712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+ Eddie, Tristan · Finn · Shelby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7524" y="4029456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Funded model, replacing 2024 assumptions. Cap table fixed.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37524" y="4529328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Remove Garrard &amp; Tavares from the cap table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4949952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5032248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S5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Kate &amp; Co Budget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" y="5279136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BLOCKED ON 2 &amp;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" y="5480304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· Finn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" y="5718048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Real budget funding both engines, replacing the flat rollover.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064" y="6217920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Calculate cash needed to fund Sessions 1–4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228490" y="4949952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74794" y="5032248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S6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Tech Stack Review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4794" y="5279136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PARALLEL · NOT STARTED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74794" y="5480304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+ Tristan · Shelby · Jack · Finn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74794" y="5718048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Confirmed tooling decisions and cost/ROI read.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4794" y="6217920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Decide who works the 20 unworked Kisaco leads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91220" y="4949952"/>
            <a:ext cx="3734714" cy="15605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7172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37524" y="5032248"/>
            <a:ext cx="34421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717271"/>
                </a:solidFill>
                <a:latin typeface="Times New Roman"/>
              </a:rPr>
              <a:t>S7  </a:t>
            </a:r>
            <a:r>
              <a:rPr sz="1250" b="1" i="0">
                <a:solidFill>
                  <a:srgbClr val="2E2925"/>
                </a:solidFill>
                <a:latin typeface="Times New Roman"/>
              </a:rPr>
              <a:t>Roll-Up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37524" y="5279136"/>
            <a:ext cx="344210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717271"/>
                </a:solidFill>
                <a:latin typeface="Franklin Gothic Medium"/>
              </a:rPr>
              <a:t>● BLOCKED ON ALL ABOVE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37524" y="5480304"/>
            <a:ext cx="344210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575A"/>
                </a:solidFill>
                <a:latin typeface="Franklin Gothic Book"/>
              </a:rPr>
              <a:t>Kate + Eddie + Tristan · Finn · Marcus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37524" y="5718048"/>
            <a:ext cx="344210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E2925"/>
                </a:solidFill>
                <a:latin typeface="Franklin Gothic Book"/>
              </a:rPr>
              <a:t>One integrated Advisory + Ignite view and decision log.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37524" y="6217920"/>
            <a:ext cx="344210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51067"/>
                </a:solidFill>
                <a:latin typeface="Franklin Gothic Medium"/>
              </a:rPr>
              <a:t>NEXT: </a:t>
            </a:r>
            <a:r>
              <a:rPr sz="850" b="0" i="0">
                <a:solidFill>
                  <a:srgbClr val="D51067"/>
                </a:solidFill>
                <a:latin typeface="Franklin Gothic Book"/>
              </a:rPr>
              <a:t>Set the next review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