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b_Logo_2.FullColor_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7055" y="320040"/>
            <a:ext cx="2194560" cy="28400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D51067"/>
                </a:solidFill>
                <a:latin typeface="Calibri"/>
              </a:rPr>
              <a:t>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2E2925"/>
                </a:solidFill>
                <a:latin typeface="Times New Roman"/>
              </a:rPr>
              <a:t>Advisory Pro 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5575A"/>
                </a:solidFill>
                <a:latin typeface="Calibri"/>
              </a:rPr>
              <a:t>September 13,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75A"/>
                </a:solidFill>
                <a:latin typeface="Calibri"/>
              </a:rPr>
              <a:t>Attendees: Kate · Finn · Shelby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75A"/>
                </a:solidFill>
                <a:latin typeface="Calibri"/>
              </a:rPr>
              <a:t>Advisory &amp; Ignite — Session Output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51067"/>
                </a:solidFill>
                <a:latin typeface="Calibri"/>
              </a:rPr>
              <a:t>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E2925"/>
                </a:solidFill>
                <a:latin typeface="Times New Roman"/>
              </a:rPr>
              <a:t>What was decided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Rebuild the pro forma off Kate's real 2027.xlsx baseline, not the older 2026_updated.xlsx (its Wylie and FEI/Miguel Molina rates were stale).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Standardize the tax rate to 15% across the year (source file had an inconsistent 20% Jan–Jul / 15% Aug–Dec split).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Fix the tax-rate cell stored as text, which had silently made it unreferenceable by formulas.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Stage the 3 new-client fees on placeholder months (May / Aug / Nov 2027) via an editable Target Month cell per client — swap in real close dates once deals land.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51067"/>
                </a:solidFill>
                <a:latin typeface="Calibri"/>
              </a:rPr>
              <a:t>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E2925"/>
                </a:solidFill>
                <a:latin typeface="Times New Roman"/>
              </a:rPr>
              <a:t>What this session produced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88136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Rebuilt, formula-driven pro forma: 2027_Advisory_Proforma_1.xlsx, now modeling growth instead of flat expenses.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Annual total revenue: $468,600 (recurring $393,600 + 3 new one-time $25K client fees) — above the $460,800 target, inside the $350K–$500K range.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After-tax profit: $254,320.17.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2E2925"/>
                </a:solidFill>
                <a:latin typeface="Calibri"/>
              </a:rPr>
              <a:t>•  Cross-checked against the IRS $24,835 and SBA loan payoff schedule — confirmed compatible, existing Q1 2027 payoff plan ($8,278.33/mo Jan–Mar) carried over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51067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2E2925"/>
                </a:solidFill>
                <a:latin typeface="Times New Roman"/>
              </a:rPr>
              <a:t>What needs to happen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51067"/>
                </a:solidFill>
                <a:latin typeface="Calibri"/>
              </a:rPr>
              <a:t>THIS WEEK  ·  → Weekly Compass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5575A"/>
                </a:solidFill>
                <a:latin typeface="Calibri"/>
              </a:rPr>
              <a:t>Nothing new this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63040"/>
            <a:ext cx="5257800" cy="4846320"/>
          </a:xfrm>
          <a:prstGeom prst="roundRect">
            <a:avLst>
              <a:gd name="adj" fmla="val 4000"/>
            </a:avLst>
          </a:prstGeom>
          <a:solidFill>
            <a:srgbClr val="F7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D51067"/>
                </a:solidFill>
                <a:latin typeface="Calibri"/>
              </a:rPr>
              <a:t>LATER  ·  → Master Plan 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40280"/>
            <a:ext cx="4617720" cy="3749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2E2925"/>
                </a:solidFill>
                <a:latin typeface="Calibri"/>
              </a:rPr>
              <a:t>•  Confirm real close dates for the 3 new clients, replacing the May/Aug/Nov placeholders  —  Kate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