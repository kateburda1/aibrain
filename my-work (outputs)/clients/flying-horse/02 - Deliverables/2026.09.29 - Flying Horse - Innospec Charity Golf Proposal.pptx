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dates: Sunday Aug 15 resort buyout + Monday Aug 16 tournament (Mack's Aug 16 Monday option). Alternate Mondays (Aug 2, 9, 23) shown on the Golf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on the KB&amp;Co 'What you want / What you get / So you can' construct, in Flying Horse colors. Each row lines up across: 1 veterans (the cause), 2 sponsors (Innospec's customers and suppliers), 3 spouses and guests, 4 Innospec as host. 95% figure is Innospec CEO Patrick Williams' quote on innospecsustainability.com.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installations: Fort Carson, Peterson SFB, Schriever SFB, Cheyenne Mountain SFS, USAFA. Drive time to USAFA is approximate. $2.68M / 18 years from innospecsustainability.com.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Saturday pickup per Sarah's email. Itinerary is a suggested flow; final timing set with Innospec.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per golfer per Mack's email, for any of the August Mondays listed. Per the 2026 Golf Events Packet: rate includes green fees, cart fees, practice range, inclusive of RSF. Min 72 players, max 120 with cart fleet (more needs 45 days' notice for rental carts, cost split 50/50). Lunch for all players required; $750 Golf Shop retail minimum; scoring/hole contest setup $100 per day. Innospec's page says 'hundreds of golfers' across events: confirm their field size.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Rates from Sarah Leach's email. Villa sizes: each villa 1,650 sq ft with two king bedrooms; booked as one- or two-bedroom. Open question from Sarah: master billing or individual?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Guest rates from the Spa Booklet dated 1 June 2026 (flyinghorseresort.com/s/Spa-Booklet-1JUN2026-WEB.pdf). Confirm 2027 rates and any group spa pricing with the Spa team (719-487-2614).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Amenity access for buyout guests and any fees to confirm with Sarah.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Minimums from Shanna Hughes: Clubhouse Courtyard $10k, Barolo Ballroom $15k, Fortezza dining room $3k. Barolo specs from FH capacity chart (Oct 2025). Courtyard and Fortezza capacities are NOT on the chart: get from Shanna. Confirm the minimums exclude service charge and tax, and whether any room rental applies. Suggested use of each space is ours.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Drive times are approximate from Flying Horse Resort; verify before sending.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Addresses from hotel listings (Marriott, Hilton, Visit COS). Sarah mentioned local hotel partners; swap in her preferred partners if different.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value slide: per-person investment at each stop, framed against Innospec's 95-cents-to-heroes promise. No totals, per Kate. '300 days of sunshine' is Flying Horse's own website claim.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Golf Shop 719-487-2620. 1880 Weiskopf Point, Colorado Springs, CO 80921.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image" Target="../media/image20.jpg"/><Relationship Id="rId6"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 Id="rId4" Type="http://schemas.openxmlformats.org/officeDocument/2006/relationships/image" Target="../media/image29.jpg"/><Relationship Id="rId5"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2.png"/><Relationship Id="rId4"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2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77639"/>
            <a:ext cx="12191695" cy="2880360"/>
          </a:xfrm>
          <a:prstGeom prst="rect">
            <a:avLst/>
          </a:prstGeom>
          <a:solidFill>
            <a:srgbClr val="343B36">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horiz_white.png"/>
          <p:cNvPicPr>
            <a:picLocks noChangeAspect="1"/>
          </p:cNvPicPr>
          <p:nvPr/>
        </p:nvPicPr>
        <p:blipFill>
          <a:blip r:embed="rId3"/>
          <a:stretch>
            <a:fillRect/>
          </a:stretch>
        </p:blipFill>
        <p:spPr>
          <a:xfrm>
            <a:off x="731520" y="640080"/>
            <a:ext cx="3291840" cy="901964"/>
          </a:xfrm>
          <a:prstGeom prst="rect">
            <a:avLst/>
          </a:prstGeom>
        </p:spPr>
      </p:pic>
      <p:sp>
        <p:nvSpPr>
          <p:cNvPr id="6" name="TextBox 5"/>
          <p:cNvSpPr txBox="1"/>
          <p:nvPr/>
        </p:nvSpPr>
        <p:spPr>
          <a:xfrm>
            <a:off x="731520" y="4251960"/>
            <a:ext cx="10515600" cy="365760"/>
          </a:xfrm>
          <a:prstGeom prst="rect">
            <a:avLst/>
          </a:prstGeom>
          <a:noFill/>
        </p:spPr>
        <p:txBody>
          <a:bodyPr wrap="square" lIns="0" rIns="0" tIns="0" bIns="0" anchor="t">
            <a:spAutoFit/>
          </a:bodyPr>
          <a:lstStyle/>
          <a:p>
            <a:pPr algn="l">
              <a:spcAft>
                <a:spcPts val="0"/>
              </a:spcAft>
            </a:pPr>
            <a:r>
              <a:rPr sz="1300" b="1" i="0" spc="400">
                <a:solidFill>
                  <a:srgbClr val="FFFFFF"/>
                </a:solidFill>
                <a:latin typeface="Avenir"/>
              </a:rPr>
              <a:t>A PROPOSAL FOR INNOSPEC FUEL SPECIALTIES</a:t>
            </a:r>
          </a:p>
        </p:txBody>
      </p:sp>
      <p:sp>
        <p:nvSpPr>
          <p:cNvPr id="7" name="TextBox 6"/>
          <p:cNvSpPr txBox="1"/>
          <p:nvPr/>
        </p:nvSpPr>
        <p:spPr>
          <a:xfrm>
            <a:off x="731520" y="4617720"/>
            <a:ext cx="10515600" cy="914400"/>
          </a:xfrm>
          <a:prstGeom prst="rect">
            <a:avLst/>
          </a:prstGeom>
          <a:noFill/>
        </p:spPr>
        <p:txBody>
          <a:bodyPr wrap="square" lIns="0" rIns="0" tIns="0" bIns="0" anchor="t">
            <a:spAutoFit/>
          </a:bodyPr>
          <a:lstStyle/>
          <a:p>
            <a:pPr algn="l">
              <a:spcAft>
                <a:spcPts val="0"/>
              </a:spcAft>
            </a:pPr>
            <a:r>
              <a:rPr sz="4400" b="1" i="0">
                <a:solidFill>
                  <a:srgbClr val="FFFFFF"/>
                </a:solidFill>
                <a:latin typeface="Avenir"/>
              </a:rPr>
              <a:t>A Weekend Worthy of Our Heroes</a:t>
            </a:r>
          </a:p>
        </p:txBody>
      </p:sp>
      <p:sp>
        <p:nvSpPr>
          <p:cNvPr id="8" name="TextBox 7"/>
          <p:cNvSpPr txBox="1"/>
          <p:nvPr/>
        </p:nvSpPr>
        <p:spPr>
          <a:xfrm>
            <a:off x="731520" y="5440680"/>
            <a:ext cx="10515600" cy="457200"/>
          </a:xfrm>
          <a:prstGeom prst="rect">
            <a:avLst/>
          </a:prstGeom>
          <a:noFill/>
        </p:spPr>
        <p:txBody>
          <a:bodyPr wrap="square" lIns="0" rIns="0" tIns="0" bIns="0" anchor="t">
            <a:spAutoFit/>
          </a:bodyPr>
          <a:lstStyle/>
          <a:p>
            <a:pPr algn="l">
              <a:spcAft>
                <a:spcPts val="0"/>
              </a:spcAft>
            </a:pPr>
            <a:r>
              <a:rPr sz="1700" b="0" i="1">
                <a:solidFill>
                  <a:srgbClr val="FFFFFF"/>
                </a:solidFill>
                <a:latin typeface="Times New Roman"/>
              </a:rPr>
              <a:t>2027 Charity Golf Tournament benefiting the PenFed Foundation Military Heroes Program</a:t>
            </a:r>
          </a:p>
        </p:txBody>
      </p:sp>
      <p:sp>
        <p:nvSpPr>
          <p:cNvPr id="9" name="TextBox 8"/>
          <p:cNvSpPr txBox="1"/>
          <p:nvPr/>
        </p:nvSpPr>
        <p:spPr>
          <a:xfrm>
            <a:off x="731520" y="5943600"/>
            <a:ext cx="10515600" cy="365760"/>
          </a:xfrm>
          <a:prstGeom prst="rect">
            <a:avLst/>
          </a:prstGeom>
          <a:noFill/>
        </p:spPr>
        <p:txBody>
          <a:bodyPr wrap="square" lIns="0" rIns="0" tIns="0" bIns="0" anchor="t">
            <a:spAutoFit/>
          </a:bodyPr>
          <a:lstStyle/>
          <a:p>
            <a:pPr algn="l">
              <a:spcAft>
                <a:spcPts val="0"/>
              </a:spcAft>
            </a:pPr>
            <a:r>
              <a:rPr sz="1100" b="0" i="0" spc="250">
                <a:solidFill>
                  <a:srgbClr val="E8D9CC"/>
                </a:solidFill>
                <a:latin typeface="Avenir"/>
              </a:rPr>
              <a:t>SUNDAY, AUGUST 15 + MONDAY, AUGUST 16, 2027   |   COLORADO SPRINGS, COLORADO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WHAT WE HEARD</a:t>
            </a:r>
          </a:p>
        </p:txBody>
      </p:sp>
      <p:sp>
        <p:nvSpPr>
          <p:cNvPr id="4" name="TextBox 3"/>
          <p:cNvSpPr txBox="1"/>
          <p:nvPr/>
        </p:nvSpPr>
        <p:spPr>
          <a:xfrm>
            <a:off x="548640" y="658368"/>
            <a:ext cx="6858000" cy="640080"/>
          </a:xfrm>
          <a:prstGeom prst="rect">
            <a:avLst/>
          </a:prstGeom>
          <a:noFill/>
        </p:spPr>
        <p:txBody>
          <a:bodyPr wrap="square" lIns="0" rIns="0" tIns="0" bIns="0" anchor="t">
            <a:spAutoFit/>
          </a:bodyPr>
          <a:lstStyle/>
          <a:p>
            <a:pPr algn="l">
              <a:spcAft>
                <a:spcPts val="0"/>
              </a:spcAft>
            </a:pPr>
            <a:r>
              <a:rPr sz="3400" b="1" i="0">
                <a:solidFill>
                  <a:srgbClr val="343B36"/>
                </a:solidFill>
                <a:latin typeface="Avenir"/>
              </a:rPr>
              <a:t>We Create Connection</a:t>
            </a:r>
          </a:p>
        </p:txBody>
      </p:sp>
      <p:sp>
        <p:nvSpPr>
          <p:cNvPr id="5" name="TextBox 4"/>
          <p:cNvSpPr txBox="1"/>
          <p:nvPr/>
        </p:nvSpPr>
        <p:spPr>
          <a:xfrm>
            <a:off x="6035040" y="502920"/>
            <a:ext cx="5623560" cy="914400"/>
          </a:xfrm>
          <a:prstGeom prst="rect">
            <a:avLst/>
          </a:prstGeom>
          <a:noFill/>
        </p:spPr>
        <p:txBody>
          <a:bodyPr wrap="square" lIns="0" rIns="0" tIns="0" bIns="0" anchor="ctr">
            <a:spAutoFit/>
          </a:bodyPr>
          <a:lstStyle/>
          <a:p>
            <a:pPr algn="r">
              <a:spcAft>
                <a:spcPts val="300"/>
              </a:spcAft>
            </a:pPr>
            <a:r>
              <a:rPr sz="1700" b="1" i="0">
                <a:solidFill>
                  <a:srgbClr val="966A4D"/>
                </a:solidFill>
                <a:latin typeface="Avenir"/>
              </a:rPr>
              <a:t>Where Belonging &amp; Connection Meet</a:t>
            </a:r>
          </a:p>
          <a:p>
            <a:pPr algn="r">
              <a:spcAft>
                <a:spcPts val="0"/>
              </a:spcAft>
            </a:pPr>
            <a:r>
              <a:rPr sz="1200" b="0" i="1">
                <a:solidFill>
                  <a:srgbClr val="5B5255"/>
                </a:solidFill>
                <a:latin typeface="Times New Roman"/>
              </a:rPr>
              <a:t>For the heroes you serve, the sponsors who give, and the guests who join them.</a:t>
            </a:r>
          </a:p>
        </p:txBody>
      </p:sp>
      <p:sp>
        <p:nvSpPr>
          <p:cNvPr id="6" name="Rectangle 5"/>
          <p:cNvSpPr/>
          <p:nvPr/>
        </p:nvSpPr>
        <p:spPr>
          <a:xfrm>
            <a:off x="0" y="1463040"/>
            <a:ext cx="12191695" cy="4892040"/>
          </a:xfrm>
          <a:prstGeom prst="rect">
            <a:avLst/>
          </a:prstGeom>
          <a:solidFill>
            <a:srgbClr val="E9E2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entagon 6"/>
          <p:cNvSpPr/>
          <p:nvPr/>
        </p:nvSpPr>
        <p:spPr>
          <a:xfrm>
            <a:off x="320040" y="1600200"/>
            <a:ext cx="3977639" cy="566928"/>
          </a:xfrm>
          <a:prstGeom prst="homePlate">
            <a:avLst>
              <a:gd name="adj" fmla="val 35000"/>
            </a:avLst>
          </a:prstGeom>
          <a:solidFill>
            <a:srgbClr val="966A4D"/>
          </a:solidFill>
          <a:ln w="31750">
            <a:solidFill>
              <a:srgbClr val="E9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59" y="1600200"/>
            <a:ext cx="3383279" cy="566928"/>
          </a:xfrm>
          <a:prstGeom prst="rect">
            <a:avLst/>
          </a:prstGeom>
          <a:noFill/>
        </p:spPr>
        <p:txBody>
          <a:bodyPr wrap="square" lIns="0" rIns="0" tIns="0" bIns="0" anchor="ctr">
            <a:spAutoFit/>
          </a:bodyPr>
          <a:lstStyle/>
          <a:p>
            <a:pPr algn="l">
              <a:spcAft>
                <a:spcPts val="0"/>
              </a:spcAft>
            </a:pPr>
            <a:r>
              <a:rPr sz="1800" b="1" i="0" spc="100">
                <a:solidFill>
                  <a:srgbClr val="FFFFFF"/>
                </a:solidFill>
                <a:latin typeface="Avenir"/>
              </a:rPr>
              <a:t>WHAT YOU WANT...</a:t>
            </a:r>
          </a:p>
        </p:txBody>
      </p:sp>
      <p:sp>
        <p:nvSpPr>
          <p:cNvPr id="9" name="Round Diagonal Corner Rectangle 8"/>
          <p:cNvSpPr/>
          <p:nvPr/>
        </p:nvSpPr>
        <p:spPr>
          <a:xfrm>
            <a:off x="411479" y="2286000"/>
            <a:ext cx="3611879" cy="3931920"/>
          </a:xfrm>
          <a:prstGeom prst="round2DiagRect">
            <a:avLst>
              <a:gd name="adj1" fmla="val 16000"/>
              <a:gd name="adj2" fmla="val 0"/>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5968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487168"/>
            <a:ext cx="2971799" cy="868680"/>
          </a:xfrm>
          <a:prstGeom prst="rect">
            <a:avLst/>
          </a:prstGeom>
          <a:noFill/>
        </p:spPr>
        <p:txBody>
          <a:bodyPr wrap="square" lIns="0" rIns="0" tIns="0" bIns="0" anchor="t">
            <a:spAutoFit/>
          </a:bodyPr>
          <a:lstStyle/>
          <a:p>
            <a:pPr algn="l">
              <a:lnSpc>
                <a:spcPct val="100000"/>
              </a:lnSpc>
              <a:spcAft>
                <a:spcPts val="0"/>
              </a:spcAft>
            </a:pPr>
            <a:r>
              <a:rPr sz="1250" b="0" i="0">
                <a:solidFill>
                  <a:srgbClr val="5B5255"/>
                </a:solidFill>
                <a:latin typeface="Avenir"/>
              </a:rPr>
              <a:t>Honor the military heroes you play for, with 95% of every dollar reaching service members and families</a:t>
            </a:r>
          </a:p>
        </p:txBody>
      </p:sp>
      <p:sp>
        <p:nvSpPr>
          <p:cNvPr id="12" name="Rectangle 11"/>
          <p:cNvSpPr/>
          <p:nvPr/>
        </p:nvSpPr>
        <p:spPr>
          <a:xfrm>
            <a:off x="640080" y="35112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401568"/>
            <a:ext cx="2971799" cy="868680"/>
          </a:xfrm>
          <a:prstGeom prst="rect">
            <a:avLst/>
          </a:prstGeom>
          <a:noFill/>
        </p:spPr>
        <p:txBody>
          <a:bodyPr wrap="square" lIns="0" rIns="0" tIns="0" bIns="0" anchor="t">
            <a:spAutoFit/>
          </a:bodyPr>
          <a:lstStyle/>
          <a:p>
            <a:pPr algn="l">
              <a:lnSpc>
                <a:spcPct val="100000"/>
              </a:lnSpc>
              <a:spcAft>
                <a:spcPts val="0"/>
              </a:spcAft>
            </a:pPr>
            <a:r>
              <a:rPr sz="1250" b="0" i="0">
                <a:solidFill>
                  <a:srgbClr val="5B5255"/>
                </a:solidFill>
                <a:latin typeface="Avenir"/>
              </a:rPr>
              <a:t>An invitation your sponsors are proud to accept</a:t>
            </a:r>
          </a:p>
        </p:txBody>
      </p:sp>
      <p:sp>
        <p:nvSpPr>
          <p:cNvPr id="14" name="Rectangle 13"/>
          <p:cNvSpPr/>
          <p:nvPr/>
        </p:nvSpPr>
        <p:spPr>
          <a:xfrm>
            <a:off x="640080" y="44256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315968"/>
            <a:ext cx="2971799" cy="868680"/>
          </a:xfrm>
          <a:prstGeom prst="rect">
            <a:avLst/>
          </a:prstGeom>
          <a:noFill/>
        </p:spPr>
        <p:txBody>
          <a:bodyPr wrap="square" lIns="0" rIns="0" tIns="0" bIns="0" anchor="t">
            <a:spAutoFit/>
          </a:bodyPr>
          <a:lstStyle/>
          <a:p>
            <a:pPr algn="l">
              <a:lnSpc>
                <a:spcPct val="100000"/>
              </a:lnSpc>
              <a:spcAft>
                <a:spcPts val="0"/>
              </a:spcAft>
            </a:pPr>
            <a:r>
              <a:rPr sz="1250" b="0" i="0">
                <a:solidFill>
                  <a:srgbClr val="5B5255"/>
                </a:solidFill>
                <a:latin typeface="Avenir"/>
              </a:rPr>
              <a:t>A weekend spouses and guests enjoy as much as the golfers</a:t>
            </a:r>
          </a:p>
        </p:txBody>
      </p:sp>
      <p:sp>
        <p:nvSpPr>
          <p:cNvPr id="16" name="Rectangle 15"/>
          <p:cNvSpPr/>
          <p:nvPr/>
        </p:nvSpPr>
        <p:spPr>
          <a:xfrm>
            <a:off x="640080" y="53400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230368"/>
            <a:ext cx="2971799" cy="868680"/>
          </a:xfrm>
          <a:prstGeom prst="rect">
            <a:avLst/>
          </a:prstGeom>
          <a:noFill/>
        </p:spPr>
        <p:txBody>
          <a:bodyPr wrap="square" lIns="0" rIns="0" tIns="0" bIns="0" anchor="t">
            <a:spAutoFit/>
          </a:bodyPr>
          <a:lstStyle/>
          <a:p>
            <a:pPr algn="l">
              <a:lnSpc>
                <a:spcPct val="100000"/>
              </a:lnSpc>
              <a:spcAft>
                <a:spcPts val="0"/>
              </a:spcAft>
            </a:pPr>
            <a:r>
              <a:rPr sz="1250" b="0" i="0">
                <a:solidFill>
                  <a:srgbClr val="5B5255"/>
                </a:solidFill>
                <a:latin typeface="Avenir"/>
              </a:rPr>
              <a:t>Raise the most you can, flawlessly, with a choice your board can stand behind</a:t>
            </a:r>
          </a:p>
        </p:txBody>
      </p:sp>
      <p:sp>
        <p:nvSpPr>
          <p:cNvPr id="18" name="Chevron 17"/>
          <p:cNvSpPr/>
          <p:nvPr/>
        </p:nvSpPr>
        <p:spPr>
          <a:xfrm>
            <a:off x="4178807" y="1600200"/>
            <a:ext cx="3977639" cy="566928"/>
          </a:xfrm>
          <a:prstGeom prst="chevron">
            <a:avLst>
              <a:gd name="adj" fmla="val 35000"/>
            </a:avLst>
          </a:prstGeom>
          <a:solidFill>
            <a:srgbClr val="343B36"/>
          </a:solidFill>
          <a:ln w="31750">
            <a:solidFill>
              <a:srgbClr val="E9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1600200"/>
            <a:ext cx="3383279" cy="566928"/>
          </a:xfrm>
          <a:prstGeom prst="rect">
            <a:avLst/>
          </a:prstGeom>
          <a:noFill/>
        </p:spPr>
        <p:txBody>
          <a:bodyPr wrap="square" lIns="0" rIns="0" tIns="0" bIns="0" anchor="ctr">
            <a:spAutoFit/>
          </a:bodyPr>
          <a:lstStyle/>
          <a:p>
            <a:pPr algn="l">
              <a:spcAft>
                <a:spcPts val="0"/>
              </a:spcAft>
            </a:pPr>
            <a:r>
              <a:rPr sz="1800" b="1" i="0" spc="100">
                <a:solidFill>
                  <a:srgbClr val="FFFFFF"/>
                </a:solidFill>
                <a:latin typeface="Avenir"/>
              </a:rPr>
              <a:t>WHAT YOU GET...</a:t>
            </a:r>
          </a:p>
        </p:txBody>
      </p:sp>
      <p:sp>
        <p:nvSpPr>
          <p:cNvPr id="20" name="Round Diagonal Corner Rectangle 19"/>
          <p:cNvSpPr/>
          <p:nvPr/>
        </p:nvSpPr>
        <p:spPr>
          <a:xfrm>
            <a:off x="4270247" y="2286000"/>
            <a:ext cx="3611879" cy="3931920"/>
          </a:xfrm>
          <a:prstGeom prst="round2DiagRect">
            <a:avLst>
              <a:gd name="adj1" fmla="val 16000"/>
              <a:gd name="adj2" fmla="val 0"/>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98847" y="2596896"/>
            <a:ext cx="82296" cy="82296"/>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27447" y="2487168"/>
            <a:ext cx="2971799" cy="868680"/>
          </a:xfrm>
          <a:prstGeom prst="rect">
            <a:avLst/>
          </a:prstGeom>
          <a:noFill/>
        </p:spPr>
        <p:txBody>
          <a:bodyPr wrap="square" lIns="0" rIns="0" tIns="0" bIns="0" anchor="t">
            <a:spAutoFit/>
          </a:bodyPr>
          <a:lstStyle/>
          <a:p>
            <a:pPr algn="l">
              <a:lnSpc>
                <a:spcPct val="100000"/>
              </a:lnSpc>
              <a:spcAft>
                <a:spcPts val="0"/>
              </a:spcAft>
            </a:pPr>
            <a:r>
              <a:rPr sz="1250" b="0" i="0">
                <a:solidFill>
                  <a:srgbClr val="5B5255"/>
                </a:solidFill>
                <a:latin typeface="Avenir"/>
              </a:rPr>
              <a:t>A course that looks out on the U.S. Air Force Academy, in a city with five military installations</a:t>
            </a:r>
          </a:p>
        </p:txBody>
      </p:sp>
      <p:sp>
        <p:nvSpPr>
          <p:cNvPr id="23" name="Rectangle 22"/>
          <p:cNvSpPr/>
          <p:nvPr/>
        </p:nvSpPr>
        <p:spPr>
          <a:xfrm>
            <a:off x="4498847" y="3511296"/>
            <a:ext cx="82296" cy="82296"/>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27447" y="3401568"/>
            <a:ext cx="2971799" cy="868680"/>
          </a:xfrm>
          <a:prstGeom prst="rect">
            <a:avLst/>
          </a:prstGeom>
          <a:noFill/>
        </p:spPr>
        <p:txBody>
          <a:bodyPr wrap="square" lIns="0" rIns="0" tIns="0" bIns="0" anchor="t">
            <a:spAutoFit/>
          </a:bodyPr>
          <a:lstStyle/>
          <a:p>
            <a:pPr algn="l">
              <a:lnSpc>
                <a:spcPct val="100000"/>
              </a:lnSpc>
              <a:spcAft>
                <a:spcPts val="0"/>
              </a:spcAft>
            </a:pPr>
            <a:r>
              <a:rPr sz="1250" b="0" i="0">
                <a:solidFill>
                  <a:srgbClr val="5B5255"/>
                </a:solidFill>
                <a:latin typeface="Avenir"/>
              </a:rPr>
              <a:t>The Gazette's Best Golf Course in Colorado Springs three years running, in a AAA Four Diamond resort</a:t>
            </a:r>
          </a:p>
        </p:txBody>
      </p:sp>
      <p:sp>
        <p:nvSpPr>
          <p:cNvPr id="25" name="Rectangle 24"/>
          <p:cNvSpPr/>
          <p:nvPr/>
        </p:nvSpPr>
        <p:spPr>
          <a:xfrm>
            <a:off x="4498847" y="4425696"/>
            <a:ext cx="82296" cy="82296"/>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27447" y="4315968"/>
            <a:ext cx="2971799" cy="868680"/>
          </a:xfrm>
          <a:prstGeom prst="rect">
            <a:avLst/>
          </a:prstGeom>
          <a:noFill/>
        </p:spPr>
        <p:txBody>
          <a:bodyPr wrap="square" lIns="0" rIns="0" tIns="0" bIns="0" anchor="t">
            <a:spAutoFit/>
          </a:bodyPr>
          <a:lstStyle/>
          <a:p>
            <a:pPr algn="l">
              <a:lnSpc>
                <a:spcPct val="100000"/>
              </a:lnSpc>
              <a:spcAft>
                <a:spcPts val="0"/>
              </a:spcAft>
            </a:pPr>
            <a:r>
              <a:rPr sz="1250" b="0" i="0">
                <a:solidFill>
                  <a:srgbClr val="5B5255"/>
                </a:solidFill>
                <a:latin typeface="Avenir"/>
              </a:rPr>
              <a:t>The Spa, pools, tennis and pickleball, four restaurants and Colorado Springs next door</a:t>
            </a:r>
          </a:p>
        </p:txBody>
      </p:sp>
      <p:sp>
        <p:nvSpPr>
          <p:cNvPr id="27" name="Rectangle 26"/>
          <p:cNvSpPr/>
          <p:nvPr/>
        </p:nvSpPr>
        <p:spPr>
          <a:xfrm>
            <a:off x="4498847" y="5340096"/>
            <a:ext cx="82296" cy="82296"/>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27447" y="5230368"/>
            <a:ext cx="2971799" cy="868680"/>
          </a:xfrm>
          <a:prstGeom prst="rect">
            <a:avLst/>
          </a:prstGeom>
          <a:noFill/>
        </p:spPr>
        <p:txBody>
          <a:bodyPr wrap="square" lIns="0" rIns="0" tIns="0" bIns="0" anchor="t">
            <a:spAutoFit/>
          </a:bodyPr>
          <a:lstStyle/>
          <a:p>
            <a:pPr algn="l">
              <a:lnSpc>
                <a:spcPct val="100000"/>
              </a:lnSpc>
              <a:spcAft>
                <a:spcPts val="0"/>
              </a:spcAft>
            </a:pPr>
            <a:r>
              <a:rPr sz="1250" b="0" i="0">
                <a:solidFill>
                  <a:srgbClr val="5B5255"/>
                </a:solidFill>
                <a:latin typeface="Avenir"/>
              </a:rPr>
              <a:t>A full buyout, one team for golf, rooms and food, and a drive-in location</a:t>
            </a:r>
          </a:p>
        </p:txBody>
      </p:sp>
      <p:sp>
        <p:nvSpPr>
          <p:cNvPr id="29" name="Chevron 28"/>
          <p:cNvSpPr/>
          <p:nvPr/>
        </p:nvSpPr>
        <p:spPr>
          <a:xfrm>
            <a:off x="8037575" y="1600200"/>
            <a:ext cx="3977639" cy="566928"/>
          </a:xfrm>
          <a:prstGeom prst="chevron">
            <a:avLst>
              <a:gd name="adj" fmla="val 35000"/>
            </a:avLst>
          </a:prstGeom>
          <a:solidFill>
            <a:srgbClr val="966A4D"/>
          </a:solidFill>
          <a:ln w="31750">
            <a:solidFill>
              <a:srgbClr val="E9E2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49055" y="1600200"/>
            <a:ext cx="3383279" cy="566928"/>
          </a:xfrm>
          <a:prstGeom prst="rect">
            <a:avLst/>
          </a:prstGeom>
          <a:noFill/>
        </p:spPr>
        <p:txBody>
          <a:bodyPr wrap="square" lIns="0" rIns="0" tIns="0" bIns="0" anchor="ctr">
            <a:spAutoFit/>
          </a:bodyPr>
          <a:lstStyle/>
          <a:p>
            <a:pPr algn="l">
              <a:spcAft>
                <a:spcPts val="0"/>
              </a:spcAft>
            </a:pPr>
            <a:r>
              <a:rPr sz="1800" b="1" i="0" spc="100">
                <a:solidFill>
                  <a:srgbClr val="FFFFFF"/>
                </a:solidFill>
                <a:latin typeface="Avenir"/>
              </a:rPr>
              <a:t>SO YOU CAN...</a:t>
            </a:r>
          </a:p>
        </p:txBody>
      </p:sp>
      <p:sp>
        <p:nvSpPr>
          <p:cNvPr id="31" name="Round Diagonal Corner Rectangle 30"/>
          <p:cNvSpPr/>
          <p:nvPr/>
        </p:nvSpPr>
        <p:spPr>
          <a:xfrm>
            <a:off x="8129015" y="2286000"/>
            <a:ext cx="3611879" cy="3931920"/>
          </a:xfrm>
          <a:prstGeom prst="round2DiagRect">
            <a:avLst>
              <a:gd name="adj1" fmla="val 16000"/>
              <a:gd name="adj2" fmla="val 0"/>
            </a:avLst>
          </a:prstGeom>
          <a:solidFill>
            <a:srgbClr val="F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57615" y="25968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86215" y="2487168"/>
            <a:ext cx="2971799" cy="868680"/>
          </a:xfrm>
          <a:prstGeom prst="rect">
            <a:avLst/>
          </a:prstGeom>
          <a:noFill/>
        </p:spPr>
        <p:txBody>
          <a:bodyPr wrap="square" lIns="0" rIns="0" tIns="0" bIns="0" anchor="t">
            <a:spAutoFit/>
          </a:bodyPr>
          <a:lstStyle/>
          <a:p>
            <a:pPr algn="l">
              <a:lnSpc>
                <a:spcPct val="100000"/>
              </a:lnSpc>
              <a:spcAft>
                <a:spcPts val="0"/>
              </a:spcAft>
            </a:pPr>
            <a:r>
              <a:rPr sz="1250" b="1" i="0">
                <a:solidFill>
                  <a:srgbClr val="343B36"/>
                </a:solidFill>
                <a:latin typeface="Avenir"/>
              </a:rPr>
              <a:t>Put the mission in view on every hole, so sponsors feel who they are playing for</a:t>
            </a:r>
          </a:p>
        </p:txBody>
      </p:sp>
      <p:sp>
        <p:nvSpPr>
          <p:cNvPr id="34" name="Rectangle 33"/>
          <p:cNvSpPr/>
          <p:nvPr/>
        </p:nvSpPr>
        <p:spPr>
          <a:xfrm>
            <a:off x="8357615" y="35112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86215" y="3401568"/>
            <a:ext cx="2971799" cy="868680"/>
          </a:xfrm>
          <a:prstGeom prst="rect">
            <a:avLst/>
          </a:prstGeom>
          <a:noFill/>
        </p:spPr>
        <p:txBody>
          <a:bodyPr wrap="square" lIns="0" rIns="0" tIns="0" bIns="0" anchor="t">
            <a:spAutoFit/>
          </a:bodyPr>
          <a:lstStyle/>
          <a:p>
            <a:pPr algn="l">
              <a:lnSpc>
                <a:spcPct val="100000"/>
              </a:lnSpc>
              <a:spcAft>
                <a:spcPts val="0"/>
              </a:spcAft>
            </a:pPr>
            <a:r>
              <a:rPr sz="1250" b="1" i="0">
                <a:solidFill>
                  <a:srgbClr val="343B36"/>
                </a:solidFill>
                <a:latin typeface="Avenir"/>
              </a:rPr>
              <a:t>Deepen relationships over a round and a fireside evening, and make next year's yes easy</a:t>
            </a:r>
          </a:p>
        </p:txBody>
      </p:sp>
      <p:sp>
        <p:nvSpPr>
          <p:cNvPr id="36" name="Rectangle 35"/>
          <p:cNvSpPr/>
          <p:nvPr/>
        </p:nvSpPr>
        <p:spPr>
          <a:xfrm>
            <a:off x="8357615" y="44256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86215" y="4315968"/>
            <a:ext cx="2971799" cy="868680"/>
          </a:xfrm>
          <a:prstGeom prst="rect">
            <a:avLst/>
          </a:prstGeom>
          <a:noFill/>
        </p:spPr>
        <p:txBody>
          <a:bodyPr wrap="square" lIns="0" rIns="0" tIns="0" bIns="0" anchor="t">
            <a:spAutoFit/>
          </a:bodyPr>
          <a:lstStyle/>
          <a:p>
            <a:pPr algn="l">
              <a:lnSpc>
                <a:spcPct val="100000"/>
              </a:lnSpc>
              <a:spcAft>
                <a:spcPts val="0"/>
              </a:spcAft>
            </a:pPr>
            <a:r>
              <a:rPr sz="1250" b="1" i="0">
                <a:solidFill>
                  <a:srgbClr val="343B36"/>
                </a:solidFill>
                <a:latin typeface="Avenir"/>
              </a:rPr>
              <a:t>Send every guest home with a story and a reason to come back</a:t>
            </a:r>
          </a:p>
        </p:txBody>
      </p:sp>
      <p:sp>
        <p:nvSpPr>
          <p:cNvPr id="38" name="Rectangle 37"/>
          <p:cNvSpPr/>
          <p:nvPr/>
        </p:nvSpPr>
        <p:spPr>
          <a:xfrm>
            <a:off x="8357615" y="5340096"/>
            <a:ext cx="82296" cy="82296"/>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86215" y="5230368"/>
            <a:ext cx="2971799" cy="868680"/>
          </a:xfrm>
          <a:prstGeom prst="rect">
            <a:avLst/>
          </a:prstGeom>
          <a:noFill/>
        </p:spPr>
        <p:txBody>
          <a:bodyPr wrap="square" lIns="0" rIns="0" tIns="0" bIns="0" anchor="t">
            <a:spAutoFit/>
          </a:bodyPr>
          <a:lstStyle/>
          <a:p>
            <a:pPr algn="l">
              <a:lnSpc>
                <a:spcPct val="100000"/>
              </a:lnSpc>
              <a:spcAft>
                <a:spcPts val="0"/>
              </a:spcAft>
            </a:pPr>
            <a:r>
              <a:rPr sz="1250" b="1" i="0">
                <a:solidFill>
                  <a:srgbClr val="343B36"/>
                </a:solidFill>
                <a:latin typeface="Avenir"/>
              </a:rPr>
              <a:t>Spend less on travel and raise more for heroes</a:t>
            </a:r>
          </a:p>
        </p:txBody>
      </p:sp>
      <p:sp>
        <p:nvSpPr>
          <p:cNvPr id="40" name="TextBox 39"/>
          <p:cNvSpPr txBox="1"/>
          <p:nvPr/>
        </p:nvSpPr>
        <p:spPr>
          <a:xfrm>
            <a:off x="54864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41" name="TextBox 40"/>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40_5.60x7.50_0.5.jpg"/>
          <p:cNvPicPr>
            <a:picLocks noChangeAspect="1"/>
          </p:cNvPicPr>
          <p:nvPr/>
        </p:nvPicPr>
        <p:blipFill>
          <a:blip r:embed="rId2"/>
          <a:stretch>
            <a:fillRect/>
          </a:stretch>
        </p:blipFill>
        <p:spPr>
          <a:xfrm>
            <a:off x="0" y="0"/>
            <a:ext cx="5120640" cy="6858000"/>
          </a:xfrm>
          <a:prstGeom prst="rect">
            <a:avLst/>
          </a:prstGeom>
        </p:spPr>
      </p:pic>
      <p:sp>
        <p:nvSpPr>
          <p:cNvPr id="4" name="TextBox 3"/>
          <p:cNvSpPr txBox="1"/>
          <p:nvPr/>
        </p:nvSpPr>
        <p:spPr>
          <a:xfrm>
            <a:off x="5760720" y="731520"/>
            <a:ext cx="5486400" cy="274320"/>
          </a:xfrm>
          <a:prstGeom prst="rect">
            <a:avLst/>
          </a:prstGeom>
          <a:noFill/>
        </p:spPr>
        <p:txBody>
          <a:bodyPr wrap="square" lIns="0" rIns="0" tIns="0" bIns="0" anchor="t">
            <a:spAutoFit/>
          </a:bodyPr>
          <a:lstStyle/>
          <a:p>
            <a:pPr algn="l">
              <a:spcAft>
                <a:spcPts val="0"/>
              </a:spcAft>
            </a:pPr>
            <a:r>
              <a:rPr sz="1100" b="1" i="0" spc="300">
                <a:solidFill>
                  <a:srgbClr val="D9B89C"/>
                </a:solidFill>
                <a:latin typeface="Avenir"/>
              </a:rPr>
              <a:t>WHY FLYING HORSE</a:t>
            </a:r>
          </a:p>
        </p:txBody>
      </p:sp>
      <p:sp>
        <p:nvSpPr>
          <p:cNvPr id="5" name="TextBox 4"/>
          <p:cNvSpPr txBox="1"/>
          <p:nvPr/>
        </p:nvSpPr>
        <p:spPr>
          <a:xfrm>
            <a:off x="5760720" y="1051560"/>
            <a:ext cx="5852160" cy="1280160"/>
          </a:xfrm>
          <a:prstGeom prst="rect">
            <a:avLst/>
          </a:prstGeom>
          <a:noFill/>
        </p:spPr>
        <p:txBody>
          <a:bodyPr wrap="square" lIns="0" rIns="0" tIns="0" bIns="0" anchor="t">
            <a:spAutoFit/>
          </a:bodyPr>
          <a:lstStyle/>
          <a:p>
            <a:pPr algn="l">
              <a:lnSpc>
                <a:spcPct val="95000"/>
              </a:lnSpc>
              <a:spcAft>
                <a:spcPts val="0"/>
              </a:spcAft>
            </a:pPr>
            <a:r>
              <a:rPr sz="3200" b="1" i="0">
                <a:solidFill>
                  <a:srgbClr val="FFFFFF"/>
                </a:solidFill>
                <a:latin typeface="Avenir"/>
              </a:rPr>
              <a:t>Home turf for the heroes you play for</a:t>
            </a:r>
          </a:p>
        </p:txBody>
      </p:sp>
      <p:sp>
        <p:nvSpPr>
          <p:cNvPr id="6" name="Rectangle 5"/>
          <p:cNvSpPr/>
          <p:nvPr/>
        </p:nvSpPr>
        <p:spPr>
          <a:xfrm>
            <a:off x="5760720" y="237744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0" y="2651760"/>
            <a:ext cx="5760720" cy="2011680"/>
          </a:xfrm>
          <a:prstGeom prst="rect">
            <a:avLst/>
          </a:prstGeom>
          <a:noFill/>
        </p:spPr>
        <p:txBody>
          <a:bodyPr wrap="square" lIns="0" rIns="0" tIns="0" bIns="0" anchor="t">
            <a:spAutoFit/>
          </a:bodyPr>
          <a:lstStyle/>
          <a:p>
            <a:pPr algn="l">
              <a:lnSpc>
                <a:spcPct val="110000"/>
              </a:lnSpc>
              <a:spcAft>
                <a:spcPts val="1000"/>
              </a:spcAft>
            </a:pPr>
            <a:r>
              <a:rPr sz="1400" b="0" i="0">
                <a:solidFill>
                  <a:srgbClr val="FFFFFF"/>
                </a:solidFill>
                <a:latin typeface="Times New Roman"/>
              </a:rPr>
              <a:t>For 18 years, Innospec's tournaments have raised more than $2.68 million for the PenFed Foundation Military Heroes Program. The setting should honor that.</a:t>
            </a:r>
          </a:p>
          <a:p>
            <a:pPr algn="l">
              <a:lnSpc>
                <a:spcPct val="110000"/>
              </a:lnSpc>
              <a:spcAft>
                <a:spcPts val="1000"/>
              </a:spcAft>
            </a:pPr>
            <a:r>
              <a:rPr sz="1400" b="0" i="0">
                <a:solidFill>
                  <a:srgbClr val="FFFFFF"/>
                </a:solidFill>
                <a:latin typeface="Times New Roman"/>
              </a:rPr>
              <a:t>Our Weiskopf Course looks out over the United States Air Force Academy, and Colorado Springs is home to five military installations. Your sponsors tee off in the heart of one of America's proudest military communities.</a:t>
            </a:r>
          </a:p>
        </p:txBody>
      </p:sp>
      <p:sp>
        <p:nvSpPr>
          <p:cNvPr id="8" name="Rectangle 7"/>
          <p:cNvSpPr/>
          <p:nvPr/>
        </p:nvSpPr>
        <p:spPr>
          <a:xfrm>
            <a:off x="5760720" y="4892040"/>
            <a:ext cx="1828800" cy="123444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0" y="4983480"/>
            <a:ext cx="1828800" cy="548640"/>
          </a:xfrm>
          <a:prstGeom prst="rect">
            <a:avLst/>
          </a:prstGeom>
          <a:noFill/>
        </p:spPr>
        <p:txBody>
          <a:bodyPr wrap="square" lIns="0" rIns="0" tIns="0" bIns="0" anchor="t">
            <a:spAutoFit/>
          </a:bodyPr>
          <a:lstStyle/>
          <a:p>
            <a:pPr algn="ctr">
              <a:spcAft>
                <a:spcPts val="0"/>
              </a:spcAft>
            </a:pPr>
            <a:r>
              <a:rPr sz="2600" b="1" i="0">
                <a:solidFill>
                  <a:srgbClr val="FFFFFF"/>
                </a:solidFill>
                <a:latin typeface="Avenir"/>
              </a:rPr>
              <a:t>15 MIN</a:t>
            </a:r>
          </a:p>
        </p:txBody>
      </p:sp>
      <p:sp>
        <p:nvSpPr>
          <p:cNvPr id="10" name="TextBox 9"/>
          <p:cNvSpPr txBox="1"/>
          <p:nvPr/>
        </p:nvSpPr>
        <p:spPr>
          <a:xfrm>
            <a:off x="5852159" y="5504688"/>
            <a:ext cx="1645920" cy="548640"/>
          </a:xfrm>
          <a:prstGeom prst="rect">
            <a:avLst/>
          </a:prstGeom>
          <a:noFill/>
        </p:spPr>
        <p:txBody>
          <a:bodyPr wrap="square" lIns="0" rIns="0" tIns="0" bIns="0" anchor="t">
            <a:spAutoFit/>
          </a:bodyPr>
          <a:lstStyle/>
          <a:p>
            <a:pPr algn="ctr">
              <a:spcAft>
                <a:spcPts val="0"/>
              </a:spcAft>
            </a:pPr>
            <a:r>
              <a:rPr sz="1050" b="0" i="0">
                <a:solidFill>
                  <a:srgbClr val="FFFFFF"/>
                </a:solidFill>
                <a:latin typeface="Avenir"/>
              </a:rPr>
              <a:t>to the U.S. Air Force
Academy (approx.)</a:t>
            </a:r>
          </a:p>
        </p:txBody>
      </p:sp>
      <p:sp>
        <p:nvSpPr>
          <p:cNvPr id="11" name="Rectangle 10"/>
          <p:cNvSpPr/>
          <p:nvPr/>
        </p:nvSpPr>
        <p:spPr>
          <a:xfrm>
            <a:off x="7772400" y="4892040"/>
            <a:ext cx="1828800" cy="123444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4983480"/>
            <a:ext cx="1828800" cy="548640"/>
          </a:xfrm>
          <a:prstGeom prst="rect">
            <a:avLst/>
          </a:prstGeom>
          <a:noFill/>
        </p:spPr>
        <p:txBody>
          <a:bodyPr wrap="square" lIns="0" rIns="0" tIns="0" bIns="0" anchor="t">
            <a:spAutoFit/>
          </a:bodyPr>
          <a:lstStyle/>
          <a:p>
            <a:pPr algn="ctr">
              <a:spcAft>
                <a:spcPts val="0"/>
              </a:spcAft>
            </a:pPr>
            <a:r>
              <a:rPr sz="2600" b="1" i="0">
                <a:solidFill>
                  <a:srgbClr val="FFFFFF"/>
                </a:solidFill>
                <a:latin typeface="Avenir"/>
              </a:rPr>
              <a:t>5</a:t>
            </a:r>
          </a:p>
        </p:txBody>
      </p:sp>
      <p:sp>
        <p:nvSpPr>
          <p:cNvPr id="13" name="TextBox 12"/>
          <p:cNvSpPr txBox="1"/>
          <p:nvPr/>
        </p:nvSpPr>
        <p:spPr>
          <a:xfrm>
            <a:off x="7863840" y="5504688"/>
            <a:ext cx="1645920" cy="548640"/>
          </a:xfrm>
          <a:prstGeom prst="rect">
            <a:avLst/>
          </a:prstGeom>
          <a:noFill/>
        </p:spPr>
        <p:txBody>
          <a:bodyPr wrap="square" lIns="0" rIns="0" tIns="0" bIns="0" anchor="t">
            <a:spAutoFit/>
          </a:bodyPr>
          <a:lstStyle/>
          <a:p>
            <a:pPr algn="ctr">
              <a:spcAft>
                <a:spcPts val="0"/>
              </a:spcAft>
            </a:pPr>
            <a:r>
              <a:rPr sz="1050" b="0" i="0">
                <a:solidFill>
                  <a:srgbClr val="FFFFFF"/>
                </a:solidFill>
                <a:latin typeface="Avenir"/>
              </a:rPr>
              <a:t>military installations
in Colorado Springs</a:t>
            </a:r>
          </a:p>
        </p:txBody>
      </p:sp>
      <p:sp>
        <p:nvSpPr>
          <p:cNvPr id="14" name="Rectangle 13"/>
          <p:cNvSpPr/>
          <p:nvPr/>
        </p:nvSpPr>
        <p:spPr>
          <a:xfrm>
            <a:off x="9784080" y="4892040"/>
            <a:ext cx="1828800" cy="123444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0" y="4983480"/>
            <a:ext cx="1828800" cy="548640"/>
          </a:xfrm>
          <a:prstGeom prst="rect">
            <a:avLst/>
          </a:prstGeom>
          <a:noFill/>
        </p:spPr>
        <p:txBody>
          <a:bodyPr wrap="square" lIns="0" rIns="0" tIns="0" bIns="0" anchor="t">
            <a:spAutoFit/>
          </a:bodyPr>
          <a:lstStyle/>
          <a:p>
            <a:pPr algn="ctr">
              <a:spcAft>
                <a:spcPts val="0"/>
              </a:spcAft>
            </a:pPr>
            <a:r>
              <a:rPr sz="2600" b="1" i="0">
                <a:solidFill>
                  <a:srgbClr val="FFFFFF"/>
                </a:solidFill>
                <a:latin typeface="Avenir"/>
              </a:rPr>
              <a:t>102</a:t>
            </a:r>
          </a:p>
        </p:txBody>
      </p:sp>
      <p:sp>
        <p:nvSpPr>
          <p:cNvPr id="16" name="TextBox 15"/>
          <p:cNvSpPr txBox="1"/>
          <p:nvPr/>
        </p:nvSpPr>
        <p:spPr>
          <a:xfrm>
            <a:off x="9875519" y="5504688"/>
            <a:ext cx="1645920" cy="548640"/>
          </a:xfrm>
          <a:prstGeom prst="rect">
            <a:avLst/>
          </a:prstGeom>
          <a:noFill/>
        </p:spPr>
        <p:txBody>
          <a:bodyPr wrap="square" lIns="0" rIns="0" tIns="0" bIns="0" anchor="t">
            <a:spAutoFit/>
          </a:bodyPr>
          <a:lstStyle/>
          <a:p>
            <a:pPr algn="ctr">
              <a:spcAft>
                <a:spcPts val="0"/>
              </a:spcAft>
            </a:pPr>
            <a:r>
              <a:rPr sz="1050" b="0" i="0">
                <a:solidFill>
                  <a:srgbClr val="FFFFFF"/>
                </a:solidFill>
                <a:latin typeface="Avenir"/>
              </a:rPr>
              <a:t>rooms, all yours
in a full buyout</a:t>
            </a:r>
          </a:p>
        </p:txBody>
      </p:sp>
      <p:sp>
        <p:nvSpPr>
          <p:cNvPr id="17" name="TextBox 16"/>
          <p:cNvSpPr txBox="1"/>
          <p:nvPr/>
        </p:nvSpPr>
        <p:spPr>
          <a:xfrm>
            <a:off x="5760720" y="6446520"/>
            <a:ext cx="5486400" cy="228600"/>
          </a:xfrm>
          <a:prstGeom prst="rect">
            <a:avLst/>
          </a:prstGeom>
          <a:noFill/>
        </p:spPr>
        <p:txBody>
          <a:bodyPr wrap="square" lIns="0" rIns="0" tIns="0" bIns="0" anchor="t">
            <a:spAutoFit/>
          </a:bodyPr>
          <a:lstStyle/>
          <a:p>
            <a:pPr algn="l">
              <a:spcAft>
                <a:spcPts val="0"/>
              </a:spcAft>
            </a:pPr>
            <a:r>
              <a:rPr sz="800" b="0" i="0" spc="150">
                <a:solidFill>
                  <a:srgbClr val="FFFFFF"/>
                </a:solidFill>
                <a:latin typeface="Avenir"/>
              </a:rPr>
              <a:t>FLYING HORSE RESORT &amp; CLUB  |  INNOSPEC CHARITY GOLF TOURNAMENT 2027</a:t>
            </a:r>
          </a:p>
        </p:txBody>
      </p:sp>
      <p:sp>
        <p:nvSpPr>
          <p:cNvPr id="18" name="TextBox 17"/>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FFFFFF"/>
                </a:solidFill>
                <a:latin typeface="Aveni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THE WEEKEND AT A GLANCE</a:t>
            </a:r>
          </a:p>
        </p:txBody>
      </p:sp>
      <p:sp>
        <p:nvSpPr>
          <p:cNvPr id="4" name="TextBox 3"/>
          <p:cNvSpPr txBox="1"/>
          <p:nvPr/>
        </p:nvSpPr>
        <p:spPr>
          <a:xfrm>
            <a:off x="731520" y="960120"/>
            <a:ext cx="10515600" cy="731520"/>
          </a:xfrm>
          <a:prstGeom prst="rect">
            <a:avLst/>
          </a:prstGeom>
          <a:noFill/>
        </p:spPr>
        <p:txBody>
          <a:bodyPr wrap="square" lIns="0" rIns="0" tIns="0" bIns="0" anchor="t">
            <a:spAutoFit/>
          </a:bodyPr>
          <a:lstStyle/>
          <a:p>
            <a:pPr algn="l">
              <a:spcAft>
                <a:spcPts val="0"/>
              </a:spcAft>
            </a:pPr>
            <a:r>
              <a:rPr sz="3200" b="1" i="0">
                <a:solidFill>
                  <a:srgbClr val="343B36"/>
                </a:solidFill>
                <a:latin typeface="Avenir"/>
              </a:rPr>
              <a:t>Arrive Sunday. Play Monday. Leave inspired.</a:t>
            </a:r>
          </a:p>
        </p:txBody>
      </p:sp>
      <p:sp>
        <p:nvSpPr>
          <p:cNvPr id="5" name="Rectangle 4"/>
          <p:cNvSpPr/>
          <p:nvPr/>
        </p:nvSpPr>
        <p:spPr>
          <a:xfrm>
            <a:off x="731520" y="173736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93_3.70x2.10_0.5.jpg"/>
          <p:cNvPicPr>
            <a:picLocks noChangeAspect="1"/>
          </p:cNvPicPr>
          <p:nvPr/>
        </p:nvPicPr>
        <p:blipFill>
          <a:blip r:embed="rId2"/>
          <a:stretch>
            <a:fillRect/>
          </a:stretch>
        </p:blipFill>
        <p:spPr>
          <a:xfrm>
            <a:off x="731520" y="2103120"/>
            <a:ext cx="3383280" cy="1920240"/>
          </a:xfrm>
          <a:prstGeom prst="rect">
            <a:avLst/>
          </a:prstGeom>
        </p:spPr>
      </p:pic>
      <p:sp>
        <p:nvSpPr>
          <p:cNvPr id="7" name="TextBox 6"/>
          <p:cNvSpPr txBox="1"/>
          <p:nvPr/>
        </p:nvSpPr>
        <p:spPr>
          <a:xfrm>
            <a:off x="731520" y="4206240"/>
            <a:ext cx="3383280" cy="274320"/>
          </a:xfrm>
          <a:prstGeom prst="rect">
            <a:avLst/>
          </a:prstGeom>
          <a:noFill/>
        </p:spPr>
        <p:txBody>
          <a:bodyPr wrap="square" lIns="0" rIns="0" tIns="0" bIns="0" anchor="t">
            <a:spAutoFit/>
          </a:bodyPr>
          <a:lstStyle/>
          <a:p>
            <a:pPr algn="l">
              <a:spcAft>
                <a:spcPts val="0"/>
              </a:spcAft>
            </a:pPr>
            <a:r>
              <a:rPr sz="1100" b="1" i="0" spc="250">
                <a:solidFill>
                  <a:srgbClr val="966A4D"/>
                </a:solidFill>
                <a:latin typeface="Avenir"/>
              </a:rPr>
              <a:t>SATURDAY, AUG 14</a:t>
            </a:r>
          </a:p>
        </p:txBody>
      </p:sp>
      <p:sp>
        <p:nvSpPr>
          <p:cNvPr id="8" name="TextBox 7"/>
          <p:cNvSpPr txBox="1"/>
          <p:nvPr/>
        </p:nvSpPr>
        <p:spPr>
          <a:xfrm>
            <a:off x="731520" y="4480560"/>
            <a:ext cx="3383280" cy="457200"/>
          </a:xfrm>
          <a:prstGeom prst="rect">
            <a:avLst/>
          </a:prstGeom>
          <a:noFill/>
        </p:spPr>
        <p:txBody>
          <a:bodyPr wrap="square" lIns="0" rIns="0" tIns="0" bIns="0" anchor="t">
            <a:spAutoFit/>
          </a:bodyPr>
          <a:lstStyle/>
          <a:p>
            <a:pPr algn="l">
              <a:spcAft>
                <a:spcPts val="0"/>
              </a:spcAft>
            </a:pPr>
            <a:r>
              <a:rPr sz="2000" b="1" i="0">
                <a:solidFill>
                  <a:srgbClr val="343B36"/>
                </a:solidFill>
                <a:latin typeface="Avenir"/>
              </a:rPr>
              <a:t>Early Arrivals</a:t>
            </a:r>
          </a:p>
        </p:txBody>
      </p:sp>
      <p:sp>
        <p:nvSpPr>
          <p:cNvPr id="9" name="TextBox 8"/>
          <p:cNvSpPr txBox="1"/>
          <p:nvPr/>
        </p:nvSpPr>
        <p:spPr>
          <a:xfrm>
            <a:off x="731520" y="4983480"/>
            <a:ext cx="3383280" cy="1371600"/>
          </a:xfrm>
          <a:prstGeom prst="rect">
            <a:avLst/>
          </a:prstGeom>
          <a:noFill/>
        </p:spPr>
        <p:txBody>
          <a:bodyPr wrap="square" lIns="0" rIns="0" tIns="0" bIns="0" anchor="t">
            <a:spAutoFit/>
          </a:bodyPr>
          <a:lstStyle/>
          <a:p>
            <a:pPr algn="l">
              <a:spcAft>
                <a:spcPts val="400"/>
              </a:spcAft>
            </a:pPr>
            <a:r>
              <a:rPr sz="1300" b="0" i="0">
                <a:solidFill>
                  <a:srgbClr val="5B5255"/>
                </a:solidFill>
                <a:latin typeface="Times New Roman"/>
              </a:rPr>
              <a:t>•  Optional guestroom pickup for early arrivals</a:t>
            </a:r>
          </a:p>
          <a:p>
            <a:pPr algn="l">
              <a:spcAft>
                <a:spcPts val="400"/>
              </a:spcAft>
            </a:pPr>
            <a:r>
              <a:rPr sz="1300" b="0" i="0">
                <a:solidFill>
                  <a:srgbClr val="5B5255"/>
                </a:solidFill>
                <a:latin typeface="Times New Roman"/>
              </a:rPr>
              <a:t>•  Dinner at The Steakhouse</a:t>
            </a:r>
          </a:p>
          <a:p>
            <a:pPr algn="l">
              <a:spcAft>
                <a:spcPts val="400"/>
              </a:spcAft>
            </a:pPr>
            <a:r>
              <a:rPr sz="1300" b="0" i="0">
                <a:solidFill>
                  <a:srgbClr val="5B5255"/>
                </a:solidFill>
                <a:latin typeface="Times New Roman"/>
              </a:rPr>
              <a:t>•  Sunset on a private balcony</a:t>
            </a:r>
          </a:p>
        </p:txBody>
      </p:sp>
      <p:pic>
        <p:nvPicPr>
          <p:cNvPr id="10" name="Picture 9" descr="121_3.70x2.10_0.5.jpg"/>
          <p:cNvPicPr>
            <a:picLocks noChangeAspect="1"/>
          </p:cNvPicPr>
          <p:nvPr/>
        </p:nvPicPr>
        <p:blipFill>
          <a:blip r:embed="rId3"/>
          <a:stretch>
            <a:fillRect/>
          </a:stretch>
        </p:blipFill>
        <p:spPr>
          <a:xfrm>
            <a:off x="4389120" y="2103120"/>
            <a:ext cx="3383280" cy="1920240"/>
          </a:xfrm>
          <a:prstGeom prst="rect">
            <a:avLst/>
          </a:prstGeom>
        </p:spPr>
      </p:pic>
      <p:sp>
        <p:nvSpPr>
          <p:cNvPr id="11" name="TextBox 10"/>
          <p:cNvSpPr txBox="1"/>
          <p:nvPr/>
        </p:nvSpPr>
        <p:spPr>
          <a:xfrm>
            <a:off x="4389120" y="4206240"/>
            <a:ext cx="3383280" cy="274320"/>
          </a:xfrm>
          <a:prstGeom prst="rect">
            <a:avLst/>
          </a:prstGeom>
          <a:noFill/>
        </p:spPr>
        <p:txBody>
          <a:bodyPr wrap="square" lIns="0" rIns="0" tIns="0" bIns="0" anchor="t">
            <a:spAutoFit/>
          </a:bodyPr>
          <a:lstStyle/>
          <a:p>
            <a:pPr algn="l">
              <a:spcAft>
                <a:spcPts val="0"/>
              </a:spcAft>
            </a:pPr>
            <a:r>
              <a:rPr sz="1100" b="1" i="0" spc="250">
                <a:solidFill>
                  <a:srgbClr val="966A4D"/>
                </a:solidFill>
                <a:latin typeface="Avenir"/>
              </a:rPr>
              <a:t>SUNDAY, AUG 15</a:t>
            </a:r>
          </a:p>
        </p:txBody>
      </p:sp>
      <p:sp>
        <p:nvSpPr>
          <p:cNvPr id="12" name="TextBox 11"/>
          <p:cNvSpPr txBox="1"/>
          <p:nvPr/>
        </p:nvSpPr>
        <p:spPr>
          <a:xfrm>
            <a:off x="4389120" y="4480560"/>
            <a:ext cx="3383280" cy="457200"/>
          </a:xfrm>
          <a:prstGeom prst="rect">
            <a:avLst/>
          </a:prstGeom>
          <a:noFill/>
        </p:spPr>
        <p:txBody>
          <a:bodyPr wrap="square" lIns="0" rIns="0" tIns="0" bIns="0" anchor="t">
            <a:spAutoFit/>
          </a:bodyPr>
          <a:lstStyle/>
          <a:p>
            <a:pPr algn="l">
              <a:spcAft>
                <a:spcPts val="0"/>
              </a:spcAft>
            </a:pPr>
            <a:r>
              <a:rPr sz="2000" b="1" i="0">
                <a:solidFill>
                  <a:srgbClr val="343B36"/>
                </a:solidFill>
                <a:latin typeface="Avenir"/>
              </a:rPr>
              <a:t>The Resort Is Yours</a:t>
            </a:r>
          </a:p>
        </p:txBody>
      </p:sp>
      <p:sp>
        <p:nvSpPr>
          <p:cNvPr id="13" name="TextBox 12"/>
          <p:cNvSpPr txBox="1"/>
          <p:nvPr/>
        </p:nvSpPr>
        <p:spPr>
          <a:xfrm>
            <a:off x="4389120" y="4983480"/>
            <a:ext cx="3383280" cy="1371600"/>
          </a:xfrm>
          <a:prstGeom prst="rect">
            <a:avLst/>
          </a:prstGeom>
          <a:noFill/>
        </p:spPr>
        <p:txBody>
          <a:bodyPr wrap="square" lIns="0" rIns="0" tIns="0" bIns="0" anchor="t">
            <a:spAutoFit/>
          </a:bodyPr>
          <a:lstStyle/>
          <a:p>
            <a:pPr algn="l">
              <a:spcAft>
                <a:spcPts val="400"/>
              </a:spcAft>
            </a:pPr>
            <a:r>
              <a:rPr sz="1300" b="0" i="0">
                <a:solidFill>
                  <a:srgbClr val="5B5255"/>
                </a:solidFill>
                <a:latin typeface="Times New Roman"/>
              </a:rPr>
              <a:t>•  Full Lodge buyout for sponsors and spouses</a:t>
            </a:r>
          </a:p>
          <a:p>
            <a:pPr algn="l">
              <a:spcAft>
                <a:spcPts val="400"/>
              </a:spcAft>
            </a:pPr>
            <a:r>
              <a:rPr sz="1300" b="0" i="0">
                <a:solidFill>
                  <a:srgbClr val="5B5255"/>
                </a:solidFill>
                <a:latin typeface="Times New Roman"/>
              </a:rPr>
              <a:t>•  Afternoon at The Spa, pool and Athletic Club</a:t>
            </a:r>
          </a:p>
          <a:p>
            <a:pPr algn="l">
              <a:spcAft>
                <a:spcPts val="400"/>
              </a:spcAft>
            </a:pPr>
            <a:r>
              <a:rPr sz="1300" b="0" i="0">
                <a:solidFill>
                  <a:srgbClr val="5B5255"/>
                </a:solidFill>
                <a:latin typeface="Times New Roman"/>
              </a:rPr>
              <a:t>•  Welcome reception with Pikes Peak views</a:t>
            </a:r>
          </a:p>
        </p:txBody>
      </p:sp>
      <p:pic>
        <p:nvPicPr>
          <p:cNvPr id="14" name="Picture 13" descr="030_3.70x2.10_0.5.jpg"/>
          <p:cNvPicPr>
            <a:picLocks noChangeAspect="1"/>
          </p:cNvPicPr>
          <p:nvPr/>
        </p:nvPicPr>
        <p:blipFill>
          <a:blip r:embed="rId4"/>
          <a:stretch>
            <a:fillRect/>
          </a:stretch>
        </p:blipFill>
        <p:spPr>
          <a:xfrm>
            <a:off x="8046720" y="2103120"/>
            <a:ext cx="3383280" cy="1920240"/>
          </a:xfrm>
          <a:prstGeom prst="rect">
            <a:avLst/>
          </a:prstGeom>
        </p:spPr>
      </p:pic>
      <p:sp>
        <p:nvSpPr>
          <p:cNvPr id="15" name="TextBox 14"/>
          <p:cNvSpPr txBox="1"/>
          <p:nvPr/>
        </p:nvSpPr>
        <p:spPr>
          <a:xfrm>
            <a:off x="8046720" y="4206240"/>
            <a:ext cx="3383280" cy="274320"/>
          </a:xfrm>
          <a:prstGeom prst="rect">
            <a:avLst/>
          </a:prstGeom>
          <a:noFill/>
        </p:spPr>
        <p:txBody>
          <a:bodyPr wrap="square" lIns="0" rIns="0" tIns="0" bIns="0" anchor="t">
            <a:spAutoFit/>
          </a:bodyPr>
          <a:lstStyle/>
          <a:p>
            <a:pPr algn="l">
              <a:spcAft>
                <a:spcPts val="0"/>
              </a:spcAft>
            </a:pPr>
            <a:r>
              <a:rPr sz="1100" b="1" i="0" spc="250">
                <a:solidFill>
                  <a:srgbClr val="966A4D"/>
                </a:solidFill>
                <a:latin typeface="Avenir"/>
              </a:rPr>
              <a:t>MONDAY, AUG 16</a:t>
            </a:r>
          </a:p>
        </p:txBody>
      </p:sp>
      <p:sp>
        <p:nvSpPr>
          <p:cNvPr id="16" name="TextBox 15"/>
          <p:cNvSpPr txBox="1"/>
          <p:nvPr/>
        </p:nvSpPr>
        <p:spPr>
          <a:xfrm>
            <a:off x="8046720" y="4480560"/>
            <a:ext cx="3383280" cy="457200"/>
          </a:xfrm>
          <a:prstGeom prst="rect">
            <a:avLst/>
          </a:prstGeom>
          <a:noFill/>
        </p:spPr>
        <p:txBody>
          <a:bodyPr wrap="square" lIns="0" rIns="0" tIns="0" bIns="0" anchor="t">
            <a:spAutoFit/>
          </a:bodyPr>
          <a:lstStyle/>
          <a:p>
            <a:pPr algn="l">
              <a:spcAft>
                <a:spcPts val="0"/>
              </a:spcAft>
            </a:pPr>
            <a:r>
              <a:rPr sz="2000" b="1" i="0">
                <a:solidFill>
                  <a:srgbClr val="343B36"/>
                </a:solidFill>
                <a:latin typeface="Avenir"/>
              </a:rPr>
              <a:t>Tournament Day</a:t>
            </a:r>
          </a:p>
        </p:txBody>
      </p:sp>
      <p:sp>
        <p:nvSpPr>
          <p:cNvPr id="17" name="TextBox 16"/>
          <p:cNvSpPr txBox="1"/>
          <p:nvPr/>
        </p:nvSpPr>
        <p:spPr>
          <a:xfrm>
            <a:off x="8046720" y="4983480"/>
            <a:ext cx="3383280" cy="1371600"/>
          </a:xfrm>
          <a:prstGeom prst="rect">
            <a:avLst/>
          </a:prstGeom>
          <a:noFill/>
        </p:spPr>
        <p:txBody>
          <a:bodyPr wrap="square" lIns="0" rIns="0" tIns="0" bIns="0" anchor="t">
            <a:spAutoFit/>
          </a:bodyPr>
          <a:lstStyle/>
          <a:p>
            <a:pPr algn="l">
              <a:spcAft>
                <a:spcPts val="400"/>
              </a:spcAft>
            </a:pPr>
            <a:r>
              <a:rPr sz="1300" b="0" i="0">
                <a:solidFill>
                  <a:srgbClr val="5B5255"/>
                </a:solidFill>
                <a:latin typeface="Times New Roman"/>
              </a:rPr>
              <a:t>•  Breakfast and warm-up on the practice range</a:t>
            </a:r>
          </a:p>
          <a:p>
            <a:pPr algn="l">
              <a:spcAft>
                <a:spcPts val="400"/>
              </a:spcAft>
            </a:pPr>
            <a:r>
              <a:rPr sz="1300" b="0" i="0">
                <a:solidFill>
                  <a:srgbClr val="5B5255"/>
                </a:solidFill>
                <a:latin typeface="Times New Roman"/>
              </a:rPr>
              <a:t>•  Charity tournament on the Weiskopf Course</a:t>
            </a:r>
          </a:p>
          <a:p>
            <a:pPr algn="l">
              <a:spcAft>
                <a:spcPts val="400"/>
              </a:spcAft>
            </a:pPr>
            <a:r>
              <a:rPr sz="1300" b="0" i="0">
                <a:solidFill>
                  <a:srgbClr val="5B5255"/>
                </a:solidFill>
                <a:latin typeface="Times New Roman"/>
              </a:rPr>
              <a:t>•  Lunch and awards, then safe travels home</a:t>
            </a:r>
          </a:p>
        </p:txBody>
      </p:sp>
      <p:sp>
        <p:nvSpPr>
          <p:cNvPr id="18" name="TextBox 17"/>
          <p:cNvSpPr txBox="1"/>
          <p:nvPr/>
        </p:nvSpPr>
        <p:spPr>
          <a:xfrm>
            <a:off x="54864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19" name="TextBox 18"/>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1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94560"/>
            <a:ext cx="8229600" cy="365760"/>
          </a:xfrm>
          <a:prstGeom prst="rect">
            <a:avLst/>
          </a:prstGeom>
          <a:noFill/>
        </p:spPr>
        <p:txBody>
          <a:bodyPr wrap="square" lIns="0" rIns="0" tIns="0" bIns="0" anchor="t">
            <a:spAutoFit/>
          </a:bodyPr>
          <a:lstStyle/>
          <a:p>
            <a:pPr algn="l">
              <a:spcAft>
                <a:spcPts val="0"/>
              </a:spcAft>
            </a:pPr>
            <a:r>
              <a:rPr sz="1300" b="1" i="0" spc="400">
                <a:solidFill>
                  <a:srgbClr val="FFFFFF"/>
                </a:solidFill>
                <a:latin typeface="Avenir"/>
              </a:rPr>
              <a:t>01  |  THE GOLF</a:t>
            </a:r>
          </a:p>
        </p:txBody>
      </p:sp>
      <p:sp>
        <p:nvSpPr>
          <p:cNvPr id="6" name="TextBox 5"/>
          <p:cNvSpPr txBox="1"/>
          <p:nvPr/>
        </p:nvSpPr>
        <p:spPr>
          <a:xfrm>
            <a:off x="1005840" y="2560320"/>
            <a:ext cx="8686800" cy="1645920"/>
          </a:xfrm>
          <a:prstGeom prst="rect">
            <a:avLst/>
          </a:prstGeom>
          <a:noFill/>
        </p:spPr>
        <p:txBody>
          <a:bodyPr wrap="square" lIns="0" rIns="0" tIns="0" bIns="0" anchor="t">
            <a:spAutoFit/>
          </a:bodyPr>
          <a:lstStyle/>
          <a:p>
            <a:pPr algn="l">
              <a:lnSpc>
                <a:spcPct val="95000"/>
              </a:lnSpc>
              <a:spcAft>
                <a:spcPts val="0"/>
              </a:spcAft>
            </a:pPr>
            <a:r>
              <a:rPr sz="4200" b="1" i="0">
                <a:solidFill>
                  <a:srgbClr val="FFFFFF"/>
                </a:solidFill>
                <a:latin typeface="Avenir"/>
              </a:rPr>
              <a:t>Championship golf, framed by Pikes Peak</a:t>
            </a:r>
          </a:p>
        </p:txBody>
      </p:sp>
      <p:sp>
        <p:nvSpPr>
          <p:cNvPr id="7" name="TextBox 6"/>
          <p:cNvSpPr txBox="1"/>
          <p:nvPr/>
        </p:nvSpPr>
        <p:spPr>
          <a:xfrm>
            <a:off x="1005840" y="4343400"/>
            <a:ext cx="9144000" cy="548640"/>
          </a:xfrm>
          <a:prstGeom prst="rect">
            <a:avLst/>
          </a:prstGeom>
          <a:noFill/>
        </p:spPr>
        <p:txBody>
          <a:bodyPr wrap="square" lIns="0" rIns="0" tIns="0" bIns="0" anchor="t">
            <a:spAutoFit/>
          </a:bodyPr>
          <a:lstStyle/>
          <a:p>
            <a:pPr algn="l">
              <a:spcAft>
                <a:spcPts val="0"/>
              </a:spcAft>
            </a:pPr>
            <a:r>
              <a:rPr sz="1800" b="0" i="1">
                <a:solidFill>
                  <a:srgbClr val="FFFFFF"/>
                </a:solidFill>
                <a:latin typeface="Times New Roman"/>
              </a:rPr>
              <a:t>Where the legend of Flying Horse was born</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30_6.67x7.50_0.5.jpg"/>
          <p:cNvPicPr>
            <a:picLocks noChangeAspect="1"/>
          </p:cNvPicPr>
          <p:nvPr/>
        </p:nvPicPr>
        <p:blipFill>
          <a:blip r:embed="rId2"/>
          <a:stretch>
            <a:fillRect/>
          </a:stretch>
        </p:blipFill>
        <p:spPr>
          <a:xfrm>
            <a:off x="0" y="0"/>
            <a:ext cx="6095847" cy="6858000"/>
          </a:xfrm>
          <a:prstGeom prst="rect">
            <a:avLst/>
          </a:prstGeom>
        </p:spPr>
      </p:pic>
      <p:sp>
        <p:nvSpPr>
          <p:cNvPr id="4" name="TextBox 3"/>
          <p:cNvSpPr txBox="1"/>
          <p:nvPr/>
        </p:nvSpPr>
        <p:spPr>
          <a:xfrm>
            <a:off x="6735927" y="77724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YOUR TOURNAMENT COURSE</a:t>
            </a:r>
          </a:p>
        </p:txBody>
      </p:sp>
      <p:sp>
        <p:nvSpPr>
          <p:cNvPr id="5" name="TextBox 4"/>
          <p:cNvSpPr txBox="1"/>
          <p:nvPr/>
        </p:nvSpPr>
        <p:spPr>
          <a:xfrm>
            <a:off x="6735927" y="1097280"/>
            <a:ext cx="4815687" cy="1188720"/>
          </a:xfrm>
          <a:prstGeom prst="rect">
            <a:avLst/>
          </a:prstGeom>
          <a:noFill/>
        </p:spPr>
        <p:txBody>
          <a:bodyPr wrap="square" lIns="0" rIns="0" tIns="0" bIns="0" anchor="t">
            <a:spAutoFit/>
          </a:bodyPr>
          <a:lstStyle/>
          <a:p>
            <a:pPr algn="l">
              <a:lnSpc>
                <a:spcPct val="95000"/>
              </a:lnSpc>
              <a:spcAft>
                <a:spcPts val="0"/>
              </a:spcAft>
            </a:pPr>
            <a:r>
              <a:rPr sz="3000" b="1" i="0">
                <a:solidFill>
                  <a:srgbClr val="343B36"/>
                </a:solidFill>
                <a:latin typeface="Avenir"/>
              </a:rPr>
              <a:t>The Weiskopf Course</a:t>
            </a:r>
          </a:p>
        </p:txBody>
      </p:sp>
      <p:sp>
        <p:nvSpPr>
          <p:cNvPr id="6" name="Rectangle 5"/>
          <p:cNvSpPr/>
          <p:nvPr/>
        </p:nvSpPr>
        <p:spPr>
          <a:xfrm>
            <a:off x="6735927" y="23317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5927" y="2606040"/>
            <a:ext cx="4815687" cy="3017520"/>
          </a:xfrm>
          <a:prstGeom prst="rect">
            <a:avLst/>
          </a:prstGeom>
          <a:noFill/>
        </p:spPr>
        <p:txBody>
          <a:bodyPr wrap="square" lIns="0" rIns="0" tIns="0" bIns="0" anchor="t">
            <a:spAutoFit/>
          </a:bodyPr>
          <a:lstStyle/>
          <a:p>
            <a:pPr algn="l">
              <a:lnSpc>
                <a:spcPct val="110000"/>
              </a:lnSpc>
              <a:spcAft>
                <a:spcPts val="800"/>
              </a:spcAft>
            </a:pPr>
            <a:r>
              <a:rPr sz="1400" b="0" i="0">
                <a:solidFill>
                  <a:srgbClr val="5B5255"/>
                </a:solidFill>
                <a:latin typeface="Times New Roman"/>
              </a:rPr>
              <a:t>Designed by legendary architect Tom Weiskopf, our Club Course has hosted golfers from around the world since 2005.</a:t>
            </a:r>
          </a:p>
          <a:p>
            <a:pPr algn="l">
              <a:lnSpc>
                <a:spcPct val="110000"/>
              </a:lnSpc>
              <a:spcAft>
                <a:spcPts val="800"/>
              </a:spcAft>
            </a:pPr>
            <a:r>
              <a:rPr sz="1400" b="0" i="0">
                <a:solidFill>
                  <a:srgbClr val="5B5255"/>
                </a:solidFill>
                <a:latin typeface="Times New Roman"/>
              </a:rPr>
              <a:t>•  Voted Best Golf Course in Colorado Springs by The Gazette, 2024, 2025 and 2026</a:t>
            </a:r>
          </a:p>
          <a:p>
            <a:pPr algn="l">
              <a:lnSpc>
                <a:spcPct val="110000"/>
              </a:lnSpc>
              <a:spcAft>
                <a:spcPts val="800"/>
              </a:spcAft>
            </a:pPr>
            <a:r>
              <a:rPr sz="1400" b="0" i="0">
                <a:solidFill>
                  <a:srgbClr val="5B5255"/>
                </a:solidFill>
                <a:latin typeface="Times New Roman"/>
              </a:rPr>
              <a:t>•  Picture-perfect views of Pikes Peak and the U.S. Air Force Academy</a:t>
            </a:r>
          </a:p>
          <a:p>
            <a:pPr algn="l">
              <a:lnSpc>
                <a:spcPct val="110000"/>
              </a:lnSpc>
              <a:spcAft>
                <a:spcPts val="800"/>
              </a:spcAft>
            </a:pPr>
            <a:r>
              <a:rPr sz="1400" b="0" i="0">
                <a:solidFill>
                  <a:srgbClr val="5B5255"/>
                </a:solidFill>
                <a:latin typeface="Times New Roman"/>
              </a:rPr>
              <a:t>•  A links feel with a signature 16-17-18 finish that makes or breaks a round</a:t>
            </a:r>
          </a:p>
          <a:p>
            <a:pPr algn="l">
              <a:lnSpc>
                <a:spcPct val="110000"/>
              </a:lnSpc>
              <a:spcAft>
                <a:spcPts val="800"/>
              </a:spcAft>
            </a:pPr>
            <a:r>
              <a:rPr sz="1400" b="0" i="0">
                <a:solidFill>
                  <a:srgbClr val="5B5255"/>
                </a:solidFill>
                <a:latin typeface="Times New Roman"/>
              </a:rPr>
              <a:t>•  Certified Audubon Cooperative Sanctuary, so expect Colorado wildlife</a:t>
            </a:r>
          </a:p>
        </p:txBody>
      </p:sp>
      <p:sp>
        <p:nvSpPr>
          <p:cNvPr id="8" name="TextBox 7"/>
          <p:cNvSpPr txBox="1"/>
          <p:nvPr/>
        </p:nvSpPr>
        <p:spPr>
          <a:xfrm>
            <a:off x="6735927"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9" name="TextBox 8"/>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18_6.67x3.75_0.5.jpg"/>
          <p:cNvPicPr>
            <a:picLocks noChangeAspect="1"/>
          </p:cNvPicPr>
          <p:nvPr/>
        </p:nvPicPr>
        <p:blipFill>
          <a:blip r:embed="rId2"/>
          <a:stretch>
            <a:fillRect/>
          </a:stretch>
        </p:blipFill>
        <p:spPr>
          <a:xfrm>
            <a:off x="6095847" y="0"/>
            <a:ext cx="6095847" cy="3429000"/>
          </a:xfrm>
          <a:prstGeom prst="rect">
            <a:avLst/>
          </a:prstGeom>
        </p:spPr>
      </p:pic>
      <p:pic>
        <p:nvPicPr>
          <p:cNvPr id="4" name="Picture 3" descr="111_6.67x3.75_0.4.jpg"/>
          <p:cNvPicPr>
            <a:picLocks noChangeAspect="1"/>
          </p:cNvPicPr>
          <p:nvPr/>
        </p:nvPicPr>
        <p:blipFill>
          <a:blip r:embed="rId3"/>
          <a:stretch>
            <a:fillRect/>
          </a:stretch>
        </p:blipFill>
        <p:spPr>
          <a:xfrm>
            <a:off x="6095847" y="3429000"/>
            <a:ext cx="6095847" cy="3429000"/>
          </a:xfrm>
          <a:prstGeom prst="rect">
            <a:avLst/>
          </a:prstGeom>
        </p:spPr>
      </p:pic>
      <p:sp>
        <p:nvSpPr>
          <p:cNvPr id="5" name="TextBox 4"/>
          <p:cNvSpPr txBox="1"/>
          <p:nvPr/>
        </p:nvSpPr>
        <p:spPr>
          <a:xfrm>
            <a:off x="640080" y="77724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TOURNAMENT DAY + GOLF PRICING</a:t>
            </a:r>
          </a:p>
        </p:txBody>
      </p:sp>
      <p:sp>
        <p:nvSpPr>
          <p:cNvPr id="6" name="TextBox 5"/>
          <p:cNvSpPr txBox="1"/>
          <p:nvPr/>
        </p:nvSpPr>
        <p:spPr>
          <a:xfrm>
            <a:off x="640080" y="1097280"/>
            <a:ext cx="4846320" cy="1097280"/>
          </a:xfrm>
          <a:prstGeom prst="rect">
            <a:avLst/>
          </a:prstGeom>
          <a:noFill/>
        </p:spPr>
        <p:txBody>
          <a:bodyPr wrap="square" lIns="0" rIns="0" tIns="0" bIns="0" anchor="t">
            <a:spAutoFit/>
          </a:bodyPr>
          <a:lstStyle/>
          <a:p>
            <a:pPr algn="l">
              <a:lnSpc>
                <a:spcPct val="95000"/>
              </a:lnSpc>
              <a:spcAft>
                <a:spcPts val="0"/>
              </a:spcAft>
            </a:pPr>
            <a:r>
              <a:rPr sz="3000" b="1" i="0">
                <a:solidFill>
                  <a:srgbClr val="343B36"/>
                </a:solidFill>
                <a:latin typeface="Avenir"/>
              </a:rPr>
              <a:t>Run by our PGA team, start to finish</a:t>
            </a:r>
          </a:p>
        </p:txBody>
      </p:sp>
      <p:sp>
        <p:nvSpPr>
          <p:cNvPr id="7" name="Rectangle 6"/>
          <p:cNvSpPr/>
          <p:nvPr/>
        </p:nvSpPr>
        <p:spPr>
          <a:xfrm>
            <a:off x="640080" y="23317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606040"/>
            <a:ext cx="4846320" cy="1828800"/>
          </a:xfrm>
          <a:prstGeom prst="rect">
            <a:avLst/>
          </a:prstGeom>
          <a:noFill/>
        </p:spPr>
        <p:txBody>
          <a:bodyPr wrap="square" lIns="0" rIns="0" tIns="0" bIns="0" anchor="t">
            <a:spAutoFit/>
          </a:bodyPr>
          <a:lstStyle/>
          <a:p>
            <a:pPr algn="l">
              <a:lnSpc>
                <a:spcPct val="110000"/>
              </a:lnSpc>
              <a:spcAft>
                <a:spcPts val="700"/>
              </a:spcAft>
            </a:pPr>
            <a:r>
              <a:rPr sz="1400" b="0" i="0">
                <a:solidFill>
                  <a:srgbClr val="5B5255"/>
                </a:solidFill>
                <a:latin typeface="Times New Roman"/>
              </a:rPr>
              <a:t>Head Golf Professional Mack Borowicz, PGA, and our team handle the details. Your sponsors simply play.</a:t>
            </a:r>
          </a:p>
          <a:p>
            <a:pPr algn="l">
              <a:lnSpc>
                <a:spcPct val="110000"/>
              </a:lnSpc>
              <a:spcAft>
                <a:spcPts val="700"/>
              </a:spcAft>
            </a:pPr>
            <a:r>
              <a:rPr sz="1400" b="0" i="0">
                <a:solidFill>
                  <a:srgbClr val="5B5255"/>
                </a:solidFill>
                <a:latin typeface="Times New Roman"/>
              </a:rPr>
              <a:t>•  Shotgun start; range opens 90 minutes before</a:t>
            </a:r>
          </a:p>
          <a:p>
            <a:pPr algn="l">
              <a:lnSpc>
                <a:spcPct val="110000"/>
              </a:lnSpc>
              <a:spcAft>
                <a:spcPts val="700"/>
              </a:spcAft>
            </a:pPr>
            <a:r>
              <a:rPr sz="1400" b="0" i="0">
                <a:solidFill>
                  <a:srgbClr val="5B5255"/>
                </a:solidFill>
                <a:latin typeface="Times New Roman"/>
              </a:rPr>
              <a:t>•  Fields of 72 to 120 golfers, more with added carts</a:t>
            </a:r>
          </a:p>
          <a:p>
            <a:pPr algn="l">
              <a:lnSpc>
                <a:spcPct val="110000"/>
              </a:lnSpc>
              <a:spcAft>
                <a:spcPts val="700"/>
              </a:spcAft>
            </a:pPr>
            <a:r>
              <a:rPr sz="1400" b="0" i="0">
                <a:solidFill>
                  <a:srgbClr val="5B5255"/>
                </a:solidFill>
                <a:latin typeface="Times New Roman"/>
              </a:rPr>
              <a:t>•  Scoring and hole contests set up by our team</a:t>
            </a:r>
          </a:p>
        </p:txBody>
      </p:sp>
      <p:sp>
        <p:nvSpPr>
          <p:cNvPr id="9" name="Rectangle 8"/>
          <p:cNvSpPr/>
          <p:nvPr/>
        </p:nvSpPr>
        <p:spPr>
          <a:xfrm>
            <a:off x="640080" y="4572000"/>
            <a:ext cx="4846320" cy="100584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572000"/>
            <a:ext cx="2103120" cy="1005840"/>
          </a:xfrm>
          <a:prstGeom prst="rect">
            <a:avLst/>
          </a:prstGeom>
          <a:noFill/>
        </p:spPr>
        <p:txBody>
          <a:bodyPr wrap="square" lIns="0" rIns="0" tIns="0" bIns="0" anchor="ctr">
            <a:spAutoFit/>
          </a:bodyPr>
          <a:lstStyle/>
          <a:p>
            <a:pPr algn="l">
              <a:spcAft>
                <a:spcPts val="0"/>
              </a:spcAft>
            </a:pPr>
            <a:r>
              <a:rPr sz="4000" b="1" i="0">
                <a:solidFill>
                  <a:srgbClr val="FFFFFF"/>
                </a:solidFill>
                <a:latin typeface="Avenir"/>
              </a:rPr>
              <a:t>$130</a:t>
            </a:r>
          </a:p>
        </p:txBody>
      </p:sp>
      <p:sp>
        <p:nvSpPr>
          <p:cNvPr id="11" name="TextBox 10"/>
          <p:cNvSpPr txBox="1"/>
          <p:nvPr/>
        </p:nvSpPr>
        <p:spPr>
          <a:xfrm>
            <a:off x="2651760" y="4572000"/>
            <a:ext cx="2743200" cy="1005840"/>
          </a:xfrm>
          <a:prstGeom prst="rect">
            <a:avLst/>
          </a:prstGeom>
          <a:noFill/>
        </p:spPr>
        <p:txBody>
          <a:bodyPr wrap="square" lIns="0" rIns="0" tIns="0" bIns="0" anchor="ctr">
            <a:spAutoFit/>
          </a:bodyPr>
          <a:lstStyle/>
          <a:p>
            <a:pPr algn="l">
              <a:spcAft>
                <a:spcPts val="0"/>
              </a:spcAft>
            </a:pPr>
            <a:r>
              <a:rPr sz="1300" b="0" i="0">
                <a:solidFill>
                  <a:srgbClr val="FFFFFF"/>
                </a:solidFill>
                <a:latin typeface="Avenir"/>
              </a:rPr>
              <a:t>per golfer, including green fees,
cart and practice range</a:t>
            </a:r>
          </a:p>
        </p:txBody>
      </p:sp>
      <p:sp>
        <p:nvSpPr>
          <p:cNvPr id="12" name="TextBox 11"/>
          <p:cNvSpPr txBox="1"/>
          <p:nvPr/>
        </p:nvSpPr>
        <p:spPr>
          <a:xfrm>
            <a:off x="640080" y="5715000"/>
            <a:ext cx="4846320" cy="548640"/>
          </a:xfrm>
          <a:prstGeom prst="rect">
            <a:avLst/>
          </a:prstGeom>
          <a:noFill/>
        </p:spPr>
        <p:txBody>
          <a:bodyPr wrap="square" lIns="0" rIns="0" tIns="0" bIns="0" anchor="t">
            <a:spAutoFit/>
          </a:bodyPr>
          <a:lstStyle/>
          <a:p>
            <a:pPr algn="l">
              <a:spcAft>
                <a:spcPts val="0"/>
              </a:spcAft>
            </a:pPr>
            <a:r>
              <a:rPr sz="1000" b="1" i="0" spc="200">
                <a:solidFill>
                  <a:srgbClr val="966A4D"/>
                </a:solidFill>
                <a:latin typeface="Avenir"/>
              </a:rPr>
              <a:t>AVAILABLE MONDAYS</a:t>
            </a:r>
          </a:p>
          <a:p>
            <a:pPr algn="l">
              <a:spcAft>
                <a:spcPts val="0"/>
              </a:spcAft>
            </a:pPr>
            <a:r>
              <a:rPr sz="1300" b="1" i="0">
                <a:solidFill>
                  <a:srgbClr val="343B36"/>
                </a:solidFill>
                <a:latin typeface="Avenir"/>
              </a:rPr>
              <a:t>August 2   •   August 9   •   August 16   •   August 23</a:t>
            </a:r>
          </a:p>
        </p:txBody>
      </p:sp>
      <p:sp>
        <p:nvSpPr>
          <p:cNvPr id="13" name="TextBox 12"/>
          <p:cNvSpPr txBox="1"/>
          <p:nvPr/>
        </p:nvSpPr>
        <p:spPr>
          <a:xfrm>
            <a:off x="54864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14" name="TextBox 13"/>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3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94560"/>
            <a:ext cx="8229600" cy="365760"/>
          </a:xfrm>
          <a:prstGeom prst="rect">
            <a:avLst/>
          </a:prstGeom>
          <a:noFill/>
        </p:spPr>
        <p:txBody>
          <a:bodyPr wrap="square" lIns="0" rIns="0" tIns="0" bIns="0" anchor="t">
            <a:spAutoFit/>
          </a:bodyPr>
          <a:lstStyle/>
          <a:p>
            <a:pPr algn="l">
              <a:spcAft>
                <a:spcPts val="0"/>
              </a:spcAft>
            </a:pPr>
            <a:r>
              <a:rPr sz="1300" b="1" i="0" spc="400">
                <a:solidFill>
                  <a:srgbClr val="FFFFFF"/>
                </a:solidFill>
                <a:latin typeface="Avenir"/>
              </a:rPr>
              <a:t>02  |  THE RESORT</a:t>
            </a:r>
          </a:p>
        </p:txBody>
      </p:sp>
      <p:sp>
        <p:nvSpPr>
          <p:cNvPr id="6" name="TextBox 5"/>
          <p:cNvSpPr txBox="1"/>
          <p:nvPr/>
        </p:nvSpPr>
        <p:spPr>
          <a:xfrm>
            <a:off x="1005840" y="2560320"/>
            <a:ext cx="8686800" cy="1645920"/>
          </a:xfrm>
          <a:prstGeom prst="rect">
            <a:avLst/>
          </a:prstGeom>
          <a:noFill/>
        </p:spPr>
        <p:txBody>
          <a:bodyPr wrap="square" lIns="0" rIns="0" tIns="0" bIns="0" anchor="t">
            <a:spAutoFit/>
          </a:bodyPr>
          <a:lstStyle/>
          <a:p>
            <a:pPr algn="l">
              <a:lnSpc>
                <a:spcPct val="95000"/>
              </a:lnSpc>
              <a:spcAft>
                <a:spcPts val="0"/>
              </a:spcAft>
            </a:pPr>
            <a:r>
              <a:rPr sz="4200" b="1" i="0">
                <a:solidFill>
                  <a:srgbClr val="FFFFFF"/>
                </a:solidFill>
                <a:latin typeface="Avenir"/>
              </a:rPr>
              <a:t>A AAA Four Diamond resort, all to yourselves</a:t>
            </a:r>
          </a:p>
        </p:txBody>
      </p:sp>
      <p:sp>
        <p:nvSpPr>
          <p:cNvPr id="7" name="TextBox 6"/>
          <p:cNvSpPr txBox="1"/>
          <p:nvPr/>
        </p:nvSpPr>
        <p:spPr>
          <a:xfrm>
            <a:off x="1005840" y="4343400"/>
            <a:ext cx="9144000" cy="548640"/>
          </a:xfrm>
          <a:prstGeom prst="rect">
            <a:avLst/>
          </a:prstGeom>
          <a:noFill/>
        </p:spPr>
        <p:txBody>
          <a:bodyPr wrap="square" lIns="0" rIns="0" tIns="0" bIns="0" anchor="t">
            <a:spAutoFit/>
          </a:bodyPr>
          <a:lstStyle/>
          <a:p>
            <a:pPr algn="l">
              <a:spcAft>
                <a:spcPts val="0"/>
              </a:spcAft>
            </a:pPr>
            <a:r>
              <a:rPr sz="1800" b="0" i="1">
                <a:solidFill>
                  <a:srgbClr val="FFFFFF"/>
                </a:solidFill>
                <a:latin typeface="Times New Roman"/>
              </a:rPr>
              <a:t>Tuscan warmth meets the Rocky Mountains</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50_6.67x7.50_0.5.jpg"/>
          <p:cNvPicPr>
            <a:picLocks noChangeAspect="1"/>
          </p:cNvPicPr>
          <p:nvPr/>
        </p:nvPicPr>
        <p:blipFill>
          <a:blip r:embed="rId2"/>
          <a:stretch>
            <a:fillRect/>
          </a:stretch>
        </p:blipFill>
        <p:spPr>
          <a:xfrm>
            <a:off x="6095847" y="0"/>
            <a:ext cx="6095847" cy="6858000"/>
          </a:xfrm>
          <a:prstGeom prst="rect">
            <a:avLst/>
          </a:prstGeom>
        </p:spPr>
      </p:pic>
      <p:sp>
        <p:nvSpPr>
          <p:cNvPr id="4" name="TextBox 3"/>
          <p:cNvSpPr txBox="1"/>
          <p:nvPr/>
        </p:nvSpPr>
        <p:spPr>
          <a:xfrm>
            <a:off x="640080" y="77724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THE LODGE AT FLYING HORSE</a:t>
            </a:r>
          </a:p>
        </p:txBody>
      </p:sp>
      <p:sp>
        <p:nvSpPr>
          <p:cNvPr id="5" name="TextBox 4"/>
          <p:cNvSpPr txBox="1"/>
          <p:nvPr/>
        </p:nvSpPr>
        <p:spPr>
          <a:xfrm>
            <a:off x="640080" y="1097280"/>
            <a:ext cx="4815687" cy="1188720"/>
          </a:xfrm>
          <a:prstGeom prst="rect">
            <a:avLst/>
          </a:prstGeom>
          <a:noFill/>
        </p:spPr>
        <p:txBody>
          <a:bodyPr wrap="square" lIns="0" rIns="0" tIns="0" bIns="0" anchor="t">
            <a:spAutoFit/>
          </a:bodyPr>
          <a:lstStyle/>
          <a:p>
            <a:pPr algn="l">
              <a:lnSpc>
                <a:spcPct val="95000"/>
              </a:lnSpc>
              <a:spcAft>
                <a:spcPts val="0"/>
              </a:spcAft>
            </a:pPr>
            <a:r>
              <a:rPr sz="3000" b="1" i="0">
                <a:solidFill>
                  <a:srgbClr val="343B36"/>
                </a:solidFill>
                <a:latin typeface="Avenir"/>
              </a:rPr>
              <a:t>Your own private resort</a:t>
            </a:r>
          </a:p>
        </p:txBody>
      </p:sp>
      <p:sp>
        <p:nvSpPr>
          <p:cNvPr id="6" name="Rectangle 5"/>
          <p:cNvSpPr/>
          <p:nvPr/>
        </p:nvSpPr>
        <p:spPr>
          <a:xfrm>
            <a:off x="640080" y="23317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606040"/>
            <a:ext cx="4815687" cy="3017520"/>
          </a:xfrm>
          <a:prstGeom prst="rect">
            <a:avLst/>
          </a:prstGeom>
          <a:noFill/>
        </p:spPr>
        <p:txBody>
          <a:bodyPr wrap="square" lIns="0" rIns="0" tIns="0" bIns="0" anchor="t">
            <a:spAutoFit/>
          </a:bodyPr>
          <a:lstStyle/>
          <a:p>
            <a:pPr algn="l">
              <a:lnSpc>
                <a:spcPct val="110000"/>
              </a:lnSpc>
              <a:spcAft>
                <a:spcPts val="800"/>
              </a:spcAft>
            </a:pPr>
            <a:r>
              <a:rPr sz="1400" b="0" i="0">
                <a:solidFill>
                  <a:srgbClr val="5B5255"/>
                </a:solidFill>
                <a:latin typeface="Times New Roman"/>
              </a:rPr>
              <a:t>Small enough to know your story. Big enough to deliver your vision. With a full buyout, all 102 rooms, suites and villas belong to your sponsors and their guests.</a:t>
            </a:r>
          </a:p>
          <a:p>
            <a:pPr algn="l">
              <a:lnSpc>
                <a:spcPct val="110000"/>
              </a:lnSpc>
              <a:spcAft>
                <a:spcPts val="800"/>
              </a:spcAft>
            </a:pPr>
            <a:r>
              <a:rPr sz="1400" b="0" i="0">
                <a:solidFill>
                  <a:srgbClr val="5B5255"/>
                </a:solidFill>
                <a:latin typeface="Times New Roman"/>
              </a:rPr>
              <a:t>•  AAA Four Diamond designation</a:t>
            </a:r>
          </a:p>
          <a:p>
            <a:pPr algn="l">
              <a:lnSpc>
                <a:spcPct val="110000"/>
              </a:lnSpc>
              <a:spcAft>
                <a:spcPts val="800"/>
              </a:spcAft>
            </a:pPr>
            <a:r>
              <a:rPr sz="1400" b="0" i="0">
                <a:solidFill>
                  <a:srgbClr val="5B5255"/>
                </a:solidFill>
                <a:latin typeface="Times New Roman"/>
              </a:rPr>
              <a:t>•  Every guestroom is 500+ square feet with a private balcony or patio</a:t>
            </a:r>
          </a:p>
          <a:p>
            <a:pPr algn="l">
              <a:lnSpc>
                <a:spcPct val="110000"/>
              </a:lnSpc>
              <a:spcAft>
                <a:spcPts val="800"/>
              </a:spcAft>
            </a:pPr>
            <a:r>
              <a:rPr sz="1400" b="0" i="0">
                <a:solidFill>
                  <a:srgbClr val="5B5255"/>
                </a:solidFill>
                <a:latin typeface="Times New Roman"/>
              </a:rPr>
              <a:t>•  Views of the golf course or the Front Range</a:t>
            </a:r>
          </a:p>
          <a:p>
            <a:pPr algn="l">
              <a:lnSpc>
                <a:spcPct val="110000"/>
              </a:lnSpc>
              <a:spcAft>
                <a:spcPts val="800"/>
              </a:spcAft>
            </a:pPr>
            <a:r>
              <a:rPr sz="1400" b="0" i="0">
                <a:solidFill>
                  <a:srgbClr val="5B5255"/>
                </a:solidFill>
                <a:latin typeface="Times New Roman"/>
              </a:rPr>
              <a:t>•  Oversized showers, Nespresso and work desks in every room</a:t>
            </a:r>
          </a:p>
        </p:txBody>
      </p:sp>
      <p:sp>
        <p:nvSpPr>
          <p:cNvPr id="8" name="TextBox 7"/>
          <p:cNvSpPr txBox="1"/>
          <p:nvPr/>
        </p:nvSpPr>
        <p:spPr>
          <a:xfrm>
            <a:off x="64008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9" name="TextBox 8"/>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09_4.60x3.75_0.5.jpg"/>
          <p:cNvPicPr>
            <a:picLocks noChangeAspect="1"/>
          </p:cNvPicPr>
          <p:nvPr/>
        </p:nvPicPr>
        <p:blipFill>
          <a:blip r:embed="rId2"/>
          <a:stretch>
            <a:fillRect/>
          </a:stretch>
        </p:blipFill>
        <p:spPr>
          <a:xfrm>
            <a:off x="0" y="0"/>
            <a:ext cx="4206240" cy="3429000"/>
          </a:xfrm>
          <a:prstGeom prst="rect">
            <a:avLst/>
          </a:prstGeom>
        </p:spPr>
      </p:pic>
      <p:pic>
        <p:nvPicPr>
          <p:cNvPr id="4" name="Picture 3" descr="134_4.60x3.75_0.5.jpg"/>
          <p:cNvPicPr>
            <a:picLocks noChangeAspect="1"/>
          </p:cNvPicPr>
          <p:nvPr/>
        </p:nvPicPr>
        <p:blipFill>
          <a:blip r:embed="rId3"/>
          <a:stretch>
            <a:fillRect/>
          </a:stretch>
        </p:blipFill>
        <p:spPr>
          <a:xfrm>
            <a:off x="0" y="3429000"/>
            <a:ext cx="4206240" cy="3429000"/>
          </a:xfrm>
          <a:prstGeom prst="rect">
            <a:avLst/>
          </a:prstGeom>
        </p:spPr>
      </p:pic>
      <p:sp>
        <p:nvSpPr>
          <p:cNvPr id="5" name="TextBox 4"/>
          <p:cNvSpPr txBox="1"/>
          <p:nvPr/>
        </p:nvSpPr>
        <p:spPr>
          <a:xfrm>
            <a:off x="4846320" y="64008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ACCOMMODATIONS + GROUP RATES</a:t>
            </a:r>
          </a:p>
        </p:txBody>
      </p:sp>
      <p:sp>
        <p:nvSpPr>
          <p:cNvPr id="6" name="TextBox 5"/>
          <p:cNvSpPr txBox="1"/>
          <p:nvPr/>
        </p:nvSpPr>
        <p:spPr>
          <a:xfrm>
            <a:off x="4846320" y="960120"/>
            <a:ext cx="6858000" cy="640080"/>
          </a:xfrm>
          <a:prstGeom prst="rect">
            <a:avLst/>
          </a:prstGeom>
          <a:noFill/>
        </p:spPr>
        <p:txBody>
          <a:bodyPr wrap="square" lIns="0" rIns="0" tIns="0" bIns="0" anchor="t">
            <a:spAutoFit/>
          </a:bodyPr>
          <a:lstStyle/>
          <a:p>
            <a:pPr algn="l">
              <a:spcAft>
                <a:spcPts val="0"/>
              </a:spcAft>
            </a:pPr>
            <a:r>
              <a:rPr sz="3000" b="1" i="0">
                <a:solidFill>
                  <a:srgbClr val="343B36"/>
                </a:solidFill>
                <a:latin typeface="Avenir"/>
              </a:rPr>
              <a:t>Rooms, suites and villas</a:t>
            </a:r>
          </a:p>
        </p:txBody>
      </p:sp>
      <p:sp>
        <p:nvSpPr>
          <p:cNvPr id="7" name="Rectangle 6"/>
          <p:cNvSpPr/>
          <p:nvPr/>
        </p:nvSpPr>
        <p:spPr>
          <a:xfrm>
            <a:off x="4846320" y="16459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846320" y="1920240"/>
            <a:ext cx="6766560" cy="420624"/>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83480" y="1920240"/>
            <a:ext cx="2560320" cy="420624"/>
          </a:xfrm>
          <a:prstGeom prst="rect">
            <a:avLst/>
          </a:prstGeom>
          <a:noFill/>
        </p:spPr>
        <p:txBody>
          <a:bodyPr wrap="square" lIns="0" rIns="0" tIns="0" bIns="0" anchor="ctr">
            <a:spAutoFit/>
          </a:bodyPr>
          <a:lstStyle/>
          <a:p>
            <a:pPr algn="l">
              <a:spcAft>
                <a:spcPts val="0"/>
              </a:spcAft>
            </a:pPr>
            <a:r>
              <a:rPr sz="1100" b="1" i="0" spc="100">
                <a:solidFill>
                  <a:srgbClr val="FFFFFF"/>
                </a:solidFill>
                <a:latin typeface="Avenir"/>
              </a:rPr>
              <a:t>Room type</a:t>
            </a:r>
          </a:p>
        </p:txBody>
      </p:sp>
      <p:sp>
        <p:nvSpPr>
          <p:cNvPr id="10" name="TextBox 9"/>
          <p:cNvSpPr txBox="1"/>
          <p:nvPr/>
        </p:nvSpPr>
        <p:spPr>
          <a:xfrm>
            <a:off x="7726680" y="1920240"/>
            <a:ext cx="1371600" cy="420624"/>
          </a:xfrm>
          <a:prstGeom prst="rect">
            <a:avLst/>
          </a:prstGeom>
          <a:noFill/>
        </p:spPr>
        <p:txBody>
          <a:bodyPr wrap="square" lIns="0" rIns="0" tIns="0" bIns="0" anchor="ctr">
            <a:spAutoFit/>
          </a:bodyPr>
          <a:lstStyle/>
          <a:p>
            <a:pPr algn="l">
              <a:spcAft>
                <a:spcPts val="0"/>
              </a:spcAft>
            </a:pPr>
            <a:r>
              <a:rPr sz="1100" b="1" i="0" spc="100">
                <a:solidFill>
                  <a:srgbClr val="FFFFFF"/>
                </a:solidFill>
                <a:latin typeface="Avenir"/>
              </a:rPr>
              <a:t>Size</a:t>
            </a:r>
          </a:p>
        </p:txBody>
      </p:sp>
      <p:sp>
        <p:nvSpPr>
          <p:cNvPr id="11" name="TextBox 10"/>
          <p:cNvSpPr txBox="1"/>
          <p:nvPr/>
        </p:nvSpPr>
        <p:spPr>
          <a:xfrm>
            <a:off x="9281160" y="1920240"/>
            <a:ext cx="914400" cy="420624"/>
          </a:xfrm>
          <a:prstGeom prst="rect">
            <a:avLst/>
          </a:prstGeom>
          <a:noFill/>
        </p:spPr>
        <p:txBody>
          <a:bodyPr wrap="square" lIns="0" rIns="0" tIns="0" bIns="0" anchor="ctr">
            <a:spAutoFit/>
          </a:bodyPr>
          <a:lstStyle/>
          <a:p>
            <a:pPr algn="l">
              <a:spcAft>
                <a:spcPts val="0"/>
              </a:spcAft>
            </a:pPr>
            <a:r>
              <a:rPr sz="1100" b="1" i="0" spc="100">
                <a:solidFill>
                  <a:srgbClr val="FFFFFF"/>
                </a:solidFill>
                <a:latin typeface="Avenir"/>
              </a:rPr>
              <a:t>Sleeps</a:t>
            </a:r>
          </a:p>
        </p:txBody>
      </p:sp>
      <p:sp>
        <p:nvSpPr>
          <p:cNvPr id="12" name="TextBox 11"/>
          <p:cNvSpPr txBox="1"/>
          <p:nvPr/>
        </p:nvSpPr>
        <p:spPr>
          <a:xfrm>
            <a:off x="10378440" y="1920240"/>
            <a:ext cx="1188720" cy="420624"/>
          </a:xfrm>
          <a:prstGeom prst="rect">
            <a:avLst/>
          </a:prstGeom>
          <a:noFill/>
        </p:spPr>
        <p:txBody>
          <a:bodyPr wrap="square" lIns="0" rIns="0" tIns="0" bIns="0" anchor="ctr">
            <a:spAutoFit/>
          </a:bodyPr>
          <a:lstStyle/>
          <a:p>
            <a:pPr algn="r">
              <a:spcAft>
                <a:spcPts val="0"/>
              </a:spcAft>
            </a:pPr>
            <a:r>
              <a:rPr sz="1100" b="1" i="0" spc="100">
                <a:solidFill>
                  <a:srgbClr val="FFFFFF"/>
                </a:solidFill>
                <a:latin typeface="Avenir"/>
              </a:rPr>
              <a:t>Rate / night</a:t>
            </a:r>
          </a:p>
        </p:txBody>
      </p:sp>
      <p:sp>
        <p:nvSpPr>
          <p:cNvPr id="13" name="TextBox 12"/>
          <p:cNvSpPr txBox="1"/>
          <p:nvPr/>
        </p:nvSpPr>
        <p:spPr>
          <a:xfrm>
            <a:off x="4983480" y="2340864"/>
            <a:ext cx="256032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King or Double Queen</a:t>
            </a:r>
          </a:p>
        </p:txBody>
      </p:sp>
      <p:sp>
        <p:nvSpPr>
          <p:cNvPr id="14" name="TextBox 13"/>
          <p:cNvSpPr txBox="1"/>
          <p:nvPr/>
        </p:nvSpPr>
        <p:spPr>
          <a:xfrm>
            <a:off x="7726680" y="2340864"/>
            <a:ext cx="13716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500+ sq ft</a:t>
            </a:r>
          </a:p>
        </p:txBody>
      </p:sp>
      <p:sp>
        <p:nvSpPr>
          <p:cNvPr id="15" name="TextBox 14"/>
          <p:cNvSpPr txBox="1"/>
          <p:nvPr/>
        </p:nvSpPr>
        <p:spPr>
          <a:xfrm>
            <a:off x="9281160" y="2340864"/>
            <a:ext cx="9144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2 or 4</a:t>
            </a:r>
          </a:p>
        </p:txBody>
      </p:sp>
      <p:sp>
        <p:nvSpPr>
          <p:cNvPr id="16" name="TextBox 15"/>
          <p:cNvSpPr txBox="1"/>
          <p:nvPr/>
        </p:nvSpPr>
        <p:spPr>
          <a:xfrm>
            <a:off x="10378440" y="2340864"/>
            <a:ext cx="1188720" cy="420624"/>
          </a:xfrm>
          <a:prstGeom prst="rect">
            <a:avLst/>
          </a:prstGeom>
          <a:noFill/>
        </p:spPr>
        <p:txBody>
          <a:bodyPr wrap="square" lIns="0" rIns="0" tIns="0" bIns="0" anchor="ctr">
            <a:spAutoFit/>
          </a:bodyPr>
          <a:lstStyle/>
          <a:p>
            <a:pPr algn="r">
              <a:spcAft>
                <a:spcPts val="0"/>
              </a:spcAft>
            </a:pPr>
            <a:r>
              <a:rPr sz="1300" b="1" i="0">
                <a:solidFill>
                  <a:srgbClr val="966A4D"/>
                </a:solidFill>
                <a:latin typeface="Avenir"/>
              </a:rPr>
              <a:t>$340</a:t>
            </a:r>
          </a:p>
        </p:txBody>
      </p:sp>
      <p:sp>
        <p:nvSpPr>
          <p:cNvPr id="17" name="Rectangle 16"/>
          <p:cNvSpPr/>
          <p:nvPr/>
        </p:nvSpPr>
        <p:spPr>
          <a:xfrm>
            <a:off x="4846320" y="2761488"/>
            <a:ext cx="6766560" cy="420624"/>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83480" y="2761488"/>
            <a:ext cx="256032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Academy Suite</a:t>
            </a:r>
          </a:p>
        </p:txBody>
      </p:sp>
      <p:sp>
        <p:nvSpPr>
          <p:cNvPr id="19" name="TextBox 18"/>
          <p:cNvSpPr txBox="1"/>
          <p:nvPr/>
        </p:nvSpPr>
        <p:spPr>
          <a:xfrm>
            <a:off x="7726680" y="2761488"/>
            <a:ext cx="13716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700 sq ft</a:t>
            </a:r>
          </a:p>
        </p:txBody>
      </p:sp>
      <p:sp>
        <p:nvSpPr>
          <p:cNvPr id="20" name="TextBox 19"/>
          <p:cNvSpPr txBox="1"/>
          <p:nvPr/>
        </p:nvSpPr>
        <p:spPr>
          <a:xfrm>
            <a:off x="9281160" y="2761488"/>
            <a:ext cx="9144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2</a:t>
            </a:r>
          </a:p>
        </p:txBody>
      </p:sp>
      <p:sp>
        <p:nvSpPr>
          <p:cNvPr id="21" name="TextBox 20"/>
          <p:cNvSpPr txBox="1"/>
          <p:nvPr/>
        </p:nvSpPr>
        <p:spPr>
          <a:xfrm>
            <a:off x="10378440" y="2761488"/>
            <a:ext cx="1188720" cy="420624"/>
          </a:xfrm>
          <a:prstGeom prst="rect">
            <a:avLst/>
          </a:prstGeom>
          <a:noFill/>
        </p:spPr>
        <p:txBody>
          <a:bodyPr wrap="square" lIns="0" rIns="0" tIns="0" bIns="0" anchor="ctr">
            <a:spAutoFit/>
          </a:bodyPr>
          <a:lstStyle/>
          <a:p>
            <a:pPr algn="r">
              <a:spcAft>
                <a:spcPts val="0"/>
              </a:spcAft>
            </a:pPr>
            <a:r>
              <a:rPr sz="1300" b="1" i="0">
                <a:solidFill>
                  <a:srgbClr val="966A4D"/>
                </a:solidFill>
                <a:latin typeface="Avenir"/>
              </a:rPr>
              <a:t>$390</a:t>
            </a:r>
          </a:p>
        </p:txBody>
      </p:sp>
      <p:sp>
        <p:nvSpPr>
          <p:cNvPr id="22" name="TextBox 21"/>
          <p:cNvSpPr txBox="1"/>
          <p:nvPr/>
        </p:nvSpPr>
        <p:spPr>
          <a:xfrm>
            <a:off x="4983480" y="3182112"/>
            <a:ext cx="256032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Deluxe Suite</a:t>
            </a:r>
          </a:p>
        </p:txBody>
      </p:sp>
      <p:sp>
        <p:nvSpPr>
          <p:cNvPr id="23" name="TextBox 22"/>
          <p:cNvSpPr txBox="1"/>
          <p:nvPr/>
        </p:nvSpPr>
        <p:spPr>
          <a:xfrm>
            <a:off x="7726680" y="3182112"/>
            <a:ext cx="13716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725 sq ft</a:t>
            </a:r>
          </a:p>
        </p:txBody>
      </p:sp>
      <p:sp>
        <p:nvSpPr>
          <p:cNvPr id="24" name="TextBox 23"/>
          <p:cNvSpPr txBox="1"/>
          <p:nvPr/>
        </p:nvSpPr>
        <p:spPr>
          <a:xfrm>
            <a:off x="9281160" y="3182112"/>
            <a:ext cx="9144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2</a:t>
            </a:r>
          </a:p>
        </p:txBody>
      </p:sp>
      <p:sp>
        <p:nvSpPr>
          <p:cNvPr id="25" name="TextBox 24"/>
          <p:cNvSpPr txBox="1"/>
          <p:nvPr/>
        </p:nvSpPr>
        <p:spPr>
          <a:xfrm>
            <a:off x="10378440" y="3182112"/>
            <a:ext cx="1188720" cy="420624"/>
          </a:xfrm>
          <a:prstGeom prst="rect">
            <a:avLst/>
          </a:prstGeom>
          <a:noFill/>
        </p:spPr>
        <p:txBody>
          <a:bodyPr wrap="square" lIns="0" rIns="0" tIns="0" bIns="0" anchor="ctr">
            <a:spAutoFit/>
          </a:bodyPr>
          <a:lstStyle/>
          <a:p>
            <a:pPr algn="r">
              <a:spcAft>
                <a:spcPts val="0"/>
              </a:spcAft>
            </a:pPr>
            <a:r>
              <a:rPr sz="1300" b="1" i="0">
                <a:solidFill>
                  <a:srgbClr val="966A4D"/>
                </a:solidFill>
                <a:latin typeface="Avenir"/>
              </a:rPr>
              <a:t>$440</a:t>
            </a:r>
          </a:p>
        </p:txBody>
      </p:sp>
      <p:sp>
        <p:nvSpPr>
          <p:cNvPr id="26" name="Rectangle 25"/>
          <p:cNvSpPr/>
          <p:nvPr/>
        </p:nvSpPr>
        <p:spPr>
          <a:xfrm>
            <a:off x="4846320" y="3602736"/>
            <a:ext cx="6766560" cy="420624"/>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83480" y="3602736"/>
            <a:ext cx="256032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Executive Suite</a:t>
            </a:r>
          </a:p>
        </p:txBody>
      </p:sp>
      <p:sp>
        <p:nvSpPr>
          <p:cNvPr id="28" name="TextBox 27"/>
          <p:cNvSpPr txBox="1"/>
          <p:nvPr/>
        </p:nvSpPr>
        <p:spPr>
          <a:xfrm>
            <a:off x="7726680" y="3602736"/>
            <a:ext cx="13716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930 sq ft</a:t>
            </a:r>
          </a:p>
        </p:txBody>
      </p:sp>
      <p:sp>
        <p:nvSpPr>
          <p:cNvPr id="29" name="TextBox 28"/>
          <p:cNvSpPr txBox="1"/>
          <p:nvPr/>
        </p:nvSpPr>
        <p:spPr>
          <a:xfrm>
            <a:off x="9281160" y="3602736"/>
            <a:ext cx="9144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2</a:t>
            </a:r>
          </a:p>
        </p:txBody>
      </p:sp>
      <p:sp>
        <p:nvSpPr>
          <p:cNvPr id="30" name="TextBox 29"/>
          <p:cNvSpPr txBox="1"/>
          <p:nvPr/>
        </p:nvSpPr>
        <p:spPr>
          <a:xfrm>
            <a:off x="10378440" y="3602736"/>
            <a:ext cx="1188720" cy="420624"/>
          </a:xfrm>
          <a:prstGeom prst="rect">
            <a:avLst/>
          </a:prstGeom>
          <a:noFill/>
        </p:spPr>
        <p:txBody>
          <a:bodyPr wrap="square" lIns="0" rIns="0" tIns="0" bIns="0" anchor="ctr">
            <a:spAutoFit/>
          </a:bodyPr>
          <a:lstStyle/>
          <a:p>
            <a:pPr algn="r">
              <a:spcAft>
                <a:spcPts val="0"/>
              </a:spcAft>
            </a:pPr>
            <a:r>
              <a:rPr sz="1300" b="1" i="0">
                <a:solidFill>
                  <a:srgbClr val="966A4D"/>
                </a:solidFill>
                <a:latin typeface="Avenir"/>
              </a:rPr>
              <a:t>$490</a:t>
            </a:r>
          </a:p>
        </p:txBody>
      </p:sp>
      <p:sp>
        <p:nvSpPr>
          <p:cNvPr id="31" name="TextBox 30"/>
          <p:cNvSpPr txBox="1"/>
          <p:nvPr/>
        </p:nvSpPr>
        <p:spPr>
          <a:xfrm>
            <a:off x="4983480" y="4023360"/>
            <a:ext cx="256032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Presidential Suite</a:t>
            </a:r>
          </a:p>
        </p:txBody>
      </p:sp>
      <p:sp>
        <p:nvSpPr>
          <p:cNvPr id="32" name="TextBox 31"/>
          <p:cNvSpPr txBox="1"/>
          <p:nvPr/>
        </p:nvSpPr>
        <p:spPr>
          <a:xfrm>
            <a:off x="7726680" y="4023360"/>
            <a:ext cx="13716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1,114 sq ft</a:t>
            </a:r>
          </a:p>
        </p:txBody>
      </p:sp>
      <p:sp>
        <p:nvSpPr>
          <p:cNvPr id="33" name="TextBox 32"/>
          <p:cNvSpPr txBox="1"/>
          <p:nvPr/>
        </p:nvSpPr>
        <p:spPr>
          <a:xfrm>
            <a:off x="9281160" y="4023360"/>
            <a:ext cx="9144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2</a:t>
            </a:r>
          </a:p>
        </p:txBody>
      </p:sp>
      <p:sp>
        <p:nvSpPr>
          <p:cNvPr id="34" name="TextBox 33"/>
          <p:cNvSpPr txBox="1"/>
          <p:nvPr/>
        </p:nvSpPr>
        <p:spPr>
          <a:xfrm>
            <a:off x="10378440" y="4023360"/>
            <a:ext cx="1188720" cy="420624"/>
          </a:xfrm>
          <a:prstGeom prst="rect">
            <a:avLst/>
          </a:prstGeom>
          <a:noFill/>
        </p:spPr>
        <p:txBody>
          <a:bodyPr wrap="square" lIns="0" rIns="0" tIns="0" bIns="0" anchor="ctr">
            <a:spAutoFit/>
          </a:bodyPr>
          <a:lstStyle/>
          <a:p>
            <a:pPr algn="r">
              <a:spcAft>
                <a:spcPts val="0"/>
              </a:spcAft>
            </a:pPr>
            <a:r>
              <a:rPr sz="1300" b="1" i="0">
                <a:solidFill>
                  <a:srgbClr val="966A4D"/>
                </a:solidFill>
                <a:latin typeface="Avenir"/>
              </a:rPr>
              <a:t>$640</a:t>
            </a:r>
          </a:p>
        </p:txBody>
      </p:sp>
      <p:sp>
        <p:nvSpPr>
          <p:cNvPr id="35" name="Rectangle 34"/>
          <p:cNvSpPr/>
          <p:nvPr/>
        </p:nvSpPr>
        <p:spPr>
          <a:xfrm>
            <a:off x="4846320" y="4443984"/>
            <a:ext cx="6766560" cy="420624"/>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83480" y="4443984"/>
            <a:ext cx="256032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Tuscan Villa, one bedroom</a:t>
            </a:r>
          </a:p>
        </p:txBody>
      </p:sp>
      <p:sp>
        <p:nvSpPr>
          <p:cNvPr id="37" name="TextBox 36"/>
          <p:cNvSpPr txBox="1"/>
          <p:nvPr/>
        </p:nvSpPr>
        <p:spPr>
          <a:xfrm>
            <a:off x="7726680" y="4443984"/>
            <a:ext cx="13716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1,650 sq ft villa</a:t>
            </a:r>
          </a:p>
        </p:txBody>
      </p:sp>
      <p:sp>
        <p:nvSpPr>
          <p:cNvPr id="38" name="TextBox 37"/>
          <p:cNvSpPr txBox="1"/>
          <p:nvPr/>
        </p:nvSpPr>
        <p:spPr>
          <a:xfrm>
            <a:off x="9281160" y="4443984"/>
            <a:ext cx="9144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2</a:t>
            </a:r>
          </a:p>
        </p:txBody>
      </p:sp>
      <p:sp>
        <p:nvSpPr>
          <p:cNvPr id="39" name="TextBox 38"/>
          <p:cNvSpPr txBox="1"/>
          <p:nvPr/>
        </p:nvSpPr>
        <p:spPr>
          <a:xfrm>
            <a:off x="10378440" y="4443984"/>
            <a:ext cx="1188720" cy="420624"/>
          </a:xfrm>
          <a:prstGeom prst="rect">
            <a:avLst/>
          </a:prstGeom>
          <a:noFill/>
        </p:spPr>
        <p:txBody>
          <a:bodyPr wrap="square" lIns="0" rIns="0" tIns="0" bIns="0" anchor="ctr">
            <a:spAutoFit/>
          </a:bodyPr>
          <a:lstStyle/>
          <a:p>
            <a:pPr algn="r">
              <a:spcAft>
                <a:spcPts val="0"/>
              </a:spcAft>
            </a:pPr>
            <a:r>
              <a:rPr sz="1300" b="1" i="0">
                <a:solidFill>
                  <a:srgbClr val="966A4D"/>
                </a:solidFill>
                <a:latin typeface="Avenir"/>
              </a:rPr>
              <a:t>$640</a:t>
            </a:r>
          </a:p>
        </p:txBody>
      </p:sp>
      <p:sp>
        <p:nvSpPr>
          <p:cNvPr id="40" name="TextBox 39"/>
          <p:cNvSpPr txBox="1"/>
          <p:nvPr/>
        </p:nvSpPr>
        <p:spPr>
          <a:xfrm>
            <a:off x="4983480" y="4864608"/>
            <a:ext cx="256032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Tuscan Villa, two bedroom</a:t>
            </a:r>
          </a:p>
        </p:txBody>
      </p:sp>
      <p:sp>
        <p:nvSpPr>
          <p:cNvPr id="41" name="TextBox 40"/>
          <p:cNvSpPr txBox="1"/>
          <p:nvPr/>
        </p:nvSpPr>
        <p:spPr>
          <a:xfrm>
            <a:off x="7726680" y="4864608"/>
            <a:ext cx="13716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1,650 sq ft villa</a:t>
            </a:r>
          </a:p>
        </p:txBody>
      </p:sp>
      <p:sp>
        <p:nvSpPr>
          <p:cNvPr id="42" name="TextBox 41"/>
          <p:cNvSpPr txBox="1"/>
          <p:nvPr/>
        </p:nvSpPr>
        <p:spPr>
          <a:xfrm>
            <a:off x="9281160" y="4864608"/>
            <a:ext cx="914400" cy="420624"/>
          </a:xfrm>
          <a:prstGeom prst="rect">
            <a:avLst/>
          </a:prstGeom>
          <a:noFill/>
        </p:spPr>
        <p:txBody>
          <a:bodyPr wrap="square" lIns="0" rIns="0" tIns="0" bIns="0" anchor="ctr">
            <a:spAutoFit/>
          </a:bodyPr>
          <a:lstStyle/>
          <a:p>
            <a:pPr algn="l">
              <a:spcAft>
                <a:spcPts val="0"/>
              </a:spcAft>
            </a:pPr>
            <a:r>
              <a:rPr sz="1300" b="0" i="0">
                <a:solidFill>
                  <a:srgbClr val="5B5255"/>
                </a:solidFill>
                <a:latin typeface="Avenir"/>
              </a:rPr>
              <a:t>4</a:t>
            </a:r>
          </a:p>
        </p:txBody>
      </p:sp>
      <p:sp>
        <p:nvSpPr>
          <p:cNvPr id="43" name="TextBox 42"/>
          <p:cNvSpPr txBox="1"/>
          <p:nvPr/>
        </p:nvSpPr>
        <p:spPr>
          <a:xfrm>
            <a:off x="10378440" y="4864608"/>
            <a:ext cx="1188720" cy="420624"/>
          </a:xfrm>
          <a:prstGeom prst="rect">
            <a:avLst/>
          </a:prstGeom>
          <a:noFill/>
        </p:spPr>
        <p:txBody>
          <a:bodyPr wrap="square" lIns="0" rIns="0" tIns="0" bIns="0" anchor="ctr">
            <a:spAutoFit/>
          </a:bodyPr>
          <a:lstStyle/>
          <a:p>
            <a:pPr algn="r">
              <a:spcAft>
                <a:spcPts val="0"/>
              </a:spcAft>
            </a:pPr>
            <a:r>
              <a:rPr sz="1300" b="1" i="0">
                <a:solidFill>
                  <a:srgbClr val="966A4D"/>
                </a:solidFill>
                <a:latin typeface="Avenir"/>
              </a:rPr>
              <a:t>$1,080</a:t>
            </a:r>
          </a:p>
        </p:txBody>
      </p:sp>
      <p:sp>
        <p:nvSpPr>
          <p:cNvPr id="44" name="TextBox 43"/>
          <p:cNvSpPr txBox="1"/>
          <p:nvPr/>
        </p:nvSpPr>
        <p:spPr>
          <a:xfrm>
            <a:off x="4846320" y="5394960"/>
            <a:ext cx="6858000" cy="822960"/>
          </a:xfrm>
          <a:prstGeom prst="rect">
            <a:avLst/>
          </a:prstGeom>
          <a:noFill/>
        </p:spPr>
        <p:txBody>
          <a:bodyPr wrap="square" lIns="0" rIns="0" tIns="0" bIns="0" anchor="t">
            <a:spAutoFit/>
          </a:bodyPr>
          <a:lstStyle/>
          <a:p>
            <a:pPr algn="l">
              <a:spcAft>
                <a:spcPts val="400"/>
              </a:spcAft>
            </a:pPr>
            <a:r>
              <a:rPr sz="1300" b="0" i="1">
                <a:solidFill>
                  <a:srgbClr val="343B36"/>
                </a:solidFill>
                <a:latin typeface="Times New Roman"/>
              </a:rPr>
              <a:t>A significantly reduced group rate for your buyout, per room, per night.</a:t>
            </a:r>
          </a:p>
          <a:p>
            <a:pPr algn="l">
              <a:spcAft>
                <a:spcPts val="400"/>
              </a:spcAft>
            </a:pPr>
            <a:r>
              <a:rPr sz="1050" b="0" i="0">
                <a:solidFill>
                  <a:srgbClr val="5B5255"/>
                </a:solidFill>
                <a:latin typeface="Times New Roman"/>
              </a:rPr>
              <a:t>Rates do not include the $35 nightly resort amenity fee, 2.95% retail sales fee, or state and city occupancy taxes (currently 10.2% combined). Final room block and counts will be confirmed in your formal agreement.</a:t>
            </a:r>
          </a:p>
        </p:txBody>
      </p:sp>
      <p:sp>
        <p:nvSpPr>
          <p:cNvPr id="45" name="TextBox 44"/>
          <p:cNvSpPr txBox="1"/>
          <p:nvPr/>
        </p:nvSpPr>
        <p:spPr>
          <a:xfrm>
            <a:off x="484632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46" name="TextBox 45"/>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8_13.33x7.50_0.4.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94560"/>
            <a:ext cx="8229600" cy="365760"/>
          </a:xfrm>
          <a:prstGeom prst="rect">
            <a:avLst/>
          </a:prstGeom>
          <a:noFill/>
        </p:spPr>
        <p:txBody>
          <a:bodyPr wrap="square" lIns="0" rIns="0" tIns="0" bIns="0" anchor="t">
            <a:spAutoFit/>
          </a:bodyPr>
          <a:lstStyle/>
          <a:p>
            <a:pPr algn="l">
              <a:spcAft>
                <a:spcPts val="0"/>
              </a:spcAft>
            </a:pPr>
            <a:r>
              <a:rPr sz="1300" b="1" i="0" spc="400">
                <a:solidFill>
                  <a:srgbClr val="FFFFFF"/>
                </a:solidFill>
                <a:latin typeface="Avenir"/>
              </a:rPr>
              <a:t>03  |  THE EXPERIENCE</a:t>
            </a:r>
          </a:p>
        </p:txBody>
      </p:sp>
      <p:sp>
        <p:nvSpPr>
          <p:cNvPr id="6" name="TextBox 5"/>
          <p:cNvSpPr txBox="1"/>
          <p:nvPr/>
        </p:nvSpPr>
        <p:spPr>
          <a:xfrm>
            <a:off x="1005840" y="2560320"/>
            <a:ext cx="8686800" cy="1645920"/>
          </a:xfrm>
          <a:prstGeom prst="rect">
            <a:avLst/>
          </a:prstGeom>
          <a:noFill/>
        </p:spPr>
        <p:txBody>
          <a:bodyPr wrap="square" lIns="0" rIns="0" tIns="0" bIns="0" anchor="t">
            <a:spAutoFit/>
          </a:bodyPr>
          <a:lstStyle/>
          <a:p>
            <a:pPr algn="l">
              <a:lnSpc>
                <a:spcPct val="95000"/>
              </a:lnSpc>
              <a:spcAft>
                <a:spcPts val="0"/>
              </a:spcAft>
            </a:pPr>
            <a:r>
              <a:rPr sz="4200" b="1" i="0">
                <a:solidFill>
                  <a:srgbClr val="FFFFFF"/>
                </a:solidFill>
                <a:latin typeface="Avenir"/>
              </a:rPr>
              <a:t>Something for every guest, golfer or not</a:t>
            </a:r>
          </a:p>
        </p:txBody>
      </p:sp>
      <p:sp>
        <p:nvSpPr>
          <p:cNvPr id="7" name="TextBox 6"/>
          <p:cNvSpPr txBox="1"/>
          <p:nvPr/>
        </p:nvSpPr>
        <p:spPr>
          <a:xfrm>
            <a:off x="1005840" y="4343400"/>
            <a:ext cx="9144000" cy="548640"/>
          </a:xfrm>
          <a:prstGeom prst="rect">
            <a:avLst/>
          </a:prstGeom>
          <a:noFill/>
        </p:spPr>
        <p:txBody>
          <a:bodyPr wrap="square" lIns="0" rIns="0" tIns="0" bIns="0" anchor="t">
            <a:spAutoFit/>
          </a:bodyPr>
          <a:lstStyle/>
          <a:p>
            <a:pPr algn="l">
              <a:spcAft>
                <a:spcPts val="0"/>
              </a:spcAft>
            </a:pPr>
            <a:r>
              <a:rPr sz="1800" b="0" i="1">
                <a:solidFill>
                  <a:srgbClr val="FFFFFF"/>
                </a:solidFill>
                <a:latin typeface="Times New Roman"/>
              </a:rPr>
              <a:t>Spa, club and resort life for sponsors and spouses</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98_6.67x7.50_0.5.jpg"/>
          <p:cNvPicPr>
            <a:picLocks noChangeAspect="1"/>
          </p:cNvPicPr>
          <p:nvPr/>
        </p:nvPicPr>
        <p:blipFill>
          <a:blip r:embed="rId2"/>
          <a:stretch>
            <a:fillRect/>
          </a:stretch>
        </p:blipFill>
        <p:spPr>
          <a:xfrm>
            <a:off x="0" y="0"/>
            <a:ext cx="6095847" cy="6858000"/>
          </a:xfrm>
          <a:prstGeom prst="rect">
            <a:avLst/>
          </a:prstGeom>
        </p:spPr>
      </p:pic>
      <p:sp>
        <p:nvSpPr>
          <p:cNvPr id="4" name="TextBox 3"/>
          <p:cNvSpPr txBox="1"/>
          <p:nvPr/>
        </p:nvSpPr>
        <p:spPr>
          <a:xfrm>
            <a:off x="6644487" y="54864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WHILE THE GOLFERS PLAY</a:t>
            </a:r>
          </a:p>
        </p:txBody>
      </p:sp>
      <p:sp>
        <p:nvSpPr>
          <p:cNvPr id="5" name="TextBox 4"/>
          <p:cNvSpPr txBox="1"/>
          <p:nvPr/>
        </p:nvSpPr>
        <p:spPr>
          <a:xfrm>
            <a:off x="6644487" y="868680"/>
            <a:ext cx="4998567" cy="640080"/>
          </a:xfrm>
          <a:prstGeom prst="rect">
            <a:avLst/>
          </a:prstGeom>
          <a:noFill/>
        </p:spPr>
        <p:txBody>
          <a:bodyPr wrap="square" lIns="0" rIns="0" tIns="0" bIns="0" anchor="t">
            <a:spAutoFit/>
          </a:bodyPr>
          <a:lstStyle/>
          <a:p>
            <a:pPr algn="l">
              <a:spcAft>
                <a:spcPts val="0"/>
              </a:spcAft>
            </a:pPr>
            <a:r>
              <a:rPr sz="3000" b="1" i="0">
                <a:solidFill>
                  <a:srgbClr val="343B36"/>
                </a:solidFill>
                <a:latin typeface="Avenir"/>
              </a:rPr>
              <a:t>The Spa at Flying Horse</a:t>
            </a:r>
          </a:p>
        </p:txBody>
      </p:sp>
      <p:sp>
        <p:nvSpPr>
          <p:cNvPr id="6" name="Rectangle 5"/>
          <p:cNvSpPr/>
          <p:nvPr/>
        </p:nvSpPr>
        <p:spPr>
          <a:xfrm>
            <a:off x="6644487" y="155448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44487" y="1737360"/>
            <a:ext cx="4998567" cy="822960"/>
          </a:xfrm>
          <a:prstGeom prst="rect">
            <a:avLst/>
          </a:prstGeom>
          <a:noFill/>
        </p:spPr>
        <p:txBody>
          <a:bodyPr wrap="square" lIns="0" rIns="0" tIns="0" bIns="0" anchor="t">
            <a:spAutoFit/>
          </a:bodyPr>
          <a:lstStyle/>
          <a:p>
            <a:pPr algn="l">
              <a:lnSpc>
                <a:spcPct val="108000"/>
              </a:lnSpc>
              <a:spcAft>
                <a:spcPts val="0"/>
              </a:spcAft>
            </a:pPr>
            <a:r>
              <a:rPr sz="1350" b="0" i="0">
                <a:solidFill>
                  <a:srgbClr val="5B5255"/>
                </a:solidFill>
                <a:latin typeface="Times New Roman"/>
              </a:rPr>
              <a:t>Spouses and guests trade the fairway for a serene haven of renewal. Every service includes access to the whirlpool and steam room.</a:t>
            </a:r>
          </a:p>
        </p:txBody>
      </p:sp>
      <p:sp>
        <p:nvSpPr>
          <p:cNvPr id="8" name="Rectangle 7"/>
          <p:cNvSpPr/>
          <p:nvPr/>
        </p:nvSpPr>
        <p:spPr>
          <a:xfrm>
            <a:off x="6644487" y="2697480"/>
            <a:ext cx="4998567" cy="384048"/>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27367" y="2697480"/>
            <a:ext cx="4632807" cy="384048"/>
          </a:xfrm>
          <a:prstGeom prst="rect">
            <a:avLst/>
          </a:prstGeom>
          <a:noFill/>
        </p:spPr>
        <p:txBody>
          <a:bodyPr wrap="square" lIns="0" rIns="0" tIns="0" bIns="0" anchor="ctr">
            <a:spAutoFit/>
          </a:bodyPr>
          <a:lstStyle/>
          <a:p>
            <a:pPr algn="l">
              <a:spcAft>
                <a:spcPts val="0"/>
              </a:spcAft>
            </a:pPr>
            <a:r>
              <a:rPr sz="1050" b="1" i="0" spc="200">
                <a:solidFill>
                  <a:srgbClr val="FFFFFF"/>
                </a:solidFill>
                <a:latin typeface="Avenir"/>
              </a:rPr>
              <a:t>SPA MENU  |  GUEST RATES</a:t>
            </a:r>
          </a:p>
        </p:txBody>
      </p:sp>
      <p:sp>
        <p:nvSpPr>
          <p:cNvPr id="10" name="TextBox 9"/>
          <p:cNvSpPr txBox="1"/>
          <p:nvPr/>
        </p:nvSpPr>
        <p:spPr>
          <a:xfrm>
            <a:off x="6827367" y="3127248"/>
            <a:ext cx="3017520" cy="411480"/>
          </a:xfrm>
          <a:prstGeom prst="rect">
            <a:avLst/>
          </a:prstGeom>
          <a:noFill/>
        </p:spPr>
        <p:txBody>
          <a:bodyPr wrap="square" lIns="0" rIns="0" tIns="0" bIns="0" anchor="ctr">
            <a:spAutoFit/>
          </a:bodyPr>
          <a:lstStyle/>
          <a:p>
            <a:pPr algn="l">
              <a:spcAft>
                <a:spcPts val="0"/>
              </a:spcAft>
            </a:pPr>
            <a:r>
              <a:rPr sz="1250" b="1" i="0">
                <a:solidFill>
                  <a:srgbClr val="343B36"/>
                </a:solidFill>
                <a:latin typeface="Avenir"/>
              </a:rPr>
              <a:t>Flying Horse Signature Experience</a:t>
            </a:r>
          </a:p>
        </p:txBody>
      </p:sp>
      <p:sp>
        <p:nvSpPr>
          <p:cNvPr id="11" name="TextBox 10"/>
          <p:cNvSpPr txBox="1"/>
          <p:nvPr/>
        </p:nvSpPr>
        <p:spPr>
          <a:xfrm>
            <a:off x="9799167" y="3127248"/>
            <a:ext cx="1600200" cy="411480"/>
          </a:xfrm>
          <a:prstGeom prst="rect">
            <a:avLst/>
          </a:prstGeom>
          <a:noFill/>
        </p:spPr>
        <p:txBody>
          <a:bodyPr wrap="square" lIns="0" rIns="0" tIns="0" bIns="0" anchor="ctr">
            <a:spAutoFit/>
          </a:bodyPr>
          <a:lstStyle/>
          <a:p>
            <a:pPr algn="l">
              <a:spcAft>
                <a:spcPts val="0"/>
              </a:spcAft>
            </a:pPr>
            <a:r>
              <a:rPr sz="1000" b="0" i="1">
                <a:solidFill>
                  <a:srgbClr val="5B5255"/>
                </a:solidFill>
                <a:latin typeface="Avenir"/>
              </a:rPr>
              <a:t>80 / 100 min</a:t>
            </a:r>
          </a:p>
        </p:txBody>
      </p:sp>
      <p:sp>
        <p:nvSpPr>
          <p:cNvPr id="12" name="TextBox 11"/>
          <p:cNvSpPr txBox="1"/>
          <p:nvPr/>
        </p:nvSpPr>
        <p:spPr>
          <a:xfrm>
            <a:off x="10317175" y="3127248"/>
            <a:ext cx="1143000" cy="411480"/>
          </a:xfrm>
          <a:prstGeom prst="rect">
            <a:avLst/>
          </a:prstGeom>
          <a:noFill/>
        </p:spPr>
        <p:txBody>
          <a:bodyPr wrap="square" lIns="0" rIns="0" tIns="0" bIns="0" anchor="ctr">
            <a:spAutoFit/>
          </a:bodyPr>
          <a:lstStyle/>
          <a:p>
            <a:pPr algn="r">
              <a:spcAft>
                <a:spcPts val="0"/>
              </a:spcAft>
            </a:pPr>
            <a:r>
              <a:rPr sz="1250" b="1" i="0">
                <a:solidFill>
                  <a:srgbClr val="966A4D"/>
                </a:solidFill>
                <a:latin typeface="Avenir"/>
              </a:rPr>
              <a:t>$230 / $285</a:t>
            </a:r>
          </a:p>
        </p:txBody>
      </p:sp>
      <p:sp>
        <p:nvSpPr>
          <p:cNvPr id="13" name="Rectangle 12"/>
          <p:cNvSpPr/>
          <p:nvPr/>
        </p:nvSpPr>
        <p:spPr>
          <a:xfrm>
            <a:off x="6644487" y="3538728"/>
            <a:ext cx="4998567" cy="41148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27367" y="3538728"/>
            <a:ext cx="3017520" cy="411480"/>
          </a:xfrm>
          <a:prstGeom prst="rect">
            <a:avLst/>
          </a:prstGeom>
          <a:noFill/>
        </p:spPr>
        <p:txBody>
          <a:bodyPr wrap="square" lIns="0" rIns="0" tIns="0" bIns="0" anchor="ctr">
            <a:spAutoFit/>
          </a:bodyPr>
          <a:lstStyle/>
          <a:p>
            <a:pPr algn="l">
              <a:spcAft>
                <a:spcPts val="0"/>
              </a:spcAft>
            </a:pPr>
            <a:r>
              <a:rPr sz="1250" b="1" i="0">
                <a:solidFill>
                  <a:srgbClr val="343B36"/>
                </a:solidFill>
                <a:latin typeface="Avenir"/>
              </a:rPr>
              <a:t>Serenity Massage</a:t>
            </a:r>
          </a:p>
        </p:txBody>
      </p:sp>
      <p:sp>
        <p:nvSpPr>
          <p:cNvPr id="15" name="TextBox 14"/>
          <p:cNvSpPr txBox="1"/>
          <p:nvPr/>
        </p:nvSpPr>
        <p:spPr>
          <a:xfrm>
            <a:off x="9799167" y="3538728"/>
            <a:ext cx="1600200" cy="411480"/>
          </a:xfrm>
          <a:prstGeom prst="rect">
            <a:avLst/>
          </a:prstGeom>
          <a:noFill/>
        </p:spPr>
        <p:txBody>
          <a:bodyPr wrap="square" lIns="0" rIns="0" tIns="0" bIns="0" anchor="ctr">
            <a:spAutoFit/>
          </a:bodyPr>
          <a:lstStyle/>
          <a:p>
            <a:pPr algn="l">
              <a:spcAft>
                <a:spcPts val="0"/>
              </a:spcAft>
            </a:pPr>
            <a:r>
              <a:rPr sz="1000" b="0" i="1">
                <a:solidFill>
                  <a:srgbClr val="5B5255"/>
                </a:solidFill>
                <a:latin typeface="Avenir"/>
              </a:rPr>
              <a:t>50 / 80 min</a:t>
            </a:r>
          </a:p>
        </p:txBody>
      </p:sp>
      <p:sp>
        <p:nvSpPr>
          <p:cNvPr id="16" name="TextBox 15"/>
          <p:cNvSpPr txBox="1"/>
          <p:nvPr/>
        </p:nvSpPr>
        <p:spPr>
          <a:xfrm>
            <a:off x="10317175" y="3538728"/>
            <a:ext cx="1143000" cy="411480"/>
          </a:xfrm>
          <a:prstGeom prst="rect">
            <a:avLst/>
          </a:prstGeom>
          <a:noFill/>
        </p:spPr>
        <p:txBody>
          <a:bodyPr wrap="square" lIns="0" rIns="0" tIns="0" bIns="0" anchor="ctr">
            <a:spAutoFit/>
          </a:bodyPr>
          <a:lstStyle/>
          <a:p>
            <a:pPr algn="r">
              <a:spcAft>
                <a:spcPts val="0"/>
              </a:spcAft>
            </a:pPr>
            <a:r>
              <a:rPr sz="1250" b="1" i="0">
                <a:solidFill>
                  <a:srgbClr val="966A4D"/>
                </a:solidFill>
                <a:latin typeface="Avenir"/>
              </a:rPr>
              <a:t>$155 / $210</a:t>
            </a:r>
          </a:p>
        </p:txBody>
      </p:sp>
      <p:sp>
        <p:nvSpPr>
          <p:cNvPr id="17" name="TextBox 16"/>
          <p:cNvSpPr txBox="1"/>
          <p:nvPr/>
        </p:nvSpPr>
        <p:spPr>
          <a:xfrm>
            <a:off x="6827367" y="3950208"/>
            <a:ext cx="3017520" cy="411480"/>
          </a:xfrm>
          <a:prstGeom prst="rect">
            <a:avLst/>
          </a:prstGeom>
          <a:noFill/>
        </p:spPr>
        <p:txBody>
          <a:bodyPr wrap="square" lIns="0" rIns="0" tIns="0" bIns="0" anchor="ctr">
            <a:spAutoFit/>
          </a:bodyPr>
          <a:lstStyle/>
          <a:p>
            <a:pPr algn="l">
              <a:spcAft>
                <a:spcPts val="0"/>
              </a:spcAft>
            </a:pPr>
            <a:r>
              <a:rPr sz="1250" b="1" i="0">
                <a:solidFill>
                  <a:srgbClr val="343B36"/>
                </a:solidFill>
                <a:latin typeface="Avenir"/>
              </a:rPr>
              <a:t>Signature Facial</a:t>
            </a:r>
          </a:p>
        </p:txBody>
      </p:sp>
      <p:sp>
        <p:nvSpPr>
          <p:cNvPr id="18" name="TextBox 17"/>
          <p:cNvSpPr txBox="1"/>
          <p:nvPr/>
        </p:nvSpPr>
        <p:spPr>
          <a:xfrm>
            <a:off x="9799167" y="3950208"/>
            <a:ext cx="1600200" cy="411480"/>
          </a:xfrm>
          <a:prstGeom prst="rect">
            <a:avLst/>
          </a:prstGeom>
          <a:noFill/>
        </p:spPr>
        <p:txBody>
          <a:bodyPr wrap="square" lIns="0" rIns="0" tIns="0" bIns="0" anchor="ctr">
            <a:spAutoFit/>
          </a:bodyPr>
          <a:lstStyle/>
          <a:p>
            <a:pPr algn="l">
              <a:spcAft>
                <a:spcPts val="0"/>
              </a:spcAft>
            </a:pPr>
            <a:r>
              <a:rPr sz="1000" b="0" i="1">
                <a:solidFill>
                  <a:srgbClr val="5B5255"/>
                </a:solidFill>
                <a:latin typeface="Avenir"/>
              </a:rPr>
              <a:t>50 / 80 min</a:t>
            </a:r>
          </a:p>
        </p:txBody>
      </p:sp>
      <p:sp>
        <p:nvSpPr>
          <p:cNvPr id="19" name="TextBox 18"/>
          <p:cNvSpPr txBox="1"/>
          <p:nvPr/>
        </p:nvSpPr>
        <p:spPr>
          <a:xfrm>
            <a:off x="10317175" y="3950208"/>
            <a:ext cx="1143000" cy="411480"/>
          </a:xfrm>
          <a:prstGeom prst="rect">
            <a:avLst/>
          </a:prstGeom>
          <a:noFill/>
        </p:spPr>
        <p:txBody>
          <a:bodyPr wrap="square" lIns="0" rIns="0" tIns="0" bIns="0" anchor="ctr">
            <a:spAutoFit/>
          </a:bodyPr>
          <a:lstStyle/>
          <a:p>
            <a:pPr algn="r">
              <a:spcAft>
                <a:spcPts val="0"/>
              </a:spcAft>
            </a:pPr>
            <a:r>
              <a:rPr sz="1250" b="1" i="0">
                <a:solidFill>
                  <a:srgbClr val="966A4D"/>
                </a:solidFill>
                <a:latin typeface="Avenir"/>
              </a:rPr>
              <a:t>$155 / $210</a:t>
            </a:r>
          </a:p>
        </p:txBody>
      </p:sp>
      <p:sp>
        <p:nvSpPr>
          <p:cNvPr id="20" name="Rectangle 19"/>
          <p:cNvSpPr/>
          <p:nvPr/>
        </p:nvSpPr>
        <p:spPr>
          <a:xfrm>
            <a:off x="6644487" y="4361688"/>
            <a:ext cx="4998567" cy="41148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27367" y="4361688"/>
            <a:ext cx="3017520" cy="411480"/>
          </a:xfrm>
          <a:prstGeom prst="rect">
            <a:avLst/>
          </a:prstGeom>
          <a:noFill/>
        </p:spPr>
        <p:txBody>
          <a:bodyPr wrap="square" lIns="0" rIns="0" tIns="0" bIns="0" anchor="ctr">
            <a:spAutoFit/>
          </a:bodyPr>
          <a:lstStyle/>
          <a:p>
            <a:pPr algn="l">
              <a:spcAft>
                <a:spcPts val="0"/>
              </a:spcAft>
            </a:pPr>
            <a:r>
              <a:rPr sz="1250" b="1" i="0">
                <a:solidFill>
                  <a:srgbClr val="343B36"/>
                </a:solidFill>
                <a:latin typeface="Avenir"/>
              </a:rPr>
              <a:t>Couples Celebration Package</a:t>
            </a:r>
          </a:p>
        </p:txBody>
      </p:sp>
      <p:sp>
        <p:nvSpPr>
          <p:cNvPr id="22" name="TextBox 21"/>
          <p:cNvSpPr txBox="1"/>
          <p:nvPr/>
        </p:nvSpPr>
        <p:spPr>
          <a:xfrm>
            <a:off x="9799167" y="4361688"/>
            <a:ext cx="1600200" cy="411480"/>
          </a:xfrm>
          <a:prstGeom prst="rect">
            <a:avLst/>
          </a:prstGeom>
          <a:noFill/>
        </p:spPr>
        <p:txBody>
          <a:bodyPr wrap="square" lIns="0" rIns="0" tIns="0" bIns="0" anchor="ctr">
            <a:spAutoFit/>
          </a:bodyPr>
          <a:lstStyle/>
          <a:p>
            <a:pPr algn="l">
              <a:spcAft>
                <a:spcPts val="0"/>
              </a:spcAft>
            </a:pPr>
            <a:r>
              <a:rPr sz="1000" b="0" i="1">
                <a:solidFill>
                  <a:srgbClr val="5B5255"/>
                </a:solidFill>
                <a:latin typeface="Avenir"/>
              </a:rPr>
              <a:t>110 min, per couple</a:t>
            </a:r>
          </a:p>
        </p:txBody>
      </p:sp>
      <p:sp>
        <p:nvSpPr>
          <p:cNvPr id="23" name="TextBox 22"/>
          <p:cNvSpPr txBox="1"/>
          <p:nvPr/>
        </p:nvSpPr>
        <p:spPr>
          <a:xfrm>
            <a:off x="10317175" y="4361688"/>
            <a:ext cx="1143000" cy="411480"/>
          </a:xfrm>
          <a:prstGeom prst="rect">
            <a:avLst/>
          </a:prstGeom>
          <a:noFill/>
        </p:spPr>
        <p:txBody>
          <a:bodyPr wrap="square" lIns="0" rIns="0" tIns="0" bIns="0" anchor="ctr">
            <a:spAutoFit/>
          </a:bodyPr>
          <a:lstStyle/>
          <a:p>
            <a:pPr algn="r">
              <a:spcAft>
                <a:spcPts val="0"/>
              </a:spcAft>
            </a:pPr>
            <a:r>
              <a:rPr sz="1250" b="1" i="0">
                <a:solidFill>
                  <a:srgbClr val="966A4D"/>
                </a:solidFill>
                <a:latin typeface="Avenir"/>
              </a:rPr>
              <a:t>$560</a:t>
            </a:r>
          </a:p>
        </p:txBody>
      </p:sp>
      <p:sp>
        <p:nvSpPr>
          <p:cNvPr id="24" name="TextBox 23"/>
          <p:cNvSpPr txBox="1"/>
          <p:nvPr/>
        </p:nvSpPr>
        <p:spPr>
          <a:xfrm>
            <a:off x="6827367" y="4773168"/>
            <a:ext cx="3017520" cy="411480"/>
          </a:xfrm>
          <a:prstGeom prst="rect">
            <a:avLst/>
          </a:prstGeom>
          <a:noFill/>
        </p:spPr>
        <p:txBody>
          <a:bodyPr wrap="square" lIns="0" rIns="0" tIns="0" bIns="0" anchor="ctr">
            <a:spAutoFit/>
          </a:bodyPr>
          <a:lstStyle/>
          <a:p>
            <a:pPr algn="l">
              <a:spcAft>
                <a:spcPts val="0"/>
              </a:spcAft>
            </a:pPr>
            <a:r>
              <a:rPr sz="1250" b="1" i="0">
                <a:solidFill>
                  <a:srgbClr val="343B36"/>
                </a:solidFill>
                <a:latin typeface="Avenir"/>
              </a:rPr>
              <a:t>A Taste of The Spa</a:t>
            </a:r>
          </a:p>
        </p:txBody>
      </p:sp>
      <p:sp>
        <p:nvSpPr>
          <p:cNvPr id="25" name="TextBox 24"/>
          <p:cNvSpPr txBox="1"/>
          <p:nvPr/>
        </p:nvSpPr>
        <p:spPr>
          <a:xfrm>
            <a:off x="9799167" y="4773168"/>
            <a:ext cx="1600200" cy="411480"/>
          </a:xfrm>
          <a:prstGeom prst="rect">
            <a:avLst/>
          </a:prstGeom>
          <a:noFill/>
        </p:spPr>
        <p:txBody>
          <a:bodyPr wrap="square" lIns="0" rIns="0" tIns="0" bIns="0" anchor="ctr">
            <a:spAutoFit/>
          </a:bodyPr>
          <a:lstStyle/>
          <a:p>
            <a:pPr algn="l">
              <a:spcAft>
                <a:spcPts val="0"/>
              </a:spcAft>
            </a:pPr>
            <a:r>
              <a:rPr sz="1000" b="0" i="1">
                <a:solidFill>
                  <a:srgbClr val="5B5255"/>
                </a:solidFill>
                <a:latin typeface="Avenir"/>
              </a:rPr>
              <a:t>mini spa day</a:t>
            </a:r>
          </a:p>
        </p:txBody>
      </p:sp>
      <p:sp>
        <p:nvSpPr>
          <p:cNvPr id="26" name="TextBox 25"/>
          <p:cNvSpPr txBox="1"/>
          <p:nvPr/>
        </p:nvSpPr>
        <p:spPr>
          <a:xfrm>
            <a:off x="10317175" y="4773168"/>
            <a:ext cx="1143000" cy="411480"/>
          </a:xfrm>
          <a:prstGeom prst="rect">
            <a:avLst/>
          </a:prstGeom>
          <a:noFill/>
        </p:spPr>
        <p:txBody>
          <a:bodyPr wrap="square" lIns="0" rIns="0" tIns="0" bIns="0" anchor="ctr">
            <a:spAutoFit/>
          </a:bodyPr>
          <a:lstStyle/>
          <a:p>
            <a:pPr algn="r">
              <a:spcAft>
                <a:spcPts val="0"/>
              </a:spcAft>
            </a:pPr>
            <a:r>
              <a:rPr sz="1250" b="1" i="0">
                <a:solidFill>
                  <a:srgbClr val="966A4D"/>
                </a:solidFill>
                <a:latin typeface="Avenir"/>
              </a:rPr>
              <a:t>$270</a:t>
            </a:r>
          </a:p>
        </p:txBody>
      </p:sp>
      <p:sp>
        <p:nvSpPr>
          <p:cNvPr id="27" name="Rectangle 26"/>
          <p:cNvSpPr/>
          <p:nvPr/>
        </p:nvSpPr>
        <p:spPr>
          <a:xfrm>
            <a:off x="6644487" y="5184648"/>
            <a:ext cx="4998567" cy="41148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5184648"/>
            <a:ext cx="3017520" cy="411480"/>
          </a:xfrm>
          <a:prstGeom prst="rect">
            <a:avLst/>
          </a:prstGeom>
          <a:noFill/>
        </p:spPr>
        <p:txBody>
          <a:bodyPr wrap="square" lIns="0" rIns="0" tIns="0" bIns="0" anchor="ctr">
            <a:spAutoFit/>
          </a:bodyPr>
          <a:lstStyle/>
          <a:p>
            <a:pPr algn="l">
              <a:spcAft>
                <a:spcPts val="0"/>
              </a:spcAft>
            </a:pPr>
            <a:r>
              <a:rPr sz="1250" b="1" i="0">
                <a:solidFill>
                  <a:srgbClr val="343B36"/>
                </a:solidFill>
                <a:latin typeface="Avenir"/>
              </a:rPr>
              <a:t>Head to Toe</a:t>
            </a:r>
          </a:p>
        </p:txBody>
      </p:sp>
      <p:sp>
        <p:nvSpPr>
          <p:cNvPr id="29" name="TextBox 28"/>
          <p:cNvSpPr txBox="1"/>
          <p:nvPr/>
        </p:nvSpPr>
        <p:spPr>
          <a:xfrm>
            <a:off x="9799167" y="5184648"/>
            <a:ext cx="1600200" cy="411480"/>
          </a:xfrm>
          <a:prstGeom prst="rect">
            <a:avLst/>
          </a:prstGeom>
          <a:noFill/>
        </p:spPr>
        <p:txBody>
          <a:bodyPr wrap="square" lIns="0" rIns="0" tIns="0" bIns="0" anchor="ctr">
            <a:spAutoFit/>
          </a:bodyPr>
          <a:lstStyle/>
          <a:p>
            <a:pPr algn="l">
              <a:spcAft>
                <a:spcPts val="0"/>
              </a:spcAft>
            </a:pPr>
            <a:r>
              <a:rPr sz="1000" b="0" i="1">
                <a:solidFill>
                  <a:srgbClr val="5B5255"/>
                </a:solidFill>
                <a:latin typeface="Avenir"/>
              </a:rPr>
              <a:t>massage, facial, mani, pedi</a:t>
            </a:r>
          </a:p>
        </p:txBody>
      </p:sp>
      <p:sp>
        <p:nvSpPr>
          <p:cNvPr id="30" name="TextBox 29"/>
          <p:cNvSpPr txBox="1"/>
          <p:nvPr/>
        </p:nvSpPr>
        <p:spPr>
          <a:xfrm>
            <a:off x="10317175" y="5184648"/>
            <a:ext cx="1143000" cy="411480"/>
          </a:xfrm>
          <a:prstGeom prst="rect">
            <a:avLst/>
          </a:prstGeom>
          <a:noFill/>
        </p:spPr>
        <p:txBody>
          <a:bodyPr wrap="square" lIns="0" rIns="0" tIns="0" bIns="0" anchor="ctr">
            <a:spAutoFit/>
          </a:bodyPr>
          <a:lstStyle/>
          <a:p>
            <a:pPr algn="r">
              <a:spcAft>
                <a:spcPts val="0"/>
              </a:spcAft>
            </a:pPr>
            <a:r>
              <a:rPr sz="1250" b="1" i="0">
                <a:solidFill>
                  <a:srgbClr val="966A4D"/>
                </a:solidFill>
                <a:latin typeface="Avenir"/>
              </a:rPr>
              <a:t>$450</a:t>
            </a:r>
          </a:p>
        </p:txBody>
      </p:sp>
      <p:sp>
        <p:nvSpPr>
          <p:cNvPr id="31" name="TextBox 30"/>
          <p:cNvSpPr txBox="1"/>
          <p:nvPr/>
        </p:nvSpPr>
        <p:spPr>
          <a:xfrm>
            <a:off x="6827367" y="5596128"/>
            <a:ext cx="3017520" cy="411480"/>
          </a:xfrm>
          <a:prstGeom prst="rect">
            <a:avLst/>
          </a:prstGeom>
          <a:noFill/>
        </p:spPr>
        <p:txBody>
          <a:bodyPr wrap="square" lIns="0" rIns="0" tIns="0" bIns="0" anchor="ctr">
            <a:spAutoFit/>
          </a:bodyPr>
          <a:lstStyle/>
          <a:p>
            <a:pPr algn="l">
              <a:spcAft>
                <a:spcPts val="0"/>
              </a:spcAft>
            </a:pPr>
            <a:r>
              <a:rPr sz="1250" b="1" i="0">
                <a:solidFill>
                  <a:srgbClr val="343B36"/>
                </a:solidFill>
                <a:latin typeface="Avenir"/>
              </a:rPr>
              <a:t>Ultimate Spa Day</a:t>
            </a:r>
          </a:p>
        </p:txBody>
      </p:sp>
      <p:sp>
        <p:nvSpPr>
          <p:cNvPr id="32" name="TextBox 31"/>
          <p:cNvSpPr txBox="1"/>
          <p:nvPr/>
        </p:nvSpPr>
        <p:spPr>
          <a:xfrm>
            <a:off x="9799167" y="5596128"/>
            <a:ext cx="1600200" cy="411480"/>
          </a:xfrm>
          <a:prstGeom prst="rect">
            <a:avLst/>
          </a:prstGeom>
          <a:noFill/>
        </p:spPr>
        <p:txBody>
          <a:bodyPr wrap="square" lIns="0" rIns="0" tIns="0" bIns="0" anchor="ctr">
            <a:spAutoFit/>
          </a:bodyPr>
          <a:lstStyle/>
          <a:p>
            <a:pPr algn="l">
              <a:spcAft>
                <a:spcPts val="0"/>
              </a:spcAft>
            </a:pPr>
            <a:r>
              <a:rPr sz="1000" b="0" i="1">
                <a:solidFill>
                  <a:srgbClr val="5B5255"/>
                </a:solidFill>
                <a:latin typeface="Avenir"/>
              </a:rPr>
              <a:t>the full indulgence</a:t>
            </a:r>
          </a:p>
        </p:txBody>
      </p:sp>
      <p:sp>
        <p:nvSpPr>
          <p:cNvPr id="33" name="TextBox 32"/>
          <p:cNvSpPr txBox="1"/>
          <p:nvPr/>
        </p:nvSpPr>
        <p:spPr>
          <a:xfrm>
            <a:off x="10317175" y="5596128"/>
            <a:ext cx="1143000" cy="411480"/>
          </a:xfrm>
          <a:prstGeom prst="rect">
            <a:avLst/>
          </a:prstGeom>
          <a:noFill/>
        </p:spPr>
        <p:txBody>
          <a:bodyPr wrap="square" lIns="0" rIns="0" tIns="0" bIns="0" anchor="ctr">
            <a:spAutoFit/>
          </a:bodyPr>
          <a:lstStyle/>
          <a:p>
            <a:pPr algn="r">
              <a:spcAft>
                <a:spcPts val="0"/>
              </a:spcAft>
            </a:pPr>
            <a:r>
              <a:rPr sz="1250" b="1" i="0">
                <a:solidFill>
                  <a:srgbClr val="966A4D"/>
                </a:solidFill>
                <a:latin typeface="Avenir"/>
              </a:rPr>
              <a:t>$615</a:t>
            </a:r>
          </a:p>
        </p:txBody>
      </p:sp>
      <p:sp>
        <p:nvSpPr>
          <p:cNvPr id="34" name="TextBox 33"/>
          <p:cNvSpPr txBox="1"/>
          <p:nvPr/>
        </p:nvSpPr>
        <p:spPr>
          <a:xfrm>
            <a:off x="6644487" y="6053328"/>
            <a:ext cx="4998567" cy="320040"/>
          </a:xfrm>
          <a:prstGeom prst="rect">
            <a:avLst/>
          </a:prstGeom>
          <a:noFill/>
        </p:spPr>
        <p:txBody>
          <a:bodyPr wrap="square" lIns="0" rIns="0" tIns="0" bIns="0" anchor="t">
            <a:spAutoFit/>
          </a:bodyPr>
          <a:lstStyle/>
          <a:p>
            <a:pPr algn="l">
              <a:spcAft>
                <a:spcPts val="0"/>
              </a:spcAft>
            </a:pPr>
            <a:r>
              <a:rPr sz="950" b="0" i="1">
                <a:solidFill>
                  <a:srgbClr val="5B5255"/>
                </a:solidFill>
                <a:latin typeface="Times New Roman"/>
              </a:rPr>
              <a:t>Per person unless noted. Gratuity not included; 2.95% retail sales fee applies. Private spa mornings can be arranged for your group.</a:t>
            </a:r>
          </a:p>
        </p:txBody>
      </p:sp>
      <p:sp>
        <p:nvSpPr>
          <p:cNvPr id="35" name="TextBox 34"/>
          <p:cNvSpPr txBox="1"/>
          <p:nvPr/>
        </p:nvSpPr>
        <p:spPr>
          <a:xfrm>
            <a:off x="6644487"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36" name="TextBox 35"/>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RESORT LIFE</a:t>
            </a:r>
          </a:p>
        </p:txBody>
      </p:sp>
      <p:sp>
        <p:nvSpPr>
          <p:cNvPr id="4" name="TextBox 3"/>
          <p:cNvSpPr txBox="1"/>
          <p:nvPr/>
        </p:nvSpPr>
        <p:spPr>
          <a:xfrm>
            <a:off x="731520" y="960120"/>
            <a:ext cx="10515600" cy="731520"/>
          </a:xfrm>
          <a:prstGeom prst="rect">
            <a:avLst/>
          </a:prstGeom>
          <a:noFill/>
        </p:spPr>
        <p:txBody>
          <a:bodyPr wrap="square" lIns="0" rIns="0" tIns="0" bIns="0" anchor="t">
            <a:spAutoFit/>
          </a:bodyPr>
          <a:lstStyle/>
          <a:p>
            <a:pPr algn="l">
              <a:spcAft>
                <a:spcPts val="0"/>
              </a:spcAft>
            </a:pPr>
            <a:r>
              <a:rPr sz="3200" b="1" i="0">
                <a:solidFill>
                  <a:srgbClr val="343B36"/>
                </a:solidFill>
                <a:latin typeface="Avenir"/>
              </a:rPr>
              <a:t>The Athletic Club and beyond</a:t>
            </a:r>
          </a:p>
        </p:txBody>
      </p:sp>
      <p:sp>
        <p:nvSpPr>
          <p:cNvPr id="5" name="Rectangle 4"/>
          <p:cNvSpPr/>
          <p:nvPr/>
        </p:nvSpPr>
        <p:spPr>
          <a:xfrm>
            <a:off x="731520" y="173736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24_2.75x2.30_0.5.jpg"/>
          <p:cNvPicPr>
            <a:picLocks noChangeAspect="1"/>
          </p:cNvPicPr>
          <p:nvPr/>
        </p:nvPicPr>
        <p:blipFill>
          <a:blip r:embed="rId2"/>
          <a:stretch>
            <a:fillRect/>
          </a:stretch>
        </p:blipFill>
        <p:spPr>
          <a:xfrm>
            <a:off x="731520" y="2103120"/>
            <a:ext cx="2514600" cy="2103120"/>
          </a:xfrm>
          <a:prstGeom prst="rect">
            <a:avLst/>
          </a:prstGeom>
        </p:spPr>
      </p:pic>
      <p:sp>
        <p:nvSpPr>
          <p:cNvPr id="7" name="TextBox 6"/>
          <p:cNvSpPr txBox="1"/>
          <p:nvPr/>
        </p:nvSpPr>
        <p:spPr>
          <a:xfrm>
            <a:off x="731520" y="4389120"/>
            <a:ext cx="2514600" cy="41148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Pools + Hot Tubs</a:t>
            </a:r>
          </a:p>
        </p:txBody>
      </p:sp>
      <p:sp>
        <p:nvSpPr>
          <p:cNvPr id="8" name="TextBox 7"/>
          <p:cNvSpPr txBox="1"/>
          <p:nvPr/>
        </p:nvSpPr>
        <p:spPr>
          <a:xfrm>
            <a:off x="731520" y="4800600"/>
            <a:ext cx="2514600" cy="1371600"/>
          </a:xfrm>
          <a:prstGeom prst="rect">
            <a:avLst/>
          </a:prstGeom>
          <a:noFill/>
        </p:spPr>
        <p:txBody>
          <a:bodyPr wrap="square" lIns="0" rIns="0" tIns="0" bIns="0" anchor="t">
            <a:spAutoFit/>
          </a:bodyPr>
          <a:lstStyle/>
          <a:p>
            <a:pPr algn="l">
              <a:lnSpc>
                <a:spcPct val="105000"/>
              </a:lnSpc>
              <a:spcAft>
                <a:spcPts val="0"/>
              </a:spcAft>
            </a:pPr>
            <a:r>
              <a:rPr sz="1250" b="0" i="0">
                <a:solidFill>
                  <a:srgbClr val="5B5255"/>
                </a:solidFill>
                <a:latin typeface="Times New Roman"/>
              </a:rPr>
              <a:t>Heated 25-yard lap pool, indoor and outdoor hot tubs, plus the seasonal adult pool in August.</a:t>
            </a:r>
          </a:p>
        </p:txBody>
      </p:sp>
      <p:pic>
        <p:nvPicPr>
          <p:cNvPr id="9" name="Picture 8" descr="101_2.75x2.30_0.5.jpg"/>
          <p:cNvPicPr>
            <a:picLocks noChangeAspect="1"/>
          </p:cNvPicPr>
          <p:nvPr/>
        </p:nvPicPr>
        <p:blipFill>
          <a:blip r:embed="rId3"/>
          <a:stretch>
            <a:fillRect/>
          </a:stretch>
        </p:blipFill>
        <p:spPr>
          <a:xfrm>
            <a:off x="3474720" y="2103120"/>
            <a:ext cx="2514600" cy="2103120"/>
          </a:xfrm>
          <a:prstGeom prst="rect">
            <a:avLst/>
          </a:prstGeom>
        </p:spPr>
      </p:pic>
      <p:sp>
        <p:nvSpPr>
          <p:cNvPr id="10" name="TextBox 9"/>
          <p:cNvSpPr txBox="1"/>
          <p:nvPr/>
        </p:nvSpPr>
        <p:spPr>
          <a:xfrm>
            <a:off x="3474720" y="4389120"/>
            <a:ext cx="2514600" cy="41148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Tennis + Pickleball</a:t>
            </a:r>
          </a:p>
        </p:txBody>
      </p:sp>
      <p:sp>
        <p:nvSpPr>
          <p:cNvPr id="11" name="TextBox 10"/>
          <p:cNvSpPr txBox="1"/>
          <p:nvPr/>
        </p:nvSpPr>
        <p:spPr>
          <a:xfrm>
            <a:off x="3474720" y="4800600"/>
            <a:ext cx="2514600" cy="1371600"/>
          </a:xfrm>
          <a:prstGeom prst="rect">
            <a:avLst/>
          </a:prstGeom>
          <a:noFill/>
        </p:spPr>
        <p:txBody>
          <a:bodyPr wrap="square" lIns="0" rIns="0" tIns="0" bIns="0" anchor="t">
            <a:spAutoFit/>
          </a:bodyPr>
          <a:lstStyle/>
          <a:p>
            <a:pPr algn="l">
              <a:lnSpc>
                <a:spcPct val="105000"/>
              </a:lnSpc>
              <a:spcAft>
                <a:spcPts val="0"/>
              </a:spcAft>
            </a:pPr>
            <a:r>
              <a:rPr sz="1250" b="0" i="0">
                <a:solidFill>
                  <a:srgbClr val="5B5255"/>
                </a:solidFill>
                <a:latin typeface="Times New Roman"/>
              </a:rPr>
              <a:t>8 tennis courts, including 4 indoor red clay courts, and 4 pickleball courts with pro-led clinics.</a:t>
            </a:r>
          </a:p>
        </p:txBody>
      </p:sp>
      <p:pic>
        <p:nvPicPr>
          <p:cNvPr id="12" name="Picture 11" descr="055_2.75x2.30_0.5.jpg"/>
          <p:cNvPicPr>
            <a:picLocks noChangeAspect="1"/>
          </p:cNvPicPr>
          <p:nvPr/>
        </p:nvPicPr>
        <p:blipFill>
          <a:blip r:embed="rId4"/>
          <a:stretch>
            <a:fillRect/>
          </a:stretch>
        </p:blipFill>
        <p:spPr>
          <a:xfrm>
            <a:off x="6217920" y="2103120"/>
            <a:ext cx="2514600" cy="2103120"/>
          </a:xfrm>
          <a:prstGeom prst="rect">
            <a:avLst/>
          </a:prstGeom>
        </p:spPr>
      </p:pic>
      <p:sp>
        <p:nvSpPr>
          <p:cNvPr id="13" name="TextBox 12"/>
          <p:cNvSpPr txBox="1"/>
          <p:nvPr/>
        </p:nvSpPr>
        <p:spPr>
          <a:xfrm>
            <a:off x="6217920" y="4389120"/>
            <a:ext cx="2514600" cy="41148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The Clubhouse</a:t>
            </a:r>
          </a:p>
        </p:txBody>
      </p:sp>
      <p:sp>
        <p:nvSpPr>
          <p:cNvPr id="14" name="TextBox 13"/>
          <p:cNvSpPr txBox="1"/>
          <p:nvPr/>
        </p:nvSpPr>
        <p:spPr>
          <a:xfrm>
            <a:off x="6217920" y="4800600"/>
            <a:ext cx="2514600" cy="1371600"/>
          </a:xfrm>
          <a:prstGeom prst="rect">
            <a:avLst/>
          </a:prstGeom>
          <a:noFill/>
        </p:spPr>
        <p:txBody>
          <a:bodyPr wrap="square" lIns="0" rIns="0" tIns="0" bIns="0" anchor="t">
            <a:spAutoFit/>
          </a:bodyPr>
          <a:lstStyle/>
          <a:p>
            <a:pPr algn="l">
              <a:lnSpc>
                <a:spcPct val="105000"/>
              </a:lnSpc>
              <a:spcAft>
                <a:spcPts val="0"/>
              </a:spcAft>
            </a:pPr>
            <a:r>
              <a:rPr sz="1250" b="0" i="0">
                <a:solidFill>
                  <a:srgbClr val="5B5255"/>
                </a:solidFill>
                <a:latin typeface="Times New Roman"/>
              </a:rPr>
              <a:t>A European-style clubhouse with fireside lounges, The Steakhouse and sweeping mountain views.</a:t>
            </a:r>
          </a:p>
        </p:txBody>
      </p:sp>
      <p:pic>
        <p:nvPicPr>
          <p:cNvPr id="15" name="Picture 14" descr="103_2.75x2.30_0.5.jpg"/>
          <p:cNvPicPr>
            <a:picLocks noChangeAspect="1"/>
          </p:cNvPicPr>
          <p:nvPr/>
        </p:nvPicPr>
        <p:blipFill>
          <a:blip r:embed="rId5"/>
          <a:stretch>
            <a:fillRect/>
          </a:stretch>
        </p:blipFill>
        <p:spPr>
          <a:xfrm>
            <a:off x="8961120" y="2103120"/>
            <a:ext cx="2514600" cy="2103120"/>
          </a:xfrm>
          <a:prstGeom prst="rect">
            <a:avLst/>
          </a:prstGeom>
        </p:spPr>
      </p:pic>
      <p:sp>
        <p:nvSpPr>
          <p:cNvPr id="16" name="TextBox 15"/>
          <p:cNvSpPr txBox="1"/>
          <p:nvPr/>
        </p:nvSpPr>
        <p:spPr>
          <a:xfrm>
            <a:off x="8961120" y="4389120"/>
            <a:ext cx="2514600" cy="41148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Fitness + Wellness</a:t>
            </a:r>
          </a:p>
        </p:txBody>
      </p:sp>
      <p:sp>
        <p:nvSpPr>
          <p:cNvPr id="17" name="TextBox 16"/>
          <p:cNvSpPr txBox="1"/>
          <p:nvPr/>
        </p:nvSpPr>
        <p:spPr>
          <a:xfrm>
            <a:off x="8961120" y="4800600"/>
            <a:ext cx="2514600" cy="1371600"/>
          </a:xfrm>
          <a:prstGeom prst="rect">
            <a:avLst/>
          </a:prstGeom>
          <a:noFill/>
        </p:spPr>
        <p:txBody>
          <a:bodyPr wrap="square" lIns="0" rIns="0" tIns="0" bIns="0" anchor="t">
            <a:spAutoFit/>
          </a:bodyPr>
          <a:lstStyle/>
          <a:p>
            <a:pPr algn="l">
              <a:lnSpc>
                <a:spcPct val="105000"/>
              </a:lnSpc>
              <a:spcAft>
                <a:spcPts val="0"/>
              </a:spcAft>
            </a:pPr>
            <a:r>
              <a:rPr sz="1250" b="0" i="0">
                <a:solidFill>
                  <a:srgbClr val="5B5255"/>
                </a:solidFill>
                <a:latin typeface="Times New Roman"/>
              </a:rPr>
              <a:t>Mountain-view fitness center with group fitness and Pilates classes for guests.</a:t>
            </a:r>
          </a:p>
        </p:txBody>
      </p:sp>
      <p:sp>
        <p:nvSpPr>
          <p:cNvPr id="18" name="TextBox 17"/>
          <p:cNvSpPr txBox="1"/>
          <p:nvPr/>
        </p:nvSpPr>
        <p:spPr>
          <a:xfrm>
            <a:off x="54864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19" name="TextBox 18"/>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7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94560"/>
            <a:ext cx="8229600" cy="365760"/>
          </a:xfrm>
          <a:prstGeom prst="rect">
            <a:avLst/>
          </a:prstGeom>
          <a:noFill/>
        </p:spPr>
        <p:txBody>
          <a:bodyPr wrap="square" lIns="0" rIns="0" tIns="0" bIns="0" anchor="t">
            <a:spAutoFit/>
          </a:bodyPr>
          <a:lstStyle/>
          <a:p>
            <a:pPr algn="l">
              <a:spcAft>
                <a:spcPts val="0"/>
              </a:spcAft>
            </a:pPr>
            <a:r>
              <a:rPr sz="1300" b="1" i="0" spc="400">
                <a:solidFill>
                  <a:srgbClr val="FFFFFF"/>
                </a:solidFill>
                <a:latin typeface="Avenir"/>
              </a:rPr>
              <a:t>04  |  THE FOOD</a:t>
            </a:r>
          </a:p>
        </p:txBody>
      </p:sp>
      <p:sp>
        <p:nvSpPr>
          <p:cNvPr id="6" name="TextBox 5"/>
          <p:cNvSpPr txBox="1"/>
          <p:nvPr/>
        </p:nvSpPr>
        <p:spPr>
          <a:xfrm>
            <a:off x="1005840" y="2560320"/>
            <a:ext cx="8686800" cy="1645920"/>
          </a:xfrm>
          <a:prstGeom prst="rect">
            <a:avLst/>
          </a:prstGeom>
          <a:noFill/>
        </p:spPr>
        <p:txBody>
          <a:bodyPr wrap="square" lIns="0" rIns="0" tIns="0" bIns="0" anchor="t">
            <a:spAutoFit/>
          </a:bodyPr>
          <a:lstStyle/>
          <a:p>
            <a:pPr algn="l">
              <a:lnSpc>
                <a:spcPct val="95000"/>
              </a:lnSpc>
              <a:spcAft>
                <a:spcPts val="0"/>
              </a:spcAft>
            </a:pPr>
            <a:r>
              <a:rPr sz="4200" b="1" i="0">
                <a:solidFill>
                  <a:srgbClr val="FFFFFF"/>
                </a:solidFill>
                <a:latin typeface="Avenir"/>
              </a:rPr>
              <a:t>World-class dining, steps from your room</a:t>
            </a:r>
          </a:p>
        </p:txBody>
      </p:sp>
      <p:sp>
        <p:nvSpPr>
          <p:cNvPr id="7" name="TextBox 6"/>
          <p:cNvSpPr txBox="1"/>
          <p:nvPr/>
        </p:nvSpPr>
        <p:spPr>
          <a:xfrm>
            <a:off x="1005840" y="4343400"/>
            <a:ext cx="9144000" cy="548640"/>
          </a:xfrm>
          <a:prstGeom prst="rect">
            <a:avLst/>
          </a:prstGeom>
          <a:noFill/>
        </p:spPr>
        <p:txBody>
          <a:bodyPr wrap="square" lIns="0" rIns="0" tIns="0" bIns="0" anchor="t">
            <a:spAutoFit/>
          </a:bodyPr>
          <a:lstStyle/>
          <a:p>
            <a:pPr algn="l">
              <a:spcAft>
                <a:spcPts val="0"/>
              </a:spcAft>
            </a:pPr>
            <a:r>
              <a:rPr sz="1800" b="0" i="1">
                <a:solidFill>
                  <a:srgbClr val="FFFFFF"/>
                </a:solidFill>
                <a:latin typeface="Times New Roman"/>
              </a:rPr>
              <a:t>From a welcome toast to the awards lunch</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DINING AT FLYING HORSE</a:t>
            </a:r>
          </a:p>
        </p:txBody>
      </p:sp>
      <p:sp>
        <p:nvSpPr>
          <p:cNvPr id="4" name="TextBox 3"/>
          <p:cNvSpPr txBox="1"/>
          <p:nvPr/>
        </p:nvSpPr>
        <p:spPr>
          <a:xfrm>
            <a:off x="731520" y="960120"/>
            <a:ext cx="10515600" cy="731520"/>
          </a:xfrm>
          <a:prstGeom prst="rect">
            <a:avLst/>
          </a:prstGeom>
          <a:noFill/>
        </p:spPr>
        <p:txBody>
          <a:bodyPr wrap="square" lIns="0" rIns="0" tIns="0" bIns="0" anchor="t">
            <a:spAutoFit/>
          </a:bodyPr>
          <a:lstStyle/>
          <a:p>
            <a:pPr algn="l">
              <a:spcAft>
                <a:spcPts val="0"/>
              </a:spcAft>
            </a:pPr>
            <a:r>
              <a:rPr sz="3200" b="1" i="0">
                <a:solidFill>
                  <a:srgbClr val="343B36"/>
                </a:solidFill>
                <a:latin typeface="Avenir"/>
              </a:rPr>
              <a:t>Four ways to feed a winning weekend</a:t>
            </a:r>
          </a:p>
        </p:txBody>
      </p:sp>
      <p:sp>
        <p:nvSpPr>
          <p:cNvPr id="5" name="Rectangle 4"/>
          <p:cNvSpPr/>
          <p:nvPr/>
        </p:nvSpPr>
        <p:spPr>
          <a:xfrm>
            <a:off x="731520" y="173736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0_2.75x2.30_0.5.jpg"/>
          <p:cNvPicPr>
            <a:picLocks noChangeAspect="1"/>
          </p:cNvPicPr>
          <p:nvPr/>
        </p:nvPicPr>
        <p:blipFill>
          <a:blip r:embed="rId2"/>
          <a:stretch>
            <a:fillRect/>
          </a:stretch>
        </p:blipFill>
        <p:spPr>
          <a:xfrm>
            <a:off x="731520" y="2103120"/>
            <a:ext cx="2514600" cy="2103120"/>
          </a:xfrm>
          <a:prstGeom prst="rect">
            <a:avLst/>
          </a:prstGeom>
        </p:spPr>
      </p:pic>
      <p:sp>
        <p:nvSpPr>
          <p:cNvPr id="7" name="TextBox 6"/>
          <p:cNvSpPr txBox="1"/>
          <p:nvPr/>
        </p:nvSpPr>
        <p:spPr>
          <a:xfrm>
            <a:off x="731520" y="4389120"/>
            <a:ext cx="2514600" cy="41148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The Steakhouse</a:t>
            </a:r>
          </a:p>
        </p:txBody>
      </p:sp>
      <p:sp>
        <p:nvSpPr>
          <p:cNvPr id="8" name="TextBox 7"/>
          <p:cNvSpPr txBox="1"/>
          <p:nvPr/>
        </p:nvSpPr>
        <p:spPr>
          <a:xfrm>
            <a:off x="731520" y="4800600"/>
            <a:ext cx="2514600" cy="1463040"/>
          </a:xfrm>
          <a:prstGeom prst="rect">
            <a:avLst/>
          </a:prstGeom>
          <a:noFill/>
        </p:spPr>
        <p:txBody>
          <a:bodyPr wrap="square" lIns="0" rIns="0" tIns="0" bIns="0" anchor="t">
            <a:spAutoFit/>
          </a:bodyPr>
          <a:lstStyle/>
          <a:p>
            <a:pPr algn="l">
              <a:lnSpc>
                <a:spcPct val="105000"/>
              </a:lnSpc>
              <a:spcAft>
                <a:spcPts val="0"/>
              </a:spcAft>
            </a:pPr>
            <a:r>
              <a:rPr sz="1250" b="0" i="0">
                <a:solidFill>
                  <a:srgbClr val="5B5255"/>
                </a:solidFill>
                <a:latin typeface="Times New Roman"/>
              </a:rPr>
              <a:t>Award-winning prime steaks in a Tuscan-style villa. Wine Spectator Best of Award of Excellence since 2023, with a three-story wine tower.</a:t>
            </a:r>
          </a:p>
        </p:txBody>
      </p:sp>
      <p:pic>
        <p:nvPicPr>
          <p:cNvPr id="9" name="Picture 8" descr="169_2.75x2.30_0.5.jpg"/>
          <p:cNvPicPr>
            <a:picLocks noChangeAspect="1"/>
          </p:cNvPicPr>
          <p:nvPr/>
        </p:nvPicPr>
        <p:blipFill>
          <a:blip r:embed="rId3"/>
          <a:stretch>
            <a:fillRect/>
          </a:stretch>
        </p:blipFill>
        <p:spPr>
          <a:xfrm>
            <a:off x="3474720" y="2103120"/>
            <a:ext cx="2514600" cy="2103120"/>
          </a:xfrm>
          <a:prstGeom prst="rect">
            <a:avLst/>
          </a:prstGeom>
        </p:spPr>
      </p:pic>
      <p:sp>
        <p:nvSpPr>
          <p:cNvPr id="10" name="TextBox 9"/>
          <p:cNvSpPr txBox="1"/>
          <p:nvPr/>
        </p:nvSpPr>
        <p:spPr>
          <a:xfrm>
            <a:off x="3474720" y="4389120"/>
            <a:ext cx="2514600" cy="41148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Fortezza Italiana</a:t>
            </a:r>
          </a:p>
        </p:txBody>
      </p:sp>
      <p:sp>
        <p:nvSpPr>
          <p:cNvPr id="11" name="TextBox 10"/>
          <p:cNvSpPr txBox="1"/>
          <p:nvPr/>
        </p:nvSpPr>
        <p:spPr>
          <a:xfrm>
            <a:off x="3474720" y="4800600"/>
            <a:ext cx="2514600" cy="1463040"/>
          </a:xfrm>
          <a:prstGeom prst="rect">
            <a:avLst/>
          </a:prstGeom>
          <a:noFill/>
        </p:spPr>
        <p:txBody>
          <a:bodyPr wrap="square" lIns="0" rIns="0" tIns="0" bIns="0" anchor="t">
            <a:spAutoFit/>
          </a:bodyPr>
          <a:lstStyle/>
          <a:p>
            <a:pPr algn="l">
              <a:lnSpc>
                <a:spcPct val="105000"/>
              </a:lnSpc>
              <a:spcAft>
                <a:spcPts val="0"/>
              </a:spcAft>
            </a:pPr>
            <a:r>
              <a:rPr sz="1250" b="0" i="0">
                <a:solidFill>
                  <a:srgbClr val="5B5255"/>
                </a:solidFill>
                <a:latin typeface="Times New Roman"/>
              </a:rPr>
              <a:t>Our newest restaurant, in the hotel lobby. Italian-inspired breakfast, lunch, dinner and daily happy hour.</a:t>
            </a:r>
          </a:p>
        </p:txBody>
      </p:sp>
      <p:pic>
        <p:nvPicPr>
          <p:cNvPr id="12" name="Picture 11" descr="045_2.75x2.30_0.5.jpg"/>
          <p:cNvPicPr>
            <a:picLocks noChangeAspect="1"/>
          </p:cNvPicPr>
          <p:nvPr/>
        </p:nvPicPr>
        <p:blipFill>
          <a:blip r:embed="rId4"/>
          <a:stretch>
            <a:fillRect/>
          </a:stretch>
        </p:blipFill>
        <p:spPr>
          <a:xfrm>
            <a:off x="6217920" y="2103120"/>
            <a:ext cx="2514600" cy="2103120"/>
          </a:xfrm>
          <a:prstGeom prst="rect">
            <a:avLst/>
          </a:prstGeom>
        </p:spPr>
      </p:pic>
      <p:sp>
        <p:nvSpPr>
          <p:cNvPr id="13" name="TextBox 12"/>
          <p:cNvSpPr txBox="1"/>
          <p:nvPr/>
        </p:nvSpPr>
        <p:spPr>
          <a:xfrm>
            <a:off x="6217920" y="4389120"/>
            <a:ext cx="2514600" cy="41148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The Tack Room</a:t>
            </a:r>
          </a:p>
        </p:txBody>
      </p:sp>
      <p:sp>
        <p:nvSpPr>
          <p:cNvPr id="14" name="TextBox 13"/>
          <p:cNvSpPr txBox="1"/>
          <p:nvPr/>
        </p:nvSpPr>
        <p:spPr>
          <a:xfrm>
            <a:off x="6217920" y="4800600"/>
            <a:ext cx="2514600" cy="1463040"/>
          </a:xfrm>
          <a:prstGeom prst="rect">
            <a:avLst/>
          </a:prstGeom>
          <a:noFill/>
        </p:spPr>
        <p:txBody>
          <a:bodyPr wrap="square" lIns="0" rIns="0" tIns="0" bIns="0" anchor="t">
            <a:spAutoFit/>
          </a:bodyPr>
          <a:lstStyle/>
          <a:p>
            <a:pPr algn="l">
              <a:lnSpc>
                <a:spcPct val="105000"/>
              </a:lnSpc>
              <a:spcAft>
                <a:spcPts val="0"/>
              </a:spcAft>
            </a:pPr>
            <a:r>
              <a:rPr sz="1250" b="0" i="0">
                <a:solidFill>
                  <a:srgbClr val="5B5255"/>
                </a:solidFill>
                <a:latin typeface="Times New Roman"/>
              </a:rPr>
              <a:t>Rustic elegance overlooking Hole 15. Perfect for a post-round lunch and a toast to the winners.</a:t>
            </a:r>
          </a:p>
        </p:txBody>
      </p:sp>
      <p:pic>
        <p:nvPicPr>
          <p:cNvPr id="15" name="Picture 14" descr="079_2.75x2.30_0.5.jpg"/>
          <p:cNvPicPr>
            <a:picLocks noChangeAspect="1"/>
          </p:cNvPicPr>
          <p:nvPr/>
        </p:nvPicPr>
        <p:blipFill>
          <a:blip r:embed="rId5"/>
          <a:stretch>
            <a:fillRect/>
          </a:stretch>
        </p:blipFill>
        <p:spPr>
          <a:xfrm>
            <a:off x="8961120" y="2103120"/>
            <a:ext cx="2514600" cy="2103120"/>
          </a:xfrm>
          <a:prstGeom prst="rect">
            <a:avLst/>
          </a:prstGeom>
        </p:spPr>
      </p:pic>
      <p:sp>
        <p:nvSpPr>
          <p:cNvPr id="16" name="TextBox 15"/>
          <p:cNvSpPr txBox="1"/>
          <p:nvPr/>
        </p:nvSpPr>
        <p:spPr>
          <a:xfrm>
            <a:off x="8961120" y="4389120"/>
            <a:ext cx="2514600" cy="41148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The Pavilion</a:t>
            </a:r>
          </a:p>
        </p:txBody>
      </p:sp>
      <p:sp>
        <p:nvSpPr>
          <p:cNvPr id="17" name="TextBox 16"/>
          <p:cNvSpPr txBox="1"/>
          <p:nvPr/>
        </p:nvSpPr>
        <p:spPr>
          <a:xfrm>
            <a:off x="8961120" y="4800600"/>
            <a:ext cx="2514600" cy="1463040"/>
          </a:xfrm>
          <a:prstGeom prst="rect">
            <a:avLst/>
          </a:prstGeom>
          <a:noFill/>
        </p:spPr>
        <p:txBody>
          <a:bodyPr wrap="square" lIns="0" rIns="0" tIns="0" bIns="0" anchor="t">
            <a:spAutoFit/>
          </a:bodyPr>
          <a:lstStyle/>
          <a:p>
            <a:pPr algn="l">
              <a:lnSpc>
                <a:spcPct val="105000"/>
              </a:lnSpc>
              <a:spcAft>
                <a:spcPts val="0"/>
              </a:spcAft>
            </a:pPr>
            <a:r>
              <a:rPr sz="1250" b="0" i="0">
                <a:solidFill>
                  <a:srgbClr val="5B5255"/>
                </a:solidFill>
                <a:latin typeface="Times New Roman"/>
              </a:rPr>
              <a:t>On the Weiskopf Course near the range, for grab-and-go fuel on tournament day.</a:t>
            </a:r>
          </a:p>
        </p:txBody>
      </p:sp>
      <p:sp>
        <p:nvSpPr>
          <p:cNvPr id="18" name="TextBox 17"/>
          <p:cNvSpPr txBox="1"/>
          <p:nvPr/>
        </p:nvSpPr>
        <p:spPr>
          <a:xfrm>
            <a:off x="54864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19" name="TextBox 18"/>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07_6.67x7.50_0.5.jpg"/>
          <p:cNvPicPr>
            <a:picLocks noChangeAspect="1"/>
          </p:cNvPicPr>
          <p:nvPr/>
        </p:nvPicPr>
        <p:blipFill>
          <a:blip r:embed="rId2"/>
          <a:stretch>
            <a:fillRect/>
          </a:stretch>
        </p:blipFill>
        <p:spPr>
          <a:xfrm>
            <a:off x="6095847" y="0"/>
            <a:ext cx="6095847" cy="6858000"/>
          </a:xfrm>
          <a:prstGeom prst="rect">
            <a:avLst/>
          </a:prstGeom>
        </p:spPr>
      </p:pic>
      <p:sp>
        <p:nvSpPr>
          <p:cNvPr id="4" name="TextBox 3"/>
          <p:cNvSpPr txBox="1"/>
          <p:nvPr/>
        </p:nvSpPr>
        <p:spPr>
          <a:xfrm>
            <a:off x="640080" y="77724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MORE PRIVATE SPACES</a:t>
            </a:r>
          </a:p>
        </p:txBody>
      </p:sp>
      <p:sp>
        <p:nvSpPr>
          <p:cNvPr id="5" name="TextBox 4"/>
          <p:cNvSpPr txBox="1"/>
          <p:nvPr/>
        </p:nvSpPr>
        <p:spPr>
          <a:xfrm>
            <a:off x="640080" y="1097280"/>
            <a:ext cx="4815687" cy="1188720"/>
          </a:xfrm>
          <a:prstGeom prst="rect">
            <a:avLst/>
          </a:prstGeom>
          <a:noFill/>
        </p:spPr>
        <p:txBody>
          <a:bodyPr wrap="square" lIns="0" rIns="0" tIns="0" bIns="0" anchor="t">
            <a:spAutoFit/>
          </a:bodyPr>
          <a:lstStyle/>
          <a:p>
            <a:pPr algn="l">
              <a:lnSpc>
                <a:spcPct val="95000"/>
              </a:lnSpc>
              <a:spcAft>
                <a:spcPts val="0"/>
              </a:spcAft>
            </a:pPr>
            <a:r>
              <a:rPr sz="3000" b="1" i="0">
                <a:solidFill>
                  <a:srgbClr val="343B36"/>
                </a:solidFill>
                <a:latin typeface="Avenir"/>
              </a:rPr>
              <a:t>Intimate rooms for top sponsors</a:t>
            </a:r>
          </a:p>
        </p:txBody>
      </p:sp>
      <p:sp>
        <p:nvSpPr>
          <p:cNvPr id="6" name="Rectangle 5"/>
          <p:cNvSpPr/>
          <p:nvPr/>
        </p:nvSpPr>
        <p:spPr>
          <a:xfrm>
            <a:off x="640080" y="23317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606040"/>
            <a:ext cx="4815687" cy="3017520"/>
          </a:xfrm>
          <a:prstGeom prst="rect">
            <a:avLst/>
          </a:prstGeom>
          <a:noFill/>
        </p:spPr>
        <p:txBody>
          <a:bodyPr wrap="square" lIns="0" rIns="0" tIns="0" bIns="0" anchor="t">
            <a:spAutoFit/>
          </a:bodyPr>
          <a:lstStyle/>
          <a:p>
            <a:pPr algn="l">
              <a:lnSpc>
                <a:spcPct val="110000"/>
              </a:lnSpc>
              <a:spcAft>
                <a:spcPts val="800"/>
              </a:spcAft>
            </a:pPr>
            <a:r>
              <a:rPr sz="1400" b="0" i="0">
                <a:solidFill>
                  <a:srgbClr val="5B5255"/>
                </a:solidFill>
                <a:latin typeface="Times New Roman"/>
              </a:rPr>
              <a:t>When you want a smaller moment for your title sponsors or board, we have rooms made for it.</a:t>
            </a:r>
          </a:p>
          <a:p>
            <a:pPr algn="l">
              <a:lnSpc>
                <a:spcPct val="110000"/>
              </a:lnSpc>
              <a:spcAft>
                <a:spcPts val="800"/>
              </a:spcAft>
            </a:pPr>
            <a:r>
              <a:rPr sz="1400" b="0" i="0">
                <a:solidFill>
                  <a:srgbClr val="5B5255"/>
                </a:solidFill>
                <a:latin typeface="Times New Roman"/>
              </a:rPr>
              <a:t>•  The Rotunda: a private room inside The Steakhouse with 300-degree views of the Front Range. Banquet 40, reception 50</a:t>
            </a:r>
          </a:p>
          <a:p>
            <a:pPr algn="l">
              <a:lnSpc>
                <a:spcPct val="110000"/>
              </a:lnSpc>
              <a:spcAft>
                <a:spcPts val="800"/>
              </a:spcAft>
            </a:pPr>
            <a:r>
              <a:rPr sz="1400" b="0" i="0">
                <a:solidFill>
                  <a:srgbClr val="5B5255"/>
                </a:solidFill>
                <a:latin typeface="Times New Roman"/>
              </a:rPr>
              <a:t>•  Thomas Blake Ballroom: Pikes Peak views and two patios with a fire pit. Banquet 140, reception 200</a:t>
            </a:r>
          </a:p>
          <a:p>
            <a:pPr algn="l">
              <a:lnSpc>
                <a:spcPct val="110000"/>
              </a:lnSpc>
              <a:spcAft>
                <a:spcPts val="800"/>
              </a:spcAft>
            </a:pPr>
            <a:r>
              <a:rPr sz="1400" b="0" i="0">
                <a:solidFill>
                  <a:srgbClr val="5B5255"/>
                </a:solidFill>
                <a:latin typeface="Times New Roman"/>
              </a:rPr>
              <a:t>•  Sienna: an intimate room in the Clubhouse wine tunnel. Dinner for 12 to 18</a:t>
            </a:r>
          </a:p>
        </p:txBody>
      </p:sp>
      <p:sp>
        <p:nvSpPr>
          <p:cNvPr id="8" name="TextBox 7"/>
          <p:cNvSpPr txBox="1"/>
          <p:nvPr/>
        </p:nvSpPr>
        <p:spPr>
          <a:xfrm>
            <a:off x="64008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9" name="TextBox 8"/>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EVENT SPACES + FOOD AND BEVERAGE MINIMUMS</a:t>
            </a:r>
          </a:p>
        </p:txBody>
      </p:sp>
      <p:sp>
        <p:nvSpPr>
          <p:cNvPr id="4" name="TextBox 3"/>
          <p:cNvSpPr txBox="1"/>
          <p:nvPr/>
        </p:nvSpPr>
        <p:spPr>
          <a:xfrm>
            <a:off x="731520" y="804672"/>
            <a:ext cx="10515600" cy="640080"/>
          </a:xfrm>
          <a:prstGeom prst="rect">
            <a:avLst/>
          </a:prstGeom>
          <a:noFill/>
        </p:spPr>
        <p:txBody>
          <a:bodyPr wrap="square" lIns="0" rIns="0" tIns="0" bIns="0" anchor="t">
            <a:spAutoFit/>
          </a:bodyPr>
          <a:lstStyle/>
          <a:p>
            <a:pPr algn="l">
              <a:spcAft>
                <a:spcPts val="0"/>
              </a:spcAft>
            </a:pPr>
            <a:r>
              <a:rPr sz="3000" b="1" i="0">
                <a:solidFill>
                  <a:srgbClr val="343B36"/>
                </a:solidFill>
                <a:latin typeface="Avenir"/>
              </a:rPr>
              <a:t>Three stages for your weekend</a:t>
            </a:r>
          </a:p>
        </p:txBody>
      </p:sp>
      <p:sp>
        <p:nvSpPr>
          <p:cNvPr id="5" name="Rectangle 4"/>
          <p:cNvSpPr/>
          <p:nvPr/>
        </p:nvSpPr>
        <p:spPr>
          <a:xfrm>
            <a:off x="731520" y="1481328"/>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256_3.70x1.90_0.5.jpg"/>
          <p:cNvPicPr>
            <a:picLocks noChangeAspect="1"/>
          </p:cNvPicPr>
          <p:nvPr/>
        </p:nvPicPr>
        <p:blipFill>
          <a:blip r:embed="rId2"/>
          <a:stretch>
            <a:fillRect/>
          </a:stretch>
        </p:blipFill>
        <p:spPr>
          <a:xfrm>
            <a:off x="731520" y="1783080"/>
            <a:ext cx="3383280" cy="1737360"/>
          </a:xfrm>
          <a:prstGeom prst="rect">
            <a:avLst/>
          </a:prstGeom>
        </p:spPr>
      </p:pic>
      <p:sp>
        <p:nvSpPr>
          <p:cNvPr id="7" name="Rectangle 6"/>
          <p:cNvSpPr/>
          <p:nvPr/>
        </p:nvSpPr>
        <p:spPr>
          <a:xfrm>
            <a:off x="731520" y="3520440"/>
            <a:ext cx="3383280" cy="658368"/>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20440"/>
            <a:ext cx="2011680" cy="658368"/>
          </a:xfrm>
          <a:prstGeom prst="rect">
            <a:avLst/>
          </a:prstGeom>
          <a:noFill/>
        </p:spPr>
        <p:txBody>
          <a:bodyPr wrap="square" lIns="0" rIns="0" tIns="0" bIns="0" anchor="ctr">
            <a:spAutoFit/>
          </a:bodyPr>
          <a:lstStyle/>
          <a:p>
            <a:pPr algn="l">
              <a:spcAft>
                <a:spcPts val="0"/>
              </a:spcAft>
            </a:pPr>
            <a:r>
              <a:rPr sz="900" b="1" i="0" spc="200">
                <a:solidFill>
                  <a:srgbClr val="FFFFFF"/>
                </a:solidFill>
                <a:latin typeface="Avenir"/>
              </a:rPr>
              <a:t>F&amp;B MINIMUM</a:t>
            </a:r>
          </a:p>
          <a:p>
            <a:pPr algn="l">
              <a:spcAft>
                <a:spcPts val="0"/>
              </a:spcAft>
            </a:pPr>
            <a:r>
              <a:rPr sz="2200" b="1" i="0">
                <a:solidFill>
                  <a:srgbClr val="FFFFFF"/>
                </a:solidFill>
                <a:latin typeface="Avenir"/>
              </a:rPr>
              <a:t>$10,000</a:t>
            </a:r>
          </a:p>
        </p:txBody>
      </p:sp>
      <p:sp>
        <p:nvSpPr>
          <p:cNvPr id="9" name="TextBox 8"/>
          <p:cNvSpPr txBox="1"/>
          <p:nvPr/>
        </p:nvSpPr>
        <p:spPr>
          <a:xfrm>
            <a:off x="2560320" y="3520440"/>
            <a:ext cx="1417320" cy="658368"/>
          </a:xfrm>
          <a:prstGeom prst="rect">
            <a:avLst/>
          </a:prstGeom>
          <a:noFill/>
        </p:spPr>
        <p:txBody>
          <a:bodyPr wrap="square" lIns="0" rIns="0" tIns="0" bIns="0" anchor="ctr">
            <a:spAutoFit/>
          </a:bodyPr>
          <a:lstStyle/>
          <a:p>
            <a:pPr algn="r">
              <a:spcAft>
                <a:spcPts val="0"/>
              </a:spcAft>
            </a:pPr>
            <a:r>
              <a:rPr sz="1000" b="0" i="1">
                <a:solidFill>
                  <a:srgbClr val="FFFFFF"/>
                </a:solidFill>
                <a:latin typeface="Avenir"/>
              </a:rPr>
              <a:t>Sunday welcome reception</a:t>
            </a:r>
          </a:p>
        </p:txBody>
      </p:sp>
      <p:sp>
        <p:nvSpPr>
          <p:cNvPr id="10" name="TextBox 9"/>
          <p:cNvSpPr txBox="1"/>
          <p:nvPr/>
        </p:nvSpPr>
        <p:spPr>
          <a:xfrm>
            <a:off x="731520" y="4315968"/>
            <a:ext cx="3383280" cy="36576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Clubhouse Courtyard</a:t>
            </a:r>
          </a:p>
        </p:txBody>
      </p:sp>
      <p:sp>
        <p:nvSpPr>
          <p:cNvPr id="11" name="TextBox 10"/>
          <p:cNvSpPr txBox="1"/>
          <p:nvPr/>
        </p:nvSpPr>
        <p:spPr>
          <a:xfrm>
            <a:off x="731520" y="4681728"/>
            <a:ext cx="3383280" cy="1554480"/>
          </a:xfrm>
          <a:prstGeom prst="rect">
            <a:avLst/>
          </a:prstGeom>
          <a:noFill/>
        </p:spPr>
        <p:txBody>
          <a:bodyPr wrap="square" lIns="0" rIns="0" tIns="0" bIns="0" anchor="t">
            <a:spAutoFit/>
          </a:bodyPr>
          <a:lstStyle/>
          <a:p>
            <a:pPr algn="l">
              <a:spcAft>
                <a:spcPts val="300"/>
              </a:spcAft>
            </a:pPr>
            <a:r>
              <a:rPr sz="1150" b="0" i="0">
                <a:solidFill>
                  <a:srgbClr val="5B5255"/>
                </a:solidFill>
                <a:latin typeface="Times New Roman"/>
              </a:rPr>
              <a:t>•  Outdoor fireplaces, fountains, mountain and golf course views</a:t>
            </a:r>
          </a:p>
          <a:p>
            <a:pPr algn="l">
              <a:spcAft>
                <a:spcPts val="300"/>
              </a:spcAft>
            </a:pPr>
            <a:r>
              <a:rPr sz="1150" b="0" i="0">
                <a:solidFill>
                  <a:srgbClr val="5B5255"/>
                </a:solidFill>
                <a:latin typeface="Times New Roman"/>
              </a:rPr>
              <a:t>•  Beside the three-story wine tower and The Steakhouse</a:t>
            </a:r>
          </a:p>
          <a:p>
            <a:pPr algn="l">
              <a:spcAft>
                <a:spcPts val="300"/>
              </a:spcAft>
            </a:pPr>
            <a:r>
              <a:rPr sz="1150" b="0" i="0">
                <a:solidFill>
                  <a:srgbClr val="5B5255"/>
                </a:solidFill>
                <a:latin typeface="Times New Roman"/>
              </a:rPr>
              <a:t>•  Capacity: [to confirm]</a:t>
            </a:r>
          </a:p>
          <a:p>
            <a:pPr algn="l">
              <a:spcAft>
                <a:spcPts val="300"/>
              </a:spcAft>
            </a:pPr>
            <a:r>
              <a:rPr sz="1150" b="0" i="0">
                <a:solidFill>
                  <a:srgbClr val="5B5255"/>
                </a:solidFill>
                <a:latin typeface="Times New Roman"/>
              </a:rPr>
              <a:t>•  Weather backup: [to confirm]</a:t>
            </a:r>
          </a:p>
        </p:txBody>
      </p:sp>
      <p:pic>
        <p:nvPicPr>
          <p:cNvPr id="12" name="Picture 11" descr="236_3.70x1.90_0.5.jpg"/>
          <p:cNvPicPr>
            <a:picLocks noChangeAspect="1"/>
          </p:cNvPicPr>
          <p:nvPr/>
        </p:nvPicPr>
        <p:blipFill>
          <a:blip r:embed="rId3"/>
          <a:stretch>
            <a:fillRect/>
          </a:stretch>
        </p:blipFill>
        <p:spPr>
          <a:xfrm>
            <a:off x="4389120" y="1783080"/>
            <a:ext cx="3383280" cy="1737360"/>
          </a:xfrm>
          <a:prstGeom prst="rect">
            <a:avLst/>
          </a:prstGeom>
        </p:spPr>
      </p:pic>
      <p:sp>
        <p:nvSpPr>
          <p:cNvPr id="13" name="Rectangle 12"/>
          <p:cNvSpPr/>
          <p:nvPr/>
        </p:nvSpPr>
        <p:spPr>
          <a:xfrm>
            <a:off x="4389120" y="3520440"/>
            <a:ext cx="3383280" cy="658368"/>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3520440"/>
            <a:ext cx="2011680" cy="658368"/>
          </a:xfrm>
          <a:prstGeom prst="rect">
            <a:avLst/>
          </a:prstGeom>
          <a:noFill/>
        </p:spPr>
        <p:txBody>
          <a:bodyPr wrap="square" lIns="0" rIns="0" tIns="0" bIns="0" anchor="ctr">
            <a:spAutoFit/>
          </a:bodyPr>
          <a:lstStyle/>
          <a:p>
            <a:pPr algn="l">
              <a:spcAft>
                <a:spcPts val="0"/>
              </a:spcAft>
            </a:pPr>
            <a:r>
              <a:rPr sz="900" b="1" i="0" spc="200">
                <a:solidFill>
                  <a:srgbClr val="FFFFFF"/>
                </a:solidFill>
                <a:latin typeface="Avenir"/>
              </a:rPr>
              <a:t>F&amp;B MINIMUM</a:t>
            </a:r>
          </a:p>
          <a:p>
            <a:pPr algn="l">
              <a:spcAft>
                <a:spcPts val="0"/>
              </a:spcAft>
            </a:pPr>
            <a:r>
              <a:rPr sz="2200" b="1" i="0">
                <a:solidFill>
                  <a:srgbClr val="FFFFFF"/>
                </a:solidFill>
                <a:latin typeface="Avenir"/>
              </a:rPr>
              <a:t>$15,000</a:t>
            </a:r>
          </a:p>
        </p:txBody>
      </p:sp>
      <p:sp>
        <p:nvSpPr>
          <p:cNvPr id="15" name="TextBox 14"/>
          <p:cNvSpPr txBox="1"/>
          <p:nvPr/>
        </p:nvSpPr>
        <p:spPr>
          <a:xfrm>
            <a:off x="6217920" y="3520440"/>
            <a:ext cx="1417320" cy="658368"/>
          </a:xfrm>
          <a:prstGeom prst="rect">
            <a:avLst/>
          </a:prstGeom>
          <a:noFill/>
        </p:spPr>
        <p:txBody>
          <a:bodyPr wrap="square" lIns="0" rIns="0" tIns="0" bIns="0" anchor="ctr">
            <a:spAutoFit/>
          </a:bodyPr>
          <a:lstStyle/>
          <a:p>
            <a:pPr algn="r">
              <a:spcAft>
                <a:spcPts val="0"/>
              </a:spcAft>
            </a:pPr>
            <a:r>
              <a:rPr sz="1000" b="0" i="1">
                <a:solidFill>
                  <a:srgbClr val="FFFFFF"/>
                </a:solidFill>
                <a:latin typeface="Avenir"/>
              </a:rPr>
              <a:t>Tournament lunch + awards</a:t>
            </a:r>
          </a:p>
        </p:txBody>
      </p:sp>
      <p:sp>
        <p:nvSpPr>
          <p:cNvPr id="16" name="TextBox 15"/>
          <p:cNvSpPr txBox="1"/>
          <p:nvPr/>
        </p:nvSpPr>
        <p:spPr>
          <a:xfrm>
            <a:off x="4389120" y="4315968"/>
            <a:ext cx="3383280" cy="36576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Barolo Ballroom</a:t>
            </a:r>
          </a:p>
        </p:txBody>
      </p:sp>
      <p:sp>
        <p:nvSpPr>
          <p:cNvPr id="17" name="TextBox 16"/>
          <p:cNvSpPr txBox="1"/>
          <p:nvPr/>
        </p:nvSpPr>
        <p:spPr>
          <a:xfrm>
            <a:off x="4389120" y="4681728"/>
            <a:ext cx="3383280" cy="1554480"/>
          </a:xfrm>
          <a:prstGeom prst="rect">
            <a:avLst/>
          </a:prstGeom>
          <a:noFill/>
        </p:spPr>
        <p:txBody>
          <a:bodyPr wrap="square" lIns="0" rIns="0" tIns="0" bIns="0" anchor="t">
            <a:spAutoFit/>
          </a:bodyPr>
          <a:lstStyle/>
          <a:p>
            <a:pPr algn="l">
              <a:spcAft>
                <a:spcPts val="300"/>
              </a:spcAft>
            </a:pPr>
            <a:r>
              <a:rPr sz="1150" b="0" i="0">
                <a:solidFill>
                  <a:srgbClr val="5B5255"/>
                </a:solidFill>
                <a:latin typeface="Times New Roman"/>
              </a:rPr>
              <a:t>•  3,700 sq ft, 56' x 67', 15' ceilings</a:t>
            </a:r>
          </a:p>
          <a:p>
            <a:pPr algn="l">
              <a:spcAft>
                <a:spcPts val="300"/>
              </a:spcAft>
            </a:pPr>
            <a:r>
              <a:rPr sz="1150" b="0" i="0">
                <a:solidFill>
                  <a:srgbClr val="5B5255"/>
                </a:solidFill>
                <a:latin typeface="Times New Roman"/>
              </a:rPr>
              <a:t>•  Banquet 240  |  Reception 300  |  Theater 240</a:t>
            </a:r>
          </a:p>
          <a:p>
            <a:pPr algn="l">
              <a:spcAft>
                <a:spcPts val="300"/>
              </a:spcAft>
            </a:pPr>
            <a:r>
              <a:rPr sz="1150" b="0" i="0">
                <a:solidFill>
                  <a:srgbClr val="5B5255"/>
                </a:solidFill>
                <a:latin typeface="Times New Roman"/>
              </a:rPr>
              <a:t>•  Floor-to-ceiling windows, full A/V</a:t>
            </a:r>
          </a:p>
          <a:p>
            <a:pPr algn="l">
              <a:spcAft>
                <a:spcPts val="300"/>
              </a:spcAft>
            </a:pPr>
            <a:r>
              <a:rPr sz="1150" b="0" i="0">
                <a:solidFill>
                  <a:srgbClr val="5B5255"/>
                </a:solidFill>
                <a:latin typeface="Times New Roman"/>
              </a:rPr>
              <a:t>•  Adjoining Fortezza pre-function space</a:t>
            </a:r>
          </a:p>
        </p:txBody>
      </p:sp>
      <p:pic>
        <p:nvPicPr>
          <p:cNvPr id="18" name="Picture 17" descr="259_3.70x1.90_0.5.jpg"/>
          <p:cNvPicPr>
            <a:picLocks noChangeAspect="1"/>
          </p:cNvPicPr>
          <p:nvPr/>
        </p:nvPicPr>
        <p:blipFill>
          <a:blip r:embed="rId4"/>
          <a:stretch>
            <a:fillRect/>
          </a:stretch>
        </p:blipFill>
        <p:spPr>
          <a:xfrm>
            <a:off x="8046720" y="1783080"/>
            <a:ext cx="3383280" cy="1737360"/>
          </a:xfrm>
          <a:prstGeom prst="rect">
            <a:avLst/>
          </a:prstGeom>
        </p:spPr>
      </p:pic>
      <p:sp>
        <p:nvSpPr>
          <p:cNvPr id="19" name="Rectangle 18"/>
          <p:cNvSpPr/>
          <p:nvPr/>
        </p:nvSpPr>
        <p:spPr>
          <a:xfrm>
            <a:off x="8046720" y="3520440"/>
            <a:ext cx="3383280" cy="658368"/>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3520440"/>
            <a:ext cx="2011680" cy="658368"/>
          </a:xfrm>
          <a:prstGeom prst="rect">
            <a:avLst/>
          </a:prstGeom>
          <a:noFill/>
        </p:spPr>
        <p:txBody>
          <a:bodyPr wrap="square" lIns="0" rIns="0" tIns="0" bIns="0" anchor="ctr">
            <a:spAutoFit/>
          </a:bodyPr>
          <a:lstStyle/>
          <a:p>
            <a:pPr algn="l">
              <a:spcAft>
                <a:spcPts val="0"/>
              </a:spcAft>
            </a:pPr>
            <a:r>
              <a:rPr sz="900" b="1" i="0" spc="200">
                <a:solidFill>
                  <a:srgbClr val="FFFFFF"/>
                </a:solidFill>
                <a:latin typeface="Avenir"/>
              </a:rPr>
              <a:t>F&amp;B MINIMUM</a:t>
            </a:r>
          </a:p>
          <a:p>
            <a:pPr algn="l">
              <a:spcAft>
                <a:spcPts val="0"/>
              </a:spcAft>
            </a:pPr>
            <a:r>
              <a:rPr sz="2200" b="1" i="0">
                <a:solidFill>
                  <a:srgbClr val="FFFFFF"/>
                </a:solidFill>
                <a:latin typeface="Avenir"/>
              </a:rPr>
              <a:t>$3,000</a:t>
            </a:r>
          </a:p>
        </p:txBody>
      </p:sp>
      <p:sp>
        <p:nvSpPr>
          <p:cNvPr id="21" name="TextBox 20"/>
          <p:cNvSpPr txBox="1"/>
          <p:nvPr/>
        </p:nvSpPr>
        <p:spPr>
          <a:xfrm>
            <a:off x="9875520" y="3520440"/>
            <a:ext cx="1417320" cy="658368"/>
          </a:xfrm>
          <a:prstGeom prst="rect">
            <a:avLst/>
          </a:prstGeom>
          <a:noFill/>
        </p:spPr>
        <p:txBody>
          <a:bodyPr wrap="square" lIns="0" rIns="0" tIns="0" bIns="0" anchor="ctr">
            <a:spAutoFit/>
          </a:bodyPr>
          <a:lstStyle/>
          <a:p>
            <a:pPr algn="r">
              <a:spcAft>
                <a:spcPts val="0"/>
              </a:spcAft>
            </a:pPr>
            <a:r>
              <a:rPr sz="1000" b="0" i="1">
                <a:solidFill>
                  <a:srgbClr val="FFFFFF"/>
                </a:solidFill>
                <a:latin typeface="Avenir"/>
              </a:rPr>
              <a:t>Sponsor breakfast or dinner</a:t>
            </a:r>
          </a:p>
        </p:txBody>
      </p:sp>
      <p:sp>
        <p:nvSpPr>
          <p:cNvPr id="22" name="TextBox 21"/>
          <p:cNvSpPr txBox="1"/>
          <p:nvPr/>
        </p:nvSpPr>
        <p:spPr>
          <a:xfrm>
            <a:off x="8046720" y="4315968"/>
            <a:ext cx="3383280" cy="365760"/>
          </a:xfrm>
          <a:prstGeom prst="rect">
            <a:avLst/>
          </a:prstGeom>
          <a:noFill/>
        </p:spPr>
        <p:txBody>
          <a:bodyPr wrap="square" lIns="0" rIns="0" tIns="0" bIns="0" anchor="t">
            <a:spAutoFit/>
          </a:bodyPr>
          <a:lstStyle/>
          <a:p>
            <a:pPr algn="l">
              <a:spcAft>
                <a:spcPts val="0"/>
              </a:spcAft>
            </a:pPr>
            <a:r>
              <a:rPr sz="1700" b="1" i="0">
                <a:solidFill>
                  <a:srgbClr val="343B36"/>
                </a:solidFill>
                <a:latin typeface="Avenir"/>
              </a:rPr>
              <a:t>Fortezza Dining Room</a:t>
            </a:r>
          </a:p>
        </p:txBody>
      </p:sp>
      <p:sp>
        <p:nvSpPr>
          <p:cNvPr id="23" name="TextBox 22"/>
          <p:cNvSpPr txBox="1"/>
          <p:nvPr/>
        </p:nvSpPr>
        <p:spPr>
          <a:xfrm>
            <a:off x="8046720" y="4681728"/>
            <a:ext cx="3383280" cy="1554480"/>
          </a:xfrm>
          <a:prstGeom prst="rect">
            <a:avLst/>
          </a:prstGeom>
          <a:noFill/>
        </p:spPr>
        <p:txBody>
          <a:bodyPr wrap="square" lIns="0" rIns="0" tIns="0" bIns="0" anchor="t">
            <a:spAutoFit/>
          </a:bodyPr>
          <a:lstStyle/>
          <a:p>
            <a:pPr algn="l">
              <a:spcAft>
                <a:spcPts val="300"/>
              </a:spcAft>
            </a:pPr>
            <a:r>
              <a:rPr sz="1150" b="0" i="0">
                <a:solidFill>
                  <a:srgbClr val="5B5255"/>
                </a:solidFill>
                <a:latin typeface="Times New Roman"/>
              </a:rPr>
              <a:t>•  Our newest restaurant, in the hotel lobby</a:t>
            </a:r>
          </a:p>
          <a:p>
            <a:pPr algn="l">
              <a:spcAft>
                <a:spcPts val="300"/>
              </a:spcAft>
            </a:pPr>
            <a:r>
              <a:rPr sz="1150" b="0" i="0">
                <a:solidFill>
                  <a:srgbClr val="5B5255"/>
                </a:solidFill>
                <a:latin typeface="Times New Roman"/>
              </a:rPr>
              <a:t>•  Italian-inspired menus and a curated wine list</a:t>
            </a:r>
          </a:p>
          <a:p>
            <a:pPr algn="l">
              <a:spcAft>
                <a:spcPts val="300"/>
              </a:spcAft>
            </a:pPr>
            <a:r>
              <a:rPr sz="1150" b="0" i="0">
                <a:solidFill>
                  <a:srgbClr val="5B5255"/>
                </a:solidFill>
                <a:latin typeface="Times New Roman"/>
              </a:rPr>
              <a:t>•  Capacity: [to confirm]</a:t>
            </a:r>
          </a:p>
          <a:p>
            <a:pPr algn="l">
              <a:spcAft>
                <a:spcPts val="300"/>
              </a:spcAft>
            </a:pPr>
            <a:r>
              <a:rPr sz="1150" b="0" i="0">
                <a:solidFill>
                  <a:srgbClr val="5B5255"/>
                </a:solidFill>
                <a:latin typeface="Times New Roman"/>
              </a:rPr>
              <a:t>•  Steps from every guestroom</a:t>
            </a:r>
          </a:p>
        </p:txBody>
      </p:sp>
      <p:sp>
        <p:nvSpPr>
          <p:cNvPr id="24" name="TextBox 23"/>
          <p:cNvSpPr txBox="1"/>
          <p:nvPr/>
        </p:nvSpPr>
        <p:spPr>
          <a:xfrm>
            <a:off x="731520" y="6144768"/>
            <a:ext cx="10698480" cy="274320"/>
          </a:xfrm>
          <a:prstGeom prst="rect">
            <a:avLst/>
          </a:prstGeom>
          <a:noFill/>
        </p:spPr>
        <p:txBody>
          <a:bodyPr wrap="square" lIns="0" rIns="0" tIns="0" bIns="0" anchor="t">
            <a:spAutoFit/>
          </a:bodyPr>
          <a:lstStyle/>
          <a:p>
            <a:pPr algn="l">
              <a:spcAft>
                <a:spcPts val="0"/>
              </a:spcAft>
            </a:pPr>
            <a:r>
              <a:rPr sz="1000" b="0" i="1">
                <a:solidFill>
                  <a:srgbClr val="5B5255"/>
                </a:solidFill>
                <a:latin typeface="Times New Roman"/>
              </a:rPr>
              <a:t>Minimums are food and beverage spend before service charge and tax. Menus by our culinary team, with steaks cut in our on-site butcher shop.</a:t>
            </a:r>
          </a:p>
        </p:txBody>
      </p:sp>
      <p:sp>
        <p:nvSpPr>
          <p:cNvPr id="25" name="TextBox 24"/>
          <p:cNvSpPr txBox="1"/>
          <p:nvPr/>
        </p:nvSpPr>
        <p:spPr>
          <a:xfrm>
            <a:off x="54864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26" name="TextBox 25"/>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5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240280"/>
            <a:ext cx="73152" cy="265176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94560"/>
            <a:ext cx="8229600" cy="365760"/>
          </a:xfrm>
          <a:prstGeom prst="rect">
            <a:avLst/>
          </a:prstGeom>
          <a:noFill/>
        </p:spPr>
        <p:txBody>
          <a:bodyPr wrap="square" lIns="0" rIns="0" tIns="0" bIns="0" anchor="t">
            <a:spAutoFit/>
          </a:bodyPr>
          <a:lstStyle/>
          <a:p>
            <a:pPr algn="l">
              <a:spcAft>
                <a:spcPts val="0"/>
              </a:spcAft>
            </a:pPr>
            <a:r>
              <a:rPr sz="1300" b="1" i="0" spc="400">
                <a:solidFill>
                  <a:srgbClr val="FFFFFF"/>
                </a:solidFill>
                <a:latin typeface="Avenir"/>
              </a:rPr>
              <a:t>05  |  BEYOND THE RESORT</a:t>
            </a:r>
          </a:p>
        </p:txBody>
      </p:sp>
      <p:sp>
        <p:nvSpPr>
          <p:cNvPr id="6" name="TextBox 5"/>
          <p:cNvSpPr txBox="1"/>
          <p:nvPr/>
        </p:nvSpPr>
        <p:spPr>
          <a:xfrm>
            <a:off x="1005840" y="2560320"/>
            <a:ext cx="8686800" cy="1645920"/>
          </a:xfrm>
          <a:prstGeom prst="rect">
            <a:avLst/>
          </a:prstGeom>
          <a:noFill/>
        </p:spPr>
        <p:txBody>
          <a:bodyPr wrap="square" lIns="0" rIns="0" tIns="0" bIns="0" anchor="t">
            <a:spAutoFit/>
          </a:bodyPr>
          <a:lstStyle/>
          <a:p>
            <a:pPr algn="l">
              <a:lnSpc>
                <a:spcPct val="95000"/>
              </a:lnSpc>
              <a:spcAft>
                <a:spcPts val="0"/>
              </a:spcAft>
            </a:pPr>
            <a:r>
              <a:rPr sz="4200" b="1" i="0">
                <a:solidFill>
                  <a:srgbClr val="FFFFFF"/>
                </a:solidFill>
                <a:latin typeface="Avenir"/>
              </a:rPr>
              <a:t>Colorado Springs, at your doorstep</a:t>
            </a:r>
          </a:p>
        </p:txBody>
      </p:sp>
      <p:sp>
        <p:nvSpPr>
          <p:cNvPr id="7" name="TextBox 6"/>
          <p:cNvSpPr txBox="1"/>
          <p:nvPr/>
        </p:nvSpPr>
        <p:spPr>
          <a:xfrm>
            <a:off x="1005840" y="4343400"/>
            <a:ext cx="9144000" cy="548640"/>
          </a:xfrm>
          <a:prstGeom prst="rect">
            <a:avLst/>
          </a:prstGeom>
          <a:noFill/>
        </p:spPr>
        <p:txBody>
          <a:bodyPr wrap="square" lIns="0" rIns="0" tIns="0" bIns="0" anchor="t">
            <a:spAutoFit/>
          </a:bodyPr>
          <a:lstStyle/>
          <a:p>
            <a:pPr algn="l">
              <a:spcAft>
                <a:spcPts val="0"/>
              </a:spcAft>
            </a:pPr>
            <a:r>
              <a:rPr sz="1800" b="0" i="1">
                <a:solidFill>
                  <a:srgbClr val="FFFFFF"/>
                </a:solidFill>
                <a:latin typeface="Times New Roman"/>
              </a:rPr>
              <a:t>Attractions for guests and nearby hotels for your team</a:t>
            </a:r>
          </a:p>
        </p:txBody>
      </p:sp>
      <p:pic>
        <p:nvPicPr>
          <p:cNvPr id="8" name="Picture 7" descr="logo_horiz_white.png"/>
          <p:cNvPicPr>
            <a:picLocks noChangeAspect="1"/>
          </p:cNvPicPr>
          <p:nvPr/>
        </p:nvPicPr>
        <p:blipFill>
          <a:blip r:embed="rId3"/>
          <a:stretch>
            <a:fillRect/>
          </a:stretch>
        </p:blipFill>
        <p:spPr>
          <a:xfrm>
            <a:off x="9265615" y="5989320"/>
            <a:ext cx="2286000" cy="62636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NEARBY ATTRACTIONS</a:t>
            </a:r>
          </a:p>
        </p:txBody>
      </p:sp>
      <p:sp>
        <p:nvSpPr>
          <p:cNvPr id="4" name="TextBox 3"/>
          <p:cNvSpPr txBox="1"/>
          <p:nvPr/>
        </p:nvSpPr>
        <p:spPr>
          <a:xfrm>
            <a:off x="731520" y="960120"/>
            <a:ext cx="10515600" cy="731520"/>
          </a:xfrm>
          <a:prstGeom prst="rect">
            <a:avLst/>
          </a:prstGeom>
          <a:noFill/>
        </p:spPr>
        <p:txBody>
          <a:bodyPr wrap="square" lIns="0" rIns="0" tIns="0" bIns="0" anchor="t">
            <a:spAutoFit/>
          </a:bodyPr>
          <a:lstStyle/>
          <a:p>
            <a:pPr algn="l">
              <a:spcAft>
                <a:spcPts val="0"/>
              </a:spcAft>
            </a:pPr>
            <a:r>
              <a:rPr sz="3200" b="1" i="0">
                <a:solidFill>
                  <a:srgbClr val="343B36"/>
                </a:solidFill>
                <a:latin typeface="Avenir"/>
              </a:rPr>
              <a:t>Make a weekend of it</a:t>
            </a:r>
          </a:p>
        </p:txBody>
      </p:sp>
      <p:sp>
        <p:nvSpPr>
          <p:cNvPr id="5" name="Rectangle 4"/>
          <p:cNvSpPr/>
          <p:nvPr/>
        </p:nvSpPr>
        <p:spPr>
          <a:xfrm>
            <a:off x="731520" y="173736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10312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10312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86000"/>
            <a:ext cx="2971800" cy="274320"/>
          </a:xfrm>
          <a:prstGeom prst="rect">
            <a:avLst/>
          </a:prstGeom>
          <a:noFill/>
        </p:spPr>
        <p:txBody>
          <a:bodyPr wrap="square" lIns="0" rIns="0" tIns="0" bIns="0" anchor="t">
            <a:spAutoFit/>
          </a:bodyPr>
          <a:lstStyle/>
          <a:p>
            <a:pPr algn="l">
              <a:spcAft>
                <a:spcPts val="0"/>
              </a:spcAft>
            </a:pPr>
            <a:r>
              <a:rPr sz="1000" b="1" i="0" spc="200">
                <a:solidFill>
                  <a:srgbClr val="966A4D"/>
                </a:solidFill>
                <a:latin typeface="Avenir"/>
              </a:rPr>
              <a:t>ABOUT 15 MIN</a:t>
            </a:r>
          </a:p>
        </p:txBody>
      </p:sp>
      <p:sp>
        <p:nvSpPr>
          <p:cNvPr id="9" name="TextBox 8"/>
          <p:cNvSpPr txBox="1"/>
          <p:nvPr/>
        </p:nvSpPr>
        <p:spPr>
          <a:xfrm>
            <a:off x="1005840" y="2560320"/>
            <a:ext cx="2971800" cy="640080"/>
          </a:xfrm>
          <a:prstGeom prst="rect">
            <a:avLst/>
          </a:prstGeom>
          <a:noFill/>
        </p:spPr>
        <p:txBody>
          <a:bodyPr wrap="square" lIns="0" rIns="0" tIns="0" bIns="0" anchor="t">
            <a:spAutoFit/>
          </a:bodyPr>
          <a:lstStyle/>
          <a:p>
            <a:pPr algn="l">
              <a:spcAft>
                <a:spcPts val="0"/>
              </a:spcAft>
            </a:pPr>
            <a:r>
              <a:rPr sz="1600" b="1" i="0">
                <a:solidFill>
                  <a:srgbClr val="343B36"/>
                </a:solidFill>
                <a:latin typeface="Avenir"/>
              </a:rPr>
              <a:t>U.S. Air Force Academy</a:t>
            </a:r>
          </a:p>
        </p:txBody>
      </p:sp>
      <p:sp>
        <p:nvSpPr>
          <p:cNvPr id="10" name="TextBox 9"/>
          <p:cNvSpPr txBox="1"/>
          <p:nvPr/>
        </p:nvSpPr>
        <p:spPr>
          <a:xfrm>
            <a:off x="1005840" y="3154679"/>
            <a:ext cx="2971800" cy="777240"/>
          </a:xfrm>
          <a:prstGeom prst="rect">
            <a:avLst/>
          </a:prstGeom>
          <a:noFill/>
        </p:spPr>
        <p:txBody>
          <a:bodyPr wrap="square" lIns="0" rIns="0" tIns="0" bIns="0" anchor="t">
            <a:spAutoFit/>
          </a:bodyPr>
          <a:lstStyle/>
          <a:p>
            <a:pPr algn="l">
              <a:lnSpc>
                <a:spcPct val="105000"/>
              </a:lnSpc>
              <a:spcAft>
                <a:spcPts val="0"/>
              </a:spcAft>
            </a:pPr>
            <a:r>
              <a:rPr sz="1200" b="0" i="0">
                <a:solidFill>
                  <a:srgbClr val="5B5255"/>
                </a:solidFill>
                <a:latin typeface="Times New Roman"/>
              </a:rPr>
              <a:t>Cadet Chapel, the visitor center and the Honor Court. A fitting stop for this group.</a:t>
            </a:r>
          </a:p>
        </p:txBody>
      </p:sp>
      <p:sp>
        <p:nvSpPr>
          <p:cNvPr id="11" name="Rectangle 10"/>
          <p:cNvSpPr/>
          <p:nvPr/>
        </p:nvSpPr>
        <p:spPr>
          <a:xfrm>
            <a:off x="4389120" y="210312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10312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286000"/>
            <a:ext cx="2971800" cy="274320"/>
          </a:xfrm>
          <a:prstGeom prst="rect">
            <a:avLst/>
          </a:prstGeom>
          <a:noFill/>
        </p:spPr>
        <p:txBody>
          <a:bodyPr wrap="square" lIns="0" rIns="0" tIns="0" bIns="0" anchor="t">
            <a:spAutoFit/>
          </a:bodyPr>
          <a:lstStyle/>
          <a:p>
            <a:pPr algn="l">
              <a:spcAft>
                <a:spcPts val="0"/>
              </a:spcAft>
            </a:pPr>
            <a:r>
              <a:rPr sz="1000" b="1" i="0" spc="200">
                <a:solidFill>
                  <a:srgbClr val="966A4D"/>
                </a:solidFill>
                <a:latin typeface="Avenir"/>
              </a:rPr>
              <a:t>ABOUT 25 MIN</a:t>
            </a:r>
          </a:p>
        </p:txBody>
      </p:sp>
      <p:sp>
        <p:nvSpPr>
          <p:cNvPr id="14" name="TextBox 13"/>
          <p:cNvSpPr txBox="1"/>
          <p:nvPr/>
        </p:nvSpPr>
        <p:spPr>
          <a:xfrm>
            <a:off x="4663440" y="2560320"/>
            <a:ext cx="2971800" cy="640080"/>
          </a:xfrm>
          <a:prstGeom prst="rect">
            <a:avLst/>
          </a:prstGeom>
          <a:noFill/>
        </p:spPr>
        <p:txBody>
          <a:bodyPr wrap="square" lIns="0" rIns="0" tIns="0" bIns="0" anchor="t">
            <a:spAutoFit/>
          </a:bodyPr>
          <a:lstStyle/>
          <a:p>
            <a:pPr algn="l">
              <a:spcAft>
                <a:spcPts val="0"/>
              </a:spcAft>
            </a:pPr>
            <a:r>
              <a:rPr sz="1600" b="1" i="0">
                <a:solidFill>
                  <a:srgbClr val="343B36"/>
                </a:solidFill>
                <a:latin typeface="Avenir"/>
              </a:rPr>
              <a:t>Garden of the Gods</a:t>
            </a:r>
          </a:p>
        </p:txBody>
      </p:sp>
      <p:sp>
        <p:nvSpPr>
          <p:cNvPr id="15" name="TextBox 14"/>
          <p:cNvSpPr txBox="1"/>
          <p:nvPr/>
        </p:nvSpPr>
        <p:spPr>
          <a:xfrm>
            <a:off x="4663440" y="3154679"/>
            <a:ext cx="2971800" cy="777240"/>
          </a:xfrm>
          <a:prstGeom prst="rect">
            <a:avLst/>
          </a:prstGeom>
          <a:noFill/>
        </p:spPr>
        <p:txBody>
          <a:bodyPr wrap="square" lIns="0" rIns="0" tIns="0" bIns="0" anchor="t">
            <a:spAutoFit/>
          </a:bodyPr>
          <a:lstStyle/>
          <a:p>
            <a:pPr algn="l">
              <a:lnSpc>
                <a:spcPct val="105000"/>
              </a:lnSpc>
              <a:spcAft>
                <a:spcPts val="0"/>
              </a:spcAft>
            </a:pPr>
            <a:r>
              <a:rPr sz="1200" b="0" i="0">
                <a:solidFill>
                  <a:srgbClr val="5B5255"/>
                </a:solidFill>
                <a:latin typeface="Times New Roman"/>
              </a:rPr>
              <a:t>Towering red rock formations and easy walking trails. Free to visit.</a:t>
            </a:r>
          </a:p>
        </p:txBody>
      </p:sp>
      <p:sp>
        <p:nvSpPr>
          <p:cNvPr id="16" name="Rectangle 15"/>
          <p:cNvSpPr/>
          <p:nvPr/>
        </p:nvSpPr>
        <p:spPr>
          <a:xfrm>
            <a:off x="8046720" y="210312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210312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286000"/>
            <a:ext cx="2971800" cy="274320"/>
          </a:xfrm>
          <a:prstGeom prst="rect">
            <a:avLst/>
          </a:prstGeom>
          <a:noFill/>
        </p:spPr>
        <p:txBody>
          <a:bodyPr wrap="square" lIns="0" rIns="0" tIns="0" bIns="0" anchor="t">
            <a:spAutoFit/>
          </a:bodyPr>
          <a:lstStyle/>
          <a:p>
            <a:pPr algn="l">
              <a:spcAft>
                <a:spcPts val="0"/>
              </a:spcAft>
            </a:pPr>
            <a:r>
              <a:rPr sz="1000" b="1" i="0" spc="200">
                <a:solidFill>
                  <a:srgbClr val="966A4D"/>
                </a:solidFill>
                <a:latin typeface="Avenir"/>
              </a:rPr>
              <a:t>ABOUT 25 MIN</a:t>
            </a:r>
          </a:p>
        </p:txBody>
      </p:sp>
      <p:sp>
        <p:nvSpPr>
          <p:cNvPr id="19" name="TextBox 18"/>
          <p:cNvSpPr txBox="1"/>
          <p:nvPr/>
        </p:nvSpPr>
        <p:spPr>
          <a:xfrm>
            <a:off x="8321040" y="2560320"/>
            <a:ext cx="2971800" cy="640080"/>
          </a:xfrm>
          <a:prstGeom prst="rect">
            <a:avLst/>
          </a:prstGeom>
          <a:noFill/>
        </p:spPr>
        <p:txBody>
          <a:bodyPr wrap="square" lIns="0" rIns="0" tIns="0" bIns="0" anchor="t">
            <a:spAutoFit/>
          </a:bodyPr>
          <a:lstStyle/>
          <a:p>
            <a:pPr algn="l">
              <a:spcAft>
                <a:spcPts val="0"/>
              </a:spcAft>
            </a:pPr>
            <a:r>
              <a:rPr sz="1600" b="1" i="0">
                <a:solidFill>
                  <a:srgbClr val="343B36"/>
                </a:solidFill>
                <a:latin typeface="Avenir"/>
              </a:rPr>
              <a:t>U.S. Olympic &amp; Paralympic Museum</a:t>
            </a:r>
          </a:p>
        </p:txBody>
      </p:sp>
      <p:sp>
        <p:nvSpPr>
          <p:cNvPr id="20" name="TextBox 19"/>
          <p:cNvSpPr txBox="1"/>
          <p:nvPr/>
        </p:nvSpPr>
        <p:spPr>
          <a:xfrm>
            <a:off x="8321040" y="3154679"/>
            <a:ext cx="2971800" cy="777240"/>
          </a:xfrm>
          <a:prstGeom prst="rect">
            <a:avLst/>
          </a:prstGeom>
          <a:noFill/>
        </p:spPr>
        <p:txBody>
          <a:bodyPr wrap="square" lIns="0" rIns="0" tIns="0" bIns="0" anchor="t">
            <a:spAutoFit/>
          </a:bodyPr>
          <a:lstStyle/>
          <a:p>
            <a:pPr algn="l">
              <a:lnSpc>
                <a:spcPct val="105000"/>
              </a:lnSpc>
              <a:spcAft>
                <a:spcPts val="0"/>
              </a:spcAft>
            </a:pPr>
            <a:r>
              <a:rPr sz="1200" b="0" i="0">
                <a:solidFill>
                  <a:srgbClr val="5B5255"/>
                </a:solidFill>
                <a:latin typeface="Times New Roman"/>
              </a:rPr>
              <a:t>Downtown Colorado Springs, in America's Olympic City.</a:t>
            </a:r>
          </a:p>
        </p:txBody>
      </p:sp>
      <p:sp>
        <p:nvSpPr>
          <p:cNvPr id="21" name="Rectangle 20"/>
          <p:cNvSpPr/>
          <p:nvPr/>
        </p:nvSpPr>
        <p:spPr>
          <a:xfrm>
            <a:off x="731520" y="420624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20624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389120"/>
            <a:ext cx="2971800" cy="274320"/>
          </a:xfrm>
          <a:prstGeom prst="rect">
            <a:avLst/>
          </a:prstGeom>
          <a:noFill/>
        </p:spPr>
        <p:txBody>
          <a:bodyPr wrap="square" lIns="0" rIns="0" tIns="0" bIns="0" anchor="t">
            <a:spAutoFit/>
          </a:bodyPr>
          <a:lstStyle/>
          <a:p>
            <a:pPr algn="l">
              <a:spcAft>
                <a:spcPts val="0"/>
              </a:spcAft>
            </a:pPr>
            <a:r>
              <a:rPr sz="1000" b="1" i="0" spc="200">
                <a:solidFill>
                  <a:srgbClr val="966A4D"/>
                </a:solidFill>
                <a:latin typeface="Avenir"/>
              </a:rPr>
              <a:t>ABOUT 35 MIN</a:t>
            </a:r>
          </a:p>
        </p:txBody>
      </p:sp>
      <p:sp>
        <p:nvSpPr>
          <p:cNvPr id="24" name="TextBox 23"/>
          <p:cNvSpPr txBox="1"/>
          <p:nvPr/>
        </p:nvSpPr>
        <p:spPr>
          <a:xfrm>
            <a:off x="1005840" y="4663440"/>
            <a:ext cx="2971800" cy="640080"/>
          </a:xfrm>
          <a:prstGeom prst="rect">
            <a:avLst/>
          </a:prstGeom>
          <a:noFill/>
        </p:spPr>
        <p:txBody>
          <a:bodyPr wrap="square" lIns="0" rIns="0" tIns="0" bIns="0" anchor="t">
            <a:spAutoFit/>
          </a:bodyPr>
          <a:lstStyle/>
          <a:p>
            <a:pPr algn="l">
              <a:spcAft>
                <a:spcPts val="0"/>
              </a:spcAft>
            </a:pPr>
            <a:r>
              <a:rPr sz="1600" b="1" i="0">
                <a:solidFill>
                  <a:srgbClr val="343B36"/>
                </a:solidFill>
                <a:latin typeface="Avenir"/>
              </a:rPr>
              <a:t>Pikes Peak</a:t>
            </a:r>
          </a:p>
        </p:txBody>
      </p:sp>
      <p:sp>
        <p:nvSpPr>
          <p:cNvPr id="25" name="TextBox 24"/>
          <p:cNvSpPr txBox="1"/>
          <p:nvPr/>
        </p:nvSpPr>
        <p:spPr>
          <a:xfrm>
            <a:off x="1005840" y="5257800"/>
            <a:ext cx="2971800" cy="777240"/>
          </a:xfrm>
          <a:prstGeom prst="rect">
            <a:avLst/>
          </a:prstGeom>
          <a:noFill/>
        </p:spPr>
        <p:txBody>
          <a:bodyPr wrap="square" lIns="0" rIns="0" tIns="0" bIns="0" anchor="t">
            <a:spAutoFit/>
          </a:bodyPr>
          <a:lstStyle/>
          <a:p>
            <a:pPr algn="l">
              <a:lnSpc>
                <a:spcPct val="105000"/>
              </a:lnSpc>
              <a:spcAft>
                <a:spcPts val="0"/>
              </a:spcAft>
            </a:pPr>
            <a:r>
              <a:rPr sz="1200" b="0" i="0">
                <a:solidFill>
                  <a:srgbClr val="5B5255"/>
                </a:solidFill>
                <a:latin typeface="Times New Roman"/>
              </a:rPr>
              <a:t>America's Mountain, by the Cog Railway or the scenic highway.</a:t>
            </a:r>
          </a:p>
        </p:txBody>
      </p:sp>
      <p:sp>
        <p:nvSpPr>
          <p:cNvPr id="26" name="Rectangle 25"/>
          <p:cNvSpPr/>
          <p:nvPr/>
        </p:nvSpPr>
        <p:spPr>
          <a:xfrm>
            <a:off x="4389120" y="420624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420624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63440" y="4389120"/>
            <a:ext cx="2971800" cy="274320"/>
          </a:xfrm>
          <a:prstGeom prst="rect">
            <a:avLst/>
          </a:prstGeom>
          <a:noFill/>
        </p:spPr>
        <p:txBody>
          <a:bodyPr wrap="square" lIns="0" rIns="0" tIns="0" bIns="0" anchor="t">
            <a:spAutoFit/>
          </a:bodyPr>
          <a:lstStyle/>
          <a:p>
            <a:pPr algn="l">
              <a:spcAft>
                <a:spcPts val="0"/>
              </a:spcAft>
            </a:pPr>
            <a:r>
              <a:rPr sz="1000" b="1" i="0" spc="200">
                <a:solidFill>
                  <a:srgbClr val="966A4D"/>
                </a:solidFill>
                <a:latin typeface="Avenir"/>
              </a:rPr>
              <a:t>ABOUT 30 MIN</a:t>
            </a:r>
          </a:p>
        </p:txBody>
      </p:sp>
      <p:sp>
        <p:nvSpPr>
          <p:cNvPr id="29" name="TextBox 28"/>
          <p:cNvSpPr txBox="1"/>
          <p:nvPr/>
        </p:nvSpPr>
        <p:spPr>
          <a:xfrm>
            <a:off x="4663440" y="4663440"/>
            <a:ext cx="2971800" cy="640080"/>
          </a:xfrm>
          <a:prstGeom prst="rect">
            <a:avLst/>
          </a:prstGeom>
          <a:noFill/>
        </p:spPr>
        <p:txBody>
          <a:bodyPr wrap="square" lIns="0" rIns="0" tIns="0" bIns="0" anchor="t">
            <a:spAutoFit/>
          </a:bodyPr>
          <a:lstStyle/>
          <a:p>
            <a:pPr algn="l">
              <a:spcAft>
                <a:spcPts val="0"/>
              </a:spcAft>
            </a:pPr>
            <a:r>
              <a:rPr sz="1600" b="1" i="0">
                <a:solidFill>
                  <a:srgbClr val="343B36"/>
                </a:solidFill>
                <a:latin typeface="Avenir"/>
              </a:rPr>
              <a:t>Manitou Springs</a:t>
            </a:r>
          </a:p>
        </p:txBody>
      </p:sp>
      <p:sp>
        <p:nvSpPr>
          <p:cNvPr id="30" name="TextBox 29"/>
          <p:cNvSpPr txBox="1"/>
          <p:nvPr/>
        </p:nvSpPr>
        <p:spPr>
          <a:xfrm>
            <a:off x="4663440" y="5257800"/>
            <a:ext cx="2971800" cy="777240"/>
          </a:xfrm>
          <a:prstGeom prst="rect">
            <a:avLst/>
          </a:prstGeom>
          <a:noFill/>
        </p:spPr>
        <p:txBody>
          <a:bodyPr wrap="square" lIns="0" rIns="0" tIns="0" bIns="0" anchor="t">
            <a:spAutoFit/>
          </a:bodyPr>
          <a:lstStyle/>
          <a:p>
            <a:pPr algn="l">
              <a:lnSpc>
                <a:spcPct val="105000"/>
              </a:lnSpc>
              <a:spcAft>
                <a:spcPts val="0"/>
              </a:spcAft>
            </a:pPr>
            <a:r>
              <a:rPr sz="1200" b="0" i="0">
                <a:solidFill>
                  <a:srgbClr val="5B5255"/>
                </a:solidFill>
                <a:latin typeface="Times New Roman"/>
              </a:rPr>
              <a:t>Historic mountain town with shops, galleries and natural mineral springs.</a:t>
            </a:r>
          </a:p>
        </p:txBody>
      </p:sp>
      <p:sp>
        <p:nvSpPr>
          <p:cNvPr id="31" name="Rectangle 30"/>
          <p:cNvSpPr/>
          <p:nvPr/>
        </p:nvSpPr>
        <p:spPr>
          <a:xfrm>
            <a:off x="8046720" y="4206240"/>
            <a:ext cx="3383280" cy="1874519"/>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6720" y="4206240"/>
            <a:ext cx="64008" cy="1874519"/>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4389120"/>
            <a:ext cx="2971800" cy="274320"/>
          </a:xfrm>
          <a:prstGeom prst="rect">
            <a:avLst/>
          </a:prstGeom>
          <a:noFill/>
        </p:spPr>
        <p:txBody>
          <a:bodyPr wrap="square" lIns="0" rIns="0" tIns="0" bIns="0" anchor="t">
            <a:spAutoFit/>
          </a:bodyPr>
          <a:lstStyle/>
          <a:p>
            <a:pPr algn="l">
              <a:spcAft>
                <a:spcPts val="0"/>
              </a:spcAft>
            </a:pPr>
            <a:r>
              <a:rPr sz="1000" b="1" i="0" spc="200">
                <a:solidFill>
                  <a:srgbClr val="966A4D"/>
                </a:solidFill>
                <a:latin typeface="Avenir"/>
              </a:rPr>
              <a:t>ABOUT 35 MIN</a:t>
            </a:r>
          </a:p>
        </p:txBody>
      </p:sp>
      <p:sp>
        <p:nvSpPr>
          <p:cNvPr id="34" name="TextBox 33"/>
          <p:cNvSpPr txBox="1"/>
          <p:nvPr/>
        </p:nvSpPr>
        <p:spPr>
          <a:xfrm>
            <a:off x="8321040" y="4663440"/>
            <a:ext cx="2971800" cy="640080"/>
          </a:xfrm>
          <a:prstGeom prst="rect">
            <a:avLst/>
          </a:prstGeom>
          <a:noFill/>
        </p:spPr>
        <p:txBody>
          <a:bodyPr wrap="square" lIns="0" rIns="0" tIns="0" bIns="0" anchor="t">
            <a:spAutoFit/>
          </a:bodyPr>
          <a:lstStyle/>
          <a:p>
            <a:pPr algn="l">
              <a:spcAft>
                <a:spcPts val="0"/>
              </a:spcAft>
            </a:pPr>
            <a:r>
              <a:rPr sz="1600" b="1" i="0">
                <a:solidFill>
                  <a:srgbClr val="343B36"/>
                </a:solidFill>
                <a:latin typeface="Avenir"/>
              </a:rPr>
              <a:t>Cheyenne Mountain Zoo</a:t>
            </a:r>
          </a:p>
        </p:txBody>
      </p:sp>
      <p:sp>
        <p:nvSpPr>
          <p:cNvPr id="35" name="TextBox 34"/>
          <p:cNvSpPr txBox="1"/>
          <p:nvPr/>
        </p:nvSpPr>
        <p:spPr>
          <a:xfrm>
            <a:off x="8321040" y="5257800"/>
            <a:ext cx="2971800" cy="777240"/>
          </a:xfrm>
          <a:prstGeom prst="rect">
            <a:avLst/>
          </a:prstGeom>
          <a:noFill/>
        </p:spPr>
        <p:txBody>
          <a:bodyPr wrap="square" lIns="0" rIns="0" tIns="0" bIns="0" anchor="t">
            <a:spAutoFit/>
          </a:bodyPr>
          <a:lstStyle/>
          <a:p>
            <a:pPr algn="l">
              <a:lnSpc>
                <a:spcPct val="105000"/>
              </a:lnSpc>
              <a:spcAft>
                <a:spcPts val="0"/>
              </a:spcAft>
            </a:pPr>
            <a:r>
              <a:rPr sz="1200" b="0" i="0">
                <a:solidFill>
                  <a:srgbClr val="5B5255"/>
                </a:solidFill>
                <a:latin typeface="Times New Roman"/>
              </a:rPr>
              <a:t>America's only mountain zoo, famous for its giraffe herd.</a:t>
            </a:r>
          </a:p>
        </p:txBody>
      </p:sp>
      <p:sp>
        <p:nvSpPr>
          <p:cNvPr id="36" name="TextBox 35"/>
          <p:cNvSpPr txBox="1"/>
          <p:nvPr/>
        </p:nvSpPr>
        <p:spPr>
          <a:xfrm>
            <a:off x="54864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37" name="TextBox 36"/>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14_4.60x7.50_0.5.jpg"/>
          <p:cNvPicPr>
            <a:picLocks noChangeAspect="1"/>
          </p:cNvPicPr>
          <p:nvPr/>
        </p:nvPicPr>
        <p:blipFill>
          <a:blip r:embed="rId2"/>
          <a:stretch>
            <a:fillRect/>
          </a:stretch>
        </p:blipFill>
        <p:spPr>
          <a:xfrm>
            <a:off x="0" y="0"/>
            <a:ext cx="4206240" cy="6858000"/>
          </a:xfrm>
          <a:prstGeom prst="rect">
            <a:avLst/>
          </a:prstGeom>
        </p:spPr>
      </p:pic>
      <p:sp>
        <p:nvSpPr>
          <p:cNvPr id="4" name="TextBox 3"/>
          <p:cNvSpPr txBox="1"/>
          <p:nvPr/>
        </p:nvSpPr>
        <p:spPr>
          <a:xfrm>
            <a:off x="4846320" y="64008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OVERFLOW LODGING</a:t>
            </a:r>
          </a:p>
        </p:txBody>
      </p:sp>
      <p:sp>
        <p:nvSpPr>
          <p:cNvPr id="5" name="TextBox 4"/>
          <p:cNvSpPr txBox="1"/>
          <p:nvPr/>
        </p:nvSpPr>
        <p:spPr>
          <a:xfrm>
            <a:off x="4846320" y="960120"/>
            <a:ext cx="6858000" cy="640080"/>
          </a:xfrm>
          <a:prstGeom prst="rect">
            <a:avLst/>
          </a:prstGeom>
          <a:noFill/>
        </p:spPr>
        <p:txBody>
          <a:bodyPr wrap="square" lIns="0" rIns="0" tIns="0" bIns="0" anchor="t">
            <a:spAutoFit/>
          </a:bodyPr>
          <a:lstStyle/>
          <a:p>
            <a:pPr algn="l">
              <a:spcAft>
                <a:spcPts val="0"/>
              </a:spcAft>
            </a:pPr>
            <a:r>
              <a:rPr sz="3000" b="1" i="0">
                <a:solidFill>
                  <a:srgbClr val="343B36"/>
                </a:solidFill>
                <a:latin typeface="Avenir"/>
              </a:rPr>
              <a:t>Nearby hotels for staff</a:t>
            </a:r>
          </a:p>
        </p:txBody>
      </p:sp>
      <p:sp>
        <p:nvSpPr>
          <p:cNvPr id="6" name="Rectangle 5"/>
          <p:cNvSpPr/>
          <p:nvPr/>
        </p:nvSpPr>
        <p:spPr>
          <a:xfrm>
            <a:off x="4846320" y="1645920"/>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0" y="1874519"/>
            <a:ext cx="6766560" cy="640080"/>
          </a:xfrm>
          <a:prstGeom prst="rect">
            <a:avLst/>
          </a:prstGeom>
          <a:noFill/>
        </p:spPr>
        <p:txBody>
          <a:bodyPr wrap="square" lIns="0" rIns="0" tIns="0" bIns="0" anchor="t">
            <a:spAutoFit/>
          </a:bodyPr>
          <a:lstStyle/>
          <a:p>
            <a:pPr algn="l">
              <a:lnSpc>
                <a:spcPct val="105000"/>
              </a:lnSpc>
              <a:spcAft>
                <a:spcPts val="0"/>
              </a:spcAft>
            </a:pPr>
            <a:r>
              <a:rPr sz="1300" b="0" i="0">
                <a:solidFill>
                  <a:srgbClr val="5B5255"/>
                </a:solidFill>
                <a:latin typeface="Times New Roman"/>
              </a:rPr>
              <a:t>Sponsors stay with us. For staff and any overflow, these hotels sit about 10 minutes away near InterQuest Parkway and the Air Force Academy. We're happy to introduce you to our local hotel partners.</a:t>
            </a:r>
          </a:p>
        </p:txBody>
      </p:sp>
      <p:sp>
        <p:nvSpPr>
          <p:cNvPr id="8" name="Rectangle 7"/>
          <p:cNvSpPr/>
          <p:nvPr/>
        </p:nvSpPr>
        <p:spPr>
          <a:xfrm>
            <a:off x="4846320" y="3273552"/>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0" y="2743200"/>
            <a:ext cx="6766560" cy="274320"/>
          </a:xfrm>
          <a:prstGeom prst="rect">
            <a:avLst/>
          </a:prstGeom>
          <a:noFill/>
        </p:spPr>
        <p:txBody>
          <a:bodyPr wrap="square" lIns="0" rIns="0" tIns="0" bIns="0" anchor="t">
            <a:spAutoFit/>
          </a:bodyPr>
          <a:lstStyle/>
          <a:p>
            <a:pPr algn="l">
              <a:spcAft>
                <a:spcPts val="0"/>
              </a:spcAft>
            </a:pPr>
            <a:r>
              <a:rPr sz="1350" b="1" i="0">
                <a:solidFill>
                  <a:srgbClr val="343B36"/>
                </a:solidFill>
                <a:latin typeface="Avenir"/>
              </a:rPr>
              <a:t>Hotel Polaris</a:t>
            </a:r>
          </a:p>
        </p:txBody>
      </p:sp>
      <p:sp>
        <p:nvSpPr>
          <p:cNvPr id="10" name="TextBox 9"/>
          <p:cNvSpPr txBox="1"/>
          <p:nvPr/>
        </p:nvSpPr>
        <p:spPr>
          <a:xfrm>
            <a:off x="4846320" y="3017520"/>
            <a:ext cx="6766560" cy="228600"/>
          </a:xfrm>
          <a:prstGeom prst="rect">
            <a:avLst/>
          </a:prstGeom>
          <a:noFill/>
        </p:spPr>
        <p:txBody>
          <a:bodyPr wrap="square" lIns="0" rIns="0" tIns="0" bIns="0" anchor="t">
            <a:spAutoFit/>
          </a:bodyPr>
          <a:lstStyle/>
          <a:p>
            <a:pPr algn="l">
              <a:spcAft>
                <a:spcPts val="0"/>
              </a:spcAft>
            </a:pPr>
            <a:r>
              <a:rPr sz="1100" b="0" i="0">
                <a:solidFill>
                  <a:srgbClr val="5B5255"/>
                </a:solidFill>
                <a:latin typeface="Times New Roman"/>
              </a:rPr>
              <a:t>At the U.S. Air Force Academy Visitor Center</a:t>
            </a:r>
          </a:p>
        </p:txBody>
      </p:sp>
      <p:sp>
        <p:nvSpPr>
          <p:cNvPr id="11" name="Rectangle 10"/>
          <p:cNvSpPr/>
          <p:nvPr/>
        </p:nvSpPr>
        <p:spPr>
          <a:xfrm>
            <a:off x="4846320" y="3840480"/>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0" y="3310128"/>
            <a:ext cx="6766560" cy="274320"/>
          </a:xfrm>
          <a:prstGeom prst="rect">
            <a:avLst/>
          </a:prstGeom>
          <a:noFill/>
        </p:spPr>
        <p:txBody>
          <a:bodyPr wrap="square" lIns="0" rIns="0" tIns="0" bIns="0" anchor="t">
            <a:spAutoFit/>
          </a:bodyPr>
          <a:lstStyle/>
          <a:p>
            <a:pPr algn="l">
              <a:spcAft>
                <a:spcPts val="0"/>
              </a:spcAft>
            </a:pPr>
            <a:r>
              <a:rPr sz="1350" b="1" i="0">
                <a:solidFill>
                  <a:srgbClr val="343B36"/>
                </a:solidFill>
                <a:latin typeface="Avenir"/>
              </a:rPr>
              <a:t>Courtyard Colorado Springs North / Air Force Academy</a:t>
            </a:r>
          </a:p>
        </p:txBody>
      </p:sp>
      <p:sp>
        <p:nvSpPr>
          <p:cNvPr id="13" name="TextBox 12"/>
          <p:cNvSpPr txBox="1"/>
          <p:nvPr/>
        </p:nvSpPr>
        <p:spPr>
          <a:xfrm>
            <a:off x="4846320" y="3584448"/>
            <a:ext cx="6766560" cy="228600"/>
          </a:xfrm>
          <a:prstGeom prst="rect">
            <a:avLst/>
          </a:prstGeom>
          <a:noFill/>
        </p:spPr>
        <p:txBody>
          <a:bodyPr wrap="square" lIns="0" rIns="0" tIns="0" bIns="0" anchor="t">
            <a:spAutoFit/>
          </a:bodyPr>
          <a:lstStyle/>
          <a:p>
            <a:pPr algn="l">
              <a:spcAft>
                <a:spcPts val="0"/>
              </a:spcAft>
            </a:pPr>
            <a:r>
              <a:rPr sz="1100" b="0" i="0">
                <a:solidFill>
                  <a:srgbClr val="5B5255"/>
                </a:solidFill>
                <a:latin typeface="Times New Roman"/>
              </a:rPr>
              <a:t>1130 InterQuest Parkway</a:t>
            </a:r>
          </a:p>
        </p:txBody>
      </p:sp>
      <p:sp>
        <p:nvSpPr>
          <p:cNvPr id="14" name="Rectangle 13"/>
          <p:cNvSpPr/>
          <p:nvPr/>
        </p:nvSpPr>
        <p:spPr>
          <a:xfrm>
            <a:off x="4846320" y="4407408"/>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3877056"/>
            <a:ext cx="6766560" cy="274320"/>
          </a:xfrm>
          <a:prstGeom prst="rect">
            <a:avLst/>
          </a:prstGeom>
          <a:noFill/>
        </p:spPr>
        <p:txBody>
          <a:bodyPr wrap="square" lIns="0" rIns="0" tIns="0" bIns="0" anchor="t">
            <a:spAutoFit/>
          </a:bodyPr>
          <a:lstStyle/>
          <a:p>
            <a:pPr algn="l">
              <a:spcAft>
                <a:spcPts val="0"/>
              </a:spcAft>
            </a:pPr>
            <a:r>
              <a:rPr sz="1350" b="1" i="0">
                <a:solidFill>
                  <a:srgbClr val="343B36"/>
                </a:solidFill>
                <a:latin typeface="Avenir"/>
              </a:rPr>
              <a:t>Drury Plaza Hotel Near the Air Force Academy</a:t>
            </a:r>
          </a:p>
        </p:txBody>
      </p:sp>
      <p:sp>
        <p:nvSpPr>
          <p:cNvPr id="16" name="TextBox 15"/>
          <p:cNvSpPr txBox="1"/>
          <p:nvPr/>
        </p:nvSpPr>
        <p:spPr>
          <a:xfrm>
            <a:off x="4846320" y="4151376"/>
            <a:ext cx="6766560" cy="228600"/>
          </a:xfrm>
          <a:prstGeom prst="rect">
            <a:avLst/>
          </a:prstGeom>
          <a:noFill/>
        </p:spPr>
        <p:txBody>
          <a:bodyPr wrap="square" lIns="0" rIns="0" tIns="0" bIns="0" anchor="t">
            <a:spAutoFit/>
          </a:bodyPr>
          <a:lstStyle/>
          <a:p>
            <a:pPr algn="l">
              <a:spcAft>
                <a:spcPts val="0"/>
              </a:spcAft>
            </a:pPr>
            <a:r>
              <a:rPr sz="1100" b="0" i="0">
                <a:solidFill>
                  <a:srgbClr val="5B5255"/>
                </a:solidFill>
                <a:latin typeface="Times New Roman"/>
              </a:rPr>
              <a:t>1170 InterQuest Parkway</a:t>
            </a:r>
          </a:p>
        </p:txBody>
      </p:sp>
      <p:sp>
        <p:nvSpPr>
          <p:cNvPr id="17" name="Rectangle 16"/>
          <p:cNvSpPr/>
          <p:nvPr/>
        </p:nvSpPr>
        <p:spPr>
          <a:xfrm>
            <a:off x="4846320" y="4974336"/>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0" y="4443983"/>
            <a:ext cx="6766560" cy="274320"/>
          </a:xfrm>
          <a:prstGeom prst="rect">
            <a:avLst/>
          </a:prstGeom>
          <a:noFill/>
        </p:spPr>
        <p:txBody>
          <a:bodyPr wrap="square" lIns="0" rIns="0" tIns="0" bIns="0" anchor="t">
            <a:spAutoFit/>
          </a:bodyPr>
          <a:lstStyle/>
          <a:p>
            <a:pPr algn="l">
              <a:spcAft>
                <a:spcPts val="0"/>
              </a:spcAft>
            </a:pPr>
            <a:r>
              <a:rPr sz="1350" b="1" i="0">
                <a:solidFill>
                  <a:srgbClr val="343B36"/>
                </a:solidFill>
                <a:latin typeface="Avenir"/>
              </a:rPr>
              <a:t>Residence Inn Colorado Springs North / Air Force Academy</a:t>
            </a:r>
          </a:p>
        </p:txBody>
      </p:sp>
      <p:sp>
        <p:nvSpPr>
          <p:cNvPr id="19" name="TextBox 18"/>
          <p:cNvSpPr txBox="1"/>
          <p:nvPr/>
        </p:nvSpPr>
        <p:spPr>
          <a:xfrm>
            <a:off x="4846320" y="4718303"/>
            <a:ext cx="6766560" cy="228600"/>
          </a:xfrm>
          <a:prstGeom prst="rect">
            <a:avLst/>
          </a:prstGeom>
          <a:noFill/>
        </p:spPr>
        <p:txBody>
          <a:bodyPr wrap="square" lIns="0" rIns="0" tIns="0" bIns="0" anchor="t">
            <a:spAutoFit/>
          </a:bodyPr>
          <a:lstStyle/>
          <a:p>
            <a:pPr algn="l">
              <a:spcAft>
                <a:spcPts val="0"/>
              </a:spcAft>
            </a:pPr>
            <a:r>
              <a:rPr sz="1100" b="0" i="0">
                <a:solidFill>
                  <a:srgbClr val="5B5255"/>
                </a:solidFill>
                <a:latin typeface="Times New Roman"/>
              </a:rPr>
              <a:t>InterQuest area</a:t>
            </a:r>
          </a:p>
        </p:txBody>
      </p:sp>
      <p:sp>
        <p:nvSpPr>
          <p:cNvPr id="20" name="Rectangle 19"/>
          <p:cNvSpPr/>
          <p:nvPr/>
        </p:nvSpPr>
        <p:spPr>
          <a:xfrm>
            <a:off x="4846320" y="5541264"/>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46320" y="5010912"/>
            <a:ext cx="6766560" cy="274320"/>
          </a:xfrm>
          <a:prstGeom prst="rect">
            <a:avLst/>
          </a:prstGeom>
          <a:noFill/>
        </p:spPr>
        <p:txBody>
          <a:bodyPr wrap="square" lIns="0" rIns="0" tIns="0" bIns="0" anchor="t">
            <a:spAutoFit/>
          </a:bodyPr>
          <a:lstStyle/>
          <a:p>
            <a:pPr algn="l">
              <a:spcAft>
                <a:spcPts val="0"/>
              </a:spcAft>
            </a:pPr>
            <a:r>
              <a:rPr sz="1350" b="1" i="0">
                <a:solidFill>
                  <a:srgbClr val="343B36"/>
                </a:solidFill>
                <a:latin typeface="Avenir"/>
              </a:rPr>
              <a:t>SpringHill Suites Colorado Springs North / Air Force Academy</a:t>
            </a:r>
          </a:p>
        </p:txBody>
      </p:sp>
      <p:sp>
        <p:nvSpPr>
          <p:cNvPr id="22" name="TextBox 21"/>
          <p:cNvSpPr txBox="1"/>
          <p:nvPr/>
        </p:nvSpPr>
        <p:spPr>
          <a:xfrm>
            <a:off x="4846320" y="5285232"/>
            <a:ext cx="6766560" cy="228600"/>
          </a:xfrm>
          <a:prstGeom prst="rect">
            <a:avLst/>
          </a:prstGeom>
          <a:noFill/>
        </p:spPr>
        <p:txBody>
          <a:bodyPr wrap="square" lIns="0" rIns="0" tIns="0" bIns="0" anchor="t">
            <a:spAutoFit/>
          </a:bodyPr>
          <a:lstStyle/>
          <a:p>
            <a:pPr algn="l">
              <a:spcAft>
                <a:spcPts val="0"/>
              </a:spcAft>
            </a:pPr>
            <a:r>
              <a:rPr sz="1100" b="0" i="0">
                <a:solidFill>
                  <a:srgbClr val="5B5255"/>
                </a:solidFill>
                <a:latin typeface="Times New Roman"/>
              </a:rPr>
              <a:t>1320 Republic Drive</a:t>
            </a:r>
          </a:p>
        </p:txBody>
      </p:sp>
      <p:sp>
        <p:nvSpPr>
          <p:cNvPr id="23" name="Rectangle 22"/>
          <p:cNvSpPr/>
          <p:nvPr/>
        </p:nvSpPr>
        <p:spPr>
          <a:xfrm>
            <a:off x="4846320" y="6108192"/>
            <a:ext cx="6766560" cy="9144"/>
          </a:xfrm>
          <a:prstGeom prst="rect">
            <a:avLst/>
          </a:prstGeom>
          <a:solidFill>
            <a:srgbClr val="D8C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5577840"/>
            <a:ext cx="6766560" cy="274320"/>
          </a:xfrm>
          <a:prstGeom prst="rect">
            <a:avLst/>
          </a:prstGeom>
          <a:noFill/>
        </p:spPr>
        <p:txBody>
          <a:bodyPr wrap="square" lIns="0" rIns="0" tIns="0" bIns="0" anchor="t">
            <a:spAutoFit/>
          </a:bodyPr>
          <a:lstStyle/>
          <a:p>
            <a:pPr algn="l">
              <a:spcAft>
                <a:spcPts val="0"/>
              </a:spcAft>
            </a:pPr>
            <a:r>
              <a:rPr sz="1350" b="1" i="0">
                <a:solidFill>
                  <a:srgbClr val="343B36"/>
                </a:solidFill>
                <a:latin typeface="Avenir"/>
              </a:rPr>
              <a:t>Hampton Inn &amp; Suites Colorado Springs Air Force Academy / I-25 North</a:t>
            </a:r>
          </a:p>
        </p:txBody>
      </p:sp>
      <p:sp>
        <p:nvSpPr>
          <p:cNvPr id="25" name="TextBox 24"/>
          <p:cNvSpPr txBox="1"/>
          <p:nvPr/>
        </p:nvSpPr>
        <p:spPr>
          <a:xfrm>
            <a:off x="4846320" y="5852159"/>
            <a:ext cx="6766560" cy="228600"/>
          </a:xfrm>
          <a:prstGeom prst="rect">
            <a:avLst/>
          </a:prstGeom>
          <a:noFill/>
        </p:spPr>
        <p:txBody>
          <a:bodyPr wrap="square" lIns="0" rIns="0" tIns="0" bIns="0" anchor="t">
            <a:spAutoFit/>
          </a:bodyPr>
          <a:lstStyle/>
          <a:p>
            <a:pPr algn="l">
              <a:spcAft>
                <a:spcPts val="0"/>
              </a:spcAft>
            </a:pPr>
            <a:r>
              <a:rPr sz="1100" b="0" i="0">
                <a:solidFill>
                  <a:srgbClr val="5B5255"/>
                </a:solidFill>
                <a:latin typeface="Times New Roman"/>
              </a:rPr>
              <a:t>1307 Republic Drive</a:t>
            </a:r>
          </a:p>
        </p:txBody>
      </p:sp>
      <p:sp>
        <p:nvSpPr>
          <p:cNvPr id="26" name="TextBox 25"/>
          <p:cNvSpPr txBox="1"/>
          <p:nvPr/>
        </p:nvSpPr>
        <p:spPr>
          <a:xfrm>
            <a:off x="484632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27" name="TextBox 26"/>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34_4.40x7.50_0.5.jpg"/>
          <p:cNvPicPr>
            <a:picLocks noChangeAspect="1"/>
          </p:cNvPicPr>
          <p:nvPr/>
        </p:nvPicPr>
        <p:blipFill>
          <a:blip r:embed="rId2"/>
          <a:stretch>
            <a:fillRect/>
          </a:stretch>
        </p:blipFill>
        <p:spPr>
          <a:xfrm>
            <a:off x="0" y="0"/>
            <a:ext cx="4023360" cy="6858000"/>
          </a:xfrm>
          <a:prstGeom prst="rect">
            <a:avLst/>
          </a:prstGeom>
        </p:spPr>
      </p:pic>
      <p:sp>
        <p:nvSpPr>
          <p:cNvPr id="4" name="Rectangle 3"/>
          <p:cNvSpPr/>
          <p:nvPr/>
        </p:nvSpPr>
        <p:spPr>
          <a:xfrm>
            <a:off x="0" y="0"/>
            <a:ext cx="4023360" cy="6858000"/>
          </a:xfrm>
          <a:prstGeom prst="rect">
            <a:avLst/>
          </a:prstGeom>
          <a:solidFill>
            <a:srgbClr val="343B3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103120"/>
            <a:ext cx="3200400" cy="2743200"/>
          </a:xfrm>
          <a:prstGeom prst="rect">
            <a:avLst/>
          </a:prstGeom>
          <a:noFill/>
        </p:spPr>
        <p:txBody>
          <a:bodyPr wrap="square" lIns="0" rIns="0" tIns="0" bIns="0" anchor="ctr">
            <a:spAutoFit/>
          </a:bodyPr>
          <a:lstStyle/>
          <a:p>
            <a:pPr algn="l">
              <a:spcAft>
                <a:spcPts val="800"/>
              </a:spcAft>
            </a:pPr>
            <a:r>
              <a:rPr sz="1100" b="1" i="0" spc="300">
                <a:solidFill>
                  <a:srgbClr val="D9B89C"/>
                </a:solidFill>
                <a:latin typeface="Avenir"/>
              </a:rPr>
              <a:t>THE BEST RETURN</a:t>
            </a:r>
          </a:p>
          <a:p>
            <a:pPr algn="l">
              <a:spcAft>
                <a:spcPts val="200"/>
              </a:spcAft>
            </a:pPr>
            <a:r>
              <a:rPr sz="7200" b="1" i="0">
                <a:solidFill>
                  <a:srgbClr val="FFFFFF"/>
                </a:solidFill>
                <a:latin typeface="Avenir"/>
              </a:rPr>
              <a:t>95¢</a:t>
            </a:r>
          </a:p>
          <a:p>
            <a:pPr algn="l">
              <a:spcAft>
                <a:spcPts val="0"/>
              </a:spcAft>
            </a:pPr>
            <a:r>
              <a:rPr sz="1500" b="0" i="1">
                <a:solidFill>
                  <a:srgbClr val="FFFFFF"/>
                </a:solidFill>
                <a:latin typeface="Times New Roman"/>
              </a:rPr>
              <a:t>of every dollar raised goes directly to service members and their families.</a:t>
            </a:r>
          </a:p>
        </p:txBody>
      </p:sp>
      <p:sp>
        <p:nvSpPr>
          <p:cNvPr id="6" name="TextBox 5"/>
          <p:cNvSpPr txBox="1"/>
          <p:nvPr/>
        </p:nvSpPr>
        <p:spPr>
          <a:xfrm>
            <a:off x="4572000" y="548640"/>
            <a:ext cx="5486400" cy="274320"/>
          </a:xfrm>
          <a:prstGeom prst="rect">
            <a:avLst/>
          </a:prstGeom>
          <a:noFill/>
        </p:spPr>
        <p:txBody>
          <a:bodyPr wrap="square" lIns="0" rIns="0" tIns="0" bIns="0" anchor="t">
            <a:spAutoFit/>
          </a:bodyPr>
          <a:lstStyle/>
          <a:p>
            <a:pPr algn="l">
              <a:spcAft>
                <a:spcPts val="0"/>
              </a:spcAft>
            </a:pPr>
            <a:r>
              <a:rPr sz="1100" b="1" i="0" spc="300">
                <a:solidFill>
                  <a:srgbClr val="966A4D"/>
                </a:solidFill>
                <a:latin typeface="Avenir"/>
              </a:rPr>
              <a:t>YOUR INVESTMENT, IN PERSPECTIVE</a:t>
            </a:r>
          </a:p>
        </p:txBody>
      </p:sp>
      <p:sp>
        <p:nvSpPr>
          <p:cNvPr id="7" name="TextBox 6"/>
          <p:cNvSpPr txBox="1"/>
          <p:nvPr/>
        </p:nvSpPr>
        <p:spPr>
          <a:xfrm>
            <a:off x="4572000" y="868680"/>
            <a:ext cx="7132320" cy="731520"/>
          </a:xfrm>
          <a:prstGeom prst="rect">
            <a:avLst/>
          </a:prstGeom>
          <a:noFill/>
        </p:spPr>
        <p:txBody>
          <a:bodyPr wrap="square" lIns="0" rIns="0" tIns="0" bIns="0" anchor="t">
            <a:spAutoFit/>
          </a:bodyPr>
          <a:lstStyle/>
          <a:p>
            <a:pPr algn="l">
              <a:spcAft>
                <a:spcPts val="0"/>
              </a:spcAft>
            </a:pPr>
            <a:r>
              <a:rPr sz="3000" b="1" i="0">
                <a:solidFill>
                  <a:srgbClr val="343B36"/>
                </a:solidFill>
                <a:latin typeface="Avenir"/>
              </a:rPr>
              <a:t>Spend it where it counts</a:t>
            </a:r>
          </a:p>
        </p:txBody>
      </p:sp>
      <p:sp>
        <p:nvSpPr>
          <p:cNvPr id="8" name="Rectangle 7"/>
          <p:cNvSpPr/>
          <p:nvPr/>
        </p:nvSpPr>
        <p:spPr>
          <a:xfrm>
            <a:off x="4572000" y="1572768"/>
            <a:ext cx="822960" cy="457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0" y="1828800"/>
            <a:ext cx="7132320" cy="96012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0" y="1828800"/>
            <a:ext cx="64008" cy="9601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828800"/>
            <a:ext cx="1005840" cy="960120"/>
          </a:xfrm>
          <a:prstGeom prst="rect">
            <a:avLst/>
          </a:prstGeom>
          <a:noFill/>
        </p:spPr>
        <p:txBody>
          <a:bodyPr wrap="square" lIns="0" rIns="0" tIns="0" bIns="0" anchor="ctr">
            <a:spAutoFit/>
          </a:bodyPr>
          <a:lstStyle/>
          <a:p>
            <a:pPr algn="l">
              <a:spcAft>
                <a:spcPts val="0"/>
              </a:spcAft>
            </a:pPr>
            <a:r>
              <a:rPr sz="1100" b="1" i="0" spc="300">
                <a:solidFill>
                  <a:srgbClr val="966A4D"/>
                </a:solidFill>
                <a:latin typeface="Avenir"/>
              </a:rPr>
              <a:t>PLAY</a:t>
            </a:r>
          </a:p>
        </p:txBody>
      </p:sp>
      <p:sp>
        <p:nvSpPr>
          <p:cNvPr id="12" name="TextBox 11"/>
          <p:cNvSpPr txBox="1"/>
          <p:nvPr/>
        </p:nvSpPr>
        <p:spPr>
          <a:xfrm>
            <a:off x="5852160" y="1901952"/>
            <a:ext cx="2011680" cy="548640"/>
          </a:xfrm>
          <a:prstGeom prst="rect">
            <a:avLst/>
          </a:prstGeom>
          <a:noFill/>
        </p:spPr>
        <p:txBody>
          <a:bodyPr wrap="square" lIns="0" rIns="0" tIns="0" bIns="0" anchor="t">
            <a:spAutoFit/>
          </a:bodyPr>
          <a:lstStyle/>
          <a:p>
            <a:pPr algn="l">
              <a:spcAft>
                <a:spcPts val="0"/>
              </a:spcAft>
            </a:pPr>
            <a:r>
              <a:rPr sz="2600" b="1" i="0">
                <a:solidFill>
                  <a:srgbClr val="343B36"/>
                </a:solidFill>
                <a:latin typeface="Avenir"/>
              </a:rPr>
              <a:t>$130</a:t>
            </a:r>
          </a:p>
        </p:txBody>
      </p:sp>
      <p:sp>
        <p:nvSpPr>
          <p:cNvPr id="13" name="TextBox 12"/>
          <p:cNvSpPr txBox="1"/>
          <p:nvPr/>
        </p:nvSpPr>
        <p:spPr>
          <a:xfrm>
            <a:off x="5852160" y="2395728"/>
            <a:ext cx="2011680" cy="320040"/>
          </a:xfrm>
          <a:prstGeom prst="rect">
            <a:avLst/>
          </a:prstGeom>
          <a:noFill/>
        </p:spPr>
        <p:txBody>
          <a:bodyPr wrap="square" lIns="0" rIns="0" tIns="0" bIns="0" anchor="t">
            <a:spAutoFit/>
          </a:bodyPr>
          <a:lstStyle/>
          <a:p>
            <a:pPr algn="l">
              <a:spcAft>
                <a:spcPts val="0"/>
              </a:spcAft>
            </a:pPr>
            <a:r>
              <a:rPr sz="1000" b="0" i="1">
                <a:solidFill>
                  <a:srgbClr val="5B5255"/>
                </a:solidFill>
                <a:latin typeface="Avenir"/>
              </a:rPr>
              <a:t>per golfer</a:t>
            </a:r>
          </a:p>
        </p:txBody>
      </p:sp>
      <p:sp>
        <p:nvSpPr>
          <p:cNvPr id="14" name="TextBox 13"/>
          <p:cNvSpPr txBox="1"/>
          <p:nvPr/>
        </p:nvSpPr>
        <p:spPr>
          <a:xfrm>
            <a:off x="7955279" y="1828800"/>
            <a:ext cx="3566160" cy="960120"/>
          </a:xfrm>
          <a:prstGeom prst="rect">
            <a:avLst/>
          </a:prstGeom>
          <a:noFill/>
        </p:spPr>
        <p:txBody>
          <a:bodyPr wrap="square" lIns="0" rIns="0" tIns="0" bIns="0" anchor="ctr">
            <a:spAutoFit/>
          </a:bodyPr>
          <a:lstStyle/>
          <a:p>
            <a:pPr algn="l">
              <a:lnSpc>
                <a:spcPct val="105000"/>
              </a:lnSpc>
              <a:spcAft>
                <a:spcPts val="0"/>
              </a:spcAft>
            </a:pPr>
            <a:r>
              <a:rPr sz="1200" b="0" i="0">
                <a:solidFill>
                  <a:srgbClr val="5B5255"/>
                </a:solidFill>
                <a:latin typeface="Times New Roman"/>
              </a:rPr>
              <a:t>Championship golf, cart and practice range on the Best Golf Course in Colorado Springs</a:t>
            </a:r>
          </a:p>
        </p:txBody>
      </p:sp>
      <p:sp>
        <p:nvSpPr>
          <p:cNvPr id="15" name="Rectangle 14"/>
          <p:cNvSpPr/>
          <p:nvPr/>
        </p:nvSpPr>
        <p:spPr>
          <a:xfrm>
            <a:off x="4572000" y="2926080"/>
            <a:ext cx="7132320" cy="96012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0" y="2926080"/>
            <a:ext cx="64008" cy="9601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2926080"/>
            <a:ext cx="1005840" cy="960120"/>
          </a:xfrm>
          <a:prstGeom prst="rect">
            <a:avLst/>
          </a:prstGeom>
          <a:noFill/>
        </p:spPr>
        <p:txBody>
          <a:bodyPr wrap="square" lIns="0" rIns="0" tIns="0" bIns="0" anchor="ctr">
            <a:spAutoFit/>
          </a:bodyPr>
          <a:lstStyle/>
          <a:p>
            <a:pPr algn="l">
              <a:spcAft>
                <a:spcPts val="0"/>
              </a:spcAft>
            </a:pPr>
            <a:r>
              <a:rPr sz="1100" b="1" i="0" spc="300">
                <a:solidFill>
                  <a:srgbClr val="966A4D"/>
                </a:solidFill>
                <a:latin typeface="Avenir"/>
              </a:rPr>
              <a:t>STAY</a:t>
            </a:r>
          </a:p>
        </p:txBody>
      </p:sp>
      <p:sp>
        <p:nvSpPr>
          <p:cNvPr id="18" name="TextBox 17"/>
          <p:cNvSpPr txBox="1"/>
          <p:nvPr/>
        </p:nvSpPr>
        <p:spPr>
          <a:xfrm>
            <a:off x="5852160" y="2999232"/>
            <a:ext cx="2011680" cy="548640"/>
          </a:xfrm>
          <a:prstGeom prst="rect">
            <a:avLst/>
          </a:prstGeom>
          <a:noFill/>
        </p:spPr>
        <p:txBody>
          <a:bodyPr wrap="square" lIns="0" rIns="0" tIns="0" bIns="0" anchor="t">
            <a:spAutoFit/>
          </a:bodyPr>
          <a:lstStyle/>
          <a:p>
            <a:pPr algn="l">
              <a:spcAft>
                <a:spcPts val="0"/>
              </a:spcAft>
            </a:pPr>
            <a:r>
              <a:rPr sz="2600" b="1" i="0">
                <a:solidFill>
                  <a:srgbClr val="343B36"/>
                </a:solidFill>
                <a:latin typeface="Avenir"/>
              </a:rPr>
              <a:t>$340</a:t>
            </a:r>
          </a:p>
        </p:txBody>
      </p:sp>
      <p:sp>
        <p:nvSpPr>
          <p:cNvPr id="19" name="TextBox 18"/>
          <p:cNvSpPr txBox="1"/>
          <p:nvPr/>
        </p:nvSpPr>
        <p:spPr>
          <a:xfrm>
            <a:off x="5852160" y="3493008"/>
            <a:ext cx="2011680" cy="320040"/>
          </a:xfrm>
          <a:prstGeom prst="rect">
            <a:avLst/>
          </a:prstGeom>
          <a:noFill/>
        </p:spPr>
        <p:txBody>
          <a:bodyPr wrap="square" lIns="0" rIns="0" tIns="0" bIns="0" anchor="t">
            <a:spAutoFit/>
          </a:bodyPr>
          <a:lstStyle/>
          <a:p>
            <a:pPr algn="l">
              <a:spcAft>
                <a:spcPts val="0"/>
              </a:spcAft>
            </a:pPr>
            <a:r>
              <a:rPr sz="1000" b="0" i="1">
                <a:solidFill>
                  <a:srgbClr val="5B5255"/>
                </a:solidFill>
                <a:latin typeface="Avenir"/>
              </a:rPr>
              <a:t>per room, per night</a:t>
            </a:r>
          </a:p>
        </p:txBody>
      </p:sp>
      <p:sp>
        <p:nvSpPr>
          <p:cNvPr id="20" name="TextBox 19"/>
          <p:cNvSpPr txBox="1"/>
          <p:nvPr/>
        </p:nvSpPr>
        <p:spPr>
          <a:xfrm>
            <a:off x="7955279" y="2926080"/>
            <a:ext cx="3566160" cy="960120"/>
          </a:xfrm>
          <a:prstGeom prst="rect">
            <a:avLst/>
          </a:prstGeom>
          <a:noFill/>
        </p:spPr>
        <p:txBody>
          <a:bodyPr wrap="square" lIns="0" rIns="0" tIns="0" bIns="0" anchor="ctr">
            <a:spAutoFit/>
          </a:bodyPr>
          <a:lstStyle/>
          <a:p>
            <a:pPr algn="l">
              <a:lnSpc>
                <a:spcPct val="105000"/>
              </a:lnSpc>
              <a:spcAft>
                <a:spcPts val="0"/>
              </a:spcAft>
            </a:pPr>
            <a:r>
              <a:rPr sz="1200" b="0" i="0">
                <a:solidFill>
                  <a:srgbClr val="5B5255"/>
                </a:solidFill>
                <a:latin typeface="Times New Roman"/>
              </a:rPr>
              <a:t>A AAA Four Diamond resort, all to yourselves, at a significantly reduced group rate</a:t>
            </a:r>
          </a:p>
        </p:txBody>
      </p:sp>
      <p:sp>
        <p:nvSpPr>
          <p:cNvPr id="21" name="Rectangle 20"/>
          <p:cNvSpPr/>
          <p:nvPr/>
        </p:nvSpPr>
        <p:spPr>
          <a:xfrm>
            <a:off x="4572000" y="4023360"/>
            <a:ext cx="7132320" cy="960120"/>
          </a:xfrm>
          <a:prstGeom prst="rect">
            <a:avLst/>
          </a:prstGeom>
          <a:solidFill>
            <a:srgbClr val="F4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0" y="4023360"/>
            <a:ext cx="64008" cy="960120"/>
          </a:xfrm>
          <a:prstGeom prst="rect">
            <a:avLst/>
          </a:prstGeom>
          <a:solidFill>
            <a:srgbClr val="966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4023360"/>
            <a:ext cx="1005840" cy="960120"/>
          </a:xfrm>
          <a:prstGeom prst="rect">
            <a:avLst/>
          </a:prstGeom>
          <a:noFill/>
        </p:spPr>
        <p:txBody>
          <a:bodyPr wrap="square" lIns="0" rIns="0" tIns="0" bIns="0" anchor="ctr">
            <a:spAutoFit/>
          </a:bodyPr>
          <a:lstStyle/>
          <a:p>
            <a:pPr algn="l">
              <a:spcAft>
                <a:spcPts val="0"/>
              </a:spcAft>
            </a:pPr>
            <a:r>
              <a:rPr sz="1100" b="1" i="0" spc="300">
                <a:solidFill>
                  <a:srgbClr val="966A4D"/>
                </a:solidFill>
                <a:latin typeface="Avenir"/>
              </a:rPr>
              <a:t>GATHER</a:t>
            </a:r>
          </a:p>
        </p:txBody>
      </p:sp>
      <p:sp>
        <p:nvSpPr>
          <p:cNvPr id="24" name="TextBox 23"/>
          <p:cNvSpPr txBox="1"/>
          <p:nvPr/>
        </p:nvSpPr>
        <p:spPr>
          <a:xfrm>
            <a:off x="5852160" y="4096512"/>
            <a:ext cx="2011680" cy="548640"/>
          </a:xfrm>
          <a:prstGeom prst="rect">
            <a:avLst/>
          </a:prstGeom>
          <a:noFill/>
        </p:spPr>
        <p:txBody>
          <a:bodyPr wrap="square" lIns="0" rIns="0" tIns="0" bIns="0" anchor="t">
            <a:spAutoFit/>
          </a:bodyPr>
          <a:lstStyle/>
          <a:p>
            <a:pPr algn="l">
              <a:spcAft>
                <a:spcPts val="0"/>
              </a:spcAft>
            </a:pPr>
            <a:r>
              <a:rPr sz="2600" b="1" i="0">
                <a:solidFill>
                  <a:srgbClr val="343B36"/>
                </a:solidFill>
                <a:latin typeface="Avenir"/>
              </a:rPr>
              <a:t>$3,000</a:t>
            </a:r>
          </a:p>
        </p:txBody>
      </p:sp>
      <p:sp>
        <p:nvSpPr>
          <p:cNvPr id="25" name="TextBox 24"/>
          <p:cNvSpPr txBox="1"/>
          <p:nvPr/>
        </p:nvSpPr>
        <p:spPr>
          <a:xfrm>
            <a:off x="5852160" y="4590288"/>
            <a:ext cx="2011680" cy="320040"/>
          </a:xfrm>
          <a:prstGeom prst="rect">
            <a:avLst/>
          </a:prstGeom>
          <a:noFill/>
        </p:spPr>
        <p:txBody>
          <a:bodyPr wrap="square" lIns="0" rIns="0" tIns="0" bIns="0" anchor="t">
            <a:spAutoFit/>
          </a:bodyPr>
          <a:lstStyle/>
          <a:p>
            <a:pPr algn="l">
              <a:spcAft>
                <a:spcPts val="0"/>
              </a:spcAft>
            </a:pPr>
            <a:r>
              <a:rPr sz="1000" b="0" i="1">
                <a:solidFill>
                  <a:srgbClr val="5B5255"/>
                </a:solidFill>
                <a:latin typeface="Avenir"/>
              </a:rPr>
              <a:t>F&amp;B minimums from</a:t>
            </a:r>
          </a:p>
        </p:txBody>
      </p:sp>
      <p:sp>
        <p:nvSpPr>
          <p:cNvPr id="26" name="TextBox 25"/>
          <p:cNvSpPr txBox="1"/>
          <p:nvPr/>
        </p:nvSpPr>
        <p:spPr>
          <a:xfrm>
            <a:off x="7955279" y="4023360"/>
            <a:ext cx="3566160" cy="960120"/>
          </a:xfrm>
          <a:prstGeom prst="rect">
            <a:avLst/>
          </a:prstGeom>
          <a:noFill/>
        </p:spPr>
        <p:txBody>
          <a:bodyPr wrap="square" lIns="0" rIns="0" tIns="0" bIns="0" anchor="ctr">
            <a:spAutoFit/>
          </a:bodyPr>
          <a:lstStyle/>
          <a:p>
            <a:pPr algn="l">
              <a:lnSpc>
                <a:spcPct val="105000"/>
              </a:lnSpc>
              <a:spcAft>
                <a:spcPts val="0"/>
              </a:spcAft>
            </a:pPr>
            <a:r>
              <a:rPr sz="1200" b="0" i="0">
                <a:solidFill>
                  <a:srgbClr val="5B5255"/>
                </a:solidFill>
                <a:latin typeface="Times New Roman"/>
              </a:rPr>
              <a:t>Three stages for your weekend, from Fortezza to the Barolo Ballroom</a:t>
            </a:r>
          </a:p>
        </p:txBody>
      </p:sp>
      <p:sp>
        <p:nvSpPr>
          <p:cNvPr id="27" name="Rectangle 26"/>
          <p:cNvSpPr/>
          <p:nvPr/>
        </p:nvSpPr>
        <p:spPr>
          <a:xfrm>
            <a:off x="4572000" y="5212080"/>
            <a:ext cx="7132320" cy="960120"/>
          </a:xfrm>
          <a:prstGeom prst="rect">
            <a:avLst/>
          </a:prstGeom>
          <a:solidFill>
            <a:srgbClr val="343B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46320" y="5212080"/>
            <a:ext cx="6675120" cy="960120"/>
          </a:xfrm>
          <a:prstGeom prst="rect">
            <a:avLst/>
          </a:prstGeom>
          <a:noFill/>
        </p:spPr>
        <p:txBody>
          <a:bodyPr wrap="square" lIns="0" rIns="0" tIns="0" bIns="0" anchor="ctr">
            <a:spAutoFit/>
          </a:bodyPr>
          <a:lstStyle/>
          <a:p>
            <a:pPr algn="l">
              <a:spcAft>
                <a:spcPts val="300"/>
              </a:spcAft>
            </a:pPr>
            <a:r>
              <a:rPr sz="1000" b="1" i="0" spc="200">
                <a:solidFill>
                  <a:srgbClr val="D9B89C"/>
                </a:solidFill>
                <a:latin typeface="Avenir"/>
              </a:rPr>
              <a:t>PRICELESS, AND ON THE HOUSE</a:t>
            </a:r>
          </a:p>
          <a:p>
            <a:pPr algn="l">
              <a:spcAft>
                <a:spcPts val="0"/>
              </a:spcAft>
            </a:pPr>
            <a:r>
              <a:rPr sz="1300" b="0" i="1">
                <a:solidFill>
                  <a:srgbClr val="FFFFFF"/>
                </a:solidFill>
                <a:latin typeface="Times New Roman"/>
              </a:rPr>
              <a:t>Pikes Peak at sunrise, 300 days of Colorado sunshine, and the U.S. Air Force Academy just down the road.</a:t>
            </a:r>
          </a:p>
        </p:txBody>
      </p:sp>
      <p:sp>
        <p:nvSpPr>
          <p:cNvPr id="29" name="TextBox 28"/>
          <p:cNvSpPr txBox="1"/>
          <p:nvPr/>
        </p:nvSpPr>
        <p:spPr>
          <a:xfrm>
            <a:off x="4572000" y="6217920"/>
            <a:ext cx="7132320" cy="201168"/>
          </a:xfrm>
          <a:prstGeom prst="rect">
            <a:avLst/>
          </a:prstGeom>
          <a:noFill/>
        </p:spPr>
        <p:txBody>
          <a:bodyPr wrap="square" lIns="0" rIns="0" tIns="0" bIns="0" anchor="t">
            <a:spAutoFit/>
          </a:bodyPr>
          <a:lstStyle/>
          <a:p>
            <a:pPr algn="l">
              <a:spcAft>
                <a:spcPts val="0"/>
              </a:spcAft>
            </a:pPr>
            <a:r>
              <a:rPr sz="850" b="0" i="1">
                <a:solidFill>
                  <a:srgbClr val="5B5255"/>
                </a:solidFill>
                <a:latin typeface="Times New Roman"/>
              </a:rPr>
              <a:t>Room rates exclude the $35 nightly resort amenity fee, 2.95% retail sales fee and occupancy taxes. F&amp;B minimums exclude service charge and tax.</a:t>
            </a:r>
          </a:p>
        </p:txBody>
      </p:sp>
      <p:sp>
        <p:nvSpPr>
          <p:cNvPr id="30" name="TextBox 29"/>
          <p:cNvSpPr txBox="1"/>
          <p:nvPr/>
        </p:nvSpPr>
        <p:spPr>
          <a:xfrm>
            <a:off x="4572000" y="6446520"/>
            <a:ext cx="5486400" cy="228600"/>
          </a:xfrm>
          <a:prstGeom prst="rect">
            <a:avLst/>
          </a:prstGeom>
          <a:noFill/>
        </p:spPr>
        <p:txBody>
          <a:bodyPr wrap="square" lIns="0" rIns="0" tIns="0" bIns="0" anchor="t">
            <a:spAutoFit/>
          </a:bodyPr>
          <a:lstStyle/>
          <a:p>
            <a:pPr algn="l">
              <a:spcAft>
                <a:spcPts val="0"/>
              </a:spcAft>
            </a:pPr>
            <a:r>
              <a:rPr sz="800" b="0" i="0" spc="150">
                <a:solidFill>
                  <a:srgbClr val="5B5255"/>
                </a:solidFill>
                <a:latin typeface="Avenir"/>
              </a:rPr>
              <a:t>FLYING HORSE RESORT &amp; CLUB  |  INNOSPEC CHARITY GOLF TOURNAMENT 2027</a:t>
            </a:r>
          </a:p>
        </p:txBody>
      </p:sp>
      <p:sp>
        <p:nvSpPr>
          <p:cNvPr id="31" name="TextBox 30"/>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5B5255"/>
                </a:solidFill>
                <a:latin typeface="Avenir"/>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4_13.33x7.50_0.5.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00000">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97280"/>
            <a:ext cx="5852160" cy="4754880"/>
          </a:xfrm>
          <a:prstGeom prst="rect">
            <a:avLst/>
          </a:prstGeom>
          <a:solidFill>
            <a:srgbClr val="343B36">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17320"/>
            <a:ext cx="5486400" cy="274320"/>
          </a:xfrm>
          <a:prstGeom prst="rect">
            <a:avLst/>
          </a:prstGeom>
          <a:noFill/>
        </p:spPr>
        <p:txBody>
          <a:bodyPr wrap="square" lIns="0" rIns="0" tIns="0" bIns="0" anchor="t">
            <a:spAutoFit/>
          </a:bodyPr>
          <a:lstStyle/>
          <a:p>
            <a:pPr algn="l">
              <a:spcAft>
                <a:spcPts val="0"/>
              </a:spcAft>
            </a:pPr>
            <a:r>
              <a:rPr sz="1100" b="1" i="0" spc="300">
                <a:solidFill>
                  <a:srgbClr val="D9B89C"/>
                </a:solidFill>
                <a:latin typeface="Avenir"/>
              </a:rPr>
              <a:t>WHERE BELONGING &amp; CONNECTION MEET</a:t>
            </a:r>
          </a:p>
        </p:txBody>
      </p:sp>
      <p:sp>
        <p:nvSpPr>
          <p:cNvPr id="6" name="TextBox 5"/>
          <p:cNvSpPr txBox="1"/>
          <p:nvPr/>
        </p:nvSpPr>
        <p:spPr>
          <a:xfrm>
            <a:off x="1097280" y="1737360"/>
            <a:ext cx="5212080" cy="1097280"/>
          </a:xfrm>
          <a:prstGeom prst="rect">
            <a:avLst/>
          </a:prstGeom>
          <a:noFill/>
        </p:spPr>
        <p:txBody>
          <a:bodyPr wrap="square" lIns="0" rIns="0" tIns="0" bIns="0" anchor="t">
            <a:spAutoFit/>
          </a:bodyPr>
          <a:lstStyle/>
          <a:p>
            <a:pPr algn="l">
              <a:lnSpc>
                <a:spcPct val="95000"/>
              </a:lnSpc>
              <a:spcAft>
                <a:spcPts val="0"/>
              </a:spcAft>
            </a:pPr>
            <a:r>
              <a:rPr sz="2600" b="1" i="0">
                <a:solidFill>
                  <a:srgbClr val="FFFFFF"/>
                </a:solidFill>
                <a:latin typeface="Avenir"/>
              </a:rPr>
              <a:t>Let's make 2027 the most memorable tournament yet</a:t>
            </a:r>
          </a:p>
        </p:txBody>
      </p:sp>
      <p:sp>
        <p:nvSpPr>
          <p:cNvPr id="7" name="TextBox 6"/>
          <p:cNvSpPr txBox="1"/>
          <p:nvPr/>
        </p:nvSpPr>
        <p:spPr>
          <a:xfrm>
            <a:off x="1097280" y="2971800"/>
            <a:ext cx="5212080" cy="1463040"/>
          </a:xfrm>
          <a:prstGeom prst="rect">
            <a:avLst/>
          </a:prstGeom>
          <a:noFill/>
        </p:spPr>
        <p:txBody>
          <a:bodyPr wrap="square" lIns="0" rIns="0" tIns="0" bIns="0" anchor="t">
            <a:spAutoFit/>
          </a:bodyPr>
          <a:lstStyle/>
          <a:p>
            <a:pPr algn="l">
              <a:spcAft>
                <a:spcPts val="600"/>
              </a:spcAft>
            </a:pPr>
            <a:r>
              <a:rPr sz="1500" b="0" i="0">
                <a:solidFill>
                  <a:srgbClr val="FFFFFF"/>
                </a:solidFill>
                <a:latin typeface="Times New Roman"/>
              </a:rPr>
              <a:t>1.  Hold your preferred August date</a:t>
            </a:r>
          </a:p>
          <a:p>
            <a:pPr algn="l">
              <a:spcAft>
                <a:spcPts val="600"/>
              </a:spcAft>
            </a:pPr>
            <a:r>
              <a:rPr sz="1500" b="0" i="0">
                <a:solidFill>
                  <a:srgbClr val="FFFFFF"/>
                </a:solidFill>
                <a:latin typeface="Times New Roman"/>
              </a:rPr>
              <a:t>2.  Join us for a site visit or group call</a:t>
            </a:r>
          </a:p>
          <a:p>
            <a:pPr algn="l">
              <a:spcAft>
                <a:spcPts val="600"/>
              </a:spcAft>
            </a:pPr>
            <a:r>
              <a:rPr sz="1500" b="0" i="0">
                <a:solidFill>
                  <a:srgbClr val="FFFFFF"/>
                </a:solidFill>
                <a:latin typeface="Times New Roman"/>
              </a:rPr>
              <a:t>3.  Receive your full catering and room proposal</a:t>
            </a:r>
          </a:p>
        </p:txBody>
      </p:sp>
      <p:sp>
        <p:nvSpPr>
          <p:cNvPr id="8" name="TextBox 7"/>
          <p:cNvSpPr txBox="1"/>
          <p:nvPr/>
        </p:nvSpPr>
        <p:spPr>
          <a:xfrm>
            <a:off x="1097280" y="4343400"/>
            <a:ext cx="5212080" cy="1371600"/>
          </a:xfrm>
          <a:prstGeom prst="rect">
            <a:avLst/>
          </a:prstGeom>
          <a:noFill/>
        </p:spPr>
        <p:txBody>
          <a:bodyPr wrap="square" lIns="0" rIns="0" tIns="0" bIns="0" anchor="t">
            <a:spAutoFit/>
          </a:bodyPr>
          <a:lstStyle/>
          <a:p>
            <a:pPr algn="l">
              <a:spcAft>
                <a:spcPts val="600"/>
              </a:spcAft>
            </a:pPr>
            <a:r>
              <a:rPr sz="1000" b="1" i="0" spc="200">
                <a:solidFill>
                  <a:srgbClr val="D9B89C"/>
                </a:solidFill>
                <a:latin typeface="Avenir"/>
              </a:rPr>
              <a:t>YOUR FLYING HORSE TEAM</a:t>
            </a:r>
          </a:p>
          <a:p>
            <a:pPr algn="l">
              <a:spcAft>
                <a:spcPts val="300"/>
              </a:spcAft>
            </a:pPr>
            <a:r>
              <a:rPr sz="1100" b="0" i="0">
                <a:solidFill>
                  <a:srgbClr val="FFFFFF"/>
                </a:solidFill>
                <a:latin typeface="Avenir"/>
              </a:rPr>
              <a:t>Mack Borowicz, PGA, Head Golf Professional  |  mborowicz@flyinghorseclub.com</a:t>
            </a:r>
          </a:p>
          <a:p>
            <a:pPr algn="l">
              <a:spcAft>
                <a:spcPts val="300"/>
              </a:spcAft>
            </a:pPr>
            <a:r>
              <a:rPr sz="1100" b="0" i="0">
                <a:solidFill>
                  <a:srgbClr val="FFFFFF"/>
                </a:solidFill>
                <a:latin typeface="Avenir"/>
              </a:rPr>
              <a:t>Sarah Leach, Sales Manager  |  SLeach@flyinghorseclub.com</a:t>
            </a:r>
          </a:p>
          <a:p>
            <a:pPr algn="l">
              <a:spcAft>
                <a:spcPts val="300"/>
              </a:spcAft>
            </a:pPr>
            <a:r>
              <a:rPr sz="1100" b="0" i="0">
                <a:solidFill>
                  <a:srgbClr val="FFFFFF"/>
                </a:solidFill>
                <a:latin typeface="Avenir"/>
              </a:rPr>
              <a:t>JoDee McGinnis, Director of Catering  |  JMcGinnis@flyinghorseclub.com</a:t>
            </a:r>
          </a:p>
          <a:p>
            <a:pPr algn="l">
              <a:spcAft>
                <a:spcPts val="300"/>
              </a:spcAft>
            </a:pPr>
            <a:r>
              <a:rPr sz="1100" b="0" i="0">
                <a:solidFill>
                  <a:srgbClr val="FFFFFF"/>
                </a:solidFill>
                <a:latin typeface="Avenir"/>
              </a:rPr>
              <a:t>Shanna Hughes, Catering Sales Manager  |  SHughes@flyinghorseclub.com</a:t>
            </a:r>
          </a:p>
        </p:txBody>
      </p:sp>
      <p:pic>
        <p:nvPicPr>
          <p:cNvPr id="9" name="Picture 8" descr="logo_horiz_white.png"/>
          <p:cNvPicPr>
            <a:picLocks noChangeAspect="1"/>
          </p:cNvPicPr>
          <p:nvPr/>
        </p:nvPicPr>
        <p:blipFill>
          <a:blip r:embed="rId3"/>
          <a:stretch>
            <a:fillRect/>
          </a:stretch>
        </p:blipFill>
        <p:spPr>
          <a:xfrm>
            <a:off x="8168335" y="5669280"/>
            <a:ext cx="3291840" cy="901964"/>
          </a:xfrm>
          <a:prstGeom prst="rect">
            <a:avLst/>
          </a:prstGeom>
        </p:spPr>
      </p:pic>
      <p:sp>
        <p:nvSpPr>
          <p:cNvPr id="10" name="TextBox 9"/>
          <p:cNvSpPr txBox="1"/>
          <p:nvPr/>
        </p:nvSpPr>
        <p:spPr>
          <a:xfrm>
            <a:off x="548640" y="6446520"/>
            <a:ext cx="5486400" cy="228600"/>
          </a:xfrm>
          <a:prstGeom prst="rect">
            <a:avLst/>
          </a:prstGeom>
          <a:noFill/>
        </p:spPr>
        <p:txBody>
          <a:bodyPr wrap="square" lIns="0" rIns="0" tIns="0" bIns="0" anchor="t">
            <a:spAutoFit/>
          </a:bodyPr>
          <a:lstStyle/>
          <a:p>
            <a:pPr algn="l">
              <a:spcAft>
                <a:spcPts val="0"/>
              </a:spcAft>
            </a:pPr>
            <a:r>
              <a:rPr sz="800" b="0" i="0" spc="150">
                <a:solidFill>
                  <a:srgbClr val="FFFFFF"/>
                </a:solidFill>
                <a:latin typeface="Avenir"/>
              </a:rPr>
              <a:t>FLYING HORSE RESORT &amp; CLUB  |  INNOSPEC CHARITY GOLF TOURNAMENT 2027</a:t>
            </a:r>
          </a:p>
        </p:txBody>
      </p:sp>
      <p:sp>
        <p:nvSpPr>
          <p:cNvPr id="11" name="TextBox 10"/>
          <p:cNvSpPr txBox="1"/>
          <p:nvPr/>
        </p:nvSpPr>
        <p:spPr>
          <a:xfrm>
            <a:off x="10728655" y="6446520"/>
            <a:ext cx="914400" cy="228600"/>
          </a:xfrm>
          <a:prstGeom prst="rect">
            <a:avLst/>
          </a:prstGeom>
          <a:noFill/>
        </p:spPr>
        <p:txBody>
          <a:bodyPr wrap="square" lIns="0" rIns="0" tIns="0" bIns="0" anchor="t">
            <a:spAutoFit/>
          </a:bodyPr>
          <a:lstStyle/>
          <a:p>
            <a:pPr algn="r">
              <a:spcAft>
                <a:spcPts val="0"/>
              </a:spcAft>
            </a:pPr>
            <a:r>
              <a:rPr sz="800" b="0" i="0">
                <a:solidFill>
                  <a:srgbClr val="FFFFFF"/>
                </a:solidFill>
                <a:latin typeface="Avenir"/>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