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7961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103120"/>
            <a:ext cx="10515600" cy="1828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0">
                <a:solidFill>
                  <a:srgbClr val="FFFFFF"/>
                </a:solidFill>
                <a:latin typeface="Calibri Light"/>
              </a:rPr>
              <a:t>Every Prospect,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1463040" cy="6400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05156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ActiveCampaign Training  |  Session 2: Deal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4960"/>
            <a:ext cx="105156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D8DEE6"/>
                </a:solidFill>
                <a:latin typeface="Calibri"/>
              </a:rPr>
              <a:t>Prepared by Kate Burda &amp;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Why We're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Our contacts now live in one place. That's a big step.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But a contact list can't tell us who is close to joining, and who has gone quiet.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The board keeps asking: how many prospects do we have, and where are they?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1DCB8B"/>
                </a:solidFill>
                <a:latin typeface="Calibri"/>
              </a:rPr>
              <a:t>■  </a:t>
            </a:r>
            <a:r>
              <a:rPr sz="2400">
                <a:solidFill>
                  <a:srgbClr val="485563"/>
                </a:solidFill>
                <a:latin typeface="Calibri"/>
              </a:rPr>
              <a:t>Sponsors renew, or don't, without anyone seeing it coming.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2: Deal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Contact vs. Deal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87782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85563"/>
                </a:solidFill>
                <a:latin typeface="Calibri"/>
              </a:rPr>
              <a:t>One contact can have more than one deal over time: joining this year, sponsoring next year.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4366260" cy="338328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436626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40919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40919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The person.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They stay in ActiveCampaign for good, whether they join, renew, or move 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43500" y="2743200"/>
            <a:ext cx="4366260" cy="338328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43500" y="2743200"/>
            <a:ext cx="436626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0660" y="2971800"/>
            <a:ext cx="40919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Deal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0660" y="3794760"/>
            <a:ext cx="40919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One opportunity with that person.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It starts when they show interest and ends when they say yes (Won) or not now (Lost).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2: Deal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Our Two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87782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85563"/>
                </a:solidFill>
                <a:latin typeface="Calibri"/>
              </a:rPr>
              <a:t>Each stage is a column. Each deal is a card that moves left to right.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4366260" cy="338328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4366260" cy="73152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71800"/>
            <a:ext cx="40919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Membership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94760"/>
            <a:ext cx="40919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Inquiry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Contacted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Attended an Event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Application Sent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Joined = Won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Not now = Lost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43500" y="2743200"/>
            <a:ext cx="4366260" cy="3383280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43500" y="2743200"/>
            <a:ext cx="4366260" cy="73152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0660" y="2971800"/>
            <a:ext cx="40919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075BF"/>
                </a:solidFill>
                <a:latin typeface="Calibri"/>
              </a:rPr>
              <a:t>Sponsorship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0660" y="3794760"/>
            <a:ext cx="4091940" cy="21945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Identified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Contacted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Proposal Sent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Negotiating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Signed = Won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485563"/>
                </a:solidFill>
                <a:latin typeface="Calibri"/>
              </a:rPr>
              <a:t>Declined = Lost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2: Deal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Today's Hour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5 min  </a:t>
            </a:r>
            <a:r>
              <a:rPr sz="2000">
                <a:solidFill>
                  <a:srgbClr val="485563"/>
                </a:solidFill>
                <a:latin typeface="Calibri"/>
              </a:rPr>
              <a:t>Why a pipeline (you just heard it)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5 min  </a:t>
            </a:r>
            <a:r>
              <a:rPr sz="2000">
                <a:solidFill>
                  <a:srgbClr val="485563"/>
                </a:solidFill>
                <a:latin typeface="Calibri"/>
              </a:rPr>
              <a:t>Quick check-in on Session 1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10 min  </a:t>
            </a:r>
            <a:r>
              <a:rPr sz="2000">
                <a:solidFill>
                  <a:srgbClr val="485563"/>
                </a:solidFill>
                <a:latin typeface="Calibri"/>
              </a:rPr>
              <a:t>Reading the pipeline board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15 min  </a:t>
            </a:r>
            <a:r>
              <a:rPr sz="2000">
                <a:solidFill>
                  <a:srgbClr val="485563"/>
                </a:solidFill>
                <a:latin typeface="Calibri"/>
              </a:rPr>
              <a:t>Nancy creates a deal and moves it forward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10 min  </a:t>
            </a:r>
            <a:r>
              <a:rPr sz="2000">
                <a:solidFill>
                  <a:srgbClr val="485563"/>
                </a:solidFill>
                <a:latin typeface="Calibri"/>
              </a:rPr>
              <a:t>Notes, tasks, and Won or Lost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10 min  </a:t>
            </a:r>
            <a:r>
              <a:rPr sz="2000">
                <a:solidFill>
                  <a:srgbClr val="485563"/>
                </a:solidFill>
                <a:latin typeface="Calibri"/>
              </a:rPr>
              <a:t>Your task list, Outlook, and where new deals come from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1DCB8B"/>
                </a:solidFill>
                <a:latin typeface="Calibri"/>
              </a:rPr>
              <a:t>■  </a:t>
            </a:r>
            <a:r>
              <a:rPr b="1" sz="2000">
                <a:solidFill>
                  <a:srgbClr val="0075BF"/>
                </a:solidFill>
                <a:latin typeface="Calibri"/>
              </a:rPr>
              <a:t>5 min  </a:t>
            </a:r>
            <a:r>
              <a:rPr sz="2000">
                <a:solidFill>
                  <a:srgbClr val="485563"/>
                </a:solidFill>
                <a:latin typeface="Calibri"/>
              </a:rPr>
              <a:t>Recap and what to do before Session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2: Deal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4480560"/>
            <a:ext cx="5486400" cy="5486400"/>
          </a:xfrm>
          <a:prstGeom prst="ellipse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12680" y="4754880"/>
            <a:ext cx="5486400" cy="5486400"/>
          </a:xfrm>
          <a:prstGeom prst="ellipse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4320"/>
            <a:ext cx="989807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868680"/>
            <a:ext cx="9144000" cy="68580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0">
                <a:solidFill>
                  <a:srgbClr val="0075BF"/>
                </a:solidFill>
                <a:latin typeface="Calibri Light"/>
              </a:rPr>
              <a:t>How Today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3017520" cy="82296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572768"/>
            <a:ext cx="201168" cy="82296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87782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Nancy shares her screen and does every click again.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Tristan follows along and takes the marketing piece at the end.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We use real prospects from Nancy's list, not made-up ones.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Nothing sends to anyone. Deals and tasks are only visible to our team.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1DCB8B"/>
                </a:solidFill>
                <a:latin typeface="Calibri"/>
              </a:rPr>
              <a:t>■  </a:t>
            </a:r>
            <a:r>
              <a:rPr sz="2200">
                <a:solidFill>
                  <a:srgbClr val="485563"/>
                </a:solidFill>
                <a:latin typeface="Calibri"/>
              </a:rPr>
              <a:t>We're recording, so you can rewatch any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FEI Dallas  |  ActiveCampaign Training  |  Session 2: Deal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6400800"/>
            <a:ext cx="109728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8556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5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allas_eaglemar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1979615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23774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b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0">
                <a:solidFill>
                  <a:srgbClr val="FFFFFF"/>
                </a:solidFill>
                <a:latin typeface="Calibri Light"/>
              </a:rPr>
              <a:t>Let's Get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463040" cy="64008"/>
          </a:xfrm>
          <a:prstGeom prst="rect">
            <a:avLst/>
          </a:prstGeom>
          <a:solidFill>
            <a:srgbClr val="1DC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10515600" cy="1463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Nancy, please share your screen and open ActiveCampaign.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feidallas.activehosted.com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