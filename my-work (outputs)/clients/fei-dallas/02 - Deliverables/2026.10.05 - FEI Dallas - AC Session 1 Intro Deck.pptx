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79615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FFFFFF"/>
                </a:solidFill>
                <a:latin typeface="Calibri Light"/>
              </a:rPr>
              <a:t>Your Members, in One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1463040" cy="6400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ActiveCampaign Training  |  Session 1: Contacts and Contact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8DEE6"/>
                </a:solidFill>
                <a:latin typeface="Calibri"/>
              </a:rPr>
              <a:t>October 5, 2026  |  Prepared by Kate Burda &amp;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Why We're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Today, a member's story lives in one spreadsheet and one inbox.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If Nancy is out, no one can see who is waiting on a reply.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When roles change, the relationships leave with the person.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Our board can't see how many prospects we have or where they stand.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1: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What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One record.  </a:t>
            </a:r>
            <a:r>
              <a:rPr sz="2200">
                <a:solidFill>
                  <a:srgbClr val="485563"/>
                </a:solidFill>
                <a:latin typeface="Calibri"/>
              </a:rPr>
              <a:t>Every member, prospect, and sponsor has one page in ActiveCampaign.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One history.  </a:t>
            </a:r>
            <a:r>
              <a:rPr sz="2200">
                <a:solidFill>
                  <a:srgbClr val="485563"/>
                </a:solidFill>
                <a:latin typeface="Calibri"/>
              </a:rPr>
              <a:t>Every email, note, and conversation sits on that page.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Shared.  </a:t>
            </a:r>
            <a:r>
              <a:rPr sz="2200">
                <a:solidFill>
                  <a:srgbClr val="485563"/>
                </a:solidFill>
                <a:latin typeface="Calibri"/>
              </a:rPr>
              <a:t>Anyone on the team can pick up where someone else left off.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Lasting.  </a:t>
            </a:r>
            <a:r>
              <a:rPr sz="2200">
                <a:solidFill>
                  <a:srgbClr val="485563"/>
                </a:solidFill>
                <a:latin typeface="Calibri"/>
              </a:rPr>
              <a:t>When chairs rotate, the relationships stay with FEI Dallas.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1: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Our Four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06883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06883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179451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1. Contacts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179451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Today. Get every member and prospect into one place, and learn to keep their record up to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46070" y="1965960"/>
            <a:ext cx="206883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46070" y="1965960"/>
            <a:ext cx="2068830" cy="73152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3230" y="2194560"/>
            <a:ext cx="179451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2. Deal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3230" y="3017520"/>
            <a:ext cx="179451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See every prospect and sponsor as a stage: who is new, who is close, and who needs a nudge.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43500" y="1965960"/>
            <a:ext cx="206883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43500" y="1965960"/>
            <a:ext cx="206883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0660" y="2194560"/>
            <a:ext cx="179451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3. Automations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0660" y="3017520"/>
            <a:ext cx="179451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Let the system send the welcome, the reminder, and the follow-up, so nobody slips through.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0930" y="1965960"/>
            <a:ext cx="206883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40930" y="1965960"/>
            <a:ext cx="2068830" cy="73152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8090" y="2194560"/>
            <a:ext cx="179451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4. Your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8090" y="3017520"/>
            <a:ext cx="179451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What each of us does, every week, so the system stays current and useful.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1: Contacts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Today's Hour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5 min  </a:t>
            </a:r>
            <a:r>
              <a:rPr sz="2200">
                <a:solidFill>
                  <a:srgbClr val="485563"/>
                </a:solidFill>
                <a:latin typeface="Calibri"/>
              </a:rPr>
              <a:t>Why this matters (you just heard it)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15 min  </a:t>
            </a:r>
            <a:r>
              <a:rPr sz="2200">
                <a:solidFill>
                  <a:srgbClr val="485563"/>
                </a:solidFill>
                <a:latin typeface="Calibri"/>
              </a:rPr>
              <a:t>Reading a contact record: what it tells you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20 min  </a:t>
            </a:r>
            <a:r>
              <a:rPr sz="2200">
                <a:solidFill>
                  <a:srgbClr val="485563"/>
                </a:solidFill>
                <a:latin typeface="Calibri"/>
              </a:rPr>
              <a:t>Nancy brings her spreadsheet into ActiveCampaign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15 min  </a:t>
            </a:r>
            <a:r>
              <a:rPr sz="2200">
                <a:solidFill>
                  <a:srgbClr val="485563"/>
                </a:solidFill>
                <a:latin typeface="Calibri"/>
              </a:rPr>
              <a:t>Adding a contact by hand, then notes and tags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b="1" sz="2200">
                <a:solidFill>
                  <a:srgbClr val="0075BF"/>
                </a:solidFill>
                <a:latin typeface="Calibri"/>
              </a:rPr>
              <a:t>5 min  </a:t>
            </a:r>
            <a:r>
              <a:rPr sz="2200">
                <a:solidFill>
                  <a:srgbClr val="485563"/>
                </a:solidFill>
                <a:latin typeface="Calibri"/>
              </a:rPr>
              <a:t>Recap and what to do before Session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1: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Three Words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83464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83464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25603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256032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Who gets which emails.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Example: 1 Current Member, Prospective Members, Sponsors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965960"/>
            <a:ext cx="283464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965960"/>
            <a:ext cx="2834640" cy="73152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194560"/>
            <a:ext cx="25603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017520"/>
            <a:ext cx="256032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A label that describes a person.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Example: Warm Lead, Referral, New Member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965960"/>
            <a:ext cx="283464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1965960"/>
            <a:ext cx="283464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194560"/>
            <a:ext cx="25603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017520"/>
            <a:ext cx="256032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A single fact about a person.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Example: Company, Referred by, Expire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1: Contacts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How Today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Nancy shares her screen and does every click herself.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Kate talks her through each step. Everyone else follows along.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There are no wrong clicks. Nothing sends until someone presses Send.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We're recording, so you can rewatch any step later.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Ask questions anytime. If you're wondering, someone else is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1: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79615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3774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0">
                <a:solidFill>
                  <a:srgbClr val="FFFFFF"/>
                </a:solidFill>
                <a:latin typeface="Calibri Light"/>
              </a:rPr>
              <a:t>Let's Get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463040" cy="6400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Nancy, please share your screen and open ActiveCampaign.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feidallas.activehosted.com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