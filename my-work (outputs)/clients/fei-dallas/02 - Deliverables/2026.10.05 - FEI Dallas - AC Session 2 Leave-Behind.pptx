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FFFFFF"/>
                </a:solidFill>
                <a:latin typeface="Calibri Light"/>
              </a:rPr>
              <a:t>Deal Pipeline: Your Quick Guide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ActiveCampaign Training  |  Session 2 Leave-Behind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8DEE6"/>
                </a:solidFill>
                <a:latin typeface="Calibri"/>
              </a:rPr>
              <a:t>Keep this handy. Every step we practiced, in order.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Why It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See every prospect and sponsor by stage, at a glance.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Spot who has gone quiet before they slip away.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Answer the board's question in seconds: how many, and where.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Anyone on the team can pick up a deal and know what happens next.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Contact vs. Deal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436626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436626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409194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The person. They stay for good.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Lives under Contacts.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0" y="1965960"/>
            <a:ext cx="436626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500" y="1965960"/>
            <a:ext cx="436626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0660" y="219456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0660" y="3017520"/>
            <a:ext cx="409194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One opportunity with that person. It ends Won or Lost.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Lives under Deals.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Our Two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436626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436626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Membership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409194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Inquiry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Contacted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Attended an Event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Application Sent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Joined = Won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Not now = Lost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43500" y="1965960"/>
            <a:ext cx="4366260" cy="41605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500" y="1965960"/>
            <a:ext cx="436626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0660" y="219456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Sponsorship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0660" y="3017520"/>
            <a:ext cx="4091940" cy="2971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Identified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Contacted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Proposal Sent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Negotiating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Signed = Won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Declined = 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Read the Pipeline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Deals in the dark left menu (the icon that looks like two columns).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At the top, click the word next to Deals / to switch between Membership and Sponsorship.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Each column is a stage. Each card is a deal.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7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1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Use Deal Owner to see only your deals. Status: Open shows deals still in play.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608576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72000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Type a name in Search deals to find one fast.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Read it left to right. The further right, the closer they are to yes.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Add a Deal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the blue Add a deal button (top right).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599944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336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Pick the contact. Start typing their name and choose them from the list.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2478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8820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Give it a clear title, such as Jane Smith | Membership 2026.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849624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813048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Choose the pipeline and the stage they're in today.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474463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7887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Set the owner (who is working it) and the value (dues or sponsorship amount).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099303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062727"/>
            <a:ext cx="8183879" cy="62483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Add. The card shows up in its column.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One deal per opportunity. Check the board first so you don't add it twice.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Move a Deal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Find the card on the board.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and hold it, drag it to the next column, and let go.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Open the deal and add a note saying what changed.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Move the card the same day something happens. A stale board is a board nobody trusts.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Work a Deal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the card to open the deal.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Add a note: the date, what happened, and what's next.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Add a task: what to do, the due date, and who does it.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7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1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Check the contact's emails and activity from the deal, so you're current before you 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Every open deal should have a next task. No task means nobody owns the next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Close It: Won or Lost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They joined or signed? Open the deal and mark it Won.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They said not now? Mark it Lost, and pick or type the reason.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Add a note. For Lost, write when to try again.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Lost isn't failure. It's information. The reasons tell us what to 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Your Task 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Deals in the left menu, then Tasks.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This shows everything due, across every deal.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Start each day here. Do what's due, or move the date with a note.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950207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3631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a task to open the deal it belongs 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Friday check: nothing overdue. Finish it, or give it an honest new date.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Connect Your Outlook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1975104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38528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Click Deals in the left menu, then Connected Emails.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33472"/>
            <a:ext cx="420624" cy="420624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96896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Follow the steps to connect your Outlook account.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55264"/>
            <a:ext cx="8183879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85563"/>
                </a:solidFill>
                <a:latin typeface="Calibri"/>
              </a:rPr>
              <a:t>From then on, emails with contacts show up on their record.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0720"/>
            <a:ext cx="8778240" cy="50292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78815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85563"/>
                </a:solidFill>
                <a:latin typeface="Calibri"/>
              </a:rPr>
              <a:t>This is what moves the conversation out of your inbox and into the team's 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Weekly Pipeline Routine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Monday, Nancy:  </a:t>
            </a:r>
            <a:r>
              <a:rPr sz="2000">
                <a:solidFill>
                  <a:srgbClr val="485563"/>
                </a:solidFill>
                <a:latin typeface="Calibri"/>
              </a:rPr>
              <a:t>Open Tasks. Clear what's due. Move any card that changed.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Monday, Tristan:  </a:t>
            </a:r>
            <a:r>
              <a:rPr sz="2000">
                <a:solidFill>
                  <a:srgbClr val="485563"/>
                </a:solidFill>
                <a:latin typeface="Calibri"/>
              </a:rPr>
              <a:t>Check Membership for new inquiries from forms and events.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Anytime:  </a:t>
            </a:r>
            <a:r>
              <a:rPr sz="2000">
                <a:solidFill>
                  <a:srgbClr val="485563"/>
                </a:solidFill>
                <a:latin typeface="Calibri"/>
              </a:rPr>
              <a:t>Click Find stalled deals to see who has gone quiet.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Friday, both:  </a:t>
            </a:r>
            <a:r>
              <a:rPr sz="2000">
                <a:solidFill>
                  <a:srgbClr val="485563"/>
                </a:solidFill>
                <a:latin typeface="Calibri"/>
              </a:rPr>
              <a:t>No overdue tasks. Every open deal has a next step.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Monthly:  </a:t>
            </a:r>
            <a:r>
              <a:rPr sz="2000">
                <a:solidFill>
                  <a:srgbClr val="485563"/>
                </a:solidFill>
                <a:latin typeface="Calibri"/>
              </a:rPr>
              <a:t>Kate and Tristan review both pipelines for the 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Before Session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Next time: Automations. The system sends the welcome and the follow-up, so nobody slips through.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8778240" cy="3428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Create a deal for every active prospect in your spreadsheet.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Give every open deal a next task with a due date.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Connect your Outlook under Connected Emails.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Note anything that felt clunky, and bring it next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Quick Guide  |  Session 2: Deal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Reach out to Kate or Tristan anytime.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Let's build the next chapter,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