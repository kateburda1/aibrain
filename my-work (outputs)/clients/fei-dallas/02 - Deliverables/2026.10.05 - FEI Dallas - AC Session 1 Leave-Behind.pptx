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979615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0">
                <a:solidFill>
                  <a:srgbClr val="FFFFFF"/>
                </a:solidFill>
                <a:latin typeface="Calibri Light"/>
              </a:rPr>
              <a:t>Contacts: Your Quick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69080"/>
            <a:ext cx="1463040" cy="64008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ActiveCampaign Training  |  Session 1 Leave-Behind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8DEE6"/>
                </a:solidFill>
                <a:latin typeface="Calibri"/>
              </a:rPr>
              <a:t>Keep this handy. Every step we practiced today, in order.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Why It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778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DCB8B"/>
                </a:solidFill>
                <a:latin typeface="Calibri"/>
              </a:rPr>
              <a:t>■  </a:t>
            </a:r>
            <a:r>
              <a:rPr sz="2400">
                <a:solidFill>
                  <a:srgbClr val="485563"/>
                </a:solidFill>
                <a:latin typeface="Calibri"/>
              </a:rPr>
              <a:t>Every member, prospect, and sponsor lives in one shared place.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CB8B"/>
                </a:solidFill>
                <a:latin typeface="Calibri"/>
              </a:rPr>
              <a:t>■  </a:t>
            </a:r>
            <a:r>
              <a:rPr sz="2400">
                <a:solidFill>
                  <a:srgbClr val="485563"/>
                </a:solidFill>
                <a:latin typeface="Calibri"/>
              </a:rPr>
              <a:t>Anyone on the team can see the latest conversation and next step.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CB8B"/>
                </a:solidFill>
                <a:latin typeface="Calibri"/>
              </a:rPr>
              <a:t>■  </a:t>
            </a:r>
            <a:r>
              <a:rPr sz="2400">
                <a:solidFill>
                  <a:srgbClr val="485563"/>
                </a:solidFill>
                <a:latin typeface="Calibri"/>
              </a:rPr>
              <a:t>Nothing depends on one person's memory, inbox, or spreadsheet.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CB8B"/>
                </a:solidFill>
                <a:latin typeface="Calibri"/>
              </a:rPr>
              <a:t>■  </a:t>
            </a:r>
            <a:r>
              <a:rPr sz="2400">
                <a:solidFill>
                  <a:srgbClr val="485563"/>
                </a:solidFill>
                <a:latin typeface="Calibri"/>
              </a:rPr>
              <a:t>When people rotate, FEI Dallas keeps every relationship.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1: Contacts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Three Words to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834640" cy="41605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2834640" cy="73152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25603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2560320" cy="2971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Who gets which emails.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Use: 1 Current Member, Prospective Members, Prospective- No Response, Former Members, Sponsors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1965960"/>
            <a:ext cx="2834640" cy="41605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1965960"/>
            <a:ext cx="2834640" cy="73152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194560"/>
            <a:ext cx="25603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Tag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017520"/>
            <a:ext cx="2560320" cy="2971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A label that describes a person.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Use: Warm Lead, Hot Lead, Referral, New Member, Attended an event- Monthly Meeting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965960"/>
            <a:ext cx="2834640" cy="41605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1965960"/>
            <a:ext cx="2834640" cy="73152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194560"/>
            <a:ext cx="25603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017520"/>
            <a:ext cx="2560320" cy="2971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One fact about a person.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Use: Company, Work Phone, Referred by, Expire Date, 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1: Contacts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Lists to Leave Alone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7782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85563"/>
                </a:solidFill>
                <a:latin typeface="Calibri"/>
              </a:rPr>
              <a:t>Not sure where someone goes? Ask Kate or Tristan before adding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877824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b="1" sz="2000">
                <a:solidFill>
                  <a:srgbClr val="0075BF"/>
                </a:solidFill>
                <a:latin typeface="Calibri"/>
              </a:rPr>
              <a:t>Newsletter - DO NOT USE  </a:t>
            </a:r>
            <a:r>
              <a:rPr sz="2000">
                <a:solidFill>
                  <a:srgbClr val="485563"/>
                </a:solidFill>
                <a:latin typeface="Calibri"/>
              </a:rPr>
              <a:t>is retired. Don't add anyone here.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b="1" sz="2000">
                <a:solidFill>
                  <a:srgbClr val="0075BF"/>
                </a:solidFill>
                <a:latin typeface="Calibri"/>
              </a:rPr>
              <a:t>test listings  </a:t>
            </a:r>
            <a:r>
              <a:rPr sz="2000">
                <a:solidFill>
                  <a:srgbClr val="485563"/>
                </a:solidFill>
                <a:latin typeface="Calibri"/>
              </a:rPr>
              <a:t>is for testing only.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b="1" sz="2000">
                <a:solidFill>
                  <a:srgbClr val="0075BF"/>
                </a:solidFill>
                <a:latin typeface="Calibri"/>
              </a:rPr>
              <a:t>Other  </a:t>
            </a:r>
            <a:r>
              <a:rPr sz="2000">
                <a:solidFill>
                  <a:srgbClr val="485563"/>
                </a:solidFill>
                <a:latin typeface="Calibri"/>
              </a:rPr>
              <a:t>is where the website form drops people today. We'll fix that in Session 3.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b="1" sz="2000">
                <a:solidFill>
                  <a:srgbClr val="0075BF"/>
                </a:solidFill>
                <a:latin typeface="Calibri"/>
              </a:rPr>
              <a:t>Sharla Only, Elizabeth Pospick Only  </a:t>
            </a:r>
            <a:r>
              <a:rPr sz="2000">
                <a:solidFill>
                  <a:srgbClr val="485563"/>
                </a:solidFill>
                <a:latin typeface="Calibri"/>
              </a:rPr>
              <a:t>belong to their owners.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1: Contacts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Find a Contact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975104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38528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Go to feidallas.activehosted.com and log in.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33472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96896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Click the person icon in the dark left menu. This is Contacts.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55264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Type a name, email, or company in the Search contacts box.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950207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13631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Click the person's name to open their record.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760720"/>
            <a:ext cx="8778240" cy="5029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788152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85563"/>
                </a:solidFill>
                <a:latin typeface="Calibri"/>
              </a:rPr>
              <a:t>Always search first. It stops duplicate records before they start.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1: Contacts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Reading a Contact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949440" cy="65836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73152" cy="658368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5"/>
            <a:ext cx="210312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75BF"/>
                </a:solidFill>
                <a:latin typeface="Calibri"/>
              </a:rPr>
              <a:t>Top of the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911095"/>
            <a:ext cx="457200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5563"/>
                </a:solidFill>
                <a:latin typeface="Calibri"/>
              </a:rPr>
              <a:t>Name, email, phone, city, and the date they were added.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39"/>
            <a:ext cx="6949440" cy="65836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06039"/>
            <a:ext cx="73152" cy="658368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42615"/>
            <a:ext cx="210312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75BF"/>
                </a:solidFill>
                <a:latin typeface="Calibri"/>
              </a:rPr>
              <a:t>About (fields)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642615"/>
            <a:ext cx="457200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5563"/>
                </a:solidFill>
                <a:latin typeface="Calibri"/>
              </a:rPr>
              <a:t>The facts: company, job title, phones, address, Referred by, Expire Date.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37559"/>
            <a:ext cx="6949440" cy="65836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337559"/>
            <a:ext cx="73152" cy="658368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74135"/>
            <a:ext cx="210312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75BF"/>
                </a:solidFill>
                <a:latin typeface="Calibri"/>
              </a:rPr>
              <a:t>Tags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374135"/>
            <a:ext cx="457200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5563"/>
                </a:solidFill>
                <a:latin typeface="Calibri"/>
              </a:rPr>
              <a:t>Labels that describe them: Current Member, Warm Lead, Referral.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69079"/>
            <a:ext cx="6949440" cy="65836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69079"/>
            <a:ext cx="73152" cy="658368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05655"/>
            <a:ext cx="210312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75BF"/>
                </a:solidFill>
                <a:latin typeface="Calibri"/>
              </a:rPr>
              <a:t>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105655"/>
            <a:ext cx="457200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5563"/>
                </a:solidFill>
                <a:latin typeface="Calibri"/>
              </a:rPr>
              <a:t>Which emails they get. A green check means subscribed.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00599"/>
            <a:ext cx="6949440" cy="65836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800599"/>
            <a:ext cx="73152" cy="658368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37175"/>
            <a:ext cx="210312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75BF"/>
                </a:solidFill>
                <a:latin typeface="Calibri"/>
              </a:rPr>
              <a:t>Automations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837175"/>
            <a:ext cx="457200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5563"/>
                </a:solidFill>
                <a:latin typeface="Calibri"/>
              </a:rPr>
              <a:t>Which email series they're in, such as New Member Onboarding.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32119"/>
            <a:ext cx="6949440" cy="65836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532119"/>
            <a:ext cx="73152" cy="658368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68695"/>
            <a:ext cx="210312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75BF"/>
                </a:solidFill>
                <a:latin typeface="Calibri"/>
              </a:rPr>
              <a:t>Notes, Files, Emails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568695"/>
            <a:ext cx="457200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5563"/>
                </a:solidFill>
                <a:latin typeface="Calibri"/>
              </a:rPr>
              <a:t>Your notes on conversations, plus every email we've sent them.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6679" y="1874519"/>
            <a:ext cx="3886200" cy="431596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26679" y="1874519"/>
            <a:ext cx="3886200" cy="73152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2057400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5BF"/>
                </a:solidFill>
                <a:latin typeface="Calibri"/>
              </a:rPr>
              <a:t>Recent Activities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2560320"/>
            <a:ext cx="3566160" cy="3474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85563"/>
                </a:solidFill>
                <a:latin typeface="Calibri"/>
              </a:rPr>
              <a:t>The right side of the page.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85563"/>
                </a:solidFill>
                <a:latin typeface="Calibri"/>
              </a:rPr>
              <a:t>A running timeline of everything that happened: emails sent, emails opened, lists joined, and imports.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85563"/>
                </a:solidFill>
                <a:latin typeface="Calibri"/>
              </a:rPr>
              <a:t>Read it top to bottom. Newest is first.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85563"/>
                </a:solidFill>
                <a:latin typeface="Calibri"/>
              </a:rPr>
              <a:t>Use the All Activities menu to filter 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1: Contacts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What a Record Tells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7782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85563"/>
                </a:solidFill>
                <a:latin typeface="Calibri"/>
              </a:rPr>
              <a:t>Before any call or reply, open the record and read it top to bottom.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877824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>
                <a:solidFill>
                  <a:srgbClr val="1DCB8B"/>
                </a:solidFill>
                <a:latin typeface="Calibri"/>
              </a:rPr>
              <a:t>■  </a:t>
            </a:r>
            <a:r>
              <a:rPr b="1" sz="1800">
                <a:solidFill>
                  <a:srgbClr val="0075BF"/>
                </a:solidFill>
                <a:latin typeface="Calibri"/>
              </a:rPr>
              <a:t>Who they are.  </a:t>
            </a:r>
            <a:r>
              <a:rPr sz="1800">
                <a:solidFill>
                  <a:srgbClr val="485563"/>
                </a:solidFill>
                <a:latin typeface="Calibri"/>
              </a:rPr>
              <a:t>Read the top of the page and the About section.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1DCB8B"/>
                </a:solidFill>
                <a:latin typeface="Calibri"/>
              </a:rPr>
              <a:t>■  </a:t>
            </a:r>
            <a:r>
              <a:rPr b="1" sz="1800">
                <a:solidFill>
                  <a:srgbClr val="0075BF"/>
                </a:solidFill>
                <a:latin typeface="Calibri"/>
              </a:rPr>
              <a:t>Where they stand.  </a:t>
            </a:r>
            <a:r>
              <a:rPr sz="1800">
                <a:solidFill>
                  <a:srgbClr val="485563"/>
                </a:solidFill>
                <a:latin typeface="Calibri"/>
              </a:rPr>
              <a:t>Tags and Lists say member, prospect, sponsor, or former.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1DCB8B"/>
                </a:solidFill>
                <a:latin typeface="Calibri"/>
              </a:rPr>
              <a:t>■  </a:t>
            </a:r>
            <a:r>
              <a:rPr b="1" sz="1800">
                <a:solidFill>
                  <a:srgbClr val="0075BF"/>
                </a:solidFill>
                <a:latin typeface="Calibri"/>
              </a:rPr>
              <a:t>Are they paying attention?  </a:t>
            </a:r>
            <a:r>
              <a:rPr sz="1800">
                <a:solidFill>
                  <a:srgbClr val="485563"/>
                </a:solidFill>
                <a:latin typeface="Calibri"/>
              </a:rPr>
              <a:t>Recent Activities shows which emails they opened.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1DCB8B"/>
                </a:solidFill>
                <a:latin typeface="Calibri"/>
              </a:rPr>
              <a:t>■  </a:t>
            </a:r>
            <a:r>
              <a:rPr b="1" sz="1800">
                <a:solidFill>
                  <a:srgbClr val="0075BF"/>
                </a:solidFill>
                <a:latin typeface="Calibri"/>
              </a:rPr>
              <a:t>What we promised them.  </a:t>
            </a:r>
            <a:r>
              <a:rPr sz="1800">
                <a:solidFill>
                  <a:srgbClr val="485563"/>
                </a:solidFill>
                <a:latin typeface="Calibri"/>
              </a:rPr>
              <a:t>Notes show the last conversation and the next step.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1DCB8B"/>
                </a:solidFill>
                <a:latin typeface="Calibri"/>
              </a:rPr>
              <a:t>■  </a:t>
            </a:r>
            <a:r>
              <a:rPr b="1" sz="1800">
                <a:solidFill>
                  <a:srgbClr val="0075BF"/>
                </a:solidFill>
                <a:latin typeface="Calibri"/>
              </a:rPr>
              <a:t>What's coming next.  </a:t>
            </a:r>
            <a:r>
              <a:rPr sz="1800">
                <a:solidFill>
                  <a:srgbClr val="485563"/>
                </a:solidFill>
                <a:latin typeface="Calibri"/>
              </a:rPr>
              <a:t>Automations show which email series they're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1: Contacts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Spot the Mixed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7782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85563"/>
                </a:solidFill>
                <a:latin typeface="Calibri"/>
              </a:rPr>
              <a:t>Clean records are what make this system worth trusting.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877824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sz="2000">
                <a:solidFill>
                  <a:srgbClr val="485563"/>
                </a:solidFill>
                <a:latin typeface="Calibri"/>
              </a:rPr>
              <a:t>One real member record has the tags Current Member and Former.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sz="2000">
                <a:solidFill>
                  <a:srgbClr val="485563"/>
                </a:solidFill>
                <a:latin typeface="Calibri"/>
              </a:rPr>
              <a:t>The same person is on both 1 Current Member and Former Members.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sz="2000">
                <a:solidFill>
                  <a:srgbClr val="485563"/>
                </a:solidFill>
                <a:latin typeface="Calibri"/>
              </a:rPr>
              <a:t>So which is true? The record can't tell us, and neither can anyone else.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sz="2000">
                <a:solidFill>
                  <a:srgbClr val="485563"/>
                </a:solidFill>
                <a:latin typeface="Calibri"/>
              </a:rPr>
              <a:t>If something looks wrong, fix it: remove the old tag or list, and add a note saying why.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1: Contacts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Add a New Contact: Part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975104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38528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Click Contacts, then search for the person first. That way you won't add them twice.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599944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63368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Not there? Click the blue Add a contact button (top right).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24784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88208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Type First Name, Last Name, and Email. Email is required.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849624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813048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Type their phone number in Phone Number.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474463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37887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Click Show custom fields to add Company, Job Title, or Referred by.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099303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062727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Click Add. Their new record opens.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8778240" cy="5029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788152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85563"/>
                </a:solidFill>
                <a:latin typeface="Calibri"/>
              </a:rPr>
              <a:t>Email is required. It's how ActiveCampaign tells people apart.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1: Contacts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Add a New Contact: Part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975104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38528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On the new record, find Tags. Click Enter tag and type a tag, such as Referral.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33472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96896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Pick it from the list as it appears, so it matches the tag we already use.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55264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Under Lists, click + Add and choose a list, such as Prospective Members.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950207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13631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Scroll to Notes and click Add a Note. Write the date, what they asked, and the next step.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608576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572000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Look at Recent Activities. It shows the contact was created, and soon their emails.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760720"/>
            <a:ext cx="8778240" cy="5029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788152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85563"/>
                </a:solidFill>
                <a:latin typeface="Calibri"/>
              </a:rPr>
              <a:t>Never make a new tag if one already fits. Pick from the list.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1: Contacts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Get a Spreadsheet 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778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sz="2000">
                <a:solidFill>
                  <a:srgbClr val="485563"/>
                </a:solidFill>
                <a:latin typeface="Calibri"/>
              </a:rPr>
              <a:t>One person per row. Headings in row 1 only.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sz="2000">
                <a:solidFill>
                  <a:srgbClr val="485563"/>
                </a:solidFill>
                <a:latin typeface="Calibri"/>
              </a:rPr>
              <a:t>First name and last name in separate columns.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sz="2000">
                <a:solidFill>
                  <a:srgbClr val="485563"/>
                </a:solidFill>
                <a:latin typeface="Calibri"/>
              </a:rPr>
              <a:t>An email address for every person.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sz="2000">
                <a:solidFill>
                  <a:srgbClr val="485563"/>
                </a:solidFill>
                <a:latin typeface="Calibri"/>
              </a:rPr>
              <a:t>Colors don't import. If a color means something, add a Status column.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sz="2000">
                <a:solidFill>
                  <a:srgbClr val="485563"/>
                </a:solidFill>
                <a:latin typeface="Calibri"/>
              </a:rPr>
              <a:t>Delete blank rows, totals, and merged cells.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sz="2000">
                <a:solidFill>
                  <a:srgbClr val="485563"/>
                </a:solidFill>
                <a:latin typeface="Calibri"/>
              </a:rPr>
              <a:t>In Excel: File, then Save As, then choose CSV UTF-8. Give it a clear name.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1: Contacts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Import a Spreadsheet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975104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38528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Contacts page: click Import (top right), then upload your CSV file.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599944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63368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Match each column to an ActiveCampaign field. Choose Do not import for any extras.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24784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88208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Pick one list. If the file mixes members and prospects, split it first.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849624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813048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Add two tags: Source: Nancy tracker and Import Date: (today's date).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474463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37887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Turn on the option to update existing contacts, then click Import.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099303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062727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Open two or three records and check they look right.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8778240" cy="5029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788152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85563"/>
                </a:solidFill>
                <a:latin typeface="Calibri"/>
              </a:rPr>
              <a:t>Test with 10 rows first. Fix the matching, then import the rest.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1: Contacts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Log a Conversation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975104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38528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Search for the person and open their record.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33472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96896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Scroll to Notes, click Add a Note, and write the date, what you talked about, and what happens next.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55264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Add or change a tag, such as Warm Lead or Hot Lead.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950207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13631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To change a field, click on it (empty ones say Click to add), type, and save.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608576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572000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Put the follow-up date in your note. Tasks come with the pipeline in Session 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760720"/>
            <a:ext cx="8778240" cy="5029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788152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85563"/>
                </a:solidFill>
                <a:latin typeface="Calibri"/>
              </a:rPr>
              <a:t>If it isn't in ActiveCampaign, it didn't happen. That's the new rule.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1: Contacts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Nancy's New Daily Routine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778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b="1" sz="2200">
                <a:solidFill>
                  <a:srgbClr val="0075BF"/>
                </a:solidFill>
                <a:latin typeface="Calibri"/>
              </a:rPr>
              <a:t>Someone reaches out.  </a:t>
            </a:r>
            <a:r>
              <a:rPr sz="2200">
                <a:solidFill>
                  <a:srgbClr val="485563"/>
                </a:solidFill>
                <a:latin typeface="Calibri"/>
              </a:rPr>
              <a:t>Search for them in Contacts.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b="1" sz="2200">
                <a:solidFill>
                  <a:srgbClr val="0075BF"/>
                </a:solidFill>
                <a:latin typeface="Calibri"/>
              </a:rPr>
              <a:t>New?  </a:t>
            </a:r>
            <a:r>
              <a:rPr sz="2200">
                <a:solidFill>
                  <a:srgbClr val="485563"/>
                </a:solidFill>
                <a:latin typeface="Calibri"/>
              </a:rPr>
              <a:t>Add them. Already there? Open their record.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b="1" sz="2200">
                <a:solidFill>
                  <a:srgbClr val="0075BF"/>
                </a:solidFill>
                <a:latin typeface="Calibri"/>
              </a:rPr>
              <a:t>Log it.  </a:t>
            </a:r>
            <a:r>
              <a:rPr sz="2200">
                <a:solidFill>
                  <a:srgbClr val="485563"/>
                </a:solidFill>
                <a:latin typeface="Calibri"/>
              </a:rPr>
              <a:t>Add a note and the right tag.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b="1" sz="2200">
                <a:solidFill>
                  <a:srgbClr val="0075BF"/>
                </a:solidFill>
                <a:latin typeface="Calibri"/>
              </a:rPr>
              <a:t>Reply.  </a:t>
            </a:r>
            <a:r>
              <a:rPr sz="2200">
                <a:solidFill>
                  <a:srgbClr val="485563"/>
                </a:solidFill>
                <a:latin typeface="Calibri"/>
              </a:rPr>
              <a:t>Send the standard welcome response.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b="1" sz="2200">
                <a:solidFill>
                  <a:srgbClr val="0075BF"/>
                </a:solidFill>
                <a:latin typeface="Calibri"/>
              </a:rPr>
              <a:t>Next step.  </a:t>
            </a:r>
            <a:r>
              <a:rPr sz="2200">
                <a:solidFill>
                  <a:srgbClr val="485563"/>
                </a:solidFill>
                <a:latin typeface="Calibri"/>
              </a:rPr>
              <a:t>Write the follow-up date in the note, so nobody waits.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1: Contacts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Before Session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7782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85563"/>
                </a:solidFill>
                <a:latin typeface="Calibri"/>
              </a:rPr>
              <a:t>Next time: the Deal Pipeline. You'll see every prospect by stage, at a glance.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877824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Bring the rest of your spreadsheet into ActiveCampaign.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Log a note on every conversation from here on.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Stop updating the Excel file. Keep a copy, but don't add to it.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Write down anything that felt confusing, and bring it next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1: Contacts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979615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37744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0">
                <a:solidFill>
                  <a:srgbClr val="FFFFFF"/>
                </a:solidFill>
                <a:latin typeface="Calibri Light"/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77639"/>
            <a:ext cx="1463040" cy="64008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Reach out to Kate or Tristan anytime.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Let's build the next chapter,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