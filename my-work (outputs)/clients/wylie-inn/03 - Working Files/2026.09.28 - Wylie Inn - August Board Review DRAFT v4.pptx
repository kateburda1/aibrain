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326" r:id="rId29"/>
    <p:sldId id="327" r:id="rId30"/>
    <p:sldId id="322" r:id="rId6"/>
    <p:sldId id="261" r:id="rId7"/>
    <p:sldId id="262" r:id="rId8"/>
    <p:sldId id="266" r:id="rId9"/>
    <p:sldId id="267" r:id="rId10"/>
    <p:sldId id="324" r:id="rId11"/>
    <p:sldId id="268" r:id="rId12"/>
    <p:sldId id="269" r:id="rId13"/>
    <p:sldId id="270" r:id="rId14"/>
    <p:sldId id="271" r:id="rId15"/>
    <p:sldId id="272" r:id="rId16"/>
    <p:sldId id="310" r:id="rId17"/>
    <p:sldId id="300" r:id="rId18"/>
    <p:sldId id="285" r:id="rId19"/>
    <p:sldId id="316" r:id="rId20"/>
    <p:sldId id="325" r:id="rId21"/>
    <p:sldId id="273" r:id="rId22"/>
    <p:sldId id="274" r:id="rId23"/>
  </p:sldIdLst>
  <p:sldSz cx="9144000" cy="5143500" type="screen16x9"/>
  <p:notesSz cx="9144000" cy="5143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51072"/>
    <a:srgbClr val="B52372"/>
    <a:srgbClr val="D510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659"/>
  </p:normalViewPr>
  <p:slideViewPr>
    <p:cSldViewPr snapToGrid="0">
      <p:cViewPr varScale="1">
        <p:scale>
          <a:sx n="195" d="100"/>
          <a:sy n="195" d="100"/>
        </p:scale>
        <p:origin x="1064" y="176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Wylie Inn</c:v>
                </c:pt>
              </c:strCache>
            </c:strRef>
          </c:tx>
          <c:spPr>
            <a:solidFill>
              <a:srgbClr val="D51067"/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Transient</c:v>
                </c:pt>
                <c:pt idx="1">
                  <c:v>Group</c:v>
                </c:pt>
                <c:pt idx="2">
                  <c:v>Total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-1.2</c:v>
                </c:pt>
                <c:pt idx="1">
                  <c:v>1.4</c:v>
                </c:pt>
                <c:pt idx="2">
                  <c:v>1.9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Comp set</c:v>
                </c:pt>
              </c:strCache>
            </c:strRef>
          </c:tx>
          <c:spPr>
            <a:solidFill>
              <a:srgbClr val="BFC0C2"/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Transient</c:v>
                </c:pt>
                <c:pt idx="1">
                  <c:v>Group</c:v>
                </c:pt>
                <c:pt idx="2">
                  <c:v>Total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-6.6</c:v>
                </c:pt>
                <c:pt idx="1">
                  <c:v>-1.1</c:v>
                </c:pt>
                <c:pt idx="2">
                  <c:v>-6.6</c:v>
                </c:pt>
              </c:numCache>
            </c:numRef>
          </c:val>
        </c:ser>
        <c:dLbls>
          <c:numFmt formatCode="+0.0&quot;%&quot;;-0.0&quot;%&quot;" sourceLinked="0"/>
          <c:txPr>
            <a:bodyPr/>
            <a:lstStyle/>
            <a:p>
              <a:pPr>
                <a:defRPr sz="900">
                  <a:solidFill>
                    <a:srgbClr val="1C1C1E"/>
                  </a:solidFill>
                  <a:latin typeface="Franklin Gothic Book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E7E1E6"/>
            </a:solidFill>
          </a:ln>
        </c:spPr>
        <c:txPr>
          <a:bodyPr/>
          <a:lstStyle/>
          <a:p>
            <a:pPr>
              <a:defRPr sz="1000">
                <a:solidFill>
                  <a:srgbClr val="55575A"/>
                </a:solidFill>
                <a:latin typeface="Franklin Gothic Book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.0"/>
          <c:min val="-9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55575A"/>
              </a:solidFill>
              <a:latin typeface="Franklin Gothic Book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D51067"/>
            </a:solidFill>
          </c:spPr>
          <c:cat>
            <c:strRef>
              <c:f>Sheet1!$A$2:$A$10</c:f>
              <c:strCache>
                <c:ptCount val="9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Sep*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13341</c:v>
                </c:pt>
                <c:pt idx="1">
                  <c:v>23113</c:v>
                </c:pt>
                <c:pt idx="2">
                  <c:v>32871</c:v>
                </c:pt>
                <c:pt idx="3">
                  <c:v>22155</c:v>
                </c:pt>
                <c:pt idx="4">
                  <c:v>21673</c:v>
                </c:pt>
                <c:pt idx="5">
                  <c:v>37695</c:v>
                </c:pt>
                <c:pt idx="6">
                  <c:v>75546</c:v>
                </c:pt>
                <c:pt idx="7">
                  <c:v>60056</c:v>
                </c:pt>
                <c:pt idx="8">
                  <c:v>55258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BFC0C2"/>
            </a:solidFill>
          </c:spPr>
          <c:cat>
            <c:strRef>
              <c:f>Sheet1!$A$2:$A$10</c:f>
              <c:strCache>
                <c:ptCount val="9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Sep*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9001</c:v>
                </c:pt>
                <c:pt idx="1">
                  <c:v>7405</c:v>
                </c:pt>
                <c:pt idx="2">
                  <c:v>8082</c:v>
                </c:pt>
                <c:pt idx="3">
                  <c:v>13449</c:v>
                </c:pt>
                <c:pt idx="4">
                  <c:v>20059</c:v>
                </c:pt>
                <c:pt idx="5">
                  <c:v>24573</c:v>
                </c:pt>
                <c:pt idx="6">
                  <c:v>64194</c:v>
                </c:pt>
                <c:pt idx="7">
                  <c:v>59551</c:v>
                </c:pt>
                <c:pt idx="8">
                  <c:v>34803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7E1E6"/>
            </a:solidFill>
          </a:ln>
        </c:spPr>
        <c:txPr>
          <a:bodyPr/>
          <a:lstStyle/>
          <a:p>
            <a:pPr>
              <a:defRPr sz="900">
                <a:solidFill>
                  <a:srgbClr val="55575A"/>
                </a:solidFill>
                <a:latin typeface="Franklin Gothic Book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7E1E6"/>
              </a:solidFill>
            </a:ln>
          </c:spPr>
        </c:majorGridlines>
        <c:numFmt formatCode="&quot;$&quot;#,##0,&quot;K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888888"/>
                </a:solidFill>
                <a:latin typeface="Franklin Gothic Book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solidFill>
                <a:srgbClr val="55575A"/>
              </a:solidFill>
              <a:latin typeface="Franklin Gothic Book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CCC500-D567-EF40-A523-1CABC629656B}" type="datetimeFigureOut">
              <a:rPr lang="en-US" smtClean="0"/>
              <a:t>8/13/26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8D30F4-8318-1F4B-BF35-9A3ECFCB0A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5347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D9C4E-B60C-266C-627F-009EE3165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43B43A-65B8-C78F-66D6-ECEE10661C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BF155F-B025-C571-CAE6-5A529750E4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>
                <a:ea typeface="Calibri"/>
                <a:cs typeface="Calibri"/>
              </a:rPr>
              <a:t>Our account reach for Aug is 2.4k which is 29.9% increase since last 2 months.  Our maximum reach is a reel which is a short few second video clip of Wylie Inn (a guest who won a free stay at Wylie Inn) . </a:t>
            </a:r>
          </a:p>
          <a:p>
            <a:pPr marL="171450" indent="-171450">
              <a:buFontTx/>
              <a:buChar char="-"/>
            </a:pPr>
            <a:r>
              <a:rPr lang="en-US" err="1">
                <a:ea typeface="Calibri"/>
                <a:cs typeface="Calibri"/>
              </a:rPr>
              <a:t>Linkedin</a:t>
            </a:r>
            <a:r>
              <a:rPr lang="en-US">
                <a:ea typeface="Calibri"/>
                <a:cs typeface="Calibri"/>
              </a:rPr>
              <a:t> account is getting back on track. We have 20% increase in our followers compared to last 2 months and 5.6% increase in engagement rate which means we are getting more traffic on </a:t>
            </a:r>
            <a:r>
              <a:rPr lang="en-US" err="1">
                <a:ea typeface="Calibri"/>
                <a:cs typeface="Calibri"/>
              </a:rPr>
              <a:t>linkedin</a:t>
            </a:r>
            <a:r>
              <a:rPr lang="en-US">
                <a:ea typeface="Calibri"/>
                <a:cs typeface="Calibri"/>
              </a:rPr>
              <a:t> account. For next month, our focus is more towards relevancy and consistency on page to attract more traffic.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AB57D3-4C7F-C870-09F1-52BD9C8A5C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8D30F4-8318-1F4B-BF35-9A3ECFCB0AF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2354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E88D2-5037-4AE1-2220-37C3510FC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8ACD14-A5FF-6A16-1D8E-31344AAC43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D41F05-29C9-889C-58B7-3DF7BF05F2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9EF05D-4694-15D8-AA49-3340F0449D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8D30F4-8318-1F4B-BF35-9A3ECFCB0AF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6189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8D30F4-8318-1F4B-BF35-9A3ECFCB0AF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399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4528576" y="4784278"/>
            <a:ext cx="438931" cy="21876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263030" y="491744"/>
            <a:ext cx="2617939" cy="3231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0" i="0">
                <a:solidFill>
                  <a:schemeClr val="bg1"/>
                </a:solidFill>
                <a:latin typeface="Franklin Gothic Book" panose="020B0503020102020204" pitchFamily="34" charset="0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Franklin Gothic Book" panose="020B0503020102020204" pitchFamily="34" charset="0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76999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  <a:latin typeface="Franklin Gothic Book" panose="020B0503020102020204" pitchFamily="34" charset="0"/>
              </a:defRPr>
            </a:lvl1pPr>
          </a:lstStyle>
          <a:p>
            <a:fld id="{1D8BD707-D9CF-40AE-B4C6-C98DA3205C09}" type="datetimeFigureOut">
              <a:rPr lang="en-US" smtClean="0"/>
              <a:pPr/>
              <a:t>8/13/26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  <a:latin typeface="Franklin Gothic Book" panose="020B0503020102020204" pitchFamily="34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5584" y="209550"/>
            <a:ext cx="8712831" cy="323165"/>
          </a:xfrm>
        </p:spPr>
        <p:txBody>
          <a:bodyPr lIns="0" tIns="0" rIns="0" bIns="0"/>
          <a:lstStyle>
            <a:lvl1pPr>
              <a:defRPr sz="2100" b="0" i="0">
                <a:solidFill>
                  <a:srgbClr val="8A8C8C"/>
                </a:solidFill>
                <a:latin typeface="Franklin Gothic Book" panose="020B0503020102020204" pitchFamily="34" charset="0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Franklin Gothic Book" panose="020B0503020102020204" pitchFamily="34" charset="0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76999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  <a:latin typeface="Franklin Gothic Book" panose="020B05030201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76999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  <a:latin typeface="Franklin Gothic Book" panose="020B0503020102020204" pitchFamily="34" charset="0"/>
              </a:defRPr>
            </a:lvl1pPr>
          </a:lstStyle>
          <a:p>
            <a:fld id="{1D8BD707-D9CF-40AE-B4C6-C98DA3205C09}" type="datetimeFigureOut">
              <a:rPr lang="en-US" smtClean="0"/>
              <a:pPr/>
              <a:t>8/13/26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  <a:latin typeface="Franklin Gothic Book" panose="020B0503020102020204" pitchFamily="34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00" b="0" i="0">
                <a:solidFill>
                  <a:srgbClr val="8A8C8C"/>
                </a:solidFill>
                <a:latin typeface="Franklin Gothic Book" panose="020B0503020102020204" pitchFamily="34" charset="0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Franklin Gothic Book" panose="020B0503020102020204" pitchFamily="34" charset="0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Franklin Gothic Book" panose="020B0503020102020204" pitchFamily="34" charset="0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76999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  <a:latin typeface="Franklin Gothic Book" panose="020B05030201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76999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  <a:latin typeface="Franklin Gothic Book" panose="020B0503020102020204" pitchFamily="34" charset="0"/>
              </a:defRPr>
            </a:lvl1pPr>
          </a:lstStyle>
          <a:p>
            <a:fld id="{1D8BD707-D9CF-40AE-B4C6-C98DA3205C09}" type="datetimeFigureOut">
              <a:rPr lang="en-US" smtClean="0"/>
              <a:pPr/>
              <a:t>8/13/26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  <a:latin typeface="Franklin Gothic Book" panose="020B0503020102020204" pitchFamily="34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4528576" y="4784278"/>
            <a:ext cx="438931" cy="21876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92443"/>
          </a:xfrm>
          <a:pattFill prst="pct20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</p:spPr>
        <p:txBody>
          <a:bodyPr lIns="0" tIns="0" rIns="0" bIns="0"/>
          <a:lstStyle>
            <a:lvl1pPr algn="ctr">
              <a:defRPr sz="3200" b="0" i="0">
                <a:solidFill>
                  <a:srgbClr val="8A8C8C"/>
                </a:solidFill>
                <a:latin typeface="Franklin Gothic Book" panose="020B0503020102020204" pitchFamily="34" charset="0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76999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  <a:latin typeface="Franklin Gothic Book" panose="020B0503020102020204" pitchFamily="34" charset="0"/>
              </a:defRPr>
            </a:lvl1pPr>
          </a:lstStyle>
          <a:p>
            <a:fld id="{1D8BD707-D9CF-40AE-B4C6-C98DA3205C09}" type="datetimeFigureOut">
              <a:rPr lang="en-US" smtClean="0"/>
              <a:pPr/>
              <a:t>8/13/26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  <a:latin typeface="Franklin Gothic Book" panose="020B0503020102020204" pitchFamily="34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52400" y="133350"/>
            <a:ext cx="533400" cy="276999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>
          <a:xfrm>
            <a:off x="3108960" y="4845043"/>
            <a:ext cx="2926080" cy="276999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  <a:latin typeface="Franklin Gothic Book" panose="020B05030201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76999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  <a:latin typeface="Franklin Gothic Book" panose="020B0503020102020204" pitchFamily="34" charset="0"/>
              </a:defRPr>
            </a:lvl1pPr>
          </a:lstStyle>
          <a:p>
            <a:fld id="{1D8BD707-D9CF-40AE-B4C6-C98DA3205C09}" type="datetimeFigureOut">
              <a:rPr lang="en-US" smtClean="0"/>
              <a:pPr/>
              <a:t>8/13/26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  <a:latin typeface="Franklin Gothic Book" panose="020B0503020102020204" pitchFamily="34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347A69-B1E1-6D0D-7A02-A20DACFCA997}"/>
              </a:ext>
            </a:extLst>
          </p:cNvPr>
          <p:cNvSpPr/>
          <p:nvPr userDrawn="1"/>
        </p:nvSpPr>
        <p:spPr>
          <a:xfrm>
            <a:off x="0" y="590550"/>
            <a:ext cx="9144000" cy="455295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173408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5584" y="147319"/>
            <a:ext cx="8712831" cy="3231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0" i="0">
                <a:solidFill>
                  <a:srgbClr val="8A8C8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31029" y="1031747"/>
            <a:ext cx="628194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8/13/26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Franklin Gothic Book" panose="020B0503020102020204" pitchFamily="34" charset="0"/>
          <a:ea typeface="+mj-ea"/>
          <a:cs typeface="+mj-cs"/>
        </a:defRPr>
      </a:lvl1pPr>
    </p:titleStyle>
    <p:bodyStyle>
      <a:lvl1pPr marL="0">
        <a:defRPr>
          <a:latin typeface="Franklin Gothic Book" panose="020B0503020102020204" pitchFamily="34" charset="0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jpeg"/><Relationship Id="rId4" Type="http://schemas.openxmlformats.org/officeDocument/2006/relationships/image" Target="../media/image6.jpe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jpeg"/><Relationship Id="rId4" Type="http://schemas.openxmlformats.org/officeDocument/2006/relationships/image" Target="../media/image8.jpe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jpeg"/><Relationship Id="rId3" Type="http://schemas.openxmlformats.org/officeDocument/2006/relationships/image" Target="../media/image10.jpeg"/><Relationship Id="rId4" Type="http://schemas.openxmlformats.org/officeDocument/2006/relationships/image" Target="../media/image11.jpe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jpeg"/><Relationship Id="rId3" Type="http://schemas.openxmlformats.org/officeDocument/2006/relationships/image" Target="../media/image13.jpeg"/><Relationship Id="rId4" Type="http://schemas.openxmlformats.org/officeDocument/2006/relationships/image" Target="../media/image14.jpe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large lawn with a fountain in front of a building&#10;&#10;AI-generated content may be incorrect.">
            <a:extLst>
              <a:ext uri="{FF2B5EF4-FFF2-40B4-BE49-F238E27FC236}">
                <a16:creationId xmlns:a16="http://schemas.microsoft.com/office/drawing/2014/main" id="{D118CB42-B389-65CE-FE55-466887D1534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6549"/>
            <a:ext cx="9138054" cy="4345645"/>
          </a:xfrm>
          <a:prstGeom prst="rect">
            <a:avLst/>
          </a:prstGeom>
        </p:spPr>
      </p:pic>
      <p:sp>
        <p:nvSpPr>
          <p:cNvPr id="2" name="object 2"/>
          <p:cNvSpPr/>
          <p:nvPr/>
        </p:nvSpPr>
        <p:spPr>
          <a:xfrm>
            <a:off x="0" y="4248150"/>
            <a:ext cx="9144000" cy="895985"/>
          </a:xfrm>
          <a:custGeom>
            <a:avLst/>
            <a:gdLst/>
            <a:ahLst/>
            <a:cxnLst/>
            <a:rect l="l" t="t" r="r" b="b"/>
            <a:pathLst>
              <a:path w="9144000" h="895985">
                <a:moveTo>
                  <a:pt x="0" y="0"/>
                </a:moveTo>
                <a:lnTo>
                  <a:pt x="9143998" y="0"/>
                </a:lnTo>
                <a:lnTo>
                  <a:pt x="9143998" y="895986"/>
                </a:lnTo>
                <a:lnTo>
                  <a:pt x="0" y="895986"/>
                </a:lnTo>
                <a:lnTo>
                  <a:pt x="0" y="0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3999" cy="405384"/>
          </a:xfrm>
          <a:prstGeom prst="rect">
            <a:avLst/>
          </a:prstGeo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946" y="0"/>
            <a:ext cx="9138285" cy="336550"/>
          </a:xfrm>
          <a:custGeom>
            <a:avLst/>
            <a:gdLst/>
            <a:ahLst/>
            <a:cxnLst/>
            <a:rect l="l" t="t" r="r" b="b"/>
            <a:pathLst>
              <a:path w="9138285" h="336550">
                <a:moveTo>
                  <a:pt x="0" y="0"/>
                </a:moveTo>
                <a:lnTo>
                  <a:pt x="9138053" y="0"/>
                </a:lnTo>
                <a:lnTo>
                  <a:pt x="9138053" y="336378"/>
                </a:lnTo>
                <a:lnTo>
                  <a:pt x="0" y="336378"/>
                </a:lnTo>
                <a:lnTo>
                  <a:pt x="0" y="0"/>
                </a:lnTo>
                <a:close/>
              </a:path>
            </a:pathLst>
          </a:custGeom>
          <a:solidFill>
            <a:srgbClr val="A015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946" y="0"/>
            <a:ext cx="9138285" cy="336550"/>
          </a:xfrm>
          <a:custGeom>
            <a:avLst/>
            <a:gdLst/>
            <a:ahLst/>
            <a:cxnLst/>
            <a:rect l="l" t="t" r="r" b="b"/>
            <a:pathLst>
              <a:path w="9138285" h="336550">
                <a:moveTo>
                  <a:pt x="0" y="0"/>
                </a:moveTo>
                <a:lnTo>
                  <a:pt x="9138053" y="0"/>
                </a:lnTo>
                <a:lnTo>
                  <a:pt x="9138053" y="336378"/>
                </a:lnTo>
                <a:lnTo>
                  <a:pt x="0" y="336378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4A7EB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715" y="2775317"/>
            <a:ext cx="9138285" cy="632460"/>
          </a:xfrm>
          <a:custGeom>
            <a:avLst/>
            <a:gdLst/>
            <a:ahLst/>
            <a:cxnLst/>
            <a:rect l="l" t="t" r="r" b="b"/>
            <a:pathLst>
              <a:path w="9138285" h="632460">
                <a:moveTo>
                  <a:pt x="0" y="0"/>
                </a:moveTo>
                <a:lnTo>
                  <a:pt x="9138053" y="0"/>
                </a:lnTo>
                <a:lnTo>
                  <a:pt x="9138053" y="632460"/>
                </a:lnTo>
                <a:lnTo>
                  <a:pt x="0" y="63246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199"/>
            </a:srgbClr>
          </a:solidFill>
        </p:spPr>
        <p:txBody>
          <a:bodyPr wrap="square" lIns="0" tIns="0" rIns="0" bIns="0" rtlCol="0"/>
          <a:lstStyle/>
          <a:p>
            <a:endParaRPr>
              <a:latin typeface="Franklin Gothic Book" panose="020B0503020102020204" pitchFamily="34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1847" y="2869692"/>
            <a:ext cx="8171039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>
                <a:solidFill>
                  <a:srgbClr val="FFFFFF"/>
                </a:solidFill>
                <a:latin typeface="Franklin Gothic Book" panose="020B0503020102020204" pitchFamily="34" charset="0"/>
                <a:cs typeface="Arial"/>
              </a:rPr>
              <a:t>August Review</a:t>
            </a:r>
            <a:endParaRPr sz="2800" dirty="0">
              <a:latin typeface="Franklin Gothic Book" panose="020B0503020102020204" pitchFamily="34" charset="0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1398" y="4497558"/>
            <a:ext cx="8661602" cy="4488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9860">
              <a:lnSpc>
                <a:spcPts val="1300"/>
              </a:lnSpc>
              <a:spcBef>
                <a:spcPts val="100"/>
              </a:spcBef>
            </a:pPr>
            <a:r>
              <a:rPr lang="en-US" sz="2400">
                <a:latin typeface="Franklin Gothic Book" panose="020B0503020102020204" pitchFamily="34" charset="0"/>
                <a:cs typeface="Arial"/>
              </a:rPr>
              <a:t>CHM Warnick / Wylie Inn and Conference Center</a:t>
            </a:r>
            <a:endParaRPr sz="2400">
              <a:latin typeface="Franklin Gothic Book" panose="020B0503020102020204" pitchFamily="34" charset="0"/>
              <a:cs typeface="Arial"/>
            </a:endParaRPr>
          </a:p>
          <a:p>
            <a:pPr marL="12700" marR="5080">
              <a:lnSpc>
                <a:spcPts val="700"/>
              </a:lnSpc>
              <a:spcBef>
                <a:spcPts val="1365"/>
              </a:spcBef>
            </a:pPr>
            <a:r>
              <a:rPr sz="600" spc="-25">
                <a:solidFill>
                  <a:srgbClr val="7F7F7F"/>
                </a:solidFill>
                <a:latin typeface="Arial"/>
                <a:cs typeface="Arial"/>
              </a:rPr>
              <a:t>All </a:t>
            </a:r>
            <a:r>
              <a:rPr sz="600" spc="-10">
                <a:solidFill>
                  <a:srgbClr val="7F7F7F"/>
                </a:solidFill>
                <a:latin typeface="Arial"/>
                <a:cs typeface="Arial"/>
              </a:rPr>
              <a:t>materials </a:t>
            </a:r>
            <a:r>
              <a:rPr sz="600" spc="-20">
                <a:solidFill>
                  <a:srgbClr val="7F7F7F"/>
                </a:solidFill>
                <a:latin typeface="Arial"/>
                <a:cs typeface="Arial"/>
              </a:rPr>
              <a:t>and </a:t>
            </a:r>
            <a:r>
              <a:rPr sz="600" spc="-15">
                <a:solidFill>
                  <a:srgbClr val="7F7F7F"/>
                </a:solidFill>
                <a:latin typeface="Arial"/>
                <a:cs typeface="Arial"/>
              </a:rPr>
              <a:t>methodologies are </a:t>
            </a:r>
            <a:r>
              <a:rPr sz="500" spc="-25">
                <a:solidFill>
                  <a:srgbClr val="7F7F7F"/>
                </a:solidFill>
                <a:latin typeface="Arial"/>
                <a:cs typeface="Arial"/>
              </a:rPr>
              <a:t>copy </a:t>
            </a:r>
            <a:r>
              <a:rPr sz="600" spc="-5">
                <a:solidFill>
                  <a:srgbClr val="7F7F7F"/>
                </a:solidFill>
                <a:latin typeface="Arial"/>
                <a:cs typeface="Arial"/>
              </a:rPr>
              <a:t>written </a:t>
            </a:r>
            <a:r>
              <a:rPr sz="600" spc="-20">
                <a:solidFill>
                  <a:srgbClr val="7F7F7F"/>
                </a:solidFill>
                <a:latin typeface="Arial"/>
                <a:cs typeface="Arial"/>
              </a:rPr>
              <a:t>and </a:t>
            </a:r>
            <a:r>
              <a:rPr sz="600" spc="-10">
                <a:solidFill>
                  <a:srgbClr val="7F7F7F"/>
                </a:solidFill>
                <a:latin typeface="Arial"/>
                <a:cs typeface="Arial"/>
              </a:rPr>
              <a:t>protected Intellectual </a:t>
            </a:r>
            <a:r>
              <a:rPr sz="600" spc="-20">
                <a:solidFill>
                  <a:srgbClr val="7F7F7F"/>
                </a:solidFill>
                <a:latin typeface="Arial"/>
                <a:cs typeface="Arial"/>
              </a:rPr>
              <a:t>Property </a:t>
            </a:r>
            <a:r>
              <a:rPr sz="600" spc="-5">
                <a:solidFill>
                  <a:srgbClr val="7F7F7F"/>
                </a:solidFill>
                <a:latin typeface="Arial"/>
                <a:cs typeface="Arial"/>
              </a:rPr>
              <a:t>of </a:t>
            </a:r>
            <a:r>
              <a:rPr sz="600" spc="-15">
                <a:solidFill>
                  <a:srgbClr val="7F7F7F"/>
                </a:solidFill>
                <a:latin typeface="Arial"/>
                <a:cs typeface="Arial"/>
              </a:rPr>
              <a:t>Kate </a:t>
            </a:r>
            <a:r>
              <a:rPr sz="600" spc="-20">
                <a:solidFill>
                  <a:srgbClr val="7F7F7F"/>
                </a:solidFill>
                <a:latin typeface="Arial"/>
                <a:cs typeface="Arial"/>
              </a:rPr>
              <a:t>Burda </a:t>
            </a:r>
            <a:r>
              <a:rPr sz="600" spc="-5">
                <a:solidFill>
                  <a:srgbClr val="7F7F7F"/>
                </a:solidFill>
                <a:latin typeface="Arial"/>
                <a:cs typeface="Arial"/>
              </a:rPr>
              <a:t>&amp; </a:t>
            </a:r>
            <a:r>
              <a:rPr sz="600" spc="-35">
                <a:solidFill>
                  <a:srgbClr val="7F7F7F"/>
                </a:solidFill>
                <a:latin typeface="Arial"/>
                <a:cs typeface="Arial"/>
              </a:rPr>
              <a:t>Company </a:t>
            </a:r>
            <a:r>
              <a:rPr sz="600" spc="-20">
                <a:solidFill>
                  <a:srgbClr val="7F7F7F"/>
                </a:solidFill>
                <a:latin typeface="Arial"/>
                <a:cs typeface="Arial"/>
              </a:rPr>
              <a:t>and </a:t>
            </a:r>
            <a:r>
              <a:rPr sz="600" spc="-10">
                <a:solidFill>
                  <a:srgbClr val="7F7F7F"/>
                </a:solidFill>
                <a:latin typeface="Arial"/>
                <a:cs typeface="Arial"/>
              </a:rPr>
              <a:t>for </a:t>
            </a:r>
            <a:r>
              <a:rPr sz="600" spc="-5">
                <a:solidFill>
                  <a:srgbClr val="7F7F7F"/>
                </a:solidFill>
                <a:latin typeface="Arial"/>
                <a:cs typeface="Arial"/>
              </a:rPr>
              <a:t>the </a:t>
            </a:r>
            <a:r>
              <a:rPr sz="600" spc="-25">
                <a:solidFill>
                  <a:srgbClr val="7F7F7F"/>
                </a:solidFill>
                <a:latin typeface="Arial"/>
                <a:cs typeface="Arial"/>
              </a:rPr>
              <a:t>express </a:t>
            </a:r>
            <a:r>
              <a:rPr sz="600" spc="-20">
                <a:solidFill>
                  <a:srgbClr val="7F7F7F"/>
                </a:solidFill>
                <a:latin typeface="Arial"/>
                <a:cs typeface="Arial"/>
              </a:rPr>
              <a:t>purpose </a:t>
            </a:r>
            <a:r>
              <a:rPr lang="en-US" sz="600" spc="-10">
                <a:solidFill>
                  <a:srgbClr val="7F7F7F"/>
                </a:solidFill>
                <a:latin typeface="Arial"/>
                <a:cs typeface="Arial"/>
              </a:rPr>
              <a:t>for Wylie Inn and Conference Center</a:t>
            </a:r>
            <a:r>
              <a:rPr sz="600" spc="-15">
                <a:solidFill>
                  <a:srgbClr val="7F7F7F"/>
                </a:solidFill>
                <a:latin typeface="Arial"/>
                <a:cs typeface="Arial"/>
              </a:rPr>
              <a:t>, </a:t>
            </a:r>
            <a:r>
              <a:rPr sz="600" spc="-25">
                <a:solidFill>
                  <a:srgbClr val="7F7F7F"/>
                </a:solidFill>
                <a:latin typeface="Arial"/>
                <a:cs typeface="Arial"/>
              </a:rPr>
              <a:t>systems,  </a:t>
            </a:r>
            <a:r>
              <a:rPr sz="600" spc="-20">
                <a:solidFill>
                  <a:srgbClr val="7F7F7F"/>
                </a:solidFill>
                <a:latin typeface="Arial"/>
                <a:cs typeface="Arial"/>
              </a:rPr>
              <a:t>and </a:t>
            </a:r>
            <a:r>
              <a:rPr sz="600" spc="-15">
                <a:solidFill>
                  <a:srgbClr val="7F7F7F"/>
                </a:solidFill>
                <a:latin typeface="Arial"/>
                <a:cs typeface="Arial"/>
              </a:rPr>
              <a:t>constructs are </a:t>
            </a:r>
            <a:r>
              <a:rPr sz="600" spc="-10">
                <a:solidFill>
                  <a:srgbClr val="7F7F7F"/>
                </a:solidFill>
                <a:latin typeface="Arial"/>
                <a:cs typeface="Arial"/>
              </a:rPr>
              <a:t>not for </a:t>
            </a:r>
            <a:r>
              <a:rPr sz="600" spc="-15">
                <a:solidFill>
                  <a:srgbClr val="7F7F7F"/>
                </a:solidFill>
                <a:latin typeface="Arial"/>
                <a:cs typeface="Arial"/>
              </a:rPr>
              <a:t>external </a:t>
            </a:r>
            <a:r>
              <a:rPr sz="600" spc="-5">
                <a:solidFill>
                  <a:srgbClr val="7F7F7F"/>
                </a:solidFill>
                <a:latin typeface="Arial"/>
                <a:cs typeface="Arial"/>
              </a:rPr>
              <a:t>distribution </a:t>
            </a:r>
            <a:r>
              <a:rPr sz="600" spc="-20">
                <a:solidFill>
                  <a:srgbClr val="7F7F7F"/>
                </a:solidFill>
                <a:latin typeface="Arial"/>
                <a:cs typeface="Arial"/>
              </a:rPr>
              <a:t>and </a:t>
            </a:r>
            <a:r>
              <a:rPr sz="600" spc="-15">
                <a:solidFill>
                  <a:srgbClr val="7F7F7F"/>
                </a:solidFill>
                <a:latin typeface="Arial"/>
                <a:cs typeface="Arial"/>
              </a:rPr>
              <a:t>are</a:t>
            </a:r>
            <a:r>
              <a:rPr sz="600" spc="-55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600" spc="-10">
                <a:solidFill>
                  <a:srgbClr val="7F7F7F"/>
                </a:solidFill>
                <a:latin typeface="Arial"/>
                <a:cs typeface="Arial"/>
              </a:rPr>
              <a:t>protected.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20040" y="1828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000"/>
          </a:p>
        </p:txBody>
      </p:sp>
      <p:sp>
        <p:nvSpPr>
          <p:cNvPr id="5" name="Text 3"/>
          <p:cNvSpPr/>
          <p:nvPr/>
        </p:nvSpPr>
        <p:spPr>
          <a:xfrm>
            <a:off x="6583680" y="91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E7E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2026</a:t>
            </a:r>
            <a:endParaRPr lang="en-US" sz="100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5797F6C-212D-5806-00F1-C088A0BA2A5C}"/>
              </a:ext>
            </a:extLst>
          </p:cNvPr>
          <p:cNvGrpSpPr/>
          <p:nvPr/>
        </p:nvGrpSpPr>
        <p:grpSpPr>
          <a:xfrm>
            <a:off x="4689680" y="797247"/>
            <a:ext cx="4160520" cy="1847088"/>
            <a:chOff x="274320" y="777240"/>
            <a:chExt cx="4160520" cy="1847088"/>
          </a:xfrm>
        </p:grpSpPr>
        <p:sp>
          <p:nvSpPr>
            <p:cNvPr id="7" name="Shape 4"/>
            <p:cNvSpPr/>
            <p:nvPr/>
          </p:nvSpPr>
          <p:spPr>
            <a:xfrm>
              <a:off x="274320" y="777240"/>
              <a:ext cx="4160520" cy="169164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8E8E8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Shape 5"/>
            <p:cNvSpPr/>
            <p:nvPr/>
          </p:nvSpPr>
          <p:spPr>
            <a:xfrm>
              <a:off x="274320" y="777240"/>
              <a:ext cx="54864" cy="1691640"/>
            </a:xfrm>
            <a:prstGeom prst="rect">
              <a:avLst/>
            </a:prstGeom>
            <a:solidFill>
              <a:srgbClr val="D51067"/>
            </a:solidFill>
            <a:ln w="12700">
              <a:solidFill>
                <a:srgbClr val="D5106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 6"/>
            <p:cNvSpPr/>
            <p:nvPr/>
          </p:nvSpPr>
          <p:spPr>
            <a:xfrm>
              <a:off x="457200" y="886968"/>
              <a:ext cx="384048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50" b="1">
                  <a:solidFill>
                    <a:srgbClr val="1C1C1E"/>
                  </a:solidFill>
                  <a:latin typeface="Franklin Gothic Book" panose="020B0503020102020204" pitchFamily="34" charset="0"/>
                  <a:ea typeface="Calibri" pitchFamily="34" charset="-122"/>
                  <a:cs typeface="Calibri" pitchFamily="34" charset="-120"/>
                </a:rPr>
                <a:t>💻  Website Revenue: $30,222  |  Visits +25% YOY</a:t>
              </a:r>
              <a:endParaRPr lang="en-US" sz="1250">
                <a:latin typeface="Franklin Gothic Book" panose="020B0503020102020204" pitchFamily="34" charset="0"/>
              </a:endParaRPr>
            </a:p>
          </p:txBody>
        </p:sp>
        <p:sp>
          <p:nvSpPr>
            <p:cNvPr id="10" name="Text 7"/>
            <p:cNvSpPr/>
            <p:nvPr/>
          </p:nvSpPr>
          <p:spPr>
            <a:xfrm>
              <a:off x="566928" y="993457"/>
              <a:ext cx="3794760" cy="1051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>
                  <a:solidFill>
                    <a:srgbClr val="555759"/>
                  </a:solidFill>
                  <a:latin typeface="Franklin Gothic Book" panose="020B0503020102020204" pitchFamily="34" charset="0"/>
                  <a:ea typeface="Calibri" pitchFamily="34" charset="-122"/>
                  <a:cs typeface="Calibri" pitchFamily="34" charset="-120"/>
                </a:rPr>
                <a:t>9,956 visits and 78 bookings generated $30,222 in revenue, up 15% YOY. Organic Search led with 30 bookings and $13,873, up 65%.</a:t>
              </a:r>
              <a:endParaRPr lang="en-US" sz="1100">
                <a:latin typeface="Franklin Gothic Book" panose="020B0503020102020204" pitchFamily="34" charset="0"/>
              </a:endParaRPr>
            </a:p>
          </p:txBody>
        </p:sp>
        <p:sp>
          <p:nvSpPr>
            <p:cNvPr id="14" name="Text 11"/>
            <p:cNvSpPr/>
            <p:nvPr/>
          </p:nvSpPr>
          <p:spPr>
            <a:xfrm>
              <a:off x="603504" y="1572768"/>
              <a:ext cx="3794760" cy="1051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>
                  <a:solidFill>
                    <a:srgbClr val="555759"/>
                  </a:solidFill>
                  <a:latin typeface="Franklin Gothic Book" panose="020B0503020102020204" pitchFamily="34" charset="0"/>
                  <a:ea typeface="Calibri" pitchFamily="34" charset="-122"/>
                  <a:cs typeface="Calibri" pitchFamily="34" charset="-120"/>
                </a:rPr>
                <a:t>PPC delivered 15 bookings at 9.50x ROAS, bookings up 200% YOY. PMAX returned 4.37x on $474 spend, down from 11.57x in July.</a:t>
              </a:r>
              <a:endParaRPr lang="en-US" sz="1100">
                <a:latin typeface="Franklin Gothic Book" panose="020B0503020102020204" pitchFamily="34" charset="0"/>
              </a:endParaRPr>
            </a:p>
          </p:txBody>
        </p:sp>
      </p:grpSp>
      <p:sp>
        <p:nvSpPr>
          <p:cNvPr id="15" name="Shape 12"/>
          <p:cNvSpPr/>
          <p:nvPr/>
        </p:nvSpPr>
        <p:spPr>
          <a:xfrm>
            <a:off x="274320" y="2770632"/>
            <a:ext cx="41605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274320" y="2770632"/>
            <a:ext cx="54864" cy="1691640"/>
          </a:xfrm>
          <a:prstGeom prst="rect">
            <a:avLst/>
          </a:prstGeom>
          <a:solidFill>
            <a:srgbClr val="D51067"/>
          </a:solidFill>
          <a:ln w="12700">
            <a:solidFill>
              <a:srgbClr val="D510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57200" y="28803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C1C1E"/>
                </a:solidFill>
                <a:latin typeface="Franklin Gothic Book" panose="020B0503020102020204" pitchFamily="34" charset="0"/>
                <a:ea typeface="Calibri" pitchFamily="34" charset="-122"/>
                <a:cs typeface="Calibri" pitchFamily="34" charset="-120"/>
              </a:rPr>
              <a:t>🌐  Website Traffic +25% YOY: 9,956 Visits</a:t>
            </a:r>
            <a:endParaRPr lang="en-US" sz="1250">
              <a:latin typeface="Franklin Gothic Book" panose="020B0503020102020204" pitchFamily="34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457200" y="324612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555759"/>
                </a:solidFill>
                <a:latin typeface="Franklin Gothic Book" panose="020B0503020102020204" pitchFamily="34" charset="0"/>
                <a:ea typeface="Calibri" pitchFamily="34" charset="-122"/>
                <a:cs typeface="Calibri" pitchFamily="34" charset="-120"/>
              </a:rPr>
              <a:t>9,956 visits in August, the highest in 12 months. Organic Search and Direct led. AI Assistant referrals doubled to 200 sessions, up from 99 in July.</a:t>
            </a:r>
            <a:endParaRPr lang="en-US" sz="1100">
              <a:latin typeface="Franklin Gothic Book" panose="020B0503020102020204" pitchFamily="34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4709160" y="2770632"/>
            <a:ext cx="41605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4709160" y="2770632"/>
            <a:ext cx="54864" cy="1691640"/>
          </a:xfrm>
          <a:prstGeom prst="rect">
            <a:avLst/>
          </a:prstGeom>
          <a:solidFill>
            <a:srgbClr val="D51067"/>
          </a:solidFill>
          <a:ln w="12700">
            <a:solidFill>
              <a:srgbClr val="D510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892040" y="28803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C1C1E"/>
                </a:solidFill>
                <a:latin typeface="Franklin Gothic Book" panose="020B0503020102020204" pitchFamily="34" charset="0"/>
                <a:ea typeface="Calibri" pitchFamily="34" charset="-122"/>
                <a:cs typeface="Calibri" pitchFamily="34" charset="-120"/>
              </a:rPr>
              <a:t>🤖  AI Visibility: on 4 of 5 AI platforms</a:t>
            </a:r>
            <a:endParaRPr lang="en-US" sz="1250">
              <a:latin typeface="Franklin Gothic Book" panose="020B0503020102020204" pitchFamily="34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4892040" y="324612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555759"/>
                </a:solidFill>
                <a:latin typeface="Franklin Gothic Book" panose="020B0503020102020204" pitchFamily="34" charset="0"/>
                <a:ea typeface="Calibri" pitchFamily="34" charset="-122"/>
                <a:cs typeface="Calibri" pitchFamily="34" charset="-120"/>
              </a:rPr>
              <a:t>Wylie Inn appears on all five tracked AI platforms at 10-16% visibility. Sentiment averages 77%. AI mentions rose 33% to 3,924 in August.</a:t>
            </a:r>
            <a:endParaRPr lang="en-US" sz="1100">
              <a:latin typeface="Franklin Gothic Book" panose="020B0503020102020204" pitchFamily="34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STR from the August STAR report; website and paid from the August O'Rourke report; GBP and AI visibility from Search Atlas (Jul–Aug).</a:t>
            </a:r>
            <a:endParaRPr lang="en-US" sz="850"/>
          </a:p>
        </p:txBody>
      </p:sp>
      <p:sp>
        <p:nvSpPr>
          <p:cNvPr id="24" name="Title 23">
            <a:extLst>
              <a:ext uri="{FF2B5EF4-FFF2-40B4-BE49-F238E27FC236}">
                <a16:creationId xmlns:a16="http://schemas.microsoft.com/office/drawing/2014/main" id="{5BE9C615-3072-459A-722C-D6BC4D033474}"/>
              </a:ext>
            </a:extLst>
          </p:cNvPr>
          <p:cNvSpPr>
            <a:spLocks noGrp="1"/>
          </p:cNvSpPr>
          <p:nvPr>
            <p:ph type="title"/>
          </p:nvPr>
        </p:nvSpPr>
        <p:spPr>
          <a:pattFill prst="pct20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/>
              <a:t>Executive Summary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B3CB6FA-505C-49D3-009E-35B6496C0F69}"/>
              </a:ext>
            </a:extLst>
          </p:cNvPr>
          <p:cNvGrpSpPr/>
          <p:nvPr/>
        </p:nvGrpSpPr>
        <p:grpSpPr>
          <a:xfrm>
            <a:off x="254840" y="797247"/>
            <a:ext cx="4160520" cy="1691640"/>
            <a:chOff x="4709160" y="777240"/>
            <a:chExt cx="4160520" cy="1691640"/>
          </a:xfrm>
        </p:grpSpPr>
        <p:sp>
          <p:nvSpPr>
            <p:cNvPr id="11" name="Shape 8"/>
            <p:cNvSpPr/>
            <p:nvPr/>
          </p:nvSpPr>
          <p:spPr>
            <a:xfrm>
              <a:off x="4709160" y="777240"/>
              <a:ext cx="4160520" cy="169164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8E8E8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Shape 9"/>
            <p:cNvSpPr/>
            <p:nvPr/>
          </p:nvSpPr>
          <p:spPr>
            <a:xfrm>
              <a:off x="4709160" y="777240"/>
              <a:ext cx="54864" cy="1691640"/>
            </a:xfrm>
            <a:prstGeom prst="rect">
              <a:avLst/>
            </a:prstGeom>
            <a:solidFill>
              <a:srgbClr val="D51067"/>
            </a:solidFill>
            <a:ln w="12700">
              <a:solidFill>
                <a:srgbClr val="D5106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 10"/>
            <p:cNvSpPr/>
            <p:nvPr/>
          </p:nvSpPr>
          <p:spPr>
            <a:xfrm>
              <a:off x="4892040" y="886968"/>
              <a:ext cx="384048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50" b="1">
                  <a:solidFill>
                    <a:srgbClr val="1C1C1E"/>
                  </a:solidFill>
                  <a:latin typeface="Franklin Gothic Book" panose="020B0503020102020204" pitchFamily="34" charset="0"/>
                  <a:ea typeface="Calibri" pitchFamily="34" charset="-122"/>
                  <a:cs typeface="Calibri" pitchFamily="34" charset="-120"/>
                </a:rPr>
                <a:t>⚡  STR: August RevPAR Index 108.2, up 17 pts</a:t>
              </a:r>
              <a:endParaRPr lang="en-US" sz="1250">
                <a:latin typeface="Franklin Gothic Book" panose="020B0503020102020204" pitchFamily="34" charset="0"/>
              </a:endParaRPr>
            </a:p>
          </p:txBody>
        </p:sp>
        <p:sp>
          <p:nvSpPr>
            <p:cNvPr id="2" name="Text 11">
              <a:extLst>
                <a:ext uri="{FF2B5EF4-FFF2-40B4-BE49-F238E27FC236}">
                  <a16:creationId xmlns:a16="http://schemas.microsoft.com/office/drawing/2014/main" id="{CBE4960F-5E15-A328-DAD1-8323E5BBAF61}"/>
                </a:ext>
              </a:extLst>
            </p:cNvPr>
            <p:cNvSpPr/>
            <p:nvPr/>
          </p:nvSpPr>
          <p:spPr>
            <a:xfrm>
              <a:off x="5032310" y="1252728"/>
              <a:ext cx="3794760" cy="10515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>
                  <a:solidFill>
                    <a:srgbClr val="555759"/>
                  </a:solidFill>
                  <a:latin typeface="Franklin Gothic Book" panose="020B0503020102020204" pitchFamily="34" charset="0"/>
                  <a:ea typeface="Calibri" pitchFamily="34" charset="-122"/>
                  <a:cs typeface="Calibri" pitchFamily="34" charset="-120"/>
                </a:rPr>
                <a:t>Occ 81.2% vs. comp 78.1% (MPI 104.0). ADR $198.60 vs. $190.95 (ARI 104.0) while the comp set cut rate 6.6%. Transient rate held; group drove the occupancy gain.</a:t>
              </a:r>
            </a:p>
          </p:txBody>
        </p:sp>
      </p:grpSp>
      <p:sp>
        <p:nvSpPr>
          <p:cNvPr id="25" name="Rectangle 24"/>
          <p:cNvSpPr/>
          <p:nvPr/>
        </p:nvSpPr>
        <p:spPr>
          <a:xfrm>
            <a:off x="128016" y="4510849"/>
            <a:ext cx="1307592" cy="195453"/>
          </a:xfrm>
          <a:prstGeom prst="rect">
            <a:avLst/>
          </a:prstGeom>
          <a:solidFill>
            <a:srgbClr val="D6006E"/>
          </a:solidFill>
          <a:ln>
            <a:solidFill>
              <a:srgbClr val="D60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WHY THIS MATTERS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508760" y="4510849"/>
            <a:ext cx="7498080" cy="195453"/>
          </a:xfrm>
          <a:prstGeom prst="rect">
            <a:avLst/>
          </a:prstGeom>
          <a:solidFill>
            <a:srgbClr val="FDE8F3"/>
          </a:solidFill>
          <a:ln w="6350">
            <a:solidFill>
              <a:srgbClr val="D60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bIns="0" rtlCol="0" anchor="ctr"/>
          <a:lstStyle/>
          <a:p>
            <a:pPr algn="ctr"/>
            <a:r>
              <a:rPr sz="850">
                <a:solidFill>
                  <a:srgbClr val="1C1C1E"/>
                </a:solidFill>
                <a:latin typeface="Calibri"/>
              </a:rPr>
              <a:t>August RevPAR beat the comp set by $12 a room: rate held while the market discounted, and group filled the house at $217.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2103120"/>
            <a:ext cx="9144000" cy="4572"/>
          </a:xfrm>
          <a:prstGeom prst="rect">
            <a:avLst/>
          </a:prstGeom>
          <a:solidFill>
            <a:srgbClr val="B52372"/>
          </a:solidFill>
          <a:ln w="12700">
            <a:solidFill>
              <a:srgbClr val="B523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85800" y="12573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>
                <a:solidFill>
                  <a:srgbClr val="FFFFFF"/>
                </a:solidFill>
                <a:latin typeface="Franklin Gothic Book" panose="020B0503020102020204" pitchFamily="34" charset="0"/>
                <a:ea typeface="Georgia" pitchFamily="34" charset="-122"/>
                <a:cs typeface="Georgia" pitchFamily="34" charset="-120"/>
              </a:rPr>
              <a:t>STR Performance</a:t>
            </a:r>
            <a:endParaRPr lang="en-US" sz="3600">
              <a:latin typeface="Franklin Gothic Book" panose="020B05030201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85800" y="222068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E7E1E6"/>
                </a:solidFill>
                <a:latin typeface="Franklin Gothic Book" panose="020B0503020102020204" pitchFamily="34" charset="0"/>
                <a:ea typeface="Calibri" pitchFamily="34" charset="-122"/>
                <a:cs typeface="Calibri" pitchFamily="34" charset="-120"/>
              </a:rPr>
              <a:t>August 2026  |  Competitive Set Benchmarking</a:t>
            </a:r>
            <a:endParaRPr lang="en-US" sz="1600"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20040" y="1828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 AT A GLANCE</a:t>
            </a:r>
            <a:endParaRPr lang="en-US" sz="2000"/>
          </a:p>
        </p:txBody>
      </p:sp>
      <p:sp>
        <p:nvSpPr>
          <p:cNvPr id="5" name="Text 3"/>
          <p:cNvSpPr/>
          <p:nvPr/>
        </p:nvSpPr>
        <p:spPr>
          <a:xfrm>
            <a:off x="6035040" y="91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E7E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2026 STAR report</a:t>
            </a:r>
            <a:endParaRPr lang="en-US" sz="1000"/>
          </a:p>
        </p:txBody>
      </p:sp>
      <p:sp>
        <p:nvSpPr>
          <p:cNvPr id="7" name="Text 4"/>
          <p:cNvSpPr/>
          <p:nvPr/>
        </p:nvSpPr>
        <p:spPr>
          <a:xfrm>
            <a:off x="274320" y="592074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B52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 YTD (Jul–Aug): Occ 78.7% vs. comp 76.3% (MPI 103.1)  |  ADR $190.34 vs. $191.49 (ARI 99.4)  |  RevPAR $149.76 vs. $146.19 (RGI 102.4, +12.5%)</a:t>
            </a:r>
            <a:endParaRPr lang="en-US" sz="900">
              <a:solidFill>
                <a:srgbClr val="B52372"/>
              </a:solidFill>
            </a:endParaRPr>
          </a:p>
        </p:txBody>
      </p:sp>
      <p:sp>
        <p:nvSpPr>
          <p:cNvPr id="8" name="Shape 5"/>
          <p:cNvSpPr/>
          <p:nvPr/>
        </p:nvSpPr>
        <p:spPr>
          <a:xfrm>
            <a:off x="274320" y="1005840"/>
            <a:ext cx="269748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274320" y="1005840"/>
            <a:ext cx="54864" cy="3200400"/>
          </a:xfrm>
          <a:prstGeom prst="rect">
            <a:avLst/>
          </a:prstGeom>
          <a:solidFill>
            <a:srgbClr val="D51067"/>
          </a:solidFill>
          <a:ln w="12700">
            <a:solidFill>
              <a:srgbClr val="D510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57200" y="10789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>
                <a:solidFill>
                  <a:srgbClr val="D51067"/>
                </a:solidFill>
                <a:latin typeface="Franklin Gothic Book" panose="020B0503020102020204" pitchFamily="34" charset="0"/>
                <a:ea typeface="Calibri" pitchFamily="34" charset="-122"/>
                <a:cs typeface="Calibri" pitchFamily="34" charset="-120"/>
              </a:rPr>
              <a:t>OCCUPANCY</a:t>
            </a:r>
            <a:endParaRPr lang="en-US" sz="950">
              <a:latin typeface="Franklin Gothic Book" panose="020B0503020102020204" pitchFamily="34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402336" y="1389888"/>
            <a:ext cx="2441448" cy="4572"/>
          </a:xfrm>
          <a:prstGeom prst="rect">
            <a:avLst/>
          </a:prstGeom>
          <a:solidFill>
            <a:srgbClr val="E7E1E6"/>
          </a:solidFill>
          <a:ln w="12700">
            <a:solidFill>
              <a:srgbClr val="E7E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57200" y="1444752"/>
            <a:ext cx="8591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55759"/>
                </a:solidFill>
                <a:latin typeface="Franklin Gothic Book" panose="020B0503020102020204" pitchFamily="34" charset="0"/>
                <a:ea typeface="Calibri" pitchFamily="34" charset="-122"/>
                <a:cs typeface="Calibri" pitchFamily="34" charset="-120"/>
              </a:rPr>
              <a:t>Current Month</a:t>
            </a:r>
            <a:endParaRPr lang="en-US" sz="900">
              <a:latin typeface="Franklin Gothic Book" panose="020B05030201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57200" y="1673352"/>
            <a:ext cx="11338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C1C1E"/>
                </a:solidFill>
                <a:latin typeface="Franklin Gothic Book" panose="020B0503020102020204" pitchFamily="34" charset="0"/>
                <a:ea typeface="Georgia" pitchFamily="34" charset="-122"/>
                <a:cs typeface="Georgia" pitchFamily="34" charset="-120"/>
              </a:rPr>
              <a:t>81.2%</a:t>
            </a:r>
            <a:endParaRPr lang="en-US" sz="2800">
              <a:latin typeface="Franklin Gothic Book" panose="020B0503020102020204" pitchFamily="3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402336" y="2240280"/>
            <a:ext cx="2441448" cy="4572"/>
          </a:xfrm>
          <a:prstGeom prst="rect">
            <a:avLst/>
          </a:prstGeom>
          <a:solidFill>
            <a:srgbClr val="E7E1E6"/>
          </a:solidFill>
          <a:ln w="12700">
            <a:solidFill>
              <a:srgbClr val="E7E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57200" y="228600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55759"/>
                </a:solidFill>
                <a:latin typeface="Franklin Gothic Book" panose="020B0503020102020204" pitchFamily="34" charset="0"/>
                <a:ea typeface="Calibri" pitchFamily="34" charset="-122"/>
                <a:cs typeface="Calibri" pitchFamily="34" charset="-120"/>
              </a:rPr>
              <a:t>Competitive Set</a:t>
            </a:r>
            <a:endParaRPr lang="en-US" sz="900">
              <a:latin typeface="Franklin Gothic Book" panose="020B0503020102020204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457200" y="2505456"/>
            <a:ext cx="9688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>
                <a:solidFill>
                  <a:srgbClr val="888888"/>
                </a:solidFill>
                <a:latin typeface="Franklin Gothic Book" panose="020B0503020102020204" pitchFamily="34" charset="0"/>
                <a:ea typeface="Georgia" pitchFamily="34" charset="-122"/>
                <a:cs typeface="Georgia" pitchFamily="34" charset="-120"/>
              </a:rPr>
              <a:t>78.1%</a:t>
            </a:r>
            <a:endParaRPr lang="en-US" sz="2200">
              <a:latin typeface="Franklin Gothic Book" panose="020B0503020102020204" pitchFamily="34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402336" y="2962656"/>
            <a:ext cx="2441448" cy="4572"/>
          </a:xfrm>
          <a:prstGeom prst="rect">
            <a:avLst/>
          </a:prstGeom>
          <a:solidFill>
            <a:srgbClr val="E7E1E6"/>
          </a:solidFill>
          <a:ln w="12700">
            <a:solidFill>
              <a:srgbClr val="E7E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57200" y="3017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555759"/>
                </a:solidFill>
                <a:latin typeface="Franklin Gothic Book" panose="020B0503020102020204" pitchFamily="34" charset="0"/>
                <a:ea typeface="Calibri" pitchFamily="34" charset="-122"/>
                <a:cs typeface="Calibri" pitchFamily="34" charset="-120"/>
              </a:rPr>
              <a:t>Index (vs. 100 = Fair Share)</a:t>
            </a:r>
            <a:endParaRPr lang="en-US" sz="850">
              <a:latin typeface="Franklin Gothic Book" panose="020B0503020102020204" pitchFamily="34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457200" y="3236976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B52372"/>
                </a:solidFill>
                <a:latin typeface="Franklin Gothic Book" panose="020B0503020102020204" pitchFamily="34" charset="0"/>
                <a:ea typeface="Georgia" pitchFamily="34" charset="-122"/>
                <a:cs typeface="Georgia" pitchFamily="34" charset="-120"/>
              </a:rPr>
              <a:t>104.0</a:t>
            </a:r>
            <a:endParaRPr lang="en-US" sz="2200">
              <a:solidFill>
                <a:srgbClr val="B52372"/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457200" y="360273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55759"/>
                </a:solidFill>
                <a:latin typeface="Franklin Gothic Book" panose="020B0503020102020204" pitchFamily="34" charset="0"/>
                <a:ea typeface="Calibri" pitchFamily="34" charset="-122"/>
                <a:cs typeface="Calibri" pitchFamily="34" charset="-120"/>
              </a:rPr>
              <a:t>+7.6% vs. last year</a:t>
            </a:r>
            <a:endParaRPr lang="en-US" sz="900">
              <a:latin typeface="Franklin Gothic Book" panose="020B0503020102020204" pitchFamily="34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3172968" y="1005840"/>
            <a:ext cx="269748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3172968" y="1005840"/>
            <a:ext cx="54864" cy="3200400"/>
          </a:xfrm>
          <a:prstGeom prst="rect">
            <a:avLst/>
          </a:prstGeom>
          <a:solidFill>
            <a:srgbClr val="D51067"/>
          </a:solidFill>
          <a:ln w="12700">
            <a:solidFill>
              <a:srgbClr val="D510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3355848" y="10789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>
                <a:solidFill>
                  <a:srgbClr val="D51067"/>
                </a:solidFill>
                <a:latin typeface="Franklin Gothic Book" panose="020B0503020102020204" pitchFamily="34" charset="0"/>
                <a:ea typeface="Calibri" pitchFamily="34" charset="-122"/>
                <a:cs typeface="Calibri" pitchFamily="34" charset="-120"/>
              </a:rPr>
              <a:t>ADR</a:t>
            </a:r>
            <a:endParaRPr lang="en-US" sz="950">
              <a:latin typeface="Franklin Gothic Book" panose="020B0503020102020204" pitchFamily="34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3300984" y="1389888"/>
            <a:ext cx="2441448" cy="4572"/>
          </a:xfrm>
          <a:prstGeom prst="rect">
            <a:avLst/>
          </a:prstGeom>
          <a:solidFill>
            <a:srgbClr val="E7E1E6"/>
          </a:solidFill>
          <a:ln w="12700">
            <a:solidFill>
              <a:srgbClr val="E7E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3355848" y="144475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55759"/>
                </a:solidFill>
                <a:latin typeface="Franklin Gothic Book" panose="020B0503020102020204" pitchFamily="34" charset="0"/>
                <a:ea typeface="Calibri" pitchFamily="34" charset="-122"/>
                <a:cs typeface="Calibri" pitchFamily="34" charset="-120"/>
              </a:rPr>
              <a:t>Wylie Inn</a:t>
            </a:r>
            <a:endParaRPr lang="en-US" sz="900">
              <a:latin typeface="Franklin Gothic Book" panose="020B0503020102020204" pitchFamily="34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3355848" y="167335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C1C1E"/>
                </a:solidFill>
                <a:latin typeface="Franklin Gothic Book" panose="020B0503020102020204" pitchFamily="34" charset="0"/>
                <a:ea typeface="Georgia" pitchFamily="34" charset="-122"/>
                <a:cs typeface="Georgia" pitchFamily="34" charset="-120"/>
              </a:rPr>
              <a:t>$198.6</a:t>
            </a:r>
            <a:endParaRPr lang="en-US" sz="2800">
              <a:latin typeface="Franklin Gothic Book" panose="020B0503020102020204" pitchFamily="34" charset="0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3300984" y="2240280"/>
            <a:ext cx="2441448" cy="4572"/>
          </a:xfrm>
          <a:prstGeom prst="rect">
            <a:avLst/>
          </a:prstGeom>
          <a:solidFill>
            <a:srgbClr val="E7E1E6"/>
          </a:solidFill>
          <a:ln w="12700">
            <a:solidFill>
              <a:srgbClr val="E7E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3355848" y="228600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55759"/>
                </a:solidFill>
                <a:latin typeface="Franklin Gothic Book" panose="020B0503020102020204" pitchFamily="34" charset="0"/>
                <a:ea typeface="Calibri" pitchFamily="34" charset="-122"/>
                <a:cs typeface="Calibri" pitchFamily="34" charset="-120"/>
              </a:rPr>
              <a:t>Competitive Set</a:t>
            </a:r>
            <a:endParaRPr lang="en-US" sz="900">
              <a:latin typeface="Franklin Gothic Book" panose="020B0503020102020204" pitchFamily="34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3355848" y="250545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>
                <a:solidFill>
                  <a:srgbClr val="888888"/>
                </a:solidFill>
                <a:latin typeface="Franklin Gothic Book" panose="020B0503020102020204" pitchFamily="34" charset="0"/>
                <a:ea typeface="Georgia" pitchFamily="34" charset="-122"/>
                <a:cs typeface="Georgia" pitchFamily="34" charset="-120"/>
              </a:rPr>
              <a:t>$190.9</a:t>
            </a:r>
            <a:endParaRPr lang="en-US" sz="2200">
              <a:latin typeface="Franklin Gothic Book" panose="020B0503020102020204" pitchFamily="34" charset="0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3300984" y="2962656"/>
            <a:ext cx="2441448" cy="4572"/>
          </a:xfrm>
          <a:prstGeom prst="rect">
            <a:avLst/>
          </a:prstGeom>
          <a:solidFill>
            <a:srgbClr val="E7E1E6"/>
          </a:solidFill>
          <a:ln w="12700">
            <a:solidFill>
              <a:srgbClr val="E7E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3355848" y="3017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555759"/>
                </a:solidFill>
                <a:latin typeface="Franklin Gothic Book" panose="020B0503020102020204" pitchFamily="34" charset="0"/>
                <a:ea typeface="Calibri" pitchFamily="34" charset="-122"/>
                <a:cs typeface="Calibri" pitchFamily="34" charset="-120"/>
              </a:rPr>
              <a:t>Index (vs. 100 = Fair Share)</a:t>
            </a:r>
            <a:endParaRPr lang="en-US" sz="850">
              <a:latin typeface="Franklin Gothic Book" panose="020B0503020102020204" pitchFamily="34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3355848" y="323697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B52372"/>
                </a:solidFill>
                <a:latin typeface="Franklin Gothic Book" panose="020B0503020102020204" pitchFamily="34" charset="0"/>
                <a:ea typeface="Georgia" pitchFamily="34" charset="-122"/>
                <a:cs typeface="Georgia" pitchFamily="34" charset="-120"/>
              </a:rPr>
              <a:t>104.0</a:t>
            </a:r>
            <a:endParaRPr lang="en-US" sz="2200">
              <a:solidFill>
                <a:srgbClr val="B52372"/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3355848" y="360273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>
              <a:latin typeface="Franklin Gothic Book" panose="020B0503020102020204" pitchFamily="34" charset="0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6071616" y="1005840"/>
            <a:ext cx="269748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6071616" y="1005840"/>
            <a:ext cx="54864" cy="3200400"/>
          </a:xfrm>
          <a:prstGeom prst="rect">
            <a:avLst/>
          </a:prstGeom>
          <a:solidFill>
            <a:srgbClr val="D51067"/>
          </a:solidFill>
          <a:ln w="12700">
            <a:solidFill>
              <a:srgbClr val="D510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6254496" y="10789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>
                <a:solidFill>
                  <a:srgbClr val="D51067"/>
                </a:solidFill>
                <a:latin typeface="Franklin Gothic Book" panose="020B0503020102020204" pitchFamily="34" charset="0"/>
                <a:ea typeface="Calibri" pitchFamily="34" charset="-122"/>
                <a:cs typeface="Calibri" pitchFamily="34" charset="-120"/>
              </a:rPr>
              <a:t>REVPAR</a:t>
            </a:r>
            <a:endParaRPr lang="en-US" sz="950">
              <a:latin typeface="Franklin Gothic Book" panose="020B0503020102020204" pitchFamily="34" charset="0"/>
            </a:endParaRPr>
          </a:p>
        </p:txBody>
      </p:sp>
      <p:sp>
        <p:nvSpPr>
          <p:cNvPr id="37" name="Shape 34"/>
          <p:cNvSpPr/>
          <p:nvPr/>
        </p:nvSpPr>
        <p:spPr>
          <a:xfrm>
            <a:off x="6199632" y="1389888"/>
            <a:ext cx="2441448" cy="4572"/>
          </a:xfrm>
          <a:prstGeom prst="rect">
            <a:avLst/>
          </a:prstGeom>
          <a:solidFill>
            <a:srgbClr val="E7E1E6"/>
          </a:solidFill>
          <a:ln w="12700">
            <a:solidFill>
              <a:srgbClr val="E7E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6254496" y="144475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55759"/>
                </a:solidFill>
                <a:latin typeface="Franklin Gothic Book" panose="020B0503020102020204" pitchFamily="34" charset="0"/>
                <a:ea typeface="Calibri" pitchFamily="34" charset="-122"/>
                <a:cs typeface="Calibri" pitchFamily="34" charset="-120"/>
              </a:rPr>
              <a:t>Wylie Inn</a:t>
            </a:r>
            <a:endParaRPr lang="en-US" sz="900">
              <a:latin typeface="Franklin Gothic Book" panose="020B0503020102020204" pitchFamily="34" charset="0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6254496" y="167335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C1C1E"/>
                </a:solidFill>
                <a:latin typeface="Franklin Gothic Book" panose="020B0503020102020204" pitchFamily="34" charset="0"/>
                <a:ea typeface="Georgia" pitchFamily="34" charset="-122"/>
                <a:cs typeface="Georgia" pitchFamily="34" charset="-120"/>
              </a:rPr>
              <a:t>$161.4</a:t>
            </a:r>
            <a:endParaRPr lang="en-US" sz="2800">
              <a:latin typeface="Franklin Gothic Book" panose="020B0503020102020204" pitchFamily="34" charset="0"/>
            </a:endParaRPr>
          </a:p>
        </p:txBody>
      </p:sp>
      <p:sp>
        <p:nvSpPr>
          <p:cNvPr id="40" name="Shape 37"/>
          <p:cNvSpPr/>
          <p:nvPr/>
        </p:nvSpPr>
        <p:spPr>
          <a:xfrm>
            <a:off x="6199632" y="2240280"/>
            <a:ext cx="2441448" cy="4572"/>
          </a:xfrm>
          <a:prstGeom prst="rect">
            <a:avLst/>
          </a:prstGeom>
          <a:solidFill>
            <a:srgbClr val="E7E1E6"/>
          </a:solidFill>
          <a:ln w="12700">
            <a:solidFill>
              <a:srgbClr val="E7E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6254496" y="228600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55759"/>
                </a:solidFill>
                <a:latin typeface="Franklin Gothic Book" panose="020B0503020102020204" pitchFamily="34" charset="0"/>
                <a:ea typeface="Calibri" pitchFamily="34" charset="-122"/>
                <a:cs typeface="Calibri" pitchFamily="34" charset="-120"/>
              </a:rPr>
              <a:t>Competitive Set</a:t>
            </a:r>
            <a:endParaRPr lang="en-US" sz="900">
              <a:latin typeface="Franklin Gothic Book" panose="020B0503020102020204" pitchFamily="34" charset="0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6254496" y="250545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>
                <a:solidFill>
                  <a:srgbClr val="888888"/>
                </a:solidFill>
                <a:latin typeface="Franklin Gothic Book" panose="020B0503020102020204" pitchFamily="34" charset="0"/>
                <a:ea typeface="Georgia" pitchFamily="34" charset="-122"/>
                <a:cs typeface="Georgia" pitchFamily="34" charset="-120"/>
              </a:rPr>
              <a:t>$149.1</a:t>
            </a:r>
            <a:endParaRPr lang="en-US" sz="2200">
              <a:latin typeface="Franklin Gothic Book" panose="020B0503020102020204" pitchFamily="34" charset="0"/>
            </a:endParaRPr>
          </a:p>
        </p:txBody>
      </p:sp>
      <p:sp>
        <p:nvSpPr>
          <p:cNvPr id="43" name="Shape 40"/>
          <p:cNvSpPr/>
          <p:nvPr/>
        </p:nvSpPr>
        <p:spPr>
          <a:xfrm>
            <a:off x="6199632" y="2962656"/>
            <a:ext cx="2441448" cy="4572"/>
          </a:xfrm>
          <a:prstGeom prst="rect">
            <a:avLst/>
          </a:prstGeom>
          <a:solidFill>
            <a:srgbClr val="E7E1E6"/>
          </a:solidFill>
          <a:ln w="12700">
            <a:solidFill>
              <a:srgbClr val="E7E1E6"/>
            </a:solidFill>
            <a:prstDash val="solid"/>
          </a:ln>
        </p:spPr>
        <p:txBody>
          <a:bodyPr/>
          <a:lstStyle/>
          <a:p>
            <a:endParaRPr lang="en-US">
              <a:latin typeface="Franklin Gothic Book" panose="020B0503020102020204" pitchFamily="34" charset="0"/>
            </a:endParaRPr>
          </a:p>
        </p:txBody>
      </p:sp>
      <p:sp>
        <p:nvSpPr>
          <p:cNvPr id="44" name="Text 41"/>
          <p:cNvSpPr/>
          <p:nvPr/>
        </p:nvSpPr>
        <p:spPr>
          <a:xfrm>
            <a:off x="6254496" y="3017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555759"/>
                </a:solidFill>
                <a:latin typeface="Franklin Gothic Book" panose="020B0503020102020204" pitchFamily="34" charset="0"/>
                <a:ea typeface="Calibri" pitchFamily="34" charset="-122"/>
                <a:cs typeface="Calibri" pitchFamily="34" charset="-120"/>
              </a:rPr>
              <a:t>Index (vs. 100 = Fair Share)</a:t>
            </a:r>
            <a:endParaRPr lang="en-US" sz="850">
              <a:latin typeface="Franklin Gothic Book" panose="020B0503020102020204" pitchFamily="34" charset="0"/>
            </a:endParaRPr>
          </a:p>
        </p:txBody>
      </p:sp>
      <p:sp>
        <p:nvSpPr>
          <p:cNvPr id="45" name="Text 42"/>
          <p:cNvSpPr/>
          <p:nvPr/>
        </p:nvSpPr>
        <p:spPr>
          <a:xfrm>
            <a:off x="6254496" y="323697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B52372"/>
                </a:solidFill>
                <a:latin typeface="Franklin Gothic Book" panose="020B0503020102020204" pitchFamily="34" charset="0"/>
                <a:ea typeface="Georgia" pitchFamily="34" charset="-122"/>
                <a:cs typeface="Georgia" pitchFamily="34" charset="-120"/>
              </a:rPr>
              <a:t>108.2</a:t>
            </a:r>
            <a:endParaRPr lang="en-US" sz="2200">
              <a:solidFill>
                <a:srgbClr val="B52372"/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46" name="Text 43"/>
          <p:cNvSpPr/>
          <p:nvPr/>
        </p:nvSpPr>
        <p:spPr>
          <a:xfrm>
            <a:off x="6254496" y="360273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>
              <a:latin typeface="Franklin Gothic Book" panose="020B0503020102020204" pitchFamily="34" charset="0"/>
            </a:endParaRPr>
          </a:p>
        </p:txBody>
      </p:sp>
      <p:sp>
        <p:nvSpPr>
          <p:cNvPr id="47" name="Text 44"/>
          <p:cNvSpPr/>
          <p:nvPr/>
        </p:nvSpPr>
        <p:spPr>
          <a:xfrm>
            <a:off x="274320" y="437083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555759"/>
                </a:solidFill>
                <a:latin typeface="Franklin Gothic Book" panose="020B0503020102020204" pitchFamily="34" charset="0"/>
                <a:ea typeface="Calibri" pitchFamily="34" charset="-122"/>
                <a:cs typeface="Calibri" pitchFamily="34" charset="-120"/>
              </a:rPr>
              <a:t>Running 3-Month  |  Occ 76.0% (MPI 101.9)  |  ADR $193.25 (ARI 97.2)  |  RevPAR $146.86 (RGI 99.1)  |  Running 12-Month RGI 89.1, up 14.4%</a:t>
            </a:r>
            <a:endParaRPr lang="en-US" sz="900">
              <a:latin typeface="Franklin Gothic Book" panose="020B0503020102020204" pitchFamily="34" charset="0"/>
            </a:endParaRPr>
          </a:p>
        </p:txBody>
      </p:sp>
      <p:sp>
        <p:nvSpPr>
          <p:cNvPr id="48" name="Title 47">
            <a:extLst>
              <a:ext uri="{FF2B5EF4-FFF2-40B4-BE49-F238E27FC236}">
                <a16:creationId xmlns:a16="http://schemas.microsoft.com/office/drawing/2014/main" id="{1F32B8BF-2376-B47D-2FAB-3A2307D6416D}"/>
              </a:ext>
            </a:extLst>
          </p:cNvPr>
          <p:cNvSpPr>
            <a:spLocks noGrp="1"/>
          </p:cNvSpPr>
          <p:nvPr>
            <p:ph type="title"/>
          </p:nvPr>
        </p:nvSpPr>
        <p:spPr>
          <a:pattFill prst="pct20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/>
              <a:t>STR PERFORMANCE: August 2026</a:t>
            </a:r>
          </a:p>
        </p:txBody>
      </p:sp>
      <p:sp>
        <p:nvSpPr>
          <p:cNvPr id="2" name="Text 10">
            <a:extLst>
              <a:ext uri="{FF2B5EF4-FFF2-40B4-BE49-F238E27FC236}">
                <a16:creationId xmlns:a16="http://schemas.microsoft.com/office/drawing/2014/main" id="{A435F1F1-45E2-CA64-AF39-42EFE2B16DCD}"/>
              </a:ext>
            </a:extLst>
          </p:cNvPr>
          <p:cNvSpPr/>
          <p:nvPr/>
        </p:nvSpPr>
        <p:spPr>
          <a:xfrm>
            <a:off x="1824228" y="1682496"/>
            <a:ext cx="11338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C1C1E"/>
                </a:solidFill>
                <a:latin typeface="Franklin Gothic Book" panose="020B0503020102020204" pitchFamily="34" charset="0"/>
                <a:ea typeface="Georgia" pitchFamily="34" charset="-122"/>
                <a:cs typeface="Georgia" pitchFamily="34" charset="-120"/>
              </a:rPr>
              <a:t>+11.0%</a:t>
            </a:r>
            <a:endParaRPr lang="en-US" sz="2800">
              <a:latin typeface="Franklin Gothic Book" panose="020B0503020102020204" pitchFamily="34" charset="0"/>
            </a:endParaRPr>
          </a:p>
        </p:txBody>
      </p:sp>
      <p:sp>
        <p:nvSpPr>
          <p:cNvPr id="3" name="Text 13">
            <a:extLst>
              <a:ext uri="{FF2B5EF4-FFF2-40B4-BE49-F238E27FC236}">
                <a16:creationId xmlns:a16="http://schemas.microsoft.com/office/drawing/2014/main" id="{DA01710B-38F5-C7E2-87FC-E52D87E1FBD5}"/>
              </a:ext>
            </a:extLst>
          </p:cNvPr>
          <p:cNvSpPr/>
          <p:nvPr/>
        </p:nvSpPr>
        <p:spPr>
          <a:xfrm>
            <a:off x="1824228" y="2514600"/>
            <a:ext cx="9688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>
                <a:solidFill>
                  <a:srgbClr val="888888"/>
                </a:solidFill>
                <a:latin typeface="Franklin Gothic Book" panose="020B0503020102020204" pitchFamily="34" charset="0"/>
                <a:ea typeface="Georgia" pitchFamily="34" charset="-122"/>
                <a:cs typeface="Georgia" pitchFamily="34" charset="-120"/>
              </a:rPr>
              <a:t>+3.2%</a:t>
            </a:r>
            <a:endParaRPr lang="en-US" sz="2200">
              <a:latin typeface="Franklin Gothic Book" panose="020B0503020102020204" pitchFamily="34" charset="0"/>
            </a:endParaRPr>
          </a:p>
        </p:txBody>
      </p:sp>
      <p:sp>
        <p:nvSpPr>
          <p:cNvPr id="49" name="Text 9">
            <a:extLst>
              <a:ext uri="{FF2B5EF4-FFF2-40B4-BE49-F238E27FC236}">
                <a16:creationId xmlns:a16="http://schemas.microsoft.com/office/drawing/2014/main" id="{4DF9CC40-8830-A195-26DA-FDB1E3181738}"/>
              </a:ext>
            </a:extLst>
          </p:cNvPr>
          <p:cNvSpPr/>
          <p:nvPr/>
        </p:nvSpPr>
        <p:spPr>
          <a:xfrm>
            <a:off x="1879092" y="1440180"/>
            <a:ext cx="8591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55759"/>
                </a:solidFill>
                <a:latin typeface="Franklin Gothic Book" panose="020B0503020102020204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900">
              <a:latin typeface="Franklin Gothic Book" panose="020B0503020102020204" pitchFamily="34" charset="0"/>
            </a:endParaRPr>
          </a:p>
        </p:txBody>
      </p:sp>
      <p:sp>
        <p:nvSpPr>
          <p:cNvPr id="50" name="Text 9">
            <a:extLst>
              <a:ext uri="{FF2B5EF4-FFF2-40B4-BE49-F238E27FC236}">
                <a16:creationId xmlns:a16="http://schemas.microsoft.com/office/drawing/2014/main" id="{E483CC21-ECD8-D39F-A81F-429CA9360C62}"/>
              </a:ext>
            </a:extLst>
          </p:cNvPr>
          <p:cNvSpPr/>
          <p:nvPr/>
        </p:nvSpPr>
        <p:spPr>
          <a:xfrm>
            <a:off x="7787508" y="1404300"/>
            <a:ext cx="8591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55759"/>
                </a:solidFill>
                <a:latin typeface="Franklin Gothic Book" panose="020B0503020102020204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900">
              <a:latin typeface="Franklin Gothic Book" panose="020B0503020102020204" pitchFamily="34" charset="0"/>
            </a:endParaRPr>
          </a:p>
        </p:txBody>
      </p:sp>
      <p:sp>
        <p:nvSpPr>
          <p:cNvPr id="51" name="Text 9">
            <a:extLst>
              <a:ext uri="{FF2B5EF4-FFF2-40B4-BE49-F238E27FC236}">
                <a16:creationId xmlns:a16="http://schemas.microsoft.com/office/drawing/2014/main" id="{EF41D20B-3502-851B-E941-8AC824966218}"/>
              </a:ext>
            </a:extLst>
          </p:cNvPr>
          <p:cNvSpPr/>
          <p:nvPr/>
        </p:nvSpPr>
        <p:spPr>
          <a:xfrm>
            <a:off x="5075318" y="1447038"/>
            <a:ext cx="8591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555759"/>
                </a:solidFill>
                <a:latin typeface="Franklin Gothic Book" panose="020B0503020102020204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900">
              <a:latin typeface="Franklin Gothic Book" panose="020B0503020102020204" pitchFamily="34" charset="0"/>
            </a:endParaRPr>
          </a:p>
        </p:txBody>
      </p:sp>
      <p:sp>
        <p:nvSpPr>
          <p:cNvPr id="52" name="Text 10">
            <a:extLst>
              <a:ext uri="{FF2B5EF4-FFF2-40B4-BE49-F238E27FC236}">
                <a16:creationId xmlns:a16="http://schemas.microsoft.com/office/drawing/2014/main" id="{3820399E-3C34-E32C-442B-C470C2116939}"/>
              </a:ext>
            </a:extLst>
          </p:cNvPr>
          <p:cNvSpPr/>
          <p:nvPr/>
        </p:nvSpPr>
        <p:spPr>
          <a:xfrm>
            <a:off x="5014490" y="1645920"/>
            <a:ext cx="11338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C1C1E"/>
                </a:solidFill>
                <a:latin typeface="Franklin Gothic Book" panose="020B0503020102020204" pitchFamily="34" charset="0"/>
                <a:ea typeface="Georgia" pitchFamily="34" charset="-122"/>
                <a:cs typeface="Georgia" pitchFamily="34" charset="-120"/>
              </a:rPr>
              <a:t>+1.9%</a:t>
            </a:r>
            <a:endParaRPr lang="en-US" sz="2800">
              <a:latin typeface="Franklin Gothic Book" panose="020B0503020102020204" pitchFamily="34" charset="0"/>
            </a:endParaRPr>
          </a:p>
        </p:txBody>
      </p:sp>
      <p:sp>
        <p:nvSpPr>
          <p:cNvPr id="53" name="Text 13">
            <a:extLst>
              <a:ext uri="{FF2B5EF4-FFF2-40B4-BE49-F238E27FC236}">
                <a16:creationId xmlns:a16="http://schemas.microsoft.com/office/drawing/2014/main" id="{52DEBA04-2D6F-4D5E-9510-C94ED83E314A}"/>
              </a:ext>
            </a:extLst>
          </p:cNvPr>
          <p:cNvSpPr/>
          <p:nvPr/>
        </p:nvSpPr>
        <p:spPr>
          <a:xfrm>
            <a:off x="4965192" y="2546952"/>
            <a:ext cx="9688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>
                <a:solidFill>
                  <a:srgbClr val="888888"/>
                </a:solidFill>
                <a:latin typeface="Franklin Gothic Book" panose="020B0503020102020204" pitchFamily="34" charset="0"/>
                <a:ea typeface="Georgia" pitchFamily="34" charset="-122"/>
                <a:cs typeface="Georgia" pitchFamily="34" charset="-120"/>
              </a:rPr>
              <a:t>-6.6%</a:t>
            </a:r>
            <a:endParaRPr lang="en-US" sz="2200">
              <a:latin typeface="Franklin Gothic Book" panose="020B0503020102020204" pitchFamily="34" charset="0"/>
            </a:endParaRPr>
          </a:p>
        </p:txBody>
      </p:sp>
      <p:sp>
        <p:nvSpPr>
          <p:cNvPr id="54" name="Text 16">
            <a:extLst>
              <a:ext uri="{FF2B5EF4-FFF2-40B4-BE49-F238E27FC236}">
                <a16:creationId xmlns:a16="http://schemas.microsoft.com/office/drawing/2014/main" id="{35F1A1CC-D40E-4DEF-E24D-0627F110D06A}"/>
              </a:ext>
            </a:extLst>
          </p:cNvPr>
          <p:cNvSpPr/>
          <p:nvPr/>
        </p:nvSpPr>
        <p:spPr>
          <a:xfrm>
            <a:off x="4965192" y="3278472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B52372"/>
                </a:solidFill>
                <a:latin typeface="Franklin Gothic Book" panose="020B0503020102020204" pitchFamily="34" charset="0"/>
                <a:ea typeface="Georgia" pitchFamily="34" charset="-122"/>
                <a:cs typeface="Georgia" pitchFamily="34" charset="-120"/>
              </a:rPr>
              <a:t>+9.1%</a:t>
            </a:r>
            <a:endParaRPr lang="en-US" sz="2200">
              <a:solidFill>
                <a:srgbClr val="B52372"/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55" name="Text 10">
            <a:extLst>
              <a:ext uri="{FF2B5EF4-FFF2-40B4-BE49-F238E27FC236}">
                <a16:creationId xmlns:a16="http://schemas.microsoft.com/office/drawing/2014/main" id="{EB65B22F-8636-8868-B5F3-0B2FECD9331B}"/>
              </a:ext>
            </a:extLst>
          </p:cNvPr>
          <p:cNvSpPr/>
          <p:nvPr/>
        </p:nvSpPr>
        <p:spPr>
          <a:xfrm>
            <a:off x="7772400" y="1661922"/>
            <a:ext cx="11338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C1C1E"/>
                </a:solidFill>
                <a:latin typeface="Franklin Gothic Book" panose="020B0503020102020204" pitchFamily="34" charset="0"/>
              </a:rPr>
              <a:t>+13.1%</a:t>
            </a:r>
            <a:endParaRPr lang="en-US" sz="2800">
              <a:latin typeface="Franklin Gothic Book" panose="020B0503020102020204" pitchFamily="34" charset="0"/>
            </a:endParaRPr>
          </a:p>
        </p:txBody>
      </p:sp>
      <p:sp>
        <p:nvSpPr>
          <p:cNvPr id="56" name="Text 13">
            <a:extLst>
              <a:ext uri="{FF2B5EF4-FFF2-40B4-BE49-F238E27FC236}">
                <a16:creationId xmlns:a16="http://schemas.microsoft.com/office/drawing/2014/main" id="{E962D203-9FD1-5F8F-903C-0D0A4E06F2C7}"/>
              </a:ext>
            </a:extLst>
          </p:cNvPr>
          <p:cNvSpPr/>
          <p:nvPr/>
        </p:nvSpPr>
        <p:spPr>
          <a:xfrm>
            <a:off x="7772400" y="2494026"/>
            <a:ext cx="9688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>
                <a:solidFill>
                  <a:srgbClr val="888888"/>
                </a:solidFill>
                <a:latin typeface="Franklin Gothic Book" panose="020B0503020102020204" pitchFamily="34" charset="0"/>
                <a:ea typeface="Georgia" pitchFamily="34" charset="-122"/>
                <a:cs typeface="Georgia" pitchFamily="34" charset="-120"/>
              </a:rPr>
              <a:t>-3.6%</a:t>
            </a:r>
            <a:endParaRPr lang="en-US" sz="2200">
              <a:latin typeface="Franklin Gothic Book" panose="020B0503020102020204" pitchFamily="34" charset="0"/>
            </a:endParaRPr>
          </a:p>
        </p:txBody>
      </p:sp>
      <p:sp>
        <p:nvSpPr>
          <p:cNvPr id="57" name="Text 16">
            <a:extLst>
              <a:ext uri="{FF2B5EF4-FFF2-40B4-BE49-F238E27FC236}">
                <a16:creationId xmlns:a16="http://schemas.microsoft.com/office/drawing/2014/main" id="{F440AC88-1CB3-C86F-B4D5-F4CE917E3423}"/>
              </a:ext>
            </a:extLst>
          </p:cNvPr>
          <p:cNvSpPr/>
          <p:nvPr/>
        </p:nvSpPr>
        <p:spPr>
          <a:xfrm>
            <a:off x="7882128" y="3234690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B52372"/>
                </a:solidFill>
                <a:latin typeface="Franklin Gothic Book" panose="020B0503020102020204" pitchFamily="34" charset="0"/>
                <a:ea typeface="Georgia" pitchFamily="34" charset="-122"/>
                <a:cs typeface="Georgia" pitchFamily="34" charset="-120"/>
              </a:rPr>
              <a:t>+17.4%</a:t>
            </a:r>
            <a:endParaRPr lang="en-US" sz="2200">
              <a:solidFill>
                <a:srgbClr val="B52372"/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128016" y="4510849"/>
            <a:ext cx="1307592" cy="195453"/>
          </a:xfrm>
          <a:prstGeom prst="rect">
            <a:avLst/>
          </a:prstGeom>
          <a:solidFill>
            <a:srgbClr val="D6006E"/>
          </a:solidFill>
          <a:ln>
            <a:solidFill>
              <a:srgbClr val="D60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WHY THIS MATTERS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508760" y="4510849"/>
            <a:ext cx="7498080" cy="195453"/>
          </a:xfrm>
          <a:prstGeom prst="rect">
            <a:avLst/>
          </a:prstGeom>
          <a:solidFill>
            <a:srgbClr val="FDE8F3"/>
          </a:solidFill>
          <a:ln w="6350">
            <a:solidFill>
              <a:srgbClr val="D60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bIns="0" rtlCol="0" anchor="ctr"/>
          <a:lstStyle/>
          <a:p>
            <a:pPr algn="ctr"/>
            <a:r>
              <a:rPr sz="850">
                <a:solidFill>
                  <a:srgbClr val="1C1C1E"/>
                </a:solidFill>
                <a:latin typeface="Calibri"/>
              </a:rPr>
              <a:t>Wylie beat the comp set on occupancy and rate while the market cut ADR 6.6%. RevPAR index 108.2, up 17 pts on last year.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2103120"/>
            <a:ext cx="9144000" cy="4572"/>
          </a:xfrm>
          <a:prstGeom prst="rect">
            <a:avLst/>
          </a:prstGeom>
          <a:solidFill>
            <a:srgbClr val="B52372"/>
          </a:solidFill>
          <a:ln w="12700">
            <a:solidFill>
              <a:srgbClr val="B523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85800" y="12801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>
                <a:solidFill>
                  <a:srgbClr val="FFFFFF"/>
                </a:solidFill>
                <a:latin typeface="Franklin Gothic Book" panose="020B0503020102020204" pitchFamily="34" charset="0"/>
                <a:ea typeface="Georgia" pitchFamily="34" charset="-122"/>
                <a:cs typeface="Georgia" pitchFamily="34" charset="-120"/>
              </a:rPr>
              <a:t>Website Performance</a:t>
            </a:r>
            <a:endParaRPr lang="en-US" sz="3600">
              <a:latin typeface="Franklin Gothic Book" panose="020B05030201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85800" y="21488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E7E1E6"/>
                </a:solidFill>
                <a:latin typeface="Franklin Gothic Book" panose="020B0503020102020204" pitchFamily="34" charset="0"/>
                <a:ea typeface="Calibri" pitchFamily="34" charset="-122"/>
                <a:cs typeface="Calibri" pitchFamily="34" charset="-120"/>
              </a:rPr>
              <a:t>August 2026  |  Source: O'Rourke Digital Marketing Report</a:t>
            </a:r>
            <a:endParaRPr lang="en-US" sz="1600">
              <a:latin typeface="Franklin Gothic Book" panose="020B05030201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28016" y="4510849"/>
            <a:ext cx="1307592" cy="195453"/>
          </a:xfrm>
          <a:prstGeom prst="rect">
            <a:avLst/>
          </a:prstGeom>
          <a:solidFill>
            <a:srgbClr val="D6006E"/>
          </a:solidFill>
          <a:ln>
            <a:solidFill>
              <a:srgbClr val="D60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WHY THIS MATTERS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1508760" y="4510849"/>
            <a:ext cx="7498080" cy="195453"/>
          </a:xfrm>
          <a:prstGeom prst="rect">
            <a:avLst/>
          </a:prstGeom>
          <a:solidFill>
            <a:srgbClr val="FDE8F3"/>
          </a:solidFill>
          <a:ln w="6350">
            <a:solidFill>
              <a:srgbClr val="D60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bIns="0" rtlCol="0" anchor="ctr"/>
          <a:lstStyle/>
          <a:p>
            <a:pPr algn="ctr"/>
            <a:r>
              <a:rPr sz="850">
                <a:solidFill>
                  <a:srgbClr val="1C1C1E"/>
                </a:solidFill>
                <a:latin typeface="Calibri"/>
              </a:rPr>
              <a:t>Transient rate is holding against a discounting market. Growing commission-free website bookings keeps more of that rate at home.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30452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  <a:ea typeface="Calibri" pitchFamily="34" charset="-122"/>
                <a:cs typeface="Calibri" pitchFamily="34" charset="-120"/>
              </a:rPr>
              <a:t>WEBSITE KEY PERFORMANCE INDICATORS</a:t>
            </a:r>
            <a:endParaRPr lang="en-US" sz="2000">
              <a:solidFill>
                <a:schemeClr val="tx1">
                  <a:lumMod val="75000"/>
                  <a:lumOff val="25000"/>
                </a:schemeClr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035040" y="91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  <a:ea typeface="Calibri" pitchFamily="34" charset="-122"/>
                <a:cs typeface="Calibri" pitchFamily="34" charset="-120"/>
              </a:rPr>
              <a:t>August 2026 vs. August 2025</a:t>
            </a:r>
            <a:endParaRPr lang="en-US" sz="1000">
              <a:solidFill>
                <a:schemeClr val="tx1">
                  <a:lumMod val="75000"/>
                  <a:lumOff val="25000"/>
                </a:schemeClr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256032" y="749808"/>
            <a:ext cx="1581912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>
              <a:latin typeface="Franklin Gothic Book" panose="020B0503020102020204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256032" y="749808"/>
            <a:ext cx="54864" cy="1554480"/>
          </a:xfrm>
          <a:prstGeom prst="rect">
            <a:avLst/>
          </a:prstGeom>
          <a:solidFill>
            <a:srgbClr val="D51067"/>
          </a:solidFill>
          <a:ln w="12700">
            <a:solidFill>
              <a:srgbClr val="D510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47472" y="877824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1C1C1E"/>
                </a:solidFill>
                <a:latin typeface="Franklin Gothic Book" panose="020B0503020102020204" pitchFamily="34" charset="0"/>
                <a:ea typeface="Georgia" pitchFamily="34" charset="-122"/>
                <a:cs typeface="Georgia" pitchFamily="34" charset="-120"/>
              </a:rPr>
              <a:t>9,956</a:t>
            </a:r>
            <a:endParaRPr lang="en-US" sz="2400">
              <a:latin typeface="Franklin Gothic Book" panose="020B05030201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47472" y="14173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555759"/>
                </a:solidFill>
                <a:latin typeface="Franklin Gothic Book" panose="020B0503020102020204" pitchFamily="34" charset="0"/>
                <a:ea typeface="Calibri" pitchFamily="34" charset="-122"/>
                <a:cs typeface="Calibri" pitchFamily="34" charset="-120"/>
              </a:rPr>
              <a:t>Total Visits</a:t>
            </a:r>
            <a:endParaRPr lang="en-US" sz="1000">
              <a:latin typeface="Franklin Gothic Book" panose="020B05030201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47472" y="167335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2E8B57"/>
                </a:solidFill>
                <a:latin typeface="Franklin Gothic Book" panose="020B0503020102020204" pitchFamily="34" charset="0"/>
                <a:ea typeface="Calibri" pitchFamily="34" charset="-122"/>
                <a:cs typeface="Calibri" pitchFamily="34" charset="-120"/>
              </a:rPr>
              <a:t>+25% YOY</a:t>
            </a:r>
            <a:endParaRPr lang="en-US" sz="1000">
              <a:latin typeface="Franklin Gothic Book" panose="020B0503020102020204" pitchFamily="3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1993392" y="749808"/>
            <a:ext cx="1581912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>
              <a:latin typeface="Franklin Gothic Book" panose="020B0503020102020204" pitchFamily="34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1993392" y="749808"/>
            <a:ext cx="54864" cy="1554480"/>
          </a:xfrm>
          <a:prstGeom prst="rect">
            <a:avLst/>
          </a:prstGeom>
          <a:solidFill>
            <a:srgbClr val="D51067"/>
          </a:solidFill>
          <a:ln w="12700">
            <a:solidFill>
              <a:srgbClr val="D510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2084832" y="877824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1C1C1E"/>
                </a:solidFill>
                <a:latin typeface="Franklin Gothic Book" panose="020B0503020102020204" pitchFamily="34" charset="0"/>
                <a:ea typeface="Georgia" pitchFamily="34" charset="-122"/>
                <a:cs typeface="Georgia" pitchFamily="34" charset="-120"/>
              </a:rPr>
              <a:t>78</a:t>
            </a:r>
            <a:endParaRPr lang="en-US" sz="2400">
              <a:latin typeface="Franklin Gothic Book" panose="020B0503020102020204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2084832" y="14173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555759"/>
                </a:solidFill>
                <a:latin typeface="Franklin Gothic Book" panose="020B0503020102020204" pitchFamily="34" charset="0"/>
                <a:ea typeface="Calibri" pitchFamily="34" charset="-122"/>
                <a:cs typeface="Calibri" pitchFamily="34" charset="-120"/>
              </a:rPr>
              <a:t>Bookings</a:t>
            </a:r>
            <a:endParaRPr lang="en-US" sz="1000">
              <a:latin typeface="Franklin Gothic Book" panose="020B0503020102020204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2084832" y="167335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2E8B57"/>
                </a:solidFill>
                <a:latin typeface="Franklin Gothic Book" panose="020B0503020102020204" pitchFamily="34" charset="0"/>
                <a:ea typeface="Calibri" pitchFamily="34" charset="-122"/>
                <a:cs typeface="Calibri" pitchFamily="34" charset="-120"/>
              </a:rPr>
              <a:t>+11% YOY</a:t>
            </a:r>
            <a:endParaRPr lang="en-US" sz="1000">
              <a:latin typeface="Franklin Gothic Book" panose="020B0503020102020204" pitchFamily="34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3730752" y="749808"/>
            <a:ext cx="1581912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>
              <a:latin typeface="Franklin Gothic Book" panose="020B0503020102020204" pitchFamily="34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3730752" y="749808"/>
            <a:ext cx="54864" cy="1554480"/>
          </a:xfrm>
          <a:prstGeom prst="rect">
            <a:avLst/>
          </a:prstGeom>
          <a:solidFill>
            <a:srgbClr val="D51067"/>
          </a:solidFill>
          <a:ln w="12700">
            <a:solidFill>
              <a:srgbClr val="D510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822192" y="877824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1C1C1E"/>
                </a:solidFill>
                <a:latin typeface="Franklin Gothic Book" panose="020B0503020102020204" pitchFamily="34" charset="0"/>
                <a:ea typeface="Georgia" pitchFamily="34" charset="-122"/>
                <a:cs typeface="Georgia" pitchFamily="34" charset="-120"/>
              </a:rPr>
              <a:t>121</a:t>
            </a:r>
            <a:endParaRPr lang="en-US" sz="2400">
              <a:latin typeface="Franklin Gothic Book" panose="020B0503020102020204" pitchFamily="34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3822192" y="14173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555759"/>
                </a:solidFill>
                <a:latin typeface="Franklin Gothic Book" panose="020B0503020102020204" pitchFamily="34" charset="0"/>
                <a:ea typeface="Calibri" pitchFamily="34" charset="-122"/>
                <a:cs typeface="Calibri" pitchFamily="34" charset="-120"/>
              </a:rPr>
              <a:t>Room Nights</a:t>
            </a:r>
            <a:endParaRPr lang="en-US" sz="1000">
              <a:latin typeface="Franklin Gothic Book" panose="020B0503020102020204" pitchFamily="34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3822192" y="167335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C0392B"/>
                </a:solidFill>
                <a:latin typeface="Franklin Gothic Book" panose="020B0503020102020204" pitchFamily="34" charset="0"/>
                <a:ea typeface="Calibri" pitchFamily="34" charset="-122"/>
                <a:cs typeface="Calibri" pitchFamily="34" charset="-120"/>
              </a:rPr>
              <a:t>-19% YOY</a:t>
            </a:r>
            <a:endParaRPr lang="en-US" sz="1000">
              <a:latin typeface="Franklin Gothic Book" panose="020B0503020102020204" pitchFamily="34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5468112" y="749808"/>
            <a:ext cx="1581912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>
              <a:latin typeface="Franklin Gothic Book" panose="020B0503020102020204" pitchFamily="34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5468112" y="749808"/>
            <a:ext cx="54864" cy="1554480"/>
          </a:xfrm>
          <a:prstGeom prst="rect">
            <a:avLst/>
          </a:prstGeom>
          <a:solidFill>
            <a:srgbClr val="D51067"/>
          </a:solidFill>
          <a:ln w="12700">
            <a:solidFill>
              <a:srgbClr val="D510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559552" y="877824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1C1C1E"/>
                </a:solidFill>
                <a:latin typeface="Franklin Gothic Book" panose="020B0503020102020204" pitchFamily="34" charset="0"/>
                <a:ea typeface="Georgia" pitchFamily="34" charset="-122"/>
                <a:cs typeface="Georgia" pitchFamily="34" charset="-120"/>
              </a:rPr>
              <a:t>$30,222</a:t>
            </a:r>
            <a:endParaRPr lang="en-US" sz="2400">
              <a:latin typeface="Franklin Gothic Book" panose="020B0503020102020204" pitchFamily="34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5559552" y="14173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555759"/>
                </a:solidFill>
                <a:latin typeface="Franklin Gothic Book" panose="020B0503020102020204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000">
              <a:latin typeface="Franklin Gothic Book" panose="020B0503020102020204" pitchFamily="34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5559552" y="167335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2E8B57"/>
                </a:solidFill>
                <a:latin typeface="Franklin Gothic Book" panose="020B0503020102020204" pitchFamily="34" charset="0"/>
                <a:ea typeface="Calibri" pitchFamily="34" charset="-122"/>
                <a:cs typeface="Calibri" pitchFamily="34" charset="-120"/>
              </a:rPr>
              <a:t>+15% YOY</a:t>
            </a:r>
            <a:endParaRPr lang="en-US" sz="1000">
              <a:latin typeface="Franklin Gothic Book" panose="020B0503020102020204" pitchFamily="34" charset="0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7205472" y="749808"/>
            <a:ext cx="1581912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7205472" y="749808"/>
            <a:ext cx="54864" cy="1554480"/>
          </a:xfrm>
          <a:prstGeom prst="rect">
            <a:avLst/>
          </a:prstGeom>
          <a:solidFill>
            <a:srgbClr val="D51067"/>
          </a:solidFill>
          <a:ln w="12700">
            <a:solidFill>
              <a:srgbClr val="D510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7296912" y="877824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1C1C1E"/>
                </a:solidFill>
                <a:latin typeface="Franklin Gothic Book" panose="020B0503020102020204" pitchFamily="34" charset="0"/>
                <a:ea typeface="Georgia" pitchFamily="34" charset="-122"/>
                <a:cs typeface="Georgia" pitchFamily="34" charset="-120"/>
              </a:rPr>
              <a:t>1.01%</a:t>
            </a:r>
            <a:endParaRPr lang="en-US" sz="2400">
              <a:latin typeface="Franklin Gothic Book" panose="020B0503020102020204" pitchFamily="34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7296912" y="14173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555759"/>
                </a:solidFill>
                <a:latin typeface="Franklin Gothic Book" panose="020B0503020102020204" pitchFamily="34" charset="0"/>
                <a:ea typeface="Calibri" pitchFamily="34" charset="-122"/>
                <a:cs typeface="Calibri" pitchFamily="34" charset="-120"/>
              </a:rPr>
              <a:t>Conversion Rate</a:t>
            </a:r>
            <a:endParaRPr lang="en-US" sz="1000">
              <a:latin typeface="Franklin Gothic Book" panose="020B0503020102020204" pitchFamily="34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7296912" y="167335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C0392B"/>
                </a:solidFill>
                <a:latin typeface="Franklin Gothic Book" panose="020B0503020102020204" pitchFamily="34" charset="0"/>
                <a:ea typeface="Calibri" pitchFamily="34" charset="-122"/>
                <a:cs typeface="Calibri" pitchFamily="34" charset="-120"/>
              </a:rPr>
              <a:t>-14% YOY</a:t>
            </a:r>
            <a:endParaRPr lang="en-US" sz="1000">
              <a:latin typeface="Franklin Gothic Book" panose="020B0503020102020204" pitchFamily="34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283464" y="25511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>
                <a:solidFill>
                  <a:srgbClr val="D51067"/>
                </a:solidFill>
                <a:latin typeface="Franklin Gothic Book" panose="020B0503020102020204" pitchFamily="34" charset="0"/>
                <a:ea typeface="Calibri" pitchFamily="34" charset="-122"/>
                <a:cs typeface="Calibri" pitchFamily="34" charset="-120"/>
              </a:rPr>
              <a:t>VISITS BY CHANNEL</a:t>
            </a:r>
            <a:endParaRPr lang="en-US" sz="950">
              <a:latin typeface="Franklin Gothic Book" panose="020B0503020102020204" pitchFamily="34" charset="0"/>
            </a:endParaRPr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2205438"/>
              </p:ext>
            </p:extLst>
          </p:nvPr>
        </p:nvGraphicFramePr>
        <p:xfrm>
          <a:off x="283464" y="2825496"/>
          <a:ext cx="4114800" cy="192024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Visits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Organic Search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3,419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34.7%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3,273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33.2%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Referral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1,150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11.7%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 Search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1,103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11.2%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Cross-network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697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Assistant + other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228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2.3%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4" name="Text 30"/>
          <p:cNvSpPr/>
          <p:nvPr/>
        </p:nvSpPr>
        <p:spPr>
          <a:xfrm>
            <a:off x="4764024" y="255117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>
                <a:solidFill>
                  <a:srgbClr val="D51067"/>
                </a:solidFill>
                <a:latin typeface="Franklin Gothic Book" panose="020B0503020102020204" pitchFamily="34" charset="0"/>
                <a:ea typeface="Calibri" pitchFamily="34" charset="-122"/>
                <a:cs typeface="Calibri" pitchFamily="34" charset="-120"/>
              </a:rPr>
              <a:t>REVENUE BY CHANNEL</a:t>
            </a:r>
            <a:endParaRPr lang="en-US" sz="950">
              <a:latin typeface="Franklin Gothic Book" panose="020B0503020102020204" pitchFamily="34" charset="0"/>
            </a:endParaRPr>
          </a:p>
        </p:txBody>
      </p:sp>
      <p:graphicFrame>
        <p:nvGraphicFramePr>
          <p:cNvPr id="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8192117"/>
              </p:ext>
            </p:extLst>
          </p:nvPr>
        </p:nvGraphicFramePr>
        <p:xfrm>
          <a:off x="4764024" y="2825496"/>
          <a:ext cx="4114800" cy="1755648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Bookings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Organic Search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$13,873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 Search (PPC)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$5,223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Referral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$4,656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$4,401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Cross-network (PMAX)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$2,070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6" name="Rectangle 35"/>
          <p:cNvSpPr/>
          <p:nvPr/>
        </p:nvSpPr>
        <p:spPr>
          <a:xfrm>
            <a:off x="128016" y="4510849"/>
            <a:ext cx="1307592" cy="195453"/>
          </a:xfrm>
          <a:prstGeom prst="rect">
            <a:avLst/>
          </a:prstGeom>
          <a:solidFill>
            <a:srgbClr val="D6006E"/>
          </a:solidFill>
          <a:ln>
            <a:solidFill>
              <a:srgbClr val="D60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WHY THIS MATTERS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508760" y="4510849"/>
            <a:ext cx="7498080" cy="195453"/>
          </a:xfrm>
          <a:prstGeom prst="rect">
            <a:avLst/>
          </a:prstGeom>
          <a:solidFill>
            <a:srgbClr val="FDE8F3"/>
          </a:solidFill>
          <a:ln w="6350">
            <a:solidFill>
              <a:srgbClr val="D60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bIns="0" rtlCol="0" anchor="ctr"/>
          <a:lstStyle/>
          <a:p>
            <a:pPr algn="ctr"/>
            <a:r>
              <a:rPr sz="850">
                <a:solidFill>
                  <a:srgbClr val="1C1C1E"/>
                </a:solidFill>
                <a:latin typeface="Calibri"/>
              </a:rPr>
              <a:t>Organic Search drove 30 bookings and $13,873, up 65% on last August. Google is sending paying guests at no commission.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530352"/>
            <a:ext cx="9144000" cy="45720"/>
          </a:xfrm>
          <a:prstGeom prst="rect">
            <a:avLst/>
          </a:prstGeom>
          <a:solidFill>
            <a:srgbClr val="D51067"/>
          </a:solidFill>
          <a:ln w="12700">
            <a:solidFill>
              <a:srgbClr val="D510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77824" y="457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MEDIA </a:t>
            </a:r>
            <a:r>
              <a:rPr lang="en-US" sz="2000" b="1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20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583680" y="91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2026</a:t>
            </a:r>
            <a:endParaRPr lang="en-US" sz="10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Shape 4"/>
          <p:cNvSpPr/>
          <p:nvPr/>
        </p:nvSpPr>
        <p:spPr>
          <a:xfrm>
            <a:off x="274320" y="740664"/>
            <a:ext cx="4114800" cy="347472"/>
          </a:xfrm>
          <a:prstGeom prst="rect">
            <a:avLst/>
          </a:prstGeom>
          <a:solidFill>
            <a:srgbClr val="D51067"/>
          </a:solidFill>
          <a:ln w="12700">
            <a:solidFill>
              <a:srgbClr val="1C1C1E"/>
            </a:solidFill>
            <a:prstDash val="solid"/>
          </a:ln>
        </p:spPr>
        <p:txBody>
          <a:bodyPr/>
          <a:lstStyle/>
          <a:p>
            <a:endParaRPr lang="en-US">
              <a:latin typeface="Franklin Gothic Book" panose="020B05030201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411480" y="80467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PPC</a:t>
            </a:r>
            <a:endParaRPr lang="en-US" sz="1100"/>
          </a:p>
        </p:txBody>
      </p:sp>
      <p:sp>
        <p:nvSpPr>
          <p:cNvPr id="9" name="Shape 6"/>
          <p:cNvSpPr/>
          <p:nvPr/>
        </p:nvSpPr>
        <p:spPr>
          <a:xfrm>
            <a:off x="274320" y="1170432"/>
            <a:ext cx="896112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74320" y="1170432"/>
            <a:ext cx="45720" cy="1234440"/>
          </a:xfrm>
          <a:prstGeom prst="rect">
            <a:avLst/>
          </a:prstGeom>
          <a:solidFill>
            <a:srgbClr val="D51067"/>
          </a:solidFill>
          <a:ln w="12700">
            <a:solidFill>
              <a:srgbClr val="D510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65760" y="1280160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C1C1E"/>
                </a:solidFill>
                <a:latin typeface="Franklin Gothic Book" panose="020B0503020102020204" pitchFamily="34" charset="0"/>
                <a:ea typeface="Georgia" pitchFamily="34" charset="-122"/>
                <a:cs typeface="Georgia" pitchFamily="34" charset="-120"/>
              </a:rPr>
              <a:t>843</a:t>
            </a:r>
            <a:endParaRPr lang="en-US" sz="1300">
              <a:latin typeface="Franklin Gothic Book" panose="020B05030201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365760" y="173736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555759"/>
                </a:solidFill>
                <a:latin typeface="Franklin Gothic Book" panose="020B0503020102020204" pitchFamily="34" charset="0"/>
                <a:ea typeface="Calibri" pitchFamily="34" charset="-122"/>
                <a:cs typeface="Calibri" pitchFamily="34" charset="-120"/>
              </a:rPr>
              <a:t>Clicks</a:t>
            </a:r>
            <a:endParaRPr lang="en-US" sz="850">
              <a:latin typeface="Franklin Gothic Book" panose="020B05030201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65760" y="199339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C0392B"/>
                </a:solidFill>
                <a:latin typeface="Franklin Gothic Book" panose="020B0503020102020204" pitchFamily="34" charset="0"/>
                <a:ea typeface="Calibri" pitchFamily="34" charset="-122"/>
                <a:cs typeface="Calibri" pitchFamily="34" charset="-120"/>
              </a:rPr>
              <a:t>-15%</a:t>
            </a:r>
            <a:endParaRPr lang="en-US" sz="850">
              <a:latin typeface="Franklin Gothic Book" panose="020B0503020102020204" pitchFamily="3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1261872" y="1170432"/>
            <a:ext cx="896112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1261872" y="1170432"/>
            <a:ext cx="45720" cy="1234440"/>
          </a:xfrm>
          <a:prstGeom prst="rect">
            <a:avLst/>
          </a:prstGeom>
          <a:solidFill>
            <a:srgbClr val="D51067"/>
          </a:solidFill>
          <a:ln w="12700">
            <a:solidFill>
              <a:srgbClr val="D510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353312" y="1280160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C1C1E"/>
                </a:solidFill>
                <a:latin typeface="Franklin Gothic Book" panose="020B0503020102020204" pitchFamily="34" charset="0"/>
                <a:ea typeface="Georgia" pitchFamily="34" charset="-122"/>
                <a:cs typeface="Georgia" pitchFamily="34" charset="-120"/>
              </a:rPr>
              <a:t>$485.40</a:t>
            </a:r>
            <a:endParaRPr lang="en-US" sz="1300">
              <a:latin typeface="Franklin Gothic Book" panose="020B0503020102020204" pitchFamily="3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1353312" y="173736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555759"/>
                </a:solidFill>
                <a:latin typeface="Franklin Gothic Book" panose="020B0503020102020204" pitchFamily="34" charset="0"/>
                <a:ea typeface="Calibri" pitchFamily="34" charset="-122"/>
                <a:cs typeface="Calibri" pitchFamily="34" charset="-120"/>
              </a:rPr>
              <a:t>Spend</a:t>
            </a:r>
            <a:endParaRPr lang="en-US" sz="850">
              <a:latin typeface="Franklin Gothic Book" panose="020B0503020102020204" pitchFamily="34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1353312" y="199339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2E8B57"/>
                </a:solidFill>
                <a:latin typeface="Franklin Gothic Book" panose="020B0503020102020204" pitchFamily="34" charset="0"/>
                <a:ea typeface="Calibri" pitchFamily="34" charset="-122"/>
                <a:cs typeface="Calibri" pitchFamily="34" charset="-120"/>
              </a:rPr>
              <a:t>-47%</a:t>
            </a:r>
            <a:endParaRPr lang="en-US" sz="850">
              <a:latin typeface="Franklin Gothic Book" panose="020B0503020102020204" pitchFamily="34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2249424" y="1170432"/>
            <a:ext cx="896112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2249424" y="1170432"/>
            <a:ext cx="45720" cy="1234440"/>
          </a:xfrm>
          <a:prstGeom prst="rect">
            <a:avLst/>
          </a:prstGeom>
          <a:solidFill>
            <a:srgbClr val="D51067"/>
          </a:solidFill>
          <a:ln w="12700">
            <a:solidFill>
              <a:srgbClr val="D510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2340864" y="1280160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C1C1E"/>
                </a:solidFill>
                <a:latin typeface="Franklin Gothic Book" panose="020B0503020102020204" pitchFamily="34" charset="0"/>
                <a:ea typeface="Georgia" pitchFamily="34" charset="-122"/>
                <a:cs typeface="Georgia" pitchFamily="34" charset="-120"/>
              </a:rPr>
              <a:t>22.38%</a:t>
            </a:r>
            <a:endParaRPr lang="en-US" sz="1300">
              <a:latin typeface="Franklin Gothic Book" panose="020B0503020102020204" pitchFamily="34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2340864" y="173736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555759"/>
                </a:solidFill>
                <a:latin typeface="Franklin Gothic Book" panose="020B0503020102020204" pitchFamily="34" charset="0"/>
                <a:ea typeface="Calibri" pitchFamily="34" charset="-122"/>
                <a:cs typeface="Calibri" pitchFamily="34" charset="-120"/>
              </a:rPr>
              <a:t>CTR</a:t>
            </a:r>
            <a:endParaRPr lang="en-US" sz="850">
              <a:latin typeface="Franklin Gothic Book" panose="020B0503020102020204" pitchFamily="34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2340864" y="199339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2E8B57"/>
                </a:solidFill>
                <a:latin typeface="Franklin Gothic Book" panose="020B0503020102020204" pitchFamily="34" charset="0"/>
                <a:ea typeface="Calibri" pitchFamily="34" charset="-122"/>
                <a:cs typeface="Calibri" pitchFamily="34" charset="-120"/>
              </a:rPr>
              <a:t>+40%</a:t>
            </a:r>
            <a:endParaRPr lang="en-US" sz="850">
              <a:latin typeface="Franklin Gothic Book" panose="020B0503020102020204" pitchFamily="34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3236976" y="1170432"/>
            <a:ext cx="896112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3236976" y="1170432"/>
            <a:ext cx="45720" cy="1234440"/>
          </a:xfrm>
          <a:prstGeom prst="rect">
            <a:avLst/>
          </a:prstGeom>
          <a:solidFill>
            <a:srgbClr val="D51067"/>
          </a:solidFill>
          <a:ln w="12700">
            <a:solidFill>
              <a:srgbClr val="D510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3328416" y="1280160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C1C1E"/>
                </a:solidFill>
                <a:latin typeface="Franklin Gothic Book" panose="020B0503020102020204" pitchFamily="34" charset="0"/>
                <a:ea typeface="Georgia" pitchFamily="34" charset="-122"/>
                <a:cs typeface="Georgia" pitchFamily="34" charset="-120"/>
              </a:rPr>
              <a:t>$0.58</a:t>
            </a:r>
            <a:endParaRPr lang="en-US" sz="1300">
              <a:latin typeface="Franklin Gothic Book" panose="020B0503020102020204" pitchFamily="34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3328416" y="173736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555759"/>
                </a:solidFill>
                <a:latin typeface="Franklin Gothic Book" panose="020B0503020102020204" pitchFamily="34" charset="0"/>
                <a:ea typeface="Calibri" pitchFamily="34" charset="-122"/>
                <a:cs typeface="Calibri" pitchFamily="34" charset="-120"/>
              </a:rPr>
              <a:t>Avg CPC</a:t>
            </a:r>
            <a:endParaRPr lang="en-US" sz="850">
              <a:latin typeface="Franklin Gothic Book" panose="020B0503020102020204" pitchFamily="34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3328416" y="199339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2E8B57"/>
                </a:solidFill>
                <a:latin typeface="Franklin Gothic Book" panose="020B0503020102020204" pitchFamily="34" charset="0"/>
                <a:ea typeface="Calibri" pitchFamily="34" charset="-122"/>
                <a:cs typeface="Calibri" pitchFamily="34" charset="-120"/>
              </a:rPr>
              <a:t>-38%</a:t>
            </a:r>
            <a:endParaRPr lang="en-US" sz="850">
              <a:latin typeface="Franklin Gothic Book" panose="020B0503020102020204" pitchFamily="34" charset="0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274320" y="2587752"/>
            <a:ext cx="896112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274320" y="2587752"/>
            <a:ext cx="45720" cy="1234440"/>
          </a:xfrm>
          <a:prstGeom prst="rect">
            <a:avLst/>
          </a:prstGeom>
          <a:solidFill>
            <a:srgbClr val="D51067"/>
          </a:solidFill>
          <a:ln w="12700">
            <a:solidFill>
              <a:srgbClr val="D510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365760" y="2697480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C1C1E"/>
                </a:solidFill>
                <a:latin typeface="Franklin Gothic Book" panose="020B0503020102020204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1300">
              <a:latin typeface="Franklin Gothic Book" panose="020B0503020102020204" pitchFamily="34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365760" y="315468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555759"/>
                </a:solidFill>
                <a:latin typeface="Franklin Gothic Book" panose="020B0503020102020204" pitchFamily="34" charset="0"/>
                <a:ea typeface="Calibri" pitchFamily="34" charset="-122"/>
                <a:cs typeface="Calibri" pitchFamily="34" charset="-120"/>
              </a:rPr>
              <a:t>Bookings</a:t>
            </a:r>
            <a:endParaRPr lang="en-US" sz="850">
              <a:latin typeface="Franklin Gothic Book" panose="020B0503020102020204" pitchFamily="34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365760" y="341071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2E8B57"/>
                </a:solidFill>
                <a:latin typeface="Franklin Gothic Book" panose="020B0503020102020204" pitchFamily="34" charset="0"/>
                <a:ea typeface="Calibri" pitchFamily="34" charset="-122"/>
                <a:cs typeface="Calibri" pitchFamily="34" charset="-120"/>
              </a:rPr>
              <a:t>+200%</a:t>
            </a:r>
            <a:endParaRPr lang="en-US" sz="850">
              <a:latin typeface="Franklin Gothic Book" panose="020B0503020102020204" pitchFamily="34" charset="0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1261872" y="2587752"/>
            <a:ext cx="896112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1261872" y="2587752"/>
            <a:ext cx="45720" cy="1234440"/>
          </a:xfrm>
          <a:prstGeom prst="rect">
            <a:avLst/>
          </a:prstGeom>
          <a:solidFill>
            <a:srgbClr val="D51067"/>
          </a:solidFill>
          <a:ln w="12700">
            <a:solidFill>
              <a:srgbClr val="D510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1353312" y="2697480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C1C1E"/>
                </a:solidFill>
                <a:latin typeface="Franklin Gothic Book" panose="020B0503020102020204" pitchFamily="34" charset="0"/>
                <a:ea typeface="Georgia" pitchFamily="34" charset="-122"/>
                <a:cs typeface="Georgia" pitchFamily="34" charset="-120"/>
              </a:rPr>
              <a:t>$5,223</a:t>
            </a:r>
            <a:endParaRPr lang="en-US" sz="1300">
              <a:latin typeface="Franklin Gothic Book" panose="020B0503020102020204" pitchFamily="34" charset="0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1353312" y="315468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555759"/>
                </a:solidFill>
                <a:latin typeface="Franklin Gothic Book" panose="020B0503020102020204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850">
              <a:latin typeface="Franklin Gothic Book" panose="020B0503020102020204" pitchFamily="34" charset="0"/>
            </a:endParaRPr>
          </a:p>
        </p:txBody>
      </p:sp>
      <p:sp>
        <p:nvSpPr>
          <p:cNvPr id="38" name="Shape 35"/>
          <p:cNvSpPr/>
          <p:nvPr/>
        </p:nvSpPr>
        <p:spPr>
          <a:xfrm>
            <a:off x="2249424" y="2587752"/>
            <a:ext cx="896112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>
            <a:off x="2249424" y="2587752"/>
            <a:ext cx="45720" cy="1234440"/>
          </a:xfrm>
          <a:prstGeom prst="rect">
            <a:avLst/>
          </a:prstGeom>
          <a:solidFill>
            <a:srgbClr val="D51067"/>
          </a:solidFill>
          <a:ln w="12700">
            <a:solidFill>
              <a:srgbClr val="D510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2340864" y="2697480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C1C1E"/>
                </a:solidFill>
                <a:latin typeface="Franklin Gothic Book" panose="020B0503020102020204" pitchFamily="34" charset="0"/>
                <a:ea typeface="Georgia" pitchFamily="34" charset="-122"/>
                <a:cs typeface="Georgia" pitchFamily="34" charset="-120"/>
              </a:rPr>
              <a:t>9.50x</a:t>
            </a:r>
            <a:endParaRPr lang="en-US" sz="1300">
              <a:latin typeface="Franklin Gothic Book" panose="020B0503020102020204" pitchFamily="34" charset="0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2340864" y="315468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555759"/>
                </a:solidFill>
                <a:latin typeface="Franklin Gothic Book" panose="020B0503020102020204" pitchFamily="34" charset="0"/>
                <a:ea typeface="Calibri" pitchFamily="34" charset="-122"/>
                <a:cs typeface="Calibri" pitchFamily="34" charset="-120"/>
              </a:rPr>
              <a:t>ROAS</a:t>
            </a:r>
            <a:endParaRPr lang="en-US" sz="850">
              <a:latin typeface="Franklin Gothic Book" panose="020B0503020102020204" pitchFamily="34" charset="0"/>
            </a:endParaRPr>
          </a:p>
        </p:txBody>
      </p:sp>
      <p:sp>
        <p:nvSpPr>
          <p:cNvPr id="42" name="Shape 39"/>
          <p:cNvSpPr/>
          <p:nvPr/>
        </p:nvSpPr>
        <p:spPr>
          <a:xfrm>
            <a:off x="4754880" y="749808"/>
            <a:ext cx="4114800" cy="347472"/>
          </a:xfrm>
          <a:prstGeom prst="rect">
            <a:avLst/>
          </a:prstGeom>
          <a:solidFill>
            <a:srgbClr val="B52372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4892040" y="80467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FFFFFF"/>
                </a:solidFill>
                <a:latin typeface="Franklin Gothic Book" panose="020B0503020102020204" pitchFamily="34" charset="0"/>
                <a:ea typeface="Calibri" pitchFamily="34" charset="-122"/>
                <a:cs typeface="Calibri" pitchFamily="34" charset="-120"/>
              </a:rPr>
              <a:t>PERFORMANCE MAX</a:t>
            </a:r>
            <a:endParaRPr lang="en-US" sz="1100">
              <a:latin typeface="Franklin Gothic Book" panose="020B0503020102020204" pitchFamily="34" charset="0"/>
            </a:endParaRPr>
          </a:p>
        </p:txBody>
      </p:sp>
      <p:sp>
        <p:nvSpPr>
          <p:cNvPr id="44" name="Shape 41"/>
          <p:cNvSpPr/>
          <p:nvPr/>
        </p:nvSpPr>
        <p:spPr>
          <a:xfrm>
            <a:off x="4754880" y="1170432"/>
            <a:ext cx="896112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42"/>
          <p:cNvSpPr/>
          <p:nvPr/>
        </p:nvSpPr>
        <p:spPr>
          <a:xfrm>
            <a:off x="4754880" y="1170432"/>
            <a:ext cx="45720" cy="1234440"/>
          </a:xfrm>
          <a:prstGeom prst="rect">
            <a:avLst/>
          </a:prstGeom>
          <a:solidFill>
            <a:srgbClr val="B52372"/>
          </a:solidFill>
          <a:ln w="12700">
            <a:solidFill>
              <a:srgbClr val="B523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4846320" y="1280160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C1C1E"/>
                </a:solidFill>
                <a:latin typeface="Franklin Gothic Book" panose="020B0503020102020204" pitchFamily="34" charset="0"/>
                <a:ea typeface="Georgia" pitchFamily="34" charset="-122"/>
                <a:cs typeface="Georgia" pitchFamily="34" charset="-120"/>
              </a:rPr>
              <a:t>553</a:t>
            </a:r>
            <a:endParaRPr lang="en-US" sz="1300">
              <a:latin typeface="Franklin Gothic Book" panose="020B0503020102020204" pitchFamily="34" charset="0"/>
            </a:endParaRPr>
          </a:p>
        </p:txBody>
      </p:sp>
      <p:sp>
        <p:nvSpPr>
          <p:cNvPr id="47" name="Text 44"/>
          <p:cNvSpPr/>
          <p:nvPr/>
        </p:nvSpPr>
        <p:spPr>
          <a:xfrm>
            <a:off x="4846320" y="173736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555759"/>
                </a:solidFill>
                <a:latin typeface="Franklin Gothic Book" panose="020B0503020102020204" pitchFamily="34" charset="0"/>
                <a:ea typeface="Calibri" pitchFamily="34" charset="-122"/>
                <a:cs typeface="Calibri" pitchFamily="34" charset="-120"/>
              </a:rPr>
              <a:t>Clicks</a:t>
            </a:r>
            <a:endParaRPr lang="en-US" sz="850">
              <a:latin typeface="Franklin Gothic Book" panose="020B0503020102020204" pitchFamily="34" charset="0"/>
            </a:endParaRPr>
          </a:p>
        </p:txBody>
      </p:sp>
      <p:sp>
        <p:nvSpPr>
          <p:cNvPr id="48" name="Text 45"/>
          <p:cNvSpPr/>
          <p:nvPr/>
        </p:nvSpPr>
        <p:spPr>
          <a:xfrm>
            <a:off x="4846320" y="199339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>
              <a:latin typeface="Franklin Gothic Book" panose="020B0503020102020204" pitchFamily="34" charset="0"/>
            </a:endParaRPr>
          </a:p>
        </p:txBody>
      </p:sp>
      <p:sp>
        <p:nvSpPr>
          <p:cNvPr id="49" name="Shape 46"/>
          <p:cNvSpPr/>
          <p:nvPr/>
        </p:nvSpPr>
        <p:spPr>
          <a:xfrm>
            <a:off x="5742432" y="1170432"/>
            <a:ext cx="896112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Shape 47"/>
          <p:cNvSpPr/>
          <p:nvPr/>
        </p:nvSpPr>
        <p:spPr>
          <a:xfrm>
            <a:off x="5742432" y="1170432"/>
            <a:ext cx="45720" cy="1234440"/>
          </a:xfrm>
          <a:prstGeom prst="rect">
            <a:avLst/>
          </a:prstGeom>
          <a:solidFill>
            <a:srgbClr val="B52372"/>
          </a:solidFill>
          <a:ln w="12700">
            <a:solidFill>
              <a:srgbClr val="B523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/>
          <p:nvPr/>
        </p:nvSpPr>
        <p:spPr>
          <a:xfrm>
            <a:off x="5833872" y="1280160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C1C1E"/>
                </a:solidFill>
                <a:latin typeface="Franklin Gothic Book" panose="020B0503020102020204" pitchFamily="34" charset="0"/>
                <a:ea typeface="Georgia" pitchFamily="34" charset="-122"/>
                <a:cs typeface="Georgia" pitchFamily="34" charset="-120"/>
              </a:rPr>
              <a:t>$474.05</a:t>
            </a:r>
            <a:endParaRPr lang="en-US" sz="1300">
              <a:latin typeface="Franklin Gothic Book" panose="020B0503020102020204" pitchFamily="34" charset="0"/>
            </a:endParaRPr>
          </a:p>
        </p:txBody>
      </p:sp>
      <p:sp>
        <p:nvSpPr>
          <p:cNvPr id="52" name="Text 49"/>
          <p:cNvSpPr/>
          <p:nvPr/>
        </p:nvSpPr>
        <p:spPr>
          <a:xfrm>
            <a:off x="5833872" y="173736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555759"/>
                </a:solidFill>
                <a:latin typeface="Franklin Gothic Book" panose="020B0503020102020204" pitchFamily="34" charset="0"/>
                <a:ea typeface="Calibri" pitchFamily="34" charset="-122"/>
                <a:cs typeface="Calibri" pitchFamily="34" charset="-120"/>
              </a:rPr>
              <a:t>Spend</a:t>
            </a:r>
            <a:endParaRPr lang="en-US" sz="850">
              <a:latin typeface="Franklin Gothic Book" panose="020B0503020102020204" pitchFamily="34" charset="0"/>
            </a:endParaRPr>
          </a:p>
        </p:txBody>
      </p:sp>
      <p:sp>
        <p:nvSpPr>
          <p:cNvPr id="53" name="Text 50"/>
          <p:cNvSpPr/>
          <p:nvPr/>
        </p:nvSpPr>
        <p:spPr>
          <a:xfrm>
            <a:off x="5833872" y="199339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>
              <a:latin typeface="Franklin Gothic Book" panose="020B0503020102020204" pitchFamily="34" charset="0"/>
            </a:endParaRPr>
          </a:p>
        </p:txBody>
      </p:sp>
      <p:sp>
        <p:nvSpPr>
          <p:cNvPr id="54" name="Shape 51"/>
          <p:cNvSpPr/>
          <p:nvPr/>
        </p:nvSpPr>
        <p:spPr>
          <a:xfrm>
            <a:off x="6729984" y="1170432"/>
            <a:ext cx="896112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>
              <a:latin typeface="Franklin Gothic Book" panose="020B0503020102020204" pitchFamily="34" charset="0"/>
            </a:endParaRPr>
          </a:p>
        </p:txBody>
      </p:sp>
      <p:sp>
        <p:nvSpPr>
          <p:cNvPr id="55" name="Shape 52"/>
          <p:cNvSpPr/>
          <p:nvPr/>
        </p:nvSpPr>
        <p:spPr>
          <a:xfrm>
            <a:off x="6729984" y="1170432"/>
            <a:ext cx="45720" cy="1234440"/>
          </a:xfrm>
          <a:prstGeom prst="rect">
            <a:avLst/>
          </a:prstGeom>
          <a:solidFill>
            <a:srgbClr val="B52372"/>
          </a:solidFill>
          <a:ln w="12700">
            <a:solidFill>
              <a:srgbClr val="B523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3"/>
          <p:cNvSpPr/>
          <p:nvPr/>
        </p:nvSpPr>
        <p:spPr>
          <a:xfrm>
            <a:off x="6821424" y="1280160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C1C1E"/>
                </a:solidFill>
                <a:latin typeface="Franklin Gothic Book" panose="020B0503020102020204" pitchFamily="34" charset="0"/>
                <a:ea typeface="Georgia" pitchFamily="34" charset="-122"/>
                <a:cs typeface="Georgia" pitchFamily="34" charset="-120"/>
              </a:rPr>
              <a:t>16.03%</a:t>
            </a:r>
            <a:endParaRPr lang="en-US" sz="1300">
              <a:latin typeface="Franklin Gothic Book" panose="020B0503020102020204" pitchFamily="34" charset="0"/>
            </a:endParaRPr>
          </a:p>
        </p:txBody>
      </p:sp>
      <p:sp>
        <p:nvSpPr>
          <p:cNvPr id="57" name="Text 54"/>
          <p:cNvSpPr/>
          <p:nvPr/>
        </p:nvSpPr>
        <p:spPr>
          <a:xfrm>
            <a:off x="6821424" y="173736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555759"/>
                </a:solidFill>
                <a:latin typeface="Franklin Gothic Book" panose="020B0503020102020204" pitchFamily="34" charset="0"/>
                <a:ea typeface="Calibri" pitchFamily="34" charset="-122"/>
                <a:cs typeface="Calibri" pitchFamily="34" charset="-120"/>
              </a:rPr>
              <a:t>CTR</a:t>
            </a:r>
            <a:endParaRPr lang="en-US" sz="850">
              <a:latin typeface="Franklin Gothic Book" panose="020B0503020102020204" pitchFamily="34" charset="0"/>
            </a:endParaRPr>
          </a:p>
        </p:txBody>
      </p:sp>
      <p:sp>
        <p:nvSpPr>
          <p:cNvPr id="58" name="Text 55"/>
          <p:cNvSpPr/>
          <p:nvPr/>
        </p:nvSpPr>
        <p:spPr>
          <a:xfrm>
            <a:off x="6821424" y="199339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>
              <a:latin typeface="Franklin Gothic Book" panose="020B0503020102020204" pitchFamily="34" charset="0"/>
            </a:endParaRPr>
          </a:p>
        </p:txBody>
      </p:sp>
      <p:sp>
        <p:nvSpPr>
          <p:cNvPr id="59" name="Shape 56"/>
          <p:cNvSpPr/>
          <p:nvPr/>
        </p:nvSpPr>
        <p:spPr>
          <a:xfrm>
            <a:off x="7717536" y="1170432"/>
            <a:ext cx="896112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0" name="Shape 57"/>
          <p:cNvSpPr/>
          <p:nvPr/>
        </p:nvSpPr>
        <p:spPr>
          <a:xfrm>
            <a:off x="7717536" y="1170432"/>
            <a:ext cx="45720" cy="1234440"/>
          </a:xfrm>
          <a:prstGeom prst="rect">
            <a:avLst/>
          </a:prstGeom>
          <a:solidFill>
            <a:srgbClr val="B52372"/>
          </a:solidFill>
          <a:ln w="12700">
            <a:solidFill>
              <a:srgbClr val="B523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8"/>
          <p:cNvSpPr/>
          <p:nvPr/>
        </p:nvSpPr>
        <p:spPr>
          <a:xfrm>
            <a:off x="7808976" y="1280160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C1C1E"/>
                </a:solidFill>
                <a:latin typeface="Franklin Gothic Book" panose="020B0503020102020204" pitchFamily="34" charset="0"/>
                <a:ea typeface="Georgia" pitchFamily="34" charset="-122"/>
                <a:cs typeface="Georgia" pitchFamily="34" charset="-120"/>
              </a:rPr>
              <a:t>$0.86</a:t>
            </a:r>
            <a:endParaRPr lang="en-US" sz="1300">
              <a:latin typeface="Franklin Gothic Book" panose="020B0503020102020204" pitchFamily="34" charset="0"/>
            </a:endParaRPr>
          </a:p>
        </p:txBody>
      </p:sp>
      <p:sp>
        <p:nvSpPr>
          <p:cNvPr id="62" name="Text 59"/>
          <p:cNvSpPr/>
          <p:nvPr/>
        </p:nvSpPr>
        <p:spPr>
          <a:xfrm>
            <a:off x="7808976" y="173736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555759"/>
                </a:solidFill>
                <a:latin typeface="Franklin Gothic Book" panose="020B0503020102020204" pitchFamily="34" charset="0"/>
                <a:ea typeface="Calibri" pitchFamily="34" charset="-122"/>
                <a:cs typeface="Calibri" pitchFamily="34" charset="-120"/>
              </a:rPr>
              <a:t>Avg CPC</a:t>
            </a:r>
            <a:endParaRPr lang="en-US" sz="850">
              <a:latin typeface="Franklin Gothic Book" panose="020B0503020102020204" pitchFamily="34" charset="0"/>
            </a:endParaRPr>
          </a:p>
        </p:txBody>
      </p:sp>
      <p:sp>
        <p:nvSpPr>
          <p:cNvPr id="63" name="Text 60"/>
          <p:cNvSpPr/>
          <p:nvPr/>
        </p:nvSpPr>
        <p:spPr>
          <a:xfrm>
            <a:off x="7808976" y="199339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>
              <a:latin typeface="Franklin Gothic Book" panose="020B0503020102020204" pitchFamily="34" charset="0"/>
            </a:endParaRPr>
          </a:p>
        </p:txBody>
      </p:sp>
      <p:sp>
        <p:nvSpPr>
          <p:cNvPr id="64" name="Shape 61"/>
          <p:cNvSpPr/>
          <p:nvPr/>
        </p:nvSpPr>
        <p:spPr>
          <a:xfrm>
            <a:off x="4754880" y="2587752"/>
            <a:ext cx="896112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5" name="Shape 62"/>
          <p:cNvSpPr/>
          <p:nvPr/>
        </p:nvSpPr>
        <p:spPr>
          <a:xfrm>
            <a:off x="4754880" y="2587752"/>
            <a:ext cx="45720" cy="1234440"/>
          </a:xfrm>
          <a:prstGeom prst="rect">
            <a:avLst/>
          </a:prstGeom>
          <a:solidFill>
            <a:srgbClr val="B52372"/>
          </a:solidFill>
          <a:ln w="12700">
            <a:solidFill>
              <a:srgbClr val="B523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3"/>
          <p:cNvSpPr/>
          <p:nvPr/>
        </p:nvSpPr>
        <p:spPr>
          <a:xfrm>
            <a:off x="4846320" y="2697480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C1C1E"/>
                </a:solidFill>
                <a:latin typeface="Franklin Gothic Book" panose="020B0503020102020204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1300">
              <a:latin typeface="Franklin Gothic Book" panose="020B0503020102020204" pitchFamily="34" charset="0"/>
            </a:endParaRPr>
          </a:p>
        </p:txBody>
      </p:sp>
      <p:sp>
        <p:nvSpPr>
          <p:cNvPr id="67" name="Text 64"/>
          <p:cNvSpPr/>
          <p:nvPr/>
        </p:nvSpPr>
        <p:spPr>
          <a:xfrm>
            <a:off x="4846320" y="315468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555759"/>
                </a:solidFill>
                <a:latin typeface="Franklin Gothic Book" panose="020B0503020102020204" pitchFamily="34" charset="0"/>
                <a:ea typeface="Calibri" pitchFamily="34" charset="-122"/>
                <a:cs typeface="Calibri" pitchFamily="34" charset="-120"/>
              </a:rPr>
              <a:t>Bookings</a:t>
            </a:r>
            <a:endParaRPr lang="en-US" sz="850">
              <a:latin typeface="Franklin Gothic Book" panose="020B0503020102020204" pitchFamily="34" charset="0"/>
            </a:endParaRPr>
          </a:p>
        </p:txBody>
      </p:sp>
      <p:sp>
        <p:nvSpPr>
          <p:cNvPr id="68" name="Text 65"/>
          <p:cNvSpPr/>
          <p:nvPr/>
        </p:nvSpPr>
        <p:spPr>
          <a:xfrm>
            <a:off x="4846320" y="341071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>
              <a:latin typeface="Franklin Gothic Book" panose="020B0503020102020204" pitchFamily="34" charset="0"/>
            </a:endParaRPr>
          </a:p>
        </p:txBody>
      </p:sp>
      <p:sp>
        <p:nvSpPr>
          <p:cNvPr id="69" name="Shape 66"/>
          <p:cNvSpPr/>
          <p:nvPr/>
        </p:nvSpPr>
        <p:spPr>
          <a:xfrm>
            <a:off x="5742432" y="2587752"/>
            <a:ext cx="896112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0" name="Shape 67"/>
          <p:cNvSpPr/>
          <p:nvPr/>
        </p:nvSpPr>
        <p:spPr>
          <a:xfrm>
            <a:off x="5742432" y="2587752"/>
            <a:ext cx="45720" cy="1234440"/>
          </a:xfrm>
          <a:prstGeom prst="rect">
            <a:avLst/>
          </a:prstGeom>
          <a:solidFill>
            <a:srgbClr val="B52372"/>
          </a:solidFill>
          <a:ln w="12700">
            <a:solidFill>
              <a:srgbClr val="B523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8"/>
          <p:cNvSpPr/>
          <p:nvPr/>
        </p:nvSpPr>
        <p:spPr>
          <a:xfrm>
            <a:off x="5833872" y="2697480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C1C1E"/>
                </a:solidFill>
                <a:latin typeface="Franklin Gothic Book" panose="020B0503020102020204" pitchFamily="34" charset="0"/>
                <a:ea typeface="Georgia" pitchFamily="34" charset="-122"/>
                <a:cs typeface="Georgia" pitchFamily="34" charset="-120"/>
              </a:rPr>
              <a:t>$2,070</a:t>
            </a:r>
            <a:endParaRPr lang="en-US" sz="1300">
              <a:latin typeface="Franklin Gothic Book" panose="020B0503020102020204" pitchFamily="34" charset="0"/>
            </a:endParaRPr>
          </a:p>
        </p:txBody>
      </p:sp>
      <p:sp>
        <p:nvSpPr>
          <p:cNvPr id="72" name="Text 69"/>
          <p:cNvSpPr/>
          <p:nvPr/>
        </p:nvSpPr>
        <p:spPr>
          <a:xfrm>
            <a:off x="5833872" y="315468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555759"/>
                </a:solidFill>
                <a:latin typeface="Franklin Gothic Book" panose="020B0503020102020204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850">
              <a:latin typeface="Franklin Gothic Book" panose="020B0503020102020204" pitchFamily="34" charset="0"/>
            </a:endParaRPr>
          </a:p>
        </p:txBody>
      </p:sp>
      <p:sp>
        <p:nvSpPr>
          <p:cNvPr id="73" name="Shape 70"/>
          <p:cNvSpPr/>
          <p:nvPr/>
        </p:nvSpPr>
        <p:spPr>
          <a:xfrm>
            <a:off x="6729984" y="2587752"/>
            <a:ext cx="896112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4" name="Shape 71"/>
          <p:cNvSpPr/>
          <p:nvPr/>
        </p:nvSpPr>
        <p:spPr>
          <a:xfrm>
            <a:off x="6729984" y="2587752"/>
            <a:ext cx="45720" cy="1234440"/>
          </a:xfrm>
          <a:prstGeom prst="rect">
            <a:avLst/>
          </a:prstGeom>
          <a:solidFill>
            <a:srgbClr val="B52372"/>
          </a:solidFill>
          <a:ln w="12700">
            <a:solidFill>
              <a:srgbClr val="B523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2"/>
          <p:cNvSpPr/>
          <p:nvPr/>
        </p:nvSpPr>
        <p:spPr>
          <a:xfrm>
            <a:off x="6821424" y="2697480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C1C1E"/>
                </a:solidFill>
                <a:latin typeface="Franklin Gothic Book" panose="020B0503020102020204" pitchFamily="34" charset="0"/>
                <a:ea typeface="Georgia" pitchFamily="34" charset="-122"/>
                <a:cs typeface="Georgia" pitchFamily="34" charset="-120"/>
              </a:rPr>
              <a:t>4.37x</a:t>
            </a:r>
            <a:endParaRPr lang="en-US" sz="1300">
              <a:latin typeface="Franklin Gothic Book" panose="020B0503020102020204" pitchFamily="34" charset="0"/>
            </a:endParaRPr>
          </a:p>
        </p:txBody>
      </p:sp>
      <p:sp>
        <p:nvSpPr>
          <p:cNvPr id="76" name="Text 73"/>
          <p:cNvSpPr/>
          <p:nvPr/>
        </p:nvSpPr>
        <p:spPr>
          <a:xfrm>
            <a:off x="6821424" y="315468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555759"/>
                </a:solidFill>
                <a:latin typeface="Franklin Gothic Book" panose="020B0503020102020204" pitchFamily="34" charset="0"/>
                <a:ea typeface="Calibri" pitchFamily="34" charset="-122"/>
                <a:cs typeface="Calibri" pitchFamily="34" charset="-120"/>
              </a:rPr>
              <a:t>ROAS</a:t>
            </a:r>
            <a:endParaRPr lang="en-US" sz="850">
              <a:latin typeface="Franklin Gothic Book" panose="020B0503020102020204" pitchFamily="34" charset="0"/>
            </a:endParaRPr>
          </a:p>
        </p:txBody>
      </p:sp>
      <p:sp>
        <p:nvSpPr>
          <p:cNvPr id="77" name="Text 74"/>
          <p:cNvSpPr/>
          <p:nvPr/>
        </p:nvSpPr>
        <p:spPr>
          <a:xfrm>
            <a:off x="6821424" y="341071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>
              <a:latin typeface="Franklin Gothic Book" panose="020B0503020102020204" pitchFamily="34" charset="0"/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128016" y="4510849"/>
            <a:ext cx="1307592" cy="195453"/>
          </a:xfrm>
          <a:prstGeom prst="rect">
            <a:avLst/>
          </a:prstGeom>
          <a:solidFill>
            <a:srgbClr val="D6006E"/>
          </a:solidFill>
          <a:ln>
            <a:solidFill>
              <a:srgbClr val="D60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WHY THIS MATTERS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508760" y="4510849"/>
            <a:ext cx="7498080" cy="195453"/>
          </a:xfrm>
          <a:prstGeom prst="rect">
            <a:avLst/>
          </a:prstGeom>
          <a:solidFill>
            <a:srgbClr val="FDE8F3"/>
          </a:solidFill>
          <a:ln w="6350">
            <a:solidFill>
              <a:srgbClr val="D60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bIns="0" rtlCol="0" anchor="ctr"/>
          <a:lstStyle/>
          <a:p>
            <a:pPr algn="ctr"/>
            <a:r>
              <a:rPr sz="850">
                <a:solidFill>
                  <a:srgbClr val="1C1C1E"/>
                </a:solidFill>
                <a:latin typeface="Calibri"/>
              </a:rPr>
              <a:t>PPC returned $9.50 per $1 with bookings up 200% on last August. PMAX fell to 4.37x from 11.57x in July: worth reviewing with O'Rourke.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2103120"/>
            <a:ext cx="9144000" cy="4572"/>
          </a:xfrm>
          <a:prstGeom prst="rect">
            <a:avLst/>
          </a:prstGeom>
          <a:solidFill>
            <a:srgbClr val="B52372"/>
          </a:solidFill>
          <a:ln w="12700">
            <a:solidFill>
              <a:srgbClr val="B523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22190" y="12801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>
                <a:solidFill>
                  <a:srgbClr val="FFFFFF"/>
                </a:solidFill>
                <a:latin typeface="Franklin Gothic Book" panose="020B0503020102020204" pitchFamily="34" charset="0"/>
                <a:ea typeface="Georgia" pitchFamily="34" charset="-122"/>
                <a:cs typeface="Georgia" pitchFamily="34" charset="-120"/>
              </a:rPr>
              <a:t>Domain &amp; SEO Analytics</a:t>
            </a:r>
            <a:endParaRPr lang="en-US" sz="3600">
              <a:latin typeface="Franklin Gothic Book" panose="020B05030201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22190" y="21488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E7E1E6"/>
                </a:solidFill>
                <a:latin typeface="Franklin Gothic Book" panose="020B0503020102020204" pitchFamily="34" charset="0"/>
                <a:ea typeface="Calibri" pitchFamily="34" charset="-122"/>
                <a:cs typeface="Calibri" pitchFamily="34" charset="-120"/>
              </a:rPr>
              <a:t>August 2026  |  Source: SEMRush</a:t>
            </a:r>
            <a:endParaRPr lang="en-US" sz="1600">
              <a:latin typeface="Franklin Gothic Book" panose="020B05030201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28016" y="4510849"/>
            <a:ext cx="1307592" cy="195453"/>
          </a:xfrm>
          <a:prstGeom prst="rect">
            <a:avLst/>
          </a:prstGeom>
          <a:solidFill>
            <a:srgbClr val="D6006E"/>
          </a:solidFill>
          <a:ln>
            <a:solidFill>
              <a:srgbClr val="D60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WHY THIS MATTERS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1508760" y="4510849"/>
            <a:ext cx="7498080" cy="195453"/>
          </a:xfrm>
          <a:prstGeom prst="rect">
            <a:avLst/>
          </a:prstGeom>
          <a:solidFill>
            <a:srgbClr val="FDE8F3"/>
          </a:solidFill>
          <a:ln w="6350">
            <a:solidFill>
              <a:srgbClr val="D60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bIns="0" rtlCol="0" anchor="ctr"/>
          <a:lstStyle/>
          <a:p>
            <a:pPr algn="ctr"/>
            <a:r>
              <a:rPr sz="850">
                <a:solidFill>
                  <a:srgbClr val="1C1C1E"/>
                </a:solidFill>
                <a:latin typeface="Calibri"/>
              </a:rPr>
              <a:t>For every $1 spent on Google Ads in August, the hotel returned $9.50 from PPC and $4.37 from PMAX. PPC is carrying the paid budget.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" y="54864"/>
            <a:ext cx="445770" cy="21945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342900"/>
            <a:ext cx="9141714" cy="0"/>
          </a:xfrm>
          <a:prstGeom prst="line">
            <a:avLst/>
          </a:prstGeom>
          <a:noFill/>
          <a:ln w="19050">
            <a:solidFill>
              <a:srgbClr val="D6006E"/>
            </a:solidFill>
            <a:prstDash val="solid"/>
          </a:ln>
        </p:spPr>
        <p:txBody>
          <a:bodyPr lIns="68580" rIns="68580" tIns="34290" bIns="34290"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685800" y="54864"/>
            <a:ext cx="6172200" cy="260604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13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DIGITAL PRESENCE AT A GLANCE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85800" y="288036"/>
            <a:ext cx="8298180" cy="123444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 algn="r">
              <a:buNone/>
            </a:pPr>
            <a:r>
              <a:rPr lang="en-US" sz="650" dirty="0">
                <a:solidFill>
                  <a:srgbClr val="555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July–August 2026  |  Source: Search Atlas / Google</a:t>
            </a:r>
            <a:endParaRPr lang="en-US" sz="650" dirty="0"/>
          </a:p>
        </p:txBody>
      </p:sp>
      <p:sp>
        <p:nvSpPr>
          <p:cNvPr id="6" name="Text 3"/>
          <p:cNvSpPr/>
          <p:nvPr/>
        </p:nvSpPr>
        <p:spPr>
          <a:xfrm>
            <a:off x="123444" y="370332"/>
            <a:ext cx="4800600" cy="123444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550" b="1" kern="0" spc="80" dirty="0">
                <a:solidFill>
                  <a:srgbClr val="555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BUSINESS PROFILE: JULY/AUGUST 2026 VS. PRIOR 60 DAYS</a:t>
            </a:r>
            <a:endParaRPr lang="en-US" sz="550" dirty="0"/>
          </a:p>
        </p:txBody>
      </p:sp>
      <p:sp>
        <p:nvSpPr>
          <p:cNvPr id="7" name="Shape 4"/>
          <p:cNvSpPr/>
          <p:nvPr/>
        </p:nvSpPr>
        <p:spPr>
          <a:xfrm>
            <a:off x="123444" y="507492"/>
            <a:ext cx="1700784" cy="630936"/>
          </a:xfrm>
          <a:prstGeom prst="rect">
            <a:avLst/>
          </a:prstGeom>
          <a:solidFill>
            <a:srgbClr val="FFFFFF"/>
          </a:solidFill>
          <a:ln w="4762">
            <a:solidFill>
              <a:srgbClr val="E0E0E0"/>
            </a:solidFill>
            <a:prstDash val="solid"/>
          </a:ln>
        </p:spPr>
        <p:txBody>
          <a:bodyPr lIns="68580" rIns="68580" tIns="34290" bIns="34290"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205740" y="548640"/>
            <a:ext cx="1536192" cy="260604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1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95,511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205740" y="822960"/>
            <a:ext cx="1536192" cy="123444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6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Views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205740" y="953262"/>
            <a:ext cx="1536192" cy="109728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550" i="1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+98% vs. prior period</a:t>
            </a:r>
            <a:endParaRPr lang="en-US" sz="550" dirty="0"/>
          </a:p>
        </p:txBody>
      </p:sp>
      <p:sp>
        <p:nvSpPr>
          <p:cNvPr id="11" name="Shape 8"/>
          <p:cNvSpPr/>
          <p:nvPr/>
        </p:nvSpPr>
        <p:spPr>
          <a:xfrm>
            <a:off x="1879092" y="507492"/>
            <a:ext cx="1700784" cy="630936"/>
          </a:xfrm>
          <a:prstGeom prst="rect">
            <a:avLst/>
          </a:prstGeom>
          <a:solidFill>
            <a:srgbClr val="FFFFFF"/>
          </a:solidFill>
          <a:ln w="4762">
            <a:solidFill>
              <a:srgbClr val="E0E0E0"/>
            </a:solidFill>
            <a:prstDash val="solid"/>
          </a:ln>
        </p:spPr>
        <p:txBody>
          <a:bodyPr lIns="68580" rIns="68580" tIns="34290" bIns="34290"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961388" y="548640"/>
            <a:ext cx="1536192" cy="260604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1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60,575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961388" y="822960"/>
            <a:ext cx="1536192" cy="123444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6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Appearances</a:t>
            </a:r>
            <a:endParaRPr lang="en-US" sz="650" dirty="0"/>
          </a:p>
        </p:txBody>
      </p:sp>
      <p:sp>
        <p:nvSpPr>
          <p:cNvPr id="14" name="Text 11"/>
          <p:cNvSpPr/>
          <p:nvPr/>
        </p:nvSpPr>
        <p:spPr>
          <a:xfrm>
            <a:off x="1961388" y="953262"/>
            <a:ext cx="1536192" cy="109728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550" i="1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+148% vs. prior period</a:t>
            </a:r>
            <a:endParaRPr lang="en-US" sz="550" dirty="0"/>
          </a:p>
        </p:txBody>
      </p:sp>
      <p:sp>
        <p:nvSpPr>
          <p:cNvPr id="15" name="Shape 12"/>
          <p:cNvSpPr/>
          <p:nvPr/>
        </p:nvSpPr>
        <p:spPr>
          <a:xfrm>
            <a:off x="3634740" y="507492"/>
            <a:ext cx="1700784" cy="630936"/>
          </a:xfrm>
          <a:prstGeom prst="rect">
            <a:avLst/>
          </a:prstGeom>
          <a:solidFill>
            <a:srgbClr val="FFFFFF"/>
          </a:solidFill>
          <a:ln w="4762">
            <a:solidFill>
              <a:srgbClr val="E0E0E0"/>
            </a:solidFill>
            <a:prstDash val="solid"/>
          </a:ln>
        </p:spPr>
        <p:txBody>
          <a:bodyPr lIns="68580" rIns="68580" tIns="34290" bIns="34290"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3717036" y="548640"/>
            <a:ext cx="1536192" cy="260604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1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1,667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3717036" y="822960"/>
            <a:ext cx="1536192" cy="123444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6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Clicks</a:t>
            </a:r>
            <a:endParaRPr lang="en-US" sz="650" dirty="0"/>
          </a:p>
        </p:txBody>
      </p:sp>
      <p:sp>
        <p:nvSpPr>
          <p:cNvPr id="18" name="Text 15"/>
          <p:cNvSpPr/>
          <p:nvPr/>
        </p:nvSpPr>
        <p:spPr>
          <a:xfrm>
            <a:off x="3717036" y="953262"/>
            <a:ext cx="1536192" cy="109728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550" i="1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+46% vs. prior period</a:t>
            </a:r>
            <a:endParaRPr lang="en-US" sz="550" dirty="0"/>
          </a:p>
        </p:txBody>
      </p:sp>
      <p:sp>
        <p:nvSpPr>
          <p:cNvPr id="19" name="Shape 16"/>
          <p:cNvSpPr/>
          <p:nvPr/>
        </p:nvSpPr>
        <p:spPr>
          <a:xfrm>
            <a:off x="5390388" y="507492"/>
            <a:ext cx="1700784" cy="630936"/>
          </a:xfrm>
          <a:prstGeom prst="rect">
            <a:avLst/>
          </a:prstGeom>
          <a:solidFill>
            <a:srgbClr val="FFFFFF"/>
          </a:solidFill>
          <a:ln w="4762">
            <a:solidFill>
              <a:srgbClr val="E0E0E0"/>
            </a:solidFill>
            <a:prstDash val="solid"/>
          </a:ln>
        </p:spPr>
        <p:txBody>
          <a:bodyPr lIns="68580" rIns="68580" tIns="34290" bIns="34290"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472684" y="548640"/>
            <a:ext cx="1536192" cy="260604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1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3,191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5472684" y="822960"/>
            <a:ext cx="1536192" cy="123444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6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Directions Requests</a:t>
            </a:r>
            <a:endParaRPr lang="en-US" sz="650" dirty="0"/>
          </a:p>
        </p:txBody>
      </p:sp>
      <p:sp>
        <p:nvSpPr>
          <p:cNvPr id="22" name="Text 19"/>
          <p:cNvSpPr/>
          <p:nvPr/>
        </p:nvSpPr>
        <p:spPr>
          <a:xfrm>
            <a:off x="5472684" y="953262"/>
            <a:ext cx="1536192" cy="109728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550" i="1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+6% vs. prior period</a:t>
            </a:r>
            <a:endParaRPr lang="en-US" sz="550" dirty="0"/>
          </a:p>
        </p:txBody>
      </p:sp>
      <p:sp>
        <p:nvSpPr>
          <p:cNvPr id="23" name="Shape 20"/>
          <p:cNvSpPr/>
          <p:nvPr/>
        </p:nvSpPr>
        <p:spPr>
          <a:xfrm>
            <a:off x="7146036" y="507492"/>
            <a:ext cx="1700784" cy="630936"/>
          </a:xfrm>
          <a:prstGeom prst="rect">
            <a:avLst/>
          </a:prstGeom>
          <a:solidFill>
            <a:srgbClr val="FFFFFF"/>
          </a:solidFill>
          <a:ln w="4762">
            <a:solidFill>
              <a:srgbClr val="E0E0E0"/>
            </a:solidFill>
            <a:prstDash val="solid"/>
          </a:ln>
        </p:spPr>
        <p:txBody>
          <a:bodyPr lIns="68580" rIns="68580" tIns="34290" bIns="34290"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7228332" y="548640"/>
            <a:ext cx="1536192" cy="260604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1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541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7228332" y="822960"/>
            <a:ext cx="1536192" cy="123444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6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Calls</a:t>
            </a:r>
            <a:endParaRPr lang="en-US" sz="650" dirty="0"/>
          </a:p>
        </p:txBody>
      </p:sp>
      <p:sp>
        <p:nvSpPr>
          <p:cNvPr id="26" name="Text 23"/>
          <p:cNvSpPr/>
          <p:nvPr/>
        </p:nvSpPr>
        <p:spPr>
          <a:xfrm>
            <a:off x="7228332" y="953262"/>
            <a:ext cx="1536192" cy="109728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550" i="1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+2% vs. prior period</a:t>
            </a:r>
            <a:endParaRPr lang="en-US" sz="550" dirty="0"/>
          </a:p>
        </p:txBody>
      </p:sp>
      <p:sp>
        <p:nvSpPr>
          <p:cNvPr id="27" name="Text 24"/>
          <p:cNvSpPr/>
          <p:nvPr/>
        </p:nvSpPr>
        <p:spPr>
          <a:xfrm>
            <a:off x="123444" y="1165860"/>
            <a:ext cx="2057400" cy="109728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550" b="1" kern="0" spc="80" dirty="0">
                <a:solidFill>
                  <a:srgbClr val="555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HEALTH</a:t>
            </a:r>
            <a:endParaRPr lang="en-US" sz="550" dirty="0"/>
          </a:p>
        </p:txBody>
      </p:sp>
      <p:sp>
        <p:nvSpPr>
          <p:cNvPr id="28" name="Shape 25"/>
          <p:cNvSpPr/>
          <p:nvPr/>
        </p:nvSpPr>
        <p:spPr>
          <a:xfrm>
            <a:off x="123444" y="1289304"/>
            <a:ext cx="864108" cy="1128141"/>
          </a:xfrm>
          <a:prstGeom prst="rect">
            <a:avLst/>
          </a:prstGeom>
          <a:solidFill>
            <a:srgbClr val="FFFFFF"/>
          </a:solidFill>
          <a:ln w="4762">
            <a:solidFill>
              <a:srgbClr val="E0E0E0"/>
            </a:solidFill>
            <a:prstDash val="solid"/>
          </a:ln>
        </p:spPr>
        <p:txBody>
          <a:bodyPr lIns="68580" rIns="68580" tIns="34290" bIns="34290"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178308" y="1344168"/>
            <a:ext cx="754380" cy="260604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13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350" dirty="0"/>
          </a:p>
        </p:txBody>
      </p:sp>
      <p:sp>
        <p:nvSpPr>
          <p:cNvPr id="30" name="Text 27"/>
          <p:cNvSpPr/>
          <p:nvPr/>
        </p:nvSpPr>
        <p:spPr>
          <a:xfrm>
            <a:off x="178308" y="1604772"/>
            <a:ext cx="754380" cy="123444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5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Power</a:t>
            </a:r>
            <a:endParaRPr lang="en-US" sz="550" dirty="0"/>
          </a:p>
        </p:txBody>
      </p:sp>
      <p:sp>
        <p:nvSpPr>
          <p:cNvPr id="31" name="Text 28"/>
          <p:cNvSpPr/>
          <p:nvPr/>
        </p:nvSpPr>
        <p:spPr>
          <a:xfrm>
            <a:off x="178308" y="1728216"/>
            <a:ext cx="754380" cy="109728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500" i="1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35 · DA 32</a:t>
            </a:r>
            <a:endParaRPr lang="en-US" sz="500" dirty="0"/>
          </a:p>
        </p:txBody>
      </p:sp>
      <p:sp>
        <p:nvSpPr>
          <p:cNvPr id="32" name="Shape 29"/>
          <p:cNvSpPr/>
          <p:nvPr/>
        </p:nvSpPr>
        <p:spPr>
          <a:xfrm>
            <a:off x="1042416" y="1289304"/>
            <a:ext cx="864108" cy="1128141"/>
          </a:xfrm>
          <a:prstGeom prst="rect">
            <a:avLst/>
          </a:prstGeom>
          <a:solidFill>
            <a:srgbClr val="FFFFFF"/>
          </a:solidFill>
          <a:ln w="4762">
            <a:solidFill>
              <a:srgbClr val="E0E0E0"/>
            </a:solidFill>
            <a:prstDash val="solid"/>
          </a:ln>
        </p:spPr>
        <p:txBody>
          <a:bodyPr lIns="68580" rIns="68580" tIns="34290" bIns="34290"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1097280" y="1344168"/>
            <a:ext cx="754380" cy="260604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793</a:t>
            </a:r>
            <a:endParaRPr lang="en-US" sz="1350" dirty="0"/>
          </a:p>
        </p:txBody>
      </p:sp>
      <p:sp>
        <p:nvSpPr>
          <p:cNvPr id="34" name="Text 31"/>
          <p:cNvSpPr/>
          <p:nvPr/>
        </p:nvSpPr>
        <p:spPr>
          <a:xfrm>
            <a:off x="1097280" y="1604772"/>
            <a:ext cx="754380" cy="123444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5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</a:t>
            </a:r>
            <a:endParaRPr lang="en-US" sz="550" dirty="0"/>
          </a:p>
        </p:txBody>
      </p:sp>
      <p:sp>
        <p:nvSpPr>
          <p:cNvPr id="35" name="Text 32"/>
          <p:cNvSpPr/>
          <p:nvPr/>
        </p:nvSpPr>
        <p:spPr>
          <a:xfrm>
            <a:off x="1097280" y="1728216"/>
            <a:ext cx="754380" cy="109728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500" i="1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in top-3</a:t>
            </a:r>
            <a:endParaRPr lang="en-US" sz="500" dirty="0"/>
          </a:p>
        </p:txBody>
      </p:sp>
      <p:sp>
        <p:nvSpPr>
          <p:cNvPr id="36" name="Shape 33"/>
          <p:cNvSpPr/>
          <p:nvPr/>
        </p:nvSpPr>
        <p:spPr>
          <a:xfrm>
            <a:off x="123444" y="2472309"/>
            <a:ext cx="864108" cy="1128141"/>
          </a:xfrm>
          <a:prstGeom prst="rect">
            <a:avLst/>
          </a:prstGeom>
          <a:solidFill>
            <a:srgbClr val="FFFFFF"/>
          </a:solidFill>
          <a:ln w="4762">
            <a:solidFill>
              <a:srgbClr val="E0E0E0"/>
            </a:solidFill>
            <a:prstDash val="solid"/>
          </a:ln>
        </p:spPr>
        <p:txBody>
          <a:bodyPr lIns="68580" rIns="68580" tIns="34290" bIns="34290"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178308" y="2527173"/>
            <a:ext cx="754380" cy="260604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7,277</a:t>
            </a:r>
            <a:endParaRPr lang="en-US" sz="1350" dirty="0"/>
          </a:p>
        </p:txBody>
      </p:sp>
      <p:sp>
        <p:nvSpPr>
          <p:cNvPr id="38" name="Text 35"/>
          <p:cNvSpPr/>
          <p:nvPr/>
        </p:nvSpPr>
        <p:spPr>
          <a:xfrm>
            <a:off x="178308" y="2787777"/>
            <a:ext cx="754380" cy="123444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5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Traffic</a:t>
            </a:r>
            <a:endParaRPr lang="en-US" sz="550" dirty="0"/>
          </a:p>
        </p:txBody>
      </p:sp>
      <p:sp>
        <p:nvSpPr>
          <p:cNvPr id="39" name="Text 36"/>
          <p:cNvSpPr/>
          <p:nvPr/>
        </p:nvSpPr>
        <p:spPr>
          <a:xfrm>
            <a:off x="178308" y="2911221"/>
            <a:ext cx="754380" cy="109728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500" i="1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Value: $6,131/mo</a:t>
            </a:r>
            <a:endParaRPr lang="en-US" sz="500" dirty="0"/>
          </a:p>
        </p:txBody>
      </p:sp>
      <p:sp>
        <p:nvSpPr>
          <p:cNvPr id="40" name="Shape 37"/>
          <p:cNvSpPr/>
          <p:nvPr/>
        </p:nvSpPr>
        <p:spPr>
          <a:xfrm>
            <a:off x="1042416" y="2472309"/>
            <a:ext cx="864108" cy="1128141"/>
          </a:xfrm>
          <a:prstGeom prst="rect">
            <a:avLst/>
          </a:prstGeom>
          <a:solidFill>
            <a:srgbClr val="FFFFFF"/>
          </a:solidFill>
          <a:ln w="4762">
            <a:solidFill>
              <a:srgbClr val="E0E0E0"/>
            </a:solidFill>
            <a:prstDash val="solid"/>
          </a:ln>
        </p:spPr>
        <p:txBody>
          <a:bodyPr lIns="68580" rIns="68580" tIns="34290" bIns="34290"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1097280" y="2527173"/>
            <a:ext cx="754380" cy="260604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13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95/100</a:t>
            </a:r>
            <a:endParaRPr lang="en-US" sz="1350" dirty="0"/>
          </a:p>
        </p:txBody>
      </p:sp>
      <p:sp>
        <p:nvSpPr>
          <p:cNvPr id="42" name="Text 39"/>
          <p:cNvSpPr/>
          <p:nvPr/>
        </p:nvSpPr>
        <p:spPr>
          <a:xfrm>
            <a:off x="1097280" y="2787777"/>
            <a:ext cx="754380" cy="123444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5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SEO</a:t>
            </a:r>
            <a:endParaRPr lang="en-US" sz="550" dirty="0"/>
          </a:p>
        </p:txBody>
      </p:sp>
      <p:sp>
        <p:nvSpPr>
          <p:cNvPr id="43" name="Text 40"/>
          <p:cNvSpPr/>
          <p:nvPr/>
        </p:nvSpPr>
        <p:spPr>
          <a:xfrm>
            <a:off x="1097280" y="2911221"/>
            <a:ext cx="754380" cy="109728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500" i="1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SEO pillar</a:t>
            </a:r>
            <a:endParaRPr lang="en-US" sz="500" dirty="0"/>
          </a:p>
        </p:txBody>
      </p:sp>
      <p:sp>
        <p:nvSpPr>
          <p:cNvPr id="44" name="Text 41"/>
          <p:cNvSpPr/>
          <p:nvPr/>
        </p:nvSpPr>
        <p:spPr>
          <a:xfrm>
            <a:off x="1906524" y="1165860"/>
            <a:ext cx="2057400" cy="109728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550" b="1" kern="0" spc="80" dirty="0">
                <a:solidFill>
                  <a:srgbClr val="555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REVIEWS</a:t>
            </a:r>
            <a:endParaRPr lang="en-US" sz="550" dirty="0"/>
          </a:p>
        </p:txBody>
      </p:sp>
      <p:sp>
        <p:nvSpPr>
          <p:cNvPr id="45" name="Shape 42"/>
          <p:cNvSpPr/>
          <p:nvPr/>
        </p:nvSpPr>
        <p:spPr>
          <a:xfrm>
            <a:off x="1906524" y="1289304"/>
            <a:ext cx="3991356" cy="2311146"/>
          </a:xfrm>
          <a:prstGeom prst="rect">
            <a:avLst/>
          </a:prstGeom>
          <a:solidFill>
            <a:srgbClr val="F2F2F4"/>
          </a:solidFill>
          <a:ln w="4762">
            <a:solidFill>
              <a:srgbClr val="E0E0E0"/>
            </a:solidFill>
            <a:prstDash val="solid"/>
          </a:ln>
        </p:spPr>
        <p:txBody>
          <a:bodyPr lIns="68580" rIns="68580" tIns="34290" bIns="34290"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2043684" y="1371600"/>
            <a:ext cx="548640" cy="356616"/>
          </a:xfrm>
          <a:prstGeom prst="rect">
            <a:avLst/>
          </a:prstGeom>
          <a:noFill/>
          <a:ln/>
        </p:spPr>
        <p:txBody>
          <a:bodyPr wrap="square" rtlCol="0" anchor="ctr" lIns="0" rIns="0" tIns="0" bIns="0"/>
          <a:lstStyle/>
          <a:p>
            <a:pPr marL="0" indent="0">
              <a:buNone/>
            </a:pPr>
            <a:r>
              <a:rPr lang="en-US" sz="2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</a:t>
            </a:r>
            <a:endParaRPr lang="en-US" sz="3000" dirty="0"/>
          </a:p>
        </p:txBody>
      </p:sp>
      <p:sp>
        <p:nvSpPr>
          <p:cNvPr id="47" name="Text 44"/>
          <p:cNvSpPr/>
          <p:nvPr/>
        </p:nvSpPr>
        <p:spPr>
          <a:xfrm>
            <a:off x="2660904" y="1440180"/>
            <a:ext cx="1234440" cy="246888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1350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★★★★☆</a:t>
            </a:r>
            <a:endParaRPr lang="en-US" sz="1350" dirty="0"/>
          </a:p>
        </p:txBody>
      </p:sp>
      <p:sp>
        <p:nvSpPr>
          <p:cNvPr id="48" name="Text 45"/>
          <p:cNvSpPr/>
          <p:nvPr/>
        </p:nvSpPr>
        <p:spPr>
          <a:xfrm>
            <a:off x="2043684" y="1769364"/>
            <a:ext cx="3717036" cy="137160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650" dirty="0">
                <a:solidFill>
                  <a:srgbClr val="555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409 total Google reviews  |  as of Sept 28</a:t>
            </a:r>
            <a:endParaRPr lang="en-US" sz="650" dirty="0"/>
          </a:p>
        </p:txBody>
      </p:sp>
      <p:sp>
        <p:nvSpPr>
          <p:cNvPr id="49" name="Text 46"/>
          <p:cNvSpPr/>
          <p:nvPr/>
        </p:nvSpPr>
        <p:spPr>
          <a:xfrm>
            <a:off x="2029968" y="1961388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 lIns="0" rIns="0" tIns="0" bIns="0"/>
          <a:lstStyle/>
          <a:p>
            <a:pPr marL="0" indent="0">
              <a:buNone/>
            </a:pPr>
            <a:r>
              <a:rPr lang="en-US" sz="700" dirty="0">
                <a:solidFill>
                  <a:srgbClr val="555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★</a:t>
            </a:r>
            <a:endParaRPr lang="en-US" sz="700" dirty="0"/>
          </a:p>
        </p:txBody>
      </p:sp>
      <p:sp>
        <p:nvSpPr>
          <p:cNvPr id="50" name="Shape 47"/>
          <p:cNvSpPr/>
          <p:nvPr/>
        </p:nvSpPr>
        <p:spPr>
          <a:xfrm>
            <a:off x="2352294" y="1988820"/>
            <a:ext cx="1639899" cy="109728"/>
          </a:xfrm>
          <a:prstGeom prst="rect">
            <a:avLst/>
          </a:prstGeom>
          <a:solidFill>
            <a:srgbClr val="2E7D32"/>
          </a:solidFill>
          <a:ln/>
        </p:spPr>
        <p:txBody>
          <a:bodyPr lIns="68580" rIns="68580" tIns="34290" bIns="34290"/>
          <a:lstStyle/>
          <a:p>
            <a:endParaRPr lang="en-US"/>
          </a:p>
        </p:txBody>
      </p:sp>
      <p:sp>
        <p:nvSpPr>
          <p:cNvPr id="51" name="Shape 48"/>
          <p:cNvSpPr/>
          <p:nvPr/>
        </p:nvSpPr>
        <p:spPr>
          <a:xfrm>
            <a:off x="3992193" y="1988820"/>
            <a:ext cx="1391337" cy="109728"/>
          </a:xfrm>
          <a:prstGeom prst="rect">
            <a:avLst/>
          </a:prstGeom>
          <a:solidFill>
            <a:srgbClr val="E0E0E0"/>
          </a:solidFill>
          <a:ln/>
        </p:spPr>
        <p:txBody>
          <a:bodyPr lIns="68580" rIns="68580" tIns="34290" bIns="34290"/>
          <a:lstStyle/>
          <a:p>
            <a:endParaRPr lang="en-US"/>
          </a:p>
        </p:txBody>
      </p:sp>
      <p:sp>
        <p:nvSpPr>
          <p:cNvPr id="52" name="Text 49"/>
          <p:cNvSpPr/>
          <p:nvPr/>
        </p:nvSpPr>
        <p:spPr>
          <a:xfrm>
            <a:off x="5438394" y="1961388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600" dirty="0">
                <a:solidFill>
                  <a:srgbClr val="555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219  (53.5%)</a:t>
            </a:r>
            <a:endParaRPr lang="en-US" sz="600" dirty="0"/>
          </a:p>
        </p:txBody>
      </p:sp>
      <p:sp>
        <p:nvSpPr>
          <p:cNvPr id="53" name="Text 50"/>
          <p:cNvSpPr/>
          <p:nvPr/>
        </p:nvSpPr>
        <p:spPr>
          <a:xfrm>
            <a:off x="2029968" y="2276856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 lIns="0" rIns="0" tIns="0" bIns="0"/>
          <a:lstStyle/>
          <a:p>
            <a:pPr marL="0" indent="0">
              <a:buNone/>
            </a:pPr>
            <a:r>
              <a:rPr lang="en-US" sz="700" dirty="0">
                <a:solidFill>
                  <a:srgbClr val="555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★</a:t>
            </a:r>
            <a:endParaRPr lang="en-US" sz="700" dirty="0"/>
          </a:p>
        </p:txBody>
      </p:sp>
      <p:sp>
        <p:nvSpPr>
          <p:cNvPr id="54" name="Shape 51"/>
          <p:cNvSpPr/>
          <p:nvPr/>
        </p:nvSpPr>
        <p:spPr>
          <a:xfrm>
            <a:off x="2352294" y="2304288"/>
            <a:ext cx="745683" cy="109728"/>
          </a:xfrm>
          <a:prstGeom prst="rect">
            <a:avLst/>
          </a:prstGeom>
          <a:solidFill>
            <a:srgbClr val="5C9E31"/>
          </a:solidFill>
          <a:ln/>
        </p:spPr>
        <p:txBody>
          <a:bodyPr lIns="68580" rIns="68580" tIns="34290" bIns="34290"/>
          <a:lstStyle/>
          <a:p>
            <a:endParaRPr lang="en-US"/>
          </a:p>
        </p:txBody>
      </p:sp>
      <p:sp>
        <p:nvSpPr>
          <p:cNvPr id="55" name="Shape 52"/>
          <p:cNvSpPr/>
          <p:nvPr/>
        </p:nvSpPr>
        <p:spPr>
          <a:xfrm>
            <a:off x="3097977" y="2304288"/>
            <a:ext cx="2285552" cy="109728"/>
          </a:xfrm>
          <a:prstGeom prst="rect">
            <a:avLst/>
          </a:prstGeom>
          <a:solidFill>
            <a:srgbClr val="E0E0E0"/>
          </a:solidFill>
          <a:ln/>
        </p:spPr>
        <p:txBody>
          <a:bodyPr lIns="68580" rIns="68580" tIns="34290" bIns="34290"/>
          <a:lstStyle/>
          <a:p>
            <a:endParaRPr lang="en-US"/>
          </a:p>
        </p:txBody>
      </p:sp>
      <p:sp>
        <p:nvSpPr>
          <p:cNvPr id="56" name="Text 53"/>
          <p:cNvSpPr/>
          <p:nvPr/>
        </p:nvSpPr>
        <p:spPr>
          <a:xfrm>
            <a:off x="5438394" y="2276856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600" dirty="0">
                <a:solidFill>
                  <a:srgbClr val="555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  (24.2%)</a:t>
            </a:r>
            <a:endParaRPr lang="en-US" sz="600" dirty="0"/>
          </a:p>
        </p:txBody>
      </p:sp>
      <p:sp>
        <p:nvSpPr>
          <p:cNvPr id="57" name="Text 54"/>
          <p:cNvSpPr/>
          <p:nvPr/>
        </p:nvSpPr>
        <p:spPr>
          <a:xfrm>
            <a:off x="2029968" y="2592324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 lIns="0" rIns="0" tIns="0" bIns="0"/>
          <a:lstStyle/>
          <a:p>
            <a:pPr marL="0" indent="0">
              <a:buNone/>
            </a:pPr>
            <a:r>
              <a:rPr lang="en-US" sz="700" dirty="0">
                <a:solidFill>
                  <a:srgbClr val="555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★</a:t>
            </a:r>
            <a:endParaRPr lang="en-US" sz="700" dirty="0"/>
          </a:p>
        </p:txBody>
      </p:sp>
      <p:sp>
        <p:nvSpPr>
          <p:cNvPr id="58" name="Shape 55"/>
          <p:cNvSpPr/>
          <p:nvPr/>
        </p:nvSpPr>
        <p:spPr>
          <a:xfrm>
            <a:off x="2352294" y="2619756"/>
            <a:ext cx="372842" cy="109728"/>
          </a:xfrm>
          <a:prstGeom prst="rect">
            <a:avLst/>
          </a:prstGeom>
          <a:solidFill>
            <a:srgbClr val="E65100"/>
          </a:solidFill>
          <a:ln/>
        </p:spPr>
        <p:txBody>
          <a:bodyPr lIns="0" rIns="0" tIns="0" bIns="0"/>
          <a:lstStyle/>
          <a:p>
            <a:endParaRPr lang="en-US"/>
          </a:p>
        </p:txBody>
      </p:sp>
      <p:sp>
        <p:nvSpPr>
          <p:cNvPr id="59" name="Shape 56"/>
          <p:cNvSpPr/>
          <p:nvPr/>
        </p:nvSpPr>
        <p:spPr>
          <a:xfrm>
            <a:off x="2725136" y="2619756"/>
            <a:ext cx="2658393" cy="109728"/>
          </a:xfrm>
          <a:prstGeom prst="rect">
            <a:avLst/>
          </a:prstGeom>
          <a:solidFill>
            <a:srgbClr val="E0E0E0"/>
          </a:solidFill>
          <a:ln/>
        </p:spPr>
        <p:txBody>
          <a:bodyPr lIns="68580" rIns="68580" tIns="34290" bIns="34290"/>
          <a:lstStyle/>
          <a:p>
            <a:endParaRPr lang="en-US"/>
          </a:p>
        </p:txBody>
      </p:sp>
      <p:sp>
        <p:nvSpPr>
          <p:cNvPr id="60" name="Text 57"/>
          <p:cNvSpPr/>
          <p:nvPr/>
        </p:nvSpPr>
        <p:spPr>
          <a:xfrm>
            <a:off x="5438394" y="2592324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600" dirty="0">
                <a:solidFill>
                  <a:srgbClr val="555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 (13.0%)</a:t>
            </a:r>
            <a:endParaRPr lang="en-US" sz="600" dirty="0"/>
          </a:p>
        </p:txBody>
      </p:sp>
      <p:sp>
        <p:nvSpPr>
          <p:cNvPr id="61" name="Text 58"/>
          <p:cNvSpPr/>
          <p:nvPr/>
        </p:nvSpPr>
        <p:spPr>
          <a:xfrm>
            <a:off x="2029968" y="2907792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 lIns="0" rIns="0" tIns="0" bIns="0"/>
          <a:lstStyle/>
          <a:p>
            <a:pPr marL="0" indent="0">
              <a:buNone/>
            </a:pPr>
            <a:r>
              <a:rPr lang="en-US" sz="700" dirty="0">
                <a:solidFill>
                  <a:srgbClr val="555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★</a:t>
            </a:r>
            <a:endParaRPr lang="en-US" sz="700" dirty="0"/>
          </a:p>
        </p:txBody>
      </p:sp>
      <p:sp>
        <p:nvSpPr>
          <p:cNvPr id="62" name="Shape 59"/>
          <p:cNvSpPr/>
          <p:nvPr/>
        </p:nvSpPr>
        <p:spPr>
          <a:xfrm>
            <a:off x="2352294" y="2935224"/>
            <a:ext cx="145499" cy="109728"/>
          </a:xfrm>
          <a:prstGeom prst="rect">
            <a:avLst/>
          </a:prstGeom>
          <a:solidFill>
            <a:srgbClr val="D05E00"/>
          </a:solidFill>
          <a:ln/>
        </p:spPr>
        <p:txBody>
          <a:bodyPr lIns="0" rIns="0" tIns="0" bIns="0"/>
          <a:lstStyle/>
          <a:p>
            <a:endParaRPr lang="en-US"/>
          </a:p>
        </p:txBody>
      </p:sp>
      <p:sp>
        <p:nvSpPr>
          <p:cNvPr id="63" name="Shape 60"/>
          <p:cNvSpPr/>
          <p:nvPr/>
        </p:nvSpPr>
        <p:spPr>
          <a:xfrm>
            <a:off x="2497793" y="2935224"/>
            <a:ext cx="2885736" cy="109728"/>
          </a:xfrm>
          <a:prstGeom prst="rect">
            <a:avLst/>
          </a:prstGeom>
          <a:solidFill>
            <a:srgbClr val="E0E0E0"/>
          </a:solidFill>
          <a:ln/>
        </p:spPr>
        <p:txBody>
          <a:bodyPr lIns="68580" rIns="68580" tIns="34290" bIns="34290"/>
          <a:lstStyle/>
          <a:p>
            <a:endParaRPr lang="en-US"/>
          </a:p>
        </p:txBody>
      </p:sp>
      <p:sp>
        <p:nvSpPr>
          <p:cNvPr id="64" name="Text 61"/>
          <p:cNvSpPr/>
          <p:nvPr/>
        </p:nvSpPr>
        <p:spPr>
          <a:xfrm>
            <a:off x="5438394" y="290779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600" dirty="0">
                <a:solidFill>
                  <a:srgbClr val="555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 (4.9%)</a:t>
            </a:r>
            <a:endParaRPr lang="en-US" sz="600" dirty="0"/>
          </a:p>
        </p:txBody>
      </p:sp>
      <p:sp>
        <p:nvSpPr>
          <p:cNvPr id="65" name="Text 62"/>
          <p:cNvSpPr/>
          <p:nvPr/>
        </p:nvSpPr>
        <p:spPr>
          <a:xfrm>
            <a:off x="2029968" y="3223260"/>
            <a:ext cx="274320" cy="164592"/>
          </a:xfrm>
          <a:prstGeom prst="rect">
            <a:avLst/>
          </a:prstGeom>
          <a:noFill/>
          <a:ln/>
        </p:spPr>
        <p:txBody>
          <a:bodyPr wrap="square" rtlCol="0" anchor="ctr" lIns="0" rIns="0" tIns="0" bIns="0"/>
          <a:lstStyle/>
          <a:p>
            <a:pPr marL="0" indent="0">
              <a:buNone/>
            </a:pPr>
            <a:r>
              <a:rPr lang="en-US" sz="700" dirty="0">
                <a:solidFill>
                  <a:srgbClr val="555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★</a:t>
            </a:r>
            <a:endParaRPr lang="en-US" sz="700" dirty="0"/>
          </a:p>
        </p:txBody>
      </p:sp>
      <p:sp>
        <p:nvSpPr>
          <p:cNvPr id="66" name="Shape 63"/>
          <p:cNvSpPr/>
          <p:nvPr/>
        </p:nvSpPr>
        <p:spPr>
          <a:xfrm>
            <a:off x="2352294" y="3250692"/>
            <a:ext cx="130343" cy="109728"/>
          </a:xfrm>
          <a:prstGeom prst="rect">
            <a:avLst/>
          </a:prstGeom>
          <a:solidFill>
            <a:srgbClr val="C62828"/>
          </a:solidFill>
          <a:ln/>
        </p:spPr>
        <p:txBody>
          <a:bodyPr lIns="0" rIns="0" tIns="0" bIns="0"/>
          <a:lstStyle/>
          <a:p>
            <a:endParaRPr lang="en-US"/>
          </a:p>
        </p:txBody>
      </p:sp>
      <p:sp>
        <p:nvSpPr>
          <p:cNvPr id="67" name="Shape 64"/>
          <p:cNvSpPr/>
          <p:nvPr/>
        </p:nvSpPr>
        <p:spPr>
          <a:xfrm>
            <a:off x="2482637" y="3250692"/>
            <a:ext cx="2900892" cy="109728"/>
          </a:xfrm>
          <a:prstGeom prst="rect">
            <a:avLst/>
          </a:prstGeom>
          <a:solidFill>
            <a:srgbClr val="E0E0E0"/>
          </a:solidFill>
          <a:ln/>
        </p:spPr>
        <p:txBody>
          <a:bodyPr lIns="68580" rIns="68580" tIns="34290" bIns="34290"/>
          <a:lstStyle/>
          <a:p>
            <a:endParaRPr lang="en-US"/>
          </a:p>
        </p:txBody>
      </p:sp>
      <p:sp>
        <p:nvSpPr>
          <p:cNvPr id="68" name="Text 65"/>
          <p:cNvSpPr/>
          <p:nvPr/>
        </p:nvSpPr>
        <p:spPr>
          <a:xfrm>
            <a:off x="5438394" y="3223260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600" dirty="0">
                <a:solidFill>
                  <a:srgbClr val="555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 (4.4%)</a:t>
            </a:r>
            <a:endParaRPr lang="en-US" sz="600" dirty="0"/>
          </a:p>
        </p:txBody>
      </p:sp>
      <p:sp>
        <p:nvSpPr>
          <p:cNvPr id="69" name="Shape 66"/>
          <p:cNvSpPr/>
          <p:nvPr/>
        </p:nvSpPr>
        <p:spPr>
          <a:xfrm>
            <a:off x="2029968" y="3353562"/>
            <a:ext cx="3744468" cy="192024"/>
          </a:xfrm>
          <a:prstGeom prst="rect">
            <a:avLst/>
          </a:prstGeom>
          <a:solidFill>
            <a:srgbClr val="FFF3E0"/>
          </a:solidFill>
          <a:ln w="4762">
            <a:solidFill>
              <a:srgbClr val="E65100"/>
            </a:solidFill>
            <a:prstDash val="solid"/>
          </a:ln>
        </p:spPr>
        <p:txBody>
          <a:bodyPr lIns="68580" rIns="68580" tIns="34290" bIns="34290"/>
          <a:lstStyle/>
          <a:p>
            <a:endParaRPr lang="en-US"/>
          </a:p>
        </p:txBody>
      </p:sp>
      <p:sp>
        <p:nvSpPr>
          <p:cNvPr id="70" name="Text 67"/>
          <p:cNvSpPr/>
          <p:nvPr/>
        </p:nvSpPr>
        <p:spPr>
          <a:xfrm>
            <a:off x="2057400" y="3367278"/>
            <a:ext cx="3689604" cy="164592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550" i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196 reviews unanswered (52% reply rate). Each unanswered review is a missed signal to Google and to future guests.</a:t>
            </a:r>
            <a:endParaRPr lang="en-US" sz="550" dirty="0"/>
          </a:p>
        </p:txBody>
      </p:sp>
      <p:sp>
        <p:nvSpPr>
          <p:cNvPr id="71" name="Text 68"/>
          <p:cNvSpPr/>
          <p:nvPr/>
        </p:nvSpPr>
        <p:spPr>
          <a:xfrm>
            <a:off x="5980176" y="1165860"/>
            <a:ext cx="3038094" cy="109728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550" b="1" kern="0" spc="80" dirty="0">
                <a:solidFill>
                  <a:srgbClr val="555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HEALTH</a:t>
            </a:r>
            <a:endParaRPr lang="en-US" sz="550" dirty="0"/>
          </a:p>
        </p:txBody>
      </p:sp>
      <p:sp>
        <p:nvSpPr>
          <p:cNvPr id="72" name="Shape 69"/>
          <p:cNvSpPr/>
          <p:nvPr/>
        </p:nvSpPr>
        <p:spPr>
          <a:xfrm>
            <a:off x="5980176" y="1289304"/>
            <a:ext cx="3038094" cy="2311146"/>
          </a:xfrm>
          <a:prstGeom prst="rect">
            <a:avLst/>
          </a:prstGeom>
          <a:solidFill>
            <a:srgbClr val="F2F2F4"/>
          </a:solidFill>
          <a:ln w="4762">
            <a:solidFill>
              <a:srgbClr val="E0E0E0"/>
            </a:solidFill>
            <a:prstDash val="solid"/>
          </a:ln>
        </p:spPr>
        <p:txBody>
          <a:bodyPr lIns="68580" rIns="68580" tIns="34290" bIns="34290"/>
          <a:lstStyle/>
          <a:p>
            <a:endParaRPr lang="en-US"/>
          </a:p>
        </p:txBody>
      </p:sp>
      <p:sp>
        <p:nvSpPr>
          <p:cNvPr id="73" name="Text 70"/>
          <p:cNvSpPr/>
          <p:nvPr/>
        </p:nvSpPr>
        <p:spPr>
          <a:xfrm>
            <a:off x="6083046" y="1330452"/>
            <a:ext cx="2832354" cy="150876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6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GBP Score</a:t>
            </a:r>
            <a:endParaRPr lang="en-US" sz="650" dirty="0"/>
          </a:p>
        </p:txBody>
      </p:sp>
      <p:sp>
        <p:nvSpPr>
          <p:cNvPr id="74" name="Text 71"/>
          <p:cNvSpPr/>
          <p:nvPr/>
        </p:nvSpPr>
        <p:spPr>
          <a:xfrm>
            <a:off x="6083046" y="1467612"/>
            <a:ext cx="2832354" cy="178308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10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48/100</a:t>
            </a:r>
            <a:endParaRPr lang="en-US" sz="1050" dirty="0"/>
          </a:p>
        </p:txBody>
      </p:sp>
      <p:sp>
        <p:nvSpPr>
          <p:cNvPr id="75" name="Text 72"/>
          <p:cNvSpPr/>
          <p:nvPr/>
        </p:nvSpPr>
        <p:spPr>
          <a:xfrm>
            <a:off x="6083046" y="1652778"/>
            <a:ext cx="2832354" cy="123444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550" i="1" dirty="0">
                <a:solidFill>
                  <a:srgbClr val="555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to improve</a:t>
            </a:r>
            <a:endParaRPr lang="en-US" sz="550" dirty="0"/>
          </a:p>
        </p:txBody>
      </p:sp>
      <p:sp>
        <p:nvSpPr>
          <p:cNvPr id="76" name="Shape 73"/>
          <p:cNvSpPr/>
          <p:nvPr/>
        </p:nvSpPr>
        <p:spPr>
          <a:xfrm>
            <a:off x="6083046" y="1674495"/>
            <a:ext cx="2832354" cy="0"/>
          </a:xfrm>
          <a:prstGeom prst="line">
            <a:avLst/>
          </a:prstGeom>
          <a:noFill/>
          <a:ln w="4762">
            <a:solidFill>
              <a:srgbClr val="E0E0E0"/>
            </a:solidFill>
            <a:prstDash val="solid"/>
          </a:ln>
        </p:spPr>
        <p:txBody>
          <a:bodyPr lIns="68580" rIns="68580" tIns="34290" bIns="34290"/>
          <a:lstStyle/>
          <a:p>
            <a:endParaRPr lang="en-US"/>
          </a:p>
        </p:txBody>
      </p:sp>
      <p:sp>
        <p:nvSpPr>
          <p:cNvPr id="77" name="Text 74"/>
          <p:cNvSpPr/>
          <p:nvPr/>
        </p:nvSpPr>
        <p:spPr>
          <a:xfrm>
            <a:off x="6083046" y="1715643"/>
            <a:ext cx="2832354" cy="150876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6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Complete</a:t>
            </a:r>
            <a:endParaRPr lang="en-US" sz="650" dirty="0"/>
          </a:p>
        </p:txBody>
      </p:sp>
      <p:sp>
        <p:nvSpPr>
          <p:cNvPr id="78" name="Text 75"/>
          <p:cNvSpPr/>
          <p:nvPr/>
        </p:nvSpPr>
        <p:spPr>
          <a:xfrm>
            <a:off x="6083046" y="1852803"/>
            <a:ext cx="2832354" cy="178308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10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1050" dirty="0"/>
          </a:p>
        </p:txBody>
      </p:sp>
      <p:sp>
        <p:nvSpPr>
          <p:cNvPr id="79" name="Text 76"/>
          <p:cNvSpPr/>
          <p:nvPr/>
        </p:nvSpPr>
        <p:spPr>
          <a:xfrm>
            <a:off x="6083046" y="2037969"/>
            <a:ext cx="2832354" cy="123444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550" i="1" dirty="0">
                <a:solidFill>
                  <a:srgbClr val="555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open tasks pending</a:t>
            </a:r>
            <a:endParaRPr lang="en-US" sz="550" dirty="0"/>
          </a:p>
        </p:txBody>
      </p:sp>
      <p:sp>
        <p:nvSpPr>
          <p:cNvPr id="80" name="Shape 77"/>
          <p:cNvSpPr/>
          <p:nvPr/>
        </p:nvSpPr>
        <p:spPr>
          <a:xfrm>
            <a:off x="6083046" y="2059686"/>
            <a:ext cx="2832354" cy="0"/>
          </a:xfrm>
          <a:prstGeom prst="line">
            <a:avLst/>
          </a:prstGeom>
          <a:noFill/>
          <a:ln w="4762">
            <a:solidFill>
              <a:srgbClr val="E0E0E0"/>
            </a:solidFill>
            <a:prstDash val="solid"/>
          </a:ln>
        </p:spPr>
        <p:txBody>
          <a:bodyPr lIns="68580" rIns="68580" tIns="34290" bIns="34290"/>
          <a:lstStyle/>
          <a:p>
            <a:endParaRPr lang="en-US"/>
          </a:p>
        </p:txBody>
      </p:sp>
      <p:sp>
        <p:nvSpPr>
          <p:cNvPr id="81" name="Text 78"/>
          <p:cNvSpPr/>
          <p:nvPr/>
        </p:nvSpPr>
        <p:spPr>
          <a:xfrm>
            <a:off x="6083046" y="2100834"/>
            <a:ext cx="2832354" cy="150876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6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Score</a:t>
            </a:r>
            <a:endParaRPr lang="en-US" sz="650" dirty="0"/>
          </a:p>
        </p:txBody>
      </p:sp>
      <p:sp>
        <p:nvSpPr>
          <p:cNvPr id="82" name="Text 79"/>
          <p:cNvSpPr/>
          <p:nvPr/>
        </p:nvSpPr>
        <p:spPr>
          <a:xfrm>
            <a:off x="6083046" y="2237994"/>
            <a:ext cx="2832354" cy="178308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10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81/100</a:t>
            </a:r>
            <a:endParaRPr lang="en-US" sz="1050" dirty="0"/>
          </a:p>
        </p:txBody>
      </p:sp>
      <p:sp>
        <p:nvSpPr>
          <p:cNvPr id="83" name="Text 80"/>
          <p:cNvSpPr/>
          <p:nvPr/>
        </p:nvSpPr>
        <p:spPr>
          <a:xfrm>
            <a:off x="6083046" y="2423160"/>
            <a:ext cx="2832354" cy="123444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550" i="1" dirty="0">
                <a:solidFill>
                  <a:srgbClr val="555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local authority</a:t>
            </a:r>
            <a:endParaRPr lang="en-US" sz="550" dirty="0"/>
          </a:p>
        </p:txBody>
      </p:sp>
      <p:sp>
        <p:nvSpPr>
          <p:cNvPr id="84" name="Shape 81"/>
          <p:cNvSpPr/>
          <p:nvPr/>
        </p:nvSpPr>
        <p:spPr>
          <a:xfrm>
            <a:off x="6083046" y="2444877"/>
            <a:ext cx="2832354" cy="0"/>
          </a:xfrm>
          <a:prstGeom prst="line">
            <a:avLst/>
          </a:prstGeom>
          <a:noFill/>
          <a:ln w="4762">
            <a:solidFill>
              <a:srgbClr val="E0E0E0"/>
            </a:solidFill>
            <a:prstDash val="solid"/>
          </a:ln>
        </p:spPr>
        <p:txBody>
          <a:bodyPr lIns="68580" rIns="68580" tIns="34290" bIns="34290"/>
          <a:lstStyle/>
          <a:p>
            <a:endParaRPr lang="en-US"/>
          </a:p>
        </p:txBody>
      </p:sp>
      <p:sp>
        <p:nvSpPr>
          <p:cNvPr id="85" name="Text 82"/>
          <p:cNvSpPr/>
          <p:nvPr/>
        </p:nvSpPr>
        <p:spPr>
          <a:xfrm>
            <a:off x="6083046" y="2486025"/>
            <a:ext cx="2832354" cy="150876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6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Local Rank</a:t>
            </a:r>
            <a:endParaRPr lang="en-US" sz="650" dirty="0"/>
          </a:p>
        </p:txBody>
      </p:sp>
      <p:sp>
        <p:nvSpPr>
          <p:cNvPr id="86" name="Text 83"/>
          <p:cNvSpPr/>
          <p:nvPr/>
        </p:nvSpPr>
        <p:spPr>
          <a:xfrm>
            <a:off x="6083046" y="2623185"/>
            <a:ext cx="2832354" cy="178308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10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#11</a:t>
            </a:r>
            <a:endParaRPr lang="en-US" sz="1050" dirty="0"/>
          </a:p>
        </p:txBody>
      </p:sp>
      <p:sp>
        <p:nvSpPr>
          <p:cNvPr id="87" name="Text 84"/>
          <p:cNvSpPr/>
          <p:nvPr/>
        </p:nvSpPr>
        <p:spPr>
          <a:xfrm>
            <a:off x="6083046" y="2808351"/>
            <a:ext cx="2832354" cy="123444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550" i="1" dirty="0">
                <a:solidFill>
                  <a:srgbClr val="555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top 5</a:t>
            </a:r>
            <a:endParaRPr lang="en-US" sz="550" dirty="0"/>
          </a:p>
        </p:txBody>
      </p:sp>
      <p:sp>
        <p:nvSpPr>
          <p:cNvPr id="88" name="Shape 85"/>
          <p:cNvSpPr/>
          <p:nvPr/>
        </p:nvSpPr>
        <p:spPr>
          <a:xfrm>
            <a:off x="6083046" y="2830068"/>
            <a:ext cx="2832354" cy="0"/>
          </a:xfrm>
          <a:prstGeom prst="line">
            <a:avLst/>
          </a:prstGeom>
          <a:noFill/>
          <a:ln w="4762">
            <a:solidFill>
              <a:srgbClr val="E0E0E0"/>
            </a:solidFill>
            <a:prstDash val="solid"/>
          </a:ln>
        </p:spPr>
        <p:txBody>
          <a:bodyPr lIns="68580" rIns="68580" tIns="34290" bIns="34290"/>
          <a:lstStyle/>
          <a:p>
            <a:endParaRPr lang="en-US"/>
          </a:p>
        </p:txBody>
      </p:sp>
      <p:sp>
        <p:nvSpPr>
          <p:cNvPr id="89" name="Text 86"/>
          <p:cNvSpPr/>
          <p:nvPr/>
        </p:nvSpPr>
        <p:spPr>
          <a:xfrm>
            <a:off x="6083046" y="2871216"/>
            <a:ext cx="2832354" cy="150876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6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Search</a:t>
            </a:r>
            <a:endParaRPr lang="en-US" sz="650" dirty="0"/>
          </a:p>
        </p:txBody>
      </p:sp>
      <p:sp>
        <p:nvSpPr>
          <p:cNvPr id="90" name="Text 87"/>
          <p:cNvSpPr/>
          <p:nvPr/>
        </p:nvSpPr>
        <p:spPr>
          <a:xfrm>
            <a:off x="6083046" y="3008376"/>
            <a:ext cx="2832354" cy="178308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10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+155%</a:t>
            </a:r>
            <a:endParaRPr lang="en-US" sz="1050" dirty="0"/>
          </a:p>
        </p:txBody>
      </p:sp>
      <p:sp>
        <p:nvSpPr>
          <p:cNvPr id="91" name="Text 88"/>
          <p:cNvSpPr/>
          <p:nvPr/>
        </p:nvSpPr>
        <p:spPr>
          <a:xfrm>
            <a:off x="6083046" y="3193542"/>
            <a:ext cx="2832354" cy="123444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550" i="1" dirty="0">
                <a:solidFill>
                  <a:srgbClr val="555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search impressions</a:t>
            </a:r>
            <a:endParaRPr lang="en-US" sz="550" dirty="0"/>
          </a:p>
        </p:txBody>
      </p:sp>
      <p:sp>
        <p:nvSpPr>
          <p:cNvPr id="92" name="Shape 89"/>
          <p:cNvSpPr/>
          <p:nvPr/>
        </p:nvSpPr>
        <p:spPr>
          <a:xfrm>
            <a:off x="6083046" y="3215259"/>
            <a:ext cx="2832354" cy="0"/>
          </a:xfrm>
          <a:prstGeom prst="line">
            <a:avLst/>
          </a:prstGeom>
          <a:noFill/>
          <a:ln w="4762">
            <a:solidFill>
              <a:srgbClr val="E0E0E0"/>
            </a:solidFill>
            <a:prstDash val="solid"/>
          </a:ln>
        </p:spPr>
        <p:txBody>
          <a:bodyPr lIns="68580" rIns="68580" tIns="34290" bIns="34290"/>
          <a:lstStyle/>
          <a:p>
            <a:endParaRPr lang="en-US"/>
          </a:p>
        </p:txBody>
      </p:sp>
      <p:sp>
        <p:nvSpPr>
          <p:cNvPr id="93" name="Text 90"/>
          <p:cNvSpPr/>
          <p:nvPr/>
        </p:nvSpPr>
        <p:spPr>
          <a:xfrm>
            <a:off x="6083046" y="3256407"/>
            <a:ext cx="2832354" cy="150876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6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Backlinks</a:t>
            </a:r>
            <a:endParaRPr lang="en-US" sz="650" dirty="0"/>
          </a:p>
        </p:txBody>
      </p:sp>
      <p:sp>
        <p:nvSpPr>
          <p:cNvPr id="94" name="Text 91"/>
          <p:cNvSpPr/>
          <p:nvPr/>
        </p:nvSpPr>
        <p:spPr>
          <a:xfrm>
            <a:off x="6083046" y="3393567"/>
            <a:ext cx="2832354" cy="178308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10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1,588</a:t>
            </a:r>
            <a:endParaRPr lang="en-US" sz="1050" dirty="0"/>
          </a:p>
        </p:txBody>
      </p:sp>
      <p:sp>
        <p:nvSpPr>
          <p:cNvPr id="95" name="Text 92"/>
          <p:cNvSpPr/>
          <p:nvPr/>
        </p:nvSpPr>
        <p:spPr>
          <a:xfrm>
            <a:off x="6083046" y="3578733"/>
            <a:ext cx="2832354" cy="123444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550" i="1" dirty="0">
                <a:solidFill>
                  <a:srgbClr val="555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609 referring domains</a:t>
            </a:r>
            <a:endParaRPr lang="en-US" sz="550" dirty="0"/>
          </a:p>
        </p:txBody>
      </p:sp>
      <p:sp>
        <p:nvSpPr>
          <p:cNvPr id="96" name="Shape 93"/>
          <p:cNvSpPr/>
          <p:nvPr/>
        </p:nvSpPr>
        <p:spPr>
          <a:xfrm>
            <a:off x="123444" y="3703320"/>
            <a:ext cx="1303020" cy="205740"/>
          </a:xfrm>
          <a:prstGeom prst="rect">
            <a:avLst/>
          </a:prstGeom>
          <a:solidFill>
            <a:srgbClr val="D6006E"/>
          </a:solidFill>
          <a:ln w="9525">
            <a:solidFill>
              <a:srgbClr val="D6006E"/>
            </a:solidFill>
            <a:prstDash val="solid"/>
          </a:ln>
        </p:spPr>
        <p:txBody>
          <a:bodyPr lIns="68580" rIns="68580" tIns="34290" bIns="34290"/>
          <a:lstStyle/>
          <a:p>
            <a:endParaRPr lang="en-US"/>
          </a:p>
        </p:txBody>
      </p:sp>
      <p:sp>
        <p:nvSpPr>
          <p:cNvPr id="97" name="Text 94"/>
          <p:cNvSpPr/>
          <p:nvPr/>
        </p:nvSpPr>
        <p:spPr>
          <a:xfrm>
            <a:off x="123444" y="3703320"/>
            <a:ext cx="1303020" cy="205740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 algn="ctr">
              <a:buNone/>
            </a:pPr>
            <a:r>
              <a:rPr lang="en-US" sz="5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500" dirty="0"/>
          </a:p>
        </p:txBody>
      </p:sp>
      <p:sp>
        <p:nvSpPr>
          <p:cNvPr id="98" name="Shape 95"/>
          <p:cNvSpPr/>
          <p:nvPr/>
        </p:nvSpPr>
        <p:spPr>
          <a:xfrm>
            <a:off x="1474470" y="3703320"/>
            <a:ext cx="7543800" cy="205740"/>
          </a:xfrm>
          <a:prstGeom prst="rect">
            <a:avLst/>
          </a:prstGeom>
          <a:solidFill>
            <a:srgbClr val="FDE8F3"/>
          </a:solidFill>
          <a:ln w="4762">
            <a:solidFill>
              <a:srgbClr val="D6006E"/>
            </a:solidFill>
            <a:prstDash val="solid"/>
          </a:ln>
        </p:spPr>
        <p:txBody>
          <a:bodyPr lIns="68580" rIns="68580" tIns="34290" bIns="34290"/>
          <a:lstStyle/>
          <a:p>
            <a:endParaRPr lang="en-US"/>
          </a:p>
        </p:txBody>
      </p:sp>
      <p:sp>
        <p:nvSpPr>
          <p:cNvPr id="99" name="Text 96"/>
          <p:cNvSpPr/>
          <p:nvPr/>
        </p:nvSpPr>
        <p:spPr>
          <a:xfrm>
            <a:off x="1522476" y="3723894"/>
            <a:ext cx="7440930" cy="164592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6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95,500 people saw your profile on Google in July and August, nearly double the prior two months. It's only 38% complete, with 11 open tasks and 196 unanswered reviews.</a:t>
            </a:r>
            <a:endParaRPr lang="en-US" sz="650" dirty="0"/>
          </a:p>
        </p:txBody>
      </p:sp>
      <p:pic>
        <p:nvPicPr>
          <p:cNvPr id="10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3380" y="4011930"/>
            <a:ext cx="720090" cy="19202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" y="68580"/>
            <a:ext cx="480060" cy="24003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377190"/>
            <a:ext cx="9141714" cy="0"/>
          </a:xfrm>
          <a:prstGeom prst="line">
            <a:avLst/>
          </a:prstGeom>
          <a:noFill/>
          <a:ln w="19050">
            <a:solidFill>
              <a:srgbClr val="D6006E"/>
            </a:solidFill>
            <a:prstDash val="solid"/>
          </a:ln>
        </p:spPr>
        <p:txBody>
          <a:bodyPr lIns="68580" rIns="68580" tIns="34290" bIns="34290"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720090" y="685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13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PEOPLE FIND YOU, AND WHERE THE GROWTH IS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20090" y="308610"/>
            <a:ext cx="8229600" cy="137160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 algn="r">
              <a:buNone/>
            </a:pPr>
            <a:r>
              <a:rPr lang="en-US" sz="700" dirty="0">
                <a:solidFill>
                  <a:srgbClr val="555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Atlas Site Explorer, updated Aug 12, 2026</a:t>
            </a:r>
            <a:endParaRPr lang="en-US" sz="700" dirty="0"/>
          </a:p>
        </p:txBody>
      </p:sp>
      <p:sp>
        <p:nvSpPr>
          <p:cNvPr id="6" name="Shape 3"/>
          <p:cNvSpPr/>
          <p:nvPr/>
        </p:nvSpPr>
        <p:spPr>
          <a:xfrm>
            <a:off x="123444" y="445770"/>
            <a:ext cx="2859786" cy="582930"/>
          </a:xfrm>
          <a:prstGeom prst="rect">
            <a:avLst/>
          </a:prstGeom>
          <a:solidFill>
            <a:srgbClr val="FFFFFF"/>
          </a:solidFill>
          <a:ln w="4762">
            <a:solidFill>
              <a:srgbClr val="E0E0E0"/>
            </a:solidFill>
            <a:prstDash val="solid"/>
          </a:ln>
        </p:spPr>
        <p:txBody>
          <a:bodyPr lIns="68580" rIns="68580" tIns="34290" bIns="34290"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205740" y="500634"/>
            <a:ext cx="2695194" cy="288036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19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793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205740" y="788670"/>
            <a:ext cx="2695194" cy="137160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6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Keywords Ranking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205740" y="925830"/>
            <a:ext cx="2695194" cy="123444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550" i="1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in top-3 positions, driving real bookings</a:t>
            </a:r>
            <a:endParaRPr lang="en-US" sz="550" dirty="0"/>
          </a:p>
        </p:txBody>
      </p:sp>
      <p:sp>
        <p:nvSpPr>
          <p:cNvPr id="10" name="Shape 7"/>
          <p:cNvSpPr/>
          <p:nvPr/>
        </p:nvSpPr>
        <p:spPr>
          <a:xfrm>
            <a:off x="3051810" y="445770"/>
            <a:ext cx="2859786" cy="582930"/>
          </a:xfrm>
          <a:prstGeom prst="rect">
            <a:avLst/>
          </a:prstGeom>
          <a:solidFill>
            <a:srgbClr val="FFFFFF"/>
          </a:solidFill>
          <a:ln w="4762">
            <a:solidFill>
              <a:srgbClr val="E0E0E0"/>
            </a:solidFill>
            <a:prstDash val="solid"/>
          </a:ln>
        </p:spPr>
        <p:txBody>
          <a:bodyPr lIns="68580" rIns="68580" tIns="34290" bIns="34290"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134106" y="500634"/>
            <a:ext cx="2695194" cy="288036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1950" b="1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3134106" y="788670"/>
            <a:ext cx="2695194" cy="137160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6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is Branded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3134106" y="925830"/>
            <a:ext cx="2695194" cy="123444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550" i="1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searching for Wylie by name</a:t>
            </a:r>
            <a:endParaRPr lang="en-US" sz="550" dirty="0"/>
          </a:p>
        </p:txBody>
      </p:sp>
      <p:sp>
        <p:nvSpPr>
          <p:cNvPr id="14" name="Shape 11"/>
          <p:cNvSpPr/>
          <p:nvPr/>
        </p:nvSpPr>
        <p:spPr>
          <a:xfrm>
            <a:off x="5980176" y="445770"/>
            <a:ext cx="2859786" cy="582930"/>
          </a:xfrm>
          <a:prstGeom prst="rect">
            <a:avLst/>
          </a:prstGeom>
          <a:solidFill>
            <a:srgbClr val="FFFFFF"/>
          </a:solidFill>
          <a:ln w="4762">
            <a:solidFill>
              <a:srgbClr val="E0E0E0"/>
            </a:solidFill>
            <a:prstDash val="solid"/>
          </a:ln>
        </p:spPr>
        <p:txBody>
          <a:bodyPr lIns="68580" rIns="68580" tIns="34290" bIns="34290"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062472" y="500634"/>
            <a:ext cx="2695194" cy="288036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19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</a:t>
            </a:r>
            <a:endParaRPr lang="en-US" sz="1950" dirty="0"/>
          </a:p>
        </p:txBody>
      </p:sp>
      <p:sp>
        <p:nvSpPr>
          <p:cNvPr id="16" name="Text 13"/>
          <p:cNvSpPr/>
          <p:nvPr/>
        </p:nvSpPr>
        <p:spPr>
          <a:xfrm>
            <a:off x="6062472" y="788670"/>
            <a:ext cx="2695194" cy="137160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6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Non-Branded Traffic</a:t>
            </a:r>
            <a:endParaRPr lang="en-US" sz="650" dirty="0"/>
          </a:p>
        </p:txBody>
      </p:sp>
      <p:sp>
        <p:nvSpPr>
          <p:cNvPr id="17" name="Text 14"/>
          <p:cNvSpPr/>
          <p:nvPr/>
        </p:nvSpPr>
        <p:spPr>
          <a:xfrm>
            <a:off x="6062472" y="925830"/>
            <a:ext cx="2695194" cy="123444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550" i="1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guests who don't yet know your name. Growth lives here</a:t>
            </a:r>
            <a:endParaRPr lang="en-US" sz="550" dirty="0"/>
          </a:p>
        </p:txBody>
      </p:sp>
      <p:sp>
        <p:nvSpPr>
          <p:cNvPr id="18" name="Shape 15"/>
          <p:cNvSpPr/>
          <p:nvPr/>
        </p:nvSpPr>
        <p:spPr>
          <a:xfrm>
            <a:off x="123444" y="1165860"/>
            <a:ext cx="2811780" cy="1783080"/>
          </a:xfrm>
          <a:prstGeom prst="rect">
            <a:avLst/>
          </a:prstGeom>
          <a:solidFill>
            <a:srgbClr val="F2F2F4"/>
          </a:solidFill>
          <a:ln w="4762">
            <a:solidFill>
              <a:srgbClr val="E0E0E0"/>
            </a:solidFill>
            <a:prstDash val="solid"/>
          </a:ln>
        </p:spPr>
        <p:txBody>
          <a:bodyPr lIns="68580" rIns="68580" tIns="34290" bIns="34290"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205740" y="1234440"/>
            <a:ext cx="2606040" cy="137160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650" b="1" kern="0" spc="100" dirty="0">
                <a:solidFill>
                  <a:srgbClr val="555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TREND: LAST 3 MONTHS</a:t>
            </a:r>
            <a:endParaRPr lang="en-US" sz="650" dirty="0"/>
          </a:p>
        </p:txBody>
      </p:sp>
      <p:sp>
        <p:nvSpPr>
          <p:cNvPr id="20" name="Shape 17"/>
          <p:cNvSpPr/>
          <p:nvPr/>
        </p:nvSpPr>
        <p:spPr>
          <a:xfrm>
            <a:off x="377190" y="1543050"/>
            <a:ext cx="514350" cy="1028700"/>
          </a:xfrm>
          <a:prstGeom prst="rect">
            <a:avLst/>
          </a:prstGeom>
          <a:solidFill>
            <a:srgbClr val="D6006E"/>
          </a:solidFill>
          <a:ln/>
        </p:spPr>
        <p:txBody>
          <a:bodyPr lIns="0" rIns="0" tIns="0" bIns="0"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308610" y="1392174"/>
            <a:ext cx="651510" cy="137160"/>
          </a:xfrm>
          <a:prstGeom prst="rect">
            <a:avLst/>
          </a:prstGeom>
          <a:noFill/>
          <a:ln/>
        </p:spPr>
        <p:txBody>
          <a:bodyPr wrap="square" rtlCol="0" anchor="ctr" lIns="0" rIns="0" tIns="0" bIns="0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7,978</a:t>
            </a:r>
            <a:endParaRPr lang="en-US" sz="550" dirty="0"/>
          </a:p>
        </p:txBody>
      </p:sp>
      <p:sp>
        <p:nvSpPr>
          <p:cNvPr id="22" name="Text 19"/>
          <p:cNvSpPr/>
          <p:nvPr/>
        </p:nvSpPr>
        <p:spPr>
          <a:xfrm>
            <a:off x="308610" y="2606040"/>
            <a:ext cx="651510" cy="123444"/>
          </a:xfrm>
          <a:prstGeom prst="rect">
            <a:avLst/>
          </a:prstGeom>
          <a:noFill/>
          <a:ln/>
        </p:spPr>
        <p:txBody>
          <a:bodyPr wrap="square" rtlCol="0" anchor="ctr" lIns="0" rIns="0" tIns="0" bIns="0"/>
          <a:lstStyle/>
          <a:p>
            <a:pPr marL="0" indent="0" algn="ctr">
              <a:buNone/>
            </a:pPr>
            <a:r>
              <a:rPr lang="en-US" sz="550" dirty="0">
                <a:solidFill>
                  <a:srgbClr val="555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2026</a:t>
            </a:r>
            <a:endParaRPr lang="en-US" sz="550" dirty="0"/>
          </a:p>
        </p:txBody>
      </p:sp>
      <p:sp>
        <p:nvSpPr>
          <p:cNvPr id="23" name="Text 20"/>
          <p:cNvSpPr/>
          <p:nvPr/>
        </p:nvSpPr>
        <p:spPr>
          <a:xfrm>
            <a:off x="308610" y="2743200"/>
            <a:ext cx="651510" cy="123444"/>
          </a:xfrm>
          <a:prstGeom prst="rect">
            <a:avLst/>
          </a:prstGeom>
          <a:noFill/>
          <a:ln/>
        </p:spPr>
        <p:txBody>
          <a:bodyPr wrap="square" rtlCol="0" anchor="ctr" lIns="0" rIns="0" tIns="0" bIns="0"/>
          <a:lstStyle/>
          <a:p>
            <a:pPr marL="0" indent="0" algn="ctr">
              <a:buNone/>
            </a:pPr>
            <a:r>
              <a:rPr lang="en-US" sz="500" i="1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919 kws</a:t>
            </a:r>
            <a:endParaRPr lang="en-US" sz="500" dirty="0"/>
          </a:p>
        </p:txBody>
      </p:sp>
      <p:sp>
        <p:nvSpPr>
          <p:cNvPr id="24" name="Shape 21"/>
          <p:cNvSpPr/>
          <p:nvPr/>
        </p:nvSpPr>
        <p:spPr>
          <a:xfrm>
            <a:off x="1200150" y="1711300"/>
            <a:ext cx="514350" cy="860449"/>
          </a:xfrm>
          <a:prstGeom prst="rect">
            <a:avLst/>
          </a:prstGeom>
          <a:solidFill>
            <a:srgbClr val="D6006E"/>
          </a:solidFill>
          <a:ln/>
        </p:spPr>
        <p:txBody>
          <a:bodyPr lIns="0" rIns="0" tIns="0" bIns="0"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1131570" y="1560424"/>
            <a:ext cx="651510" cy="137160"/>
          </a:xfrm>
          <a:prstGeom prst="rect">
            <a:avLst/>
          </a:prstGeom>
          <a:noFill/>
          <a:ln/>
        </p:spPr>
        <p:txBody>
          <a:bodyPr wrap="square" rtlCol="0" anchor="ctr" lIns="0" rIns="0" tIns="0" bIns="0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8,490</a:t>
            </a:r>
            <a:endParaRPr lang="en-US" sz="550" dirty="0"/>
          </a:p>
        </p:txBody>
      </p:sp>
      <p:sp>
        <p:nvSpPr>
          <p:cNvPr id="26" name="Text 23"/>
          <p:cNvSpPr/>
          <p:nvPr/>
        </p:nvSpPr>
        <p:spPr>
          <a:xfrm>
            <a:off x="1131570" y="2606040"/>
            <a:ext cx="651510" cy="123444"/>
          </a:xfrm>
          <a:prstGeom prst="rect">
            <a:avLst/>
          </a:prstGeom>
          <a:noFill/>
          <a:ln/>
        </p:spPr>
        <p:txBody>
          <a:bodyPr wrap="square" rtlCol="0" anchor="ctr" lIns="0" rIns="0" tIns="0" bIns="0"/>
          <a:lstStyle/>
          <a:p>
            <a:pPr marL="0" indent="0" algn="ctr">
              <a:buNone/>
            </a:pPr>
            <a:r>
              <a:rPr lang="en-US" sz="550" dirty="0">
                <a:solidFill>
                  <a:srgbClr val="555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2026</a:t>
            </a:r>
            <a:endParaRPr lang="en-US" sz="550" dirty="0"/>
          </a:p>
        </p:txBody>
      </p:sp>
      <p:sp>
        <p:nvSpPr>
          <p:cNvPr id="27" name="Text 24"/>
          <p:cNvSpPr/>
          <p:nvPr/>
        </p:nvSpPr>
        <p:spPr>
          <a:xfrm>
            <a:off x="1131570" y="2743200"/>
            <a:ext cx="651510" cy="123444"/>
          </a:xfrm>
          <a:prstGeom prst="rect">
            <a:avLst/>
          </a:prstGeom>
          <a:noFill/>
          <a:ln/>
        </p:spPr>
        <p:txBody>
          <a:bodyPr wrap="square" rtlCol="0" anchor="ctr" lIns="0" rIns="0" tIns="0" bIns="0"/>
          <a:lstStyle/>
          <a:p>
            <a:pPr marL="0" indent="0" algn="ctr">
              <a:buNone/>
            </a:pPr>
            <a:r>
              <a:rPr lang="en-US" sz="500" i="1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967 kws</a:t>
            </a:r>
            <a:endParaRPr lang="en-US" sz="500" dirty="0"/>
          </a:p>
        </p:txBody>
      </p:sp>
      <p:sp>
        <p:nvSpPr>
          <p:cNvPr id="28" name="Shape 25"/>
          <p:cNvSpPr/>
          <p:nvPr/>
        </p:nvSpPr>
        <p:spPr>
          <a:xfrm>
            <a:off x="2023110" y="1656079"/>
            <a:ext cx="514350" cy="915670"/>
          </a:xfrm>
          <a:prstGeom prst="rect">
            <a:avLst/>
          </a:prstGeom>
          <a:solidFill>
            <a:srgbClr val="D6006E"/>
          </a:solidFill>
          <a:ln/>
        </p:spPr>
        <p:txBody>
          <a:bodyPr lIns="0" rIns="0" tIns="0" bIns="0"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1954530" y="1505203"/>
            <a:ext cx="651510" cy="137160"/>
          </a:xfrm>
          <a:prstGeom prst="rect">
            <a:avLst/>
          </a:prstGeom>
          <a:noFill/>
          <a:ln/>
        </p:spPr>
        <p:txBody>
          <a:bodyPr wrap="square" rtlCol="0" anchor="ctr" lIns="0" rIns="0" tIns="0" bIns="0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7,277</a:t>
            </a:r>
            <a:endParaRPr lang="en-US" sz="550" dirty="0"/>
          </a:p>
        </p:txBody>
      </p:sp>
      <p:sp>
        <p:nvSpPr>
          <p:cNvPr id="30" name="Text 27"/>
          <p:cNvSpPr/>
          <p:nvPr/>
        </p:nvSpPr>
        <p:spPr>
          <a:xfrm>
            <a:off x="1954530" y="2606040"/>
            <a:ext cx="651510" cy="123444"/>
          </a:xfrm>
          <a:prstGeom prst="rect">
            <a:avLst/>
          </a:prstGeom>
          <a:noFill/>
          <a:ln/>
        </p:spPr>
        <p:txBody>
          <a:bodyPr wrap="square" rtlCol="0" anchor="ctr" lIns="0" rIns="0" tIns="0" bIns="0"/>
          <a:lstStyle/>
          <a:p>
            <a:pPr marL="0" indent="0" algn="ctr">
              <a:buNone/>
            </a:pPr>
            <a:r>
              <a:rPr lang="en-US" sz="550" dirty="0">
                <a:solidFill>
                  <a:srgbClr val="555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550" dirty="0"/>
          </a:p>
        </p:txBody>
      </p:sp>
      <p:sp>
        <p:nvSpPr>
          <p:cNvPr id="31" name="Text 28"/>
          <p:cNvSpPr/>
          <p:nvPr/>
        </p:nvSpPr>
        <p:spPr>
          <a:xfrm>
            <a:off x="1954530" y="2743200"/>
            <a:ext cx="651510" cy="123444"/>
          </a:xfrm>
          <a:prstGeom prst="rect">
            <a:avLst/>
          </a:prstGeom>
          <a:noFill/>
          <a:ln/>
        </p:spPr>
        <p:txBody>
          <a:bodyPr wrap="square" rtlCol="0" anchor="ctr" lIns="0" rIns="0" tIns="0" bIns="0"/>
          <a:lstStyle/>
          <a:p>
            <a:pPr marL="0" indent="0" algn="ctr">
              <a:buNone/>
            </a:pPr>
            <a:r>
              <a:rPr lang="en-US" sz="500" i="1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793 kws</a:t>
            </a:r>
            <a:endParaRPr lang="en-US" sz="500" dirty="0"/>
          </a:p>
        </p:txBody>
      </p:sp>
      <p:sp>
        <p:nvSpPr>
          <p:cNvPr id="32" name="Shape 29"/>
          <p:cNvSpPr/>
          <p:nvPr/>
        </p:nvSpPr>
        <p:spPr>
          <a:xfrm>
            <a:off x="3072384" y="1165860"/>
            <a:ext cx="3051810" cy="1783080"/>
          </a:xfrm>
          <a:prstGeom prst="rect">
            <a:avLst/>
          </a:prstGeom>
          <a:solidFill>
            <a:srgbClr val="F2F2F4"/>
          </a:solidFill>
          <a:ln w="4762">
            <a:solidFill>
              <a:srgbClr val="E0E0E0"/>
            </a:solidFill>
            <a:prstDash val="solid"/>
          </a:ln>
        </p:spPr>
        <p:txBody>
          <a:bodyPr lIns="68580" rIns="68580" tIns="34290" bIns="34290"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3154680" y="1234440"/>
            <a:ext cx="2880360" cy="137160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650" b="1" kern="0" spc="100" dirty="0">
                <a:solidFill>
                  <a:srgbClr val="555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POSITION DISTRIBUTION</a:t>
            </a:r>
            <a:endParaRPr lang="en-US" sz="650" dirty="0"/>
          </a:p>
        </p:txBody>
      </p:sp>
      <p:sp>
        <p:nvSpPr>
          <p:cNvPr id="34" name="Text 31"/>
          <p:cNvSpPr/>
          <p:nvPr/>
        </p:nvSpPr>
        <p:spPr>
          <a:xfrm>
            <a:off x="3168396" y="1426464"/>
            <a:ext cx="411480" cy="137160"/>
          </a:xfrm>
          <a:prstGeom prst="rect">
            <a:avLst/>
          </a:prstGeom>
          <a:noFill/>
          <a:ln/>
        </p:spPr>
        <p:txBody>
          <a:bodyPr wrap="square" rtlCol="0" anchor="ctr" lIns="0" rIns="0" tIns="0" bIns="0"/>
          <a:lstStyle/>
          <a:p>
            <a:pPr marL="0" indent="0">
              <a:buNone/>
            </a:pPr>
            <a:r>
              <a:rPr lang="en-US" sz="6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</a:t>
            </a:r>
            <a:endParaRPr lang="en-US" sz="650" dirty="0"/>
          </a:p>
        </p:txBody>
      </p:sp>
      <p:sp>
        <p:nvSpPr>
          <p:cNvPr id="35" name="Text 32"/>
          <p:cNvSpPr/>
          <p:nvPr/>
        </p:nvSpPr>
        <p:spPr>
          <a:xfrm>
            <a:off x="3621024" y="1426464"/>
            <a:ext cx="754380" cy="137160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6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keywords</a:t>
            </a:r>
            <a:endParaRPr lang="en-US" sz="650" dirty="0"/>
          </a:p>
        </p:txBody>
      </p:sp>
      <p:sp>
        <p:nvSpPr>
          <p:cNvPr id="36" name="Text 33"/>
          <p:cNvSpPr/>
          <p:nvPr/>
        </p:nvSpPr>
        <p:spPr>
          <a:xfrm>
            <a:off x="3621024" y="1563624"/>
            <a:ext cx="2400300" cy="123444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550" i="1" dirty="0">
                <a:solidFill>
                  <a:srgbClr val="555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drivers: most clicks happen here</a:t>
            </a:r>
            <a:endParaRPr lang="en-US" sz="550" dirty="0"/>
          </a:p>
        </p:txBody>
      </p:sp>
      <p:sp>
        <p:nvSpPr>
          <p:cNvPr id="37" name="Text 34"/>
          <p:cNvSpPr/>
          <p:nvPr/>
        </p:nvSpPr>
        <p:spPr>
          <a:xfrm>
            <a:off x="3168396" y="1728216"/>
            <a:ext cx="411480" cy="137160"/>
          </a:xfrm>
          <a:prstGeom prst="rect">
            <a:avLst/>
          </a:prstGeom>
          <a:noFill/>
          <a:ln/>
        </p:spPr>
        <p:txBody>
          <a:bodyPr wrap="square" rtlCol="0" anchor="ctr" lIns="0" rIns="0" tIns="0" bIns="0"/>
          <a:lstStyle/>
          <a:p>
            <a:pPr marL="0" indent="0">
              <a:buNone/>
            </a:pPr>
            <a:r>
              <a:rPr lang="en-US" sz="650" b="1" dirty="0">
                <a:solidFill>
                  <a:srgbClr val="5C9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4–10</a:t>
            </a:r>
            <a:endParaRPr lang="en-US" sz="650" dirty="0"/>
          </a:p>
        </p:txBody>
      </p:sp>
      <p:sp>
        <p:nvSpPr>
          <p:cNvPr id="38" name="Text 35"/>
          <p:cNvSpPr/>
          <p:nvPr/>
        </p:nvSpPr>
        <p:spPr>
          <a:xfrm>
            <a:off x="3621024" y="1728216"/>
            <a:ext cx="754380" cy="137160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6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keywords</a:t>
            </a:r>
            <a:endParaRPr lang="en-US" sz="650" dirty="0"/>
          </a:p>
        </p:txBody>
      </p:sp>
      <p:sp>
        <p:nvSpPr>
          <p:cNvPr id="39" name="Text 36"/>
          <p:cNvSpPr/>
          <p:nvPr/>
        </p:nvSpPr>
        <p:spPr>
          <a:xfrm>
            <a:off x="3621024" y="1865376"/>
            <a:ext cx="2400300" cy="123444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550" i="1" dirty="0">
                <a:solidFill>
                  <a:srgbClr val="555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the top: one push gets these to #1–3</a:t>
            </a:r>
            <a:endParaRPr lang="en-US" sz="550" dirty="0"/>
          </a:p>
        </p:txBody>
      </p:sp>
      <p:sp>
        <p:nvSpPr>
          <p:cNvPr id="40" name="Text 37"/>
          <p:cNvSpPr/>
          <p:nvPr/>
        </p:nvSpPr>
        <p:spPr>
          <a:xfrm>
            <a:off x="3168396" y="2029968"/>
            <a:ext cx="411480" cy="137160"/>
          </a:xfrm>
          <a:prstGeom prst="rect">
            <a:avLst/>
          </a:prstGeom>
          <a:noFill/>
          <a:ln/>
        </p:spPr>
        <p:txBody>
          <a:bodyPr wrap="square" rtlCol="0" anchor="ctr" lIns="0" rIns="0" tIns="0" bIns="0"/>
          <a:lstStyle/>
          <a:p>
            <a:pPr marL="0" indent="0">
              <a:buNone/>
            </a:pPr>
            <a:r>
              <a:rPr lang="en-US" sz="6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11–20</a:t>
            </a:r>
            <a:endParaRPr lang="en-US" sz="650" dirty="0"/>
          </a:p>
        </p:txBody>
      </p:sp>
      <p:sp>
        <p:nvSpPr>
          <p:cNvPr id="41" name="Text 38"/>
          <p:cNvSpPr/>
          <p:nvPr/>
        </p:nvSpPr>
        <p:spPr>
          <a:xfrm>
            <a:off x="3621024" y="2029968"/>
            <a:ext cx="754380" cy="137160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6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keywords</a:t>
            </a:r>
            <a:endParaRPr lang="en-US" sz="650" dirty="0"/>
          </a:p>
        </p:txBody>
      </p:sp>
      <p:sp>
        <p:nvSpPr>
          <p:cNvPr id="42" name="Text 39"/>
          <p:cNvSpPr/>
          <p:nvPr/>
        </p:nvSpPr>
        <p:spPr>
          <a:xfrm>
            <a:off x="3621024" y="2167128"/>
            <a:ext cx="2400300" cy="123444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550" i="1" dirty="0">
                <a:solidFill>
                  <a:srgbClr val="555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page upgrade moves these into the top 10</a:t>
            </a:r>
            <a:endParaRPr lang="en-US" sz="550" dirty="0"/>
          </a:p>
        </p:txBody>
      </p:sp>
      <p:sp>
        <p:nvSpPr>
          <p:cNvPr id="43" name="Text 40"/>
          <p:cNvSpPr/>
          <p:nvPr/>
        </p:nvSpPr>
        <p:spPr>
          <a:xfrm>
            <a:off x="3168396" y="2331720"/>
            <a:ext cx="411480" cy="137160"/>
          </a:xfrm>
          <a:prstGeom prst="rect">
            <a:avLst/>
          </a:prstGeom>
          <a:noFill/>
          <a:ln/>
        </p:spPr>
        <p:txBody>
          <a:bodyPr wrap="square" rtlCol="0" anchor="ctr" lIns="0" rIns="0" tIns="0" bIns="0"/>
          <a:lstStyle/>
          <a:p>
            <a:pPr marL="0" indent="0">
              <a:buNone/>
            </a:pPr>
            <a:r>
              <a:rPr lang="en-US" sz="650" b="1" dirty="0">
                <a:solidFill>
                  <a:srgbClr val="D0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21–50</a:t>
            </a:r>
            <a:endParaRPr lang="en-US" sz="650" dirty="0"/>
          </a:p>
        </p:txBody>
      </p:sp>
      <p:sp>
        <p:nvSpPr>
          <p:cNvPr id="44" name="Text 41"/>
          <p:cNvSpPr/>
          <p:nvPr/>
        </p:nvSpPr>
        <p:spPr>
          <a:xfrm>
            <a:off x="3621024" y="2331720"/>
            <a:ext cx="754380" cy="137160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6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218 keywords</a:t>
            </a:r>
            <a:endParaRPr lang="en-US" sz="650" dirty="0"/>
          </a:p>
        </p:txBody>
      </p:sp>
      <p:sp>
        <p:nvSpPr>
          <p:cNvPr id="45" name="Text 42"/>
          <p:cNvSpPr/>
          <p:nvPr/>
        </p:nvSpPr>
        <p:spPr>
          <a:xfrm>
            <a:off x="3621024" y="2468880"/>
            <a:ext cx="2400300" cy="123444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550" i="1" dirty="0">
                <a:solidFill>
                  <a:srgbClr val="555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new content to move up</a:t>
            </a:r>
            <a:endParaRPr lang="en-US" sz="550" dirty="0"/>
          </a:p>
        </p:txBody>
      </p:sp>
      <p:sp>
        <p:nvSpPr>
          <p:cNvPr id="46" name="Text 43"/>
          <p:cNvSpPr/>
          <p:nvPr/>
        </p:nvSpPr>
        <p:spPr>
          <a:xfrm>
            <a:off x="3168396" y="2633472"/>
            <a:ext cx="411480" cy="137160"/>
          </a:xfrm>
          <a:prstGeom prst="rect">
            <a:avLst/>
          </a:prstGeom>
          <a:noFill/>
          <a:ln/>
        </p:spPr>
        <p:txBody>
          <a:bodyPr wrap="square" rtlCol="0" anchor="ctr" lIns="0" rIns="0" tIns="0" bIns="0"/>
          <a:lstStyle/>
          <a:p>
            <a:pPr marL="0" indent="0">
              <a:buNone/>
            </a:pPr>
            <a:r>
              <a:rPr lang="en-US" sz="65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51–100+</a:t>
            </a:r>
            <a:endParaRPr lang="en-US" sz="650" dirty="0"/>
          </a:p>
        </p:txBody>
      </p:sp>
      <p:sp>
        <p:nvSpPr>
          <p:cNvPr id="47" name="Text 44"/>
          <p:cNvSpPr/>
          <p:nvPr/>
        </p:nvSpPr>
        <p:spPr>
          <a:xfrm>
            <a:off x="3621024" y="2633472"/>
            <a:ext cx="754380" cy="137160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6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458 keywords</a:t>
            </a:r>
            <a:endParaRPr lang="en-US" sz="650" dirty="0"/>
          </a:p>
        </p:txBody>
      </p:sp>
      <p:sp>
        <p:nvSpPr>
          <p:cNvPr id="48" name="Text 45"/>
          <p:cNvSpPr/>
          <p:nvPr/>
        </p:nvSpPr>
        <p:spPr>
          <a:xfrm>
            <a:off x="3621024" y="2770632"/>
            <a:ext cx="2400300" cy="123444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550" i="1" dirty="0">
                <a:solidFill>
                  <a:srgbClr val="555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Long-tail, low priority</a:t>
            </a:r>
            <a:endParaRPr lang="en-US" sz="550" dirty="0"/>
          </a:p>
        </p:txBody>
      </p:sp>
      <p:sp>
        <p:nvSpPr>
          <p:cNvPr id="49" name="Shape 46"/>
          <p:cNvSpPr/>
          <p:nvPr/>
        </p:nvSpPr>
        <p:spPr>
          <a:xfrm>
            <a:off x="6261354" y="1165860"/>
            <a:ext cx="2756916" cy="1783080"/>
          </a:xfrm>
          <a:prstGeom prst="rect">
            <a:avLst/>
          </a:prstGeom>
          <a:solidFill>
            <a:srgbClr val="F2F2F4"/>
          </a:solidFill>
          <a:ln w="4762">
            <a:solidFill>
              <a:srgbClr val="E0E0E0"/>
            </a:solidFill>
            <a:prstDash val="solid"/>
          </a:ln>
        </p:spPr>
        <p:txBody>
          <a:bodyPr lIns="68580" rIns="68580" tIns="34290" bIns="34290"/>
          <a:lstStyle/>
          <a:p>
            <a:endParaRPr lang="en-US"/>
          </a:p>
        </p:txBody>
      </p:sp>
      <p:sp>
        <p:nvSpPr>
          <p:cNvPr id="50" name="Text 47"/>
          <p:cNvSpPr/>
          <p:nvPr/>
        </p:nvSpPr>
        <p:spPr>
          <a:xfrm>
            <a:off x="6343650" y="1234440"/>
            <a:ext cx="2606040" cy="137160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650" b="1" kern="0" spc="100" dirty="0">
                <a:solidFill>
                  <a:srgbClr val="555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SERP FEATURES ACTIVE (JULY 15 CRAWL)</a:t>
            </a:r>
            <a:endParaRPr lang="en-US" sz="650" dirty="0"/>
          </a:p>
        </p:txBody>
      </p:sp>
      <p:sp>
        <p:nvSpPr>
          <p:cNvPr id="51" name="Text 48"/>
          <p:cNvSpPr/>
          <p:nvPr/>
        </p:nvSpPr>
        <p:spPr>
          <a:xfrm>
            <a:off x="6343650" y="1426464"/>
            <a:ext cx="1371600" cy="137160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700" b="1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Overviews</a:t>
            </a:r>
            <a:endParaRPr lang="en-US" sz="700" dirty="0"/>
          </a:p>
        </p:txBody>
      </p:sp>
      <p:sp>
        <p:nvSpPr>
          <p:cNvPr id="52" name="Text 49"/>
          <p:cNvSpPr/>
          <p:nvPr/>
        </p:nvSpPr>
        <p:spPr>
          <a:xfrm>
            <a:off x="7749540" y="1426464"/>
            <a:ext cx="1165860" cy="137160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D60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queries</a:t>
            </a:r>
            <a:endParaRPr lang="en-US" sz="700" dirty="0"/>
          </a:p>
        </p:txBody>
      </p:sp>
      <p:sp>
        <p:nvSpPr>
          <p:cNvPr id="53" name="Text 50"/>
          <p:cNvSpPr/>
          <p:nvPr/>
        </p:nvSpPr>
        <p:spPr>
          <a:xfrm>
            <a:off x="6343650" y="1563624"/>
            <a:ext cx="2571750" cy="192024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550" i="1" dirty="0">
                <a:solidFill>
                  <a:srgbClr val="555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Google's AI summaries include Wylie Inn answers</a:t>
            </a:r>
            <a:endParaRPr lang="en-US" sz="550" dirty="0"/>
          </a:p>
        </p:txBody>
      </p:sp>
      <p:sp>
        <p:nvSpPr>
          <p:cNvPr id="54" name="Text 51"/>
          <p:cNvSpPr/>
          <p:nvPr/>
        </p:nvSpPr>
        <p:spPr>
          <a:xfrm>
            <a:off x="6343650" y="1796796"/>
            <a:ext cx="1371600" cy="137160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7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Sitelinks</a:t>
            </a:r>
            <a:endParaRPr lang="en-US" sz="700" dirty="0"/>
          </a:p>
        </p:txBody>
      </p:sp>
      <p:sp>
        <p:nvSpPr>
          <p:cNvPr id="55" name="Text 52"/>
          <p:cNvSpPr/>
          <p:nvPr/>
        </p:nvSpPr>
        <p:spPr>
          <a:xfrm>
            <a:off x="7749540" y="1796796"/>
            <a:ext cx="1165860" cy="137160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queries</a:t>
            </a:r>
            <a:endParaRPr lang="en-US" sz="700" dirty="0"/>
          </a:p>
        </p:txBody>
      </p:sp>
      <p:sp>
        <p:nvSpPr>
          <p:cNvPr id="56" name="Text 53"/>
          <p:cNvSpPr/>
          <p:nvPr/>
        </p:nvSpPr>
        <p:spPr>
          <a:xfrm>
            <a:off x="6343650" y="1933956"/>
            <a:ext cx="2571750" cy="192024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550" i="1" dirty="0">
                <a:solidFill>
                  <a:srgbClr val="555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shows multiple Wylie pages below the main result, a brand trust signal</a:t>
            </a:r>
            <a:endParaRPr lang="en-US" sz="550" dirty="0"/>
          </a:p>
        </p:txBody>
      </p:sp>
      <p:sp>
        <p:nvSpPr>
          <p:cNvPr id="57" name="Text 54"/>
          <p:cNvSpPr/>
          <p:nvPr/>
        </p:nvSpPr>
        <p:spPr>
          <a:xfrm>
            <a:off x="6343650" y="2167128"/>
            <a:ext cx="1371600" cy="137160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7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Panel</a:t>
            </a:r>
            <a:endParaRPr lang="en-US" sz="700" dirty="0"/>
          </a:p>
        </p:txBody>
      </p:sp>
      <p:sp>
        <p:nvSpPr>
          <p:cNvPr id="58" name="Text 55"/>
          <p:cNvSpPr/>
          <p:nvPr/>
        </p:nvSpPr>
        <p:spPr>
          <a:xfrm>
            <a:off x="7749540" y="2167128"/>
            <a:ext cx="1165860" cy="137160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queries</a:t>
            </a:r>
            <a:endParaRPr lang="en-US" sz="700" dirty="0"/>
          </a:p>
        </p:txBody>
      </p:sp>
      <p:sp>
        <p:nvSpPr>
          <p:cNvPr id="59" name="Text 56"/>
          <p:cNvSpPr/>
          <p:nvPr/>
        </p:nvSpPr>
        <p:spPr>
          <a:xfrm>
            <a:off x="6343650" y="2304288"/>
            <a:ext cx="2571750" cy="192024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550" i="1" dirty="0">
                <a:solidFill>
                  <a:srgbClr val="555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displays your property info card automatically</a:t>
            </a:r>
            <a:endParaRPr lang="en-US" sz="550" dirty="0"/>
          </a:p>
        </p:txBody>
      </p:sp>
      <p:sp>
        <p:nvSpPr>
          <p:cNvPr id="60" name="Text 57"/>
          <p:cNvSpPr/>
          <p:nvPr/>
        </p:nvSpPr>
        <p:spPr>
          <a:xfrm>
            <a:off x="6343650" y="2537460"/>
            <a:ext cx="1371600" cy="137160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7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Pack</a:t>
            </a:r>
            <a:endParaRPr lang="en-US" sz="700" dirty="0"/>
          </a:p>
        </p:txBody>
      </p:sp>
      <p:sp>
        <p:nvSpPr>
          <p:cNvPr id="61" name="Text 58"/>
          <p:cNvSpPr/>
          <p:nvPr/>
        </p:nvSpPr>
        <p:spPr>
          <a:xfrm>
            <a:off x="7749540" y="2537460"/>
            <a:ext cx="1165860" cy="137160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queries</a:t>
            </a:r>
            <a:endParaRPr lang="en-US" sz="700" dirty="0"/>
          </a:p>
        </p:txBody>
      </p:sp>
      <p:sp>
        <p:nvSpPr>
          <p:cNvPr id="62" name="Text 59"/>
          <p:cNvSpPr/>
          <p:nvPr/>
        </p:nvSpPr>
        <p:spPr>
          <a:xfrm>
            <a:off x="6343650" y="2674620"/>
            <a:ext cx="2571750" cy="192024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550" i="1" dirty="0">
                <a:solidFill>
                  <a:srgbClr val="555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Appears in map-based local search results</a:t>
            </a:r>
            <a:endParaRPr lang="en-US" sz="550" dirty="0"/>
          </a:p>
        </p:txBody>
      </p:sp>
      <p:sp>
        <p:nvSpPr>
          <p:cNvPr id="63" name="Shape 60"/>
          <p:cNvSpPr/>
          <p:nvPr/>
        </p:nvSpPr>
        <p:spPr>
          <a:xfrm>
            <a:off x="123444" y="3072384"/>
            <a:ext cx="8894826" cy="1062990"/>
          </a:xfrm>
          <a:prstGeom prst="rect">
            <a:avLst/>
          </a:prstGeom>
          <a:solidFill>
            <a:srgbClr val="F2F2F4"/>
          </a:solidFill>
          <a:ln w="4762">
            <a:solidFill>
              <a:srgbClr val="E0E0E0"/>
            </a:solidFill>
            <a:prstDash val="solid"/>
          </a:ln>
        </p:spPr>
        <p:txBody>
          <a:bodyPr lIns="68580" rIns="68580" tIns="34290" bIns="34290"/>
          <a:lstStyle/>
          <a:p>
            <a:endParaRPr lang="en-US"/>
          </a:p>
        </p:txBody>
      </p:sp>
      <p:sp>
        <p:nvSpPr>
          <p:cNvPr id="64" name="Text 61"/>
          <p:cNvSpPr/>
          <p:nvPr/>
        </p:nvSpPr>
        <p:spPr>
          <a:xfrm>
            <a:off x="205740" y="3113532"/>
            <a:ext cx="4114800" cy="137160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650" b="1" kern="0" spc="100" dirty="0">
                <a:solidFill>
                  <a:srgbClr val="555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NON-BRANDED KEYWORD OPPORTUNITIES</a:t>
            </a:r>
            <a:endParaRPr lang="en-US" sz="650" dirty="0"/>
          </a:p>
        </p:txBody>
      </p:sp>
      <p:sp>
        <p:nvSpPr>
          <p:cNvPr id="65" name="Text 62"/>
          <p:cNvSpPr/>
          <p:nvPr/>
        </p:nvSpPr>
        <p:spPr>
          <a:xfrm>
            <a:off x="4457700" y="3113532"/>
            <a:ext cx="4457700" cy="137160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 algn="r">
              <a:buNone/>
            </a:pPr>
            <a:r>
              <a:rPr lang="en-US" sz="600" i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searches by people who don't know your name yet. Capturing them is new revenue</a:t>
            </a:r>
            <a:endParaRPr lang="en-US" sz="600" dirty="0"/>
          </a:p>
        </p:txBody>
      </p:sp>
      <p:sp>
        <p:nvSpPr>
          <p:cNvPr id="66" name="Text 63"/>
          <p:cNvSpPr/>
          <p:nvPr/>
        </p:nvSpPr>
        <p:spPr>
          <a:xfrm>
            <a:off x="205740" y="3278124"/>
            <a:ext cx="1371600" cy="137160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6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</a:t>
            </a:r>
            <a:endParaRPr lang="en-US" sz="600" dirty="0"/>
          </a:p>
        </p:txBody>
      </p:sp>
      <p:sp>
        <p:nvSpPr>
          <p:cNvPr id="67" name="Text 64"/>
          <p:cNvSpPr/>
          <p:nvPr/>
        </p:nvSpPr>
        <p:spPr>
          <a:xfrm>
            <a:off x="2948940" y="3278124"/>
            <a:ext cx="1371600" cy="137160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6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</a:t>
            </a:r>
            <a:endParaRPr lang="en-US" sz="600" dirty="0"/>
          </a:p>
        </p:txBody>
      </p:sp>
      <p:sp>
        <p:nvSpPr>
          <p:cNvPr id="68" name="Text 65"/>
          <p:cNvSpPr/>
          <p:nvPr/>
        </p:nvSpPr>
        <p:spPr>
          <a:xfrm>
            <a:off x="3909060" y="3278124"/>
            <a:ext cx="1371600" cy="137160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6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Searches</a:t>
            </a:r>
            <a:endParaRPr lang="en-US" sz="600" dirty="0"/>
          </a:p>
        </p:txBody>
      </p:sp>
      <p:sp>
        <p:nvSpPr>
          <p:cNvPr id="69" name="Text 66"/>
          <p:cNvSpPr/>
          <p:nvPr/>
        </p:nvSpPr>
        <p:spPr>
          <a:xfrm>
            <a:off x="4800600" y="3278124"/>
            <a:ext cx="1371600" cy="137160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6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600" dirty="0"/>
          </a:p>
        </p:txBody>
      </p:sp>
      <p:sp>
        <p:nvSpPr>
          <p:cNvPr id="70" name="Text 67"/>
          <p:cNvSpPr/>
          <p:nvPr/>
        </p:nvSpPr>
        <p:spPr>
          <a:xfrm>
            <a:off x="5829300" y="3278124"/>
            <a:ext cx="1371600" cy="137160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6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Est.</a:t>
            </a:r>
            <a:endParaRPr lang="en-US" sz="600" dirty="0"/>
          </a:p>
        </p:txBody>
      </p:sp>
      <p:sp>
        <p:nvSpPr>
          <p:cNvPr id="71" name="Text 68"/>
          <p:cNvSpPr/>
          <p:nvPr/>
        </p:nvSpPr>
        <p:spPr>
          <a:xfrm>
            <a:off x="7269480" y="3278124"/>
            <a:ext cx="1371600" cy="137160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600" b="1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00" dirty="0"/>
          </a:p>
        </p:txBody>
      </p:sp>
      <p:sp>
        <p:nvSpPr>
          <p:cNvPr id="72" name="Text 69"/>
          <p:cNvSpPr/>
          <p:nvPr/>
        </p:nvSpPr>
        <p:spPr>
          <a:xfrm>
            <a:off x="205740" y="3442716"/>
            <a:ext cx="2674620" cy="150876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6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hotels in Beverly MA</a:t>
            </a:r>
            <a:endParaRPr lang="en-US" sz="600" dirty="0"/>
          </a:p>
        </p:txBody>
      </p:sp>
      <p:sp>
        <p:nvSpPr>
          <p:cNvPr id="73" name="Text 70"/>
          <p:cNvSpPr/>
          <p:nvPr/>
        </p:nvSpPr>
        <p:spPr>
          <a:xfrm>
            <a:off x="2948940" y="3442716"/>
            <a:ext cx="891540" cy="150876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6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00" dirty="0"/>
          </a:p>
        </p:txBody>
      </p:sp>
      <p:sp>
        <p:nvSpPr>
          <p:cNvPr id="74" name="Text 71"/>
          <p:cNvSpPr/>
          <p:nvPr/>
        </p:nvSpPr>
        <p:spPr>
          <a:xfrm>
            <a:off x="3909060" y="3442716"/>
            <a:ext cx="822960" cy="150876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6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590/mo</a:t>
            </a:r>
            <a:endParaRPr lang="en-US" sz="600" dirty="0"/>
          </a:p>
        </p:txBody>
      </p:sp>
      <p:sp>
        <p:nvSpPr>
          <p:cNvPr id="75" name="Text 72"/>
          <p:cNvSpPr/>
          <p:nvPr/>
        </p:nvSpPr>
        <p:spPr>
          <a:xfrm>
            <a:off x="4800600" y="3442716"/>
            <a:ext cx="960120" cy="150876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6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Non-branded</a:t>
            </a:r>
            <a:endParaRPr lang="en-US" sz="600" dirty="0"/>
          </a:p>
        </p:txBody>
      </p:sp>
      <p:sp>
        <p:nvSpPr>
          <p:cNvPr id="76" name="Text 73"/>
          <p:cNvSpPr/>
          <p:nvPr/>
        </p:nvSpPr>
        <p:spPr>
          <a:xfrm>
            <a:off x="5829300" y="3442716"/>
            <a:ext cx="1371600" cy="150876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6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48/mo</a:t>
            </a:r>
            <a:endParaRPr lang="en-US" sz="600" dirty="0"/>
          </a:p>
        </p:txBody>
      </p:sp>
      <p:sp>
        <p:nvSpPr>
          <p:cNvPr id="77" name="Text 74"/>
          <p:cNvSpPr/>
          <p:nvPr/>
        </p:nvSpPr>
        <p:spPr>
          <a:xfrm>
            <a:off x="7269480" y="3442716"/>
            <a:ext cx="1817370" cy="150876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600" dirty="0">
                <a:solidFill>
                  <a:srgbClr val="555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#1: top spot gets most clicks</a:t>
            </a:r>
            <a:endParaRPr lang="en-US" sz="600" dirty="0"/>
          </a:p>
        </p:txBody>
      </p:sp>
      <p:sp>
        <p:nvSpPr>
          <p:cNvPr id="78" name="Text 75"/>
          <p:cNvSpPr/>
          <p:nvPr/>
        </p:nvSpPr>
        <p:spPr>
          <a:xfrm>
            <a:off x="205740" y="3648456"/>
            <a:ext cx="2674620" cy="150876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6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conference venue North Shore MA</a:t>
            </a:r>
            <a:endParaRPr lang="en-US" sz="600" dirty="0"/>
          </a:p>
        </p:txBody>
      </p:sp>
      <p:sp>
        <p:nvSpPr>
          <p:cNvPr id="79" name="Text 76"/>
          <p:cNvSpPr/>
          <p:nvPr/>
        </p:nvSpPr>
        <p:spPr>
          <a:xfrm>
            <a:off x="2948940" y="3648456"/>
            <a:ext cx="891540" cy="150876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60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ranking</a:t>
            </a:r>
            <a:endParaRPr lang="en-US" sz="600" dirty="0"/>
          </a:p>
        </p:txBody>
      </p:sp>
      <p:sp>
        <p:nvSpPr>
          <p:cNvPr id="80" name="Text 77"/>
          <p:cNvSpPr/>
          <p:nvPr/>
        </p:nvSpPr>
        <p:spPr>
          <a:xfrm>
            <a:off x="3909060" y="3648456"/>
            <a:ext cx="822960" cy="150876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6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200+/mo</a:t>
            </a:r>
            <a:endParaRPr lang="en-US" sz="600" dirty="0"/>
          </a:p>
        </p:txBody>
      </p:sp>
      <p:sp>
        <p:nvSpPr>
          <p:cNvPr id="81" name="Text 78"/>
          <p:cNvSpPr/>
          <p:nvPr/>
        </p:nvSpPr>
        <p:spPr>
          <a:xfrm>
            <a:off x="4800600" y="3648456"/>
            <a:ext cx="960120" cy="150876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6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Non-branded</a:t>
            </a:r>
            <a:endParaRPr lang="en-US" sz="600" dirty="0"/>
          </a:p>
        </p:txBody>
      </p:sp>
      <p:sp>
        <p:nvSpPr>
          <p:cNvPr id="82" name="Text 79"/>
          <p:cNvSpPr/>
          <p:nvPr/>
        </p:nvSpPr>
        <p:spPr>
          <a:xfrm>
            <a:off x="5829300" y="3648456"/>
            <a:ext cx="1371600" cy="150876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6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600" dirty="0"/>
          </a:p>
        </p:txBody>
      </p:sp>
      <p:sp>
        <p:nvSpPr>
          <p:cNvPr id="83" name="Text 80"/>
          <p:cNvSpPr/>
          <p:nvPr/>
        </p:nvSpPr>
        <p:spPr>
          <a:xfrm>
            <a:off x="7269480" y="3648456"/>
            <a:ext cx="1817370" cy="150876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HIGH: build this page</a:t>
            </a:r>
            <a:endParaRPr lang="en-US" sz="600" dirty="0"/>
          </a:p>
        </p:txBody>
      </p:sp>
      <p:sp>
        <p:nvSpPr>
          <p:cNvPr id="84" name="Text 81"/>
          <p:cNvSpPr/>
          <p:nvPr/>
        </p:nvSpPr>
        <p:spPr>
          <a:xfrm>
            <a:off x="205740" y="3854196"/>
            <a:ext cx="2674620" cy="150876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6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Beverly MA wedding venues</a:t>
            </a:r>
            <a:endParaRPr lang="en-US" sz="600" dirty="0"/>
          </a:p>
        </p:txBody>
      </p:sp>
      <p:sp>
        <p:nvSpPr>
          <p:cNvPr id="85" name="Text 82"/>
          <p:cNvSpPr/>
          <p:nvPr/>
        </p:nvSpPr>
        <p:spPr>
          <a:xfrm>
            <a:off x="2948940" y="3854196"/>
            <a:ext cx="891540" cy="150876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6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▲</a:t>
            </a:r>
            <a:endParaRPr lang="en-US" sz="600" dirty="0"/>
          </a:p>
        </p:txBody>
      </p:sp>
      <p:sp>
        <p:nvSpPr>
          <p:cNvPr id="86" name="Text 83"/>
          <p:cNvSpPr/>
          <p:nvPr/>
        </p:nvSpPr>
        <p:spPr>
          <a:xfrm>
            <a:off x="3909060" y="3854196"/>
            <a:ext cx="822960" cy="150876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6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110/mo</a:t>
            </a:r>
            <a:endParaRPr lang="en-US" sz="600" dirty="0"/>
          </a:p>
        </p:txBody>
      </p:sp>
      <p:sp>
        <p:nvSpPr>
          <p:cNvPr id="87" name="Text 84"/>
          <p:cNvSpPr/>
          <p:nvPr/>
        </p:nvSpPr>
        <p:spPr>
          <a:xfrm>
            <a:off x="4800600" y="3854196"/>
            <a:ext cx="960120" cy="150876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6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Non-branded</a:t>
            </a:r>
            <a:endParaRPr lang="en-US" sz="600" dirty="0"/>
          </a:p>
        </p:txBody>
      </p:sp>
      <p:sp>
        <p:nvSpPr>
          <p:cNvPr id="88" name="Text 85"/>
          <p:cNvSpPr/>
          <p:nvPr/>
        </p:nvSpPr>
        <p:spPr>
          <a:xfrm>
            <a:off x="5829300" y="3854196"/>
            <a:ext cx="1371600" cy="150876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6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27/mo</a:t>
            </a:r>
            <a:endParaRPr lang="en-US" sz="600" dirty="0"/>
          </a:p>
        </p:txBody>
      </p:sp>
      <p:sp>
        <p:nvSpPr>
          <p:cNvPr id="89" name="Text 86"/>
          <p:cNvSpPr/>
          <p:nvPr/>
        </p:nvSpPr>
        <p:spPr>
          <a:xfrm>
            <a:off x="7269480" y="3854196"/>
            <a:ext cx="1817370" cy="150876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600" dirty="0">
                <a:solidFill>
                  <a:srgbClr val="555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Won: now #1. Keep the weddings page fresh</a:t>
            </a:r>
            <a:endParaRPr lang="en-US" sz="600" dirty="0"/>
          </a:p>
        </p:txBody>
      </p:sp>
      <p:sp>
        <p:nvSpPr>
          <p:cNvPr id="90" name="Shape 87"/>
          <p:cNvSpPr/>
          <p:nvPr/>
        </p:nvSpPr>
        <p:spPr>
          <a:xfrm>
            <a:off x="123444" y="4732020"/>
            <a:ext cx="1303020" cy="192024"/>
          </a:xfrm>
          <a:prstGeom prst="rect">
            <a:avLst/>
          </a:prstGeom>
          <a:solidFill>
            <a:srgbClr val="D6006E"/>
          </a:solidFill>
          <a:ln w="9525">
            <a:solidFill>
              <a:srgbClr val="D6006E"/>
            </a:solidFill>
            <a:prstDash val="solid"/>
          </a:ln>
        </p:spPr>
        <p:txBody>
          <a:bodyPr lIns="68580" rIns="68580" tIns="34290" bIns="34290"/>
          <a:lstStyle/>
          <a:p>
            <a:endParaRPr lang="en-US"/>
          </a:p>
        </p:txBody>
      </p:sp>
      <p:sp>
        <p:nvSpPr>
          <p:cNvPr id="91" name="Text 88"/>
          <p:cNvSpPr/>
          <p:nvPr/>
        </p:nvSpPr>
        <p:spPr>
          <a:xfrm>
            <a:off x="123444" y="4732020"/>
            <a:ext cx="1303020" cy="192024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 algn="ctr">
              <a:buNone/>
            </a:pPr>
            <a:r>
              <a:rPr lang="en-US" sz="5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500" dirty="0"/>
          </a:p>
        </p:txBody>
      </p:sp>
      <p:sp>
        <p:nvSpPr>
          <p:cNvPr id="92" name="Shape 89"/>
          <p:cNvSpPr/>
          <p:nvPr/>
        </p:nvSpPr>
        <p:spPr>
          <a:xfrm>
            <a:off x="1474470" y="4732020"/>
            <a:ext cx="7543800" cy="192024"/>
          </a:xfrm>
          <a:prstGeom prst="rect">
            <a:avLst/>
          </a:prstGeom>
          <a:solidFill>
            <a:srgbClr val="FDE8F3"/>
          </a:solidFill>
          <a:ln w="4762">
            <a:solidFill>
              <a:srgbClr val="D6006E"/>
            </a:solidFill>
            <a:prstDash val="solid"/>
          </a:ln>
        </p:spPr>
        <p:txBody>
          <a:bodyPr lIns="68580" rIns="68580" tIns="34290" bIns="34290"/>
          <a:lstStyle/>
          <a:p>
            <a:endParaRPr lang="en-US"/>
          </a:p>
        </p:txBody>
      </p:sp>
      <p:sp>
        <p:nvSpPr>
          <p:cNvPr id="93" name="Text 90"/>
          <p:cNvSpPr/>
          <p:nvPr/>
        </p:nvSpPr>
        <p:spPr>
          <a:xfrm>
            <a:off x="1522476" y="4752594"/>
            <a:ext cx="7440930" cy="150876"/>
          </a:xfrm>
          <a:prstGeom prst="rect">
            <a:avLst/>
          </a:prstGeom>
          <a:noFill/>
          <a:ln/>
        </p:spPr>
        <p:txBody>
          <a:bodyPr wrap="square" rtlCol="0" anchor="ctr" lIns="68580" rIns="68580" tIns="34290" bIns="34290"/>
          <a:lstStyle/>
          <a:p>
            <a:pPr marL="0" indent="0">
              <a:buNone/>
            </a:pPr>
            <a:r>
              <a:rPr lang="en-US" sz="65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 of search visits come from people who already know the Wylie name. Every non-branded search we win is a new guest, commission-free.</a:t>
            </a:r>
            <a:endParaRPr lang="en-US" sz="650" dirty="0"/>
          </a:p>
        </p:txBody>
      </p:sp>
      <p:pic>
        <p:nvPicPr>
          <p:cNvPr id="9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3380" y="4903470"/>
            <a:ext cx="720090" cy="19202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2103120"/>
            <a:ext cx="9144000" cy="4572"/>
          </a:xfrm>
          <a:prstGeom prst="rect">
            <a:avLst/>
          </a:prstGeom>
          <a:solidFill>
            <a:srgbClr val="B52372"/>
          </a:solidFill>
          <a:ln w="12700">
            <a:solidFill>
              <a:srgbClr val="B523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85800" y="1396746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>
                <a:solidFill>
                  <a:srgbClr val="FFFFFF"/>
                </a:solidFill>
                <a:latin typeface="Franklin Gothic Book" panose="020B0503020102020204" pitchFamily="34" charset="0"/>
                <a:ea typeface="Georgia" pitchFamily="34" charset="-122"/>
                <a:cs typeface="Georgia" pitchFamily="34" charset="-120"/>
              </a:rPr>
              <a:t>AI Visibility &amp; Brand Perception</a:t>
            </a:r>
            <a:endParaRPr lang="en-US" sz="3600">
              <a:latin typeface="Franklin Gothic Book" panose="020B05030201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85800" y="226542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E7E1E6"/>
                </a:solidFill>
                <a:latin typeface="Franklin Gothic Book" panose="020B0503020102020204" pitchFamily="34" charset="0"/>
                <a:ea typeface="Calibri" pitchFamily="34" charset="-122"/>
                <a:cs typeface="Calibri" pitchFamily="34" charset="-120"/>
              </a:rPr>
              <a:t>August 2026  |  Source: Search Atlas LLM Visibility</a:t>
            </a:r>
            <a:endParaRPr lang="en-US" sz="1600"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20040" y="1828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VISIBILITY OVERVIEW</a:t>
            </a:r>
            <a:endParaRPr lang="en-US" sz="2000"/>
          </a:p>
        </p:txBody>
      </p:sp>
      <p:sp>
        <p:nvSpPr>
          <p:cNvPr id="5" name="Text 3"/>
          <p:cNvSpPr/>
          <p:nvPr/>
        </p:nvSpPr>
        <p:spPr>
          <a:xfrm>
            <a:off x="6583680" y="91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E7E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wyliecenter.com  |  August 2026  |  Source: Search Atlas</a:t>
            </a:r>
            <a:endParaRPr lang="en-US" sz="1000"/>
          </a:p>
        </p:txBody>
      </p:sp>
      <p:sp>
        <p:nvSpPr>
          <p:cNvPr id="7" name="Shape 4"/>
          <p:cNvSpPr/>
          <p:nvPr/>
        </p:nvSpPr>
        <p:spPr>
          <a:xfrm>
            <a:off x="274320" y="749808"/>
            <a:ext cx="219456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274320" y="749808"/>
            <a:ext cx="54864" cy="2926080"/>
          </a:xfrm>
          <a:prstGeom prst="rect">
            <a:avLst/>
          </a:prstGeom>
          <a:solidFill>
            <a:srgbClr val="D51067"/>
          </a:solidFill>
          <a:ln w="12700">
            <a:solidFill>
              <a:srgbClr val="D510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65760" y="9601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>
                <a:solidFill>
                  <a:srgbClr val="D4850A"/>
                </a:solidFill>
                <a:latin typeface="Franklin Gothic Book" panose="020B0503020102020204" pitchFamily="34" charset="0"/>
                <a:ea typeface="Georgia" pitchFamily="34" charset="-122"/>
                <a:cs typeface="Georgia" pitchFamily="34" charset="-120"/>
              </a:rPr>
              <a:t>13.6</a:t>
            </a:r>
            <a:endParaRPr lang="en-US" sz="6000">
              <a:latin typeface="Franklin Gothic Book" panose="020B05030201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65760" y="1691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555759"/>
                </a:solidFill>
                <a:latin typeface="Franklin Gothic Book" panose="020B0503020102020204" pitchFamily="34" charset="0"/>
                <a:ea typeface="Calibri" pitchFamily="34" charset="-122"/>
                <a:cs typeface="Calibri" pitchFamily="34" charset="-120"/>
              </a:rPr>
              <a:t>overall visibility</a:t>
            </a:r>
            <a:endParaRPr lang="en-US" sz="1100">
              <a:latin typeface="Franklin Gothic Book" panose="020B05030201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65760" y="19933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>
                <a:solidFill>
                  <a:srgbClr val="1C1C1E"/>
                </a:solidFill>
                <a:latin typeface="Franklin Gothic Book" panose="020B0503020102020204" pitchFamily="34" charset="0"/>
                <a:ea typeface="Calibri" pitchFamily="34" charset="-122"/>
                <a:cs typeface="Calibri" pitchFamily="34" charset="-120"/>
              </a:rPr>
              <a:t>AI VISIBILITY SCORE</a:t>
            </a:r>
            <a:endParaRPr lang="en-US" sz="1000">
              <a:latin typeface="Franklin Gothic Book" panose="020B05030201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40080" y="228600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D4850A"/>
                </a:solidFill>
                <a:latin typeface="Franklin Gothic Book" panose="020B0503020102020204" pitchFamily="34" charset="0"/>
                <a:ea typeface="Calibri" pitchFamily="34" charset="-122"/>
                <a:cs typeface="Calibri" pitchFamily="34" charset="-120"/>
              </a:rPr>
              <a:t>Flat vs. July</a:t>
            </a:r>
            <a:endParaRPr lang="en-US" sz="1500">
              <a:latin typeface="Franklin Gothic Book" panose="020B0503020102020204" pitchFamily="34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457200" y="2679192"/>
            <a:ext cx="1828800" cy="27432"/>
          </a:xfrm>
          <a:prstGeom prst="rect">
            <a:avLst/>
          </a:prstGeom>
          <a:solidFill>
            <a:srgbClr val="E7E1E6"/>
          </a:solidFill>
          <a:ln w="12700">
            <a:solidFill>
              <a:srgbClr val="E7E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29184" y="291693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759"/>
                </a:solidFill>
                <a:latin typeface="Franklin Gothic Book" panose="020B0503020102020204" pitchFamily="34" charset="0"/>
                <a:ea typeface="Calibri" pitchFamily="34" charset="-122"/>
                <a:cs typeface="Calibri" pitchFamily="34" charset="-120"/>
              </a:rPr>
              <a:t>Wylie Inn appears on all five tracked AI platforms: Copilot 16%, ChatGPT, Gemini and Google AI Mode 14% each, Perplexity 10%. Sentiment averages 77.4%.</a:t>
            </a:r>
            <a:endParaRPr lang="en-US" sz="900" dirty="0">
              <a:latin typeface="Franklin Gothic Book" panose="020B0503020102020204" pitchFamily="34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2651760" y="749808"/>
            <a:ext cx="1938528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2651760" y="749808"/>
            <a:ext cx="54864" cy="1234440"/>
          </a:xfrm>
          <a:prstGeom prst="rect">
            <a:avLst/>
          </a:prstGeom>
          <a:solidFill>
            <a:srgbClr val="D51067"/>
          </a:solidFill>
          <a:ln w="12700">
            <a:solidFill>
              <a:srgbClr val="D510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2816352" y="86868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1C1C1E"/>
                </a:solidFill>
                <a:latin typeface="Franklin Gothic Book" panose="020B0503020102020204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200">
              <a:latin typeface="Franklin Gothic Book" panose="020B0503020102020204" pitchFamily="34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2816352" y="137160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555759"/>
                </a:solidFill>
                <a:latin typeface="Franklin Gothic Book" panose="020B0503020102020204" pitchFamily="34" charset="0"/>
                <a:ea typeface="Calibri" pitchFamily="34" charset="-122"/>
                <a:cs typeface="Calibri" pitchFamily="34" charset="-120"/>
              </a:rPr>
              <a:t>AI Platforms</a:t>
            </a:r>
            <a:endParaRPr lang="en-US" sz="1000">
              <a:latin typeface="Franklin Gothic Book" panose="020B0503020102020204" pitchFamily="34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2816352" y="1627632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900">
                <a:solidFill>
                  <a:srgbClr val="55575A"/>
                </a:solidFill>
              </a:rPr>
              <a:t>Perplexity at 10%</a:t>
            </a:r>
            <a:endParaRPr lang="en-US" sz="1000">
              <a:latin typeface="Franklin Gothic Book" panose="020B0503020102020204" pitchFamily="34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4828032" y="749808"/>
            <a:ext cx="1938528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828032" y="749808"/>
            <a:ext cx="54864" cy="1234440"/>
          </a:xfrm>
          <a:prstGeom prst="rect">
            <a:avLst/>
          </a:prstGeom>
          <a:solidFill>
            <a:srgbClr val="D51067"/>
          </a:solidFill>
          <a:ln w="12700">
            <a:solidFill>
              <a:srgbClr val="D510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992624" y="86868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1C1C1E"/>
                </a:solidFill>
                <a:latin typeface="Franklin Gothic Book" panose="020B0503020102020204" pitchFamily="34" charset="0"/>
                <a:ea typeface="Georgia" pitchFamily="34" charset="-122"/>
                <a:cs typeface="Georgia" pitchFamily="34" charset="-120"/>
              </a:rPr>
              <a:t>793</a:t>
            </a:r>
            <a:endParaRPr lang="en-US" sz="3200">
              <a:latin typeface="Franklin Gothic Book" panose="020B0503020102020204" pitchFamily="34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4992624" y="137160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555759"/>
                </a:solidFill>
                <a:latin typeface="Franklin Gothic Book" panose="020B0503020102020204" pitchFamily="34" charset="0"/>
                <a:ea typeface="Calibri" pitchFamily="34" charset="-122"/>
                <a:cs typeface="Calibri" pitchFamily="34" charset="-120"/>
              </a:rPr>
              <a:t>Organic Keywords</a:t>
            </a:r>
            <a:endParaRPr lang="en-US" sz="1000">
              <a:latin typeface="Franklin Gothic Book" panose="020B0503020102020204" pitchFamily="34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4992624" y="1627632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900">
                <a:solidFill>
                  <a:srgbClr val="55575A"/>
                </a:solidFill>
              </a:rPr>
              <a:t>Site Explorer, Aug 12</a:t>
            </a:r>
            <a:endParaRPr lang="en-US" sz="1000">
              <a:latin typeface="Franklin Gothic Book" panose="020B0503020102020204" pitchFamily="34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7004304" y="749808"/>
            <a:ext cx="1938528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7004304" y="749808"/>
            <a:ext cx="54864" cy="1234440"/>
          </a:xfrm>
          <a:prstGeom prst="rect">
            <a:avLst/>
          </a:prstGeom>
          <a:solidFill>
            <a:srgbClr val="D51067"/>
          </a:solidFill>
          <a:ln w="12700">
            <a:solidFill>
              <a:srgbClr val="D510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7168896" y="86868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1C1C1E"/>
                </a:solidFill>
                <a:latin typeface="Franklin Gothic Book" panose="020B0503020102020204" pitchFamily="34" charset="0"/>
                <a:ea typeface="Georgia" pitchFamily="34" charset="-122"/>
                <a:cs typeface="Georgia" pitchFamily="34" charset="-120"/>
              </a:rPr>
              <a:t>609</a:t>
            </a:r>
            <a:endParaRPr lang="en-US" sz="3200">
              <a:latin typeface="Franklin Gothic Book" panose="020B0503020102020204" pitchFamily="34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7168896" y="137160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555759"/>
                </a:solidFill>
                <a:latin typeface="Franklin Gothic Book" panose="020B0503020102020204" pitchFamily="34" charset="0"/>
                <a:ea typeface="Calibri" pitchFamily="34" charset="-122"/>
                <a:cs typeface="Calibri" pitchFamily="34" charset="-120"/>
              </a:rPr>
              <a:t>Referring Domains</a:t>
            </a:r>
            <a:endParaRPr lang="en-US" sz="1000">
              <a:latin typeface="Franklin Gothic Book" panose="020B0503020102020204" pitchFamily="34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2651760" y="2103120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>
                <a:solidFill>
                  <a:srgbClr val="D51067"/>
                </a:solidFill>
                <a:latin typeface="Franklin Gothic Book" panose="020B0503020102020204" pitchFamily="34" charset="0"/>
                <a:ea typeface="Calibri" pitchFamily="34" charset="-122"/>
                <a:cs typeface="Calibri" pitchFamily="34" charset="-120"/>
              </a:rPr>
              <a:t>DISTRIBUTION BY LLM</a:t>
            </a:r>
            <a:endParaRPr lang="en-US" sz="950">
              <a:latin typeface="Franklin Gothic Book" panose="020B0503020102020204" pitchFamily="34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2651760" y="23957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C1C1E"/>
                </a:solidFill>
                <a:latin typeface="Franklin Gothic Book" panose="020B0503020102020204" pitchFamily="34" charset="0"/>
                <a:ea typeface="Calibri" pitchFamily="34" charset="-122"/>
                <a:cs typeface="Calibri" pitchFamily="34" charset="-120"/>
              </a:rPr>
              <a:t>Google AI Mode</a:t>
            </a:r>
            <a:endParaRPr lang="en-US" sz="1000">
              <a:latin typeface="Franklin Gothic Book" panose="020B0503020102020204" pitchFamily="34" charset="0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4617720" y="2450592"/>
            <a:ext cx="3474720" cy="201168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4617720" y="2450592"/>
            <a:ext cx="486460" cy="201168"/>
          </a:xfrm>
          <a:prstGeom prst="rect">
            <a:avLst/>
          </a:prstGeom>
          <a:solidFill>
            <a:srgbClr val="D51067"/>
          </a:solidFill>
          <a:ln w="12700">
            <a:solidFill>
              <a:srgbClr val="D510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8229600" y="239572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555759"/>
                </a:solidFill>
                <a:latin typeface="Franklin Gothic Book" panose="020B0503020102020204" pitchFamily="34" charset="0"/>
                <a:ea typeface="Calibri" pitchFamily="34" charset="-122"/>
                <a:cs typeface="Calibri" pitchFamily="34" charset="-120"/>
              </a:rPr>
              <a:t>14% · 82% sentiment</a:t>
            </a:r>
            <a:endParaRPr lang="en-US" sz="1000">
              <a:latin typeface="Franklin Gothic Book" panose="020B0503020102020204" pitchFamily="34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2651760" y="296265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C1C1E"/>
                </a:solidFill>
                <a:latin typeface="Franklin Gothic Book" panose="020B0503020102020204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000">
              <a:latin typeface="Franklin Gothic Book" panose="020B0503020102020204" pitchFamily="34" charset="0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4617720" y="3017520"/>
            <a:ext cx="3474720" cy="201168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4617720" y="3017520"/>
            <a:ext cx="486460" cy="201168"/>
          </a:xfrm>
          <a:prstGeom prst="rect">
            <a:avLst/>
          </a:prstGeom>
          <a:solidFill>
            <a:srgbClr val="B52372"/>
          </a:solidFill>
          <a:ln w="12700">
            <a:solidFill>
              <a:srgbClr val="B523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8229600" y="29626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555759"/>
                </a:solidFill>
                <a:latin typeface="Franklin Gothic Book" panose="020B0503020102020204" pitchFamily="34" charset="0"/>
                <a:ea typeface="Calibri" pitchFamily="34" charset="-122"/>
                <a:cs typeface="Calibri" pitchFamily="34" charset="-120"/>
              </a:rPr>
              <a:t>14% · 82% sentiment</a:t>
            </a:r>
            <a:endParaRPr lang="en-US" sz="1000">
              <a:latin typeface="Franklin Gothic Book" panose="020B0503020102020204" pitchFamily="34" charset="0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2651760" y="352958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C1C1E"/>
                </a:solidFill>
                <a:latin typeface="Franklin Gothic Book" panose="020B0503020102020204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000">
              <a:latin typeface="Franklin Gothic Book" panose="020B0503020102020204" pitchFamily="34" charset="0"/>
            </a:endParaRPr>
          </a:p>
        </p:txBody>
      </p:sp>
      <p:sp>
        <p:nvSpPr>
          <p:cNvPr id="39" name="Shape 36"/>
          <p:cNvSpPr/>
          <p:nvPr/>
        </p:nvSpPr>
        <p:spPr>
          <a:xfrm>
            <a:off x="4617720" y="3584448"/>
            <a:ext cx="3474720" cy="201168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4617720" y="3584448"/>
            <a:ext cx="486460" cy="201168"/>
          </a:xfrm>
          <a:prstGeom prst="rect">
            <a:avLst/>
          </a:prstGeom>
          <a:solidFill>
            <a:srgbClr val="555759"/>
          </a:solidFill>
          <a:ln w="12700">
            <a:solidFill>
              <a:srgbClr val="5557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8229600" y="352958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555759"/>
                </a:solidFill>
                <a:latin typeface="Franklin Gothic Book" panose="020B0503020102020204" pitchFamily="34" charset="0"/>
                <a:ea typeface="Calibri" pitchFamily="34" charset="-122"/>
                <a:cs typeface="Calibri" pitchFamily="34" charset="-120"/>
              </a:rPr>
              <a:t>14% · 76% sentiment</a:t>
            </a:r>
            <a:endParaRPr lang="en-US" sz="1000">
              <a:latin typeface="Franklin Gothic Book" panose="020B0503020102020204" pitchFamily="34" charset="0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2651760" y="40965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C1C1E"/>
                </a:solidFill>
                <a:latin typeface="Franklin Gothic Book" panose="020B0503020102020204" pitchFamily="34" charset="0"/>
                <a:ea typeface="Calibri" pitchFamily="34" charset="-122"/>
                <a:cs typeface="Calibri" pitchFamily="34" charset="-120"/>
              </a:rPr>
              <a:t>Copilot</a:t>
            </a:r>
            <a:endParaRPr lang="en-US" sz="1000">
              <a:latin typeface="Franklin Gothic Book" panose="020B0503020102020204" pitchFamily="34" charset="0"/>
            </a:endParaRPr>
          </a:p>
        </p:txBody>
      </p:sp>
      <p:sp>
        <p:nvSpPr>
          <p:cNvPr id="43" name="Shape 40"/>
          <p:cNvSpPr/>
          <p:nvPr/>
        </p:nvSpPr>
        <p:spPr>
          <a:xfrm>
            <a:off x="4617720" y="4151376"/>
            <a:ext cx="3474720" cy="201168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1"/>
          <p:cNvSpPr/>
          <p:nvPr/>
        </p:nvSpPr>
        <p:spPr>
          <a:xfrm>
            <a:off x="4617720" y="4151376"/>
            <a:ext cx="555955" cy="201168"/>
          </a:xfrm>
          <a:prstGeom prst="rect">
            <a:avLst/>
          </a:prstGeom>
          <a:solidFill>
            <a:srgbClr val="CACACA"/>
          </a:solidFill>
          <a:ln w="12700">
            <a:solidFill>
              <a:srgbClr val="CA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8229600" y="409651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555759"/>
                </a:solidFill>
                <a:latin typeface="Franklin Gothic Book" panose="020B0503020102020204" pitchFamily="34" charset="0"/>
                <a:ea typeface="Calibri" pitchFamily="34" charset="-122"/>
                <a:cs typeface="Calibri" pitchFamily="34" charset="-120"/>
              </a:rPr>
              <a:t>16% · 82% sentiment</a:t>
            </a:r>
            <a:endParaRPr lang="en-US" sz="1000">
              <a:latin typeface="Franklin Gothic Book" panose="020B0503020102020204" pitchFamily="34" charset="0"/>
            </a:endParaRPr>
          </a:p>
        </p:txBody>
      </p:sp>
      <p:sp>
        <p:nvSpPr>
          <p:cNvPr id="46" name="Text 43"/>
          <p:cNvSpPr/>
          <p:nvPr/>
        </p:nvSpPr>
        <p:spPr>
          <a:xfrm>
            <a:off x="274320" y="3933253"/>
            <a:ext cx="2194560" cy="9679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999999"/>
                </a:solidFill>
                <a:latin typeface="Franklin Gothic Book" panose="020B0503020102020204" pitchFamily="34" charset="0"/>
                <a:ea typeface="Calibri" pitchFamily="34" charset="-122"/>
                <a:cs typeface="Calibri" pitchFamily="34" charset="-120"/>
              </a:rPr>
              <a:t>Holistic SEO Pillars (OTTO, grade 83/100):  Technical 95/100  |  UX Signals 62/100  |  Content 33/100  |  Authority 33/100</a:t>
            </a:r>
            <a:endParaRPr lang="en-US" sz="1000">
              <a:latin typeface="Franklin Gothic Book" panose="020B0503020102020204" pitchFamily="34" charset="0"/>
            </a:endParaRPr>
          </a:p>
        </p:txBody>
      </p:sp>
      <p:sp>
        <p:nvSpPr>
          <p:cNvPr id="47" name="Title 46">
            <a:extLst>
              <a:ext uri="{FF2B5EF4-FFF2-40B4-BE49-F238E27FC236}">
                <a16:creationId xmlns:a16="http://schemas.microsoft.com/office/drawing/2014/main" id="{8AE9965D-3886-1B30-CB00-E650A813967D}"/>
              </a:ext>
            </a:extLst>
          </p:cNvPr>
          <p:cNvSpPr>
            <a:spLocks noGrp="1"/>
          </p:cNvSpPr>
          <p:nvPr>
            <p:ph type="title"/>
          </p:nvPr>
        </p:nvSpPr>
        <p:spPr>
          <a:pattFill prst="pct20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/>
              <a:t>AI Visibility and Brand Perception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28016" y="4510849"/>
            <a:ext cx="1307592" cy="195453"/>
          </a:xfrm>
          <a:prstGeom prst="rect">
            <a:avLst/>
          </a:prstGeom>
          <a:solidFill>
            <a:srgbClr val="D6006E"/>
          </a:solidFill>
          <a:ln>
            <a:solidFill>
              <a:srgbClr val="D60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WHY THIS MATTERS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508760" y="4510849"/>
            <a:ext cx="7498080" cy="195453"/>
          </a:xfrm>
          <a:prstGeom prst="rect">
            <a:avLst/>
          </a:prstGeom>
          <a:solidFill>
            <a:srgbClr val="FDE8F3"/>
          </a:solidFill>
          <a:ln w="6350">
            <a:solidFill>
              <a:srgbClr val="D60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bIns="0" rtlCol="0" anchor="ctr"/>
          <a:lstStyle/>
          <a:p>
            <a:pPr algn="ctr"/>
            <a:r>
              <a:rPr sz="850">
                <a:solidFill>
                  <a:srgbClr val="1C1C1E"/>
                </a:solidFill>
                <a:latin typeface="Calibri"/>
              </a:rPr>
              <a:t>Wylie shows up in about 1 in 7 AI answers on its topics. Overnight stays leads at 52% visibility; the event topics are at zero.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28016" y="4510849"/>
            <a:ext cx="1307592" cy="195453"/>
          </a:xfrm>
          <a:prstGeom prst="rect">
            <a:avLst/>
          </a:prstGeom>
          <a:solidFill>
            <a:srgbClr val="D6006E"/>
          </a:solidFill>
          <a:ln>
            <a:solidFill>
              <a:srgbClr val="D60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WHY THIS MATTERS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508760" y="4510849"/>
            <a:ext cx="7589520" cy="195453"/>
          </a:xfrm>
          <a:prstGeom prst="rect">
            <a:avLst/>
          </a:prstGeom>
          <a:solidFill>
            <a:srgbClr val="FDE8F3"/>
          </a:solidFill>
          <a:ln w="6350">
            <a:solidFill>
              <a:srgbClr val="D60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bIns="0" rtlCol="0" anchor="ctr"/>
          <a:lstStyle/>
          <a:p>
            <a:pPr algn="ctr"/>
            <a:r>
              <a:rPr sz="850">
                <a:solidFill>
                  <a:srgbClr val="1C1C1E"/>
                </a:solidFill>
                <a:latin typeface="Calibri"/>
              </a:rPr>
              <a:t>Wylie shows up in about 1 in 7 AI answers on its topics. Overnight stays leads at 52% visibility; the event topics are at zero.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20040" y="1828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BRAND PERCEPTION &amp; SENTIMENT</a:t>
            </a:r>
            <a:endParaRPr lang="en-US" sz="2000"/>
          </a:p>
        </p:txBody>
      </p:sp>
      <p:sp>
        <p:nvSpPr>
          <p:cNvPr id="5" name="Text 3"/>
          <p:cNvSpPr/>
          <p:nvPr/>
        </p:nvSpPr>
        <p:spPr>
          <a:xfrm>
            <a:off x="6035040" y="91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E7E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2026  |  Search Atlas</a:t>
            </a:r>
            <a:endParaRPr lang="en-US" sz="100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4663440"/>
            <a:ext cx="1005840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749808"/>
            <a:ext cx="27432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274320" y="749808"/>
            <a:ext cx="54864" cy="2194560"/>
          </a:xfrm>
          <a:prstGeom prst="rect">
            <a:avLst/>
          </a:prstGeom>
          <a:solidFill>
            <a:srgbClr val="D51067"/>
          </a:solidFill>
          <a:ln w="12700">
            <a:solidFill>
              <a:srgbClr val="D510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57200" y="8229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>
                <a:solidFill>
                  <a:srgbClr val="D51067"/>
                </a:solidFill>
                <a:latin typeface="Franklin Gothic Book" panose="020B0503020102020204" pitchFamily="34" charset="0"/>
                <a:ea typeface="Calibri" pitchFamily="34" charset="-122"/>
                <a:cs typeface="Calibri" pitchFamily="34" charset="-120"/>
              </a:rPr>
              <a:t>OVERALL SENTIMENT</a:t>
            </a:r>
            <a:endParaRPr lang="en-US" sz="900">
              <a:latin typeface="Franklin Gothic Book" panose="020B05030201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57200" y="10972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>
                <a:solidFill>
                  <a:srgbClr val="2E8B57"/>
                </a:solidFill>
                <a:latin typeface="Franklin Gothic Book" panose="020B0503020102020204" pitchFamily="34" charset="0"/>
                <a:ea typeface="Georgia" pitchFamily="34" charset="-122"/>
                <a:cs typeface="Georgia" pitchFamily="34" charset="-120"/>
              </a:rPr>
              <a:t>77%</a:t>
            </a:r>
            <a:endParaRPr lang="en-US" sz="4400">
              <a:latin typeface="Franklin Gothic Book" panose="020B05030201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57200" y="1737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555759"/>
                </a:solidFill>
                <a:latin typeface="Franklin Gothic Book" panose="020B0503020102020204" pitchFamily="34" charset="0"/>
                <a:ea typeface="Calibri" pitchFamily="34" charset="-122"/>
                <a:cs typeface="Calibri" pitchFamily="34" charset="-120"/>
              </a:rPr>
              <a:t>Favorable Sentiment</a:t>
            </a:r>
            <a:endParaRPr lang="en-US" sz="1200">
              <a:latin typeface="Franklin Gothic Book" panose="020B05030201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57200" y="202996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888888"/>
                </a:solidFill>
                <a:latin typeface="Franklin Gothic Book" panose="020B0503020102020204" pitchFamily="34" charset="0"/>
                <a:ea typeface="Calibri" pitchFamily="34" charset="-122"/>
                <a:cs typeface="Calibri" pitchFamily="34" charset="-120"/>
              </a:rPr>
              <a:t>Google AI 82%  |  Gemini 82%  |  Copilot 82%  |  ChatGPT 76%  |  Perplexity 65%</a:t>
            </a:r>
            <a:endParaRPr lang="en-US" sz="1000">
              <a:latin typeface="Franklin Gothic Book" panose="020B05030201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57200" y="23317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>
                <a:solidFill>
                  <a:srgbClr val="555759"/>
                </a:solidFill>
                <a:latin typeface="Franklin Gothic Book" panose="020B0503020102020204" pitchFamily="34" charset="0"/>
                <a:ea typeface="Calibri" pitchFamily="34" charset="-122"/>
                <a:cs typeface="Calibri" pitchFamily="34" charset="-120"/>
              </a:rPr>
              <a:t>Positive on four of five platforms. Perplexity lags at 65%.</a:t>
            </a:r>
            <a:endParaRPr lang="en-US" sz="900">
              <a:latin typeface="Franklin Gothic Book" panose="020B0503020102020204" pitchFamily="3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3200400" y="728538"/>
            <a:ext cx="27432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>
              <a:latin typeface="Franklin Gothic Book" panose="020B0503020102020204" pitchFamily="34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3200400" y="749808"/>
            <a:ext cx="54864" cy="2194560"/>
          </a:xfrm>
          <a:prstGeom prst="rect">
            <a:avLst/>
          </a:prstGeom>
          <a:solidFill>
            <a:srgbClr val="D51067"/>
          </a:solidFill>
          <a:ln w="12700">
            <a:solidFill>
              <a:srgbClr val="D510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3383280" y="8229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>
                <a:solidFill>
                  <a:srgbClr val="D51067"/>
                </a:solidFill>
                <a:latin typeface="Franklin Gothic Book" panose="020B0503020102020204" pitchFamily="34" charset="0"/>
                <a:ea typeface="Calibri" pitchFamily="34" charset="-122"/>
                <a:cs typeface="Calibri" pitchFamily="34" charset="-120"/>
              </a:rPr>
              <a:t>BRAND INSIGHTS BY PLATFORM</a:t>
            </a:r>
            <a:endParaRPr lang="en-US" sz="900">
              <a:latin typeface="Franklin Gothic Book" panose="020B0503020102020204" pitchFamily="3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3383280" y="11430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C1C1E"/>
                </a:solidFill>
                <a:latin typeface="Franklin Gothic Book" panose="020B0503020102020204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950">
              <a:latin typeface="Franklin Gothic Book" panose="020B0503020102020204" pitchFamily="34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4773168" y="1188720"/>
            <a:ext cx="1280160" cy="18288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773168" y="1188720"/>
            <a:ext cx="38405" cy="182880"/>
          </a:xfrm>
          <a:prstGeom prst="rect">
            <a:avLst/>
          </a:prstGeom>
          <a:solidFill>
            <a:srgbClr val="D51067"/>
          </a:solidFill>
          <a:ln w="12700">
            <a:solidFill>
              <a:srgbClr val="D510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108192" y="11430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>
                <a:solidFill>
                  <a:srgbClr val="555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950"/>
          </a:p>
        </p:txBody>
      </p:sp>
      <p:sp>
        <p:nvSpPr>
          <p:cNvPr id="21" name="Text 18"/>
          <p:cNvSpPr/>
          <p:nvPr/>
        </p:nvSpPr>
        <p:spPr>
          <a:xfrm>
            <a:off x="3383280" y="14813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C1C1E"/>
                </a:solidFill>
                <a:latin typeface="Franklin Gothic Book" panose="020B0503020102020204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950">
              <a:latin typeface="Franklin Gothic Book" panose="020B0503020102020204" pitchFamily="34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4773168" y="1527048"/>
            <a:ext cx="1280160" cy="18288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4773168" y="1527048"/>
            <a:ext cx="51206" cy="182880"/>
          </a:xfrm>
          <a:prstGeom prst="rect">
            <a:avLst/>
          </a:prstGeom>
          <a:solidFill>
            <a:srgbClr val="555759"/>
          </a:solidFill>
          <a:ln w="12700">
            <a:solidFill>
              <a:srgbClr val="5557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108192" y="14813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>
                <a:solidFill>
                  <a:srgbClr val="555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76%</a:t>
            </a:r>
            <a:endParaRPr lang="en-US" sz="950"/>
          </a:p>
        </p:txBody>
      </p:sp>
      <p:sp>
        <p:nvSpPr>
          <p:cNvPr id="25" name="Text 22"/>
          <p:cNvSpPr/>
          <p:nvPr/>
        </p:nvSpPr>
        <p:spPr>
          <a:xfrm>
            <a:off x="3383280" y="181965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C1C1E"/>
                </a:solidFill>
                <a:latin typeface="Franklin Gothic Book" panose="020B0503020102020204" pitchFamily="34" charset="0"/>
                <a:ea typeface="Calibri" pitchFamily="34" charset="-122"/>
                <a:cs typeface="Calibri" pitchFamily="34" charset="-120"/>
              </a:rPr>
              <a:t>Google AI</a:t>
            </a:r>
            <a:endParaRPr lang="en-US" sz="950">
              <a:latin typeface="Franklin Gothic Book" panose="020B0503020102020204" pitchFamily="34" charset="0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4773168" y="1865376"/>
            <a:ext cx="1280160" cy="18288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4773168" y="1865376"/>
            <a:ext cx="12802" cy="182880"/>
          </a:xfrm>
          <a:prstGeom prst="rect">
            <a:avLst/>
          </a:prstGeom>
          <a:solidFill>
            <a:srgbClr val="CACACA"/>
          </a:solidFill>
          <a:ln w="12700">
            <a:solidFill>
              <a:srgbClr val="CA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6108192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>
                <a:solidFill>
                  <a:srgbClr val="555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950"/>
          </a:p>
        </p:txBody>
      </p:sp>
      <p:sp>
        <p:nvSpPr>
          <p:cNvPr id="29" name="Text 26"/>
          <p:cNvSpPr/>
          <p:nvPr/>
        </p:nvSpPr>
        <p:spPr>
          <a:xfrm>
            <a:off x="3383280" y="21579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C1C1E"/>
                </a:solidFill>
                <a:latin typeface="Franklin Gothic Book" panose="020B0503020102020204" pitchFamily="34" charset="0"/>
                <a:ea typeface="Calibri" pitchFamily="34" charset="-122"/>
                <a:cs typeface="Calibri" pitchFamily="34" charset="-120"/>
              </a:rPr>
              <a:t>Perplexity</a:t>
            </a:r>
            <a:endParaRPr lang="en-US" sz="950">
              <a:latin typeface="Franklin Gothic Book" panose="020B0503020102020204" pitchFamily="34" charset="0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4773168" y="2203704"/>
            <a:ext cx="1280160" cy="18288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4773168" y="2203704"/>
            <a:ext cx="12802" cy="182880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6108192" y="215798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>
                <a:solidFill>
                  <a:srgbClr val="555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950"/>
          </a:p>
        </p:txBody>
      </p:sp>
      <p:sp>
        <p:nvSpPr>
          <p:cNvPr id="33" name="Text 30"/>
          <p:cNvSpPr/>
          <p:nvPr/>
        </p:nvSpPr>
        <p:spPr>
          <a:xfrm>
            <a:off x="3383280" y="24963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>
              <a:latin typeface="Franklin Gothic Book" panose="020B0503020102020204" pitchFamily="34" charset="0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4773168" y="2542032"/>
            <a:ext cx="1280160" cy="18288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4773168" y="2542032"/>
            <a:ext cx="1164946" cy="18288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6108192" y="24963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50"/>
          </a:p>
        </p:txBody>
      </p:sp>
      <p:sp>
        <p:nvSpPr>
          <p:cNvPr id="37" name="Text 34"/>
          <p:cNvSpPr/>
          <p:nvPr/>
        </p:nvSpPr>
        <p:spPr>
          <a:xfrm>
            <a:off x="3383280" y="2785938"/>
            <a:ext cx="26755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555759"/>
                </a:solidFill>
                <a:latin typeface="Franklin Gothic Book" panose="020B0503020102020204" pitchFamily="34" charset="0"/>
                <a:ea typeface="Calibri" pitchFamily="34" charset="-122"/>
                <a:cs typeface="Calibri" pitchFamily="34" charset="-120"/>
              </a:rPr>
              <a:t>Mentions rose 33% in August (3,924 vs. 2,956). AI is talking about Wylie more; the next step is getting named in venue answers.</a:t>
            </a:r>
            <a:endParaRPr lang="en-US" sz="900">
              <a:latin typeface="Franklin Gothic Book" panose="020B0503020102020204" pitchFamily="34" charset="0"/>
            </a:endParaRPr>
          </a:p>
        </p:txBody>
      </p:sp>
      <p:sp>
        <p:nvSpPr>
          <p:cNvPr id="38" name="Shape 35"/>
          <p:cNvSpPr/>
          <p:nvPr/>
        </p:nvSpPr>
        <p:spPr>
          <a:xfrm>
            <a:off x="6153912" y="761337"/>
            <a:ext cx="2743200" cy="42519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>
            <a:off x="6126480" y="749808"/>
            <a:ext cx="54864" cy="4251960"/>
          </a:xfrm>
          <a:prstGeom prst="rect">
            <a:avLst/>
          </a:prstGeom>
          <a:solidFill>
            <a:srgbClr val="D51067"/>
          </a:solidFill>
          <a:ln w="12700">
            <a:solidFill>
              <a:srgbClr val="D510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6309360" y="84124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>
                <a:solidFill>
                  <a:srgbClr val="D51067"/>
                </a:solidFill>
                <a:latin typeface="Franklin Gothic Book" panose="020B0503020102020204" pitchFamily="34" charset="0"/>
                <a:ea typeface="Calibri" pitchFamily="34" charset="-122"/>
                <a:cs typeface="Calibri" pitchFamily="34" charset="-120"/>
              </a:rPr>
              <a:t>WHAT AI SAYS ABOUT WYLIE</a:t>
            </a:r>
            <a:endParaRPr lang="en-US" sz="900">
              <a:latin typeface="Franklin Gothic Book" panose="020B0503020102020204" pitchFamily="34" charset="0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6309360" y="111556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2E8B57"/>
                </a:solidFill>
                <a:latin typeface="Franklin Gothic Book" panose="020B0503020102020204" pitchFamily="34" charset="0"/>
                <a:ea typeface="Calibri" pitchFamily="34" charset="-122"/>
                <a:cs typeface="Calibri" pitchFamily="34" charset="-120"/>
              </a:rPr>
              <a:t>✅  STRENGTHS</a:t>
            </a:r>
            <a:endParaRPr lang="en-US" sz="950">
              <a:latin typeface="Franklin Gothic Book" panose="020B0503020102020204" pitchFamily="34" charset="0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6309360" y="1389888"/>
            <a:ext cx="246888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55759"/>
                </a:solidFill>
                <a:latin typeface="Franklin Gothic Book" panose="020B0503020102020204" pitchFamily="34" charset="0"/>
                <a:ea typeface="Calibri" pitchFamily="34" charset="-122"/>
                <a:cs typeface="Calibri" pitchFamily="34" charset="-120"/>
              </a:rPr>
              <a:t>Top topics by sentiment: On-Site Event Amenities (83%), Conference Event Services (83%), Event Venue Rental (81%), Overnight Guest Accommodations (72%), Meeting Room Facilities (68%).</a:t>
            </a:r>
            <a:endParaRPr lang="en-US" sz="950" dirty="0">
              <a:latin typeface="Franklin Gothic Book" panose="020B0503020102020204" pitchFamily="34" charset="0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6309360" y="290779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D4850A"/>
                </a:solidFill>
                <a:latin typeface="Franklin Gothic Book" panose="020B0503020102020204" pitchFamily="34" charset="0"/>
                <a:ea typeface="Calibri" pitchFamily="34" charset="-122"/>
                <a:cs typeface="Calibri" pitchFamily="34" charset="-120"/>
              </a:rPr>
              <a:t>⚠  AREAS TO ADDRESS</a:t>
            </a:r>
            <a:endParaRPr lang="en-US" sz="950">
              <a:latin typeface="Franklin Gothic Book" panose="020B0503020102020204" pitchFamily="34" charset="0"/>
            </a:endParaRPr>
          </a:p>
        </p:txBody>
      </p:sp>
      <p:sp>
        <p:nvSpPr>
          <p:cNvPr id="44" name="Text 41"/>
          <p:cNvSpPr/>
          <p:nvPr/>
        </p:nvSpPr>
        <p:spPr>
          <a:xfrm>
            <a:off x="6309360" y="3182112"/>
            <a:ext cx="246888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55759"/>
                </a:solidFill>
                <a:latin typeface="Franklin Gothic Book" panose="020B0503020102020204" pitchFamily="34" charset="0"/>
                <a:ea typeface="Calibri" pitchFamily="34" charset="-122"/>
                <a:cs typeface="Calibri" pitchFamily="34" charset="-120"/>
              </a:rPr>
              <a:t>Guest rooms perceived as basic/dated</a:t>
            </a:r>
            <a:endParaRPr lang="en-US" sz="950" dirty="0">
              <a:latin typeface="Franklin Gothic Book" panose="020B0503020102020204" pitchFamily="34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55759"/>
                </a:solidFill>
                <a:latin typeface="Franklin Gothic Book" panose="020B0503020102020204" pitchFamily="34" charset="0"/>
                <a:ea typeface="Calibri" pitchFamily="34" charset="-122"/>
                <a:cs typeface="Calibri" pitchFamily="34" charset="-120"/>
              </a:rPr>
              <a:t>Limited dining options on campus</a:t>
            </a:r>
            <a:endParaRPr lang="en-US" sz="950" dirty="0">
              <a:latin typeface="Franklin Gothic Book" panose="020B0503020102020204" pitchFamily="34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55759"/>
                </a:solidFill>
                <a:latin typeface="Franklin Gothic Book" panose="020B0503020102020204" pitchFamily="34" charset="0"/>
                <a:ea typeface="Calibri" pitchFamily="34" charset="-122"/>
                <a:cs typeface="Calibri" pitchFamily="34" charset="-120"/>
              </a:rPr>
              <a:t>Inn side vs. Tupper Manor contrast</a:t>
            </a:r>
            <a:endParaRPr lang="en-US" sz="950" dirty="0">
              <a:latin typeface="Franklin Gothic Book" panose="020B0503020102020204" pitchFamily="34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55759"/>
                </a:solidFill>
                <a:latin typeface="Franklin Gothic Book" panose="020B0503020102020204" pitchFamily="34" charset="0"/>
                <a:ea typeface="Calibri" pitchFamily="34" charset="-122"/>
                <a:cs typeface="Calibri" pitchFamily="34" charset="-120"/>
              </a:rPr>
              <a:t>Inconsistent service quality mentions</a:t>
            </a:r>
            <a:endParaRPr lang="en-US" sz="950" dirty="0">
              <a:latin typeface="Franklin Gothic Book" panose="020B0503020102020204" pitchFamily="34" charset="0"/>
            </a:endParaRPr>
          </a:p>
        </p:txBody>
      </p:sp>
      <p:sp>
        <p:nvSpPr>
          <p:cNvPr id="45" name="Text 42"/>
          <p:cNvSpPr/>
          <p:nvPr/>
        </p:nvSpPr>
        <p:spPr>
          <a:xfrm>
            <a:off x="274320" y="3035808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>
                <a:solidFill>
                  <a:srgbClr val="D51067"/>
                </a:solidFill>
                <a:latin typeface="Franklin Gothic Book" panose="020B0503020102020204" pitchFamily="34" charset="0"/>
                <a:ea typeface="Calibri" pitchFamily="34" charset="-122"/>
                <a:cs typeface="Calibri" pitchFamily="34" charset="-120"/>
              </a:rPr>
              <a:t>TOP AI TOPICS</a:t>
            </a:r>
            <a:endParaRPr lang="en-US" sz="950">
              <a:latin typeface="Franklin Gothic Book" panose="020B0503020102020204" pitchFamily="34" charset="0"/>
            </a:endParaRPr>
          </a:p>
        </p:txBody>
      </p:sp>
      <p:graphicFrame>
        <p:nvGraphicFramePr>
          <p:cNvPr id="46" name="Table 0"/>
          <p:cNvGraphicFramePr>
            <a:graphicFrameLocks noGrp="1"/>
          </p:cNvGraphicFramePr>
          <p:nvPr/>
        </p:nvGraphicFramePr>
        <p:xfrm>
          <a:off x="274320" y="3291840"/>
          <a:ext cx="5669280" cy="146304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Visibility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Mentions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Vol.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Overnight Guest Accommodations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260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2.6K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Meeting Room Facilities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152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2.7K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 Venue Rental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284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2.6K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Conference Event Services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235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2.6K</a:t>
                      </a:r>
                      <a:endParaRPr lang="en-US" sz="9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7" name="Title 46">
            <a:extLst>
              <a:ext uri="{FF2B5EF4-FFF2-40B4-BE49-F238E27FC236}">
                <a16:creationId xmlns:a16="http://schemas.microsoft.com/office/drawing/2014/main" id="{9C684664-6698-9645-38D7-F064CF474D6D}"/>
              </a:ext>
            </a:extLst>
          </p:cNvPr>
          <p:cNvSpPr>
            <a:spLocks noGrp="1"/>
          </p:cNvSpPr>
          <p:nvPr>
            <p:ph type="title"/>
          </p:nvPr>
        </p:nvSpPr>
        <p:spPr>
          <a:pattFill prst="pct20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/>
              <a:t>Brand Perception and Sentiment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28016" y="4510849"/>
            <a:ext cx="1307592" cy="195453"/>
          </a:xfrm>
          <a:prstGeom prst="rect">
            <a:avLst/>
          </a:prstGeom>
          <a:solidFill>
            <a:srgbClr val="D6006E"/>
          </a:solidFill>
          <a:ln>
            <a:solidFill>
              <a:srgbClr val="D60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WHY THIS MATTERS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508760" y="4510849"/>
            <a:ext cx="7498080" cy="195453"/>
          </a:xfrm>
          <a:prstGeom prst="rect">
            <a:avLst/>
          </a:prstGeom>
          <a:solidFill>
            <a:srgbClr val="FDE8F3"/>
          </a:solidFill>
          <a:ln w="6350">
            <a:solidFill>
              <a:srgbClr val="D60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bIns="0" rtlCol="0" anchor="ctr"/>
          <a:lstStyle/>
          <a:p>
            <a:pPr algn="ctr"/>
            <a:r>
              <a:rPr sz="850">
                <a:solidFill>
                  <a:srgbClr val="1C1C1E"/>
                </a:solidFill>
                <a:latin typeface="Calibri"/>
              </a:rPr>
              <a:t>AI speaks warmly about Wylie's event spaces (81-83% positive) but names Wylie in 0% of venue answers. Event content can close that gap.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2103120"/>
            <a:ext cx="9144000" cy="4572"/>
          </a:xfrm>
          <a:prstGeom prst="rect">
            <a:avLst/>
          </a:prstGeom>
          <a:solidFill>
            <a:srgbClr val="B52372"/>
          </a:solidFill>
          <a:ln w="12700">
            <a:solidFill>
              <a:srgbClr val="B523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85800" y="12801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Social Media Performance</a:t>
            </a:r>
            <a:endParaRPr lang="en-US" sz="3600"/>
          </a:p>
        </p:txBody>
      </p:sp>
      <p:sp>
        <p:nvSpPr>
          <p:cNvPr id="5" name="Text 3"/>
          <p:cNvSpPr/>
          <p:nvPr/>
        </p:nvSpPr>
        <p:spPr>
          <a:xfrm>
            <a:off x="685800" y="21488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E7E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|  Meta · Instagram · LinkedIn</a:t>
            </a:r>
            <a:endParaRPr lang="en-US" sz="16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32">
            <a:extLst>
              <a:ext uri="{FF2B5EF4-FFF2-40B4-BE49-F238E27FC236}">
                <a16:creationId xmlns:a16="http://schemas.microsoft.com/office/drawing/2014/main" id="{B0A4F4BD-F968-AEAD-4357-10A2B51F0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838"/>
            <a:ext cx="9144000" cy="492443"/>
          </a:xfrm>
        </p:spPr>
        <p:txBody>
          <a:bodyPr/>
          <a:lstStyle/>
          <a:p>
            <a:r>
              <a:rPr lang="en-US"/>
              <a:t>Social Media</a:t>
            </a:r>
          </a:p>
        </p:txBody>
      </p:sp>
      <p:sp>
        <p:nvSpPr>
          <p:cNvPr id="5" name="Text 3"/>
          <p:cNvSpPr/>
          <p:nvPr/>
        </p:nvSpPr>
        <p:spPr>
          <a:xfrm>
            <a:off x="6583680" y="91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0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/>
                <a:ea typeface="Calibri"/>
                <a:cs typeface="Calibri"/>
              </a:rPr>
              <a:t>Meta · Instagram · LinkedIn  | April/July 2026</a:t>
            </a:r>
          </a:p>
        </p:txBody>
      </p:sp>
      <p:sp>
        <p:nvSpPr>
          <p:cNvPr id="7" name="Shape 4"/>
          <p:cNvSpPr/>
          <p:nvPr/>
        </p:nvSpPr>
        <p:spPr>
          <a:xfrm>
            <a:off x="283464" y="557784"/>
            <a:ext cx="41148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283464" y="557784"/>
            <a:ext cx="54864" cy="3200400"/>
          </a:xfrm>
          <a:prstGeom prst="rect">
            <a:avLst/>
          </a:prstGeom>
          <a:solidFill>
            <a:srgbClr val="B52372"/>
          </a:solidFill>
          <a:ln w="12700">
            <a:solidFill>
              <a:srgbClr val="B523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57200" y="65379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 INSTAGRAM</a:t>
            </a:r>
            <a:endParaRPr lang="en-US" sz="1300"/>
          </a:p>
        </p:txBody>
      </p:sp>
      <p:sp>
        <p:nvSpPr>
          <p:cNvPr id="10" name="Shape 7"/>
          <p:cNvSpPr/>
          <p:nvPr/>
        </p:nvSpPr>
        <p:spPr>
          <a:xfrm>
            <a:off x="402336" y="1003554"/>
            <a:ext cx="3858768" cy="4572"/>
          </a:xfrm>
          <a:prstGeom prst="rect">
            <a:avLst/>
          </a:prstGeom>
          <a:solidFill>
            <a:srgbClr val="E7E1E6"/>
          </a:solidFill>
          <a:ln w="12700">
            <a:solidFill>
              <a:srgbClr val="E7E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57200" y="10744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>
                <a:solidFill>
                  <a:srgbClr val="555759"/>
                </a:solidFill>
                <a:latin typeface="Calibri"/>
                <a:ea typeface="Calibri"/>
                <a:cs typeface="Calibri"/>
              </a:rPr>
              <a:t>Account Views (2-month)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12" name="Text 9"/>
          <p:cNvSpPr/>
          <p:nvPr/>
        </p:nvSpPr>
        <p:spPr>
          <a:xfrm>
            <a:off x="3017520" y="12618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C1C1E"/>
                </a:solidFill>
                <a:latin typeface="Georgia"/>
              </a:rPr>
              <a:t>9.8k</a:t>
            </a:r>
          </a:p>
        </p:txBody>
      </p:sp>
      <p:sp>
        <p:nvSpPr>
          <p:cNvPr id="13" name="Text 10"/>
          <p:cNvSpPr/>
          <p:nvPr/>
        </p:nvSpPr>
        <p:spPr>
          <a:xfrm>
            <a:off x="457200" y="134874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i="1">
              <a:solidFill>
                <a:srgbClr val="2E8B57"/>
              </a:solidFill>
              <a:ea typeface="Calibri"/>
              <a:cs typeface="Calibri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57200" y="17145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Performing Content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017520" y="19019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Reel</a:t>
            </a:r>
            <a:endParaRPr lang="en-US" sz="1400"/>
          </a:p>
        </p:txBody>
      </p:sp>
      <p:sp>
        <p:nvSpPr>
          <p:cNvPr id="16" name="Text 13"/>
          <p:cNvSpPr/>
          <p:nvPr/>
        </p:nvSpPr>
        <p:spPr>
          <a:xfrm>
            <a:off x="457200" y="198882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i="1">
                <a:solidFill>
                  <a:srgbClr val="555759"/>
                </a:solidFill>
                <a:latin typeface="Calibri"/>
                <a:ea typeface="Calibri"/>
                <a:cs typeface="Calibri"/>
              </a:rPr>
              <a:t>Front Yard (Fountain Reel)</a:t>
            </a:r>
            <a:endParaRPr lang="en-US" sz="950" i="1">
              <a:solidFill>
                <a:srgbClr val="555759"/>
              </a:solidFill>
              <a:ea typeface="Calibri"/>
              <a:cs typeface="Calibri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457200" y="241858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555759"/>
                </a:solidFill>
                <a:latin typeface="Calibri"/>
                <a:ea typeface="Calibri"/>
                <a:cs typeface="Calibri"/>
              </a:rPr>
              <a:t>Maximum reach came from a Reel featuring the property recap reel, engagement rate is 717, and with 1,641 views</a:t>
            </a:r>
          </a:p>
        </p:txBody>
      </p:sp>
      <p:sp>
        <p:nvSpPr>
          <p:cNvPr id="18" name="Shape 15"/>
          <p:cNvSpPr/>
          <p:nvPr/>
        </p:nvSpPr>
        <p:spPr>
          <a:xfrm>
            <a:off x="4663440" y="562356"/>
            <a:ext cx="41148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680138" y="571500"/>
            <a:ext cx="54864" cy="3200400"/>
          </a:xfrm>
          <a:prstGeom prst="rect">
            <a:avLst/>
          </a:prstGeom>
          <a:solidFill>
            <a:srgbClr val="D51067"/>
          </a:solidFill>
          <a:ln w="12700">
            <a:solidFill>
              <a:srgbClr val="D510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846320" y="65379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 LINKEDIN</a:t>
            </a:r>
            <a:endParaRPr lang="en-US" sz="1300"/>
          </a:p>
        </p:txBody>
      </p:sp>
      <p:sp>
        <p:nvSpPr>
          <p:cNvPr id="21" name="Shape 18"/>
          <p:cNvSpPr/>
          <p:nvPr/>
        </p:nvSpPr>
        <p:spPr>
          <a:xfrm>
            <a:off x="4791456" y="1003554"/>
            <a:ext cx="3858768" cy="4572"/>
          </a:xfrm>
          <a:prstGeom prst="rect">
            <a:avLst/>
          </a:prstGeom>
          <a:solidFill>
            <a:srgbClr val="E7E1E6"/>
          </a:solidFill>
          <a:ln w="12700">
            <a:solidFill>
              <a:srgbClr val="E7E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846320" y="10744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55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Follower Growth (2-month)</a:t>
            </a:r>
            <a:endParaRPr lang="en-US" sz="1000"/>
          </a:p>
        </p:txBody>
      </p:sp>
      <p:sp>
        <p:nvSpPr>
          <p:cNvPr id="23" name="Text 20"/>
          <p:cNvSpPr/>
          <p:nvPr/>
        </p:nvSpPr>
        <p:spPr>
          <a:xfrm>
            <a:off x="7406640" y="10744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+20%</a:t>
            </a:r>
            <a:endParaRPr lang="en-US" sz="1400"/>
          </a:p>
        </p:txBody>
      </p:sp>
      <p:sp>
        <p:nvSpPr>
          <p:cNvPr id="24" name="Text 21"/>
          <p:cNvSpPr/>
          <p:nvPr/>
        </p:nvSpPr>
        <p:spPr>
          <a:xfrm>
            <a:off x="4846320" y="134874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back on track</a:t>
            </a:r>
            <a:endParaRPr lang="en-US" sz="950"/>
          </a:p>
        </p:txBody>
      </p:sp>
      <p:sp>
        <p:nvSpPr>
          <p:cNvPr id="25" name="Text 22"/>
          <p:cNvSpPr/>
          <p:nvPr/>
        </p:nvSpPr>
        <p:spPr>
          <a:xfrm>
            <a:off x="4846320" y="17145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55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Rate Change</a:t>
            </a:r>
            <a:endParaRPr lang="en-US" sz="1000"/>
          </a:p>
        </p:txBody>
      </p:sp>
      <p:sp>
        <p:nvSpPr>
          <p:cNvPr id="26" name="Text 23"/>
          <p:cNvSpPr/>
          <p:nvPr/>
        </p:nvSpPr>
        <p:spPr>
          <a:xfrm>
            <a:off x="7406640" y="17145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>
                <a:solidFill>
                  <a:srgbClr val="1C1C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+5.6%</a:t>
            </a:r>
            <a:endParaRPr lang="en-US" sz="1400"/>
          </a:p>
        </p:txBody>
      </p:sp>
      <p:sp>
        <p:nvSpPr>
          <p:cNvPr id="27" name="Text 24"/>
          <p:cNvSpPr/>
          <p:nvPr/>
        </p:nvSpPr>
        <p:spPr>
          <a:xfrm>
            <a:off x="4846320" y="198882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traffic from content</a:t>
            </a:r>
            <a:endParaRPr lang="en-US" sz="950"/>
          </a:p>
        </p:txBody>
      </p:sp>
      <p:sp>
        <p:nvSpPr>
          <p:cNvPr id="28" name="Text 25"/>
          <p:cNvSpPr/>
          <p:nvPr/>
        </p:nvSpPr>
        <p:spPr>
          <a:xfrm>
            <a:off x="4846320" y="241858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55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account is gaining momentum. Next focus: relevancy and consistency to attract more targeted corporate and meetings-market traffic.</a:t>
            </a:r>
            <a:endParaRPr lang="en-US" sz="1000"/>
          </a:p>
        </p:txBody>
      </p:sp>
      <p:sp>
        <p:nvSpPr>
          <p:cNvPr id="29" name="Shape 26"/>
          <p:cNvSpPr/>
          <p:nvPr/>
        </p:nvSpPr>
        <p:spPr>
          <a:xfrm>
            <a:off x="274320" y="3881628"/>
            <a:ext cx="8503920" cy="841248"/>
          </a:xfrm>
          <a:prstGeom prst="rect">
            <a:avLst/>
          </a:prstGeom>
          <a:solidFill>
            <a:srgbClr val="FFF0F5"/>
          </a:solidFill>
          <a:ln w="635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274320" y="3881628"/>
            <a:ext cx="54864" cy="841248"/>
          </a:xfrm>
          <a:prstGeom prst="rect">
            <a:avLst/>
          </a:prstGeom>
          <a:solidFill>
            <a:srgbClr val="B52372"/>
          </a:solidFill>
          <a:ln w="12700">
            <a:solidFill>
              <a:srgbClr val="B523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457200" y="397306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B523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CONNECTING SOCIAL TO WEBSITE</a:t>
            </a:r>
            <a:endParaRPr lang="en-US" sz="1000"/>
          </a:p>
        </p:txBody>
      </p:sp>
      <p:sp>
        <p:nvSpPr>
          <p:cNvPr id="32" name="Text 29"/>
          <p:cNvSpPr/>
          <p:nvPr/>
        </p:nvSpPr>
        <p:spPr>
          <a:xfrm>
            <a:off x="457200" y="423824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>
                <a:solidFill>
                  <a:srgbClr val="555759"/>
                </a:solidFill>
                <a:latin typeface="Calibri"/>
                <a:ea typeface="Calibri"/>
                <a:cs typeface="Calibri"/>
              </a:rPr>
              <a:t>Referral traffic to wyliecenter.com grew 100% MOM in last 2 months, a direct signal that AI-driven social discovery is increasing. Organic social drove 35 sessions. Brand awareness from Jawaria's posting cadence is measurably influencing AI-sourced referrals and overall site engagement.</a:t>
            </a:r>
            <a:endParaRPr lang="en-US" sz="95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F5D42-3865-D5C5-076B-13725AF0C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11AAC-BAF3-7049-B532-BB8C0C78F92E}"/>
              </a:ext>
            </a:extLst>
          </p:cNvPr>
          <p:cNvSpPr>
            <a:spLocks noGrp="1"/>
          </p:cNvSpPr>
          <p:nvPr>
            <p:ph type="title"/>
          </p:nvPr>
        </p:nvSpPr>
        <p:spPr>
          <a:pattFill prst="pct50">
            <a:fgClr>
              <a:schemeClr val="bg1"/>
            </a:fgClr>
            <a:bgClr>
              <a:schemeClr val="bg1"/>
            </a:bgClr>
          </a:pattFill>
        </p:spPr>
        <p:txBody>
          <a:bodyPr wrap="square" lIns="0" tIns="0" rIns="0" bIns="0" anchor="t">
            <a:spAutoFit/>
          </a:bodyPr>
          <a:lstStyle/>
          <a:p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/>
              </a:rPr>
              <a:t>Social Channels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584B2D-0456-A726-9EE0-46DCC21ACCB2}"/>
              </a:ext>
            </a:extLst>
          </p:cNvPr>
          <p:cNvSpPr txBox="1"/>
          <p:nvPr/>
        </p:nvSpPr>
        <p:spPr>
          <a:xfrm>
            <a:off x="5943600" y="666750"/>
            <a:ext cx="1981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Franklin Gothic Book" panose="020B0503020102020204" pitchFamily="34" charset="0"/>
              </a:rPr>
              <a:t>LinkedIn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8E24F2-22DD-BBDD-BCB2-5BB28FD4F178}"/>
              </a:ext>
            </a:extLst>
          </p:cNvPr>
          <p:cNvSpPr txBox="1"/>
          <p:nvPr/>
        </p:nvSpPr>
        <p:spPr>
          <a:xfrm>
            <a:off x="534377" y="1023352"/>
            <a:ext cx="1981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Franklin Gothic Book" panose="020B0503020102020204" pitchFamily="34" charset="0"/>
              </a:rPr>
              <a:t>Instagram	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B461C77-0936-982B-952F-7542F0218BC3}"/>
              </a:ext>
            </a:extLst>
          </p:cNvPr>
          <p:cNvSpPr txBox="1"/>
          <p:nvPr/>
        </p:nvSpPr>
        <p:spPr>
          <a:xfrm>
            <a:off x="1828800" y="602462"/>
            <a:ext cx="1981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Franklin Gothic Book" panose="020B0503020102020204" pitchFamily="34" charset="0"/>
              </a:rPr>
              <a:t>Meta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86C971A-4398-0636-63DB-D3EC5D4C09B2}"/>
              </a:ext>
            </a:extLst>
          </p:cNvPr>
          <p:cNvSpPr txBox="1"/>
          <p:nvPr/>
        </p:nvSpPr>
        <p:spPr>
          <a:xfrm>
            <a:off x="2819400" y="1052660"/>
            <a:ext cx="1981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Franklin Gothic Book" panose="020B0503020102020204" pitchFamily="34" charset="0"/>
              </a:rPr>
              <a:t>Facebook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FFAC334-39FD-81FC-5BF7-B06E49AEE7B7}"/>
              </a:ext>
            </a:extLst>
          </p:cNvPr>
          <p:cNvSpPr txBox="1"/>
          <p:nvPr/>
        </p:nvSpPr>
        <p:spPr>
          <a:xfrm>
            <a:off x="421054" y="1535235"/>
            <a:ext cx="4572000" cy="19389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  <a:latin typeface="Franklin Gothic Book"/>
              </a:rPr>
              <a:t>Account Views: </a:t>
            </a:r>
            <a:r>
              <a:rPr lang="en-US" sz="2000" b="1" dirty="0">
                <a:solidFill>
                  <a:srgbClr val="C00000"/>
                </a:solidFill>
                <a:latin typeface="Franklin Gothic Book"/>
              </a:rPr>
              <a:t>3.8k</a:t>
            </a:r>
            <a:endParaRPr lang="en-US" sz="2000" i="1" dirty="0">
              <a:solidFill>
                <a:srgbClr val="C00000"/>
              </a:solidFill>
              <a:latin typeface="Franklin Gothic Book"/>
            </a:endParaRPr>
          </a:p>
          <a:p>
            <a:r>
              <a:rPr lang="en-US" sz="2000" b="1" dirty="0">
                <a:solidFill>
                  <a:srgbClr val="002060"/>
                </a:solidFill>
                <a:latin typeface="Franklin Gothic Book"/>
              </a:rPr>
              <a:t>Profile Activity: </a:t>
            </a:r>
            <a:r>
              <a:rPr lang="en-US" sz="2000" dirty="0">
                <a:solidFill>
                  <a:srgbClr val="C00000"/>
                </a:solidFill>
                <a:latin typeface="Franklin Gothic Book"/>
              </a:rPr>
              <a:t>19%</a:t>
            </a:r>
            <a:r>
              <a:rPr lang="en-US" sz="2000" b="1" dirty="0">
                <a:solidFill>
                  <a:srgbClr val="C00000"/>
                </a:solidFill>
                <a:latin typeface="Franklin Gothic Book"/>
              </a:rPr>
              <a:t> </a:t>
            </a:r>
            <a:endParaRPr lang="en-US" sz="2000" b="1" i="1" dirty="0">
              <a:solidFill>
                <a:srgbClr val="C00000"/>
              </a:solidFill>
              <a:latin typeface="Franklin Gothic Book" panose="020B0503020102020204" pitchFamily="34" charset="0"/>
            </a:endParaRPr>
          </a:p>
          <a:p>
            <a:endParaRPr lang="en-US" sz="2000" i="1" dirty="0">
              <a:solidFill>
                <a:srgbClr val="C00000"/>
              </a:solidFill>
              <a:latin typeface="Franklin Gothic Book" panose="020B0503020102020204" pitchFamily="34" charset="0"/>
              <a:ea typeface="Calibri"/>
              <a:cs typeface="Calibri"/>
            </a:endParaRPr>
          </a:p>
          <a:p>
            <a:endParaRPr lang="en-US" sz="2000" dirty="0">
              <a:solidFill>
                <a:srgbClr val="002060"/>
              </a:solidFill>
              <a:latin typeface="Franklin Gothic Book" panose="020B0503020102020204" pitchFamily="34" charset="0"/>
            </a:endParaRPr>
          </a:p>
          <a:p>
            <a:r>
              <a:rPr lang="en-US" sz="2000" b="1" dirty="0">
                <a:solidFill>
                  <a:srgbClr val="002060"/>
                </a:solidFill>
                <a:latin typeface="Franklin Gothic Book"/>
              </a:rPr>
              <a:t>Maximum Reach/Trendy</a:t>
            </a:r>
            <a:r>
              <a:rPr lang="en-US" sz="2000" dirty="0">
                <a:solidFill>
                  <a:srgbClr val="002060"/>
                </a:solidFill>
                <a:latin typeface="Franklin Gothic Book"/>
              </a:rPr>
              <a:t>:  </a:t>
            </a:r>
            <a:endParaRPr lang="en-US" sz="2000" i="1" dirty="0">
              <a:solidFill>
                <a:srgbClr val="C00000"/>
              </a:solidFill>
              <a:latin typeface="Franklin Gothic Book"/>
              <a:ea typeface="Calibri"/>
              <a:cs typeface="Calibri"/>
            </a:endParaRPr>
          </a:p>
          <a:p>
            <a:r>
              <a:rPr lang="en-US" sz="2000" b="1" i="1" dirty="0">
                <a:latin typeface="Franklin Gothic Book"/>
                <a:ea typeface="Calibri"/>
                <a:cs typeface="Calibri"/>
              </a:rPr>
              <a:t>Last 60 days:</a:t>
            </a:r>
            <a:r>
              <a:rPr lang="en-US" sz="2000" i="1" dirty="0">
                <a:solidFill>
                  <a:srgbClr val="C00000"/>
                </a:solidFill>
                <a:latin typeface="Franklin Gothic Book"/>
                <a:ea typeface="Calibri"/>
                <a:cs typeface="Calibri"/>
              </a:rPr>
              <a:t>  1.6k</a:t>
            </a:r>
            <a:endParaRPr lang="en-US" sz="2000" i="1" dirty="0">
              <a:solidFill>
                <a:srgbClr val="C00000"/>
              </a:solidFill>
              <a:latin typeface="Franklin Gothic Book" panose="020B0503020102020204" pitchFamily="34" charset="0"/>
              <a:ea typeface="Calibri"/>
              <a:cs typeface="Calibri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72D6026-0A34-44C1-ADA4-F203841108A1}"/>
              </a:ext>
            </a:extLst>
          </p:cNvPr>
          <p:cNvSpPr txBox="1"/>
          <p:nvPr/>
        </p:nvSpPr>
        <p:spPr>
          <a:xfrm>
            <a:off x="5964307" y="1477785"/>
            <a:ext cx="3181350" cy="160043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  <a:latin typeface="Franklin Gothic Book"/>
              </a:rPr>
              <a:t>Page View:</a:t>
            </a:r>
            <a:r>
              <a:rPr lang="en-US" sz="2000" dirty="0">
                <a:solidFill>
                  <a:srgbClr val="002060"/>
                </a:solidFill>
                <a:latin typeface="Franklin Gothic Book"/>
              </a:rPr>
              <a:t> </a:t>
            </a:r>
            <a:r>
              <a:rPr lang="en-US" sz="2000" dirty="0">
                <a:solidFill>
                  <a:srgbClr val="C00000"/>
                </a:solidFill>
                <a:latin typeface="Franklin Gothic Book"/>
              </a:rPr>
              <a:t>16%+</a:t>
            </a:r>
            <a:endParaRPr lang="en-US" sz="2000" dirty="0">
              <a:solidFill>
                <a:srgbClr val="C00000"/>
              </a:solidFill>
              <a:latin typeface="Franklin Gothic Book" panose="020B0503020102020204" pitchFamily="34" charset="0"/>
            </a:endParaRPr>
          </a:p>
          <a:p>
            <a:r>
              <a:rPr lang="en-US" b="1" dirty="0">
                <a:solidFill>
                  <a:srgbClr val="002060"/>
                </a:solidFill>
                <a:latin typeface="Franklin Gothic Book"/>
                <a:ea typeface="Calibri"/>
                <a:cs typeface="Calibri"/>
              </a:rPr>
              <a:t>Search appearances: </a:t>
            </a:r>
            <a:r>
              <a:rPr lang="en-US" dirty="0">
                <a:solidFill>
                  <a:srgbClr val="002060"/>
                </a:solidFill>
                <a:latin typeface="Franklin Gothic Book"/>
                <a:ea typeface="Calibri"/>
                <a:cs typeface="Calibri"/>
              </a:rPr>
              <a:t> </a:t>
            </a:r>
            <a:r>
              <a:rPr lang="en-US" dirty="0">
                <a:solidFill>
                  <a:srgbClr val="C00000"/>
                </a:solidFill>
                <a:latin typeface="Franklin Gothic Book"/>
                <a:ea typeface="Calibri"/>
                <a:cs typeface="Calibri"/>
              </a:rPr>
              <a:t>31%+</a:t>
            </a:r>
          </a:p>
          <a:p>
            <a:endParaRPr lang="en-US" sz="2000" dirty="0">
              <a:solidFill>
                <a:srgbClr val="002060"/>
              </a:solidFill>
              <a:latin typeface="Franklin Gothic Book" panose="020B0503020102020204" pitchFamily="34" charset="0"/>
            </a:endParaRPr>
          </a:p>
          <a:p>
            <a:r>
              <a:rPr lang="en-US" sz="2000" b="1" dirty="0">
                <a:solidFill>
                  <a:srgbClr val="002060"/>
                </a:solidFill>
                <a:latin typeface="Franklin Gothic Book"/>
              </a:rPr>
              <a:t>Engagement rate:</a:t>
            </a:r>
            <a:r>
              <a:rPr lang="en-US" sz="2000" dirty="0">
                <a:solidFill>
                  <a:srgbClr val="002060"/>
                </a:solidFill>
                <a:latin typeface="Franklin Gothic Book"/>
              </a:rPr>
              <a:t> </a:t>
            </a:r>
            <a:r>
              <a:rPr lang="en-US" sz="2000" dirty="0">
                <a:solidFill>
                  <a:srgbClr val="C00000"/>
                </a:solidFill>
                <a:latin typeface="Franklin Gothic Book"/>
              </a:rPr>
              <a:t>2.1%+</a:t>
            </a:r>
            <a:endParaRPr lang="en-US" sz="2000" dirty="0">
              <a:solidFill>
                <a:srgbClr val="C00000"/>
              </a:solidFill>
              <a:latin typeface="Franklin Gothic Book"/>
              <a:ea typeface="Calibri"/>
              <a:cs typeface="Calibri"/>
            </a:endParaRPr>
          </a:p>
          <a:p>
            <a:endParaRPr lang="en-US" sz="2000" dirty="0">
              <a:solidFill>
                <a:srgbClr val="002060"/>
              </a:solidFill>
              <a:latin typeface="Franklin Gothic Book"/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30710F-E462-D8B0-E3C0-A827361863EF}"/>
              </a:ext>
            </a:extLst>
          </p:cNvPr>
          <p:cNvSpPr txBox="1"/>
          <p:nvPr/>
        </p:nvSpPr>
        <p:spPr>
          <a:xfrm>
            <a:off x="4204447" y="3333686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597169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AB383-5A78-CE2B-A7EF-3A63EA35C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5D864-E6EE-A2E3-84F7-CC5E6E6B1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t">
            <a:spAutoFit/>
          </a:bodyPr>
          <a:lstStyle/>
          <a:p>
            <a:pPr algn="ctr"/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/>
              </a:rPr>
              <a:t>Insights</a:t>
            </a:r>
            <a:r>
              <a:rPr lang="en-US" b="1">
                <a:solidFill>
                  <a:schemeClr val="tx1">
                    <a:lumMod val="95000"/>
                    <a:lumOff val="5000"/>
                  </a:schemeClr>
                </a:solidFill>
                <a:latin typeface="Franklin Gothic Book"/>
              </a:rPr>
              <a:t> </a:t>
            </a:r>
            <a:endParaRPr lang="en-US" b="1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4E7CB0-346B-19E8-A74E-F4044476CE7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058" y="1090504"/>
            <a:ext cx="3503863" cy="229272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5CAAF46-3EED-60C8-1DB0-2D6EDF9A91E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6421" y="1090504"/>
            <a:ext cx="3538960" cy="2292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6093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49955-5DC8-5ED2-65F2-0C8CBC173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t">
            <a:spAutoFit/>
          </a:bodyPr>
          <a:lstStyle/>
          <a:p>
            <a:pPr algn="ctr"/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/>
              </a:rPr>
              <a:t>Insights</a:t>
            </a:r>
            <a:r>
              <a:rPr lang="en-US" b="1">
                <a:solidFill>
                  <a:schemeClr val="tx1">
                    <a:lumMod val="95000"/>
                    <a:lumOff val="5000"/>
                  </a:schemeClr>
                </a:solidFill>
                <a:latin typeface="Franklin Gothic Book"/>
              </a:rPr>
              <a:t> </a:t>
            </a:r>
            <a:endParaRPr lang="en-US" b="1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9C053F-7D39-7896-581C-ED9A33A0996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428" y="1156705"/>
            <a:ext cx="4100846" cy="283008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BB10734-C46A-5DA0-D98C-16E1FCDB029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8201" y="1156705"/>
            <a:ext cx="4100847" cy="2830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5536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52023-9F88-8A2C-DDB6-D37531382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t">
            <a:spAutoFit/>
          </a:bodyPr>
          <a:lstStyle/>
          <a:p>
            <a:r>
              <a:rPr lang="en-US">
                <a:latin typeface="Franklin Gothic Book"/>
              </a:rPr>
              <a:t>Insights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47A4FC-3416-6519-E10B-624850A0630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291" y="662010"/>
            <a:ext cx="3285220" cy="19396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641476B-C0F8-352F-4AEE-9AB2B3CD2BE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1071" y="829839"/>
            <a:ext cx="3797569" cy="348382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0DDAE41-50EA-D5EA-3B33-3DD3C2CB421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291" y="2771190"/>
            <a:ext cx="3285220" cy="198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2320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0B624-4642-043B-2FCE-AC3BD0716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Insights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DA1F8B-D702-A53C-7010-0EAD1392FE3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808" y="707522"/>
            <a:ext cx="3308648" cy="261686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4E905AF-781F-6C9F-27A8-A2D6F22A5EC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4456" y="707522"/>
            <a:ext cx="3187518" cy="261686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FF65218-1A4F-6343-9CBD-13E6A57B0C5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808" y="3324382"/>
            <a:ext cx="6496166" cy="1174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5046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20040" y="182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  <a:ea typeface="Calibri" pitchFamily="34" charset="-122"/>
                <a:cs typeface="Calibri" pitchFamily="34" charset="-120"/>
              </a:rPr>
              <a:t>ACTION ITEMS &amp; NEXT STEPS</a:t>
            </a:r>
            <a:endParaRPr lang="en-US" sz="2000">
              <a:solidFill>
                <a:schemeClr val="tx1">
                  <a:lumMod val="75000"/>
                  <a:lumOff val="25000"/>
                </a:schemeClr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274320" y="685800"/>
            <a:ext cx="416052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274320" y="685800"/>
            <a:ext cx="54864" cy="19202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38912" y="7772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C1C1E"/>
                </a:solidFill>
                <a:latin typeface="Franklin Gothic Book" panose="020B0503020102020204" pitchFamily="34" charset="0"/>
                <a:ea typeface="Calibri" pitchFamily="34" charset="-122"/>
                <a:cs typeface="Calibri" pitchFamily="34" charset="-120"/>
              </a:rPr>
              <a:t>Proposal</a:t>
            </a:r>
            <a:endParaRPr lang="en-US" sz="1200">
              <a:latin typeface="Franklin Gothic Book" panose="020B0503020102020204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3200400" y="804672"/>
            <a:ext cx="1051560" cy="2377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>
              <a:latin typeface="Franklin Gothic Book" panose="020B05030201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218688" y="81381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2026–2027</a:t>
            </a:r>
            <a:endParaRPr lang="en-US" sz="750"/>
          </a:p>
        </p:txBody>
      </p:sp>
      <p:sp>
        <p:nvSpPr>
          <p:cNvPr id="10" name="Text 7"/>
          <p:cNvSpPr/>
          <p:nvPr/>
        </p:nvSpPr>
        <p:spPr>
          <a:xfrm>
            <a:off x="438912" y="114300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>
                <a:solidFill>
                  <a:srgbClr val="555759"/>
                </a:solidFill>
                <a:latin typeface="Franklin Gothic Book" panose="020B0503020102020204" pitchFamily="34" charset="0"/>
                <a:ea typeface="Calibri" pitchFamily="34" charset="-122"/>
                <a:cs typeface="Calibri" pitchFamily="34" charset="-120"/>
              </a:rPr>
              <a:t>Renew and expand the Kate Burda &amp; Co. engagement for 2026–2027 marketing and revenue management services.</a:t>
            </a:r>
            <a:endParaRPr lang="en-US" sz="950">
              <a:latin typeface="Franklin Gothic Book" panose="020B0503020102020204" pitchFamily="34" charset="0"/>
            </a:endParaRPr>
          </a:p>
          <a:p>
            <a:pPr marL="342900" indent="-342900">
              <a:buSzPct val="100000"/>
              <a:buChar char="•"/>
            </a:pPr>
            <a:endParaRPr lang="en-US" sz="950">
              <a:latin typeface="Franklin Gothic Book" panose="020B0503020102020204" pitchFamily="34" charset="0"/>
            </a:endParaRPr>
          </a:p>
          <a:p>
            <a:pPr marL="342900" indent="-342900">
              <a:buSzPct val="100000"/>
              <a:buChar char="•"/>
            </a:pPr>
            <a:endParaRPr lang="en-US" sz="950">
              <a:latin typeface="Franklin Gothic Book" panose="020B0503020102020204" pitchFamily="34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4754880" y="685800"/>
            <a:ext cx="416052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754880" y="685800"/>
            <a:ext cx="54864" cy="1920240"/>
          </a:xfrm>
          <a:prstGeom prst="rect">
            <a:avLst/>
          </a:prstGeom>
          <a:solidFill>
            <a:srgbClr val="D4850A"/>
          </a:solidFill>
          <a:ln w="12700">
            <a:solidFill>
              <a:srgbClr val="D485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919472" y="7772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C1C1E"/>
                </a:solidFill>
                <a:latin typeface="Franklin Gothic Book" panose="020B0503020102020204" pitchFamily="34" charset="0"/>
                <a:ea typeface="Calibri" pitchFamily="34" charset="-122"/>
                <a:cs typeface="Calibri" pitchFamily="34" charset="-120"/>
              </a:rPr>
              <a:t>GBP Profile Optimization</a:t>
            </a:r>
            <a:endParaRPr lang="en-US" sz="1200">
              <a:latin typeface="Franklin Gothic Book" panose="020B0503020102020204" pitchFamily="3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7680960" y="804672"/>
            <a:ext cx="1051560" cy="237744"/>
          </a:xfrm>
          <a:prstGeom prst="rect">
            <a:avLst/>
          </a:prstGeom>
          <a:solidFill>
            <a:srgbClr val="D4850A"/>
          </a:solidFill>
          <a:ln w="12700">
            <a:solidFill>
              <a:srgbClr val="D485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699248" y="81381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Franklin Gothic Book" panose="020B0503020102020204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750">
              <a:latin typeface="Franklin Gothic Book" panose="020B0503020102020204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4919472" y="114300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>
                <a:solidFill>
                  <a:srgbClr val="555759"/>
                </a:solidFill>
                <a:latin typeface="Franklin Gothic Book" panose="020B0503020102020204" pitchFamily="34" charset="0"/>
                <a:ea typeface="Calibri" pitchFamily="34" charset="-122"/>
                <a:cs typeface="Calibri" pitchFamily="34" charset="-120"/>
              </a:rPr>
              <a:t>11 pending tasks flagged in Search Atlas: add business description, open hours, services, photos (min 50), and social media link. Profile is only 38% complete, and each gap lowers local search rank.</a:t>
            </a:r>
            <a:endParaRPr lang="en-US" sz="950">
              <a:latin typeface="Franklin Gothic Book" panose="020B0503020102020204" pitchFamily="34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274320" y="2788920"/>
            <a:ext cx="416052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274320" y="2788920"/>
            <a:ext cx="54864" cy="192024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38912" y="28803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C1C1E"/>
                </a:solidFill>
                <a:latin typeface="Franklin Gothic Book" panose="020B0503020102020204" pitchFamily="34" charset="0"/>
                <a:ea typeface="Calibri" pitchFamily="34" charset="-122"/>
                <a:cs typeface="Calibri" pitchFamily="34" charset="-120"/>
              </a:rPr>
              <a:t>Review Responses + AI Visibility</a:t>
            </a:r>
            <a:endParaRPr lang="en-US" sz="1200">
              <a:latin typeface="Franklin Gothic Book" panose="020B0503020102020204" pitchFamily="34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3200400" y="2907792"/>
            <a:ext cx="1051560" cy="237744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US">
              <a:latin typeface="Franklin Gothic Book" panose="020B0503020102020204" pitchFamily="34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3218688" y="291693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</a:t>
            </a:r>
            <a:endParaRPr lang="en-US" sz="750"/>
          </a:p>
        </p:txBody>
      </p:sp>
      <p:sp>
        <p:nvSpPr>
          <p:cNvPr id="22" name="Text 19"/>
          <p:cNvSpPr/>
          <p:nvPr/>
        </p:nvSpPr>
        <p:spPr>
          <a:xfrm>
            <a:off x="438912" y="324612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>
                <a:solidFill>
                  <a:srgbClr val="555759"/>
                </a:solidFill>
                <a:latin typeface="Franklin Gothic Book" panose="020B0503020102020204" pitchFamily="34" charset="0"/>
                <a:ea typeface="Calibri" pitchFamily="34" charset="-122"/>
                <a:cs typeface="Calibri" pitchFamily="34" charset="-120"/>
              </a:rPr>
              <a:t>196 Google reviews unanswered (52% reply rate). Responding to reviews directly improves local rank and AI sentiment scores. Enable automated review reply in Search Atlas to close the gap.</a:t>
            </a:r>
            <a:endParaRPr lang="en-US" sz="950">
              <a:latin typeface="Franklin Gothic Book" panose="020B0503020102020204" pitchFamily="34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4754880" y="2788920"/>
            <a:ext cx="416052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4754880" y="2788920"/>
            <a:ext cx="54864" cy="1920240"/>
          </a:xfrm>
          <a:prstGeom prst="rect">
            <a:avLst/>
          </a:prstGeom>
          <a:solidFill>
            <a:srgbClr val="B52372"/>
          </a:solidFill>
          <a:ln w="12700">
            <a:solidFill>
              <a:srgbClr val="B523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919472" y="28803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C1C1E"/>
                </a:solidFill>
                <a:latin typeface="Franklin Gothic Book" panose="020B0503020102020204" pitchFamily="34" charset="0"/>
                <a:ea typeface="Calibri" pitchFamily="34" charset="-122"/>
                <a:cs typeface="Calibri" pitchFamily="34" charset="-120"/>
              </a:rPr>
              <a:t>Non-Branded Content &amp; SEO</a:t>
            </a:r>
            <a:endParaRPr lang="en-US" sz="1200">
              <a:latin typeface="Franklin Gothic Book" panose="020B0503020102020204" pitchFamily="34" charset="0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7680960" y="2907792"/>
            <a:ext cx="1051560" cy="237744"/>
          </a:xfrm>
          <a:prstGeom prst="rect">
            <a:avLst/>
          </a:prstGeom>
          <a:solidFill>
            <a:srgbClr val="B52372"/>
          </a:solidFill>
          <a:ln w="12700">
            <a:solidFill>
              <a:srgbClr val="B523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7699248" y="291693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FFFFFF"/>
                </a:solidFill>
                <a:latin typeface="Franklin Gothic Book" panose="020B0503020102020204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750">
              <a:latin typeface="Franklin Gothic Book" panose="020B0503020102020204" pitchFamily="34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4919472" y="324612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>
                <a:solidFill>
                  <a:srgbClr val="555759"/>
                </a:solidFill>
                <a:latin typeface="Franklin Gothic Book" panose="020B0503020102020204" pitchFamily="34" charset="0"/>
                <a:ea typeface="Calibri" pitchFamily="34" charset="-122"/>
                <a:cs typeface="Calibri" pitchFamily="34" charset="-120"/>
              </a:rPr>
              <a:t>Content score is 33/100. 96% of search traffic is branded, so non-branded search is the growth lever. Priority keyword with no current ranking: 'conference venue North Shore MA' (200+ searches/mo). WordPress access needed to build content.</a:t>
            </a:r>
            <a:endParaRPr lang="en-US" sz="950"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02920" y="2743200"/>
            <a:ext cx="8641080" cy="36576"/>
          </a:xfrm>
          <a:prstGeom prst="rect">
            <a:avLst/>
          </a:prstGeom>
          <a:solidFill>
            <a:srgbClr val="B52372"/>
          </a:solidFill>
          <a:ln w="12700">
            <a:solidFill>
              <a:srgbClr val="B5237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77240" y="10972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>
                <a:solidFill>
                  <a:schemeClr val="tx1">
                    <a:lumMod val="75000"/>
                    <a:lumOff val="25000"/>
                  </a:schemeClr>
                </a:solidFill>
                <a:latin typeface="Franklin Gothic Book" panose="020B0503020102020204" pitchFamily="34" charset="0"/>
                <a:ea typeface="Georgia" pitchFamily="34" charset="-122"/>
                <a:cs typeface="Georgia" pitchFamily="34" charset="-120"/>
              </a:rPr>
              <a:t>Thank you.</a:t>
            </a:r>
            <a:endParaRPr lang="en-US" sz="5400">
              <a:solidFill>
                <a:schemeClr val="tx1">
                  <a:lumMod val="75000"/>
                  <a:lumOff val="25000"/>
                </a:schemeClr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77240" y="43434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888888"/>
                </a:solidFill>
                <a:latin typeface="Franklin Gothic Book" panose="020B0503020102020204" pitchFamily="34" charset="0"/>
                <a:ea typeface="Calibri" pitchFamily="34" charset="-122"/>
                <a:cs typeface="Calibri" pitchFamily="34" charset="-120"/>
              </a:rPr>
              <a:t>Prepared by Kate Burda &amp; Co.  |  CHM Warnick</a:t>
            </a:r>
            <a:endParaRPr lang="en-US" sz="1000"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2"/>
          <p:cNvSpPr/>
          <p:nvPr/>
        </p:nvSpPr>
        <p:spPr>
          <a:xfrm>
            <a:off x="320040" y="1828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WE GIVE UP TRANSIENT RATE?</a:t>
            </a:r>
            <a:endParaRPr lang="en-US" sz="2000"/>
          </a:p>
        </p:txBody>
      </p:sp>
      <p:sp>
        <p:nvSpPr>
          <p:cNvPr id="5" name="Text 3"/>
          <p:cNvSpPr/>
          <p:nvPr/>
        </p:nvSpPr>
        <p:spPr>
          <a:xfrm>
            <a:off x="6035040" y="91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E7E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2026  |  STR segmentation</a:t>
            </a:r>
            <a:endParaRPr lang="en-US" sz="1000"/>
          </a:p>
        </p:txBody>
      </p:sp>
      <p:sp>
        <p:nvSpPr>
          <p:cNvPr id="48" name="Title 47">
            <a:extLst>
              <a:ext uri="{FF2B5EF4-FFF2-40B4-BE49-F238E27FC236}">
                <a16:creationId xmlns:a16="http://schemas.microsoft.com/office/drawing/2014/main" id="{1F32B8BF-2376-B47D-2FAB-3A2307D6416D}"/>
              </a:ext>
            </a:extLst>
          </p:cNvPr>
          <p:cNvSpPr>
            <a:spLocks noGrp="1"/>
          </p:cNvSpPr>
          <p:nvPr>
            <p:ph type="title"/>
          </p:nvPr>
        </p:nvSpPr>
        <p:spPr>
          <a:pattFill prst="pct20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/>
              <a:t>Transient Rate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28016" y="4510849"/>
            <a:ext cx="1307592" cy="195453"/>
          </a:xfrm>
          <a:prstGeom prst="rect">
            <a:avLst/>
          </a:prstGeom>
          <a:solidFill>
            <a:srgbClr val="D6006E"/>
          </a:solidFill>
          <a:ln>
            <a:solidFill>
              <a:srgbClr val="D60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WHY THIS MATTERS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508760" y="4510849"/>
            <a:ext cx="7498080" cy="195453"/>
          </a:xfrm>
          <a:prstGeom prst="rect">
            <a:avLst/>
          </a:prstGeom>
          <a:solidFill>
            <a:srgbClr val="FDE8F3"/>
          </a:solidFill>
          <a:ln w="6350">
            <a:solidFill>
              <a:srgbClr val="D60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bIns="0" rtlCol="0" anchor="ctr"/>
          <a:lstStyle/>
          <a:p>
            <a:pPr algn="ctr"/>
            <a:r>
              <a:rPr sz="850">
                <a:solidFill>
                  <a:srgbClr val="1C1C1E"/>
                </a:solidFill>
                <a:latin typeface="Calibri"/>
              </a:rPr>
              <a:t>Group pays about $40 more a night than transient ($217 vs. $177). Shifting the mix to group raised both rate and revenue.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74320" y="603504"/>
            <a:ext cx="85953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52372"/>
                </a:solidFill>
                <a:latin typeface="Franklin Gothic Book"/>
              </a:rPr>
              <a:t>No. </a:t>
            </a:r>
            <a:r>
              <a:rPr sz="1200" b="0" i="0">
                <a:solidFill>
                  <a:srgbClr val="1C1C1E"/>
                </a:solidFill>
                <a:latin typeface="Franklin Gothic Book"/>
              </a:rPr>
              <a:t>Transient rate held while the comp set cut rate. What we traded was transient volume, and group took those rooms at a higher rate.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" y="1024128"/>
            <a:ext cx="3977639" cy="3310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7200" y="1115568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D51067"/>
                </a:solidFill>
                <a:latin typeface="Franklin Gothic Book"/>
              </a:rPr>
              <a:t>ADR CHANGE VS. LAST YEAR</a:t>
            </a:r>
          </a:p>
        </p:txBody>
      </p:sp>
      <p:graphicFrame>
        <p:nvGraphicFramePr>
          <p:cNvPr id="63" name="Chart 62"/>
          <p:cNvGraphicFramePr>
            <a:graphicFrameLocks noGrp="1"/>
          </p:cNvGraphicFramePr>
          <p:nvPr/>
        </p:nvGraphicFramePr>
        <p:xfrm>
          <a:off x="365760" y="1371600"/>
          <a:ext cx="3794760" cy="2880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4" name="Rectangle 63"/>
          <p:cNvSpPr/>
          <p:nvPr/>
        </p:nvSpPr>
        <p:spPr>
          <a:xfrm>
            <a:off x="4434840" y="1024128"/>
            <a:ext cx="4434840" cy="3310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617720" y="1115568"/>
            <a:ext cx="4114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D51067"/>
                </a:solidFill>
                <a:latin typeface="Franklin Gothic Book"/>
              </a:rPr>
              <a:t>AUGUST BY SEGMENT  (WYLIE VS. COMP SET)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572000" y="1389888"/>
            <a:ext cx="4160520" cy="9144"/>
          </a:xfrm>
          <a:prstGeom prst="rect">
            <a:avLst/>
          </a:prstGeom>
          <a:solidFill>
            <a:srgbClr val="E7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617720" y="1444752"/>
            <a:ext cx="960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55575A"/>
                </a:solidFill>
                <a:latin typeface="Franklin Gothic Book"/>
              </a:rPr>
              <a:t>TRANSIENT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617720" y="1645920"/>
            <a:ext cx="1143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C1C1E"/>
                </a:solidFill>
                <a:latin typeface="Franklin Gothic Book"/>
              </a:rPr>
              <a:t>$177.30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806440" y="144475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B52372"/>
                </a:solidFill>
                <a:latin typeface="Franklin Gothic Book"/>
              </a:rPr>
              <a:t>-1.2% ADR  </a:t>
            </a:r>
            <a:r>
              <a:rPr sz="950" b="0" i="0">
                <a:solidFill>
                  <a:srgbClr val="888888"/>
                </a:solidFill>
                <a:latin typeface="Franklin Gothic Book"/>
              </a:rPr>
              <a:t>vs. $187.80 (-6.6%)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806440" y="1664208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C1C1E"/>
                </a:solidFill>
                <a:latin typeface="Franklin Gothic Book"/>
              </a:rPr>
              <a:t>ARI 94.4, up 5.8%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806440" y="1883664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5575A"/>
                </a:solidFill>
                <a:latin typeface="Franklin Gothic Book"/>
              </a:rPr>
              <a:t>Occ 37.3% vs. 66.8%: rooms went to group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572000" y="2331720"/>
            <a:ext cx="4160520" cy="9144"/>
          </a:xfrm>
          <a:prstGeom prst="rect">
            <a:avLst/>
          </a:prstGeom>
          <a:solidFill>
            <a:srgbClr val="E7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617720" y="2386584"/>
            <a:ext cx="960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55575A"/>
                </a:solidFill>
                <a:latin typeface="Franklin Gothic Book"/>
              </a:rPr>
              <a:t>GROUP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617720" y="2587752"/>
            <a:ext cx="1143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C1C1E"/>
                </a:solidFill>
                <a:latin typeface="Franklin Gothic Book"/>
              </a:rPr>
              <a:t>$216.70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806440" y="2386584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B52372"/>
                </a:solidFill>
                <a:latin typeface="Franklin Gothic Book"/>
              </a:rPr>
              <a:t>+1.4% ADR  </a:t>
            </a:r>
            <a:r>
              <a:rPr sz="950" b="0" i="0">
                <a:solidFill>
                  <a:srgbClr val="888888"/>
                </a:solidFill>
                <a:latin typeface="Franklin Gothic Book"/>
              </a:rPr>
              <a:t>vs. $209.50 (-1.1%)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806440" y="2606039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C1C1E"/>
                </a:solidFill>
                <a:latin typeface="Franklin Gothic Book"/>
              </a:rPr>
              <a:t>ARI 103.4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806440" y="282549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5575A"/>
                </a:solidFill>
                <a:latin typeface="Franklin Gothic Book"/>
              </a:rPr>
              <a:t>Occ 43.9% vs. 11.3%: ~1,240 group room nights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572000" y="3273552"/>
            <a:ext cx="4160520" cy="9144"/>
          </a:xfrm>
          <a:prstGeom prst="rect">
            <a:avLst/>
          </a:prstGeom>
          <a:solidFill>
            <a:srgbClr val="E7E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617720" y="3328416"/>
            <a:ext cx="960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55575A"/>
                </a:solidFill>
                <a:latin typeface="Franklin Gothic Book"/>
              </a:rPr>
              <a:t>TOTAL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617720" y="3529584"/>
            <a:ext cx="1143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C1C1E"/>
                </a:solidFill>
                <a:latin typeface="Franklin Gothic Book"/>
              </a:rPr>
              <a:t>$198.60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806440" y="3328416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B52372"/>
                </a:solidFill>
                <a:latin typeface="Franklin Gothic Book"/>
              </a:rPr>
              <a:t>+1.9% ADR  </a:t>
            </a:r>
            <a:r>
              <a:rPr sz="950" b="0" i="0">
                <a:solidFill>
                  <a:srgbClr val="888888"/>
                </a:solidFill>
                <a:latin typeface="Franklin Gothic Book"/>
              </a:rPr>
              <a:t>vs. $190.90 (-6.6%)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806440" y="3547872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1C1C1E"/>
                </a:solidFill>
                <a:latin typeface="Franklin Gothic Book"/>
              </a:rPr>
              <a:t>RevPAR index 108.2, up 17.4%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806440" y="3767328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5575A"/>
                </a:solidFill>
                <a:latin typeface="Franklin Gothic Book"/>
              </a:rPr>
              <a:t>Occ 81.2%, up 11.0%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74320" y="4370832"/>
            <a:ext cx="859536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55575A"/>
                </a:solidFill>
                <a:latin typeface="Franklin Gothic Book"/>
              </a:rPr>
              <a:t>Fiscal YTD (Jul–Aug): transient ADR $172.40 (+0.2%) vs. comp $188.40 (-4.7%). ARI 91.5, up 5.1%: still under 100, but closing.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2"/>
          <p:cNvSpPr/>
          <p:nvPr/>
        </p:nvSpPr>
        <p:spPr>
          <a:xfrm>
            <a:off x="320040" y="1828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EXPEDIA: MORE VOLUME, RATE HELD IN PEAK</a:t>
            </a:r>
            <a:endParaRPr lang="en-US" sz="2000"/>
          </a:p>
        </p:txBody>
      </p:sp>
      <p:sp>
        <p:nvSpPr>
          <p:cNvPr id="5" name="Text 3"/>
          <p:cNvSpPr/>
          <p:nvPr/>
        </p:nvSpPr>
        <p:spPr>
          <a:xfrm>
            <a:off x="6035040" y="91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E7E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Jan 1 – Sep 26, 2026 vs. 2025</a:t>
            </a:r>
            <a:endParaRPr lang="en-US" sz="1000"/>
          </a:p>
        </p:txBody>
      </p:sp>
      <p:sp>
        <p:nvSpPr>
          <p:cNvPr id="48" name="Title 47">
            <a:extLst>
              <a:ext uri="{FF2B5EF4-FFF2-40B4-BE49-F238E27FC236}">
                <a16:creationId xmlns:a16="http://schemas.microsoft.com/office/drawing/2014/main" id="{1F32B8BF-2376-B47D-2FAB-3A2307D6416D}"/>
              </a:ext>
            </a:extLst>
          </p:cNvPr>
          <p:cNvSpPr>
            <a:spLocks noGrp="1"/>
          </p:cNvSpPr>
          <p:nvPr>
            <p:ph type="title"/>
          </p:nvPr>
        </p:nvSpPr>
        <p:spPr>
          <a:pattFill prst="pct20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/>
              <a:t>Expedia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28016" y="4510849"/>
            <a:ext cx="1307592" cy="195453"/>
          </a:xfrm>
          <a:prstGeom prst="rect">
            <a:avLst/>
          </a:prstGeom>
          <a:solidFill>
            <a:srgbClr val="D6006E"/>
          </a:solidFill>
          <a:ln>
            <a:solidFill>
              <a:srgbClr val="D60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sz="700" b="1">
                <a:solidFill>
                  <a:srgbClr val="FFFFFF"/>
                </a:solidFill>
                <a:latin typeface="Calibri"/>
              </a:rPr>
              <a:t>WHY THIS MATTERS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508760" y="4510849"/>
            <a:ext cx="7498080" cy="195453"/>
          </a:xfrm>
          <a:prstGeom prst="rect">
            <a:avLst/>
          </a:prstGeom>
          <a:solidFill>
            <a:srgbClr val="FDE8F3"/>
          </a:solidFill>
          <a:ln w="6350">
            <a:solidFill>
              <a:srgbClr val="D60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bIns="0" rtlCol="0" anchor="ctr"/>
          <a:lstStyle/>
          <a:p>
            <a:pPr algn="ctr"/>
            <a:r>
              <a:rPr sz="850">
                <a:solidFill>
                  <a:srgbClr val="1C1C1E"/>
                </a:solidFill>
                <a:latin typeface="Calibri"/>
              </a:rPr>
              <a:t>Watch: YTD Expedia ADR is $156 vs. the Expedia comp set at $180. Forward pricing is the reverse: next 28 days, $343 vs. $303.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74320" y="603504"/>
            <a:ext cx="85953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B52372"/>
                </a:solidFill>
                <a:latin typeface="Franklin Gothic Book"/>
              </a:rPr>
              <a:t>Expedia revenue is up 42% this year. </a:t>
            </a:r>
            <a:r>
              <a:rPr sz="1200" b="0" i="0">
                <a:solidFill>
                  <a:srgbClr val="1C1C1E"/>
                </a:solidFill>
                <a:latin typeface="Franklin Gothic Book"/>
              </a:rPr>
              <a:t>The growth came from low-season volume (Jan–Apr). Peak-season Expedia rate is at or above last year.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" y="1024128"/>
            <a:ext cx="5074920" cy="3310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7200" y="1115568"/>
            <a:ext cx="4754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D51067"/>
                </a:solidFill>
                <a:latin typeface="Franklin Gothic Book"/>
              </a:rPr>
              <a:t>EXPEDIA REVENUE BY STAY MONTH</a:t>
            </a:r>
          </a:p>
        </p:txBody>
      </p:sp>
      <p:graphicFrame>
        <p:nvGraphicFramePr>
          <p:cNvPr id="63" name="Chart 62"/>
          <p:cNvGraphicFramePr>
            <a:graphicFrameLocks noGrp="1"/>
          </p:cNvGraphicFramePr>
          <p:nvPr/>
        </p:nvGraphicFramePr>
        <p:xfrm>
          <a:off x="365760" y="1371600"/>
          <a:ext cx="489204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4" name="TextBox 63"/>
          <p:cNvSpPr txBox="1"/>
          <p:nvPr/>
        </p:nvSpPr>
        <p:spPr>
          <a:xfrm>
            <a:off x="457200" y="4133087"/>
            <a:ext cx="4754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Franklin Gothic Book"/>
              </a:rPr>
              <a:t>*September to date (data through Sep 26). Source: Expedia Partner Central.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532120" y="1024128"/>
            <a:ext cx="105156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605272" y="109728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1C1C1E"/>
                </a:solidFill>
                <a:latin typeface="Franklin Gothic Book"/>
              </a:rPr>
              <a:t>$341.7K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577840" y="1463040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0">
                <a:solidFill>
                  <a:srgbClr val="55575A"/>
                </a:solidFill>
                <a:latin typeface="Franklin Gothic Book"/>
              </a:rPr>
              <a:t>Revenue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577840" y="1664208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B52372"/>
                </a:solidFill>
                <a:latin typeface="Franklin Gothic Book"/>
              </a:rPr>
              <a:t>+42% vs. $241.1K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652260" y="1024128"/>
            <a:ext cx="105156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725412" y="109728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1C1C1E"/>
                </a:solidFill>
                <a:latin typeface="Franklin Gothic Book"/>
              </a:rPr>
              <a:t>2,692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697980" y="1463040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0">
                <a:solidFill>
                  <a:srgbClr val="55575A"/>
                </a:solidFill>
                <a:latin typeface="Franklin Gothic Book"/>
              </a:rPr>
              <a:t>Room nights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697980" y="1664208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B52372"/>
                </a:solidFill>
                <a:latin typeface="Franklin Gothic Book"/>
              </a:rPr>
              <a:t>+48% vs. 1,823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772400" y="1024128"/>
            <a:ext cx="105156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845552" y="109728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1C1C1E"/>
                </a:solidFill>
                <a:latin typeface="Franklin Gothic Book"/>
              </a:rPr>
              <a:t>$156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818120" y="1463040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0">
                <a:solidFill>
                  <a:srgbClr val="55575A"/>
                </a:solidFill>
                <a:latin typeface="Franklin Gothic Book"/>
              </a:rPr>
              <a:t>ADR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1664208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 i="0">
                <a:solidFill>
                  <a:srgbClr val="B52372"/>
                </a:solidFill>
                <a:latin typeface="Franklin Gothic Book"/>
              </a:rPr>
              <a:t>-4.3% vs. $163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532120" y="2139696"/>
            <a:ext cx="333756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669280" y="2212848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D51067"/>
                </a:solidFill>
                <a:latin typeface="Franklin Gothic Book"/>
              </a:rPr>
              <a:t>WHERE THE RATE GIVE-BACK IS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669280" y="2450592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C1C1E"/>
                </a:solidFill>
                <a:latin typeface="Franklin Gothic Book"/>
              </a:rPr>
              <a:t>3-Night LOS promo (20/30% off): ~825 room nights at about $114, roughly 31% of Expedia nights. It drove Jan–Apr revenue to $91.5K vs. $38.0K last year.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532120" y="3328416"/>
            <a:ext cx="3337560" cy="1005840"/>
          </a:xfrm>
          <a:prstGeom prst="rect">
            <a:avLst/>
          </a:prstGeom>
          <a:solidFill>
            <a:srgbClr val="FDE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669280" y="3401568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B52372"/>
                </a:solidFill>
                <a:latin typeface="Franklin Gothic Book"/>
              </a:rPr>
              <a:t>DECISION FOR THE BOARD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669280" y="3630168"/>
            <a:ext cx="310896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1C1C1E"/>
                </a:solidFill>
                <a:latin typeface="Franklin Gothic Book"/>
              </a:rPr>
              <a:t>Keep 3-Night LOS after Oct 31? And do we stack it with the Nov–Mar dynamic discount (up to 30%) and Black Friday (30/40%)?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Words>2566</Words>
  <Application>Microsoft Macintosh PowerPoint</Application>
  <PresentationFormat>On-screen Show (16:9)</PresentationFormat>
  <Paragraphs>475</Paragraphs>
  <Slides>22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Franklin Gothic Book</vt:lpstr>
      <vt:lpstr>Georgia</vt:lpstr>
      <vt:lpstr>Office Theme</vt:lpstr>
      <vt:lpstr>PowerPoint Presentation</vt:lpstr>
      <vt:lpstr>Executive Summary</vt:lpstr>
      <vt:lpstr>PowerPoint Presentation</vt:lpstr>
      <vt:lpstr>STR PERFORMANCE — June 2026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AI Visibility and Brand Perception</vt:lpstr>
      <vt:lpstr>Brand Perception and Sentiment</vt:lpstr>
      <vt:lpstr>PowerPoint Presentation</vt:lpstr>
      <vt:lpstr>Social Media</vt:lpstr>
      <vt:lpstr>Social Channels</vt:lpstr>
      <vt:lpstr>Insights </vt:lpstr>
      <vt:lpstr>Insights </vt:lpstr>
      <vt:lpstr>Insights</vt:lpstr>
      <vt:lpstr>Insights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Kate Burda</cp:lastModifiedBy>
  <cp:revision>4</cp:revision>
  <cp:lastPrinted>2024-07-31T19:40:33Z</cp:lastPrinted>
  <dcterms:created xsi:type="dcterms:W3CDTF">2020-01-22T01:07:57Z</dcterms:created>
  <dcterms:modified xsi:type="dcterms:W3CDTF">2026-08-13T15:08:00Z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2019-11-03T00:00:00Z</vt:filetime>
  </property>
  <property fmtid="{D5CDD505-2E9C-101B-9397-08002B2CF9AE}" pid="3" name="LastSaved">
    <vt:filetime>2020-01-22T00:00:00Z</vt:filetime>
  </property>
</Properties>
</file>