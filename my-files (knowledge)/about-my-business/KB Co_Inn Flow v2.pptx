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3"/>
  </p:notesMasterIdLst>
  <p:sldIdLst>
    <p:sldId id="4068" r:id="rId5"/>
    <p:sldId id="399" r:id="rId6"/>
    <p:sldId id="3309" r:id="rId7"/>
    <p:sldId id="4135" r:id="rId8"/>
    <p:sldId id="435" r:id="rId9"/>
    <p:sldId id="482" r:id="rId10"/>
    <p:sldId id="258" r:id="rId11"/>
    <p:sldId id="4069" r:id="rId12"/>
    <p:sldId id="4136" r:id="rId13"/>
    <p:sldId id="3318" r:id="rId14"/>
    <p:sldId id="4134" r:id="rId15"/>
    <p:sldId id="4148" r:id="rId16"/>
    <p:sldId id="269" r:id="rId17"/>
    <p:sldId id="2182" r:id="rId18"/>
    <p:sldId id="2184" r:id="rId19"/>
    <p:sldId id="4151" r:id="rId20"/>
    <p:sldId id="4150" r:id="rId21"/>
    <p:sldId id="275" r:id="rId22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istan Carty" initials="TC" lastIdx="15" clrIdx="0">
    <p:extLst>
      <p:ext uri="{19B8F6BF-5375-455C-9EA6-DF929625EA0E}">
        <p15:presenceInfo xmlns:p15="http://schemas.microsoft.com/office/powerpoint/2012/main" userId="Tristan Carty" providerId="None"/>
      </p:ext>
    </p:extLst>
  </p:cmAuthor>
  <p:cmAuthor id="2" name="Kate Burda" initials="KB" lastIdx="5" clrIdx="1">
    <p:extLst>
      <p:ext uri="{19B8F6BF-5375-455C-9EA6-DF929625EA0E}">
        <p15:presenceInfo xmlns:p15="http://schemas.microsoft.com/office/powerpoint/2012/main" userId="S::kate@kateburda.com::44c1ea53-84f5-4c7e-8f48-bfeb434f1f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  <a:srgbClr val="D510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2DB80F-B560-7840-A829-709C57BDB1E7}" v="40" dt="2021-06-08T15:10:09.22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83"/>
    <p:restoredTop sz="94705"/>
  </p:normalViewPr>
  <p:slideViewPr>
    <p:cSldViewPr snapToGrid="0" snapToObjects="1">
      <p:cViewPr varScale="1">
        <p:scale>
          <a:sx n="126" d="100"/>
          <a:sy n="126" d="100"/>
        </p:scale>
        <p:origin x="208" y="3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BD31-D430-3F4A-8B46-78DCED41C9B6}" type="datetimeFigureOut">
              <a:rPr lang="en-US" smtClean="0"/>
              <a:t>6/8/21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48C49-7632-A24D-A577-D5A024C91C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4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204A1-840D-CA41-9990-2FBF1DA0CC2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37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48C49-7632-A24D-A577-D5A024C91C9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936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1BDBB-E83C-C243-AFC3-CE484FF8185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807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we do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1BDBB-E83C-C243-AFC3-CE484FF8185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402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48C49-7632-A24D-A577-D5A024C91C9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232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3030" y="491744"/>
            <a:ext cx="2617939" cy="675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6/8/21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6/8/21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6/8/21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6/8/21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6/8/21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0"/>
            <a:ext cx="9144000" cy="446049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84" y="50304"/>
            <a:ext cx="8712831" cy="323165"/>
          </a:xfrm>
        </p:spPr>
        <p:txBody>
          <a:bodyPr lIns="0" tIns="0" rIns="0" bIns="0"/>
          <a:lstStyle>
            <a:lvl1pPr algn="ctr">
              <a:defRPr sz="21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685800"/>
            <a:ext cx="9144000" cy="4457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71450"/>
            <a:ext cx="7772400" cy="323165"/>
          </a:xfrm>
        </p:spPr>
        <p:txBody>
          <a:bodyPr/>
          <a:lstStyle>
            <a:lvl1pPr algn="r">
              <a:defRPr sz="2100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Insert 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145" y="-537260"/>
            <a:ext cx="1295522" cy="1817468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9581F233-BCDC-1D47-8FFD-154F2846E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82000" y="4783455"/>
            <a:ext cx="304800" cy="184666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51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34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352534" y="4783455"/>
            <a:ext cx="438931" cy="21876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BA4BD-261B-294C-8FFE-5F808C6609ED}" type="datetime1">
              <a:rPr lang="en-US" smtClean="0"/>
              <a:t>6/8/21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84666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94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730"/>
            <a:ext cx="6248400" cy="476982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257305"/>
            <a:ext cx="7772400" cy="1246495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Insert Title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4000500"/>
            <a:ext cx="7772400" cy="285750"/>
          </a:xfrm>
        </p:spPr>
        <p:txBody>
          <a:bodyPr anchor="t">
            <a:normAutofit/>
          </a:bodyPr>
          <a:lstStyle>
            <a:lvl1pPr marL="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61964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584" y="147319"/>
            <a:ext cx="8712831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31029" y="1031747"/>
            <a:ext cx="6281940" cy="3465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6/8/21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jpg"/><Relationship Id="rId18" Type="http://schemas.openxmlformats.org/officeDocument/2006/relationships/image" Target="../media/image39.png"/><Relationship Id="rId3" Type="http://schemas.openxmlformats.org/officeDocument/2006/relationships/image" Target="../media/image24.jp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jp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jpg"/><Relationship Id="rId20" Type="http://schemas.openxmlformats.org/officeDocument/2006/relationships/image" Target="../media/image4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g"/><Relationship Id="rId11" Type="http://schemas.openxmlformats.org/officeDocument/2006/relationships/image" Target="../media/image32.jpg"/><Relationship Id="rId5" Type="http://schemas.openxmlformats.org/officeDocument/2006/relationships/image" Target="../media/image26.jpg"/><Relationship Id="rId15" Type="http://schemas.openxmlformats.org/officeDocument/2006/relationships/image" Target="../media/image36.jpg"/><Relationship Id="rId10" Type="http://schemas.openxmlformats.org/officeDocument/2006/relationships/image" Target="../media/image31.jp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jpg"/><Relationship Id="rId22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448"/>
            <a:ext cx="9144000" cy="975051"/>
          </a:xfrm>
          <a:custGeom>
            <a:avLst/>
            <a:gdLst/>
            <a:ahLst/>
            <a:cxnLst/>
            <a:rect l="l" t="t" r="r" b="b"/>
            <a:pathLst>
              <a:path w="9144000" h="895985">
                <a:moveTo>
                  <a:pt x="0" y="0"/>
                </a:moveTo>
                <a:lnTo>
                  <a:pt x="9143998" y="0"/>
                </a:lnTo>
                <a:lnTo>
                  <a:pt x="9143998" y="895986"/>
                </a:lnTo>
                <a:lnTo>
                  <a:pt x="0" y="89598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lvl="1"/>
            <a:endParaRPr lang="en-US" dirty="0"/>
          </a:p>
          <a:p>
            <a:r>
              <a:rPr lang="en-US" dirty="0">
                <a:latin typeface="Franklin Gothic Book" panose="020B0503020102020204" pitchFamily="34" charset="0"/>
              </a:rPr>
              <a:t>  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Prepared for:  Cynthia Ferguson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9143999" cy="405384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11660" y="9859"/>
            <a:ext cx="9138285" cy="380335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solidFill>
            <a:srgbClr val="A015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947" y="0"/>
            <a:ext cx="9138285" cy="336550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5946" y="338989"/>
            <a:ext cx="9138052" cy="3950983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5947" y="2732684"/>
            <a:ext cx="9138285" cy="632460"/>
          </a:xfrm>
          <a:custGeom>
            <a:avLst/>
            <a:gdLst/>
            <a:ahLst/>
            <a:cxnLst/>
            <a:rect l="l" t="t" r="r" b="b"/>
            <a:pathLst>
              <a:path w="9138285" h="632460">
                <a:moveTo>
                  <a:pt x="0" y="0"/>
                </a:moveTo>
                <a:lnTo>
                  <a:pt x="9138053" y="0"/>
                </a:lnTo>
                <a:lnTo>
                  <a:pt x="9138053" y="632460"/>
                </a:lnTo>
                <a:lnTo>
                  <a:pt x="0" y="6324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1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221846" y="2786328"/>
            <a:ext cx="549315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Franklin Gothic Book" panose="020B0503020102020204" pitchFamily="34" charset="0"/>
                <a:cs typeface="Arial"/>
              </a:rPr>
              <a:t>A Conversation of Possibility</a:t>
            </a:r>
            <a:endParaRPr sz="28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400" y="4790286"/>
            <a:ext cx="5734050" cy="19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65"/>
              </a:spcBef>
            </a:pPr>
            <a:r>
              <a:rPr sz="7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All </a:t>
            </a:r>
            <a:r>
              <a:rPr sz="7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materials </a:t>
            </a:r>
            <a:r>
              <a:rPr sz="7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7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methodologies are </a:t>
            </a:r>
            <a:r>
              <a:rPr sz="6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copy </a:t>
            </a:r>
            <a:r>
              <a:rPr sz="7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written </a:t>
            </a:r>
            <a:r>
              <a:rPr sz="7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7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 Intellectual </a:t>
            </a:r>
            <a:r>
              <a:rPr sz="7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Property </a:t>
            </a:r>
            <a:r>
              <a:rPr sz="7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of </a:t>
            </a:r>
            <a:r>
              <a:rPr sz="7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Kate </a:t>
            </a:r>
            <a:r>
              <a:rPr sz="7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Burda </a:t>
            </a:r>
            <a:r>
              <a:rPr sz="7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&amp; </a:t>
            </a:r>
            <a:r>
              <a:rPr sz="700" spc="-3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Company </a:t>
            </a:r>
            <a:r>
              <a:rPr sz="7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7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</a:t>
            </a:r>
            <a:r>
              <a:rPr sz="7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the </a:t>
            </a:r>
            <a:r>
              <a:rPr sz="7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express </a:t>
            </a:r>
            <a:r>
              <a:rPr sz="7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purpose </a:t>
            </a:r>
            <a:r>
              <a:rPr lang="en-US" sz="7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Inn-Flow</a:t>
            </a:r>
            <a:r>
              <a:rPr sz="7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, </a:t>
            </a:r>
            <a:r>
              <a:rPr sz="7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systems,  </a:t>
            </a:r>
            <a:r>
              <a:rPr sz="7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7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constructs are </a:t>
            </a:r>
            <a:r>
              <a:rPr sz="7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not for </a:t>
            </a:r>
            <a:r>
              <a:rPr sz="7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external </a:t>
            </a:r>
            <a:r>
              <a:rPr sz="7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distribution </a:t>
            </a:r>
            <a:r>
              <a:rPr sz="7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7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are</a:t>
            </a:r>
            <a:r>
              <a:rPr sz="700" spc="-5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 </a:t>
            </a:r>
            <a:r>
              <a:rPr sz="7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protected.</a:t>
            </a:r>
            <a:endParaRPr sz="700" dirty="0">
              <a:latin typeface="Franklin Gothic Book" panose="020B0503020102020204" pitchFamily="34" charset="0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CC6F5E-702D-7A49-A247-A3EBC63B4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177" y="4471566"/>
            <a:ext cx="2453821" cy="56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 Diagonal Corner Rectangle 10"/>
          <p:cNvSpPr/>
          <p:nvPr/>
        </p:nvSpPr>
        <p:spPr>
          <a:xfrm>
            <a:off x="3267796" y="1129056"/>
            <a:ext cx="2854709" cy="3871878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 Diagonal Corner Rectangle 13"/>
          <p:cNvSpPr/>
          <p:nvPr/>
        </p:nvSpPr>
        <p:spPr>
          <a:xfrm>
            <a:off x="6320921" y="1129055"/>
            <a:ext cx="2620719" cy="3871878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hevron 12"/>
          <p:cNvSpPr/>
          <p:nvPr/>
        </p:nvSpPr>
        <p:spPr>
          <a:xfrm>
            <a:off x="6198802" y="793131"/>
            <a:ext cx="2911384" cy="345337"/>
          </a:xfrm>
          <a:prstGeom prst="chevron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211402" y="793131"/>
            <a:ext cx="3089641" cy="345337"/>
          </a:xfrm>
          <a:prstGeom prst="chevron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ound Diagonal Corner Rectangle 9"/>
          <p:cNvSpPr/>
          <p:nvPr/>
        </p:nvSpPr>
        <p:spPr>
          <a:xfrm>
            <a:off x="112510" y="1129055"/>
            <a:ext cx="3052642" cy="387187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entagon 5"/>
          <p:cNvSpPr/>
          <p:nvPr/>
        </p:nvSpPr>
        <p:spPr>
          <a:xfrm>
            <a:off x="0" y="793131"/>
            <a:ext cx="3331168" cy="335925"/>
          </a:xfrm>
          <a:prstGeom prst="homePlate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/>
                <a:cs typeface="Franklin Gothic Book"/>
              </a:rPr>
              <a:t>We create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272" y="810012"/>
            <a:ext cx="3068413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/>
                <a:cs typeface="Franklin Gothic Book"/>
              </a:rPr>
              <a:t>WHAT YOU CARE ABOUT</a:t>
            </a:r>
          </a:p>
          <a:p>
            <a:endParaRPr lang="en-US" sz="1600" b="1" dirty="0">
              <a:solidFill>
                <a:srgbClr val="FFFFFF"/>
              </a:solidFill>
              <a:latin typeface="Franklin Gothic Book"/>
              <a:cs typeface="Franklin Gothic Book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latin typeface="Franklin Gothic Book" panose="020B0503020102020204" pitchFamily="34" charset="0"/>
              <a:cs typeface="Franklin Gothic Book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  <a:cs typeface="Franklin Gothic Book"/>
              </a:rPr>
              <a:t>Effectiveness in Marketing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Revenue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Accountability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People that understand product marketing (SaaS) </a:t>
            </a:r>
            <a:r>
              <a:rPr lang="en-US" sz="1400" b="1" i="1" u="sng" dirty="0">
                <a:latin typeface="Franklin Gothic Book" panose="020B0503020102020204" pitchFamily="34" charset="0"/>
              </a:rPr>
              <a:t>and</a:t>
            </a:r>
            <a:r>
              <a:rPr lang="en-US" sz="1400" b="1" dirty="0">
                <a:latin typeface="Franklin Gothic Book" panose="020B0503020102020204" pitchFamily="34" charset="0"/>
              </a:rPr>
              <a:t> the hospitality space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endParaRPr lang="en-US" sz="1400" b="1" dirty="0">
              <a:latin typeface="Franklin Gothic Book" panose="020B0503020102020204" pitchFamily="34" charset="0"/>
              <a:cs typeface="Franklin Gothic Book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01186" y="793131"/>
            <a:ext cx="275850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WHAT YOU GET	</a:t>
            </a:r>
          </a:p>
          <a:p>
            <a:endParaRPr lang="en-US" sz="1600" b="1" dirty="0">
              <a:solidFill>
                <a:srgbClr val="FFFFFF"/>
              </a:solidFill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en-US" sz="400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en-US" sz="400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‘Vision-to-Value’ Transformation pathway focused on revenue outcomes and strategy</a:t>
            </a:r>
          </a:p>
          <a:p>
            <a:endParaRPr lang="en-US" sz="8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Proven and Pragmatic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Depth and Expertise in the core areas of marketing: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Brand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Awareness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Targeted</a:t>
            </a:r>
            <a:endParaRPr lang="en-US" sz="9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6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Expertise </a:t>
            </a:r>
            <a:r>
              <a:rPr lang="en-US" sz="1400" b="1" i="1" u="sng" dirty="0">
                <a:latin typeface="Franklin Gothic Book" charset="0"/>
                <a:ea typeface="Franklin Gothic Book" charset="0"/>
                <a:cs typeface="Franklin Gothic Book" charset="0"/>
              </a:rPr>
              <a:t>and</a:t>
            </a: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61497" y="793131"/>
            <a:ext cx="260957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SO YOU CAN</a:t>
            </a:r>
          </a:p>
          <a:p>
            <a:endParaRPr lang="en-US" sz="12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Increase your customer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Increase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Reduce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Be seen as a thought-leader not just a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D249B-843D-A64A-931B-1CE488C5C8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626901" y="4836025"/>
            <a:ext cx="304800" cy="18466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90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31291932-3AEC-BD49-8451-E41D93430FAA}"/>
              </a:ext>
            </a:extLst>
          </p:cNvPr>
          <p:cNvSpPr/>
          <p:nvPr/>
        </p:nvSpPr>
        <p:spPr>
          <a:xfrm>
            <a:off x="2693037" y="1216206"/>
            <a:ext cx="1808420" cy="456878"/>
          </a:xfrm>
          <a:prstGeom prst="roundRect">
            <a:avLst>
              <a:gd name="adj" fmla="val 50000"/>
            </a:avLst>
          </a:prstGeom>
          <a:solidFill>
            <a:srgbClr val="B5237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883BE8D-0186-4840-A189-F4913CC93761}"/>
              </a:ext>
            </a:extLst>
          </p:cNvPr>
          <p:cNvSpPr/>
          <p:nvPr/>
        </p:nvSpPr>
        <p:spPr>
          <a:xfrm rot="18893649">
            <a:off x="3484225" y="1455533"/>
            <a:ext cx="1124190" cy="456878"/>
          </a:xfrm>
          <a:prstGeom prst="roundRect">
            <a:avLst>
              <a:gd name="adj" fmla="val 50000"/>
            </a:avLst>
          </a:prstGeom>
          <a:solidFill>
            <a:srgbClr val="B5237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20F0E032-0C8E-4C40-91E6-4834ECB1214D}"/>
              </a:ext>
            </a:extLst>
          </p:cNvPr>
          <p:cNvSpPr/>
          <p:nvPr/>
        </p:nvSpPr>
        <p:spPr>
          <a:xfrm rot="2717866">
            <a:off x="3485021" y="973323"/>
            <a:ext cx="1124190" cy="456878"/>
          </a:xfrm>
          <a:prstGeom prst="roundRect">
            <a:avLst>
              <a:gd name="adj" fmla="val 50000"/>
            </a:avLst>
          </a:prstGeom>
          <a:solidFill>
            <a:srgbClr val="B5237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D2F1D70B-16A3-6A41-9631-983D64DB8790}"/>
              </a:ext>
            </a:extLst>
          </p:cNvPr>
          <p:cNvSpPr/>
          <p:nvPr/>
        </p:nvSpPr>
        <p:spPr>
          <a:xfrm rot="10800000">
            <a:off x="269171" y="1211831"/>
            <a:ext cx="1851038" cy="461043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23DB39E9-FF42-2149-8259-58480454FD6D}"/>
              </a:ext>
            </a:extLst>
          </p:cNvPr>
          <p:cNvSpPr/>
          <p:nvPr/>
        </p:nvSpPr>
        <p:spPr>
          <a:xfrm rot="8093649">
            <a:off x="112989" y="981310"/>
            <a:ext cx="1150683" cy="4610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6390A3-8DE3-B049-85C1-EC889EDDB9C0}"/>
              </a:ext>
            </a:extLst>
          </p:cNvPr>
          <p:cNvSpPr/>
          <p:nvPr/>
        </p:nvSpPr>
        <p:spPr>
          <a:xfrm rot="13517866">
            <a:off x="127968" y="1456794"/>
            <a:ext cx="1134439" cy="467645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83" name="Freeform 1003">
            <a:extLst>
              <a:ext uri="{FF2B5EF4-FFF2-40B4-BE49-F238E27FC236}">
                <a16:creationId xmlns:a16="http://schemas.microsoft.com/office/drawing/2014/main" id="{CE370B90-C653-FE46-BB52-7ECF698524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88711" y="1946288"/>
            <a:ext cx="305392" cy="321466"/>
          </a:xfrm>
          <a:custGeom>
            <a:avLst/>
            <a:gdLst>
              <a:gd name="T0" fmla="*/ 151229 w 271103"/>
              <a:gd name="T1" fmla="*/ 263450 h 285391"/>
              <a:gd name="T2" fmla="*/ 143186 w 271103"/>
              <a:gd name="T3" fmla="*/ 266513 h 285391"/>
              <a:gd name="T4" fmla="*/ 56854 w 271103"/>
              <a:gd name="T5" fmla="*/ 260003 h 285391"/>
              <a:gd name="T6" fmla="*/ 62507 w 271103"/>
              <a:gd name="T7" fmla="*/ 266513 h 285391"/>
              <a:gd name="T8" fmla="*/ 55858 w 271103"/>
              <a:gd name="T9" fmla="*/ 263450 h 285391"/>
              <a:gd name="T10" fmla="*/ 108140 w 271103"/>
              <a:gd name="T11" fmla="*/ 262460 h 285391"/>
              <a:gd name="T12" fmla="*/ 103926 w 271103"/>
              <a:gd name="T13" fmla="*/ 258472 h 285391"/>
              <a:gd name="T14" fmla="*/ 33229 w 271103"/>
              <a:gd name="T15" fmla="*/ 278159 h 285391"/>
              <a:gd name="T16" fmla="*/ 196844 w 271103"/>
              <a:gd name="T17" fmla="*/ 246370 h 285391"/>
              <a:gd name="T18" fmla="*/ 88475 w 271103"/>
              <a:gd name="T19" fmla="*/ 142619 h 285391"/>
              <a:gd name="T20" fmla="*/ 102938 w 271103"/>
              <a:gd name="T21" fmla="*/ 128272 h 285391"/>
              <a:gd name="T22" fmla="*/ 102938 w 271103"/>
              <a:gd name="T23" fmla="*/ 165573 h 285391"/>
              <a:gd name="T24" fmla="*/ 103528 w 271103"/>
              <a:gd name="T25" fmla="*/ 104727 h 285391"/>
              <a:gd name="T26" fmla="*/ 138198 w 271103"/>
              <a:gd name="T27" fmla="*/ 161230 h 285391"/>
              <a:gd name="T28" fmla="*/ 184424 w 271103"/>
              <a:gd name="T29" fmla="*/ 149354 h 285391"/>
              <a:gd name="T30" fmla="*/ 208258 w 271103"/>
              <a:gd name="T31" fmla="*/ 149354 h 285391"/>
              <a:gd name="T32" fmla="*/ 232095 w 271103"/>
              <a:gd name="T33" fmla="*/ 148993 h 285391"/>
              <a:gd name="T34" fmla="*/ 262069 w 271103"/>
              <a:gd name="T35" fmla="*/ 142516 h 285391"/>
              <a:gd name="T36" fmla="*/ 138198 w 271103"/>
              <a:gd name="T37" fmla="*/ 125601 h 285391"/>
              <a:gd name="T38" fmla="*/ 144337 w 271103"/>
              <a:gd name="T39" fmla="*/ 119484 h 285391"/>
              <a:gd name="T40" fmla="*/ 271098 w 271103"/>
              <a:gd name="T41" fmla="*/ 139636 h 285391"/>
              <a:gd name="T42" fmla="*/ 253040 w 271103"/>
              <a:gd name="T43" fmla="*/ 163749 h 285391"/>
              <a:gd name="T44" fmla="*/ 238595 w 271103"/>
              <a:gd name="T45" fmla="*/ 155112 h 285391"/>
              <a:gd name="T46" fmla="*/ 223066 w 271103"/>
              <a:gd name="T47" fmla="*/ 164109 h 285391"/>
              <a:gd name="T48" fmla="*/ 199592 w 271103"/>
              <a:gd name="T49" fmla="*/ 164109 h 285391"/>
              <a:gd name="T50" fmla="*/ 176840 w 271103"/>
              <a:gd name="T51" fmla="*/ 167708 h 285391"/>
              <a:gd name="T52" fmla="*/ 55858 w 271103"/>
              <a:gd name="T53" fmla="*/ 143595 h 285391"/>
              <a:gd name="T54" fmla="*/ 157408 w 271103"/>
              <a:gd name="T55" fmla="*/ 90321 h 285391"/>
              <a:gd name="T56" fmla="*/ 104971 w 271103"/>
              <a:gd name="T57" fmla="*/ 77293 h 285391"/>
              <a:gd name="T58" fmla="*/ 58361 w 271103"/>
              <a:gd name="T59" fmla="*/ 188760 h 285391"/>
              <a:gd name="T60" fmla="*/ 157408 w 271103"/>
              <a:gd name="T61" fmla="*/ 194913 h 285391"/>
              <a:gd name="T62" fmla="*/ 30322 w 271103"/>
              <a:gd name="T63" fmla="*/ 142798 h 285391"/>
              <a:gd name="T64" fmla="*/ 143824 w 271103"/>
              <a:gd name="T65" fmla="*/ 20742 h 285391"/>
              <a:gd name="T66" fmla="*/ 138845 w 271103"/>
              <a:gd name="T67" fmla="*/ 24953 h 285391"/>
              <a:gd name="T68" fmla="*/ 122656 w 271103"/>
              <a:gd name="T69" fmla="*/ 20742 h 285391"/>
              <a:gd name="T70" fmla="*/ 82503 w 271103"/>
              <a:gd name="T71" fmla="*/ 29933 h 285391"/>
              <a:gd name="T72" fmla="*/ 33229 w 271103"/>
              <a:gd name="T73" fmla="*/ 9030 h 285391"/>
              <a:gd name="T74" fmla="*/ 196844 w 271103"/>
              <a:gd name="T75" fmla="*/ 40820 h 285391"/>
              <a:gd name="T76" fmla="*/ 33229 w 271103"/>
              <a:gd name="T77" fmla="*/ 9030 h 285391"/>
              <a:gd name="T78" fmla="*/ 205513 w 271103"/>
              <a:gd name="T79" fmla="*/ 33596 h 285391"/>
              <a:gd name="T80" fmla="*/ 196844 w 271103"/>
              <a:gd name="T81" fmla="*/ 105845 h 285391"/>
              <a:gd name="T82" fmla="*/ 8666 w 271103"/>
              <a:gd name="T83" fmla="*/ 237701 h 285391"/>
              <a:gd name="T84" fmla="*/ 201179 w 271103"/>
              <a:gd name="T85" fmla="*/ 173037 h 285391"/>
              <a:gd name="T86" fmla="*/ 172285 w 271103"/>
              <a:gd name="T87" fmla="*/ 286829 h 285391"/>
              <a:gd name="T88" fmla="*/ 0 w 271103"/>
              <a:gd name="T89" fmla="*/ 33596 h 285391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271103" h="285391">
                <a:moveTo>
                  <a:pt x="142430" y="258699"/>
                </a:moveTo>
                <a:cubicBezTo>
                  <a:pt x="144335" y="257175"/>
                  <a:pt x="147002" y="257175"/>
                  <a:pt x="148907" y="258699"/>
                </a:cubicBezTo>
                <a:cubicBezTo>
                  <a:pt x="150050" y="259461"/>
                  <a:pt x="150431" y="260604"/>
                  <a:pt x="150431" y="262128"/>
                </a:cubicBezTo>
                <a:cubicBezTo>
                  <a:pt x="150431" y="263271"/>
                  <a:pt x="150050" y="264414"/>
                  <a:pt x="148907" y="265176"/>
                </a:cubicBezTo>
                <a:cubicBezTo>
                  <a:pt x="148145" y="265938"/>
                  <a:pt x="147002" y="266319"/>
                  <a:pt x="145478" y="266319"/>
                </a:cubicBezTo>
                <a:cubicBezTo>
                  <a:pt x="144335" y="266319"/>
                  <a:pt x="143192" y="265938"/>
                  <a:pt x="142430" y="265176"/>
                </a:cubicBezTo>
                <a:cubicBezTo>
                  <a:pt x="141668" y="264414"/>
                  <a:pt x="141287" y="263271"/>
                  <a:pt x="141287" y="262128"/>
                </a:cubicBezTo>
                <a:cubicBezTo>
                  <a:pt x="141287" y="260604"/>
                  <a:pt x="141668" y="259461"/>
                  <a:pt x="142430" y="258699"/>
                </a:cubicBezTo>
                <a:close/>
                <a:moveTo>
                  <a:pt x="56554" y="258699"/>
                </a:moveTo>
                <a:cubicBezTo>
                  <a:pt x="58208" y="257175"/>
                  <a:pt x="60523" y="257175"/>
                  <a:pt x="62177" y="258699"/>
                </a:cubicBezTo>
                <a:cubicBezTo>
                  <a:pt x="62838" y="259461"/>
                  <a:pt x="63169" y="260604"/>
                  <a:pt x="63169" y="262128"/>
                </a:cubicBezTo>
                <a:cubicBezTo>
                  <a:pt x="63169" y="263271"/>
                  <a:pt x="62838" y="264414"/>
                  <a:pt x="62177" y="265176"/>
                </a:cubicBezTo>
                <a:cubicBezTo>
                  <a:pt x="61515" y="265938"/>
                  <a:pt x="60523" y="266319"/>
                  <a:pt x="59200" y="266319"/>
                </a:cubicBezTo>
                <a:cubicBezTo>
                  <a:pt x="58208" y="266319"/>
                  <a:pt x="57216" y="265938"/>
                  <a:pt x="56554" y="265176"/>
                </a:cubicBezTo>
                <a:cubicBezTo>
                  <a:pt x="55893" y="264414"/>
                  <a:pt x="55562" y="263271"/>
                  <a:pt x="55562" y="262128"/>
                </a:cubicBezTo>
                <a:cubicBezTo>
                  <a:pt x="55562" y="260985"/>
                  <a:pt x="55893" y="259461"/>
                  <a:pt x="56554" y="258699"/>
                </a:cubicBezTo>
                <a:close/>
                <a:moveTo>
                  <a:pt x="103378" y="257175"/>
                </a:moveTo>
                <a:cubicBezTo>
                  <a:pt x="105664" y="257175"/>
                  <a:pt x="107569" y="258829"/>
                  <a:pt x="107569" y="261144"/>
                </a:cubicBezTo>
                <a:cubicBezTo>
                  <a:pt x="107569" y="263129"/>
                  <a:pt x="105664" y="264782"/>
                  <a:pt x="103378" y="264782"/>
                </a:cubicBezTo>
                <a:cubicBezTo>
                  <a:pt x="100330" y="264782"/>
                  <a:pt x="98425" y="263129"/>
                  <a:pt x="98425" y="261144"/>
                </a:cubicBezTo>
                <a:cubicBezTo>
                  <a:pt x="98425" y="258829"/>
                  <a:pt x="100330" y="257175"/>
                  <a:pt x="103378" y="257175"/>
                </a:cubicBezTo>
                <a:close/>
                <a:moveTo>
                  <a:pt x="8622" y="245134"/>
                </a:moveTo>
                <a:lnTo>
                  <a:pt x="8622" y="252323"/>
                </a:lnTo>
                <a:cubicBezTo>
                  <a:pt x="8622" y="265622"/>
                  <a:pt x="19760" y="276764"/>
                  <a:pt x="33053" y="276764"/>
                </a:cubicBezTo>
                <a:lnTo>
                  <a:pt x="171375" y="276764"/>
                </a:lnTo>
                <a:cubicBezTo>
                  <a:pt x="184668" y="276764"/>
                  <a:pt x="195805" y="265622"/>
                  <a:pt x="195805" y="252323"/>
                </a:cubicBezTo>
                <a:lnTo>
                  <a:pt x="195805" y="245134"/>
                </a:lnTo>
                <a:lnTo>
                  <a:pt x="8622" y="245134"/>
                </a:lnTo>
                <a:close/>
                <a:moveTo>
                  <a:pt x="102394" y="127628"/>
                </a:moveTo>
                <a:cubicBezTo>
                  <a:pt x="94121" y="127628"/>
                  <a:pt x="88007" y="133695"/>
                  <a:pt x="88007" y="141903"/>
                </a:cubicBezTo>
                <a:cubicBezTo>
                  <a:pt x="88007" y="149755"/>
                  <a:pt x="94121" y="156178"/>
                  <a:pt x="102394" y="156178"/>
                </a:cubicBezTo>
                <a:cubicBezTo>
                  <a:pt x="109947" y="156178"/>
                  <a:pt x="116780" y="149755"/>
                  <a:pt x="116780" y="141903"/>
                </a:cubicBezTo>
                <a:cubicBezTo>
                  <a:pt x="116780" y="133695"/>
                  <a:pt x="109947" y="127628"/>
                  <a:pt x="102394" y="127628"/>
                </a:cubicBezTo>
                <a:close/>
                <a:moveTo>
                  <a:pt x="102394" y="119063"/>
                </a:moveTo>
                <a:cubicBezTo>
                  <a:pt x="114982" y="119063"/>
                  <a:pt x="125053" y="129056"/>
                  <a:pt x="125053" y="141903"/>
                </a:cubicBezTo>
                <a:cubicBezTo>
                  <a:pt x="125053" y="154394"/>
                  <a:pt x="114982" y="164743"/>
                  <a:pt x="102394" y="164743"/>
                </a:cubicBezTo>
                <a:cubicBezTo>
                  <a:pt x="89446" y="164743"/>
                  <a:pt x="79375" y="154394"/>
                  <a:pt x="79375" y="141903"/>
                </a:cubicBezTo>
                <a:cubicBezTo>
                  <a:pt x="79375" y="129056"/>
                  <a:pt x="89446" y="119063"/>
                  <a:pt x="102394" y="119063"/>
                </a:cubicBezTo>
                <a:close/>
                <a:moveTo>
                  <a:pt x="102981" y="104202"/>
                </a:moveTo>
                <a:cubicBezTo>
                  <a:pt x="81427" y="104202"/>
                  <a:pt x="63824" y="121390"/>
                  <a:pt x="63824" y="142875"/>
                </a:cubicBezTo>
                <a:cubicBezTo>
                  <a:pt x="63824" y="164360"/>
                  <a:pt x="81427" y="181548"/>
                  <a:pt x="102981" y="181548"/>
                </a:cubicBezTo>
                <a:cubicBezTo>
                  <a:pt x="117351" y="181548"/>
                  <a:pt x="130642" y="173312"/>
                  <a:pt x="137468" y="160421"/>
                </a:cubicBezTo>
                <a:cubicBezTo>
                  <a:pt x="138186" y="158989"/>
                  <a:pt x="139623" y="158273"/>
                  <a:pt x="141060" y="158273"/>
                </a:cubicBezTo>
                <a:lnTo>
                  <a:pt x="174110" y="158273"/>
                </a:lnTo>
                <a:lnTo>
                  <a:pt x="183450" y="148605"/>
                </a:lnTo>
                <a:cubicBezTo>
                  <a:pt x="187042" y="145382"/>
                  <a:pt x="192790" y="145382"/>
                  <a:pt x="196023" y="148605"/>
                </a:cubicBezTo>
                <a:lnTo>
                  <a:pt x="201411" y="153976"/>
                </a:lnTo>
                <a:lnTo>
                  <a:pt x="207159" y="148605"/>
                </a:lnTo>
                <a:cubicBezTo>
                  <a:pt x="210392" y="145382"/>
                  <a:pt x="216140" y="145382"/>
                  <a:pt x="219373" y="148605"/>
                </a:cubicBezTo>
                <a:lnTo>
                  <a:pt x="225121" y="153976"/>
                </a:lnTo>
                <a:lnTo>
                  <a:pt x="230869" y="148246"/>
                </a:lnTo>
                <a:cubicBezTo>
                  <a:pt x="234102" y="145024"/>
                  <a:pt x="239850" y="145024"/>
                  <a:pt x="243442" y="148246"/>
                </a:cubicBezTo>
                <a:lnTo>
                  <a:pt x="248830" y="153618"/>
                </a:lnTo>
                <a:lnTo>
                  <a:pt x="260685" y="141801"/>
                </a:lnTo>
                <a:lnTo>
                  <a:pt x="245957" y="127478"/>
                </a:lnTo>
                <a:lnTo>
                  <a:pt x="141060" y="127478"/>
                </a:lnTo>
                <a:cubicBezTo>
                  <a:pt x="139623" y="127478"/>
                  <a:pt x="138186" y="126403"/>
                  <a:pt x="137468" y="124971"/>
                </a:cubicBezTo>
                <a:cubicBezTo>
                  <a:pt x="130642" y="112080"/>
                  <a:pt x="117351" y="104202"/>
                  <a:pt x="102981" y="104202"/>
                </a:cubicBezTo>
                <a:close/>
                <a:moveTo>
                  <a:pt x="102981" y="95250"/>
                </a:moveTo>
                <a:cubicBezTo>
                  <a:pt x="119506" y="95250"/>
                  <a:pt x="135312" y="104202"/>
                  <a:pt x="143575" y="118884"/>
                </a:cubicBezTo>
                <a:lnTo>
                  <a:pt x="247753" y="118884"/>
                </a:lnTo>
                <a:cubicBezTo>
                  <a:pt x="248830" y="118884"/>
                  <a:pt x="249908" y="119242"/>
                  <a:pt x="250627" y="119958"/>
                </a:cubicBezTo>
                <a:lnTo>
                  <a:pt x="269666" y="138936"/>
                </a:lnTo>
                <a:cubicBezTo>
                  <a:pt x="270385" y="140011"/>
                  <a:pt x="271103" y="140727"/>
                  <a:pt x="271103" y="141801"/>
                </a:cubicBezTo>
                <a:cubicBezTo>
                  <a:pt x="271103" y="143233"/>
                  <a:pt x="270385" y="144308"/>
                  <a:pt x="269666" y="145024"/>
                </a:cubicBezTo>
                <a:lnTo>
                  <a:pt x="251704" y="162928"/>
                </a:lnTo>
                <a:cubicBezTo>
                  <a:pt x="250986" y="163644"/>
                  <a:pt x="249908" y="164002"/>
                  <a:pt x="248830" y="164002"/>
                </a:cubicBezTo>
                <a:cubicBezTo>
                  <a:pt x="247753" y="164002"/>
                  <a:pt x="246316" y="163644"/>
                  <a:pt x="245957" y="162928"/>
                </a:cubicBezTo>
                <a:lnTo>
                  <a:pt x="237335" y="154334"/>
                </a:lnTo>
                <a:lnTo>
                  <a:pt x="233743" y="157557"/>
                </a:lnTo>
                <a:lnTo>
                  <a:pt x="227995" y="163286"/>
                </a:lnTo>
                <a:cubicBezTo>
                  <a:pt x="226558" y="164718"/>
                  <a:pt x="223684" y="164718"/>
                  <a:pt x="221888" y="163286"/>
                </a:cubicBezTo>
                <a:lnTo>
                  <a:pt x="213266" y="154692"/>
                </a:lnTo>
                <a:lnTo>
                  <a:pt x="204645" y="163286"/>
                </a:lnTo>
                <a:cubicBezTo>
                  <a:pt x="202848" y="164718"/>
                  <a:pt x="200334" y="164718"/>
                  <a:pt x="198538" y="163286"/>
                </a:cubicBezTo>
                <a:lnTo>
                  <a:pt x="189916" y="154692"/>
                </a:lnTo>
                <a:lnTo>
                  <a:pt x="179139" y="165434"/>
                </a:lnTo>
                <a:cubicBezTo>
                  <a:pt x="178061" y="166151"/>
                  <a:pt x="176984" y="166867"/>
                  <a:pt x="175906" y="166867"/>
                </a:cubicBezTo>
                <a:lnTo>
                  <a:pt x="143575" y="166867"/>
                </a:lnTo>
                <a:cubicBezTo>
                  <a:pt x="135312" y="181190"/>
                  <a:pt x="119506" y="190142"/>
                  <a:pt x="102981" y="190142"/>
                </a:cubicBezTo>
                <a:cubicBezTo>
                  <a:pt x="76757" y="190142"/>
                  <a:pt x="55562" y="169015"/>
                  <a:pt x="55562" y="142875"/>
                </a:cubicBezTo>
                <a:cubicBezTo>
                  <a:pt x="55562" y="116735"/>
                  <a:pt x="76757" y="95250"/>
                  <a:pt x="102981" y="95250"/>
                </a:cubicBezTo>
                <a:close/>
                <a:moveTo>
                  <a:pt x="104417" y="68263"/>
                </a:moveTo>
                <a:cubicBezTo>
                  <a:pt x="123977" y="68263"/>
                  <a:pt x="142450" y="75825"/>
                  <a:pt x="156577" y="89869"/>
                </a:cubicBezTo>
                <a:cubicBezTo>
                  <a:pt x="158388" y="91669"/>
                  <a:pt x="158388" y="94190"/>
                  <a:pt x="156577" y="95990"/>
                </a:cubicBezTo>
                <a:cubicBezTo>
                  <a:pt x="154766" y="97791"/>
                  <a:pt x="152230" y="97791"/>
                  <a:pt x="150419" y="95990"/>
                </a:cubicBezTo>
                <a:cubicBezTo>
                  <a:pt x="138104" y="83747"/>
                  <a:pt x="121804" y="76905"/>
                  <a:pt x="104417" y="76905"/>
                </a:cubicBezTo>
                <a:cubicBezTo>
                  <a:pt x="86669" y="76905"/>
                  <a:pt x="70368" y="83747"/>
                  <a:pt x="58053" y="95990"/>
                </a:cubicBezTo>
                <a:cubicBezTo>
                  <a:pt x="45737" y="108233"/>
                  <a:pt x="38855" y="124797"/>
                  <a:pt x="38855" y="142082"/>
                </a:cubicBezTo>
                <a:cubicBezTo>
                  <a:pt x="38855" y="159366"/>
                  <a:pt x="45737" y="175570"/>
                  <a:pt x="58053" y="187813"/>
                </a:cubicBezTo>
                <a:cubicBezTo>
                  <a:pt x="83409" y="213380"/>
                  <a:pt x="124702" y="213380"/>
                  <a:pt x="150419" y="187813"/>
                </a:cubicBezTo>
                <a:cubicBezTo>
                  <a:pt x="152230" y="186013"/>
                  <a:pt x="154766" y="186013"/>
                  <a:pt x="156577" y="187813"/>
                </a:cubicBezTo>
                <a:cubicBezTo>
                  <a:pt x="158388" y="189614"/>
                  <a:pt x="158388" y="192134"/>
                  <a:pt x="156577" y="193935"/>
                </a:cubicBezTo>
                <a:cubicBezTo>
                  <a:pt x="142088" y="208338"/>
                  <a:pt x="123253" y="215540"/>
                  <a:pt x="104417" y="215540"/>
                </a:cubicBezTo>
                <a:cubicBezTo>
                  <a:pt x="85220" y="215540"/>
                  <a:pt x="66384" y="208338"/>
                  <a:pt x="51895" y="193935"/>
                </a:cubicBezTo>
                <a:cubicBezTo>
                  <a:pt x="37768" y="179891"/>
                  <a:pt x="30162" y="161527"/>
                  <a:pt x="30162" y="142082"/>
                </a:cubicBezTo>
                <a:cubicBezTo>
                  <a:pt x="30162" y="122277"/>
                  <a:pt x="37768" y="103912"/>
                  <a:pt x="51895" y="89869"/>
                </a:cubicBezTo>
                <a:cubicBezTo>
                  <a:pt x="66022" y="75825"/>
                  <a:pt x="84495" y="68263"/>
                  <a:pt x="104417" y="68263"/>
                </a:cubicBezTo>
                <a:close/>
                <a:moveTo>
                  <a:pt x="143065" y="20638"/>
                </a:moveTo>
                <a:cubicBezTo>
                  <a:pt x="145351" y="20638"/>
                  <a:pt x="147256" y="22543"/>
                  <a:pt x="147256" y="24829"/>
                </a:cubicBezTo>
                <a:cubicBezTo>
                  <a:pt x="147256" y="27877"/>
                  <a:pt x="145351" y="29782"/>
                  <a:pt x="143065" y="29782"/>
                </a:cubicBezTo>
                <a:cubicBezTo>
                  <a:pt x="140398" y="29782"/>
                  <a:pt x="138112" y="27877"/>
                  <a:pt x="138112" y="24829"/>
                </a:cubicBezTo>
                <a:cubicBezTo>
                  <a:pt x="138112" y="22543"/>
                  <a:pt x="140398" y="20638"/>
                  <a:pt x="143065" y="20638"/>
                </a:cubicBezTo>
                <a:close/>
                <a:moveTo>
                  <a:pt x="82067" y="20638"/>
                </a:moveTo>
                <a:lnTo>
                  <a:pt x="122008" y="20638"/>
                </a:lnTo>
                <a:cubicBezTo>
                  <a:pt x="124504" y="20638"/>
                  <a:pt x="126644" y="22543"/>
                  <a:pt x="126644" y="24829"/>
                </a:cubicBezTo>
                <a:cubicBezTo>
                  <a:pt x="126644" y="27877"/>
                  <a:pt x="124504" y="29782"/>
                  <a:pt x="122008" y="29782"/>
                </a:cubicBezTo>
                <a:lnTo>
                  <a:pt x="82067" y="29782"/>
                </a:lnTo>
                <a:cubicBezTo>
                  <a:pt x="79927" y="29782"/>
                  <a:pt x="77787" y="27877"/>
                  <a:pt x="77787" y="24829"/>
                </a:cubicBezTo>
                <a:cubicBezTo>
                  <a:pt x="77787" y="22543"/>
                  <a:pt x="79927" y="20638"/>
                  <a:pt x="82067" y="20638"/>
                </a:cubicBezTo>
                <a:close/>
                <a:moveTo>
                  <a:pt x="33053" y="8986"/>
                </a:moveTo>
                <a:cubicBezTo>
                  <a:pt x="19760" y="8986"/>
                  <a:pt x="8622" y="19769"/>
                  <a:pt x="8622" y="33428"/>
                </a:cubicBezTo>
                <a:lnTo>
                  <a:pt x="8622" y="40616"/>
                </a:lnTo>
                <a:lnTo>
                  <a:pt x="195805" y="40616"/>
                </a:lnTo>
                <a:lnTo>
                  <a:pt x="195805" y="33428"/>
                </a:lnTo>
                <a:cubicBezTo>
                  <a:pt x="195805" y="19769"/>
                  <a:pt x="184668" y="8986"/>
                  <a:pt x="171375" y="8986"/>
                </a:cubicBezTo>
                <a:lnTo>
                  <a:pt x="33053" y="8986"/>
                </a:lnTo>
                <a:close/>
                <a:moveTo>
                  <a:pt x="33053" y="0"/>
                </a:moveTo>
                <a:lnTo>
                  <a:pt x="171375" y="0"/>
                </a:lnTo>
                <a:cubicBezTo>
                  <a:pt x="189698" y="0"/>
                  <a:pt x="204428" y="15096"/>
                  <a:pt x="204428" y="33428"/>
                </a:cubicBezTo>
                <a:lnTo>
                  <a:pt x="204428" y="105314"/>
                </a:lnTo>
                <a:cubicBezTo>
                  <a:pt x="204428" y="107471"/>
                  <a:pt x="202272" y="109628"/>
                  <a:pt x="200117" y="109628"/>
                </a:cubicBezTo>
                <a:cubicBezTo>
                  <a:pt x="197602" y="109628"/>
                  <a:pt x="195805" y="107471"/>
                  <a:pt x="195805" y="105314"/>
                </a:cubicBezTo>
                <a:lnTo>
                  <a:pt x="195805" y="49243"/>
                </a:lnTo>
                <a:lnTo>
                  <a:pt x="8622" y="49243"/>
                </a:lnTo>
                <a:lnTo>
                  <a:pt x="8622" y="236508"/>
                </a:lnTo>
                <a:lnTo>
                  <a:pt x="195805" y="236508"/>
                </a:lnTo>
                <a:lnTo>
                  <a:pt x="195805" y="176482"/>
                </a:lnTo>
                <a:cubicBezTo>
                  <a:pt x="195805" y="173966"/>
                  <a:pt x="197602" y="172169"/>
                  <a:pt x="200117" y="172169"/>
                </a:cubicBezTo>
                <a:cubicBezTo>
                  <a:pt x="202272" y="172169"/>
                  <a:pt x="204428" y="173966"/>
                  <a:pt x="204428" y="176482"/>
                </a:cubicBezTo>
                <a:lnTo>
                  <a:pt x="204428" y="252323"/>
                </a:lnTo>
                <a:cubicBezTo>
                  <a:pt x="204428" y="270295"/>
                  <a:pt x="189698" y="285391"/>
                  <a:pt x="171375" y="285391"/>
                </a:cubicBezTo>
                <a:lnTo>
                  <a:pt x="33053" y="285391"/>
                </a:lnTo>
                <a:cubicBezTo>
                  <a:pt x="14730" y="285391"/>
                  <a:pt x="0" y="270295"/>
                  <a:pt x="0" y="252323"/>
                </a:cubicBezTo>
                <a:lnTo>
                  <a:pt x="0" y="33428"/>
                </a:lnTo>
                <a:cubicBezTo>
                  <a:pt x="0" y="15096"/>
                  <a:pt x="14730" y="0"/>
                  <a:pt x="3305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84" name="Freeform 1004">
            <a:extLst>
              <a:ext uri="{FF2B5EF4-FFF2-40B4-BE49-F238E27FC236}">
                <a16:creationId xmlns:a16="http://schemas.microsoft.com/office/drawing/2014/main" id="{019B8134-ACF1-1B4F-8B39-76996CA4CC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35992" y="2322259"/>
            <a:ext cx="321466" cy="321466"/>
          </a:xfrm>
          <a:custGeom>
            <a:avLst/>
            <a:gdLst>
              <a:gd name="T0" fmla="*/ 163197 w 285390"/>
              <a:gd name="T1" fmla="*/ 261663 h 285391"/>
              <a:gd name="T2" fmla="*/ 163197 w 285390"/>
              <a:gd name="T3" fmla="*/ 270852 h 285391"/>
              <a:gd name="T4" fmla="*/ 118069 w 285390"/>
              <a:gd name="T5" fmla="*/ 266258 h 285391"/>
              <a:gd name="T6" fmla="*/ 8681 w 285390"/>
              <a:gd name="T7" fmla="*/ 251789 h 285391"/>
              <a:gd name="T8" fmla="*/ 21701 w 285390"/>
              <a:gd name="T9" fmla="*/ 278159 h 285391"/>
              <a:gd name="T10" fmla="*/ 278152 w 285390"/>
              <a:gd name="T11" fmla="*/ 265155 h 285391"/>
              <a:gd name="T12" fmla="*/ 8681 w 285390"/>
              <a:gd name="T13" fmla="*/ 251789 h 285391"/>
              <a:gd name="T14" fmla="*/ 10852 w 285390"/>
              <a:gd name="T15" fmla="*/ 243481 h 285391"/>
              <a:gd name="T16" fmla="*/ 256450 w 285390"/>
              <a:gd name="T17" fmla="*/ 200130 h 285391"/>
              <a:gd name="T18" fmla="*/ 204807 w 285390"/>
              <a:gd name="T19" fmla="*/ 130826 h 285391"/>
              <a:gd name="T20" fmla="*/ 212423 w 285390"/>
              <a:gd name="T21" fmla="*/ 156885 h 285391"/>
              <a:gd name="T22" fmla="*/ 212423 w 285390"/>
              <a:gd name="T23" fmla="*/ 130826 h 285391"/>
              <a:gd name="T24" fmla="*/ 72814 w 285390"/>
              <a:gd name="T25" fmla="*/ 130826 h 285391"/>
              <a:gd name="T26" fmla="*/ 72814 w 285390"/>
              <a:gd name="T27" fmla="*/ 156885 h 285391"/>
              <a:gd name="T28" fmla="*/ 80066 w 285390"/>
              <a:gd name="T29" fmla="*/ 130826 h 285391"/>
              <a:gd name="T30" fmla="*/ 174933 w 285390"/>
              <a:gd name="T31" fmla="*/ 113281 h 285391"/>
              <a:gd name="T32" fmla="*/ 174933 w 285390"/>
              <a:gd name="T33" fmla="*/ 122471 h 285391"/>
              <a:gd name="T34" fmla="*/ 174933 w 285390"/>
              <a:gd name="T35" fmla="*/ 113281 h 285391"/>
              <a:gd name="T36" fmla="*/ 179911 w 285390"/>
              <a:gd name="T37" fmla="*/ 97135 h 285391"/>
              <a:gd name="T38" fmla="*/ 170721 w 285390"/>
              <a:gd name="T39" fmla="*/ 97135 h 285391"/>
              <a:gd name="T40" fmla="*/ 174933 w 285390"/>
              <a:gd name="T41" fmla="*/ 73393 h 285391"/>
              <a:gd name="T42" fmla="*/ 174933 w 285390"/>
              <a:gd name="T43" fmla="*/ 82583 h 285391"/>
              <a:gd name="T44" fmla="*/ 174933 w 285390"/>
              <a:gd name="T45" fmla="*/ 73393 h 285391"/>
              <a:gd name="T46" fmla="*/ 149689 w 285390"/>
              <a:gd name="T47" fmla="*/ 156885 h 285391"/>
              <a:gd name="T48" fmla="*/ 170358 w 285390"/>
              <a:gd name="T49" fmla="*/ 138064 h 285391"/>
              <a:gd name="T50" fmla="*/ 179062 w 285390"/>
              <a:gd name="T51" fmla="*/ 138064 h 285391"/>
              <a:gd name="T52" fmla="*/ 196468 w 285390"/>
              <a:gd name="T53" fmla="*/ 156885 h 285391"/>
              <a:gd name="T54" fmla="*/ 188852 w 285390"/>
              <a:gd name="T55" fmla="*/ 61338 h 285391"/>
              <a:gd name="T56" fmla="*/ 121041 w 285390"/>
              <a:gd name="T57" fmla="*/ 61338 h 285391"/>
              <a:gd name="T58" fmla="*/ 140986 w 285390"/>
              <a:gd name="T59" fmla="*/ 156885 h 285391"/>
              <a:gd name="T60" fmla="*/ 121041 w 285390"/>
              <a:gd name="T61" fmla="*/ 61338 h 285391"/>
              <a:gd name="T62" fmla="*/ 88769 w 285390"/>
              <a:gd name="T63" fmla="*/ 68576 h 285391"/>
              <a:gd name="T64" fmla="*/ 111977 w 285390"/>
              <a:gd name="T65" fmla="*/ 156885 h 285391"/>
              <a:gd name="T66" fmla="*/ 96022 w 285390"/>
              <a:gd name="T67" fmla="*/ 61338 h 285391"/>
              <a:gd name="T68" fmla="*/ 188852 w 285390"/>
              <a:gd name="T69" fmla="*/ 52652 h 285391"/>
              <a:gd name="T70" fmla="*/ 204807 w 285390"/>
              <a:gd name="T71" fmla="*/ 122140 h 285391"/>
              <a:gd name="T72" fmla="*/ 234179 w 285390"/>
              <a:gd name="T73" fmla="*/ 144218 h 285391"/>
              <a:gd name="T74" fmla="*/ 72814 w 285390"/>
              <a:gd name="T75" fmla="*/ 165570 h 285391"/>
              <a:gd name="T76" fmla="*/ 72814 w 285390"/>
              <a:gd name="T77" fmla="*/ 122140 h 285391"/>
              <a:gd name="T78" fmla="*/ 80066 w 285390"/>
              <a:gd name="T79" fmla="*/ 68576 h 285391"/>
              <a:gd name="T80" fmla="*/ 44851 w 285390"/>
              <a:gd name="T81" fmla="*/ 9030 h 285391"/>
              <a:gd name="T82" fmla="*/ 31830 w 285390"/>
              <a:gd name="T83" fmla="*/ 191461 h 285391"/>
              <a:gd name="T84" fmla="*/ 255002 w 285390"/>
              <a:gd name="T85" fmla="*/ 22037 h 285391"/>
              <a:gd name="T86" fmla="*/ 44851 w 285390"/>
              <a:gd name="T87" fmla="*/ 9030 h 285391"/>
              <a:gd name="T88" fmla="*/ 241981 w 285390"/>
              <a:gd name="T89" fmla="*/ 0 h 285391"/>
              <a:gd name="T90" fmla="*/ 263684 w 285390"/>
              <a:gd name="T91" fmla="*/ 194712 h 285391"/>
              <a:gd name="T92" fmla="*/ 286832 w 285390"/>
              <a:gd name="T93" fmla="*/ 247815 h 285391"/>
              <a:gd name="T94" fmla="*/ 265131 w 285390"/>
              <a:gd name="T95" fmla="*/ 286829 h 285391"/>
              <a:gd name="T96" fmla="*/ 0 w 285390"/>
              <a:gd name="T97" fmla="*/ 265155 h 285391"/>
              <a:gd name="T98" fmla="*/ 360 w 285390"/>
              <a:gd name="T99" fmla="*/ 246009 h 285391"/>
              <a:gd name="T100" fmla="*/ 23148 w 285390"/>
              <a:gd name="T101" fmla="*/ 22037 h 285391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85390" h="285391">
                <a:moveTo>
                  <a:pt x="121785" y="260350"/>
                </a:moveTo>
                <a:lnTo>
                  <a:pt x="162376" y="260350"/>
                </a:lnTo>
                <a:cubicBezTo>
                  <a:pt x="164531" y="260350"/>
                  <a:pt x="166328" y="262255"/>
                  <a:pt x="166328" y="264922"/>
                </a:cubicBezTo>
                <a:cubicBezTo>
                  <a:pt x="166328" y="267208"/>
                  <a:pt x="164531" y="269494"/>
                  <a:pt x="162376" y="269494"/>
                </a:cubicBezTo>
                <a:lnTo>
                  <a:pt x="121785" y="269494"/>
                </a:lnTo>
                <a:cubicBezTo>
                  <a:pt x="119271" y="269494"/>
                  <a:pt x="117475" y="267208"/>
                  <a:pt x="117475" y="264922"/>
                </a:cubicBezTo>
                <a:cubicBezTo>
                  <a:pt x="117475" y="262255"/>
                  <a:pt x="119271" y="260350"/>
                  <a:pt x="121785" y="260350"/>
                </a:cubicBezTo>
                <a:close/>
                <a:moveTo>
                  <a:pt x="8637" y="250526"/>
                </a:moveTo>
                <a:lnTo>
                  <a:pt x="8637" y="263825"/>
                </a:lnTo>
                <a:cubicBezTo>
                  <a:pt x="8637" y="270654"/>
                  <a:pt x="14395" y="276764"/>
                  <a:pt x="21593" y="276764"/>
                </a:cubicBezTo>
                <a:lnTo>
                  <a:pt x="263797" y="276764"/>
                </a:lnTo>
                <a:cubicBezTo>
                  <a:pt x="270995" y="276764"/>
                  <a:pt x="276753" y="270654"/>
                  <a:pt x="276753" y="263825"/>
                </a:cubicBezTo>
                <a:lnTo>
                  <a:pt x="276753" y="250526"/>
                </a:lnTo>
                <a:lnTo>
                  <a:pt x="8637" y="250526"/>
                </a:lnTo>
                <a:close/>
                <a:moveTo>
                  <a:pt x="30230" y="199127"/>
                </a:moveTo>
                <a:lnTo>
                  <a:pt x="10796" y="242259"/>
                </a:lnTo>
                <a:lnTo>
                  <a:pt x="274234" y="242259"/>
                </a:lnTo>
                <a:lnTo>
                  <a:pt x="255160" y="199127"/>
                </a:lnTo>
                <a:lnTo>
                  <a:pt x="30230" y="199127"/>
                </a:lnTo>
                <a:close/>
                <a:moveTo>
                  <a:pt x="203777" y="130170"/>
                </a:moveTo>
                <a:lnTo>
                  <a:pt x="203777" y="156098"/>
                </a:lnTo>
                <a:lnTo>
                  <a:pt x="211354" y="156098"/>
                </a:lnTo>
                <a:cubicBezTo>
                  <a:pt x="218209" y="156098"/>
                  <a:pt x="224342" y="150336"/>
                  <a:pt x="224342" y="143494"/>
                </a:cubicBezTo>
                <a:cubicBezTo>
                  <a:pt x="224342" y="136292"/>
                  <a:pt x="218209" y="130170"/>
                  <a:pt x="211354" y="130170"/>
                </a:cubicBezTo>
                <a:lnTo>
                  <a:pt x="203777" y="130170"/>
                </a:lnTo>
                <a:close/>
                <a:moveTo>
                  <a:pt x="72447" y="130170"/>
                </a:moveTo>
                <a:cubicBezTo>
                  <a:pt x="65232" y="130170"/>
                  <a:pt x="59459" y="136292"/>
                  <a:pt x="59459" y="143494"/>
                </a:cubicBezTo>
                <a:cubicBezTo>
                  <a:pt x="59459" y="150336"/>
                  <a:pt x="65232" y="156098"/>
                  <a:pt x="72447" y="156098"/>
                </a:cubicBezTo>
                <a:lnTo>
                  <a:pt x="79663" y="156098"/>
                </a:lnTo>
                <a:lnTo>
                  <a:pt x="79663" y="130170"/>
                </a:lnTo>
                <a:lnTo>
                  <a:pt x="72447" y="130170"/>
                </a:lnTo>
                <a:close/>
                <a:moveTo>
                  <a:pt x="174053" y="112713"/>
                </a:moveTo>
                <a:cubicBezTo>
                  <a:pt x="176720" y="112713"/>
                  <a:pt x="179006" y="114999"/>
                  <a:pt x="179006" y="117285"/>
                </a:cubicBezTo>
                <a:cubicBezTo>
                  <a:pt x="179006" y="119952"/>
                  <a:pt x="176720" y="121857"/>
                  <a:pt x="174053" y="121857"/>
                </a:cubicBezTo>
                <a:cubicBezTo>
                  <a:pt x="171767" y="121857"/>
                  <a:pt x="169862" y="119952"/>
                  <a:pt x="169862" y="117285"/>
                </a:cubicBezTo>
                <a:cubicBezTo>
                  <a:pt x="169862" y="114999"/>
                  <a:pt x="171767" y="112713"/>
                  <a:pt x="174053" y="112713"/>
                </a:cubicBezTo>
                <a:close/>
                <a:moveTo>
                  <a:pt x="174053" y="92075"/>
                </a:moveTo>
                <a:cubicBezTo>
                  <a:pt x="176720" y="92075"/>
                  <a:pt x="179006" y="93980"/>
                  <a:pt x="179006" y="96647"/>
                </a:cubicBezTo>
                <a:cubicBezTo>
                  <a:pt x="179006" y="99314"/>
                  <a:pt x="176720" y="101219"/>
                  <a:pt x="174053" y="101219"/>
                </a:cubicBezTo>
                <a:cubicBezTo>
                  <a:pt x="171767" y="101219"/>
                  <a:pt x="169862" y="99314"/>
                  <a:pt x="169862" y="96647"/>
                </a:cubicBezTo>
                <a:cubicBezTo>
                  <a:pt x="169862" y="93980"/>
                  <a:pt x="171767" y="92075"/>
                  <a:pt x="174053" y="92075"/>
                </a:cubicBezTo>
                <a:close/>
                <a:moveTo>
                  <a:pt x="174053" y="73025"/>
                </a:moveTo>
                <a:cubicBezTo>
                  <a:pt x="176720" y="73025"/>
                  <a:pt x="179006" y="75311"/>
                  <a:pt x="179006" y="77597"/>
                </a:cubicBezTo>
                <a:cubicBezTo>
                  <a:pt x="179006" y="79883"/>
                  <a:pt x="176720" y="82169"/>
                  <a:pt x="174053" y="82169"/>
                </a:cubicBezTo>
                <a:cubicBezTo>
                  <a:pt x="171767" y="82169"/>
                  <a:pt x="169862" y="79883"/>
                  <a:pt x="169862" y="77597"/>
                </a:cubicBezTo>
                <a:cubicBezTo>
                  <a:pt x="169862" y="75311"/>
                  <a:pt x="171767" y="73025"/>
                  <a:pt x="174053" y="73025"/>
                </a:cubicBezTo>
                <a:close/>
                <a:moveTo>
                  <a:pt x="148936" y="61030"/>
                </a:moveTo>
                <a:lnTo>
                  <a:pt x="148936" y="156098"/>
                </a:lnTo>
                <a:lnTo>
                  <a:pt x="169501" y="156098"/>
                </a:lnTo>
                <a:lnTo>
                  <a:pt x="169501" y="137372"/>
                </a:lnTo>
                <a:cubicBezTo>
                  <a:pt x="169501" y="134852"/>
                  <a:pt x="171306" y="133051"/>
                  <a:pt x="173470" y="133051"/>
                </a:cubicBezTo>
                <a:cubicBezTo>
                  <a:pt x="175996" y="133051"/>
                  <a:pt x="178161" y="134852"/>
                  <a:pt x="178161" y="137372"/>
                </a:cubicBezTo>
                <a:lnTo>
                  <a:pt x="178161" y="156098"/>
                </a:lnTo>
                <a:lnTo>
                  <a:pt x="195479" y="156098"/>
                </a:lnTo>
                <a:lnTo>
                  <a:pt x="195479" y="68232"/>
                </a:lnTo>
                <a:cubicBezTo>
                  <a:pt x="195479" y="64271"/>
                  <a:pt x="191871" y="61030"/>
                  <a:pt x="187902" y="61030"/>
                </a:cubicBezTo>
                <a:lnTo>
                  <a:pt x="148936" y="61030"/>
                </a:lnTo>
                <a:close/>
                <a:moveTo>
                  <a:pt x="120433" y="61030"/>
                </a:moveTo>
                <a:lnTo>
                  <a:pt x="120433" y="156098"/>
                </a:lnTo>
                <a:lnTo>
                  <a:pt x="140277" y="156098"/>
                </a:lnTo>
                <a:lnTo>
                  <a:pt x="140277" y="61030"/>
                </a:lnTo>
                <a:lnTo>
                  <a:pt x="120433" y="61030"/>
                </a:lnTo>
                <a:close/>
                <a:moveTo>
                  <a:pt x="95538" y="61030"/>
                </a:moveTo>
                <a:cubicBezTo>
                  <a:pt x="91570" y="61030"/>
                  <a:pt x="88322" y="64271"/>
                  <a:pt x="88322" y="68232"/>
                </a:cubicBezTo>
                <a:lnTo>
                  <a:pt x="88322" y="156098"/>
                </a:lnTo>
                <a:lnTo>
                  <a:pt x="111413" y="156098"/>
                </a:lnTo>
                <a:lnTo>
                  <a:pt x="111413" y="61030"/>
                </a:lnTo>
                <a:lnTo>
                  <a:pt x="95538" y="61030"/>
                </a:lnTo>
                <a:close/>
                <a:moveTo>
                  <a:pt x="95538" y="52388"/>
                </a:moveTo>
                <a:lnTo>
                  <a:pt x="187902" y="52388"/>
                </a:lnTo>
                <a:cubicBezTo>
                  <a:pt x="196922" y="52388"/>
                  <a:pt x="203777" y="59590"/>
                  <a:pt x="203777" y="68232"/>
                </a:cubicBezTo>
                <a:lnTo>
                  <a:pt x="203777" y="121528"/>
                </a:lnTo>
                <a:lnTo>
                  <a:pt x="211354" y="121528"/>
                </a:lnTo>
                <a:cubicBezTo>
                  <a:pt x="223260" y="121528"/>
                  <a:pt x="233001" y="131251"/>
                  <a:pt x="233001" y="143494"/>
                </a:cubicBezTo>
                <a:cubicBezTo>
                  <a:pt x="233001" y="155017"/>
                  <a:pt x="223260" y="164740"/>
                  <a:pt x="211354" y="164740"/>
                </a:cubicBezTo>
                <a:lnTo>
                  <a:pt x="72447" y="164740"/>
                </a:lnTo>
                <a:cubicBezTo>
                  <a:pt x="60541" y="164740"/>
                  <a:pt x="50800" y="155017"/>
                  <a:pt x="50800" y="143494"/>
                </a:cubicBezTo>
                <a:cubicBezTo>
                  <a:pt x="50800" y="131251"/>
                  <a:pt x="60541" y="121528"/>
                  <a:pt x="72447" y="121528"/>
                </a:cubicBezTo>
                <a:lnTo>
                  <a:pt x="79663" y="121528"/>
                </a:lnTo>
                <a:lnTo>
                  <a:pt x="79663" y="68232"/>
                </a:lnTo>
                <a:cubicBezTo>
                  <a:pt x="79663" y="59590"/>
                  <a:pt x="86879" y="52388"/>
                  <a:pt x="95538" y="52388"/>
                </a:cubicBezTo>
                <a:close/>
                <a:moveTo>
                  <a:pt x="44626" y="8986"/>
                </a:moveTo>
                <a:cubicBezTo>
                  <a:pt x="37788" y="8986"/>
                  <a:pt x="31670" y="14737"/>
                  <a:pt x="31670" y="21925"/>
                </a:cubicBezTo>
                <a:lnTo>
                  <a:pt x="31670" y="190500"/>
                </a:lnTo>
                <a:lnTo>
                  <a:pt x="253720" y="190500"/>
                </a:lnTo>
                <a:lnTo>
                  <a:pt x="253720" y="21925"/>
                </a:lnTo>
                <a:cubicBezTo>
                  <a:pt x="253720" y="14737"/>
                  <a:pt x="247962" y="8986"/>
                  <a:pt x="240764" y="8986"/>
                </a:cubicBezTo>
                <a:lnTo>
                  <a:pt x="44626" y="8986"/>
                </a:lnTo>
                <a:close/>
                <a:moveTo>
                  <a:pt x="44626" y="0"/>
                </a:moveTo>
                <a:lnTo>
                  <a:pt x="240764" y="0"/>
                </a:lnTo>
                <a:cubicBezTo>
                  <a:pt x="252641" y="0"/>
                  <a:pt x="262358" y="9704"/>
                  <a:pt x="262358" y="21925"/>
                </a:cubicBezTo>
                <a:lnTo>
                  <a:pt x="262358" y="193735"/>
                </a:lnTo>
                <a:lnTo>
                  <a:pt x="285030" y="244775"/>
                </a:lnTo>
                <a:cubicBezTo>
                  <a:pt x="285390" y="245134"/>
                  <a:pt x="285390" y="245853"/>
                  <a:pt x="285390" y="246572"/>
                </a:cubicBezTo>
                <a:lnTo>
                  <a:pt x="285390" y="263825"/>
                </a:lnTo>
                <a:cubicBezTo>
                  <a:pt x="285390" y="275686"/>
                  <a:pt x="275673" y="285391"/>
                  <a:pt x="263797" y="285391"/>
                </a:cubicBezTo>
                <a:lnTo>
                  <a:pt x="21593" y="285391"/>
                </a:lnTo>
                <a:cubicBezTo>
                  <a:pt x="9717" y="285391"/>
                  <a:pt x="0" y="275686"/>
                  <a:pt x="0" y="263825"/>
                </a:cubicBezTo>
                <a:lnTo>
                  <a:pt x="0" y="246572"/>
                </a:lnTo>
                <a:cubicBezTo>
                  <a:pt x="0" y="245853"/>
                  <a:pt x="0" y="245134"/>
                  <a:pt x="360" y="244775"/>
                </a:cubicBezTo>
                <a:lnTo>
                  <a:pt x="23032" y="193735"/>
                </a:lnTo>
                <a:lnTo>
                  <a:pt x="23032" y="21925"/>
                </a:lnTo>
                <a:cubicBezTo>
                  <a:pt x="23032" y="9704"/>
                  <a:pt x="32749" y="0"/>
                  <a:pt x="446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85" name="Freeform 1005">
            <a:extLst>
              <a:ext uri="{FF2B5EF4-FFF2-40B4-BE49-F238E27FC236}">
                <a16:creationId xmlns:a16="http://schemas.microsoft.com/office/drawing/2014/main" id="{DC4E344D-693A-1041-80E6-4EA9F67BA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80618" y="3178585"/>
            <a:ext cx="316107" cy="321466"/>
          </a:xfrm>
          <a:custGeom>
            <a:avLst/>
            <a:gdLst>
              <a:gd name="T0" fmla="*/ 71471 w 280627"/>
              <a:gd name="T1" fmla="*/ 265032 h 285391"/>
              <a:gd name="T2" fmla="*/ 64824 w 280627"/>
              <a:gd name="T3" fmla="*/ 267868 h 285391"/>
              <a:gd name="T4" fmla="*/ 108313 w 280627"/>
              <a:gd name="T5" fmla="*/ 261663 h 285391"/>
              <a:gd name="T6" fmla="*/ 103718 w 280627"/>
              <a:gd name="T7" fmla="*/ 266258 h 285391"/>
              <a:gd name="T8" fmla="*/ 8701 w 280627"/>
              <a:gd name="T9" fmla="*/ 259013 h 285391"/>
              <a:gd name="T10" fmla="*/ 145385 w 280627"/>
              <a:gd name="T11" fmla="*/ 270935 h 285391"/>
              <a:gd name="T12" fmla="*/ 8701 w 280627"/>
              <a:gd name="T13" fmla="*/ 247454 h 285391"/>
              <a:gd name="T14" fmla="*/ 205960 w 280627"/>
              <a:gd name="T15" fmla="*/ 213479 h 285391"/>
              <a:gd name="T16" fmla="*/ 221350 w 280627"/>
              <a:gd name="T17" fmla="*/ 244630 h 285391"/>
              <a:gd name="T18" fmla="*/ 222065 w 280627"/>
              <a:gd name="T19" fmla="*/ 205510 h 285391"/>
              <a:gd name="T20" fmla="*/ 231013 w 280627"/>
              <a:gd name="T21" fmla="*/ 205510 h 285391"/>
              <a:gd name="T22" fmla="*/ 229939 w 280627"/>
              <a:gd name="T23" fmla="*/ 251874 h 285391"/>
              <a:gd name="T24" fmla="*/ 194507 w 280627"/>
              <a:gd name="T25" fmla="*/ 251874 h 285391"/>
              <a:gd name="T26" fmla="*/ 193433 w 280627"/>
              <a:gd name="T27" fmla="*/ 205510 h 285391"/>
              <a:gd name="T28" fmla="*/ 154086 w 280627"/>
              <a:gd name="T29" fmla="*/ 166534 h 285391"/>
              <a:gd name="T30" fmla="*/ 266118 w 280627"/>
              <a:gd name="T31" fmla="*/ 278159 h 285391"/>
              <a:gd name="T32" fmla="*/ 266118 w 280627"/>
              <a:gd name="T33" fmla="*/ 159671 h 285391"/>
              <a:gd name="T34" fmla="*/ 112729 w 280627"/>
              <a:gd name="T35" fmla="*/ 95316 h 285391"/>
              <a:gd name="T36" fmla="*/ 129627 w 280627"/>
              <a:gd name="T37" fmla="*/ 121916 h 285391"/>
              <a:gd name="T38" fmla="*/ 91790 w 280627"/>
              <a:gd name="T39" fmla="*/ 124466 h 285391"/>
              <a:gd name="T40" fmla="*/ 112729 w 280627"/>
              <a:gd name="T41" fmla="*/ 185316 h 285391"/>
              <a:gd name="T42" fmla="*/ 103913 w 280627"/>
              <a:gd name="T43" fmla="*/ 191875 h 285391"/>
              <a:gd name="T44" fmla="*/ 87014 w 280627"/>
              <a:gd name="T45" fmla="*/ 165276 h 285391"/>
              <a:gd name="T46" fmla="*/ 124852 w 280627"/>
              <a:gd name="T47" fmla="*/ 162360 h 285391"/>
              <a:gd name="T48" fmla="*/ 103913 w 280627"/>
              <a:gd name="T49" fmla="*/ 101876 h 285391"/>
              <a:gd name="T50" fmla="*/ 207745 w 280627"/>
              <a:gd name="T51" fmla="*/ 89951 h 285391"/>
              <a:gd name="T52" fmla="*/ 249802 w 280627"/>
              <a:gd name="T53" fmla="*/ 150640 h 285391"/>
              <a:gd name="T54" fmla="*/ 207745 w 280627"/>
              <a:gd name="T55" fmla="*/ 89951 h 285391"/>
              <a:gd name="T56" fmla="*/ 163425 w 280627"/>
              <a:gd name="T57" fmla="*/ 101401 h 285391"/>
              <a:gd name="T58" fmla="*/ 43755 w 280627"/>
              <a:gd name="T59" fmla="*/ 144574 h 285391"/>
              <a:gd name="T60" fmla="*/ 135310 w 280627"/>
              <a:gd name="T61" fmla="*/ 208789 h 285391"/>
              <a:gd name="T62" fmla="*/ 35105 w 280627"/>
              <a:gd name="T63" fmla="*/ 144574 h 285391"/>
              <a:gd name="T64" fmla="*/ 8701 w 280627"/>
              <a:gd name="T65" fmla="*/ 56715 h 285391"/>
              <a:gd name="T66" fmla="*/ 145385 w 280627"/>
              <a:gd name="T67" fmla="*/ 243481 h 285391"/>
              <a:gd name="T68" fmla="*/ 168588 w 280627"/>
              <a:gd name="T69" fmla="*/ 150640 h 285391"/>
              <a:gd name="T70" fmla="*/ 209557 w 280627"/>
              <a:gd name="T71" fmla="*/ 81280 h 285391"/>
              <a:gd name="T72" fmla="*/ 22115 w 280627"/>
              <a:gd name="T73" fmla="*/ 43711 h 285391"/>
              <a:gd name="T74" fmla="*/ 105122 w 280627"/>
              <a:gd name="T75" fmla="*/ 26756 h 285391"/>
              <a:gd name="T76" fmla="*/ 27918 w 280627"/>
              <a:gd name="T77" fmla="*/ 9030 h 285391"/>
              <a:gd name="T78" fmla="*/ 22115 w 280627"/>
              <a:gd name="T79" fmla="*/ 35041 h 285391"/>
              <a:gd name="T80" fmla="*/ 209557 w 280627"/>
              <a:gd name="T81" fmla="*/ 27816 h 285391"/>
              <a:gd name="T82" fmla="*/ 27918 w 280627"/>
              <a:gd name="T83" fmla="*/ 0 h 285391"/>
              <a:gd name="T84" fmla="*/ 217896 w 280627"/>
              <a:gd name="T85" fmla="*/ 81280 h 285391"/>
              <a:gd name="T86" fmla="*/ 258503 w 280627"/>
              <a:gd name="T87" fmla="*/ 150640 h 285391"/>
              <a:gd name="T88" fmla="*/ 282069 w 280627"/>
              <a:gd name="T89" fmla="*/ 270935 h 285391"/>
              <a:gd name="T90" fmla="*/ 0 w 280627"/>
              <a:gd name="T91" fmla="*/ 259013 h 285391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80627" h="285391">
                <a:moveTo>
                  <a:pt x="64492" y="260527"/>
                </a:moveTo>
                <a:cubicBezTo>
                  <a:pt x="66145" y="258763"/>
                  <a:pt x="68791" y="258763"/>
                  <a:pt x="70114" y="260527"/>
                </a:cubicBezTo>
                <a:cubicBezTo>
                  <a:pt x="70775" y="261233"/>
                  <a:pt x="71106" y="262291"/>
                  <a:pt x="71106" y="263702"/>
                </a:cubicBezTo>
                <a:cubicBezTo>
                  <a:pt x="71106" y="264760"/>
                  <a:pt x="70775" y="265819"/>
                  <a:pt x="70114" y="266524"/>
                </a:cubicBezTo>
                <a:cubicBezTo>
                  <a:pt x="69453" y="267583"/>
                  <a:pt x="68460" y="267935"/>
                  <a:pt x="67468" y="267935"/>
                </a:cubicBezTo>
                <a:cubicBezTo>
                  <a:pt x="66476" y="267935"/>
                  <a:pt x="65153" y="267583"/>
                  <a:pt x="64492" y="266524"/>
                </a:cubicBezTo>
                <a:cubicBezTo>
                  <a:pt x="63830" y="265819"/>
                  <a:pt x="63500" y="264760"/>
                  <a:pt x="63500" y="263702"/>
                </a:cubicBezTo>
                <a:cubicBezTo>
                  <a:pt x="63500" y="262291"/>
                  <a:pt x="63830" y="261233"/>
                  <a:pt x="64492" y="260527"/>
                </a:cubicBezTo>
                <a:close/>
                <a:moveTo>
                  <a:pt x="107759" y="260350"/>
                </a:moveTo>
                <a:cubicBezTo>
                  <a:pt x="110426" y="260350"/>
                  <a:pt x="112331" y="262255"/>
                  <a:pt x="112331" y="264922"/>
                </a:cubicBezTo>
                <a:cubicBezTo>
                  <a:pt x="112331" y="267208"/>
                  <a:pt x="110426" y="269494"/>
                  <a:pt x="107759" y="269494"/>
                </a:cubicBezTo>
                <a:cubicBezTo>
                  <a:pt x="105092" y="269494"/>
                  <a:pt x="103187" y="267208"/>
                  <a:pt x="103187" y="264922"/>
                </a:cubicBezTo>
                <a:cubicBezTo>
                  <a:pt x="103187" y="262255"/>
                  <a:pt x="105092" y="260350"/>
                  <a:pt x="107759" y="260350"/>
                </a:cubicBezTo>
                <a:close/>
                <a:moveTo>
                  <a:pt x="8657" y="246213"/>
                </a:moveTo>
                <a:lnTo>
                  <a:pt x="8657" y="257714"/>
                </a:lnTo>
                <a:cubicBezTo>
                  <a:pt x="8657" y="268138"/>
                  <a:pt x="17313" y="276764"/>
                  <a:pt x="27774" y="276764"/>
                </a:cubicBezTo>
                <a:lnTo>
                  <a:pt x="146445" y="276764"/>
                </a:lnTo>
                <a:cubicBezTo>
                  <a:pt x="145363" y="274608"/>
                  <a:pt x="144641" y="272092"/>
                  <a:pt x="144641" y="269576"/>
                </a:cubicBezTo>
                <a:lnTo>
                  <a:pt x="144641" y="250526"/>
                </a:lnTo>
                <a:lnTo>
                  <a:pt x="22003" y="250526"/>
                </a:lnTo>
                <a:cubicBezTo>
                  <a:pt x="16953" y="250526"/>
                  <a:pt x="12264" y="249088"/>
                  <a:pt x="8657" y="246213"/>
                </a:cubicBezTo>
                <a:close/>
                <a:moveTo>
                  <a:pt x="210959" y="194388"/>
                </a:moveTo>
                <a:cubicBezTo>
                  <a:pt x="205262" y="194388"/>
                  <a:pt x="200989" y="199073"/>
                  <a:pt x="200989" y="204479"/>
                </a:cubicBezTo>
                <a:cubicBezTo>
                  <a:pt x="200989" y="207723"/>
                  <a:pt x="202413" y="210606"/>
                  <a:pt x="204906" y="212408"/>
                </a:cubicBezTo>
                <a:cubicBezTo>
                  <a:pt x="206330" y="213489"/>
                  <a:pt x="207042" y="214931"/>
                  <a:pt x="206330" y="216733"/>
                </a:cubicBezTo>
                <a:lnTo>
                  <a:pt x="201701" y="243403"/>
                </a:lnTo>
                <a:lnTo>
                  <a:pt x="220217" y="243403"/>
                </a:lnTo>
                <a:lnTo>
                  <a:pt x="215588" y="216733"/>
                </a:lnTo>
                <a:cubicBezTo>
                  <a:pt x="215232" y="214931"/>
                  <a:pt x="215944" y="213489"/>
                  <a:pt x="217012" y="212408"/>
                </a:cubicBezTo>
                <a:cubicBezTo>
                  <a:pt x="219505" y="210606"/>
                  <a:pt x="220929" y="207723"/>
                  <a:pt x="220929" y="204479"/>
                </a:cubicBezTo>
                <a:cubicBezTo>
                  <a:pt x="220929" y="199073"/>
                  <a:pt x="216656" y="194388"/>
                  <a:pt x="210959" y="194388"/>
                </a:cubicBezTo>
                <a:close/>
                <a:moveTo>
                  <a:pt x="210959" y="185738"/>
                </a:moveTo>
                <a:cubicBezTo>
                  <a:pt x="221285" y="185738"/>
                  <a:pt x="229831" y="194028"/>
                  <a:pt x="229831" y="204479"/>
                </a:cubicBezTo>
                <a:cubicBezTo>
                  <a:pt x="229831" y="209525"/>
                  <a:pt x="227695" y="214210"/>
                  <a:pt x="224490" y="217454"/>
                </a:cubicBezTo>
                <a:lnTo>
                  <a:pt x="229831" y="247007"/>
                </a:lnTo>
                <a:cubicBezTo>
                  <a:pt x="229831" y="248088"/>
                  <a:pt x="229475" y="249530"/>
                  <a:pt x="228763" y="250611"/>
                </a:cubicBezTo>
                <a:cubicBezTo>
                  <a:pt x="227695" y="251332"/>
                  <a:pt x="226627" y="252053"/>
                  <a:pt x="225558" y="252053"/>
                </a:cubicBezTo>
                <a:lnTo>
                  <a:pt x="196716" y="252053"/>
                </a:lnTo>
                <a:cubicBezTo>
                  <a:pt x="195292" y="252053"/>
                  <a:pt x="194224" y="251332"/>
                  <a:pt x="193512" y="250611"/>
                </a:cubicBezTo>
                <a:cubicBezTo>
                  <a:pt x="192799" y="249530"/>
                  <a:pt x="192087" y="248088"/>
                  <a:pt x="192443" y="247007"/>
                </a:cubicBezTo>
                <a:lnTo>
                  <a:pt x="197784" y="217454"/>
                </a:lnTo>
                <a:cubicBezTo>
                  <a:pt x="194224" y="214210"/>
                  <a:pt x="192443" y="209525"/>
                  <a:pt x="192443" y="204479"/>
                </a:cubicBezTo>
                <a:cubicBezTo>
                  <a:pt x="192443" y="194028"/>
                  <a:pt x="200989" y="185738"/>
                  <a:pt x="210959" y="185738"/>
                </a:cubicBezTo>
                <a:close/>
                <a:moveTo>
                  <a:pt x="160512" y="158870"/>
                </a:moveTo>
                <a:cubicBezTo>
                  <a:pt x="156545" y="158870"/>
                  <a:pt x="153298" y="161745"/>
                  <a:pt x="153298" y="165699"/>
                </a:cubicBezTo>
                <a:lnTo>
                  <a:pt x="153298" y="269576"/>
                </a:lnTo>
                <a:cubicBezTo>
                  <a:pt x="153298" y="273529"/>
                  <a:pt x="156545" y="276764"/>
                  <a:pt x="160512" y="276764"/>
                </a:cubicBezTo>
                <a:lnTo>
                  <a:pt x="264756" y="276764"/>
                </a:lnTo>
                <a:cubicBezTo>
                  <a:pt x="268363" y="276764"/>
                  <a:pt x="271970" y="273529"/>
                  <a:pt x="271970" y="269576"/>
                </a:cubicBezTo>
                <a:lnTo>
                  <a:pt x="271970" y="165699"/>
                </a:lnTo>
                <a:cubicBezTo>
                  <a:pt x="271970" y="161745"/>
                  <a:pt x="268363" y="158870"/>
                  <a:pt x="264756" y="158870"/>
                </a:cubicBezTo>
                <a:lnTo>
                  <a:pt x="160512" y="158870"/>
                </a:lnTo>
                <a:close/>
                <a:moveTo>
                  <a:pt x="107767" y="90488"/>
                </a:moveTo>
                <a:cubicBezTo>
                  <a:pt x="110325" y="90488"/>
                  <a:pt x="112153" y="92300"/>
                  <a:pt x="112153" y="94838"/>
                </a:cubicBezTo>
                <a:lnTo>
                  <a:pt x="112153" y="101002"/>
                </a:lnTo>
                <a:cubicBezTo>
                  <a:pt x="120558" y="102814"/>
                  <a:pt x="127868" y="107890"/>
                  <a:pt x="131157" y="115503"/>
                </a:cubicBezTo>
                <a:cubicBezTo>
                  <a:pt x="132253" y="117678"/>
                  <a:pt x="131157" y="120216"/>
                  <a:pt x="128964" y="121304"/>
                </a:cubicBezTo>
                <a:cubicBezTo>
                  <a:pt x="126771" y="122029"/>
                  <a:pt x="124213" y="121304"/>
                  <a:pt x="123117" y="119129"/>
                </a:cubicBezTo>
                <a:cubicBezTo>
                  <a:pt x="120558" y="113328"/>
                  <a:pt x="114711" y="109703"/>
                  <a:pt x="107767" y="109703"/>
                </a:cubicBezTo>
                <a:cubicBezTo>
                  <a:pt x="98630" y="109703"/>
                  <a:pt x="91321" y="115866"/>
                  <a:pt x="91321" y="123842"/>
                </a:cubicBezTo>
                <a:cubicBezTo>
                  <a:pt x="91321" y="130368"/>
                  <a:pt x="93879" y="138343"/>
                  <a:pt x="107767" y="138343"/>
                </a:cubicBezTo>
                <a:cubicBezTo>
                  <a:pt x="126406" y="138343"/>
                  <a:pt x="132984" y="150307"/>
                  <a:pt x="132984" y="161546"/>
                </a:cubicBezTo>
                <a:cubicBezTo>
                  <a:pt x="132984" y="172785"/>
                  <a:pt x="123848" y="182574"/>
                  <a:pt x="112153" y="184386"/>
                </a:cubicBezTo>
                <a:lnTo>
                  <a:pt x="112153" y="190913"/>
                </a:lnTo>
                <a:cubicBezTo>
                  <a:pt x="112153" y="193088"/>
                  <a:pt x="110325" y="194901"/>
                  <a:pt x="107767" y="194901"/>
                </a:cubicBezTo>
                <a:cubicBezTo>
                  <a:pt x="105209" y="194901"/>
                  <a:pt x="103381" y="193088"/>
                  <a:pt x="103381" y="190913"/>
                </a:cubicBezTo>
                <a:lnTo>
                  <a:pt x="103381" y="184386"/>
                </a:lnTo>
                <a:cubicBezTo>
                  <a:pt x="94610" y="182936"/>
                  <a:pt x="87666" y="177498"/>
                  <a:pt x="84012" y="169885"/>
                </a:cubicBezTo>
                <a:cubicBezTo>
                  <a:pt x="83281" y="167709"/>
                  <a:pt x="84377" y="165172"/>
                  <a:pt x="86570" y="164447"/>
                </a:cubicBezTo>
                <a:cubicBezTo>
                  <a:pt x="88763" y="163359"/>
                  <a:pt x="91321" y="164447"/>
                  <a:pt x="92417" y="166622"/>
                </a:cubicBezTo>
                <a:cubicBezTo>
                  <a:pt x="94610" y="172423"/>
                  <a:pt x="100823" y="176048"/>
                  <a:pt x="107767" y="176048"/>
                </a:cubicBezTo>
                <a:cubicBezTo>
                  <a:pt x="116904" y="176048"/>
                  <a:pt x="124213" y="169522"/>
                  <a:pt x="124213" y="161546"/>
                </a:cubicBezTo>
                <a:cubicBezTo>
                  <a:pt x="124213" y="155020"/>
                  <a:pt x="121289" y="147044"/>
                  <a:pt x="107767" y="147044"/>
                </a:cubicBezTo>
                <a:cubicBezTo>
                  <a:pt x="89128" y="147044"/>
                  <a:pt x="82550" y="135081"/>
                  <a:pt x="82550" y="123842"/>
                </a:cubicBezTo>
                <a:cubicBezTo>
                  <a:pt x="82550" y="112603"/>
                  <a:pt x="91321" y="103177"/>
                  <a:pt x="103381" y="101364"/>
                </a:cubicBezTo>
                <a:lnTo>
                  <a:pt x="103381" y="94838"/>
                </a:lnTo>
                <a:cubicBezTo>
                  <a:pt x="103381" y="92300"/>
                  <a:pt x="105209" y="90488"/>
                  <a:pt x="107767" y="90488"/>
                </a:cubicBezTo>
                <a:close/>
                <a:moveTo>
                  <a:pt x="206683" y="89499"/>
                </a:moveTo>
                <a:cubicBezTo>
                  <a:pt x="190090" y="89499"/>
                  <a:pt x="176383" y="103157"/>
                  <a:pt x="176383" y="119691"/>
                </a:cubicBezTo>
                <a:lnTo>
                  <a:pt x="176383" y="149884"/>
                </a:lnTo>
                <a:lnTo>
                  <a:pt x="248524" y="149884"/>
                </a:lnTo>
                <a:lnTo>
                  <a:pt x="248524" y="119691"/>
                </a:lnTo>
                <a:cubicBezTo>
                  <a:pt x="248524" y="103157"/>
                  <a:pt x="235178" y="89499"/>
                  <a:pt x="218225" y="89499"/>
                </a:cubicBezTo>
                <a:lnTo>
                  <a:pt x="206683" y="89499"/>
                </a:lnTo>
                <a:close/>
                <a:moveTo>
                  <a:pt x="108081" y="69850"/>
                </a:moveTo>
                <a:cubicBezTo>
                  <a:pt x="129239" y="69850"/>
                  <a:pt x="148962" y="78874"/>
                  <a:pt x="162948" y="94757"/>
                </a:cubicBezTo>
                <a:cubicBezTo>
                  <a:pt x="164741" y="96923"/>
                  <a:pt x="164383" y="99450"/>
                  <a:pt x="162589" y="100893"/>
                </a:cubicBezTo>
                <a:cubicBezTo>
                  <a:pt x="160796" y="102337"/>
                  <a:pt x="158286" y="102337"/>
                  <a:pt x="156493" y="100532"/>
                </a:cubicBezTo>
                <a:cubicBezTo>
                  <a:pt x="144300" y="86455"/>
                  <a:pt x="126729" y="78513"/>
                  <a:pt x="108081" y="78513"/>
                </a:cubicBezTo>
                <a:cubicBezTo>
                  <a:pt x="72579" y="78513"/>
                  <a:pt x="43531" y="107752"/>
                  <a:pt x="43531" y="143849"/>
                </a:cubicBezTo>
                <a:cubicBezTo>
                  <a:pt x="43531" y="179586"/>
                  <a:pt x="72579" y="208825"/>
                  <a:pt x="108081" y="208825"/>
                </a:cubicBezTo>
                <a:cubicBezTo>
                  <a:pt x="115253" y="208825"/>
                  <a:pt x="122425" y="207381"/>
                  <a:pt x="129239" y="205215"/>
                </a:cubicBezTo>
                <a:cubicBezTo>
                  <a:pt x="131391" y="204132"/>
                  <a:pt x="133901" y="205576"/>
                  <a:pt x="134618" y="207742"/>
                </a:cubicBezTo>
                <a:cubicBezTo>
                  <a:pt x="135335" y="209908"/>
                  <a:pt x="134259" y="212435"/>
                  <a:pt x="132108" y="213157"/>
                </a:cubicBezTo>
                <a:cubicBezTo>
                  <a:pt x="124218" y="216044"/>
                  <a:pt x="116329" y="217127"/>
                  <a:pt x="108081" y="217127"/>
                </a:cubicBezTo>
                <a:cubicBezTo>
                  <a:pt x="67558" y="217127"/>
                  <a:pt x="34925" y="184278"/>
                  <a:pt x="34925" y="143849"/>
                </a:cubicBezTo>
                <a:cubicBezTo>
                  <a:pt x="34925" y="103059"/>
                  <a:pt x="67558" y="69850"/>
                  <a:pt x="108081" y="69850"/>
                </a:cubicBezTo>
                <a:close/>
                <a:moveTo>
                  <a:pt x="22003" y="43491"/>
                </a:moveTo>
                <a:cubicBezTo>
                  <a:pt x="14789" y="43491"/>
                  <a:pt x="8657" y="49242"/>
                  <a:pt x="8657" y="56431"/>
                </a:cubicBezTo>
                <a:lnTo>
                  <a:pt x="8657" y="229319"/>
                </a:lnTo>
                <a:cubicBezTo>
                  <a:pt x="8657" y="236508"/>
                  <a:pt x="14789" y="242259"/>
                  <a:pt x="22003" y="242259"/>
                </a:cubicBezTo>
                <a:lnTo>
                  <a:pt x="144641" y="242259"/>
                </a:lnTo>
                <a:lnTo>
                  <a:pt x="144641" y="165699"/>
                </a:lnTo>
                <a:cubicBezTo>
                  <a:pt x="144641" y="157072"/>
                  <a:pt x="151855" y="149884"/>
                  <a:pt x="160512" y="149884"/>
                </a:cubicBezTo>
                <a:lnTo>
                  <a:pt x="167726" y="149884"/>
                </a:lnTo>
                <a:lnTo>
                  <a:pt x="167726" y="119691"/>
                </a:lnTo>
                <a:cubicBezTo>
                  <a:pt x="167726" y="98125"/>
                  <a:pt x="185040" y="80872"/>
                  <a:pt x="206683" y="80872"/>
                </a:cubicBezTo>
                <a:lnTo>
                  <a:pt x="208486" y="80872"/>
                </a:lnTo>
                <a:lnTo>
                  <a:pt x="208486" y="56431"/>
                </a:lnTo>
                <a:cubicBezTo>
                  <a:pt x="208486" y="49242"/>
                  <a:pt x="202354" y="43491"/>
                  <a:pt x="195140" y="43491"/>
                </a:cubicBezTo>
                <a:lnTo>
                  <a:pt x="22003" y="43491"/>
                </a:lnTo>
                <a:close/>
                <a:moveTo>
                  <a:pt x="104584" y="17463"/>
                </a:moveTo>
                <a:cubicBezTo>
                  <a:pt x="107251" y="17463"/>
                  <a:pt x="109156" y="19661"/>
                  <a:pt x="109156" y="22225"/>
                </a:cubicBezTo>
                <a:cubicBezTo>
                  <a:pt x="109156" y="24423"/>
                  <a:pt x="107251" y="26621"/>
                  <a:pt x="104584" y="26621"/>
                </a:cubicBezTo>
                <a:cubicBezTo>
                  <a:pt x="101917" y="26621"/>
                  <a:pt x="100012" y="24423"/>
                  <a:pt x="100012" y="22225"/>
                </a:cubicBezTo>
                <a:cubicBezTo>
                  <a:pt x="100012" y="19661"/>
                  <a:pt x="101917" y="17463"/>
                  <a:pt x="104584" y="17463"/>
                </a:cubicBezTo>
                <a:close/>
                <a:moveTo>
                  <a:pt x="27774" y="8986"/>
                </a:moveTo>
                <a:cubicBezTo>
                  <a:pt x="17313" y="8986"/>
                  <a:pt x="8657" y="17253"/>
                  <a:pt x="8657" y="27676"/>
                </a:cubicBezTo>
                <a:lnTo>
                  <a:pt x="8657" y="39178"/>
                </a:lnTo>
                <a:cubicBezTo>
                  <a:pt x="12264" y="36303"/>
                  <a:pt x="16953" y="34865"/>
                  <a:pt x="22003" y="34865"/>
                </a:cubicBezTo>
                <a:lnTo>
                  <a:pt x="195140" y="34865"/>
                </a:lnTo>
                <a:cubicBezTo>
                  <a:pt x="200190" y="34865"/>
                  <a:pt x="204518" y="36303"/>
                  <a:pt x="208486" y="39178"/>
                </a:cubicBezTo>
                <a:lnTo>
                  <a:pt x="208486" y="27676"/>
                </a:lnTo>
                <a:cubicBezTo>
                  <a:pt x="208486" y="17253"/>
                  <a:pt x="199829" y="8986"/>
                  <a:pt x="189368" y="8986"/>
                </a:cubicBezTo>
                <a:lnTo>
                  <a:pt x="27774" y="8986"/>
                </a:lnTo>
                <a:close/>
                <a:moveTo>
                  <a:pt x="27774" y="0"/>
                </a:moveTo>
                <a:lnTo>
                  <a:pt x="189368" y="0"/>
                </a:lnTo>
                <a:cubicBezTo>
                  <a:pt x="204518" y="0"/>
                  <a:pt x="216782" y="12580"/>
                  <a:pt x="216782" y="27676"/>
                </a:cubicBezTo>
                <a:lnTo>
                  <a:pt x="216782" y="80872"/>
                </a:lnTo>
                <a:lnTo>
                  <a:pt x="218225" y="80872"/>
                </a:lnTo>
                <a:cubicBezTo>
                  <a:pt x="239867" y="80872"/>
                  <a:pt x="257181" y="98125"/>
                  <a:pt x="257181" y="119691"/>
                </a:cubicBezTo>
                <a:lnTo>
                  <a:pt x="257181" y="149884"/>
                </a:lnTo>
                <a:lnTo>
                  <a:pt x="264756" y="149884"/>
                </a:lnTo>
                <a:cubicBezTo>
                  <a:pt x="273412" y="149884"/>
                  <a:pt x="280627" y="157072"/>
                  <a:pt x="280627" y="165699"/>
                </a:cubicBezTo>
                <a:lnTo>
                  <a:pt x="280627" y="269576"/>
                </a:lnTo>
                <a:cubicBezTo>
                  <a:pt x="280627" y="278202"/>
                  <a:pt x="273412" y="285391"/>
                  <a:pt x="264756" y="285391"/>
                </a:cubicBezTo>
                <a:lnTo>
                  <a:pt x="27774" y="285391"/>
                </a:lnTo>
                <a:cubicBezTo>
                  <a:pt x="12264" y="285391"/>
                  <a:pt x="0" y="273170"/>
                  <a:pt x="0" y="257714"/>
                </a:cubicBezTo>
                <a:lnTo>
                  <a:pt x="0" y="27676"/>
                </a:lnTo>
                <a:cubicBezTo>
                  <a:pt x="0" y="12580"/>
                  <a:pt x="12264" y="0"/>
                  <a:pt x="277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87" name="Freeform 1003">
            <a:extLst>
              <a:ext uri="{FF2B5EF4-FFF2-40B4-BE49-F238E27FC236}">
                <a16:creationId xmlns:a16="http://schemas.microsoft.com/office/drawing/2014/main" id="{1D755D68-2662-D341-BB3F-AFA95F8682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0518" y="1321729"/>
            <a:ext cx="290684" cy="305983"/>
          </a:xfrm>
          <a:custGeom>
            <a:avLst/>
            <a:gdLst>
              <a:gd name="T0" fmla="*/ 151229 w 271103"/>
              <a:gd name="T1" fmla="*/ 263450 h 285391"/>
              <a:gd name="T2" fmla="*/ 143186 w 271103"/>
              <a:gd name="T3" fmla="*/ 266513 h 285391"/>
              <a:gd name="T4" fmla="*/ 56854 w 271103"/>
              <a:gd name="T5" fmla="*/ 260003 h 285391"/>
              <a:gd name="T6" fmla="*/ 62507 w 271103"/>
              <a:gd name="T7" fmla="*/ 266513 h 285391"/>
              <a:gd name="T8" fmla="*/ 55858 w 271103"/>
              <a:gd name="T9" fmla="*/ 263450 h 285391"/>
              <a:gd name="T10" fmla="*/ 108140 w 271103"/>
              <a:gd name="T11" fmla="*/ 262460 h 285391"/>
              <a:gd name="T12" fmla="*/ 103926 w 271103"/>
              <a:gd name="T13" fmla="*/ 258472 h 285391"/>
              <a:gd name="T14" fmla="*/ 33229 w 271103"/>
              <a:gd name="T15" fmla="*/ 278159 h 285391"/>
              <a:gd name="T16" fmla="*/ 196844 w 271103"/>
              <a:gd name="T17" fmla="*/ 246370 h 285391"/>
              <a:gd name="T18" fmla="*/ 88475 w 271103"/>
              <a:gd name="T19" fmla="*/ 142619 h 285391"/>
              <a:gd name="T20" fmla="*/ 102938 w 271103"/>
              <a:gd name="T21" fmla="*/ 128272 h 285391"/>
              <a:gd name="T22" fmla="*/ 102938 w 271103"/>
              <a:gd name="T23" fmla="*/ 165573 h 285391"/>
              <a:gd name="T24" fmla="*/ 103528 w 271103"/>
              <a:gd name="T25" fmla="*/ 104727 h 285391"/>
              <a:gd name="T26" fmla="*/ 138198 w 271103"/>
              <a:gd name="T27" fmla="*/ 161230 h 285391"/>
              <a:gd name="T28" fmla="*/ 184424 w 271103"/>
              <a:gd name="T29" fmla="*/ 149354 h 285391"/>
              <a:gd name="T30" fmla="*/ 208258 w 271103"/>
              <a:gd name="T31" fmla="*/ 149354 h 285391"/>
              <a:gd name="T32" fmla="*/ 232095 w 271103"/>
              <a:gd name="T33" fmla="*/ 148993 h 285391"/>
              <a:gd name="T34" fmla="*/ 262069 w 271103"/>
              <a:gd name="T35" fmla="*/ 142516 h 285391"/>
              <a:gd name="T36" fmla="*/ 138198 w 271103"/>
              <a:gd name="T37" fmla="*/ 125601 h 285391"/>
              <a:gd name="T38" fmla="*/ 144337 w 271103"/>
              <a:gd name="T39" fmla="*/ 119484 h 285391"/>
              <a:gd name="T40" fmla="*/ 271098 w 271103"/>
              <a:gd name="T41" fmla="*/ 139636 h 285391"/>
              <a:gd name="T42" fmla="*/ 253040 w 271103"/>
              <a:gd name="T43" fmla="*/ 163749 h 285391"/>
              <a:gd name="T44" fmla="*/ 238595 w 271103"/>
              <a:gd name="T45" fmla="*/ 155112 h 285391"/>
              <a:gd name="T46" fmla="*/ 223066 w 271103"/>
              <a:gd name="T47" fmla="*/ 164109 h 285391"/>
              <a:gd name="T48" fmla="*/ 199592 w 271103"/>
              <a:gd name="T49" fmla="*/ 164109 h 285391"/>
              <a:gd name="T50" fmla="*/ 176840 w 271103"/>
              <a:gd name="T51" fmla="*/ 167708 h 285391"/>
              <a:gd name="T52" fmla="*/ 55858 w 271103"/>
              <a:gd name="T53" fmla="*/ 143595 h 285391"/>
              <a:gd name="T54" fmla="*/ 157408 w 271103"/>
              <a:gd name="T55" fmla="*/ 90321 h 285391"/>
              <a:gd name="T56" fmla="*/ 104971 w 271103"/>
              <a:gd name="T57" fmla="*/ 77293 h 285391"/>
              <a:gd name="T58" fmla="*/ 58361 w 271103"/>
              <a:gd name="T59" fmla="*/ 188760 h 285391"/>
              <a:gd name="T60" fmla="*/ 157408 w 271103"/>
              <a:gd name="T61" fmla="*/ 194913 h 285391"/>
              <a:gd name="T62" fmla="*/ 30322 w 271103"/>
              <a:gd name="T63" fmla="*/ 142798 h 285391"/>
              <a:gd name="T64" fmla="*/ 143824 w 271103"/>
              <a:gd name="T65" fmla="*/ 20742 h 285391"/>
              <a:gd name="T66" fmla="*/ 138845 w 271103"/>
              <a:gd name="T67" fmla="*/ 24953 h 285391"/>
              <a:gd name="T68" fmla="*/ 122656 w 271103"/>
              <a:gd name="T69" fmla="*/ 20742 h 285391"/>
              <a:gd name="T70" fmla="*/ 82503 w 271103"/>
              <a:gd name="T71" fmla="*/ 29933 h 285391"/>
              <a:gd name="T72" fmla="*/ 33229 w 271103"/>
              <a:gd name="T73" fmla="*/ 9030 h 285391"/>
              <a:gd name="T74" fmla="*/ 196844 w 271103"/>
              <a:gd name="T75" fmla="*/ 40820 h 285391"/>
              <a:gd name="T76" fmla="*/ 33229 w 271103"/>
              <a:gd name="T77" fmla="*/ 9030 h 285391"/>
              <a:gd name="T78" fmla="*/ 205513 w 271103"/>
              <a:gd name="T79" fmla="*/ 33596 h 285391"/>
              <a:gd name="T80" fmla="*/ 196844 w 271103"/>
              <a:gd name="T81" fmla="*/ 105845 h 285391"/>
              <a:gd name="T82" fmla="*/ 8666 w 271103"/>
              <a:gd name="T83" fmla="*/ 237701 h 285391"/>
              <a:gd name="T84" fmla="*/ 201179 w 271103"/>
              <a:gd name="T85" fmla="*/ 173037 h 285391"/>
              <a:gd name="T86" fmla="*/ 172285 w 271103"/>
              <a:gd name="T87" fmla="*/ 286829 h 285391"/>
              <a:gd name="T88" fmla="*/ 0 w 271103"/>
              <a:gd name="T89" fmla="*/ 33596 h 285391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271103" h="285391">
                <a:moveTo>
                  <a:pt x="142430" y="258699"/>
                </a:moveTo>
                <a:cubicBezTo>
                  <a:pt x="144335" y="257175"/>
                  <a:pt x="147002" y="257175"/>
                  <a:pt x="148907" y="258699"/>
                </a:cubicBezTo>
                <a:cubicBezTo>
                  <a:pt x="150050" y="259461"/>
                  <a:pt x="150431" y="260604"/>
                  <a:pt x="150431" y="262128"/>
                </a:cubicBezTo>
                <a:cubicBezTo>
                  <a:pt x="150431" y="263271"/>
                  <a:pt x="150050" y="264414"/>
                  <a:pt x="148907" y="265176"/>
                </a:cubicBezTo>
                <a:cubicBezTo>
                  <a:pt x="148145" y="265938"/>
                  <a:pt x="147002" y="266319"/>
                  <a:pt x="145478" y="266319"/>
                </a:cubicBezTo>
                <a:cubicBezTo>
                  <a:pt x="144335" y="266319"/>
                  <a:pt x="143192" y="265938"/>
                  <a:pt x="142430" y="265176"/>
                </a:cubicBezTo>
                <a:cubicBezTo>
                  <a:pt x="141668" y="264414"/>
                  <a:pt x="141287" y="263271"/>
                  <a:pt x="141287" y="262128"/>
                </a:cubicBezTo>
                <a:cubicBezTo>
                  <a:pt x="141287" y="260604"/>
                  <a:pt x="141668" y="259461"/>
                  <a:pt x="142430" y="258699"/>
                </a:cubicBezTo>
                <a:close/>
                <a:moveTo>
                  <a:pt x="56554" y="258699"/>
                </a:moveTo>
                <a:cubicBezTo>
                  <a:pt x="58208" y="257175"/>
                  <a:pt x="60523" y="257175"/>
                  <a:pt x="62177" y="258699"/>
                </a:cubicBezTo>
                <a:cubicBezTo>
                  <a:pt x="62838" y="259461"/>
                  <a:pt x="63169" y="260604"/>
                  <a:pt x="63169" y="262128"/>
                </a:cubicBezTo>
                <a:cubicBezTo>
                  <a:pt x="63169" y="263271"/>
                  <a:pt x="62838" y="264414"/>
                  <a:pt x="62177" y="265176"/>
                </a:cubicBezTo>
                <a:cubicBezTo>
                  <a:pt x="61515" y="265938"/>
                  <a:pt x="60523" y="266319"/>
                  <a:pt x="59200" y="266319"/>
                </a:cubicBezTo>
                <a:cubicBezTo>
                  <a:pt x="58208" y="266319"/>
                  <a:pt x="57216" y="265938"/>
                  <a:pt x="56554" y="265176"/>
                </a:cubicBezTo>
                <a:cubicBezTo>
                  <a:pt x="55893" y="264414"/>
                  <a:pt x="55562" y="263271"/>
                  <a:pt x="55562" y="262128"/>
                </a:cubicBezTo>
                <a:cubicBezTo>
                  <a:pt x="55562" y="260985"/>
                  <a:pt x="55893" y="259461"/>
                  <a:pt x="56554" y="258699"/>
                </a:cubicBezTo>
                <a:close/>
                <a:moveTo>
                  <a:pt x="103378" y="257175"/>
                </a:moveTo>
                <a:cubicBezTo>
                  <a:pt x="105664" y="257175"/>
                  <a:pt x="107569" y="258829"/>
                  <a:pt x="107569" y="261144"/>
                </a:cubicBezTo>
                <a:cubicBezTo>
                  <a:pt x="107569" y="263129"/>
                  <a:pt x="105664" y="264782"/>
                  <a:pt x="103378" y="264782"/>
                </a:cubicBezTo>
                <a:cubicBezTo>
                  <a:pt x="100330" y="264782"/>
                  <a:pt x="98425" y="263129"/>
                  <a:pt x="98425" y="261144"/>
                </a:cubicBezTo>
                <a:cubicBezTo>
                  <a:pt x="98425" y="258829"/>
                  <a:pt x="100330" y="257175"/>
                  <a:pt x="103378" y="257175"/>
                </a:cubicBezTo>
                <a:close/>
                <a:moveTo>
                  <a:pt x="8622" y="245134"/>
                </a:moveTo>
                <a:lnTo>
                  <a:pt x="8622" y="252323"/>
                </a:lnTo>
                <a:cubicBezTo>
                  <a:pt x="8622" y="265622"/>
                  <a:pt x="19760" y="276764"/>
                  <a:pt x="33053" y="276764"/>
                </a:cubicBezTo>
                <a:lnTo>
                  <a:pt x="171375" y="276764"/>
                </a:lnTo>
                <a:cubicBezTo>
                  <a:pt x="184668" y="276764"/>
                  <a:pt x="195805" y="265622"/>
                  <a:pt x="195805" y="252323"/>
                </a:cubicBezTo>
                <a:lnTo>
                  <a:pt x="195805" y="245134"/>
                </a:lnTo>
                <a:lnTo>
                  <a:pt x="8622" y="245134"/>
                </a:lnTo>
                <a:close/>
                <a:moveTo>
                  <a:pt x="102394" y="127628"/>
                </a:moveTo>
                <a:cubicBezTo>
                  <a:pt x="94121" y="127628"/>
                  <a:pt x="88007" y="133695"/>
                  <a:pt x="88007" y="141903"/>
                </a:cubicBezTo>
                <a:cubicBezTo>
                  <a:pt x="88007" y="149755"/>
                  <a:pt x="94121" y="156178"/>
                  <a:pt x="102394" y="156178"/>
                </a:cubicBezTo>
                <a:cubicBezTo>
                  <a:pt x="109947" y="156178"/>
                  <a:pt x="116780" y="149755"/>
                  <a:pt x="116780" y="141903"/>
                </a:cubicBezTo>
                <a:cubicBezTo>
                  <a:pt x="116780" y="133695"/>
                  <a:pt x="109947" y="127628"/>
                  <a:pt x="102394" y="127628"/>
                </a:cubicBezTo>
                <a:close/>
                <a:moveTo>
                  <a:pt x="102394" y="119063"/>
                </a:moveTo>
                <a:cubicBezTo>
                  <a:pt x="114982" y="119063"/>
                  <a:pt x="125053" y="129056"/>
                  <a:pt x="125053" y="141903"/>
                </a:cubicBezTo>
                <a:cubicBezTo>
                  <a:pt x="125053" y="154394"/>
                  <a:pt x="114982" y="164743"/>
                  <a:pt x="102394" y="164743"/>
                </a:cubicBezTo>
                <a:cubicBezTo>
                  <a:pt x="89446" y="164743"/>
                  <a:pt x="79375" y="154394"/>
                  <a:pt x="79375" y="141903"/>
                </a:cubicBezTo>
                <a:cubicBezTo>
                  <a:pt x="79375" y="129056"/>
                  <a:pt x="89446" y="119063"/>
                  <a:pt x="102394" y="119063"/>
                </a:cubicBezTo>
                <a:close/>
                <a:moveTo>
                  <a:pt x="102981" y="104202"/>
                </a:moveTo>
                <a:cubicBezTo>
                  <a:pt x="81427" y="104202"/>
                  <a:pt x="63824" y="121390"/>
                  <a:pt x="63824" y="142875"/>
                </a:cubicBezTo>
                <a:cubicBezTo>
                  <a:pt x="63824" y="164360"/>
                  <a:pt x="81427" y="181548"/>
                  <a:pt x="102981" y="181548"/>
                </a:cubicBezTo>
                <a:cubicBezTo>
                  <a:pt x="117351" y="181548"/>
                  <a:pt x="130642" y="173312"/>
                  <a:pt x="137468" y="160421"/>
                </a:cubicBezTo>
                <a:cubicBezTo>
                  <a:pt x="138186" y="158989"/>
                  <a:pt x="139623" y="158273"/>
                  <a:pt x="141060" y="158273"/>
                </a:cubicBezTo>
                <a:lnTo>
                  <a:pt x="174110" y="158273"/>
                </a:lnTo>
                <a:lnTo>
                  <a:pt x="183450" y="148605"/>
                </a:lnTo>
                <a:cubicBezTo>
                  <a:pt x="187042" y="145382"/>
                  <a:pt x="192790" y="145382"/>
                  <a:pt x="196023" y="148605"/>
                </a:cubicBezTo>
                <a:lnTo>
                  <a:pt x="201411" y="153976"/>
                </a:lnTo>
                <a:lnTo>
                  <a:pt x="207159" y="148605"/>
                </a:lnTo>
                <a:cubicBezTo>
                  <a:pt x="210392" y="145382"/>
                  <a:pt x="216140" y="145382"/>
                  <a:pt x="219373" y="148605"/>
                </a:cubicBezTo>
                <a:lnTo>
                  <a:pt x="225121" y="153976"/>
                </a:lnTo>
                <a:lnTo>
                  <a:pt x="230869" y="148246"/>
                </a:lnTo>
                <a:cubicBezTo>
                  <a:pt x="234102" y="145024"/>
                  <a:pt x="239850" y="145024"/>
                  <a:pt x="243442" y="148246"/>
                </a:cubicBezTo>
                <a:lnTo>
                  <a:pt x="248830" y="153618"/>
                </a:lnTo>
                <a:lnTo>
                  <a:pt x="260685" y="141801"/>
                </a:lnTo>
                <a:lnTo>
                  <a:pt x="245957" y="127478"/>
                </a:lnTo>
                <a:lnTo>
                  <a:pt x="141060" y="127478"/>
                </a:lnTo>
                <a:cubicBezTo>
                  <a:pt x="139623" y="127478"/>
                  <a:pt x="138186" y="126403"/>
                  <a:pt x="137468" y="124971"/>
                </a:cubicBezTo>
                <a:cubicBezTo>
                  <a:pt x="130642" y="112080"/>
                  <a:pt x="117351" y="104202"/>
                  <a:pt x="102981" y="104202"/>
                </a:cubicBezTo>
                <a:close/>
                <a:moveTo>
                  <a:pt x="102981" y="95250"/>
                </a:moveTo>
                <a:cubicBezTo>
                  <a:pt x="119506" y="95250"/>
                  <a:pt x="135312" y="104202"/>
                  <a:pt x="143575" y="118884"/>
                </a:cubicBezTo>
                <a:lnTo>
                  <a:pt x="247753" y="118884"/>
                </a:lnTo>
                <a:cubicBezTo>
                  <a:pt x="248830" y="118884"/>
                  <a:pt x="249908" y="119242"/>
                  <a:pt x="250627" y="119958"/>
                </a:cubicBezTo>
                <a:lnTo>
                  <a:pt x="269666" y="138936"/>
                </a:lnTo>
                <a:cubicBezTo>
                  <a:pt x="270385" y="140011"/>
                  <a:pt x="271103" y="140727"/>
                  <a:pt x="271103" y="141801"/>
                </a:cubicBezTo>
                <a:cubicBezTo>
                  <a:pt x="271103" y="143233"/>
                  <a:pt x="270385" y="144308"/>
                  <a:pt x="269666" y="145024"/>
                </a:cubicBezTo>
                <a:lnTo>
                  <a:pt x="251704" y="162928"/>
                </a:lnTo>
                <a:cubicBezTo>
                  <a:pt x="250986" y="163644"/>
                  <a:pt x="249908" y="164002"/>
                  <a:pt x="248830" y="164002"/>
                </a:cubicBezTo>
                <a:cubicBezTo>
                  <a:pt x="247753" y="164002"/>
                  <a:pt x="246316" y="163644"/>
                  <a:pt x="245957" y="162928"/>
                </a:cubicBezTo>
                <a:lnTo>
                  <a:pt x="237335" y="154334"/>
                </a:lnTo>
                <a:lnTo>
                  <a:pt x="233743" y="157557"/>
                </a:lnTo>
                <a:lnTo>
                  <a:pt x="227995" y="163286"/>
                </a:lnTo>
                <a:cubicBezTo>
                  <a:pt x="226558" y="164718"/>
                  <a:pt x="223684" y="164718"/>
                  <a:pt x="221888" y="163286"/>
                </a:cubicBezTo>
                <a:lnTo>
                  <a:pt x="213266" y="154692"/>
                </a:lnTo>
                <a:lnTo>
                  <a:pt x="204645" y="163286"/>
                </a:lnTo>
                <a:cubicBezTo>
                  <a:pt x="202848" y="164718"/>
                  <a:pt x="200334" y="164718"/>
                  <a:pt x="198538" y="163286"/>
                </a:cubicBezTo>
                <a:lnTo>
                  <a:pt x="189916" y="154692"/>
                </a:lnTo>
                <a:lnTo>
                  <a:pt x="179139" y="165434"/>
                </a:lnTo>
                <a:cubicBezTo>
                  <a:pt x="178061" y="166151"/>
                  <a:pt x="176984" y="166867"/>
                  <a:pt x="175906" y="166867"/>
                </a:cubicBezTo>
                <a:lnTo>
                  <a:pt x="143575" y="166867"/>
                </a:lnTo>
                <a:cubicBezTo>
                  <a:pt x="135312" y="181190"/>
                  <a:pt x="119506" y="190142"/>
                  <a:pt x="102981" y="190142"/>
                </a:cubicBezTo>
                <a:cubicBezTo>
                  <a:pt x="76757" y="190142"/>
                  <a:pt x="55562" y="169015"/>
                  <a:pt x="55562" y="142875"/>
                </a:cubicBezTo>
                <a:cubicBezTo>
                  <a:pt x="55562" y="116735"/>
                  <a:pt x="76757" y="95250"/>
                  <a:pt x="102981" y="95250"/>
                </a:cubicBezTo>
                <a:close/>
                <a:moveTo>
                  <a:pt x="104417" y="68263"/>
                </a:moveTo>
                <a:cubicBezTo>
                  <a:pt x="123977" y="68263"/>
                  <a:pt x="142450" y="75825"/>
                  <a:pt x="156577" y="89869"/>
                </a:cubicBezTo>
                <a:cubicBezTo>
                  <a:pt x="158388" y="91669"/>
                  <a:pt x="158388" y="94190"/>
                  <a:pt x="156577" y="95990"/>
                </a:cubicBezTo>
                <a:cubicBezTo>
                  <a:pt x="154766" y="97791"/>
                  <a:pt x="152230" y="97791"/>
                  <a:pt x="150419" y="95990"/>
                </a:cubicBezTo>
                <a:cubicBezTo>
                  <a:pt x="138104" y="83747"/>
                  <a:pt x="121804" y="76905"/>
                  <a:pt x="104417" y="76905"/>
                </a:cubicBezTo>
                <a:cubicBezTo>
                  <a:pt x="86669" y="76905"/>
                  <a:pt x="70368" y="83747"/>
                  <a:pt x="58053" y="95990"/>
                </a:cubicBezTo>
                <a:cubicBezTo>
                  <a:pt x="45737" y="108233"/>
                  <a:pt x="38855" y="124797"/>
                  <a:pt x="38855" y="142082"/>
                </a:cubicBezTo>
                <a:cubicBezTo>
                  <a:pt x="38855" y="159366"/>
                  <a:pt x="45737" y="175570"/>
                  <a:pt x="58053" y="187813"/>
                </a:cubicBezTo>
                <a:cubicBezTo>
                  <a:pt x="83409" y="213380"/>
                  <a:pt x="124702" y="213380"/>
                  <a:pt x="150419" y="187813"/>
                </a:cubicBezTo>
                <a:cubicBezTo>
                  <a:pt x="152230" y="186013"/>
                  <a:pt x="154766" y="186013"/>
                  <a:pt x="156577" y="187813"/>
                </a:cubicBezTo>
                <a:cubicBezTo>
                  <a:pt x="158388" y="189614"/>
                  <a:pt x="158388" y="192134"/>
                  <a:pt x="156577" y="193935"/>
                </a:cubicBezTo>
                <a:cubicBezTo>
                  <a:pt x="142088" y="208338"/>
                  <a:pt x="123253" y="215540"/>
                  <a:pt x="104417" y="215540"/>
                </a:cubicBezTo>
                <a:cubicBezTo>
                  <a:pt x="85220" y="215540"/>
                  <a:pt x="66384" y="208338"/>
                  <a:pt x="51895" y="193935"/>
                </a:cubicBezTo>
                <a:cubicBezTo>
                  <a:pt x="37768" y="179891"/>
                  <a:pt x="30162" y="161527"/>
                  <a:pt x="30162" y="142082"/>
                </a:cubicBezTo>
                <a:cubicBezTo>
                  <a:pt x="30162" y="122277"/>
                  <a:pt x="37768" y="103912"/>
                  <a:pt x="51895" y="89869"/>
                </a:cubicBezTo>
                <a:cubicBezTo>
                  <a:pt x="66022" y="75825"/>
                  <a:pt x="84495" y="68263"/>
                  <a:pt x="104417" y="68263"/>
                </a:cubicBezTo>
                <a:close/>
                <a:moveTo>
                  <a:pt x="143065" y="20638"/>
                </a:moveTo>
                <a:cubicBezTo>
                  <a:pt x="145351" y="20638"/>
                  <a:pt x="147256" y="22543"/>
                  <a:pt x="147256" y="24829"/>
                </a:cubicBezTo>
                <a:cubicBezTo>
                  <a:pt x="147256" y="27877"/>
                  <a:pt x="145351" y="29782"/>
                  <a:pt x="143065" y="29782"/>
                </a:cubicBezTo>
                <a:cubicBezTo>
                  <a:pt x="140398" y="29782"/>
                  <a:pt x="138112" y="27877"/>
                  <a:pt x="138112" y="24829"/>
                </a:cubicBezTo>
                <a:cubicBezTo>
                  <a:pt x="138112" y="22543"/>
                  <a:pt x="140398" y="20638"/>
                  <a:pt x="143065" y="20638"/>
                </a:cubicBezTo>
                <a:close/>
                <a:moveTo>
                  <a:pt x="82067" y="20638"/>
                </a:moveTo>
                <a:lnTo>
                  <a:pt x="122008" y="20638"/>
                </a:lnTo>
                <a:cubicBezTo>
                  <a:pt x="124504" y="20638"/>
                  <a:pt x="126644" y="22543"/>
                  <a:pt x="126644" y="24829"/>
                </a:cubicBezTo>
                <a:cubicBezTo>
                  <a:pt x="126644" y="27877"/>
                  <a:pt x="124504" y="29782"/>
                  <a:pt x="122008" y="29782"/>
                </a:cubicBezTo>
                <a:lnTo>
                  <a:pt x="82067" y="29782"/>
                </a:lnTo>
                <a:cubicBezTo>
                  <a:pt x="79927" y="29782"/>
                  <a:pt x="77787" y="27877"/>
                  <a:pt x="77787" y="24829"/>
                </a:cubicBezTo>
                <a:cubicBezTo>
                  <a:pt x="77787" y="22543"/>
                  <a:pt x="79927" y="20638"/>
                  <a:pt x="82067" y="20638"/>
                </a:cubicBezTo>
                <a:close/>
                <a:moveTo>
                  <a:pt x="33053" y="8986"/>
                </a:moveTo>
                <a:cubicBezTo>
                  <a:pt x="19760" y="8986"/>
                  <a:pt x="8622" y="19769"/>
                  <a:pt x="8622" y="33428"/>
                </a:cubicBezTo>
                <a:lnTo>
                  <a:pt x="8622" y="40616"/>
                </a:lnTo>
                <a:lnTo>
                  <a:pt x="195805" y="40616"/>
                </a:lnTo>
                <a:lnTo>
                  <a:pt x="195805" y="33428"/>
                </a:lnTo>
                <a:cubicBezTo>
                  <a:pt x="195805" y="19769"/>
                  <a:pt x="184668" y="8986"/>
                  <a:pt x="171375" y="8986"/>
                </a:cubicBezTo>
                <a:lnTo>
                  <a:pt x="33053" y="8986"/>
                </a:lnTo>
                <a:close/>
                <a:moveTo>
                  <a:pt x="33053" y="0"/>
                </a:moveTo>
                <a:lnTo>
                  <a:pt x="171375" y="0"/>
                </a:lnTo>
                <a:cubicBezTo>
                  <a:pt x="189698" y="0"/>
                  <a:pt x="204428" y="15096"/>
                  <a:pt x="204428" y="33428"/>
                </a:cubicBezTo>
                <a:lnTo>
                  <a:pt x="204428" y="105314"/>
                </a:lnTo>
                <a:cubicBezTo>
                  <a:pt x="204428" y="107471"/>
                  <a:pt x="202272" y="109628"/>
                  <a:pt x="200117" y="109628"/>
                </a:cubicBezTo>
                <a:cubicBezTo>
                  <a:pt x="197602" y="109628"/>
                  <a:pt x="195805" y="107471"/>
                  <a:pt x="195805" y="105314"/>
                </a:cubicBezTo>
                <a:lnTo>
                  <a:pt x="195805" y="49243"/>
                </a:lnTo>
                <a:lnTo>
                  <a:pt x="8622" y="49243"/>
                </a:lnTo>
                <a:lnTo>
                  <a:pt x="8622" y="236508"/>
                </a:lnTo>
                <a:lnTo>
                  <a:pt x="195805" y="236508"/>
                </a:lnTo>
                <a:lnTo>
                  <a:pt x="195805" y="176482"/>
                </a:lnTo>
                <a:cubicBezTo>
                  <a:pt x="195805" y="173966"/>
                  <a:pt x="197602" y="172169"/>
                  <a:pt x="200117" y="172169"/>
                </a:cubicBezTo>
                <a:cubicBezTo>
                  <a:pt x="202272" y="172169"/>
                  <a:pt x="204428" y="173966"/>
                  <a:pt x="204428" y="176482"/>
                </a:cubicBezTo>
                <a:lnTo>
                  <a:pt x="204428" y="252323"/>
                </a:lnTo>
                <a:cubicBezTo>
                  <a:pt x="204428" y="270295"/>
                  <a:pt x="189698" y="285391"/>
                  <a:pt x="171375" y="285391"/>
                </a:cubicBezTo>
                <a:lnTo>
                  <a:pt x="33053" y="285391"/>
                </a:lnTo>
                <a:cubicBezTo>
                  <a:pt x="14730" y="285391"/>
                  <a:pt x="0" y="270295"/>
                  <a:pt x="0" y="252323"/>
                </a:cubicBezTo>
                <a:lnTo>
                  <a:pt x="0" y="33428"/>
                </a:lnTo>
                <a:cubicBezTo>
                  <a:pt x="0" y="15096"/>
                  <a:pt x="14730" y="0"/>
                  <a:pt x="3305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88" name="Freeform 1004">
            <a:extLst>
              <a:ext uri="{FF2B5EF4-FFF2-40B4-BE49-F238E27FC236}">
                <a16:creationId xmlns:a16="http://schemas.microsoft.com/office/drawing/2014/main" id="{16E96C64-B586-7040-A19F-FB6CF3EC52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8902" y="2740222"/>
            <a:ext cx="305983" cy="305983"/>
          </a:xfrm>
          <a:custGeom>
            <a:avLst/>
            <a:gdLst>
              <a:gd name="T0" fmla="*/ 163197 w 285390"/>
              <a:gd name="T1" fmla="*/ 261663 h 285391"/>
              <a:gd name="T2" fmla="*/ 163197 w 285390"/>
              <a:gd name="T3" fmla="*/ 270852 h 285391"/>
              <a:gd name="T4" fmla="*/ 118069 w 285390"/>
              <a:gd name="T5" fmla="*/ 266258 h 285391"/>
              <a:gd name="T6" fmla="*/ 8681 w 285390"/>
              <a:gd name="T7" fmla="*/ 251789 h 285391"/>
              <a:gd name="T8" fmla="*/ 21701 w 285390"/>
              <a:gd name="T9" fmla="*/ 278159 h 285391"/>
              <a:gd name="T10" fmla="*/ 278152 w 285390"/>
              <a:gd name="T11" fmla="*/ 265155 h 285391"/>
              <a:gd name="T12" fmla="*/ 8681 w 285390"/>
              <a:gd name="T13" fmla="*/ 251789 h 285391"/>
              <a:gd name="T14" fmla="*/ 10852 w 285390"/>
              <a:gd name="T15" fmla="*/ 243481 h 285391"/>
              <a:gd name="T16" fmla="*/ 256450 w 285390"/>
              <a:gd name="T17" fmla="*/ 200130 h 285391"/>
              <a:gd name="T18" fmla="*/ 204807 w 285390"/>
              <a:gd name="T19" fmla="*/ 130826 h 285391"/>
              <a:gd name="T20" fmla="*/ 212423 w 285390"/>
              <a:gd name="T21" fmla="*/ 156885 h 285391"/>
              <a:gd name="T22" fmla="*/ 212423 w 285390"/>
              <a:gd name="T23" fmla="*/ 130826 h 285391"/>
              <a:gd name="T24" fmla="*/ 72814 w 285390"/>
              <a:gd name="T25" fmla="*/ 130826 h 285391"/>
              <a:gd name="T26" fmla="*/ 72814 w 285390"/>
              <a:gd name="T27" fmla="*/ 156885 h 285391"/>
              <a:gd name="T28" fmla="*/ 80066 w 285390"/>
              <a:gd name="T29" fmla="*/ 130826 h 285391"/>
              <a:gd name="T30" fmla="*/ 174933 w 285390"/>
              <a:gd name="T31" fmla="*/ 113281 h 285391"/>
              <a:gd name="T32" fmla="*/ 174933 w 285390"/>
              <a:gd name="T33" fmla="*/ 122471 h 285391"/>
              <a:gd name="T34" fmla="*/ 174933 w 285390"/>
              <a:gd name="T35" fmla="*/ 113281 h 285391"/>
              <a:gd name="T36" fmla="*/ 179911 w 285390"/>
              <a:gd name="T37" fmla="*/ 97135 h 285391"/>
              <a:gd name="T38" fmla="*/ 170721 w 285390"/>
              <a:gd name="T39" fmla="*/ 97135 h 285391"/>
              <a:gd name="T40" fmla="*/ 174933 w 285390"/>
              <a:gd name="T41" fmla="*/ 73393 h 285391"/>
              <a:gd name="T42" fmla="*/ 174933 w 285390"/>
              <a:gd name="T43" fmla="*/ 82583 h 285391"/>
              <a:gd name="T44" fmla="*/ 174933 w 285390"/>
              <a:gd name="T45" fmla="*/ 73393 h 285391"/>
              <a:gd name="T46" fmla="*/ 149689 w 285390"/>
              <a:gd name="T47" fmla="*/ 156885 h 285391"/>
              <a:gd name="T48" fmla="*/ 170358 w 285390"/>
              <a:gd name="T49" fmla="*/ 138064 h 285391"/>
              <a:gd name="T50" fmla="*/ 179062 w 285390"/>
              <a:gd name="T51" fmla="*/ 138064 h 285391"/>
              <a:gd name="T52" fmla="*/ 196468 w 285390"/>
              <a:gd name="T53" fmla="*/ 156885 h 285391"/>
              <a:gd name="T54" fmla="*/ 188852 w 285390"/>
              <a:gd name="T55" fmla="*/ 61338 h 285391"/>
              <a:gd name="T56" fmla="*/ 121041 w 285390"/>
              <a:gd name="T57" fmla="*/ 61338 h 285391"/>
              <a:gd name="T58" fmla="*/ 140986 w 285390"/>
              <a:gd name="T59" fmla="*/ 156885 h 285391"/>
              <a:gd name="T60" fmla="*/ 121041 w 285390"/>
              <a:gd name="T61" fmla="*/ 61338 h 285391"/>
              <a:gd name="T62" fmla="*/ 88769 w 285390"/>
              <a:gd name="T63" fmla="*/ 68576 h 285391"/>
              <a:gd name="T64" fmla="*/ 111977 w 285390"/>
              <a:gd name="T65" fmla="*/ 156885 h 285391"/>
              <a:gd name="T66" fmla="*/ 96022 w 285390"/>
              <a:gd name="T67" fmla="*/ 61338 h 285391"/>
              <a:gd name="T68" fmla="*/ 188852 w 285390"/>
              <a:gd name="T69" fmla="*/ 52652 h 285391"/>
              <a:gd name="T70" fmla="*/ 204807 w 285390"/>
              <a:gd name="T71" fmla="*/ 122140 h 285391"/>
              <a:gd name="T72" fmla="*/ 234179 w 285390"/>
              <a:gd name="T73" fmla="*/ 144218 h 285391"/>
              <a:gd name="T74" fmla="*/ 72814 w 285390"/>
              <a:gd name="T75" fmla="*/ 165570 h 285391"/>
              <a:gd name="T76" fmla="*/ 72814 w 285390"/>
              <a:gd name="T77" fmla="*/ 122140 h 285391"/>
              <a:gd name="T78" fmla="*/ 80066 w 285390"/>
              <a:gd name="T79" fmla="*/ 68576 h 285391"/>
              <a:gd name="T80" fmla="*/ 44851 w 285390"/>
              <a:gd name="T81" fmla="*/ 9030 h 285391"/>
              <a:gd name="T82" fmla="*/ 31830 w 285390"/>
              <a:gd name="T83" fmla="*/ 191461 h 285391"/>
              <a:gd name="T84" fmla="*/ 255002 w 285390"/>
              <a:gd name="T85" fmla="*/ 22037 h 285391"/>
              <a:gd name="T86" fmla="*/ 44851 w 285390"/>
              <a:gd name="T87" fmla="*/ 9030 h 285391"/>
              <a:gd name="T88" fmla="*/ 241981 w 285390"/>
              <a:gd name="T89" fmla="*/ 0 h 285391"/>
              <a:gd name="T90" fmla="*/ 263684 w 285390"/>
              <a:gd name="T91" fmla="*/ 194712 h 285391"/>
              <a:gd name="T92" fmla="*/ 286832 w 285390"/>
              <a:gd name="T93" fmla="*/ 247815 h 285391"/>
              <a:gd name="T94" fmla="*/ 265131 w 285390"/>
              <a:gd name="T95" fmla="*/ 286829 h 285391"/>
              <a:gd name="T96" fmla="*/ 0 w 285390"/>
              <a:gd name="T97" fmla="*/ 265155 h 285391"/>
              <a:gd name="T98" fmla="*/ 360 w 285390"/>
              <a:gd name="T99" fmla="*/ 246009 h 285391"/>
              <a:gd name="T100" fmla="*/ 23148 w 285390"/>
              <a:gd name="T101" fmla="*/ 22037 h 285391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85390" h="285391">
                <a:moveTo>
                  <a:pt x="121785" y="260350"/>
                </a:moveTo>
                <a:lnTo>
                  <a:pt x="162376" y="260350"/>
                </a:lnTo>
                <a:cubicBezTo>
                  <a:pt x="164531" y="260350"/>
                  <a:pt x="166328" y="262255"/>
                  <a:pt x="166328" y="264922"/>
                </a:cubicBezTo>
                <a:cubicBezTo>
                  <a:pt x="166328" y="267208"/>
                  <a:pt x="164531" y="269494"/>
                  <a:pt x="162376" y="269494"/>
                </a:cubicBezTo>
                <a:lnTo>
                  <a:pt x="121785" y="269494"/>
                </a:lnTo>
                <a:cubicBezTo>
                  <a:pt x="119271" y="269494"/>
                  <a:pt x="117475" y="267208"/>
                  <a:pt x="117475" y="264922"/>
                </a:cubicBezTo>
                <a:cubicBezTo>
                  <a:pt x="117475" y="262255"/>
                  <a:pt x="119271" y="260350"/>
                  <a:pt x="121785" y="260350"/>
                </a:cubicBezTo>
                <a:close/>
                <a:moveTo>
                  <a:pt x="8637" y="250526"/>
                </a:moveTo>
                <a:lnTo>
                  <a:pt x="8637" y="263825"/>
                </a:lnTo>
                <a:cubicBezTo>
                  <a:pt x="8637" y="270654"/>
                  <a:pt x="14395" y="276764"/>
                  <a:pt x="21593" y="276764"/>
                </a:cubicBezTo>
                <a:lnTo>
                  <a:pt x="263797" y="276764"/>
                </a:lnTo>
                <a:cubicBezTo>
                  <a:pt x="270995" y="276764"/>
                  <a:pt x="276753" y="270654"/>
                  <a:pt x="276753" y="263825"/>
                </a:cubicBezTo>
                <a:lnTo>
                  <a:pt x="276753" y="250526"/>
                </a:lnTo>
                <a:lnTo>
                  <a:pt x="8637" y="250526"/>
                </a:lnTo>
                <a:close/>
                <a:moveTo>
                  <a:pt x="30230" y="199127"/>
                </a:moveTo>
                <a:lnTo>
                  <a:pt x="10796" y="242259"/>
                </a:lnTo>
                <a:lnTo>
                  <a:pt x="274234" y="242259"/>
                </a:lnTo>
                <a:lnTo>
                  <a:pt x="255160" y="199127"/>
                </a:lnTo>
                <a:lnTo>
                  <a:pt x="30230" y="199127"/>
                </a:lnTo>
                <a:close/>
                <a:moveTo>
                  <a:pt x="203777" y="130170"/>
                </a:moveTo>
                <a:lnTo>
                  <a:pt x="203777" y="156098"/>
                </a:lnTo>
                <a:lnTo>
                  <a:pt x="211354" y="156098"/>
                </a:lnTo>
                <a:cubicBezTo>
                  <a:pt x="218209" y="156098"/>
                  <a:pt x="224342" y="150336"/>
                  <a:pt x="224342" y="143494"/>
                </a:cubicBezTo>
                <a:cubicBezTo>
                  <a:pt x="224342" y="136292"/>
                  <a:pt x="218209" y="130170"/>
                  <a:pt x="211354" y="130170"/>
                </a:cubicBezTo>
                <a:lnTo>
                  <a:pt x="203777" y="130170"/>
                </a:lnTo>
                <a:close/>
                <a:moveTo>
                  <a:pt x="72447" y="130170"/>
                </a:moveTo>
                <a:cubicBezTo>
                  <a:pt x="65232" y="130170"/>
                  <a:pt x="59459" y="136292"/>
                  <a:pt x="59459" y="143494"/>
                </a:cubicBezTo>
                <a:cubicBezTo>
                  <a:pt x="59459" y="150336"/>
                  <a:pt x="65232" y="156098"/>
                  <a:pt x="72447" y="156098"/>
                </a:cubicBezTo>
                <a:lnTo>
                  <a:pt x="79663" y="156098"/>
                </a:lnTo>
                <a:lnTo>
                  <a:pt x="79663" y="130170"/>
                </a:lnTo>
                <a:lnTo>
                  <a:pt x="72447" y="130170"/>
                </a:lnTo>
                <a:close/>
                <a:moveTo>
                  <a:pt x="174053" y="112713"/>
                </a:moveTo>
                <a:cubicBezTo>
                  <a:pt x="176720" y="112713"/>
                  <a:pt x="179006" y="114999"/>
                  <a:pt x="179006" y="117285"/>
                </a:cubicBezTo>
                <a:cubicBezTo>
                  <a:pt x="179006" y="119952"/>
                  <a:pt x="176720" y="121857"/>
                  <a:pt x="174053" y="121857"/>
                </a:cubicBezTo>
                <a:cubicBezTo>
                  <a:pt x="171767" y="121857"/>
                  <a:pt x="169862" y="119952"/>
                  <a:pt x="169862" y="117285"/>
                </a:cubicBezTo>
                <a:cubicBezTo>
                  <a:pt x="169862" y="114999"/>
                  <a:pt x="171767" y="112713"/>
                  <a:pt x="174053" y="112713"/>
                </a:cubicBezTo>
                <a:close/>
                <a:moveTo>
                  <a:pt x="174053" y="92075"/>
                </a:moveTo>
                <a:cubicBezTo>
                  <a:pt x="176720" y="92075"/>
                  <a:pt x="179006" y="93980"/>
                  <a:pt x="179006" y="96647"/>
                </a:cubicBezTo>
                <a:cubicBezTo>
                  <a:pt x="179006" y="99314"/>
                  <a:pt x="176720" y="101219"/>
                  <a:pt x="174053" y="101219"/>
                </a:cubicBezTo>
                <a:cubicBezTo>
                  <a:pt x="171767" y="101219"/>
                  <a:pt x="169862" y="99314"/>
                  <a:pt x="169862" y="96647"/>
                </a:cubicBezTo>
                <a:cubicBezTo>
                  <a:pt x="169862" y="93980"/>
                  <a:pt x="171767" y="92075"/>
                  <a:pt x="174053" y="92075"/>
                </a:cubicBezTo>
                <a:close/>
                <a:moveTo>
                  <a:pt x="174053" y="73025"/>
                </a:moveTo>
                <a:cubicBezTo>
                  <a:pt x="176720" y="73025"/>
                  <a:pt x="179006" y="75311"/>
                  <a:pt x="179006" y="77597"/>
                </a:cubicBezTo>
                <a:cubicBezTo>
                  <a:pt x="179006" y="79883"/>
                  <a:pt x="176720" y="82169"/>
                  <a:pt x="174053" y="82169"/>
                </a:cubicBezTo>
                <a:cubicBezTo>
                  <a:pt x="171767" y="82169"/>
                  <a:pt x="169862" y="79883"/>
                  <a:pt x="169862" y="77597"/>
                </a:cubicBezTo>
                <a:cubicBezTo>
                  <a:pt x="169862" y="75311"/>
                  <a:pt x="171767" y="73025"/>
                  <a:pt x="174053" y="73025"/>
                </a:cubicBezTo>
                <a:close/>
                <a:moveTo>
                  <a:pt x="148936" y="61030"/>
                </a:moveTo>
                <a:lnTo>
                  <a:pt x="148936" y="156098"/>
                </a:lnTo>
                <a:lnTo>
                  <a:pt x="169501" y="156098"/>
                </a:lnTo>
                <a:lnTo>
                  <a:pt x="169501" y="137372"/>
                </a:lnTo>
                <a:cubicBezTo>
                  <a:pt x="169501" y="134852"/>
                  <a:pt x="171306" y="133051"/>
                  <a:pt x="173470" y="133051"/>
                </a:cubicBezTo>
                <a:cubicBezTo>
                  <a:pt x="175996" y="133051"/>
                  <a:pt x="178161" y="134852"/>
                  <a:pt x="178161" y="137372"/>
                </a:cubicBezTo>
                <a:lnTo>
                  <a:pt x="178161" y="156098"/>
                </a:lnTo>
                <a:lnTo>
                  <a:pt x="195479" y="156098"/>
                </a:lnTo>
                <a:lnTo>
                  <a:pt x="195479" y="68232"/>
                </a:lnTo>
                <a:cubicBezTo>
                  <a:pt x="195479" y="64271"/>
                  <a:pt x="191871" y="61030"/>
                  <a:pt x="187902" y="61030"/>
                </a:cubicBezTo>
                <a:lnTo>
                  <a:pt x="148936" y="61030"/>
                </a:lnTo>
                <a:close/>
                <a:moveTo>
                  <a:pt x="120433" y="61030"/>
                </a:moveTo>
                <a:lnTo>
                  <a:pt x="120433" y="156098"/>
                </a:lnTo>
                <a:lnTo>
                  <a:pt x="140277" y="156098"/>
                </a:lnTo>
                <a:lnTo>
                  <a:pt x="140277" y="61030"/>
                </a:lnTo>
                <a:lnTo>
                  <a:pt x="120433" y="61030"/>
                </a:lnTo>
                <a:close/>
                <a:moveTo>
                  <a:pt x="95538" y="61030"/>
                </a:moveTo>
                <a:cubicBezTo>
                  <a:pt x="91570" y="61030"/>
                  <a:pt x="88322" y="64271"/>
                  <a:pt x="88322" y="68232"/>
                </a:cubicBezTo>
                <a:lnTo>
                  <a:pt x="88322" y="156098"/>
                </a:lnTo>
                <a:lnTo>
                  <a:pt x="111413" y="156098"/>
                </a:lnTo>
                <a:lnTo>
                  <a:pt x="111413" y="61030"/>
                </a:lnTo>
                <a:lnTo>
                  <a:pt x="95538" y="61030"/>
                </a:lnTo>
                <a:close/>
                <a:moveTo>
                  <a:pt x="95538" y="52388"/>
                </a:moveTo>
                <a:lnTo>
                  <a:pt x="187902" y="52388"/>
                </a:lnTo>
                <a:cubicBezTo>
                  <a:pt x="196922" y="52388"/>
                  <a:pt x="203777" y="59590"/>
                  <a:pt x="203777" y="68232"/>
                </a:cubicBezTo>
                <a:lnTo>
                  <a:pt x="203777" y="121528"/>
                </a:lnTo>
                <a:lnTo>
                  <a:pt x="211354" y="121528"/>
                </a:lnTo>
                <a:cubicBezTo>
                  <a:pt x="223260" y="121528"/>
                  <a:pt x="233001" y="131251"/>
                  <a:pt x="233001" y="143494"/>
                </a:cubicBezTo>
                <a:cubicBezTo>
                  <a:pt x="233001" y="155017"/>
                  <a:pt x="223260" y="164740"/>
                  <a:pt x="211354" y="164740"/>
                </a:cubicBezTo>
                <a:lnTo>
                  <a:pt x="72447" y="164740"/>
                </a:lnTo>
                <a:cubicBezTo>
                  <a:pt x="60541" y="164740"/>
                  <a:pt x="50800" y="155017"/>
                  <a:pt x="50800" y="143494"/>
                </a:cubicBezTo>
                <a:cubicBezTo>
                  <a:pt x="50800" y="131251"/>
                  <a:pt x="60541" y="121528"/>
                  <a:pt x="72447" y="121528"/>
                </a:cubicBezTo>
                <a:lnTo>
                  <a:pt x="79663" y="121528"/>
                </a:lnTo>
                <a:lnTo>
                  <a:pt x="79663" y="68232"/>
                </a:lnTo>
                <a:cubicBezTo>
                  <a:pt x="79663" y="59590"/>
                  <a:pt x="86879" y="52388"/>
                  <a:pt x="95538" y="52388"/>
                </a:cubicBezTo>
                <a:close/>
                <a:moveTo>
                  <a:pt x="44626" y="8986"/>
                </a:moveTo>
                <a:cubicBezTo>
                  <a:pt x="37788" y="8986"/>
                  <a:pt x="31670" y="14737"/>
                  <a:pt x="31670" y="21925"/>
                </a:cubicBezTo>
                <a:lnTo>
                  <a:pt x="31670" y="190500"/>
                </a:lnTo>
                <a:lnTo>
                  <a:pt x="253720" y="190500"/>
                </a:lnTo>
                <a:lnTo>
                  <a:pt x="253720" y="21925"/>
                </a:lnTo>
                <a:cubicBezTo>
                  <a:pt x="253720" y="14737"/>
                  <a:pt x="247962" y="8986"/>
                  <a:pt x="240764" y="8986"/>
                </a:cubicBezTo>
                <a:lnTo>
                  <a:pt x="44626" y="8986"/>
                </a:lnTo>
                <a:close/>
                <a:moveTo>
                  <a:pt x="44626" y="0"/>
                </a:moveTo>
                <a:lnTo>
                  <a:pt x="240764" y="0"/>
                </a:lnTo>
                <a:cubicBezTo>
                  <a:pt x="252641" y="0"/>
                  <a:pt x="262358" y="9704"/>
                  <a:pt x="262358" y="21925"/>
                </a:cubicBezTo>
                <a:lnTo>
                  <a:pt x="262358" y="193735"/>
                </a:lnTo>
                <a:lnTo>
                  <a:pt x="285030" y="244775"/>
                </a:lnTo>
                <a:cubicBezTo>
                  <a:pt x="285390" y="245134"/>
                  <a:pt x="285390" y="245853"/>
                  <a:pt x="285390" y="246572"/>
                </a:cubicBezTo>
                <a:lnTo>
                  <a:pt x="285390" y="263825"/>
                </a:lnTo>
                <a:cubicBezTo>
                  <a:pt x="285390" y="275686"/>
                  <a:pt x="275673" y="285391"/>
                  <a:pt x="263797" y="285391"/>
                </a:cubicBezTo>
                <a:lnTo>
                  <a:pt x="21593" y="285391"/>
                </a:lnTo>
                <a:cubicBezTo>
                  <a:pt x="9717" y="285391"/>
                  <a:pt x="0" y="275686"/>
                  <a:pt x="0" y="263825"/>
                </a:cubicBezTo>
                <a:lnTo>
                  <a:pt x="0" y="246572"/>
                </a:lnTo>
                <a:cubicBezTo>
                  <a:pt x="0" y="245853"/>
                  <a:pt x="0" y="245134"/>
                  <a:pt x="360" y="244775"/>
                </a:cubicBezTo>
                <a:lnTo>
                  <a:pt x="23032" y="193735"/>
                </a:lnTo>
                <a:lnTo>
                  <a:pt x="23032" y="21925"/>
                </a:lnTo>
                <a:cubicBezTo>
                  <a:pt x="23032" y="9704"/>
                  <a:pt x="32749" y="0"/>
                  <a:pt x="446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/>
          <a:p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90" name="Freeform 1006">
            <a:extLst>
              <a:ext uri="{FF2B5EF4-FFF2-40B4-BE49-F238E27FC236}">
                <a16:creationId xmlns:a16="http://schemas.microsoft.com/office/drawing/2014/main" id="{800EBCB4-109F-C240-B407-4019C05906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0519" y="4204315"/>
            <a:ext cx="294084" cy="305983"/>
          </a:xfrm>
          <a:custGeom>
            <a:avLst/>
            <a:gdLst>
              <a:gd name="T0" fmla="*/ 159234 w 274278"/>
              <a:gd name="T1" fmla="*/ 261471 h 285391"/>
              <a:gd name="T2" fmla="*/ 142031 w 274278"/>
              <a:gd name="T3" fmla="*/ 261471 h 285391"/>
              <a:gd name="T4" fmla="*/ 119669 w 274278"/>
              <a:gd name="T5" fmla="*/ 256877 h 285391"/>
              <a:gd name="T6" fmla="*/ 98593 w 274278"/>
              <a:gd name="T7" fmla="*/ 266066 h 285391"/>
              <a:gd name="T8" fmla="*/ 63261 w 274278"/>
              <a:gd name="T9" fmla="*/ 256877 h 285391"/>
              <a:gd name="T10" fmla="*/ 71687 w 274278"/>
              <a:gd name="T11" fmla="*/ 266066 h 285391"/>
              <a:gd name="T12" fmla="*/ 63261 w 274278"/>
              <a:gd name="T13" fmla="*/ 256877 h 285391"/>
              <a:gd name="T14" fmla="*/ 97462 w 274278"/>
              <a:gd name="T15" fmla="*/ 243481 h 285391"/>
              <a:gd name="T16" fmla="*/ 26086 w 274278"/>
              <a:gd name="T17" fmla="*/ 278159 h 285391"/>
              <a:gd name="T18" fmla="*/ 209055 w 274278"/>
              <a:gd name="T19" fmla="*/ 243481 h 285391"/>
              <a:gd name="T20" fmla="*/ 132244 w 274278"/>
              <a:gd name="T21" fmla="*/ 234449 h 285391"/>
              <a:gd name="T22" fmla="*/ 184417 w 274278"/>
              <a:gd name="T23" fmla="*/ 218555 h 285391"/>
              <a:gd name="T24" fmla="*/ 231016 w 274278"/>
              <a:gd name="T25" fmla="*/ 127832 h 285391"/>
              <a:gd name="T26" fmla="*/ 226420 w 274278"/>
              <a:gd name="T27" fmla="*/ 122854 h 285391"/>
              <a:gd name="T28" fmla="*/ 145031 w 274278"/>
              <a:gd name="T29" fmla="*/ 132044 h 285391"/>
              <a:gd name="T30" fmla="*/ 226844 w 274278"/>
              <a:gd name="T31" fmla="*/ 79619 h 285391"/>
              <a:gd name="T32" fmla="*/ 229769 w 274278"/>
              <a:gd name="T33" fmla="*/ 176741 h 285391"/>
              <a:gd name="T34" fmla="*/ 226844 w 274278"/>
              <a:gd name="T35" fmla="*/ 86094 h 285391"/>
              <a:gd name="T36" fmla="*/ 143375 w 274278"/>
              <a:gd name="T37" fmla="*/ 79619 h 285391"/>
              <a:gd name="T38" fmla="*/ 143375 w 274278"/>
              <a:gd name="T39" fmla="*/ 175303 h 285391"/>
              <a:gd name="T40" fmla="*/ 137092 w 274278"/>
              <a:gd name="T41" fmla="*/ 79619 h 285391"/>
              <a:gd name="T42" fmla="*/ 188686 w 274278"/>
              <a:gd name="T43" fmla="*/ 87084 h 285391"/>
              <a:gd name="T44" fmla="*/ 198872 w 274278"/>
              <a:gd name="T45" fmla="*/ 104466 h 285391"/>
              <a:gd name="T46" fmla="*/ 184321 w 274278"/>
              <a:gd name="T47" fmla="*/ 122933 h 285391"/>
              <a:gd name="T48" fmla="*/ 188686 w 274278"/>
              <a:gd name="T49" fmla="*/ 173990 h 285391"/>
              <a:gd name="T50" fmla="*/ 179956 w 274278"/>
              <a:gd name="T51" fmla="*/ 167834 h 285391"/>
              <a:gd name="T52" fmla="*/ 169406 w 274278"/>
              <a:gd name="T53" fmla="*/ 150453 h 285391"/>
              <a:gd name="T54" fmla="*/ 184321 w 274278"/>
              <a:gd name="T55" fmla="*/ 131623 h 285391"/>
              <a:gd name="T56" fmla="*/ 179956 w 274278"/>
              <a:gd name="T57" fmla="*/ 80929 h 285391"/>
              <a:gd name="T58" fmla="*/ 101448 w 274278"/>
              <a:gd name="T59" fmla="*/ 127520 h 285391"/>
              <a:gd name="T60" fmla="*/ 139128 w 274278"/>
              <a:gd name="T61" fmla="*/ 196157 h 285391"/>
              <a:gd name="T62" fmla="*/ 184417 w 274278"/>
              <a:gd name="T63" fmla="*/ 44794 h 285391"/>
              <a:gd name="T64" fmla="*/ 149213 w 274278"/>
              <a:gd name="T65" fmla="*/ 31528 h 285391"/>
              <a:gd name="T66" fmla="*/ 88914 w 274278"/>
              <a:gd name="T67" fmla="*/ 22337 h 285391"/>
              <a:gd name="T68" fmla="*/ 129357 w 274278"/>
              <a:gd name="T69" fmla="*/ 31528 h 285391"/>
              <a:gd name="T70" fmla="*/ 88914 w 274278"/>
              <a:gd name="T71" fmla="*/ 22337 h 285391"/>
              <a:gd name="T72" fmla="*/ 8694 w 274278"/>
              <a:gd name="T73" fmla="*/ 234449 h 285391"/>
              <a:gd name="T74" fmla="*/ 184417 w 274278"/>
              <a:gd name="T75" fmla="*/ 36123 h 285391"/>
              <a:gd name="T76" fmla="*/ 190214 w 274278"/>
              <a:gd name="T77" fmla="*/ 9030 h 285391"/>
              <a:gd name="T78" fmla="*/ 190214 w 274278"/>
              <a:gd name="T79" fmla="*/ 0 h 285391"/>
              <a:gd name="T80" fmla="*/ 275720 w 274278"/>
              <a:gd name="T81" fmla="*/ 127520 h 285391"/>
              <a:gd name="T82" fmla="*/ 191664 w 274278"/>
              <a:gd name="T83" fmla="*/ 286829 h 285391"/>
              <a:gd name="T84" fmla="*/ 0 w 274278"/>
              <a:gd name="T85" fmla="*/ 27816 h 28539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274278" h="285391">
                <a:moveTo>
                  <a:pt x="145828" y="255588"/>
                </a:moveTo>
                <a:lnTo>
                  <a:pt x="154210" y="255588"/>
                </a:lnTo>
                <a:cubicBezTo>
                  <a:pt x="156305" y="255588"/>
                  <a:pt x="158401" y="257493"/>
                  <a:pt x="158401" y="260160"/>
                </a:cubicBezTo>
                <a:cubicBezTo>
                  <a:pt x="158401" y="262446"/>
                  <a:pt x="156305" y="264732"/>
                  <a:pt x="154210" y="264732"/>
                </a:cubicBezTo>
                <a:lnTo>
                  <a:pt x="145828" y="264732"/>
                </a:lnTo>
                <a:cubicBezTo>
                  <a:pt x="143733" y="264732"/>
                  <a:pt x="141288" y="262446"/>
                  <a:pt x="141288" y="260160"/>
                </a:cubicBezTo>
                <a:cubicBezTo>
                  <a:pt x="141288" y="257493"/>
                  <a:pt x="143733" y="255588"/>
                  <a:pt x="145828" y="255588"/>
                </a:cubicBezTo>
                <a:close/>
                <a:moveTo>
                  <a:pt x="98077" y="255588"/>
                </a:moveTo>
                <a:lnTo>
                  <a:pt x="119043" y="255588"/>
                </a:lnTo>
                <a:cubicBezTo>
                  <a:pt x="121618" y="255588"/>
                  <a:pt x="123457" y="257493"/>
                  <a:pt x="123457" y="260160"/>
                </a:cubicBezTo>
                <a:cubicBezTo>
                  <a:pt x="123457" y="262446"/>
                  <a:pt x="121618" y="264732"/>
                  <a:pt x="119043" y="264732"/>
                </a:cubicBezTo>
                <a:lnTo>
                  <a:pt x="98077" y="264732"/>
                </a:lnTo>
                <a:cubicBezTo>
                  <a:pt x="95870" y="264732"/>
                  <a:pt x="93663" y="262446"/>
                  <a:pt x="93663" y="260160"/>
                </a:cubicBezTo>
                <a:cubicBezTo>
                  <a:pt x="93663" y="257493"/>
                  <a:pt x="95870" y="255588"/>
                  <a:pt x="98077" y="255588"/>
                </a:cubicBezTo>
                <a:close/>
                <a:moveTo>
                  <a:pt x="62929" y="255588"/>
                </a:moveTo>
                <a:lnTo>
                  <a:pt x="71311" y="255588"/>
                </a:lnTo>
                <a:cubicBezTo>
                  <a:pt x="73755" y="255588"/>
                  <a:pt x="75851" y="257493"/>
                  <a:pt x="75851" y="260160"/>
                </a:cubicBezTo>
                <a:cubicBezTo>
                  <a:pt x="75851" y="262446"/>
                  <a:pt x="73755" y="264732"/>
                  <a:pt x="71311" y="264732"/>
                </a:cubicBezTo>
                <a:lnTo>
                  <a:pt x="62929" y="264732"/>
                </a:lnTo>
                <a:cubicBezTo>
                  <a:pt x="60833" y="264732"/>
                  <a:pt x="58738" y="262446"/>
                  <a:pt x="58738" y="260160"/>
                </a:cubicBezTo>
                <a:cubicBezTo>
                  <a:pt x="58738" y="257493"/>
                  <a:pt x="60833" y="255588"/>
                  <a:pt x="62929" y="255588"/>
                </a:cubicBezTo>
                <a:close/>
                <a:moveTo>
                  <a:pt x="136598" y="204159"/>
                </a:moveTo>
                <a:lnTo>
                  <a:pt x="99836" y="240821"/>
                </a:lnTo>
                <a:cubicBezTo>
                  <a:pt x="99115" y="241540"/>
                  <a:pt x="97673" y="242259"/>
                  <a:pt x="96952" y="242259"/>
                </a:cubicBezTo>
                <a:lnTo>
                  <a:pt x="8650" y="242259"/>
                </a:lnTo>
                <a:lnTo>
                  <a:pt x="8650" y="259512"/>
                </a:lnTo>
                <a:cubicBezTo>
                  <a:pt x="8650" y="268857"/>
                  <a:pt x="16579" y="276764"/>
                  <a:pt x="25950" y="276764"/>
                </a:cubicBezTo>
                <a:lnTo>
                  <a:pt x="190661" y="276764"/>
                </a:lnTo>
                <a:cubicBezTo>
                  <a:pt x="200392" y="276764"/>
                  <a:pt x="207961" y="268857"/>
                  <a:pt x="207961" y="259512"/>
                </a:cubicBezTo>
                <a:lnTo>
                  <a:pt x="207961" y="242259"/>
                </a:lnTo>
                <a:lnTo>
                  <a:pt x="131552" y="242259"/>
                </a:lnTo>
                <a:cubicBezTo>
                  <a:pt x="129029" y="242259"/>
                  <a:pt x="126867" y="240102"/>
                  <a:pt x="126867" y="237946"/>
                </a:cubicBezTo>
                <a:cubicBezTo>
                  <a:pt x="126867" y="235429"/>
                  <a:pt x="129029" y="233273"/>
                  <a:pt x="131552" y="233273"/>
                </a:cubicBezTo>
                <a:lnTo>
                  <a:pt x="207961" y="233273"/>
                </a:lnTo>
                <a:lnTo>
                  <a:pt x="207961" y="213863"/>
                </a:lnTo>
                <a:cubicBezTo>
                  <a:pt x="200032" y="216020"/>
                  <a:pt x="191742" y="217458"/>
                  <a:pt x="183452" y="217458"/>
                </a:cubicBezTo>
                <a:cubicBezTo>
                  <a:pt x="166873" y="217458"/>
                  <a:pt x="150654" y="213145"/>
                  <a:pt x="136598" y="204159"/>
                </a:cubicBezTo>
                <a:close/>
                <a:moveTo>
                  <a:pt x="225235" y="122238"/>
                </a:moveTo>
                <a:cubicBezTo>
                  <a:pt x="227902" y="122238"/>
                  <a:pt x="229807" y="124524"/>
                  <a:pt x="229807" y="127191"/>
                </a:cubicBezTo>
                <a:cubicBezTo>
                  <a:pt x="229807" y="129477"/>
                  <a:pt x="227902" y="131382"/>
                  <a:pt x="225235" y="131382"/>
                </a:cubicBezTo>
                <a:cubicBezTo>
                  <a:pt x="222568" y="131382"/>
                  <a:pt x="220663" y="129477"/>
                  <a:pt x="220663" y="127191"/>
                </a:cubicBezTo>
                <a:cubicBezTo>
                  <a:pt x="220663" y="124524"/>
                  <a:pt x="222568" y="122238"/>
                  <a:pt x="225235" y="122238"/>
                </a:cubicBezTo>
                <a:close/>
                <a:moveTo>
                  <a:pt x="144272" y="122238"/>
                </a:moveTo>
                <a:cubicBezTo>
                  <a:pt x="146939" y="122238"/>
                  <a:pt x="148844" y="124524"/>
                  <a:pt x="148844" y="127191"/>
                </a:cubicBezTo>
                <a:cubicBezTo>
                  <a:pt x="148844" y="129477"/>
                  <a:pt x="146939" y="131382"/>
                  <a:pt x="144272" y="131382"/>
                </a:cubicBezTo>
                <a:cubicBezTo>
                  <a:pt x="141605" y="131382"/>
                  <a:pt x="139700" y="129477"/>
                  <a:pt x="139700" y="127191"/>
                </a:cubicBezTo>
                <a:cubicBezTo>
                  <a:pt x="139700" y="124524"/>
                  <a:pt x="141605" y="122238"/>
                  <a:pt x="144272" y="122238"/>
                </a:cubicBezTo>
                <a:close/>
                <a:moveTo>
                  <a:pt x="225657" y="79219"/>
                </a:moveTo>
                <a:cubicBezTo>
                  <a:pt x="227476" y="77788"/>
                  <a:pt x="230023" y="77788"/>
                  <a:pt x="231842" y="79219"/>
                </a:cubicBezTo>
                <a:cubicBezTo>
                  <a:pt x="258399" y="105705"/>
                  <a:pt x="258399" y="148296"/>
                  <a:pt x="231842" y="174424"/>
                </a:cubicBezTo>
                <a:cubicBezTo>
                  <a:pt x="231114" y="175497"/>
                  <a:pt x="230023" y="175855"/>
                  <a:pt x="228567" y="175855"/>
                </a:cubicBezTo>
                <a:cubicBezTo>
                  <a:pt x="227476" y="175855"/>
                  <a:pt x="226385" y="175497"/>
                  <a:pt x="225657" y="174424"/>
                </a:cubicBezTo>
                <a:cubicBezTo>
                  <a:pt x="223838" y="172992"/>
                  <a:pt x="223838" y="170129"/>
                  <a:pt x="225657" y="168697"/>
                </a:cubicBezTo>
                <a:cubicBezTo>
                  <a:pt x="248940" y="145433"/>
                  <a:pt x="248940" y="108568"/>
                  <a:pt x="225657" y="85662"/>
                </a:cubicBezTo>
                <a:cubicBezTo>
                  <a:pt x="223838" y="83872"/>
                  <a:pt x="223838" y="81009"/>
                  <a:pt x="225657" y="79219"/>
                </a:cubicBezTo>
                <a:close/>
                <a:moveTo>
                  <a:pt x="136375" y="79219"/>
                </a:moveTo>
                <a:cubicBezTo>
                  <a:pt x="138213" y="77788"/>
                  <a:pt x="140787" y="77788"/>
                  <a:pt x="142625" y="79219"/>
                </a:cubicBezTo>
                <a:cubicBezTo>
                  <a:pt x="144095" y="81009"/>
                  <a:pt x="144095" y="83872"/>
                  <a:pt x="142625" y="85662"/>
                </a:cubicBezTo>
                <a:cubicBezTo>
                  <a:pt x="119096" y="108568"/>
                  <a:pt x="119096" y="145433"/>
                  <a:pt x="142625" y="168697"/>
                </a:cubicBezTo>
                <a:cubicBezTo>
                  <a:pt x="144095" y="170129"/>
                  <a:pt x="144095" y="172992"/>
                  <a:pt x="142625" y="174424"/>
                </a:cubicBezTo>
                <a:cubicBezTo>
                  <a:pt x="141890" y="175497"/>
                  <a:pt x="140419" y="175855"/>
                  <a:pt x="139316" y="175855"/>
                </a:cubicBezTo>
                <a:cubicBezTo>
                  <a:pt x="138213" y="175855"/>
                  <a:pt x="137478" y="175497"/>
                  <a:pt x="136375" y="174424"/>
                </a:cubicBezTo>
                <a:cubicBezTo>
                  <a:pt x="109538" y="148296"/>
                  <a:pt x="109538" y="105705"/>
                  <a:pt x="136375" y="79219"/>
                </a:cubicBezTo>
                <a:close/>
                <a:moveTo>
                  <a:pt x="183356" y="76200"/>
                </a:moveTo>
                <a:cubicBezTo>
                  <a:pt x="185890" y="76200"/>
                  <a:pt x="187699" y="78361"/>
                  <a:pt x="187699" y="80523"/>
                </a:cubicBezTo>
                <a:lnTo>
                  <a:pt x="187699" y="86648"/>
                </a:lnTo>
                <a:cubicBezTo>
                  <a:pt x="196022" y="88089"/>
                  <a:pt x="202897" y="93133"/>
                  <a:pt x="206154" y="100699"/>
                </a:cubicBezTo>
                <a:cubicBezTo>
                  <a:pt x="206877" y="102861"/>
                  <a:pt x="205792" y="105383"/>
                  <a:pt x="203621" y="106103"/>
                </a:cubicBezTo>
                <a:cubicBezTo>
                  <a:pt x="201450" y="107184"/>
                  <a:pt x="198916" y="106103"/>
                  <a:pt x="197831" y="103942"/>
                </a:cubicBezTo>
                <a:cubicBezTo>
                  <a:pt x="195660" y="98537"/>
                  <a:pt x="189870" y="94935"/>
                  <a:pt x="183356" y="94935"/>
                </a:cubicBezTo>
                <a:cubicBezTo>
                  <a:pt x="174672" y="94935"/>
                  <a:pt x="167435" y="101059"/>
                  <a:pt x="167435" y="108625"/>
                </a:cubicBezTo>
                <a:cubicBezTo>
                  <a:pt x="167435" y="115110"/>
                  <a:pt x="170330" y="122317"/>
                  <a:pt x="183356" y="122317"/>
                </a:cubicBezTo>
                <a:cubicBezTo>
                  <a:pt x="201450" y="122317"/>
                  <a:pt x="207601" y="134206"/>
                  <a:pt x="207601" y="145014"/>
                </a:cubicBezTo>
                <a:cubicBezTo>
                  <a:pt x="207601" y="155823"/>
                  <a:pt x="198916" y="165190"/>
                  <a:pt x="187699" y="166992"/>
                </a:cubicBezTo>
                <a:lnTo>
                  <a:pt x="187699" y="173117"/>
                </a:lnTo>
                <a:cubicBezTo>
                  <a:pt x="187699" y="175278"/>
                  <a:pt x="185890" y="177440"/>
                  <a:pt x="183356" y="177440"/>
                </a:cubicBezTo>
                <a:cubicBezTo>
                  <a:pt x="180823" y="177440"/>
                  <a:pt x="179014" y="175278"/>
                  <a:pt x="179014" y="173117"/>
                </a:cubicBezTo>
                <a:lnTo>
                  <a:pt x="179014" y="166992"/>
                </a:lnTo>
                <a:cubicBezTo>
                  <a:pt x="170691" y="165551"/>
                  <a:pt x="163816" y="160507"/>
                  <a:pt x="160921" y="153301"/>
                </a:cubicBezTo>
                <a:cubicBezTo>
                  <a:pt x="159836" y="150779"/>
                  <a:pt x="160921" y="148257"/>
                  <a:pt x="162730" y="147536"/>
                </a:cubicBezTo>
                <a:cubicBezTo>
                  <a:pt x="165263" y="146816"/>
                  <a:pt x="167797" y="147536"/>
                  <a:pt x="168520" y="149698"/>
                </a:cubicBezTo>
                <a:cubicBezTo>
                  <a:pt x="171053" y="155102"/>
                  <a:pt x="176843" y="158705"/>
                  <a:pt x="183356" y="158705"/>
                </a:cubicBezTo>
                <a:cubicBezTo>
                  <a:pt x="192041" y="158705"/>
                  <a:pt x="198916" y="152580"/>
                  <a:pt x="198916" y="145014"/>
                </a:cubicBezTo>
                <a:cubicBezTo>
                  <a:pt x="198916" y="138890"/>
                  <a:pt x="196383" y="130963"/>
                  <a:pt x="183356" y="130963"/>
                </a:cubicBezTo>
                <a:cubicBezTo>
                  <a:pt x="165625" y="130963"/>
                  <a:pt x="158750" y="119434"/>
                  <a:pt x="158750" y="108625"/>
                </a:cubicBezTo>
                <a:cubicBezTo>
                  <a:pt x="158750" y="97817"/>
                  <a:pt x="167435" y="88810"/>
                  <a:pt x="179014" y="86648"/>
                </a:cubicBezTo>
                <a:lnTo>
                  <a:pt x="179014" y="80523"/>
                </a:lnTo>
                <a:cubicBezTo>
                  <a:pt x="179014" y="78361"/>
                  <a:pt x="180823" y="76200"/>
                  <a:pt x="183356" y="76200"/>
                </a:cubicBezTo>
                <a:close/>
                <a:moveTo>
                  <a:pt x="183452" y="44570"/>
                </a:moveTo>
                <a:cubicBezTo>
                  <a:pt x="138040" y="44570"/>
                  <a:pt x="100917" y="81591"/>
                  <a:pt x="100917" y="126880"/>
                </a:cubicBezTo>
                <a:lnTo>
                  <a:pt x="100917" y="227163"/>
                </a:lnTo>
                <a:lnTo>
                  <a:pt x="132994" y="195892"/>
                </a:lnTo>
                <a:cubicBezTo>
                  <a:pt x="134075" y="194454"/>
                  <a:pt x="136598" y="194095"/>
                  <a:pt x="138400" y="195173"/>
                </a:cubicBezTo>
                <a:cubicBezTo>
                  <a:pt x="151736" y="204159"/>
                  <a:pt x="167234" y="208831"/>
                  <a:pt x="183452" y="208831"/>
                </a:cubicBezTo>
                <a:cubicBezTo>
                  <a:pt x="228865" y="208831"/>
                  <a:pt x="265628" y="172169"/>
                  <a:pt x="265628" y="126880"/>
                </a:cubicBezTo>
                <a:cubicBezTo>
                  <a:pt x="265628" y="81591"/>
                  <a:pt x="228865" y="44570"/>
                  <a:pt x="183452" y="44570"/>
                </a:cubicBezTo>
                <a:close/>
                <a:moveTo>
                  <a:pt x="148432" y="22225"/>
                </a:moveTo>
                <a:cubicBezTo>
                  <a:pt x="150416" y="22225"/>
                  <a:pt x="152069" y="24130"/>
                  <a:pt x="152069" y="26797"/>
                </a:cubicBezTo>
                <a:cubicBezTo>
                  <a:pt x="152069" y="29083"/>
                  <a:pt x="150416" y="31369"/>
                  <a:pt x="148432" y="31369"/>
                </a:cubicBezTo>
                <a:cubicBezTo>
                  <a:pt x="146117" y="31369"/>
                  <a:pt x="144463" y="29083"/>
                  <a:pt x="144463" y="26797"/>
                </a:cubicBezTo>
                <a:cubicBezTo>
                  <a:pt x="144463" y="24130"/>
                  <a:pt x="146117" y="22225"/>
                  <a:pt x="148432" y="22225"/>
                </a:cubicBezTo>
                <a:close/>
                <a:moveTo>
                  <a:pt x="88449" y="22225"/>
                </a:moveTo>
                <a:lnTo>
                  <a:pt x="128680" y="22225"/>
                </a:lnTo>
                <a:cubicBezTo>
                  <a:pt x="130836" y="22225"/>
                  <a:pt x="132991" y="24130"/>
                  <a:pt x="132991" y="26797"/>
                </a:cubicBezTo>
                <a:cubicBezTo>
                  <a:pt x="132991" y="29083"/>
                  <a:pt x="130836" y="31369"/>
                  <a:pt x="128680" y="31369"/>
                </a:cubicBezTo>
                <a:lnTo>
                  <a:pt x="88449" y="31369"/>
                </a:lnTo>
                <a:cubicBezTo>
                  <a:pt x="85934" y="31369"/>
                  <a:pt x="84138" y="29083"/>
                  <a:pt x="84138" y="26797"/>
                </a:cubicBezTo>
                <a:cubicBezTo>
                  <a:pt x="84138" y="24130"/>
                  <a:pt x="85934" y="22225"/>
                  <a:pt x="88449" y="22225"/>
                </a:cubicBezTo>
                <a:close/>
                <a:moveTo>
                  <a:pt x="27752" y="8986"/>
                </a:moveTo>
                <a:cubicBezTo>
                  <a:pt x="17300" y="8986"/>
                  <a:pt x="8650" y="17253"/>
                  <a:pt x="8650" y="27676"/>
                </a:cubicBezTo>
                <a:lnTo>
                  <a:pt x="8650" y="233273"/>
                </a:lnTo>
                <a:lnTo>
                  <a:pt x="92627" y="233273"/>
                </a:lnTo>
                <a:lnTo>
                  <a:pt x="92627" y="126880"/>
                </a:lnTo>
                <a:cubicBezTo>
                  <a:pt x="92627" y="76919"/>
                  <a:pt x="133354" y="35943"/>
                  <a:pt x="183452" y="35943"/>
                </a:cubicBezTo>
                <a:cubicBezTo>
                  <a:pt x="191742" y="35943"/>
                  <a:pt x="200032" y="37381"/>
                  <a:pt x="207961" y="39537"/>
                </a:cubicBezTo>
                <a:lnTo>
                  <a:pt x="207961" y="27676"/>
                </a:lnTo>
                <a:cubicBezTo>
                  <a:pt x="207961" y="17253"/>
                  <a:pt x="199311" y="8986"/>
                  <a:pt x="189219" y="8986"/>
                </a:cubicBezTo>
                <a:lnTo>
                  <a:pt x="27752" y="8986"/>
                </a:lnTo>
                <a:close/>
                <a:moveTo>
                  <a:pt x="27752" y="0"/>
                </a:moveTo>
                <a:lnTo>
                  <a:pt x="189219" y="0"/>
                </a:lnTo>
                <a:cubicBezTo>
                  <a:pt x="204357" y="0"/>
                  <a:pt x="216611" y="12580"/>
                  <a:pt x="216611" y="27676"/>
                </a:cubicBezTo>
                <a:lnTo>
                  <a:pt x="216611" y="42413"/>
                </a:lnTo>
                <a:cubicBezTo>
                  <a:pt x="250490" y="55712"/>
                  <a:pt x="274278" y="88421"/>
                  <a:pt x="274278" y="126880"/>
                </a:cubicBezTo>
                <a:cubicBezTo>
                  <a:pt x="274278" y="164980"/>
                  <a:pt x="250490" y="197689"/>
                  <a:pt x="216611" y="210988"/>
                </a:cubicBezTo>
                <a:lnTo>
                  <a:pt x="216611" y="259512"/>
                </a:lnTo>
                <a:cubicBezTo>
                  <a:pt x="216611" y="273889"/>
                  <a:pt x="205077" y="285391"/>
                  <a:pt x="190661" y="285391"/>
                </a:cubicBezTo>
                <a:lnTo>
                  <a:pt x="25950" y="285391"/>
                </a:lnTo>
                <a:cubicBezTo>
                  <a:pt x="11894" y="285391"/>
                  <a:pt x="0" y="273889"/>
                  <a:pt x="0" y="259512"/>
                </a:cubicBezTo>
                <a:lnTo>
                  <a:pt x="0" y="27676"/>
                </a:lnTo>
                <a:cubicBezTo>
                  <a:pt x="0" y="12580"/>
                  <a:pt x="12254" y="0"/>
                  <a:pt x="2775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anchor="ctr"/>
          <a:lstStyle/>
          <a:p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D7D049C-78A2-AB4E-B6EB-5CB2EB5960C3}"/>
              </a:ext>
            </a:extLst>
          </p:cNvPr>
          <p:cNvSpPr txBox="1"/>
          <p:nvPr/>
        </p:nvSpPr>
        <p:spPr>
          <a:xfrm>
            <a:off x="2920746" y="8921"/>
            <a:ext cx="330250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b="1" spc="450" dirty="0">
                <a:solidFill>
                  <a:schemeClr val="tx2"/>
                </a:solidFill>
                <a:latin typeface="Bebas Neue" pitchFamily="2" charset="0"/>
              </a:rPr>
              <a:t>Push and Pull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BE0F70-9CBB-744F-89F4-86BB8F37BE4D}"/>
              </a:ext>
            </a:extLst>
          </p:cNvPr>
          <p:cNvSpPr txBox="1"/>
          <p:nvPr/>
        </p:nvSpPr>
        <p:spPr>
          <a:xfrm>
            <a:off x="5399423" y="4204315"/>
            <a:ext cx="1948867" cy="31162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425" b="1" spc="113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Expertise </a:t>
            </a:r>
            <a:r>
              <a:rPr lang="en-US" sz="1425" b="1" spc="113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and Cost </a:t>
            </a:r>
            <a:endParaRPr lang="en-US" sz="1425" b="1" spc="113" dirty="0">
              <a:solidFill>
                <a:schemeClr val="tx2"/>
              </a:solidFill>
              <a:latin typeface="Franklin Gothic Book" panose="020B0503020102020204" pitchFamily="34" charset="0"/>
              <a:ea typeface="League Spartan" charset="0"/>
              <a:cs typeface="Poppins" pitchFamily="2" charset="7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15ACF3F-8DC4-D841-B561-ADB9D3E075AC}"/>
              </a:ext>
            </a:extLst>
          </p:cNvPr>
          <p:cNvSpPr txBox="1"/>
          <p:nvPr/>
        </p:nvSpPr>
        <p:spPr>
          <a:xfrm>
            <a:off x="5412787" y="1288833"/>
            <a:ext cx="2409378" cy="31162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425" b="1" spc="113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Strategic and Day-to-Day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B4BEC-D02D-3743-AD06-71F09EF8DDAD}"/>
              </a:ext>
            </a:extLst>
          </p:cNvPr>
          <p:cNvSpPr txBox="1"/>
          <p:nvPr/>
        </p:nvSpPr>
        <p:spPr>
          <a:xfrm>
            <a:off x="5412787" y="2778383"/>
            <a:ext cx="2978957" cy="31162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425" b="1" spc="113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SaaS / Product and Hospitality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B014CB2-1ABF-5D44-8188-C35F2729BD1E}"/>
              </a:ext>
            </a:extLst>
          </p:cNvPr>
          <p:cNvSpPr/>
          <p:nvPr/>
        </p:nvSpPr>
        <p:spPr>
          <a:xfrm>
            <a:off x="2719485" y="2688978"/>
            <a:ext cx="1808420" cy="456878"/>
          </a:xfrm>
          <a:prstGeom prst="roundRect">
            <a:avLst>
              <a:gd name="adj" fmla="val 50000"/>
            </a:avLst>
          </a:prstGeom>
          <a:solidFill>
            <a:srgbClr val="B5237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47EA719-AE28-2B49-BEA9-806EB64BAD49}"/>
              </a:ext>
            </a:extLst>
          </p:cNvPr>
          <p:cNvSpPr/>
          <p:nvPr/>
        </p:nvSpPr>
        <p:spPr>
          <a:xfrm rot="18893649">
            <a:off x="3577281" y="2877956"/>
            <a:ext cx="1124190" cy="456878"/>
          </a:xfrm>
          <a:prstGeom prst="roundRect">
            <a:avLst>
              <a:gd name="adj" fmla="val 50000"/>
            </a:avLst>
          </a:prstGeom>
          <a:solidFill>
            <a:srgbClr val="B5237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9414BD-3592-084B-B0CB-94ED5C0F6F21}"/>
              </a:ext>
            </a:extLst>
          </p:cNvPr>
          <p:cNvSpPr/>
          <p:nvPr/>
        </p:nvSpPr>
        <p:spPr>
          <a:xfrm rot="2717866">
            <a:off x="3578077" y="2395746"/>
            <a:ext cx="1124190" cy="456878"/>
          </a:xfrm>
          <a:prstGeom prst="roundRect">
            <a:avLst>
              <a:gd name="adj" fmla="val 50000"/>
            </a:avLst>
          </a:prstGeom>
          <a:solidFill>
            <a:srgbClr val="B5237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B7739A0-4B92-8A4A-B5DC-CD1944912BCD}"/>
              </a:ext>
            </a:extLst>
          </p:cNvPr>
          <p:cNvSpPr/>
          <p:nvPr/>
        </p:nvSpPr>
        <p:spPr>
          <a:xfrm rot="10800000">
            <a:off x="269171" y="2688978"/>
            <a:ext cx="1851038" cy="461043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44BCF59-984E-3C46-9F08-C70A41146FFA}"/>
              </a:ext>
            </a:extLst>
          </p:cNvPr>
          <p:cNvSpPr/>
          <p:nvPr/>
        </p:nvSpPr>
        <p:spPr>
          <a:xfrm rot="8093649">
            <a:off x="181513" y="2457333"/>
            <a:ext cx="1150683" cy="4610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685A5BA-2463-4840-82A9-681C498FF6EA}"/>
              </a:ext>
            </a:extLst>
          </p:cNvPr>
          <p:cNvSpPr/>
          <p:nvPr/>
        </p:nvSpPr>
        <p:spPr>
          <a:xfrm rot="13517866">
            <a:off x="209978" y="2950464"/>
            <a:ext cx="1134439" cy="467645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0F71A1-30B5-C045-BF6F-320A9346EBEE}"/>
              </a:ext>
            </a:extLst>
          </p:cNvPr>
          <p:cNvSpPr/>
          <p:nvPr/>
        </p:nvSpPr>
        <p:spPr>
          <a:xfrm>
            <a:off x="2745932" y="4161749"/>
            <a:ext cx="1808420" cy="456878"/>
          </a:xfrm>
          <a:prstGeom prst="roundRect">
            <a:avLst>
              <a:gd name="adj" fmla="val 50000"/>
            </a:avLst>
          </a:prstGeom>
          <a:solidFill>
            <a:srgbClr val="B5237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2E49EF3-DE5C-0544-A5FF-040A6B1104D5}"/>
              </a:ext>
            </a:extLst>
          </p:cNvPr>
          <p:cNvSpPr/>
          <p:nvPr/>
        </p:nvSpPr>
        <p:spPr>
          <a:xfrm rot="18893649">
            <a:off x="3594712" y="4401682"/>
            <a:ext cx="1124190" cy="456878"/>
          </a:xfrm>
          <a:prstGeom prst="roundRect">
            <a:avLst>
              <a:gd name="adj" fmla="val 50000"/>
            </a:avLst>
          </a:prstGeom>
          <a:solidFill>
            <a:srgbClr val="B5237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8BFE377-4803-0A43-A1F2-662D7D80C588}"/>
              </a:ext>
            </a:extLst>
          </p:cNvPr>
          <p:cNvSpPr/>
          <p:nvPr/>
        </p:nvSpPr>
        <p:spPr>
          <a:xfrm rot="2717866">
            <a:off x="3595508" y="3919472"/>
            <a:ext cx="1124190" cy="456878"/>
          </a:xfrm>
          <a:prstGeom prst="roundRect">
            <a:avLst>
              <a:gd name="adj" fmla="val 50000"/>
            </a:avLst>
          </a:prstGeom>
          <a:solidFill>
            <a:srgbClr val="B5237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080786E-6EC5-044A-952F-E8DA933922D9}"/>
              </a:ext>
            </a:extLst>
          </p:cNvPr>
          <p:cNvSpPr/>
          <p:nvPr/>
        </p:nvSpPr>
        <p:spPr>
          <a:xfrm rot="10800000">
            <a:off x="340587" y="4147911"/>
            <a:ext cx="1851038" cy="461043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3C790A3-B5A0-574F-8CB0-F6F60505CB2A}"/>
              </a:ext>
            </a:extLst>
          </p:cNvPr>
          <p:cNvSpPr/>
          <p:nvPr/>
        </p:nvSpPr>
        <p:spPr>
          <a:xfrm rot="8093649">
            <a:off x="223476" y="3927459"/>
            <a:ext cx="1150683" cy="4610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95FC713-6D66-8349-94F4-6D7B78E3C0B7}"/>
              </a:ext>
            </a:extLst>
          </p:cNvPr>
          <p:cNvSpPr/>
          <p:nvPr/>
        </p:nvSpPr>
        <p:spPr>
          <a:xfrm rot="13517866">
            <a:off x="238455" y="4402943"/>
            <a:ext cx="1134439" cy="467645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214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7">
            <a:extLst>
              <a:ext uri="{FF2B5EF4-FFF2-40B4-BE49-F238E27FC236}">
                <a16:creationId xmlns:a16="http://schemas.microsoft.com/office/drawing/2014/main" id="{F694FC33-D648-F743-A2DF-FDD77585E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99" y="2229617"/>
            <a:ext cx="4483102" cy="981158"/>
          </a:xfrm>
          <a:custGeom>
            <a:avLst/>
            <a:gdLst>
              <a:gd name="T0" fmla="*/ 533 w 8894"/>
              <a:gd name="T1" fmla="*/ 715 h 1571"/>
              <a:gd name="T2" fmla="*/ 55 w 8894"/>
              <a:gd name="T3" fmla="*/ 155 h 1571"/>
              <a:gd name="T4" fmla="*/ 55 w 8894"/>
              <a:gd name="T5" fmla="*/ 155 h 1571"/>
              <a:gd name="T6" fmla="*/ 126 w 8894"/>
              <a:gd name="T7" fmla="*/ 0 h 1571"/>
              <a:gd name="T8" fmla="*/ 8249 w 8894"/>
              <a:gd name="T9" fmla="*/ 0 h 1571"/>
              <a:gd name="T10" fmla="*/ 8249 w 8894"/>
              <a:gd name="T11" fmla="*/ 0 h 1571"/>
              <a:gd name="T12" fmla="*/ 8322 w 8894"/>
              <a:gd name="T13" fmla="*/ 36 h 1571"/>
              <a:gd name="T14" fmla="*/ 8866 w 8894"/>
              <a:gd name="T15" fmla="*/ 717 h 1571"/>
              <a:gd name="T16" fmla="*/ 8866 w 8894"/>
              <a:gd name="T17" fmla="*/ 717 h 1571"/>
              <a:gd name="T18" fmla="*/ 8867 w 8894"/>
              <a:gd name="T19" fmla="*/ 833 h 1571"/>
              <a:gd name="T20" fmla="*/ 8322 w 8894"/>
              <a:gd name="T21" fmla="*/ 1534 h 1571"/>
              <a:gd name="T22" fmla="*/ 8322 w 8894"/>
              <a:gd name="T23" fmla="*/ 1534 h 1571"/>
              <a:gd name="T24" fmla="*/ 8248 w 8894"/>
              <a:gd name="T25" fmla="*/ 1570 h 1571"/>
              <a:gd name="T26" fmla="*/ 122 w 8894"/>
              <a:gd name="T27" fmla="*/ 1570 h 1571"/>
              <a:gd name="T28" fmla="*/ 122 w 8894"/>
              <a:gd name="T29" fmla="*/ 1570 h 1571"/>
              <a:gd name="T30" fmla="*/ 51 w 8894"/>
              <a:gd name="T31" fmla="*/ 1417 h 1571"/>
              <a:gd name="T32" fmla="*/ 534 w 8894"/>
              <a:gd name="T33" fmla="*/ 835 h 1571"/>
              <a:gd name="T34" fmla="*/ 534 w 8894"/>
              <a:gd name="T35" fmla="*/ 835 h 1571"/>
              <a:gd name="T36" fmla="*/ 533 w 8894"/>
              <a:gd name="T37" fmla="*/ 715 h 1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894" h="1571">
                <a:moveTo>
                  <a:pt x="533" y="715"/>
                </a:moveTo>
                <a:lnTo>
                  <a:pt x="55" y="155"/>
                </a:lnTo>
                <a:lnTo>
                  <a:pt x="55" y="155"/>
                </a:lnTo>
                <a:cubicBezTo>
                  <a:pt x="3" y="94"/>
                  <a:pt x="46" y="0"/>
                  <a:pt x="126" y="0"/>
                </a:cubicBezTo>
                <a:lnTo>
                  <a:pt x="8249" y="0"/>
                </a:lnTo>
                <a:lnTo>
                  <a:pt x="8249" y="0"/>
                </a:lnTo>
                <a:cubicBezTo>
                  <a:pt x="8277" y="0"/>
                  <a:pt x="8304" y="13"/>
                  <a:pt x="8322" y="36"/>
                </a:cubicBezTo>
                <a:lnTo>
                  <a:pt x="8866" y="717"/>
                </a:lnTo>
                <a:lnTo>
                  <a:pt x="8866" y="717"/>
                </a:lnTo>
                <a:cubicBezTo>
                  <a:pt x="8893" y="751"/>
                  <a:pt x="8893" y="799"/>
                  <a:pt x="8867" y="833"/>
                </a:cubicBezTo>
                <a:lnTo>
                  <a:pt x="8322" y="1534"/>
                </a:lnTo>
                <a:lnTo>
                  <a:pt x="8322" y="1534"/>
                </a:lnTo>
                <a:cubicBezTo>
                  <a:pt x="8304" y="1557"/>
                  <a:pt x="8277" y="1570"/>
                  <a:pt x="8248" y="1570"/>
                </a:cubicBezTo>
                <a:lnTo>
                  <a:pt x="122" y="1570"/>
                </a:lnTo>
                <a:lnTo>
                  <a:pt x="122" y="1570"/>
                </a:lnTo>
                <a:cubicBezTo>
                  <a:pt x="43" y="1570"/>
                  <a:pt x="0" y="1478"/>
                  <a:pt x="51" y="1417"/>
                </a:cubicBezTo>
                <a:lnTo>
                  <a:pt x="534" y="835"/>
                </a:lnTo>
                <a:lnTo>
                  <a:pt x="534" y="835"/>
                </a:lnTo>
                <a:cubicBezTo>
                  <a:pt x="563" y="800"/>
                  <a:pt x="563" y="749"/>
                  <a:pt x="533" y="715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9B74D-6F0C-3A47-8498-68C5A049D95E}"/>
              </a:ext>
            </a:extLst>
          </p:cNvPr>
          <p:cNvSpPr txBox="1"/>
          <p:nvPr/>
        </p:nvSpPr>
        <p:spPr>
          <a:xfrm>
            <a:off x="2013858" y="0"/>
            <a:ext cx="4958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The Marketing Trifecta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7DDA7417-D885-AA4D-A15B-5BA843BDC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99" y="998629"/>
            <a:ext cx="4483102" cy="981158"/>
          </a:xfrm>
          <a:custGeom>
            <a:avLst/>
            <a:gdLst>
              <a:gd name="T0" fmla="*/ 533 w 8894"/>
              <a:gd name="T1" fmla="*/ 714 h 1571"/>
              <a:gd name="T2" fmla="*/ 55 w 8894"/>
              <a:gd name="T3" fmla="*/ 154 h 1571"/>
              <a:gd name="T4" fmla="*/ 55 w 8894"/>
              <a:gd name="T5" fmla="*/ 154 h 1571"/>
              <a:gd name="T6" fmla="*/ 126 w 8894"/>
              <a:gd name="T7" fmla="*/ 0 h 1571"/>
              <a:gd name="T8" fmla="*/ 8249 w 8894"/>
              <a:gd name="T9" fmla="*/ 0 h 1571"/>
              <a:gd name="T10" fmla="*/ 8249 w 8894"/>
              <a:gd name="T11" fmla="*/ 0 h 1571"/>
              <a:gd name="T12" fmla="*/ 8322 w 8894"/>
              <a:gd name="T13" fmla="*/ 35 h 1571"/>
              <a:gd name="T14" fmla="*/ 8866 w 8894"/>
              <a:gd name="T15" fmla="*/ 717 h 1571"/>
              <a:gd name="T16" fmla="*/ 8866 w 8894"/>
              <a:gd name="T17" fmla="*/ 717 h 1571"/>
              <a:gd name="T18" fmla="*/ 8867 w 8894"/>
              <a:gd name="T19" fmla="*/ 832 h 1571"/>
              <a:gd name="T20" fmla="*/ 8322 w 8894"/>
              <a:gd name="T21" fmla="*/ 1534 h 1571"/>
              <a:gd name="T22" fmla="*/ 8322 w 8894"/>
              <a:gd name="T23" fmla="*/ 1534 h 1571"/>
              <a:gd name="T24" fmla="*/ 8248 w 8894"/>
              <a:gd name="T25" fmla="*/ 1570 h 1571"/>
              <a:gd name="T26" fmla="*/ 122 w 8894"/>
              <a:gd name="T27" fmla="*/ 1570 h 1571"/>
              <a:gd name="T28" fmla="*/ 122 w 8894"/>
              <a:gd name="T29" fmla="*/ 1570 h 1571"/>
              <a:gd name="T30" fmla="*/ 51 w 8894"/>
              <a:gd name="T31" fmla="*/ 1417 h 1571"/>
              <a:gd name="T32" fmla="*/ 534 w 8894"/>
              <a:gd name="T33" fmla="*/ 835 h 1571"/>
              <a:gd name="T34" fmla="*/ 534 w 8894"/>
              <a:gd name="T35" fmla="*/ 835 h 1571"/>
              <a:gd name="T36" fmla="*/ 533 w 8894"/>
              <a:gd name="T37" fmla="*/ 714 h 1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894" h="1571">
                <a:moveTo>
                  <a:pt x="533" y="714"/>
                </a:moveTo>
                <a:lnTo>
                  <a:pt x="55" y="154"/>
                </a:lnTo>
                <a:lnTo>
                  <a:pt x="55" y="154"/>
                </a:lnTo>
                <a:cubicBezTo>
                  <a:pt x="3" y="94"/>
                  <a:pt x="46" y="0"/>
                  <a:pt x="126" y="0"/>
                </a:cubicBezTo>
                <a:lnTo>
                  <a:pt x="8249" y="0"/>
                </a:lnTo>
                <a:lnTo>
                  <a:pt x="8249" y="0"/>
                </a:lnTo>
                <a:cubicBezTo>
                  <a:pt x="8277" y="0"/>
                  <a:pt x="8304" y="13"/>
                  <a:pt x="8322" y="35"/>
                </a:cubicBezTo>
                <a:lnTo>
                  <a:pt x="8866" y="717"/>
                </a:lnTo>
                <a:lnTo>
                  <a:pt x="8866" y="717"/>
                </a:lnTo>
                <a:cubicBezTo>
                  <a:pt x="8893" y="750"/>
                  <a:pt x="8893" y="798"/>
                  <a:pt x="8867" y="832"/>
                </a:cubicBezTo>
                <a:lnTo>
                  <a:pt x="8322" y="1534"/>
                </a:lnTo>
                <a:lnTo>
                  <a:pt x="8322" y="1534"/>
                </a:lnTo>
                <a:cubicBezTo>
                  <a:pt x="8304" y="1556"/>
                  <a:pt x="8277" y="1570"/>
                  <a:pt x="8248" y="1570"/>
                </a:cubicBezTo>
                <a:lnTo>
                  <a:pt x="122" y="1570"/>
                </a:lnTo>
                <a:lnTo>
                  <a:pt x="122" y="1570"/>
                </a:lnTo>
                <a:cubicBezTo>
                  <a:pt x="43" y="1570"/>
                  <a:pt x="0" y="1478"/>
                  <a:pt x="51" y="1417"/>
                </a:cubicBezTo>
                <a:lnTo>
                  <a:pt x="534" y="835"/>
                </a:lnTo>
                <a:lnTo>
                  <a:pt x="534" y="835"/>
                </a:lnTo>
                <a:cubicBezTo>
                  <a:pt x="563" y="800"/>
                  <a:pt x="563" y="749"/>
                  <a:pt x="533" y="714"/>
                </a:cubicBezTo>
              </a:path>
            </a:pathLst>
          </a:custGeom>
          <a:solidFill>
            <a:srgbClr val="B5237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0CD05BB1-38EB-8442-8015-4AC5D2F7D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99" y="3460605"/>
            <a:ext cx="4483102" cy="981158"/>
          </a:xfrm>
          <a:custGeom>
            <a:avLst/>
            <a:gdLst>
              <a:gd name="T0" fmla="*/ 533 w 8894"/>
              <a:gd name="T1" fmla="*/ 714 h 1570"/>
              <a:gd name="T2" fmla="*/ 55 w 8894"/>
              <a:gd name="T3" fmla="*/ 154 h 1570"/>
              <a:gd name="T4" fmla="*/ 55 w 8894"/>
              <a:gd name="T5" fmla="*/ 154 h 1570"/>
              <a:gd name="T6" fmla="*/ 126 w 8894"/>
              <a:gd name="T7" fmla="*/ 0 h 1570"/>
              <a:gd name="T8" fmla="*/ 8249 w 8894"/>
              <a:gd name="T9" fmla="*/ 0 h 1570"/>
              <a:gd name="T10" fmla="*/ 8249 w 8894"/>
              <a:gd name="T11" fmla="*/ 0 h 1570"/>
              <a:gd name="T12" fmla="*/ 8322 w 8894"/>
              <a:gd name="T13" fmla="*/ 35 h 1570"/>
              <a:gd name="T14" fmla="*/ 8866 w 8894"/>
              <a:gd name="T15" fmla="*/ 717 h 1570"/>
              <a:gd name="T16" fmla="*/ 8866 w 8894"/>
              <a:gd name="T17" fmla="*/ 717 h 1570"/>
              <a:gd name="T18" fmla="*/ 8867 w 8894"/>
              <a:gd name="T19" fmla="*/ 832 h 1570"/>
              <a:gd name="T20" fmla="*/ 8322 w 8894"/>
              <a:gd name="T21" fmla="*/ 1533 h 1570"/>
              <a:gd name="T22" fmla="*/ 8322 w 8894"/>
              <a:gd name="T23" fmla="*/ 1533 h 1570"/>
              <a:gd name="T24" fmla="*/ 8248 w 8894"/>
              <a:gd name="T25" fmla="*/ 1569 h 1570"/>
              <a:gd name="T26" fmla="*/ 122 w 8894"/>
              <a:gd name="T27" fmla="*/ 1569 h 1570"/>
              <a:gd name="T28" fmla="*/ 122 w 8894"/>
              <a:gd name="T29" fmla="*/ 1569 h 1570"/>
              <a:gd name="T30" fmla="*/ 51 w 8894"/>
              <a:gd name="T31" fmla="*/ 1416 h 1570"/>
              <a:gd name="T32" fmla="*/ 534 w 8894"/>
              <a:gd name="T33" fmla="*/ 834 h 1570"/>
              <a:gd name="T34" fmla="*/ 534 w 8894"/>
              <a:gd name="T35" fmla="*/ 834 h 1570"/>
              <a:gd name="T36" fmla="*/ 533 w 8894"/>
              <a:gd name="T37" fmla="*/ 714 h 15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894" h="1570">
                <a:moveTo>
                  <a:pt x="533" y="714"/>
                </a:moveTo>
                <a:lnTo>
                  <a:pt x="55" y="154"/>
                </a:lnTo>
                <a:lnTo>
                  <a:pt x="55" y="154"/>
                </a:lnTo>
                <a:cubicBezTo>
                  <a:pt x="3" y="93"/>
                  <a:pt x="46" y="0"/>
                  <a:pt x="126" y="0"/>
                </a:cubicBezTo>
                <a:lnTo>
                  <a:pt x="8249" y="0"/>
                </a:lnTo>
                <a:lnTo>
                  <a:pt x="8249" y="0"/>
                </a:lnTo>
                <a:cubicBezTo>
                  <a:pt x="8277" y="0"/>
                  <a:pt x="8304" y="13"/>
                  <a:pt x="8322" y="35"/>
                </a:cubicBezTo>
                <a:lnTo>
                  <a:pt x="8866" y="717"/>
                </a:lnTo>
                <a:lnTo>
                  <a:pt x="8866" y="717"/>
                </a:lnTo>
                <a:cubicBezTo>
                  <a:pt x="8893" y="750"/>
                  <a:pt x="8893" y="798"/>
                  <a:pt x="8867" y="832"/>
                </a:cubicBezTo>
                <a:lnTo>
                  <a:pt x="8322" y="1533"/>
                </a:lnTo>
                <a:lnTo>
                  <a:pt x="8322" y="1533"/>
                </a:lnTo>
                <a:cubicBezTo>
                  <a:pt x="8304" y="1557"/>
                  <a:pt x="8277" y="1569"/>
                  <a:pt x="8248" y="1569"/>
                </a:cubicBezTo>
                <a:lnTo>
                  <a:pt x="122" y="1569"/>
                </a:lnTo>
                <a:lnTo>
                  <a:pt x="122" y="1569"/>
                </a:lnTo>
                <a:cubicBezTo>
                  <a:pt x="43" y="1569"/>
                  <a:pt x="0" y="1478"/>
                  <a:pt x="51" y="1416"/>
                </a:cubicBezTo>
                <a:lnTo>
                  <a:pt x="534" y="834"/>
                </a:lnTo>
                <a:lnTo>
                  <a:pt x="534" y="834"/>
                </a:lnTo>
                <a:cubicBezTo>
                  <a:pt x="563" y="799"/>
                  <a:pt x="563" y="749"/>
                  <a:pt x="533" y="714"/>
                </a:cubicBezTo>
              </a:path>
            </a:pathLst>
          </a:custGeom>
          <a:solidFill>
            <a:srgbClr val="D51067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A919852-36D8-F247-AFE9-4C8078289DAF}"/>
              </a:ext>
            </a:extLst>
          </p:cNvPr>
          <p:cNvSpPr txBox="1">
            <a:spLocks/>
          </p:cNvSpPr>
          <p:nvPr/>
        </p:nvSpPr>
        <p:spPr>
          <a:xfrm>
            <a:off x="297760" y="1358138"/>
            <a:ext cx="3656913" cy="51962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313"/>
              </a:lnSpc>
            </a:pPr>
            <a:r>
              <a:rPr lang="en-US" sz="900" dirty="0">
                <a:solidFill>
                  <a:schemeClr val="bg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Takes a look at your brand, how it is positioned, the competitive landscape, and the white space.  We look at voice of customer, Inn-Flow’s differentiator and overall tone of marketing communications.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8A298F-A4EF-204B-833F-114E4DF2D333}"/>
              </a:ext>
            </a:extLst>
          </p:cNvPr>
          <p:cNvSpPr txBox="1"/>
          <p:nvPr/>
        </p:nvSpPr>
        <p:spPr>
          <a:xfrm>
            <a:off x="3305135" y="1082206"/>
            <a:ext cx="649537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BRAND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F387CFA-B1A0-0C43-9B61-1AD91B66FD9C}"/>
              </a:ext>
            </a:extLst>
          </p:cNvPr>
          <p:cNvSpPr txBox="1">
            <a:spLocks/>
          </p:cNvSpPr>
          <p:nvPr/>
        </p:nvSpPr>
        <p:spPr>
          <a:xfrm>
            <a:off x="357631" y="2659099"/>
            <a:ext cx="3656913" cy="352917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313"/>
              </a:lnSpc>
            </a:pPr>
            <a:r>
              <a:rPr lang="en-US" sz="900" dirty="0">
                <a:solidFill>
                  <a:schemeClr val="bg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Creating overall brand awareness through multiple channels focusing on how do we attract new customers.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715462-189D-7D4A-8A9F-C5AAFEC98E86}"/>
              </a:ext>
            </a:extLst>
          </p:cNvPr>
          <p:cNvSpPr txBox="1"/>
          <p:nvPr/>
        </p:nvSpPr>
        <p:spPr>
          <a:xfrm>
            <a:off x="2947986" y="2394088"/>
            <a:ext cx="1006686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AWARENESS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1E8A81D-3B13-CF41-921F-05DD08904E42}"/>
              </a:ext>
            </a:extLst>
          </p:cNvPr>
          <p:cNvSpPr txBox="1">
            <a:spLocks/>
          </p:cNvSpPr>
          <p:nvPr/>
        </p:nvSpPr>
        <p:spPr>
          <a:xfrm>
            <a:off x="297760" y="3724637"/>
            <a:ext cx="3656913" cy="686342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313"/>
              </a:lnSpc>
            </a:pPr>
            <a:r>
              <a:rPr lang="en-US" sz="900" dirty="0">
                <a:solidFill>
                  <a:schemeClr val="bg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Segmenting and understanding your business to have targeted and effective communications.  Adopting customer buying journey information to look at how Inn-Flow connects in to those that mean the most to your business.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8F557D-F6DA-FB41-8E43-FF50AA6EF4E3}"/>
              </a:ext>
            </a:extLst>
          </p:cNvPr>
          <p:cNvSpPr txBox="1"/>
          <p:nvPr/>
        </p:nvSpPr>
        <p:spPr>
          <a:xfrm>
            <a:off x="3085715" y="3448705"/>
            <a:ext cx="868957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TARGETED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C6CC5FC-A2F5-C645-8918-DBC864C16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702" y="1140518"/>
            <a:ext cx="1245740" cy="7535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688C4D8-3E08-A544-B7BC-7FDD9E642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701" y="3491909"/>
            <a:ext cx="1121846" cy="10573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0EFAB4-FF46-EE4B-B632-D6F660EFF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996351">
            <a:off x="5062579" y="2124419"/>
            <a:ext cx="940319" cy="1341337"/>
          </a:xfrm>
          <a:prstGeom prst="rect">
            <a:avLst/>
          </a:prstGeom>
        </p:spPr>
      </p:pic>
      <p:sp>
        <p:nvSpPr>
          <p:cNvPr id="21" name="Right Arrow 20">
            <a:extLst>
              <a:ext uri="{FF2B5EF4-FFF2-40B4-BE49-F238E27FC236}">
                <a16:creationId xmlns:a16="http://schemas.microsoft.com/office/drawing/2014/main" id="{19654C4E-1B1B-5B42-A7DE-42BB4F2D6FB7}"/>
              </a:ext>
            </a:extLst>
          </p:cNvPr>
          <p:cNvSpPr/>
          <p:nvPr/>
        </p:nvSpPr>
        <p:spPr>
          <a:xfrm>
            <a:off x="6742627" y="2346355"/>
            <a:ext cx="485487" cy="625487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2483BD-E381-1E4B-AD0F-E1769D265439}"/>
              </a:ext>
            </a:extLst>
          </p:cNvPr>
          <p:cNvSpPr txBox="1"/>
          <p:nvPr/>
        </p:nvSpPr>
        <p:spPr>
          <a:xfrm>
            <a:off x="7263083" y="2325511"/>
            <a:ext cx="1756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Vision-to-Value </a:t>
            </a:r>
          </a:p>
          <a:p>
            <a:pPr algn="ctr"/>
            <a:r>
              <a:rPr lang="en-US" dirty="0"/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2900319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6" name="Title 2"/>
          <p:cNvSpPr txBox="1">
            <a:spLocks/>
          </p:cNvSpPr>
          <p:nvPr/>
        </p:nvSpPr>
        <p:spPr>
          <a:xfrm>
            <a:off x="2338920" y="106828"/>
            <a:ext cx="6652679" cy="5715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b="1" kern="1200" baseline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400" b="0" dirty="0">
                <a:latin typeface="Franklin Gothic Book"/>
                <a:cs typeface="Franklin Gothic Book"/>
              </a:rPr>
              <a:t>Performance Path                        		</a:t>
            </a:r>
            <a:r>
              <a:rPr lang="en-US" sz="1800" b="0" i="1" dirty="0">
                <a:latin typeface="Franklin Gothic Book"/>
                <a:cs typeface="Franklin Gothic Book"/>
              </a:rPr>
              <a:t>Why it works</a:t>
            </a:r>
            <a:r>
              <a:rPr lang="en-US" sz="2400" b="0" dirty="0">
                <a:latin typeface="Franklin Gothic Book"/>
                <a:cs typeface="Franklin Gothic Book"/>
              </a:rPr>
              <a:t>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7360" y="1782077"/>
            <a:ext cx="4486816" cy="9708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0" name="Rectangle 19"/>
          <p:cNvSpPr/>
          <p:nvPr/>
        </p:nvSpPr>
        <p:spPr>
          <a:xfrm>
            <a:off x="3905097" y="2747634"/>
            <a:ext cx="3966073" cy="9196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1" name="Rectangle 20"/>
          <p:cNvSpPr/>
          <p:nvPr/>
        </p:nvSpPr>
        <p:spPr>
          <a:xfrm>
            <a:off x="3294405" y="3654779"/>
            <a:ext cx="4576765" cy="12126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pSp>
        <p:nvGrpSpPr>
          <p:cNvPr id="22" name="Group 21"/>
          <p:cNvGrpSpPr/>
          <p:nvPr/>
        </p:nvGrpSpPr>
        <p:grpSpPr>
          <a:xfrm>
            <a:off x="1205852" y="1642859"/>
            <a:ext cx="3937652" cy="3224580"/>
            <a:chOff x="50135" y="1518460"/>
            <a:chExt cx="5398296" cy="4420715"/>
          </a:xfrm>
        </p:grpSpPr>
        <p:sp>
          <p:nvSpPr>
            <p:cNvPr id="23" name="Isosceles Triangle 22"/>
            <p:cNvSpPr/>
            <p:nvPr/>
          </p:nvSpPr>
          <p:spPr>
            <a:xfrm rot="20350593">
              <a:off x="2142667" y="1669766"/>
              <a:ext cx="2697476" cy="3917905"/>
            </a:xfrm>
            <a:prstGeom prst="triangle">
              <a:avLst>
                <a:gd name="adj" fmla="val 60048"/>
              </a:avLst>
            </a:prstGeom>
            <a:gradFill flip="none" rotWithShape="1">
              <a:gsLst>
                <a:gs pos="31000">
                  <a:srgbClr val="BA1C7F"/>
                </a:gs>
                <a:gs pos="10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Isosceles Triangle 23"/>
            <p:cNvSpPr/>
            <p:nvPr/>
          </p:nvSpPr>
          <p:spPr>
            <a:xfrm rot="1191330">
              <a:off x="649586" y="1518460"/>
              <a:ext cx="3036687" cy="4012156"/>
            </a:xfrm>
            <a:prstGeom prst="triangle">
              <a:avLst>
                <a:gd name="adj" fmla="val 56357"/>
              </a:avLst>
            </a:prstGeom>
            <a:gradFill flip="none" rotWithShape="1">
              <a:gsLst>
                <a:gs pos="40000">
                  <a:srgbClr val="BA1C7F"/>
                </a:gs>
                <a:gs pos="10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cxnSp>
          <p:nvCxnSpPr>
            <p:cNvPr id="25" name="Straight Connector 24"/>
            <p:cNvCxnSpPr>
              <a:stCxn id="23" idx="4"/>
              <a:endCxn id="23" idx="2"/>
            </p:cNvCxnSpPr>
            <p:nvPr/>
          </p:nvCxnSpPr>
          <p:spPr>
            <a:xfrm flipH="1">
              <a:off x="2927153" y="4980250"/>
              <a:ext cx="2521278" cy="958925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2919334" y="1709315"/>
              <a:ext cx="119931" cy="4213062"/>
            </a:xfrm>
            <a:prstGeom prst="line">
              <a:avLst/>
            </a:prstGeom>
            <a:ln>
              <a:solidFill>
                <a:srgbClr val="7B096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2966751" y="3140027"/>
              <a:ext cx="1150807" cy="398569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793236" y="3027615"/>
              <a:ext cx="1183097" cy="504285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23" idx="4"/>
              <a:endCxn id="32" idx="2"/>
            </p:cNvCxnSpPr>
            <p:nvPr/>
          </p:nvCxnSpPr>
          <p:spPr>
            <a:xfrm flipH="1" flipV="1">
              <a:off x="2946865" y="4136109"/>
              <a:ext cx="2501566" cy="84414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4" idx="2"/>
            </p:cNvCxnSpPr>
            <p:nvPr/>
          </p:nvCxnSpPr>
          <p:spPr>
            <a:xfrm flipV="1">
              <a:off x="58485" y="4155234"/>
              <a:ext cx="2898647" cy="74042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Isosceles Triangle 30"/>
            <p:cNvSpPr/>
            <p:nvPr/>
          </p:nvSpPr>
          <p:spPr>
            <a:xfrm rot="16371803" flipH="1">
              <a:off x="650100" y="3523026"/>
              <a:ext cx="1770275" cy="2860195"/>
            </a:xfrm>
            <a:prstGeom prst="triangle">
              <a:avLst/>
            </a:prstGeom>
            <a:solidFill>
              <a:schemeClr val="tx1">
                <a:lumMod val="65000"/>
                <a:lumOff val="35000"/>
                <a:alpha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sp>
          <p:nvSpPr>
            <p:cNvPr id="32" name="Isosceles Triangle 31"/>
            <p:cNvSpPr/>
            <p:nvPr/>
          </p:nvSpPr>
          <p:spPr>
            <a:xfrm rot="5400000">
              <a:off x="3273754" y="3809219"/>
              <a:ext cx="1783372" cy="2437151"/>
            </a:xfrm>
            <a:prstGeom prst="triangle">
              <a:avLst>
                <a:gd name="adj" fmla="val 47450"/>
              </a:avLst>
            </a:prstGeom>
            <a:solidFill>
              <a:schemeClr val="tx1">
                <a:lumMod val="65000"/>
                <a:lumOff val="35000"/>
                <a:alpha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3" name="Straight Connector 32"/>
            <p:cNvCxnSpPr/>
            <p:nvPr/>
          </p:nvCxnSpPr>
          <p:spPr>
            <a:xfrm flipH="1">
              <a:off x="2927153" y="4301387"/>
              <a:ext cx="2030875" cy="667161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745110" y="4155234"/>
              <a:ext cx="2206167" cy="799255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0135" y="4875770"/>
              <a:ext cx="2868668" cy="1043520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5374109" y="3969850"/>
            <a:ext cx="245925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50" b="1" dirty="0">
              <a:latin typeface="Franklin Gothic Book" panose="020B0503020102020204" pitchFamily="34" charset="0"/>
              <a:cs typeface="Franklin Gothic Medium"/>
            </a:endParaRPr>
          </a:p>
          <a:p>
            <a:r>
              <a:rPr lang="en-US" sz="1050" b="1" dirty="0">
                <a:latin typeface="Franklin Gothic Book" panose="020B0503020102020204" pitchFamily="34" charset="0"/>
                <a:cs typeface="Franklin Gothic Medium"/>
              </a:rPr>
              <a:t>Build the new way to work so they know exactly what to do and when.</a:t>
            </a:r>
          </a:p>
          <a:p>
            <a:r>
              <a:rPr lang="en-US" sz="1050" dirty="0">
                <a:latin typeface="Franklin Gothic Book" panose="020B0503020102020204" pitchFamily="34" charset="0"/>
                <a:cs typeface="Avenir Medium"/>
              </a:rPr>
              <a:t> 	</a:t>
            </a:r>
            <a:endParaRPr lang="en-US" sz="1050" b="1" dirty="0">
              <a:latin typeface="Franklin Gothic Book" panose="020B0503020102020204" pitchFamily="34" charset="0"/>
              <a:cs typeface="Avenir Medium"/>
            </a:endParaRPr>
          </a:p>
          <a:p>
            <a:r>
              <a:rPr lang="en-US" sz="1050" b="1" dirty="0">
                <a:latin typeface="Franklin Gothic Book" panose="020B0503020102020204" pitchFamily="34" charset="0"/>
                <a:cs typeface="Avenir Medium"/>
              </a:rPr>
              <a:t>              </a:t>
            </a:r>
            <a:r>
              <a:rPr lang="en-US" sz="1050" b="1" dirty="0">
                <a:latin typeface="Franklin Gothic Medium"/>
                <a:cs typeface="Franklin Gothic Medium"/>
              </a:rPr>
              <a:t>The new way to work.</a:t>
            </a:r>
            <a:endParaRPr lang="en-US" sz="1050" dirty="0">
              <a:latin typeface="Franklin Gothic Book" panose="020B0503020102020204" pitchFamily="34" charset="0"/>
              <a:cs typeface="Avenir Medium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213422" y="3690552"/>
            <a:ext cx="2861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ranklin Gothic Medium" panose="020B0603020102020204" pitchFamily="34" charset="0"/>
                <a:cs typeface="Avenir Medium"/>
              </a:rPr>
              <a:t>1. Foundation:</a:t>
            </a:r>
          </a:p>
          <a:p>
            <a:r>
              <a:rPr lang="en-US" sz="1200" dirty="0">
                <a:solidFill>
                  <a:schemeClr val="bg1"/>
                </a:solidFill>
                <a:latin typeface="Avenir Medium"/>
                <a:cs typeface="Avenir Medium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397" y="2695662"/>
            <a:ext cx="268773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Franklin Gothic Medium" panose="020B0603020102020204" pitchFamily="34" charset="0"/>
                <a:cs typeface="Avenir Medium"/>
              </a:rPr>
              <a:t>2. Framework:</a:t>
            </a:r>
          </a:p>
          <a:p>
            <a:r>
              <a:rPr lang="en-US" sz="1050" b="1" dirty="0">
                <a:latin typeface="Avenir Medium"/>
                <a:cs typeface="Avenir Medium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3" y="1782074"/>
            <a:ext cx="225402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Franklin Gothic Medium" panose="020B0603020102020204" pitchFamily="34" charset="0"/>
                <a:cs typeface="Avenir Medium"/>
              </a:rPr>
              <a:t>3. Focus:</a:t>
            </a:r>
          </a:p>
          <a:p>
            <a:r>
              <a:rPr lang="en-US" sz="1050" b="1" dirty="0">
                <a:latin typeface="Avenir Medium"/>
                <a:cs typeface="Avenir Medium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4281" y="2987362"/>
            <a:ext cx="327180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Franklin Gothic Book" panose="020B0503020102020204" pitchFamily="34" charset="0"/>
                <a:cs typeface="Franklin Gothic Book"/>
              </a:rPr>
              <a:t>Build the tools and Resources to help teams to a sustain a new way of thinking </a:t>
            </a:r>
          </a:p>
          <a:p>
            <a:endParaRPr lang="en-US" sz="600" b="1" dirty="0">
              <a:latin typeface="Franklin Gothic Book"/>
              <a:cs typeface="Franklin Gothic Medium"/>
            </a:endParaRPr>
          </a:p>
          <a:p>
            <a:r>
              <a:rPr lang="en-US" sz="1050" b="1" dirty="0">
                <a:latin typeface="Franklin Gothic Medium"/>
                <a:cs typeface="Franklin Gothic Medium"/>
              </a:rPr>
              <a:t>                        The uncommon becomes habit.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72731" y="2116284"/>
            <a:ext cx="367665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Franklin Gothic Medium" panose="020B0603020102020204" pitchFamily="34" charset="0"/>
                <a:cs typeface="Franklin Gothic Book"/>
              </a:rPr>
              <a:t>Accountability on the right foundation</a:t>
            </a:r>
          </a:p>
          <a:p>
            <a:r>
              <a:rPr lang="en-US" sz="1050" b="1" dirty="0">
                <a:latin typeface="Franklin Gothic Book"/>
                <a:cs typeface="Franklin Gothic Medium"/>
              </a:rPr>
              <a:t>  </a:t>
            </a:r>
          </a:p>
          <a:p>
            <a:r>
              <a:rPr lang="en-US" sz="1050" b="1" dirty="0">
                <a:latin typeface="Franklin Gothic Medium"/>
                <a:cs typeface="Franklin Gothic Medium"/>
              </a:rPr>
              <a:t>             Repeatable Results</a:t>
            </a:r>
            <a:r>
              <a:rPr lang="en-US" sz="1050" b="1" dirty="0">
                <a:latin typeface="Franklin Gothic Book"/>
                <a:cs typeface="Franklin Gothic Book"/>
              </a:rPr>
              <a:t>.</a:t>
            </a:r>
          </a:p>
        </p:txBody>
      </p:sp>
      <p:sp>
        <p:nvSpPr>
          <p:cNvPr id="42" name="Content Placeholder 5"/>
          <p:cNvSpPr txBox="1">
            <a:spLocks/>
          </p:cNvSpPr>
          <p:nvPr/>
        </p:nvSpPr>
        <p:spPr>
          <a:xfrm>
            <a:off x="1463935" y="1009400"/>
            <a:ext cx="6457950" cy="619455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25" dirty="0">
                <a:solidFill>
                  <a:schemeClr val="tx1"/>
                </a:solidFill>
                <a:latin typeface="Franklin Gothic Book" panose="020B0503020102020204" pitchFamily="34" charset="0"/>
                <a:ea typeface="Franklin Gothic Book"/>
                <a:cs typeface="Franklin Gothic Book"/>
              </a:rPr>
              <a:t>Having a strategic and disciplined path  that equips the ability to pivot within marketplace shifts:</a:t>
            </a:r>
            <a:r>
              <a:rPr lang="en-US" sz="1425" dirty="0">
                <a:latin typeface="Franklin Gothic Book" panose="020B0503020102020204" pitchFamily="34" charset="0"/>
                <a:ea typeface="Franklin Gothic Book"/>
                <a:cs typeface="Franklin Gothic Book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endParaRPr lang="en-US" sz="1425" dirty="0">
              <a:latin typeface="Franklin Gothic Book" panose="020B0503020102020204" pitchFamily="34" charset="0"/>
              <a:ea typeface="Franklin Gothic Book"/>
              <a:cs typeface="Franklin Gothic Book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425" dirty="0">
              <a:latin typeface="Franklin Gothic Book" panose="020B0503020102020204" pitchFamily="34" charset="0"/>
              <a:ea typeface="Franklin Gothic Book"/>
              <a:cs typeface="Franklin Gothic Book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425" dirty="0">
              <a:latin typeface="Franklin Gothic Book" panose="020B0503020102020204" pitchFamily="34" charset="0"/>
            </a:endParaRPr>
          </a:p>
        </p:txBody>
      </p:sp>
      <p:sp>
        <p:nvSpPr>
          <p:cNvPr id="44" name="Slide Number Placeholder 3">
            <a:extLst>
              <a:ext uri="{FF2B5EF4-FFF2-40B4-BE49-F238E27FC236}">
                <a16:creationId xmlns:a16="http://schemas.microsoft.com/office/drawing/2014/main" id="{547D835F-45E1-5A4D-9D6D-B0BF3699C232}"/>
              </a:ext>
            </a:extLst>
          </p:cNvPr>
          <p:cNvSpPr txBox="1">
            <a:spLocks/>
          </p:cNvSpPr>
          <p:nvPr/>
        </p:nvSpPr>
        <p:spPr>
          <a:xfrm>
            <a:off x="7465023" y="5598970"/>
            <a:ext cx="615455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75" dirty="0">
                <a:latin typeface="Franklin Gothic Medium" panose="020B06030201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0858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3822"/>
            <a:ext cx="9144000" cy="45026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9" name="TextBox 18"/>
          <p:cNvSpPr txBox="1"/>
          <p:nvPr/>
        </p:nvSpPr>
        <p:spPr>
          <a:xfrm>
            <a:off x="1279256" y="4723018"/>
            <a:ext cx="6591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Franklin Gothic Medium" panose="020B0603020102020204" pitchFamily="34" charset="0"/>
                <a:cs typeface="Times New Roman"/>
              </a:rPr>
              <a:t>Create long-term impact; see rapid results 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395320" y="807134"/>
            <a:ext cx="3655873" cy="2888146"/>
            <a:chOff x="50135" y="1518460"/>
            <a:chExt cx="5365983" cy="4454064"/>
          </a:xfrm>
        </p:grpSpPr>
        <p:sp>
          <p:nvSpPr>
            <p:cNvPr id="21" name="Isosceles Triangle 20"/>
            <p:cNvSpPr/>
            <p:nvPr/>
          </p:nvSpPr>
          <p:spPr>
            <a:xfrm rot="20274346">
              <a:off x="2081303" y="1641584"/>
              <a:ext cx="2733928" cy="3917905"/>
            </a:xfrm>
            <a:prstGeom prst="triangle">
              <a:avLst>
                <a:gd name="adj" fmla="val 60048"/>
              </a:avLst>
            </a:prstGeom>
            <a:gradFill flip="none" rotWithShape="1">
              <a:gsLst>
                <a:gs pos="31000">
                  <a:srgbClr val="BA1C7F"/>
                </a:gs>
                <a:gs pos="10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Isosceles Triangle 21"/>
            <p:cNvSpPr/>
            <p:nvPr/>
          </p:nvSpPr>
          <p:spPr>
            <a:xfrm rot="1191330">
              <a:off x="649586" y="1518460"/>
              <a:ext cx="3036687" cy="4012156"/>
            </a:xfrm>
            <a:prstGeom prst="triangle">
              <a:avLst>
                <a:gd name="adj" fmla="val 56357"/>
              </a:avLst>
            </a:prstGeom>
            <a:gradFill flip="none" rotWithShape="1">
              <a:gsLst>
                <a:gs pos="40000">
                  <a:srgbClr val="BA1C7F"/>
                </a:gs>
                <a:gs pos="10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cxnSp>
          <p:nvCxnSpPr>
            <p:cNvPr id="23" name="Straight Connector 22"/>
            <p:cNvCxnSpPr>
              <a:cxnSpLocks/>
              <a:stCxn id="21" idx="4"/>
              <a:endCxn id="21" idx="2"/>
            </p:cNvCxnSpPr>
            <p:nvPr/>
          </p:nvCxnSpPr>
          <p:spPr>
            <a:xfrm flipH="1">
              <a:off x="2882953" y="4875410"/>
              <a:ext cx="2533165" cy="1080452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2919334" y="1709315"/>
              <a:ext cx="119931" cy="4213062"/>
            </a:xfrm>
            <a:prstGeom prst="line">
              <a:avLst/>
            </a:prstGeom>
            <a:ln>
              <a:solidFill>
                <a:srgbClr val="7B096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2966751" y="3140027"/>
              <a:ext cx="1150807" cy="398569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1793236" y="3027615"/>
              <a:ext cx="1183097" cy="504285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cxnSpLocks/>
              <a:stCxn id="21" idx="4"/>
              <a:endCxn id="30" idx="2"/>
            </p:cNvCxnSpPr>
            <p:nvPr/>
          </p:nvCxnSpPr>
          <p:spPr>
            <a:xfrm flipH="1" flipV="1">
              <a:off x="2951276" y="4155234"/>
              <a:ext cx="2464842" cy="72017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22" idx="2"/>
            </p:cNvCxnSpPr>
            <p:nvPr/>
          </p:nvCxnSpPr>
          <p:spPr>
            <a:xfrm flipV="1">
              <a:off x="58485" y="4155234"/>
              <a:ext cx="2898647" cy="74042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Isosceles Triangle 28"/>
            <p:cNvSpPr/>
            <p:nvPr/>
          </p:nvSpPr>
          <p:spPr>
            <a:xfrm rot="16371803" flipH="1">
              <a:off x="620877" y="3539918"/>
              <a:ext cx="1833776" cy="2860195"/>
            </a:xfrm>
            <a:prstGeom prst="triangle">
              <a:avLst/>
            </a:prstGeom>
            <a:solidFill>
              <a:schemeClr val="tx1">
                <a:lumMod val="65000"/>
                <a:lumOff val="35000"/>
                <a:alpha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sp>
          <p:nvSpPr>
            <p:cNvPr id="30" name="Isosceles Triangle 29"/>
            <p:cNvSpPr/>
            <p:nvPr/>
          </p:nvSpPr>
          <p:spPr>
            <a:xfrm rot="5400000">
              <a:off x="3271859" y="3834650"/>
              <a:ext cx="1777597" cy="2418764"/>
            </a:xfrm>
            <a:prstGeom prst="triangle">
              <a:avLst>
                <a:gd name="adj" fmla="val 47450"/>
              </a:avLst>
            </a:prstGeom>
            <a:solidFill>
              <a:schemeClr val="tx1">
                <a:lumMod val="65000"/>
                <a:lumOff val="35000"/>
                <a:alpha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1" name="Straight Connector 30"/>
            <p:cNvCxnSpPr/>
            <p:nvPr/>
          </p:nvCxnSpPr>
          <p:spPr>
            <a:xfrm flipH="1">
              <a:off x="2927153" y="4301387"/>
              <a:ext cx="2030875" cy="667161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45110" y="4155234"/>
              <a:ext cx="2206167" cy="799255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cxnSpLocks/>
            </p:cNvCxnSpPr>
            <p:nvPr/>
          </p:nvCxnSpPr>
          <p:spPr>
            <a:xfrm>
              <a:off x="50135" y="4875771"/>
              <a:ext cx="2862085" cy="1096753"/>
            </a:xfrm>
            <a:prstGeom prst="line">
              <a:avLst/>
            </a:prstGeom>
            <a:ln>
              <a:solidFill>
                <a:srgbClr val="7B096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>
            <a:off x="6073569" y="1061756"/>
            <a:ext cx="2633485" cy="1673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Franklin Gothic Medium" panose="020B0603020102020204" pitchFamily="34" charset="0"/>
                <a:cs typeface="Franklin Gothic Book"/>
              </a:rPr>
              <a:t>1 | Science &amp; Strategy</a:t>
            </a:r>
          </a:p>
          <a:p>
            <a:endParaRPr lang="en-US" sz="1200" dirty="0">
              <a:latin typeface="Franklin Gothic Medium" panose="020B0603020102020204" pitchFamily="34" charset="0"/>
              <a:cs typeface="Franklin Gothic Book"/>
            </a:endParaRPr>
          </a:p>
          <a:p>
            <a:r>
              <a:rPr lang="en-US" sz="1200" b="1" i="1" dirty="0">
                <a:latin typeface="Franklin Gothic Book" panose="020B0503020102020204" pitchFamily="34" charset="0"/>
                <a:cs typeface="Franklin Gothic Book"/>
              </a:rPr>
              <a:t>Who we hunt.   </a:t>
            </a:r>
          </a:p>
          <a:p>
            <a:r>
              <a:rPr lang="en-US" sz="1200" b="1" i="1" dirty="0">
                <a:latin typeface="Franklin Gothic Book" panose="020B0503020102020204" pitchFamily="34" charset="0"/>
                <a:cs typeface="Franklin Gothic Book"/>
              </a:rPr>
              <a:t>Who is the most profitable to hunt?</a:t>
            </a:r>
          </a:p>
          <a:p>
            <a:endParaRPr lang="en-US" sz="900" dirty="0">
              <a:solidFill>
                <a:srgbClr val="000000"/>
              </a:solidFill>
              <a:latin typeface="Franklin Gothic Book" panose="020B0503020102020204" pitchFamily="34" charset="0"/>
              <a:cs typeface="Franklin Gothic Book"/>
            </a:endParaRPr>
          </a:p>
          <a:p>
            <a:r>
              <a:rPr lang="en-US" sz="1200" b="1" i="1" dirty="0">
                <a:solidFill>
                  <a:srgbClr val="000000"/>
                </a:solidFill>
                <a:latin typeface="Franklin Gothic Book" panose="020B0503020102020204" pitchFamily="34" charset="0"/>
                <a:cs typeface="Franklin Gothic Book"/>
              </a:rPr>
              <a:t>Asset</a:t>
            </a:r>
            <a:r>
              <a:rPr lang="en-US" sz="1200" i="1" dirty="0">
                <a:solidFill>
                  <a:srgbClr val="000000"/>
                </a:solidFill>
                <a:latin typeface="Franklin Gothic Book" panose="020B0503020102020204" pitchFamily="34" charset="0"/>
                <a:cs typeface="Franklin Gothic Book"/>
              </a:rPr>
              <a:t>: Ignite</a:t>
            </a:r>
          </a:p>
          <a:p>
            <a:endParaRPr lang="en-US" sz="1200" i="1" dirty="0">
              <a:solidFill>
                <a:srgbClr val="000000"/>
              </a:solidFill>
              <a:latin typeface="Franklin Gothic Book" panose="020B0503020102020204" pitchFamily="34" charset="0"/>
              <a:cs typeface="Franklin Gothic Book"/>
            </a:endParaRPr>
          </a:p>
          <a:p>
            <a:endParaRPr lang="en-US" sz="1200" i="1" dirty="0">
              <a:solidFill>
                <a:srgbClr val="000000"/>
              </a:solidFill>
              <a:latin typeface="Franklin Gothic Book" panose="020B0503020102020204" pitchFamily="34" charset="0"/>
              <a:cs typeface="Franklin Gothic Book"/>
            </a:endParaRPr>
          </a:p>
          <a:p>
            <a:endParaRPr lang="en-US" sz="675" b="1" dirty="0">
              <a:solidFill>
                <a:srgbClr val="FF0000"/>
              </a:solidFill>
              <a:latin typeface="Franklin Gothic Book" panose="020B0503020102020204" pitchFamily="34" charset="0"/>
              <a:cs typeface="Franklin Gothic Book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75832" y="3007538"/>
            <a:ext cx="2653686" cy="1673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Franklin Gothic Medium" panose="020B0603020102020204" pitchFamily="34" charset="0"/>
                <a:cs typeface="Franklin Gothic Book"/>
              </a:rPr>
              <a:t>2 | Process  &amp; Customer Engagement</a:t>
            </a:r>
          </a:p>
          <a:p>
            <a:endParaRPr lang="en-US" sz="900" dirty="0">
              <a:latin typeface="Franklin Gothic Medium" panose="020B0603020102020204" pitchFamily="34" charset="0"/>
              <a:cs typeface="Franklin Gothic Book"/>
            </a:endParaRPr>
          </a:p>
          <a:p>
            <a:r>
              <a:rPr lang="en-US" sz="1200" i="1" dirty="0">
                <a:latin typeface="Franklin Gothic Medium" panose="020B0603020102020204" pitchFamily="34" charset="0"/>
                <a:cs typeface="Franklin Gothic Book"/>
              </a:rPr>
              <a:t>How we hunt in Marketing, Sales &amp; Revenue Management</a:t>
            </a:r>
          </a:p>
          <a:p>
            <a:endParaRPr lang="en-US" sz="900" dirty="0">
              <a:latin typeface="Franklin Gothic Medium" panose="020B0603020102020204" pitchFamily="34" charset="0"/>
              <a:cs typeface="Franklin Gothic Book"/>
            </a:endParaRPr>
          </a:p>
          <a:p>
            <a:r>
              <a:rPr lang="en-US" sz="1200" dirty="0">
                <a:latin typeface="Franklin Gothic Book" panose="020B0503020102020204" pitchFamily="34" charset="0"/>
                <a:cs typeface="Franklin Gothic Book"/>
              </a:rPr>
              <a:t>Installing new approach &amp; thinking that is relevant</a:t>
            </a:r>
          </a:p>
          <a:p>
            <a:endParaRPr lang="en-US" sz="675" dirty="0">
              <a:latin typeface="Franklin Gothic Book" panose="020B0503020102020204" pitchFamily="34" charset="0"/>
              <a:cs typeface="Franklin Gothic Book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9375" y="3157580"/>
            <a:ext cx="2597615" cy="1373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Franklin Gothic Medium" panose="020B0603020102020204" pitchFamily="34" charset="0"/>
                <a:cs typeface="Franklin Gothic Book"/>
              </a:rPr>
              <a:t>3 | Art &amp; Talent Optimization</a:t>
            </a:r>
          </a:p>
          <a:p>
            <a:endParaRPr lang="en-US" sz="1350" dirty="0">
              <a:latin typeface="Franklin Gothic Medium" panose="020B0603020102020204" pitchFamily="34" charset="0"/>
              <a:cs typeface="Franklin Gothic Book"/>
            </a:endParaRPr>
          </a:p>
          <a:p>
            <a:r>
              <a:rPr lang="en-US" sz="1200" b="1" i="1" dirty="0">
                <a:latin typeface="Franklin Gothic Book" panose="020B0503020102020204" pitchFamily="34" charset="0"/>
                <a:cs typeface="Franklin Gothic Book"/>
              </a:rPr>
              <a:t>How to develop your team to being masters in their job.</a:t>
            </a:r>
          </a:p>
          <a:p>
            <a:endParaRPr lang="en-US" sz="1200" dirty="0">
              <a:solidFill>
                <a:srgbClr val="000000"/>
              </a:solidFill>
              <a:latin typeface="Franklin Gothic Book" panose="020B0503020102020204" pitchFamily="34" charset="0"/>
              <a:cs typeface="Franklin Gothic Book"/>
            </a:endParaRPr>
          </a:p>
          <a:p>
            <a:r>
              <a:rPr lang="en-US" sz="1200" b="1" i="1" dirty="0">
                <a:solidFill>
                  <a:srgbClr val="000000"/>
                </a:solidFill>
                <a:latin typeface="Franklin Gothic Book" panose="020B0503020102020204" pitchFamily="34" charset="0"/>
                <a:cs typeface="Franklin Gothic Book"/>
              </a:rPr>
              <a:t>Asset</a:t>
            </a:r>
            <a:r>
              <a:rPr lang="en-US" sz="1200" i="1" dirty="0">
                <a:solidFill>
                  <a:srgbClr val="000000"/>
                </a:solidFill>
                <a:latin typeface="Franklin Gothic Book" panose="020B0503020102020204" pitchFamily="34" charset="0"/>
                <a:cs typeface="Franklin Gothic Book"/>
              </a:rPr>
              <a:t>:  Ignite Talent</a:t>
            </a:r>
          </a:p>
          <a:p>
            <a:endParaRPr lang="en-US" sz="675" dirty="0">
              <a:latin typeface="Franklin Gothic Book" panose="020B0503020102020204" pitchFamily="34" charset="0"/>
              <a:cs typeface="Franklin Gothic Book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5817" y="1003001"/>
            <a:ext cx="243877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Franklin Gothic Medium" panose="020B0603020102020204" pitchFamily="34" charset="0"/>
                <a:cs typeface="Franklin Gothic Book"/>
              </a:rPr>
              <a:t>4 | Revenue Performance &amp; Metrics</a:t>
            </a:r>
          </a:p>
          <a:p>
            <a:endParaRPr lang="en-US" sz="1050" dirty="0">
              <a:latin typeface="Franklin Gothic Medium" panose="020B0603020102020204" pitchFamily="34" charset="0"/>
              <a:cs typeface="Franklin Gothic Book"/>
            </a:endParaRPr>
          </a:p>
          <a:p>
            <a:r>
              <a:rPr lang="en-US" sz="1200" i="1" dirty="0">
                <a:latin typeface="Franklin Gothic Medium" panose="020B0603020102020204" pitchFamily="34" charset="0"/>
                <a:cs typeface="Franklin Gothic Book"/>
              </a:rPr>
              <a:t>How we measure real performance</a:t>
            </a:r>
          </a:p>
          <a:p>
            <a:endParaRPr lang="en-US" sz="1050" dirty="0">
              <a:latin typeface="Franklin Gothic Medium" panose="020B0603020102020204" pitchFamily="34" charset="0"/>
              <a:cs typeface="Franklin Gothic Book"/>
            </a:endParaRPr>
          </a:p>
          <a:p>
            <a:r>
              <a:rPr lang="en-US" sz="1200" dirty="0">
                <a:latin typeface="Franklin Gothic Book" panose="020B0503020102020204" pitchFamily="34" charset="0"/>
                <a:cs typeface="Franklin Gothic Book"/>
              </a:rPr>
              <a:t>Performance that focuses on results vs. activity</a:t>
            </a:r>
          </a:p>
        </p:txBody>
      </p:sp>
      <p:sp>
        <p:nvSpPr>
          <p:cNvPr id="38" name="Title 4"/>
          <p:cNvSpPr txBox="1">
            <a:spLocks/>
          </p:cNvSpPr>
          <p:nvPr/>
        </p:nvSpPr>
        <p:spPr>
          <a:xfrm>
            <a:off x="3111399" y="76843"/>
            <a:ext cx="5879587" cy="596978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b="1" kern="1200" baseline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400" b="0" dirty="0">
                <a:latin typeface="Franklin Gothic Book"/>
                <a:cs typeface="Franklin Gothic Book"/>
              </a:rPr>
              <a:t>Performance Path                         </a:t>
            </a:r>
            <a:r>
              <a:rPr lang="en-US" sz="1800" b="0" i="1" dirty="0">
                <a:latin typeface="Franklin Gothic Book"/>
                <a:cs typeface="Franklin Gothic Book"/>
              </a:rPr>
              <a:t>How we do it</a:t>
            </a:r>
            <a:br>
              <a:rPr lang="en-US" sz="2400" b="0" dirty="0">
                <a:latin typeface="Franklin Gothic Book"/>
                <a:cs typeface="Franklin Gothic Book"/>
              </a:rPr>
            </a:br>
            <a:r>
              <a:rPr lang="en-US" sz="2400" dirty="0">
                <a:latin typeface="Franklin Gothic Book"/>
                <a:cs typeface="Franklin Gothic Book"/>
              </a:rPr>
              <a:t>  	</a:t>
            </a:r>
          </a:p>
        </p:txBody>
      </p:sp>
      <p:sp>
        <p:nvSpPr>
          <p:cNvPr id="39" name="Slide Number Placeholder 3">
            <a:extLst>
              <a:ext uri="{FF2B5EF4-FFF2-40B4-BE49-F238E27FC236}">
                <a16:creationId xmlns:a16="http://schemas.microsoft.com/office/drawing/2014/main" id="{80265094-D7BC-2E4C-B992-1261837C864E}"/>
              </a:ext>
            </a:extLst>
          </p:cNvPr>
          <p:cNvSpPr txBox="1">
            <a:spLocks/>
          </p:cNvSpPr>
          <p:nvPr/>
        </p:nvSpPr>
        <p:spPr>
          <a:xfrm>
            <a:off x="7680711" y="5545256"/>
            <a:ext cx="320291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75" dirty="0">
                <a:latin typeface="Franklin Gothic Medium" panose="020B06030201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0338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365251"/>
            <a:ext cx="447802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We take all of the noise, disruption, frustration</a:t>
            </a:r>
            <a:r>
              <a:rPr lang="en-US"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 </a:t>
            </a: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and complexity of the new economy and bring you a clear, concise and simple path for </a:t>
            </a:r>
            <a:r>
              <a:rPr lang="en-US"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you </a:t>
            </a: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to get results.</a:t>
            </a:r>
            <a:endParaRPr sz="1800" dirty="0">
              <a:latin typeface="Franklin Gothic Book" panose="020B05030201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0540" y="3812540"/>
            <a:ext cx="1837689" cy="126675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36830">
              <a:lnSpc>
                <a:spcPct val="101099"/>
              </a:lnSpc>
              <a:spcBef>
                <a:spcPts val="75"/>
              </a:spcBef>
            </a:pPr>
            <a:r>
              <a:rPr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Bringing Simplicity  to</a:t>
            </a:r>
            <a:r>
              <a:rPr lang="en-US"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 Your </a:t>
            </a:r>
            <a:r>
              <a:rPr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Complexity</a:t>
            </a:r>
            <a:endParaRPr sz="1800" dirty="0">
              <a:latin typeface="Franklin Gothic Book" panose="020B0503020102020204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Franklin Gothic Book" panose="020B0503020102020204" pitchFamily="34" charset="0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solidFill>
                  <a:srgbClr val="898989"/>
                </a:solidFill>
                <a:latin typeface="Franklin Gothic Book" panose="020B0503020102020204" pitchFamily="34" charset="0"/>
                <a:cs typeface="Arial"/>
              </a:rPr>
              <a:t>3</a:t>
            </a:r>
            <a:endParaRPr sz="1800" dirty="0">
              <a:latin typeface="Franklin Gothic Book" panose="020B0503020102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7">
            <a:extLst>
              <a:ext uri="{FF2B5EF4-FFF2-40B4-BE49-F238E27FC236}">
                <a16:creationId xmlns:a16="http://schemas.microsoft.com/office/drawing/2014/main" id="{469B6BEC-2481-8C41-8C83-FF4141390632}"/>
              </a:ext>
            </a:extLst>
          </p:cNvPr>
          <p:cNvSpPr/>
          <p:nvPr/>
        </p:nvSpPr>
        <p:spPr>
          <a:xfrm>
            <a:off x="5787813" y="2795600"/>
            <a:ext cx="57150" cy="604356"/>
          </a:xfrm>
          <a:custGeom>
            <a:avLst/>
            <a:gdLst/>
            <a:ahLst/>
            <a:cxnLst/>
            <a:rect l="l" t="t" r="r" b="b"/>
            <a:pathLst>
              <a:path w="76200" h="998854">
                <a:moveTo>
                  <a:pt x="25399" y="922478"/>
                </a:moveTo>
                <a:lnTo>
                  <a:pt x="0" y="922478"/>
                </a:lnTo>
                <a:lnTo>
                  <a:pt x="38100" y="998678"/>
                </a:lnTo>
                <a:lnTo>
                  <a:pt x="69850" y="935178"/>
                </a:lnTo>
                <a:lnTo>
                  <a:pt x="25400" y="935178"/>
                </a:lnTo>
                <a:lnTo>
                  <a:pt x="25399" y="922478"/>
                </a:lnTo>
                <a:close/>
              </a:path>
              <a:path w="76200" h="998854">
                <a:moveTo>
                  <a:pt x="50798" y="0"/>
                </a:moveTo>
                <a:lnTo>
                  <a:pt x="25398" y="0"/>
                </a:lnTo>
                <a:lnTo>
                  <a:pt x="25400" y="935178"/>
                </a:lnTo>
                <a:lnTo>
                  <a:pt x="50800" y="935178"/>
                </a:lnTo>
                <a:lnTo>
                  <a:pt x="50798" y="0"/>
                </a:lnTo>
                <a:close/>
              </a:path>
              <a:path w="76200" h="998854">
                <a:moveTo>
                  <a:pt x="76200" y="922478"/>
                </a:moveTo>
                <a:lnTo>
                  <a:pt x="50799" y="922478"/>
                </a:lnTo>
                <a:lnTo>
                  <a:pt x="50800" y="935178"/>
                </a:lnTo>
                <a:lnTo>
                  <a:pt x="69850" y="935178"/>
                </a:lnTo>
                <a:lnTo>
                  <a:pt x="76200" y="922478"/>
                </a:lnTo>
                <a:close/>
              </a:path>
            </a:pathLst>
          </a:custGeom>
          <a:solidFill>
            <a:srgbClr val="004990"/>
          </a:solidFill>
        </p:spPr>
        <p:txBody>
          <a:bodyPr wrap="square" lIns="0" tIns="0" rIns="0" bIns="0" rtlCol="0"/>
          <a:lstStyle/>
          <a:p>
            <a:endParaRPr sz="135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F5CD512-24E3-EE43-9811-F92A0D0533D0}"/>
              </a:ext>
            </a:extLst>
          </p:cNvPr>
          <p:cNvCxnSpPr>
            <a:stCxn id="11" idx="2"/>
          </p:cNvCxnSpPr>
          <p:nvPr/>
        </p:nvCxnSpPr>
        <p:spPr>
          <a:xfrm flipH="1">
            <a:off x="4626429" y="4462155"/>
            <a:ext cx="149361" cy="228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5BCC54-7D52-9047-B38C-85263A284A76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783592" y="4490194"/>
            <a:ext cx="165900" cy="200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bject 25">
            <a:extLst>
              <a:ext uri="{FF2B5EF4-FFF2-40B4-BE49-F238E27FC236}">
                <a16:creationId xmlns:a16="http://schemas.microsoft.com/office/drawing/2014/main" id="{613CD562-4AA1-9449-95E7-85A53906ED70}"/>
              </a:ext>
            </a:extLst>
          </p:cNvPr>
          <p:cNvSpPr/>
          <p:nvPr/>
        </p:nvSpPr>
        <p:spPr>
          <a:xfrm>
            <a:off x="2462832" y="2224137"/>
            <a:ext cx="57150" cy="645795"/>
          </a:xfrm>
          <a:custGeom>
            <a:avLst/>
            <a:gdLst/>
            <a:ahLst/>
            <a:cxnLst/>
            <a:rect l="l" t="t" r="r" b="b"/>
            <a:pathLst>
              <a:path w="76200" h="861060">
                <a:moveTo>
                  <a:pt x="25400" y="784489"/>
                </a:moveTo>
                <a:lnTo>
                  <a:pt x="0" y="784489"/>
                </a:lnTo>
                <a:lnTo>
                  <a:pt x="38101" y="860689"/>
                </a:lnTo>
                <a:lnTo>
                  <a:pt x="69850" y="797189"/>
                </a:lnTo>
                <a:lnTo>
                  <a:pt x="25400" y="797189"/>
                </a:lnTo>
                <a:lnTo>
                  <a:pt x="25400" y="784489"/>
                </a:lnTo>
                <a:close/>
              </a:path>
              <a:path w="76200" h="861060">
                <a:moveTo>
                  <a:pt x="50800" y="0"/>
                </a:moveTo>
                <a:lnTo>
                  <a:pt x="25400" y="0"/>
                </a:lnTo>
                <a:lnTo>
                  <a:pt x="25400" y="797189"/>
                </a:lnTo>
                <a:lnTo>
                  <a:pt x="50800" y="797189"/>
                </a:lnTo>
                <a:lnTo>
                  <a:pt x="50800" y="0"/>
                </a:lnTo>
                <a:close/>
              </a:path>
              <a:path w="76200" h="861060">
                <a:moveTo>
                  <a:pt x="76200" y="784489"/>
                </a:moveTo>
                <a:lnTo>
                  <a:pt x="50800" y="784489"/>
                </a:lnTo>
                <a:lnTo>
                  <a:pt x="50800" y="797189"/>
                </a:lnTo>
                <a:lnTo>
                  <a:pt x="69850" y="797189"/>
                </a:lnTo>
                <a:lnTo>
                  <a:pt x="76200" y="784489"/>
                </a:lnTo>
                <a:close/>
              </a:path>
            </a:pathLst>
          </a:custGeom>
          <a:solidFill>
            <a:srgbClr val="004990"/>
          </a:solid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ABAFE454-9EE1-1946-80E0-920748E8A2C8}"/>
              </a:ext>
            </a:extLst>
          </p:cNvPr>
          <p:cNvSpPr/>
          <p:nvPr/>
        </p:nvSpPr>
        <p:spPr>
          <a:xfrm>
            <a:off x="4770594" y="3274113"/>
            <a:ext cx="57150" cy="645795"/>
          </a:xfrm>
          <a:custGeom>
            <a:avLst/>
            <a:gdLst/>
            <a:ahLst/>
            <a:cxnLst/>
            <a:rect l="l" t="t" r="r" b="b"/>
            <a:pathLst>
              <a:path w="76200" h="861060">
                <a:moveTo>
                  <a:pt x="25400" y="784489"/>
                </a:moveTo>
                <a:lnTo>
                  <a:pt x="0" y="784489"/>
                </a:lnTo>
                <a:lnTo>
                  <a:pt x="38101" y="860689"/>
                </a:lnTo>
                <a:lnTo>
                  <a:pt x="69850" y="797189"/>
                </a:lnTo>
                <a:lnTo>
                  <a:pt x="25400" y="797189"/>
                </a:lnTo>
                <a:lnTo>
                  <a:pt x="25400" y="784489"/>
                </a:lnTo>
                <a:close/>
              </a:path>
              <a:path w="76200" h="861060">
                <a:moveTo>
                  <a:pt x="50800" y="0"/>
                </a:moveTo>
                <a:lnTo>
                  <a:pt x="25400" y="0"/>
                </a:lnTo>
                <a:lnTo>
                  <a:pt x="25400" y="797189"/>
                </a:lnTo>
                <a:lnTo>
                  <a:pt x="50800" y="797189"/>
                </a:lnTo>
                <a:lnTo>
                  <a:pt x="50800" y="0"/>
                </a:lnTo>
                <a:close/>
              </a:path>
              <a:path w="76200" h="861060">
                <a:moveTo>
                  <a:pt x="76200" y="784489"/>
                </a:moveTo>
                <a:lnTo>
                  <a:pt x="50800" y="784489"/>
                </a:lnTo>
                <a:lnTo>
                  <a:pt x="50800" y="797189"/>
                </a:lnTo>
                <a:lnTo>
                  <a:pt x="69850" y="797189"/>
                </a:lnTo>
                <a:lnTo>
                  <a:pt x="76200" y="784489"/>
                </a:lnTo>
                <a:close/>
              </a:path>
            </a:pathLst>
          </a:custGeom>
          <a:solidFill>
            <a:srgbClr val="004990"/>
          </a:solid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4868FAF-AD01-A04E-B242-5AD774C4F9C5}"/>
              </a:ext>
            </a:extLst>
          </p:cNvPr>
          <p:cNvSpPr/>
          <p:nvPr/>
        </p:nvSpPr>
        <p:spPr>
          <a:xfrm>
            <a:off x="7019609" y="2303855"/>
            <a:ext cx="57151" cy="568551"/>
          </a:xfrm>
          <a:custGeom>
            <a:avLst/>
            <a:gdLst/>
            <a:ahLst/>
            <a:cxnLst/>
            <a:rect l="l" t="t" r="r" b="b"/>
            <a:pathLst>
              <a:path w="76200" h="1083945">
                <a:moveTo>
                  <a:pt x="25399" y="1007647"/>
                </a:moveTo>
                <a:lnTo>
                  <a:pt x="0" y="1007647"/>
                </a:lnTo>
                <a:lnTo>
                  <a:pt x="38100" y="1083847"/>
                </a:lnTo>
                <a:lnTo>
                  <a:pt x="69850" y="1020347"/>
                </a:lnTo>
                <a:lnTo>
                  <a:pt x="25400" y="1020347"/>
                </a:lnTo>
                <a:lnTo>
                  <a:pt x="25399" y="1007647"/>
                </a:lnTo>
                <a:close/>
              </a:path>
              <a:path w="76200" h="1083945">
                <a:moveTo>
                  <a:pt x="50798" y="0"/>
                </a:moveTo>
                <a:lnTo>
                  <a:pt x="25398" y="0"/>
                </a:lnTo>
                <a:lnTo>
                  <a:pt x="25400" y="1020347"/>
                </a:lnTo>
                <a:lnTo>
                  <a:pt x="50800" y="1020347"/>
                </a:lnTo>
                <a:lnTo>
                  <a:pt x="50798" y="0"/>
                </a:lnTo>
                <a:close/>
              </a:path>
              <a:path w="76200" h="1083945">
                <a:moveTo>
                  <a:pt x="76200" y="1007647"/>
                </a:moveTo>
                <a:lnTo>
                  <a:pt x="50799" y="1007647"/>
                </a:lnTo>
                <a:lnTo>
                  <a:pt x="50800" y="1020347"/>
                </a:lnTo>
                <a:lnTo>
                  <a:pt x="69850" y="1020347"/>
                </a:lnTo>
                <a:lnTo>
                  <a:pt x="76200" y="1007647"/>
                </a:lnTo>
                <a:close/>
              </a:path>
            </a:pathLst>
          </a:custGeom>
          <a:solidFill>
            <a:srgbClr val="004990"/>
          </a:solid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9D6609F-E2A9-6E4B-BCB3-E9B29376B523}"/>
              </a:ext>
            </a:extLst>
          </p:cNvPr>
          <p:cNvSpPr txBox="1"/>
          <p:nvPr/>
        </p:nvSpPr>
        <p:spPr>
          <a:xfrm>
            <a:off x="1526048" y="1433337"/>
            <a:ext cx="993934" cy="431304"/>
          </a:xfrm>
          <a:prstGeom prst="rect">
            <a:avLst/>
          </a:prstGeom>
          <a:solidFill>
            <a:srgbClr val="89204A"/>
          </a:solidFill>
          <a:ln w="12700">
            <a:solidFill>
              <a:srgbClr val="0D0D0D"/>
            </a:solidFill>
          </a:ln>
        </p:spPr>
        <p:txBody>
          <a:bodyPr vert="horz" wrap="square" lIns="0" tIns="20479" rIns="0" bIns="0" rtlCol="0">
            <a:spAutoFit/>
          </a:bodyPr>
          <a:lstStyle/>
          <a:p>
            <a:pPr marL="278606" marR="273844" indent="84773">
              <a:lnSpc>
                <a:spcPct val="102200"/>
              </a:lnSpc>
              <a:spcBef>
                <a:spcPts val="161"/>
              </a:spcBef>
            </a:pPr>
            <a:r>
              <a:rPr sz="1350" dirty="0">
                <a:solidFill>
                  <a:srgbClr val="FFFFFF"/>
                </a:solidFill>
                <a:latin typeface="Franklin Gothic Book"/>
                <a:cs typeface="Franklin Gothic Book"/>
              </a:rPr>
              <a:t>The  </a:t>
            </a:r>
            <a:r>
              <a:rPr sz="1350" spc="-4" dirty="0">
                <a:solidFill>
                  <a:srgbClr val="FFFFFF"/>
                </a:solidFill>
                <a:latin typeface="Franklin Gothic Book"/>
                <a:cs typeface="Franklin Gothic Book"/>
              </a:rPr>
              <a:t>B</a:t>
            </a:r>
            <a:r>
              <a:rPr sz="1350" spc="-8" dirty="0">
                <a:solidFill>
                  <a:srgbClr val="FFFFFF"/>
                </a:solidFill>
                <a:latin typeface="Franklin Gothic Book"/>
                <a:cs typeface="Franklin Gothic Book"/>
              </a:rPr>
              <a:t>r</a:t>
            </a:r>
            <a:r>
              <a:rPr sz="1350" spc="-4" dirty="0">
                <a:solidFill>
                  <a:srgbClr val="FFFFFF"/>
                </a:solidFill>
                <a:latin typeface="Franklin Gothic Book"/>
                <a:cs typeface="Franklin Gothic Book"/>
              </a:rPr>
              <a:t>an</a:t>
            </a:r>
            <a:r>
              <a:rPr sz="1350" dirty="0">
                <a:solidFill>
                  <a:srgbClr val="FFFFFF"/>
                </a:solidFill>
                <a:latin typeface="Franklin Gothic Book"/>
                <a:cs typeface="Franklin Gothic Book"/>
              </a:rPr>
              <a:t>d</a:t>
            </a:r>
            <a:endParaRPr sz="1350" dirty="0">
              <a:latin typeface="Franklin Gothic Book"/>
              <a:cs typeface="Franklin Gothic Book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963AFF23-FEEA-0746-8790-961A6A1DADC5}"/>
              </a:ext>
            </a:extLst>
          </p:cNvPr>
          <p:cNvSpPr txBox="1"/>
          <p:nvPr/>
        </p:nvSpPr>
        <p:spPr>
          <a:xfrm>
            <a:off x="6729556" y="1446508"/>
            <a:ext cx="993934" cy="430470"/>
          </a:xfrm>
          <a:prstGeom prst="rect">
            <a:avLst/>
          </a:prstGeom>
          <a:solidFill>
            <a:srgbClr val="89204A"/>
          </a:solidFill>
          <a:ln w="12700">
            <a:solidFill>
              <a:srgbClr val="0D0D0D"/>
            </a:solidFill>
          </a:ln>
        </p:spPr>
        <p:txBody>
          <a:bodyPr vert="horz" wrap="square" lIns="0" tIns="23336" rIns="0" bIns="0" rtlCol="0">
            <a:spAutoFit/>
          </a:bodyPr>
          <a:lstStyle/>
          <a:p>
            <a:pPr marL="127635" marR="121444" indent="236220">
              <a:lnSpc>
                <a:spcPct val="101099"/>
              </a:lnSpc>
              <a:spcBef>
                <a:spcPts val="183"/>
              </a:spcBef>
            </a:pPr>
            <a:r>
              <a:rPr sz="1350" dirty="0">
                <a:solidFill>
                  <a:srgbClr val="FFFFFF"/>
                </a:solidFill>
                <a:latin typeface="Franklin Gothic Book"/>
                <a:cs typeface="Franklin Gothic Book"/>
              </a:rPr>
              <a:t>The  </a:t>
            </a:r>
            <a:r>
              <a:rPr sz="1350" spc="-4" dirty="0">
                <a:solidFill>
                  <a:srgbClr val="FFFFFF"/>
                </a:solidFill>
                <a:latin typeface="Franklin Gothic Book"/>
                <a:cs typeface="Franklin Gothic Book"/>
              </a:rPr>
              <a:t>C</a:t>
            </a:r>
            <a:r>
              <a:rPr sz="1350" dirty="0">
                <a:solidFill>
                  <a:srgbClr val="FFFFFF"/>
                </a:solidFill>
                <a:latin typeface="Franklin Gothic Book"/>
                <a:cs typeface="Franklin Gothic Book"/>
              </a:rPr>
              <a:t>o</a:t>
            </a:r>
            <a:r>
              <a:rPr sz="1350" spc="-4" dirty="0">
                <a:solidFill>
                  <a:srgbClr val="FFFFFF"/>
                </a:solidFill>
                <a:latin typeface="Franklin Gothic Book"/>
                <a:cs typeface="Franklin Gothic Book"/>
              </a:rPr>
              <a:t>n</a:t>
            </a:r>
            <a:r>
              <a:rPr sz="1350" dirty="0">
                <a:solidFill>
                  <a:srgbClr val="FFFFFF"/>
                </a:solidFill>
                <a:latin typeface="Franklin Gothic Book"/>
                <a:cs typeface="Franklin Gothic Book"/>
              </a:rPr>
              <a:t>s</a:t>
            </a:r>
            <a:r>
              <a:rPr sz="1350" spc="-4" dirty="0">
                <a:solidFill>
                  <a:srgbClr val="FFFFFF"/>
                </a:solidFill>
                <a:latin typeface="Franklin Gothic Book"/>
                <a:cs typeface="Franklin Gothic Book"/>
              </a:rPr>
              <a:t>ume</a:t>
            </a:r>
            <a:r>
              <a:rPr sz="1350" dirty="0">
                <a:solidFill>
                  <a:srgbClr val="FFFFFF"/>
                </a:solidFill>
                <a:latin typeface="Franklin Gothic Book"/>
                <a:cs typeface="Franklin Gothic Book"/>
              </a:rPr>
              <a:t>r</a:t>
            </a:r>
            <a:endParaRPr sz="1350" dirty="0">
              <a:latin typeface="Franklin Gothic Book"/>
              <a:cs typeface="Franklin Gothic Book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79678E77-4930-6542-8E09-41CFD892DDEA}"/>
              </a:ext>
            </a:extLst>
          </p:cNvPr>
          <p:cNvSpPr/>
          <p:nvPr/>
        </p:nvSpPr>
        <p:spPr>
          <a:xfrm>
            <a:off x="2571750" y="1652844"/>
            <a:ext cx="4000500" cy="70009"/>
          </a:xfrm>
          <a:custGeom>
            <a:avLst/>
            <a:gdLst/>
            <a:ahLst/>
            <a:cxnLst/>
            <a:rect l="l" t="t" r="r" b="b"/>
            <a:pathLst>
              <a:path w="5334000" h="93344">
                <a:moveTo>
                  <a:pt x="76074" y="17059"/>
                </a:moveTo>
                <a:lnTo>
                  <a:pt x="0" y="55411"/>
                </a:lnTo>
                <a:lnTo>
                  <a:pt x="76324" y="93259"/>
                </a:lnTo>
                <a:lnTo>
                  <a:pt x="76241" y="67901"/>
                </a:lnTo>
                <a:lnTo>
                  <a:pt x="63555" y="67901"/>
                </a:lnTo>
                <a:lnTo>
                  <a:pt x="63472" y="42501"/>
                </a:lnTo>
                <a:lnTo>
                  <a:pt x="76157" y="42460"/>
                </a:lnTo>
                <a:lnTo>
                  <a:pt x="76074" y="17059"/>
                </a:lnTo>
                <a:close/>
              </a:path>
              <a:path w="5334000" h="93344">
                <a:moveTo>
                  <a:pt x="5308223" y="25358"/>
                </a:moveTo>
                <a:lnTo>
                  <a:pt x="5269878" y="25358"/>
                </a:lnTo>
                <a:lnTo>
                  <a:pt x="5269962" y="50758"/>
                </a:lnTo>
                <a:lnTo>
                  <a:pt x="5257253" y="50799"/>
                </a:lnTo>
                <a:lnTo>
                  <a:pt x="5257337" y="76200"/>
                </a:lnTo>
                <a:lnTo>
                  <a:pt x="5333411" y="37848"/>
                </a:lnTo>
                <a:lnTo>
                  <a:pt x="5308223" y="25358"/>
                </a:lnTo>
                <a:close/>
              </a:path>
              <a:path w="5334000" h="93344">
                <a:moveTo>
                  <a:pt x="76157" y="42460"/>
                </a:moveTo>
                <a:lnTo>
                  <a:pt x="63472" y="42501"/>
                </a:lnTo>
                <a:lnTo>
                  <a:pt x="63555" y="67901"/>
                </a:lnTo>
                <a:lnTo>
                  <a:pt x="76241" y="67860"/>
                </a:lnTo>
                <a:lnTo>
                  <a:pt x="76157" y="42460"/>
                </a:lnTo>
                <a:close/>
              </a:path>
              <a:path w="5334000" h="93344">
                <a:moveTo>
                  <a:pt x="76241" y="67860"/>
                </a:moveTo>
                <a:lnTo>
                  <a:pt x="63555" y="67901"/>
                </a:lnTo>
                <a:lnTo>
                  <a:pt x="76241" y="67901"/>
                </a:lnTo>
                <a:close/>
              </a:path>
              <a:path w="5334000" h="93344">
                <a:moveTo>
                  <a:pt x="5257170" y="25399"/>
                </a:moveTo>
                <a:lnTo>
                  <a:pt x="76157" y="42460"/>
                </a:lnTo>
                <a:lnTo>
                  <a:pt x="76241" y="67860"/>
                </a:lnTo>
                <a:lnTo>
                  <a:pt x="5257253" y="50799"/>
                </a:lnTo>
                <a:lnTo>
                  <a:pt x="5257170" y="25399"/>
                </a:lnTo>
                <a:close/>
              </a:path>
              <a:path w="5334000" h="93344">
                <a:moveTo>
                  <a:pt x="5269878" y="25358"/>
                </a:moveTo>
                <a:lnTo>
                  <a:pt x="5257170" y="25399"/>
                </a:lnTo>
                <a:lnTo>
                  <a:pt x="5257253" y="50799"/>
                </a:lnTo>
                <a:lnTo>
                  <a:pt x="5269962" y="50758"/>
                </a:lnTo>
                <a:lnTo>
                  <a:pt x="5269878" y="25358"/>
                </a:lnTo>
                <a:close/>
              </a:path>
              <a:path w="5334000" h="93344">
                <a:moveTo>
                  <a:pt x="5257086" y="0"/>
                </a:moveTo>
                <a:lnTo>
                  <a:pt x="5257170" y="25399"/>
                </a:lnTo>
                <a:lnTo>
                  <a:pt x="5308223" y="25358"/>
                </a:lnTo>
                <a:lnTo>
                  <a:pt x="5257086" y="0"/>
                </a:lnTo>
                <a:close/>
              </a:path>
            </a:pathLst>
          </a:custGeom>
          <a:solidFill>
            <a:srgbClr val="004990"/>
          </a:solid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AA99BDD0-2F0A-8F48-96B4-5E713EBED95D}"/>
              </a:ext>
            </a:extLst>
          </p:cNvPr>
          <p:cNvSpPr txBox="1"/>
          <p:nvPr/>
        </p:nvSpPr>
        <p:spPr>
          <a:xfrm>
            <a:off x="1994295" y="2018566"/>
            <a:ext cx="993934" cy="232756"/>
          </a:xfrm>
          <a:prstGeom prst="rect">
            <a:avLst/>
          </a:prstGeom>
          <a:solidFill>
            <a:srgbClr val="C0276F"/>
          </a:solidFill>
        </p:spPr>
        <p:txBody>
          <a:bodyPr vert="horz" wrap="square" lIns="0" tIns="24765" rIns="0" bIns="0" rtlCol="0">
            <a:spAutoFit/>
          </a:bodyPr>
          <a:lstStyle/>
          <a:p>
            <a:pPr marL="214313">
              <a:spcBef>
                <a:spcPts val="195"/>
              </a:spcBef>
            </a:pPr>
            <a:r>
              <a:rPr sz="1350" spc="-8" dirty="0">
                <a:solidFill>
                  <a:srgbClr val="FFFFFF"/>
                </a:solidFill>
                <a:latin typeface="Calibri"/>
                <a:cs typeface="Calibri"/>
              </a:rPr>
              <a:t>Promise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9D247084-AE03-A041-B3C6-0A085EBF88AF}"/>
              </a:ext>
            </a:extLst>
          </p:cNvPr>
          <p:cNvSpPr txBox="1"/>
          <p:nvPr/>
        </p:nvSpPr>
        <p:spPr>
          <a:xfrm>
            <a:off x="4275185" y="3090203"/>
            <a:ext cx="993934" cy="233237"/>
          </a:xfrm>
          <a:prstGeom prst="rect">
            <a:avLst/>
          </a:prstGeom>
          <a:solidFill>
            <a:srgbClr val="C0276F"/>
          </a:solidFill>
        </p:spPr>
        <p:txBody>
          <a:bodyPr vert="horz" wrap="square" lIns="0" tIns="25241" rIns="0" bIns="0" rtlCol="0">
            <a:spAutoFit/>
          </a:bodyPr>
          <a:lstStyle/>
          <a:p>
            <a:pPr marL="210503">
              <a:spcBef>
                <a:spcPts val="199"/>
              </a:spcBef>
            </a:pPr>
            <a:r>
              <a:rPr sz="1350" spc="-11" dirty="0">
                <a:solidFill>
                  <a:srgbClr val="FFFFFF"/>
                </a:solidFill>
                <a:latin typeface="Calibri"/>
                <a:cs typeface="Calibri"/>
              </a:rPr>
              <a:t>Strategy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A0927AF9-981D-904F-AD14-6FEDEA5E600E}"/>
              </a:ext>
            </a:extLst>
          </p:cNvPr>
          <p:cNvSpPr txBox="1"/>
          <p:nvPr/>
        </p:nvSpPr>
        <p:spPr>
          <a:xfrm>
            <a:off x="5224110" y="2576581"/>
            <a:ext cx="1172051" cy="233237"/>
          </a:xfrm>
          <a:prstGeom prst="rect">
            <a:avLst/>
          </a:prstGeom>
          <a:solidFill>
            <a:srgbClr val="C0276F"/>
          </a:solidFill>
        </p:spPr>
        <p:txBody>
          <a:bodyPr vert="horz" wrap="square" lIns="0" tIns="25241" rIns="0" bIns="0" rtlCol="0">
            <a:spAutoFit/>
          </a:bodyPr>
          <a:lstStyle/>
          <a:p>
            <a:pPr marL="212408">
              <a:spcBef>
                <a:spcPts val="199"/>
              </a:spcBef>
            </a:pPr>
            <a:r>
              <a:rPr sz="1350" spc="-8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8" name="object 14">
            <a:extLst>
              <a:ext uri="{FF2B5EF4-FFF2-40B4-BE49-F238E27FC236}">
                <a16:creationId xmlns:a16="http://schemas.microsoft.com/office/drawing/2014/main" id="{6A223FF6-A920-704B-8E42-3C02A8168754}"/>
              </a:ext>
            </a:extLst>
          </p:cNvPr>
          <p:cNvSpPr/>
          <p:nvPr/>
        </p:nvSpPr>
        <p:spPr>
          <a:xfrm>
            <a:off x="1987928" y="3056560"/>
            <a:ext cx="993528" cy="4385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9" name="object 15">
            <a:extLst>
              <a:ext uri="{FF2B5EF4-FFF2-40B4-BE49-F238E27FC236}">
                <a16:creationId xmlns:a16="http://schemas.microsoft.com/office/drawing/2014/main" id="{07E2D4D6-0909-8C49-A8BB-C331D708D268}"/>
              </a:ext>
            </a:extLst>
          </p:cNvPr>
          <p:cNvSpPr txBox="1"/>
          <p:nvPr/>
        </p:nvSpPr>
        <p:spPr>
          <a:xfrm>
            <a:off x="1918931" y="3110001"/>
            <a:ext cx="1131522" cy="3763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5258" marR="149066" indent="476" algn="ctr">
              <a:lnSpc>
                <a:spcPts val="1425"/>
              </a:lnSpc>
              <a:spcBef>
                <a:spcPts val="135"/>
              </a:spcBef>
            </a:pPr>
            <a:r>
              <a:rPr sz="1100" spc="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E</a:t>
            </a:r>
            <a:r>
              <a:rPr sz="1100" spc="-8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x</a:t>
            </a:r>
            <a:r>
              <a:rPr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p</a:t>
            </a:r>
            <a:r>
              <a:rPr sz="1100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er</a:t>
            </a:r>
            <a:r>
              <a:rPr sz="1100" spc="-8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i</a:t>
            </a:r>
            <a:r>
              <a:rPr sz="1100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e</a:t>
            </a:r>
            <a:r>
              <a:rPr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nc</a:t>
            </a:r>
            <a:r>
              <a:rPr sz="1100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e  </a:t>
            </a:r>
            <a:r>
              <a:rPr sz="1100" spc="-26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P</a:t>
            </a:r>
            <a:r>
              <a:rPr sz="1100" spc="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o</a:t>
            </a:r>
            <a:r>
              <a:rPr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si</a:t>
            </a:r>
            <a:r>
              <a:rPr sz="1100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t</a:t>
            </a:r>
            <a:r>
              <a:rPr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i</a:t>
            </a:r>
            <a:r>
              <a:rPr sz="1100" spc="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o</a:t>
            </a:r>
            <a:r>
              <a:rPr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nin</a:t>
            </a:r>
            <a:r>
              <a:rPr sz="1100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g</a:t>
            </a:r>
            <a:endParaRPr sz="1100" dirty="0">
              <a:latin typeface="Franklin Gothic Book" panose="020B0503020102020204" pitchFamily="34" charset="0"/>
              <a:cs typeface="Calibri"/>
            </a:endParaRPr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4B1D5532-0FC2-5347-BB77-870BA42928CE}"/>
              </a:ext>
            </a:extLst>
          </p:cNvPr>
          <p:cNvSpPr/>
          <p:nvPr/>
        </p:nvSpPr>
        <p:spPr>
          <a:xfrm>
            <a:off x="4286827" y="4213195"/>
            <a:ext cx="993529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11" name="object 17">
            <a:extLst>
              <a:ext uri="{FF2B5EF4-FFF2-40B4-BE49-F238E27FC236}">
                <a16:creationId xmlns:a16="http://schemas.microsoft.com/office/drawing/2014/main" id="{B5984B00-212B-7847-90C7-7175484DB4F5}"/>
              </a:ext>
            </a:extLst>
          </p:cNvPr>
          <p:cNvSpPr txBox="1"/>
          <p:nvPr/>
        </p:nvSpPr>
        <p:spPr>
          <a:xfrm>
            <a:off x="4279025" y="4283260"/>
            <a:ext cx="993530" cy="178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0968" algn="ctr">
              <a:spcBef>
                <a:spcPts val="75"/>
              </a:spcBef>
            </a:pPr>
            <a:r>
              <a:rPr lang="en-US"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X’s and O’s</a:t>
            </a:r>
            <a:endParaRPr sz="1100" dirty="0">
              <a:latin typeface="Franklin Gothic Book" panose="020B0503020102020204" pitchFamily="34" charset="0"/>
              <a:cs typeface="Calibri"/>
            </a:endParaRPr>
          </a:p>
        </p:txBody>
      </p:sp>
      <p:sp>
        <p:nvSpPr>
          <p:cNvPr id="12" name="object 18">
            <a:extLst>
              <a:ext uri="{FF2B5EF4-FFF2-40B4-BE49-F238E27FC236}">
                <a16:creationId xmlns:a16="http://schemas.microsoft.com/office/drawing/2014/main" id="{5BB85867-0FAB-C54F-BEDB-84CD3EDED0A4}"/>
              </a:ext>
            </a:extLst>
          </p:cNvPr>
          <p:cNvSpPr/>
          <p:nvPr/>
        </p:nvSpPr>
        <p:spPr>
          <a:xfrm>
            <a:off x="3074088" y="3624232"/>
            <a:ext cx="1384007" cy="4385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13" name="object 19">
            <a:extLst>
              <a:ext uri="{FF2B5EF4-FFF2-40B4-BE49-F238E27FC236}">
                <a16:creationId xmlns:a16="http://schemas.microsoft.com/office/drawing/2014/main" id="{883D46C3-2CB0-AB41-B0D2-2C3C07C8297C}"/>
              </a:ext>
            </a:extLst>
          </p:cNvPr>
          <p:cNvSpPr txBox="1"/>
          <p:nvPr/>
        </p:nvSpPr>
        <p:spPr>
          <a:xfrm>
            <a:off x="3074089" y="3634757"/>
            <a:ext cx="1384006" cy="36394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1925" marR="156209" indent="202883">
              <a:lnSpc>
                <a:spcPts val="1425"/>
              </a:lnSpc>
              <a:spcBef>
                <a:spcPts val="135"/>
              </a:spcBef>
            </a:pPr>
            <a:r>
              <a:rPr sz="1100" spc="-8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Marketing  </a:t>
            </a:r>
            <a:r>
              <a:rPr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C</a:t>
            </a:r>
            <a:r>
              <a:rPr sz="1100" spc="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o</a:t>
            </a:r>
            <a:r>
              <a:rPr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mmuni</a:t>
            </a:r>
            <a:r>
              <a:rPr sz="1100" spc="-15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ca</a:t>
            </a:r>
            <a:r>
              <a:rPr sz="1100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t</a:t>
            </a:r>
            <a:r>
              <a:rPr sz="1100" spc="-8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i</a:t>
            </a:r>
            <a:r>
              <a:rPr sz="1100" spc="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o</a:t>
            </a:r>
            <a:r>
              <a:rPr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ns</a:t>
            </a:r>
            <a:endParaRPr sz="1100" dirty="0">
              <a:latin typeface="Franklin Gothic Book" panose="020B0503020102020204" pitchFamily="34" charset="0"/>
              <a:cs typeface="Calibri"/>
            </a:endParaRPr>
          </a:p>
        </p:txBody>
      </p:sp>
      <p:sp>
        <p:nvSpPr>
          <p:cNvPr id="14" name="object 20">
            <a:extLst>
              <a:ext uri="{FF2B5EF4-FFF2-40B4-BE49-F238E27FC236}">
                <a16:creationId xmlns:a16="http://schemas.microsoft.com/office/drawing/2014/main" id="{BEDC56B9-EE35-B344-ADFE-5ED58E8CA0DF}"/>
              </a:ext>
            </a:extLst>
          </p:cNvPr>
          <p:cNvSpPr/>
          <p:nvPr/>
        </p:nvSpPr>
        <p:spPr>
          <a:xfrm>
            <a:off x="5230740" y="3633335"/>
            <a:ext cx="1171668" cy="2769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15" name="object 21">
            <a:extLst>
              <a:ext uri="{FF2B5EF4-FFF2-40B4-BE49-F238E27FC236}">
                <a16:creationId xmlns:a16="http://schemas.microsoft.com/office/drawing/2014/main" id="{9922EECE-FDE2-A74A-A58D-E23E030BD9E0}"/>
              </a:ext>
            </a:extLst>
          </p:cNvPr>
          <p:cNvSpPr txBox="1"/>
          <p:nvPr/>
        </p:nvSpPr>
        <p:spPr>
          <a:xfrm>
            <a:off x="5224110" y="3664539"/>
            <a:ext cx="1154382" cy="178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5729" algn="ctr">
              <a:spcBef>
                <a:spcPts val="75"/>
              </a:spcBef>
            </a:pPr>
            <a:r>
              <a:rPr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Diﬀeren</a:t>
            </a:r>
            <a:r>
              <a:rPr lang="en-US"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ti</a:t>
            </a:r>
            <a:r>
              <a:rPr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ator</a:t>
            </a:r>
            <a:endParaRPr sz="1100" dirty="0">
              <a:latin typeface="Franklin Gothic Book" panose="020B0503020102020204" pitchFamily="34" charset="0"/>
              <a:cs typeface="Calibri"/>
            </a:endParaRPr>
          </a:p>
        </p:txBody>
      </p:sp>
      <p:sp>
        <p:nvSpPr>
          <p:cNvPr id="16" name="object 22">
            <a:extLst>
              <a:ext uri="{FF2B5EF4-FFF2-40B4-BE49-F238E27FC236}">
                <a16:creationId xmlns:a16="http://schemas.microsoft.com/office/drawing/2014/main" id="{2DD15D8B-E0C6-3E41-8A0F-FC5179D2A313}"/>
              </a:ext>
            </a:extLst>
          </p:cNvPr>
          <p:cNvSpPr/>
          <p:nvPr/>
        </p:nvSpPr>
        <p:spPr>
          <a:xfrm>
            <a:off x="6546037" y="3076747"/>
            <a:ext cx="1044777" cy="4304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17" name="object 23">
            <a:extLst>
              <a:ext uri="{FF2B5EF4-FFF2-40B4-BE49-F238E27FC236}">
                <a16:creationId xmlns:a16="http://schemas.microsoft.com/office/drawing/2014/main" id="{6E115F8E-04FD-DC41-8EB3-80E24AC8DC82}"/>
              </a:ext>
            </a:extLst>
          </p:cNvPr>
          <p:cNvSpPr txBox="1"/>
          <p:nvPr/>
        </p:nvSpPr>
        <p:spPr>
          <a:xfrm>
            <a:off x="6542820" y="3110001"/>
            <a:ext cx="1047994" cy="338843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235744" marR="230505" indent="48101" algn="ctr">
              <a:lnSpc>
                <a:spcPct val="101400"/>
              </a:lnSpc>
              <a:spcBef>
                <a:spcPts val="56"/>
              </a:spcBef>
            </a:pPr>
            <a:r>
              <a:rPr sz="1100" spc="-4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Internal  </a:t>
            </a:r>
            <a:r>
              <a:rPr sz="1100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Dis</a:t>
            </a:r>
            <a:r>
              <a:rPr sz="1100" spc="-8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c</a:t>
            </a:r>
            <a:r>
              <a:rPr sz="1100" dirty="0">
                <a:solidFill>
                  <a:srgbClr val="170578"/>
                </a:solidFill>
                <a:latin typeface="Franklin Gothic Book" panose="020B0503020102020204" pitchFamily="34" charset="0"/>
                <a:cs typeface="Calibri"/>
              </a:rPr>
              <a:t>ipline</a:t>
            </a:r>
            <a:endParaRPr sz="1100" dirty="0">
              <a:latin typeface="Franklin Gothic Book" panose="020B0503020102020204" pitchFamily="34" charset="0"/>
              <a:cs typeface="Calibri"/>
            </a:endParaRPr>
          </a:p>
        </p:txBody>
      </p:sp>
      <p:sp>
        <p:nvSpPr>
          <p:cNvPr id="19" name="object 26">
            <a:extLst>
              <a:ext uri="{FF2B5EF4-FFF2-40B4-BE49-F238E27FC236}">
                <a16:creationId xmlns:a16="http://schemas.microsoft.com/office/drawing/2014/main" id="{C17D1912-77C3-3143-96C4-7E71843E2950}"/>
              </a:ext>
            </a:extLst>
          </p:cNvPr>
          <p:cNvSpPr/>
          <p:nvPr/>
        </p:nvSpPr>
        <p:spPr>
          <a:xfrm>
            <a:off x="3737808" y="2693200"/>
            <a:ext cx="57150" cy="706755"/>
          </a:xfrm>
          <a:custGeom>
            <a:avLst/>
            <a:gdLst/>
            <a:ahLst/>
            <a:cxnLst/>
            <a:rect l="l" t="t" r="r" b="b"/>
            <a:pathLst>
              <a:path w="76200" h="942339">
                <a:moveTo>
                  <a:pt x="25399" y="866011"/>
                </a:moveTo>
                <a:lnTo>
                  <a:pt x="0" y="866011"/>
                </a:lnTo>
                <a:lnTo>
                  <a:pt x="38100" y="942211"/>
                </a:lnTo>
                <a:lnTo>
                  <a:pt x="69850" y="878711"/>
                </a:lnTo>
                <a:lnTo>
                  <a:pt x="25400" y="878711"/>
                </a:lnTo>
                <a:lnTo>
                  <a:pt x="25399" y="866011"/>
                </a:lnTo>
                <a:close/>
              </a:path>
              <a:path w="76200" h="942339">
                <a:moveTo>
                  <a:pt x="50798" y="0"/>
                </a:moveTo>
                <a:lnTo>
                  <a:pt x="25398" y="0"/>
                </a:lnTo>
                <a:lnTo>
                  <a:pt x="25400" y="878711"/>
                </a:lnTo>
                <a:lnTo>
                  <a:pt x="50800" y="878711"/>
                </a:lnTo>
                <a:lnTo>
                  <a:pt x="50798" y="0"/>
                </a:lnTo>
                <a:close/>
              </a:path>
              <a:path w="76200" h="942339">
                <a:moveTo>
                  <a:pt x="76200" y="866011"/>
                </a:moveTo>
                <a:lnTo>
                  <a:pt x="50799" y="866011"/>
                </a:lnTo>
                <a:lnTo>
                  <a:pt x="50800" y="878711"/>
                </a:lnTo>
                <a:lnTo>
                  <a:pt x="69850" y="878711"/>
                </a:lnTo>
                <a:lnTo>
                  <a:pt x="76200" y="866011"/>
                </a:lnTo>
                <a:close/>
              </a:path>
            </a:pathLst>
          </a:custGeom>
          <a:solidFill>
            <a:srgbClr val="004990"/>
          </a:solid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1C8E46E2-4ADB-6345-A437-70DD19AE3358}"/>
              </a:ext>
            </a:extLst>
          </p:cNvPr>
          <p:cNvSpPr/>
          <p:nvPr/>
        </p:nvSpPr>
        <p:spPr>
          <a:xfrm>
            <a:off x="3257101" y="2561395"/>
            <a:ext cx="993934" cy="217367"/>
          </a:xfrm>
          <a:custGeom>
            <a:avLst/>
            <a:gdLst/>
            <a:ahLst/>
            <a:cxnLst/>
            <a:rect l="l" t="t" r="r" b="b"/>
            <a:pathLst>
              <a:path w="1325245" h="369569">
                <a:moveTo>
                  <a:pt x="0" y="0"/>
                </a:moveTo>
                <a:lnTo>
                  <a:pt x="1324705" y="0"/>
                </a:lnTo>
                <a:lnTo>
                  <a:pt x="1324705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C0276F"/>
          </a:solid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26" name="object 12">
            <a:extLst>
              <a:ext uri="{FF2B5EF4-FFF2-40B4-BE49-F238E27FC236}">
                <a16:creationId xmlns:a16="http://schemas.microsoft.com/office/drawing/2014/main" id="{C1B08DBD-726C-4B48-B408-A1AF9A1777A1}"/>
              </a:ext>
            </a:extLst>
          </p:cNvPr>
          <p:cNvSpPr/>
          <p:nvPr/>
        </p:nvSpPr>
        <p:spPr>
          <a:xfrm>
            <a:off x="6542820" y="2071619"/>
            <a:ext cx="993934" cy="277178"/>
          </a:xfrm>
          <a:custGeom>
            <a:avLst/>
            <a:gdLst/>
            <a:ahLst/>
            <a:cxnLst/>
            <a:rect l="l" t="t" r="r" b="b"/>
            <a:pathLst>
              <a:path w="1325245" h="369569">
                <a:moveTo>
                  <a:pt x="0" y="0"/>
                </a:moveTo>
                <a:lnTo>
                  <a:pt x="1324705" y="0"/>
                </a:lnTo>
                <a:lnTo>
                  <a:pt x="1324705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C0276F"/>
          </a:solid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27" name="object 13">
            <a:extLst>
              <a:ext uri="{FF2B5EF4-FFF2-40B4-BE49-F238E27FC236}">
                <a16:creationId xmlns:a16="http://schemas.microsoft.com/office/drawing/2014/main" id="{CE3FB17D-5F8C-3A44-8F0C-FF27CB7D466A}"/>
              </a:ext>
            </a:extLst>
          </p:cNvPr>
          <p:cNvSpPr txBox="1"/>
          <p:nvPr/>
        </p:nvSpPr>
        <p:spPr>
          <a:xfrm>
            <a:off x="6542820" y="2086488"/>
            <a:ext cx="99393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5254">
              <a:spcBef>
                <a:spcPts val="75"/>
              </a:spcBef>
            </a:pP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Inspira</a:t>
            </a:r>
            <a:r>
              <a:rPr lang="en-US" sz="1350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29" name="object 10">
            <a:extLst>
              <a:ext uri="{FF2B5EF4-FFF2-40B4-BE49-F238E27FC236}">
                <a16:creationId xmlns:a16="http://schemas.microsoft.com/office/drawing/2014/main" id="{2442D683-501A-B448-924F-4235D1E573A7}"/>
              </a:ext>
            </a:extLst>
          </p:cNvPr>
          <p:cNvSpPr txBox="1"/>
          <p:nvPr/>
        </p:nvSpPr>
        <p:spPr>
          <a:xfrm>
            <a:off x="3290101" y="2557851"/>
            <a:ext cx="99393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14801">
              <a:spcBef>
                <a:spcPts val="75"/>
              </a:spcBef>
            </a:pPr>
            <a:r>
              <a:rPr sz="1350" spc="-4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937395D7-1E2F-CC48-8D5D-AB3AFE1521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we operationalize</a:t>
            </a:r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D0341493-D033-F247-922B-9744ACCE6A92}"/>
              </a:ext>
            </a:extLst>
          </p:cNvPr>
          <p:cNvSpPr/>
          <p:nvPr/>
        </p:nvSpPr>
        <p:spPr>
          <a:xfrm>
            <a:off x="3707580" y="4687550"/>
            <a:ext cx="993529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r>
              <a:rPr lang="en-US" sz="1350" dirty="0">
                <a:latin typeface="Franklin Gothic Book" panose="020B0503020102020204" pitchFamily="34" charset="0"/>
              </a:rPr>
              <a:t>Awareness </a:t>
            </a:r>
            <a:endParaRPr sz="1350" dirty="0">
              <a:latin typeface="Franklin Gothic Book" panose="020B0503020102020204" pitchFamily="34" charset="0"/>
            </a:endParaRPr>
          </a:p>
        </p:txBody>
      </p:sp>
      <p:sp>
        <p:nvSpPr>
          <p:cNvPr id="32" name="object 16">
            <a:extLst>
              <a:ext uri="{FF2B5EF4-FFF2-40B4-BE49-F238E27FC236}">
                <a16:creationId xmlns:a16="http://schemas.microsoft.com/office/drawing/2014/main" id="{03C6FEDA-24EC-8145-8A38-9985E1E36AB3}"/>
              </a:ext>
            </a:extLst>
          </p:cNvPr>
          <p:cNvSpPr/>
          <p:nvPr/>
        </p:nvSpPr>
        <p:spPr>
          <a:xfrm>
            <a:off x="4851434" y="4682602"/>
            <a:ext cx="993529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r>
              <a:rPr lang="en-US" sz="1350" dirty="0">
                <a:latin typeface="Franklin Gothic Book" panose="020B0503020102020204" pitchFamily="34" charset="0"/>
              </a:rPr>
              <a:t>Targeted</a:t>
            </a:r>
            <a:endParaRPr sz="135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04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0" grpId="0" animBg="1"/>
      <p:bldP spid="18" grpId="0" animBg="1"/>
      <p:bldP spid="28" grpId="0" animBg="1"/>
      <p:bldP spid="5" grpId="0" animBg="1"/>
      <p:bldP spid="6" grpId="0" animBg="1"/>
      <p:bldP spid="7" grpId="0" animBg="1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9" grpId="0" animBg="1"/>
      <p:bldP spid="23" grpId="0" animBg="1"/>
      <p:bldP spid="26" grpId="0" animBg="1"/>
      <p:bldP spid="27" grpId="0"/>
      <p:bldP spid="29" grpId="0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: Shape 120">
            <a:extLst>
              <a:ext uri="{FF2B5EF4-FFF2-40B4-BE49-F238E27FC236}">
                <a16:creationId xmlns:a16="http://schemas.microsoft.com/office/drawing/2014/main" id="{2851CB10-DCFE-D447-B550-98E7B7E6E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015" y="3206802"/>
            <a:ext cx="1628861" cy="225113"/>
          </a:xfrm>
          <a:custGeom>
            <a:avLst/>
            <a:gdLst>
              <a:gd name="connsiteX0" fmla="*/ 3718716 w 4343629"/>
              <a:gd name="connsiteY0" fmla="*/ 1197459 h 1234709"/>
              <a:gd name="connsiteX1" fmla="*/ 3871278 w 4343629"/>
              <a:gd name="connsiteY1" fmla="*/ 1197459 h 1234709"/>
              <a:gd name="connsiteX2" fmla="*/ 3871278 w 4343629"/>
              <a:gd name="connsiteY2" fmla="*/ 1234709 h 1234709"/>
              <a:gd name="connsiteX3" fmla="*/ 3718716 w 4343629"/>
              <a:gd name="connsiteY3" fmla="*/ 1234709 h 1234709"/>
              <a:gd name="connsiteX4" fmla="*/ 3411112 w 4343629"/>
              <a:gd name="connsiteY4" fmla="*/ 1197459 h 1234709"/>
              <a:gd name="connsiteX5" fmla="*/ 3563664 w 4343629"/>
              <a:gd name="connsiteY5" fmla="*/ 1197459 h 1234709"/>
              <a:gd name="connsiteX6" fmla="*/ 3563664 w 4343629"/>
              <a:gd name="connsiteY6" fmla="*/ 1234709 h 1234709"/>
              <a:gd name="connsiteX7" fmla="*/ 3411112 w 4343629"/>
              <a:gd name="connsiteY7" fmla="*/ 1234709 h 1234709"/>
              <a:gd name="connsiteX8" fmla="*/ 3109002 w 4343629"/>
              <a:gd name="connsiteY8" fmla="*/ 1197459 h 1234709"/>
              <a:gd name="connsiteX9" fmla="*/ 3261564 w 4343629"/>
              <a:gd name="connsiteY9" fmla="*/ 1197459 h 1234709"/>
              <a:gd name="connsiteX10" fmla="*/ 3261564 w 4343629"/>
              <a:gd name="connsiteY10" fmla="*/ 1234709 h 1234709"/>
              <a:gd name="connsiteX11" fmla="*/ 3109002 w 4343629"/>
              <a:gd name="connsiteY11" fmla="*/ 1234709 h 1234709"/>
              <a:gd name="connsiteX12" fmla="*/ 2806889 w 4343629"/>
              <a:gd name="connsiteY12" fmla="*/ 1197459 h 1234709"/>
              <a:gd name="connsiteX13" fmla="*/ 2959441 w 4343629"/>
              <a:gd name="connsiteY13" fmla="*/ 1197459 h 1234709"/>
              <a:gd name="connsiteX14" fmla="*/ 2959441 w 4343629"/>
              <a:gd name="connsiteY14" fmla="*/ 1234709 h 1234709"/>
              <a:gd name="connsiteX15" fmla="*/ 2806889 w 4343629"/>
              <a:gd name="connsiteY15" fmla="*/ 1234709 h 1234709"/>
              <a:gd name="connsiteX16" fmla="*/ 2499285 w 4343629"/>
              <a:gd name="connsiteY16" fmla="*/ 1197459 h 1234709"/>
              <a:gd name="connsiteX17" fmla="*/ 2651837 w 4343629"/>
              <a:gd name="connsiteY17" fmla="*/ 1197459 h 1234709"/>
              <a:gd name="connsiteX18" fmla="*/ 2651837 w 4343629"/>
              <a:gd name="connsiteY18" fmla="*/ 1234709 h 1234709"/>
              <a:gd name="connsiteX19" fmla="*/ 2499285 w 4343629"/>
              <a:gd name="connsiteY19" fmla="*/ 1234709 h 1234709"/>
              <a:gd name="connsiteX20" fmla="*/ 2191680 w 4343629"/>
              <a:gd name="connsiteY20" fmla="*/ 1197459 h 1234709"/>
              <a:gd name="connsiteX21" fmla="*/ 2344242 w 4343629"/>
              <a:gd name="connsiteY21" fmla="*/ 1197459 h 1234709"/>
              <a:gd name="connsiteX22" fmla="*/ 2344242 w 4343629"/>
              <a:gd name="connsiteY22" fmla="*/ 1234709 h 1234709"/>
              <a:gd name="connsiteX23" fmla="*/ 2191680 w 4343629"/>
              <a:gd name="connsiteY23" fmla="*/ 1234709 h 1234709"/>
              <a:gd name="connsiteX24" fmla="*/ 1889570 w 4343629"/>
              <a:gd name="connsiteY24" fmla="*/ 1197459 h 1234709"/>
              <a:gd name="connsiteX25" fmla="*/ 2042122 w 4343629"/>
              <a:gd name="connsiteY25" fmla="*/ 1197459 h 1234709"/>
              <a:gd name="connsiteX26" fmla="*/ 2042122 w 4343629"/>
              <a:gd name="connsiteY26" fmla="*/ 1234709 h 1234709"/>
              <a:gd name="connsiteX27" fmla="*/ 1889570 w 4343629"/>
              <a:gd name="connsiteY27" fmla="*/ 1234709 h 1234709"/>
              <a:gd name="connsiteX28" fmla="*/ 1587457 w 4343629"/>
              <a:gd name="connsiteY28" fmla="*/ 1197459 h 1234709"/>
              <a:gd name="connsiteX29" fmla="*/ 1740009 w 4343629"/>
              <a:gd name="connsiteY29" fmla="*/ 1197459 h 1234709"/>
              <a:gd name="connsiteX30" fmla="*/ 1740009 w 4343629"/>
              <a:gd name="connsiteY30" fmla="*/ 1234709 h 1234709"/>
              <a:gd name="connsiteX31" fmla="*/ 1587457 w 4343629"/>
              <a:gd name="connsiteY31" fmla="*/ 1234709 h 1234709"/>
              <a:gd name="connsiteX32" fmla="*/ 1279853 w 4343629"/>
              <a:gd name="connsiteY32" fmla="*/ 1197459 h 1234709"/>
              <a:gd name="connsiteX33" fmla="*/ 1432415 w 4343629"/>
              <a:gd name="connsiteY33" fmla="*/ 1197459 h 1234709"/>
              <a:gd name="connsiteX34" fmla="*/ 1432415 w 4343629"/>
              <a:gd name="connsiteY34" fmla="*/ 1234709 h 1234709"/>
              <a:gd name="connsiteX35" fmla="*/ 1279853 w 4343629"/>
              <a:gd name="connsiteY35" fmla="*/ 1234709 h 1234709"/>
              <a:gd name="connsiteX36" fmla="*/ 977743 w 4343629"/>
              <a:gd name="connsiteY36" fmla="*/ 1197459 h 1234709"/>
              <a:gd name="connsiteX37" fmla="*/ 1130295 w 4343629"/>
              <a:gd name="connsiteY37" fmla="*/ 1197459 h 1234709"/>
              <a:gd name="connsiteX38" fmla="*/ 1130295 w 4343629"/>
              <a:gd name="connsiteY38" fmla="*/ 1234709 h 1234709"/>
              <a:gd name="connsiteX39" fmla="*/ 977743 w 4343629"/>
              <a:gd name="connsiteY39" fmla="*/ 1234709 h 1234709"/>
              <a:gd name="connsiteX40" fmla="*/ 670139 w 4343629"/>
              <a:gd name="connsiteY40" fmla="*/ 1197459 h 1234709"/>
              <a:gd name="connsiteX41" fmla="*/ 822701 w 4343629"/>
              <a:gd name="connsiteY41" fmla="*/ 1197459 h 1234709"/>
              <a:gd name="connsiteX42" fmla="*/ 822701 w 4343629"/>
              <a:gd name="connsiteY42" fmla="*/ 1234709 h 1234709"/>
              <a:gd name="connsiteX43" fmla="*/ 670139 w 4343629"/>
              <a:gd name="connsiteY43" fmla="*/ 1234709 h 1234709"/>
              <a:gd name="connsiteX44" fmla="*/ 368025 w 4343629"/>
              <a:gd name="connsiteY44" fmla="*/ 1197459 h 1234709"/>
              <a:gd name="connsiteX45" fmla="*/ 520577 w 4343629"/>
              <a:gd name="connsiteY45" fmla="*/ 1197459 h 1234709"/>
              <a:gd name="connsiteX46" fmla="*/ 520577 w 4343629"/>
              <a:gd name="connsiteY46" fmla="*/ 1234709 h 1234709"/>
              <a:gd name="connsiteX47" fmla="*/ 368025 w 4343629"/>
              <a:gd name="connsiteY47" fmla="*/ 1234709 h 1234709"/>
              <a:gd name="connsiteX48" fmla="*/ 4158631 w 4343629"/>
              <a:gd name="connsiteY48" fmla="*/ 1148025 h 1234709"/>
              <a:gd name="connsiteX49" fmla="*/ 4178859 w 4343629"/>
              <a:gd name="connsiteY49" fmla="*/ 1179528 h 1234709"/>
              <a:gd name="connsiteX50" fmla="*/ 4024623 w 4343629"/>
              <a:gd name="connsiteY50" fmla="*/ 1229205 h 1234709"/>
              <a:gd name="connsiteX51" fmla="*/ 4020830 w 4343629"/>
              <a:gd name="connsiteY51" fmla="*/ 1191644 h 1234709"/>
              <a:gd name="connsiteX52" fmla="*/ 4158631 w 4343629"/>
              <a:gd name="connsiteY52" fmla="*/ 1148025 h 1234709"/>
              <a:gd name="connsiteX53" fmla="*/ 110710 w 4343629"/>
              <a:gd name="connsiteY53" fmla="*/ 1082109 h 1234709"/>
              <a:gd name="connsiteX54" fmla="*/ 223978 w 4343629"/>
              <a:gd name="connsiteY54" fmla="*/ 1165961 h 1234709"/>
              <a:gd name="connsiteX55" fmla="*/ 207973 w 4343629"/>
              <a:gd name="connsiteY55" fmla="*/ 1201721 h 1234709"/>
              <a:gd name="connsiteX56" fmla="*/ 82393 w 4343629"/>
              <a:gd name="connsiteY56" fmla="*/ 1106771 h 1234709"/>
              <a:gd name="connsiteX57" fmla="*/ 4302526 w 4343629"/>
              <a:gd name="connsiteY57" fmla="*/ 917321 h 1234709"/>
              <a:gd name="connsiteX58" fmla="*/ 4338190 w 4343629"/>
              <a:gd name="connsiteY58" fmla="*/ 921012 h 1234709"/>
              <a:gd name="connsiteX59" fmla="*/ 4288999 w 4343629"/>
              <a:gd name="connsiteY59" fmla="*/ 1069893 h 1234709"/>
              <a:gd name="connsiteX60" fmla="*/ 4257024 w 4343629"/>
              <a:gd name="connsiteY60" fmla="*/ 1050206 h 1234709"/>
              <a:gd name="connsiteX61" fmla="*/ 4302526 w 4343629"/>
              <a:gd name="connsiteY61" fmla="*/ 917321 h 1234709"/>
              <a:gd name="connsiteX62" fmla="*/ 0 w 4343629"/>
              <a:gd name="connsiteY62" fmla="*/ 812954 h 1234709"/>
              <a:gd name="connsiteX63" fmla="*/ 39295 w 4343629"/>
              <a:gd name="connsiteY63" fmla="*/ 812954 h 1234709"/>
              <a:gd name="connsiteX64" fmla="*/ 39295 w 4343629"/>
              <a:gd name="connsiteY64" fmla="*/ 887545 h 1234709"/>
              <a:gd name="connsiteX65" fmla="*/ 48168 w 4343629"/>
              <a:gd name="connsiteY65" fmla="*/ 962137 h 1234709"/>
              <a:gd name="connsiteX66" fmla="*/ 11408 w 4343629"/>
              <a:gd name="connsiteY66" fmla="*/ 970987 h 1234709"/>
              <a:gd name="connsiteX67" fmla="*/ 0 w 4343629"/>
              <a:gd name="connsiteY67" fmla="*/ 887545 h 1234709"/>
              <a:gd name="connsiteX68" fmla="*/ 4306462 w 4343629"/>
              <a:gd name="connsiteY68" fmla="*/ 615208 h 1234709"/>
              <a:gd name="connsiteX69" fmla="*/ 4343629 w 4343629"/>
              <a:gd name="connsiteY69" fmla="*/ 615208 h 1234709"/>
              <a:gd name="connsiteX70" fmla="*/ 4343629 w 4343629"/>
              <a:gd name="connsiteY70" fmla="*/ 767760 h 1234709"/>
              <a:gd name="connsiteX71" fmla="*/ 4306462 w 4343629"/>
              <a:gd name="connsiteY71" fmla="*/ 767760 h 1234709"/>
              <a:gd name="connsiteX72" fmla="*/ 0 w 4343629"/>
              <a:gd name="connsiteY72" fmla="*/ 505350 h 1234709"/>
              <a:gd name="connsiteX73" fmla="*/ 37248 w 4343629"/>
              <a:gd name="connsiteY73" fmla="*/ 505350 h 1234709"/>
              <a:gd name="connsiteX74" fmla="*/ 37248 w 4343629"/>
              <a:gd name="connsiteY74" fmla="*/ 657912 h 1234709"/>
              <a:gd name="connsiteX75" fmla="*/ 0 w 4343629"/>
              <a:gd name="connsiteY75" fmla="*/ 657912 h 1234709"/>
              <a:gd name="connsiteX76" fmla="*/ 4306462 w 4343629"/>
              <a:gd name="connsiteY76" fmla="*/ 307604 h 1234709"/>
              <a:gd name="connsiteX77" fmla="*/ 4343629 w 4343629"/>
              <a:gd name="connsiteY77" fmla="*/ 307604 h 1234709"/>
              <a:gd name="connsiteX78" fmla="*/ 4343629 w 4343629"/>
              <a:gd name="connsiteY78" fmla="*/ 460156 h 1234709"/>
              <a:gd name="connsiteX79" fmla="*/ 4306462 w 4343629"/>
              <a:gd name="connsiteY79" fmla="*/ 460156 h 1234709"/>
              <a:gd name="connsiteX80" fmla="*/ 0 w 4343629"/>
              <a:gd name="connsiteY80" fmla="*/ 203240 h 1234709"/>
              <a:gd name="connsiteX81" fmla="*/ 37248 w 4343629"/>
              <a:gd name="connsiteY81" fmla="*/ 203240 h 1234709"/>
              <a:gd name="connsiteX82" fmla="*/ 37248 w 4343629"/>
              <a:gd name="connsiteY82" fmla="*/ 355792 h 1234709"/>
              <a:gd name="connsiteX83" fmla="*/ 0 w 4343629"/>
              <a:gd name="connsiteY83" fmla="*/ 355792 h 1234709"/>
              <a:gd name="connsiteX84" fmla="*/ 4306462 w 4343629"/>
              <a:gd name="connsiteY84" fmla="*/ 0 h 1234709"/>
              <a:gd name="connsiteX85" fmla="*/ 4343629 w 4343629"/>
              <a:gd name="connsiteY85" fmla="*/ 0 h 1234709"/>
              <a:gd name="connsiteX86" fmla="*/ 4343629 w 4343629"/>
              <a:gd name="connsiteY86" fmla="*/ 152562 h 1234709"/>
              <a:gd name="connsiteX87" fmla="*/ 4306462 w 4343629"/>
              <a:gd name="connsiteY87" fmla="*/ 152562 h 1234709"/>
              <a:gd name="connsiteX88" fmla="*/ 0 w 4343629"/>
              <a:gd name="connsiteY88" fmla="*/ 0 h 1234709"/>
              <a:gd name="connsiteX89" fmla="*/ 37248 w 4343629"/>
              <a:gd name="connsiteY89" fmla="*/ 0 h 1234709"/>
              <a:gd name="connsiteX90" fmla="*/ 37248 w 4343629"/>
              <a:gd name="connsiteY90" fmla="*/ 48137 h 1234709"/>
              <a:gd name="connsiteX91" fmla="*/ 0 w 4343629"/>
              <a:gd name="connsiteY91" fmla="*/ 48137 h 1234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343629" h="1234709">
                <a:moveTo>
                  <a:pt x="3718716" y="1197459"/>
                </a:moveTo>
                <a:lnTo>
                  <a:pt x="3871278" y="1197459"/>
                </a:lnTo>
                <a:lnTo>
                  <a:pt x="3871278" y="1234709"/>
                </a:lnTo>
                <a:lnTo>
                  <a:pt x="3718716" y="1234709"/>
                </a:lnTo>
                <a:close/>
                <a:moveTo>
                  <a:pt x="3411112" y="1197459"/>
                </a:moveTo>
                <a:lnTo>
                  <a:pt x="3563664" y="1197459"/>
                </a:lnTo>
                <a:lnTo>
                  <a:pt x="3563664" y="1234709"/>
                </a:lnTo>
                <a:lnTo>
                  <a:pt x="3411112" y="1234709"/>
                </a:lnTo>
                <a:close/>
                <a:moveTo>
                  <a:pt x="3109002" y="1197459"/>
                </a:moveTo>
                <a:lnTo>
                  <a:pt x="3261564" y="1197459"/>
                </a:lnTo>
                <a:lnTo>
                  <a:pt x="3261564" y="1234709"/>
                </a:lnTo>
                <a:lnTo>
                  <a:pt x="3109002" y="1234709"/>
                </a:lnTo>
                <a:close/>
                <a:moveTo>
                  <a:pt x="2806889" y="1197459"/>
                </a:moveTo>
                <a:lnTo>
                  <a:pt x="2959441" y="1197459"/>
                </a:lnTo>
                <a:lnTo>
                  <a:pt x="2959441" y="1234709"/>
                </a:lnTo>
                <a:lnTo>
                  <a:pt x="2806889" y="1234709"/>
                </a:lnTo>
                <a:close/>
                <a:moveTo>
                  <a:pt x="2499285" y="1197459"/>
                </a:moveTo>
                <a:lnTo>
                  <a:pt x="2651837" y="1197459"/>
                </a:lnTo>
                <a:lnTo>
                  <a:pt x="2651837" y="1234709"/>
                </a:lnTo>
                <a:lnTo>
                  <a:pt x="2499285" y="1234709"/>
                </a:lnTo>
                <a:close/>
                <a:moveTo>
                  <a:pt x="2191680" y="1197459"/>
                </a:moveTo>
                <a:lnTo>
                  <a:pt x="2344242" y="1197459"/>
                </a:lnTo>
                <a:lnTo>
                  <a:pt x="2344242" y="1234709"/>
                </a:lnTo>
                <a:lnTo>
                  <a:pt x="2191680" y="1234709"/>
                </a:lnTo>
                <a:close/>
                <a:moveTo>
                  <a:pt x="1889570" y="1197459"/>
                </a:moveTo>
                <a:lnTo>
                  <a:pt x="2042122" y="1197459"/>
                </a:lnTo>
                <a:lnTo>
                  <a:pt x="2042122" y="1234709"/>
                </a:lnTo>
                <a:lnTo>
                  <a:pt x="1889570" y="1234709"/>
                </a:lnTo>
                <a:close/>
                <a:moveTo>
                  <a:pt x="1587457" y="1197459"/>
                </a:moveTo>
                <a:lnTo>
                  <a:pt x="1740009" y="1197459"/>
                </a:lnTo>
                <a:lnTo>
                  <a:pt x="1740009" y="1234709"/>
                </a:lnTo>
                <a:lnTo>
                  <a:pt x="1587457" y="1234709"/>
                </a:lnTo>
                <a:close/>
                <a:moveTo>
                  <a:pt x="1279853" y="1197459"/>
                </a:moveTo>
                <a:lnTo>
                  <a:pt x="1432415" y="1197459"/>
                </a:lnTo>
                <a:lnTo>
                  <a:pt x="1432415" y="1234709"/>
                </a:lnTo>
                <a:lnTo>
                  <a:pt x="1279853" y="1234709"/>
                </a:lnTo>
                <a:close/>
                <a:moveTo>
                  <a:pt x="977743" y="1197459"/>
                </a:moveTo>
                <a:lnTo>
                  <a:pt x="1130295" y="1197459"/>
                </a:lnTo>
                <a:lnTo>
                  <a:pt x="1130295" y="1234709"/>
                </a:lnTo>
                <a:lnTo>
                  <a:pt x="977743" y="1234709"/>
                </a:lnTo>
                <a:close/>
                <a:moveTo>
                  <a:pt x="670139" y="1197459"/>
                </a:moveTo>
                <a:lnTo>
                  <a:pt x="822701" y="1197459"/>
                </a:lnTo>
                <a:lnTo>
                  <a:pt x="822701" y="1234709"/>
                </a:lnTo>
                <a:lnTo>
                  <a:pt x="670139" y="1234709"/>
                </a:lnTo>
                <a:close/>
                <a:moveTo>
                  <a:pt x="368025" y="1197459"/>
                </a:moveTo>
                <a:lnTo>
                  <a:pt x="520577" y="1197459"/>
                </a:lnTo>
                <a:lnTo>
                  <a:pt x="520577" y="1234709"/>
                </a:lnTo>
                <a:lnTo>
                  <a:pt x="368025" y="1234709"/>
                </a:lnTo>
                <a:close/>
                <a:moveTo>
                  <a:pt x="4158631" y="1148025"/>
                </a:moveTo>
                <a:lnTo>
                  <a:pt x="4178859" y="1179528"/>
                </a:lnTo>
                <a:cubicBezTo>
                  <a:pt x="4132082" y="1207396"/>
                  <a:pt x="4078985" y="1224359"/>
                  <a:pt x="4024623" y="1229205"/>
                </a:cubicBezTo>
                <a:lnTo>
                  <a:pt x="4020830" y="1191644"/>
                </a:lnTo>
                <a:cubicBezTo>
                  <a:pt x="4070135" y="1186798"/>
                  <a:pt x="4116911" y="1173470"/>
                  <a:pt x="4158631" y="1148025"/>
                </a:cubicBezTo>
                <a:close/>
                <a:moveTo>
                  <a:pt x="110710" y="1082109"/>
                </a:moveTo>
                <a:cubicBezTo>
                  <a:pt x="140258" y="1117869"/>
                  <a:pt x="179656" y="1147464"/>
                  <a:pt x="223978" y="1165961"/>
                </a:cubicBezTo>
                <a:lnTo>
                  <a:pt x="207973" y="1201721"/>
                </a:lnTo>
                <a:cubicBezTo>
                  <a:pt x="159957" y="1179525"/>
                  <a:pt x="115635" y="1147464"/>
                  <a:pt x="82393" y="1106771"/>
                </a:cubicBezTo>
                <a:close/>
                <a:moveTo>
                  <a:pt x="4302526" y="917321"/>
                </a:moveTo>
                <a:lnTo>
                  <a:pt x="4338190" y="921012"/>
                </a:lnTo>
                <a:cubicBezTo>
                  <a:pt x="4334501" y="972690"/>
                  <a:pt x="4317284" y="1025598"/>
                  <a:pt x="4288999" y="1069893"/>
                </a:cubicBezTo>
                <a:lnTo>
                  <a:pt x="4257024" y="1050206"/>
                </a:lnTo>
                <a:cubicBezTo>
                  <a:pt x="4282850" y="1009602"/>
                  <a:pt x="4297607" y="964077"/>
                  <a:pt x="4302526" y="917321"/>
                </a:cubicBezTo>
                <a:close/>
                <a:moveTo>
                  <a:pt x="0" y="812954"/>
                </a:moveTo>
                <a:lnTo>
                  <a:pt x="39295" y="812954"/>
                </a:lnTo>
                <a:lnTo>
                  <a:pt x="39295" y="887545"/>
                </a:lnTo>
                <a:cubicBezTo>
                  <a:pt x="39295" y="912831"/>
                  <a:pt x="41830" y="938116"/>
                  <a:pt x="48168" y="962137"/>
                </a:cubicBezTo>
                <a:lnTo>
                  <a:pt x="11408" y="970987"/>
                </a:lnTo>
                <a:cubicBezTo>
                  <a:pt x="5071" y="944437"/>
                  <a:pt x="0" y="916623"/>
                  <a:pt x="0" y="887545"/>
                </a:cubicBezTo>
                <a:close/>
                <a:moveTo>
                  <a:pt x="4306462" y="615208"/>
                </a:moveTo>
                <a:lnTo>
                  <a:pt x="4343629" y="615208"/>
                </a:lnTo>
                <a:lnTo>
                  <a:pt x="4343629" y="767760"/>
                </a:lnTo>
                <a:lnTo>
                  <a:pt x="4306462" y="767760"/>
                </a:lnTo>
                <a:close/>
                <a:moveTo>
                  <a:pt x="0" y="505350"/>
                </a:moveTo>
                <a:lnTo>
                  <a:pt x="37248" y="505350"/>
                </a:lnTo>
                <a:lnTo>
                  <a:pt x="37248" y="657912"/>
                </a:lnTo>
                <a:lnTo>
                  <a:pt x="0" y="657912"/>
                </a:lnTo>
                <a:close/>
                <a:moveTo>
                  <a:pt x="4306462" y="307604"/>
                </a:moveTo>
                <a:lnTo>
                  <a:pt x="4343629" y="307604"/>
                </a:lnTo>
                <a:lnTo>
                  <a:pt x="4343629" y="460156"/>
                </a:lnTo>
                <a:lnTo>
                  <a:pt x="4306462" y="460156"/>
                </a:lnTo>
                <a:close/>
                <a:moveTo>
                  <a:pt x="0" y="203240"/>
                </a:moveTo>
                <a:lnTo>
                  <a:pt x="37248" y="203240"/>
                </a:lnTo>
                <a:lnTo>
                  <a:pt x="37248" y="355792"/>
                </a:lnTo>
                <a:lnTo>
                  <a:pt x="0" y="355792"/>
                </a:lnTo>
                <a:close/>
                <a:moveTo>
                  <a:pt x="4306462" y="0"/>
                </a:moveTo>
                <a:lnTo>
                  <a:pt x="4343629" y="0"/>
                </a:lnTo>
                <a:lnTo>
                  <a:pt x="4343629" y="152562"/>
                </a:lnTo>
                <a:lnTo>
                  <a:pt x="4306462" y="152562"/>
                </a:lnTo>
                <a:close/>
                <a:moveTo>
                  <a:pt x="0" y="0"/>
                </a:moveTo>
                <a:lnTo>
                  <a:pt x="37248" y="0"/>
                </a:lnTo>
                <a:lnTo>
                  <a:pt x="37248" y="48137"/>
                </a:lnTo>
                <a:lnTo>
                  <a:pt x="0" y="481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75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C7114F-C4FD-284A-A5E9-53425644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Awareness to Consideration to Conversion</a:t>
            </a:r>
            <a:r>
              <a:rPr lang="en-US" dirty="0"/>
              <a:t> 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1B1AC2CF-5B44-774A-82CF-E098B64A1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4994" y="5550709"/>
            <a:ext cx="3482521" cy="4251532"/>
          </a:xfrm>
          <a:custGeom>
            <a:avLst/>
            <a:gdLst>
              <a:gd name="T0" fmla="*/ 2752 w 2794"/>
              <a:gd name="T1" fmla="*/ 3089 h 3411"/>
              <a:gd name="T2" fmla="*/ 2752 w 2794"/>
              <a:gd name="T3" fmla="*/ 3089 h 3411"/>
              <a:gd name="T4" fmla="*/ 2471 w 2794"/>
              <a:gd name="T5" fmla="*/ 3370 h 3411"/>
              <a:gd name="T6" fmla="*/ 321 w 2794"/>
              <a:gd name="T7" fmla="*/ 3370 h 3411"/>
              <a:gd name="T8" fmla="*/ 321 w 2794"/>
              <a:gd name="T9" fmla="*/ 3370 h 3411"/>
              <a:gd name="T10" fmla="*/ 41 w 2794"/>
              <a:gd name="T11" fmla="*/ 3089 h 3411"/>
              <a:gd name="T12" fmla="*/ 41 w 2794"/>
              <a:gd name="T13" fmla="*/ 935 h 3411"/>
              <a:gd name="T14" fmla="*/ 2752 w 2794"/>
              <a:gd name="T15" fmla="*/ 935 h 3411"/>
              <a:gd name="T16" fmla="*/ 2752 w 2794"/>
              <a:gd name="T17" fmla="*/ 3089 h 3411"/>
              <a:gd name="T18" fmla="*/ 2471 w 2794"/>
              <a:gd name="T19" fmla="*/ 0 h 3411"/>
              <a:gd name="T20" fmla="*/ 1725 w 2794"/>
              <a:gd name="T21" fmla="*/ 0 h 3411"/>
              <a:gd name="T22" fmla="*/ 1725 w 2794"/>
              <a:gd name="T23" fmla="*/ 0 h 3411"/>
              <a:gd name="T24" fmla="*/ 1396 w 2794"/>
              <a:gd name="T25" fmla="*/ 239 h 3411"/>
              <a:gd name="T26" fmla="*/ 1396 w 2794"/>
              <a:gd name="T27" fmla="*/ 239 h 3411"/>
              <a:gd name="T28" fmla="*/ 1067 w 2794"/>
              <a:gd name="T29" fmla="*/ 0 h 3411"/>
              <a:gd name="T30" fmla="*/ 321 w 2794"/>
              <a:gd name="T31" fmla="*/ 0 h 3411"/>
              <a:gd name="T32" fmla="*/ 321 w 2794"/>
              <a:gd name="T33" fmla="*/ 0 h 3411"/>
              <a:gd name="T34" fmla="*/ 0 w 2794"/>
              <a:gd name="T35" fmla="*/ 321 h 3411"/>
              <a:gd name="T36" fmla="*/ 0 w 2794"/>
              <a:gd name="T37" fmla="*/ 3089 h 3411"/>
              <a:gd name="T38" fmla="*/ 0 w 2794"/>
              <a:gd name="T39" fmla="*/ 3089 h 3411"/>
              <a:gd name="T40" fmla="*/ 321 w 2794"/>
              <a:gd name="T41" fmla="*/ 3410 h 3411"/>
              <a:gd name="T42" fmla="*/ 2471 w 2794"/>
              <a:gd name="T43" fmla="*/ 3410 h 3411"/>
              <a:gd name="T44" fmla="*/ 2471 w 2794"/>
              <a:gd name="T45" fmla="*/ 3410 h 3411"/>
              <a:gd name="T46" fmla="*/ 2793 w 2794"/>
              <a:gd name="T47" fmla="*/ 3089 h 3411"/>
              <a:gd name="T48" fmla="*/ 2793 w 2794"/>
              <a:gd name="T49" fmla="*/ 321 h 3411"/>
              <a:gd name="T50" fmla="*/ 2793 w 2794"/>
              <a:gd name="T51" fmla="*/ 321 h 3411"/>
              <a:gd name="T52" fmla="*/ 2471 w 2794"/>
              <a:gd name="T53" fmla="*/ 0 h 3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94" h="3411">
                <a:moveTo>
                  <a:pt x="2752" y="3089"/>
                </a:moveTo>
                <a:lnTo>
                  <a:pt x="2752" y="3089"/>
                </a:lnTo>
                <a:cubicBezTo>
                  <a:pt x="2752" y="3244"/>
                  <a:pt x="2626" y="3370"/>
                  <a:pt x="2471" y="3370"/>
                </a:cubicBezTo>
                <a:lnTo>
                  <a:pt x="321" y="3370"/>
                </a:lnTo>
                <a:lnTo>
                  <a:pt x="321" y="3370"/>
                </a:lnTo>
                <a:cubicBezTo>
                  <a:pt x="167" y="3370"/>
                  <a:pt x="41" y="3244"/>
                  <a:pt x="41" y="3089"/>
                </a:cubicBezTo>
                <a:lnTo>
                  <a:pt x="41" y="935"/>
                </a:lnTo>
                <a:lnTo>
                  <a:pt x="2752" y="935"/>
                </a:lnTo>
                <a:lnTo>
                  <a:pt x="2752" y="3089"/>
                </a:lnTo>
                <a:close/>
                <a:moveTo>
                  <a:pt x="2471" y="0"/>
                </a:moveTo>
                <a:lnTo>
                  <a:pt x="1725" y="0"/>
                </a:lnTo>
                <a:lnTo>
                  <a:pt x="1725" y="0"/>
                </a:lnTo>
                <a:cubicBezTo>
                  <a:pt x="1680" y="139"/>
                  <a:pt x="1550" y="239"/>
                  <a:pt x="1396" y="239"/>
                </a:cubicBezTo>
                <a:lnTo>
                  <a:pt x="1396" y="239"/>
                </a:lnTo>
                <a:cubicBezTo>
                  <a:pt x="1242" y="239"/>
                  <a:pt x="1112" y="139"/>
                  <a:pt x="1067" y="0"/>
                </a:cubicBezTo>
                <a:lnTo>
                  <a:pt x="321" y="0"/>
                </a:lnTo>
                <a:lnTo>
                  <a:pt x="321" y="0"/>
                </a:lnTo>
                <a:cubicBezTo>
                  <a:pt x="144" y="0"/>
                  <a:pt x="0" y="145"/>
                  <a:pt x="0" y="321"/>
                </a:cubicBezTo>
                <a:lnTo>
                  <a:pt x="0" y="3089"/>
                </a:lnTo>
                <a:lnTo>
                  <a:pt x="0" y="3089"/>
                </a:lnTo>
                <a:cubicBezTo>
                  <a:pt x="0" y="3266"/>
                  <a:pt x="144" y="3410"/>
                  <a:pt x="321" y="3410"/>
                </a:cubicBezTo>
                <a:lnTo>
                  <a:pt x="2471" y="3410"/>
                </a:lnTo>
                <a:lnTo>
                  <a:pt x="2471" y="3410"/>
                </a:lnTo>
                <a:cubicBezTo>
                  <a:pt x="2648" y="3410"/>
                  <a:pt x="2793" y="3266"/>
                  <a:pt x="2793" y="3089"/>
                </a:cubicBezTo>
                <a:lnTo>
                  <a:pt x="2793" y="321"/>
                </a:lnTo>
                <a:lnTo>
                  <a:pt x="2793" y="321"/>
                </a:lnTo>
                <a:cubicBezTo>
                  <a:pt x="2793" y="145"/>
                  <a:pt x="2648" y="0"/>
                  <a:pt x="24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5A3B10AA-F2E1-9D45-9F20-4C862612ABC3}"/>
              </a:ext>
            </a:extLst>
          </p:cNvPr>
          <p:cNvSpPr txBox="1">
            <a:spLocks/>
          </p:cNvSpPr>
          <p:nvPr/>
        </p:nvSpPr>
        <p:spPr>
          <a:xfrm>
            <a:off x="19318126" y="7054854"/>
            <a:ext cx="2956258" cy="22898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Green marketing is a practice whereby companies seek to go above and beyond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C907E9-86A8-0049-91F8-74E402EE028C}"/>
              </a:ext>
            </a:extLst>
          </p:cNvPr>
          <p:cNvSpPr txBox="1"/>
          <p:nvPr/>
        </p:nvSpPr>
        <p:spPr>
          <a:xfrm>
            <a:off x="19262020" y="6022544"/>
            <a:ext cx="3068469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 05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7FA7CD-5C47-6647-A32E-590E737ABDEC}"/>
              </a:ext>
            </a:extLst>
          </p:cNvPr>
          <p:cNvSpPr txBox="1"/>
          <p:nvPr/>
        </p:nvSpPr>
        <p:spPr>
          <a:xfrm>
            <a:off x="20570872" y="5134415"/>
            <a:ext cx="450764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5</a:t>
            </a:r>
          </a:p>
        </p:txBody>
      </p:sp>
      <p:sp>
        <p:nvSpPr>
          <p:cNvPr id="57" name="Freeform: Shape 122">
            <a:extLst>
              <a:ext uri="{FF2B5EF4-FFF2-40B4-BE49-F238E27FC236}">
                <a16:creationId xmlns:a16="http://schemas.microsoft.com/office/drawing/2014/main" id="{B3456203-CD23-7248-B860-A016AFD17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904" y="1283546"/>
            <a:ext cx="1626831" cy="347649"/>
          </a:xfrm>
          <a:custGeom>
            <a:avLst/>
            <a:gdLst>
              <a:gd name="connsiteX0" fmla="*/ 0 w 4338217"/>
              <a:gd name="connsiteY0" fmla="*/ 774502 h 927064"/>
              <a:gd name="connsiteX1" fmla="*/ 37167 w 4338217"/>
              <a:gd name="connsiteY1" fmla="*/ 774502 h 927064"/>
              <a:gd name="connsiteX2" fmla="*/ 37167 w 4338217"/>
              <a:gd name="connsiteY2" fmla="*/ 927064 h 927064"/>
              <a:gd name="connsiteX3" fmla="*/ 0 w 4338217"/>
              <a:gd name="connsiteY3" fmla="*/ 927064 h 927064"/>
              <a:gd name="connsiteX4" fmla="*/ 4300967 w 4338217"/>
              <a:gd name="connsiteY4" fmla="*/ 576756 h 927064"/>
              <a:gd name="connsiteX5" fmla="*/ 4338217 w 4338217"/>
              <a:gd name="connsiteY5" fmla="*/ 576756 h 927064"/>
              <a:gd name="connsiteX6" fmla="*/ 4338217 w 4338217"/>
              <a:gd name="connsiteY6" fmla="*/ 729318 h 927064"/>
              <a:gd name="connsiteX7" fmla="*/ 4300967 w 4338217"/>
              <a:gd name="connsiteY7" fmla="*/ 729318 h 927064"/>
              <a:gd name="connsiteX8" fmla="*/ 0 w 4338217"/>
              <a:gd name="connsiteY8" fmla="*/ 472392 h 927064"/>
              <a:gd name="connsiteX9" fmla="*/ 37167 w 4338217"/>
              <a:gd name="connsiteY9" fmla="*/ 472392 h 927064"/>
              <a:gd name="connsiteX10" fmla="*/ 37167 w 4338217"/>
              <a:gd name="connsiteY10" fmla="*/ 624944 h 927064"/>
              <a:gd name="connsiteX11" fmla="*/ 0 w 4338217"/>
              <a:gd name="connsiteY11" fmla="*/ 624944 h 927064"/>
              <a:gd name="connsiteX12" fmla="*/ 4328010 w 4338217"/>
              <a:gd name="connsiteY12" fmla="*/ 269152 h 927064"/>
              <a:gd name="connsiteX13" fmla="*/ 4338151 w 4338217"/>
              <a:gd name="connsiteY13" fmla="*/ 349129 h 927064"/>
              <a:gd name="connsiteX14" fmla="*/ 4338151 w 4338217"/>
              <a:gd name="connsiteY14" fmla="*/ 421724 h 927064"/>
              <a:gd name="connsiteX15" fmla="*/ 4298854 w 4338217"/>
              <a:gd name="connsiteY15" fmla="*/ 421724 h 927064"/>
              <a:gd name="connsiteX16" fmla="*/ 4298854 w 4338217"/>
              <a:gd name="connsiteY16" fmla="*/ 349129 h 927064"/>
              <a:gd name="connsiteX17" fmla="*/ 4289981 w 4338217"/>
              <a:gd name="connsiteY17" fmla="*/ 276535 h 927064"/>
              <a:gd name="connsiteX18" fmla="*/ 49189 w 4338217"/>
              <a:gd name="connsiteY18" fmla="*/ 164788 h 927064"/>
              <a:gd name="connsiteX19" fmla="*/ 81162 w 4338217"/>
              <a:gd name="connsiteY19" fmla="*/ 186280 h 927064"/>
              <a:gd name="connsiteX20" fmla="*/ 35662 w 4338217"/>
              <a:gd name="connsiteY20" fmla="*/ 322817 h 927064"/>
              <a:gd name="connsiteX21" fmla="*/ 0 w 4338217"/>
              <a:gd name="connsiteY21" fmla="*/ 319024 h 927064"/>
              <a:gd name="connsiteX22" fmla="*/ 49189 w 4338217"/>
              <a:gd name="connsiteY22" fmla="*/ 164788 h 927064"/>
              <a:gd name="connsiteX23" fmla="*/ 4128982 w 4338217"/>
              <a:gd name="connsiteY23" fmla="*/ 27463 h 927064"/>
              <a:gd name="connsiteX24" fmla="*/ 4255793 w 4338217"/>
              <a:gd name="connsiteY24" fmla="*/ 122413 h 927064"/>
              <a:gd name="connsiteX25" fmla="*/ 4227476 w 4338217"/>
              <a:gd name="connsiteY25" fmla="*/ 147075 h 927064"/>
              <a:gd name="connsiteX26" fmla="*/ 4114208 w 4338217"/>
              <a:gd name="connsiteY26" fmla="*/ 61990 h 927064"/>
              <a:gd name="connsiteX27" fmla="*/ 3823084 w 4338217"/>
              <a:gd name="connsiteY27" fmla="*/ 0 h 927064"/>
              <a:gd name="connsiteX28" fmla="*/ 3975636 w 4338217"/>
              <a:gd name="connsiteY28" fmla="*/ 0 h 927064"/>
              <a:gd name="connsiteX29" fmla="*/ 3975636 w 4338217"/>
              <a:gd name="connsiteY29" fmla="*/ 37248 h 927064"/>
              <a:gd name="connsiteX30" fmla="*/ 3823084 w 4338217"/>
              <a:gd name="connsiteY30" fmla="*/ 37248 h 927064"/>
              <a:gd name="connsiteX31" fmla="*/ 3515479 w 4338217"/>
              <a:gd name="connsiteY31" fmla="*/ 0 h 927064"/>
              <a:gd name="connsiteX32" fmla="*/ 3668041 w 4338217"/>
              <a:gd name="connsiteY32" fmla="*/ 0 h 927064"/>
              <a:gd name="connsiteX33" fmla="*/ 3668041 w 4338217"/>
              <a:gd name="connsiteY33" fmla="*/ 37248 h 927064"/>
              <a:gd name="connsiteX34" fmla="*/ 3515479 w 4338217"/>
              <a:gd name="connsiteY34" fmla="*/ 37248 h 927064"/>
              <a:gd name="connsiteX35" fmla="*/ 3213366 w 4338217"/>
              <a:gd name="connsiteY35" fmla="*/ 0 h 927064"/>
              <a:gd name="connsiteX36" fmla="*/ 3365918 w 4338217"/>
              <a:gd name="connsiteY36" fmla="*/ 0 h 927064"/>
              <a:gd name="connsiteX37" fmla="*/ 3365918 w 4338217"/>
              <a:gd name="connsiteY37" fmla="*/ 37248 h 927064"/>
              <a:gd name="connsiteX38" fmla="*/ 3213366 w 4338217"/>
              <a:gd name="connsiteY38" fmla="*/ 37248 h 927064"/>
              <a:gd name="connsiteX39" fmla="*/ 2905762 w 4338217"/>
              <a:gd name="connsiteY39" fmla="*/ 0 h 927064"/>
              <a:gd name="connsiteX40" fmla="*/ 3058314 w 4338217"/>
              <a:gd name="connsiteY40" fmla="*/ 0 h 927064"/>
              <a:gd name="connsiteX41" fmla="*/ 3058314 w 4338217"/>
              <a:gd name="connsiteY41" fmla="*/ 37248 h 927064"/>
              <a:gd name="connsiteX42" fmla="*/ 2905762 w 4338217"/>
              <a:gd name="connsiteY42" fmla="*/ 37248 h 927064"/>
              <a:gd name="connsiteX43" fmla="*/ 2603652 w 4338217"/>
              <a:gd name="connsiteY43" fmla="*/ 0 h 927064"/>
              <a:gd name="connsiteX44" fmla="*/ 2756214 w 4338217"/>
              <a:gd name="connsiteY44" fmla="*/ 0 h 927064"/>
              <a:gd name="connsiteX45" fmla="*/ 2756214 w 4338217"/>
              <a:gd name="connsiteY45" fmla="*/ 37248 h 927064"/>
              <a:gd name="connsiteX46" fmla="*/ 2603652 w 4338217"/>
              <a:gd name="connsiteY46" fmla="*/ 37248 h 927064"/>
              <a:gd name="connsiteX47" fmla="*/ 2296047 w 4338217"/>
              <a:gd name="connsiteY47" fmla="*/ 0 h 927064"/>
              <a:gd name="connsiteX48" fmla="*/ 2448599 w 4338217"/>
              <a:gd name="connsiteY48" fmla="*/ 0 h 927064"/>
              <a:gd name="connsiteX49" fmla="*/ 2448599 w 4338217"/>
              <a:gd name="connsiteY49" fmla="*/ 37248 h 927064"/>
              <a:gd name="connsiteX50" fmla="*/ 2296047 w 4338217"/>
              <a:gd name="connsiteY50" fmla="*/ 37248 h 927064"/>
              <a:gd name="connsiteX51" fmla="*/ 1993934 w 4338217"/>
              <a:gd name="connsiteY51" fmla="*/ 0 h 927064"/>
              <a:gd name="connsiteX52" fmla="*/ 2146496 w 4338217"/>
              <a:gd name="connsiteY52" fmla="*/ 0 h 927064"/>
              <a:gd name="connsiteX53" fmla="*/ 2146496 w 4338217"/>
              <a:gd name="connsiteY53" fmla="*/ 37248 h 927064"/>
              <a:gd name="connsiteX54" fmla="*/ 1993934 w 4338217"/>
              <a:gd name="connsiteY54" fmla="*/ 37248 h 927064"/>
              <a:gd name="connsiteX55" fmla="*/ 1686330 w 4338217"/>
              <a:gd name="connsiteY55" fmla="*/ 0 h 927064"/>
              <a:gd name="connsiteX56" fmla="*/ 1838882 w 4338217"/>
              <a:gd name="connsiteY56" fmla="*/ 0 h 927064"/>
              <a:gd name="connsiteX57" fmla="*/ 1838882 w 4338217"/>
              <a:gd name="connsiteY57" fmla="*/ 37248 h 927064"/>
              <a:gd name="connsiteX58" fmla="*/ 1686330 w 4338217"/>
              <a:gd name="connsiteY58" fmla="*/ 37248 h 927064"/>
              <a:gd name="connsiteX59" fmla="*/ 1384220 w 4338217"/>
              <a:gd name="connsiteY59" fmla="*/ 0 h 927064"/>
              <a:gd name="connsiteX60" fmla="*/ 1536772 w 4338217"/>
              <a:gd name="connsiteY60" fmla="*/ 0 h 927064"/>
              <a:gd name="connsiteX61" fmla="*/ 1536772 w 4338217"/>
              <a:gd name="connsiteY61" fmla="*/ 37248 h 927064"/>
              <a:gd name="connsiteX62" fmla="*/ 1384220 w 4338217"/>
              <a:gd name="connsiteY62" fmla="*/ 37248 h 927064"/>
              <a:gd name="connsiteX63" fmla="*/ 1076616 w 4338217"/>
              <a:gd name="connsiteY63" fmla="*/ 0 h 927064"/>
              <a:gd name="connsiteX64" fmla="*/ 1229178 w 4338217"/>
              <a:gd name="connsiteY64" fmla="*/ 0 h 927064"/>
              <a:gd name="connsiteX65" fmla="*/ 1229178 w 4338217"/>
              <a:gd name="connsiteY65" fmla="*/ 37248 h 927064"/>
              <a:gd name="connsiteX66" fmla="*/ 1076616 w 4338217"/>
              <a:gd name="connsiteY66" fmla="*/ 37248 h 927064"/>
              <a:gd name="connsiteX67" fmla="*/ 774502 w 4338217"/>
              <a:gd name="connsiteY67" fmla="*/ 0 h 927064"/>
              <a:gd name="connsiteX68" fmla="*/ 927054 w 4338217"/>
              <a:gd name="connsiteY68" fmla="*/ 0 h 927064"/>
              <a:gd name="connsiteX69" fmla="*/ 927054 w 4338217"/>
              <a:gd name="connsiteY69" fmla="*/ 37248 h 927064"/>
              <a:gd name="connsiteX70" fmla="*/ 774502 w 4338217"/>
              <a:gd name="connsiteY70" fmla="*/ 37248 h 927064"/>
              <a:gd name="connsiteX71" fmla="*/ 466898 w 4338217"/>
              <a:gd name="connsiteY71" fmla="*/ 0 h 927064"/>
              <a:gd name="connsiteX72" fmla="*/ 619450 w 4338217"/>
              <a:gd name="connsiteY72" fmla="*/ 0 h 927064"/>
              <a:gd name="connsiteX73" fmla="*/ 619450 w 4338217"/>
              <a:gd name="connsiteY73" fmla="*/ 37248 h 927064"/>
              <a:gd name="connsiteX74" fmla="*/ 466898 w 4338217"/>
              <a:gd name="connsiteY74" fmla="*/ 37248 h 927064"/>
              <a:gd name="connsiteX75" fmla="*/ 314899 w 4338217"/>
              <a:gd name="connsiteY75" fmla="*/ 0 h 927064"/>
              <a:gd name="connsiteX76" fmla="*/ 317360 w 4338217"/>
              <a:gd name="connsiteY76" fmla="*/ 38122 h 927064"/>
              <a:gd name="connsiteX77" fmla="*/ 184475 w 4338217"/>
              <a:gd name="connsiteY77" fmla="*/ 81163 h 927064"/>
              <a:gd name="connsiteX78" fmla="*/ 164788 w 4338217"/>
              <a:gd name="connsiteY78" fmla="*/ 50419 h 927064"/>
              <a:gd name="connsiteX79" fmla="*/ 314899 w 4338217"/>
              <a:gd name="connsiteY79" fmla="*/ 0 h 927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338217" h="927064">
                <a:moveTo>
                  <a:pt x="0" y="774502"/>
                </a:moveTo>
                <a:lnTo>
                  <a:pt x="37167" y="774502"/>
                </a:lnTo>
                <a:lnTo>
                  <a:pt x="37167" y="927064"/>
                </a:lnTo>
                <a:lnTo>
                  <a:pt x="0" y="927064"/>
                </a:lnTo>
                <a:close/>
                <a:moveTo>
                  <a:pt x="4300967" y="576756"/>
                </a:moveTo>
                <a:lnTo>
                  <a:pt x="4338217" y="576756"/>
                </a:lnTo>
                <a:lnTo>
                  <a:pt x="4338217" y="729318"/>
                </a:lnTo>
                <a:lnTo>
                  <a:pt x="4300967" y="729318"/>
                </a:lnTo>
                <a:close/>
                <a:moveTo>
                  <a:pt x="0" y="472392"/>
                </a:moveTo>
                <a:lnTo>
                  <a:pt x="37167" y="472392"/>
                </a:lnTo>
                <a:lnTo>
                  <a:pt x="37167" y="624944"/>
                </a:lnTo>
                <a:lnTo>
                  <a:pt x="0" y="624944"/>
                </a:lnTo>
                <a:close/>
                <a:moveTo>
                  <a:pt x="4328010" y="269152"/>
                </a:moveTo>
                <a:cubicBezTo>
                  <a:pt x="4334348" y="294991"/>
                  <a:pt x="4338151" y="322060"/>
                  <a:pt x="4338151" y="349129"/>
                </a:cubicBezTo>
                <a:lnTo>
                  <a:pt x="4338151" y="421724"/>
                </a:lnTo>
                <a:lnTo>
                  <a:pt x="4298854" y="421724"/>
                </a:lnTo>
                <a:lnTo>
                  <a:pt x="4298854" y="349129"/>
                </a:lnTo>
                <a:cubicBezTo>
                  <a:pt x="4298854" y="325751"/>
                  <a:pt x="4296319" y="301143"/>
                  <a:pt x="4289981" y="276535"/>
                </a:cubicBezTo>
                <a:close/>
                <a:moveTo>
                  <a:pt x="49189" y="164788"/>
                </a:moveTo>
                <a:lnTo>
                  <a:pt x="81162" y="186280"/>
                </a:lnTo>
                <a:cubicBezTo>
                  <a:pt x="55338" y="228000"/>
                  <a:pt x="39351" y="273512"/>
                  <a:pt x="35662" y="322817"/>
                </a:cubicBezTo>
                <a:lnTo>
                  <a:pt x="0" y="319024"/>
                </a:lnTo>
                <a:cubicBezTo>
                  <a:pt x="3689" y="264662"/>
                  <a:pt x="22135" y="211565"/>
                  <a:pt x="49189" y="164788"/>
                </a:cubicBezTo>
                <a:close/>
                <a:moveTo>
                  <a:pt x="4128982" y="27463"/>
                </a:moveTo>
                <a:cubicBezTo>
                  <a:pt x="4178229" y="48426"/>
                  <a:pt x="4222551" y="81720"/>
                  <a:pt x="4255793" y="122413"/>
                </a:cubicBezTo>
                <a:lnTo>
                  <a:pt x="4227476" y="147075"/>
                </a:lnTo>
                <a:cubicBezTo>
                  <a:pt x="4196697" y="110082"/>
                  <a:pt x="4158530" y="81720"/>
                  <a:pt x="4114208" y="61990"/>
                </a:cubicBezTo>
                <a:close/>
                <a:moveTo>
                  <a:pt x="3823084" y="0"/>
                </a:moveTo>
                <a:lnTo>
                  <a:pt x="3975636" y="0"/>
                </a:lnTo>
                <a:lnTo>
                  <a:pt x="3975636" y="37248"/>
                </a:lnTo>
                <a:lnTo>
                  <a:pt x="3823084" y="37248"/>
                </a:lnTo>
                <a:close/>
                <a:moveTo>
                  <a:pt x="3515479" y="0"/>
                </a:moveTo>
                <a:lnTo>
                  <a:pt x="3668041" y="0"/>
                </a:lnTo>
                <a:lnTo>
                  <a:pt x="3668041" y="37248"/>
                </a:lnTo>
                <a:lnTo>
                  <a:pt x="3515479" y="37248"/>
                </a:lnTo>
                <a:close/>
                <a:moveTo>
                  <a:pt x="3213366" y="0"/>
                </a:moveTo>
                <a:lnTo>
                  <a:pt x="3365918" y="0"/>
                </a:lnTo>
                <a:lnTo>
                  <a:pt x="3365918" y="37248"/>
                </a:lnTo>
                <a:lnTo>
                  <a:pt x="3213366" y="37248"/>
                </a:lnTo>
                <a:close/>
                <a:moveTo>
                  <a:pt x="2905762" y="0"/>
                </a:moveTo>
                <a:lnTo>
                  <a:pt x="3058314" y="0"/>
                </a:lnTo>
                <a:lnTo>
                  <a:pt x="3058314" y="37248"/>
                </a:lnTo>
                <a:lnTo>
                  <a:pt x="2905762" y="37248"/>
                </a:lnTo>
                <a:close/>
                <a:moveTo>
                  <a:pt x="2603652" y="0"/>
                </a:moveTo>
                <a:lnTo>
                  <a:pt x="2756214" y="0"/>
                </a:lnTo>
                <a:lnTo>
                  <a:pt x="2756214" y="37248"/>
                </a:lnTo>
                <a:lnTo>
                  <a:pt x="2603652" y="37248"/>
                </a:lnTo>
                <a:close/>
                <a:moveTo>
                  <a:pt x="2296047" y="0"/>
                </a:moveTo>
                <a:lnTo>
                  <a:pt x="2448599" y="0"/>
                </a:lnTo>
                <a:lnTo>
                  <a:pt x="2448599" y="37248"/>
                </a:lnTo>
                <a:lnTo>
                  <a:pt x="2296047" y="37248"/>
                </a:lnTo>
                <a:close/>
                <a:moveTo>
                  <a:pt x="1993934" y="0"/>
                </a:moveTo>
                <a:lnTo>
                  <a:pt x="2146496" y="0"/>
                </a:lnTo>
                <a:lnTo>
                  <a:pt x="2146496" y="37248"/>
                </a:lnTo>
                <a:lnTo>
                  <a:pt x="1993934" y="37248"/>
                </a:lnTo>
                <a:close/>
                <a:moveTo>
                  <a:pt x="1686330" y="0"/>
                </a:moveTo>
                <a:lnTo>
                  <a:pt x="1838882" y="0"/>
                </a:lnTo>
                <a:lnTo>
                  <a:pt x="1838882" y="37248"/>
                </a:lnTo>
                <a:lnTo>
                  <a:pt x="1686330" y="37248"/>
                </a:lnTo>
                <a:close/>
                <a:moveTo>
                  <a:pt x="1384220" y="0"/>
                </a:moveTo>
                <a:lnTo>
                  <a:pt x="1536772" y="0"/>
                </a:lnTo>
                <a:lnTo>
                  <a:pt x="1536772" y="37248"/>
                </a:lnTo>
                <a:lnTo>
                  <a:pt x="1384220" y="37248"/>
                </a:lnTo>
                <a:close/>
                <a:moveTo>
                  <a:pt x="1076616" y="0"/>
                </a:moveTo>
                <a:lnTo>
                  <a:pt x="1229178" y="0"/>
                </a:lnTo>
                <a:lnTo>
                  <a:pt x="1229178" y="37248"/>
                </a:lnTo>
                <a:lnTo>
                  <a:pt x="1076616" y="37248"/>
                </a:lnTo>
                <a:close/>
                <a:moveTo>
                  <a:pt x="774502" y="0"/>
                </a:moveTo>
                <a:lnTo>
                  <a:pt x="927054" y="0"/>
                </a:lnTo>
                <a:lnTo>
                  <a:pt x="927054" y="37248"/>
                </a:lnTo>
                <a:lnTo>
                  <a:pt x="774502" y="37248"/>
                </a:lnTo>
                <a:close/>
                <a:moveTo>
                  <a:pt x="466898" y="0"/>
                </a:moveTo>
                <a:lnTo>
                  <a:pt x="619450" y="0"/>
                </a:lnTo>
                <a:lnTo>
                  <a:pt x="619450" y="37248"/>
                </a:lnTo>
                <a:lnTo>
                  <a:pt x="466898" y="37248"/>
                </a:lnTo>
                <a:close/>
                <a:moveTo>
                  <a:pt x="314899" y="0"/>
                </a:moveTo>
                <a:lnTo>
                  <a:pt x="317360" y="38122"/>
                </a:lnTo>
                <a:cubicBezTo>
                  <a:pt x="270604" y="41811"/>
                  <a:pt x="225078" y="56568"/>
                  <a:pt x="184475" y="81163"/>
                </a:cubicBezTo>
                <a:lnTo>
                  <a:pt x="164788" y="50419"/>
                </a:lnTo>
                <a:cubicBezTo>
                  <a:pt x="209083" y="22135"/>
                  <a:pt x="261991" y="4919"/>
                  <a:pt x="3148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75" dirty="0"/>
          </a:p>
        </p:txBody>
      </p:sp>
      <p:sp>
        <p:nvSpPr>
          <p:cNvPr id="58" name="Freeform: Shape 121">
            <a:extLst>
              <a:ext uri="{FF2B5EF4-FFF2-40B4-BE49-F238E27FC236}">
                <a16:creationId xmlns:a16="http://schemas.microsoft.com/office/drawing/2014/main" id="{F17A9568-90B3-A34B-8934-0DA28690E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5067" y="1261401"/>
            <a:ext cx="1628891" cy="245635"/>
          </a:xfrm>
          <a:custGeom>
            <a:avLst/>
            <a:gdLst>
              <a:gd name="connsiteX0" fmla="*/ 0 w 4343709"/>
              <a:gd name="connsiteY0" fmla="*/ 774502 h 927064"/>
              <a:gd name="connsiteX1" fmla="*/ 37247 w 4343709"/>
              <a:gd name="connsiteY1" fmla="*/ 774502 h 927064"/>
              <a:gd name="connsiteX2" fmla="*/ 37247 w 4343709"/>
              <a:gd name="connsiteY2" fmla="*/ 927064 h 927064"/>
              <a:gd name="connsiteX3" fmla="*/ 0 w 4343709"/>
              <a:gd name="connsiteY3" fmla="*/ 927064 h 927064"/>
              <a:gd name="connsiteX4" fmla="*/ 4306461 w 4343709"/>
              <a:gd name="connsiteY4" fmla="*/ 576756 h 927064"/>
              <a:gd name="connsiteX5" fmla="*/ 4343709 w 4343709"/>
              <a:gd name="connsiteY5" fmla="*/ 576756 h 927064"/>
              <a:gd name="connsiteX6" fmla="*/ 4343709 w 4343709"/>
              <a:gd name="connsiteY6" fmla="*/ 729318 h 927064"/>
              <a:gd name="connsiteX7" fmla="*/ 4306461 w 4343709"/>
              <a:gd name="connsiteY7" fmla="*/ 729318 h 927064"/>
              <a:gd name="connsiteX8" fmla="*/ 0 w 4343709"/>
              <a:gd name="connsiteY8" fmla="*/ 472392 h 927064"/>
              <a:gd name="connsiteX9" fmla="*/ 37247 w 4343709"/>
              <a:gd name="connsiteY9" fmla="*/ 472392 h 927064"/>
              <a:gd name="connsiteX10" fmla="*/ 37247 w 4343709"/>
              <a:gd name="connsiteY10" fmla="*/ 624944 h 927064"/>
              <a:gd name="connsiteX11" fmla="*/ 0 w 4343709"/>
              <a:gd name="connsiteY11" fmla="*/ 624944 h 927064"/>
              <a:gd name="connsiteX12" fmla="*/ 4334503 w 4343709"/>
              <a:gd name="connsiteY12" fmla="*/ 269152 h 927064"/>
              <a:gd name="connsiteX13" fmla="*/ 4343609 w 4343709"/>
              <a:gd name="connsiteY13" fmla="*/ 349129 h 927064"/>
              <a:gd name="connsiteX14" fmla="*/ 4343609 w 4343709"/>
              <a:gd name="connsiteY14" fmla="*/ 421724 h 927064"/>
              <a:gd name="connsiteX15" fmla="*/ 4303281 w 4343709"/>
              <a:gd name="connsiteY15" fmla="*/ 421724 h 927064"/>
              <a:gd name="connsiteX16" fmla="*/ 4303281 w 4343709"/>
              <a:gd name="connsiteY16" fmla="*/ 349129 h 927064"/>
              <a:gd name="connsiteX17" fmla="*/ 4295475 w 4343709"/>
              <a:gd name="connsiteY17" fmla="*/ 276535 h 927064"/>
              <a:gd name="connsiteX18" fmla="*/ 55171 w 4343709"/>
              <a:gd name="connsiteY18" fmla="*/ 164788 h 927064"/>
              <a:gd name="connsiteX19" fmla="*/ 86675 w 4343709"/>
              <a:gd name="connsiteY19" fmla="*/ 186280 h 927064"/>
              <a:gd name="connsiteX20" fmla="*/ 41842 w 4343709"/>
              <a:gd name="connsiteY20" fmla="*/ 322817 h 927064"/>
              <a:gd name="connsiteX21" fmla="*/ 5491 w 4343709"/>
              <a:gd name="connsiteY21" fmla="*/ 319024 h 927064"/>
              <a:gd name="connsiteX22" fmla="*/ 55171 w 4343709"/>
              <a:gd name="connsiteY22" fmla="*/ 164788 h 927064"/>
              <a:gd name="connsiteX23" fmla="*/ 4135707 w 4343709"/>
              <a:gd name="connsiteY23" fmla="*/ 27463 h 927064"/>
              <a:gd name="connsiteX24" fmla="*/ 4261287 w 4343709"/>
              <a:gd name="connsiteY24" fmla="*/ 122413 h 927064"/>
              <a:gd name="connsiteX25" fmla="*/ 4232970 w 4343709"/>
              <a:gd name="connsiteY25" fmla="*/ 147075 h 927064"/>
              <a:gd name="connsiteX26" fmla="*/ 4119702 w 4343709"/>
              <a:gd name="connsiteY26" fmla="*/ 61990 h 927064"/>
              <a:gd name="connsiteX27" fmla="*/ 3828574 w 4343709"/>
              <a:gd name="connsiteY27" fmla="*/ 0 h 927064"/>
              <a:gd name="connsiteX28" fmla="*/ 3981136 w 4343709"/>
              <a:gd name="connsiteY28" fmla="*/ 0 h 927064"/>
              <a:gd name="connsiteX29" fmla="*/ 3981136 w 4343709"/>
              <a:gd name="connsiteY29" fmla="*/ 37248 h 927064"/>
              <a:gd name="connsiteX30" fmla="*/ 3828574 w 4343709"/>
              <a:gd name="connsiteY30" fmla="*/ 37248 h 927064"/>
              <a:gd name="connsiteX31" fmla="*/ 3520970 w 4343709"/>
              <a:gd name="connsiteY31" fmla="*/ 0 h 927064"/>
              <a:gd name="connsiteX32" fmla="*/ 3673522 w 4343709"/>
              <a:gd name="connsiteY32" fmla="*/ 0 h 927064"/>
              <a:gd name="connsiteX33" fmla="*/ 3673522 w 4343709"/>
              <a:gd name="connsiteY33" fmla="*/ 37248 h 927064"/>
              <a:gd name="connsiteX34" fmla="*/ 3520970 w 4343709"/>
              <a:gd name="connsiteY34" fmla="*/ 37248 h 927064"/>
              <a:gd name="connsiteX35" fmla="*/ 3218860 w 4343709"/>
              <a:gd name="connsiteY35" fmla="*/ 0 h 927064"/>
              <a:gd name="connsiteX36" fmla="*/ 3371412 w 4343709"/>
              <a:gd name="connsiteY36" fmla="*/ 0 h 927064"/>
              <a:gd name="connsiteX37" fmla="*/ 3371412 w 4343709"/>
              <a:gd name="connsiteY37" fmla="*/ 37248 h 927064"/>
              <a:gd name="connsiteX38" fmla="*/ 3218860 w 4343709"/>
              <a:gd name="connsiteY38" fmla="*/ 37248 h 927064"/>
              <a:gd name="connsiteX39" fmla="*/ 2911256 w 4343709"/>
              <a:gd name="connsiteY39" fmla="*/ 0 h 927064"/>
              <a:gd name="connsiteX40" fmla="*/ 3063818 w 4343709"/>
              <a:gd name="connsiteY40" fmla="*/ 0 h 927064"/>
              <a:gd name="connsiteX41" fmla="*/ 3063818 w 4343709"/>
              <a:gd name="connsiteY41" fmla="*/ 37248 h 927064"/>
              <a:gd name="connsiteX42" fmla="*/ 2911256 w 4343709"/>
              <a:gd name="connsiteY42" fmla="*/ 37248 h 927064"/>
              <a:gd name="connsiteX43" fmla="*/ 2609142 w 4343709"/>
              <a:gd name="connsiteY43" fmla="*/ 0 h 927064"/>
              <a:gd name="connsiteX44" fmla="*/ 2761694 w 4343709"/>
              <a:gd name="connsiteY44" fmla="*/ 0 h 927064"/>
              <a:gd name="connsiteX45" fmla="*/ 2761694 w 4343709"/>
              <a:gd name="connsiteY45" fmla="*/ 37248 h 927064"/>
              <a:gd name="connsiteX46" fmla="*/ 2609142 w 4343709"/>
              <a:gd name="connsiteY46" fmla="*/ 37248 h 927064"/>
              <a:gd name="connsiteX47" fmla="*/ 2301538 w 4343709"/>
              <a:gd name="connsiteY47" fmla="*/ 0 h 927064"/>
              <a:gd name="connsiteX48" fmla="*/ 2454090 w 4343709"/>
              <a:gd name="connsiteY48" fmla="*/ 0 h 927064"/>
              <a:gd name="connsiteX49" fmla="*/ 2454090 w 4343709"/>
              <a:gd name="connsiteY49" fmla="*/ 37248 h 927064"/>
              <a:gd name="connsiteX50" fmla="*/ 2301538 w 4343709"/>
              <a:gd name="connsiteY50" fmla="*/ 37248 h 927064"/>
              <a:gd name="connsiteX51" fmla="*/ 1999428 w 4343709"/>
              <a:gd name="connsiteY51" fmla="*/ 0 h 927064"/>
              <a:gd name="connsiteX52" fmla="*/ 2151990 w 4343709"/>
              <a:gd name="connsiteY52" fmla="*/ 0 h 927064"/>
              <a:gd name="connsiteX53" fmla="*/ 2151990 w 4343709"/>
              <a:gd name="connsiteY53" fmla="*/ 37248 h 927064"/>
              <a:gd name="connsiteX54" fmla="*/ 1999428 w 4343709"/>
              <a:gd name="connsiteY54" fmla="*/ 37248 h 927064"/>
              <a:gd name="connsiteX55" fmla="*/ 1691824 w 4343709"/>
              <a:gd name="connsiteY55" fmla="*/ 0 h 927064"/>
              <a:gd name="connsiteX56" fmla="*/ 1844376 w 4343709"/>
              <a:gd name="connsiteY56" fmla="*/ 0 h 927064"/>
              <a:gd name="connsiteX57" fmla="*/ 1844376 w 4343709"/>
              <a:gd name="connsiteY57" fmla="*/ 37248 h 927064"/>
              <a:gd name="connsiteX58" fmla="*/ 1691824 w 4343709"/>
              <a:gd name="connsiteY58" fmla="*/ 37248 h 927064"/>
              <a:gd name="connsiteX59" fmla="*/ 1389711 w 4343709"/>
              <a:gd name="connsiteY59" fmla="*/ 0 h 927064"/>
              <a:gd name="connsiteX60" fmla="*/ 1542273 w 4343709"/>
              <a:gd name="connsiteY60" fmla="*/ 0 h 927064"/>
              <a:gd name="connsiteX61" fmla="*/ 1542273 w 4343709"/>
              <a:gd name="connsiteY61" fmla="*/ 37248 h 927064"/>
              <a:gd name="connsiteX62" fmla="*/ 1389711 w 4343709"/>
              <a:gd name="connsiteY62" fmla="*/ 37248 h 927064"/>
              <a:gd name="connsiteX63" fmla="*/ 1082106 w 4343709"/>
              <a:gd name="connsiteY63" fmla="*/ 0 h 927064"/>
              <a:gd name="connsiteX64" fmla="*/ 1234658 w 4343709"/>
              <a:gd name="connsiteY64" fmla="*/ 0 h 927064"/>
              <a:gd name="connsiteX65" fmla="*/ 1234658 w 4343709"/>
              <a:gd name="connsiteY65" fmla="*/ 37248 h 927064"/>
              <a:gd name="connsiteX66" fmla="*/ 1082106 w 4343709"/>
              <a:gd name="connsiteY66" fmla="*/ 37248 h 927064"/>
              <a:gd name="connsiteX67" fmla="*/ 779996 w 4343709"/>
              <a:gd name="connsiteY67" fmla="*/ 0 h 927064"/>
              <a:gd name="connsiteX68" fmla="*/ 932548 w 4343709"/>
              <a:gd name="connsiteY68" fmla="*/ 0 h 927064"/>
              <a:gd name="connsiteX69" fmla="*/ 932548 w 4343709"/>
              <a:gd name="connsiteY69" fmla="*/ 37248 h 927064"/>
              <a:gd name="connsiteX70" fmla="*/ 779996 w 4343709"/>
              <a:gd name="connsiteY70" fmla="*/ 37248 h 927064"/>
              <a:gd name="connsiteX71" fmla="*/ 472392 w 4343709"/>
              <a:gd name="connsiteY71" fmla="*/ 0 h 927064"/>
              <a:gd name="connsiteX72" fmla="*/ 624954 w 4343709"/>
              <a:gd name="connsiteY72" fmla="*/ 0 h 927064"/>
              <a:gd name="connsiteX73" fmla="*/ 624954 w 4343709"/>
              <a:gd name="connsiteY73" fmla="*/ 37248 h 927064"/>
              <a:gd name="connsiteX74" fmla="*/ 472392 w 4343709"/>
              <a:gd name="connsiteY74" fmla="*/ 37248 h 927064"/>
              <a:gd name="connsiteX75" fmla="*/ 320390 w 4343709"/>
              <a:gd name="connsiteY75" fmla="*/ 0 h 927064"/>
              <a:gd name="connsiteX76" fmla="*/ 322850 w 4343709"/>
              <a:gd name="connsiteY76" fmla="*/ 38122 h 927064"/>
              <a:gd name="connsiteX77" fmla="*/ 189966 w 4343709"/>
              <a:gd name="connsiteY77" fmla="*/ 81163 h 927064"/>
              <a:gd name="connsiteX78" fmla="*/ 170279 w 4343709"/>
              <a:gd name="connsiteY78" fmla="*/ 50419 h 927064"/>
              <a:gd name="connsiteX79" fmla="*/ 320390 w 4343709"/>
              <a:gd name="connsiteY79" fmla="*/ 0 h 927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343709" h="927064">
                <a:moveTo>
                  <a:pt x="0" y="774502"/>
                </a:moveTo>
                <a:lnTo>
                  <a:pt x="37247" y="774502"/>
                </a:lnTo>
                <a:lnTo>
                  <a:pt x="37247" y="927064"/>
                </a:lnTo>
                <a:lnTo>
                  <a:pt x="0" y="927064"/>
                </a:lnTo>
                <a:close/>
                <a:moveTo>
                  <a:pt x="4306461" y="576756"/>
                </a:moveTo>
                <a:lnTo>
                  <a:pt x="4343709" y="576756"/>
                </a:lnTo>
                <a:lnTo>
                  <a:pt x="4343709" y="729318"/>
                </a:lnTo>
                <a:lnTo>
                  <a:pt x="4306461" y="729318"/>
                </a:lnTo>
                <a:close/>
                <a:moveTo>
                  <a:pt x="0" y="472392"/>
                </a:moveTo>
                <a:lnTo>
                  <a:pt x="37247" y="472392"/>
                </a:lnTo>
                <a:lnTo>
                  <a:pt x="37247" y="624944"/>
                </a:lnTo>
                <a:lnTo>
                  <a:pt x="0" y="624944"/>
                </a:lnTo>
                <a:close/>
                <a:moveTo>
                  <a:pt x="4334503" y="269152"/>
                </a:moveTo>
                <a:cubicBezTo>
                  <a:pt x="4339707" y="294991"/>
                  <a:pt x="4343609" y="322060"/>
                  <a:pt x="4343609" y="349129"/>
                </a:cubicBezTo>
                <a:lnTo>
                  <a:pt x="4343609" y="421724"/>
                </a:lnTo>
                <a:lnTo>
                  <a:pt x="4303281" y="421724"/>
                </a:lnTo>
                <a:lnTo>
                  <a:pt x="4303281" y="349129"/>
                </a:lnTo>
                <a:cubicBezTo>
                  <a:pt x="4303281" y="325751"/>
                  <a:pt x="4301980" y="301143"/>
                  <a:pt x="4295475" y="276535"/>
                </a:cubicBezTo>
                <a:close/>
                <a:moveTo>
                  <a:pt x="55171" y="164788"/>
                </a:moveTo>
                <a:lnTo>
                  <a:pt x="86675" y="186280"/>
                </a:lnTo>
                <a:cubicBezTo>
                  <a:pt x="61229" y="228000"/>
                  <a:pt x="46689" y="273512"/>
                  <a:pt x="41842" y="322817"/>
                </a:cubicBezTo>
                <a:lnTo>
                  <a:pt x="5491" y="319024"/>
                </a:lnTo>
                <a:cubicBezTo>
                  <a:pt x="10338" y="264662"/>
                  <a:pt x="27302" y="211565"/>
                  <a:pt x="55171" y="164788"/>
                </a:cubicBezTo>
                <a:close/>
                <a:moveTo>
                  <a:pt x="4135707" y="27463"/>
                </a:moveTo>
                <a:cubicBezTo>
                  <a:pt x="4184954" y="48426"/>
                  <a:pt x="4228045" y="81720"/>
                  <a:pt x="4261287" y="122413"/>
                </a:cubicBezTo>
                <a:lnTo>
                  <a:pt x="4232970" y="147075"/>
                </a:lnTo>
                <a:cubicBezTo>
                  <a:pt x="4202191" y="110082"/>
                  <a:pt x="4164024" y="81720"/>
                  <a:pt x="4119702" y="61990"/>
                </a:cubicBezTo>
                <a:close/>
                <a:moveTo>
                  <a:pt x="3828574" y="0"/>
                </a:moveTo>
                <a:lnTo>
                  <a:pt x="3981136" y="0"/>
                </a:lnTo>
                <a:lnTo>
                  <a:pt x="3981136" y="37248"/>
                </a:lnTo>
                <a:lnTo>
                  <a:pt x="3828574" y="37248"/>
                </a:lnTo>
                <a:close/>
                <a:moveTo>
                  <a:pt x="3520970" y="0"/>
                </a:moveTo>
                <a:lnTo>
                  <a:pt x="3673522" y="0"/>
                </a:lnTo>
                <a:lnTo>
                  <a:pt x="3673522" y="37248"/>
                </a:lnTo>
                <a:lnTo>
                  <a:pt x="3520970" y="37248"/>
                </a:lnTo>
                <a:close/>
                <a:moveTo>
                  <a:pt x="3218860" y="0"/>
                </a:moveTo>
                <a:lnTo>
                  <a:pt x="3371412" y="0"/>
                </a:lnTo>
                <a:lnTo>
                  <a:pt x="3371412" y="37248"/>
                </a:lnTo>
                <a:lnTo>
                  <a:pt x="3218860" y="37248"/>
                </a:lnTo>
                <a:close/>
                <a:moveTo>
                  <a:pt x="2911256" y="0"/>
                </a:moveTo>
                <a:lnTo>
                  <a:pt x="3063818" y="0"/>
                </a:lnTo>
                <a:lnTo>
                  <a:pt x="3063818" y="37248"/>
                </a:lnTo>
                <a:lnTo>
                  <a:pt x="2911256" y="37248"/>
                </a:lnTo>
                <a:close/>
                <a:moveTo>
                  <a:pt x="2609142" y="0"/>
                </a:moveTo>
                <a:lnTo>
                  <a:pt x="2761694" y="0"/>
                </a:lnTo>
                <a:lnTo>
                  <a:pt x="2761694" y="37248"/>
                </a:lnTo>
                <a:lnTo>
                  <a:pt x="2609142" y="37248"/>
                </a:lnTo>
                <a:close/>
                <a:moveTo>
                  <a:pt x="2301538" y="0"/>
                </a:moveTo>
                <a:lnTo>
                  <a:pt x="2454090" y="0"/>
                </a:lnTo>
                <a:lnTo>
                  <a:pt x="2454090" y="37248"/>
                </a:lnTo>
                <a:lnTo>
                  <a:pt x="2301538" y="37248"/>
                </a:lnTo>
                <a:close/>
                <a:moveTo>
                  <a:pt x="1999428" y="0"/>
                </a:moveTo>
                <a:lnTo>
                  <a:pt x="2151990" y="0"/>
                </a:lnTo>
                <a:lnTo>
                  <a:pt x="2151990" y="37248"/>
                </a:lnTo>
                <a:lnTo>
                  <a:pt x="1999428" y="37248"/>
                </a:lnTo>
                <a:close/>
                <a:moveTo>
                  <a:pt x="1691824" y="0"/>
                </a:moveTo>
                <a:lnTo>
                  <a:pt x="1844376" y="0"/>
                </a:lnTo>
                <a:lnTo>
                  <a:pt x="1844376" y="37248"/>
                </a:lnTo>
                <a:lnTo>
                  <a:pt x="1691824" y="37248"/>
                </a:lnTo>
                <a:close/>
                <a:moveTo>
                  <a:pt x="1389711" y="0"/>
                </a:moveTo>
                <a:lnTo>
                  <a:pt x="1542273" y="0"/>
                </a:lnTo>
                <a:lnTo>
                  <a:pt x="1542273" y="37248"/>
                </a:lnTo>
                <a:lnTo>
                  <a:pt x="1389711" y="37248"/>
                </a:lnTo>
                <a:close/>
                <a:moveTo>
                  <a:pt x="1082106" y="0"/>
                </a:moveTo>
                <a:lnTo>
                  <a:pt x="1234658" y="0"/>
                </a:lnTo>
                <a:lnTo>
                  <a:pt x="1234658" y="37248"/>
                </a:lnTo>
                <a:lnTo>
                  <a:pt x="1082106" y="37248"/>
                </a:lnTo>
                <a:close/>
                <a:moveTo>
                  <a:pt x="779996" y="0"/>
                </a:moveTo>
                <a:lnTo>
                  <a:pt x="932548" y="0"/>
                </a:lnTo>
                <a:lnTo>
                  <a:pt x="932548" y="37248"/>
                </a:lnTo>
                <a:lnTo>
                  <a:pt x="779996" y="37248"/>
                </a:lnTo>
                <a:close/>
                <a:moveTo>
                  <a:pt x="472392" y="0"/>
                </a:moveTo>
                <a:lnTo>
                  <a:pt x="624954" y="0"/>
                </a:lnTo>
                <a:lnTo>
                  <a:pt x="624954" y="37248"/>
                </a:lnTo>
                <a:lnTo>
                  <a:pt x="472392" y="37248"/>
                </a:lnTo>
                <a:close/>
                <a:moveTo>
                  <a:pt x="320390" y="0"/>
                </a:moveTo>
                <a:lnTo>
                  <a:pt x="322850" y="38122"/>
                </a:lnTo>
                <a:cubicBezTo>
                  <a:pt x="276095" y="41811"/>
                  <a:pt x="230569" y="56568"/>
                  <a:pt x="189966" y="81163"/>
                </a:cubicBezTo>
                <a:lnTo>
                  <a:pt x="170279" y="50419"/>
                </a:lnTo>
                <a:cubicBezTo>
                  <a:pt x="215804" y="22135"/>
                  <a:pt x="267482" y="4919"/>
                  <a:pt x="32039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75" dirty="0"/>
          </a:p>
        </p:txBody>
      </p:sp>
      <p:sp>
        <p:nvSpPr>
          <p:cNvPr id="60" name="Freeform: Shape 119">
            <a:extLst>
              <a:ext uri="{FF2B5EF4-FFF2-40B4-BE49-F238E27FC236}">
                <a16:creationId xmlns:a16="http://schemas.microsoft.com/office/drawing/2014/main" id="{9EFED70F-148A-704A-9EE5-A038823AD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4722" y="3216607"/>
            <a:ext cx="1628878" cy="222455"/>
          </a:xfrm>
          <a:custGeom>
            <a:avLst/>
            <a:gdLst>
              <a:gd name="connsiteX0" fmla="*/ 3718720 w 4343674"/>
              <a:gd name="connsiteY0" fmla="*/ 1197459 h 1234709"/>
              <a:gd name="connsiteX1" fmla="*/ 3871282 w 4343674"/>
              <a:gd name="connsiteY1" fmla="*/ 1197459 h 1234709"/>
              <a:gd name="connsiteX2" fmla="*/ 3871282 w 4343674"/>
              <a:gd name="connsiteY2" fmla="*/ 1234709 h 1234709"/>
              <a:gd name="connsiteX3" fmla="*/ 3718720 w 4343674"/>
              <a:gd name="connsiteY3" fmla="*/ 1234709 h 1234709"/>
              <a:gd name="connsiteX4" fmla="*/ 3411114 w 4343674"/>
              <a:gd name="connsiteY4" fmla="*/ 1197459 h 1234709"/>
              <a:gd name="connsiteX5" fmla="*/ 3563666 w 4343674"/>
              <a:gd name="connsiteY5" fmla="*/ 1197459 h 1234709"/>
              <a:gd name="connsiteX6" fmla="*/ 3563666 w 4343674"/>
              <a:gd name="connsiteY6" fmla="*/ 1234709 h 1234709"/>
              <a:gd name="connsiteX7" fmla="*/ 3411114 w 4343674"/>
              <a:gd name="connsiteY7" fmla="*/ 1234709 h 1234709"/>
              <a:gd name="connsiteX8" fmla="*/ 3109002 w 4343674"/>
              <a:gd name="connsiteY8" fmla="*/ 1197459 h 1234709"/>
              <a:gd name="connsiteX9" fmla="*/ 3261554 w 4343674"/>
              <a:gd name="connsiteY9" fmla="*/ 1197459 h 1234709"/>
              <a:gd name="connsiteX10" fmla="*/ 3261554 w 4343674"/>
              <a:gd name="connsiteY10" fmla="*/ 1234709 h 1234709"/>
              <a:gd name="connsiteX11" fmla="*/ 3109002 w 4343674"/>
              <a:gd name="connsiteY11" fmla="*/ 1234709 h 1234709"/>
              <a:gd name="connsiteX12" fmla="*/ 2801398 w 4343674"/>
              <a:gd name="connsiteY12" fmla="*/ 1197459 h 1234709"/>
              <a:gd name="connsiteX13" fmla="*/ 2953960 w 4343674"/>
              <a:gd name="connsiteY13" fmla="*/ 1197459 h 1234709"/>
              <a:gd name="connsiteX14" fmla="*/ 2953960 w 4343674"/>
              <a:gd name="connsiteY14" fmla="*/ 1234709 h 1234709"/>
              <a:gd name="connsiteX15" fmla="*/ 2801398 w 4343674"/>
              <a:gd name="connsiteY15" fmla="*/ 1234709 h 1234709"/>
              <a:gd name="connsiteX16" fmla="*/ 2499288 w 4343674"/>
              <a:gd name="connsiteY16" fmla="*/ 1197459 h 1234709"/>
              <a:gd name="connsiteX17" fmla="*/ 2651840 w 4343674"/>
              <a:gd name="connsiteY17" fmla="*/ 1197459 h 1234709"/>
              <a:gd name="connsiteX18" fmla="*/ 2651840 w 4343674"/>
              <a:gd name="connsiteY18" fmla="*/ 1234709 h 1234709"/>
              <a:gd name="connsiteX19" fmla="*/ 2499288 w 4343674"/>
              <a:gd name="connsiteY19" fmla="*/ 1234709 h 1234709"/>
              <a:gd name="connsiteX20" fmla="*/ 2191684 w 4343674"/>
              <a:gd name="connsiteY20" fmla="*/ 1197459 h 1234709"/>
              <a:gd name="connsiteX21" fmla="*/ 2344236 w 4343674"/>
              <a:gd name="connsiteY21" fmla="*/ 1197459 h 1234709"/>
              <a:gd name="connsiteX22" fmla="*/ 2344236 w 4343674"/>
              <a:gd name="connsiteY22" fmla="*/ 1234709 h 1234709"/>
              <a:gd name="connsiteX23" fmla="*/ 2191684 w 4343674"/>
              <a:gd name="connsiteY23" fmla="*/ 1234709 h 1234709"/>
              <a:gd name="connsiteX24" fmla="*/ 1889570 w 4343674"/>
              <a:gd name="connsiteY24" fmla="*/ 1197459 h 1234709"/>
              <a:gd name="connsiteX25" fmla="*/ 2042132 w 4343674"/>
              <a:gd name="connsiteY25" fmla="*/ 1197459 h 1234709"/>
              <a:gd name="connsiteX26" fmla="*/ 2042132 w 4343674"/>
              <a:gd name="connsiteY26" fmla="*/ 1234709 h 1234709"/>
              <a:gd name="connsiteX27" fmla="*/ 1889570 w 4343674"/>
              <a:gd name="connsiteY27" fmla="*/ 1234709 h 1234709"/>
              <a:gd name="connsiteX28" fmla="*/ 1587462 w 4343674"/>
              <a:gd name="connsiteY28" fmla="*/ 1197459 h 1234709"/>
              <a:gd name="connsiteX29" fmla="*/ 1740012 w 4343674"/>
              <a:gd name="connsiteY29" fmla="*/ 1197459 h 1234709"/>
              <a:gd name="connsiteX30" fmla="*/ 1740012 w 4343674"/>
              <a:gd name="connsiteY30" fmla="*/ 1234709 h 1234709"/>
              <a:gd name="connsiteX31" fmla="*/ 1587462 w 4343674"/>
              <a:gd name="connsiteY31" fmla="*/ 1234709 h 1234709"/>
              <a:gd name="connsiteX32" fmla="*/ 1279856 w 4343674"/>
              <a:gd name="connsiteY32" fmla="*/ 1197459 h 1234709"/>
              <a:gd name="connsiteX33" fmla="*/ 1432418 w 4343674"/>
              <a:gd name="connsiteY33" fmla="*/ 1197459 h 1234709"/>
              <a:gd name="connsiteX34" fmla="*/ 1432418 w 4343674"/>
              <a:gd name="connsiteY34" fmla="*/ 1234709 h 1234709"/>
              <a:gd name="connsiteX35" fmla="*/ 1279856 w 4343674"/>
              <a:gd name="connsiteY35" fmla="*/ 1234709 h 1234709"/>
              <a:gd name="connsiteX36" fmla="*/ 977742 w 4343674"/>
              <a:gd name="connsiteY36" fmla="*/ 1197459 h 1234709"/>
              <a:gd name="connsiteX37" fmla="*/ 1130294 w 4343674"/>
              <a:gd name="connsiteY37" fmla="*/ 1197459 h 1234709"/>
              <a:gd name="connsiteX38" fmla="*/ 1130294 w 4343674"/>
              <a:gd name="connsiteY38" fmla="*/ 1234709 h 1234709"/>
              <a:gd name="connsiteX39" fmla="*/ 977742 w 4343674"/>
              <a:gd name="connsiteY39" fmla="*/ 1234709 h 1234709"/>
              <a:gd name="connsiteX40" fmla="*/ 670138 w 4343674"/>
              <a:gd name="connsiteY40" fmla="*/ 1197459 h 1234709"/>
              <a:gd name="connsiteX41" fmla="*/ 822690 w 4343674"/>
              <a:gd name="connsiteY41" fmla="*/ 1197459 h 1234709"/>
              <a:gd name="connsiteX42" fmla="*/ 822690 w 4343674"/>
              <a:gd name="connsiteY42" fmla="*/ 1234709 h 1234709"/>
              <a:gd name="connsiteX43" fmla="*/ 670138 w 4343674"/>
              <a:gd name="connsiteY43" fmla="*/ 1234709 h 1234709"/>
              <a:gd name="connsiteX44" fmla="*/ 362534 w 4343674"/>
              <a:gd name="connsiteY44" fmla="*/ 1197459 h 1234709"/>
              <a:gd name="connsiteX45" fmla="*/ 515096 w 4343674"/>
              <a:gd name="connsiteY45" fmla="*/ 1197459 h 1234709"/>
              <a:gd name="connsiteX46" fmla="*/ 515096 w 4343674"/>
              <a:gd name="connsiteY46" fmla="*/ 1234709 h 1234709"/>
              <a:gd name="connsiteX47" fmla="*/ 362534 w 4343674"/>
              <a:gd name="connsiteY47" fmla="*/ 1234709 h 1234709"/>
              <a:gd name="connsiteX48" fmla="*/ 4158634 w 4343674"/>
              <a:gd name="connsiteY48" fmla="*/ 1148025 h 1234709"/>
              <a:gd name="connsiteX49" fmla="*/ 4178862 w 4343674"/>
              <a:gd name="connsiteY49" fmla="*/ 1179528 h 1234709"/>
              <a:gd name="connsiteX50" fmla="*/ 4024622 w 4343674"/>
              <a:gd name="connsiteY50" fmla="*/ 1229205 h 1234709"/>
              <a:gd name="connsiteX51" fmla="*/ 4020830 w 4343674"/>
              <a:gd name="connsiteY51" fmla="*/ 1191644 h 1234709"/>
              <a:gd name="connsiteX52" fmla="*/ 4158634 w 4343674"/>
              <a:gd name="connsiteY52" fmla="*/ 1148025 h 1234709"/>
              <a:gd name="connsiteX53" fmla="*/ 111944 w 4343674"/>
              <a:gd name="connsiteY53" fmla="*/ 1082109 h 1234709"/>
              <a:gd name="connsiteX54" fmla="*/ 223981 w 4343674"/>
              <a:gd name="connsiteY54" fmla="*/ 1166825 h 1234709"/>
              <a:gd name="connsiteX55" fmla="*/ 209207 w 4343674"/>
              <a:gd name="connsiteY55" fmla="*/ 1201708 h 1234709"/>
              <a:gd name="connsiteX56" fmla="*/ 82396 w 4343674"/>
              <a:gd name="connsiteY56" fmla="*/ 1107025 h 1234709"/>
              <a:gd name="connsiteX57" fmla="*/ 4300646 w 4343674"/>
              <a:gd name="connsiteY57" fmla="*/ 917321 h 1234709"/>
              <a:gd name="connsiteX58" fmla="*/ 4338208 w 4343674"/>
              <a:gd name="connsiteY58" fmla="*/ 921012 h 1234709"/>
              <a:gd name="connsiteX59" fmla="*/ 4288530 w 4343674"/>
              <a:gd name="connsiteY59" fmla="*/ 1069893 h 1234709"/>
              <a:gd name="connsiteX60" fmla="*/ 4257026 w 4343674"/>
              <a:gd name="connsiteY60" fmla="*/ 1050206 h 1234709"/>
              <a:gd name="connsiteX61" fmla="*/ 4300646 w 4343674"/>
              <a:gd name="connsiteY61" fmla="*/ 917321 h 1234709"/>
              <a:gd name="connsiteX62" fmla="*/ 0 w 4343674"/>
              <a:gd name="connsiteY62" fmla="*/ 812954 h 1234709"/>
              <a:gd name="connsiteX63" fmla="*/ 39297 w 4343674"/>
              <a:gd name="connsiteY63" fmla="*/ 812954 h 1234709"/>
              <a:gd name="connsiteX64" fmla="*/ 39297 w 4343674"/>
              <a:gd name="connsiteY64" fmla="*/ 887545 h 1234709"/>
              <a:gd name="connsiteX65" fmla="*/ 48170 w 4343674"/>
              <a:gd name="connsiteY65" fmla="*/ 962137 h 1234709"/>
              <a:gd name="connsiteX66" fmla="*/ 10141 w 4343674"/>
              <a:gd name="connsiteY66" fmla="*/ 970987 h 1234709"/>
              <a:gd name="connsiteX67" fmla="*/ 0 w 4343674"/>
              <a:gd name="connsiteY67" fmla="*/ 887545 h 1234709"/>
              <a:gd name="connsiteX68" fmla="*/ 4306462 w 4343674"/>
              <a:gd name="connsiteY68" fmla="*/ 615208 h 1234709"/>
              <a:gd name="connsiteX69" fmla="*/ 4343674 w 4343674"/>
              <a:gd name="connsiteY69" fmla="*/ 615208 h 1234709"/>
              <a:gd name="connsiteX70" fmla="*/ 4343674 w 4343674"/>
              <a:gd name="connsiteY70" fmla="*/ 767760 h 1234709"/>
              <a:gd name="connsiteX71" fmla="*/ 4306462 w 4343674"/>
              <a:gd name="connsiteY71" fmla="*/ 767760 h 1234709"/>
              <a:gd name="connsiteX72" fmla="*/ 0 w 4343674"/>
              <a:gd name="connsiteY72" fmla="*/ 505350 h 1234709"/>
              <a:gd name="connsiteX73" fmla="*/ 37250 w 4343674"/>
              <a:gd name="connsiteY73" fmla="*/ 505350 h 1234709"/>
              <a:gd name="connsiteX74" fmla="*/ 37250 w 4343674"/>
              <a:gd name="connsiteY74" fmla="*/ 657912 h 1234709"/>
              <a:gd name="connsiteX75" fmla="*/ 0 w 4343674"/>
              <a:gd name="connsiteY75" fmla="*/ 657912 h 1234709"/>
              <a:gd name="connsiteX76" fmla="*/ 4306462 w 4343674"/>
              <a:gd name="connsiteY76" fmla="*/ 307604 h 1234709"/>
              <a:gd name="connsiteX77" fmla="*/ 4343674 w 4343674"/>
              <a:gd name="connsiteY77" fmla="*/ 307604 h 1234709"/>
              <a:gd name="connsiteX78" fmla="*/ 4343674 w 4343674"/>
              <a:gd name="connsiteY78" fmla="*/ 460156 h 1234709"/>
              <a:gd name="connsiteX79" fmla="*/ 4306462 w 4343674"/>
              <a:gd name="connsiteY79" fmla="*/ 460156 h 1234709"/>
              <a:gd name="connsiteX80" fmla="*/ 0 w 4343674"/>
              <a:gd name="connsiteY80" fmla="*/ 203240 h 1234709"/>
              <a:gd name="connsiteX81" fmla="*/ 37250 w 4343674"/>
              <a:gd name="connsiteY81" fmla="*/ 203240 h 1234709"/>
              <a:gd name="connsiteX82" fmla="*/ 37250 w 4343674"/>
              <a:gd name="connsiteY82" fmla="*/ 355792 h 1234709"/>
              <a:gd name="connsiteX83" fmla="*/ 0 w 4343674"/>
              <a:gd name="connsiteY83" fmla="*/ 355792 h 1234709"/>
              <a:gd name="connsiteX84" fmla="*/ 4306462 w 4343674"/>
              <a:gd name="connsiteY84" fmla="*/ 0 h 1234709"/>
              <a:gd name="connsiteX85" fmla="*/ 4343674 w 4343674"/>
              <a:gd name="connsiteY85" fmla="*/ 0 h 1234709"/>
              <a:gd name="connsiteX86" fmla="*/ 4343674 w 4343674"/>
              <a:gd name="connsiteY86" fmla="*/ 152562 h 1234709"/>
              <a:gd name="connsiteX87" fmla="*/ 4306462 w 4343674"/>
              <a:gd name="connsiteY87" fmla="*/ 152562 h 1234709"/>
              <a:gd name="connsiteX88" fmla="*/ 0 w 4343674"/>
              <a:gd name="connsiteY88" fmla="*/ 0 h 1234709"/>
              <a:gd name="connsiteX89" fmla="*/ 37250 w 4343674"/>
              <a:gd name="connsiteY89" fmla="*/ 0 h 1234709"/>
              <a:gd name="connsiteX90" fmla="*/ 37250 w 4343674"/>
              <a:gd name="connsiteY90" fmla="*/ 48137 h 1234709"/>
              <a:gd name="connsiteX91" fmla="*/ 0 w 4343674"/>
              <a:gd name="connsiteY91" fmla="*/ 48137 h 1234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343674" h="1234709">
                <a:moveTo>
                  <a:pt x="3718720" y="1197459"/>
                </a:moveTo>
                <a:lnTo>
                  <a:pt x="3871282" y="1197459"/>
                </a:lnTo>
                <a:lnTo>
                  <a:pt x="3871282" y="1234709"/>
                </a:lnTo>
                <a:lnTo>
                  <a:pt x="3718720" y="1234709"/>
                </a:lnTo>
                <a:close/>
                <a:moveTo>
                  <a:pt x="3411114" y="1197459"/>
                </a:moveTo>
                <a:lnTo>
                  <a:pt x="3563666" y="1197459"/>
                </a:lnTo>
                <a:lnTo>
                  <a:pt x="3563666" y="1234709"/>
                </a:lnTo>
                <a:lnTo>
                  <a:pt x="3411114" y="1234709"/>
                </a:lnTo>
                <a:close/>
                <a:moveTo>
                  <a:pt x="3109002" y="1197459"/>
                </a:moveTo>
                <a:lnTo>
                  <a:pt x="3261554" y="1197459"/>
                </a:lnTo>
                <a:lnTo>
                  <a:pt x="3261554" y="1234709"/>
                </a:lnTo>
                <a:lnTo>
                  <a:pt x="3109002" y="1234709"/>
                </a:lnTo>
                <a:close/>
                <a:moveTo>
                  <a:pt x="2801398" y="1197459"/>
                </a:moveTo>
                <a:lnTo>
                  <a:pt x="2953960" y="1197459"/>
                </a:lnTo>
                <a:lnTo>
                  <a:pt x="2953960" y="1234709"/>
                </a:lnTo>
                <a:lnTo>
                  <a:pt x="2801398" y="1234709"/>
                </a:lnTo>
                <a:close/>
                <a:moveTo>
                  <a:pt x="2499288" y="1197459"/>
                </a:moveTo>
                <a:lnTo>
                  <a:pt x="2651840" y="1197459"/>
                </a:lnTo>
                <a:lnTo>
                  <a:pt x="2651840" y="1234709"/>
                </a:lnTo>
                <a:lnTo>
                  <a:pt x="2499288" y="1234709"/>
                </a:lnTo>
                <a:close/>
                <a:moveTo>
                  <a:pt x="2191684" y="1197459"/>
                </a:moveTo>
                <a:lnTo>
                  <a:pt x="2344236" y="1197459"/>
                </a:lnTo>
                <a:lnTo>
                  <a:pt x="2344236" y="1234709"/>
                </a:lnTo>
                <a:lnTo>
                  <a:pt x="2191684" y="1234709"/>
                </a:lnTo>
                <a:close/>
                <a:moveTo>
                  <a:pt x="1889570" y="1197459"/>
                </a:moveTo>
                <a:lnTo>
                  <a:pt x="2042132" y="1197459"/>
                </a:lnTo>
                <a:lnTo>
                  <a:pt x="2042132" y="1234709"/>
                </a:lnTo>
                <a:lnTo>
                  <a:pt x="1889570" y="1234709"/>
                </a:lnTo>
                <a:close/>
                <a:moveTo>
                  <a:pt x="1587462" y="1197459"/>
                </a:moveTo>
                <a:lnTo>
                  <a:pt x="1740012" y="1197459"/>
                </a:lnTo>
                <a:lnTo>
                  <a:pt x="1740012" y="1234709"/>
                </a:lnTo>
                <a:lnTo>
                  <a:pt x="1587462" y="1234709"/>
                </a:lnTo>
                <a:close/>
                <a:moveTo>
                  <a:pt x="1279856" y="1197459"/>
                </a:moveTo>
                <a:lnTo>
                  <a:pt x="1432418" y="1197459"/>
                </a:lnTo>
                <a:lnTo>
                  <a:pt x="1432418" y="1234709"/>
                </a:lnTo>
                <a:lnTo>
                  <a:pt x="1279856" y="1234709"/>
                </a:lnTo>
                <a:close/>
                <a:moveTo>
                  <a:pt x="977742" y="1197459"/>
                </a:moveTo>
                <a:lnTo>
                  <a:pt x="1130294" y="1197459"/>
                </a:lnTo>
                <a:lnTo>
                  <a:pt x="1130294" y="1234709"/>
                </a:lnTo>
                <a:lnTo>
                  <a:pt x="977742" y="1234709"/>
                </a:lnTo>
                <a:close/>
                <a:moveTo>
                  <a:pt x="670138" y="1197459"/>
                </a:moveTo>
                <a:lnTo>
                  <a:pt x="822690" y="1197459"/>
                </a:lnTo>
                <a:lnTo>
                  <a:pt x="822690" y="1234709"/>
                </a:lnTo>
                <a:lnTo>
                  <a:pt x="670138" y="1234709"/>
                </a:lnTo>
                <a:close/>
                <a:moveTo>
                  <a:pt x="362534" y="1197459"/>
                </a:moveTo>
                <a:lnTo>
                  <a:pt x="515096" y="1197459"/>
                </a:lnTo>
                <a:lnTo>
                  <a:pt x="515096" y="1234709"/>
                </a:lnTo>
                <a:lnTo>
                  <a:pt x="362534" y="1234709"/>
                </a:lnTo>
                <a:close/>
                <a:moveTo>
                  <a:pt x="4158634" y="1148025"/>
                </a:moveTo>
                <a:lnTo>
                  <a:pt x="4178862" y="1179528"/>
                </a:lnTo>
                <a:cubicBezTo>
                  <a:pt x="4132086" y="1207396"/>
                  <a:pt x="4078986" y="1224359"/>
                  <a:pt x="4024622" y="1229205"/>
                </a:cubicBezTo>
                <a:lnTo>
                  <a:pt x="4020830" y="1191644"/>
                </a:lnTo>
                <a:cubicBezTo>
                  <a:pt x="4068872" y="1186798"/>
                  <a:pt x="4116914" y="1172258"/>
                  <a:pt x="4158634" y="1148025"/>
                </a:cubicBezTo>
                <a:close/>
                <a:moveTo>
                  <a:pt x="111944" y="1082109"/>
                </a:moveTo>
                <a:cubicBezTo>
                  <a:pt x="141492" y="1118238"/>
                  <a:pt x="180890" y="1148138"/>
                  <a:pt x="223981" y="1166825"/>
                </a:cubicBezTo>
                <a:lnTo>
                  <a:pt x="209207" y="1201708"/>
                </a:lnTo>
                <a:cubicBezTo>
                  <a:pt x="159960" y="1180529"/>
                  <a:pt x="116869" y="1148138"/>
                  <a:pt x="82396" y="1107025"/>
                </a:cubicBezTo>
                <a:close/>
                <a:moveTo>
                  <a:pt x="4300646" y="917321"/>
                </a:moveTo>
                <a:lnTo>
                  <a:pt x="4338208" y="921012"/>
                </a:lnTo>
                <a:cubicBezTo>
                  <a:pt x="4333360" y="972690"/>
                  <a:pt x="4316398" y="1025598"/>
                  <a:pt x="4288530" y="1069893"/>
                </a:cubicBezTo>
                <a:lnTo>
                  <a:pt x="4257026" y="1050206"/>
                </a:lnTo>
                <a:cubicBezTo>
                  <a:pt x="4281260" y="1010833"/>
                  <a:pt x="4297012" y="964077"/>
                  <a:pt x="4300646" y="917321"/>
                </a:cubicBezTo>
                <a:close/>
                <a:moveTo>
                  <a:pt x="0" y="812954"/>
                </a:moveTo>
                <a:lnTo>
                  <a:pt x="39297" y="812954"/>
                </a:lnTo>
                <a:lnTo>
                  <a:pt x="39297" y="887545"/>
                </a:lnTo>
                <a:cubicBezTo>
                  <a:pt x="39297" y="912831"/>
                  <a:pt x="41832" y="938116"/>
                  <a:pt x="48170" y="962137"/>
                </a:cubicBezTo>
                <a:lnTo>
                  <a:pt x="10141" y="970987"/>
                </a:lnTo>
                <a:cubicBezTo>
                  <a:pt x="3803" y="944437"/>
                  <a:pt x="0" y="916623"/>
                  <a:pt x="0" y="887545"/>
                </a:cubicBezTo>
                <a:close/>
                <a:moveTo>
                  <a:pt x="4306462" y="615208"/>
                </a:moveTo>
                <a:lnTo>
                  <a:pt x="4343674" y="615208"/>
                </a:lnTo>
                <a:lnTo>
                  <a:pt x="4343674" y="767760"/>
                </a:lnTo>
                <a:lnTo>
                  <a:pt x="4306462" y="767760"/>
                </a:lnTo>
                <a:close/>
                <a:moveTo>
                  <a:pt x="0" y="505350"/>
                </a:moveTo>
                <a:lnTo>
                  <a:pt x="37250" y="505350"/>
                </a:lnTo>
                <a:lnTo>
                  <a:pt x="37250" y="657912"/>
                </a:lnTo>
                <a:lnTo>
                  <a:pt x="0" y="657912"/>
                </a:lnTo>
                <a:close/>
                <a:moveTo>
                  <a:pt x="4306462" y="307604"/>
                </a:moveTo>
                <a:lnTo>
                  <a:pt x="4343674" y="307604"/>
                </a:lnTo>
                <a:lnTo>
                  <a:pt x="4343674" y="460156"/>
                </a:lnTo>
                <a:lnTo>
                  <a:pt x="4306462" y="460156"/>
                </a:lnTo>
                <a:close/>
                <a:moveTo>
                  <a:pt x="0" y="203240"/>
                </a:moveTo>
                <a:lnTo>
                  <a:pt x="37250" y="203240"/>
                </a:lnTo>
                <a:lnTo>
                  <a:pt x="37250" y="355792"/>
                </a:lnTo>
                <a:lnTo>
                  <a:pt x="0" y="355792"/>
                </a:lnTo>
                <a:close/>
                <a:moveTo>
                  <a:pt x="4306462" y="0"/>
                </a:moveTo>
                <a:lnTo>
                  <a:pt x="4343674" y="0"/>
                </a:lnTo>
                <a:lnTo>
                  <a:pt x="4343674" y="152562"/>
                </a:lnTo>
                <a:lnTo>
                  <a:pt x="4306462" y="152562"/>
                </a:lnTo>
                <a:close/>
                <a:moveTo>
                  <a:pt x="0" y="0"/>
                </a:moveTo>
                <a:lnTo>
                  <a:pt x="37250" y="0"/>
                </a:lnTo>
                <a:lnTo>
                  <a:pt x="37250" y="48137"/>
                </a:lnTo>
                <a:lnTo>
                  <a:pt x="0" y="481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75" dirty="0"/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8ADB62D7-DDAE-814B-93F9-97F40CAC6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075" y="1614907"/>
            <a:ext cx="1305945" cy="1594325"/>
          </a:xfrm>
          <a:custGeom>
            <a:avLst/>
            <a:gdLst>
              <a:gd name="T0" fmla="*/ 2752 w 2794"/>
              <a:gd name="T1" fmla="*/ 3089 h 3411"/>
              <a:gd name="T2" fmla="*/ 2752 w 2794"/>
              <a:gd name="T3" fmla="*/ 3089 h 3411"/>
              <a:gd name="T4" fmla="*/ 2471 w 2794"/>
              <a:gd name="T5" fmla="*/ 3370 h 3411"/>
              <a:gd name="T6" fmla="*/ 321 w 2794"/>
              <a:gd name="T7" fmla="*/ 3370 h 3411"/>
              <a:gd name="T8" fmla="*/ 321 w 2794"/>
              <a:gd name="T9" fmla="*/ 3370 h 3411"/>
              <a:gd name="T10" fmla="*/ 41 w 2794"/>
              <a:gd name="T11" fmla="*/ 3089 h 3411"/>
              <a:gd name="T12" fmla="*/ 41 w 2794"/>
              <a:gd name="T13" fmla="*/ 935 h 3411"/>
              <a:gd name="T14" fmla="*/ 2752 w 2794"/>
              <a:gd name="T15" fmla="*/ 935 h 3411"/>
              <a:gd name="T16" fmla="*/ 2752 w 2794"/>
              <a:gd name="T17" fmla="*/ 3089 h 3411"/>
              <a:gd name="T18" fmla="*/ 2471 w 2794"/>
              <a:gd name="T19" fmla="*/ 0 h 3411"/>
              <a:gd name="T20" fmla="*/ 1725 w 2794"/>
              <a:gd name="T21" fmla="*/ 0 h 3411"/>
              <a:gd name="T22" fmla="*/ 1725 w 2794"/>
              <a:gd name="T23" fmla="*/ 0 h 3411"/>
              <a:gd name="T24" fmla="*/ 1396 w 2794"/>
              <a:gd name="T25" fmla="*/ 239 h 3411"/>
              <a:gd name="T26" fmla="*/ 1396 w 2794"/>
              <a:gd name="T27" fmla="*/ 239 h 3411"/>
              <a:gd name="T28" fmla="*/ 1067 w 2794"/>
              <a:gd name="T29" fmla="*/ 0 h 3411"/>
              <a:gd name="T30" fmla="*/ 321 w 2794"/>
              <a:gd name="T31" fmla="*/ 0 h 3411"/>
              <a:gd name="T32" fmla="*/ 321 w 2794"/>
              <a:gd name="T33" fmla="*/ 0 h 3411"/>
              <a:gd name="T34" fmla="*/ 0 w 2794"/>
              <a:gd name="T35" fmla="*/ 321 h 3411"/>
              <a:gd name="T36" fmla="*/ 0 w 2794"/>
              <a:gd name="T37" fmla="*/ 3089 h 3411"/>
              <a:gd name="T38" fmla="*/ 0 w 2794"/>
              <a:gd name="T39" fmla="*/ 3089 h 3411"/>
              <a:gd name="T40" fmla="*/ 321 w 2794"/>
              <a:gd name="T41" fmla="*/ 3410 h 3411"/>
              <a:gd name="T42" fmla="*/ 2471 w 2794"/>
              <a:gd name="T43" fmla="*/ 3410 h 3411"/>
              <a:gd name="T44" fmla="*/ 2471 w 2794"/>
              <a:gd name="T45" fmla="*/ 3410 h 3411"/>
              <a:gd name="T46" fmla="*/ 2793 w 2794"/>
              <a:gd name="T47" fmla="*/ 3089 h 3411"/>
              <a:gd name="T48" fmla="*/ 2793 w 2794"/>
              <a:gd name="T49" fmla="*/ 321 h 3411"/>
              <a:gd name="T50" fmla="*/ 2793 w 2794"/>
              <a:gd name="T51" fmla="*/ 321 h 3411"/>
              <a:gd name="T52" fmla="*/ 2471 w 2794"/>
              <a:gd name="T53" fmla="*/ 0 h 3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94" h="3411">
                <a:moveTo>
                  <a:pt x="2752" y="3089"/>
                </a:moveTo>
                <a:lnTo>
                  <a:pt x="2752" y="3089"/>
                </a:lnTo>
                <a:cubicBezTo>
                  <a:pt x="2752" y="3244"/>
                  <a:pt x="2626" y="3370"/>
                  <a:pt x="2471" y="3370"/>
                </a:cubicBezTo>
                <a:lnTo>
                  <a:pt x="321" y="3370"/>
                </a:lnTo>
                <a:lnTo>
                  <a:pt x="321" y="3370"/>
                </a:lnTo>
                <a:cubicBezTo>
                  <a:pt x="167" y="3370"/>
                  <a:pt x="41" y="3244"/>
                  <a:pt x="41" y="3089"/>
                </a:cubicBezTo>
                <a:lnTo>
                  <a:pt x="41" y="935"/>
                </a:lnTo>
                <a:lnTo>
                  <a:pt x="2752" y="935"/>
                </a:lnTo>
                <a:lnTo>
                  <a:pt x="2752" y="3089"/>
                </a:lnTo>
                <a:close/>
                <a:moveTo>
                  <a:pt x="2471" y="0"/>
                </a:moveTo>
                <a:lnTo>
                  <a:pt x="1725" y="0"/>
                </a:lnTo>
                <a:lnTo>
                  <a:pt x="1725" y="0"/>
                </a:lnTo>
                <a:cubicBezTo>
                  <a:pt x="1680" y="139"/>
                  <a:pt x="1550" y="239"/>
                  <a:pt x="1396" y="239"/>
                </a:cubicBezTo>
                <a:lnTo>
                  <a:pt x="1396" y="239"/>
                </a:lnTo>
                <a:cubicBezTo>
                  <a:pt x="1242" y="239"/>
                  <a:pt x="1112" y="139"/>
                  <a:pt x="1067" y="0"/>
                </a:cubicBezTo>
                <a:lnTo>
                  <a:pt x="321" y="0"/>
                </a:lnTo>
                <a:lnTo>
                  <a:pt x="321" y="0"/>
                </a:lnTo>
                <a:cubicBezTo>
                  <a:pt x="144" y="0"/>
                  <a:pt x="0" y="145"/>
                  <a:pt x="0" y="321"/>
                </a:cubicBezTo>
                <a:lnTo>
                  <a:pt x="0" y="3089"/>
                </a:lnTo>
                <a:lnTo>
                  <a:pt x="0" y="3089"/>
                </a:lnTo>
                <a:cubicBezTo>
                  <a:pt x="0" y="3266"/>
                  <a:pt x="144" y="3410"/>
                  <a:pt x="321" y="3410"/>
                </a:cubicBezTo>
                <a:lnTo>
                  <a:pt x="2471" y="3410"/>
                </a:lnTo>
                <a:lnTo>
                  <a:pt x="2471" y="3410"/>
                </a:lnTo>
                <a:cubicBezTo>
                  <a:pt x="2648" y="3410"/>
                  <a:pt x="2793" y="3266"/>
                  <a:pt x="2793" y="3089"/>
                </a:cubicBezTo>
                <a:lnTo>
                  <a:pt x="2793" y="321"/>
                </a:lnTo>
                <a:lnTo>
                  <a:pt x="2793" y="321"/>
                </a:lnTo>
                <a:cubicBezTo>
                  <a:pt x="2793" y="145"/>
                  <a:pt x="2648" y="0"/>
                  <a:pt x="2471" y="0"/>
                </a:cubicBezTo>
                <a:close/>
              </a:path>
            </a:pathLst>
          </a:custGeom>
          <a:solidFill>
            <a:srgbClr val="B5237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1F0162B6-2B11-9D46-8030-173FFD05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838" y="1612950"/>
            <a:ext cx="1303886" cy="1594325"/>
          </a:xfrm>
          <a:custGeom>
            <a:avLst/>
            <a:gdLst>
              <a:gd name="T0" fmla="*/ 2751 w 2793"/>
              <a:gd name="T1" fmla="*/ 3089 h 3411"/>
              <a:gd name="T2" fmla="*/ 2751 w 2793"/>
              <a:gd name="T3" fmla="*/ 3089 h 3411"/>
              <a:gd name="T4" fmla="*/ 2471 w 2793"/>
              <a:gd name="T5" fmla="*/ 3370 h 3411"/>
              <a:gd name="T6" fmla="*/ 321 w 2793"/>
              <a:gd name="T7" fmla="*/ 3370 h 3411"/>
              <a:gd name="T8" fmla="*/ 321 w 2793"/>
              <a:gd name="T9" fmla="*/ 3370 h 3411"/>
              <a:gd name="T10" fmla="*/ 41 w 2793"/>
              <a:gd name="T11" fmla="*/ 3089 h 3411"/>
              <a:gd name="T12" fmla="*/ 41 w 2793"/>
              <a:gd name="T13" fmla="*/ 935 h 3411"/>
              <a:gd name="T14" fmla="*/ 2751 w 2793"/>
              <a:gd name="T15" fmla="*/ 935 h 3411"/>
              <a:gd name="T16" fmla="*/ 2751 w 2793"/>
              <a:gd name="T17" fmla="*/ 3089 h 3411"/>
              <a:gd name="T18" fmla="*/ 2471 w 2793"/>
              <a:gd name="T19" fmla="*/ 0 h 3411"/>
              <a:gd name="T20" fmla="*/ 1725 w 2793"/>
              <a:gd name="T21" fmla="*/ 0 h 3411"/>
              <a:gd name="T22" fmla="*/ 1725 w 2793"/>
              <a:gd name="T23" fmla="*/ 0 h 3411"/>
              <a:gd name="T24" fmla="*/ 1396 w 2793"/>
              <a:gd name="T25" fmla="*/ 239 h 3411"/>
              <a:gd name="T26" fmla="*/ 1396 w 2793"/>
              <a:gd name="T27" fmla="*/ 239 h 3411"/>
              <a:gd name="T28" fmla="*/ 1067 w 2793"/>
              <a:gd name="T29" fmla="*/ 0 h 3411"/>
              <a:gd name="T30" fmla="*/ 321 w 2793"/>
              <a:gd name="T31" fmla="*/ 0 h 3411"/>
              <a:gd name="T32" fmla="*/ 321 w 2793"/>
              <a:gd name="T33" fmla="*/ 0 h 3411"/>
              <a:gd name="T34" fmla="*/ 0 w 2793"/>
              <a:gd name="T35" fmla="*/ 321 h 3411"/>
              <a:gd name="T36" fmla="*/ 0 w 2793"/>
              <a:gd name="T37" fmla="*/ 3089 h 3411"/>
              <a:gd name="T38" fmla="*/ 0 w 2793"/>
              <a:gd name="T39" fmla="*/ 3089 h 3411"/>
              <a:gd name="T40" fmla="*/ 321 w 2793"/>
              <a:gd name="T41" fmla="*/ 3410 h 3411"/>
              <a:gd name="T42" fmla="*/ 2471 w 2793"/>
              <a:gd name="T43" fmla="*/ 3410 h 3411"/>
              <a:gd name="T44" fmla="*/ 2471 w 2793"/>
              <a:gd name="T45" fmla="*/ 3410 h 3411"/>
              <a:gd name="T46" fmla="*/ 2792 w 2793"/>
              <a:gd name="T47" fmla="*/ 3089 h 3411"/>
              <a:gd name="T48" fmla="*/ 2792 w 2793"/>
              <a:gd name="T49" fmla="*/ 321 h 3411"/>
              <a:gd name="T50" fmla="*/ 2792 w 2793"/>
              <a:gd name="T51" fmla="*/ 321 h 3411"/>
              <a:gd name="T52" fmla="*/ 2471 w 2793"/>
              <a:gd name="T53" fmla="*/ 0 h 3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93" h="3411">
                <a:moveTo>
                  <a:pt x="2751" y="3089"/>
                </a:moveTo>
                <a:lnTo>
                  <a:pt x="2751" y="3089"/>
                </a:lnTo>
                <a:cubicBezTo>
                  <a:pt x="2751" y="3244"/>
                  <a:pt x="2625" y="3370"/>
                  <a:pt x="2471" y="3370"/>
                </a:cubicBezTo>
                <a:lnTo>
                  <a:pt x="321" y="3370"/>
                </a:lnTo>
                <a:lnTo>
                  <a:pt x="321" y="3370"/>
                </a:lnTo>
                <a:cubicBezTo>
                  <a:pt x="167" y="3370"/>
                  <a:pt x="41" y="3244"/>
                  <a:pt x="41" y="3089"/>
                </a:cubicBezTo>
                <a:lnTo>
                  <a:pt x="41" y="935"/>
                </a:lnTo>
                <a:lnTo>
                  <a:pt x="2751" y="935"/>
                </a:lnTo>
                <a:lnTo>
                  <a:pt x="2751" y="3089"/>
                </a:lnTo>
                <a:close/>
                <a:moveTo>
                  <a:pt x="2471" y="0"/>
                </a:moveTo>
                <a:lnTo>
                  <a:pt x="1725" y="0"/>
                </a:lnTo>
                <a:lnTo>
                  <a:pt x="1725" y="0"/>
                </a:lnTo>
                <a:cubicBezTo>
                  <a:pt x="1680" y="139"/>
                  <a:pt x="1550" y="239"/>
                  <a:pt x="1396" y="239"/>
                </a:cubicBezTo>
                <a:lnTo>
                  <a:pt x="1396" y="239"/>
                </a:lnTo>
                <a:cubicBezTo>
                  <a:pt x="1242" y="239"/>
                  <a:pt x="1112" y="139"/>
                  <a:pt x="1067" y="0"/>
                </a:cubicBezTo>
                <a:lnTo>
                  <a:pt x="321" y="0"/>
                </a:lnTo>
                <a:lnTo>
                  <a:pt x="321" y="0"/>
                </a:lnTo>
                <a:cubicBezTo>
                  <a:pt x="144" y="0"/>
                  <a:pt x="0" y="145"/>
                  <a:pt x="0" y="321"/>
                </a:cubicBezTo>
                <a:lnTo>
                  <a:pt x="0" y="3089"/>
                </a:lnTo>
                <a:lnTo>
                  <a:pt x="0" y="3089"/>
                </a:lnTo>
                <a:cubicBezTo>
                  <a:pt x="0" y="3266"/>
                  <a:pt x="144" y="3410"/>
                  <a:pt x="321" y="3410"/>
                </a:cubicBezTo>
                <a:lnTo>
                  <a:pt x="2471" y="3410"/>
                </a:lnTo>
                <a:lnTo>
                  <a:pt x="2471" y="3410"/>
                </a:lnTo>
                <a:cubicBezTo>
                  <a:pt x="2648" y="3410"/>
                  <a:pt x="2792" y="3266"/>
                  <a:pt x="2792" y="3089"/>
                </a:cubicBezTo>
                <a:lnTo>
                  <a:pt x="2792" y="321"/>
                </a:lnTo>
                <a:lnTo>
                  <a:pt x="2792" y="321"/>
                </a:lnTo>
                <a:cubicBezTo>
                  <a:pt x="2792" y="145"/>
                  <a:pt x="2648" y="0"/>
                  <a:pt x="2471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6C58BA05-90D8-5F49-A9AD-E23353222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6846" y="1614906"/>
            <a:ext cx="1303885" cy="1594325"/>
          </a:xfrm>
          <a:custGeom>
            <a:avLst/>
            <a:gdLst>
              <a:gd name="T0" fmla="*/ 2751 w 2793"/>
              <a:gd name="T1" fmla="*/ 3089 h 3411"/>
              <a:gd name="T2" fmla="*/ 2751 w 2793"/>
              <a:gd name="T3" fmla="*/ 3089 h 3411"/>
              <a:gd name="T4" fmla="*/ 2470 w 2793"/>
              <a:gd name="T5" fmla="*/ 3370 h 3411"/>
              <a:gd name="T6" fmla="*/ 322 w 2793"/>
              <a:gd name="T7" fmla="*/ 3370 h 3411"/>
              <a:gd name="T8" fmla="*/ 322 w 2793"/>
              <a:gd name="T9" fmla="*/ 3370 h 3411"/>
              <a:gd name="T10" fmla="*/ 41 w 2793"/>
              <a:gd name="T11" fmla="*/ 3089 h 3411"/>
              <a:gd name="T12" fmla="*/ 41 w 2793"/>
              <a:gd name="T13" fmla="*/ 935 h 3411"/>
              <a:gd name="T14" fmla="*/ 2751 w 2793"/>
              <a:gd name="T15" fmla="*/ 935 h 3411"/>
              <a:gd name="T16" fmla="*/ 2751 w 2793"/>
              <a:gd name="T17" fmla="*/ 3089 h 3411"/>
              <a:gd name="T18" fmla="*/ 2470 w 2793"/>
              <a:gd name="T19" fmla="*/ 0 h 3411"/>
              <a:gd name="T20" fmla="*/ 1725 w 2793"/>
              <a:gd name="T21" fmla="*/ 0 h 3411"/>
              <a:gd name="T22" fmla="*/ 1725 w 2793"/>
              <a:gd name="T23" fmla="*/ 0 h 3411"/>
              <a:gd name="T24" fmla="*/ 1396 w 2793"/>
              <a:gd name="T25" fmla="*/ 239 h 3411"/>
              <a:gd name="T26" fmla="*/ 1396 w 2793"/>
              <a:gd name="T27" fmla="*/ 239 h 3411"/>
              <a:gd name="T28" fmla="*/ 1067 w 2793"/>
              <a:gd name="T29" fmla="*/ 0 h 3411"/>
              <a:gd name="T30" fmla="*/ 322 w 2793"/>
              <a:gd name="T31" fmla="*/ 0 h 3411"/>
              <a:gd name="T32" fmla="*/ 322 w 2793"/>
              <a:gd name="T33" fmla="*/ 0 h 3411"/>
              <a:gd name="T34" fmla="*/ 0 w 2793"/>
              <a:gd name="T35" fmla="*/ 321 h 3411"/>
              <a:gd name="T36" fmla="*/ 0 w 2793"/>
              <a:gd name="T37" fmla="*/ 3089 h 3411"/>
              <a:gd name="T38" fmla="*/ 0 w 2793"/>
              <a:gd name="T39" fmla="*/ 3089 h 3411"/>
              <a:gd name="T40" fmla="*/ 322 w 2793"/>
              <a:gd name="T41" fmla="*/ 3410 h 3411"/>
              <a:gd name="T42" fmla="*/ 2470 w 2793"/>
              <a:gd name="T43" fmla="*/ 3410 h 3411"/>
              <a:gd name="T44" fmla="*/ 2470 w 2793"/>
              <a:gd name="T45" fmla="*/ 3410 h 3411"/>
              <a:gd name="T46" fmla="*/ 2792 w 2793"/>
              <a:gd name="T47" fmla="*/ 3089 h 3411"/>
              <a:gd name="T48" fmla="*/ 2792 w 2793"/>
              <a:gd name="T49" fmla="*/ 321 h 3411"/>
              <a:gd name="T50" fmla="*/ 2792 w 2793"/>
              <a:gd name="T51" fmla="*/ 321 h 3411"/>
              <a:gd name="T52" fmla="*/ 2470 w 2793"/>
              <a:gd name="T53" fmla="*/ 0 h 3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93" h="3411">
                <a:moveTo>
                  <a:pt x="2751" y="3089"/>
                </a:moveTo>
                <a:lnTo>
                  <a:pt x="2751" y="3089"/>
                </a:lnTo>
                <a:cubicBezTo>
                  <a:pt x="2751" y="3244"/>
                  <a:pt x="2625" y="3370"/>
                  <a:pt x="2470" y="3370"/>
                </a:cubicBezTo>
                <a:lnTo>
                  <a:pt x="322" y="3370"/>
                </a:lnTo>
                <a:lnTo>
                  <a:pt x="322" y="3370"/>
                </a:lnTo>
                <a:cubicBezTo>
                  <a:pt x="167" y="3370"/>
                  <a:pt x="41" y="3244"/>
                  <a:pt x="41" y="3089"/>
                </a:cubicBezTo>
                <a:lnTo>
                  <a:pt x="41" y="935"/>
                </a:lnTo>
                <a:lnTo>
                  <a:pt x="2751" y="935"/>
                </a:lnTo>
                <a:lnTo>
                  <a:pt x="2751" y="3089"/>
                </a:lnTo>
                <a:close/>
                <a:moveTo>
                  <a:pt x="2470" y="0"/>
                </a:moveTo>
                <a:lnTo>
                  <a:pt x="1725" y="0"/>
                </a:lnTo>
                <a:lnTo>
                  <a:pt x="1725" y="0"/>
                </a:lnTo>
                <a:cubicBezTo>
                  <a:pt x="1679" y="139"/>
                  <a:pt x="1549" y="239"/>
                  <a:pt x="1396" y="239"/>
                </a:cubicBezTo>
                <a:lnTo>
                  <a:pt x="1396" y="239"/>
                </a:lnTo>
                <a:cubicBezTo>
                  <a:pt x="1242" y="239"/>
                  <a:pt x="1112" y="139"/>
                  <a:pt x="1067" y="0"/>
                </a:cubicBezTo>
                <a:lnTo>
                  <a:pt x="322" y="0"/>
                </a:lnTo>
                <a:lnTo>
                  <a:pt x="322" y="0"/>
                </a:lnTo>
                <a:cubicBezTo>
                  <a:pt x="144" y="0"/>
                  <a:pt x="0" y="145"/>
                  <a:pt x="0" y="321"/>
                </a:cubicBezTo>
                <a:lnTo>
                  <a:pt x="0" y="3089"/>
                </a:lnTo>
                <a:lnTo>
                  <a:pt x="0" y="3089"/>
                </a:lnTo>
                <a:cubicBezTo>
                  <a:pt x="0" y="3266"/>
                  <a:pt x="144" y="3410"/>
                  <a:pt x="322" y="3410"/>
                </a:cubicBezTo>
                <a:lnTo>
                  <a:pt x="2470" y="3410"/>
                </a:lnTo>
                <a:lnTo>
                  <a:pt x="2470" y="3410"/>
                </a:lnTo>
                <a:cubicBezTo>
                  <a:pt x="2648" y="3410"/>
                  <a:pt x="2792" y="3266"/>
                  <a:pt x="2792" y="3089"/>
                </a:cubicBezTo>
                <a:lnTo>
                  <a:pt x="2792" y="321"/>
                </a:lnTo>
                <a:lnTo>
                  <a:pt x="2792" y="321"/>
                </a:lnTo>
                <a:cubicBezTo>
                  <a:pt x="2792" y="145"/>
                  <a:pt x="2648" y="0"/>
                  <a:pt x="2470" y="0"/>
                </a:cubicBezTo>
                <a:close/>
              </a:path>
            </a:pathLst>
          </a:custGeom>
          <a:solidFill>
            <a:srgbClr val="B5237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64" name="Subtitle 2">
            <a:extLst>
              <a:ext uri="{FF2B5EF4-FFF2-40B4-BE49-F238E27FC236}">
                <a16:creationId xmlns:a16="http://schemas.microsoft.com/office/drawing/2014/main" id="{82F41F20-270B-D545-B723-214E94252CB2}"/>
              </a:ext>
            </a:extLst>
          </p:cNvPr>
          <p:cNvSpPr txBox="1">
            <a:spLocks/>
          </p:cNvSpPr>
          <p:nvPr/>
        </p:nvSpPr>
        <p:spPr>
          <a:xfrm>
            <a:off x="660768" y="2216277"/>
            <a:ext cx="1108597" cy="769057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Website Presence</a:t>
            </a:r>
          </a:p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Landing Page Usage</a:t>
            </a:r>
          </a:p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SEO</a:t>
            </a:r>
          </a:p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SEM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5A8779-E36C-814E-AC91-486F50003687}"/>
              </a:ext>
            </a:extLst>
          </p:cNvPr>
          <p:cNvSpPr txBox="1"/>
          <p:nvPr/>
        </p:nvSpPr>
        <p:spPr>
          <a:xfrm>
            <a:off x="789078" y="1543049"/>
            <a:ext cx="1115050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 01</a:t>
            </a:r>
          </a:p>
        </p:txBody>
      </p:sp>
      <p:sp>
        <p:nvSpPr>
          <p:cNvPr id="66" name="Subtitle 2">
            <a:extLst>
              <a:ext uri="{FF2B5EF4-FFF2-40B4-BE49-F238E27FC236}">
                <a16:creationId xmlns:a16="http://schemas.microsoft.com/office/drawing/2014/main" id="{B83B0A98-795C-CF48-A209-EBD99FFEFDA4}"/>
              </a:ext>
            </a:extLst>
          </p:cNvPr>
          <p:cNvSpPr txBox="1">
            <a:spLocks/>
          </p:cNvSpPr>
          <p:nvPr/>
        </p:nvSpPr>
        <p:spPr>
          <a:xfrm>
            <a:off x="2276070" y="2178962"/>
            <a:ext cx="1108597" cy="96346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Storytelling</a:t>
            </a:r>
          </a:p>
          <a:p>
            <a:pPr>
              <a:lnSpc>
                <a:spcPts val="1313"/>
              </a:lnSpc>
            </a:pPr>
            <a:endParaRPr lang="en-US" sz="900" dirty="0">
              <a:solidFill>
                <a:schemeClr val="tx1"/>
              </a:solidFill>
              <a:latin typeface="Lato Light" panose="020F0502020204030203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Insight Library</a:t>
            </a:r>
          </a:p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Testimonials</a:t>
            </a:r>
          </a:p>
          <a:p>
            <a:pPr>
              <a:lnSpc>
                <a:spcPts val="1313"/>
              </a:lnSpc>
            </a:pPr>
            <a:endParaRPr lang="en-US" sz="900" dirty="0">
              <a:solidFill>
                <a:schemeClr val="tx1"/>
              </a:solidFill>
              <a:latin typeface="Lato Light" panose="020F0502020204030203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76A764-DD73-FC44-B2AB-F2A2E47399ED}"/>
              </a:ext>
            </a:extLst>
          </p:cNvPr>
          <p:cNvSpPr txBox="1"/>
          <p:nvPr/>
        </p:nvSpPr>
        <p:spPr>
          <a:xfrm>
            <a:off x="2483095" y="1734137"/>
            <a:ext cx="694550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Content</a:t>
            </a:r>
          </a:p>
        </p:txBody>
      </p:sp>
      <p:sp>
        <p:nvSpPr>
          <p:cNvPr id="68" name="Subtitle 2">
            <a:extLst>
              <a:ext uri="{FF2B5EF4-FFF2-40B4-BE49-F238E27FC236}">
                <a16:creationId xmlns:a16="http://schemas.microsoft.com/office/drawing/2014/main" id="{78404E8B-FA55-4743-8DF0-435211B8F6CD}"/>
              </a:ext>
            </a:extLst>
          </p:cNvPr>
          <p:cNvSpPr txBox="1">
            <a:spLocks/>
          </p:cNvSpPr>
          <p:nvPr/>
        </p:nvSpPr>
        <p:spPr>
          <a:xfrm>
            <a:off x="3796846" y="2178962"/>
            <a:ext cx="1262457" cy="769057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“Beyond the Product”</a:t>
            </a:r>
          </a:p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Webinars</a:t>
            </a:r>
          </a:p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Podcasts</a:t>
            </a:r>
          </a:p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Articles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E43E46-4F9B-EA4A-AC7F-816A82CDD958}"/>
              </a:ext>
            </a:extLst>
          </p:cNvPr>
          <p:cNvSpPr txBox="1"/>
          <p:nvPr/>
        </p:nvSpPr>
        <p:spPr>
          <a:xfrm>
            <a:off x="3704446" y="1734137"/>
            <a:ext cx="1477584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Thought Leadership</a:t>
            </a:r>
          </a:p>
        </p:txBody>
      </p:sp>
      <p:sp>
        <p:nvSpPr>
          <p:cNvPr id="70" name="Subtitle 2">
            <a:extLst>
              <a:ext uri="{FF2B5EF4-FFF2-40B4-BE49-F238E27FC236}">
                <a16:creationId xmlns:a16="http://schemas.microsoft.com/office/drawing/2014/main" id="{67AAEE67-963C-1B4D-9A37-609A689C13EE}"/>
              </a:ext>
            </a:extLst>
          </p:cNvPr>
          <p:cNvSpPr txBox="1">
            <a:spLocks/>
          </p:cNvSpPr>
          <p:nvPr/>
        </p:nvSpPr>
        <p:spPr>
          <a:xfrm>
            <a:off x="5428969" y="2032624"/>
            <a:ext cx="1225832" cy="93576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endParaRPr lang="en-US" sz="900" dirty="0">
              <a:solidFill>
                <a:schemeClr val="tx1"/>
              </a:solidFill>
              <a:latin typeface="Lato Light" panose="020F0502020204030203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Who is the audience?</a:t>
            </a:r>
          </a:p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is the message?</a:t>
            </a:r>
          </a:p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channel do we use?</a:t>
            </a:r>
          </a:p>
        </p:txBody>
      </p:sp>
      <p:sp>
        <p:nvSpPr>
          <p:cNvPr id="72" name="Subtitle 2">
            <a:extLst>
              <a:ext uri="{FF2B5EF4-FFF2-40B4-BE49-F238E27FC236}">
                <a16:creationId xmlns:a16="http://schemas.microsoft.com/office/drawing/2014/main" id="{8C047F92-C4BF-4A47-97C7-00A9D11EC4DF}"/>
              </a:ext>
            </a:extLst>
          </p:cNvPr>
          <p:cNvSpPr txBox="1">
            <a:spLocks/>
          </p:cNvSpPr>
          <p:nvPr/>
        </p:nvSpPr>
        <p:spPr>
          <a:xfrm>
            <a:off x="7111118" y="2139492"/>
            <a:ext cx="1108597" cy="685957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are the analytics we should use to judge impact?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45B9A19-F077-034C-B546-BEAE38AF227A}"/>
              </a:ext>
            </a:extLst>
          </p:cNvPr>
          <p:cNvSpPr txBox="1"/>
          <p:nvPr/>
        </p:nvSpPr>
        <p:spPr>
          <a:xfrm>
            <a:off x="7292778" y="1734137"/>
            <a:ext cx="758541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Analytics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E25F3-A75A-9949-B307-918C45586D14}"/>
              </a:ext>
            </a:extLst>
          </p:cNvPr>
          <p:cNvSpPr txBox="1"/>
          <p:nvPr/>
        </p:nvSpPr>
        <p:spPr>
          <a:xfrm>
            <a:off x="1211577" y="1867698"/>
            <a:ext cx="263214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2DADED7-E9AF-B441-8BD3-D74B27EB4A38}"/>
              </a:ext>
            </a:extLst>
          </p:cNvPr>
          <p:cNvSpPr txBox="1"/>
          <p:nvPr/>
        </p:nvSpPr>
        <p:spPr>
          <a:xfrm>
            <a:off x="6054287" y="1867698"/>
            <a:ext cx="263214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4</a:t>
            </a:r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B54F9A9C-AFC1-F04A-B347-38BE3D2EB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746" y="1617391"/>
            <a:ext cx="1305945" cy="1594325"/>
          </a:xfrm>
          <a:custGeom>
            <a:avLst/>
            <a:gdLst>
              <a:gd name="T0" fmla="*/ 2752 w 2794"/>
              <a:gd name="T1" fmla="*/ 3089 h 3411"/>
              <a:gd name="T2" fmla="*/ 2752 w 2794"/>
              <a:gd name="T3" fmla="*/ 3089 h 3411"/>
              <a:gd name="T4" fmla="*/ 2472 w 2794"/>
              <a:gd name="T5" fmla="*/ 3370 h 3411"/>
              <a:gd name="T6" fmla="*/ 322 w 2794"/>
              <a:gd name="T7" fmla="*/ 3370 h 3411"/>
              <a:gd name="T8" fmla="*/ 322 w 2794"/>
              <a:gd name="T9" fmla="*/ 3370 h 3411"/>
              <a:gd name="T10" fmla="*/ 41 w 2794"/>
              <a:gd name="T11" fmla="*/ 3089 h 3411"/>
              <a:gd name="T12" fmla="*/ 41 w 2794"/>
              <a:gd name="T13" fmla="*/ 935 h 3411"/>
              <a:gd name="T14" fmla="*/ 2752 w 2794"/>
              <a:gd name="T15" fmla="*/ 935 h 3411"/>
              <a:gd name="T16" fmla="*/ 2752 w 2794"/>
              <a:gd name="T17" fmla="*/ 3089 h 3411"/>
              <a:gd name="T18" fmla="*/ 2472 w 2794"/>
              <a:gd name="T19" fmla="*/ 0 h 3411"/>
              <a:gd name="T20" fmla="*/ 1726 w 2794"/>
              <a:gd name="T21" fmla="*/ 0 h 3411"/>
              <a:gd name="T22" fmla="*/ 1726 w 2794"/>
              <a:gd name="T23" fmla="*/ 0 h 3411"/>
              <a:gd name="T24" fmla="*/ 1397 w 2794"/>
              <a:gd name="T25" fmla="*/ 239 h 3411"/>
              <a:gd name="T26" fmla="*/ 1397 w 2794"/>
              <a:gd name="T27" fmla="*/ 239 h 3411"/>
              <a:gd name="T28" fmla="*/ 1067 w 2794"/>
              <a:gd name="T29" fmla="*/ 0 h 3411"/>
              <a:gd name="T30" fmla="*/ 322 w 2794"/>
              <a:gd name="T31" fmla="*/ 0 h 3411"/>
              <a:gd name="T32" fmla="*/ 322 w 2794"/>
              <a:gd name="T33" fmla="*/ 0 h 3411"/>
              <a:gd name="T34" fmla="*/ 0 w 2794"/>
              <a:gd name="T35" fmla="*/ 321 h 3411"/>
              <a:gd name="T36" fmla="*/ 0 w 2794"/>
              <a:gd name="T37" fmla="*/ 3089 h 3411"/>
              <a:gd name="T38" fmla="*/ 0 w 2794"/>
              <a:gd name="T39" fmla="*/ 3089 h 3411"/>
              <a:gd name="T40" fmla="*/ 322 w 2794"/>
              <a:gd name="T41" fmla="*/ 3410 h 3411"/>
              <a:gd name="T42" fmla="*/ 2472 w 2794"/>
              <a:gd name="T43" fmla="*/ 3410 h 3411"/>
              <a:gd name="T44" fmla="*/ 2472 w 2794"/>
              <a:gd name="T45" fmla="*/ 3410 h 3411"/>
              <a:gd name="T46" fmla="*/ 2793 w 2794"/>
              <a:gd name="T47" fmla="*/ 3089 h 3411"/>
              <a:gd name="T48" fmla="*/ 2793 w 2794"/>
              <a:gd name="T49" fmla="*/ 321 h 3411"/>
              <a:gd name="T50" fmla="*/ 2793 w 2794"/>
              <a:gd name="T51" fmla="*/ 321 h 3411"/>
              <a:gd name="T52" fmla="*/ 2472 w 2794"/>
              <a:gd name="T53" fmla="*/ 0 h 3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94" h="3411">
                <a:moveTo>
                  <a:pt x="2752" y="3089"/>
                </a:moveTo>
                <a:lnTo>
                  <a:pt x="2752" y="3089"/>
                </a:lnTo>
                <a:cubicBezTo>
                  <a:pt x="2752" y="3244"/>
                  <a:pt x="2626" y="3370"/>
                  <a:pt x="2472" y="3370"/>
                </a:cubicBezTo>
                <a:lnTo>
                  <a:pt x="322" y="3370"/>
                </a:lnTo>
                <a:lnTo>
                  <a:pt x="322" y="3370"/>
                </a:lnTo>
                <a:cubicBezTo>
                  <a:pt x="167" y="3370"/>
                  <a:pt x="41" y="3244"/>
                  <a:pt x="41" y="3089"/>
                </a:cubicBezTo>
                <a:lnTo>
                  <a:pt x="41" y="935"/>
                </a:lnTo>
                <a:lnTo>
                  <a:pt x="2752" y="935"/>
                </a:lnTo>
                <a:lnTo>
                  <a:pt x="2752" y="3089"/>
                </a:lnTo>
                <a:close/>
                <a:moveTo>
                  <a:pt x="2472" y="0"/>
                </a:moveTo>
                <a:lnTo>
                  <a:pt x="1726" y="0"/>
                </a:lnTo>
                <a:lnTo>
                  <a:pt x="1726" y="0"/>
                </a:lnTo>
                <a:cubicBezTo>
                  <a:pt x="1681" y="139"/>
                  <a:pt x="1551" y="239"/>
                  <a:pt x="1397" y="239"/>
                </a:cubicBezTo>
                <a:lnTo>
                  <a:pt x="1397" y="239"/>
                </a:lnTo>
                <a:cubicBezTo>
                  <a:pt x="1243" y="239"/>
                  <a:pt x="1113" y="139"/>
                  <a:pt x="1067" y="0"/>
                </a:cubicBezTo>
                <a:lnTo>
                  <a:pt x="322" y="0"/>
                </a:lnTo>
                <a:lnTo>
                  <a:pt x="322" y="0"/>
                </a:lnTo>
                <a:cubicBezTo>
                  <a:pt x="145" y="0"/>
                  <a:pt x="0" y="145"/>
                  <a:pt x="0" y="321"/>
                </a:cubicBezTo>
                <a:lnTo>
                  <a:pt x="0" y="3089"/>
                </a:lnTo>
                <a:lnTo>
                  <a:pt x="0" y="3089"/>
                </a:lnTo>
                <a:cubicBezTo>
                  <a:pt x="0" y="3266"/>
                  <a:pt x="145" y="3410"/>
                  <a:pt x="322" y="3410"/>
                </a:cubicBezTo>
                <a:lnTo>
                  <a:pt x="2472" y="3410"/>
                </a:lnTo>
                <a:lnTo>
                  <a:pt x="2472" y="3410"/>
                </a:lnTo>
                <a:cubicBezTo>
                  <a:pt x="2649" y="3410"/>
                  <a:pt x="2793" y="3266"/>
                  <a:pt x="2793" y="3089"/>
                </a:cubicBezTo>
                <a:lnTo>
                  <a:pt x="2793" y="321"/>
                </a:lnTo>
                <a:lnTo>
                  <a:pt x="2793" y="321"/>
                </a:lnTo>
                <a:cubicBezTo>
                  <a:pt x="2793" y="145"/>
                  <a:pt x="2649" y="0"/>
                  <a:pt x="2472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A455F53C-57E7-314E-91A8-9388620F3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7" y="1642339"/>
            <a:ext cx="1305945" cy="1594325"/>
          </a:xfrm>
          <a:custGeom>
            <a:avLst/>
            <a:gdLst>
              <a:gd name="T0" fmla="*/ 2752 w 2794"/>
              <a:gd name="T1" fmla="*/ 3089 h 3411"/>
              <a:gd name="T2" fmla="*/ 2752 w 2794"/>
              <a:gd name="T3" fmla="*/ 3089 h 3411"/>
              <a:gd name="T4" fmla="*/ 2471 w 2794"/>
              <a:gd name="T5" fmla="*/ 3370 h 3411"/>
              <a:gd name="T6" fmla="*/ 322 w 2794"/>
              <a:gd name="T7" fmla="*/ 3370 h 3411"/>
              <a:gd name="T8" fmla="*/ 322 w 2794"/>
              <a:gd name="T9" fmla="*/ 3370 h 3411"/>
              <a:gd name="T10" fmla="*/ 41 w 2794"/>
              <a:gd name="T11" fmla="*/ 3089 h 3411"/>
              <a:gd name="T12" fmla="*/ 41 w 2794"/>
              <a:gd name="T13" fmla="*/ 935 h 3411"/>
              <a:gd name="T14" fmla="*/ 2752 w 2794"/>
              <a:gd name="T15" fmla="*/ 935 h 3411"/>
              <a:gd name="T16" fmla="*/ 2752 w 2794"/>
              <a:gd name="T17" fmla="*/ 3089 h 3411"/>
              <a:gd name="T18" fmla="*/ 2471 w 2794"/>
              <a:gd name="T19" fmla="*/ 0 h 3411"/>
              <a:gd name="T20" fmla="*/ 1726 w 2794"/>
              <a:gd name="T21" fmla="*/ 0 h 3411"/>
              <a:gd name="T22" fmla="*/ 1726 w 2794"/>
              <a:gd name="T23" fmla="*/ 0 h 3411"/>
              <a:gd name="T24" fmla="*/ 1396 w 2794"/>
              <a:gd name="T25" fmla="*/ 239 h 3411"/>
              <a:gd name="T26" fmla="*/ 1396 w 2794"/>
              <a:gd name="T27" fmla="*/ 239 h 3411"/>
              <a:gd name="T28" fmla="*/ 1067 w 2794"/>
              <a:gd name="T29" fmla="*/ 0 h 3411"/>
              <a:gd name="T30" fmla="*/ 322 w 2794"/>
              <a:gd name="T31" fmla="*/ 0 h 3411"/>
              <a:gd name="T32" fmla="*/ 322 w 2794"/>
              <a:gd name="T33" fmla="*/ 0 h 3411"/>
              <a:gd name="T34" fmla="*/ 0 w 2794"/>
              <a:gd name="T35" fmla="*/ 321 h 3411"/>
              <a:gd name="T36" fmla="*/ 0 w 2794"/>
              <a:gd name="T37" fmla="*/ 3089 h 3411"/>
              <a:gd name="T38" fmla="*/ 0 w 2794"/>
              <a:gd name="T39" fmla="*/ 3089 h 3411"/>
              <a:gd name="T40" fmla="*/ 322 w 2794"/>
              <a:gd name="T41" fmla="*/ 3410 h 3411"/>
              <a:gd name="T42" fmla="*/ 2471 w 2794"/>
              <a:gd name="T43" fmla="*/ 3410 h 3411"/>
              <a:gd name="T44" fmla="*/ 2471 w 2794"/>
              <a:gd name="T45" fmla="*/ 3410 h 3411"/>
              <a:gd name="T46" fmla="*/ 2793 w 2794"/>
              <a:gd name="T47" fmla="*/ 3089 h 3411"/>
              <a:gd name="T48" fmla="*/ 2793 w 2794"/>
              <a:gd name="T49" fmla="*/ 321 h 3411"/>
              <a:gd name="T50" fmla="*/ 2793 w 2794"/>
              <a:gd name="T51" fmla="*/ 321 h 3411"/>
              <a:gd name="T52" fmla="*/ 2471 w 2794"/>
              <a:gd name="T53" fmla="*/ 0 h 3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94" h="3411">
                <a:moveTo>
                  <a:pt x="2752" y="3089"/>
                </a:moveTo>
                <a:lnTo>
                  <a:pt x="2752" y="3089"/>
                </a:lnTo>
                <a:cubicBezTo>
                  <a:pt x="2752" y="3244"/>
                  <a:pt x="2626" y="3370"/>
                  <a:pt x="2471" y="3370"/>
                </a:cubicBezTo>
                <a:lnTo>
                  <a:pt x="322" y="3370"/>
                </a:lnTo>
                <a:lnTo>
                  <a:pt x="322" y="3370"/>
                </a:lnTo>
                <a:cubicBezTo>
                  <a:pt x="167" y="3370"/>
                  <a:pt x="41" y="3244"/>
                  <a:pt x="41" y="3089"/>
                </a:cubicBezTo>
                <a:lnTo>
                  <a:pt x="41" y="935"/>
                </a:lnTo>
                <a:lnTo>
                  <a:pt x="2752" y="935"/>
                </a:lnTo>
                <a:lnTo>
                  <a:pt x="2752" y="3089"/>
                </a:lnTo>
                <a:close/>
                <a:moveTo>
                  <a:pt x="2471" y="0"/>
                </a:moveTo>
                <a:lnTo>
                  <a:pt x="1726" y="0"/>
                </a:lnTo>
                <a:lnTo>
                  <a:pt x="1726" y="0"/>
                </a:lnTo>
                <a:cubicBezTo>
                  <a:pt x="1681" y="139"/>
                  <a:pt x="1550" y="239"/>
                  <a:pt x="1396" y="239"/>
                </a:cubicBezTo>
                <a:lnTo>
                  <a:pt x="1396" y="239"/>
                </a:lnTo>
                <a:cubicBezTo>
                  <a:pt x="1243" y="239"/>
                  <a:pt x="1113" y="139"/>
                  <a:pt x="1067" y="0"/>
                </a:cubicBezTo>
                <a:lnTo>
                  <a:pt x="322" y="0"/>
                </a:lnTo>
                <a:lnTo>
                  <a:pt x="322" y="0"/>
                </a:lnTo>
                <a:cubicBezTo>
                  <a:pt x="144" y="0"/>
                  <a:pt x="0" y="145"/>
                  <a:pt x="0" y="321"/>
                </a:cubicBezTo>
                <a:lnTo>
                  <a:pt x="0" y="3089"/>
                </a:lnTo>
                <a:lnTo>
                  <a:pt x="0" y="3089"/>
                </a:lnTo>
                <a:cubicBezTo>
                  <a:pt x="0" y="3266"/>
                  <a:pt x="144" y="3410"/>
                  <a:pt x="322" y="3410"/>
                </a:cubicBezTo>
                <a:lnTo>
                  <a:pt x="2471" y="3410"/>
                </a:lnTo>
                <a:lnTo>
                  <a:pt x="2471" y="3410"/>
                </a:lnTo>
                <a:cubicBezTo>
                  <a:pt x="2649" y="3410"/>
                  <a:pt x="2793" y="3266"/>
                  <a:pt x="2793" y="3089"/>
                </a:cubicBezTo>
                <a:lnTo>
                  <a:pt x="2793" y="321"/>
                </a:lnTo>
                <a:lnTo>
                  <a:pt x="2793" y="321"/>
                </a:lnTo>
                <a:cubicBezTo>
                  <a:pt x="2793" y="145"/>
                  <a:pt x="2649" y="0"/>
                  <a:pt x="2471" y="0"/>
                </a:cubicBezTo>
                <a:close/>
              </a:path>
            </a:pathLst>
          </a:custGeom>
          <a:solidFill>
            <a:srgbClr val="B5237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067FF5B5-F44F-6849-9EAB-1060769D3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3333" y="1426177"/>
            <a:ext cx="286320" cy="286320"/>
          </a:xfrm>
          <a:custGeom>
            <a:avLst/>
            <a:gdLst>
              <a:gd name="T0" fmla="*/ 306 w 612"/>
              <a:gd name="T1" fmla="*/ 0 h 611"/>
              <a:gd name="T2" fmla="*/ 306 w 612"/>
              <a:gd name="T3" fmla="*/ 0 h 611"/>
              <a:gd name="T4" fmla="*/ 0 w 612"/>
              <a:gd name="T5" fmla="*/ 305 h 611"/>
              <a:gd name="T6" fmla="*/ 0 w 612"/>
              <a:gd name="T7" fmla="*/ 305 h 611"/>
              <a:gd name="T8" fmla="*/ 306 w 612"/>
              <a:gd name="T9" fmla="*/ 610 h 611"/>
              <a:gd name="T10" fmla="*/ 306 w 612"/>
              <a:gd name="T11" fmla="*/ 610 h 611"/>
              <a:gd name="T12" fmla="*/ 611 w 612"/>
              <a:gd name="T13" fmla="*/ 305 h 611"/>
              <a:gd name="T14" fmla="*/ 611 w 612"/>
              <a:gd name="T15" fmla="*/ 305 h 611"/>
              <a:gd name="T16" fmla="*/ 306 w 612"/>
              <a:gd name="T17" fmla="*/ 0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1">
                <a:moveTo>
                  <a:pt x="306" y="0"/>
                </a:moveTo>
                <a:lnTo>
                  <a:pt x="306" y="0"/>
                </a:lnTo>
                <a:cubicBezTo>
                  <a:pt x="137" y="0"/>
                  <a:pt x="0" y="136"/>
                  <a:pt x="0" y="305"/>
                </a:cubicBezTo>
                <a:lnTo>
                  <a:pt x="0" y="305"/>
                </a:lnTo>
                <a:cubicBezTo>
                  <a:pt x="0" y="474"/>
                  <a:pt x="137" y="610"/>
                  <a:pt x="306" y="610"/>
                </a:cubicBezTo>
                <a:lnTo>
                  <a:pt x="306" y="610"/>
                </a:lnTo>
                <a:cubicBezTo>
                  <a:pt x="474" y="610"/>
                  <a:pt x="611" y="474"/>
                  <a:pt x="611" y="305"/>
                </a:cubicBezTo>
                <a:lnTo>
                  <a:pt x="611" y="305"/>
                </a:lnTo>
                <a:cubicBezTo>
                  <a:pt x="611" y="136"/>
                  <a:pt x="474" y="0"/>
                  <a:pt x="306" y="0"/>
                </a:cubicBezTo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F2FFBA74-4AE7-7249-AB6D-2EE39F30A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163" y="1442752"/>
            <a:ext cx="286320" cy="286320"/>
          </a:xfrm>
          <a:custGeom>
            <a:avLst/>
            <a:gdLst>
              <a:gd name="T0" fmla="*/ 305 w 612"/>
              <a:gd name="T1" fmla="*/ 0 h 611"/>
              <a:gd name="T2" fmla="*/ 305 w 612"/>
              <a:gd name="T3" fmla="*/ 0 h 611"/>
              <a:gd name="T4" fmla="*/ 0 w 612"/>
              <a:gd name="T5" fmla="*/ 305 h 611"/>
              <a:gd name="T6" fmla="*/ 0 w 612"/>
              <a:gd name="T7" fmla="*/ 305 h 611"/>
              <a:gd name="T8" fmla="*/ 305 w 612"/>
              <a:gd name="T9" fmla="*/ 610 h 611"/>
              <a:gd name="T10" fmla="*/ 305 w 612"/>
              <a:gd name="T11" fmla="*/ 610 h 611"/>
              <a:gd name="T12" fmla="*/ 611 w 612"/>
              <a:gd name="T13" fmla="*/ 305 h 611"/>
              <a:gd name="T14" fmla="*/ 611 w 612"/>
              <a:gd name="T15" fmla="*/ 305 h 611"/>
              <a:gd name="T16" fmla="*/ 305 w 612"/>
              <a:gd name="T17" fmla="*/ 0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1">
                <a:moveTo>
                  <a:pt x="305" y="0"/>
                </a:moveTo>
                <a:lnTo>
                  <a:pt x="305" y="0"/>
                </a:lnTo>
                <a:cubicBezTo>
                  <a:pt x="137" y="0"/>
                  <a:pt x="0" y="136"/>
                  <a:pt x="0" y="305"/>
                </a:cubicBezTo>
                <a:lnTo>
                  <a:pt x="0" y="305"/>
                </a:lnTo>
                <a:cubicBezTo>
                  <a:pt x="0" y="474"/>
                  <a:pt x="137" y="610"/>
                  <a:pt x="305" y="610"/>
                </a:cubicBezTo>
                <a:lnTo>
                  <a:pt x="305" y="610"/>
                </a:lnTo>
                <a:cubicBezTo>
                  <a:pt x="474" y="610"/>
                  <a:pt x="611" y="474"/>
                  <a:pt x="611" y="305"/>
                </a:cubicBezTo>
                <a:lnTo>
                  <a:pt x="611" y="305"/>
                </a:lnTo>
                <a:cubicBezTo>
                  <a:pt x="611" y="136"/>
                  <a:pt x="474" y="0"/>
                  <a:pt x="305" y="0"/>
                </a:cubicBezTo>
              </a:path>
            </a:pathLst>
          </a:custGeom>
          <a:solidFill>
            <a:srgbClr val="B5237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F164DB6C-F4B4-EE4C-B3DE-7ED294A46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473" y="1429438"/>
            <a:ext cx="286319" cy="286320"/>
          </a:xfrm>
          <a:custGeom>
            <a:avLst/>
            <a:gdLst>
              <a:gd name="T0" fmla="*/ 305 w 611"/>
              <a:gd name="T1" fmla="*/ 0 h 611"/>
              <a:gd name="T2" fmla="*/ 305 w 611"/>
              <a:gd name="T3" fmla="*/ 0 h 611"/>
              <a:gd name="T4" fmla="*/ 0 w 611"/>
              <a:gd name="T5" fmla="*/ 305 h 611"/>
              <a:gd name="T6" fmla="*/ 0 w 611"/>
              <a:gd name="T7" fmla="*/ 305 h 611"/>
              <a:gd name="T8" fmla="*/ 305 w 611"/>
              <a:gd name="T9" fmla="*/ 610 h 611"/>
              <a:gd name="T10" fmla="*/ 305 w 611"/>
              <a:gd name="T11" fmla="*/ 610 h 611"/>
              <a:gd name="T12" fmla="*/ 610 w 611"/>
              <a:gd name="T13" fmla="*/ 305 h 611"/>
              <a:gd name="T14" fmla="*/ 610 w 611"/>
              <a:gd name="T15" fmla="*/ 305 h 611"/>
              <a:gd name="T16" fmla="*/ 305 w 611"/>
              <a:gd name="T17" fmla="*/ 0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1" h="611">
                <a:moveTo>
                  <a:pt x="305" y="0"/>
                </a:moveTo>
                <a:lnTo>
                  <a:pt x="305" y="0"/>
                </a:lnTo>
                <a:cubicBezTo>
                  <a:pt x="136" y="0"/>
                  <a:pt x="0" y="136"/>
                  <a:pt x="0" y="305"/>
                </a:cubicBezTo>
                <a:lnTo>
                  <a:pt x="0" y="305"/>
                </a:lnTo>
                <a:cubicBezTo>
                  <a:pt x="0" y="474"/>
                  <a:pt x="136" y="610"/>
                  <a:pt x="305" y="610"/>
                </a:cubicBezTo>
                <a:lnTo>
                  <a:pt x="305" y="610"/>
                </a:lnTo>
                <a:cubicBezTo>
                  <a:pt x="474" y="610"/>
                  <a:pt x="610" y="474"/>
                  <a:pt x="610" y="305"/>
                </a:cubicBezTo>
                <a:lnTo>
                  <a:pt x="610" y="305"/>
                </a:lnTo>
                <a:cubicBezTo>
                  <a:pt x="610" y="136"/>
                  <a:pt x="474" y="0"/>
                  <a:pt x="305" y="0"/>
                </a:cubicBezTo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443FBFE8-04A8-284B-9BE3-0B22B5E01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416" y="1423267"/>
            <a:ext cx="286319" cy="286320"/>
          </a:xfrm>
          <a:custGeom>
            <a:avLst/>
            <a:gdLst>
              <a:gd name="T0" fmla="*/ 305 w 611"/>
              <a:gd name="T1" fmla="*/ 0 h 611"/>
              <a:gd name="T2" fmla="*/ 305 w 611"/>
              <a:gd name="T3" fmla="*/ 0 h 611"/>
              <a:gd name="T4" fmla="*/ 0 w 611"/>
              <a:gd name="T5" fmla="*/ 305 h 611"/>
              <a:gd name="T6" fmla="*/ 0 w 611"/>
              <a:gd name="T7" fmla="*/ 305 h 611"/>
              <a:gd name="T8" fmla="*/ 305 w 611"/>
              <a:gd name="T9" fmla="*/ 610 h 611"/>
              <a:gd name="T10" fmla="*/ 305 w 611"/>
              <a:gd name="T11" fmla="*/ 610 h 611"/>
              <a:gd name="T12" fmla="*/ 610 w 611"/>
              <a:gd name="T13" fmla="*/ 305 h 611"/>
              <a:gd name="T14" fmla="*/ 610 w 611"/>
              <a:gd name="T15" fmla="*/ 305 h 611"/>
              <a:gd name="T16" fmla="*/ 305 w 611"/>
              <a:gd name="T17" fmla="*/ 0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1" h="611">
                <a:moveTo>
                  <a:pt x="305" y="0"/>
                </a:moveTo>
                <a:lnTo>
                  <a:pt x="305" y="0"/>
                </a:lnTo>
                <a:cubicBezTo>
                  <a:pt x="136" y="0"/>
                  <a:pt x="0" y="136"/>
                  <a:pt x="0" y="305"/>
                </a:cubicBezTo>
                <a:lnTo>
                  <a:pt x="0" y="305"/>
                </a:lnTo>
                <a:cubicBezTo>
                  <a:pt x="0" y="474"/>
                  <a:pt x="136" y="610"/>
                  <a:pt x="305" y="610"/>
                </a:cubicBezTo>
                <a:lnTo>
                  <a:pt x="305" y="610"/>
                </a:lnTo>
                <a:cubicBezTo>
                  <a:pt x="473" y="610"/>
                  <a:pt x="610" y="474"/>
                  <a:pt x="610" y="305"/>
                </a:cubicBezTo>
                <a:lnTo>
                  <a:pt x="610" y="305"/>
                </a:lnTo>
                <a:cubicBezTo>
                  <a:pt x="610" y="136"/>
                  <a:pt x="473" y="0"/>
                  <a:pt x="305" y="0"/>
                </a:cubicBezTo>
              </a:path>
            </a:pathLst>
          </a:custGeom>
          <a:solidFill>
            <a:srgbClr val="B5237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CCD7BBB6-F5F1-214D-88A0-BA345C6E2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498" y="1416755"/>
            <a:ext cx="286320" cy="286320"/>
          </a:xfrm>
          <a:custGeom>
            <a:avLst/>
            <a:gdLst>
              <a:gd name="T0" fmla="*/ 305 w 612"/>
              <a:gd name="T1" fmla="*/ 0 h 611"/>
              <a:gd name="T2" fmla="*/ 305 w 612"/>
              <a:gd name="T3" fmla="*/ 0 h 611"/>
              <a:gd name="T4" fmla="*/ 0 w 612"/>
              <a:gd name="T5" fmla="*/ 305 h 611"/>
              <a:gd name="T6" fmla="*/ 0 w 612"/>
              <a:gd name="T7" fmla="*/ 305 h 611"/>
              <a:gd name="T8" fmla="*/ 305 w 612"/>
              <a:gd name="T9" fmla="*/ 610 h 611"/>
              <a:gd name="T10" fmla="*/ 305 w 612"/>
              <a:gd name="T11" fmla="*/ 610 h 611"/>
              <a:gd name="T12" fmla="*/ 611 w 612"/>
              <a:gd name="T13" fmla="*/ 305 h 611"/>
              <a:gd name="T14" fmla="*/ 611 w 612"/>
              <a:gd name="T15" fmla="*/ 305 h 611"/>
              <a:gd name="T16" fmla="*/ 305 w 612"/>
              <a:gd name="T17" fmla="*/ 0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1">
                <a:moveTo>
                  <a:pt x="305" y="0"/>
                </a:moveTo>
                <a:lnTo>
                  <a:pt x="305" y="0"/>
                </a:lnTo>
                <a:cubicBezTo>
                  <a:pt x="136" y="0"/>
                  <a:pt x="0" y="136"/>
                  <a:pt x="0" y="305"/>
                </a:cubicBezTo>
                <a:lnTo>
                  <a:pt x="0" y="305"/>
                </a:lnTo>
                <a:cubicBezTo>
                  <a:pt x="0" y="474"/>
                  <a:pt x="136" y="610"/>
                  <a:pt x="305" y="610"/>
                </a:cubicBezTo>
                <a:lnTo>
                  <a:pt x="305" y="610"/>
                </a:lnTo>
                <a:cubicBezTo>
                  <a:pt x="474" y="610"/>
                  <a:pt x="611" y="474"/>
                  <a:pt x="611" y="305"/>
                </a:cubicBezTo>
                <a:lnTo>
                  <a:pt x="611" y="305"/>
                </a:lnTo>
                <a:cubicBezTo>
                  <a:pt x="611" y="136"/>
                  <a:pt x="474" y="0"/>
                  <a:pt x="305" y="0"/>
                </a:cubicBezTo>
              </a:path>
            </a:pathLst>
          </a:custGeom>
          <a:solidFill>
            <a:srgbClr val="B5237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BB3C5E0-D8C5-9C40-AA15-38BE42979CA5}"/>
              </a:ext>
            </a:extLst>
          </p:cNvPr>
          <p:cNvSpPr txBox="1"/>
          <p:nvPr/>
        </p:nvSpPr>
        <p:spPr>
          <a:xfrm>
            <a:off x="538755" y="1729072"/>
            <a:ext cx="1378455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Online Real Estate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7DCB54E-A18E-BB4A-B160-9BF9975C0D4C}"/>
              </a:ext>
            </a:extLst>
          </p:cNvPr>
          <p:cNvSpPr txBox="1"/>
          <p:nvPr/>
        </p:nvSpPr>
        <p:spPr>
          <a:xfrm>
            <a:off x="1083833" y="1420097"/>
            <a:ext cx="274435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B4F2B3C-992F-B24A-A6D6-C7F3A71CE635}"/>
              </a:ext>
            </a:extLst>
          </p:cNvPr>
          <p:cNvSpPr txBox="1"/>
          <p:nvPr/>
        </p:nvSpPr>
        <p:spPr>
          <a:xfrm>
            <a:off x="5932435" y="1423457"/>
            <a:ext cx="274435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9286108-86F0-2A4B-8BA6-814930ABB776}"/>
              </a:ext>
            </a:extLst>
          </p:cNvPr>
          <p:cNvSpPr txBox="1"/>
          <p:nvPr/>
        </p:nvSpPr>
        <p:spPr>
          <a:xfrm>
            <a:off x="4316958" y="1397728"/>
            <a:ext cx="274435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3CC0C0E-1EC1-2B48-BA4F-B797B5E65B56}"/>
              </a:ext>
            </a:extLst>
          </p:cNvPr>
          <p:cNvSpPr txBox="1"/>
          <p:nvPr/>
        </p:nvSpPr>
        <p:spPr>
          <a:xfrm>
            <a:off x="7546383" y="1426511"/>
            <a:ext cx="274435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4FD8202-C512-A84A-9469-9DAD2CB49142}"/>
              </a:ext>
            </a:extLst>
          </p:cNvPr>
          <p:cNvSpPr txBox="1"/>
          <p:nvPr/>
        </p:nvSpPr>
        <p:spPr>
          <a:xfrm>
            <a:off x="2693357" y="1416755"/>
            <a:ext cx="274435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DE5FA2F-69C4-3A4B-8F32-E56AD26BF3B6}"/>
              </a:ext>
            </a:extLst>
          </p:cNvPr>
          <p:cNvSpPr txBox="1"/>
          <p:nvPr/>
        </p:nvSpPr>
        <p:spPr>
          <a:xfrm>
            <a:off x="5670066" y="1748738"/>
            <a:ext cx="776175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Mar Com</a:t>
            </a:r>
          </a:p>
        </p:txBody>
      </p:sp>
      <p:sp>
        <p:nvSpPr>
          <p:cNvPr id="108" name="Freeform 7">
            <a:extLst>
              <a:ext uri="{FF2B5EF4-FFF2-40B4-BE49-F238E27FC236}">
                <a16:creationId xmlns:a16="http://schemas.microsoft.com/office/drawing/2014/main" id="{10500305-156C-F645-87EA-80513514D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03" y="514286"/>
            <a:ext cx="1055130" cy="323165"/>
          </a:xfrm>
          <a:custGeom>
            <a:avLst/>
            <a:gdLst>
              <a:gd name="T0" fmla="*/ 533 w 8894"/>
              <a:gd name="T1" fmla="*/ 715 h 1571"/>
              <a:gd name="T2" fmla="*/ 55 w 8894"/>
              <a:gd name="T3" fmla="*/ 155 h 1571"/>
              <a:gd name="T4" fmla="*/ 55 w 8894"/>
              <a:gd name="T5" fmla="*/ 155 h 1571"/>
              <a:gd name="T6" fmla="*/ 126 w 8894"/>
              <a:gd name="T7" fmla="*/ 0 h 1571"/>
              <a:gd name="T8" fmla="*/ 8249 w 8894"/>
              <a:gd name="T9" fmla="*/ 0 h 1571"/>
              <a:gd name="T10" fmla="*/ 8249 w 8894"/>
              <a:gd name="T11" fmla="*/ 0 h 1571"/>
              <a:gd name="T12" fmla="*/ 8322 w 8894"/>
              <a:gd name="T13" fmla="*/ 36 h 1571"/>
              <a:gd name="T14" fmla="*/ 8866 w 8894"/>
              <a:gd name="T15" fmla="*/ 717 h 1571"/>
              <a:gd name="T16" fmla="*/ 8866 w 8894"/>
              <a:gd name="T17" fmla="*/ 717 h 1571"/>
              <a:gd name="T18" fmla="*/ 8867 w 8894"/>
              <a:gd name="T19" fmla="*/ 833 h 1571"/>
              <a:gd name="T20" fmla="*/ 8322 w 8894"/>
              <a:gd name="T21" fmla="*/ 1534 h 1571"/>
              <a:gd name="T22" fmla="*/ 8322 w 8894"/>
              <a:gd name="T23" fmla="*/ 1534 h 1571"/>
              <a:gd name="T24" fmla="*/ 8248 w 8894"/>
              <a:gd name="T25" fmla="*/ 1570 h 1571"/>
              <a:gd name="T26" fmla="*/ 122 w 8894"/>
              <a:gd name="T27" fmla="*/ 1570 h 1571"/>
              <a:gd name="T28" fmla="*/ 122 w 8894"/>
              <a:gd name="T29" fmla="*/ 1570 h 1571"/>
              <a:gd name="T30" fmla="*/ 51 w 8894"/>
              <a:gd name="T31" fmla="*/ 1417 h 1571"/>
              <a:gd name="T32" fmla="*/ 534 w 8894"/>
              <a:gd name="T33" fmla="*/ 835 h 1571"/>
              <a:gd name="T34" fmla="*/ 534 w 8894"/>
              <a:gd name="T35" fmla="*/ 835 h 1571"/>
              <a:gd name="T36" fmla="*/ 533 w 8894"/>
              <a:gd name="T37" fmla="*/ 715 h 1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894" h="1571">
                <a:moveTo>
                  <a:pt x="533" y="715"/>
                </a:moveTo>
                <a:lnTo>
                  <a:pt x="55" y="155"/>
                </a:lnTo>
                <a:lnTo>
                  <a:pt x="55" y="155"/>
                </a:lnTo>
                <a:cubicBezTo>
                  <a:pt x="3" y="94"/>
                  <a:pt x="46" y="0"/>
                  <a:pt x="126" y="0"/>
                </a:cubicBezTo>
                <a:lnTo>
                  <a:pt x="8249" y="0"/>
                </a:lnTo>
                <a:lnTo>
                  <a:pt x="8249" y="0"/>
                </a:lnTo>
                <a:cubicBezTo>
                  <a:pt x="8277" y="0"/>
                  <a:pt x="8304" y="13"/>
                  <a:pt x="8322" y="36"/>
                </a:cubicBezTo>
                <a:lnTo>
                  <a:pt x="8866" y="717"/>
                </a:lnTo>
                <a:lnTo>
                  <a:pt x="8866" y="717"/>
                </a:lnTo>
                <a:cubicBezTo>
                  <a:pt x="8893" y="751"/>
                  <a:pt x="8893" y="799"/>
                  <a:pt x="8867" y="833"/>
                </a:cubicBezTo>
                <a:lnTo>
                  <a:pt x="8322" y="1534"/>
                </a:lnTo>
                <a:lnTo>
                  <a:pt x="8322" y="1534"/>
                </a:lnTo>
                <a:cubicBezTo>
                  <a:pt x="8304" y="1557"/>
                  <a:pt x="8277" y="1570"/>
                  <a:pt x="8248" y="1570"/>
                </a:cubicBezTo>
                <a:lnTo>
                  <a:pt x="122" y="1570"/>
                </a:lnTo>
                <a:lnTo>
                  <a:pt x="122" y="1570"/>
                </a:lnTo>
                <a:cubicBezTo>
                  <a:pt x="43" y="1570"/>
                  <a:pt x="0" y="1478"/>
                  <a:pt x="51" y="1417"/>
                </a:cubicBezTo>
                <a:lnTo>
                  <a:pt x="534" y="835"/>
                </a:lnTo>
                <a:lnTo>
                  <a:pt x="534" y="835"/>
                </a:lnTo>
                <a:cubicBezTo>
                  <a:pt x="563" y="800"/>
                  <a:pt x="563" y="749"/>
                  <a:pt x="533" y="715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4FF8012-0C2E-0942-A0B6-7D946BB83A65}"/>
              </a:ext>
            </a:extLst>
          </p:cNvPr>
          <p:cNvSpPr txBox="1"/>
          <p:nvPr/>
        </p:nvSpPr>
        <p:spPr>
          <a:xfrm>
            <a:off x="64984" y="521223"/>
            <a:ext cx="1006686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AWARENESS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E8BCAB70-348F-8B45-B12D-080FE895C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996351">
            <a:off x="1233658" y="451917"/>
            <a:ext cx="308812" cy="440512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1FEF2C24-879B-0840-8038-79854C7743CE}"/>
              </a:ext>
            </a:extLst>
          </p:cNvPr>
          <p:cNvSpPr txBox="1"/>
          <p:nvPr/>
        </p:nvSpPr>
        <p:spPr>
          <a:xfrm>
            <a:off x="475357" y="3636517"/>
            <a:ext cx="13571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Franklin Gothic Book" panose="020B0503020102020204" pitchFamily="34" charset="0"/>
              </a:rPr>
              <a:t>Building the Foundation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E207C3D-CE0C-1A40-8E98-4ADD098ADB5C}"/>
              </a:ext>
            </a:extLst>
          </p:cNvPr>
          <p:cNvSpPr txBox="1"/>
          <p:nvPr/>
        </p:nvSpPr>
        <p:spPr>
          <a:xfrm>
            <a:off x="2483095" y="3636517"/>
            <a:ext cx="2293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What do we have that they care about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B17DADE-D6FB-B04F-A8D7-71C14BF2DA1D}"/>
              </a:ext>
            </a:extLst>
          </p:cNvPr>
          <p:cNvSpPr txBox="1"/>
          <p:nvPr/>
        </p:nvSpPr>
        <p:spPr>
          <a:xfrm>
            <a:off x="5372371" y="3636517"/>
            <a:ext cx="1382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How and where do we share it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01BD77D-3A08-2841-9755-51D527081176}"/>
              </a:ext>
            </a:extLst>
          </p:cNvPr>
          <p:cNvSpPr txBox="1"/>
          <p:nvPr/>
        </p:nvSpPr>
        <p:spPr>
          <a:xfrm>
            <a:off x="7019075" y="3713460"/>
            <a:ext cx="1382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How is it working</a:t>
            </a:r>
          </a:p>
        </p:txBody>
      </p:sp>
    </p:spTree>
    <p:extLst>
      <p:ext uri="{BB962C8B-B14F-4D97-AF65-F5344CB8AC3E}">
        <p14:creationId xmlns:p14="http://schemas.microsoft.com/office/powerpoint/2010/main" val="3596794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D145A877-1C58-E84B-886D-18CC06E00FBC}"/>
              </a:ext>
            </a:extLst>
          </p:cNvPr>
          <p:cNvSpPr>
            <a:spLocks/>
          </p:cNvSpPr>
          <p:nvPr/>
        </p:nvSpPr>
        <p:spPr bwMode="auto">
          <a:xfrm>
            <a:off x="563313" y="2838368"/>
            <a:ext cx="1942594" cy="1171270"/>
          </a:xfrm>
          <a:prstGeom prst="rect">
            <a:avLst/>
          </a:prstGeom>
          <a:solidFill>
            <a:srgbClr val="B52372"/>
          </a:solidFill>
          <a:ln w="254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050" dirty="0">
              <a:latin typeface="Lato Light" panose="020F0502020204030203" pitchFamily="34" charset="0"/>
            </a:endParaRP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58406AD3-CC94-6442-9894-025135A7961E}"/>
              </a:ext>
            </a:extLst>
          </p:cNvPr>
          <p:cNvSpPr>
            <a:spLocks/>
          </p:cNvSpPr>
          <p:nvPr/>
        </p:nvSpPr>
        <p:spPr bwMode="auto">
          <a:xfrm>
            <a:off x="1977408" y="3471616"/>
            <a:ext cx="533261" cy="538022"/>
          </a:xfrm>
          <a:custGeom>
            <a:avLst/>
            <a:gdLst>
              <a:gd name="T0" fmla="*/ 0 w 21600"/>
              <a:gd name="T1" fmla="*/ 0 h 21600"/>
              <a:gd name="T2" fmla="*/ 1422400 w 21600"/>
              <a:gd name="T3" fmla="*/ 0 h 21600"/>
              <a:gd name="T4" fmla="*/ 1422400 w 21600"/>
              <a:gd name="T5" fmla="*/ 1435100 h 21600"/>
              <a:gd name="T6" fmla="*/ 0 w 21600"/>
              <a:gd name="T7" fmla="*/ 0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>
            <a:srgbClr val="55575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1050" dirty="0">
              <a:latin typeface="Lato Light" panose="020F0502020204030203" pitchFamily="34" charset="0"/>
            </a:endParaRPr>
          </a:p>
        </p:txBody>
      </p:sp>
      <p:sp>
        <p:nvSpPr>
          <p:cNvPr id="11" name="Isosceles Triangle 102">
            <a:extLst>
              <a:ext uri="{FF2B5EF4-FFF2-40B4-BE49-F238E27FC236}">
                <a16:creationId xmlns:a16="http://schemas.microsoft.com/office/drawing/2014/main" id="{F65957D4-53CD-3E4F-906A-5340B2F3D676}"/>
              </a:ext>
            </a:extLst>
          </p:cNvPr>
          <p:cNvSpPr/>
          <p:nvPr/>
        </p:nvSpPr>
        <p:spPr>
          <a:xfrm>
            <a:off x="1759177" y="2623950"/>
            <a:ext cx="191358" cy="191358"/>
          </a:xfrm>
          <a:prstGeom prst="triangle">
            <a:avLst>
              <a:gd name="adj" fmla="val 100000"/>
            </a:avLst>
          </a:prstGeom>
          <a:solidFill>
            <a:srgbClr val="B5237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651056"/>
              <a:satOff val="-5209"/>
              <a:lumOff val="-1814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C169CB1B-12F0-6648-922D-47760AFC8A23}"/>
              </a:ext>
            </a:extLst>
          </p:cNvPr>
          <p:cNvSpPr>
            <a:spLocks/>
          </p:cNvSpPr>
          <p:nvPr/>
        </p:nvSpPr>
        <p:spPr bwMode="auto">
          <a:xfrm>
            <a:off x="1977408" y="2300347"/>
            <a:ext cx="1942594" cy="1171270"/>
          </a:xfrm>
          <a:prstGeom prst="rect">
            <a:avLst/>
          </a:prstGeom>
          <a:solidFill>
            <a:srgbClr val="A0A1A2"/>
          </a:solidFill>
          <a:ln w="254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050" dirty="0">
              <a:latin typeface="Lato Light" panose="020F0502020204030203" pitchFamily="34" charset="0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E21EF20E-B014-BC4A-8D89-6E28A87EB614}"/>
              </a:ext>
            </a:extLst>
          </p:cNvPr>
          <p:cNvSpPr>
            <a:spLocks/>
          </p:cNvSpPr>
          <p:nvPr/>
        </p:nvSpPr>
        <p:spPr bwMode="auto">
          <a:xfrm>
            <a:off x="3391502" y="2933595"/>
            <a:ext cx="533261" cy="538022"/>
          </a:xfrm>
          <a:custGeom>
            <a:avLst/>
            <a:gdLst>
              <a:gd name="T0" fmla="*/ 0 w 21600"/>
              <a:gd name="T1" fmla="*/ 0 h 21600"/>
              <a:gd name="T2" fmla="*/ 1422400 w 21600"/>
              <a:gd name="T3" fmla="*/ 0 h 21600"/>
              <a:gd name="T4" fmla="*/ 1422400 w 21600"/>
              <a:gd name="T5" fmla="*/ 1435100 h 21600"/>
              <a:gd name="T6" fmla="*/ 0 w 21600"/>
              <a:gd name="T7" fmla="*/ 0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>
            <a:srgbClr val="55575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1050" dirty="0">
              <a:latin typeface="Lato Light" panose="020F0502020204030203" pitchFamily="34" charset="0"/>
            </a:endParaRPr>
          </a:p>
        </p:txBody>
      </p:sp>
      <p:sp>
        <p:nvSpPr>
          <p:cNvPr id="18" name="Isosceles Triangle 109">
            <a:extLst>
              <a:ext uri="{FF2B5EF4-FFF2-40B4-BE49-F238E27FC236}">
                <a16:creationId xmlns:a16="http://schemas.microsoft.com/office/drawing/2014/main" id="{DD640EC1-5AD1-624C-A84D-45F8D31B6302}"/>
              </a:ext>
            </a:extLst>
          </p:cNvPr>
          <p:cNvSpPr/>
          <p:nvPr/>
        </p:nvSpPr>
        <p:spPr>
          <a:xfrm>
            <a:off x="3156985" y="2070708"/>
            <a:ext cx="191358" cy="191358"/>
          </a:xfrm>
          <a:prstGeom prst="triangle">
            <a:avLst>
              <a:gd name="adj" fmla="val 100000"/>
            </a:avLst>
          </a:prstGeom>
          <a:solidFill>
            <a:srgbClr val="A0A1A2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4">
              <a:hueOff val="1953167"/>
              <a:satOff val="-15628"/>
              <a:lumOff val="-5442"/>
              <a:alphaOff val="0"/>
            </a:schemeClr>
          </a:fillRef>
          <a:effectRef idx="0">
            <a:schemeClr val="accent4">
              <a:hueOff val="1953167"/>
              <a:satOff val="-15628"/>
              <a:lumOff val="-5442"/>
              <a:alphaOff val="0"/>
            </a:schemeClr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1A329D-D06E-954E-8175-98F7B863EBFF}"/>
              </a:ext>
            </a:extLst>
          </p:cNvPr>
          <p:cNvSpPr>
            <a:spLocks/>
          </p:cNvSpPr>
          <p:nvPr/>
        </p:nvSpPr>
        <p:spPr bwMode="auto">
          <a:xfrm>
            <a:off x="3368489" y="1801890"/>
            <a:ext cx="1942594" cy="1171270"/>
          </a:xfrm>
          <a:prstGeom prst="rect">
            <a:avLst/>
          </a:prstGeom>
          <a:solidFill>
            <a:srgbClr val="D51067"/>
          </a:solidFill>
          <a:ln w="254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050" dirty="0">
              <a:latin typeface="Lato Light" panose="020F0502020204030203" pitchFamily="34" charset="0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8C585924-3BAC-1441-8985-0E63D678A2B5}"/>
              </a:ext>
            </a:extLst>
          </p:cNvPr>
          <p:cNvSpPr>
            <a:spLocks/>
          </p:cNvSpPr>
          <p:nvPr/>
        </p:nvSpPr>
        <p:spPr bwMode="auto">
          <a:xfrm>
            <a:off x="4782584" y="2387524"/>
            <a:ext cx="533261" cy="593395"/>
          </a:xfrm>
          <a:custGeom>
            <a:avLst/>
            <a:gdLst>
              <a:gd name="T0" fmla="*/ 0 w 21600"/>
              <a:gd name="T1" fmla="*/ 0 h 21600"/>
              <a:gd name="T2" fmla="*/ 1422400 w 21600"/>
              <a:gd name="T3" fmla="*/ 0 h 21600"/>
              <a:gd name="T4" fmla="*/ 1422400 w 21600"/>
              <a:gd name="T5" fmla="*/ 1435100 h 21600"/>
              <a:gd name="T6" fmla="*/ 0 w 21600"/>
              <a:gd name="T7" fmla="*/ 0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>
            <a:srgbClr val="55575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1050" dirty="0">
              <a:latin typeface="Lato Light" panose="020F0502020204030203" pitchFamily="34" charset="0"/>
            </a:endParaRPr>
          </a:p>
        </p:txBody>
      </p:sp>
      <p:sp>
        <p:nvSpPr>
          <p:cNvPr id="25" name="Isosceles Triangle 116">
            <a:extLst>
              <a:ext uri="{FF2B5EF4-FFF2-40B4-BE49-F238E27FC236}">
                <a16:creationId xmlns:a16="http://schemas.microsoft.com/office/drawing/2014/main" id="{2A47968B-275F-A047-9EF0-FAF49D2E9B01}"/>
              </a:ext>
            </a:extLst>
          </p:cNvPr>
          <p:cNvSpPr/>
          <p:nvPr/>
        </p:nvSpPr>
        <p:spPr>
          <a:xfrm>
            <a:off x="4571591" y="1540431"/>
            <a:ext cx="191358" cy="191358"/>
          </a:xfrm>
          <a:prstGeom prst="triangle">
            <a:avLst>
              <a:gd name="adj" fmla="val 100000"/>
            </a:avLst>
          </a:prstGeom>
          <a:solidFill>
            <a:srgbClr val="D51067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4">
              <a:hueOff val="3255278"/>
              <a:satOff val="-26046"/>
              <a:lumOff val="-9069"/>
              <a:alphaOff val="0"/>
            </a:schemeClr>
          </a:fillRef>
          <a:effectRef idx="0">
            <a:schemeClr val="accent4">
              <a:hueOff val="3255278"/>
              <a:satOff val="-26046"/>
              <a:lumOff val="-9069"/>
              <a:alphaOff val="0"/>
            </a:schemeClr>
          </a:effectRef>
          <a:fontRef idx="minor">
            <a:schemeClr val="lt1"/>
          </a:fontRef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3631BC-C08C-7746-9A89-8C67AA916956}"/>
              </a:ext>
            </a:extLst>
          </p:cNvPr>
          <p:cNvSpPr>
            <a:spLocks/>
          </p:cNvSpPr>
          <p:nvPr/>
        </p:nvSpPr>
        <p:spPr bwMode="auto">
          <a:xfrm>
            <a:off x="4800835" y="1229062"/>
            <a:ext cx="1942594" cy="1171270"/>
          </a:xfrm>
          <a:prstGeom prst="rect">
            <a:avLst/>
          </a:prstGeom>
          <a:solidFill>
            <a:srgbClr val="B52372"/>
          </a:solidFill>
          <a:ln w="254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050" dirty="0">
              <a:latin typeface="Lato Light" panose="020F0502020204030203" pitchFamily="34" charset="0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8E21C7C-DB74-5C4F-972D-146B584EFF71}"/>
              </a:ext>
            </a:extLst>
          </p:cNvPr>
          <p:cNvSpPr>
            <a:spLocks/>
          </p:cNvSpPr>
          <p:nvPr/>
        </p:nvSpPr>
        <p:spPr bwMode="auto">
          <a:xfrm>
            <a:off x="6210167" y="1852788"/>
            <a:ext cx="533261" cy="538022"/>
          </a:xfrm>
          <a:custGeom>
            <a:avLst/>
            <a:gdLst>
              <a:gd name="T0" fmla="*/ 0 w 21600"/>
              <a:gd name="T1" fmla="*/ 0 h 21600"/>
              <a:gd name="T2" fmla="*/ 1422400 w 21600"/>
              <a:gd name="T3" fmla="*/ 0 h 21600"/>
              <a:gd name="T4" fmla="*/ 1422400 w 21600"/>
              <a:gd name="T5" fmla="*/ 1435100 h 21600"/>
              <a:gd name="T6" fmla="*/ 0 w 21600"/>
              <a:gd name="T7" fmla="*/ 0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>
            <a:srgbClr val="55575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1050" dirty="0">
              <a:latin typeface="Lato Light" panose="020F0502020204030203" pitchFamily="34" charset="0"/>
            </a:endParaRPr>
          </a:p>
        </p:txBody>
      </p:sp>
      <p:sp>
        <p:nvSpPr>
          <p:cNvPr id="32" name="Isosceles Triangle 123">
            <a:extLst>
              <a:ext uri="{FF2B5EF4-FFF2-40B4-BE49-F238E27FC236}">
                <a16:creationId xmlns:a16="http://schemas.microsoft.com/office/drawing/2014/main" id="{CCC7C2F3-8EB4-E048-8544-2C7783264695}"/>
              </a:ext>
            </a:extLst>
          </p:cNvPr>
          <p:cNvSpPr/>
          <p:nvPr/>
        </p:nvSpPr>
        <p:spPr>
          <a:xfrm>
            <a:off x="5980815" y="1009019"/>
            <a:ext cx="191358" cy="191358"/>
          </a:xfrm>
          <a:prstGeom prst="triangle">
            <a:avLst>
              <a:gd name="adj" fmla="val 100000"/>
            </a:avLst>
          </a:prstGeom>
          <a:solidFill>
            <a:srgbClr val="B5237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4557389"/>
              <a:satOff val="-36465"/>
              <a:lumOff val="-12697"/>
              <a:alphaOff val="0"/>
            </a:schemeClr>
          </a:effectRef>
          <a:fontRef idx="minor">
            <a:schemeClr val="lt1"/>
          </a:fontRef>
        </p:style>
      </p:sp>
      <p:sp>
        <p:nvSpPr>
          <p:cNvPr id="37" name="AutoShape 13">
            <a:extLst>
              <a:ext uri="{FF2B5EF4-FFF2-40B4-BE49-F238E27FC236}">
                <a16:creationId xmlns:a16="http://schemas.microsoft.com/office/drawing/2014/main" id="{FB40DF09-96ED-6F4B-95F0-6E858B7FE8AB}"/>
              </a:ext>
            </a:extLst>
          </p:cNvPr>
          <p:cNvSpPr>
            <a:spLocks/>
          </p:cNvSpPr>
          <p:nvPr/>
        </p:nvSpPr>
        <p:spPr bwMode="auto">
          <a:xfrm>
            <a:off x="6210168" y="438693"/>
            <a:ext cx="2399675" cy="1671202"/>
          </a:xfrm>
          <a:prstGeom prst="rightArrow">
            <a:avLst>
              <a:gd name="adj1" fmla="val 69463"/>
              <a:gd name="adj2" fmla="val 28319"/>
            </a:avLst>
          </a:prstGeom>
          <a:solidFill>
            <a:srgbClr val="A0A1A2"/>
          </a:solidFill>
          <a:ln w="254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050" dirty="0">
              <a:latin typeface="Lato Light" panose="020F0502020204030203" pitchFamily="34" charset="0"/>
            </a:endParaRP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03B0FC84-37C5-8B4B-8E27-31409940CBF2}"/>
              </a:ext>
            </a:extLst>
          </p:cNvPr>
          <p:cNvSpPr txBox="1">
            <a:spLocks/>
          </p:cNvSpPr>
          <p:nvPr/>
        </p:nvSpPr>
        <p:spPr>
          <a:xfrm>
            <a:off x="610519" y="3631278"/>
            <a:ext cx="1416475" cy="287732"/>
          </a:xfrm>
          <a:prstGeom prst="rect">
            <a:avLst/>
          </a:prstGeom>
        </p:spPr>
        <p:txBody>
          <a:bodyPr vert="horz" wrap="square" lIns="81559" tIns="40779" rIns="81559" bIns="407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88"/>
              </a:lnSpc>
            </a:pPr>
            <a:r>
              <a:rPr lang="en-US" dirty="0">
                <a:solidFill>
                  <a:schemeClr val="bg1"/>
                </a:solidFill>
                <a:latin typeface="Franklin Gothic Medium" panose="020B06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Unaware</a:t>
            </a:r>
          </a:p>
        </p:txBody>
      </p:sp>
      <p:sp>
        <p:nvSpPr>
          <p:cNvPr id="42" name="Freeform 990">
            <a:extLst>
              <a:ext uri="{FF2B5EF4-FFF2-40B4-BE49-F238E27FC236}">
                <a16:creationId xmlns:a16="http://schemas.microsoft.com/office/drawing/2014/main" id="{72C9C390-BB25-ED4C-B4B1-CA1658C1E1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21487" y="3045861"/>
            <a:ext cx="294371" cy="294371"/>
          </a:xfrm>
          <a:custGeom>
            <a:avLst/>
            <a:gdLst>
              <a:gd name="T0" fmla="*/ 122401 w 285390"/>
              <a:gd name="T1" fmla="*/ 269276 h 285390"/>
              <a:gd name="T2" fmla="*/ 21728 w 285390"/>
              <a:gd name="T3" fmla="*/ 278152 h 285390"/>
              <a:gd name="T4" fmla="*/ 255092 w 285390"/>
              <a:gd name="T5" fmla="*/ 224969 h 285390"/>
              <a:gd name="T6" fmla="*/ 232372 w 285390"/>
              <a:gd name="T7" fmla="*/ 224969 h 285390"/>
              <a:gd name="T8" fmla="*/ 210417 w 285390"/>
              <a:gd name="T9" fmla="*/ 224969 h 285390"/>
              <a:gd name="T10" fmla="*/ 188080 w 285390"/>
              <a:gd name="T11" fmla="*/ 224969 h 285390"/>
              <a:gd name="T12" fmla="*/ 165743 w 285390"/>
              <a:gd name="T13" fmla="*/ 224969 h 285390"/>
              <a:gd name="T14" fmla="*/ 143405 w 285390"/>
              <a:gd name="T15" fmla="*/ 224969 h 285390"/>
              <a:gd name="T16" fmla="*/ 121068 w 285390"/>
              <a:gd name="T17" fmla="*/ 224969 h 285390"/>
              <a:gd name="T18" fmla="*/ 98730 w 285390"/>
              <a:gd name="T19" fmla="*/ 224969 h 285390"/>
              <a:gd name="T20" fmla="*/ 76393 w 285390"/>
              <a:gd name="T21" fmla="*/ 224969 h 285390"/>
              <a:gd name="T22" fmla="*/ 54438 w 285390"/>
              <a:gd name="T23" fmla="*/ 224969 h 285390"/>
              <a:gd name="T24" fmla="*/ 31909 w 285390"/>
              <a:gd name="T25" fmla="*/ 224969 h 285390"/>
              <a:gd name="T26" fmla="*/ 247771 w 285390"/>
              <a:gd name="T27" fmla="*/ 207418 h 285390"/>
              <a:gd name="T28" fmla="*/ 224777 w 285390"/>
              <a:gd name="T29" fmla="*/ 207418 h 285390"/>
              <a:gd name="T30" fmla="*/ 200844 w 285390"/>
              <a:gd name="T31" fmla="*/ 207418 h 285390"/>
              <a:gd name="T32" fmla="*/ 178507 w 285390"/>
              <a:gd name="T33" fmla="*/ 207418 h 285390"/>
              <a:gd name="T34" fmla="*/ 154574 w 285390"/>
              <a:gd name="T35" fmla="*/ 207418 h 285390"/>
              <a:gd name="T36" fmla="*/ 132237 w 285390"/>
              <a:gd name="T37" fmla="*/ 207418 h 285390"/>
              <a:gd name="T38" fmla="*/ 108303 w 285390"/>
              <a:gd name="T39" fmla="*/ 207418 h 285390"/>
              <a:gd name="T40" fmla="*/ 85966 w 285390"/>
              <a:gd name="T41" fmla="*/ 207418 h 285390"/>
              <a:gd name="T42" fmla="*/ 62034 w 285390"/>
              <a:gd name="T43" fmla="*/ 207418 h 285390"/>
              <a:gd name="T44" fmla="*/ 38482 w 285390"/>
              <a:gd name="T45" fmla="*/ 207418 h 285390"/>
              <a:gd name="T46" fmla="*/ 242328 w 285390"/>
              <a:gd name="T47" fmla="*/ 191463 h 285390"/>
              <a:gd name="T48" fmla="*/ 221586 w 285390"/>
              <a:gd name="T49" fmla="*/ 191463 h 285390"/>
              <a:gd name="T50" fmla="*/ 199249 w 285390"/>
              <a:gd name="T51" fmla="*/ 191463 h 285390"/>
              <a:gd name="T52" fmla="*/ 176912 w 285390"/>
              <a:gd name="T53" fmla="*/ 191463 h 285390"/>
              <a:gd name="T54" fmla="*/ 154574 w 285390"/>
              <a:gd name="T55" fmla="*/ 191463 h 285390"/>
              <a:gd name="T56" fmla="*/ 132620 w 285390"/>
              <a:gd name="T57" fmla="*/ 191463 h 285390"/>
              <a:gd name="T58" fmla="*/ 110283 w 285390"/>
              <a:gd name="T59" fmla="*/ 191463 h 285390"/>
              <a:gd name="T60" fmla="*/ 87562 w 285390"/>
              <a:gd name="T61" fmla="*/ 191463 h 285390"/>
              <a:gd name="T62" fmla="*/ 65225 w 285390"/>
              <a:gd name="T63" fmla="*/ 191463 h 285390"/>
              <a:gd name="T64" fmla="*/ 44483 w 285390"/>
              <a:gd name="T65" fmla="*/ 191463 h 285390"/>
              <a:gd name="T66" fmla="*/ 30420 w 285390"/>
              <a:gd name="T67" fmla="*/ 182662 h 285390"/>
              <a:gd name="T68" fmla="*/ 194654 w 285390"/>
              <a:gd name="T69" fmla="*/ 82169 h 285390"/>
              <a:gd name="T70" fmla="*/ 92539 w 285390"/>
              <a:gd name="T71" fmla="*/ 82169 h 285390"/>
              <a:gd name="T72" fmla="*/ 194654 w 285390"/>
              <a:gd name="T73" fmla="*/ 73393 h 285390"/>
              <a:gd name="T74" fmla="*/ 92539 w 285390"/>
              <a:gd name="T75" fmla="*/ 73393 h 285390"/>
              <a:gd name="T76" fmla="*/ 142617 w 285390"/>
              <a:gd name="T77" fmla="*/ 54247 h 285390"/>
              <a:gd name="T78" fmla="*/ 151337 w 285390"/>
              <a:gd name="T79" fmla="*/ 75323 h 285390"/>
              <a:gd name="T80" fmla="*/ 146977 w 285390"/>
              <a:gd name="T81" fmla="*/ 119649 h 285390"/>
              <a:gd name="T82" fmla="*/ 125904 w 285390"/>
              <a:gd name="T83" fmla="*/ 109476 h 285390"/>
              <a:gd name="T84" fmla="*/ 142617 w 285390"/>
              <a:gd name="T85" fmla="*/ 94941 h 285390"/>
              <a:gd name="T86" fmla="*/ 78398 w 285390"/>
              <a:gd name="T87" fmla="*/ 37352 h 285390"/>
              <a:gd name="T88" fmla="*/ 226711 w 285390"/>
              <a:gd name="T89" fmla="*/ 127273 h 285390"/>
              <a:gd name="T90" fmla="*/ 213655 w 285390"/>
              <a:gd name="T91" fmla="*/ 28719 h 285390"/>
              <a:gd name="T92" fmla="*/ 231061 w 285390"/>
              <a:gd name="T93" fmla="*/ 135546 h 285390"/>
              <a:gd name="T94" fmla="*/ 57004 w 285390"/>
              <a:gd name="T95" fmla="*/ 135546 h 285390"/>
              <a:gd name="T96" fmla="*/ 74410 w 285390"/>
              <a:gd name="T97" fmla="*/ 28719 h 285390"/>
              <a:gd name="T98" fmla="*/ 254962 w 285390"/>
              <a:gd name="T99" fmla="*/ 21701 h 285390"/>
              <a:gd name="T100" fmla="*/ 264016 w 285390"/>
              <a:gd name="T101" fmla="*/ 21701 h 285390"/>
              <a:gd name="T102" fmla="*/ 265465 w 285390"/>
              <a:gd name="T103" fmla="*/ 286832 h 285390"/>
              <a:gd name="T104" fmla="*/ 23178 w 285390"/>
              <a:gd name="T105" fmla="*/ 177598 h 285390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285390" h="285390">
                <a:moveTo>
                  <a:pt x="121785" y="258763"/>
                </a:moveTo>
                <a:lnTo>
                  <a:pt x="162017" y="258763"/>
                </a:lnTo>
                <a:cubicBezTo>
                  <a:pt x="164531" y="258763"/>
                  <a:pt x="166328" y="260961"/>
                  <a:pt x="166328" y="263159"/>
                </a:cubicBezTo>
                <a:cubicBezTo>
                  <a:pt x="166328" y="265724"/>
                  <a:pt x="164531" y="267922"/>
                  <a:pt x="162017" y="267922"/>
                </a:cubicBezTo>
                <a:lnTo>
                  <a:pt x="121785" y="267922"/>
                </a:lnTo>
                <a:cubicBezTo>
                  <a:pt x="119271" y="267922"/>
                  <a:pt x="117475" y="265724"/>
                  <a:pt x="117475" y="263159"/>
                </a:cubicBezTo>
                <a:cubicBezTo>
                  <a:pt x="117475" y="260961"/>
                  <a:pt x="119271" y="258763"/>
                  <a:pt x="121785" y="258763"/>
                </a:cubicBezTo>
                <a:close/>
                <a:moveTo>
                  <a:pt x="8648" y="250841"/>
                </a:moveTo>
                <a:lnTo>
                  <a:pt x="8648" y="263797"/>
                </a:lnTo>
                <a:cubicBezTo>
                  <a:pt x="8648" y="270995"/>
                  <a:pt x="14413" y="276753"/>
                  <a:pt x="21620" y="276753"/>
                </a:cubicBezTo>
                <a:lnTo>
                  <a:pt x="264130" y="276753"/>
                </a:lnTo>
                <a:cubicBezTo>
                  <a:pt x="271337" y="276753"/>
                  <a:pt x="276742" y="270995"/>
                  <a:pt x="276742" y="263797"/>
                </a:cubicBezTo>
                <a:lnTo>
                  <a:pt x="276742" y="250841"/>
                </a:lnTo>
                <a:lnTo>
                  <a:pt x="8648" y="250841"/>
                </a:lnTo>
                <a:close/>
                <a:moveTo>
                  <a:pt x="253809" y="223838"/>
                </a:moveTo>
                <a:cubicBezTo>
                  <a:pt x="256476" y="223838"/>
                  <a:pt x="258381" y="225743"/>
                  <a:pt x="258381" y="228410"/>
                </a:cubicBezTo>
                <a:cubicBezTo>
                  <a:pt x="258381" y="231077"/>
                  <a:pt x="256476" y="232982"/>
                  <a:pt x="253809" y="232982"/>
                </a:cubicBezTo>
                <a:cubicBezTo>
                  <a:pt x="251523" y="232982"/>
                  <a:pt x="249237" y="231077"/>
                  <a:pt x="249237" y="228410"/>
                </a:cubicBezTo>
                <a:cubicBezTo>
                  <a:pt x="249237" y="225743"/>
                  <a:pt x="251523" y="223838"/>
                  <a:pt x="253809" y="223838"/>
                </a:cubicBezTo>
                <a:close/>
                <a:moveTo>
                  <a:pt x="231203" y="223838"/>
                </a:moveTo>
                <a:cubicBezTo>
                  <a:pt x="234251" y="223838"/>
                  <a:pt x="236156" y="225743"/>
                  <a:pt x="236156" y="228410"/>
                </a:cubicBezTo>
                <a:cubicBezTo>
                  <a:pt x="236156" y="231077"/>
                  <a:pt x="234251" y="232982"/>
                  <a:pt x="231203" y="232982"/>
                </a:cubicBezTo>
                <a:cubicBezTo>
                  <a:pt x="228917" y="232982"/>
                  <a:pt x="227012" y="231077"/>
                  <a:pt x="227012" y="228410"/>
                </a:cubicBezTo>
                <a:cubicBezTo>
                  <a:pt x="227012" y="225743"/>
                  <a:pt x="228917" y="223838"/>
                  <a:pt x="231203" y="223838"/>
                </a:cubicBezTo>
                <a:close/>
                <a:moveTo>
                  <a:pt x="209359" y="223838"/>
                </a:moveTo>
                <a:cubicBezTo>
                  <a:pt x="212026" y="223838"/>
                  <a:pt x="213931" y="225743"/>
                  <a:pt x="213931" y="228410"/>
                </a:cubicBezTo>
                <a:cubicBezTo>
                  <a:pt x="213931" y="231077"/>
                  <a:pt x="212026" y="232982"/>
                  <a:pt x="209359" y="232982"/>
                </a:cubicBezTo>
                <a:cubicBezTo>
                  <a:pt x="206692" y="232982"/>
                  <a:pt x="204787" y="231077"/>
                  <a:pt x="204787" y="228410"/>
                </a:cubicBezTo>
                <a:cubicBezTo>
                  <a:pt x="204787" y="225743"/>
                  <a:pt x="206692" y="223838"/>
                  <a:pt x="209359" y="223838"/>
                </a:cubicBezTo>
                <a:close/>
                <a:moveTo>
                  <a:pt x="187134" y="223838"/>
                </a:moveTo>
                <a:cubicBezTo>
                  <a:pt x="189420" y="223838"/>
                  <a:pt x="191706" y="225743"/>
                  <a:pt x="191706" y="228410"/>
                </a:cubicBezTo>
                <a:cubicBezTo>
                  <a:pt x="191706" y="231077"/>
                  <a:pt x="189420" y="232982"/>
                  <a:pt x="187134" y="232982"/>
                </a:cubicBezTo>
                <a:cubicBezTo>
                  <a:pt x="184467" y="232982"/>
                  <a:pt x="182562" y="231077"/>
                  <a:pt x="182562" y="228410"/>
                </a:cubicBezTo>
                <a:cubicBezTo>
                  <a:pt x="182562" y="225743"/>
                  <a:pt x="184467" y="223838"/>
                  <a:pt x="187134" y="223838"/>
                </a:cubicBezTo>
                <a:close/>
                <a:moveTo>
                  <a:pt x="164909" y="223838"/>
                </a:moveTo>
                <a:cubicBezTo>
                  <a:pt x="167576" y="223838"/>
                  <a:pt x="169481" y="225743"/>
                  <a:pt x="169481" y="228410"/>
                </a:cubicBezTo>
                <a:cubicBezTo>
                  <a:pt x="169481" y="231077"/>
                  <a:pt x="167576" y="232982"/>
                  <a:pt x="164909" y="232982"/>
                </a:cubicBezTo>
                <a:cubicBezTo>
                  <a:pt x="162623" y="232982"/>
                  <a:pt x="160337" y="231077"/>
                  <a:pt x="160337" y="228410"/>
                </a:cubicBezTo>
                <a:cubicBezTo>
                  <a:pt x="160337" y="225743"/>
                  <a:pt x="162623" y="223838"/>
                  <a:pt x="164909" y="223838"/>
                </a:cubicBezTo>
                <a:close/>
                <a:moveTo>
                  <a:pt x="142684" y="223838"/>
                </a:moveTo>
                <a:cubicBezTo>
                  <a:pt x="144970" y="223838"/>
                  <a:pt x="147256" y="225743"/>
                  <a:pt x="147256" y="228410"/>
                </a:cubicBezTo>
                <a:cubicBezTo>
                  <a:pt x="147256" y="231077"/>
                  <a:pt x="144970" y="232982"/>
                  <a:pt x="142684" y="232982"/>
                </a:cubicBezTo>
                <a:cubicBezTo>
                  <a:pt x="140017" y="232982"/>
                  <a:pt x="138112" y="231077"/>
                  <a:pt x="138112" y="228410"/>
                </a:cubicBezTo>
                <a:cubicBezTo>
                  <a:pt x="138112" y="225743"/>
                  <a:pt x="140017" y="223838"/>
                  <a:pt x="142684" y="223838"/>
                </a:cubicBezTo>
                <a:close/>
                <a:moveTo>
                  <a:pt x="120459" y="223838"/>
                </a:moveTo>
                <a:cubicBezTo>
                  <a:pt x="122745" y="223838"/>
                  <a:pt x="125031" y="225743"/>
                  <a:pt x="125031" y="228410"/>
                </a:cubicBezTo>
                <a:cubicBezTo>
                  <a:pt x="125031" y="231077"/>
                  <a:pt x="122745" y="232982"/>
                  <a:pt x="120459" y="232982"/>
                </a:cubicBezTo>
                <a:cubicBezTo>
                  <a:pt x="117792" y="232982"/>
                  <a:pt x="115887" y="231077"/>
                  <a:pt x="115887" y="228410"/>
                </a:cubicBezTo>
                <a:cubicBezTo>
                  <a:pt x="115887" y="225743"/>
                  <a:pt x="117792" y="223838"/>
                  <a:pt x="120459" y="223838"/>
                </a:cubicBezTo>
                <a:close/>
                <a:moveTo>
                  <a:pt x="98234" y="223838"/>
                </a:moveTo>
                <a:cubicBezTo>
                  <a:pt x="100901" y="223838"/>
                  <a:pt x="102806" y="225743"/>
                  <a:pt x="102806" y="228410"/>
                </a:cubicBezTo>
                <a:cubicBezTo>
                  <a:pt x="102806" y="231077"/>
                  <a:pt x="100901" y="232982"/>
                  <a:pt x="98234" y="232982"/>
                </a:cubicBezTo>
                <a:cubicBezTo>
                  <a:pt x="95567" y="232982"/>
                  <a:pt x="93662" y="231077"/>
                  <a:pt x="93662" y="228410"/>
                </a:cubicBezTo>
                <a:cubicBezTo>
                  <a:pt x="93662" y="225743"/>
                  <a:pt x="95567" y="223838"/>
                  <a:pt x="98234" y="223838"/>
                </a:cubicBezTo>
                <a:close/>
                <a:moveTo>
                  <a:pt x="76009" y="223838"/>
                </a:moveTo>
                <a:cubicBezTo>
                  <a:pt x="78295" y="223838"/>
                  <a:pt x="80581" y="225743"/>
                  <a:pt x="80581" y="228410"/>
                </a:cubicBezTo>
                <a:cubicBezTo>
                  <a:pt x="80581" y="231077"/>
                  <a:pt x="78295" y="232982"/>
                  <a:pt x="76009" y="232982"/>
                </a:cubicBezTo>
                <a:cubicBezTo>
                  <a:pt x="73342" y="232982"/>
                  <a:pt x="71437" y="231077"/>
                  <a:pt x="71437" y="228410"/>
                </a:cubicBezTo>
                <a:cubicBezTo>
                  <a:pt x="71437" y="225743"/>
                  <a:pt x="73342" y="223838"/>
                  <a:pt x="76009" y="223838"/>
                </a:cubicBezTo>
                <a:close/>
                <a:moveTo>
                  <a:pt x="54165" y="223838"/>
                </a:moveTo>
                <a:cubicBezTo>
                  <a:pt x="56451" y="223838"/>
                  <a:pt x="58356" y="225743"/>
                  <a:pt x="58356" y="228410"/>
                </a:cubicBezTo>
                <a:cubicBezTo>
                  <a:pt x="58356" y="231077"/>
                  <a:pt x="56451" y="232982"/>
                  <a:pt x="54165" y="232982"/>
                </a:cubicBezTo>
                <a:cubicBezTo>
                  <a:pt x="51498" y="232982"/>
                  <a:pt x="49212" y="231077"/>
                  <a:pt x="49212" y="228410"/>
                </a:cubicBezTo>
                <a:cubicBezTo>
                  <a:pt x="49212" y="225743"/>
                  <a:pt x="51498" y="223838"/>
                  <a:pt x="54165" y="223838"/>
                </a:cubicBezTo>
                <a:close/>
                <a:moveTo>
                  <a:pt x="31749" y="223838"/>
                </a:moveTo>
                <a:cubicBezTo>
                  <a:pt x="33947" y="223838"/>
                  <a:pt x="36145" y="225743"/>
                  <a:pt x="36145" y="228410"/>
                </a:cubicBezTo>
                <a:cubicBezTo>
                  <a:pt x="36145" y="231077"/>
                  <a:pt x="33947" y="232982"/>
                  <a:pt x="31749" y="232982"/>
                </a:cubicBezTo>
                <a:cubicBezTo>
                  <a:pt x="29185" y="232982"/>
                  <a:pt x="26987" y="231077"/>
                  <a:pt x="26987" y="228410"/>
                </a:cubicBezTo>
                <a:cubicBezTo>
                  <a:pt x="26987" y="225743"/>
                  <a:pt x="29185" y="223838"/>
                  <a:pt x="31749" y="223838"/>
                </a:cubicBezTo>
                <a:close/>
                <a:moveTo>
                  <a:pt x="246525" y="206375"/>
                </a:moveTo>
                <a:cubicBezTo>
                  <a:pt x="248841" y="206375"/>
                  <a:pt x="250494" y="208280"/>
                  <a:pt x="250494" y="210947"/>
                </a:cubicBezTo>
                <a:cubicBezTo>
                  <a:pt x="250494" y="213614"/>
                  <a:pt x="248841" y="215519"/>
                  <a:pt x="246525" y="215519"/>
                </a:cubicBezTo>
                <a:cubicBezTo>
                  <a:pt x="244541" y="215519"/>
                  <a:pt x="242887" y="213614"/>
                  <a:pt x="242887" y="210947"/>
                </a:cubicBezTo>
                <a:cubicBezTo>
                  <a:pt x="242887" y="208280"/>
                  <a:pt x="244541" y="206375"/>
                  <a:pt x="246525" y="206375"/>
                </a:cubicBezTo>
                <a:close/>
                <a:moveTo>
                  <a:pt x="223647" y="206375"/>
                </a:moveTo>
                <a:cubicBezTo>
                  <a:pt x="226314" y="206375"/>
                  <a:pt x="228219" y="208280"/>
                  <a:pt x="228219" y="210947"/>
                </a:cubicBezTo>
                <a:cubicBezTo>
                  <a:pt x="228219" y="213614"/>
                  <a:pt x="226314" y="215519"/>
                  <a:pt x="223647" y="215519"/>
                </a:cubicBezTo>
                <a:cubicBezTo>
                  <a:pt x="220980" y="215519"/>
                  <a:pt x="219075" y="213614"/>
                  <a:pt x="219075" y="210947"/>
                </a:cubicBezTo>
                <a:cubicBezTo>
                  <a:pt x="219075" y="208280"/>
                  <a:pt x="220980" y="206375"/>
                  <a:pt x="223647" y="206375"/>
                </a:cubicBezTo>
                <a:close/>
                <a:moveTo>
                  <a:pt x="199834" y="206375"/>
                </a:moveTo>
                <a:cubicBezTo>
                  <a:pt x="202501" y="206375"/>
                  <a:pt x="204406" y="208280"/>
                  <a:pt x="204406" y="210947"/>
                </a:cubicBezTo>
                <a:cubicBezTo>
                  <a:pt x="204406" y="213614"/>
                  <a:pt x="202501" y="215519"/>
                  <a:pt x="199834" y="215519"/>
                </a:cubicBezTo>
                <a:cubicBezTo>
                  <a:pt x="197167" y="215519"/>
                  <a:pt x="195262" y="213614"/>
                  <a:pt x="195262" y="210947"/>
                </a:cubicBezTo>
                <a:cubicBezTo>
                  <a:pt x="195262" y="208280"/>
                  <a:pt x="197167" y="206375"/>
                  <a:pt x="199834" y="206375"/>
                </a:cubicBezTo>
                <a:close/>
                <a:moveTo>
                  <a:pt x="177609" y="206375"/>
                </a:moveTo>
                <a:cubicBezTo>
                  <a:pt x="180276" y="206375"/>
                  <a:pt x="182181" y="208280"/>
                  <a:pt x="182181" y="210947"/>
                </a:cubicBezTo>
                <a:cubicBezTo>
                  <a:pt x="182181" y="213614"/>
                  <a:pt x="180276" y="215519"/>
                  <a:pt x="177609" y="215519"/>
                </a:cubicBezTo>
                <a:cubicBezTo>
                  <a:pt x="174942" y="215519"/>
                  <a:pt x="173037" y="213614"/>
                  <a:pt x="173037" y="210947"/>
                </a:cubicBezTo>
                <a:cubicBezTo>
                  <a:pt x="173037" y="208280"/>
                  <a:pt x="174942" y="206375"/>
                  <a:pt x="177609" y="206375"/>
                </a:cubicBezTo>
                <a:close/>
                <a:moveTo>
                  <a:pt x="153797" y="206375"/>
                </a:moveTo>
                <a:cubicBezTo>
                  <a:pt x="156464" y="206375"/>
                  <a:pt x="158369" y="208280"/>
                  <a:pt x="158369" y="210947"/>
                </a:cubicBezTo>
                <a:cubicBezTo>
                  <a:pt x="158369" y="213614"/>
                  <a:pt x="156464" y="215519"/>
                  <a:pt x="153797" y="215519"/>
                </a:cubicBezTo>
                <a:cubicBezTo>
                  <a:pt x="151130" y="215519"/>
                  <a:pt x="149225" y="213614"/>
                  <a:pt x="149225" y="210947"/>
                </a:cubicBezTo>
                <a:cubicBezTo>
                  <a:pt x="149225" y="208280"/>
                  <a:pt x="151130" y="206375"/>
                  <a:pt x="153797" y="206375"/>
                </a:cubicBezTo>
                <a:close/>
                <a:moveTo>
                  <a:pt x="131572" y="206375"/>
                </a:moveTo>
                <a:cubicBezTo>
                  <a:pt x="134239" y="206375"/>
                  <a:pt x="136144" y="208280"/>
                  <a:pt x="136144" y="210947"/>
                </a:cubicBezTo>
                <a:cubicBezTo>
                  <a:pt x="136144" y="213614"/>
                  <a:pt x="134239" y="215519"/>
                  <a:pt x="131572" y="215519"/>
                </a:cubicBezTo>
                <a:cubicBezTo>
                  <a:pt x="128905" y="215519"/>
                  <a:pt x="127000" y="213614"/>
                  <a:pt x="127000" y="210947"/>
                </a:cubicBezTo>
                <a:cubicBezTo>
                  <a:pt x="127000" y="208280"/>
                  <a:pt x="128905" y="206375"/>
                  <a:pt x="131572" y="206375"/>
                </a:cubicBezTo>
                <a:close/>
                <a:moveTo>
                  <a:pt x="107759" y="206375"/>
                </a:moveTo>
                <a:cubicBezTo>
                  <a:pt x="110045" y="206375"/>
                  <a:pt x="112331" y="208280"/>
                  <a:pt x="112331" y="210947"/>
                </a:cubicBezTo>
                <a:cubicBezTo>
                  <a:pt x="112331" y="213614"/>
                  <a:pt x="110045" y="215519"/>
                  <a:pt x="107759" y="215519"/>
                </a:cubicBezTo>
                <a:cubicBezTo>
                  <a:pt x="105092" y="215519"/>
                  <a:pt x="103187" y="213614"/>
                  <a:pt x="103187" y="210947"/>
                </a:cubicBezTo>
                <a:cubicBezTo>
                  <a:pt x="103187" y="208280"/>
                  <a:pt x="105092" y="206375"/>
                  <a:pt x="107759" y="206375"/>
                </a:cubicBezTo>
                <a:close/>
                <a:moveTo>
                  <a:pt x="85534" y="206375"/>
                </a:moveTo>
                <a:cubicBezTo>
                  <a:pt x="87820" y="206375"/>
                  <a:pt x="90106" y="208280"/>
                  <a:pt x="90106" y="210947"/>
                </a:cubicBezTo>
                <a:cubicBezTo>
                  <a:pt x="90106" y="213614"/>
                  <a:pt x="87820" y="215519"/>
                  <a:pt x="85534" y="215519"/>
                </a:cubicBezTo>
                <a:cubicBezTo>
                  <a:pt x="82867" y="215519"/>
                  <a:pt x="80962" y="213614"/>
                  <a:pt x="80962" y="210947"/>
                </a:cubicBezTo>
                <a:cubicBezTo>
                  <a:pt x="80962" y="208280"/>
                  <a:pt x="82867" y="206375"/>
                  <a:pt x="85534" y="206375"/>
                </a:cubicBezTo>
                <a:close/>
                <a:moveTo>
                  <a:pt x="61722" y="206375"/>
                </a:moveTo>
                <a:cubicBezTo>
                  <a:pt x="64008" y="206375"/>
                  <a:pt x="66294" y="208280"/>
                  <a:pt x="66294" y="210947"/>
                </a:cubicBezTo>
                <a:cubicBezTo>
                  <a:pt x="66294" y="213614"/>
                  <a:pt x="64008" y="215519"/>
                  <a:pt x="61722" y="215519"/>
                </a:cubicBezTo>
                <a:cubicBezTo>
                  <a:pt x="59055" y="215519"/>
                  <a:pt x="57150" y="213614"/>
                  <a:pt x="57150" y="210947"/>
                </a:cubicBezTo>
                <a:cubicBezTo>
                  <a:pt x="57150" y="208280"/>
                  <a:pt x="59055" y="206375"/>
                  <a:pt x="61722" y="206375"/>
                </a:cubicBezTo>
                <a:close/>
                <a:moveTo>
                  <a:pt x="38290" y="206375"/>
                </a:moveTo>
                <a:cubicBezTo>
                  <a:pt x="40576" y="206375"/>
                  <a:pt x="42481" y="208280"/>
                  <a:pt x="42481" y="210947"/>
                </a:cubicBezTo>
                <a:cubicBezTo>
                  <a:pt x="42481" y="213614"/>
                  <a:pt x="40576" y="215519"/>
                  <a:pt x="38290" y="215519"/>
                </a:cubicBezTo>
                <a:cubicBezTo>
                  <a:pt x="35623" y="215519"/>
                  <a:pt x="33337" y="213614"/>
                  <a:pt x="33337" y="210947"/>
                </a:cubicBezTo>
                <a:cubicBezTo>
                  <a:pt x="33337" y="208280"/>
                  <a:pt x="35623" y="206375"/>
                  <a:pt x="38290" y="206375"/>
                </a:cubicBezTo>
                <a:close/>
                <a:moveTo>
                  <a:pt x="241109" y="190500"/>
                </a:moveTo>
                <a:cubicBezTo>
                  <a:pt x="243776" y="190500"/>
                  <a:pt x="245681" y="192405"/>
                  <a:pt x="245681" y="195072"/>
                </a:cubicBezTo>
                <a:cubicBezTo>
                  <a:pt x="245681" y="197358"/>
                  <a:pt x="243776" y="199644"/>
                  <a:pt x="241109" y="199644"/>
                </a:cubicBezTo>
                <a:cubicBezTo>
                  <a:pt x="238442" y="199644"/>
                  <a:pt x="236537" y="197358"/>
                  <a:pt x="236537" y="195072"/>
                </a:cubicBezTo>
                <a:cubicBezTo>
                  <a:pt x="236537" y="192405"/>
                  <a:pt x="238442" y="190500"/>
                  <a:pt x="241109" y="190500"/>
                </a:cubicBezTo>
                <a:close/>
                <a:moveTo>
                  <a:pt x="220472" y="190500"/>
                </a:moveTo>
                <a:cubicBezTo>
                  <a:pt x="223139" y="190500"/>
                  <a:pt x="225044" y="192405"/>
                  <a:pt x="225044" y="195072"/>
                </a:cubicBezTo>
                <a:cubicBezTo>
                  <a:pt x="225044" y="197358"/>
                  <a:pt x="223139" y="199644"/>
                  <a:pt x="220472" y="199644"/>
                </a:cubicBezTo>
                <a:cubicBezTo>
                  <a:pt x="217805" y="199644"/>
                  <a:pt x="215900" y="197358"/>
                  <a:pt x="215900" y="195072"/>
                </a:cubicBezTo>
                <a:cubicBezTo>
                  <a:pt x="215900" y="192405"/>
                  <a:pt x="217805" y="190500"/>
                  <a:pt x="220472" y="190500"/>
                </a:cubicBezTo>
                <a:close/>
                <a:moveTo>
                  <a:pt x="198247" y="190500"/>
                </a:moveTo>
                <a:cubicBezTo>
                  <a:pt x="200914" y="190500"/>
                  <a:pt x="202819" y="192405"/>
                  <a:pt x="202819" y="195072"/>
                </a:cubicBezTo>
                <a:cubicBezTo>
                  <a:pt x="202819" y="197358"/>
                  <a:pt x="200914" y="199644"/>
                  <a:pt x="198247" y="199644"/>
                </a:cubicBezTo>
                <a:cubicBezTo>
                  <a:pt x="195580" y="199644"/>
                  <a:pt x="193675" y="197358"/>
                  <a:pt x="193675" y="195072"/>
                </a:cubicBezTo>
                <a:cubicBezTo>
                  <a:pt x="193675" y="192405"/>
                  <a:pt x="195580" y="190500"/>
                  <a:pt x="198247" y="190500"/>
                </a:cubicBezTo>
                <a:close/>
                <a:moveTo>
                  <a:pt x="176022" y="190500"/>
                </a:moveTo>
                <a:cubicBezTo>
                  <a:pt x="178308" y="190500"/>
                  <a:pt x="180594" y="192405"/>
                  <a:pt x="180594" y="195072"/>
                </a:cubicBezTo>
                <a:cubicBezTo>
                  <a:pt x="180594" y="197358"/>
                  <a:pt x="178308" y="199644"/>
                  <a:pt x="176022" y="199644"/>
                </a:cubicBezTo>
                <a:cubicBezTo>
                  <a:pt x="173355" y="199644"/>
                  <a:pt x="171450" y="197358"/>
                  <a:pt x="171450" y="195072"/>
                </a:cubicBezTo>
                <a:cubicBezTo>
                  <a:pt x="171450" y="192405"/>
                  <a:pt x="173355" y="190500"/>
                  <a:pt x="176022" y="190500"/>
                </a:cubicBezTo>
                <a:close/>
                <a:moveTo>
                  <a:pt x="153797" y="190500"/>
                </a:moveTo>
                <a:cubicBezTo>
                  <a:pt x="156083" y="190500"/>
                  <a:pt x="158369" y="192405"/>
                  <a:pt x="158369" y="195072"/>
                </a:cubicBezTo>
                <a:cubicBezTo>
                  <a:pt x="158369" y="197358"/>
                  <a:pt x="156083" y="199644"/>
                  <a:pt x="153797" y="199644"/>
                </a:cubicBezTo>
                <a:cubicBezTo>
                  <a:pt x="151130" y="199644"/>
                  <a:pt x="149225" y="197358"/>
                  <a:pt x="149225" y="195072"/>
                </a:cubicBezTo>
                <a:cubicBezTo>
                  <a:pt x="149225" y="192405"/>
                  <a:pt x="151130" y="190500"/>
                  <a:pt x="153797" y="190500"/>
                </a:cubicBezTo>
                <a:close/>
                <a:moveTo>
                  <a:pt x="131953" y="190500"/>
                </a:moveTo>
                <a:cubicBezTo>
                  <a:pt x="134239" y="190500"/>
                  <a:pt x="136144" y="192405"/>
                  <a:pt x="136144" y="195072"/>
                </a:cubicBezTo>
                <a:cubicBezTo>
                  <a:pt x="136144" y="197358"/>
                  <a:pt x="134239" y="199644"/>
                  <a:pt x="131953" y="199644"/>
                </a:cubicBezTo>
                <a:cubicBezTo>
                  <a:pt x="129286" y="199644"/>
                  <a:pt x="127000" y="197358"/>
                  <a:pt x="127000" y="195072"/>
                </a:cubicBezTo>
                <a:cubicBezTo>
                  <a:pt x="127000" y="192405"/>
                  <a:pt x="129286" y="190500"/>
                  <a:pt x="131953" y="190500"/>
                </a:cubicBezTo>
                <a:close/>
                <a:moveTo>
                  <a:pt x="109728" y="190500"/>
                </a:moveTo>
                <a:cubicBezTo>
                  <a:pt x="112014" y="190500"/>
                  <a:pt x="113919" y="192405"/>
                  <a:pt x="113919" y="195072"/>
                </a:cubicBezTo>
                <a:cubicBezTo>
                  <a:pt x="113919" y="197358"/>
                  <a:pt x="112014" y="199644"/>
                  <a:pt x="109728" y="199644"/>
                </a:cubicBezTo>
                <a:cubicBezTo>
                  <a:pt x="106680" y="199644"/>
                  <a:pt x="104775" y="197358"/>
                  <a:pt x="104775" y="195072"/>
                </a:cubicBezTo>
                <a:cubicBezTo>
                  <a:pt x="104775" y="192405"/>
                  <a:pt x="106680" y="190500"/>
                  <a:pt x="109728" y="190500"/>
                </a:cubicBezTo>
                <a:close/>
                <a:moveTo>
                  <a:pt x="87122" y="190500"/>
                </a:moveTo>
                <a:cubicBezTo>
                  <a:pt x="89789" y="190500"/>
                  <a:pt x="91694" y="192405"/>
                  <a:pt x="91694" y="195072"/>
                </a:cubicBezTo>
                <a:cubicBezTo>
                  <a:pt x="91694" y="197358"/>
                  <a:pt x="89789" y="199644"/>
                  <a:pt x="87122" y="199644"/>
                </a:cubicBezTo>
                <a:cubicBezTo>
                  <a:pt x="84455" y="199644"/>
                  <a:pt x="82550" y="197358"/>
                  <a:pt x="82550" y="195072"/>
                </a:cubicBezTo>
                <a:cubicBezTo>
                  <a:pt x="82550" y="192405"/>
                  <a:pt x="84455" y="190500"/>
                  <a:pt x="87122" y="190500"/>
                </a:cubicBezTo>
                <a:close/>
                <a:moveTo>
                  <a:pt x="64897" y="190500"/>
                </a:moveTo>
                <a:cubicBezTo>
                  <a:pt x="67564" y="190500"/>
                  <a:pt x="69469" y="192405"/>
                  <a:pt x="69469" y="195072"/>
                </a:cubicBezTo>
                <a:cubicBezTo>
                  <a:pt x="69469" y="197358"/>
                  <a:pt x="67564" y="199644"/>
                  <a:pt x="64897" y="199644"/>
                </a:cubicBezTo>
                <a:cubicBezTo>
                  <a:pt x="62230" y="199644"/>
                  <a:pt x="60325" y="197358"/>
                  <a:pt x="60325" y="195072"/>
                </a:cubicBezTo>
                <a:cubicBezTo>
                  <a:pt x="60325" y="192405"/>
                  <a:pt x="62230" y="190500"/>
                  <a:pt x="64897" y="190500"/>
                </a:cubicBezTo>
                <a:close/>
                <a:moveTo>
                  <a:pt x="44259" y="190500"/>
                </a:moveTo>
                <a:cubicBezTo>
                  <a:pt x="46545" y="190500"/>
                  <a:pt x="48831" y="192405"/>
                  <a:pt x="48831" y="195072"/>
                </a:cubicBezTo>
                <a:cubicBezTo>
                  <a:pt x="48831" y="197358"/>
                  <a:pt x="46545" y="199644"/>
                  <a:pt x="44259" y="199644"/>
                </a:cubicBezTo>
                <a:cubicBezTo>
                  <a:pt x="41592" y="199644"/>
                  <a:pt x="39687" y="197358"/>
                  <a:pt x="39687" y="195072"/>
                </a:cubicBezTo>
                <a:cubicBezTo>
                  <a:pt x="39687" y="192405"/>
                  <a:pt x="41592" y="190500"/>
                  <a:pt x="44259" y="190500"/>
                </a:cubicBezTo>
                <a:close/>
                <a:moveTo>
                  <a:pt x="30268" y="181743"/>
                </a:moveTo>
                <a:lnTo>
                  <a:pt x="10089" y="242204"/>
                </a:lnTo>
                <a:lnTo>
                  <a:pt x="275300" y="242204"/>
                </a:lnTo>
                <a:lnTo>
                  <a:pt x="255121" y="181743"/>
                </a:lnTo>
                <a:lnTo>
                  <a:pt x="30268" y="181743"/>
                </a:lnTo>
                <a:close/>
                <a:moveTo>
                  <a:pt x="193675" y="81756"/>
                </a:moveTo>
                <a:cubicBezTo>
                  <a:pt x="188685" y="81756"/>
                  <a:pt x="184765" y="85394"/>
                  <a:pt x="184765" y="90488"/>
                </a:cubicBezTo>
                <a:cubicBezTo>
                  <a:pt x="184765" y="95217"/>
                  <a:pt x="188685" y="99219"/>
                  <a:pt x="193675" y="99219"/>
                </a:cubicBezTo>
                <a:cubicBezTo>
                  <a:pt x="197951" y="99219"/>
                  <a:pt x="201871" y="95217"/>
                  <a:pt x="201871" y="90488"/>
                </a:cubicBezTo>
                <a:cubicBezTo>
                  <a:pt x="201871" y="85394"/>
                  <a:pt x="197951" y="81756"/>
                  <a:pt x="193675" y="81756"/>
                </a:cubicBezTo>
                <a:close/>
                <a:moveTo>
                  <a:pt x="92074" y="81756"/>
                </a:moveTo>
                <a:cubicBezTo>
                  <a:pt x="87441" y="81756"/>
                  <a:pt x="83521" y="85394"/>
                  <a:pt x="83521" y="90488"/>
                </a:cubicBezTo>
                <a:cubicBezTo>
                  <a:pt x="83521" y="95217"/>
                  <a:pt x="87441" y="99219"/>
                  <a:pt x="92074" y="99219"/>
                </a:cubicBezTo>
                <a:cubicBezTo>
                  <a:pt x="96707" y="99219"/>
                  <a:pt x="100627" y="95217"/>
                  <a:pt x="100627" y="90488"/>
                </a:cubicBezTo>
                <a:cubicBezTo>
                  <a:pt x="100627" y="85394"/>
                  <a:pt x="96707" y="81756"/>
                  <a:pt x="92074" y="81756"/>
                </a:cubicBezTo>
                <a:close/>
                <a:moveTo>
                  <a:pt x="193675" y="73025"/>
                </a:moveTo>
                <a:cubicBezTo>
                  <a:pt x="202941" y="73025"/>
                  <a:pt x="210781" y="80665"/>
                  <a:pt x="210781" y="90488"/>
                </a:cubicBezTo>
                <a:cubicBezTo>
                  <a:pt x="210781" y="99946"/>
                  <a:pt x="202941" y="107586"/>
                  <a:pt x="193675" y="107586"/>
                </a:cubicBezTo>
                <a:cubicBezTo>
                  <a:pt x="184053" y="107586"/>
                  <a:pt x="176212" y="99946"/>
                  <a:pt x="176212" y="90488"/>
                </a:cubicBezTo>
                <a:cubicBezTo>
                  <a:pt x="176212" y="80665"/>
                  <a:pt x="184053" y="73025"/>
                  <a:pt x="193675" y="73025"/>
                </a:cubicBezTo>
                <a:close/>
                <a:moveTo>
                  <a:pt x="92074" y="73025"/>
                </a:moveTo>
                <a:cubicBezTo>
                  <a:pt x="101340" y="73025"/>
                  <a:pt x="109180" y="80665"/>
                  <a:pt x="109180" y="90488"/>
                </a:cubicBezTo>
                <a:cubicBezTo>
                  <a:pt x="109180" y="99946"/>
                  <a:pt x="101340" y="107586"/>
                  <a:pt x="92074" y="107586"/>
                </a:cubicBezTo>
                <a:cubicBezTo>
                  <a:pt x="82452" y="107586"/>
                  <a:pt x="74612" y="99946"/>
                  <a:pt x="74612" y="90488"/>
                </a:cubicBezTo>
                <a:cubicBezTo>
                  <a:pt x="74612" y="80665"/>
                  <a:pt x="82452" y="73025"/>
                  <a:pt x="92074" y="73025"/>
                </a:cubicBezTo>
                <a:close/>
                <a:moveTo>
                  <a:pt x="141900" y="53975"/>
                </a:moveTo>
                <a:cubicBezTo>
                  <a:pt x="144069" y="53975"/>
                  <a:pt x="146238" y="56144"/>
                  <a:pt x="146238" y="58675"/>
                </a:cubicBezTo>
                <a:lnTo>
                  <a:pt x="146238" y="61567"/>
                </a:lnTo>
                <a:cubicBezTo>
                  <a:pt x="152022" y="62651"/>
                  <a:pt x="156722" y="66266"/>
                  <a:pt x="158529" y="71689"/>
                </a:cubicBezTo>
                <a:cubicBezTo>
                  <a:pt x="159614" y="73858"/>
                  <a:pt x="158529" y="76389"/>
                  <a:pt x="156360" y="77473"/>
                </a:cubicBezTo>
                <a:cubicBezTo>
                  <a:pt x="154191" y="78196"/>
                  <a:pt x="151661" y="77112"/>
                  <a:pt x="150576" y="74943"/>
                </a:cubicBezTo>
                <a:cubicBezTo>
                  <a:pt x="149492" y="72050"/>
                  <a:pt x="145877" y="69520"/>
                  <a:pt x="141900" y="69520"/>
                </a:cubicBezTo>
                <a:cubicBezTo>
                  <a:pt x="136477" y="69520"/>
                  <a:pt x="132501" y="73497"/>
                  <a:pt x="132501" y="77835"/>
                </a:cubicBezTo>
                <a:cubicBezTo>
                  <a:pt x="132501" y="83257"/>
                  <a:pt x="135393" y="85788"/>
                  <a:pt x="141900" y="85788"/>
                </a:cubicBezTo>
                <a:cubicBezTo>
                  <a:pt x="153107" y="85788"/>
                  <a:pt x="159975" y="92657"/>
                  <a:pt x="159975" y="102779"/>
                </a:cubicBezTo>
                <a:cubicBezTo>
                  <a:pt x="159975" y="110732"/>
                  <a:pt x="154191" y="117239"/>
                  <a:pt x="146238" y="119047"/>
                </a:cubicBezTo>
                <a:lnTo>
                  <a:pt x="146238" y="122301"/>
                </a:lnTo>
                <a:cubicBezTo>
                  <a:pt x="146238" y="124470"/>
                  <a:pt x="144069" y="126639"/>
                  <a:pt x="141900" y="126639"/>
                </a:cubicBezTo>
                <a:cubicBezTo>
                  <a:pt x="139369" y="126639"/>
                  <a:pt x="137562" y="124470"/>
                  <a:pt x="137562" y="122301"/>
                </a:cubicBezTo>
                <a:lnTo>
                  <a:pt x="137562" y="119047"/>
                </a:lnTo>
                <a:cubicBezTo>
                  <a:pt x="131778" y="117962"/>
                  <a:pt x="127440" y="114347"/>
                  <a:pt x="125271" y="108925"/>
                </a:cubicBezTo>
                <a:cubicBezTo>
                  <a:pt x="124186" y="106756"/>
                  <a:pt x="125271" y="104225"/>
                  <a:pt x="127440" y="103502"/>
                </a:cubicBezTo>
                <a:cubicBezTo>
                  <a:pt x="129609" y="102417"/>
                  <a:pt x="132139" y="103502"/>
                  <a:pt x="132862" y="105671"/>
                </a:cubicBezTo>
                <a:cubicBezTo>
                  <a:pt x="134670" y="108925"/>
                  <a:pt x="138285" y="111094"/>
                  <a:pt x="141900" y="111094"/>
                </a:cubicBezTo>
                <a:cubicBezTo>
                  <a:pt x="146961" y="111094"/>
                  <a:pt x="151299" y="107479"/>
                  <a:pt x="151299" y="102779"/>
                </a:cubicBezTo>
                <a:cubicBezTo>
                  <a:pt x="151299" y="97356"/>
                  <a:pt x="148046" y="94464"/>
                  <a:pt x="141900" y="94464"/>
                </a:cubicBezTo>
                <a:cubicBezTo>
                  <a:pt x="128524" y="94464"/>
                  <a:pt x="123825" y="85788"/>
                  <a:pt x="123825" y="77835"/>
                </a:cubicBezTo>
                <a:cubicBezTo>
                  <a:pt x="123825" y="69881"/>
                  <a:pt x="129609" y="63374"/>
                  <a:pt x="137562" y="61567"/>
                </a:cubicBezTo>
                <a:lnTo>
                  <a:pt x="137562" y="58675"/>
                </a:lnTo>
                <a:cubicBezTo>
                  <a:pt x="137562" y="56144"/>
                  <a:pt x="139369" y="53975"/>
                  <a:pt x="141900" y="53975"/>
                </a:cubicBezTo>
                <a:close/>
                <a:moveTo>
                  <a:pt x="78003" y="37164"/>
                </a:moveTo>
                <a:cubicBezTo>
                  <a:pt x="76199" y="45753"/>
                  <a:pt x="69344" y="52553"/>
                  <a:pt x="60685" y="53984"/>
                </a:cubicBezTo>
                <a:lnTo>
                  <a:pt x="60685" y="126633"/>
                </a:lnTo>
                <a:cubicBezTo>
                  <a:pt x="69344" y="128422"/>
                  <a:pt x="76199" y="134864"/>
                  <a:pt x="78003" y="143453"/>
                </a:cubicBezTo>
                <a:lnTo>
                  <a:pt x="208973" y="143453"/>
                </a:lnTo>
                <a:cubicBezTo>
                  <a:pt x="210416" y="134864"/>
                  <a:pt x="217271" y="128422"/>
                  <a:pt x="225570" y="126633"/>
                </a:cubicBezTo>
                <a:lnTo>
                  <a:pt x="225570" y="53984"/>
                </a:lnTo>
                <a:cubicBezTo>
                  <a:pt x="217271" y="52553"/>
                  <a:pt x="210416" y="45753"/>
                  <a:pt x="208973" y="37164"/>
                </a:cubicBezTo>
                <a:lnTo>
                  <a:pt x="78003" y="37164"/>
                </a:lnTo>
                <a:close/>
                <a:moveTo>
                  <a:pt x="74035" y="28575"/>
                </a:moveTo>
                <a:lnTo>
                  <a:pt x="212581" y="28575"/>
                </a:lnTo>
                <a:cubicBezTo>
                  <a:pt x="215106" y="28575"/>
                  <a:pt x="216910" y="30722"/>
                  <a:pt x="216910" y="32869"/>
                </a:cubicBezTo>
                <a:cubicBezTo>
                  <a:pt x="216910" y="40027"/>
                  <a:pt x="222683" y="45753"/>
                  <a:pt x="229899" y="45753"/>
                </a:cubicBezTo>
                <a:cubicBezTo>
                  <a:pt x="232425" y="45753"/>
                  <a:pt x="234589" y="47542"/>
                  <a:pt x="234589" y="50405"/>
                </a:cubicBezTo>
                <a:lnTo>
                  <a:pt x="234589" y="130570"/>
                </a:lnTo>
                <a:cubicBezTo>
                  <a:pt x="234589" y="132717"/>
                  <a:pt x="232425" y="134864"/>
                  <a:pt x="229899" y="134864"/>
                </a:cubicBezTo>
                <a:cubicBezTo>
                  <a:pt x="222683" y="134864"/>
                  <a:pt x="216910" y="140590"/>
                  <a:pt x="216910" y="147748"/>
                </a:cubicBezTo>
                <a:cubicBezTo>
                  <a:pt x="216910" y="150253"/>
                  <a:pt x="215106" y="152042"/>
                  <a:pt x="212581" y="152042"/>
                </a:cubicBezTo>
                <a:lnTo>
                  <a:pt x="74035" y="152042"/>
                </a:lnTo>
                <a:cubicBezTo>
                  <a:pt x="71509" y="152042"/>
                  <a:pt x="69705" y="150253"/>
                  <a:pt x="69705" y="147748"/>
                </a:cubicBezTo>
                <a:cubicBezTo>
                  <a:pt x="69705" y="140590"/>
                  <a:pt x="63932" y="134864"/>
                  <a:pt x="56716" y="134864"/>
                </a:cubicBezTo>
                <a:cubicBezTo>
                  <a:pt x="54191" y="134864"/>
                  <a:pt x="52387" y="132717"/>
                  <a:pt x="52387" y="130570"/>
                </a:cubicBezTo>
                <a:lnTo>
                  <a:pt x="52387" y="50405"/>
                </a:lnTo>
                <a:cubicBezTo>
                  <a:pt x="52387" y="47542"/>
                  <a:pt x="54191" y="45753"/>
                  <a:pt x="56716" y="45753"/>
                </a:cubicBezTo>
                <a:cubicBezTo>
                  <a:pt x="63932" y="45753"/>
                  <a:pt x="69705" y="40027"/>
                  <a:pt x="69705" y="32869"/>
                </a:cubicBezTo>
                <a:cubicBezTo>
                  <a:pt x="69705" y="30722"/>
                  <a:pt x="71509" y="28575"/>
                  <a:pt x="74035" y="28575"/>
                </a:cubicBezTo>
                <a:close/>
                <a:moveTo>
                  <a:pt x="44682" y="8637"/>
                </a:moveTo>
                <a:cubicBezTo>
                  <a:pt x="37475" y="8637"/>
                  <a:pt x="31710" y="14395"/>
                  <a:pt x="31710" y="21593"/>
                </a:cubicBezTo>
                <a:lnTo>
                  <a:pt x="31710" y="173106"/>
                </a:lnTo>
                <a:lnTo>
                  <a:pt x="253680" y="173106"/>
                </a:lnTo>
                <a:lnTo>
                  <a:pt x="253680" y="21593"/>
                </a:lnTo>
                <a:cubicBezTo>
                  <a:pt x="253680" y="14395"/>
                  <a:pt x="248275" y="8637"/>
                  <a:pt x="241068" y="8637"/>
                </a:cubicBezTo>
                <a:lnTo>
                  <a:pt x="44682" y="8637"/>
                </a:lnTo>
                <a:close/>
                <a:moveTo>
                  <a:pt x="44682" y="0"/>
                </a:moveTo>
                <a:lnTo>
                  <a:pt x="241068" y="0"/>
                </a:lnTo>
                <a:cubicBezTo>
                  <a:pt x="252599" y="0"/>
                  <a:pt x="262688" y="9717"/>
                  <a:pt x="262688" y="21593"/>
                </a:cubicBezTo>
                <a:lnTo>
                  <a:pt x="262688" y="176705"/>
                </a:lnTo>
                <a:lnTo>
                  <a:pt x="285390" y="245083"/>
                </a:lnTo>
                <a:cubicBezTo>
                  <a:pt x="285390" y="245803"/>
                  <a:pt x="285390" y="246163"/>
                  <a:pt x="285390" y="246523"/>
                </a:cubicBezTo>
                <a:lnTo>
                  <a:pt x="285390" y="263797"/>
                </a:lnTo>
                <a:cubicBezTo>
                  <a:pt x="285390" y="275673"/>
                  <a:pt x="275661" y="285390"/>
                  <a:pt x="264130" y="285390"/>
                </a:cubicBezTo>
                <a:lnTo>
                  <a:pt x="21620" y="285390"/>
                </a:lnTo>
                <a:cubicBezTo>
                  <a:pt x="9729" y="285390"/>
                  <a:pt x="0" y="275673"/>
                  <a:pt x="0" y="263797"/>
                </a:cubicBezTo>
                <a:lnTo>
                  <a:pt x="0" y="246523"/>
                </a:lnTo>
                <a:cubicBezTo>
                  <a:pt x="0" y="246163"/>
                  <a:pt x="0" y="245803"/>
                  <a:pt x="0" y="245083"/>
                </a:cubicBezTo>
                <a:lnTo>
                  <a:pt x="23062" y="176705"/>
                </a:lnTo>
                <a:lnTo>
                  <a:pt x="23062" y="21593"/>
                </a:lnTo>
                <a:cubicBezTo>
                  <a:pt x="23062" y="9717"/>
                  <a:pt x="32791" y="0"/>
                  <a:pt x="446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8651D618-0702-BD4E-9175-B57560717DF1}"/>
              </a:ext>
            </a:extLst>
          </p:cNvPr>
          <p:cNvSpPr txBox="1">
            <a:spLocks/>
          </p:cNvSpPr>
          <p:nvPr/>
        </p:nvSpPr>
        <p:spPr>
          <a:xfrm>
            <a:off x="2025570" y="2980920"/>
            <a:ext cx="1271743" cy="287732"/>
          </a:xfrm>
          <a:prstGeom prst="rect">
            <a:avLst/>
          </a:prstGeom>
        </p:spPr>
        <p:txBody>
          <a:bodyPr vert="horz" wrap="square" lIns="81559" tIns="40779" rIns="81559" bIns="407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88"/>
              </a:lnSpc>
            </a:pPr>
            <a:r>
              <a:rPr lang="en-US" dirty="0">
                <a:solidFill>
                  <a:schemeClr val="bg1"/>
                </a:solidFill>
                <a:latin typeface="Franklin Gothic Medium" panose="020B06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Aware</a:t>
            </a:r>
          </a:p>
        </p:txBody>
      </p:sp>
      <p:sp>
        <p:nvSpPr>
          <p:cNvPr id="21" name="Freeform 984">
            <a:extLst>
              <a:ext uri="{FF2B5EF4-FFF2-40B4-BE49-F238E27FC236}">
                <a16:creationId xmlns:a16="http://schemas.microsoft.com/office/drawing/2014/main" id="{8924903F-F61D-8847-973E-832E25E36C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95563" y="1374922"/>
            <a:ext cx="224049" cy="294371"/>
          </a:xfrm>
          <a:custGeom>
            <a:avLst/>
            <a:gdLst>
              <a:gd name="T0" fmla="*/ 132017 w 217126"/>
              <a:gd name="T1" fmla="*/ 278152 h 285390"/>
              <a:gd name="T2" fmla="*/ 55280 w 217126"/>
              <a:gd name="T3" fmla="*/ 215215 h 285390"/>
              <a:gd name="T4" fmla="*/ 57098 w 217126"/>
              <a:gd name="T5" fmla="*/ 253918 h 285390"/>
              <a:gd name="T6" fmla="*/ 163294 w 217126"/>
              <a:gd name="T7" fmla="*/ 239087 h 285390"/>
              <a:gd name="T8" fmla="*/ 74555 w 217126"/>
              <a:gd name="T9" fmla="*/ 230407 h 285390"/>
              <a:gd name="T10" fmla="*/ 164021 w 217126"/>
              <a:gd name="T11" fmla="*/ 215215 h 285390"/>
              <a:gd name="T12" fmla="*/ 91779 w 217126"/>
              <a:gd name="T13" fmla="*/ 124998 h 285390"/>
              <a:gd name="T14" fmla="*/ 91779 w 217126"/>
              <a:gd name="T15" fmla="*/ 93227 h 285390"/>
              <a:gd name="T16" fmla="*/ 132279 w 217126"/>
              <a:gd name="T17" fmla="*/ 88897 h 285390"/>
              <a:gd name="T18" fmla="*/ 87440 w 217126"/>
              <a:gd name="T19" fmla="*/ 133663 h 285390"/>
              <a:gd name="T20" fmla="*/ 87440 w 217126"/>
              <a:gd name="T21" fmla="*/ 84563 h 285390"/>
              <a:gd name="T22" fmla="*/ 65458 w 217126"/>
              <a:gd name="T23" fmla="*/ 143941 h 285390"/>
              <a:gd name="T24" fmla="*/ 149920 w 217126"/>
              <a:gd name="T25" fmla="*/ 143941 h 285390"/>
              <a:gd name="T26" fmla="*/ 72708 w 217126"/>
              <a:gd name="T27" fmla="*/ 67027 h 285390"/>
              <a:gd name="T28" fmla="*/ 85759 w 217126"/>
              <a:gd name="T29" fmla="*/ 58319 h 285390"/>
              <a:gd name="T30" fmla="*/ 107508 w 217126"/>
              <a:gd name="T31" fmla="*/ 35101 h 285390"/>
              <a:gd name="T32" fmla="*/ 129258 w 217126"/>
              <a:gd name="T33" fmla="*/ 58319 h 285390"/>
              <a:gd name="T34" fmla="*/ 137958 w 217126"/>
              <a:gd name="T35" fmla="*/ 39457 h 285390"/>
              <a:gd name="T36" fmla="*/ 158619 w 217126"/>
              <a:gd name="T37" fmla="*/ 74283 h 285390"/>
              <a:gd name="T38" fmla="*/ 181819 w 217126"/>
              <a:gd name="T39" fmla="*/ 82991 h 285390"/>
              <a:gd name="T40" fmla="*/ 158619 w 217126"/>
              <a:gd name="T41" fmla="*/ 104759 h 285390"/>
              <a:gd name="T42" fmla="*/ 177107 w 217126"/>
              <a:gd name="T43" fmla="*/ 113466 h 285390"/>
              <a:gd name="T44" fmla="*/ 177107 w 217126"/>
              <a:gd name="T45" fmla="*/ 130880 h 285390"/>
              <a:gd name="T46" fmla="*/ 158619 w 217126"/>
              <a:gd name="T47" fmla="*/ 139587 h 285390"/>
              <a:gd name="T48" fmla="*/ 137958 w 217126"/>
              <a:gd name="T49" fmla="*/ 159904 h 285390"/>
              <a:gd name="T50" fmla="*/ 129258 w 217126"/>
              <a:gd name="T51" fmla="*/ 178407 h 285390"/>
              <a:gd name="T52" fmla="*/ 111858 w 217126"/>
              <a:gd name="T53" fmla="*/ 178407 h 285390"/>
              <a:gd name="T54" fmla="*/ 103158 w 217126"/>
              <a:gd name="T55" fmla="*/ 159904 h 285390"/>
              <a:gd name="T56" fmla="*/ 81408 w 217126"/>
              <a:gd name="T57" fmla="*/ 183123 h 285390"/>
              <a:gd name="T58" fmla="*/ 72708 w 217126"/>
              <a:gd name="T59" fmla="*/ 159904 h 285390"/>
              <a:gd name="T60" fmla="*/ 37910 w 217126"/>
              <a:gd name="T61" fmla="*/ 139587 h 285390"/>
              <a:gd name="T62" fmla="*/ 56759 w 217126"/>
              <a:gd name="T63" fmla="*/ 130880 h 285390"/>
              <a:gd name="T64" fmla="*/ 33560 w 217126"/>
              <a:gd name="T65" fmla="*/ 109112 h 285390"/>
              <a:gd name="T66" fmla="*/ 56759 w 217126"/>
              <a:gd name="T67" fmla="*/ 87345 h 285390"/>
              <a:gd name="T68" fmla="*/ 37910 w 217126"/>
              <a:gd name="T69" fmla="*/ 78638 h 285390"/>
              <a:gd name="T70" fmla="*/ 72708 w 217126"/>
              <a:gd name="T71" fmla="*/ 58319 h 285390"/>
              <a:gd name="T72" fmla="*/ 81408 w 217126"/>
              <a:gd name="T73" fmla="*/ 35101 h 285390"/>
              <a:gd name="T74" fmla="*/ 37824 w 217126"/>
              <a:gd name="T75" fmla="*/ 179045 h 285390"/>
              <a:gd name="T76" fmla="*/ 181115 w 217126"/>
              <a:gd name="T77" fmla="*/ 178321 h 285390"/>
              <a:gd name="T78" fmla="*/ 109104 w 217126"/>
              <a:gd name="T79" fmla="*/ 0 h 285390"/>
              <a:gd name="T80" fmla="*/ 172386 w 217126"/>
              <a:gd name="T81" fmla="*/ 221726 h 285390"/>
              <a:gd name="T82" fmla="*/ 160384 w 217126"/>
              <a:gd name="T83" fmla="*/ 262599 h 285390"/>
              <a:gd name="T84" fmla="*/ 58917 w 217126"/>
              <a:gd name="T85" fmla="*/ 262599 h 285390"/>
              <a:gd name="T86" fmla="*/ 46916 w 217126"/>
              <a:gd name="T87" fmla="*/ 222449 h 285390"/>
              <a:gd name="T88" fmla="*/ 109104 w 217126"/>
              <a:gd name="T89" fmla="*/ 0 h 28539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217126" h="285390">
                <a:moveTo>
                  <a:pt x="67197" y="261278"/>
                </a:moveTo>
                <a:cubicBezTo>
                  <a:pt x="69365" y="269915"/>
                  <a:pt x="77313" y="276753"/>
                  <a:pt x="86706" y="276753"/>
                </a:cubicBezTo>
                <a:lnTo>
                  <a:pt x="131143" y="276753"/>
                </a:lnTo>
                <a:cubicBezTo>
                  <a:pt x="140536" y="276753"/>
                  <a:pt x="148484" y="269915"/>
                  <a:pt x="150652" y="261278"/>
                </a:cubicBezTo>
                <a:lnTo>
                  <a:pt x="67197" y="261278"/>
                </a:lnTo>
                <a:close/>
                <a:moveTo>
                  <a:pt x="54914" y="214133"/>
                </a:moveTo>
                <a:cubicBezTo>
                  <a:pt x="55275" y="216292"/>
                  <a:pt x="55275" y="218811"/>
                  <a:pt x="55275" y="221330"/>
                </a:cubicBezTo>
                <a:lnTo>
                  <a:pt x="55275" y="251201"/>
                </a:lnTo>
                <a:cubicBezTo>
                  <a:pt x="55275" y="251921"/>
                  <a:pt x="55998" y="252641"/>
                  <a:pt x="56720" y="252641"/>
                </a:cubicBezTo>
                <a:lnTo>
                  <a:pt x="161128" y="252641"/>
                </a:lnTo>
                <a:cubicBezTo>
                  <a:pt x="161851" y="252641"/>
                  <a:pt x="162212" y="251921"/>
                  <a:pt x="162212" y="251201"/>
                </a:cubicBezTo>
                <a:lnTo>
                  <a:pt x="162212" y="237885"/>
                </a:lnTo>
                <a:lnTo>
                  <a:pt x="74061" y="237885"/>
                </a:lnTo>
                <a:cubicBezTo>
                  <a:pt x="71894" y="237885"/>
                  <a:pt x="69726" y="236086"/>
                  <a:pt x="69726" y="233567"/>
                </a:cubicBezTo>
                <a:cubicBezTo>
                  <a:pt x="69726" y="231047"/>
                  <a:pt x="71894" y="229248"/>
                  <a:pt x="74061" y="229248"/>
                </a:cubicBezTo>
                <a:lnTo>
                  <a:pt x="162212" y="229248"/>
                </a:lnTo>
                <a:lnTo>
                  <a:pt x="162212" y="220611"/>
                </a:lnTo>
                <a:cubicBezTo>
                  <a:pt x="162212" y="218451"/>
                  <a:pt x="162574" y="216292"/>
                  <a:pt x="162935" y="214133"/>
                </a:cubicBezTo>
                <a:lnTo>
                  <a:pt x="54914" y="214133"/>
                </a:lnTo>
                <a:close/>
                <a:moveTo>
                  <a:pt x="91171" y="92759"/>
                </a:moveTo>
                <a:lnTo>
                  <a:pt x="91171" y="124370"/>
                </a:lnTo>
                <a:lnTo>
                  <a:pt x="122782" y="124370"/>
                </a:lnTo>
                <a:lnTo>
                  <a:pt x="122782" y="92759"/>
                </a:lnTo>
                <a:lnTo>
                  <a:pt x="91171" y="92759"/>
                </a:lnTo>
                <a:close/>
                <a:moveTo>
                  <a:pt x="86861" y="84138"/>
                </a:moveTo>
                <a:lnTo>
                  <a:pt x="127092" y="84138"/>
                </a:lnTo>
                <a:cubicBezTo>
                  <a:pt x="129607" y="84138"/>
                  <a:pt x="131403" y="85934"/>
                  <a:pt x="131403" y="88449"/>
                </a:cubicBezTo>
                <a:lnTo>
                  <a:pt x="131403" y="128680"/>
                </a:lnTo>
                <a:cubicBezTo>
                  <a:pt x="131403" y="131195"/>
                  <a:pt x="129607" y="132991"/>
                  <a:pt x="127092" y="132991"/>
                </a:cubicBezTo>
                <a:lnTo>
                  <a:pt x="86861" y="132991"/>
                </a:lnTo>
                <a:cubicBezTo>
                  <a:pt x="84346" y="132991"/>
                  <a:pt x="82550" y="131195"/>
                  <a:pt x="82550" y="128680"/>
                </a:cubicBezTo>
                <a:lnTo>
                  <a:pt x="82550" y="88449"/>
                </a:lnTo>
                <a:cubicBezTo>
                  <a:pt x="82550" y="85934"/>
                  <a:pt x="84346" y="84138"/>
                  <a:pt x="86861" y="84138"/>
                </a:cubicBezTo>
                <a:close/>
                <a:moveTo>
                  <a:pt x="72227" y="66691"/>
                </a:moveTo>
                <a:cubicBezTo>
                  <a:pt x="68266" y="66691"/>
                  <a:pt x="65025" y="69940"/>
                  <a:pt x="65025" y="73910"/>
                </a:cubicBezTo>
                <a:lnTo>
                  <a:pt x="65025" y="143217"/>
                </a:lnTo>
                <a:cubicBezTo>
                  <a:pt x="65025" y="147188"/>
                  <a:pt x="68266" y="150076"/>
                  <a:pt x="72227" y="150076"/>
                </a:cubicBezTo>
                <a:lnTo>
                  <a:pt x="141725" y="150076"/>
                </a:lnTo>
                <a:cubicBezTo>
                  <a:pt x="145326" y="150076"/>
                  <a:pt x="148927" y="147188"/>
                  <a:pt x="148927" y="143217"/>
                </a:cubicBezTo>
                <a:lnTo>
                  <a:pt x="148927" y="73910"/>
                </a:lnTo>
                <a:cubicBezTo>
                  <a:pt x="148927" y="69940"/>
                  <a:pt x="145326" y="66691"/>
                  <a:pt x="141725" y="66691"/>
                </a:cubicBezTo>
                <a:lnTo>
                  <a:pt x="72227" y="66691"/>
                </a:lnTo>
                <a:close/>
                <a:moveTo>
                  <a:pt x="80869" y="34925"/>
                </a:moveTo>
                <a:cubicBezTo>
                  <a:pt x="83030" y="34925"/>
                  <a:pt x="85191" y="36730"/>
                  <a:pt x="85191" y="39257"/>
                </a:cubicBezTo>
                <a:lnTo>
                  <a:pt x="85191" y="58027"/>
                </a:lnTo>
                <a:lnTo>
                  <a:pt x="102475" y="58027"/>
                </a:lnTo>
                <a:lnTo>
                  <a:pt x="102475" y="39257"/>
                </a:lnTo>
                <a:cubicBezTo>
                  <a:pt x="102475" y="36730"/>
                  <a:pt x="104636" y="34925"/>
                  <a:pt x="106796" y="34925"/>
                </a:cubicBezTo>
                <a:cubicBezTo>
                  <a:pt x="109317" y="34925"/>
                  <a:pt x="111117" y="36730"/>
                  <a:pt x="111117" y="39257"/>
                </a:cubicBezTo>
                <a:lnTo>
                  <a:pt x="111117" y="58027"/>
                </a:lnTo>
                <a:lnTo>
                  <a:pt x="128402" y="58027"/>
                </a:lnTo>
                <a:lnTo>
                  <a:pt x="128402" y="39257"/>
                </a:lnTo>
                <a:cubicBezTo>
                  <a:pt x="128402" y="36730"/>
                  <a:pt x="130202" y="34925"/>
                  <a:pt x="133083" y="34925"/>
                </a:cubicBezTo>
                <a:cubicBezTo>
                  <a:pt x="135243" y="34925"/>
                  <a:pt x="137044" y="36730"/>
                  <a:pt x="137044" y="39257"/>
                </a:cubicBezTo>
                <a:lnTo>
                  <a:pt x="137044" y="58027"/>
                </a:lnTo>
                <a:lnTo>
                  <a:pt x="141725" y="58027"/>
                </a:lnTo>
                <a:cubicBezTo>
                  <a:pt x="150367" y="58027"/>
                  <a:pt x="157569" y="65247"/>
                  <a:pt x="157569" y="73910"/>
                </a:cubicBezTo>
                <a:lnTo>
                  <a:pt x="157569" y="78242"/>
                </a:lnTo>
                <a:lnTo>
                  <a:pt x="175934" y="78242"/>
                </a:lnTo>
                <a:cubicBezTo>
                  <a:pt x="178455" y="78242"/>
                  <a:pt x="180615" y="80047"/>
                  <a:pt x="180615" y="82574"/>
                </a:cubicBezTo>
                <a:cubicBezTo>
                  <a:pt x="180615" y="84739"/>
                  <a:pt x="178455" y="86905"/>
                  <a:pt x="175934" y="86905"/>
                </a:cubicBezTo>
                <a:lnTo>
                  <a:pt x="157569" y="86905"/>
                </a:lnTo>
                <a:lnTo>
                  <a:pt x="157569" y="104232"/>
                </a:lnTo>
                <a:lnTo>
                  <a:pt x="175934" y="104232"/>
                </a:lnTo>
                <a:cubicBezTo>
                  <a:pt x="178455" y="104232"/>
                  <a:pt x="180615" y="106398"/>
                  <a:pt x="180615" y="108564"/>
                </a:cubicBezTo>
                <a:cubicBezTo>
                  <a:pt x="180615" y="111090"/>
                  <a:pt x="178455" y="112895"/>
                  <a:pt x="175934" y="112895"/>
                </a:cubicBezTo>
                <a:lnTo>
                  <a:pt x="157569" y="112895"/>
                </a:lnTo>
                <a:lnTo>
                  <a:pt x="157569" y="130222"/>
                </a:lnTo>
                <a:lnTo>
                  <a:pt x="175934" y="130222"/>
                </a:lnTo>
                <a:cubicBezTo>
                  <a:pt x="178455" y="130222"/>
                  <a:pt x="180615" y="132027"/>
                  <a:pt x="180615" y="134554"/>
                </a:cubicBezTo>
                <a:cubicBezTo>
                  <a:pt x="180615" y="137081"/>
                  <a:pt x="178455" y="138885"/>
                  <a:pt x="175934" y="138885"/>
                </a:cubicBezTo>
                <a:lnTo>
                  <a:pt x="157569" y="138885"/>
                </a:lnTo>
                <a:lnTo>
                  <a:pt x="157569" y="143217"/>
                </a:lnTo>
                <a:cubicBezTo>
                  <a:pt x="157569" y="151880"/>
                  <a:pt x="150367" y="159100"/>
                  <a:pt x="141725" y="159100"/>
                </a:cubicBezTo>
                <a:lnTo>
                  <a:pt x="137044" y="159100"/>
                </a:lnTo>
                <a:lnTo>
                  <a:pt x="137044" y="177510"/>
                </a:lnTo>
                <a:cubicBezTo>
                  <a:pt x="137044" y="180036"/>
                  <a:pt x="135243" y="182202"/>
                  <a:pt x="133083" y="182202"/>
                </a:cubicBezTo>
                <a:cubicBezTo>
                  <a:pt x="130202" y="182202"/>
                  <a:pt x="128402" y="180036"/>
                  <a:pt x="128402" y="177510"/>
                </a:cubicBezTo>
                <a:lnTo>
                  <a:pt x="128402" y="159100"/>
                </a:lnTo>
                <a:lnTo>
                  <a:pt x="111117" y="159100"/>
                </a:lnTo>
                <a:lnTo>
                  <a:pt x="111117" y="177510"/>
                </a:lnTo>
                <a:cubicBezTo>
                  <a:pt x="111117" y="180036"/>
                  <a:pt x="109317" y="182202"/>
                  <a:pt x="106796" y="182202"/>
                </a:cubicBezTo>
                <a:cubicBezTo>
                  <a:pt x="104636" y="182202"/>
                  <a:pt x="102475" y="180036"/>
                  <a:pt x="102475" y="177510"/>
                </a:cubicBezTo>
                <a:lnTo>
                  <a:pt x="102475" y="159100"/>
                </a:lnTo>
                <a:lnTo>
                  <a:pt x="85191" y="159100"/>
                </a:lnTo>
                <a:lnTo>
                  <a:pt x="85191" y="177510"/>
                </a:lnTo>
                <a:cubicBezTo>
                  <a:pt x="85191" y="180036"/>
                  <a:pt x="83030" y="182202"/>
                  <a:pt x="80869" y="182202"/>
                </a:cubicBezTo>
                <a:cubicBezTo>
                  <a:pt x="78709" y="182202"/>
                  <a:pt x="76548" y="180036"/>
                  <a:pt x="76548" y="177510"/>
                </a:cubicBezTo>
                <a:lnTo>
                  <a:pt x="76548" y="159100"/>
                </a:lnTo>
                <a:lnTo>
                  <a:pt x="72227" y="159100"/>
                </a:lnTo>
                <a:cubicBezTo>
                  <a:pt x="63585" y="159100"/>
                  <a:pt x="56383" y="151880"/>
                  <a:pt x="56383" y="143217"/>
                </a:cubicBezTo>
                <a:lnTo>
                  <a:pt x="56383" y="138885"/>
                </a:lnTo>
                <a:lnTo>
                  <a:pt x="37658" y="138885"/>
                </a:lnTo>
                <a:cubicBezTo>
                  <a:pt x="35138" y="138885"/>
                  <a:pt x="33337" y="137081"/>
                  <a:pt x="33337" y="134554"/>
                </a:cubicBezTo>
                <a:cubicBezTo>
                  <a:pt x="33337" y="132027"/>
                  <a:pt x="35138" y="130222"/>
                  <a:pt x="37658" y="130222"/>
                </a:cubicBezTo>
                <a:lnTo>
                  <a:pt x="56383" y="130222"/>
                </a:lnTo>
                <a:lnTo>
                  <a:pt x="56383" y="112895"/>
                </a:lnTo>
                <a:lnTo>
                  <a:pt x="37658" y="112895"/>
                </a:lnTo>
                <a:cubicBezTo>
                  <a:pt x="35138" y="112895"/>
                  <a:pt x="33337" y="111090"/>
                  <a:pt x="33337" y="108564"/>
                </a:cubicBezTo>
                <a:cubicBezTo>
                  <a:pt x="33337" y="106398"/>
                  <a:pt x="35138" y="104232"/>
                  <a:pt x="37658" y="104232"/>
                </a:cubicBezTo>
                <a:lnTo>
                  <a:pt x="56383" y="104232"/>
                </a:lnTo>
                <a:lnTo>
                  <a:pt x="56383" y="86905"/>
                </a:lnTo>
                <a:lnTo>
                  <a:pt x="37658" y="86905"/>
                </a:lnTo>
                <a:cubicBezTo>
                  <a:pt x="35138" y="86905"/>
                  <a:pt x="33337" y="84739"/>
                  <a:pt x="33337" y="82574"/>
                </a:cubicBezTo>
                <a:cubicBezTo>
                  <a:pt x="33337" y="80047"/>
                  <a:pt x="35138" y="78242"/>
                  <a:pt x="37658" y="78242"/>
                </a:cubicBezTo>
                <a:lnTo>
                  <a:pt x="56383" y="78242"/>
                </a:lnTo>
                <a:lnTo>
                  <a:pt x="56383" y="73910"/>
                </a:lnTo>
                <a:cubicBezTo>
                  <a:pt x="56383" y="65247"/>
                  <a:pt x="63585" y="58027"/>
                  <a:pt x="72227" y="58027"/>
                </a:cubicBezTo>
                <a:lnTo>
                  <a:pt x="76548" y="58027"/>
                </a:lnTo>
                <a:lnTo>
                  <a:pt x="76548" y="39257"/>
                </a:lnTo>
                <a:cubicBezTo>
                  <a:pt x="76548" y="36730"/>
                  <a:pt x="78709" y="34925"/>
                  <a:pt x="80869" y="34925"/>
                </a:cubicBezTo>
                <a:close/>
                <a:moveTo>
                  <a:pt x="108382" y="8637"/>
                </a:moveTo>
                <a:cubicBezTo>
                  <a:pt x="53469" y="8637"/>
                  <a:pt x="8670" y="53623"/>
                  <a:pt x="8670" y="108326"/>
                </a:cubicBezTo>
                <a:cubicBezTo>
                  <a:pt x="8670" y="134958"/>
                  <a:pt x="18786" y="159070"/>
                  <a:pt x="37573" y="178144"/>
                </a:cubicBezTo>
                <a:cubicBezTo>
                  <a:pt x="45160" y="185702"/>
                  <a:pt x="50579" y="195059"/>
                  <a:pt x="53469" y="205495"/>
                </a:cubicBezTo>
                <a:lnTo>
                  <a:pt x="164380" y="205495"/>
                </a:lnTo>
                <a:cubicBezTo>
                  <a:pt x="166909" y="195059"/>
                  <a:pt x="171967" y="185342"/>
                  <a:pt x="179915" y="177424"/>
                </a:cubicBezTo>
                <a:cubicBezTo>
                  <a:pt x="198340" y="158710"/>
                  <a:pt x="208455" y="134238"/>
                  <a:pt x="208455" y="108326"/>
                </a:cubicBezTo>
                <a:cubicBezTo>
                  <a:pt x="208455" y="53623"/>
                  <a:pt x="163296" y="8637"/>
                  <a:pt x="108382" y="8637"/>
                </a:cubicBezTo>
                <a:close/>
                <a:moveTo>
                  <a:pt x="108382" y="0"/>
                </a:moveTo>
                <a:cubicBezTo>
                  <a:pt x="168354" y="0"/>
                  <a:pt x="217126" y="48585"/>
                  <a:pt x="217126" y="108326"/>
                </a:cubicBezTo>
                <a:cubicBezTo>
                  <a:pt x="217126" y="136757"/>
                  <a:pt x="205926" y="163389"/>
                  <a:pt x="186056" y="183542"/>
                </a:cubicBezTo>
                <a:cubicBezTo>
                  <a:pt x="176302" y="193259"/>
                  <a:pt x="171244" y="206575"/>
                  <a:pt x="171244" y="220611"/>
                </a:cubicBezTo>
                <a:lnTo>
                  <a:pt x="171244" y="251201"/>
                </a:lnTo>
                <a:cubicBezTo>
                  <a:pt x="171244" y="256599"/>
                  <a:pt x="166548" y="261278"/>
                  <a:pt x="161128" y="261278"/>
                </a:cubicBezTo>
                <a:lnTo>
                  <a:pt x="159322" y="261278"/>
                </a:lnTo>
                <a:cubicBezTo>
                  <a:pt x="157154" y="274954"/>
                  <a:pt x="145232" y="285390"/>
                  <a:pt x="131143" y="285390"/>
                </a:cubicBezTo>
                <a:lnTo>
                  <a:pt x="86706" y="285390"/>
                </a:lnTo>
                <a:cubicBezTo>
                  <a:pt x="72616" y="285390"/>
                  <a:pt x="60694" y="274954"/>
                  <a:pt x="58527" y="261278"/>
                </a:cubicBezTo>
                <a:lnTo>
                  <a:pt x="56720" y="261278"/>
                </a:lnTo>
                <a:cubicBezTo>
                  <a:pt x="51301" y="261278"/>
                  <a:pt x="46605" y="256599"/>
                  <a:pt x="46605" y="251201"/>
                </a:cubicBezTo>
                <a:lnTo>
                  <a:pt x="46605" y="221330"/>
                </a:lnTo>
                <a:cubicBezTo>
                  <a:pt x="46605" y="207295"/>
                  <a:pt x="41185" y="193979"/>
                  <a:pt x="31431" y="184262"/>
                </a:cubicBezTo>
                <a:cubicBezTo>
                  <a:pt x="11199" y="163749"/>
                  <a:pt x="0" y="136757"/>
                  <a:pt x="0" y="108326"/>
                </a:cubicBezTo>
                <a:cubicBezTo>
                  <a:pt x="0" y="48585"/>
                  <a:pt x="48772" y="0"/>
                  <a:pt x="108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22" name="Freeform 993">
            <a:extLst>
              <a:ext uri="{FF2B5EF4-FFF2-40B4-BE49-F238E27FC236}">
                <a16:creationId xmlns:a16="http://schemas.microsoft.com/office/drawing/2014/main" id="{4D8D9555-EF94-F847-8C84-F68C0F6224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49093" y="810327"/>
            <a:ext cx="294371" cy="294371"/>
          </a:xfrm>
          <a:custGeom>
            <a:avLst/>
            <a:gdLst>
              <a:gd name="T0" fmla="*/ 145001 w 285390"/>
              <a:gd name="T1" fmla="*/ 154383 h 285390"/>
              <a:gd name="T2" fmla="*/ 119473 w 285390"/>
              <a:gd name="T3" fmla="*/ 145193 h 285390"/>
              <a:gd name="T4" fmla="*/ 114878 w 285390"/>
              <a:gd name="T5" fmla="*/ 149406 h 285390"/>
              <a:gd name="T6" fmla="*/ 100135 w 285390"/>
              <a:gd name="T7" fmla="*/ 149406 h 285390"/>
              <a:gd name="T8" fmla="*/ 95539 w 285390"/>
              <a:gd name="T9" fmla="*/ 145193 h 285390"/>
              <a:gd name="T10" fmla="*/ 145001 w 285390"/>
              <a:gd name="T11" fmla="*/ 130450 h 285390"/>
              <a:gd name="T12" fmla="*/ 119473 w 285390"/>
              <a:gd name="T13" fmla="*/ 121260 h 285390"/>
              <a:gd name="T14" fmla="*/ 114878 w 285390"/>
              <a:gd name="T15" fmla="*/ 125855 h 285390"/>
              <a:gd name="T16" fmla="*/ 100135 w 285390"/>
              <a:gd name="T17" fmla="*/ 125855 h 285390"/>
              <a:gd name="T18" fmla="*/ 95539 w 285390"/>
              <a:gd name="T19" fmla="*/ 121260 h 285390"/>
              <a:gd name="T20" fmla="*/ 145001 w 285390"/>
              <a:gd name="T21" fmla="*/ 106518 h 285390"/>
              <a:gd name="T22" fmla="*/ 119473 w 285390"/>
              <a:gd name="T23" fmla="*/ 97327 h 285390"/>
              <a:gd name="T24" fmla="*/ 114878 w 285390"/>
              <a:gd name="T25" fmla="*/ 101540 h 285390"/>
              <a:gd name="T26" fmla="*/ 100135 w 285390"/>
              <a:gd name="T27" fmla="*/ 101540 h 285390"/>
              <a:gd name="T28" fmla="*/ 95539 w 285390"/>
              <a:gd name="T29" fmla="*/ 97327 h 285390"/>
              <a:gd name="T30" fmla="*/ 208653 w 285390"/>
              <a:gd name="T31" fmla="*/ 112239 h 285390"/>
              <a:gd name="T32" fmla="*/ 208653 w 285390"/>
              <a:gd name="T33" fmla="*/ 82967 h 285390"/>
              <a:gd name="T34" fmla="*/ 212987 w 285390"/>
              <a:gd name="T35" fmla="*/ 162833 h 285390"/>
              <a:gd name="T36" fmla="*/ 204317 w 285390"/>
              <a:gd name="T37" fmla="*/ 120189 h 285390"/>
              <a:gd name="T38" fmla="*/ 75650 w 285390"/>
              <a:gd name="T39" fmla="*/ 80536 h 285390"/>
              <a:gd name="T40" fmla="*/ 164914 w 285390"/>
              <a:gd name="T41" fmla="*/ 80536 h 285390"/>
              <a:gd name="T42" fmla="*/ 169592 w 285390"/>
              <a:gd name="T43" fmla="*/ 71798 h 285390"/>
              <a:gd name="T44" fmla="*/ 169592 w 285390"/>
              <a:gd name="T45" fmla="*/ 179931 h 285390"/>
              <a:gd name="T46" fmla="*/ 67011 w 285390"/>
              <a:gd name="T47" fmla="*/ 76169 h 285390"/>
              <a:gd name="T48" fmla="*/ 42633 w 285390"/>
              <a:gd name="T49" fmla="*/ 68166 h 285390"/>
              <a:gd name="T50" fmla="*/ 31034 w 285390"/>
              <a:gd name="T51" fmla="*/ 99049 h 285390"/>
              <a:gd name="T52" fmla="*/ 42633 w 285390"/>
              <a:gd name="T53" fmla="*/ 149917 h 285390"/>
              <a:gd name="T54" fmla="*/ 31034 w 285390"/>
              <a:gd name="T55" fmla="*/ 180437 h 285390"/>
              <a:gd name="T56" fmla="*/ 42633 w 285390"/>
              <a:gd name="T57" fmla="*/ 209504 h 285390"/>
              <a:gd name="T58" fmla="*/ 42633 w 285390"/>
              <a:gd name="T59" fmla="*/ 43821 h 285390"/>
              <a:gd name="T60" fmla="*/ 251731 w 285390"/>
              <a:gd name="T61" fmla="*/ 39097 h 285390"/>
              <a:gd name="T62" fmla="*/ 38282 w 285390"/>
              <a:gd name="T63" fmla="*/ 218225 h 285390"/>
              <a:gd name="T64" fmla="*/ 26687 w 285390"/>
              <a:gd name="T65" fmla="*/ 189157 h 285390"/>
              <a:gd name="T66" fmla="*/ 26687 w 285390"/>
              <a:gd name="T67" fmla="*/ 145557 h 285390"/>
              <a:gd name="T68" fmla="*/ 26687 w 285390"/>
              <a:gd name="T69" fmla="*/ 107769 h 285390"/>
              <a:gd name="T70" fmla="*/ 26687 w 285390"/>
              <a:gd name="T71" fmla="*/ 63804 h 285390"/>
              <a:gd name="T72" fmla="*/ 38282 w 285390"/>
              <a:gd name="T73" fmla="*/ 35101 h 285390"/>
              <a:gd name="T74" fmla="*/ 8681 w 285390"/>
              <a:gd name="T75" fmla="*/ 278152 h 285390"/>
              <a:gd name="T76" fmla="*/ 79575 w 285390"/>
              <a:gd name="T77" fmla="*/ 243429 h 285390"/>
              <a:gd name="T78" fmla="*/ 227151 w 285390"/>
              <a:gd name="T79" fmla="*/ 278152 h 285390"/>
              <a:gd name="T80" fmla="*/ 259343 w 285390"/>
              <a:gd name="T81" fmla="*/ 8681 h 285390"/>
              <a:gd name="T82" fmla="*/ 259343 w 285390"/>
              <a:gd name="T83" fmla="*/ 0 h 285390"/>
              <a:gd name="T84" fmla="*/ 282493 w 285390"/>
              <a:gd name="T85" fmla="*/ 286832 h 285390"/>
              <a:gd name="T86" fmla="*/ 204363 w 285390"/>
              <a:gd name="T87" fmla="*/ 252109 h 285390"/>
              <a:gd name="T88" fmla="*/ 62212 w 285390"/>
              <a:gd name="T89" fmla="*/ 286832 h 285390"/>
              <a:gd name="T90" fmla="*/ 0 w 285390"/>
              <a:gd name="T91" fmla="*/ 27851 h 285390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85390" h="285390">
                <a:moveTo>
                  <a:pt x="144272" y="144463"/>
                </a:moveTo>
                <a:cubicBezTo>
                  <a:pt x="146939" y="144463"/>
                  <a:pt x="148844" y="146368"/>
                  <a:pt x="148844" y="148654"/>
                </a:cubicBezTo>
                <a:cubicBezTo>
                  <a:pt x="148844" y="151702"/>
                  <a:pt x="146939" y="153607"/>
                  <a:pt x="144272" y="153607"/>
                </a:cubicBezTo>
                <a:cubicBezTo>
                  <a:pt x="141986" y="153607"/>
                  <a:pt x="139700" y="151702"/>
                  <a:pt x="139700" y="148654"/>
                </a:cubicBezTo>
                <a:cubicBezTo>
                  <a:pt x="139700" y="146368"/>
                  <a:pt x="141986" y="144463"/>
                  <a:pt x="144272" y="144463"/>
                </a:cubicBezTo>
                <a:close/>
                <a:moveTo>
                  <a:pt x="118872" y="144463"/>
                </a:moveTo>
                <a:cubicBezTo>
                  <a:pt x="121539" y="144463"/>
                  <a:pt x="123444" y="146368"/>
                  <a:pt x="123444" y="148654"/>
                </a:cubicBezTo>
                <a:cubicBezTo>
                  <a:pt x="123444" y="151702"/>
                  <a:pt x="121539" y="153607"/>
                  <a:pt x="118872" y="153607"/>
                </a:cubicBezTo>
                <a:cubicBezTo>
                  <a:pt x="116586" y="153607"/>
                  <a:pt x="114300" y="151702"/>
                  <a:pt x="114300" y="148654"/>
                </a:cubicBezTo>
                <a:cubicBezTo>
                  <a:pt x="114300" y="146368"/>
                  <a:pt x="116586" y="144463"/>
                  <a:pt x="118872" y="144463"/>
                </a:cubicBezTo>
                <a:close/>
                <a:moveTo>
                  <a:pt x="95059" y="144463"/>
                </a:moveTo>
                <a:cubicBezTo>
                  <a:pt x="97345" y="144463"/>
                  <a:pt x="99631" y="146368"/>
                  <a:pt x="99631" y="148654"/>
                </a:cubicBezTo>
                <a:cubicBezTo>
                  <a:pt x="99631" y="151702"/>
                  <a:pt x="97345" y="153607"/>
                  <a:pt x="95059" y="153607"/>
                </a:cubicBezTo>
                <a:cubicBezTo>
                  <a:pt x="92773" y="153607"/>
                  <a:pt x="90487" y="151702"/>
                  <a:pt x="90487" y="148654"/>
                </a:cubicBezTo>
                <a:cubicBezTo>
                  <a:pt x="90487" y="146368"/>
                  <a:pt x="92773" y="144463"/>
                  <a:pt x="95059" y="144463"/>
                </a:cubicBezTo>
                <a:close/>
                <a:moveTo>
                  <a:pt x="144272" y="120650"/>
                </a:moveTo>
                <a:cubicBezTo>
                  <a:pt x="146939" y="120650"/>
                  <a:pt x="148844" y="122555"/>
                  <a:pt x="148844" y="125222"/>
                </a:cubicBezTo>
                <a:cubicBezTo>
                  <a:pt x="148844" y="127508"/>
                  <a:pt x="146939" y="129794"/>
                  <a:pt x="144272" y="129794"/>
                </a:cubicBezTo>
                <a:cubicBezTo>
                  <a:pt x="141986" y="129794"/>
                  <a:pt x="139700" y="127508"/>
                  <a:pt x="139700" y="125222"/>
                </a:cubicBezTo>
                <a:cubicBezTo>
                  <a:pt x="139700" y="122555"/>
                  <a:pt x="141986" y="120650"/>
                  <a:pt x="144272" y="120650"/>
                </a:cubicBezTo>
                <a:close/>
                <a:moveTo>
                  <a:pt x="118872" y="120650"/>
                </a:moveTo>
                <a:cubicBezTo>
                  <a:pt x="121539" y="120650"/>
                  <a:pt x="123444" y="122555"/>
                  <a:pt x="123444" y="125222"/>
                </a:cubicBezTo>
                <a:cubicBezTo>
                  <a:pt x="123444" y="127508"/>
                  <a:pt x="121539" y="129794"/>
                  <a:pt x="118872" y="129794"/>
                </a:cubicBezTo>
                <a:cubicBezTo>
                  <a:pt x="116586" y="129794"/>
                  <a:pt x="114300" y="127508"/>
                  <a:pt x="114300" y="125222"/>
                </a:cubicBezTo>
                <a:cubicBezTo>
                  <a:pt x="114300" y="122555"/>
                  <a:pt x="116586" y="120650"/>
                  <a:pt x="118872" y="120650"/>
                </a:cubicBezTo>
                <a:close/>
                <a:moveTo>
                  <a:pt x="95059" y="120650"/>
                </a:moveTo>
                <a:cubicBezTo>
                  <a:pt x="97345" y="120650"/>
                  <a:pt x="99631" y="122555"/>
                  <a:pt x="99631" y="125222"/>
                </a:cubicBezTo>
                <a:cubicBezTo>
                  <a:pt x="99631" y="127508"/>
                  <a:pt x="97345" y="129794"/>
                  <a:pt x="95059" y="129794"/>
                </a:cubicBezTo>
                <a:cubicBezTo>
                  <a:pt x="92773" y="129794"/>
                  <a:pt x="90487" y="127508"/>
                  <a:pt x="90487" y="125222"/>
                </a:cubicBezTo>
                <a:cubicBezTo>
                  <a:pt x="90487" y="122555"/>
                  <a:pt x="92773" y="120650"/>
                  <a:pt x="95059" y="120650"/>
                </a:cubicBezTo>
                <a:close/>
                <a:moveTo>
                  <a:pt x="144272" y="96838"/>
                </a:moveTo>
                <a:cubicBezTo>
                  <a:pt x="146939" y="96838"/>
                  <a:pt x="148844" y="98743"/>
                  <a:pt x="148844" y="101029"/>
                </a:cubicBezTo>
                <a:cubicBezTo>
                  <a:pt x="148844" y="103696"/>
                  <a:pt x="146939" y="105982"/>
                  <a:pt x="144272" y="105982"/>
                </a:cubicBezTo>
                <a:cubicBezTo>
                  <a:pt x="141986" y="105982"/>
                  <a:pt x="139700" y="103696"/>
                  <a:pt x="139700" y="101029"/>
                </a:cubicBezTo>
                <a:cubicBezTo>
                  <a:pt x="139700" y="98743"/>
                  <a:pt x="141986" y="96838"/>
                  <a:pt x="144272" y="96838"/>
                </a:cubicBezTo>
                <a:close/>
                <a:moveTo>
                  <a:pt x="118872" y="96838"/>
                </a:moveTo>
                <a:cubicBezTo>
                  <a:pt x="121539" y="96838"/>
                  <a:pt x="123444" y="98743"/>
                  <a:pt x="123444" y="101029"/>
                </a:cubicBezTo>
                <a:cubicBezTo>
                  <a:pt x="123444" y="103696"/>
                  <a:pt x="121539" y="105982"/>
                  <a:pt x="118872" y="105982"/>
                </a:cubicBezTo>
                <a:cubicBezTo>
                  <a:pt x="116586" y="105982"/>
                  <a:pt x="114300" y="103696"/>
                  <a:pt x="114300" y="101029"/>
                </a:cubicBezTo>
                <a:cubicBezTo>
                  <a:pt x="114300" y="98743"/>
                  <a:pt x="116586" y="96838"/>
                  <a:pt x="118872" y="96838"/>
                </a:cubicBezTo>
                <a:close/>
                <a:moveTo>
                  <a:pt x="95059" y="96838"/>
                </a:moveTo>
                <a:cubicBezTo>
                  <a:pt x="97345" y="96838"/>
                  <a:pt x="99631" y="98743"/>
                  <a:pt x="99631" y="101029"/>
                </a:cubicBezTo>
                <a:cubicBezTo>
                  <a:pt x="99631" y="103696"/>
                  <a:pt x="97345" y="105982"/>
                  <a:pt x="95059" y="105982"/>
                </a:cubicBezTo>
                <a:cubicBezTo>
                  <a:pt x="92773" y="105982"/>
                  <a:pt x="90487" y="103696"/>
                  <a:pt x="90487" y="101029"/>
                </a:cubicBezTo>
                <a:cubicBezTo>
                  <a:pt x="90487" y="98743"/>
                  <a:pt x="92773" y="96838"/>
                  <a:pt x="95059" y="96838"/>
                </a:cubicBezTo>
                <a:close/>
                <a:moveTo>
                  <a:pt x="207603" y="91180"/>
                </a:moveTo>
                <a:cubicBezTo>
                  <a:pt x="202211" y="91180"/>
                  <a:pt x="197539" y="95854"/>
                  <a:pt x="197539" y="101247"/>
                </a:cubicBezTo>
                <a:cubicBezTo>
                  <a:pt x="197539" y="107000"/>
                  <a:pt x="202211" y="111675"/>
                  <a:pt x="207603" y="111675"/>
                </a:cubicBezTo>
                <a:cubicBezTo>
                  <a:pt x="213354" y="111675"/>
                  <a:pt x="218026" y="107000"/>
                  <a:pt x="218026" y="101247"/>
                </a:cubicBezTo>
                <a:cubicBezTo>
                  <a:pt x="218026" y="95854"/>
                  <a:pt x="213354" y="91180"/>
                  <a:pt x="207603" y="91180"/>
                </a:cubicBezTo>
                <a:close/>
                <a:moveTo>
                  <a:pt x="207603" y="82550"/>
                </a:moveTo>
                <a:cubicBezTo>
                  <a:pt x="218026" y="82550"/>
                  <a:pt x="226653" y="91180"/>
                  <a:pt x="226653" y="101247"/>
                </a:cubicBezTo>
                <a:cubicBezTo>
                  <a:pt x="226653" y="110237"/>
                  <a:pt x="220183" y="117787"/>
                  <a:pt x="211916" y="119585"/>
                </a:cubicBezTo>
                <a:lnTo>
                  <a:pt x="211916" y="162014"/>
                </a:lnTo>
                <a:cubicBezTo>
                  <a:pt x="211916" y="164531"/>
                  <a:pt x="210119" y="166329"/>
                  <a:pt x="207603" y="166329"/>
                </a:cubicBezTo>
                <a:cubicBezTo>
                  <a:pt x="205446" y="166329"/>
                  <a:pt x="203290" y="164531"/>
                  <a:pt x="203290" y="162014"/>
                </a:cubicBezTo>
                <a:lnTo>
                  <a:pt x="203290" y="119585"/>
                </a:lnTo>
                <a:cubicBezTo>
                  <a:pt x="195023" y="117787"/>
                  <a:pt x="188912" y="110237"/>
                  <a:pt x="188912" y="101247"/>
                </a:cubicBezTo>
                <a:cubicBezTo>
                  <a:pt x="188912" y="91180"/>
                  <a:pt x="197539" y="82550"/>
                  <a:pt x="207603" y="82550"/>
                </a:cubicBezTo>
                <a:close/>
                <a:moveTo>
                  <a:pt x="75270" y="80132"/>
                </a:moveTo>
                <a:lnTo>
                  <a:pt x="75270" y="170332"/>
                </a:lnTo>
                <a:lnTo>
                  <a:pt x="164084" y="170332"/>
                </a:lnTo>
                <a:lnTo>
                  <a:pt x="164084" y="80132"/>
                </a:lnTo>
                <a:lnTo>
                  <a:pt x="75270" y="80132"/>
                </a:lnTo>
                <a:close/>
                <a:moveTo>
                  <a:pt x="70972" y="71438"/>
                </a:moveTo>
                <a:lnTo>
                  <a:pt x="168739" y="71438"/>
                </a:lnTo>
                <a:cubicBezTo>
                  <a:pt x="170888" y="71438"/>
                  <a:pt x="172679" y="73611"/>
                  <a:pt x="172679" y="75785"/>
                </a:cubicBezTo>
                <a:lnTo>
                  <a:pt x="172679" y="174679"/>
                </a:lnTo>
                <a:cubicBezTo>
                  <a:pt x="172679" y="176853"/>
                  <a:pt x="170888" y="179026"/>
                  <a:pt x="168739" y="179026"/>
                </a:cubicBezTo>
                <a:lnTo>
                  <a:pt x="70972" y="179026"/>
                </a:lnTo>
                <a:cubicBezTo>
                  <a:pt x="68465" y="179026"/>
                  <a:pt x="66675" y="176853"/>
                  <a:pt x="66675" y="174679"/>
                </a:cubicBezTo>
                <a:lnTo>
                  <a:pt x="66675" y="75785"/>
                </a:lnTo>
                <a:cubicBezTo>
                  <a:pt x="66675" y="73611"/>
                  <a:pt x="68465" y="71438"/>
                  <a:pt x="70972" y="71438"/>
                </a:cubicBezTo>
                <a:close/>
                <a:moveTo>
                  <a:pt x="42417" y="43601"/>
                </a:moveTo>
                <a:lnTo>
                  <a:pt x="42417" y="67822"/>
                </a:lnTo>
                <a:cubicBezTo>
                  <a:pt x="42417" y="70353"/>
                  <a:pt x="40253" y="72160"/>
                  <a:pt x="38090" y="72160"/>
                </a:cubicBezTo>
                <a:lnTo>
                  <a:pt x="30878" y="72160"/>
                </a:lnTo>
                <a:lnTo>
                  <a:pt x="30878" y="98551"/>
                </a:lnTo>
                <a:lnTo>
                  <a:pt x="38090" y="98551"/>
                </a:lnTo>
                <a:cubicBezTo>
                  <a:pt x="40253" y="98551"/>
                  <a:pt x="42417" y="100359"/>
                  <a:pt x="42417" y="102528"/>
                </a:cubicBezTo>
                <a:lnTo>
                  <a:pt x="42417" y="149163"/>
                </a:lnTo>
                <a:cubicBezTo>
                  <a:pt x="42417" y="151693"/>
                  <a:pt x="40253" y="153501"/>
                  <a:pt x="38090" y="153501"/>
                </a:cubicBezTo>
                <a:lnTo>
                  <a:pt x="30878" y="153501"/>
                </a:lnTo>
                <a:lnTo>
                  <a:pt x="30878" y="179530"/>
                </a:lnTo>
                <a:lnTo>
                  <a:pt x="38090" y="179530"/>
                </a:lnTo>
                <a:cubicBezTo>
                  <a:pt x="40253" y="179530"/>
                  <a:pt x="42417" y="181337"/>
                  <a:pt x="42417" y="183868"/>
                </a:cubicBezTo>
                <a:lnTo>
                  <a:pt x="42417" y="208450"/>
                </a:lnTo>
                <a:lnTo>
                  <a:pt x="241811" y="208450"/>
                </a:lnTo>
                <a:lnTo>
                  <a:pt x="241811" y="43601"/>
                </a:lnTo>
                <a:lnTo>
                  <a:pt x="42417" y="43601"/>
                </a:lnTo>
                <a:close/>
                <a:moveTo>
                  <a:pt x="38090" y="34925"/>
                </a:moveTo>
                <a:lnTo>
                  <a:pt x="246138" y="34925"/>
                </a:lnTo>
                <a:cubicBezTo>
                  <a:pt x="248301" y="34925"/>
                  <a:pt x="250465" y="36732"/>
                  <a:pt x="250465" y="38901"/>
                </a:cubicBezTo>
                <a:lnTo>
                  <a:pt x="250465" y="212789"/>
                </a:lnTo>
                <a:cubicBezTo>
                  <a:pt x="250465" y="215319"/>
                  <a:pt x="248301" y="217127"/>
                  <a:pt x="246138" y="217127"/>
                </a:cubicBezTo>
                <a:lnTo>
                  <a:pt x="38090" y="217127"/>
                </a:lnTo>
                <a:cubicBezTo>
                  <a:pt x="35566" y="217127"/>
                  <a:pt x="33763" y="215319"/>
                  <a:pt x="33763" y="212789"/>
                </a:cubicBezTo>
                <a:lnTo>
                  <a:pt x="33763" y="188206"/>
                </a:lnTo>
                <a:lnTo>
                  <a:pt x="26552" y="188206"/>
                </a:lnTo>
                <a:cubicBezTo>
                  <a:pt x="24028" y="188206"/>
                  <a:pt x="22225" y="186037"/>
                  <a:pt x="22225" y="183868"/>
                </a:cubicBezTo>
                <a:lnTo>
                  <a:pt x="22225" y="149163"/>
                </a:lnTo>
                <a:cubicBezTo>
                  <a:pt x="22225" y="146632"/>
                  <a:pt x="24028" y="144825"/>
                  <a:pt x="26552" y="144825"/>
                </a:cubicBezTo>
                <a:lnTo>
                  <a:pt x="33763" y="144825"/>
                </a:lnTo>
                <a:lnTo>
                  <a:pt x="33763" y="107227"/>
                </a:lnTo>
                <a:lnTo>
                  <a:pt x="26552" y="107227"/>
                </a:lnTo>
                <a:cubicBezTo>
                  <a:pt x="24028" y="107227"/>
                  <a:pt x="22225" y="105058"/>
                  <a:pt x="22225" y="102528"/>
                </a:cubicBezTo>
                <a:lnTo>
                  <a:pt x="22225" y="67822"/>
                </a:lnTo>
                <a:cubicBezTo>
                  <a:pt x="22225" y="65653"/>
                  <a:pt x="24028" y="63484"/>
                  <a:pt x="26552" y="63484"/>
                </a:cubicBezTo>
                <a:lnTo>
                  <a:pt x="33763" y="63484"/>
                </a:lnTo>
                <a:lnTo>
                  <a:pt x="33763" y="38901"/>
                </a:lnTo>
                <a:cubicBezTo>
                  <a:pt x="33763" y="36732"/>
                  <a:pt x="35566" y="34925"/>
                  <a:pt x="38090" y="34925"/>
                </a:cubicBezTo>
                <a:close/>
                <a:moveTo>
                  <a:pt x="27351" y="8637"/>
                </a:moveTo>
                <a:cubicBezTo>
                  <a:pt x="16914" y="8637"/>
                  <a:pt x="8637" y="17274"/>
                  <a:pt x="8637" y="27711"/>
                </a:cubicBezTo>
                <a:lnTo>
                  <a:pt x="8637" y="276753"/>
                </a:lnTo>
                <a:lnTo>
                  <a:pt x="59021" y="276753"/>
                </a:lnTo>
                <a:lnTo>
                  <a:pt x="75216" y="244723"/>
                </a:lnTo>
                <a:cubicBezTo>
                  <a:pt x="75936" y="243284"/>
                  <a:pt x="77375" y="242204"/>
                  <a:pt x="79175" y="242204"/>
                </a:cubicBezTo>
                <a:lnTo>
                  <a:pt x="205855" y="242204"/>
                </a:lnTo>
                <a:cubicBezTo>
                  <a:pt x="207655" y="242204"/>
                  <a:pt x="209094" y="243284"/>
                  <a:pt x="209814" y="244723"/>
                </a:cubicBezTo>
                <a:lnTo>
                  <a:pt x="226009" y="276753"/>
                </a:lnTo>
                <a:lnTo>
                  <a:pt x="276393" y="276753"/>
                </a:lnTo>
                <a:lnTo>
                  <a:pt x="276393" y="27711"/>
                </a:lnTo>
                <a:cubicBezTo>
                  <a:pt x="276393" y="17274"/>
                  <a:pt x="268116" y="8637"/>
                  <a:pt x="258039" y="8637"/>
                </a:cubicBezTo>
                <a:lnTo>
                  <a:pt x="27351" y="8637"/>
                </a:lnTo>
                <a:close/>
                <a:moveTo>
                  <a:pt x="27351" y="0"/>
                </a:moveTo>
                <a:lnTo>
                  <a:pt x="258039" y="0"/>
                </a:lnTo>
                <a:cubicBezTo>
                  <a:pt x="273154" y="0"/>
                  <a:pt x="285390" y="12236"/>
                  <a:pt x="285390" y="27711"/>
                </a:cubicBezTo>
                <a:lnTo>
                  <a:pt x="285390" y="281072"/>
                </a:lnTo>
                <a:cubicBezTo>
                  <a:pt x="285390" y="283591"/>
                  <a:pt x="283231" y="285390"/>
                  <a:pt x="281072" y="285390"/>
                </a:cubicBezTo>
                <a:lnTo>
                  <a:pt x="223490" y="285390"/>
                </a:lnTo>
                <a:cubicBezTo>
                  <a:pt x="221690" y="285390"/>
                  <a:pt x="220251" y="284671"/>
                  <a:pt x="219531" y="283231"/>
                </a:cubicBezTo>
                <a:lnTo>
                  <a:pt x="203336" y="250841"/>
                </a:lnTo>
                <a:lnTo>
                  <a:pt x="82054" y="250841"/>
                </a:lnTo>
                <a:lnTo>
                  <a:pt x="65499" y="283231"/>
                </a:lnTo>
                <a:cubicBezTo>
                  <a:pt x="65139" y="284671"/>
                  <a:pt x="63700" y="285390"/>
                  <a:pt x="61900" y="285390"/>
                </a:cubicBezTo>
                <a:lnTo>
                  <a:pt x="4318" y="285390"/>
                </a:lnTo>
                <a:cubicBezTo>
                  <a:pt x="1799" y="285390"/>
                  <a:pt x="0" y="283591"/>
                  <a:pt x="0" y="281072"/>
                </a:cubicBezTo>
                <a:lnTo>
                  <a:pt x="0" y="27711"/>
                </a:lnTo>
                <a:cubicBezTo>
                  <a:pt x="0" y="12236"/>
                  <a:pt x="12236" y="0"/>
                  <a:pt x="273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26" name="Freeform 1002">
            <a:extLst>
              <a:ext uri="{FF2B5EF4-FFF2-40B4-BE49-F238E27FC236}">
                <a16:creationId xmlns:a16="http://schemas.microsoft.com/office/drawing/2014/main" id="{EA3913E8-768E-5043-AF12-B0A7782982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330" y="1968463"/>
            <a:ext cx="271476" cy="294371"/>
          </a:xfrm>
          <a:custGeom>
            <a:avLst/>
            <a:gdLst>
              <a:gd name="T0" fmla="*/ 176799 w 263164"/>
              <a:gd name="T1" fmla="*/ 265032 h 285391"/>
              <a:gd name="T2" fmla="*/ 169137 w 263164"/>
              <a:gd name="T3" fmla="*/ 267868 h 285391"/>
              <a:gd name="T4" fmla="*/ 87729 w 263164"/>
              <a:gd name="T5" fmla="*/ 261841 h 285391"/>
              <a:gd name="T6" fmla="*/ 93858 w 263164"/>
              <a:gd name="T7" fmla="*/ 267868 h 285391"/>
              <a:gd name="T8" fmla="*/ 86197 w 263164"/>
              <a:gd name="T9" fmla="*/ 265032 h 285391"/>
              <a:gd name="T10" fmla="*/ 136893 w 263164"/>
              <a:gd name="T11" fmla="*/ 266258 h 285391"/>
              <a:gd name="T12" fmla="*/ 132295 w 263164"/>
              <a:gd name="T13" fmla="*/ 261663 h 285391"/>
              <a:gd name="T14" fmla="*/ 50817 w 263164"/>
              <a:gd name="T15" fmla="*/ 278159 h 285391"/>
              <a:gd name="T16" fmla="*/ 221054 w 263164"/>
              <a:gd name="T17" fmla="*/ 251789 h 285391"/>
              <a:gd name="T18" fmla="*/ 135870 w 263164"/>
              <a:gd name="T19" fmla="*/ 146360 h 285391"/>
              <a:gd name="T20" fmla="*/ 146048 w 263164"/>
              <a:gd name="T21" fmla="*/ 165254 h 285391"/>
              <a:gd name="T22" fmla="*/ 122057 w 263164"/>
              <a:gd name="T23" fmla="*/ 165981 h 285391"/>
              <a:gd name="T24" fmla="*/ 135870 w 263164"/>
              <a:gd name="T25" fmla="*/ 207401 h 285391"/>
              <a:gd name="T26" fmla="*/ 127145 w 263164"/>
              <a:gd name="T27" fmla="*/ 210307 h 285391"/>
              <a:gd name="T28" fmla="*/ 116968 w 263164"/>
              <a:gd name="T29" fmla="*/ 191414 h 285391"/>
              <a:gd name="T30" fmla="*/ 140959 w 263164"/>
              <a:gd name="T31" fmla="*/ 191050 h 285391"/>
              <a:gd name="T32" fmla="*/ 127145 w 263164"/>
              <a:gd name="T33" fmla="*/ 149631 h 285391"/>
              <a:gd name="T34" fmla="*/ 132126 w 263164"/>
              <a:gd name="T35" fmla="*/ 136693 h 285391"/>
              <a:gd name="T36" fmla="*/ 174510 w 263164"/>
              <a:gd name="T37" fmla="*/ 178334 h 285391"/>
              <a:gd name="T38" fmla="*/ 183205 w 263164"/>
              <a:gd name="T39" fmla="*/ 178334 h 285391"/>
              <a:gd name="T40" fmla="*/ 132126 w 263164"/>
              <a:gd name="T41" fmla="*/ 127640 h 285391"/>
              <a:gd name="T42" fmla="*/ 43558 w 263164"/>
              <a:gd name="T43" fmla="*/ 243481 h 285391"/>
              <a:gd name="T44" fmla="*/ 196009 w 263164"/>
              <a:gd name="T45" fmla="*/ 101872 h 285391"/>
              <a:gd name="T46" fmla="*/ 132125 w 263164"/>
              <a:gd name="T47" fmla="*/ 101872 h 285391"/>
              <a:gd name="T48" fmla="*/ 68238 w 263164"/>
              <a:gd name="T49" fmla="*/ 101872 h 285391"/>
              <a:gd name="T50" fmla="*/ 225046 w 263164"/>
              <a:gd name="T51" fmla="*/ 110179 h 285391"/>
              <a:gd name="T52" fmla="*/ 255900 w 263164"/>
              <a:gd name="T53" fmla="*/ 84170 h 285391"/>
              <a:gd name="T54" fmla="*/ 136480 w 263164"/>
              <a:gd name="T55" fmla="*/ 85615 h 285391"/>
              <a:gd name="T56" fmla="*/ 192016 w 263164"/>
              <a:gd name="T57" fmla="*/ 85615 h 285391"/>
              <a:gd name="T58" fmla="*/ 72594 w 263164"/>
              <a:gd name="T59" fmla="*/ 84170 h 285391"/>
              <a:gd name="T60" fmla="*/ 103086 w 263164"/>
              <a:gd name="T61" fmla="*/ 110179 h 285391"/>
              <a:gd name="T62" fmla="*/ 72594 w 263164"/>
              <a:gd name="T63" fmla="*/ 84170 h 285391"/>
              <a:gd name="T64" fmla="*/ 33395 w 263164"/>
              <a:gd name="T65" fmla="*/ 110179 h 285391"/>
              <a:gd name="T66" fmla="*/ 63884 w 263164"/>
              <a:gd name="T67" fmla="*/ 84170 h 285391"/>
              <a:gd name="T68" fmla="*/ 199275 w 263164"/>
              <a:gd name="T69" fmla="*/ 75500 h 285391"/>
              <a:gd name="T70" fmla="*/ 185120 w 263164"/>
              <a:gd name="T71" fmla="*/ 43711 h 285391"/>
              <a:gd name="T72" fmla="*/ 189475 w 263164"/>
              <a:gd name="T73" fmla="*/ 75500 h 285391"/>
              <a:gd name="T74" fmla="*/ 88567 w 263164"/>
              <a:gd name="T75" fmla="*/ 43711 h 285391"/>
              <a:gd name="T76" fmla="*/ 127769 w 263164"/>
              <a:gd name="T77" fmla="*/ 43711 h 285391"/>
              <a:gd name="T78" fmla="*/ 13793 w 263164"/>
              <a:gd name="T79" fmla="*/ 75500 h 285391"/>
              <a:gd name="T80" fmla="*/ 41380 w 263164"/>
              <a:gd name="T81" fmla="*/ 43711 h 285391"/>
              <a:gd name="T82" fmla="*/ 132295 w 263164"/>
              <a:gd name="T83" fmla="*/ 26756 h 285391"/>
              <a:gd name="T84" fmla="*/ 50817 w 263164"/>
              <a:gd name="T85" fmla="*/ 9030 h 285391"/>
              <a:gd name="T86" fmla="*/ 221054 w 263164"/>
              <a:gd name="T87" fmla="*/ 35041 h 285391"/>
              <a:gd name="T88" fmla="*/ 50817 w 263164"/>
              <a:gd name="T89" fmla="*/ 9030 h 285391"/>
              <a:gd name="T90" fmla="*/ 229765 w 263164"/>
              <a:gd name="T91" fmla="*/ 16254 h 285391"/>
              <a:gd name="T92" fmla="*/ 264610 w 263164"/>
              <a:gd name="T93" fmla="*/ 79835 h 285391"/>
              <a:gd name="T94" fmla="*/ 229765 w 263164"/>
              <a:gd name="T95" fmla="*/ 118850 h 285391"/>
              <a:gd name="T96" fmla="*/ 50817 w 263164"/>
              <a:gd name="T97" fmla="*/ 286829 h 285391"/>
              <a:gd name="T98" fmla="*/ 33395 w 263164"/>
              <a:gd name="T99" fmla="*/ 118850 h 285391"/>
              <a:gd name="T100" fmla="*/ 1087 w 263164"/>
              <a:gd name="T101" fmla="*/ 76945 h 285391"/>
              <a:gd name="T102" fmla="*/ 50817 w 263164"/>
              <a:gd name="T103" fmla="*/ 0 h 28539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263164" h="285391">
                <a:moveTo>
                  <a:pt x="168212" y="260527"/>
                </a:moveTo>
                <a:cubicBezTo>
                  <a:pt x="169736" y="258763"/>
                  <a:pt x="173165" y="258763"/>
                  <a:pt x="174689" y="260527"/>
                </a:cubicBezTo>
                <a:cubicBezTo>
                  <a:pt x="175451" y="261233"/>
                  <a:pt x="175832" y="262291"/>
                  <a:pt x="175832" y="263702"/>
                </a:cubicBezTo>
                <a:cubicBezTo>
                  <a:pt x="175832" y="264760"/>
                  <a:pt x="175451" y="265819"/>
                  <a:pt x="174689" y="266524"/>
                </a:cubicBezTo>
                <a:cubicBezTo>
                  <a:pt x="173927" y="267583"/>
                  <a:pt x="172403" y="267935"/>
                  <a:pt x="171641" y="267935"/>
                </a:cubicBezTo>
                <a:cubicBezTo>
                  <a:pt x="170117" y="267935"/>
                  <a:pt x="168974" y="267583"/>
                  <a:pt x="168212" y="266524"/>
                </a:cubicBezTo>
                <a:cubicBezTo>
                  <a:pt x="167450" y="265819"/>
                  <a:pt x="166688" y="264760"/>
                  <a:pt x="166688" y="263702"/>
                </a:cubicBezTo>
                <a:cubicBezTo>
                  <a:pt x="166688" y="262291"/>
                  <a:pt x="167450" y="261233"/>
                  <a:pt x="168212" y="260527"/>
                </a:cubicBezTo>
                <a:close/>
                <a:moveTo>
                  <a:pt x="87249" y="260527"/>
                </a:moveTo>
                <a:cubicBezTo>
                  <a:pt x="88773" y="258763"/>
                  <a:pt x="91821" y="258763"/>
                  <a:pt x="93345" y="260527"/>
                </a:cubicBezTo>
                <a:cubicBezTo>
                  <a:pt x="94488" y="261233"/>
                  <a:pt x="94869" y="262291"/>
                  <a:pt x="94869" y="263702"/>
                </a:cubicBezTo>
                <a:cubicBezTo>
                  <a:pt x="94869" y="264760"/>
                  <a:pt x="94488" y="265819"/>
                  <a:pt x="93345" y="266524"/>
                </a:cubicBezTo>
                <a:cubicBezTo>
                  <a:pt x="92583" y="267583"/>
                  <a:pt x="91440" y="267935"/>
                  <a:pt x="90297" y="267935"/>
                </a:cubicBezTo>
                <a:cubicBezTo>
                  <a:pt x="89154" y="267935"/>
                  <a:pt x="88011" y="267583"/>
                  <a:pt x="87249" y="266524"/>
                </a:cubicBezTo>
                <a:cubicBezTo>
                  <a:pt x="86106" y="265819"/>
                  <a:pt x="85725" y="264760"/>
                  <a:pt x="85725" y="263702"/>
                </a:cubicBezTo>
                <a:cubicBezTo>
                  <a:pt x="85725" y="262291"/>
                  <a:pt x="86106" y="261233"/>
                  <a:pt x="87249" y="260527"/>
                </a:cubicBezTo>
                <a:close/>
                <a:moveTo>
                  <a:pt x="131572" y="260350"/>
                </a:moveTo>
                <a:cubicBezTo>
                  <a:pt x="134239" y="260350"/>
                  <a:pt x="136144" y="262255"/>
                  <a:pt x="136144" y="264922"/>
                </a:cubicBezTo>
                <a:cubicBezTo>
                  <a:pt x="136144" y="267208"/>
                  <a:pt x="134239" y="269494"/>
                  <a:pt x="131572" y="269494"/>
                </a:cubicBezTo>
                <a:cubicBezTo>
                  <a:pt x="129286" y="269494"/>
                  <a:pt x="127000" y="267208"/>
                  <a:pt x="127000" y="264922"/>
                </a:cubicBezTo>
                <a:cubicBezTo>
                  <a:pt x="127000" y="262255"/>
                  <a:pt x="129286" y="260350"/>
                  <a:pt x="131572" y="260350"/>
                </a:cubicBezTo>
                <a:close/>
                <a:moveTo>
                  <a:pt x="43319" y="250526"/>
                </a:moveTo>
                <a:lnTo>
                  <a:pt x="43319" y="269576"/>
                </a:lnTo>
                <a:cubicBezTo>
                  <a:pt x="43319" y="273529"/>
                  <a:pt x="46568" y="276764"/>
                  <a:pt x="50539" y="276764"/>
                </a:cubicBezTo>
                <a:lnTo>
                  <a:pt x="212625" y="276764"/>
                </a:lnTo>
                <a:cubicBezTo>
                  <a:pt x="216596" y="276764"/>
                  <a:pt x="219845" y="273529"/>
                  <a:pt x="219845" y="269576"/>
                </a:cubicBezTo>
                <a:lnTo>
                  <a:pt x="219845" y="250526"/>
                </a:lnTo>
                <a:lnTo>
                  <a:pt x="43319" y="250526"/>
                </a:lnTo>
                <a:close/>
                <a:moveTo>
                  <a:pt x="130788" y="141288"/>
                </a:moveTo>
                <a:cubicBezTo>
                  <a:pt x="133319" y="141288"/>
                  <a:pt x="135127" y="143457"/>
                  <a:pt x="135127" y="145626"/>
                </a:cubicBezTo>
                <a:lnTo>
                  <a:pt x="135127" y="148880"/>
                </a:lnTo>
                <a:cubicBezTo>
                  <a:pt x="140911" y="149964"/>
                  <a:pt x="145610" y="153580"/>
                  <a:pt x="147779" y="159002"/>
                </a:cubicBezTo>
                <a:cubicBezTo>
                  <a:pt x="148864" y="161171"/>
                  <a:pt x="147779" y="163702"/>
                  <a:pt x="145249" y="164425"/>
                </a:cubicBezTo>
                <a:cubicBezTo>
                  <a:pt x="143080" y="165509"/>
                  <a:pt x="140549" y="164425"/>
                  <a:pt x="139826" y="162256"/>
                </a:cubicBezTo>
                <a:cubicBezTo>
                  <a:pt x="138380" y="159002"/>
                  <a:pt x="134765" y="156833"/>
                  <a:pt x="130788" y="156833"/>
                </a:cubicBezTo>
                <a:cubicBezTo>
                  <a:pt x="125727" y="156833"/>
                  <a:pt x="121389" y="160448"/>
                  <a:pt x="121389" y="165148"/>
                </a:cubicBezTo>
                <a:cubicBezTo>
                  <a:pt x="121389" y="170571"/>
                  <a:pt x="124643" y="173101"/>
                  <a:pt x="130788" y="173101"/>
                </a:cubicBezTo>
                <a:cubicBezTo>
                  <a:pt x="141995" y="173101"/>
                  <a:pt x="148864" y="179970"/>
                  <a:pt x="148864" y="190092"/>
                </a:cubicBezTo>
                <a:cubicBezTo>
                  <a:pt x="148864" y="198045"/>
                  <a:pt x="143080" y="204552"/>
                  <a:pt x="135127" y="206360"/>
                </a:cubicBezTo>
                <a:lnTo>
                  <a:pt x="135127" y="209252"/>
                </a:lnTo>
                <a:cubicBezTo>
                  <a:pt x="135127" y="211783"/>
                  <a:pt x="133319" y="213952"/>
                  <a:pt x="130788" y="213952"/>
                </a:cubicBezTo>
                <a:cubicBezTo>
                  <a:pt x="128619" y="213952"/>
                  <a:pt x="126450" y="211783"/>
                  <a:pt x="126450" y="209252"/>
                </a:cubicBezTo>
                <a:lnTo>
                  <a:pt x="126450" y="206360"/>
                </a:lnTo>
                <a:cubicBezTo>
                  <a:pt x="121028" y="205276"/>
                  <a:pt x="116328" y="201660"/>
                  <a:pt x="114159" y="196238"/>
                </a:cubicBezTo>
                <a:cubicBezTo>
                  <a:pt x="113075" y="194069"/>
                  <a:pt x="114159" y="191538"/>
                  <a:pt x="116328" y="190454"/>
                </a:cubicBezTo>
                <a:cubicBezTo>
                  <a:pt x="118497" y="189731"/>
                  <a:pt x="121028" y="190815"/>
                  <a:pt x="122112" y="192623"/>
                </a:cubicBezTo>
                <a:cubicBezTo>
                  <a:pt x="123558" y="195876"/>
                  <a:pt x="127173" y="198407"/>
                  <a:pt x="130788" y="198407"/>
                </a:cubicBezTo>
                <a:cubicBezTo>
                  <a:pt x="136211" y="198407"/>
                  <a:pt x="140188" y="194430"/>
                  <a:pt x="140188" y="190092"/>
                </a:cubicBezTo>
                <a:cubicBezTo>
                  <a:pt x="140188" y="184669"/>
                  <a:pt x="136934" y="181777"/>
                  <a:pt x="130788" y="181777"/>
                </a:cubicBezTo>
                <a:cubicBezTo>
                  <a:pt x="117413" y="181777"/>
                  <a:pt x="112713" y="173101"/>
                  <a:pt x="112713" y="165148"/>
                </a:cubicBezTo>
                <a:cubicBezTo>
                  <a:pt x="112713" y="157195"/>
                  <a:pt x="118497" y="150688"/>
                  <a:pt x="126450" y="148880"/>
                </a:cubicBezTo>
                <a:lnTo>
                  <a:pt x="126450" y="145626"/>
                </a:lnTo>
                <a:cubicBezTo>
                  <a:pt x="126450" y="143457"/>
                  <a:pt x="128619" y="141288"/>
                  <a:pt x="130788" y="141288"/>
                </a:cubicBezTo>
                <a:close/>
                <a:moveTo>
                  <a:pt x="131403" y="136007"/>
                </a:moveTo>
                <a:cubicBezTo>
                  <a:pt x="108345" y="136007"/>
                  <a:pt x="89610" y="154382"/>
                  <a:pt x="89610" y="177440"/>
                </a:cubicBezTo>
                <a:cubicBezTo>
                  <a:pt x="89610" y="200498"/>
                  <a:pt x="108345" y="219593"/>
                  <a:pt x="131403" y="219593"/>
                </a:cubicBezTo>
                <a:cubicBezTo>
                  <a:pt x="154461" y="219593"/>
                  <a:pt x="173556" y="200498"/>
                  <a:pt x="173556" y="177440"/>
                </a:cubicBezTo>
                <a:cubicBezTo>
                  <a:pt x="173556" y="154382"/>
                  <a:pt x="154461" y="136007"/>
                  <a:pt x="131403" y="136007"/>
                </a:cubicBezTo>
                <a:close/>
                <a:moveTo>
                  <a:pt x="131403" y="127000"/>
                </a:moveTo>
                <a:cubicBezTo>
                  <a:pt x="159505" y="127000"/>
                  <a:pt x="182203" y="149698"/>
                  <a:pt x="182203" y="177440"/>
                </a:cubicBezTo>
                <a:cubicBezTo>
                  <a:pt x="182203" y="205542"/>
                  <a:pt x="159505" y="228240"/>
                  <a:pt x="131403" y="228240"/>
                </a:cubicBezTo>
                <a:cubicBezTo>
                  <a:pt x="103661" y="228240"/>
                  <a:pt x="80963" y="205542"/>
                  <a:pt x="80963" y="177440"/>
                </a:cubicBezTo>
                <a:cubicBezTo>
                  <a:pt x="80963" y="149698"/>
                  <a:pt x="103661" y="127000"/>
                  <a:pt x="131403" y="127000"/>
                </a:cubicBezTo>
                <a:close/>
                <a:moveTo>
                  <a:pt x="67866" y="101360"/>
                </a:moveTo>
                <a:cubicBezTo>
                  <a:pt x="62813" y="110346"/>
                  <a:pt x="53788" y="116816"/>
                  <a:pt x="43319" y="117894"/>
                </a:cubicBezTo>
                <a:lnTo>
                  <a:pt x="43319" y="242259"/>
                </a:lnTo>
                <a:lnTo>
                  <a:pt x="219845" y="242259"/>
                </a:lnTo>
                <a:lnTo>
                  <a:pt x="219845" y="117894"/>
                </a:lnTo>
                <a:cubicBezTo>
                  <a:pt x="209015" y="116816"/>
                  <a:pt x="199990" y="110346"/>
                  <a:pt x="194937" y="101360"/>
                </a:cubicBezTo>
                <a:cubicBezTo>
                  <a:pt x="189522" y="111784"/>
                  <a:pt x="178692" y="118254"/>
                  <a:pt x="166418" y="118254"/>
                </a:cubicBezTo>
                <a:lnTo>
                  <a:pt x="160281" y="118254"/>
                </a:lnTo>
                <a:cubicBezTo>
                  <a:pt x="148007" y="118254"/>
                  <a:pt x="137178" y="111784"/>
                  <a:pt x="131402" y="101360"/>
                </a:cubicBezTo>
                <a:cubicBezTo>
                  <a:pt x="125626" y="111784"/>
                  <a:pt x="114796" y="118254"/>
                  <a:pt x="102522" y="118254"/>
                </a:cubicBezTo>
                <a:lnTo>
                  <a:pt x="96746" y="118254"/>
                </a:lnTo>
                <a:cubicBezTo>
                  <a:pt x="84473" y="118254"/>
                  <a:pt x="73642" y="111784"/>
                  <a:pt x="67866" y="101360"/>
                </a:cubicBezTo>
                <a:close/>
                <a:moveTo>
                  <a:pt x="199629" y="83748"/>
                </a:moveTo>
                <a:lnTo>
                  <a:pt x="199629" y="85186"/>
                </a:lnTo>
                <a:cubicBezTo>
                  <a:pt x="199629" y="98844"/>
                  <a:pt x="210459" y="109627"/>
                  <a:pt x="223816" y="109627"/>
                </a:cubicBezTo>
                <a:lnTo>
                  <a:pt x="229953" y="109627"/>
                </a:lnTo>
                <a:cubicBezTo>
                  <a:pt x="243310" y="109627"/>
                  <a:pt x="254500" y="98844"/>
                  <a:pt x="254500" y="85186"/>
                </a:cubicBezTo>
                <a:lnTo>
                  <a:pt x="254500" y="83748"/>
                </a:lnTo>
                <a:lnTo>
                  <a:pt x="199629" y="83748"/>
                </a:lnTo>
                <a:close/>
                <a:moveTo>
                  <a:pt x="135734" y="83748"/>
                </a:moveTo>
                <a:lnTo>
                  <a:pt x="135734" y="85186"/>
                </a:lnTo>
                <a:cubicBezTo>
                  <a:pt x="135734" y="98844"/>
                  <a:pt x="146924" y="109627"/>
                  <a:pt x="160281" y="109627"/>
                </a:cubicBezTo>
                <a:lnTo>
                  <a:pt x="166418" y="109627"/>
                </a:lnTo>
                <a:cubicBezTo>
                  <a:pt x="179775" y="109627"/>
                  <a:pt x="190966" y="98844"/>
                  <a:pt x="190966" y="85186"/>
                </a:cubicBezTo>
                <a:lnTo>
                  <a:pt x="190966" y="83748"/>
                </a:lnTo>
                <a:lnTo>
                  <a:pt x="135734" y="83748"/>
                </a:lnTo>
                <a:close/>
                <a:moveTo>
                  <a:pt x="72198" y="83748"/>
                </a:moveTo>
                <a:lnTo>
                  <a:pt x="72198" y="85186"/>
                </a:lnTo>
                <a:cubicBezTo>
                  <a:pt x="72198" y="98844"/>
                  <a:pt x="83029" y="109627"/>
                  <a:pt x="96746" y="109627"/>
                </a:cubicBezTo>
                <a:lnTo>
                  <a:pt x="102522" y="109627"/>
                </a:lnTo>
                <a:cubicBezTo>
                  <a:pt x="115879" y="109627"/>
                  <a:pt x="127070" y="98844"/>
                  <a:pt x="127070" y="85186"/>
                </a:cubicBezTo>
                <a:lnTo>
                  <a:pt x="127070" y="83748"/>
                </a:lnTo>
                <a:lnTo>
                  <a:pt x="72198" y="83748"/>
                </a:lnTo>
                <a:close/>
                <a:moveTo>
                  <a:pt x="8664" y="83748"/>
                </a:moveTo>
                <a:lnTo>
                  <a:pt x="8664" y="85186"/>
                </a:lnTo>
                <a:cubicBezTo>
                  <a:pt x="8664" y="98844"/>
                  <a:pt x="19493" y="109627"/>
                  <a:pt x="33211" y="109627"/>
                </a:cubicBezTo>
                <a:lnTo>
                  <a:pt x="38626" y="109627"/>
                </a:lnTo>
                <a:cubicBezTo>
                  <a:pt x="52344" y="109627"/>
                  <a:pt x="63535" y="98844"/>
                  <a:pt x="63535" y="85186"/>
                </a:cubicBezTo>
                <a:lnTo>
                  <a:pt x="63535" y="83748"/>
                </a:lnTo>
                <a:lnTo>
                  <a:pt x="8664" y="83748"/>
                </a:lnTo>
                <a:close/>
                <a:moveTo>
                  <a:pt x="184107" y="43491"/>
                </a:moveTo>
                <a:lnTo>
                  <a:pt x="198185" y="75121"/>
                </a:lnTo>
                <a:lnTo>
                  <a:pt x="249447" y="75121"/>
                </a:lnTo>
                <a:lnTo>
                  <a:pt x="222011" y="43491"/>
                </a:lnTo>
                <a:lnTo>
                  <a:pt x="184107" y="43491"/>
                </a:lnTo>
                <a:close/>
                <a:moveTo>
                  <a:pt x="135734" y="43491"/>
                </a:moveTo>
                <a:lnTo>
                  <a:pt x="135734" y="75121"/>
                </a:lnTo>
                <a:lnTo>
                  <a:pt x="188439" y="75121"/>
                </a:lnTo>
                <a:lnTo>
                  <a:pt x="175082" y="43491"/>
                </a:lnTo>
                <a:lnTo>
                  <a:pt x="135734" y="43491"/>
                </a:lnTo>
                <a:close/>
                <a:moveTo>
                  <a:pt x="88083" y="43491"/>
                </a:moveTo>
                <a:lnTo>
                  <a:pt x="74364" y="75121"/>
                </a:lnTo>
                <a:lnTo>
                  <a:pt x="127070" y="75121"/>
                </a:lnTo>
                <a:lnTo>
                  <a:pt x="127070" y="43491"/>
                </a:lnTo>
                <a:lnTo>
                  <a:pt x="88083" y="43491"/>
                </a:lnTo>
                <a:close/>
                <a:moveTo>
                  <a:pt x="41153" y="43491"/>
                </a:moveTo>
                <a:lnTo>
                  <a:pt x="13717" y="75121"/>
                </a:lnTo>
                <a:lnTo>
                  <a:pt x="64979" y="75121"/>
                </a:lnTo>
                <a:lnTo>
                  <a:pt x="78696" y="43491"/>
                </a:lnTo>
                <a:lnTo>
                  <a:pt x="41153" y="43491"/>
                </a:lnTo>
                <a:close/>
                <a:moveTo>
                  <a:pt x="131572" y="17463"/>
                </a:moveTo>
                <a:cubicBezTo>
                  <a:pt x="134239" y="17463"/>
                  <a:pt x="136144" y="19661"/>
                  <a:pt x="136144" y="22225"/>
                </a:cubicBezTo>
                <a:cubicBezTo>
                  <a:pt x="136144" y="24423"/>
                  <a:pt x="134239" y="26621"/>
                  <a:pt x="131572" y="26621"/>
                </a:cubicBezTo>
                <a:cubicBezTo>
                  <a:pt x="129286" y="26621"/>
                  <a:pt x="127000" y="24423"/>
                  <a:pt x="127000" y="22225"/>
                </a:cubicBezTo>
                <a:cubicBezTo>
                  <a:pt x="127000" y="19661"/>
                  <a:pt x="129286" y="17463"/>
                  <a:pt x="131572" y="17463"/>
                </a:cubicBezTo>
                <a:close/>
                <a:moveTo>
                  <a:pt x="50539" y="8986"/>
                </a:moveTo>
                <a:cubicBezTo>
                  <a:pt x="46568" y="8986"/>
                  <a:pt x="43319" y="12221"/>
                  <a:pt x="43319" y="16174"/>
                </a:cubicBezTo>
                <a:lnTo>
                  <a:pt x="43319" y="34865"/>
                </a:lnTo>
                <a:lnTo>
                  <a:pt x="219845" y="34865"/>
                </a:lnTo>
                <a:lnTo>
                  <a:pt x="219845" y="16174"/>
                </a:lnTo>
                <a:cubicBezTo>
                  <a:pt x="219845" y="12221"/>
                  <a:pt x="216596" y="8986"/>
                  <a:pt x="212625" y="8986"/>
                </a:cubicBezTo>
                <a:lnTo>
                  <a:pt x="50539" y="8986"/>
                </a:lnTo>
                <a:close/>
                <a:moveTo>
                  <a:pt x="50539" y="0"/>
                </a:moveTo>
                <a:lnTo>
                  <a:pt x="212625" y="0"/>
                </a:lnTo>
                <a:cubicBezTo>
                  <a:pt x="221289" y="0"/>
                  <a:pt x="228509" y="7188"/>
                  <a:pt x="228509" y="16174"/>
                </a:cubicBezTo>
                <a:lnTo>
                  <a:pt x="228509" y="37381"/>
                </a:lnTo>
                <a:lnTo>
                  <a:pt x="262081" y="76559"/>
                </a:lnTo>
                <a:cubicBezTo>
                  <a:pt x="262803" y="77278"/>
                  <a:pt x="263164" y="78356"/>
                  <a:pt x="263164" y="79435"/>
                </a:cubicBezTo>
                <a:lnTo>
                  <a:pt x="263164" y="85186"/>
                </a:lnTo>
                <a:cubicBezTo>
                  <a:pt x="263164" y="103517"/>
                  <a:pt x="248003" y="118254"/>
                  <a:pt x="229953" y="118254"/>
                </a:cubicBezTo>
                <a:lnTo>
                  <a:pt x="228509" y="118254"/>
                </a:lnTo>
                <a:lnTo>
                  <a:pt x="228509" y="269576"/>
                </a:lnTo>
                <a:cubicBezTo>
                  <a:pt x="228509" y="278202"/>
                  <a:pt x="221289" y="285391"/>
                  <a:pt x="212625" y="285391"/>
                </a:cubicBezTo>
                <a:lnTo>
                  <a:pt x="50539" y="285391"/>
                </a:lnTo>
                <a:cubicBezTo>
                  <a:pt x="41875" y="285391"/>
                  <a:pt x="34655" y="278202"/>
                  <a:pt x="34655" y="269576"/>
                </a:cubicBezTo>
                <a:lnTo>
                  <a:pt x="34655" y="118254"/>
                </a:lnTo>
                <a:lnTo>
                  <a:pt x="33211" y="118254"/>
                </a:lnTo>
                <a:cubicBezTo>
                  <a:pt x="14800" y="118254"/>
                  <a:pt x="0" y="103517"/>
                  <a:pt x="0" y="85186"/>
                </a:cubicBezTo>
                <a:lnTo>
                  <a:pt x="0" y="79435"/>
                </a:lnTo>
                <a:cubicBezTo>
                  <a:pt x="0" y="78356"/>
                  <a:pt x="361" y="77278"/>
                  <a:pt x="1083" y="76559"/>
                </a:cubicBezTo>
                <a:lnTo>
                  <a:pt x="34655" y="37381"/>
                </a:lnTo>
                <a:lnTo>
                  <a:pt x="34655" y="16174"/>
                </a:lnTo>
                <a:cubicBezTo>
                  <a:pt x="34655" y="7188"/>
                  <a:pt x="41875" y="0"/>
                  <a:pt x="505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27" name="Freeform 1011">
            <a:extLst>
              <a:ext uri="{FF2B5EF4-FFF2-40B4-BE49-F238E27FC236}">
                <a16:creationId xmlns:a16="http://schemas.microsoft.com/office/drawing/2014/main" id="{826ED190-3813-2B46-975A-44A7BAD5E3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38386" y="2487272"/>
            <a:ext cx="294371" cy="282923"/>
          </a:xfrm>
          <a:custGeom>
            <a:avLst/>
            <a:gdLst>
              <a:gd name="T0" fmla="*/ 212764 w 285390"/>
              <a:gd name="T1" fmla="*/ 251762 h 274277"/>
              <a:gd name="T2" fmla="*/ 149610 w 285390"/>
              <a:gd name="T3" fmla="*/ 242570 h 274277"/>
              <a:gd name="T4" fmla="*/ 149610 w 285390"/>
              <a:gd name="T5" fmla="*/ 251762 h 274277"/>
              <a:gd name="T6" fmla="*/ 124147 w 285390"/>
              <a:gd name="T7" fmla="*/ 242570 h 274277"/>
              <a:gd name="T8" fmla="*/ 100517 w 285390"/>
              <a:gd name="T9" fmla="*/ 247166 h 274277"/>
              <a:gd name="T10" fmla="*/ 85790 w 285390"/>
              <a:gd name="T11" fmla="*/ 247166 h 274277"/>
              <a:gd name="T12" fmla="*/ 61858 w 285390"/>
              <a:gd name="T13" fmla="*/ 242570 h 274277"/>
              <a:gd name="T14" fmla="*/ 247437 w 285390"/>
              <a:gd name="T15" fmla="*/ 251787 h 274277"/>
              <a:gd name="T16" fmla="*/ 243139 w 285390"/>
              <a:gd name="T17" fmla="*/ 243189 h 274277"/>
              <a:gd name="T18" fmla="*/ 30934 w 285390"/>
              <a:gd name="T19" fmla="*/ 238889 h 274277"/>
              <a:gd name="T20" fmla="*/ 35230 w 285390"/>
              <a:gd name="T21" fmla="*/ 251787 h 274277"/>
              <a:gd name="T22" fmla="*/ 26635 w 285390"/>
              <a:gd name="T23" fmla="*/ 234590 h 274277"/>
              <a:gd name="T24" fmla="*/ 26933 w 285390"/>
              <a:gd name="T25" fmla="*/ 218274 h 274277"/>
              <a:gd name="T26" fmla="*/ 224968 w 285390"/>
              <a:gd name="T27" fmla="*/ 173127 h 274277"/>
              <a:gd name="T28" fmla="*/ 224968 w 285390"/>
              <a:gd name="T29" fmla="*/ 173127 h 274277"/>
              <a:gd name="T30" fmla="*/ 205822 w 285390"/>
              <a:gd name="T31" fmla="*/ 183340 h 274277"/>
              <a:gd name="T32" fmla="*/ 224620 w 285390"/>
              <a:gd name="T33" fmla="*/ 214570 h 274277"/>
              <a:gd name="T34" fmla="*/ 26933 w 285390"/>
              <a:gd name="T35" fmla="*/ 148414 h 274277"/>
              <a:gd name="T36" fmla="*/ 22337 w 285390"/>
              <a:gd name="T37" fmla="*/ 171203 h 274277"/>
              <a:gd name="T38" fmla="*/ 247437 w 285390"/>
              <a:gd name="T39" fmla="*/ 114901 h 274277"/>
              <a:gd name="T40" fmla="*/ 243139 w 285390"/>
              <a:gd name="T41" fmla="*/ 127798 h 274277"/>
              <a:gd name="T42" fmla="*/ 238841 w 285390"/>
              <a:gd name="T43" fmla="*/ 114901 h 274277"/>
              <a:gd name="T44" fmla="*/ 212764 w 285390"/>
              <a:gd name="T45" fmla="*/ 124093 h 274277"/>
              <a:gd name="T46" fmla="*/ 149610 w 285390"/>
              <a:gd name="T47" fmla="*/ 114901 h 274277"/>
              <a:gd name="T48" fmla="*/ 149610 w 285390"/>
              <a:gd name="T49" fmla="*/ 124093 h 274277"/>
              <a:gd name="T50" fmla="*/ 124147 w 285390"/>
              <a:gd name="T51" fmla="*/ 114901 h 274277"/>
              <a:gd name="T52" fmla="*/ 100517 w 285390"/>
              <a:gd name="T53" fmla="*/ 119497 h 274277"/>
              <a:gd name="T54" fmla="*/ 85790 w 285390"/>
              <a:gd name="T55" fmla="*/ 119497 h 274277"/>
              <a:gd name="T56" fmla="*/ 61858 w 285390"/>
              <a:gd name="T57" fmla="*/ 114901 h 274277"/>
              <a:gd name="T58" fmla="*/ 35230 w 285390"/>
              <a:gd name="T59" fmla="*/ 123499 h 274277"/>
              <a:gd name="T60" fmla="*/ 22337 w 285390"/>
              <a:gd name="T61" fmla="*/ 127798 h 274277"/>
              <a:gd name="T62" fmla="*/ 8681 w 285390"/>
              <a:gd name="T63" fmla="*/ 108551 h 274277"/>
              <a:gd name="T64" fmla="*/ 266578 w 285390"/>
              <a:gd name="T65" fmla="*/ 259438 h 274277"/>
              <a:gd name="T66" fmla="*/ 224620 w 285390"/>
              <a:gd name="T67" fmla="*/ 145097 h 274277"/>
              <a:gd name="T68" fmla="*/ 15915 w 285390"/>
              <a:gd name="T69" fmla="*/ 101314 h 274277"/>
              <a:gd name="T70" fmla="*/ 88980 w 285390"/>
              <a:gd name="T71" fmla="*/ 81414 h 274277"/>
              <a:gd name="T72" fmla="*/ 185081 w 285390"/>
              <a:gd name="T73" fmla="*/ 77622 h 274277"/>
              <a:gd name="T74" fmla="*/ 189293 w 285390"/>
              <a:gd name="T75" fmla="*/ 61870 h 274277"/>
              <a:gd name="T76" fmla="*/ 224981 w 285390"/>
              <a:gd name="T77" fmla="*/ 48849 h 274277"/>
              <a:gd name="T78" fmla="*/ 240535 w 285390"/>
              <a:gd name="T79" fmla="*/ 48125 h 274277"/>
              <a:gd name="T80" fmla="*/ 194271 w 285390"/>
              <a:gd name="T81" fmla="*/ 38123 h 274277"/>
              <a:gd name="T82" fmla="*/ 185081 w 285390"/>
              <a:gd name="T83" fmla="*/ 38123 h 274277"/>
              <a:gd name="T84" fmla="*/ 216300 w 285390"/>
              <a:gd name="T85" fmla="*/ 92630 h 274277"/>
              <a:gd name="T86" fmla="*/ 135277 w 285390"/>
              <a:gd name="T87" fmla="*/ 8682 h 274277"/>
              <a:gd name="T88" fmla="*/ 135277 w 285390"/>
              <a:gd name="T89" fmla="*/ 8682 h 274277"/>
              <a:gd name="T90" fmla="*/ 126596 w 285390"/>
              <a:gd name="T91" fmla="*/ 92630 h 274277"/>
              <a:gd name="T92" fmla="*/ 209066 w 285390"/>
              <a:gd name="T93" fmla="*/ 0 h 274277"/>
              <a:gd name="T94" fmla="*/ 245960 w 285390"/>
              <a:gd name="T95" fmla="*/ 41250 h 274277"/>
              <a:gd name="T96" fmla="*/ 275258 w 285390"/>
              <a:gd name="T97" fmla="*/ 108551 h 274277"/>
              <a:gd name="T98" fmla="*/ 286832 w 285390"/>
              <a:gd name="T99" fmla="*/ 218912 h 274277"/>
              <a:gd name="T100" fmla="*/ 259343 w 285390"/>
              <a:gd name="T101" fmla="*/ 275719 h 274277"/>
              <a:gd name="T102" fmla="*/ 0 w 285390"/>
              <a:gd name="T103" fmla="*/ 107827 h 274277"/>
              <a:gd name="T104" fmla="*/ 104895 w 285390"/>
              <a:gd name="T105" fmla="*/ 0 h 274277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285390" h="274277">
                <a:moveTo>
                  <a:pt x="193118" y="241300"/>
                </a:moveTo>
                <a:lnTo>
                  <a:pt x="211694" y="241300"/>
                </a:lnTo>
                <a:cubicBezTo>
                  <a:pt x="213797" y="241300"/>
                  <a:pt x="215550" y="243586"/>
                  <a:pt x="215550" y="245872"/>
                </a:cubicBezTo>
                <a:cubicBezTo>
                  <a:pt x="215550" y="248539"/>
                  <a:pt x="213797" y="250444"/>
                  <a:pt x="211694" y="250444"/>
                </a:cubicBezTo>
                <a:lnTo>
                  <a:pt x="193118" y="250444"/>
                </a:lnTo>
                <a:cubicBezTo>
                  <a:pt x="190665" y="250444"/>
                  <a:pt x="188912" y="248539"/>
                  <a:pt x="188912" y="245872"/>
                </a:cubicBezTo>
                <a:cubicBezTo>
                  <a:pt x="188912" y="243586"/>
                  <a:pt x="190665" y="241300"/>
                  <a:pt x="193118" y="241300"/>
                </a:cubicBezTo>
                <a:close/>
                <a:moveTo>
                  <a:pt x="148858" y="241300"/>
                </a:moveTo>
                <a:lnTo>
                  <a:pt x="168274" y="241300"/>
                </a:lnTo>
                <a:cubicBezTo>
                  <a:pt x="170472" y="241300"/>
                  <a:pt x="172670" y="243586"/>
                  <a:pt x="172670" y="245872"/>
                </a:cubicBezTo>
                <a:cubicBezTo>
                  <a:pt x="172670" y="248539"/>
                  <a:pt x="170472" y="250444"/>
                  <a:pt x="168274" y="250444"/>
                </a:cubicBezTo>
                <a:lnTo>
                  <a:pt x="148858" y="250444"/>
                </a:lnTo>
                <a:cubicBezTo>
                  <a:pt x="146660" y="250444"/>
                  <a:pt x="144462" y="248539"/>
                  <a:pt x="144462" y="245872"/>
                </a:cubicBezTo>
                <a:cubicBezTo>
                  <a:pt x="144462" y="243586"/>
                  <a:pt x="146660" y="241300"/>
                  <a:pt x="148858" y="241300"/>
                </a:cubicBezTo>
                <a:close/>
                <a:moveTo>
                  <a:pt x="104714" y="241300"/>
                </a:moveTo>
                <a:lnTo>
                  <a:pt x="123523" y="241300"/>
                </a:lnTo>
                <a:cubicBezTo>
                  <a:pt x="126055" y="241300"/>
                  <a:pt x="128225" y="243586"/>
                  <a:pt x="128225" y="245872"/>
                </a:cubicBezTo>
                <a:cubicBezTo>
                  <a:pt x="128225" y="248539"/>
                  <a:pt x="126055" y="250444"/>
                  <a:pt x="123523" y="250444"/>
                </a:cubicBezTo>
                <a:lnTo>
                  <a:pt x="104714" y="250444"/>
                </a:lnTo>
                <a:cubicBezTo>
                  <a:pt x="102182" y="250444"/>
                  <a:pt x="100012" y="248539"/>
                  <a:pt x="100012" y="245872"/>
                </a:cubicBezTo>
                <a:cubicBezTo>
                  <a:pt x="100012" y="243586"/>
                  <a:pt x="102182" y="241300"/>
                  <a:pt x="104714" y="241300"/>
                </a:cubicBezTo>
                <a:close/>
                <a:moveTo>
                  <a:pt x="61546" y="241300"/>
                </a:moveTo>
                <a:lnTo>
                  <a:pt x="80596" y="241300"/>
                </a:lnTo>
                <a:cubicBezTo>
                  <a:pt x="83160" y="241300"/>
                  <a:pt x="85358" y="243586"/>
                  <a:pt x="85358" y="245872"/>
                </a:cubicBezTo>
                <a:cubicBezTo>
                  <a:pt x="85358" y="248539"/>
                  <a:pt x="83160" y="250444"/>
                  <a:pt x="80596" y="250444"/>
                </a:cubicBezTo>
                <a:lnTo>
                  <a:pt x="61546" y="250444"/>
                </a:lnTo>
                <a:cubicBezTo>
                  <a:pt x="58981" y="250444"/>
                  <a:pt x="57150" y="248539"/>
                  <a:pt x="57150" y="245872"/>
                </a:cubicBezTo>
                <a:cubicBezTo>
                  <a:pt x="57150" y="243586"/>
                  <a:pt x="58981" y="241300"/>
                  <a:pt x="61546" y="241300"/>
                </a:cubicBezTo>
                <a:close/>
                <a:moveTo>
                  <a:pt x="246192" y="233362"/>
                </a:moveTo>
                <a:cubicBezTo>
                  <a:pt x="248331" y="233362"/>
                  <a:pt x="250469" y="235144"/>
                  <a:pt x="250469" y="237639"/>
                </a:cubicBezTo>
                <a:lnTo>
                  <a:pt x="250469" y="246192"/>
                </a:lnTo>
                <a:cubicBezTo>
                  <a:pt x="250469" y="248687"/>
                  <a:pt x="248331" y="250469"/>
                  <a:pt x="246192" y="250469"/>
                </a:cubicBezTo>
                <a:lnTo>
                  <a:pt x="237639" y="250469"/>
                </a:lnTo>
                <a:cubicBezTo>
                  <a:pt x="235144" y="250469"/>
                  <a:pt x="233362" y="248687"/>
                  <a:pt x="233362" y="246192"/>
                </a:cubicBezTo>
                <a:cubicBezTo>
                  <a:pt x="233362" y="244054"/>
                  <a:pt x="235144" y="241916"/>
                  <a:pt x="237639" y="241916"/>
                </a:cubicBezTo>
                <a:lnTo>
                  <a:pt x="241916" y="241916"/>
                </a:lnTo>
                <a:lnTo>
                  <a:pt x="241916" y="237639"/>
                </a:lnTo>
                <a:cubicBezTo>
                  <a:pt x="241916" y="235144"/>
                  <a:pt x="243697" y="233362"/>
                  <a:pt x="246192" y="233362"/>
                </a:cubicBezTo>
                <a:close/>
                <a:moveTo>
                  <a:pt x="26501" y="233362"/>
                </a:moveTo>
                <a:cubicBezTo>
                  <a:pt x="28996" y="233362"/>
                  <a:pt x="30778" y="235144"/>
                  <a:pt x="30778" y="237639"/>
                </a:cubicBezTo>
                <a:lnTo>
                  <a:pt x="30778" y="241916"/>
                </a:lnTo>
                <a:lnTo>
                  <a:pt x="35054" y="241916"/>
                </a:lnTo>
                <a:cubicBezTo>
                  <a:pt x="37549" y="241916"/>
                  <a:pt x="39330" y="244054"/>
                  <a:pt x="39330" y="246192"/>
                </a:cubicBezTo>
                <a:cubicBezTo>
                  <a:pt x="39330" y="248687"/>
                  <a:pt x="37549" y="250469"/>
                  <a:pt x="35054" y="250469"/>
                </a:cubicBezTo>
                <a:lnTo>
                  <a:pt x="26501" y="250469"/>
                </a:lnTo>
                <a:cubicBezTo>
                  <a:pt x="24007" y="250469"/>
                  <a:pt x="22225" y="248687"/>
                  <a:pt x="22225" y="246192"/>
                </a:cubicBezTo>
                <a:lnTo>
                  <a:pt x="22225" y="237639"/>
                </a:lnTo>
                <a:cubicBezTo>
                  <a:pt x="22225" y="235144"/>
                  <a:pt x="24007" y="233362"/>
                  <a:pt x="26501" y="233362"/>
                </a:cubicBezTo>
                <a:close/>
                <a:moveTo>
                  <a:pt x="26797" y="190500"/>
                </a:moveTo>
                <a:cubicBezTo>
                  <a:pt x="29464" y="190500"/>
                  <a:pt x="31369" y="192276"/>
                  <a:pt x="31369" y="194761"/>
                </a:cubicBezTo>
                <a:lnTo>
                  <a:pt x="31369" y="212516"/>
                </a:lnTo>
                <a:cubicBezTo>
                  <a:pt x="31369" y="215002"/>
                  <a:pt x="29464" y="217132"/>
                  <a:pt x="26797" y="217132"/>
                </a:cubicBezTo>
                <a:cubicBezTo>
                  <a:pt x="24130" y="217132"/>
                  <a:pt x="22225" y="215002"/>
                  <a:pt x="22225" y="212516"/>
                </a:cubicBezTo>
                <a:lnTo>
                  <a:pt x="22225" y="194761"/>
                </a:lnTo>
                <a:cubicBezTo>
                  <a:pt x="22225" y="192276"/>
                  <a:pt x="24130" y="190500"/>
                  <a:pt x="26797" y="190500"/>
                </a:cubicBezTo>
                <a:close/>
                <a:moveTo>
                  <a:pt x="223837" y="172221"/>
                </a:moveTo>
                <a:cubicBezTo>
                  <a:pt x="218086" y="172221"/>
                  <a:pt x="213414" y="176938"/>
                  <a:pt x="213414" y="182381"/>
                </a:cubicBezTo>
                <a:cubicBezTo>
                  <a:pt x="213414" y="187824"/>
                  <a:pt x="218086" y="192541"/>
                  <a:pt x="223837" y="192541"/>
                </a:cubicBezTo>
                <a:cubicBezTo>
                  <a:pt x="229229" y="192541"/>
                  <a:pt x="233901" y="187824"/>
                  <a:pt x="233901" y="182381"/>
                </a:cubicBezTo>
                <a:cubicBezTo>
                  <a:pt x="233901" y="176938"/>
                  <a:pt x="229229" y="172221"/>
                  <a:pt x="223837" y="172221"/>
                </a:cubicBezTo>
                <a:close/>
                <a:moveTo>
                  <a:pt x="223837" y="163512"/>
                </a:moveTo>
                <a:cubicBezTo>
                  <a:pt x="233901" y="163512"/>
                  <a:pt x="242528" y="171858"/>
                  <a:pt x="242528" y="182381"/>
                </a:cubicBezTo>
                <a:cubicBezTo>
                  <a:pt x="242528" y="192904"/>
                  <a:pt x="233901" y="201249"/>
                  <a:pt x="223837" y="201249"/>
                </a:cubicBezTo>
                <a:cubicBezTo>
                  <a:pt x="213414" y="201249"/>
                  <a:pt x="204787" y="192904"/>
                  <a:pt x="204787" y="182381"/>
                </a:cubicBezTo>
                <a:cubicBezTo>
                  <a:pt x="204787" y="171858"/>
                  <a:pt x="213414" y="163512"/>
                  <a:pt x="223837" y="163512"/>
                </a:cubicBezTo>
                <a:close/>
                <a:moveTo>
                  <a:pt x="223490" y="152976"/>
                </a:moveTo>
                <a:cubicBezTo>
                  <a:pt x="206575" y="152976"/>
                  <a:pt x="193259" y="166294"/>
                  <a:pt x="193259" y="183212"/>
                </a:cubicBezTo>
                <a:cubicBezTo>
                  <a:pt x="193259" y="199769"/>
                  <a:pt x="206575" y="213447"/>
                  <a:pt x="223490" y="213447"/>
                </a:cubicBezTo>
                <a:lnTo>
                  <a:pt x="276393" y="213447"/>
                </a:lnTo>
                <a:lnTo>
                  <a:pt x="276393" y="152976"/>
                </a:lnTo>
                <a:lnTo>
                  <a:pt x="223490" y="152976"/>
                </a:lnTo>
                <a:close/>
                <a:moveTo>
                  <a:pt x="26797" y="147637"/>
                </a:moveTo>
                <a:cubicBezTo>
                  <a:pt x="29464" y="147637"/>
                  <a:pt x="31369" y="149436"/>
                  <a:pt x="31369" y="151595"/>
                </a:cubicBezTo>
                <a:lnTo>
                  <a:pt x="31369" y="170307"/>
                </a:lnTo>
                <a:cubicBezTo>
                  <a:pt x="31369" y="172466"/>
                  <a:pt x="29464" y="174265"/>
                  <a:pt x="26797" y="174265"/>
                </a:cubicBezTo>
                <a:cubicBezTo>
                  <a:pt x="24130" y="174265"/>
                  <a:pt x="22225" y="172466"/>
                  <a:pt x="22225" y="170307"/>
                </a:cubicBezTo>
                <a:lnTo>
                  <a:pt x="22225" y="151595"/>
                </a:lnTo>
                <a:cubicBezTo>
                  <a:pt x="22225" y="149436"/>
                  <a:pt x="24130" y="147637"/>
                  <a:pt x="26797" y="147637"/>
                </a:cubicBezTo>
                <a:close/>
                <a:moveTo>
                  <a:pt x="237639" y="114300"/>
                </a:moveTo>
                <a:lnTo>
                  <a:pt x="246192" y="114300"/>
                </a:lnTo>
                <a:cubicBezTo>
                  <a:pt x="248331" y="114300"/>
                  <a:pt x="250469" y="116082"/>
                  <a:pt x="250469" y="118577"/>
                </a:cubicBezTo>
                <a:lnTo>
                  <a:pt x="250469" y="127129"/>
                </a:lnTo>
                <a:cubicBezTo>
                  <a:pt x="250469" y="129268"/>
                  <a:pt x="248331" y="131406"/>
                  <a:pt x="246192" y="131406"/>
                </a:cubicBezTo>
                <a:cubicBezTo>
                  <a:pt x="243697" y="131406"/>
                  <a:pt x="241916" y="129268"/>
                  <a:pt x="241916" y="127129"/>
                </a:cubicBezTo>
                <a:lnTo>
                  <a:pt x="241916" y="122853"/>
                </a:lnTo>
                <a:lnTo>
                  <a:pt x="237639" y="122853"/>
                </a:lnTo>
                <a:cubicBezTo>
                  <a:pt x="235144" y="122853"/>
                  <a:pt x="233362" y="120715"/>
                  <a:pt x="233362" y="118577"/>
                </a:cubicBezTo>
                <a:cubicBezTo>
                  <a:pt x="233362" y="116082"/>
                  <a:pt x="235144" y="114300"/>
                  <a:pt x="237639" y="114300"/>
                </a:cubicBezTo>
                <a:close/>
                <a:moveTo>
                  <a:pt x="193118" y="114300"/>
                </a:moveTo>
                <a:lnTo>
                  <a:pt x="211694" y="114300"/>
                </a:lnTo>
                <a:cubicBezTo>
                  <a:pt x="213797" y="114300"/>
                  <a:pt x="215550" y="116205"/>
                  <a:pt x="215550" y="118872"/>
                </a:cubicBezTo>
                <a:cubicBezTo>
                  <a:pt x="215550" y="121158"/>
                  <a:pt x="213797" y="123444"/>
                  <a:pt x="211694" y="123444"/>
                </a:cubicBezTo>
                <a:lnTo>
                  <a:pt x="193118" y="123444"/>
                </a:lnTo>
                <a:cubicBezTo>
                  <a:pt x="190665" y="123444"/>
                  <a:pt x="188912" y="121158"/>
                  <a:pt x="188912" y="118872"/>
                </a:cubicBezTo>
                <a:cubicBezTo>
                  <a:pt x="188912" y="116205"/>
                  <a:pt x="190665" y="114300"/>
                  <a:pt x="193118" y="114300"/>
                </a:cubicBezTo>
                <a:close/>
                <a:moveTo>
                  <a:pt x="148858" y="114300"/>
                </a:moveTo>
                <a:lnTo>
                  <a:pt x="168274" y="114300"/>
                </a:lnTo>
                <a:cubicBezTo>
                  <a:pt x="170472" y="114300"/>
                  <a:pt x="172670" y="116205"/>
                  <a:pt x="172670" y="118872"/>
                </a:cubicBezTo>
                <a:cubicBezTo>
                  <a:pt x="172670" y="121158"/>
                  <a:pt x="170472" y="123444"/>
                  <a:pt x="168274" y="123444"/>
                </a:cubicBezTo>
                <a:lnTo>
                  <a:pt x="148858" y="123444"/>
                </a:lnTo>
                <a:cubicBezTo>
                  <a:pt x="146660" y="123444"/>
                  <a:pt x="144462" y="121158"/>
                  <a:pt x="144462" y="118872"/>
                </a:cubicBezTo>
                <a:cubicBezTo>
                  <a:pt x="144462" y="116205"/>
                  <a:pt x="146660" y="114300"/>
                  <a:pt x="148858" y="114300"/>
                </a:cubicBezTo>
                <a:close/>
                <a:moveTo>
                  <a:pt x="104714" y="114300"/>
                </a:moveTo>
                <a:lnTo>
                  <a:pt x="123523" y="114300"/>
                </a:lnTo>
                <a:cubicBezTo>
                  <a:pt x="126055" y="114300"/>
                  <a:pt x="128225" y="116205"/>
                  <a:pt x="128225" y="118872"/>
                </a:cubicBezTo>
                <a:cubicBezTo>
                  <a:pt x="128225" y="121158"/>
                  <a:pt x="126055" y="123444"/>
                  <a:pt x="123523" y="123444"/>
                </a:cubicBezTo>
                <a:lnTo>
                  <a:pt x="104714" y="123444"/>
                </a:lnTo>
                <a:cubicBezTo>
                  <a:pt x="102182" y="123444"/>
                  <a:pt x="100012" y="121158"/>
                  <a:pt x="100012" y="118872"/>
                </a:cubicBezTo>
                <a:cubicBezTo>
                  <a:pt x="100012" y="116205"/>
                  <a:pt x="102182" y="114300"/>
                  <a:pt x="104714" y="114300"/>
                </a:cubicBezTo>
                <a:close/>
                <a:moveTo>
                  <a:pt x="61546" y="114300"/>
                </a:moveTo>
                <a:lnTo>
                  <a:pt x="80596" y="114300"/>
                </a:lnTo>
                <a:cubicBezTo>
                  <a:pt x="83160" y="114300"/>
                  <a:pt x="85358" y="116205"/>
                  <a:pt x="85358" y="118872"/>
                </a:cubicBezTo>
                <a:cubicBezTo>
                  <a:pt x="85358" y="121158"/>
                  <a:pt x="83160" y="123444"/>
                  <a:pt x="80596" y="123444"/>
                </a:cubicBezTo>
                <a:lnTo>
                  <a:pt x="61546" y="123444"/>
                </a:lnTo>
                <a:cubicBezTo>
                  <a:pt x="58981" y="123444"/>
                  <a:pt x="57150" y="121158"/>
                  <a:pt x="57150" y="118872"/>
                </a:cubicBezTo>
                <a:cubicBezTo>
                  <a:pt x="57150" y="116205"/>
                  <a:pt x="58981" y="114300"/>
                  <a:pt x="61546" y="114300"/>
                </a:cubicBezTo>
                <a:close/>
                <a:moveTo>
                  <a:pt x="26501" y="114300"/>
                </a:moveTo>
                <a:lnTo>
                  <a:pt x="35054" y="114300"/>
                </a:lnTo>
                <a:cubicBezTo>
                  <a:pt x="37549" y="114300"/>
                  <a:pt x="39330" y="116082"/>
                  <a:pt x="39330" y="118577"/>
                </a:cubicBezTo>
                <a:cubicBezTo>
                  <a:pt x="39330" y="120715"/>
                  <a:pt x="37549" y="122853"/>
                  <a:pt x="35054" y="122853"/>
                </a:cubicBezTo>
                <a:lnTo>
                  <a:pt x="30778" y="122853"/>
                </a:lnTo>
                <a:lnTo>
                  <a:pt x="30778" y="127129"/>
                </a:lnTo>
                <a:cubicBezTo>
                  <a:pt x="30778" y="129268"/>
                  <a:pt x="28996" y="131406"/>
                  <a:pt x="26501" y="131406"/>
                </a:cubicBezTo>
                <a:cubicBezTo>
                  <a:pt x="24007" y="131406"/>
                  <a:pt x="22225" y="129268"/>
                  <a:pt x="22225" y="127129"/>
                </a:cubicBezTo>
                <a:lnTo>
                  <a:pt x="22225" y="118577"/>
                </a:lnTo>
                <a:cubicBezTo>
                  <a:pt x="22225" y="116082"/>
                  <a:pt x="24007" y="114300"/>
                  <a:pt x="26501" y="114300"/>
                </a:cubicBezTo>
                <a:close/>
                <a:moveTo>
                  <a:pt x="15835" y="100784"/>
                </a:moveTo>
                <a:cubicBezTo>
                  <a:pt x="11876" y="100784"/>
                  <a:pt x="8637" y="104384"/>
                  <a:pt x="8637" y="107983"/>
                </a:cubicBezTo>
                <a:lnTo>
                  <a:pt x="8637" y="258080"/>
                </a:lnTo>
                <a:cubicBezTo>
                  <a:pt x="8637" y="262399"/>
                  <a:pt x="11876" y="265279"/>
                  <a:pt x="15835" y="265279"/>
                </a:cubicBezTo>
                <a:lnTo>
                  <a:pt x="258039" y="265279"/>
                </a:lnTo>
                <a:cubicBezTo>
                  <a:pt x="261638" y="265279"/>
                  <a:pt x="265237" y="262399"/>
                  <a:pt x="265237" y="258080"/>
                </a:cubicBezTo>
                <a:lnTo>
                  <a:pt x="265237" y="222085"/>
                </a:lnTo>
                <a:lnTo>
                  <a:pt x="223490" y="222085"/>
                </a:lnTo>
                <a:cubicBezTo>
                  <a:pt x="201897" y="222085"/>
                  <a:pt x="184622" y="204808"/>
                  <a:pt x="184622" y="183212"/>
                </a:cubicBezTo>
                <a:cubicBezTo>
                  <a:pt x="184622" y="161975"/>
                  <a:pt x="201897" y="144338"/>
                  <a:pt x="223490" y="144338"/>
                </a:cubicBezTo>
                <a:lnTo>
                  <a:pt x="265237" y="144338"/>
                </a:lnTo>
                <a:lnTo>
                  <a:pt x="265237" y="107983"/>
                </a:lnTo>
                <a:cubicBezTo>
                  <a:pt x="265237" y="104384"/>
                  <a:pt x="261638" y="100784"/>
                  <a:pt x="258039" y="100784"/>
                </a:cubicBezTo>
                <a:lnTo>
                  <a:pt x="15835" y="100784"/>
                </a:lnTo>
                <a:close/>
                <a:moveTo>
                  <a:pt x="88532" y="80988"/>
                </a:moveTo>
                <a:lnTo>
                  <a:pt x="41027" y="92146"/>
                </a:lnTo>
                <a:lnTo>
                  <a:pt x="88532" y="92146"/>
                </a:lnTo>
                <a:lnTo>
                  <a:pt x="88532" y="80988"/>
                </a:lnTo>
                <a:close/>
                <a:moveTo>
                  <a:pt x="188341" y="73025"/>
                </a:moveTo>
                <a:cubicBezTo>
                  <a:pt x="191008" y="73025"/>
                  <a:pt x="193294" y="74930"/>
                  <a:pt x="193294" y="77216"/>
                </a:cubicBezTo>
                <a:cubicBezTo>
                  <a:pt x="193294" y="79883"/>
                  <a:pt x="191008" y="82169"/>
                  <a:pt x="188341" y="82169"/>
                </a:cubicBezTo>
                <a:cubicBezTo>
                  <a:pt x="186055" y="82169"/>
                  <a:pt x="184150" y="79883"/>
                  <a:pt x="184150" y="77216"/>
                </a:cubicBezTo>
                <a:cubicBezTo>
                  <a:pt x="184150" y="74930"/>
                  <a:pt x="186055" y="73025"/>
                  <a:pt x="188341" y="73025"/>
                </a:cubicBezTo>
                <a:close/>
                <a:moveTo>
                  <a:pt x="188341" y="52387"/>
                </a:moveTo>
                <a:cubicBezTo>
                  <a:pt x="191008" y="52387"/>
                  <a:pt x="193294" y="54585"/>
                  <a:pt x="193294" y="57150"/>
                </a:cubicBezTo>
                <a:cubicBezTo>
                  <a:pt x="193294" y="59348"/>
                  <a:pt x="191008" y="61546"/>
                  <a:pt x="188341" y="61546"/>
                </a:cubicBezTo>
                <a:cubicBezTo>
                  <a:pt x="186055" y="61546"/>
                  <a:pt x="184150" y="59348"/>
                  <a:pt x="184150" y="57150"/>
                </a:cubicBezTo>
                <a:cubicBezTo>
                  <a:pt x="184150" y="54585"/>
                  <a:pt x="186055" y="52387"/>
                  <a:pt x="188341" y="52387"/>
                </a:cubicBezTo>
                <a:close/>
                <a:moveTo>
                  <a:pt x="233207" y="46433"/>
                </a:moveTo>
                <a:lnTo>
                  <a:pt x="223850" y="48593"/>
                </a:lnTo>
                <a:lnTo>
                  <a:pt x="223850" y="92146"/>
                </a:lnTo>
                <a:lnTo>
                  <a:pt x="242204" y="92146"/>
                </a:lnTo>
                <a:lnTo>
                  <a:pt x="242204" y="53632"/>
                </a:lnTo>
                <a:cubicBezTo>
                  <a:pt x="242204" y="51472"/>
                  <a:pt x="241124" y="49313"/>
                  <a:pt x="239325" y="47873"/>
                </a:cubicBezTo>
                <a:cubicBezTo>
                  <a:pt x="237525" y="46433"/>
                  <a:pt x="235366" y="46073"/>
                  <a:pt x="233207" y="46433"/>
                </a:cubicBezTo>
                <a:close/>
                <a:moveTo>
                  <a:pt x="185293" y="35101"/>
                </a:moveTo>
                <a:cubicBezTo>
                  <a:pt x="186817" y="33337"/>
                  <a:pt x="189865" y="33337"/>
                  <a:pt x="191770" y="35101"/>
                </a:cubicBezTo>
                <a:cubicBezTo>
                  <a:pt x="192532" y="35807"/>
                  <a:pt x="193294" y="36865"/>
                  <a:pt x="193294" y="37923"/>
                </a:cubicBezTo>
                <a:cubicBezTo>
                  <a:pt x="193294" y="39334"/>
                  <a:pt x="192532" y="40393"/>
                  <a:pt x="191770" y="41098"/>
                </a:cubicBezTo>
                <a:cubicBezTo>
                  <a:pt x="191008" y="41804"/>
                  <a:pt x="189865" y="42509"/>
                  <a:pt x="188341" y="42509"/>
                </a:cubicBezTo>
                <a:cubicBezTo>
                  <a:pt x="187198" y="42509"/>
                  <a:pt x="186055" y="41804"/>
                  <a:pt x="185293" y="41098"/>
                </a:cubicBezTo>
                <a:cubicBezTo>
                  <a:pt x="184531" y="40393"/>
                  <a:pt x="184150" y="39334"/>
                  <a:pt x="184150" y="37923"/>
                </a:cubicBezTo>
                <a:cubicBezTo>
                  <a:pt x="184150" y="36865"/>
                  <a:pt x="184531" y="35807"/>
                  <a:pt x="185293" y="35101"/>
                </a:cubicBezTo>
                <a:close/>
                <a:moveTo>
                  <a:pt x="163388" y="8638"/>
                </a:moveTo>
                <a:lnTo>
                  <a:pt x="163388" y="92146"/>
                </a:lnTo>
                <a:lnTo>
                  <a:pt x="215212" y="92146"/>
                </a:lnTo>
                <a:lnTo>
                  <a:pt x="215212" y="15837"/>
                </a:lnTo>
                <a:cubicBezTo>
                  <a:pt x="215212" y="11878"/>
                  <a:pt x="212333" y="8638"/>
                  <a:pt x="208015" y="8638"/>
                </a:cubicBezTo>
                <a:lnTo>
                  <a:pt x="163388" y="8638"/>
                </a:lnTo>
                <a:close/>
                <a:moveTo>
                  <a:pt x="134597" y="8638"/>
                </a:moveTo>
                <a:lnTo>
                  <a:pt x="134597" y="92146"/>
                </a:lnTo>
                <a:lnTo>
                  <a:pt x="154751" y="92146"/>
                </a:lnTo>
                <a:lnTo>
                  <a:pt x="154751" y="8638"/>
                </a:lnTo>
                <a:lnTo>
                  <a:pt x="134597" y="8638"/>
                </a:lnTo>
                <a:close/>
                <a:moveTo>
                  <a:pt x="104367" y="8638"/>
                </a:moveTo>
                <a:cubicBezTo>
                  <a:pt x="100408" y="8638"/>
                  <a:pt x="97169" y="11878"/>
                  <a:pt x="97169" y="15837"/>
                </a:cubicBezTo>
                <a:lnTo>
                  <a:pt x="97169" y="92146"/>
                </a:lnTo>
                <a:lnTo>
                  <a:pt x="125960" y="92146"/>
                </a:lnTo>
                <a:lnTo>
                  <a:pt x="125960" y="8638"/>
                </a:lnTo>
                <a:lnTo>
                  <a:pt x="104367" y="8638"/>
                </a:lnTo>
                <a:close/>
                <a:moveTo>
                  <a:pt x="104367" y="0"/>
                </a:moveTo>
                <a:lnTo>
                  <a:pt x="208015" y="0"/>
                </a:lnTo>
                <a:cubicBezTo>
                  <a:pt x="216652" y="0"/>
                  <a:pt x="223850" y="7199"/>
                  <a:pt x="223850" y="15837"/>
                </a:cubicBezTo>
                <a:lnTo>
                  <a:pt x="223850" y="39954"/>
                </a:lnTo>
                <a:lnTo>
                  <a:pt x="231047" y="38154"/>
                </a:lnTo>
                <a:cubicBezTo>
                  <a:pt x="236086" y="37074"/>
                  <a:pt x="240764" y="38154"/>
                  <a:pt x="244723" y="41034"/>
                </a:cubicBezTo>
                <a:cubicBezTo>
                  <a:pt x="248682" y="44273"/>
                  <a:pt x="250841" y="48593"/>
                  <a:pt x="250841" y="53632"/>
                </a:cubicBezTo>
                <a:lnTo>
                  <a:pt x="250841" y="92146"/>
                </a:lnTo>
                <a:lnTo>
                  <a:pt x="258039" y="92146"/>
                </a:lnTo>
                <a:cubicBezTo>
                  <a:pt x="266676" y="92146"/>
                  <a:pt x="273874" y="99345"/>
                  <a:pt x="273874" y="107983"/>
                </a:cubicBezTo>
                <a:lnTo>
                  <a:pt x="273874" y="144338"/>
                </a:lnTo>
                <a:lnTo>
                  <a:pt x="281072" y="144338"/>
                </a:lnTo>
                <a:cubicBezTo>
                  <a:pt x="283231" y="144338"/>
                  <a:pt x="285390" y="146137"/>
                  <a:pt x="285390" y="148657"/>
                </a:cubicBezTo>
                <a:lnTo>
                  <a:pt x="285390" y="217766"/>
                </a:lnTo>
                <a:cubicBezTo>
                  <a:pt x="285390" y="220286"/>
                  <a:pt x="283231" y="222085"/>
                  <a:pt x="281072" y="222085"/>
                </a:cubicBezTo>
                <a:lnTo>
                  <a:pt x="273874" y="222085"/>
                </a:lnTo>
                <a:lnTo>
                  <a:pt x="273874" y="258080"/>
                </a:lnTo>
                <a:cubicBezTo>
                  <a:pt x="273874" y="267078"/>
                  <a:pt x="266676" y="274277"/>
                  <a:pt x="258039" y="274277"/>
                </a:cubicBezTo>
                <a:lnTo>
                  <a:pt x="15835" y="274277"/>
                </a:lnTo>
                <a:cubicBezTo>
                  <a:pt x="6838" y="274277"/>
                  <a:pt x="0" y="267078"/>
                  <a:pt x="0" y="258080"/>
                </a:cubicBezTo>
                <a:lnTo>
                  <a:pt x="0" y="125981"/>
                </a:lnTo>
                <a:lnTo>
                  <a:pt x="0" y="107263"/>
                </a:lnTo>
                <a:cubicBezTo>
                  <a:pt x="0" y="98985"/>
                  <a:pt x="6118" y="91786"/>
                  <a:pt x="14395" y="89626"/>
                </a:cubicBezTo>
                <a:lnTo>
                  <a:pt x="88532" y="72349"/>
                </a:lnTo>
                <a:lnTo>
                  <a:pt x="88532" y="15837"/>
                </a:lnTo>
                <a:cubicBezTo>
                  <a:pt x="88532" y="7199"/>
                  <a:pt x="95730" y="0"/>
                  <a:pt x="1043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675" dirty="0">
              <a:latin typeface="Lato Light" panose="020F0502020204030203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1ACBA0E5-5A4D-0F40-BA95-7593CB955DBE}"/>
              </a:ext>
            </a:extLst>
          </p:cNvPr>
          <p:cNvSpPr txBox="1">
            <a:spLocks/>
          </p:cNvSpPr>
          <p:nvPr/>
        </p:nvSpPr>
        <p:spPr>
          <a:xfrm>
            <a:off x="3435894" y="2470433"/>
            <a:ext cx="1411243" cy="287732"/>
          </a:xfrm>
          <a:prstGeom prst="rect">
            <a:avLst/>
          </a:prstGeom>
        </p:spPr>
        <p:txBody>
          <a:bodyPr vert="horz" wrap="square" lIns="81559" tIns="40779" rIns="81559" bIns="407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88"/>
              </a:lnSpc>
            </a:pPr>
            <a:r>
              <a:rPr lang="en-US" dirty="0">
                <a:solidFill>
                  <a:schemeClr val="bg1"/>
                </a:solidFill>
                <a:latin typeface="Franklin Gothic Medium" panose="020B06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Research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4C1BD9BF-EFBF-F94E-9CAB-D323FCA171F5}"/>
              </a:ext>
            </a:extLst>
          </p:cNvPr>
          <p:cNvSpPr txBox="1">
            <a:spLocks/>
          </p:cNvSpPr>
          <p:nvPr/>
        </p:nvSpPr>
        <p:spPr>
          <a:xfrm>
            <a:off x="4847137" y="1880104"/>
            <a:ext cx="1271743" cy="287732"/>
          </a:xfrm>
          <a:prstGeom prst="rect">
            <a:avLst/>
          </a:prstGeom>
        </p:spPr>
        <p:txBody>
          <a:bodyPr vert="horz" wrap="square" lIns="81559" tIns="40779" rIns="81559" bIns="407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88"/>
              </a:lnSpc>
            </a:pPr>
            <a:r>
              <a:rPr lang="en-US" dirty="0">
                <a:solidFill>
                  <a:schemeClr val="bg1"/>
                </a:solidFill>
                <a:latin typeface="Franklin Gothic Medium" panose="020B06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Validate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3592AAD-734F-6346-ACAE-76C74E79AE0E}"/>
              </a:ext>
            </a:extLst>
          </p:cNvPr>
          <p:cNvSpPr txBox="1">
            <a:spLocks/>
          </p:cNvSpPr>
          <p:nvPr/>
        </p:nvSpPr>
        <p:spPr>
          <a:xfrm>
            <a:off x="6294109" y="1316319"/>
            <a:ext cx="1755183" cy="287732"/>
          </a:xfrm>
          <a:prstGeom prst="rect">
            <a:avLst/>
          </a:prstGeom>
        </p:spPr>
        <p:txBody>
          <a:bodyPr vert="horz" wrap="square" lIns="81559" tIns="40779" rIns="81559" bIns="4077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88"/>
              </a:lnSpc>
            </a:pPr>
            <a:r>
              <a:rPr lang="en-US" dirty="0">
                <a:solidFill>
                  <a:schemeClr val="bg1"/>
                </a:solidFill>
                <a:latin typeface="Franklin Gothic Medium" panose="020B06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Purchase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7476911-2E40-464D-9B80-4D1AEA080DB3}"/>
              </a:ext>
            </a:extLst>
          </p:cNvPr>
          <p:cNvSpPr txBox="1">
            <a:spLocks/>
          </p:cNvSpPr>
          <p:nvPr/>
        </p:nvSpPr>
        <p:spPr>
          <a:xfrm>
            <a:off x="176396" y="1557954"/>
            <a:ext cx="1942594" cy="821018"/>
          </a:xfrm>
          <a:prstGeom prst="rect">
            <a:avLst/>
          </a:prstGeom>
        </p:spPr>
        <p:txBody>
          <a:bodyPr vert="horz" wrap="square" lIns="81559" tIns="40779" rIns="81559" bIns="40779" rtlCol="0" anchor="b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Franklin Gothic Medium" panose="020B06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Point of Inspiration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C350F4BE-BC5C-6944-9BE9-309BDD2D2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96" y="61574"/>
            <a:ext cx="8836627" cy="430887"/>
          </a:xfrm>
        </p:spPr>
        <p:txBody>
          <a:bodyPr>
            <a:normAutofit/>
          </a:bodyPr>
          <a:lstStyle/>
          <a:p>
            <a:r>
              <a:rPr lang="en-US" dirty="0"/>
              <a:t>TARGETING THE MOST VALUABLE CUSTOMER- Customer Journey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EB547D74-BC2B-EC49-AE74-4DAFFD5AF66F}"/>
              </a:ext>
            </a:extLst>
          </p:cNvPr>
          <p:cNvSpPr txBox="1">
            <a:spLocks/>
          </p:cNvSpPr>
          <p:nvPr/>
        </p:nvSpPr>
        <p:spPr>
          <a:xfrm>
            <a:off x="7070429" y="2197152"/>
            <a:ext cx="1942594" cy="451686"/>
          </a:xfrm>
          <a:prstGeom prst="rect">
            <a:avLst/>
          </a:prstGeom>
        </p:spPr>
        <p:txBody>
          <a:bodyPr vert="horz" wrap="square" lIns="81559" tIns="40779" rIns="81559" bIns="40779" rtlCol="0" anchor="b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Franklin Gothic Medium" panose="020B06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Point of Sale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310B5-C9A9-6B40-8FA4-68AD9573A251}"/>
              </a:ext>
            </a:extLst>
          </p:cNvPr>
          <p:cNvSpPr txBox="1"/>
          <p:nvPr/>
        </p:nvSpPr>
        <p:spPr>
          <a:xfrm>
            <a:off x="563313" y="4041345"/>
            <a:ext cx="796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pc="600" dirty="0">
                <a:latin typeface="Franklin Gothic Book" panose="020B0503020102020204" pitchFamily="34" charset="0"/>
              </a:rPr>
              <a:t>Opportunity for Communication</a:t>
            </a:r>
          </a:p>
        </p:txBody>
      </p:sp>
      <p:sp>
        <p:nvSpPr>
          <p:cNvPr id="3" name="Up Arrow Callout 2">
            <a:extLst>
              <a:ext uri="{FF2B5EF4-FFF2-40B4-BE49-F238E27FC236}">
                <a16:creationId xmlns:a16="http://schemas.microsoft.com/office/drawing/2014/main" id="{474688A2-662E-DF4A-84EF-760D1F6C1B66}"/>
              </a:ext>
            </a:extLst>
          </p:cNvPr>
          <p:cNvSpPr/>
          <p:nvPr/>
        </p:nvSpPr>
        <p:spPr>
          <a:xfrm>
            <a:off x="647669" y="3790950"/>
            <a:ext cx="7847843" cy="779253"/>
          </a:xfrm>
          <a:prstGeom prst="upArrowCallou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 11">
            <a:extLst>
              <a:ext uri="{FF2B5EF4-FFF2-40B4-BE49-F238E27FC236}">
                <a16:creationId xmlns:a16="http://schemas.microsoft.com/office/drawing/2014/main" id="{82218A08-BC4D-4E4C-A297-69F0F231B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275" y="563652"/>
            <a:ext cx="1494974" cy="320203"/>
          </a:xfrm>
          <a:custGeom>
            <a:avLst/>
            <a:gdLst>
              <a:gd name="T0" fmla="*/ 533 w 8894"/>
              <a:gd name="T1" fmla="*/ 714 h 1570"/>
              <a:gd name="T2" fmla="*/ 55 w 8894"/>
              <a:gd name="T3" fmla="*/ 154 h 1570"/>
              <a:gd name="T4" fmla="*/ 55 w 8894"/>
              <a:gd name="T5" fmla="*/ 154 h 1570"/>
              <a:gd name="T6" fmla="*/ 126 w 8894"/>
              <a:gd name="T7" fmla="*/ 0 h 1570"/>
              <a:gd name="T8" fmla="*/ 8249 w 8894"/>
              <a:gd name="T9" fmla="*/ 0 h 1570"/>
              <a:gd name="T10" fmla="*/ 8249 w 8894"/>
              <a:gd name="T11" fmla="*/ 0 h 1570"/>
              <a:gd name="T12" fmla="*/ 8322 w 8894"/>
              <a:gd name="T13" fmla="*/ 35 h 1570"/>
              <a:gd name="T14" fmla="*/ 8866 w 8894"/>
              <a:gd name="T15" fmla="*/ 717 h 1570"/>
              <a:gd name="T16" fmla="*/ 8866 w 8894"/>
              <a:gd name="T17" fmla="*/ 717 h 1570"/>
              <a:gd name="T18" fmla="*/ 8867 w 8894"/>
              <a:gd name="T19" fmla="*/ 832 h 1570"/>
              <a:gd name="T20" fmla="*/ 8322 w 8894"/>
              <a:gd name="T21" fmla="*/ 1533 h 1570"/>
              <a:gd name="T22" fmla="*/ 8322 w 8894"/>
              <a:gd name="T23" fmla="*/ 1533 h 1570"/>
              <a:gd name="T24" fmla="*/ 8248 w 8894"/>
              <a:gd name="T25" fmla="*/ 1569 h 1570"/>
              <a:gd name="T26" fmla="*/ 122 w 8894"/>
              <a:gd name="T27" fmla="*/ 1569 h 1570"/>
              <a:gd name="T28" fmla="*/ 122 w 8894"/>
              <a:gd name="T29" fmla="*/ 1569 h 1570"/>
              <a:gd name="T30" fmla="*/ 51 w 8894"/>
              <a:gd name="T31" fmla="*/ 1416 h 1570"/>
              <a:gd name="T32" fmla="*/ 534 w 8894"/>
              <a:gd name="T33" fmla="*/ 834 h 1570"/>
              <a:gd name="T34" fmla="*/ 534 w 8894"/>
              <a:gd name="T35" fmla="*/ 834 h 1570"/>
              <a:gd name="T36" fmla="*/ 533 w 8894"/>
              <a:gd name="T37" fmla="*/ 714 h 15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894" h="1570">
                <a:moveTo>
                  <a:pt x="533" y="714"/>
                </a:moveTo>
                <a:lnTo>
                  <a:pt x="55" y="154"/>
                </a:lnTo>
                <a:lnTo>
                  <a:pt x="55" y="154"/>
                </a:lnTo>
                <a:cubicBezTo>
                  <a:pt x="3" y="93"/>
                  <a:pt x="46" y="0"/>
                  <a:pt x="126" y="0"/>
                </a:cubicBezTo>
                <a:lnTo>
                  <a:pt x="8249" y="0"/>
                </a:lnTo>
                <a:lnTo>
                  <a:pt x="8249" y="0"/>
                </a:lnTo>
                <a:cubicBezTo>
                  <a:pt x="8277" y="0"/>
                  <a:pt x="8304" y="13"/>
                  <a:pt x="8322" y="35"/>
                </a:cubicBezTo>
                <a:lnTo>
                  <a:pt x="8866" y="717"/>
                </a:lnTo>
                <a:lnTo>
                  <a:pt x="8866" y="717"/>
                </a:lnTo>
                <a:cubicBezTo>
                  <a:pt x="8893" y="750"/>
                  <a:pt x="8893" y="798"/>
                  <a:pt x="8867" y="832"/>
                </a:cubicBezTo>
                <a:lnTo>
                  <a:pt x="8322" y="1533"/>
                </a:lnTo>
                <a:lnTo>
                  <a:pt x="8322" y="1533"/>
                </a:lnTo>
                <a:cubicBezTo>
                  <a:pt x="8304" y="1557"/>
                  <a:pt x="8277" y="1569"/>
                  <a:pt x="8248" y="1569"/>
                </a:cubicBezTo>
                <a:lnTo>
                  <a:pt x="122" y="1569"/>
                </a:lnTo>
                <a:lnTo>
                  <a:pt x="122" y="1569"/>
                </a:lnTo>
                <a:cubicBezTo>
                  <a:pt x="43" y="1569"/>
                  <a:pt x="0" y="1478"/>
                  <a:pt x="51" y="1416"/>
                </a:cubicBezTo>
                <a:lnTo>
                  <a:pt x="534" y="834"/>
                </a:lnTo>
                <a:lnTo>
                  <a:pt x="534" y="834"/>
                </a:lnTo>
                <a:cubicBezTo>
                  <a:pt x="563" y="799"/>
                  <a:pt x="563" y="749"/>
                  <a:pt x="533" y="714"/>
                </a:cubicBezTo>
              </a:path>
            </a:pathLst>
          </a:custGeom>
          <a:solidFill>
            <a:srgbClr val="D51067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63E86D-B5BF-E94B-BD13-ACC523460261}"/>
              </a:ext>
            </a:extLst>
          </p:cNvPr>
          <p:cNvSpPr txBox="1"/>
          <p:nvPr/>
        </p:nvSpPr>
        <p:spPr>
          <a:xfrm>
            <a:off x="437284" y="563652"/>
            <a:ext cx="868957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TARGETED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47A7754-C542-2B4E-9234-06A566B16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73" y="438693"/>
            <a:ext cx="533288" cy="5026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A4AF60-ECD7-D94D-9800-D0D405A45159}"/>
              </a:ext>
            </a:extLst>
          </p:cNvPr>
          <p:cNvSpPr txBox="1"/>
          <p:nvPr/>
        </p:nvSpPr>
        <p:spPr>
          <a:xfrm>
            <a:off x="5750710" y="3080779"/>
            <a:ext cx="2639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Franklin Gothic Book" panose="020B0503020102020204" pitchFamily="34" charset="0"/>
              </a:rPr>
              <a:t>77% of buyers what different content at each stage of the process</a:t>
            </a:r>
          </a:p>
        </p:txBody>
      </p:sp>
    </p:spTree>
    <p:extLst>
      <p:ext uri="{BB962C8B-B14F-4D97-AF65-F5344CB8AC3E}">
        <p14:creationId xmlns:p14="http://schemas.microsoft.com/office/powerpoint/2010/main" val="275040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1">
            <a:extLst>
              <a:ext uri="{FF2B5EF4-FFF2-40B4-BE49-F238E27FC236}">
                <a16:creationId xmlns:a16="http://schemas.microsoft.com/office/drawing/2014/main" id="{6661786B-1E03-6044-9258-2D384ED78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856765"/>
            <a:ext cx="8991600" cy="15013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>
              <a:latin typeface="Lato Light" panose="020F0502020204030203" pitchFamily="34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5252E18-2FFA-1545-83AF-546F43669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05" y="2289465"/>
            <a:ext cx="1284736" cy="1284736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A9D67-CD43-0B47-8040-F95CCC8496BC}"/>
              </a:ext>
            </a:extLst>
          </p:cNvPr>
          <p:cNvSpPr txBox="1"/>
          <p:nvPr/>
        </p:nvSpPr>
        <p:spPr>
          <a:xfrm>
            <a:off x="2595322" y="229640"/>
            <a:ext cx="3953390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50" b="1" dirty="0">
                <a:solidFill>
                  <a:schemeClr val="tx2"/>
                </a:solidFill>
                <a:latin typeface="Franklin Gothic Book" panose="020B0503020102020204" pitchFamily="34" charset="0"/>
                <a:cs typeface="Poppins" pitchFamily="2" charset="77"/>
              </a:rPr>
              <a:t>Strategic Engagement Pathway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ECB0E47-80BF-9B46-95D3-E7B730656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018" y="2289465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123A7FA7-121E-9042-8277-B581CAF1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104" y="2289465"/>
            <a:ext cx="1284736" cy="1284736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4D8D2FC-2F50-514B-A51A-8DD75EB1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247" y="2289465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8F81EE76-86C6-3B4C-A8C2-828BA4B8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860" y="2289465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B5E234F5-E01F-8748-97B5-C537826DB6AD}"/>
              </a:ext>
            </a:extLst>
          </p:cNvPr>
          <p:cNvSpPr txBox="1">
            <a:spLocks/>
          </p:cNvSpPr>
          <p:nvPr/>
        </p:nvSpPr>
        <p:spPr>
          <a:xfrm>
            <a:off x="3690729" y="4162578"/>
            <a:ext cx="1762544" cy="18620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endParaRPr lang="en-US" sz="9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3304DA-A9E9-694B-A21D-04CFF68CB580}"/>
              </a:ext>
            </a:extLst>
          </p:cNvPr>
          <p:cNvSpPr txBox="1"/>
          <p:nvPr/>
        </p:nvSpPr>
        <p:spPr>
          <a:xfrm>
            <a:off x="3753512" y="3640424"/>
            <a:ext cx="1636987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075DD1CF-DF07-BD4B-B87E-5D39B904B89D}"/>
              </a:ext>
            </a:extLst>
          </p:cNvPr>
          <p:cNvSpPr txBox="1">
            <a:spLocks/>
          </p:cNvSpPr>
          <p:nvPr/>
        </p:nvSpPr>
        <p:spPr>
          <a:xfrm>
            <a:off x="6809956" y="3951718"/>
            <a:ext cx="1762544" cy="51962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Measurement of results, KPI’s,  readjusting and moving to the next level.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40761-40DB-E84E-A3EF-63A2CA78643E}"/>
              </a:ext>
            </a:extLst>
          </p:cNvPr>
          <p:cNvSpPr txBox="1"/>
          <p:nvPr/>
        </p:nvSpPr>
        <p:spPr>
          <a:xfrm>
            <a:off x="6848758" y="3645006"/>
            <a:ext cx="1684949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5- Measure &amp; Equip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354159BB-7EAF-4B4B-91AA-5A5230AD11FD}"/>
              </a:ext>
            </a:extLst>
          </p:cNvPr>
          <p:cNvSpPr txBox="1">
            <a:spLocks/>
          </p:cNvSpPr>
          <p:nvPr/>
        </p:nvSpPr>
        <p:spPr>
          <a:xfrm>
            <a:off x="571501" y="4180821"/>
            <a:ext cx="1762544" cy="886718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 deep dive into the current state that looks at;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 what is working, what needs to be left behind, and what needs to be built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0ACC24-D91E-EC40-A611-1223B9CD21DD}"/>
              </a:ext>
            </a:extLst>
          </p:cNvPr>
          <p:cNvSpPr txBox="1"/>
          <p:nvPr/>
        </p:nvSpPr>
        <p:spPr>
          <a:xfrm>
            <a:off x="585617" y="3658667"/>
            <a:ext cx="1734321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Current State –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Discovery &amp; Analysis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E33F8457-9D45-6142-80AF-9ABB79C73947}"/>
              </a:ext>
            </a:extLst>
          </p:cNvPr>
          <p:cNvSpPr txBox="1">
            <a:spLocks/>
          </p:cNvSpPr>
          <p:nvPr/>
        </p:nvSpPr>
        <p:spPr>
          <a:xfrm>
            <a:off x="1605442" y="1447592"/>
            <a:ext cx="2791067" cy="352917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Creating the future state and what needs to be done to get you there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E94EE5-6BBF-1946-8C3C-5F56412DF390}"/>
              </a:ext>
            </a:extLst>
          </p:cNvPr>
          <p:cNvSpPr txBox="1"/>
          <p:nvPr/>
        </p:nvSpPr>
        <p:spPr>
          <a:xfrm>
            <a:off x="1880321" y="1140882"/>
            <a:ext cx="2264146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Building the Future State</a:t>
            </a:r>
          </a:p>
        </p:txBody>
      </p:sp>
      <p:sp>
        <p:nvSpPr>
          <p:cNvPr id="46" name="Subtitle 2">
            <a:extLst>
              <a:ext uri="{FF2B5EF4-FFF2-40B4-BE49-F238E27FC236}">
                <a16:creationId xmlns:a16="http://schemas.microsoft.com/office/drawing/2014/main" id="{AFDB8E0E-8409-BF44-9307-2E1BE903DF89}"/>
              </a:ext>
            </a:extLst>
          </p:cNvPr>
          <p:cNvSpPr txBox="1">
            <a:spLocks/>
          </p:cNvSpPr>
          <p:nvPr/>
        </p:nvSpPr>
        <p:spPr>
          <a:xfrm>
            <a:off x="5198301" y="1446525"/>
            <a:ext cx="1762544" cy="51962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Sustainability and future planning, elimination of churn and other SaaS variables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0F1A5-9095-4247-9D9A-6C986097B2E5}"/>
              </a:ext>
            </a:extLst>
          </p:cNvPr>
          <p:cNvSpPr txBox="1"/>
          <p:nvPr/>
        </p:nvSpPr>
        <p:spPr>
          <a:xfrm>
            <a:off x="5303312" y="1139814"/>
            <a:ext cx="1552541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4- Drive &amp; Sustain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0CE52-93A5-C747-8206-246B7817F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943948">
            <a:off x="1141452" y="2526922"/>
            <a:ext cx="548306" cy="8882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A481E3-6DC4-634C-BA0D-82B7E8461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1" y="2495551"/>
            <a:ext cx="797720" cy="672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2CB5E4-9672-8B48-985C-E1CE527C5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5323" y="2563447"/>
            <a:ext cx="848248" cy="6624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EB0B2B-97E2-7F4C-9B30-B61CB92139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95595">
            <a:off x="5878640" y="2461617"/>
            <a:ext cx="657497" cy="937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6E0855-D429-1C4B-B85E-DA8D8939F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6063" y="2508230"/>
            <a:ext cx="726490" cy="717630"/>
          </a:xfrm>
          <a:prstGeom prst="rect">
            <a:avLst/>
          </a:prstGeom>
        </p:spPr>
      </p:pic>
      <p:sp>
        <p:nvSpPr>
          <p:cNvPr id="26" name="Subtitle 2">
            <a:extLst>
              <a:ext uri="{FF2B5EF4-FFF2-40B4-BE49-F238E27FC236}">
                <a16:creationId xmlns:a16="http://schemas.microsoft.com/office/drawing/2014/main" id="{C8CCE1EB-2C49-374D-88E4-651A42A7F963}"/>
              </a:ext>
            </a:extLst>
          </p:cNvPr>
          <p:cNvSpPr txBox="1">
            <a:spLocks/>
          </p:cNvSpPr>
          <p:nvPr/>
        </p:nvSpPr>
        <p:spPr>
          <a:xfrm>
            <a:off x="3726703" y="4229867"/>
            <a:ext cx="1762544" cy="18620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9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Let’s go to work!</a:t>
            </a:r>
          </a:p>
        </p:txBody>
      </p:sp>
    </p:spTree>
    <p:extLst>
      <p:ext uri="{BB962C8B-B14F-4D97-AF65-F5344CB8AC3E}">
        <p14:creationId xmlns:p14="http://schemas.microsoft.com/office/powerpoint/2010/main" val="259206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1">
            <a:extLst>
              <a:ext uri="{FF2B5EF4-FFF2-40B4-BE49-F238E27FC236}">
                <a16:creationId xmlns:a16="http://schemas.microsoft.com/office/drawing/2014/main" id="{6661786B-1E03-6044-9258-2D384ED78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7070"/>
            <a:ext cx="8991600" cy="15013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>
              <a:latin typeface="Lato Light" panose="020F0502020204030203" pitchFamily="34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5252E18-2FFA-1545-83AF-546F43669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90" y="949490"/>
            <a:ext cx="1284736" cy="1284736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A9D67-CD43-0B47-8040-F95CCC8496BC}"/>
              </a:ext>
            </a:extLst>
          </p:cNvPr>
          <p:cNvSpPr txBox="1"/>
          <p:nvPr/>
        </p:nvSpPr>
        <p:spPr>
          <a:xfrm>
            <a:off x="2351537" y="229640"/>
            <a:ext cx="4440960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50" b="1" dirty="0">
                <a:solidFill>
                  <a:schemeClr val="tx2"/>
                </a:solidFill>
                <a:latin typeface="Franklin Gothic Book" panose="020B0503020102020204" pitchFamily="34" charset="0"/>
                <a:cs typeface="Poppins" pitchFamily="2" charset="77"/>
              </a:rPr>
              <a:t>Strategic Engagement Deliverables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ECB0E47-80BF-9B46-95D3-E7B730656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003" y="949490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123A7FA7-121E-9042-8277-B581CAF1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296" y="918524"/>
            <a:ext cx="1284736" cy="1284736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4D8D2FC-2F50-514B-A51A-8DD75EB1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87" y="91852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8F81EE76-86C6-3B4C-A8C2-828BA4B8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273" y="94822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3304DA-A9E9-694B-A21D-04CFF68CB580}"/>
              </a:ext>
            </a:extLst>
          </p:cNvPr>
          <p:cNvSpPr txBox="1"/>
          <p:nvPr/>
        </p:nvSpPr>
        <p:spPr>
          <a:xfrm>
            <a:off x="3776318" y="2539916"/>
            <a:ext cx="1636987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 </a:t>
            </a:r>
          </a:p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40761-40DB-E84E-A3EF-63A2CA78643E}"/>
              </a:ext>
            </a:extLst>
          </p:cNvPr>
          <p:cNvSpPr txBox="1"/>
          <p:nvPr/>
        </p:nvSpPr>
        <p:spPr>
          <a:xfrm>
            <a:off x="6957703" y="2647638"/>
            <a:ext cx="1684949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5- Measure &amp; Equip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0ACC24-D91E-EC40-A611-1223B9CD21DD}"/>
              </a:ext>
            </a:extLst>
          </p:cNvPr>
          <p:cNvSpPr txBox="1"/>
          <p:nvPr/>
        </p:nvSpPr>
        <p:spPr>
          <a:xfrm>
            <a:off x="497597" y="2539916"/>
            <a:ext cx="1734321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Current State – </a:t>
            </a:r>
          </a:p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Discovery &amp; Analysis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E94EE5-6BBF-1946-8C3C-5F56412DF390}"/>
              </a:ext>
            </a:extLst>
          </p:cNvPr>
          <p:cNvSpPr txBox="1"/>
          <p:nvPr/>
        </p:nvSpPr>
        <p:spPr>
          <a:xfrm>
            <a:off x="1796774" y="2539916"/>
            <a:ext cx="2414688" cy="5232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Building the </a:t>
            </a:r>
          </a:p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Future State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0F1A5-9095-4247-9D9A-6C986097B2E5}"/>
              </a:ext>
            </a:extLst>
          </p:cNvPr>
          <p:cNvSpPr txBox="1"/>
          <p:nvPr/>
        </p:nvSpPr>
        <p:spPr>
          <a:xfrm>
            <a:off x="4986629" y="2641644"/>
            <a:ext cx="2414688" cy="3077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4- Drive &amp; Sustain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0CE52-93A5-C747-8206-246B7817F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943948">
            <a:off x="1053437" y="1186947"/>
            <a:ext cx="548306" cy="8882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A481E3-6DC4-634C-BA0D-82B7E8461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317" y="1148928"/>
            <a:ext cx="797720" cy="672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2CB5E4-9672-8B48-985C-E1CE527C5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7308" y="1223472"/>
            <a:ext cx="848248" cy="6624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EB0B2B-97E2-7F4C-9B30-B61CB92139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95595">
            <a:off x="5904807" y="1100635"/>
            <a:ext cx="657497" cy="937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6E0855-D429-1C4B-B85E-DA8D8939F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183" y="1165392"/>
            <a:ext cx="726490" cy="7176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94F4BA-8963-D247-9A43-767DAD47D912}"/>
              </a:ext>
            </a:extLst>
          </p:cNvPr>
          <p:cNvSpPr/>
          <p:nvPr/>
        </p:nvSpPr>
        <p:spPr>
          <a:xfrm>
            <a:off x="497597" y="3181350"/>
            <a:ext cx="8341603" cy="167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97CD5-0E15-5449-BB44-2EBC721B2894}"/>
              </a:ext>
            </a:extLst>
          </p:cNvPr>
          <p:cNvSpPr txBox="1"/>
          <p:nvPr/>
        </p:nvSpPr>
        <p:spPr>
          <a:xfrm rot="16200000">
            <a:off x="-653709" y="383488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Deliverables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6AE9D-8B26-DC40-A121-71C5525A7BE8}"/>
              </a:ext>
            </a:extLst>
          </p:cNvPr>
          <p:cNvSpPr txBox="1"/>
          <p:nvPr/>
        </p:nvSpPr>
        <p:spPr>
          <a:xfrm>
            <a:off x="636776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Insights, Findings and Recommendations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1D17F9-0D7F-8E45-B5CA-42B904023E27}"/>
              </a:ext>
            </a:extLst>
          </p:cNvPr>
          <p:cNvSpPr txBox="1"/>
          <p:nvPr/>
        </p:nvSpPr>
        <p:spPr>
          <a:xfrm>
            <a:off x="3920246" y="3715194"/>
            <a:ext cx="1604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Implementation and day-to-day work output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68DD71-3188-BA47-AEB7-42E34C61CC0F}"/>
              </a:ext>
            </a:extLst>
          </p:cNvPr>
          <p:cNvSpPr txBox="1"/>
          <p:nvPr/>
        </p:nvSpPr>
        <p:spPr>
          <a:xfrm>
            <a:off x="2215858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Vision-to-Value Roadmap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DB7FCF-5DE1-044A-8566-B28D6A001A91}"/>
              </a:ext>
            </a:extLst>
          </p:cNvPr>
          <p:cNvSpPr txBox="1"/>
          <p:nvPr/>
        </p:nvSpPr>
        <p:spPr>
          <a:xfrm>
            <a:off x="7213846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Benchmark Scorecard, KPIs,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BD9024-4ABF-9341-B027-34B48CDD958F}"/>
              </a:ext>
            </a:extLst>
          </p:cNvPr>
          <p:cNvSpPr txBox="1"/>
          <p:nvPr/>
        </p:nvSpPr>
        <p:spPr>
          <a:xfrm>
            <a:off x="5524782" y="3707404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Sustainability Program, Maturation Modeling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1E920-CB3E-F448-863E-42074B6331BE}"/>
              </a:ext>
            </a:extLst>
          </p:cNvPr>
          <p:cNvCxnSpPr>
            <a:cxnSpLocks/>
          </p:cNvCxnSpPr>
          <p:nvPr/>
        </p:nvCxnSpPr>
        <p:spPr>
          <a:xfrm>
            <a:off x="2236897" y="3455072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111472-8064-0A44-A784-213154FD1613}"/>
              </a:ext>
            </a:extLst>
          </p:cNvPr>
          <p:cNvCxnSpPr>
            <a:cxnSpLocks/>
          </p:cNvCxnSpPr>
          <p:nvPr/>
        </p:nvCxnSpPr>
        <p:spPr>
          <a:xfrm>
            <a:off x="5555555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23B14B-58BD-4F4B-B98B-13FFCD7F39B7}"/>
              </a:ext>
            </a:extLst>
          </p:cNvPr>
          <p:cNvCxnSpPr>
            <a:cxnSpLocks/>
          </p:cNvCxnSpPr>
          <p:nvPr/>
        </p:nvCxnSpPr>
        <p:spPr>
          <a:xfrm>
            <a:off x="3896226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DB2DEF-8348-B04A-AB3D-EBAD9E3FF155}"/>
              </a:ext>
            </a:extLst>
          </p:cNvPr>
          <p:cNvCxnSpPr>
            <a:cxnSpLocks/>
          </p:cNvCxnSpPr>
          <p:nvPr/>
        </p:nvCxnSpPr>
        <p:spPr>
          <a:xfrm>
            <a:off x="7214883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287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90600" y="2190750"/>
            <a:ext cx="2827338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250" spc="-6134" baseline="-11728" dirty="0">
                <a:solidFill>
                  <a:srgbClr val="D9D9D9"/>
                </a:solidFill>
              </a:rPr>
              <a:t>&amp;</a:t>
            </a:r>
            <a:r>
              <a:rPr sz="3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Who we are</a:t>
            </a:r>
            <a:endParaRPr sz="3200" dirty="0">
              <a:latin typeface="Franklin Gothic Book" panose="020B05030201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8D3389-671F-C040-A885-F9CA1AF705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4781550"/>
            <a:ext cx="2103437" cy="18573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512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150" y="-195004"/>
            <a:ext cx="115570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200" dirty="0">
                <a:solidFill>
                  <a:srgbClr val="D9D9D9"/>
                </a:solidFill>
                <a:latin typeface="Arial"/>
                <a:cs typeface="Arial"/>
              </a:rPr>
              <a:t>&amp;</a:t>
            </a:r>
            <a:endParaRPr sz="112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0800" y="3529501"/>
            <a:ext cx="2563133" cy="1447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1B37BB-87DB-4531-8149-019B917896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04800" y="4783455"/>
            <a:ext cx="2103120" cy="276999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 algn="l"/>
              <a:t>14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775355" y="366865"/>
            <a:ext cx="5254625" cy="5064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Franklin Gothic Book" panose="020B0503020102020204" pitchFamily="34" charset="0"/>
              </a:rPr>
              <a:t>Experience is at the core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" y="786269"/>
            <a:ext cx="8287405" cy="391748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188595">
              <a:lnSpc>
                <a:spcPct val="95000"/>
              </a:lnSpc>
              <a:spcBef>
                <a:spcPts val="180"/>
              </a:spcBef>
            </a:pPr>
            <a:r>
              <a:rPr sz="1400" dirty="0">
                <a:latin typeface="Franklin Gothic Book" panose="020B0503020102020204" pitchFamily="34" charset="0"/>
                <a:cs typeface="Arial"/>
              </a:rPr>
              <a:t>Kate brings 28+ years’ experience leading teams f</a:t>
            </a:r>
            <a:r>
              <a:rPr lang="en-US" sz="1400" dirty="0">
                <a:latin typeface="Franklin Gothic Book" panose="020B0503020102020204" pitchFamily="34" charset="0"/>
                <a:cs typeface="Arial"/>
              </a:rPr>
              <a:t>rom </a:t>
            </a:r>
            <a:r>
              <a:rPr sz="1400" dirty="0">
                <a:latin typeface="Franklin Gothic Book" panose="020B0503020102020204" pitchFamily="34" charset="0"/>
                <a:cs typeface="Arial"/>
              </a:rPr>
              <a:t>national and multi-national companies in the Hospitality, REIT, Commercial and Multi/Single- Owner Residential properties. Notable accomplishments:</a:t>
            </a:r>
            <a:endParaRPr lang="en-US" sz="1400" dirty="0">
              <a:latin typeface="Franklin Gothic Book" panose="020B0503020102020204" pitchFamily="34" charset="0"/>
              <a:cs typeface="Arial"/>
            </a:endParaRPr>
          </a:p>
          <a:p>
            <a:pPr marL="12700" marR="188595">
              <a:lnSpc>
                <a:spcPct val="95000"/>
              </a:lnSpc>
              <a:spcBef>
                <a:spcPts val="180"/>
              </a:spcBef>
            </a:pPr>
            <a:endParaRPr sz="1400" dirty="0">
              <a:latin typeface="Franklin Gothic Book" panose="020B0503020102020204" pitchFamily="34" charset="0"/>
              <a:cs typeface="Arial"/>
            </a:endParaRPr>
          </a:p>
          <a:p>
            <a:pPr marL="317500" marR="100330" indent="-213995">
              <a:lnSpc>
                <a:spcPts val="1300"/>
              </a:lnSpc>
              <a:spcBef>
                <a:spcPts val="38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Experience leading transformation, design, and delivery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from branding, to revenue performance. 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7500" marR="190500" indent="-213995">
              <a:lnSpc>
                <a:spcPts val="1300"/>
              </a:lnSpc>
              <a:spcBef>
                <a:spcPts val="59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Increased revenue for Full-Service, Select, Extended Stay, Brand and Franchise hotel properties including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: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 Marriott, Loew’s, Independent Hotels, IHG, Hyatt and Starwood, CSM, American Residential Properties and  more.</a:t>
            </a:r>
          </a:p>
          <a:p>
            <a:pPr marL="318135" indent="-214629">
              <a:lnSpc>
                <a:spcPct val="100000"/>
              </a:lnSpc>
              <a:spcBef>
                <a:spcPts val="45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Headed long-running strategies with start-ups, growth acquisition, market shifts, downturns and disposition</a:t>
            </a:r>
          </a:p>
          <a:p>
            <a:pPr marL="318135" indent="-214629">
              <a:lnSpc>
                <a:spcPct val="100000"/>
              </a:lnSpc>
              <a:spcBef>
                <a:spcPts val="55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Developed marketing programs to infuse emerging markets and media into sales opportunities</a:t>
            </a:r>
          </a:p>
          <a:p>
            <a:pPr marL="318135" indent="-214629">
              <a:lnSpc>
                <a:spcPct val="100000"/>
              </a:lnSpc>
              <a:spcBef>
                <a:spcPts val="45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Led acquisitions revenue through the full lifecycle: due diligence to exit sale disposition</a:t>
            </a:r>
          </a:p>
          <a:p>
            <a:pPr marL="317500" marR="3100705" indent="-213995">
              <a:lnSpc>
                <a:spcPts val="1300"/>
              </a:lnSpc>
              <a:spcBef>
                <a:spcPts val="83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Professor at Purdue University for Revenue Management and Distribution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Systems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, Global Marketing and Digital Marketing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530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Board member at Boutique and Lifestyle Lodging Association (BLLA)</a:t>
            </a:r>
          </a:p>
          <a:p>
            <a:pPr marL="318135" indent="-214629">
              <a:lnSpc>
                <a:spcPct val="100000"/>
              </a:lnSpc>
              <a:spcBef>
                <a:spcPts val="530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Committee member of Cornell Hospitality Research Think Tank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55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An active member of Women Owned Businesses (WBENC)</a:t>
            </a:r>
            <a:endParaRPr lang="en-US"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550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Active member at ISHC, Marketing Committee Member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7500" marR="2568575" indent="-213995">
              <a:lnSpc>
                <a:spcPts val="1300"/>
              </a:lnSpc>
              <a:spcBef>
                <a:spcPts val="64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Is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fanatical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about bringing clarity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 to build their future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and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build 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connection to 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customers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to be better than they were before.</a:t>
            </a:r>
            <a:endParaRPr sz="1400" dirty="0">
              <a:latin typeface="Franklin Gothic Book" panose="020B05030201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8561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09600" y="1962150"/>
            <a:ext cx="4102100" cy="20907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250" spc="-7050" baseline="-5349" dirty="0">
                <a:solidFill>
                  <a:srgbClr val="D9D9D9"/>
                </a:solidFill>
                <a:latin typeface="Franklin Gothic Book" panose="020B0503020102020204" pitchFamily="34" charset="0"/>
              </a:rPr>
              <a:t>&amp;</a:t>
            </a:r>
            <a:r>
              <a:rPr sz="3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In good company</a:t>
            </a:r>
          </a:p>
        </p:txBody>
      </p:sp>
    </p:spTree>
    <p:extLst>
      <p:ext uri="{BB962C8B-B14F-4D97-AF65-F5344CB8AC3E}">
        <p14:creationId xmlns:p14="http://schemas.microsoft.com/office/powerpoint/2010/main" val="1407055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A screenshot of a cell phone&#10;&#10;Description automatically generated">
            <a:extLst>
              <a:ext uri="{FF2B5EF4-FFF2-40B4-BE49-F238E27FC236}">
                <a16:creationId xmlns:a16="http://schemas.microsoft.com/office/drawing/2014/main" id="{0E16D0EB-242A-FB45-B280-CA22B0CF2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1931" y="2198722"/>
            <a:ext cx="987374" cy="987374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"/>
            <a:ext cx="9143997" cy="4952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520667" y="45238"/>
            <a:ext cx="61026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Franklin Gothic Book" panose="020B0503020102020204" pitchFamily="34" charset="0"/>
                <a:cs typeface="Arial"/>
              </a:rPr>
              <a:t>Companies that have taken this journey...</a:t>
            </a:r>
          </a:p>
        </p:txBody>
      </p:sp>
      <p:sp>
        <p:nvSpPr>
          <p:cNvPr id="4" name="object 4"/>
          <p:cNvSpPr/>
          <p:nvPr/>
        </p:nvSpPr>
        <p:spPr>
          <a:xfrm>
            <a:off x="4211931" y="1788726"/>
            <a:ext cx="987374" cy="5261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271580" y="3781369"/>
            <a:ext cx="868076" cy="346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7868737" y="3246554"/>
            <a:ext cx="884568" cy="1896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6117131" y="2690368"/>
            <a:ext cx="922100" cy="3556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5921033" y="1544456"/>
            <a:ext cx="1278271" cy="5224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2357103" y="1764018"/>
            <a:ext cx="978720" cy="30288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7782964" y="1485736"/>
            <a:ext cx="1056114" cy="34158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7840085" y="2238980"/>
            <a:ext cx="941873" cy="3796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4221703" y="1241764"/>
            <a:ext cx="967830" cy="30842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688351" y="1114729"/>
            <a:ext cx="928935" cy="92543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4286642" y="550322"/>
            <a:ext cx="77152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1605" marR="5080" indent="-129539" algn="ctr">
              <a:lnSpc>
                <a:spcPts val="1300"/>
              </a:lnSpc>
              <a:spcBef>
                <a:spcPts val="160"/>
              </a:spcBef>
            </a:pPr>
            <a:r>
              <a:rPr sz="1100" spc="-25" dirty="0">
                <a:latin typeface="Franklin Gothic Book" panose="020B0503020102020204" pitchFamily="34" charset="0"/>
                <a:cs typeface="Arial"/>
              </a:rPr>
              <a:t>Hospitality</a:t>
            </a:r>
            <a:r>
              <a:rPr sz="1100" spc="-85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5" dirty="0">
                <a:latin typeface="Franklin Gothic Book" panose="020B0503020102020204" pitchFamily="34" charset="0"/>
                <a:cs typeface="Arial"/>
              </a:rPr>
              <a:t>&amp;  </a:t>
            </a:r>
            <a:r>
              <a:rPr sz="1100" spc="-40" dirty="0">
                <a:latin typeface="Franklin Gothic Book" panose="020B0503020102020204" pitchFamily="34" charset="0"/>
                <a:cs typeface="Arial"/>
              </a:rPr>
              <a:t>Tourism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62120" y="539008"/>
            <a:ext cx="1231141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100" spc="-20" dirty="0">
                <a:latin typeface="Franklin Gothic Book" panose="020B0503020102020204" pitchFamily="34" charset="0"/>
                <a:cs typeface="Arial"/>
              </a:rPr>
              <a:t>Commercial, Real Estate, Single Family / Multi Family</a:t>
            </a:r>
            <a:endParaRPr lang="en-US" sz="1100" spc="-5" dirty="0">
              <a:latin typeface="Franklin Gothic Book" panose="020B0503020102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3668" y="550322"/>
            <a:ext cx="1420613" cy="5206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6830" marR="5080" indent="-24765" algn="ctr">
              <a:lnSpc>
                <a:spcPts val="1300"/>
              </a:lnSpc>
              <a:spcBef>
                <a:spcPts val="160"/>
              </a:spcBef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Financial Services &amp;  Asset Management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- Hospitality Investment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8189" y="550322"/>
            <a:ext cx="80454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3175">
              <a:lnSpc>
                <a:spcPts val="1300"/>
              </a:lnSpc>
              <a:spcBef>
                <a:spcPts val="160"/>
              </a:spcBef>
            </a:pPr>
            <a:r>
              <a:rPr sz="1100" spc="-25" dirty="0">
                <a:latin typeface="Franklin Gothic Book" panose="020B0503020102020204" pitchFamily="34" charset="0"/>
                <a:cs typeface="Arial"/>
              </a:rPr>
              <a:t>Healthcare</a:t>
            </a:r>
            <a:r>
              <a:rPr sz="1100" spc="-11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5" dirty="0">
                <a:latin typeface="Franklin Gothic Book" panose="020B0503020102020204" pitchFamily="34" charset="0"/>
                <a:cs typeface="Arial"/>
              </a:rPr>
              <a:t>&amp;  </a:t>
            </a:r>
            <a:r>
              <a:rPr sz="1100" spc="-25" dirty="0">
                <a:latin typeface="Franklin Gothic Book" panose="020B0503020102020204" pitchFamily="34" charset="0"/>
                <a:cs typeface="Arial"/>
              </a:rPr>
              <a:t>Life</a:t>
            </a:r>
            <a:r>
              <a:rPr sz="1100" spc="-11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40" dirty="0">
                <a:latin typeface="Franklin Gothic Book" panose="020B0503020102020204" pitchFamily="34" charset="0"/>
                <a:cs typeface="Arial"/>
              </a:rPr>
              <a:t>Sciences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66839" y="550322"/>
            <a:ext cx="888365" cy="358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10"/>
              </a:lnSpc>
              <a:spcBef>
                <a:spcPts val="100"/>
              </a:spcBef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CPG &amp;</a:t>
            </a:r>
          </a:p>
          <a:p>
            <a:pPr algn="ctr">
              <a:lnSpc>
                <a:spcPts val="1310"/>
              </a:lnSpc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Manufacturing</a:t>
            </a:r>
          </a:p>
        </p:txBody>
      </p:sp>
      <p:sp>
        <p:nvSpPr>
          <p:cNvPr id="23" name="object 23"/>
          <p:cNvSpPr/>
          <p:nvPr/>
        </p:nvSpPr>
        <p:spPr>
          <a:xfrm>
            <a:off x="4219889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4">
                <a:moveTo>
                  <a:pt x="0" y="0"/>
                </a:moveTo>
                <a:lnTo>
                  <a:pt x="969627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/>
          <p:nvPr/>
        </p:nvSpPr>
        <p:spPr>
          <a:xfrm>
            <a:off x="7885075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5">
                <a:moveTo>
                  <a:pt x="0" y="0"/>
                </a:moveTo>
                <a:lnTo>
                  <a:pt x="969626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/>
          <p:nvPr/>
        </p:nvSpPr>
        <p:spPr>
          <a:xfrm>
            <a:off x="6027041" y="1109597"/>
            <a:ext cx="1012190" cy="12065"/>
          </a:xfrm>
          <a:custGeom>
            <a:avLst/>
            <a:gdLst/>
            <a:ahLst/>
            <a:cxnLst/>
            <a:rect l="l" t="t" r="r" b="b"/>
            <a:pathLst>
              <a:path w="1012190" h="12065">
                <a:moveTo>
                  <a:pt x="0" y="11572"/>
                </a:moveTo>
                <a:lnTo>
                  <a:pt x="1011961" y="0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/>
          <p:cNvSpPr/>
          <p:nvPr/>
        </p:nvSpPr>
        <p:spPr>
          <a:xfrm>
            <a:off x="2499723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4">
                <a:moveTo>
                  <a:pt x="0" y="0"/>
                </a:moveTo>
                <a:lnTo>
                  <a:pt x="969627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/>
          <p:cNvSpPr/>
          <p:nvPr/>
        </p:nvSpPr>
        <p:spPr>
          <a:xfrm>
            <a:off x="361594" y="1075943"/>
            <a:ext cx="1420613" cy="45719"/>
          </a:xfrm>
          <a:custGeom>
            <a:avLst/>
            <a:gdLst/>
            <a:ahLst/>
            <a:cxnLst/>
            <a:rect l="l" t="t" r="r" b="b"/>
            <a:pathLst>
              <a:path w="1273175">
                <a:moveTo>
                  <a:pt x="0" y="0"/>
                </a:moveTo>
                <a:lnTo>
                  <a:pt x="1273041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/>
          <p:cNvSpPr/>
          <p:nvPr/>
        </p:nvSpPr>
        <p:spPr>
          <a:xfrm>
            <a:off x="580881" y="2328216"/>
            <a:ext cx="1143875" cy="2709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2404004" y="2406865"/>
            <a:ext cx="1065363" cy="92875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/>
          <p:cNvSpPr/>
          <p:nvPr/>
        </p:nvSpPr>
        <p:spPr>
          <a:xfrm>
            <a:off x="2316254" y="3534899"/>
            <a:ext cx="1060418" cy="7999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021C6BF-F540-0E47-B44C-4560351E52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792" y="3073535"/>
            <a:ext cx="986373" cy="655182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D6265F1-49EC-AC4E-A18C-F088C10E7FE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631" y="4370366"/>
            <a:ext cx="1027975" cy="268644"/>
          </a:xfrm>
          <a:prstGeom prst="rect">
            <a:avLst/>
          </a:prstGeom>
        </p:spPr>
      </p:pic>
      <p:sp>
        <p:nvSpPr>
          <p:cNvPr id="18" name="Slide Number Placeholder 12">
            <a:extLst>
              <a:ext uri="{FF2B5EF4-FFF2-40B4-BE49-F238E27FC236}">
                <a16:creationId xmlns:a16="http://schemas.microsoft.com/office/drawing/2014/main" id="{FFFB407B-855F-4C3F-9BE9-59E9C77617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92824" y="4733151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/>
              <a:t>16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64E1A-D212-7D45-85A7-9E1B47C8E8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29368" y="3047095"/>
            <a:ext cx="952500" cy="5270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482E45E-2BAC-8E40-A3BD-4A079316C99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69007" y="3401126"/>
            <a:ext cx="1143000" cy="1143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F10A30F-A654-AB4B-AE42-2B597F65BBA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668" y="3830414"/>
            <a:ext cx="1638300" cy="1231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E76186A-43CE-7340-ACC9-C6EB27A1E8F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98224" y="3768353"/>
            <a:ext cx="697720" cy="90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57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7CC3-E8E8-4C45-AF12-E869FADFF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492443"/>
          </a:xfrm>
          <a:pattFill prst="pct20">
            <a:fgClr>
              <a:schemeClr val="bg2">
                <a:lumMod val="75000"/>
              </a:schemeClr>
            </a:fgClr>
            <a:bgClr>
              <a:schemeClr val="bg1"/>
            </a:bgClr>
          </a:patt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Where we serve    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BE494FD-0782-D145-A578-ED810C05A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3964" y="1922080"/>
            <a:ext cx="2759426" cy="1195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EBE929-38CA-E14B-B744-0A8F40771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52" y="842911"/>
            <a:ext cx="2508512" cy="1543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D14088-C8BB-F84A-A05E-302BB9F17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560" y="2817250"/>
            <a:ext cx="1554666" cy="1320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5CBD83-4AFE-E943-99C3-A99AF4A07773}"/>
              </a:ext>
            </a:extLst>
          </p:cNvPr>
          <p:cNvSpPr txBox="1"/>
          <p:nvPr/>
        </p:nvSpPr>
        <p:spPr>
          <a:xfrm>
            <a:off x="6477145" y="4154993"/>
            <a:ext cx="24401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Strategic Account Management Association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40A999-516B-5440-B7A3-6E1E4D81FD8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212" r="24852"/>
          <a:stretch/>
        </p:blipFill>
        <p:spPr>
          <a:xfrm>
            <a:off x="3625850" y="452901"/>
            <a:ext cx="1892300" cy="1084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35B46C-D515-854F-987F-98A3C20BF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5006" y="3750799"/>
            <a:ext cx="2133600" cy="939800"/>
          </a:xfrm>
          <a:prstGeom prst="rect">
            <a:avLst/>
          </a:prstGeom>
        </p:spPr>
      </p:pic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7F89F062-3CB4-BD47-A8F1-7E2289D4D3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452" y="2849936"/>
            <a:ext cx="1752600" cy="1155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0D115F-9DD5-814F-B7E8-9FEE67CAFB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7982" y="1164352"/>
            <a:ext cx="21971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3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157" y="237743"/>
            <a:ext cx="519074" cy="210311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096" y="517071"/>
            <a:ext cx="9144000" cy="4683579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19200" y="121042"/>
            <a:ext cx="78486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 you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13CE9-19D8-E445-88A5-5693927D9E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2" ma:contentTypeDescription="Create a new document." ma:contentTypeScope="" ma:versionID="315ad12d6b81cebeaa223d9f11ebdfe3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14f41900450122de98b785351060c2e7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1D86CF-82C4-4427-9102-D0E1C5AC3672}">
  <ds:schemaRefs>
    <ds:schemaRef ds:uri="5f895480-74b7-4295-beb1-000abdb77711"/>
    <ds:schemaRef ds:uri="f9f3b592-2a1e-4fc9-8218-81ad9cd05a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32CE7E-5CD2-4240-956B-6479B9CC1ACD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f9f3b592-2a1e-4fc9-8218-81ad9cd05aa6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infopath/2007/PartnerControls"/>
    <ds:schemaRef ds:uri="5f895480-74b7-4295-beb1-000abdb7771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8D6310D-F839-4AE3-A449-6E9FFE9085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</TotalTime>
  <Words>1074</Words>
  <Application>Microsoft Macintosh PowerPoint</Application>
  <PresentationFormat>On-screen Show (16:9)</PresentationFormat>
  <Paragraphs>248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Avenir Medium</vt:lpstr>
      <vt:lpstr>Bebas Neue</vt:lpstr>
      <vt:lpstr>Calibri</vt:lpstr>
      <vt:lpstr>Franklin Gothic Book</vt:lpstr>
      <vt:lpstr>Franklin Gothic Medium</vt:lpstr>
      <vt:lpstr>Lato Light</vt:lpstr>
      <vt:lpstr>Poppins</vt:lpstr>
      <vt:lpstr>Office Theme</vt:lpstr>
      <vt:lpstr>PowerPoint Presentation</vt:lpstr>
      <vt:lpstr>We create impact</vt:lpstr>
      <vt:lpstr>PowerPoint Presentation</vt:lpstr>
      <vt:lpstr>PowerPoint Presentation</vt:lpstr>
      <vt:lpstr>PowerPoint Presentation</vt:lpstr>
      <vt:lpstr>PowerPoint Presentation</vt:lpstr>
      <vt:lpstr>We take all of the noise, disruption, frustration and complexity of the new economy and bring you a clear, concise and simple path for you to get results.</vt:lpstr>
      <vt:lpstr>How we operationalize</vt:lpstr>
      <vt:lpstr>Awareness to Consideration to Conversion </vt:lpstr>
      <vt:lpstr>TARGETING THE MOST VALUABLE CUSTOMER- Customer Journey</vt:lpstr>
      <vt:lpstr>PowerPoint Presentation</vt:lpstr>
      <vt:lpstr>PowerPoint Presentation</vt:lpstr>
      <vt:lpstr>&amp;Who we are</vt:lpstr>
      <vt:lpstr>Experience is at the core</vt:lpstr>
      <vt:lpstr>&amp;In good company</vt:lpstr>
      <vt:lpstr>PowerPoint Presentation</vt:lpstr>
      <vt:lpstr>Where we serve    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Kathleen Burda</cp:lastModifiedBy>
  <cp:revision>26</cp:revision>
  <cp:lastPrinted>2021-01-20T18:11:30Z</cp:lastPrinted>
  <dcterms:created xsi:type="dcterms:W3CDTF">2020-01-22T01:07:57Z</dcterms:created>
  <dcterms:modified xsi:type="dcterms:W3CDTF">2021-06-08T15:14:35Z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2019-11-03T00:00:00Z</vt:filetime>
  </property>
  <property fmtid="{D5CDD505-2E9C-101B-9397-08002B2CF9AE}" pid="3" name="LastSaved">
    <vt:filetime>2020-01-22T00:00:00Z</vt:filetime>
  </property>
  <property fmtid="{D5CDD505-2E9C-101B-9397-08002B2CF9AE}" pid="4" name="ContentTypeId">
    <vt:lpwstr>0x01010075409FC017C7BF40961EF880411E08B5</vt:lpwstr>
  </property>
</Properties>
</file>