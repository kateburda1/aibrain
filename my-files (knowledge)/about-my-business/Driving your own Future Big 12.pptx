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notesMasterIdLst>
    <p:notesMasterId r:id="rId15"/>
  </p:notesMasterIdLst>
  <p:handoutMasterIdLst>
    <p:handoutMasterId r:id="rId16"/>
  </p:handoutMasterIdLst>
  <p:sldIdLst>
    <p:sldId id="256" r:id="rId2"/>
    <p:sldId id="482" r:id="rId3"/>
    <p:sldId id="435" r:id="rId4"/>
    <p:sldId id="1336" r:id="rId5"/>
    <p:sldId id="1078" r:id="rId6"/>
    <p:sldId id="1082" r:id="rId7"/>
    <p:sldId id="1089" r:id="rId8"/>
    <p:sldId id="1093" r:id="rId9"/>
    <p:sldId id="1155" r:id="rId10"/>
    <p:sldId id="1271" r:id="rId11"/>
    <p:sldId id="1400" r:id="rId12"/>
    <p:sldId id="1305" r:id="rId13"/>
    <p:sldId id="360"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C91357"/>
    <a:srgbClr val="BA3967"/>
    <a:srgbClr val="B6367F"/>
    <a:srgbClr val="A5335D"/>
    <a:srgbClr val="FF2F92"/>
    <a:srgbClr val="89204A"/>
    <a:srgbClr val="9C3F6D"/>
    <a:srgbClr val="7A1A7F"/>
    <a:srgbClr val="771F4C"/>
    <a:srgbClr val="B53A4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EA7013-1868-D643-991C-71EB7D8CF08A}" v="2" dt="2019-12-01T22:22:48.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61"/>
    <p:restoredTop sz="93197" autoAdjust="0"/>
  </p:normalViewPr>
  <p:slideViewPr>
    <p:cSldViewPr snapToGrid="0" snapToObjects="1">
      <p:cViewPr varScale="1">
        <p:scale>
          <a:sx n="115" d="100"/>
          <a:sy n="115" d="100"/>
        </p:scale>
        <p:origin x="1752"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6B8B00-F935-184D-80CA-7895733B20D0}" type="datetimeFigureOut">
              <a:rPr lang="en-US" smtClean="0"/>
              <a:t>12/1/19</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791FA2C-0F2F-1A40-9FC7-4D3BE3EF0F2F}" type="slidenum">
              <a:rPr lang="en-US" smtClean="0"/>
              <a:t>‹#›</a:t>
            </a:fld>
            <a:endParaRPr lang="en-US" dirty="0"/>
          </a:p>
        </p:txBody>
      </p:sp>
    </p:spTree>
    <p:extLst>
      <p:ext uri="{BB962C8B-B14F-4D97-AF65-F5344CB8AC3E}">
        <p14:creationId xmlns:p14="http://schemas.microsoft.com/office/powerpoint/2010/main" val="7504024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DC70DCC-EECA-5045-A891-3C7ED29B474E}" type="datetimeFigureOut">
              <a:rPr lang="en-US" smtClean="0"/>
              <a:t>12/1/19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C204A1-840D-CA41-9990-2FBF1DA0CC27}" type="slidenum">
              <a:rPr lang="en-US" smtClean="0"/>
              <a:t>‹#›</a:t>
            </a:fld>
            <a:endParaRPr lang="en-US" dirty="0"/>
          </a:p>
        </p:txBody>
      </p:sp>
    </p:spTree>
    <p:extLst>
      <p:ext uri="{BB962C8B-B14F-4D97-AF65-F5344CB8AC3E}">
        <p14:creationId xmlns:p14="http://schemas.microsoft.com/office/powerpoint/2010/main" val="198158003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FC204A1-840D-CA41-9990-2FBF1DA0CC27}" type="slidenum">
              <a:rPr lang="en-US" smtClean="0"/>
              <a:t>1</a:t>
            </a:fld>
            <a:endParaRPr lang="en-US" dirty="0"/>
          </a:p>
        </p:txBody>
      </p:sp>
    </p:spTree>
    <p:extLst>
      <p:ext uri="{BB962C8B-B14F-4D97-AF65-F5344CB8AC3E}">
        <p14:creationId xmlns:p14="http://schemas.microsoft.com/office/powerpoint/2010/main" val="3706407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How we do it</a:t>
            </a:r>
          </a:p>
        </p:txBody>
      </p:sp>
      <p:sp>
        <p:nvSpPr>
          <p:cNvPr id="4" name="Slide Number Placeholder 3"/>
          <p:cNvSpPr>
            <a:spLocks noGrp="1"/>
          </p:cNvSpPr>
          <p:nvPr>
            <p:ph type="sldNum" sz="quarter" idx="10"/>
          </p:nvPr>
        </p:nvSpPr>
        <p:spPr/>
        <p:txBody>
          <a:bodyPr/>
          <a:lstStyle/>
          <a:p>
            <a:fld id="{49B1BDBB-E83C-C243-AFC3-CE484FF8185C}" type="slidenum">
              <a:rPr lang="en-US" smtClean="0"/>
              <a:t>2</a:t>
            </a:fld>
            <a:endParaRPr lang="en-US" dirty="0"/>
          </a:p>
        </p:txBody>
      </p:sp>
    </p:spTree>
    <p:extLst>
      <p:ext uri="{BB962C8B-B14F-4D97-AF65-F5344CB8AC3E}">
        <p14:creationId xmlns:p14="http://schemas.microsoft.com/office/powerpoint/2010/main" val="4207285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9B1BDBB-E83C-C243-AFC3-CE484FF8185C}" type="slidenum">
              <a:rPr lang="en-US" smtClean="0"/>
              <a:t>3</a:t>
            </a:fld>
            <a:endParaRPr lang="en-US" dirty="0"/>
          </a:p>
        </p:txBody>
      </p:sp>
    </p:spTree>
    <p:extLst>
      <p:ext uri="{BB962C8B-B14F-4D97-AF65-F5344CB8AC3E}">
        <p14:creationId xmlns:p14="http://schemas.microsoft.com/office/powerpoint/2010/main" val="3791893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8307"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Avenir Medium"/>
            </a:endParaRPr>
          </a:p>
        </p:txBody>
      </p:sp>
      <p:sp>
        <p:nvSpPr>
          <p:cNvPr id="98308"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C3FC3A2-EB46-804B-9773-0F13306EA261}" type="slidenum">
              <a:rPr lang="en-US" sz="1200">
                <a:latin typeface="Avenir Medium"/>
              </a:rPr>
              <a:pPr eaLnBrk="1" hangingPunct="1"/>
              <a:t>5</a:t>
            </a:fld>
            <a:endParaRPr lang="en-US" sz="1200">
              <a:latin typeface="Avenir Medium"/>
            </a:endParaRPr>
          </a:p>
        </p:txBody>
      </p:sp>
    </p:spTree>
    <p:extLst>
      <p:ext uri="{BB962C8B-B14F-4D97-AF65-F5344CB8AC3E}">
        <p14:creationId xmlns:p14="http://schemas.microsoft.com/office/powerpoint/2010/main" val="1082153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p:cNvSpPr>
          <p:nvPr>
            <p:ph type="sldImg"/>
          </p:nvPr>
        </p:nvSpPr>
        <p:spPr bwMode="auto">
          <a:xfrm>
            <a:off x="1143000" y="685800"/>
            <a:ext cx="4572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0355"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atin typeface="Avenir Medium"/>
              </a:rPr>
              <a:t>The customer compass has five dimensions:</a:t>
            </a:r>
          </a:p>
          <a:p>
            <a:pPr eaLnBrk="1" hangingPunct="1">
              <a:spcBef>
                <a:spcPct val="0"/>
              </a:spcBef>
            </a:pPr>
            <a:endParaRPr lang="en-US">
              <a:latin typeface="Avenir Medium"/>
            </a:endParaRPr>
          </a:p>
          <a:p>
            <a:pPr eaLnBrk="1" hangingPunct="1">
              <a:spcBef>
                <a:spcPct val="0"/>
              </a:spcBef>
              <a:buFontTx/>
              <a:buChar char="-"/>
            </a:pPr>
            <a:r>
              <a:rPr lang="en-US">
                <a:latin typeface="Avenir Medium"/>
              </a:rPr>
              <a:t> At the center is the compass – which represents the customer</a:t>
            </a:r>
            <a:r>
              <a:rPr lang="ja-JP" altLang="en-US">
                <a:latin typeface="Avenir Medium"/>
              </a:rPr>
              <a:t>’</a:t>
            </a:r>
            <a:r>
              <a:rPr lang="en-US" altLang="ja-JP">
                <a:latin typeface="Avenir Medium"/>
              </a:rPr>
              <a:t>s Vision &amp; Strategy</a:t>
            </a:r>
          </a:p>
          <a:p>
            <a:pPr eaLnBrk="1" hangingPunct="1">
              <a:spcBef>
                <a:spcPct val="0"/>
              </a:spcBef>
              <a:buFontTx/>
              <a:buChar char="-"/>
            </a:pPr>
            <a:r>
              <a:rPr lang="en-US">
                <a:latin typeface="Avenir Medium"/>
              </a:rPr>
              <a:t> The four dimensions represent the capabilities &amp; initiatives the company must develop &amp; implement to achieve their vision &amp; strategy</a:t>
            </a:r>
          </a:p>
          <a:p>
            <a:pPr eaLnBrk="1" hangingPunct="1">
              <a:spcBef>
                <a:spcPct val="0"/>
              </a:spcBef>
              <a:buFontTx/>
              <a:buChar char="-"/>
            </a:pPr>
            <a:endParaRPr lang="en-US">
              <a:latin typeface="Avenir Medium"/>
            </a:endParaRPr>
          </a:p>
          <a:p>
            <a:pPr eaLnBrk="1" hangingPunct="1">
              <a:spcBef>
                <a:spcPct val="0"/>
              </a:spcBef>
              <a:buFontTx/>
              <a:buChar char="-"/>
            </a:pPr>
            <a:endParaRPr lang="en-US">
              <a:latin typeface="Avenir Medium"/>
            </a:endParaRPr>
          </a:p>
        </p:txBody>
      </p:sp>
      <p:sp>
        <p:nvSpPr>
          <p:cNvPr id="100356"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61457A-2B0C-9C42-90B9-F1195E8A8221}" type="slidenum">
              <a:rPr lang="en-US" sz="1200">
                <a:latin typeface="Avenir Medium"/>
              </a:rPr>
              <a:pPr eaLnBrk="1" hangingPunct="1"/>
              <a:t>6</a:t>
            </a:fld>
            <a:endParaRPr lang="en-US" sz="1200">
              <a:latin typeface="Avenir Medium"/>
            </a:endParaRPr>
          </a:p>
        </p:txBody>
      </p:sp>
    </p:spTree>
    <p:extLst>
      <p:ext uri="{BB962C8B-B14F-4D97-AF65-F5344CB8AC3E}">
        <p14:creationId xmlns:p14="http://schemas.microsoft.com/office/powerpoint/2010/main" val="1268350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0595"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dirty="0">
              <a:latin typeface="Avenir Medium"/>
            </a:endParaRPr>
          </a:p>
          <a:p>
            <a:pPr eaLnBrk="1" hangingPunct="1"/>
            <a:r>
              <a:rPr lang="en-US" dirty="0">
                <a:latin typeface="Avenir Medium"/>
              </a:rPr>
              <a:t>3rd Box Thinking is one of these core value-creation principles – let</a:t>
            </a:r>
            <a:r>
              <a:rPr lang="ja-JP" altLang="en-US">
                <a:latin typeface="Avenir Medium"/>
              </a:rPr>
              <a:t>’</a:t>
            </a:r>
            <a:r>
              <a:rPr lang="en-US" dirty="0">
                <a:latin typeface="Avenir Medium"/>
              </a:rPr>
              <a:t>s discuss how this can work across different levels in your go-to-market approach </a:t>
            </a:r>
          </a:p>
        </p:txBody>
      </p:sp>
      <p:sp>
        <p:nvSpPr>
          <p:cNvPr id="110596" name="Slide Number Placeholder 3"/>
          <p:cNvSpPr txBox="1">
            <a:spLocks noGrp="1"/>
          </p:cNvSpPr>
          <p:nvPr/>
        </p:nvSpPr>
        <p:spPr bwMode="auto">
          <a:xfrm>
            <a:off x="5800725" y="8537575"/>
            <a:ext cx="795338" cy="282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8467" tIns="0" rIns="18467" bIns="0" anchor="b"/>
          <a:lstStyle>
            <a:lvl1pPr defTabSz="885825" eaLnBrk="0" hangingPunct="0">
              <a:defRPr sz="2400">
                <a:solidFill>
                  <a:schemeClr val="tx1"/>
                </a:solidFill>
                <a:latin typeface="Arial" charset="0"/>
                <a:ea typeface="ＭＳ Ｐゴシック" charset="0"/>
                <a:cs typeface="ＭＳ Ｐゴシック" charset="0"/>
              </a:defRPr>
            </a:lvl1pPr>
            <a:lvl2pPr marL="37931725" indent="-37474525" defTabSz="8858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fld id="{B345C218-99B5-844C-8B20-8295D88F81D4}" type="slidenum">
              <a:rPr lang="en-US" sz="800">
                <a:latin typeface="Avenir Medium"/>
              </a:rPr>
              <a:pPr algn="r" eaLnBrk="1" hangingPunct="1"/>
              <a:t>7</a:t>
            </a:fld>
            <a:endParaRPr lang="en-US" sz="800">
              <a:latin typeface="Avenir Medium"/>
            </a:endParaRPr>
          </a:p>
        </p:txBody>
      </p:sp>
    </p:spTree>
    <p:extLst>
      <p:ext uri="{BB962C8B-B14F-4D97-AF65-F5344CB8AC3E}">
        <p14:creationId xmlns:p14="http://schemas.microsoft.com/office/powerpoint/2010/main" val="1956617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6"/>
          <p:cNvSpPr>
            <a:spLocks noGrp="1" noChangeArrowheads="1"/>
          </p:cNvSpPr>
          <p:nvPr>
            <p:ph type="sldNum" sz="quarter" idx="4294967295"/>
          </p:nvPr>
        </p:nvSpPr>
        <p:spPr bwMode="auto">
          <a:xfrm>
            <a:off x="3883311" y="8684458"/>
            <a:ext cx="2973084" cy="458079"/>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88057" tIns="44028" rIns="88057" bIns="44028"/>
          <a:lstStyle>
            <a:lvl1pPr eaLnBrk="0" hangingPunct="0">
              <a:defRPr sz="2400" b="1">
                <a:solidFill>
                  <a:schemeClr val="tx1"/>
                </a:solidFill>
                <a:latin typeface="Arial" charset="0"/>
                <a:ea typeface="ＭＳ Ｐゴシック" charset="0"/>
                <a:cs typeface="ＭＳ Ｐゴシック" charset="0"/>
              </a:defRPr>
            </a:lvl1pPr>
            <a:lvl2pPr marL="742950" indent="-285750" eaLnBrk="0" hangingPunct="0">
              <a:defRPr sz="2400" b="1">
                <a:solidFill>
                  <a:schemeClr val="tx1"/>
                </a:solidFill>
                <a:latin typeface="Arial" charset="0"/>
                <a:ea typeface="ＭＳ Ｐゴシック" charset="0"/>
              </a:defRPr>
            </a:lvl2pPr>
            <a:lvl3pPr marL="1143000" indent="-228600" eaLnBrk="0" hangingPunct="0">
              <a:defRPr sz="2400" b="1">
                <a:solidFill>
                  <a:schemeClr val="tx1"/>
                </a:solidFill>
                <a:latin typeface="Arial" charset="0"/>
                <a:ea typeface="ＭＳ Ｐゴシック" charset="0"/>
              </a:defRPr>
            </a:lvl3pPr>
            <a:lvl4pPr marL="1600200" indent="-228600" eaLnBrk="0" hangingPunct="0">
              <a:defRPr sz="2400" b="1">
                <a:solidFill>
                  <a:schemeClr val="tx1"/>
                </a:solidFill>
                <a:latin typeface="Arial" charset="0"/>
                <a:ea typeface="ＭＳ Ｐゴシック" charset="0"/>
              </a:defRPr>
            </a:lvl4pPr>
            <a:lvl5pPr marL="2057400" indent="-228600" eaLnBrk="0" hangingPunct="0">
              <a:defRPr sz="2400" b="1">
                <a:solidFill>
                  <a:schemeClr val="tx1"/>
                </a:solidFill>
                <a:latin typeface="Arial" charset="0"/>
                <a:ea typeface="ＭＳ Ｐゴシック" charset="0"/>
              </a:defRPr>
            </a:lvl5pPr>
            <a:lvl6pPr marL="2514600" indent="-228600" eaLnBrk="0" fontAlgn="base" hangingPunct="0">
              <a:spcBef>
                <a:spcPct val="0"/>
              </a:spcBef>
              <a:spcAft>
                <a:spcPct val="0"/>
              </a:spcAft>
              <a:defRPr sz="2400" b="1">
                <a:solidFill>
                  <a:schemeClr val="tx1"/>
                </a:solidFill>
                <a:latin typeface="Arial" charset="0"/>
                <a:ea typeface="ＭＳ Ｐゴシック" charset="0"/>
              </a:defRPr>
            </a:lvl6pPr>
            <a:lvl7pPr marL="2971800" indent="-228600" eaLnBrk="0" fontAlgn="base" hangingPunct="0">
              <a:spcBef>
                <a:spcPct val="0"/>
              </a:spcBef>
              <a:spcAft>
                <a:spcPct val="0"/>
              </a:spcAft>
              <a:defRPr sz="2400" b="1">
                <a:solidFill>
                  <a:schemeClr val="tx1"/>
                </a:solidFill>
                <a:latin typeface="Arial" charset="0"/>
                <a:ea typeface="ＭＳ Ｐゴシック" charset="0"/>
              </a:defRPr>
            </a:lvl7pPr>
            <a:lvl8pPr marL="3429000" indent="-228600" eaLnBrk="0" fontAlgn="base" hangingPunct="0">
              <a:spcBef>
                <a:spcPct val="0"/>
              </a:spcBef>
              <a:spcAft>
                <a:spcPct val="0"/>
              </a:spcAft>
              <a:defRPr sz="2400" b="1">
                <a:solidFill>
                  <a:schemeClr val="tx1"/>
                </a:solidFill>
                <a:latin typeface="Arial" charset="0"/>
                <a:ea typeface="ＭＳ Ｐゴシック" charset="0"/>
              </a:defRPr>
            </a:lvl8pPr>
            <a:lvl9pPr marL="3886200" indent="-228600" eaLnBrk="0" fontAlgn="base" hangingPunct="0">
              <a:spcBef>
                <a:spcPct val="0"/>
              </a:spcBef>
              <a:spcAft>
                <a:spcPct val="0"/>
              </a:spcAft>
              <a:defRPr sz="2400" b="1">
                <a:solidFill>
                  <a:schemeClr val="tx1"/>
                </a:solidFill>
                <a:latin typeface="Arial" charset="0"/>
                <a:ea typeface="ＭＳ Ｐゴシック" charset="0"/>
              </a:defRPr>
            </a:lvl9pPr>
          </a:lstStyle>
          <a:p>
            <a:pPr eaLnBrk="1" hangingPunct="1"/>
            <a:fld id="{A591676A-DBD9-154C-95B3-C5B9F17E1112}" type="slidenum">
              <a:rPr lang="en-GB" sz="1800"/>
              <a:pPr eaLnBrk="1" hangingPunct="1"/>
              <a:t>11</a:t>
            </a:fld>
            <a:endParaRPr lang="en-GB" sz="1800"/>
          </a:p>
        </p:txBody>
      </p:sp>
      <p:sp>
        <p:nvSpPr>
          <p:cNvPr id="265218" name="Rectangle 2"/>
          <p:cNvSpPr>
            <a:spLocks noGrp="1" noRot="1" noChangeAspect="1" noChangeArrowheads="1" noTextEdit="1"/>
          </p:cNvSpPr>
          <p:nvPr>
            <p:ph type="sldImg"/>
          </p:nvPr>
        </p:nvSpPr>
        <p:spPr>
          <a:xfrm>
            <a:off x="228600" y="457200"/>
            <a:ext cx="6375400" cy="4781550"/>
          </a:xfrm>
          <a:ln/>
        </p:spPr>
      </p:sp>
      <p:sp>
        <p:nvSpPr>
          <p:cNvPr id="265219" name="Rectangle 3"/>
          <p:cNvSpPr>
            <a:spLocks noGrp="1" noChangeArrowheads="1"/>
          </p:cNvSpPr>
          <p:nvPr>
            <p:ph type="body" idx="1"/>
          </p:nvPr>
        </p:nvSpPr>
        <p:spPr>
          <a:xfrm>
            <a:off x="685480" y="4343693"/>
            <a:ext cx="5487042" cy="4113922"/>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129417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C204A1-840D-CA41-9990-2FBF1DA0CC27}" type="slidenum">
              <a:rPr lang="en-US" smtClean="0"/>
              <a:t>12</a:t>
            </a:fld>
            <a:endParaRPr lang="en-US" dirty="0"/>
          </a:p>
        </p:txBody>
      </p:sp>
    </p:spTree>
    <p:extLst>
      <p:ext uri="{BB962C8B-B14F-4D97-AF65-F5344CB8AC3E}">
        <p14:creationId xmlns:p14="http://schemas.microsoft.com/office/powerpoint/2010/main" val="1316669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8244" indent="-168244">
              <a:buFontTx/>
              <a:buChar char="-"/>
            </a:pPr>
            <a:r>
              <a:rPr lang="en-US" dirty="0"/>
              <a:t>Starts with how the customer</a:t>
            </a:r>
            <a:r>
              <a:rPr lang="en-US" baseline="0" dirty="0"/>
              <a:t> wants to buy – not how you want to sell</a:t>
            </a:r>
          </a:p>
          <a:p>
            <a:pPr marL="168244" indent="-168244">
              <a:buFontTx/>
              <a:buChar char="-"/>
            </a:pPr>
            <a:r>
              <a:rPr lang="en-US" baseline="0" dirty="0"/>
              <a:t>Aligns stages in sales process with customer buying journey</a:t>
            </a:r>
          </a:p>
          <a:p>
            <a:pPr marL="168244" indent="-168244">
              <a:buFontTx/>
              <a:buChar char="-"/>
            </a:pPr>
            <a:r>
              <a:rPr lang="en-US" baseline="0" dirty="0"/>
              <a:t>Freedom in a framework (Iterative and agile, NOT rigid, prescriptive or robotic)</a:t>
            </a:r>
          </a:p>
          <a:p>
            <a:pPr marL="168244" indent="-168244">
              <a:buFontTx/>
              <a:buChar char="-"/>
            </a:pPr>
            <a:r>
              <a:rPr lang="en-US" baseline="0" dirty="0"/>
              <a:t>Common OS – yet scalable across verticals</a:t>
            </a:r>
          </a:p>
          <a:p>
            <a:pPr marL="168244" indent="-168244">
              <a:buFontTx/>
              <a:buChar char="-"/>
            </a:pPr>
            <a:r>
              <a:rPr lang="en-US" baseline="0" dirty="0"/>
              <a:t>Defines key activities taken at each stage in process – drives best practices</a:t>
            </a:r>
          </a:p>
          <a:p>
            <a:pPr marL="168244" indent="-168244">
              <a:buFontTx/>
              <a:buChar char="-"/>
            </a:pPr>
            <a:r>
              <a:rPr lang="en-US" baseline="0" dirty="0"/>
              <a:t>Progress tracked through customer verified progress e.g. request proposal, </a:t>
            </a:r>
          </a:p>
          <a:p>
            <a:pPr marL="168244" indent="-168244">
              <a:buFontTx/>
              <a:buChar char="-"/>
            </a:pPr>
            <a:r>
              <a:rPr lang="en-US" baseline="0" dirty="0"/>
              <a:t>Integrated from lead generation / prospecting, to qualification, to opportunity management and delivery / implementation</a:t>
            </a:r>
          </a:p>
          <a:p>
            <a:pPr marL="168244" indent="-168244">
              <a:buFontTx/>
              <a:buChar char="-"/>
            </a:pPr>
            <a:r>
              <a:rPr lang="en-US" baseline="0" dirty="0"/>
              <a:t>Integrates with SFDC objects e.g. Leads, Opportunities, Accounts, Territories, Contacts, Reports</a:t>
            </a:r>
          </a:p>
          <a:p>
            <a:pPr marL="168244" indent="-168244">
              <a:buFontTx/>
              <a:buChar char="-"/>
            </a:pPr>
            <a:r>
              <a:rPr lang="en-US" baseline="0" dirty="0"/>
              <a:t>Enables data analytics, insights and reporting</a:t>
            </a:r>
          </a:p>
          <a:p>
            <a:pPr marL="168244" indent="-168244" defTabSz="448650">
              <a:buFontTx/>
              <a:buChar char="-"/>
              <a:defRPr/>
            </a:pPr>
            <a:r>
              <a:rPr lang="en-US" baseline="0" dirty="0"/>
              <a:t>Enables coaching</a:t>
            </a:r>
          </a:p>
          <a:p>
            <a:pPr marL="168244" indent="-168244" defTabSz="448650">
              <a:buFontTx/>
              <a:buChar char="-"/>
              <a:defRPr/>
            </a:pPr>
            <a:r>
              <a:rPr lang="en-US" baseline="0" dirty="0"/>
              <a:t>Measurable (at rep, territory, region, company level)</a:t>
            </a:r>
          </a:p>
          <a:p>
            <a:pPr marL="168244" indent="-168244" defTabSz="448650">
              <a:buFontTx/>
              <a:buChar char="-"/>
              <a:defRPr/>
            </a:pPr>
            <a:endParaRPr lang="en-US" baseline="0" dirty="0"/>
          </a:p>
          <a:p>
            <a:pPr marL="168244" indent="-168244" defTabSz="448650">
              <a:buFontTx/>
              <a:buChar char="-"/>
              <a:defRPr/>
            </a:pPr>
            <a:endParaRPr lang="en-US" baseline="0" dirty="0"/>
          </a:p>
          <a:p>
            <a:pPr defTabSz="448650">
              <a:defRPr/>
            </a:pPr>
            <a:r>
              <a:rPr lang="en-US" baseline="0" dirty="0"/>
              <a:t>EXPAND:</a:t>
            </a:r>
          </a:p>
          <a:p>
            <a:pPr defTabSz="448650">
              <a:defRPr/>
            </a:pPr>
            <a:endParaRPr lang="en-US" baseline="0" dirty="0"/>
          </a:p>
          <a:p>
            <a:pPr defTabSz="448650">
              <a:defRPr/>
            </a:pPr>
            <a:r>
              <a:rPr lang="en-US" baseline="0" dirty="0"/>
              <a:t>5 Key Touchpoints in the Customer Lifecycle: Creating Customers for Life</a:t>
            </a:r>
          </a:p>
          <a:p>
            <a:pPr defTabSz="448650">
              <a:defRPr/>
            </a:pPr>
            <a:endParaRPr lang="en-US" baseline="0" dirty="0"/>
          </a:p>
          <a:p>
            <a:pPr defTabSz="448650">
              <a:defRPr/>
            </a:pPr>
            <a:r>
              <a:rPr lang="en-US" baseline="0" dirty="0"/>
              <a:t>The ultimate goal of any business is to gain a customer for life. So how do you do that? Start by creating a customer journey that doesn’t just start at their time of purchase and end at contract expiration.</a:t>
            </a:r>
          </a:p>
          <a:p>
            <a:pPr defTabSz="448650">
              <a:defRPr/>
            </a:pPr>
            <a:r>
              <a:rPr lang="en-US" baseline="0" dirty="0"/>
              <a:t>Do you know what your customer needs in between those two milestones? Understanding what your customer needs between onboarding and renewing can help you grow your relationship, gain your customers trust, and ultimately create a customer for life. Let’s start retaining customers by understanding the full scope of opportunities to reach out to them. There are many touchpoints in the complete customer lifecycle, let’s look at the top five:</a:t>
            </a:r>
          </a:p>
          <a:p>
            <a:pPr defTabSz="448650">
              <a:defRPr/>
            </a:pPr>
            <a:endParaRPr lang="en-US" baseline="0" dirty="0"/>
          </a:p>
          <a:p>
            <a:pPr defTabSz="448650">
              <a:defRPr/>
            </a:pPr>
            <a:r>
              <a:rPr lang="en-US" baseline="0" dirty="0"/>
              <a:t>“The economic value of a customer is realized over time, instead of upfront at the initial sale. Being successful increasingly requires that companies actively manage their customer during their engagement relationship.”</a:t>
            </a:r>
          </a:p>
          <a:p>
            <a:pPr defTabSz="448650">
              <a:defRPr/>
            </a:pPr>
            <a:r>
              <a:rPr lang="en-US" baseline="0" dirty="0"/>
              <a:t>– Forrester</a:t>
            </a:r>
          </a:p>
          <a:p>
            <a:pPr defTabSz="448650">
              <a:defRPr/>
            </a:pPr>
            <a:endParaRPr lang="en-US" baseline="0" dirty="0"/>
          </a:p>
          <a:p>
            <a:pPr defTabSz="448650">
              <a:defRPr/>
            </a:pPr>
            <a:r>
              <a:rPr lang="en-US" b="1" baseline="0" dirty="0"/>
              <a:t>Identify Coverage Gaps </a:t>
            </a:r>
            <a:r>
              <a:rPr lang="en-US" baseline="0" dirty="0"/>
              <a:t>| Do you have visibility into what customer products are not covered by a service contract? Your next sale could be right in front of you. If your customers have a vested interest in ensuring that the assets their business has purchased are protected over time, the chances are, they’ll be open to your sales pitch. At the very least, they’ll appreciate your efforts to help them manage their important investments.</a:t>
            </a:r>
          </a:p>
          <a:p>
            <a:pPr defTabSz="448650">
              <a:defRPr/>
            </a:pPr>
            <a:r>
              <a:rPr lang="en-US" b="1" baseline="0" dirty="0"/>
              <a:t>Maximize Customer Investment Value </a:t>
            </a:r>
            <a:r>
              <a:rPr lang="en-US" baseline="0" dirty="0"/>
              <a:t>| Help customers see value in their investments by promoting usage and sharing information about benefits, best practices, and tips/tricks. Measuring and monitoring your customer’s adoption/consumption – and using that data to engage with helpful reminders and utilization suggestions – will help ensure they are realizing value, while reinforcing your role as an adviser they can trust.</a:t>
            </a:r>
          </a:p>
          <a:p>
            <a:pPr defTabSz="448650">
              <a:defRPr/>
            </a:pPr>
            <a:r>
              <a:rPr lang="en-US" b="1" baseline="0" dirty="0"/>
              <a:t>Evaluate Expansion Opportunities </a:t>
            </a:r>
            <a:r>
              <a:rPr lang="en-US" baseline="0" dirty="0"/>
              <a:t>| Are there other assets or solutions your customer should consider? Demonstrate commitment to a customer’s business objectives by suggesting complementary solutions designed to improve network performance. By tracking and managing the lifecycle of these products, your business stands to gain an ongoing annuity stream that adds up over time.</a:t>
            </a:r>
          </a:p>
          <a:p>
            <a:pPr defTabSz="448650">
              <a:defRPr/>
            </a:pPr>
            <a:r>
              <a:rPr lang="en-US" b="1" baseline="0" dirty="0"/>
              <a:t>Capitalize on Renewals </a:t>
            </a:r>
            <a:r>
              <a:rPr lang="en-US" baseline="0" dirty="0"/>
              <a:t>| Capitalize on your annuities stream by effectively tracking your renewal opportunities. Map out engagement campaigns that are targeted and timely (suggested time frame: reach out to customers within one to three months or more of contract expirations), focused on renewing that subscription. If you have effectively engaged with your customer in the lifecycle touchpoints leading up to this point, the hope is that this renewal is a non-event, and your efforts can be spent pursuing other opportunities.</a:t>
            </a:r>
          </a:p>
          <a:p>
            <a:pPr defTabSz="448650">
              <a:defRPr/>
            </a:pPr>
            <a:r>
              <a:rPr lang="en-US" b="1" baseline="0" dirty="0"/>
              <a:t>Know When to Refresh </a:t>
            </a:r>
            <a:r>
              <a:rPr lang="en-US" baseline="0" dirty="0"/>
              <a:t>| By analyzing and monitoring product and service sales transaction data for end of life (the typical server, for instance, may need replacement after five to seven years), you can proactively get in touch with your customers at the right time with a new offer that addresses their business needs into the future. Keeping a pulse on their product needs means you’ll be ready when they are to buy a new product — it’s that simple.</a:t>
            </a:r>
          </a:p>
          <a:p>
            <a:pPr defTabSz="448650">
              <a:defRPr/>
            </a:pPr>
            <a:r>
              <a:rPr lang="en-US" baseline="0" dirty="0"/>
              <a:t>Now may be a good time to reevaluate your post-sale customer engagement model to see if there are revenue opportunities that may be falling through the cracks. Here are some additional resources to help you get started:</a:t>
            </a:r>
          </a:p>
          <a:p>
            <a:pPr defTabSz="448650">
              <a:defRPr/>
            </a:pPr>
            <a:endParaRPr lang="en-US" baseline="0" dirty="0"/>
          </a:p>
          <a:p>
            <a:pPr defTabSz="448650">
              <a:defRPr/>
            </a:pPr>
            <a:endParaRPr lang="en-US" baseline="0" dirty="0"/>
          </a:p>
          <a:p>
            <a:endParaRPr lang="en-US" dirty="0"/>
          </a:p>
        </p:txBody>
      </p:sp>
      <p:sp>
        <p:nvSpPr>
          <p:cNvPr id="4" name="Slide Number Placeholder 3"/>
          <p:cNvSpPr>
            <a:spLocks noGrp="1"/>
          </p:cNvSpPr>
          <p:nvPr>
            <p:ph type="sldNum" sz="quarter" idx="10"/>
          </p:nvPr>
        </p:nvSpPr>
        <p:spPr/>
        <p:txBody>
          <a:bodyPr/>
          <a:lstStyle/>
          <a:p>
            <a:fld id="{6ABE7EA6-465D-2143-BF16-9AC8B8E6A0EB}" type="slidenum">
              <a:rPr lang="en-US" smtClean="0"/>
              <a:t>13</a:t>
            </a:fld>
            <a:endParaRPr lang="en-US" dirty="0"/>
          </a:p>
        </p:txBody>
      </p:sp>
    </p:spTree>
    <p:extLst>
      <p:ext uri="{BB962C8B-B14F-4D97-AF65-F5344CB8AC3E}">
        <p14:creationId xmlns:p14="http://schemas.microsoft.com/office/powerpoint/2010/main" val="2010081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dirty="0"/>
              <a:t>12/14/15	</a:t>
            </a:r>
          </a:p>
        </p:txBody>
      </p:sp>
      <p:sp>
        <p:nvSpPr>
          <p:cNvPr id="6" name="Slide Number Placeholder 5"/>
          <p:cNvSpPr>
            <a:spLocks noGrp="1"/>
          </p:cNvSpPr>
          <p:nvPr>
            <p:ph type="sldNum" sz="quarter" idx="12"/>
          </p:nvPr>
        </p:nvSpPr>
        <p:spPr/>
        <p:txBody>
          <a:bodyPr/>
          <a:lstStyle/>
          <a:p>
            <a:endParaRPr lang="en-US" dirty="0"/>
          </a:p>
        </p:txBody>
      </p:sp>
    </p:spTree>
    <p:extLst>
      <p:ext uri="{BB962C8B-B14F-4D97-AF65-F5344CB8AC3E}">
        <p14:creationId xmlns:p14="http://schemas.microsoft.com/office/powerpoint/2010/main" val="412332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r>
              <a:rPr lang="en-US" dirty="0"/>
              <a:t>2</a:t>
            </a:r>
          </a:p>
        </p:txBody>
      </p:sp>
    </p:spTree>
    <p:extLst>
      <p:ext uri="{BB962C8B-B14F-4D97-AF65-F5344CB8AC3E}">
        <p14:creationId xmlns:p14="http://schemas.microsoft.com/office/powerpoint/2010/main" val="2966964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78F24D-EB19-4AE0-B015-2BEA6D5224F2}" type="datetimeFigureOut">
              <a:rPr lang="en-US" smtClean="0"/>
              <a:t>12/1/19</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989776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78F24D-EB19-4AE0-B015-2BEA6D5224F2}" type="datetimeFigureOut">
              <a:rPr lang="en-US" smtClean="0"/>
              <a:t>12/1/19</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2645351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78F24D-EB19-4AE0-B015-2BEA6D5224F2}" type="datetimeFigureOut">
              <a:rPr lang="en-US" smtClean="0"/>
              <a:t>12/1/19</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2208441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78F24D-EB19-4AE0-B015-2BEA6D5224F2}" type="datetimeFigureOut">
              <a:rPr lang="en-US" smtClean="0"/>
              <a:t>12/1/19</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3545891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78F24D-EB19-4AE0-B015-2BEA6D5224F2}" type="datetimeFigureOut">
              <a:rPr lang="en-US" smtClean="0"/>
              <a:t>12/1/19</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904307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78F24D-EB19-4AE0-B015-2BEA6D5224F2}" type="datetimeFigureOut">
              <a:rPr lang="en-US" smtClean="0"/>
              <a:t>12/1/19</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865115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78F24D-EB19-4AE0-B015-2BEA6D5224F2}" type="datetimeFigureOut">
              <a:rPr lang="en-US" smtClean="0"/>
              <a:t>12/1/19</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2144026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78F24D-EB19-4AE0-B015-2BEA6D5224F2}" type="datetimeFigureOut">
              <a:rPr lang="en-US" smtClean="0"/>
              <a:t>12/1/19</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1208647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78F24D-EB19-4AE0-B015-2BEA6D5224F2}" type="datetimeFigureOut">
              <a:rPr lang="en-US" smtClean="0"/>
              <a:t>12/1/19</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190D9BD3-E57B-4194-A545-2804EB95D970}" type="slidenum">
              <a:rPr lang="en-US" smtClean="0"/>
              <a:t>‹#›</a:t>
            </a:fld>
            <a:endParaRPr lang="en-US" dirty="0"/>
          </a:p>
        </p:txBody>
      </p:sp>
    </p:spTree>
    <p:extLst>
      <p:ext uri="{BB962C8B-B14F-4D97-AF65-F5344CB8AC3E}">
        <p14:creationId xmlns:p14="http://schemas.microsoft.com/office/powerpoint/2010/main" val="3670885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lide title 32pt bullet sub head">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1112838" y="364191"/>
            <a:ext cx="6142037" cy="641667"/>
          </a:xfrm>
          <a:prstGeom prst="rect">
            <a:avLst/>
          </a:prstGeom>
        </p:spPr>
        <p:txBody>
          <a:bodyPr anchor="ctr"/>
          <a:lstStyle>
            <a:lvl1pPr marL="0" indent="0">
              <a:spcBef>
                <a:spcPts val="0"/>
              </a:spcBef>
              <a:buNone/>
              <a:defRPr sz="2800" b="1" i="0" baseline="0">
                <a:solidFill>
                  <a:srgbClr val="000000"/>
                </a:solidFill>
                <a:latin typeface="Arial" pitchFamily="34" charset="0"/>
              </a:defRPr>
            </a:lvl1pPr>
            <a:lvl2pPr marL="0" indent="0">
              <a:buNone/>
              <a:defRPr sz="3200" b="1" i="0" baseline="0">
                <a:latin typeface="Arial" pitchFamily="34" charset="0"/>
              </a:defRPr>
            </a:lvl2pPr>
            <a:lvl3pPr marL="0" indent="0">
              <a:buNone/>
              <a:defRPr sz="3200" b="1" i="0" baseline="0">
                <a:latin typeface="Arial" pitchFamily="34" charset="0"/>
              </a:defRPr>
            </a:lvl3pPr>
            <a:lvl4pPr marL="0" indent="0">
              <a:buNone/>
              <a:defRPr sz="3200" b="1" i="0" baseline="0">
                <a:latin typeface="Arial" pitchFamily="34" charset="0"/>
              </a:defRPr>
            </a:lvl4pPr>
            <a:lvl5pPr marL="0" indent="0">
              <a:buNone/>
              <a:defRPr sz="3200" b="1" i="0" baseline="0">
                <a:latin typeface="Arial" pitchFamily="34" charset="0"/>
              </a:defRPr>
            </a:lvl5pPr>
          </a:lstStyle>
          <a:p>
            <a:pPr lvl="0"/>
            <a:r>
              <a:rPr lang="ja-JP" altLang="en-US" dirty="0"/>
              <a:t>マスタ テキストの書式設定</a:t>
            </a:r>
          </a:p>
        </p:txBody>
      </p:sp>
      <p:sp>
        <p:nvSpPr>
          <p:cNvPr id="4" name="Content Placeholder 8"/>
          <p:cNvSpPr>
            <a:spLocks noGrp="1"/>
          </p:cNvSpPr>
          <p:nvPr>
            <p:ph sz="quarter" idx="16"/>
          </p:nvPr>
        </p:nvSpPr>
        <p:spPr>
          <a:xfrm>
            <a:off x="504825" y="2072639"/>
            <a:ext cx="8243888" cy="3824605"/>
          </a:xfrm>
          <a:prstGeom prst="rect">
            <a:avLst/>
          </a:prstGeom>
        </p:spPr>
        <p:txBody>
          <a:bodyPr/>
          <a:lstStyle>
            <a:lvl1pPr>
              <a:buClr>
                <a:schemeClr val="accent1"/>
              </a:buClr>
              <a:buFont typeface="Wingdings" pitchFamily="2" charset="2"/>
              <a:buChar char="§"/>
              <a:defRPr sz="2800">
                <a:solidFill>
                  <a:srgbClr val="000000"/>
                </a:solidFill>
                <a:latin typeface="Arial" pitchFamily="34" charset="0"/>
                <a:cs typeface="Arial" pitchFamily="34" charset="0"/>
              </a:defRPr>
            </a:lvl1pPr>
            <a:lvl2pPr>
              <a:spcAft>
                <a:spcPts val="600"/>
              </a:spcAft>
              <a:defRPr sz="2000">
                <a:solidFill>
                  <a:srgbClr val="000000"/>
                </a:solidFill>
                <a:latin typeface="Arial" pitchFamily="34" charset="0"/>
                <a:cs typeface="Arial" pitchFamily="34" charset="0"/>
              </a:defRPr>
            </a:lvl2p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0" name="Text Placeholder 9"/>
          <p:cNvSpPr>
            <a:spLocks noGrp="1"/>
          </p:cNvSpPr>
          <p:nvPr>
            <p:ph type="body" sz="quarter" idx="20"/>
          </p:nvPr>
        </p:nvSpPr>
        <p:spPr>
          <a:xfrm>
            <a:off x="504826" y="1409701"/>
            <a:ext cx="7512050" cy="495300"/>
          </a:xfrm>
          <a:prstGeom prst="rect">
            <a:avLst/>
          </a:prstGeom>
        </p:spPr>
        <p:txBody>
          <a:bodyPr/>
          <a:lstStyle>
            <a:lvl1pPr marL="0" indent="0">
              <a:buNone/>
              <a:defRPr sz="2400" b="1" baseline="0">
                <a:solidFill>
                  <a:schemeClr val="tx1"/>
                </a:solidFill>
                <a:latin typeface="Arial" pitchFamily="34" charset="0"/>
                <a:cs typeface="Arial" pitchFamily="34" charset="0"/>
              </a:defRPr>
            </a:lvl1pPr>
            <a:lvl2pPr marL="0" indent="0">
              <a:buNone/>
              <a:defRPr sz="2400" b="1">
                <a:solidFill>
                  <a:schemeClr val="tx1"/>
                </a:solidFill>
                <a:latin typeface="Arial" pitchFamily="34" charset="0"/>
                <a:cs typeface="Arial" pitchFamily="34" charset="0"/>
              </a:defRPr>
            </a:lvl2pPr>
            <a:lvl3pPr marL="0" indent="0">
              <a:buNone/>
              <a:defRPr sz="2400" b="1">
                <a:solidFill>
                  <a:schemeClr val="tx1"/>
                </a:solidFill>
                <a:latin typeface="Arial" pitchFamily="34" charset="0"/>
                <a:cs typeface="Arial" pitchFamily="34" charset="0"/>
              </a:defRPr>
            </a:lvl3pPr>
            <a:lvl4pPr marL="0" indent="0">
              <a:buNone/>
              <a:defRPr sz="2400" b="1">
                <a:solidFill>
                  <a:schemeClr val="tx1"/>
                </a:solidFill>
                <a:latin typeface="Arial" pitchFamily="34" charset="0"/>
                <a:cs typeface="Arial" pitchFamily="34" charset="0"/>
              </a:defRPr>
            </a:lvl4pPr>
            <a:lvl5pPr marL="0" indent="0">
              <a:buNone/>
              <a:defRPr sz="2400" b="1">
                <a:solidFill>
                  <a:schemeClr val="tx1"/>
                </a:solidFill>
                <a:latin typeface="Arial" pitchFamily="34" charset="0"/>
                <a:cs typeface="Arial" pitchFamily="34" charset="0"/>
              </a:defRPr>
            </a:lvl5pPr>
          </a:lstStyle>
          <a:p>
            <a:pPr lvl="0"/>
            <a:r>
              <a:rPr lang="ja-JP" altLang="en-US" dirty="0"/>
              <a:t>マスタ テキストの書式設定</a:t>
            </a:r>
          </a:p>
        </p:txBody>
      </p:sp>
    </p:spTree>
    <p:extLst>
      <p:ext uri="{BB962C8B-B14F-4D97-AF65-F5344CB8AC3E}">
        <p14:creationId xmlns:p14="http://schemas.microsoft.com/office/powerpoint/2010/main" val="13110589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lide title 32pt bullet">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1112838" y="338793"/>
            <a:ext cx="6142037" cy="641667"/>
          </a:xfrm>
          <a:prstGeom prst="rect">
            <a:avLst/>
          </a:prstGeom>
        </p:spPr>
        <p:txBody>
          <a:bodyPr anchor="ctr"/>
          <a:lstStyle>
            <a:lvl1pPr marL="0" indent="0">
              <a:lnSpc>
                <a:spcPct val="100000"/>
              </a:lnSpc>
              <a:spcBef>
                <a:spcPts val="0"/>
              </a:spcBef>
              <a:buNone/>
              <a:defRPr sz="2400" b="1" i="0" baseline="0">
                <a:solidFill>
                  <a:srgbClr val="000000"/>
                </a:solidFill>
                <a:latin typeface="Arial" pitchFamily="34" charset="0"/>
              </a:defRPr>
            </a:lvl1pPr>
            <a:lvl2pPr marL="0" indent="0">
              <a:buNone/>
              <a:defRPr sz="3200" b="1" i="0" baseline="0">
                <a:latin typeface="Arial" pitchFamily="34" charset="0"/>
              </a:defRPr>
            </a:lvl2pPr>
            <a:lvl3pPr marL="0" indent="0">
              <a:buNone/>
              <a:defRPr sz="3200" b="1" i="0" baseline="0">
                <a:latin typeface="Arial" pitchFamily="34" charset="0"/>
              </a:defRPr>
            </a:lvl3pPr>
            <a:lvl4pPr marL="0" indent="0">
              <a:buNone/>
              <a:defRPr sz="3200" b="1" i="0" baseline="0">
                <a:latin typeface="Arial" pitchFamily="34" charset="0"/>
              </a:defRPr>
            </a:lvl4pPr>
            <a:lvl5pPr marL="0" indent="0">
              <a:buNone/>
              <a:defRPr sz="3200" b="1" i="0" baseline="0">
                <a:latin typeface="Arial" pitchFamily="34" charset="0"/>
              </a:defRPr>
            </a:lvl5pPr>
          </a:lstStyle>
          <a:p>
            <a:pPr lvl="0"/>
            <a:r>
              <a:rPr lang="ja-JP" altLang="en-US" dirty="0"/>
              <a:t>マスタ テキストの書式設定</a:t>
            </a:r>
          </a:p>
        </p:txBody>
      </p:sp>
      <p:sp>
        <p:nvSpPr>
          <p:cNvPr id="4" name="Content Placeholder 8"/>
          <p:cNvSpPr>
            <a:spLocks noGrp="1"/>
          </p:cNvSpPr>
          <p:nvPr>
            <p:ph sz="quarter" idx="16"/>
          </p:nvPr>
        </p:nvSpPr>
        <p:spPr>
          <a:xfrm>
            <a:off x="504825" y="1477963"/>
            <a:ext cx="8243888" cy="4830762"/>
          </a:xfrm>
          <a:prstGeom prst="rect">
            <a:avLst/>
          </a:prstGeom>
        </p:spPr>
        <p:txBody>
          <a:bodyPr/>
          <a:lstStyle>
            <a:lvl1pPr>
              <a:buClr>
                <a:schemeClr val="accent1"/>
              </a:buClr>
              <a:buFont typeface="Wingdings" pitchFamily="2" charset="2"/>
              <a:buChar char="§"/>
              <a:defRPr sz="2800">
                <a:solidFill>
                  <a:srgbClr val="000000"/>
                </a:solidFill>
                <a:latin typeface="Arial" pitchFamily="34" charset="0"/>
                <a:cs typeface="Arial" pitchFamily="34" charset="0"/>
              </a:defRPr>
            </a:lvl1pPr>
            <a:lvl2pPr>
              <a:spcAft>
                <a:spcPts val="600"/>
              </a:spcAft>
              <a:defRPr sz="2000">
                <a:solidFill>
                  <a:srgbClr val="000000"/>
                </a:solidFill>
                <a:latin typeface="Arial" pitchFamily="34" charset="0"/>
                <a:cs typeface="Arial" pitchFamily="34" charset="0"/>
              </a:defRPr>
            </a:lvl2p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Tree>
    <p:extLst>
      <p:ext uri="{BB962C8B-B14F-4D97-AF65-F5344CB8AC3E}">
        <p14:creationId xmlns:p14="http://schemas.microsoft.com/office/powerpoint/2010/main" val="3871481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Kate Burda &amp; Co. - Title 2">
    <p:spTree>
      <p:nvGrpSpPr>
        <p:cNvPr id="1" name=""/>
        <p:cNvGrpSpPr/>
        <p:nvPr/>
      </p:nvGrpSpPr>
      <p:grpSpPr>
        <a:xfrm>
          <a:off x="0" y="0"/>
          <a:ext cx="0" cy="0"/>
          <a:chOff x="0" y="0"/>
          <a:chExt cx="0" cy="0"/>
        </a:xfrm>
      </p:grpSpPr>
      <p:sp>
        <p:nvSpPr>
          <p:cNvPr id="8" name="Rectangle 7"/>
          <p:cNvSpPr/>
          <p:nvPr userDrawn="1"/>
        </p:nvSpPr>
        <p:spPr>
          <a:xfrm>
            <a:off x="0" y="0"/>
            <a:ext cx="9144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pic>
        <p:nvPicPr>
          <p:cNvPr id="7" name="Picture 6" descr="kb_PPT-Template-01.png"/>
          <p:cNvPicPr>
            <a:picLocks noChangeAspect="1"/>
          </p:cNvPicPr>
          <p:nvPr userDrawn="1"/>
        </p:nvPicPr>
        <p:blipFill>
          <a:blip r:embed="rId2"/>
          <a:stretch>
            <a:fillRect/>
          </a:stretch>
        </p:blipFill>
        <p:spPr>
          <a:xfrm>
            <a:off x="0" y="0"/>
            <a:ext cx="9144000" cy="6858000"/>
          </a:xfrm>
          <a:prstGeom prst="rect">
            <a:avLst/>
          </a:prstGeom>
        </p:spPr>
      </p:pic>
      <p:sp>
        <p:nvSpPr>
          <p:cNvPr id="9" name="Rectangle 8"/>
          <p:cNvSpPr/>
          <p:nvPr userDrawn="1"/>
        </p:nvSpPr>
        <p:spPr>
          <a:xfrm>
            <a:off x="0" y="914400"/>
            <a:ext cx="9144000" cy="59436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rgbClr val="CAC8C8"/>
              </a:solidFill>
            </a:endParaRPr>
          </a:p>
        </p:txBody>
      </p:sp>
      <p:sp>
        <p:nvSpPr>
          <p:cNvPr id="11" name="Title 1"/>
          <p:cNvSpPr>
            <a:spLocks noGrp="1"/>
          </p:cNvSpPr>
          <p:nvPr>
            <p:ph type="ctrTitle" hasCustomPrompt="1"/>
          </p:nvPr>
        </p:nvSpPr>
        <p:spPr>
          <a:xfrm>
            <a:off x="1371600" y="1676402"/>
            <a:ext cx="7772400" cy="3051175"/>
          </a:xfrm>
        </p:spPr>
        <p:txBody>
          <a:bodyPr/>
          <a:lstStyle>
            <a:lvl1pPr>
              <a:defRPr baseline="0">
                <a:solidFill>
                  <a:srgbClr val="8A8C8C"/>
                </a:solidFill>
              </a:defRPr>
            </a:lvl1pPr>
          </a:lstStyle>
          <a:p>
            <a:r>
              <a:rPr lang="en-US" dirty="0"/>
              <a:t>Click to </a:t>
            </a:r>
            <a:br>
              <a:rPr lang="en-US" dirty="0"/>
            </a:br>
            <a:r>
              <a:rPr lang="en-US" dirty="0"/>
              <a:t>Insert Title</a:t>
            </a:r>
            <a:br>
              <a:rPr lang="en-US" dirty="0"/>
            </a:br>
            <a:r>
              <a:rPr lang="en-US" dirty="0"/>
              <a:t>Here</a:t>
            </a:r>
          </a:p>
        </p:txBody>
      </p:sp>
      <p:sp>
        <p:nvSpPr>
          <p:cNvPr id="13" name="Text Placeholder 2"/>
          <p:cNvSpPr>
            <a:spLocks noGrp="1"/>
          </p:cNvSpPr>
          <p:nvPr>
            <p:ph type="body" idx="1" hasCustomPrompt="1"/>
          </p:nvPr>
        </p:nvSpPr>
        <p:spPr>
          <a:xfrm>
            <a:off x="1371600" y="5334000"/>
            <a:ext cx="7772400" cy="381000"/>
          </a:xfrm>
        </p:spPr>
        <p:txBody>
          <a:bodyPr anchor="t">
            <a:normAutofit/>
          </a:bodyPr>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Additional Information</a:t>
            </a:r>
          </a:p>
        </p:txBody>
      </p:sp>
    </p:spTree>
    <p:extLst>
      <p:ext uri="{BB962C8B-B14F-4D97-AF65-F5344CB8AC3E}">
        <p14:creationId xmlns:p14="http://schemas.microsoft.com/office/powerpoint/2010/main" val="2115569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4/18/2016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(1)</a:t>
            </a:r>
          </a:p>
        </p:txBody>
      </p:sp>
      <p:pic>
        <p:nvPicPr>
          <p:cNvPr id="7" name="Picture 6"/>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4201160" y="6308725"/>
            <a:ext cx="787400" cy="392289"/>
          </a:xfrm>
          <a:prstGeom prst="rect">
            <a:avLst/>
          </a:prstGeom>
          <a:noFill/>
          <a:ln>
            <a:noFill/>
          </a:ln>
        </p:spPr>
      </p:pic>
    </p:spTree>
    <p:extLst>
      <p:ext uri="{BB962C8B-B14F-4D97-AF65-F5344CB8AC3E}">
        <p14:creationId xmlns:p14="http://schemas.microsoft.com/office/powerpoint/2010/main" val="3291073576"/>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8" r:id="rId12"/>
    <p:sldLayoutId id="2147483789" r:id="rId13"/>
    <p:sldLayoutId id="2147483791"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4865" y="4983892"/>
            <a:ext cx="8400535" cy="1340879"/>
          </a:xfrm>
          <a:solidFill>
            <a:schemeClr val="bg1">
              <a:lumMod val="75000"/>
            </a:schemeClr>
          </a:solidFill>
        </p:spPr>
        <p:txBody>
          <a:bodyPr>
            <a:normAutofit/>
          </a:bodyPr>
          <a:lstStyle/>
          <a:p>
            <a:pPr algn="l"/>
            <a:r>
              <a:rPr lang="en-US" sz="1400" dirty="0">
                <a:latin typeface="Franklin Gothic Book"/>
                <a:cs typeface="Franklin Gothic Book"/>
              </a:rPr>
              <a:t>			</a:t>
            </a:r>
            <a:endParaRPr lang="is-IS" dirty="0"/>
          </a:p>
        </p:txBody>
      </p:sp>
      <p:sp>
        <p:nvSpPr>
          <p:cNvPr id="6" name="Rectangle 5"/>
          <p:cNvSpPr/>
          <p:nvPr/>
        </p:nvSpPr>
        <p:spPr>
          <a:xfrm>
            <a:off x="514865" y="260865"/>
            <a:ext cx="8400535" cy="336378"/>
          </a:xfrm>
          <a:prstGeom prst="rect">
            <a:avLst/>
          </a:prstGeom>
          <a:solidFill>
            <a:srgbClr val="A0155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2754"/>
              </a:solidFill>
            </a:endParaRPr>
          </a:p>
        </p:txBody>
      </p:sp>
      <p:pic>
        <p:nvPicPr>
          <p:cNvPr id="9" name="Picture 8" descr="shutterstock_42161080.jpg"/>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5739"/>
                    </a14:imgEffect>
                    <a14:imgEffect>
                      <a14:saturation sat="174000"/>
                    </a14:imgEffect>
                    <a14:imgEffect>
                      <a14:brightnessContrast bright="-24000"/>
                    </a14:imgEffect>
                  </a14:imgLayer>
                </a14:imgProps>
              </a:ext>
              <a:ext uri="{28A0092B-C50C-407E-A947-70E740481C1C}">
                <a14:useLocalDpi xmlns:a14="http://schemas.microsoft.com/office/drawing/2010/main" val="0"/>
              </a:ext>
            </a:extLst>
          </a:blip>
          <a:stretch>
            <a:fillRect/>
          </a:stretch>
        </p:blipFill>
        <p:spPr>
          <a:xfrm>
            <a:off x="514864" y="597243"/>
            <a:ext cx="8400535" cy="4386647"/>
          </a:xfrm>
          <a:prstGeom prst="rect">
            <a:avLst/>
          </a:prstGeom>
        </p:spPr>
      </p:pic>
      <p:sp>
        <p:nvSpPr>
          <p:cNvPr id="10" name="Rectangle 9"/>
          <p:cNvSpPr>
            <a:spLocks noChangeArrowheads="1"/>
          </p:cNvSpPr>
          <p:nvPr/>
        </p:nvSpPr>
        <p:spPr bwMode="auto">
          <a:xfrm>
            <a:off x="514864" y="3536648"/>
            <a:ext cx="8400535" cy="632460"/>
          </a:xfrm>
          <a:prstGeom prst="rect">
            <a:avLst/>
          </a:prstGeom>
          <a:solidFill>
            <a:srgbClr val="000000">
              <a:alpha val="70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rot="0" vert="horz" wrap="square" lIns="228600" tIns="45720" rIns="914400" bIns="45720" anchor="ctr" anchorCtr="0" upright="1">
            <a:noAutofit/>
          </a:bodyPr>
          <a:lstStyle/>
          <a:p>
            <a:pPr marL="0" marR="0">
              <a:spcBef>
                <a:spcPts val="600"/>
              </a:spcBef>
              <a:spcAft>
                <a:spcPts val="1200"/>
              </a:spcAft>
            </a:pPr>
            <a:r>
              <a:rPr lang="en-US" sz="2400" dirty="0">
                <a:solidFill>
                  <a:schemeClr val="bg1"/>
                </a:solidFill>
                <a:latin typeface="Franklin Gothic Book"/>
                <a:ea typeface="ＭＳ 明朝"/>
                <a:cs typeface="Franklin Gothic Book"/>
              </a:rPr>
              <a:t>Driving Your Own Future</a:t>
            </a:r>
          </a:p>
        </p:txBody>
      </p:sp>
      <p:sp>
        <p:nvSpPr>
          <p:cNvPr id="2" name="TextBox 1"/>
          <p:cNvSpPr txBox="1"/>
          <p:nvPr/>
        </p:nvSpPr>
        <p:spPr>
          <a:xfrm>
            <a:off x="618649" y="5190687"/>
            <a:ext cx="5671654" cy="1092607"/>
          </a:xfrm>
          <a:prstGeom prst="rect">
            <a:avLst/>
          </a:prstGeom>
          <a:noFill/>
        </p:spPr>
        <p:txBody>
          <a:bodyPr wrap="square" rtlCol="0">
            <a:spAutoFit/>
          </a:bodyPr>
          <a:lstStyle/>
          <a:p>
            <a:r>
              <a:rPr lang="is-IS" sz="1050" dirty="0">
                <a:solidFill>
                  <a:schemeClr val="tx1">
                    <a:lumMod val="65000"/>
                    <a:lumOff val="35000"/>
                  </a:schemeClr>
                </a:solidFill>
                <a:latin typeface="Franklin Gothic Book"/>
                <a:cs typeface="Franklin Gothic Book"/>
              </a:rPr>
              <a:t>Prepared for:</a:t>
            </a:r>
            <a:r>
              <a:rPr lang="en-US" sz="1050" dirty="0">
                <a:solidFill>
                  <a:schemeClr val="tx1">
                    <a:lumMod val="65000"/>
                    <a:lumOff val="35000"/>
                  </a:schemeClr>
                </a:solidFill>
                <a:latin typeface="Franklin Gothic Book"/>
                <a:cs typeface="Franklin Gothic Book"/>
              </a:rPr>
              <a:t> </a:t>
            </a:r>
          </a:p>
          <a:p>
            <a:r>
              <a:rPr lang="en-US" sz="4400" dirty="0">
                <a:solidFill>
                  <a:schemeClr val="tx1">
                    <a:lumMod val="65000"/>
                    <a:lumOff val="35000"/>
                  </a:schemeClr>
                </a:solidFill>
                <a:latin typeface="Franklin Gothic Book"/>
                <a:cs typeface="Franklin Gothic Book"/>
              </a:rPr>
              <a:t>YOU</a:t>
            </a:r>
            <a:endParaRPr lang="en-US" sz="4800" dirty="0">
              <a:solidFill>
                <a:schemeClr val="tx1">
                  <a:lumMod val="65000"/>
                  <a:lumOff val="35000"/>
                </a:schemeClr>
              </a:solidFill>
              <a:latin typeface="Franklin Gothic Book"/>
              <a:cs typeface="Franklin Gothic Book"/>
            </a:endParaRPr>
          </a:p>
          <a:p>
            <a:endParaRPr lang="en-US" sz="1050" dirty="0">
              <a:solidFill>
                <a:schemeClr val="tx1">
                  <a:lumMod val="65000"/>
                  <a:lumOff val="35000"/>
                </a:schemeClr>
              </a:solidFill>
              <a:latin typeface="Franklin Gothic Book"/>
              <a:cs typeface="Franklin Gothic Book"/>
            </a:endParaRPr>
          </a:p>
        </p:txBody>
      </p:sp>
    </p:spTree>
    <p:extLst>
      <p:ext uri="{BB962C8B-B14F-4D97-AF65-F5344CB8AC3E}">
        <p14:creationId xmlns:p14="http://schemas.microsoft.com/office/powerpoint/2010/main" val="83128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08" y="914401"/>
            <a:ext cx="9144000" cy="594360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TextBox 18"/>
          <p:cNvSpPr txBox="1"/>
          <p:nvPr/>
        </p:nvSpPr>
        <p:spPr>
          <a:xfrm>
            <a:off x="181672" y="6297356"/>
            <a:ext cx="8788463" cy="461665"/>
          </a:xfrm>
          <a:prstGeom prst="rect">
            <a:avLst/>
          </a:prstGeom>
          <a:noFill/>
        </p:spPr>
        <p:txBody>
          <a:bodyPr wrap="square" rtlCol="0">
            <a:spAutoFit/>
          </a:bodyPr>
          <a:lstStyle/>
          <a:p>
            <a:pPr algn="ctr"/>
            <a:r>
              <a:rPr lang="en-US" sz="2400" b="1" i="1" dirty="0">
                <a:latin typeface="Franklin Gothic Medium" panose="020B0603020102020204" pitchFamily="34" charset="0"/>
                <a:cs typeface="Times New Roman"/>
              </a:rPr>
              <a:t>Create long-term impact; see rapid results </a:t>
            </a:r>
          </a:p>
        </p:txBody>
      </p:sp>
      <p:grpSp>
        <p:nvGrpSpPr>
          <p:cNvPr id="20" name="Group 19"/>
          <p:cNvGrpSpPr/>
          <p:nvPr/>
        </p:nvGrpSpPr>
        <p:grpSpPr>
          <a:xfrm>
            <a:off x="2321293" y="1334170"/>
            <a:ext cx="4004956" cy="3279696"/>
            <a:chOff x="50135" y="1518460"/>
            <a:chExt cx="5398296" cy="4420715"/>
          </a:xfrm>
        </p:grpSpPr>
        <p:sp>
          <p:nvSpPr>
            <p:cNvPr id="21" name="Isosceles Triangle 20"/>
            <p:cNvSpPr/>
            <p:nvPr/>
          </p:nvSpPr>
          <p:spPr>
            <a:xfrm rot="20350593">
              <a:off x="2142667" y="1669766"/>
              <a:ext cx="2697476" cy="3917905"/>
            </a:xfrm>
            <a:prstGeom prst="triangle">
              <a:avLst>
                <a:gd name="adj" fmla="val 60048"/>
              </a:avLst>
            </a:prstGeom>
            <a:gradFill flip="none" rotWithShape="1">
              <a:gsLst>
                <a:gs pos="31000">
                  <a:srgbClr val="BA1C7F"/>
                </a:gs>
                <a:gs pos="100000">
                  <a:srgbClr val="FFFFFF"/>
                </a:gs>
              </a:gsLst>
              <a:lin ang="0" scaled="1"/>
              <a:tileRect/>
            </a:gra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2" name="Isosceles Triangle 21"/>
            <p:cNvSpPr/>
            <p:nvPr/>
          </p:nvSpPr>
          <p:spPr>
            <a:xfrm rot="1191330">
              <a:off x="649586" y="1518460"/>
              <a:ext cx="3036687" cy="4012156"/>
            </a:xfrm>
            <a:prstGeom prst="triangle">
              <a:avLst>
                <a:gd name="adj" fmla="val 56357"/>
              </a:avLst>
            </a:prstGeom>
            <a:gradFill flip="none" rotWithShape="1">
              <a:gsLst>
                <a:gs pos="40000">
                  <a:srgbClr val="BA1C7F"/>
                </a:gs>
                <a:gs pos="100000">
                  <a:srgbClr val="FFFFFF"/>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p>
          </p:txBody>
        </p:sp>
        <p:cxnSp>
          <p:nvCxnSpPr>
            <p:cNvPr id="23" name="Straight Connector 22"/>
            <p:cNvCxnSpPr>
              <a:stCxn id="21" idx="4"/>
              <a:endCxn id="21" idx="2"/>
            </p:cNvCxnSpPr>
            <p:nvPr/>
          </p:nvCxnSpPr>
          <p:spPr>
            <a:xfrm flipH="1">
              <a:off x="2927153" y="4980250"/>
              <a:ext cx="2521278" cy="95892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flipH="1">
              <a:off x="2919334" y="1709315"/>
              <a:ext cx="119931" cy="4213062"/>
            </a:xfrm>
            <a:prstGeom prst="line">
              <a:avLst/>
            </a:prstGeom>
            <a:ln>
              <a:solidFill>
                <a:srgbClr val="7B0965"/>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flipH="1">
              <a:off x="2966751" y="3140027"/>
              <a:ext cx="1150807" cy="398569"/>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1793236" y="3027615"/>
              <a:ext cx="1183097" cy="50428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a:stCxn id="21" idx="4"/>
              <a:endCxn id="30" idx="2"/>
            </p:cNvCxnSpPr>
            <p:nvPr/>
          </p:nvCxnSpPr>
          <p:spPr>
            <a:xfrm flipH="1" flipV="1">
              <a:off x="2946865" y="4136109"/>
              <a:ext cx="2501566" cy="844141"/>
            </a:xfrm>
            <a:prstGeom prst="line">
              <a:avLst/>
            </a:prstGeom>
            <a:ln>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a:stCxn id="22" idx="2"/>
            </p:cNvCxnSpPr>
            <p:nvPr/>
          </p:nvCxnSpPr>
          <p:spPr>
            <a:xfrm flipV="1">
              <a:off x="58485" y="4155234"/>
              <a:ext cx="2898647" cy="740421"/>
            </a:xfrm>
            <a:prstGeom prst="line">
              <a:avLst/>
            </a:prstGeom>
            <a:ln>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16371803" flipH="1">
              <a:off x="650100" y="3523026"/>
              <a:ext cx="1770275" cy="2860195"/>
            </a:xfrm>
            <a:prstGeom prst="triangle">
              <a:avLst/>
            </a:prstGeom>
            <a:solidFill>
              <a:schemeClr val="tx1">
                <a:lumMod val="65000"/>
                <a:lumOff val="3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p>
          </p:txBody>
        </p:sp>
        <p:sp>
          <p:nvSpPr>
            <p:cNvPr id="30" name="Isosceles Triangle 29"/>
            <p:cNvSpPr/>
            <p:nvPr/>
          </p:nvSpPr>
          <p:spPr>
            <a:xfrm rot="5400000">
              <a:off x="3273754" y="3809219"/>
              <a:ext cx="1783372" cy="2437151"/>
            </a:xfrm>
            <a:prstGeom prst="triangle">
              <a:avLst>
                <a:gd name="adj" fmla="val 47450"/>
              </a:avLst>
            </a:prstGeom>
            <a:solidFill>
              <a:schemeClr val="tx1">
                <a:lumMod val="65000"/>
                <a:lumOff val="3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1" name="Straight Connector 30"/>
            <p:cNvCxnSpPr/>
            <p:nvPr/>
          </p:nvCxnSpPr>
          <p:spPr>
            <a:xfrm flipH="1">
              <a:off x="2927153" y="4301387"/>
              <a:ext cx="2030875" cy="667161"/>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745110" y="4155234"/>
              <a:ext cx="2206167" cy="79925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50135" y="4875770"/>
              <a:ext cx="2868668" cy="1043520"/>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grpSp>
      <p:sp>
        <p:nvSpPr>
          <p:cNvPr id="34" name="TextBox 33"/>
          <p:cNvSpPr txBox="1"/>
          <p:nvPr/>
        </p:nvSpPr>
        <p:spPr>
          <a:xfrm>
            <a:off x="6011317" y="1423853"/>
            <a:ext cx="2897596" cy="2785378"/>
          </a:xfrm>
          <a:prstGeom prst="rect">
            <a:avLst/>
          </a:prstGeom>
          <a:noFill/>
        </p:spPr>
        <p:txBody>
          <a:bodyPr wrap="square" rtlCol="0">
            <a:spAutoFit/>
          </a:bodyPr>
          <a:lstStyle/>
          <a:p>
            <a:r>
              <a:rPr lang="en-US" sz="2000" dirty="0">
                <a:latin typeface="Franklin Gothic Medium" panose="020B0603020102020204" pitchFamily="34" charset="0"/>
                <a:cs typeface="Franklin Gothic Book"/>
              </a:rPr>
              <a:t>1 | Science &amp; Strategy</a:t>
            </a:r>
          </a:p>
          <a:p>
            <a:endParaRPr lang="en-US" sz="1600" dirty="0">
              <a:latin typeface="Franklin Gothic Medium" panose="020B0603020102020204" pitchFamily="34" charset="0"/>
              <a:cs typeface="Franklin Gothic Book"/>
            </a:endParaRPr>
          </a:p>
          <a:p>
            <a:r>
              <a:rPr lang="en-US" sz="1600" b="1" i="1" dirty="0">
                <a:latin typeface="Franklin Gothic Book" panose="020B0503020102020204" pitchFamily="34" charset="0"/>
                <a:cs typeface="Franklin Gothic Book"/>
              </a:rPr>
              <a:t>Who we hunt.   </a:t>
            </a:r>
          </a:p>
          <a:p>
            <a:r>
              <a:rPr lang="en-US" sz="1600" b="1" i="1" dirty="0">
                <a:latin typeface="Franklin Gothic Book" panose="020B0503020102020204" pitchFamily="34" charset="0"/>
                <a:cs typeface="Franklin Gothic Book"/>
              </a:rPr>
              <a:t>Who is the most profitable to hunt?</a:t>
            </a:r>
          </a:p>
          <a:p>
            <a:endParaRPr lang="en-US" sz="1200" dirty="0">
              <a:solidFill>
                <a:srgbClr val="000000"/>
              </a:solidFill>
              <a:latin typeface="Franklin Gothic Book" panose="020B0503020102020204" pitchFamily="34" charset="0"/>
              <a:cs typeface="Franklin Gothic Book"/>
            </a:endParaRPr>
          </a:p>
          <a:p>
            <a:r>
              <a:rPr lang="en-US" sz="1600" i="1" dirty="0">
                <a:solidFill>
                  <a:srgbClr val="000000"/>
                </a:solidFill>
                <a:latin typeface="Franklin Gothic Book" panose="020B0503020102020204" pitchFamily="34" charset="0"/>
                <a:cs typeface="Franklin Gothic Book"/>
              </a:rPr>
              <a:t>Asset: MPC Accelerator</a:t>
            </a:r>
          </a:p>
          <a:p>
            <a:r>
              <a:rPr lang="en-US" sz="1600" i="1" dirty="0">
                <a:solidFill>
                  <a:srgbClr val="000000"/>
                </a:solidFill>
                <a:latin typeface="Franklin Gothic Book" panose="020B0503020102020204" pitchFamily="34" charset="0"/>
                <a:cs typeface="Franklin Gothic Book"/>
              </a:rPr>
              <a:t>(Most Profitable Customer)</a:t>
            </a:r>
          </a:p>
          <a:p>
            <a:endParaRPr lang="en-US" sz="1600" i="1" dirty="0">
              <a:solidFill>
                <a:srgbClr val="000000"/>
              </a:solidFill>
              <a:latin typeface="Franklin Gothic Book" panose="020B0503020102020204" pitchFamily="34" charset="0"/>
              <a:cs typeface="Franklin Gothic Book"/>
            </a:endParaRPr>
          </a:p>
          <a:p>
            <a:endParaRPr lang="en-US" sz="1600" i="1" dirty="0">
              <a:solidFill>
                <a:srgbClr val="000000"/>
              </a:solidFill>
              <a:latin typeface="Franklin Gothic Book" panose="020B0503020102020204" pitchFamily="34" charset="0"/>
              <a:cs typeface="Franklin Gothic Book"/>
            </a:endParaRPr>
          </a:p>
          <a:p>
            <a:endParaRPr lang="en-US" sz="900" b="1" dirty="0">
              <a:solidFill>
                <a:srgbClr val="FF0000"/>
              </a:solidFill>
              <a:latin typeface="Franklin Gothic Book" panose="020B0503020102020204" pitchFamily="34" charset="0"/>
              <a:cs typeface="Franklin Gothic Book"/>
            </a:endParaRPr>
          </a:p>
        </p:txBody>
      </p:sp>
      <p:sp>
        <p:nvSpPr>
          <p:cNvPr id="35" name="TextBox 34"/>
          <p:cNvSpPr txBox="1"/>
          <p:nvPr/>
        </p:nvSpPr>
        <p:spPr>
          <a:xfrm>
            <a:off x="5793445" y="4139496"/>
            <a:ext cx="3385857" cy="2200602"/>
          </a:xfrm>
          <a:prstGeom prst="rect">
            <a:avLst/>
          </a:prstGeom>
          <a:noFill/>
        </p:spPr>
        <p:txBody>
          <a:bodyPr wrap="square" rtlCol="0">
            <a:spAutoFit/>
          </a:bodyPr>
          <a:lstStyle/>
          <a:p>
            <a:r>
              <a:rPr lang="en-US" sz="2000" dirty="0">
                <a:latin typeface="Franklin Gothic Medium" panose="020B0603020102020204" pitchFamily="34" charset="0"/>
                <a:cs typeface="Franklin Gothic Book"/>
              </a:rPr>
              <a:t>2 | Process  &amp; Customer Engagement</a:t>
            </a:r>
          </a:p>
          <a:p>
            <a:endParaRPr lang="en-US" sz="1200" dirty="0">
              <a:latin typeface="Franklin Gothic Medium" panose="020B0603020102020204" pitchFamily="34" charset="0"/>
              <a:cs typeface="Franklin Gothic Book"/>
            </a:endParaRPr>
          </a:p>
          <a:p>
            <a:r>
              <a:rPr lang="en-US" sz="1600" i="1" dirty="0">
                <a:latin typeface="Franklin Gothic Medium" panose="020B0603020102020204" pitchFamily="34" charset="0"/>
                <a:cs typeface="Franklin Gothic Book"/>
              </a:rPr>
              <a:t>How we hunt in Marketing, Sales &amp; Revenue Management</a:t>
            </a:r>
          </a:p>
          <a:p>
            <a:endParaRPr lang="en-US" sz="1200" dirty="0">
              <a:latin typeface="Franklin Gothic Medium" panose="020B0603020102020204" pitchFamily="34" charset="0"/>
              <a:cs typeface="Franklin Gothic Book"/>
            </a:endParaRPr>
          </a:p>
          <a:p>
            <a:r>
              <a:rPr lang="en-US" sz="1600" dirty="0">
                <a:latin typeface="Franklin Gothic Book" panose="020B0503020102020204" pitchFamily="34" charset="0"/>
                <a:cs typeface="Franklin Gothic Book"/>
              </a:rPr>
              <a:t>Installing new approach &amp; thinking that is relevant</a:t>
            </a:r>
          </a:p>
          <a:p>
            <a:endParaRPr lang="en-US" sz="900" dirty="0">
              <a:latin typeface="Franklin Gothic Book" panose="020B0503020102020204" pitchFamily="34" charset="0"/>
              <a:cs typeface="Franklin Gothic Book"/>
            </a:endParaRPr>
          </a:p>
        </p:txBody>
      </p:sp>
      <p:sp>
        <p:nvSpPr>
          <p:cNvPr id="36" name="TextBox 35"/>
          <p:cNvSpPr txBox="1"/>
          <p:nvPr/>
        </p:nvSpPr>
        <p:spPr>
          <a:xfrm>
            <a:off x="116296" y="4248181"/>
            <a:ext cx="3463486" cy="1800493"/>
          </a:xfrm>
          <a:prstGeom prst="rect">
            <a:avLst/>
          </a:prstGeom>
          <a:noFill/>
        </p:spPr>
        <p:txBody>
          <a:bodyPr wrap="square" rtlCol="0">
            <a:spAutoFit/>
          </a:bodyPr>
          <a:lstStyle/>
          <a:p>
            <a:r>
              <a:rPr lang="en-US" sz="2000" dirty="0">
                <a:latin typeface="Franklin Gothic Medium" panose="020B0603020102020204" pitchFamily="34" charset="0"/>
                <a:cs typeface="Franklin Gothic Book"/>
              </a:rPr>
              <a:t>3 | Art &amp; Talent Optimization</a:t>
            </a:r>
          </a:p>
          <a:p>
            <a:endParaRPr lang="en-US" dirty="0">
              <a:latin typeface="Franklin Gothic Medium" panose="020B0603020102020204" pitchFamily="34" charset="0"/>
              <a:cs typeface="Franklin Gothic Book"/>
            </a:endParaRPr>
          </a:p>
          <a:p>
            <a:r>
              <a:rPr lang="en-US" sz="1600" b="1" i="1" dirty="0">
                <a:latin typeface="Franklin Gothic Book" panose="020B0503020102020204" pitchFamily="34" charset="0"/>
                <a:cs typeface="Franklin Gothic Book"/>
              </a:rPr>
              <a:t>How to develop your team to being masters in their job.</a:t>
            </a:r>
          </a:p>
          <a:p>
            <a:endParaRPr lang="en-US" sz="1600" dirty="0">
              <a:solidFill>
                <a:srgbClr val="000000"/>
              </a:solidFill>
              <a:latin typeface="Franklin Gothic Book" panose="020B0503020102020204" pitchFamily="34" charset="0"/>
              <a:cs typeface="Franklin Gothic Book"/>
            </a:endParaRPr>
          </a:p>
          <a:p>
            <a:r>
              <a:rPr lang="en-US" sz="1600" i="1" dirty="0">
                <a:solidFill>
                  <a:srgbClr val="000000"/>
                </a:solidFill>
                <a:latin typeface="Franklin Gothic Book" panose="020B0503020102020204" pitchFamily="34" charset="0"/>
                <a:cs typeface="Franklin Gothic Book"/>
              </a:rPr>
              <a:t>Asset:  Talent Accelerator</a:t>
            </a:r>
          </a:p>
          <a:p>
            <a:endParaRPr lang="en-US" sz="900" dirty="0">
              <a:latin typeface="Franklin Gothic Book" panose="020B0503020102020204" pitchFamily="34" charset="0"/>
              <a:cs typeface="Franklin Gothic Book"/>
            </a:endParaRPr>
          </a:p>
        </p:txBody>
      </p:sp>
      <p:sp>
        <p:nvSpPr>
          <p:cNvPr id="37" name="TextBox 36"/>
          <p:cNvSpPr txBox="1"/>
          <p:nvPr/>
        </p:nvSpPr>
        <p:spPr>
          <a:xfrm>
            <a:off x="116296" y="1423853"/>
            <a:ext cx="3251695" cy="1877437"/>
          </a:xfrm>
          <a:prstGeom prst="rect">
            <a:avLst/>
          </a:prstGeom>
          <a:noFill/>
        </p:spPr>
        <p:txBody>
          <a:bodyPr wrap="square" rtlCol="0">
            <a:spAutoFit/>
          </a:bodyPr>
          <a:lstStyle/>
          <a:p>
            <a:r>
              <a:rPr lang="en-US" sz="2000" dirty="0">
                <a:latin typeface="Franklin Gothic Medium" panose="020B0603020102020204" pitchFamily="34" charset="0"/>
                <a:cs typeface="Franklin Gothic Book"/>
              </a:rPr>
              <a:t>4 | Revenue Performance &amp; Metrics</a:t>
            </a:r>
          </a:p>
          <a:p>
            <a:endParaRPr lang="en-US" sz="1400" dirty="0">
              <a:latin typeface="Franklin Gothic Medium" panose="020B0603020102020204" pitchFamily="34" charset="0"/>
              <a:cs typeface="Franklin Gothic Book"/>
            </a:endParaRPr>
          </a:p>
          <a:p>
            <a:r>
              <a:rPr lang="en-US" sz="1600" i="1" dirty="0">
                <a:latin typeface="Franklin Gothic Medium" panose="020B0603020102020204" pitchFamily="34" charset="0"/>
                <a:cs typeface="Franklin Gothic Book"/>
              </a:rPr>
              <a:t>How we measure real performance</a:t>
            </a:r>
          </a:p>
          <a:p>
            <a:endParaRPr lang="en-US" sz="1400" dirty="0">
              <a:latin typeface="Franklin Gothic Medium" panose="020B0603020102020204" pitchFamily="34" charset="0"/>
              <a:cs typeface="Franklin Gothic Book"/>
            </a:endParaRPr>
          </a:p>
          <a:p>
            <a:r>
              <a:rPr lang="en-US" sz="1600" dirty="0">
                <a:latin typeface="Franklin Gothic Book" panose="020B0503020102020204" pitchFamily="34" charset="0"/>
                <a:cs typeface="Franklin Gothic Book"/>
              </a:rPr>
              <a:t>Performance that focuses on results vs. activity</a:t>
            </a:r>
          </a:p>
        </p:txBody>
      </p:sp>
      <p:sp>
        <p:nvSpPr>
          <p:cNvPr id="38" name="Title 4"/>
          <p:cNvSpPr txBox="1">
            <a:spLocks/>
          </p:cNvSpPr>
          <p:nvPr/>
        </p:nvSpPr>
        <p:spPr>
          <a:xfrm>
            <a:off x="1304551" y="74783"/>
            <a:ext cx="7839449" cy="795970"/>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baseline="0">
                <a:solidFill>
                  <a:schemeClr val="tx1"/>
                </a:solidFill>
                <a:latin typeface="Times New Roman"/>
                <a:ea typeface="+mj-ea"/>
                <a:cs typeface="Times New Roman"/>
              </a:defRPr>
            </a:lvl1pPr>
          </a:lstStyle>
          <a:p>
            <a:r>
              <a:rPr lang="en-US" sz="3200" b="0" dirty="0">
                <a:latin typeface="Franklin Gothic Book"/>
                <a:cs typeface="Franklin Gothic Book"/>
              </a:rPr>
              <a:t>Performance Path                         </a:t>
            </a:r>
            <a:r>
              <a:rPr lang="en-US" sz="2400" b="0" i="1" dirty="0">
                <a:latin typeface="Franklin Gothic Book"/>
                <a:cs typeface="Franklin Gothic Book"/>
              </a:rPr>
              <a:t>How we do it</a:t>
            </a:r>
            <a:br>
              <a:rPr lang="en-US" sz="3200" b="0" dirty="0">
                <a:latin typeface="Franklin Gothic Book"/>
                <a:cs typeface="Franklin Gothic Book"/>
              </a:rPr>
            </a:br>
            <a:r>
              <a:rPr lang="en-US" sz="3200" dirty="0">
                <a:latin typeface="Franklin Gothic Book"/>
                <a:cs typeface="Franklin Gothic Book"/>
              </a:rPr>
              <a:t>  	</a:t>
            </a:r>
          </a:p>
        </p:txBody>
      </p:sp>
      <p:sp>
        <p:nvSpPr>
          <p:cNvPr id="39" name="Slide Number Placeholder 3">
            <a:extLst>
              <a:ext uri="{FF2B5EF4-FFF2-40B4-BE49-F238E27FC236}">
                <a16:creationId xmlns:a16="http://schemas.microsoft.com/office/drawing/2014/main" id="{80265094-D7BC-2E4C-B992-1261837C864E}"/>
              </a:ext>
            </a:extLst>
          </p:cNvPr>
          <p:cNvSpPr txBox="1">
            <a:spLocks/>
          </p:cNvSpPr>
          <p:nvPr/>
        </p:nvSpPr>
        <p:spPr>
          <a:xfrm>
            <a:off x="8716947" y="7393675"/>
            <a:ext cx="42705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latin typeface="Franklin Gothic Medium" panose="020B0603020102020204" pitchFamily="34" charset="0"/>
              </a:rPr>
              <a:t>12</a:t>
            </a:r>
          </a:p>
        </p:txBody>
      </p:sp>
    </p:spTree>
    <p:extLst>
      <p:ext uri="{BB962C8B-B14F-4D97-AF65-F5344CB8AC3E}">
        <p14:creationId xmlns:p14="http://schemas.microsoft.com/office/powerpoint/2010/main" val="1733416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0" y="914400"/>
            <a:ext cx="9144000" cy="59436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6" name="Title 2"/>
          <p:cNvSpPr txBox="1">
            <a:spLocks/>
          </p:cNvSpPr>
          <p:nvPr/>
        </p:nvSpPr>
        <p:spPr>
          <a:xfrm>
            <a:off x="1436512" y="152400"/>
            <a:ext cx="7478888" cy="7620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000" b="1" kern="1200" baseline="0">
                <a:solidFill>
                  <a:schemeClr val="tx1"/>
                </a:solidFill>
                <a:latin typeface="Times New Roman"/>
                <a:ea typeface="+mj-ea"/>
                <a:cs typeface="Times New Roman"/>
              </a:defRPr>
            </a:lvl1pPr>
          </a:lstStyle>
          <a:p>
            <a:r>
              <a:rPr lang="en-US" sz="3200" b="0" dirty="0">
                <a:latin typeface="Franklin Gothic Book"/>
                <a:cs typeface="Franklin Gothic Book"/>
              </a:rPr>
              <a:t>Performance Path                        </a:t>
            </a:r>
            <a:r>
              <a:rPr lang="en-US" sz="2400" b="0" i="1" dirty="0">
                <a:latin typeface="Franklin Gothic Book"/>
                <a:cs typeface="Franklin Gothic Book"/>
              </a:rPr>
              <a:t>Why it works</a:t>
            </a:r>
            <a:r>
              <a:rPr lang="en-US" sz="3200" b="0" dirty="0">
                <a:latin typeface="Franklin Gothic Book"/>
                <a:cs typeface="Franklin Gothic Book"/>
              </a:rPr>
              <a:t>   </a:t>
            </a:r>
          </a:p>
        </p:txBody>
      </p:sp>
      <p:sp>
        <p:nvSpPr>
          <p:cNvPr id="19" name="Rectangle 18"/>
          <p:cNvSpPr/>
          <p:nvPr/>
        </p:nvSpPr>
        <p:spPr>
          <a:xfrm>
            <a:off x="2992475" y="2376098"/>
            <a:ext cx="5982421" cy="1294421"/>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 name="Rectangle 19"/>
          <p:cNvSpPr/>
          <p:nvPr/>
        </p:nvSpPr>
        <p:spPr>
          <a:xfrm>
            <a:off x="3682791" y="3663507"/>
            <a:ext cx="5288097" cy="1226213"/>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Rectangle 20"/>
          <p:cNvSpPr/>
          <p:nvPr/>
        </p:nvSpPr>
        <p:spPr>
          <a:xfrm>
            <a:off x="2868536" y="4873039"/>
            <a:ext cx="6102353" cy="1616880"/>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22" name="Group 21"/>
          <p:cNvGrpSpPr/>
          <p:nvPr/>
        </p:nvGrpSpPr>
        <p:grpSpPr>
          <a:xfrm>
            <a:off x="83799" y="2190478"/>
            <a:ext cx="5250203" cy="4299440"/>
            <a:chOff x="50135" y="1518460"/>
            <a:chExt cx="5398296" cy="4420715"/>
          </a:xfrm>
        </p:grpSpPr>
        <p:sp>
          <p:nvSpPr>
            <p:cNvPr id="23" name="Isosceles Triangle 22"/>
            <p:cNvSpPr/>
            <p:nvPr/>
          </p:nvSpPr>
          <p:spPr>
            <a:xfrm rot="20350593">
              <a:off x="2142667" y="1669766"/>
              <a:ext cx="2697476" cy="3917905"/>
            </a:xfrm>
            <a:prstGeom prst="triangle">
              <a:avLst>
                <a:gd name="adj" fmla="val 60048"/>
              </a:avLst>
            </a:prstGeom>
            <a:gradFill flip="none" rotWithShape="1">
              <a:gsLst>
                <a:gs pos="31000">
                  <a:srgbClr val="BA1C7F"/>
                </a:gs>
                <a:gs pos="100000">
                  <a:srgbClr val="FFFFFF"/>
                </a:gs>
              </a:gsLst>
              <a:lin ang="0" scaled="1"/>
              <a:tileRect/>
            </a:gra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Isosceles Triangle 23"/>
            <p:cNvSpPr/>
            <p:nvPr/>
          </p:nvSpPr>
          <p:spPr>
            <a:xfrm rot="1191330">
              <a:off x="649586" y="1518460"/>
              <a:ext cx="3036687" cy="4012156"/>
            </a:xfrm>
            <a:prstGeom prst="triangle">
              <a:avLst>
                <a:gd name="adj" fmla="val 56357"/>
              </a:avLst>
            </a:prstGeom>
            <a:gradFill flip="none" rotWithShape="1">
              <a:gsLst>
                <a:gs pos="40000">
                  <a:srgbClr val="BA1C7F"/>
                </a:gs>
                <a:gs pos="100000">
                  <a:srgbClr val="FFFFFF"/>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p>
          </p:txBody>
        </p:sp>
        <p:cxnSp>
          <p:nvCxnSpPr>
            <p:cNvPr id="25" name="Straight Connector 24"/>
            <p:cNvCxnSpPr>
              <a:stCxn id="23" idx="4"/>
              <a:endCxn id="23" idx="2"/>
            </p:cNvCxnSpPr>
            <p:nvPr/>
          </p:nvCxnSpPr>
          <p:spPr>
            <a:xfrm flipH="1">
              <a:off x="2927153" y="4980250"/>
              <a:ext cx="2521278" cy="95892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flipH="1">
              <a:off x="2919334" y="1709315"/>
              <a:ext cx="119931" cy="4213062"/>
            </a:xfrm>
            <a:prstGeom prst="line">
              <a:avLst/>
            </a:prstGeom>
            <a:ln>
              <a:solidFill>
                <a:srgbClr val="7B0965"/>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flipH="1">
              <a:off x="2966751" y="3140027"/>
              <a:ext cx="1150807" cy="398569"/>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1793236" y="3027615"/>
              <a:ext cx="1183097" cy="50428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a:stCxn id="23" idx="4"/>
              <a:endCxn id="32" idx="2"/>
            </p:cNvCxnSpPr>
            <p:nvPr/>
          </p:nvCxnSpPr>
          <p:spPr>
            <a:xfrm flipH="1" flipV="1">
              <a:off x="2946865" y="4136109"/>
              <a:ext cx="2501566" cy="844141"/>
            </a:xfrm>
            <a:prstGeom prst="line">
              <a:avLst/>
            </a:prstGeom>
            <a:ln>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p:cNvCxnSpPr>
              <a:stCxn id="24" idx="2"/>
            </p:cNvCxnSpPr>
            <p:nvPr/>
          </p:nvCxnSpPr>
          <p:spPr>
            <a:xfrm flipV="1">
              <a:off x="58485" y="4155234"/>
              <a:ext cx="2898647" cy="740421"/>
            </a:xfrm>
            <a:prstGeom prst="line">
              <a:avLst/>
            </a:prstGeom>
            <a:ln>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16371803" flipH="1">
              <a:off x="650100" y="3523026"/>
              <a:ext cx="1770275" cy="2860195"/>
            </a:xfrm>
            <a:prstGeom prst="triangle">
              <a:avLst/>
            </a:prstGeom>
            <a:solidFill>
              <a:schemeClr val="tx1">
                <a:lumMod val="65000"/>
                <a:lumOff val="3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dirty="0"/>
            </a:p>
          </p:txBody>
        </p:sp>
        <p:sp>
          <p:nvSpPr>
            <p:cNvPr id="32" name="Isosceles Triangle 31"/>
            <p:cNvSpPr/>
            <p:nvPr/>
          </p:nvSpPr>
          <p:spPr>
            <a:xfrm rot="5400000">
              <a:off x="3273754" y="3809219"/>
              <a:ext cx="1783372" cy="2437151"/>
            </a:xfrm>
            <a:prstGeom prst="triangle">
              <a:avLst>
                <a:gd name="adj" fmla="val 47450"/>
              </a:avLst>
            </a:prstGeom>
            <a:solidFill>
              <a:schemeClr val="tx1">
                <a:lumMod val="65000"/>
                <a:lumOff val="35000"/>
                <a:alpha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3" name="Straight Connector 32"/>
            <p:cNvCxnSpPr/>
            <p:nvPr/>
          </p:nvCxnSpPr>
          <p:spPr>
            <a:xfrm flipH="1">
              <a:off x="2927153" y="4301387"/>
              <a:ext cx="2030875" cy="667161"/>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745110" y="4155234"/>
              <a:ext cx="2206167" cy="799255"/>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50135" y="4875770"/>
              <a:ext cx="2868668" cy="1043520"/>
            </a:xfrm>
            <a:prstGeom prst="line">
              <a:avLst/>
            </a:prstGeom>
            <a:ln>
              <a:solidFill>
                <a:srgbClr val="7B0965"/>
              </a:solidFill>
            </a:ln>
          </p:spPr>
          <p:style>
            <a:lnRef idx="2">
              <a:schemeClr val="accent1"/>
            </a:lnRef>
            <a:fillRef idx="0">
              <a:schemeClr val="accent1"/>
            </a:fillRef>
            <a:effectRef idx="1">
              <a:schemeClr val="accent1"/>
            </a:effectRef>
            <a:fontRef idx="minor">
              <a:schemeClr val="tx1"/>
            </a:fontRef>
          </p:style>
        </p:cxnSp>
      </p:grpSp>
      <p:sp>
        <p:nvSpPr>
          <p:cNvPr id="36" name="TextBox 35"/>
          <p:cNvSpPr txBox="1"/>
          <p:nvPr/>
        </p:nvSpPr>
        <p:spPr>
          <a:xfrm>
            <a:off x="5641475" y="5293128"/>
            <a:ext cx="3279006" cy="954107"/>
          </a:xfrm>
          <a:prstGeom prst="rect">
            <a:avLst/>
          </a:prstGeom>
          <a:noFill/>
        </p:spPr>
        <p:txBody>
          <a:bodyPr wrap="square" rtlCol="0">
            <a:spAutoFit/>
          </a:bodyPr>
          <a:lstStyle/>
          <a:p>
            <a:endParaRPr lang="en-US" sz="1400" b="1" dirty="0">
              <a:latin typeface="Franklin Gothic Book" panose="020B0503020102020204" pitchFamily="34" charset="0"/>
              <a:cs typeface="Franklin Gothic Medium"/>
            </a:endParaRPr>
          </a:p>
          <a:p>
            <a:r>
              <a:rPr lang="en-US" sz="1400" b="1" dirty="0">
                <a:latin typeface="Franklin Gothic Book" panose="020B0503020102020204" pitchFamily="34" charset="0"/>
                <a:cs typeface="Franklin Gothic Medium"/>
              </a:rPr>
              <a:t>Build the new way to work so they know exactly what to do and when.</a:t>
            </a:r>
          </a:p>
          <a:p>
            <a:endParaRPr lang="en-US" sz="1400" dirty="0">
              <a:latin typeface="Franklin Gothic Book" panose="020B0503020102020204" pitchFamily="34" charset="0"/>
              <a:cs typeface="Avenir Medium"/>
            </a:endParaRPr>
          </a:p>
        </p:txBody>
      </p:sp>
      <p:sp>
        <p:nvSpPr>
          <p:cNvPr id="37" name="TextBox 36"/>
          <p:cNvSpPr txBox="1"/>
          <p:nvPr/>
        </p:nvSpPr>
        <p:spPr>
          <a:xfrm>
            <a:off x="5427225" y="4920735"/>
            <a:ext cx="3815138" cy="707886"/>
          </a:xfrm>
          <a:prstGeom prst="rect">
            <a:avLst/>
          </a:prstGeom>
          <a:noFill/>
        </p:spPr>
        <p:txBody>
          <a:bodyPr wrap="square" rtlCol="0">
            <a:spAutoFit/>
          </a:bodyPr>
          <a:lstStyle/>
          <a:p>
            <a:r>
              <a:rPr lang="en-US" sz="2400" dirty="0">
                <a:solidFill>
                  <a:schemeClr val="bg1"/>
                </a:solidFill>
                <a:latin typeface="Franklin Gothic Medium" panose="020B0603020102020204" pitchFamily="34" charset="0"/>
                <a:cs typeface="Avenir Medium"/>
              </a:rPr>
              <a:t>1. Foundation:</a:t>
            </a:r>
          </a:p>
          <a:p>
            <a:r>
              <a:rPr lang="en-US" sz="1600" dirty="0">
                <a:solidFill>
                  <a:schemeClr val="bg1"/>
                </a:solidFill>
                <a:latin typeface="Avenir Medium"/>
                <a:cs typeface="Avenir Medium"/>
              </a:rPr>
              <a:t> </a:t>
            </a:r>
          </a:p>
        </p:txBody>
      </p:sp>
      <p:sp>
        <p:nvSpPr>
          <p:cNvPr id="38" name="TextBox 37"/>
          <p:cNvSpPr txBox="1"/>
          <p:nvPr/>
        </p:nvSpPr>
        <p:spPr>
          <a:xfrm>
            <a:off x="4203192" y="3594214"/>
            <a:ext cx="3583642" cy="677108"/>
          </a:xfrm>
          <a:prstGeom prst="rect">
            <a:avLst/>
          </a:prstGeom>
          <a:noFill/>
        </p:spPr>
        <p:txBody>
          <a:bodyPr wrap="square" rtlCol="0">
            <a:spAutoFit/>
          </a:bodyPr>
          <a:lstStyle/>
          <a:p>
            <a:r>
              <a:rPr lang="en-US" sz="2400" dirty="0">
                <a:solidFill>
                  <a:srgbClr val="FFFFFF"/>
                </a:solidFill>
                <a:latin typeface="Franklin Gothic Medium" panose="020B0603020102020204" pitchFamily="34" charset="0"/>
                <a:cs typeface="Avenir Medium"/>
              </a:rPr>
              <a:t>2. Framework:</a:t>
            </a:r>
          </a:p>
          <a:p>
            <a:r>
              <a:rPr lang="en-US" sz="1400" b="1" dirty="0">
                <a:latin typeface="Avenir Medium"/>
                <a:cs typeface="Avenir Medium"/>
              </a:rPr>
              <a:t> </a:t>
            </a:r>
          </a:p>
        </p:txBody>
      </p:sp>
      <p:sp>
        <p:nvSpPr>
          <p:cNvPr id="39" name="TextBox 38"/>
          <p:cNvSpPr txBox="1"/>
          <p:nvPr/>
        </p:nvSpPr>
        <p:spPr>
          <a:xfrm>
            <a:off x="3556000" y="2376097"/>
            <a:ext cx="3005370" cy="677108"/>
          </a:xfrm>
          <a:prstGeom prst="rect">
            <a:avLst/>
          </a:prstGeom>
          <a:noFill/>
        </p:spPr>
        <p:txBody>
          <a:bodyPr wrap="square" rtlCol="0">
            <a:spAutoFit/>
          </a:bodyPr>
          <a:lstStyle/>
          <a:p>
            <a:r>
              <a:rPr lang="en-US" sz="2400" dirty="0">
                <a:solidFill>
                  <a:srgbClr val="FFFFFF"/>
                </a:solidFill>
                <a:latin typeface="Franklin Gothic Medium" panose="020B0603020102020204" pitchFamily="34" charset="0"/>
                <a:cs typeface="Avenir Medium"/>
              </a:rPr>
              <a:t>3. Focus:</a:t>
            </a:r>
          </a:p>
          <a:p>
            <a:r>
              <a:rPr lang="en-US" sz="1400" b="1" dirty="0">
                <a:latin typeface="Avenir Medium"/>
                <a:cs typeface="Avenir Medium"/>
              </a:rPr>
              <a:t> </a:t>
            </a:r>
          </a:p>
        </p:txBody>
      </p:sp>
      <p:sp>
        <p:nvSpPr>
          <p:cNvPr id="40" name="TextBox 39"/>
          <p:cNvSpPr txBox="1"/>
          <p:nvPr/>
        </p:nvSpPr>
        <p:spPr>
          <a:xfrm>
            <a:off x="4695038" y="3983150"/>
            <a:ext cx="4362406" cy="861774"/>
          </a:xfrm>
          <a:prstGeom prst="rect">
            <a:avLst/>
          </a:prstGeom>
          <a:noFill/>
        </p:spPr>
        <p:txBody>
          <a:bodyPr wrap="square" rtlCol="0">
            <a:spAutoFit/>
          </a:bodyPr>
          <a:lstStyle/>
          <a:p>
            <a:r>
              <a:rPr lang="en-US" sz="1400" b="1" dirty="0">
                <a:latin typeface="Franklin Gothic Book" panose="020B0503020102020204" pitchFamily="34" charset="0"/>
                <a:cs typeface="Franklin Gothic Book"/>
              </a:rPr>
              <a:t>Build the tools and Resources to help teams to a sustain a new way of thinking </a:t>
            </a:r>
          </a:p>
          <a:p>
            <a:endParaRPr lang="en-US" sz="800" b="1" dirty="0">
              <a:latin typeface="Franklin Gothic Book"/>
              <a:cs typeface="Franklin Gothic Medium"/>
            </a:endParaRPr>
          </a:p>
          <a:p>
            <a:r>
              <a:rPr lang="en-US" sz="1400" b="1" dirty="0">
                <a:latin typeface="Franklin Gothic Medium"/>
                <a:cs typeface="Franklin Gothic Medium"/>
              </a:rPr>
              <a:t>                        The uncommon becomes habit.</a:t>
            </a:r>
          </a:p>
        </p:txBody>
      </p:sp>
      <p:sp>
        <p:nvSpPr>
          <p:cNvPr id="41" name="TextBox 40"/>
          <p:cNvSpPr txBox="1"/>
          <p:nvPr/>
        </p:nvSpPr>
        <p:spPr>
          <a:xfrm>
            <a:off x="4039640" y="2821711"/>
            <a:ext cx="4902200" cy="738664"/>
          </a:xfrm>
          <a:prstGeom prst="rect">
            <a:avLst/>
          </a:prstGeom>
          <a:noFill/>
        </p:spPr>
        <p:txBody>
          <a:bodyPr wrap="square" rtlCol="0">
            <a:spAutoFit/>
          </a:bodyPr>
          <a:lstStyle/>
          <a:p>
            <a:r>
              <a:rPr lang="en-US" sz="1400" dirty="0">
                <a:latin typeface="Franklin Gothic Medium" panose="020B0603020102020204" pitchFamily="34" charset="0"/>
                <a:cs typeface="Franklin Gothic Book"/>
              </a:rPr>
              <a:t>Accountability on the right foundation</a:t>
            </a:r>
          </a:p>
          <a:p>
            <a:r>
              <a:rPr lang="en-US" sz="1400" b="1" dirty="0">
                <a:latin typeface="Franklin Gothic Book"/>
                <a:cs typeface="Franklin Gothic Medium"/>
              </a:rPr>
              <a:t>  </a:t>
            </a:r>
          </a:p>
          <a:p>
            <a:r>
              <a:rPr lang="en-US" sz="1400" b="1" dirty="0">
                <a:latin typeface="Franklin Gothic Medium"/>
                <a:cs typeface="Franklin Gothic Medium"/>
              </a:rPr>
              <a:t>             Repeatable Results</a:t>
            </a:r>
            <a:r>
              <a:rPr lang="en-US" sz="1400" b="1" dirty="0">
                <a:latin typeface="Franklin Gothic Book"/>
                <a:cs typeface="Franklin Gothic Book"/>
              </a:rPr>
              <a:t>.</a:t>
            </a:r>
          </a:p>
        </p:txBody>
      </p:sp>
      <p:sp>
        <p:nvSpPr>
          <p:cNvPr id="42" name="Content Placeholder 5"/>
          <p:cNvSpPr txBox="1">
            <a:spLocks/>
          </p:cNvSpPr>
          <p:nvPr/>
        </p:nvSpPr>
        <p:spPr>
          <a:xfrm>
            <a:off x="427913" y="1345865"/>
            <a:ext cx="8610600" cy="82594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lumMod val="75000"/>
                    <a:lumOff val="25000"/>
                  </a:schemeClr>
                </a:solidFill>
                <a:latin typeface="Franklin Gothic Book"/>
                <a:ea typeface="+mn-ea"/>
                <a:cs typeface="+mn-cs"/>
              </a:defRPr>
            </a:lvl1pPr>
            <a:lvl2pPr marL="742950" indent="-285750" algn="l" defTabSz="457200" rtl="0" eaLnBrk="1" latinLnBrk="0" hangingPunct="1">
              <a:spcBef>
                <a:spcPct val="20000"/>
              </a:spcBef>
              <a:buFont typeface="Arial"/>
              <a:buChar char="–"/>
              <a:defRPr sz="2800" kern="1200">
                <a:solidFill>
                  <a:schemeClr val="tx1">
                    <a:lumMod val="75000"/>
                    <a:lumOff val="25000"/>
                  </a:schemeClr>
                </a:solidFill>
                <a:latin typeface="Franklin Gothic Book"/>
                <a:ea typeface="+mn-ea"/>
                <a:cs typeface="+mn-cs"/>
              </a:defRPr>
            </a:lvl2pPr>
            <a:lvl3pPr marL="1143000" indent="-228600" algn="l" defTabSz="457200" rtl="0" eaLnBrk="1" latinLnBrk="0" hangingPunct="1">
              <a:spcBef>
                <a:spcPct val="20000"/>
              </a:spcBef>
              <a:buFont typeface="Arial"/>
              <a:buChar char="•"/>
              <a:defRPr sz="2400" kern="1200">
                <a:solidFill>
                  <a:schemeClr val="tx1">
                    <a:lumMod val="75000"/>
                    <a:lumOff val="25000"/>
                  </a:schemeClr>
                </a:solidFill>
                <a:latin typeface="Franklin Gothic Book"/>
                <a:ea typeface="+mn-ea"/>
                <a:cs typeface="+mn-cs"/>
              </a:defRPr>
            </a:lvl3pPr>
            <a:lvl4pPr marL="1600200" indent="-228600" algn="l" defTabSz="457200" rtl="0" eaLnBrk="1" latinLnBrk="0" hangingPunct="1">
              <a:spcBef>
                <a:spcPct val="20000"/>
              </a:spcBef>
              <a:buFont typeface="Arial"/>
              <a:buChar char="–"/>
              <a:defRPr sz="2000" kern="1200">
                <a:solidFill>
                  <a:schemeClr val="tx1">
                    <a:lumMod val="75000"/>
                    <a:lumOff val="25000"/>
                  </a:schemeClr>
                </a:solidFill>
                <a:latin typeface="Franklin Gothic Book"/>
                <a:ea typeface="+mn-ea"/>
                <a:cs typeface="+mn-cs"/>
              </a:defRPr>
            </a:lvl4pPr>
            <a:lvl5pPr marL="2057400" indent="-228600" algn="l" defTabSz="457200" rtl="0" eaLnBrk="1" latinLnBrk="0" hangingPunct="1">
              <a:spcBef>
                <a:spcPct val="20000"/>
              </a:spcBef>
              <a:buFont typeface="Arial"/>
              <a:buChar char="»"/>
              <a:defRPr sz="2000" kern="1200">
                <a:solidFill>
                  <a:schemeClr val="tx1">
                    <a:lumMod val="75000"/>
                    <a:lumOff val="25000"/>
                  </a:schemeClr>
                </a:solidFill>
                <a:latin typeface="Franklin Gothic 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pPr>
            <a:r>
              <a:rPr lang="en-US" sz="1900" dirty="0">
                <a:solidFill>
                  <a:schemeClr val="tx1"/>
                </a:solidFill>
                <a:latin typeface="Franklin Gothic Book" panose="020B0503020102020204" pitchFamily="34" charset="0"/>
                <a:ea typeface="Franklin Gothic Book"/>
                <a:cs typeface="Franklin Gothic Book"/>
              </a:rPr>
              <a:t>Having a strategic and disciplined path  that equips the ability to pivot within marketplace shifts:</a:t>
            </a:r>
            <a:r>
              <a:rPr lang="en-US" sz="1900" dirty="0">
                <a:latin typeface="Franklin Gothic Book" panose="020B0503020102020204" pitchFamily="34" charset="0"/>
                <a:ea typeface="Franklin Gothic Book"/>
                <a:cs typeface="Franklin Gothic Book"/>
              </a:rPr>
              <a:t> </a:t>
            </a:r>
          </a:p>
          <a:p>
            <a:pPr marL="0" indent="0">
              <a:spcBef>
                <a:spcPts val="0"/>
              </a:spcBef>
              <a:buNone/>
            </a:pPr>
            <a:endParaRPr lang="en-US" sz="1900" dirty="0">
              <a:latin typeface="Franklin Gothic Book" panose="020B0503020102020204" pitchFamily="34" charset="0"/>
              <a:ea typeface="Franklin Gothic Book"/>
              <a:cs typeface="Franklin Gothic Book"/>
            </a:endParaRPr>
          </a:p>
          <a:p>
            <a:pPr marL="0" indent="0">
              <a:spcBef>
                <a:spcPts val="0"/>
              </a:spcBef>
              <a:buNone/>
            </a:pPr>
            <a:endParaRPr lang="en-US" sz="1900" dirty="0">
              <a:latin typeface="Franklin Gothic Book" panose="020B0503020102020204" pitchFamily="34" charset="0"/>
              <a:ea typeface="Franklin Gothic Book"/>
              <a:cs typeface="Franklin Gothic Book"/>
            </a:endParaRPr>
          </a:p>
          <a:p>
            <a:pPr marL="0" indent="0">
              <a:spcBef>
                <a:spcPts val="0"/>
              </a:spcBef>
              <a:buNone/>
            </a:pPr>
            <a:endParaRPr lang="en-US" sz="1900" dirty="0">
              <a:latin typeface="Franklin Gothic Book" panose="020B0503020102020204" pitchFamily="34" charset="0"/>
            </a:endParaRPr>
          </a:p>
        </p:txBody>
      </p:sp>
      <p:sp>
        <p:nvSpPr>
          <p:cNvPr id="44" name="Slide Number Placeholder 3">
            <a:extLst>
              <a:ext uri="{FF2B5EF4-FFF2-40B4-BE49-F238E27FC236}">
                <a16:creationId xmlns:a16="http://schemas.microsoft.com/office/drawing/2014/main" id="{547D835F-45E1-5A4D-9D6D-B0BF3699C232}"/>
              </a:ext>
            </a:extLst>
          </p:cNvPr>
          <p:cNvSpPr txBox="1">
            <a:spLocks/>
          </p:cNvSpPr>
          <p:nvPr/>
        </p:nvSpPr>
        <p:spPr>
          <a:xfrm>
            <a:off x="8429363" y="7465293"/>
            <a:ext cx="82060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dirty="0">
                <a:latin typeface="Franklin Gothic Medium" panose="020B0603020102020204" pitchFamily="34" charset="0"/>
              </a:rPr>
              <a:t>13</a:t>
            </a:r>
          </a:p>
        </p:txBody>
      </p:sp>
    </p:spTree>
    <p:extLst>
      <p:ext uri="{BB962C8B-B14F-4D97-AF65-F5344CB8AC3E}">
        <p14:creationId xmlns:p14="http://schemas.microsoft.com/office/powerpoint/2010/main" val="319738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85800" y="7266357"/>
            <a:ext cx="1498433" cy="222484"/>
          </a:xfrm>
          <a:prstGeom prst="rect">
            <a:avLst/>
          </a:prstGeom>
          <a:noFill/>
        </p:spPr>
        <p:txBody>
          <a:bodyPr wrap="none" lIns="98413" tIns="49206" rIns="98413" bIns="49206" rtlCol="0">
            <a:spAutoFit/>
          </a:bodyPr>
          <a:lstStyle/>
          <a:p>
            <a:pPr defTabSz="984124"/>
            <a:r>
              <a:rPr lang="en-US" sz="800">
                <a:solidFill>
                  <a:prstClr val="white">
                    <a:lumMod val="65000"/>
                  </a:prstClr>
                </a:solidFill>
                <a:latin typeface="Century Gothic" charset="0"/>
                <a:ea typeface="Century Gothic" charset="0"/>
                <a:cs typeface="Century Gothic" charset="0"/>
              </a:rPr>
              <a:t>© 2016, The Summit Group</a:t>
            </a:r>
          </a:p>
        </p:txBody>
      </p:sp>
      <p:pic>
        <p:nvPicPr>
          <p:cNvPr id="22" name="Picture 21"/>
          <p:cNvPicPr>
            <a:picLocks noChangeAspect="1"/>
          </p:cNvPicPr>
          <p:nvPr/>
        </p:nvPicPr>
        <p:blipFill>
          <a:blip r:embed="rId2" cstate="print"/>
          <a:stretch>
            <a:fillRect/>
          </a:stretch>
        </p:blipFill>
        <p:spPr>
          <a:xfrm>
            <a:off x="3898900" y="1211867"/>
            <a:ext cx="2057400" cy="274320"/>
          </a:xfrm>
          <a:prstGeom prst="rect">
            <a:avLst/>
          </a:prstGeom>
        </p:spPr>
      </p:pic>
      <p:pic>
        <p:nvPicPr>
          <p:cNvPr id="23" name="Picture 22"/>
          <p:cNvPicPr>
            <a:picLocks noChangeAspect="1"/>
          </p:cNvPicPr>
          <p:nvPr/>
        </p:nvPicPr>
        <p:blipFill>
          <a:blip r:embed="rId3" cstate="print"/>
          <a:stretch>
            <a:fillRect/>
          </a:stretch>
        </p:blipFill>
        <p:spPr>
          <a:xfrm>
            <a:off x="6400800" y="3581400"/>
            <a:ext cx="2189364" cy="966582"/>
          </a:xfrm>
          <a:prstGeom prst="rect">
            <a:avLst/>
          </a:prstGeom>
        </p:spPr>
      </p:pic>
      <p:pic>
        <p:nvPicPr>
          <p:cNvPr id="24" name="Picture 23"/>
          <p:cNvPicPr>
            <a:picLocks noChangeAspect="1"/>
          </p:cNvPicPr>
          <p:nvPr/>
        </p:nvPicPr>
        <p:blipFill>
          <a:blip r:embed="rId4" cstate="print"/>
          <a:stretch>
            <a:fillRect/>
          </a:stretch>
        </p:blipFill>
        <p:spPr>
          <a:xfrm>
            <a:off x="5853008" y="5026574"/>
            <a:ext cx="1828800" cy="640080"/>
          </a:xfrm>
          <a:prstGeom prst="rect">
            <a:avLst/>
          </a:prstGeom>
        </p:spPr>
      </p:pic>
      <p:grpSp>
        <p:nvGrpSpPr>
          <p:cNvPr id="33" name="Group 32"/>
          <p:cNvGrpSpPr/>
          <p:nvPr/>
        </p:nvGrpSpPr>
        <p:grpSpPr>
          <a:xfrm>
            <a:off x="1290537" y="3541246"/>
            <a:ext cx="2003425" cy="990600"/>
            <a:chOff x="511175" y="5188075"/>
            <a:chExt cx="2359024" cy="1125538"/>
          </a:xfrm>
          <a:effectLst/>
        </p:grpSpPr>
        <p:grpSp>
          <p:nvGrpSpPr>
            <p:cNvPr id="35" name="Group 63"/>
            <p:cNvGrpSpPr>
              <a:grpSpLocks/>
            </p:cNvGrpSpPr>
            <p:nvPr/>
          </p:nvGrpSpPr>
          <p:grpSpPr bwMode="auto">
            <a:xfrm>
              <a:off x="511175" y="5188075"/>
              <a:ext cx="2359024" cy="1125538"/>
              <a:chOff x="2351619" y="1732006"/>
              <a:chExt cx="7526453" cy="3592512"/>
            </a:xfrm>
          </p:grpSpPr>
          <p:sp>
            <p:nvSpPr>
              <p:cNvPr id="38" name="Oval 37"/>
              <p:cNvSpPr/>
              <p:nvPr/>
            </p:nvSpPr>
            <p:spPr bwMode="auto">
              <a:xfrm>
                <a:off x="4291424" y="1732006"/>
                <a:ext cx="3591019" cy="3592512"/>
              </a:xfrm>
              <a:prstGeom prst="ellipse">
                <a:avLst/>
              </a:prstGeom>
              <a:solidFill>
                <a:srgbClr val="A91719"/>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a:solidFill>
                    <a:srgbClr val="FFFFFF"/>
                  </a:solidFill>
                  <a:latin typeface="Arial Narrow Regular" charset="0"/>
                  <a:ea typeface="ＭＳ Ｐゴシック" charset="0"/>
                  <a:cs typeface="Arial" charset="0"/>
                </a:endParaRPr>
              </a:p>
            </p:txBody>
          </p:sp>
          <p:sp>
            <p:nvSpPr>
              <p:cNvPr id="39" name="Rectangle 38"/>
              <p:cNvSpPr/>
              <p:nvPr/>
            </p:nvSpPr>
            <p:spPr bwMode="auto">
              <a:xfrm>
                <a:off x="2351619" y="3211573"/>
                <a:ext cx="2258950" cy="962732"/>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274320" anchor="ctr"/>
              <a:lstStyle/>
              <a:p>
                <a:pPr algn="ctr">
                  <a:defRPr/>
                </a:pPr>
                <a:endParaRPr lang="en-US" sz="1400">
                  <a:solidFill>
                    <a:srgbClr val="000000"/>
                  </a:solidFill>
                  <a:latin typeface="Arial Narrow Regular" charset="0"/>
                  <a:ea typeface="ＭＳ Ｐゴシック" charset="0"/>
                  <a:cs typeface="Avenir Medium" charset="0"/>
                </a:endParaRPr>
              </a:p>
            </p:txBody>
          </p:sp>
          <p:sp>
            <p:nvSpPr>
              <p:cNvPr id="40" name="Rectangle 39"/>
              <p:cNvSpPr/>
              <p:nvPr/>
            </p:nvSpPr>
            <p:spPr bwMode="auto">
              <a:xfrm>
                <a:off x="7603929" y="3201439"/>
                <a:ext cx="2274143" cy="962732"/>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lIns="274320" anchor="ctr"/>
              <a:lstStyle/>
              <a:p>
                <a:pPr algn="ctr">
                  <a:defRPr/>
                </a:pPr>
                <a:endParaRPr lang="en-US" sz="1400">
                  <a:solidFill>
                    <a:srgbClr val="000000"/>
                  </a:solidFill>
                  <a:latin typeface="Arial Narrow Regular" charset="0"/>
                  <a:ea typeface="ＭＳ Ｐゴシック" charset="0"/>
                  <a:cs typeface="Avenir Medium" charset="0"/>
                </a:endParaRPr>
              </a:p>
            </p:txBody>
          </p:sp>
          <p:sp>
            <p:nvSpPr>
              <p:cNvPr id="41" name="Circular Arrow 40"/>
              <p:cNvSpPr/>
              <p:nvPr/>
            </p:nvSpPr>
            <p:spPr>
              <a:xfrm>
                <a:off x="6135051" y="2025893"/>
                <a:ext cx="2177911" cy="2219351"/>
              </a:xfrm>
              <a:prstGeom prst="circularArrow">
                <a:avLst>
                  <a:gd name="adj1" fmla="val 12500"/>
                  <a:gd name="adj2" fmla="val 1142319"/>
                  <a:gd name="adj3" fmla="val 20457681"/>
                  <a:gd name="adj4" fmla="val 15964374"/>
                  <a:gd name="adj5" fmla="val 125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000000"/>
                  </a:solidFill>
                  <a:latin typeface="Arial Narrow Regular" charset="0"/>
                </a:endParaRPr>
              </a:p>
            </p:txBody>
          </p:sp>
          <p:sp>
            <p:nvSpPr>
              <p:cNvPr id="42" name="Circular Arrow 41"/>
              <p:cNvSpPr/>
              <p:nvPr/>
            </p:nvSpPr>
            <p:spPr>
              <a:xfrm flipH="1">
                <a:off x="3891295" y="2051229"/>
                <a:ext cx="2005704" cy="2214282"/>
              </a:xfrm>
              <a:prstGeom prst="circularArrow">
                <a:avLst>
                  <a:gd name="adj1" fmla="val 12500"/>
                  <a:gd name="adj2" fmla="val 1142319"/>
                  <a:gd name="adj3" fmla="val 20457681"/>
                  <a:gd name="adj4" fmla="val 15964374"/>
                  <a:gd name="adj5" fmla="val 125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000000"/>
                  </a:solidFill>
                  <a:latin typeface="Arial Narrow Regular" charset="0"/>
                </a:endParaRPr>
              </a:p>
            </p:txBody>
          </p:sp>
        </p:grpSp>
        <p:sp>
          <p:nvSpPr>
            <p:cNvPr id="36" name="Oval 35"/>
            <p:cNvSpPr/>
            <p:nvPr/>
          </p:nvSpPr>
          <p:spPr bwMode="auto">
            <a:xfrm>
              <a:off x="1329265" y="5435598"/>
              <a:ext cx="708007" cy="663333"/>
            </a:xfrm>
            <a:prstGeom prst="ellipse">
              <a:avLst/>
            </a:prstGeom>
            <a:solidFill>
              <a:schemeClr val="accent1">
                <a:lumMod val="60000"/>
                <a:lumOff val="40000"/>
              </a:schemeClr>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
                <a:solidFill>
                  <a:srgbClr val="FF0000"/>
                </a:solidFill>
                <a:latin typeface="Arial Narrow Regular" charset="0"/>
                <a:ea typeface="ＭＳ Ｐゴシック" charset="0"/>
                <a:cs typeface="Arial" charset="0"/>
              </a:endParaRPr>
            </a:p>
          </p:txBody>
        </p:sp>
        <p:sp>
          <p:nvSpPr>
            <p:cNvPr id="37" name="Oval 36"/>
            <p:cNvSpPr/>
            <p:nvPr/>
          </p:nvSpPr>
          <p:spPr bwMode="auto">
            <a:xfrm>
              <a:off x="1455721" y="5534314"/>
              <a:ext cx="471486" cy="471486"/>
            </a:xfrm>
            <a:prstGeom prst="ellipse">
              <a:avLst/>
            </a:prstGeom>
            <a:solidFill>
              <a:schemeClr val="bg1">
                <a:lumMod val="95000"/>
              </a:schemeClr>
            </a:solidFill>
            <a:ln w="571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
                <a:solidFill>
                  <a:srgbClr val="FF0000"/>
                </a:solidFill>
                <a:latin typeface="Arial Narrow Regular" charset="0"/>
                <a:ea typeface="ＭＳ Ｐゴシック" charset="0"/>
                <a:cs typeface="Arial" charset="0"/>
              </a:endParaRPr>
            </a:p>
          </p:txBody>
        </p:sp>
      </p:grpSp>
      <p:sp>
        <p:nvSpPr>
          <p:cNvPr id="2" name="Text Placeholder 1"/>
          <p:cNvSpPr>
            <a:spLocks noGrp="1"/>
          </p:cNvSpPr>
          <p:nvPr>
            <p:ph type="body" sz="quarter" idx="10"/>
          </p:nvPr>
        </p:nvSpPr>
        <p:spPr>
          <a:xfrm>
            <a:off x="0" y="-75177"/>
            <a:ext cx="9144000" cy="775204"/>
          </a:xfrm>
        </p:spPr>
        <p:txBody>
          <a:bodyPr>
            <a:normAutofit/>
          </a:bodyPr>
          <a:lstStyle/>
          <a:p>
            <a:r>
              <a:rPr lang="en-US" sz="3600" b="0">
                <a:solidFill>
                  <a:schemeClr val="tx1"/>
                </a:solidFill>
                <a:latin typeface="Franklin Gothic Book" panose="020B0503020102020204" pitchFamily="34" charset="0"/>
              </a:rPr>
              <a:t>Framework Works!</a:t>
            </a:r>
          </a:p>
        </p:txBody>
      </p:sp>
      <p:sp>
        <p:nvSpPr>
          <p:cNvPr id="3" name="TextBox 2"/>
          <p:cNvSpPr txBox="1"/>
          <p:nvPr/>
        </p:nvSpPr>
        <p:spPr bwMode="auto">
          <a:xfrm>
            <a:off x="3886200" y="914400"/>
            <a:ext cx="2018501" cy="276999"/>
          </a:xfrm>
          <a:prstGeom prst="rect">
            <a:avLst/>
          </a:prstGeom>
          <a:noFill/>
          <a:ln>
            <a:miter lim="800000"/>
            <a:headEnd/>
            <a:tailEnd/>
          </a:ln>
        </p:spPr>
        <p:txBody>
          <a:bodyPr vert="horz" wrap="none" lIns="91440" tIns="45720" rIns="91440" bIns="45720" numCol="1" rtlCol="0" anchorCtr="0" compatLnSpc="1">
            <a:prstTxWarp prst="textNoShape">
              <a:avLst/>
            </a:prstTxWarp>
            <a:spAutoFit/>
          </a:bodyPr>
          <a:lstStyle/>
          <a:p>
            <a:pPr marL="0" marR="0" indent="0" algn="l" defTabSz="457200" rtl="0" eaLnBrk="1" fontAlgn="base" latinLnBrk="0" hangingPunct="1">
              <a:lnSpc>
                <a:spcPct val="100000"/>
              </a:lnSpc>
              <a:spcBef>
                <a:spcPct val="0"/>
              </a:spcBef>
              <a:spcAft>
                <a:spcPct val="0"/>
              </a:spcAft>
              <a:buClrTx/>
              <a:buSzTx/>
              <a:buFontTx/>
              <a:buNone/>
              <a:tabLst/>
            </a:pPr>
            <a:r>
              <a:rPr kumimoji="1" lang="en-US" sz="1200" b="0" i="0" u="none" strike="noStrike" kern="1200" cap="none" spc="0" normalizeH="0" baseline="0" noProof="0">
                <a:ln>
                  <a:noFill/>
                </a:ln>
                <a:solidFill>
                  <a:schemeClr val="tx1">
                    <a:lumMod val="65000"/>
                    <a:lumOff val="35000"/>
                  </a:schemeClr>
                </a:solidFill>
                <a:effectLst/>
                <a:uLnTx/>
                <a:uFillTx/>
                <a:latin typeface="Arial" charset="0"/>
                <a:ea typeface="+mj-ea"/>
                <a:cs typeface="ＭＳ Ｐゴシック" charset="0"/>
              </a:rPr>
              <a:t>Value Creation Framework</a:t>
            </a:r>
          </a:p>
        </p:txBody>
      </p:sp>
      <p:sp>
        <p:nvSpPr>
          <p:cNvPr id="21" name="TextBox 20"/>
          <p:cNvSpPr txBox="1"/>
          <p:nvPr/>
        </p:nvSpPr>
        <p:spPr bwMode="auto">
          <a:xfrm>
            <a:off x="6781800" y="3200400"/>
            <a:ext cx="1544413" cy="276999"/>
          </a:xfrm>
          <a:prstGeom prst="rect">
            <a:avLst/>
          </a:prstGeom>
          <a:noFill/>
          <a:ln>
            <a:miter lim="800000"/>
            <a:headEnd/>
            <a:tailEnd/>
          </a:ln>
        </p:spPr>
        <p:txBody>
          <a:bodyPr vert="horz" wrap="none" lIns="91440" tIns="45720" rIns="91440" bIns="45720" numCol="1" rtlCol="0" anchorCtr="0" compatLnSpc="1">
            <a:prstTxWarp prst="textNoShape">
              <a:avLst/>
            </a:prstTxWarp>
            <a:spAutoFit/>
          </a:bodyPr>
          <a:lstStyle/>
          <a:p>
            <a:pPr marL="0" marR="0" indent="0" algn="ctr" defTabSz="457200" rtl="0" eaLnBrk="1" fontAlgn="base" latinLnBrk="0" hangingPunct="1">
              <a:lnSpc>
                <a:spcPct val="100000"/>
              </a:lnSpc>
              <a:spcBef>
                <a:spcPct val="0"/>
              </a:spcBef>
              <a:spcAft>
                <a:spcPct val="0"/>
              </a:spcAft>
              <a:buClrTx/>
              <a:buSzTx/>
              <a:buFontTx/>
              <a:buNone/>
              <a:tabLst/>
            </a:pPr>
            <a:r>
              <a:rPr kumimoji="1" lang="en-US" sz="1200" b="0" i="0" u="none" strike="noStrike" kern="1200" cap="none" spc="0" normalizeH="0" baseline="0" noProof="0">
                <a:ln>
                  <a:noFill/>
                </a:ln>
                <a:solidFill>
                  <a:schemeClr val="tx1">
                    <a:lumMod val="65000"/>
                    <a:lumOff val="35000"/>
                  </a:schemeClr>
                </a:solidFill>
                <a:effectLst/>
                <a:uLnTx/>
                <a:uFillTx/>
                <a:latin typeface="Arial" charset="0"/>
                <a:ea typeface="+mj-ea"/>
                <a:cs typeface="ＭＳ Ｐゴシック" charset="0"/>
              </a:rPr>
              <a:t>Customer Compass</a:t>
            </a:r>
          </a:p>
        </p:txBody>
      </p:sp>
      <p:sp>
        <p:nvSpPr>
          <p:cNvPr id="28" name="TextBox 27"/>
          <p:cNvSpPr txBox="1"/>
          <p:nvPr/>
        </p:nvSpPr>
        <p:spPr bwMode="auto">
          <a:xfrm>
            <a:off x="6019800" y="4742688"/>
            <a:ext cx="1464839" cy="276999"/>
          </a:xfrm>
          <a:prstGeom prst="rect">
            <a:avLst/>
          </a:prstGeom>
          <a:noFill/>
          <a:ln>
            <a:miter lim="800000"/>
            <a:headEnd/>
            <a:tailEnd/>
          </a:ln>
        </p:spPr>
        <p:txBody>
          <a:bodyPr vert="horz" wrap="none" lIns="91440" tIns="45720" rIns="91440" bIns="45720" numCol="1" rtlCol="0" anchorCtr="0" compatLnSpc="1">
            <a:prstTxWarp prst="textNoShape">
              <a:avLst/>
            </a:prstTxWarp>
            <a:spAutoFit/>
          </a:bodyPr>
          <a:lstStyle/>
          <a:p>
            <a:pPr marL="0" marR="0" indent="0" algn="ctr" defTabSz="457200" rtl="0" eaLnBrk="1" fontAlgn="base" latinLnBrk="0" hangingPunct="1">
              <a:lnSpc>
                <a:spcPct val="100000"/>
              </a:lnSpc>
              <a:spcBef>
                <a:spcPct val="0"/>
              </a:spcBef>
              <a:spcAft>
                <a:spcPct val="0"/>
              </a:spcAft>
              <a:buClrTx/>
              <a:buSzTx/>
              <a:buFontTx/>
              <a:buNone/>
              <a:tabLst/>
            </a:pPr>
            <a:r>
              <a:rPr kumimoji="1" lang="en-US" sz="1200" b="0" i="0" u="none" strike="noStrike" kern="1200" cap="none" spc="0" normalizeH="0" baseline="0" noProof="0">
                <a:ln>
                  <a:noFill/>
                </a:ln>
                <a:solidFill>
                  <a:schemeClr val="tx1">
                    <a:lumMod val="65000"/>
                    <a:lumOff val="35000"/>
                  </a:schemeClr>
                </a:solidFill>
                <a:effectLst/>
                <a:uLnTx/>
                <a:uFillTx/>
                <a:latin typeface="Arial" charset="0"/>
                <a:ea typeface="+mj-ea"/>
                <a:cs typeface="ＭＳ Ｐゴシック" charset="0"/>
              </a:rPr>
              <a:t>Third Box Thinking</a:t>
            </a:r>
          </a:p>
        </p:txBody>
      </p:sp>
      <p:sp>
        <p:nvSpPr>
          <p:cNvPr id="30" name="Rectangle 68"/>
          <p:cNvSpPr>
            <a:spLocks noChangeArrowheads="1"/>
          </p:cNvSpPr>
          <p:nvPr/>
        </p:nvSpPr>
        <p:spPr bwMode="auto">
          <a:xfrm>
            <a:off x="990600" y="3200400"/>
            <a:ext cx="2717800"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r>
              <a:rPr lang="en-US" altLang="en-US" sz="1200">
                <a:solidFill>
                  <a:srgbClr val="595959"/>
                </a:solidFill>
                <a:latin typeface="Arial Narrow Regular" charset="0"/>
                <a:ea typeface="Arial Narrow Regular" charset="0"/>
                <a:cs typeface="Arial Narrow Regular" charset="0"/>
              </a:rPr>
              <a:t>Value-Enabled™ Solutions</a:t>
            </a:r>
          </a:p>
        </p:txBody>
      </p:sp>
      <p:sp>
        <p:nvSpPr>
          <p:cNvPr id="72" name="TextBox 19"/>
          <p:cNvSpPr txBox="1">
            <a:spLocks noChangeArrowheads="1"/>
          </p:cNvSpPr>
          <p:nvPr/>
        </p:nvSpPr>
        <p:spPr bwMode="auto">
          <a:xfrm>
            <a:off x="3352800" y="4724400"/>
            <a:ext cx="1134122" cy="276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1429" tIns="45714" rIns="91429" bIns="45714">
            <a:spAutoFit/>
          </a:bodyP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r>
              <a:rPr lang="en-US" altLang="en-US" sz="1200">
                <a:solidFill>
                  <a:schemeClr val="tx1">
                    <a:lumMod val="65000"/>
                    <a:lumOff val="35000"/>
                  </a:schemeClr>
                </a:solidFill>
                <a:latin typeface="Arial Narrow Regular" charset="0"/>
                <a:ea typeface="Arial Narrow Regular" charset="0"/>
                <a:cs typeface="Arial Narrow Regular" charset="0"/>
              </a:rPr>
              <a:t>Careabouts™</a:t>
            </a:r>
          </a:p>
        </p:txBody>
      </p:sp>
      <p:grpSp>
        <p:nvGrpSpPr>
          <p:cNvPr id="73" name="Group 59"/>
          <p:cNvGrpSpPr>
            <a:grpSpLocks/>
          </p:cNvGrpSpPr>
          <p:nvPr/>
        </p:nvGrpSpPr>
        <p:grpSpPr bwMode="auto">
          <a:xfrm>
            <a:off x="2735250" y="5076515"/>
            <a:ext cx="2319337" cy="855663"/>
            <a:chOff x="913381" y="2696852"/>
            <a:chExt cx="9290203" cy="6227330"/>
          </a:xfrm>
        </p:grpSpPr>
        <p:grpSp>
          <p:nvGrpSpPr>
            <p:cNvPr id="74" name="Group 60"/>
            <p:cNvGrpSpPr>
              <a:grpSpLocks/>
            </p:cNvGrpSpPr>
            <p:nvPr/>
          </p:nvGrpSpPr>
          <p:grpSpPr bwMode="auto">
            <a:xfrm>
              <a:off x="913381" y="2696852"/>
              <a:ext cx="9290203" cy="914400"/>
              <a:chOff x="1964732" y="2713827"/>
              <a:chExt cx="5988747" cy="914400"/>
            </a:xfrm>
          </p:grpSpPr>
          <p:sp>
            <p:nvSpPr>
              <p:cNvPr id="79" name="Rectangle 78"/>
              <p:cNvSpPr/>
              <p:nvPr/>
            </p:nvSpPr>
            <p:spPr>
              <a:xfrm>
                <a:off x="1964732" y="2713827"/>
                <a:ext cx="1422378" cy="912726"/>
              </a:xfrm>
              <a:prstGeom prst="rect">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srgbClr val="FFFFFF"/>
                  </a:solidFill>
                  <a:latin typeface="Arial Narrow Regular" charset="0"/>
                  <a:ea typeface="Arial Narrow Regular" charset="0"/>
                  <a:cs typeface="Arial Narrow Regular" charset="0"/>
                </a:endParaRPr>
              </a:p>
            </p:txBody>
          </p:sp>
          <p:sp>
            <p:nvSpPr>
              <p:cNvPr id="80" name="Rectangle 79"/>
              <p:cNvSpPr/>
              <p:nvPr/>
            </p:nvSpPr>
            <p:spPr>
              <a:xfrm>
                <a:off x="3485487" y="2713827"/>
                <a:ext cx="1418280" cy="912726"/>
              </a:xfrm>
              <a:prstGeom prst="rect">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srgbClr val="FFFFFF"/>
                  </a:solidFill>
                  <a:latin typeface="Arial Narrow Regular" charset="0"/>
                  <a:ea typeface="Arial Narrow Regular" charset="0"/>
                  <a:cs typeface="Arial Narrow Regular" charset="0"/>
                </a:endParaRPr>
              </a:p>
            </p:txBody>
          </p:sp>
          <p:sp>
            <p:nvSpPr>
              <p:cNvPr id="81" name="Rectangle 80"/>
              <p:cNvSpPr/>
              <p:nvPr/>
            </p:nvSpPr>
            <p:spPr>
              <a:xfrm>
                <a:off x="5006246" y="2713827"/>
                <a:ext cx="1422378" cy="912726"/>
              </a:xfrm>
              <a:prstGeom prst="rect">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200">
                  <a:solidFill>
                    <a:srgbClr val="FFFFFF"/>
                  </a:solidFill>
                  <a:latin typeface="Arial Narrow Regular" charset="0"/>
                  <a:ea typeface="Arial Narrow Regular" charset="0"/>
                  <a:cs typeface="Arial Narrow Regular" charset="0"/>
                </a:endParaRPr>
              </a:p>
            </p:txBody>
          </p:sp>
          <p:sp>
            <p:nvSpPr>
              <p:cNvPr id="82" name="Rectangle 81"/>
              <p:cNvSpPr/>
              <p:nvPr/>
            </p:nvSpPr>
            <p:spPr>
              <a:xfrm>
                <a:off x="6531101" y="2713827"/>
                <a:ext cx="1422378" cy="912726"/>
              </a:xfrm>
              <a:prstGeom prst="rect">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srgbClr val="FFFFFF"/>
                  </a:solidFill>
                  <a:latin typeface="Arial Narrow Regular" charset="0"/>
                  <a:ea typeface="Arial Narrow Regular" charset="0"/>
                  <a:cs typeface="Arial Narrow Regular" charset="0"/>
                </a:endParaRPr>
              </a:p>
            </p:txBody>
          </p:sp>
        </p:grpSp>
        <p:sp>
          <p:nvSpPr>
            <p:cNvPr id="75" name="Rectangle 74"/>
            <p:cNvSpPr/>
            <p:nvPr/>
          </p:nvSpPr>
          <p:spPr>
            <a:xfrm>
              <a:off x="913381" y="3609581"/>
              <a:ext cx="2206501" cy="5314601"/>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lvl1pPr marL="285750" indent="-285750">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buFont typeface="Arial" charset="0"/>
                <a:buChar char="•"/>
              </a:pPr>
              <a:endParaRPr lang="en-US" altLang="en-US" sz="1200">
                <a:solidFill>
                  <a:srgbClr val="000000"/>
                </a:solidFill>
                <a:latin typeface="Arial Narrow Regular" charset="0"/>
                <a:ea typeface="Arial Narrow Regular" charset="0"/>
                <a:cs typeface="Arial Narrow Regular" charset="0"/>
              </a:endParaRPr>
            </a:p>
          </p:txBody>
        </p:sp>
        <p:sp>
          <p:nvSpPr>
            <p:cNvPr id="76" name="Rectangle 75"/>
            <p:cNvSpPr/>
            <p:nvPr/>
          </p:nvSpPr>
          <p:spPr>
            <a:xfrm>
              <a:off x="3272493" y="3609581"/>
              <a:ext cx="2200144" cy="5314601"/>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lvl1pPr marL="285750" indent="-285750">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buFont typeface="Arial" charset="0"/>
                <a:buChar char="•"/>
              </a:pPr>
              <a:endParaRPr lang="en-US" altLang="en-US" sz="1200">
                <a:solidFill>
                  <a:srgbClr val="000000"/>
                </a:solidFill>
                <a:latin typeface="Arial Narrow Regular" charset="0"/>
                <a:ea typeface="Arial Narrow Regular" charset="0"/>
                <a:cs typeface="Arial Narrow Regular" charset="0"/>
              </a:endParaRPr>
            </a:p>
          </p:txBody>
        </p:sp>
        <p:sp>
          <p:nvSpPr>
            <p:cNvPr id="77" name="Rectangle 76"/>
            <p:cNvSpPr/>
            <p:nvPr/>
          </p:nvSpPr>
          <p:spPr>
            <a:xfrm>
              <a:off x="5631610" y="3609581"/>
              <a:ext cx="2206501" cy="5314601"/>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lvl1pPr marL="171450" indent="-171450">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buFont typeface="Arial" charset="0"/>
                <a:buChar char="•"/>
              </a:pPr>
              <a:endParaRPr lang="en-US" altLang="en-US" sz="1200">
                <a:solidFill>
                  <a:srgbClr val="000000"/>
                </a:solidFill>
                <a:latin typeface="Arial Narrow Regular" charset="0"/>
                <a:ea typeface="Arial Narrow Regular" charset="0"/>
                <a:cs typeface="Arial Narrow Regular" charset="0"/>
              </a:endParaRPr>
            </a:p>
          </p:txBody>
        </p:sp>
        <p:sp>
          <p:nvSpPr>
            <p:cNvPr id="78" name="Rectangle 77"/>
            <p:cNvSpPr/>
            <p:nvPr/>
          </p:nvSpPr>
          <p:spPr>
            <a:xfrm>
              <a:off x="7997083" y="3609581"/>
              <a:ext cx="2206501" cy="5314601"/>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lvl1pPr marL="285750" indent="-285750">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buFont typeface="Arial" charset="0"/>
                <a:buChar char="•"/>
              </a:pPr>
              <a:endParaRPr lang="en-US" altLang="en-US" sz="1200">
                <a:solidFill>
                  <a:srgbClr val="000000"/>
                </a:solidFill>
                <a:latin typeface="Arial Narrow Regular" charset="0"/>
                <a:ea typeface="Arial Narrow Regular" charset="0"/>
                <a:cs typeface="Arial Narrow Regular" charset="0"/>
              </a:endParaRPr>
            </a:p>
          </p:txBody>
        </p:sp>
      </p:grpSp>
      <p:sp>
        <p:nvSpPr>
          <p:cNvPr id="83" name="Rectangle 68"/>
          <p:cNvSpPr>
            <a:spLocks noChangeArrowheads="1"/>
          </p:cNvSpPr>
          <p:nvPr/>
        </p:nvSpPr>
        <p:spPr bwMode="auto">
          <a:xfrm>
            <a:off x="1943475" y="1295400"/>
            <a:ext cx="1166066" cy="4616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91429" tIns="45714" rIns="91429" bIns="45714">
            <a:spAutoFit/>
          </a:bodyP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br>
              <a:rPr lang="en-US" altLang="en-US" sz="1200" dirty="0">
                <a:solidFill>
                  <a:srgbClr val="595959"/>
                </a:solidFill>
                <a:latin typeface="Arial Narrow Regular" charset="0"/>
                <a:ea typeface="Arial Narrow Regular" charset="0"/>
                <a:cs typeface="Arial Narrow Regular" charset="0"/>
              </a:rPr>
            </a:br>
            <a:r>
              <a:rPr lang="en-US" altLang="en-US" sz="1200" dirty="0">
                <a:solidFill>
                  <a:srgbClr val="595959"/>
                </a:solidFill>
                <a:latin typeface="Arial Narrow Regular" charset="0"/>
                <a:ea typeface="Arial Narrow Regular" charset="0"/>
                <a:cs typeface="Arial Narrow Regular" charset="0"/>
              </a:rPr>
              <a:t>Value Proposition</a:t>
            </a:r>
          </a:p>
        </p:txBody>
      </p:sp>
      <p:grpSp>
        <p:nvGrpSpPr>
          <p:cNvPr id="84" name="Group 95"/>
          <p:cNvGrpSpPr>
            <a:grpSpLocks/>
          </p:cNvGrpSpPr>
          <p:nvPr/>
        </p:nvGrpSpPr>
        <p:grpSpPr bwMode="auto">
          <a:xfrm>
            <a:off x="1592163" y="1912913"/>
            <a:ext cx="1978025" cy="1000125"/>
            <a:chOff x="5426212" y="5221570"/>
            <a:chExt cx="1435151" cy="725561"/>
          </a:xfrm>
        </p:grpSpPr>
        <p:grpSp>
          <p:nvGrpSpPr>
            <p:cNvPr id="85" name="Group 96"/>
            <p:cNvGrpSpPr>
              <a:grpSpLocks/>
            </p:cNvGrpSpPr>
            <p:nvPr/>
          </p:nvGrpSpPr>
          <p:grpSpPr bwMode="auto">
            <a:xfrm>
              <a:off x="5426212" y="5417590"/>
              <a:ext cx="1435151" cy="529541"/>
              <a:chOff x="913381" y="2696852"/>
              <a:chExt cx="9290203" cy="6227330"/>
            </a:xfrm>
          </p:grpSpPr>
          <p:grpSp>
            <p:nvGrpSpPr>
              <p:cNvPr id="91" name="Group 102"/>
              <p:cNvGrpSpPr>
                <a:grpSpLocks/>
              </p:cNvGrpSpPr>
              <p:nvPr/>
            </p:nvGrpSpPr>
            <p:grpSpPr bwMode="auto">
              <a:xfrm>
                <a:off x="913381" y="2696852"/>
                <a:ext cx="9290203" cy="914400"/>
                <a:chOff x="1964732" y="2713827"/>
                <a:chExt cx="5988747" cy="914400"/>
              </a:xfrm>
            </p:grpSpPr>
            <p:sp>
              <p:nvSpPr>
                <p:cNvPr id="96" name="Rectangle 95"/>
                <p:cNvSpPr/>
                <p:nvPr/>
              </p:nvSpPr>
              <p:spPr>
                <a:xfrm>
                  <a:off x="1964732" y="2711080"/>
                  <a:ext cx="1422688" cy="920969"/>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srgbClr val="FFFFFF"/>
                    </a:solidFill>
                    <a:latin typeface="Arial Narrow Regular" charset="0"/>
                    <a:ea typeface="Arial Narrow Regular" charset="0"/>
                    <a:cs typeface="Arial Narrow Regular" charset="0"/>
                  </a:endParaRPr>
                </a:p>
              </p:txBody>
            </p:sp>
            <p:sp>
              <p:nvSpPr>
                <p:cNvPr id="97" name="Rectangle 96"/>
                <p:cNvSpPr/>
                <p:nvPr/>
              </p:nvSpPr>
              <p:spPr>
                <a:xfrm>
                  <a:off x="3483547" y="2711080"/>
                  <a:ext cx="1422688" cy="920969"/>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srgbClr val="FFFFFF"/>
                    </a:solidFill>
                    <a:latin typeface="Arial Narrow Regular" charset="0"/>
                    <a:ea typeface="Arial Narrow Regular" charset="0"/>
                    <a:cs typeface="Arial Narrow Regular" charset="0"/>
                  </a:endParaRPr>
                </a:p>
              </p:txBody>
            </p:sp>
            <p:sp>
              <p:nvSpPr>
                <p:cNvPr id="98" name="Rectangle 97"/>
                <p:cNvSpPr/>
                <p:nvPr/>
              </p:nvSpPr>
              <p:spPr>
                <a:xfrm>
                  <a:off x="5007171" y="2711080"/>
                  <a:ext cx="1422688" cy="920969"/>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200">
                    <a:solidFill>
                      <a:srgbClr val="FFFFFF"/>
                    </a:solidFill>
                    <a:latin typeface="Arial Narrow Regular" charset="0"/>
                    <a:ea typeface="Arial Narrow Regular" charset="0"/>
                    <a:cs typeface="Arial Narrow Regular" charset="0"/>
                  </a:endParaRPr>
                </a:p>
              </p:txBody>
            </p:sp>
            <p:sp>
              <p:nvSpPr>
                <p:cNvPr id="99" name="Rectangle 98"/>
                <p:cNvSpPr/>
                <p:nvPr/>
              </p:nvSpPr>
              <p:spPr>
                <a:xfrm>
                  <a:off x="6530791" y="2711080"/>
                  <a:ext cx="1422688" cy="920969"/>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srgbClr val="FFFFFF"/>
                    </a:solidFill>
                    <a:latin typeface="Arial Narrow Regular" charset="0"/>
                    <a:ea typeface="Arial Narrow Regular" charset="0"/>
                    <a:cs typeface="Arial Narrow Regular" charset="0"/>
                  </a:endParaRPr>
                </a:p>
              </p:txBody>
            </p:sp>
          </p:grpSp>
          <p:sp>
            <p:nvSpPr>
              <p:cNvPr id="92" name="Rectangle 91"/>
              <p:cNvSpPr/>
              <p:nvPr/>
            </p:nvSpPr>
            <p:spPr>
              <a:xfrm>
                <a:off x="913381" y="3615073"/>
                <a:ext cx="2206982" cy="530910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lvl1pPr marL="285750" indent="-285750">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buFont typeface="Arial" charset="0"/>
                  <a:buChar char="•"/>
                </a:pPr>
                <a:endParaRPr lang="en-US" altLang="en-US" sz="1200">
                  <a:solidFill>
                    <a:srgbClr val="000000"/>
                  </a:solidFill>
                  <a:latin typeface="Arial Narrow Regular" charset="0"/>
                  <a:ea typeface="Arial Narrow Regular" charset="0"/>
                  <a:cs typeface="Arial Narrow Regular" charset="0"/>
                </a:endParaRPr>
              </a:p>
            </p:txBody>
          </p:sp>
          <p:sp>
            <p:nvSpPr>
              <p:cNvPr id="93" name="Rectangle 92"/>
              <p:cNvSpPr/>
              <p:nvPr/>
            </p:nvSpPr>
            <p:spPr>
              <a:xfrm>
                <a:off x="3269484" y="3615073"/>
                <a:ext cx="2206982" cy="530910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lvl1pPr marL="285750" indent="-285750">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buFont typeface="Arial" charset="0"/>
                  <a:buChar char="•"/>
                </a:pPr>
                <a:endParaRPr lang="en-US" altLang="en-US" sz="1200">
                  <a:solidFill>
                    <a:srgbClr val="000000"/>
                  </a:solidFill>
                  <a:latin typeface="Arial Narrow Regular" charset="0"/>
                  <a:ea typeface="Arial Narrow Regular" charset="0"/>
                  <a:cs typeface="Arial Narrow Regular" charset="0"/>
                </a:endParaRPr>
              </a:p>
            </p:txBody>
          </p:sp>
          <p:sp>
            <p:nvSpPr>
              <p:cNvPr id="94" name="Rectangle 93"/>
              <p:cNvSpPr/>
              <p:nvPr/>
            </p:nvSpPr>
            <p:spPr>
              <a:xfrm>
                <a:off x="5633045" y="3615073"/>
                <a:ext cx="2206982" cy="530910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lvl1pPr marL="171450" indent="-171450">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buFont typeface="Arial" charset="0"/>
                  <a:buChar char="•"/>
                </a:pPr>
                <a:endParaRPr lang="en-US" altLang="en-US" sz="1200">
                  <a:solidFill>
                    <a:srgbClr val="000000"/>
                  </a:solidFill>
                  <a:latin typeface="Arial Narrow Regular" charset="0"/>
                  <a:ea typeface="Arial Narrow Regular" charset="0"/>
                  <a:cs typeface="Arial Narrow Regular" charset="0"/>
                </a:endParaRPr>
              </a:p>
            </p:txBody>
          </p:sp>
          <p:sp>
            <p:nvSpPr>
              <p:cNvPr id="95" name="Rectangle 94"/>
              <p:cNvSpPr/>
              <p:nvPr/>
            </p:nvSpPr>
            <p:spPr>
              <a:xfrm>
                <a:off x="7996602" y="3615073"/>
                <a:ext cx="2206982" cy="530910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lvl1pPr marL="285750" indent="-285750">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buFont typeface="Arial" charset="0"/>
                  <a:buChar char="•"/>
                </a:pPr>
                <a:endParaRPr lang="en-US" altLang="en-US" sz="1200">
                  <a:solidFill>
                    <a:srgbClr val="000000"/>
                  </a:solidFill>
                  <a:latin typeface="Arial Narrow Regular" charset="0"/>
                  <a:ea typeface="Arial Narrow Regular" charset="0"/>
                  <a:cs typeface="Arial Narrow Regular" charset="0"/>
                </a:endParaRPr>
              </a:p>
            </p:txBody>
          </p:sp>
        </p:grpSp>
        <p:grpSp>
          <p:nvGrpSpPr>
            <p:cNvPr id="86" name="Group 97"/>
            <p:cNvGrpSpPr>
              <a:grpSpLocks/>
            </p:cNvGrpSpPr>
            <p:nvPr/>
          </p:nvGrpSpPr>
          <p:grpSpPr bwMode="auto">
            <a:xfrm>
              <a:off x="5432043" y="5221570"/>
              <a:ext cx="1429320" cy="155352"/>
              <a:chOff x="429759" y="827589"/>
              <a:chExt cx="9175025" cy="998538"/>
            </a:xfrm>
          </p:grpSpPr>
          <p:sp>
            <p:nvSpPr>
              <p:cNvPr id="87" name="Pentagon 86"/>
              <p:cNvSpPr/>
              <p:nvPr/>
            </p:nvSpPr>
            <p:spPr bwMode="auto">
              <a:xfrm>
                <a:off x="429759" y="827589"/>
                <a:ext cx="2190742" cy="998538"/>
              </a:xfrm>
              <a:prstGeom prst="homePlate">
                <a:avLst>
                  <a:gd name="adj" fmla="val 38889"/>
                </a:avLst>
              </a:prstGeom>
              <a:solidFill>
                <a:schemeClr val="accent1">
                  <a:lumMod val="60000"/>
                  <a:lumOff val="40000"/>
                </a:schemeClr>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prstClr val="white"/>
                  </a:solidFill>
                  <a:latin typeface="Arial Narrow Regular" charset="0"/>
                  <a:ea typeface="Arial Narrow Regular" charset="0"/>
                  <a:cs typeface="Arial Narrow Regular" charset="0"/>
                </a:endParaRPr>
              </a:p>
            </p:txBody>
          </p:sp>
          <p:sp>
            <p:nvSpPr>
              <p:cNvPr id="88" name="Chevron 87"/>
              <p:cNvSpPr/>
              <p:nvPr/>
            </p:nvSpPr>
            <p:spPr bwMode="auto">
              <a:xfrm>
                <a:off x="2587353" y="827589"/>
                <a:ext cx="2365998" cy="998538"/>
              </a:xfrm>
              <a:prstGeom prst="chevron">
                <a:avLst>
                  <a:gd name="adj" fmla="val 37179"/>
                </a:avLst>
              </a:prstGeom>
              <a:solidFill>
                <a:schemeClr val="accent3">
                  <a:lumMod val="75000"/>
                </a:schemeClr>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prstClr val="white"/>
                  </a:solidFill>
                  <a:latin typeface="Arial Narrow Regular" charset="0"/>
                  <a:ea typeface="Arial Narrow Regular" charset="0"/>
                  <a:cs typeface="Arial Narrow Regular" charset="0"/>
                </a:endParaRPr>
              </a:p>
            </p:txBody>
          </p:sp>
          <p:sp>
            <p:nvSpPr>
              <p:cNvPr id="89" name="Chevron 88"/>
              <p:cNvSpPr/>
              <p:nvPr/>
            </p:nvSpPr>
            <p:spPr bwMode="auto">
              <a:xfrm>
                <a:off x="4913068" y="836052"/>
                <a:ext cx="2365999" cy="990075"/>
              </a:xfrm>
              <a:prstGeom prst="chevron">
                <a:avLst>
                  <a:gd name="adj" fmla="val 37179"/>
                </a:avLst>
              </a:prstGeom>
              <a:solidFill>
                <a:srgbClr val="9B0F20"/>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prstClr val="white"/>
                  </a:solidFill>
                  <a:latin typeface="Arial Narrow Regular" charset="0"/>
                  <a:ea typeface="Arial Narrow Regular" charset="0"/>
                  <a:cs typeface="Arial Narrow Regular" charset="0"/>
                </a:endParaRPr>
              </a:p>
            </p:txBody>
          </p:sp>
          <p:sp>
            <p:nvSpPr>
              <p:cNvPr id="90" name="Chevron 89"/>
              <p:cNvSpPr/>
              <p:nvPr/>
            </p:nvSpPr>
            <p:spPr bwMode="auto">
              <a:xfrm>
                <a:off x="7238786" y="827589"/>
                <a:ext cx="2365998" cy="998538"/>
              </a:xfrm>
              <a:prstGeom prst="chevron">
                <a:avLst>
                  <a:gd name="adj" fmla="val 37179"/>
                </a:avLst>
              </a:prstGeom>
              <a:solidFill>
                <a:srgbClr val="9B0F20"/>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lIns="182880" rIns="0" anchor="ctr"/>
              <a:lstStyle>
                <a:lvl1pPr>
                  <a:defRPr>
                    <a:solidFill>
                      <a:schemeClr val="tx1"/>
                    </a:solidFill>
                    <a:latin typeface="3M Circular TT Book" charset="0"/>
                  </a:defRPr>
                </a:lvl1pPr>
                <a:lvl2pPr marL="742950" indent="-285750">
                  <a:defRPr>
                    <a:solidFill>
                      <a:schemeClr val="tx1"/>
                    </a:solidFill>
                    <a:latin typeface="3M Circular TT Book" charset="0"/>
                  </a:defRPr>
                </a:lvl2pPr>
                <a:lvl3pPr marL="1143000" indent="-228600">
                  <a:defRPr>
                    <a:solidFill>
                      <a:schemeClr val="tx1"/>
                    </a:solidFill>
                    <a:latin typeface="3M Circular TT Book" charset="0"/>
                  </a:defRPr>
                </a:lvl3pPr>
                <a:lvl4pPr marL="1600200" indent="-228600">
                  <a:defRPr>
                    <a:solidFill>
                      <a:schemeClr val="tx1"/>
                    </a:solidFill>
                    <a:latin typeface="3M Circular TT Book" charset="0"/>
                  </a:defRPr>
                </a:lvl4pPr>
                <a:lvl5pPr marL="2057400" indent="-228600">
                  <a:defRPr>
                    <a:solidFill>
                      <a:schemeClr val="tx1"/>
                    </a:solidFill>
                    <a:latin typeface="3M Circular TT Book" charset="0"/>
                  </a:defRPr>
                </a:lvl5pPr>
                <a:lvl6pPr marL="2514600" indent="-228600" fontAlgn="base">
                  <a:spcBef>
                    <a:spcPct val="0"/>
                  </a:spcBef>
                  <a:spcAft>
                    <a:spcPct val="0"/>
                  </a:spcAft>
                  <a:defRPr>
                    <a:solidFill>
                      <a:schemeClr val="tx1"/>
                    </a:solidFill>
                    <a:latin typeface="3M Circular TT Book" charset="0"/>
                  </a:defRPr>
                </a:lvl6pPr>
                <a:lvl7pPr marL="2971800" indent="-228600" fontAlgn="base">
                  <a:spcBef>
                    <a:spcPct val="0"/>
                  </a:spcBef>
                  <a:spcAft>
                    <a:spcPct val="0"/>
                  </a:spcAft>
                  <a:defRPr>
                    <a:solidFill>
                      <a:schemeClr val="tx1"/>
                    </a:solidFill>
                    <a:latin typeface="3M Circular TT Book" charset="0"/>
                  </a:defRPr>
                </a:lvl7pPr>
                <a:lvl8pPr marL="3429000" indent="-228600" fontAlgn="base">
                  <a:spcBef>
                    <a:spcPct val="0"/>
                  </a:spcBef>
                  <a:spcAft>
                    <a:spcPct val="0"/>
                  </a:spcAft>
                  <a:defRPr>
                    <a:solidFill>
                      <a:schemeClr val="tx1"/>
                    </a:solidFill>
                    <a:latin typeface="3M Circular TT Book" charset="0"/>
                  </a:defRPr>
                </a:lvl8pPr>
                <a:lvl9pPr marL="3886200" indent="-228600" fontAlgn="base">
                  <a:spcBef>
                    <a:spcPct val="0"/>
                  </a:spcBef>
                  <a:spcAft>
                    <a:spcPct val="0"/>
                  </a:spcAft>
                  <a:defRPr>
                    <a:solidFill>
                      <a:schemeClr val="tx1"/>
                    </a:solidFill>
                    <a:latin typeface="3M Circular TT Book" charset="0"/>
                  </a:defRPr>
                </a:lvl9pPr>
              </a:lstStyle>
              <a:p>
                <a:pPr algn="ctr"/>
                <a:endParaRPr lang="en-US" altLang="en-US" sz="1600">
                  <a:solidFill>
                    <a:prstClr val="white"/>
                  </a:solidFill>
                  <a:latin typeface="Arial Narrow Regular" charset="0"/>
                  <a:ea typeface="Arial Narrow Regular" charset="0"/>
                  <a:cs typeface="Arial Narrow Regular" charset="0"/>
                </a:endParaRPr>
              </a:p>
            </p:txBody>
          </p:sp>
        </p:grpSp>
      </p:grpSp>
      <p:pic>
        <p:nvPicPr>
          <p:cNvPr id="4" name="Picture 3" descr="Strategy Wheel.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6705600" y="1790987"/>
            <a:ext cx="1067942" cy="1028700"/>
          </a:xfrm>
          <a:prstGeom prst="rect">
            <a:avLst/>
          </a:prstGeom>
        </p:spPr>
      </p:pic>
      <p:sp>
        <p:nvSpPr>
          <p:cNvPr id="49" name="TextBox 48"/>
          <p:cNvSpPr txBox="1"/>
          <p:nvPr/>
        </p:nvSpPr>
        <p:spPr bwMode="auto">
          <a:xfrm>
            <a:off x="6629400" y="1486187"/>
            <a:ext cx="1236712" cy="276999"/>
          </a:xfrm>
          <a:prstGeom prst="rect">
            <a:avLst/>
          </a:prstGeom>
          <a:noFill/>
          <a:ln>
            <a:miter lim="800000"/>
            <a:headEnd/>
            <a:tailEnd/>
          </a:ln>
        </p:spPr>
        <p:txBody>
          <a:bodyPr vert="horz" wrap="none" lIns="91440" tIns="45720" rIns="91440" bIns="45720" numCol="1" rtlCol="0" anchorCtr="0" compatLnSpc="1">
            <a:prstTxWarp prst="textNoShape">
              <a:avLst/>
            </a:prstTxWarp>
            <a:spAutoFit/>
          </a:bodyPr>
          <a:lstStyle/>
          <a:p>
            <a:pPr marL="0" marR="0" indent="0" algn="l" defTabSz="457200" rtl="0" eaLnBrk="1" fontAlgn="base" latinLnBrk="0" hangingPunct="1">
              <a:lnSpc>
                <a:spcPct val="100000"/>
              </a:lnSpc>
              <a:spcBef>
                <a:spcPct val="0"/>
              </a:spcBef>
              <a:spcAft>
                <a:spcPct val="0"/>
              </a:spcAft>
              <a:buClrTx/>
              <a:buSzTx/>
              <a:buFontTx/>
              <a:buNone/>
              <a:tabLst/>
            </a:pPr>
            <a:r>
              <a:rPr kumimoji="1" lang="en-US" sz="1200" b="0" i="0" u="none" strike="noStrike" kern="1200" cap="none" spc="0" normalizeH="0" baseline="0" noProof="0">
                <a:ln>
                  <a:noFill/>
                </a:ln>
                <a:solidFill>
                  <a:schemeClr val="tx1">
                    <a:lumMod val="65000"/>
                    <a:lumOff val="35000"/>
                  </a:schemeClr>
                </a:solidFill>
                <a:effectLst/>
                <a:uLnTx/>
                <a:uFillTx/>
                <a:latin typeface="Arial" charset="0"/>
                <a:ea typeface="+mj-ea"/>
                <a:cs typeface="ＭＳ Ｐゴシック" charset="0"/>
              </a:rPr>
              <a:t>Strategy Wheel</a:t>
            </a:r>
          </a:p>
        </p:txBody>
      </p:sp>
    </p:spTree>
    <p:extLst>
      <p:ext uri="{BB962C8B-B14F-4D97-AF65-F5344CB8AC3E}">
        <p14:creationId xmlns:p14="http://schemas.microsoft.com/office/powerpoint/2010/main" val="246191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2192" y="0"/>
            <a:ext cx="9131808" cy="794067"/>
          </a:xfrm>
        </p:spPr>
        <p:txBody>
          <a:bodyPr>
            <a:normAutofit/>
          </a:bodyPr>
          <a:lstStyle/>
          <a:p>
            <a:r>
              <a:rPr lang="en-US" sz="3200" b="0">
                <a:latin typeface="Franklin Gothic Book" panose="020B0503020102020204" pitchFamily="34" charset="0"/>
              </a:rPr>
              <a:t>Principle 1 – Value Creation Thought Framework</a:t>
            </a:r>
          </a:p>
        </p:txBody>
      </p:sp>
      <p:sp>
        <p:nvSpPr>
          <p:cNvPr id="97283" name="Rectangle 12"/>
          <p:cNvSpPr>
            <a:spLocks noChangeArrowheads="1"/>
          </p:cNvSpPr>
          <p:nvPr/>
        </p:nvSpPr>
        <p:spPr bwMode="auto">
          <a:xfrm>
            <a:off x="390672" y="2441551"/>
            <a:ext cx="1960562" cy="408111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eaLnBrk="0" hangingPunct="0">
              <a:lnSpc>
                <a:spcPct val="90000"/>
              </a:lnSpc>
              <a:buClr>
                <a:srgbClr val="D0132B"/>
              </a:buClr>
            </a:pPr>
            <a:r>
              <a:rPr lang="en-US" sz="1600">
                <a:latin typeface="+mj-lt"/>
                <a:ea typeface="Avenir Book" charset="0"/>
                <a:cs typeface="Avenir Book" charset="0"/>
              </a:rPr>
              <a:t>What do your customers care about?</a:t>
            </a:r>
          </a:p>
          <a:p>
            <a:pPr marL="285750" indent="-285750" eaLnBrk="0" hangingPunct="0">
              <a:lnSpc>
                <a:spcPct val="90000"/>
              </a:lnSpc>
              <a:buClr>
                <a:srgbClr val="D0132B"/>
              </a:buClr>
              <a:buFont typeface="Wingdings" charset="2"/>
              <a:buChar char="§"/>
            </a:pPr>
            <a:endParaRPr lang="en-US" sz="1600">
              <a:latin typeface="+mj-lt"/>
              <a:ea typeface="Avenir Book" charset="0"/>
              <a:cs typeface="Avenir Book" charset="0"/>
            </a:endParaRPr>
          </a:p>
          <a:p>
            <a:pPr marL="285750" lvl="1" indent="-285750" eaLnBrk="0" hangingPunct="0">
              <a:lnSpc>
                <a:spcPct val="90000"/>
              </a:lnSpc>
              <a:buClr>
                <a:srgbClr val="D0132B"/>
              </a:buClr>
              <a:buFont typeface="Wingdings" charset="2"/>
              <a:buChar char="§"/>
            </a:pPr>
            <a:r>
              <a:rPr lang="en-US" sz="1600">
                <a:latin typeface="+mj-lt"/>
                <a:ea typeface="Avenir Book" charset="0"/>
                <a:cs typeface="Avenir Book" charset="0"/>
              </a:rPr>
              <a:t>What are their critical business issues?</a:t>
            </a:r>
          </a:p>
          <a:p>
            <a:pPr marL="285750" lvl="1" indent="-285750" eaLnBrk="0" hangingPunct="0">
              <a:lnSpc>
                <a:spcPct val="90000"/>
              </a:lnSpc>
              <a:buClr>
                <a:srgbClr val="D0132B"/>
              </a:buClr>
              <a:buFont typeface="Wingdings" charset="2"/>
              <a:buChar char="§"/>
            </a:pPr>
            <a:r>
              <a:rPr lang="en-US" sz="1600">
                <a:latin typeface="+mj-lt"/>
                <a:ea typeface="Avenir Book" charset="0"/>
                <a:cs typeface="Avenir Book" charset="0"/>
              </a:rPr>
              <a:t>What will be important to them?</a:t>
            </a:r>
          </a:p>
          <a:p>
            <a:pPr marL="285750" lvl="1" indent="-285750" eaLnBrk="0" hangingPunct="0">
              <a:lnSpc>
                <a:spcPct val="90000"/>
              </a:lnSpc>
              <a:buClr>
                <a:srgbClr val="D0132B"/>
              </a:buClr>
              <a:buFont typeface="Wingdings" charset="2"/>
              <a:buChar char="§"/>
            </a:pPr>
            <a:r>
              <a:rPr lang="en-US" sz="1600">
                <a:latin typeface="+mj-lt"/>
                <a:ea typeface="Avenir Book" charset="0"/>
                <a:cs typeface="Avenir Book" charset="0"/>
              </a:rPr>
              <a:t>What value do they rely on to win business with their customers?</a:t>
            </a:r>
          </a:p>
          <a:p>
            <a:pPr marL="285750" lvl="1" indent="-285750" eaLnBrk="0" hangingPunct="0">
              <a:lnSpc>
                <a:spcPct val="90000"/>
              </a:lnSpc>
              <a:buClr>
                <a:srgbClr val="D0132B"/>
              </a:buClr>
              <a:buFont typeface="Wingdings" charset="2"/>
              <a:buChar char="§"/>
            </a:pPr>
            <a:r>
              <a:rPr lang="en-US" sz="1600">
                <a:latin typeface="+mj-lt"/>
                <a:ea typeface="Avenir Book" charset="0"/>
                <a:cs typeface="Avenir Book" charset="0"/>
              </a:rPr>
              <a:t>What do their customers seek?</a:t>
            </a:r>
          </a:p>
        </p:txBody>
      </p:sp>
      <p:sp>
        <p:nvSpPr>
          <p:cNvPr id="67589" name="Rectangle 13"/>
          <p:cNvSpPr>
            <a:spLocks noChangeArrowheads="1"/>
          </p:cNvSpPr>
          <p:nvPr/>
        </p:nvSpPr>
        <p:spPr bwMode="auto">
          <a:xfrm>
            <a:off x="2419930" y="2306836"/>
            <a:ext cx="1828800" cy="2086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eaLnBrk="0" hangingPunct="0">
              <a:lnSpc>
                <a:spcPct val="90000"/>
              </a:lnSpc>
              <a:buClr>
                <a:srgbClr val="D0132B"/>
              </a:buClr>
            </a:pPr>
            <a:r>
              <a:rPr lang="en-US" sz="1600">
                <a:latin typeface="+mj-lt"/>
                <a:ea typeface="Avenir Book" charset="0"/>
                <a:cs typeface="Avenir Book" charset="0"/>
              </a:rPr>
              <a:t>What do you have?</a:t>
            </a:r>
          </a:p>
          <a:p>
            <a:pPr marL="285750" indent="-285750" eaLnBrk="0" hangingPunct="0">
              <a:lnSpc>
                <a:spcPct val="90000"/>
              </a:lnSpc>
              <a:buClr>
                <a:srgbClr val="D0132B"/>
              </a:buClr>
              <a:buFont typeface="Wingdings" charset="2"/>
              <a:buChar char="§"/>
            </a:pPr>
            <a:endParaRPr lang="en-US" sz="1600">
              <a:latin typeface="+mj-lt"/>
              <a:ea typeface="Avenir Book" charset="0"/>
              <a:cs typeface="Avenir Book" charset="0"/>
            </a:endParaRPr>
          </a:p>
          <a:p>
            <a:pPr marL="285750" indent="-285750" eaLnBrk="0" hangingPunct="0">
              <a:lnSpc>
                <a:spcPct val="90000"/>
              </a:lnSpc>
              <a:buClr>
                <a:srgbClr val="D0132B"/>
              </a:buClr>
              <a:buFont typeface="Wingdings" charset="2"/>
              <a:buChar char="§"/>
            </a:pPr>
            <a:endParaRPr lang="en-US" sz="1600">
              <a:latin typeface="+mj-lt"/>
              <a:ea typeface="Avenir Book" charset="0"/>
              <a:cs typeface="Avenir Book" charset="0"/>
            </a:endParaRPr>
          </a:p>
          <a:p>
            <a:pPr marL="285750" lvl="1" indent="-285750" eaLnBrk="0" hangingPunct="0">
              <a:lnSpc>
                <a:spcPct val="90000"/>
              </a:lnSpc>
              <a:buClr>
                <a:srgbClr val="D0132B"/>
              </a:buClr>
              <a:buFont typeface="Wingdings" charset="2"/>
              <a:buChar char="§"/>
            </a:pPr>
            <a:r>
              <a:rPr lang="en-US" sz="1600">
                <a:latin typeface="+mj-lt"/>
                <a:ea typeface="Avenir Book" charset="0"/>
                <a:cs typeface="Avenir Book" charset="0"/>
              </a:rPr>
              <a:t>Products</a:t>
            </a:r>
          </a:p>
          <a:p>
            <a:pPr marL="285750" lvl="1" indent="-285750" eaLnBrk="0" hangingPunct="0">
              <a:lnSpc>
                <a:spcPct val="90000"/>
              </a:lnSpc>
              <a:buClr>
                <a:srgbClr val="D0132B"/>
              </a:buClr>
              <a:buFont typeface="Wingdings" charset="2"/>
              <a:buChar char="§"/>
            </a:pPr>
            <a:r>
              <a:rPr lang="en-US" sz="1600">
                <a:latin typeface="+mj-lt"/>
                <a:ea typeface="Avenir Book" charset="0"/>
                <a:cs typeface="Avenir Book" charset="0"/>
              </a:rPr>
              <a:t>Services</a:t>
            </a:r>
          </a:p>
          <a:p>
            <a:pPr marL="285750" lvl="1" indent="-285750" eaLnBrk="0" hangingPunct="0">
              <a:lnSpc>
                <a:spcPct val="90000"/>
              </a:lnSpc>
              <a:buClr>
                <a:srgbClr val="D0132B"/>
              </a:buClr>
              <a:buFont typeface="Wingdings" charset="2"/>
              <a:buChar char="§"/>
            </a:pPr>
            <a:r>
              <a:rPr lang="en-US" sz="1600">
                <a:latin typeface="+mj-lt"/>
                <a:ea typeface="Avenir Book" charset="0"/>
                <a:cs typeface="Avenir Book" charset="0"/>
              </a:rPr>
              <a:t>Solutions</a:t>
            </a:r>
          </a:p>
          <a:p>
            <a:pPr marL="285750" lvl="1" indent="-285750" eaLnBrk="0" hangingPunct="0">
              <a:lnSpc>
                <a:spcPct val="90000"/>
              </a:lnSpc>
              <a:buClr>
                <a:srgbClr val="D0132B"/>
              </a:buClr>
              <a:buFont typeface="Wingdings" charset="2"/>
              <a:buChar char="§"/>
            </a:pPr>
            <a:r>
              <a:rPr lang="en-US" sz="1600">
                <a:latin typeface="+mj-lt"/>
                <a:ea typeface="Avenir Book" charset="0"/>
                <a:cs typeface="Avenir Book" charset="0"/>
              </a:rPr>
              <a:t>Value Enablers</a:t>
            </a:r>
          </a:p>
        </p:txBody>
      </p:sp>
      <p:sp>
        <p:nvSpPr>
          <p:cNvPr id="67590" name="Rectangle 14"/>
          <p:cNvSpPr>
            <a:spLocks noChangeArrowheads="1"/>
          </p:cNvSpPr>
          <p:nvPr/>
        </p:nvSpPr>
        <p:spPr bwMode="auto">
          <a:xfrm>
            <a:off x="4521057" y="2441554"/>
            <a:ext cx="1960562" cy="7571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eaLnBrk="0" hangingPunct="0">
              <a:lnSpc>
                <a:spcPct val="90000"/>
              </a:lnSpc>
            </a:pPr>
            <a:r>
              <a:rPr lang="en-US" sz="1600">
                <a:latin typeface="+mj-lt"/>
                <a:ea typeface="Avenir Book" charset="0"/>
                <a:cs typeface="Avenir Book" charset="0"/>
              </a:rPr>
              <a:t>How does what you have IMPACT what they care about?</a:t>
            </a:r>
          </a:p>
        </p:txBody>
      </p:sp>
      <p:sp>
        <p:nvSpPr>
          <p:cNvPr id="67591" name="Rectangle 15"/>
          <p:cNvSpPr>
            <a:spLocks noChangeArrowheads="1"/>
          </p:cNvSpPr>
          <p:nvPr/>
        </p:nvSpPr>
        <p:spPr bwMode="auto">
          <a:xfrm>
            <a:off x="6620024" y="2441554"/>
            <a:ext cx="1960562" cy="25299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algn="ctr" eaLnBrk="0" hangingPunct="0">
              <a:lnSpc>
                <a:spcPct val="90000"/>
              </a:lnSpc>
              <a:buClr>
                <a:srgbClr val="D0132B"/>
              </a:buClr>
            </a:pPr>
            <a:r>
              <a:rPr lang="en-US" sz="1600">
                <a:latin typeface="+mj-lt"/>
                <a:ea typeface="Avenir Book" charset="0"/>
                <a:cs typeface="Avenir Book" charset="0"/>
              </a:rPr>
              <a:t>How do you articulate this value and validate based on relevant examples?</a:t>
            </a:r>
          </a:p>
          <a:p>
            <a:pPr marL="285750" indent="-285750" algn="ctr" eaLnBrk="0" hangingPunct="0">
              <a:lnSpc>
                <a:spcPct val="90000"/>
              </a:lnSpc>
              <a:buClr>
                <a:srgbClr val="D0132B"/>
              </a:buClr>
              <a:buFont typeface="Wingdings" charset="2"/>
              <a:buChar char="§"/>
            </a:pPr>
            <a:endParaRPr lang="en-US" sz="1600">
              <a:latin typeface="+mj-lt"/>
              <a:ea typeface="Avenir Book" charset="0"/>
              <a:cs typeface="Avenir Book" charset="0"/>
            </a:endParaRPr>
          </a:p>
          <a:p>
            <a:pPr marL="285750" indent="-285750" eaLnBrk="0" hangingPunct="0">
              <a:lnSpc>
                <a:spcPct val="90000"/>
              </a:lnSpc>
              <a:buClr>
                <a:srgbClr val="D0132B"/>
              </a:buClr>
              <a:buFont typeface="Wingdings" charset="2"/>
              <a:buChar char="§"/>
            </a:pPr>
            <a:r>
              <a:rPr lang="en-US" sz="1600">
                <a:latin typeface="+mj-lt"/>
                <a:ea typeface="Avenir Book" charset="0"/>
                <a:cs typeface="Avenir Book" charset="0"/>
              </a:rPr>
              <a:t>Prove It!!!</a:t>
            </a:r>
          </a:p>
          <a:p>
            <a:pPr marL="285750" indent="-285750" eaLnBrk="0" hangingPunct="0">
              <a:lnSpc>
                <a:spcPct val="90000"/>
              </a:lnSpc>
              <a:buClr>
                <a:srgbClr val="D0132B"/>
              </a:buClr>
              <a:buFont typeface="Wingdings" charset="2"/>
              <a:buChar char="§"/>
            </a:pPr>
            <a:r>
              <a:rPr lang="en-US" sz="1600">
                <a:latin typeface="+mj-lt"/>
                <a:ea typeface="Avenir Book" charset="0"/>
                <a:cs typeface="Avenir Book" charset="0"/>
              </a:rPr>
              <a:t>What Matters NEXT???</a:t>
            </a:r>
          </a:p>
          <a:p>
            <a:pPr marL="285750" indent="-285750" algn="ctr" eaLnBrk="0" hangingPunct="0">
              <a:lnSpc>
                <a:spcPct val="90000"/>
              </a:lnSpc>
              <a:buClr>
                <a:srgbClr val="D0132B"/>
              </a:buClr>
              <a:buFont typeface="Wingdings" charset="2"/>
              <a:buChar char="§"/>
            </a:pPr>
            <a:endParaRPr lang="en-US" sz="1600">
              <a:latin typeface="+mj-lt"/>
              <a:ea typeface="Avenir Book" charset="0"/>
              <a:cs typeface="Avenir Book" charset="0"/>
            </a:endParaRPr>
          </a:p>
          <a:p>
            <a:pPr marL="285750" lvl="1" indent="-285750" algn="ctr" eaLnBrk="0" hangingPunct="0">
              <a:lnSpc>
                <a:spcPct val="90000"/>
              </a:lnSpc>
              <a:buClr>
                <a:srgbClr val="D0132B"/>
              </a:buClr>
              <a:buFont typeface="Wingdings" charset="2"/>
              <a:buChar char="§"/>
            </a:pPr>
            <a:endParaRPr lang="en-US" sz="1600">
              <a:latin typeface="+mj-lt"/>
              <a:ea typeface="Avenir Book" charset="0"/>
              <a:cs typeface="Avenir Book" charset="0"/>
            </a:endParaRPr>
          </a:p>
        </p:txBody>
      </p:sp>
      <p:sp>
        <p:nvSpPr>
          <p:cNvPr id="18" name="Pentagon 17"/>
          <p:cNvSpPr/>
          <p:nvPr/>
        </p:nvSpPr>
        <p:spPr>
          <a:xfrm>
            <a:off x="421891" y="1316236"/>
            <a:ext cx="1985847" cy="990600"/>
          </a:xfrm>
          <a:prstGeom prst="homePlate">
            <a:avLst>
              <a:gd name="adj" fmla="val 38889"/>
            </a:avLst>
          </a:prstGeom>
          <a:solidFill>
            <a:srgbClr val="9A0052"/>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400" b="1">
                <a:solidFill>
                  <a:schemeClr val="bg1"/>
                </a:solidFill>
                <a:latin typeface="+mj-lt"/>
                <a:ea typeface="Avenir Book" charset="0"/>
                <a:cs typeface="Avenir Book" charset="0"/>
              </a:rPr>
              <a:t>THEM</a:t>
            </a:r>
          </a:p>
        </p:txBody>
      </p:sp>
      <p:sp>
        <p:nvSpPr>
          <p:cNvPr id="19" name="Chevron 18"/>
          <p:cNvSpPr/>
          <p:nvPr/>
        </p:nvSpPr>
        <p:spPr>
          <a:xfrm>
            <a:off x="2377691" y="1316236"/>
            <a:ext cx="2144715" cy="990600"/>
          </a:xfrm>
          <a:prstGeom prst="chevron">
            <a:avLst>
              <a:gd name="adj" fmla="val 37179"/>
            </a:avLst>
          </a:prstGeom>
          <a:solidFill>
            <a:srgbClr val="9A0052"/>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400" b="1">
                <a:solidFill>
                  <a:schemeClr val="bg1"/>
                </a:solidFill>
                <a:latin typeface="+mj-lt"/>
                <a:ea typeface="Avenir Book" charset="0"/>
                <a:cs typeface="Avenir Book" charset="0"/>
              </a:rPr>
              <a:t>US</a:t>
            </a:r>
          </a:p>
        </p:txBody>
      </p:sp>
      <p:sp>
        <p:nvSpPr>
          <p:cNvPr id="20" name="Chevron 19"/>
          <p:cNvSpPr/>
          <p:nvPr/>
        </p:nvSpPr>
        <p:spPr>
          <a:xfrm>
            <a:off x="4485891" y="1324703"/>
            <a:ext cx="2144715" cy="990600"/>
          </a:xfrm>
          <a:prstGeom prst="chevron">
            <a:avLst>
              <a:gd name="adj" fmla="val 37179"/>
            </a:avLst>
          </a:prstGeom>
          <a:solidFill>
            <a:srgbClr val="9A0052"/>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400" b="1">
                <a:solidFill>
                  <a:schemeClr val="bg1"/>
                </a:solidFill>
                <a:latin typeface="+mj-lt"/>
                <a:ea typeface="Avenir Book" charset="0"/>
                <a:cs typeface="Avenir Book" charset="0"/>
              </a:rPr>
              <a:t>FIT</a:t>
            </a:r>
          </a:p>
        </p:txBody>
      </p:sp>
      <p:sp>
        <p:nvSpPr>
          <p:cNvPr id="21" name="Chevron 20"/>
          <p:cNvSpPr/>
          <p:nvPr/>
        </p:nvSpPr>
        <p:spPr>
          <a:xfrm>
            <a:off x="6594091" y="1316236"/>
            <a:ext cx="2144715" cy="990600"/>
          </a:xfrm>
          <a:prstGeom prst="chevron">
            <a:avLst>
              <a:gd name="adj" fmla="val 37179"/>
            </a:avLst>
          </a:prstGeom>
          <a:solidFill>
            <a:srgbClr val="9A0052"/>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lIns="182880" rIns="0" anchor="ctr"/>
          <a:lstStyle/>
          <a:p>
            <a:pPr algn="ctr">
              <a:defRPr/>
            </a:pPr>
            <a:r>
              <a:rPr lang="en-US" sz="2400" b="1">
                <a:solidFill>
                  <a:schemeClr val="bg1"/>
                </a:solidFill>
                <a:latin typeface="+mj-lt"/>
                <a:ea typeface="Avenir Book" charset="0"/>
                <a:cs typeface="Avenir Book" charset="0"/>
              </a:rPr>
              <a:t>PROOF</a:t>
            </a:r>
          </a:p>
        </p:txBody>
      </p:sp>
    </p:spTree>
    <p:extLst>
      <p:ext uri="{BB962C8B-B14F-4D97-AF65-F5344CB8AC3E}">
        <p14:creationId xmlns:p14="http://schemas.microsoft.com/office/powerpoint/2010/main" val="2541531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25943" y="12794"/>
            <a:ext cx="8941857" cy="641667"/>
          </a:xfrm>
        </p:spPr>
        <p:txBody>
          <a:bodyPr>
            <a:normAutofit/>
          </a:bodyPr>
          <a:lstStyle/>
          <a:p>
            <a:r>
              <a:rPr lang="en-US" sz="3600" b="0" dirty="0">
                <a:latin typeface="Franklin Gothic Book" panose="020B0503020102020204" pitchFamily="34" charset="0"/>
              </a:rPr>
              <a:t>Principle 2-</a:t>
            </a:r>
            <a:r>
              <a:rPr lang="en-US" sz="3600" dirty="0">
                <a:latin typeface="Franklin Gothic Book" panose="020B0503020102020204" pitchFamily="34" charset="0"/>
              </a:rPr>
              <a:t> </a:t>
            </a:r>
            <a:r>
              <a:rPr lang="en-US" sz="3600" b="0" dirty="0">
                <a:latin typeface="Franklin Gothic Book" panose="020B0503020102020204" pitchFamily="34" charset="0"/>
              </a:rPr>
              <a:t>Customer Business Compass</a:t>
            </a:r>
          </a:p>
        </p:txBody>
      </p:sp>
      <p:sp>
        <p:nvSpPr>
          <p:cNvPr id="10" name="Rectangle 9"/>
          <p:cNvSpPr/>
          <p:nvPr/>
        </p:nvSpPr>
        <p:spPr bwMode="auto">
          <a:xfrm>
            <a:off x="5374574" y="3396988"/>
            <a:ext cx="3483430" cy="1387171"/>
          </a:xfrm>
          <a:prstGeom prst="rect">
            <a:avLst/>
          </a:prstGeom>
          <a:noFill/>
          <a:ln w="38100">
            <a:solidFill>
              <a:srgbClr val="00B050"/>
            </a:solidFill>
          </a:ln>
          <a:effectLst/>
          <a:scene3d>
            <a:camera prst="orthographicFront"/>
            <a:lightRig rig="threePt" dir="t"/>
          </a:scene3d>
          <a:sp3d/>
        </p:spPr>
        <p:style>
          <a:lnRef idx="1">
            <a:schemeClr val="dk1"/>
          </a:lnRef>
          <a:fillRef idx="2">
            <a:schemeClr val="dk1"/>
          </a:fillRef>
          <a:effectRef idx="1">
            <a:schemeClr val="dk1"/>
          </a:effectRef>
          <a:fontRef idx="minor">
            <a:schemeClr val="dk1"/>
          </a:fontRef>
        </p:style>
        <p:txBody>
          <a:bodyPr anchor="t"/>
          <a:lstStyle/>
          <a:p>
            <a:pPr algn="ctr"/>
            <a:r>
              <a:rPr lang="en-US" sz="1050" b="1">
                <a:solidFill>
                  <a:srgbClr val="000000"/>
                </a:solidFill>
                <a:latin typeface="+mj-lt"/>
                <a:ea typeface="Avenir Medium"/>
                <a:cs typeface="Avenir Bold"/>
              </a:rPr>
              <a:t>Organization &amp; People</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r>
              <a:rPr lang="en-US" sz="1050" b="1">
                <a:solidFill>
                  <a:srgbClr val="000000"/>
                </a:solidFill>
                <a:latin typeface="+mj-lt"/>
                <a:ea typeface="Avenir Medium"/>
                <a:cs typeface="Avenir Bold"/>
              </a:rPr>
              <a:t> </a:t>
            </a:r>
          </a:p>
        </p:txBody>
      </p:sp>
      <p:sp>
        <p:nvSpPr>
          <p:cNvPr id="11" name="Rectangle 10"/>
          <p:cNvSpPr/>
          <p:nvPr/>
        </p:nvSpPr>
        <p:spPr bwMode="auto">
          <a:xfrm>
            <a:off x="321516" y="3412632"/>
            <a:ext cx="3483430" cy="1389888"/>
          </a:xfrm>
          <a:prstGeom prst="rect">
            <a:avLst/>
          </a:prstGeom>
          <a:noFill/>
          <a:ln w="38100">
            <a:solidFill>
              <a:schemeClr val="accent6">
                <a:lumMod val="50000"/>
              </a:schemeClr>
            </a:solidFill>
          </a:ln>
          <a:effectLst/>
          <a:scene3d>
            <a:camera prst="orthographicFront"/>
            <a:lightRig rig="threePt" dir="t"/>
          </a:scene3d>
          <a:sp3d/>
        </p:spPr>
        <p:style>
          <a:lnRef idx="1">
            <a:schemeClr val="dk1"/>
          </a:lnRef>
          <a:fillRef idx="2">
            <a:schemeClr val="dk1"/>
          </a:fillRef>
          <a:effectRef idx="1">
            <a:schemeClr val="dk1"/>
          </a:effectRef>
          <a:fontRef idx="minor">
            <a:schemeClr val="dk1"/>
          </a:fontRef>
        </p:style>
        <p:txBody>
          <a:bodyPr anchor="t"/>
          <a:lstStyle/>
          <a:p>
            <a:pPr algn="ctr"/>
            <a:r>
              <a:rPr lang="en-US" sz="1050" b="1">
                <a:solidFill>
                  <a:srgbClr val="000000"/>
                </a:solidFill>
                <a:latin typeface="+mj-lt"/>
                <a:ea typeface="Avenir Medium"/>
                <a:cs typeface="Avenir Bold"/>
              </a:rPr>
              <a:t>Operational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p:txBody>
      </p:sp>
      <p:sp>
        <p:nvSpPr>
          <p:cNvPr id="12" name="Rectangle 11"/>
          <p:cNvSpPr/>
          <p:nvPr/>
        </p:nvSpPr>
        <p:spPr bwMode="auto">
          <a:xfrm>
            <a:off x="2808934" y="1639240"/>
            <a:ext cx="3483430" cy="1447992"/>
          </a:xfrm>
          <a:prstGeom prst="rect">
            <a:avLst/>
          </a:prstGeom>
          <a:noFill/>
          <a:ln w="38100">
            <a:solidFill>
              <a:schemeClr val="bg1">
                <a:lumMod val="50000"/>
              </a:schemeClr>
            </a:solidFill>
          </a:ln>
          <a:effectLst/>
          <a:scene3d>
            <a:camera prst="orthographicFront"/>
            <a:lightRig rig="threePt" dir="t"/>
          </a:scene3d>
          <a:sp3d/>
        </p:spPr>
        <p:style>
          <a:lnRef idx="1">
            <a:schemeClr val="dk1"/>
          </a:lnRef>
          <a:fillRef idx="2">
            <a:schemeClr val="dk1"/>
          </a:fillRef>
          <a:effectRef idx="1">
            <a:schemeClr val="dk1"/>
          </a:effectRef>
          <a:fontRef idx="minor">
            <a:schemeClr val="dk1"/>
          </a:fontRef>
        </p:style>
        <p:txBody>
          <a:bodyPr anchor="t"/>
          <a:lstStyle/>
          <a:p>
            <a:pPr algn="ctr">
              <a:defRPr/>
            </a:pPr>
            <a:r>
              <a:rPr lang="en-US" sz="1050" b="1">
                <a:solidFill>
                  <a:srgbClr val="000000"/>
                </a:solidFill>
                <a:latin typeface="+mj-lt"/>
                <a:ea typeface="Avenir Medium"/>
                <a:cs typeface="Avenir Bold"/>
              </a:rPr>
              <a:t>Market / Customer / Competition</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p:txBody>
      </p:sp>
      <p:sp>
        <p:nvSpPr>
          <p:cNvPr id="13" name="Rectangle 12"/>
          <p:cNvSpPr/>
          <p:nvPr/>
        </p:nvSpPr>
        <p:spPr bwMode="auto">
          <a:xfrm>
            <a:off x="2808934" y="5056790"/>
            <a:ext cx="3483430" cy="1402830"/>
          </a:xfrm>
          <a:prstGeom prst="rect">
            <a:avLst/>
          </a:prstGeom>
          <a:noFill/>
          <a:ln w="38100">
            <a:solidFill>
              <a:srgbClr val="D0132B"/>
            </a:solidFill>
          </a:ln>
          <a:effectLst/>
          <a:scene3d>
            <a:camera prst="orthographicFront"/>
            <a:lightRig rig="threePt" dir="t"/>
          </a:scene3d>
          <a:sp3d/>
        </p:spPr>
        <p:style>
          <a:lnRef idx="1">
            <a:schemeClr val="dk1"/>
          </a:lnRef>
          <a:fillRef idx="2">
            <a:schemeClr val="dk1"/>
          </a:fillRef>
          <a:effectRef idx="1">
            <a:schemeClr val="dk1"/>
          </a:effectRef>
          <a:fontRef idx="minor">
            <a:schemeClr val="dk1"/>
          </a:fontRef>
        </p:style>
        <p:txBody>
          <a:bodyPr anchor="t"/>
          <a:lstStyle/>
          <a:p>
            <a:pPr algn="ctr"/>
            <a:r>
              <a:rPr lang="en-US" sz="1050" b="1">
                <a:solidFill>
                  <a:srgbClr val="000000"/>
                </a:solidFill>
                <a:latin typeface="+mj-lt"/>
                <a:ea typeface="Avenir Medium"/>
                <a:cs typeface="Avenir Bold"/>
              </a:rPr>
              <a:t>Financial</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p>
          <a:p>
            <a:pPr marL="285750" indent="-285750">
              <a:buFont typeface="Arial"/>
              <a:buChar char="•"/>
              <a:defRPr/>
            </a:pPr>
            <a:r>
              <a:rPr lang="en-US" sz="1050">
                <a:solidFill>
                  <a:srgbClr val="000000"/>
                </a:solidFill>
                <a:latin typeface="+mj-lt"/>
                <a:ea typeface="ＭＳ Ｐゴシック" pitchFamily="-102" charset="-128"/>
                <a:cs typeface="Avenir Medium"/>
              </a:rPr>
              <a:t> </a:t>
            </a:r>
            <a:r>
              <a:rPr lang="en-US" sz="1050" b="1">
                <a:solidFill>
                  <a:srgbClr val="000000"/>
                </a:solidFill>
                <a:latin typeface="+mj-lt"/>
                <a:ea typeface="Avenir Medium"/>
                <a:cs typeface="Avenir Bold"/>
              </a:rPr>
              <a:t> </a:t>
            </a:r>
          </a:p>
        </p:txBody>
      </p:sp>
      <p:sp>
        <p:nvSpPr>
          <p:cNvPr id="20" name="4-Point Star 19"/>
          <p:cNvSpPr/>
          <p:nvPr/>
        </p:nvSpPr>
        <p:spPr>
          <a:xfrm rot="2700000">
            <a:off x="4026096" y="3517118"/>
            <a:ext cx="1109786" cy="1109786"/>
          </a:xfrm>
          <a:prstGeom prst="star4">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
        <p:nvSpPr>
          <p:cNvPr id="25" name="4-Point Star 24"/>
          <p:cNvSpPr/>
          <p:nvPr/>
        </p:nvSpPr>
        <p:spPr>
          <a:xfrm>
            <a:off x="3931015" y="3412633"/>
            <a:ext cx="1299948" cy="1299948"/>
          </a:xfrm>
          <a:prstGeom prst="star4">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venir Book" charset="0"/>
              <a:ea typeface="Avenir Book" charset="0"/>
              <a:cs typeface="Avenir Book" charset="0"/>
            </a:endParaRPr>
          </a:p>
        </p:txBody>
      </p:sp>
    </p:spTree>
    <p:extLst>
      <p:ext uri="{BB962C8B-B14F-4D97-AF65-F5344CB8AC3E}">
        <p14:creationId xmlns:p14="http://schemas.microsoft.com/office/powerpoint/2010/main" val="393583695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0" y="56980"/>
            <a:ext cx="8991600" cy="641667"/>
          </a:xfrm>
        </p:spPr>
        <p:txBody>
          <a:bodyPr>
            <a:normAutofit/>
          </a:bodyPr>
          <a:lstStyle/>
          <a:p>
            <a:r>
              <a:rPr lang="en-US" sz="3600" b="0" dirty="0">
                <a:latin typeface="Franklin Gothic Book" panose="020B0503020102020204" pitchFamily="34" charset="0"/>
              </a:rPr>
              <a:t>Principle 3- Third-Box Thinking™</a:t>
            </a:r>
          </a:p>
        </p:txBody>
      </p:sp>
      <p:sp>
        <p:nvSpPr>
          <p:cNvPr id="5" name="Rectangle 4"/>
          <p:cNvSpPr/>
          <p:nvPr/>
        </p:nvSpPr>
        <p:spPr>
          <a:xfrm>
            <a:off x="1712631" y="1238538"/>
            <a:ext cx="1492519" cy="149251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2000" b="1" dirty="0">
                <a:solidFill>
                  <a:schemeClr val="tx1"/>
                </a:solidFill>
                <a:latin typeface="+mj-lt"/>
                <a:ea typeface="Avenir Book" charset="0"/>
                <a:cs typeface="Avenir Book" charset="0"/>
              </a:rPr>
              <a:t>You</a:t>
            </a:r>
          </a:p>
        </p:txBody>
      </p:sp>
      <p:sp>
        <p:nvSpPr>
          <p:cNvPr id="6" name="Rectangle 5"/>
          <p:cNvSpPr/>
          <p:nvPr/>
        </p:nvSpPr>
        <p:spPr>
          <a:xfrm>
            <a:off x="3908884" y="1238538"/>
            <a:ext cx="1492519" cy="149251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b="1" dirty="0">
                <a:solidFill>
                  <a:schemeClr val="tx1"/>
                </a:solidFill>
                <a:latin typeface="+mj-lt"/>
                <a:ea typeface="Avenir Book" charset="0"/>
                <a:cs typeface="Avenir Book" charset="0"/>
              </a:rPr>
              <a:t>Future Employer</a:t>
            </a:r>
          </a:p>
        </p:txBody>
      </p:sp>
      <p:sp>
        <p:nvSpPr>
          <p:cNvPr id="7" name="Rectangle 6"/>
          <p:cNvSpPr/>
          <p:nvPr/>
        </p:nvSpPr>
        <p:spPr>
          <a:xfrm>
            <a:off x="6070295" y="1238538"/>
            <a:ext cx="1492519" cy="1492519"/>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600" b="1">
                <a:solidFill>
                  <a:schemeClr val="tx1"/>
                </a:solidFill>
                <a:latin typeface="+mj-lt"/>
                <a:ea typeface="Avenir Book" charset="0"/>
                <a:cs typeface="Avenir Book" charset="0"/>
              </a:rPr>
              <a:t>Their </a:t>
            </a:r>
          </a:p>
          <a:p>
            <a:pPr algn="ctr">
              <a:defRPr/>
            </a:pPr>
            <a:r>
              <a:rPr lang="en-US" sz="1600" b="1">
                <a:solidFill>
                  <a:schemeClr val="tx1"/>
                </a:solidFill>
                <a:latin typeface="+mj-lt"/>
                <a:ea typeface="Avenir Book" charset="0"/>
                <a:cs typeface="Avenir Book" charset="0"/>
              </a:rPr>
              <a:t>Customer</a:t>
            </a:r>
            <a:endParaRPr lang="en-US" sz="1600" b="1" dirty="0">
              <a:solidFill>
                <a:schemeClr val="tx1"/>
              </a:solidFill>
              <a:latin typeface="+mj-lt"/>
              <a:ea typeface="Avenir Book" charset="0"/>
              <a:cs typeface="Avenir Book" charset="0"/>
            </a:endParaRPr>
          </a:p>
        </p:txBody>
      </p:sp>
      <p:sp>
        <p:nvSpPr>
          <p:cNvPr id="9" name="Isosceles Triangle 8"/>
          <p:cNvSpPr/>
          <p:nvPr/>
        </p:nvSpPr>
        <p:spPr>
          <a:xfrm rot="16200000">
            <a:off x="3348419" y="1786693"/>
            <a:ext cx="332732" cy="445985"/>
          </a:xfrm>
          <a:prstGeom prst="triangle">
            <a:avLst/>
          </a:prstGeom>
          <a:solidFill>
            <a:srgbClr val="C9135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mj-lt"/>
              <a:ea typeface="Avenir Book" charset="0"/>
              <a:cs typeface="Avenir Book" charset="0"/>
            </a:endParaRPr>
          </a:p>
        </p:txBody>
      </p:sp>
      <p:sp>
        <p:nvSpPr>
          <p:cNvPr id="10" name="Isosceles Triangle 9"/>
          <p:cNvSpPr/>
          <p:nvPr/>
        </p:nvSpPr>
        <p:spPr>
          <a:xfrm rot="16200000">
            <a:off x="5503000" y="1786694"/>
            <a:ext cx="332732" cy="445985"/>
          </a:xfrm>
          <a:prstGeom prst="triangle">
            <a:avLst/>
          </a:prstGeom>
          <a:solidFill>
            <a:srgbClr val="C9135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latin typeface="+mj-lt"/>
              <a:ea typeface="Avenir Book" charset="0"/>
              <a:cs typeface="Avenir Book" charset="0"/>
            </a:endParaRPr>
          </a:p>
        </p:txBody>
      </p:sp>
      <p:sp>
        <p:nvSpPr>
          <p:cNvPr id="109591" name="TextBox 19"/>
          <p:cNvSpPr txBox="1">
            <a:spLocks noChangeArrowheads="1"/>
          </p:cNvSpPr>
          <p:nvPr/>
        </p:nvSpPr>
        <p:spPr bwMode="auto">
          <a:xfrm>
            <a:off x="1610128" y="2825587"/>
            <a:ext cx="1833563"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latin typeface="+mj-lt"/>
                <a:ea typeface="Avenir Book" charset="0"/>
                <a:cs typeface="Avenir Book" charset="0"/>
              </a:rPr>
              <a:t>Bring?</a:t>
            </a:r>
          </a:p>
        </p:txBody>
      </p:sp>
      <p:sp>
        <p:nvSpPr>
          <p:cNvPr id="109592" name="TextBox 20"/>
          <p:cNvSpPr txBox="1">
            <a:spLocks noChangeArrowheads="1"/>
          </p:cNvSpPr>
          <p:nvPr/>
        </p:nvSpPr>
        <p:spPr bwMode="auto">
          <a:xfrm>
            <a:off x="3735791" y="2928618"/>
            <a:ext cx="1831975"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a:latin typeface="+mj-lt"/>
                <a:ea typeface="Avenir Book" charset="0"/>
                <a:cs typeface="Avenir Book" charset="0"/>
              </a:rPr>
              <a:t>Care About?</a:t>
            </a:r>
          </a:p>
        </p:txBody>
      </p:sp>
      <p:sp>
        <p:nvSpPr>
          <p:cNvPr id="109594" name="TextBox 20"/>
          <p:cNvSpPr txBox="1">
            <a:spLocks noChangeArrowheads="1"/>
          </p:cNvSpPr>
          <p:nvPr/>
        </p:nvSpPr>
        <p:spPr bwMode="auto">
          <a:xfrm>
            <a:off x="5958291" y="2928618"/>
            <a:ext cx="1831975"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600" b="1" dirty="0">
                <a:latin typeface="+mj-lt"/>
                <a:ea typeface="Avenir Book" charset="0"/>
                <a:cs typeface="Avenir Book" charset="0"/>
              </a:rPr>
              <a:t>Seek?</a:t>
            </a:r>
          </a:p>
        </p:txBody>
      </p:sp>
      <p:sp>
        <p:nvSpPr>
          <p:cNvPr id="109598" name="TextBox 2"/>
          <p:cNvSpPr txBox="1">
            <a:spLocks noChangeArrowheads="1"/>
          </p:cNvSpPr>
          <p:nvPr/>
        </p:nvSpPr>
        <p:spPr bwMode="auto">
          <a:xfrm>
            <a:off x="3735791" y="3328666"/>
            <a:ext cx="1933575" cy="3139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p:txBody>
      </p:sp>
      <p:sp>
        <p:nvSpPr>
          <p:cNvPr id="109599" name="TextBox 18"/>
          <p:cNvSpPr txBox="1">
            <a:spLocks noChangeArrowheads="1"/>
          </p:cNvSpPr>
          <p:nvPr/>
        </p:nvSpPr>
        <p:spPr bwMode="auto">
          <a:xfrm>
            <a:off x="5905903" y="3336606"/>
            <a:ext cx="1935163" cy="3139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a:p>
            <a:pPr eaLnBrk="1" hangingPunct="1">
              <a:buFont typeface="Arial" charset="0"/>
              <a:buChar char="•"/>
            </a:pPr>
            <a:r>
              <a:rPr lang="en-US" sz="1800">
                <a:solidFill>
                  <a:schemeClr val="tx1">
                    <a:lumMod val="65000"/>
                    <a:lumOff val="35000"/>
                  </a:schemeClr>
                </a:solidFill>
                <a:latin typeface="+mj-lt"/>
                <a:ea typeface="Avenir Book" charset="0"/>
                <a:cs typeface="Avenir Book" charset="0"/>
              </a:rPr>
              <a:t> </a:t>
            </a:r>
          </a:p>
        </p:txBody>
      </p:sp>
    </p:spTree>
    <p:extLst>
      <p:ext uri="{BB962C8B-B14F-4D97-AF65-F5344CB8AC3E}">
        <p14:creationId xmlns:p14="http://schemas.microsoft.com/office/powerpoint/2010/main" val="74429571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0" y="76200"/>
            <a:ext cx="6142037" cy="641667"/>
          </a:xfrm>
        </p:spPr>
        <p:txBody>
          <a:bodyPr>
            <a:normAutofit/>
          </a:bodyPr>
          <a:lstStyle/>
          <a:p>
            <a:r>
              <a:rPr lang="en-US" sz="3600" b="0" dirty="0">
                <a:latin typeface="Franklin Gothic Book" panose="020B0503020102020204" pitchFamily="34" charset="0"/>
              </a:rPr>
              <a:t>Principle 4- Careabouts</a:t>
            </a:r>
          </a:p>
        </p:txBody>
      </p:sp>
      <p:graphicFrame>
        <p:nvGraphicFramePr>
          <p:cNvPr id="6" name="Group 36"/>
          <p:cNvGraphicFramePr>
            <a:graphicFrameLocks noGrp="1"/>
          </p:cNvGraphicFramePr>
          <p:nvPr/>
        </p:nvGraphicFramePr>
        <p:xfrm>
          <a:off x="293810" y="1295400"/>
          <a:ext cx="8577264" cy="4890484"/>
        </p:xfrm>
        <a:graphic>
          <a:graphicData uri="http://schemas.openxmlformats.org/drawingml/2006/table">
            <a:tbl>
              <a:tblPr firstRow="1">
                <a:effectLst/>
                <a:tableStyleId>{775DCB02-9BB8-47FD-8907-85C794F793BA}</a:tableStyleId>
              </a:tblPr>
              <a:tblGrid>
                <a:gridCol w="2144316">
                  <a:extLst>
                    <a:ext uri="{9D8B030D-6E8A-4147-A177-3AD203B41FA5}">
                      <a16:colId xmlns:a16="http://schemas.microsoft.com/office/drawing/2014/main" val="20000"/>
                    </a:ext>
                  </a:extLst>
                </a:gridCol>
                <a:gridCol w="2144316">
                  <a:extLst>
                    <a:ext uri="{9D8B030D-6E8A-4147-A177-3AD203B41FA5}">
                      <a16:colId xmlns:a16="http://schemas.microsoft.com/office/drawing/2014/main" val="20001"/>
                    </a:ext>
                  </a:extLst>
                </a:gridCol>
                <a:gridCol w="2144316">
                  <a:extLst>
                    <a:ext uri="{9D8B030D-6E8A-4147-A177-3AD203B41FA5}">
                      <a16:colId xmlns:a16="http://schemas.microsoft.com/office/drawing/2014/main" val="20002"/>
                    </a:ext>
                  </a:extLst>
                </a:gridCol>
                <a:gridCol w="2144316">
                  <a:extLst>
                    <a:ext uri="{9D8B030D-6E8A-4147-A177-3AD203B41FA5}">
                      <a16:colId xmlns:a16="http://schemas.microsoft.com/office/drawing/2014/main" val="20003"/>
                    </a:ext>
                  </a:extLst>
                </a:gridCol>
              </a:tblGrid>
              <a:tr h="890101">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u="none" strike="noStrike" kern="1200" cap="none" normalizeH="0" baseline="0">
                          <a:ln>
                            <a:noFill/>
                          </a:ln>
                          <a:solidFill>
                            <a:srgbClr val="FFFFFF"/>
                          </a:solidFill>
                          <a:effectLst/>
                          <a:latin typeface="+mj-lt"/>
                          <a:cs typeface="Avenir Medium"/>
                        </a:rPr>
                        <a:t>Customer Careabouts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u="none" strike="noStrike" kern="1200" cap="none" normalizeH="0" baseline="0">
                          <a:ln>
                            <a:noFill/>
                          </a:ln>
                          <a:solidFill>
                            <a:srgbClr val="FFFFFF"/>
                          </a:solidFill>
                          <a:effectLst/>
                          <a:latin typeface="+mj-lt"/>
                          <a:cs typeface="Avenir Medium"/>
                        </a:rPr>
                        <a:t>WHAT?</a:t>
                      </a:r>
                      <a:endParaRPr kumimoji="0" lang="en-US" sz="1600" b="1" i="0" u="none" strike="noStrike" kern="1200" cap="none" normalizeH="0" baseline="0">
                        <a:ln>
                          <a:noFill/>
                        </a:ln>
                        <a:solidFill>
                          <a:srgbClr val="FFFFFF"/>
                        </a:solidFill>
                        <a:effectLst/>
                        <a:latin typeface="+mj-lt"/>
                        <a:ea typeface="+mn-ea"/>
                        <a:cs typeface="Avenir Medium"/>
                      </a:endParaRPr>
                    </a:p>
                  </a:txBody>
                  <a:tcPr marL="77498" marR="77498" marT="38749" marB="38749" anchor="ct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9A0052"/>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u="none" strike="noStrike" kern="1200" cap="none" normalizeH="0" baseline="0">
                          <a:ln>
                            <a:noFill/>
                          </a:ln>
                          <a:solidFill>
                            <a:srgbClr val="FFFFFF"/>
                          </a:solidFill>
                          <a:effectLst/>
                          <a:latin typeface="+mj-lt"/>
                          <a:cs typeface="Avenir Medium"/>
                        </a:rPr>
                        <a:t>WHY Is This a Problem/Priority?</a:t>
                      </a:r>
                      <a:endParaRPr kumimoji="0" lang="en-US" sz="1600" b="1" i="0" u="none" strike="noStrike" kern="1200" cap="none" normalizeH="0" baseline="0">
                        <a:ln>
                          <a:noFill/>
                        </a:ln>
                        <a:solidFill>
                          <a:srgbClr val="FFFFFF"/>
                        </a:solidFill>
                        <a:effectLst/>
                        <a:latin typeface="+mj-lt"/>
                        <a:ea typeface="+mn-ea"/>
                        <a:cs typeface="Avenir Medium"/>
                      </a:endParaRPr>
                    </a:p>
                  </a:txBody>
                  <a:tcPr marL="77498" marR="77498" marT="38749" marB="38749" anchor="ct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9A0052"/>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u="none" strike="noStrike" kern="1200" cap="none" normalizeH="0" baseline="0">
                          <a:ln>
                            <a:noFill/>
                          </a:ln>
                          <a:solidFill>
                            <a:srgbClr val="FFFFFF"/>
                          </a:solidFill>
                          <a:effectLst/>
                          <a:latin typeface="+mj-lt"/>
                          <a:cs typeface="Avenir Medium"/>
                        </a:rPr>
                        <a:t>What Are They DOING About This Issue?</a:t>
                      </a:r>
                      <a:endParaRPr kumimoji="0" lang="en-US" sz="1600" b="1" i="0" u="none" strike="noStrike" kern="1200" cap="none" normalizeH="0" baseline="0">
                        <a:ln>
                          <a:noFill/>
                        </a:ln>
                        <a:solidFill>
                          <a:srgbClr val="FFFFFF"/>
                        </a:solidFill>
                        <a:effectLst/>
                        <a:latin typeface="+mj-lt"/>
                        <a:ea typeface="+mn-ea"/>
                        <a:cs typeface="Avenir Medium"/>
                      </a:endParaRPr>
                    </a:p>
                  </a:txBody>
                  <a:tcPr marL="77498" marR="77498" marT="38749" marB="38749" anchor="ct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9A0052"/>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600" u="none" strike="noStrike" kern="1200" cap="none" normalizeH="0" baseline="0">
                          <a:ln>
                            <a:noFill/>
                          </a:ln>
                          <a:solidFill>
                            <a:srgbClr val="FFFFFF"/>
                          </a:solidFill>
                          <a:effectLst/>
                          <a:latin typeface="+mj-lt"/>
                          <a:cs typeface="Avenir Medium"/>
                        </a:rPr>
                        <a:t>WHO Has Responsibility for It?</a:t>
                      </a:r>
                      <a:endParaRPr kumimoji="0" lang="en-US" sz="1600" b="1" i="0" u="none" strike="noStrike" kern="1200" cap="none" normalizeH="0" baseline="0">
                        <a:ln>
                          <a:noFill/>
                        </a:ln>
                        <a:solidFill>
                          <a:srgbClr val="FFFFFF"/>
                        </a:solidFill>
                        <a:effectLst/>
                        <a:latin typeface="+mj-lt"/>
                        <a:ea typeface="+mn-ea"/>
                        <a:cs typeface="Avenir Medium"/>
                      </a:endParaRPr>
                    </a:p>
                  </a:txBody>
                  <a:tcPr marL="77498" marR="77498" marT="38749" marB="38749" anchor="ct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9A0052"/>
                    </a:solidFill>
                  </a:tcPr>
                </a:tc>
                <a:extLst>
                  <a:ext uri="{0D108BD9-81ED-4DB2-BD59-A6C34878D82A}">
                    <a16:rowId xmlns:a16="http://schemas.microsoft.com/office/drawing/2014/main" val="10000"/>
                  </a:ext>
                </a:extLst>
              </a:tr>
              <a:tr h="133346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1333461">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Char char="•"/>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1333461">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Char char="•"/>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38203293"/>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0" y="38100"/>
            <a:ext cx="9144000" cy="641667"/>
          </a:xfrm>
        </p:spPr>
        <p:txBody>
          <a:bodyPr>
            <a:noAutofit/>
          </a:bodyPr>
          <a:lstStyle/>
          <a:p>
            <a:r>
              <a:rPr lang="en-US" sz="3600" b="0" dirty="0">
                <a:latin typeface="Franklin Gothic Book"/>
                <a:cs typeface="Franklin Gothic Book"/>
              </a:rPr>
              <a:t>Principle 6- Value Hypothesis</a:t>
            </a:r>
          </a:p>
        </p:txBody>
      </p:sp>
      <p:graphicFrame>
        <p:nvGraphicFramePr>
          <p:cNvPr id="5" name="Group 36"/>
          <p:cNvGraphicFramePr>
            <a:graphicFrameLocks noGrp="1"/>
          </p:cNvGraphicFramePr>
          <p:nvPr/>
        </p:nvGraphicFramePr>
        <p:xfrm>
          <a:off x="293814" y="1411740"/>
          <a:ext cx="8518888" cy="3084059"/>
        </p:xfrm>
        <a:graphic>
          <a:graphicData uri="http://schemas.openxmlformats.org/drawingml/2006/table">
            <a:tbl>
              <a:tblPr firstRow="1">
                <a:effectLst/>
                <a:tableStyleId>{775DCB02-9BB8-47FD-8907-85C794F793BA}</a:tableStyleId>
              </a:tblPr>
              <a:tblGrid>
                <a:gridCol w="2129722">
                  <a:extLst>
                    <a:ext uri="{9D8B030D-6E8A-4147-A177-3AD203B41FA5}">
                      <a16:colId xmlns:a16="http://schemas.microsoft.com/office/drawing/2014/main" val="20000"/>
                    </a:ext>
                  </a:extLst>
                </a:gridCol>
                <a:gridCol w="2129722">
                  <a:extLst>
                    <a:ext uri="{9D8B030D-6E8A-4147-A177-3AD203B41FA5}">
                      <a16:colId xmlns:a16="http://schemas.microsoft.com/office/drawing/2014/main" val="20001"/>
                    </a:ext>
                  </a:extLst>
                </a:gridCol>
                <a:gridCol w="2129722">
                  <a:extLst>
                    <a:ext uri="{9D8B030D-6E8A-4147-A177-3AD203B41FA5}">
                      <a16:colId xmlns:a16="http://schemas.microsoft.com/office/drawing/2014/main" val="20002"/>
                    </a:ext>
                  </a:extLst>
                </a:gridCol>
                <a:gridCol w="2129722">
                  <a:extLst>
                    <a:ext uri="{9D8B030D-6E8A-4147-A177-3AD203B41FA5}">
                      <a16:colId xmlns:a16="http://schemas.microsoft.com/office/drawing/2014/main" val="20003"/>
                    </a:ext>
                  </a:extLst>
                </a:gridCol>
              </a:tblGrid>
              <a:tr h="932789">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65" charset="2"/>
                        <a:buNone/>
                        <a:tabLst/>
                      </a:pPr>
                      <a:r>
                        <a:rPr kumimoji="0" lang="en-US" sz="1500" b="0" i="0" u="none" strike="noStrike" cap="none" normalizeH="0" baseline="0">
                          <a:ln>
                            <a:noFill/>
                          </a:ln>
                          <a:solidFill>
                            <a:schemeClr val="bg1"/>
                          </a:solidFill>
                          <a:effectLst/>
                          <a:latin typeface="+mn-lt"/>
                          <a:ea typeface="ＭＳ Ｐゴシック" pitchFamily="-65" charset="-128"/>
                          <a:cs typeface="Avenir Book"/>
                        </a:rPr>
                        <a:t>What do they care</a:t>
                      </a:r>
                      <a:br>
                        <a:rPr kumimoji="0" lang="en-US" sz="1500" b="0" i="0" u="none" strike="noStrike" cap="none" normalizeH="0" baseline="0">
                          <a:ln>
                            <a:noFill/>
                          </a:ln>
                          <a:solidFill>
                            <a:schemeClr val="bg1"/>
                          </a:solidFill>
                          <a:effectLst/>
                          <a:latin typeface="+mn-lt"/>
                          <a:ea typeface="ＭＳ Ｐゴシック" pitchFamily="-65" charset="-128"/>
                          <a:cs typeface="Avenir Book"/>
                        </a:rPr>
                      </a:br>
                      <a:r>
                        <a:rPr kumimoji="0" lang="en-US" sz="1500" b="0" i="0" u="none" strike="noStrike" cap="none" normalizeH="0" baseline="0">
                          <a:ln>
                            <a:noFill/>
                          </a:ln>
                          <a:solidFill>
                            <a:schemeClr val="bg1"/>
                          </a:solidFill>
                          <a:effectLst/>
                          <a:latin typeface="+mn-lt"/>
                          <a:ea typeface="ＭＳ Ｐゴシック" pitchFamily="-65" charset="-128"/>
                          <a:cs typeface="Avenir Book"/>
                        </a:rPr>
                        <a:t>about?</a:t>
                      </a:r>
                    </a:p>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65" charset="2"/>
                        <a:buNone/>
                        <a:tabLst/>
                      </a:pPr>
                      <a:r>
                        <a:rPr kumimoji="0" lang="en-US" sz="1500" b="1" i="0" u="none" strike="noStrike" cap="none" normalizeH="0" baseline="0">
                          <a:ln>
                            <a:noFill/>
                          </a:ln>
                          <a:solidFill>
                            <a:schemeClr val="bg1"/>
                          </a:solidFill>
                          <a:effectLst/>
                          <a:latin typeface="+mn-lt"/>
                          <a:ea typeface="ＭＳ Ｐゴシック" pitchFamily="-65" charset="-128"/>
                          <a:cs typeface="Avenir Book"/>
                        </a:rPr>
                        <a:t>THEM</a:t>
                      </a:r>
                    </a:p>
                  </a:txBody>
                  <a:tcPr marL="168813" marR="168813" anchor="ctr" anchorCtr="1"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9A0052"/>
                    </a:solidFill>
                  </a:tcPr>
                </a:tc>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65" charset="2"/>
                        <a:buNone/>
                        <a:tabLst/>
                      </a:pPr>
                      <a:r>
                        <a:rPr kumimoji="0" lang="en-US" sz="1500" b="0" i="0" u="none" strike="noStrike" cap="none" normalizeH="0" baseline="0">
                          <a:ln>
                            <a:noFill/>
                          </a:ln>
                          <a:solidFill>
                            <a:schemeClr val="bg1"/>
                          </a:solidFill>
                          <a:effectLst/>
                          <a:latin typeface="+mn-lt"/>
                          <a:ea typeface="ＭＳ Ｐゴシック" pitchFamily="-65" charset="-128"/>
                          <a:cs typeface="Avenir Book"/>
                        </a:rPr>
                        <a:t>What do you have? </a:t>
                      </a:r>
                      <a:br>
                        <a:rPr kumimoji="0" lang="en-US" sz="1500" b="0" i="0" u="none" strike="noStrike" cap="none" normalizeH="0" baseline="0">
                          <a:ln>
                            <a:noFill/>
                          </a:ln>
                          <a:solidFill>
                            <a:schemeClr val="bg1"/>
                          </a:solidFill>
                          <a:effectLst/>
                          <a:latin typeface="+mn-lt"/>
                          <a:ea typeface="ＭＳ Ｐゴシック" pitchFamily="-65" charset="-128"/>
                          <a:cs typeface="Avenir Book"/>
                        </a:rPr>
                      </a:br>
                      <a:r>
                        <a:rPr kumimoji="0" lang="en-US" sz="1500" b="0" i="0" u="none" strike="noStrike" cap="none" normalizeH="0" baseline="0">
                          <a:ln>
                            <a:noFill/>
                          </a:ln>
                          <a:solidFill>
                            <a:schemeClr val="bg1"/>
                          </a:solidFill>
                          <a:effectLst/>
                          <a:latin typeface="+mn-lt"/>
                          <a:ea typeface="ＭＳ Ｐゴシック" pitchFamily="-65" charset="-128"/>
                          <a:cs typeface="Avenir Book"/>
                        </a:rPr>
                        <a:t>How are you different?</a:t>
                      </a:r>
                    </a:p>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65" charset="2"/>
                        <a:buNone/>
                        <a:tabLst/>
                      </a:pPr>
                      <a:r>
                        <a:rPr kumimoji="0" lang="en-US" sz="1500" b="1" i="0" u="none" strike="noStrike" cap="none" normalizeH="0" baseline="0">
                          <a:ln>
                            <a:noFill/>
                          </a:ln>
                          <a:solidFill>
                            <a:schemeClr val="bg1"/>
                          </a:solidFill>
                          <a:effectLst/>
                          <a:latin typeface="+mn-lt"/>
                          <a:ea typeface="ＭＳ Ｐゴシック" pitchFamily="-65" charset="-128"/>
                          <a:cs typeface="Avenir Book"/>
                        </a:rPr>
                        <a:t>US</a:t>
                      </a:r>
                    </a:p>
                  </a:txBody>
                  <a:tcPr marL="168813" marR="168813" anchor="ctr" anchorCtr="1"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9A0052"/>
                    </a:solidFill>
                  </a:tcPr>
                </a:tc>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65" charset="2"/>
                        <a:buNone/>
                        <a:tabLst/>
                      </a:pPr>
                      <a:r>
                        <a:rPr kumimoji="0" lang="en-US" sz="1500" b="0" i="0" u="none" strike="noStrike" cap="none" normalizeH="0" baseline="0">
                          <a:ln>
                            <a:noFill/>
                          </a:ln>
                          <a:solidFill>
                            <a:schemeClr val="bg1"/>
                          </a:solidFill>
                          <a:effectLst/>
                          <a:latin typeface="+mn-lt"/>
                          <a:ea typeface="ＭＳ Ｐゴシック" pitchFamily="-65" charset="-128"/>
                          <a:cs typeface="Avenir Book"/>
                        </a:rPr>
                        <a:t>Impact</a:t>
                      </a:r>
                    </a:p>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65" charset="2"/>
                        <a:buNone/>
                        <a:tabLst/>
                      </a:pPr>
                      <a:r>
                        <a:rPr kumimoji="0" lang="en-US" sz="1500" b="1" i="0" u="none" strike="noStrike" cap="none" normalizeH="0" baseline="0">
                          <a:ln>
                            <a:noFill/>
                          </a:ln>
                          <a:solidFill>
                            <a:schemeClr val="bg1"/>
                          </a:solidFill>
                          <a:effectLst/>
                          <a:latin typeface="+mn-lt"/>
                          <a:ea typeface="ＭＳ Ｐゴシック" pitchFamily="-65" charset="-128"/>
                          <a:cs typeface="Avenir Book"/>
                        </a:rPr>
                        <a:t>FIT</a:t>
                      </a:r>
                    </a:p>
                  </a:txBody>
                  <a:tcPr marL="168813" marR="168813" anchor="ctr" anchorCtr="1"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9A0052"/>
                    </a:solidFill>
                  </a:tcPr>
                </a:tc>
                <a:tc>
                  <a:txBody>
                    <a:bodyPr/>
                    <a:lstStyle/>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65" charset="2"/>
                        <a:buNone/>
                        <a:tabLst/>
                      </a:pPr>
                      <a:r>
                        <a:rPr kumimoji="0" lang="en-US" sz="1500" b="0" i="0" u="none" strike="noStrike" cap="none" normalizeH="0" baseline="0">
                          <a:ln>
                            <a:noFill/>
                          </a:ln>
                          <a:solidFill>
                            <a:schemeClr val="bg1"/>
                          </a:solidFill>
                          <a:effectLst/>
                          <a:latin typeface="+mn-lt"/>
                          <a:ea typeface="ＭＳ Ｐゴシック" pitchFamily="-65" charset="-128"/>
                          <a:cs typeface="Avenir Book"/>
                        </a:rPr>
                        <a:t>Where have you done this before?</a:t>
                      </a:r>
                    </a:p>
                    <a:p>
                      <a:pPr marL="0" marR="0" lvl="0" indent="0" algn="ctr" defTabSz="914400" rtl="0" eaLnBrk="0" fontAlgn="base" latinLnBrk="0" hangingPunct="0">
                        <a:lnSpc>
                          <a:spcPct val="95000"/>
                        </a:lnSpc>
                        <a:spcBef>
                          <a:spcPct val="50000"/>
                        </a:spcBef>
                        <a:spcAft>
                          <a:spcPct val="0"/>
                        </a:spcAft>
                        <a:buClr>
                          <a:schemeClr val="tx2"/>
                        </a:buClr>
                        <a:buSzPct val="100000"/>
                        <a:buFont typeface="Wingdings" pitchFamily="-65" charset="2"/>
                        <a:buNone/>
                        <a:tabLst/>
                        <a:defRPr/>
                      </a:pPr>
                      <a:r>
                        <a:rPr kumimoji="0" lang="en-US" sz="1500" b="1" i="0" u="none" strike="noStrike" cap="none" normalizeH="0" baseline="0">
                          <a:ln>
                            <a:noFill/>
                          </a:ln>
                          <a:solidFill>
                            <a:schemeClr val="bg1"/>
                          </a:solidFill>
                          <a:effectLst/>
                          <a:latin typeface="+mn-lt"/>
                          <a:ea typeface="ＭＳ Ｐゴシック" pitchFamily="-65" charset="-128"/>
                          <a:cs typeface="Avenir Book"/>
                        </a:rPr>
                        <a:t>PROOF</a:t>
                      </a:r>
                    </a:p>
                  </a:txBody>
                  <a:tcPr marL="168813" marR="168813" anchor="ctr" anchorCtr="1"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rgbClr val="9A0052"/>
                    </a:solidFill>
                  </a:tcPr>
                </a:tc>
                <a:extLst>
                  <a:ext uri="{0D108BD9-81ED-4DB2-BD59-A6C34878D82A}">
                    <a16:rowId xmlns:a16="http://schemas.microsoft.com/office/drawing/2014/main" val="10000"/>
                  </a:ext>
                </a:extLst>
              </a:tr>
              <a:tr h="71709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717090">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Char char="•"/>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71709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 typeface="Arial" pitchFamily="34" charset="0"/>
                        <a:buChar char="•"/>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100" b="1" i="0" u="none" strike="noStrike" cap="none" normalizeH="0" baseline="0">
                        <a:ln>
                          <a:noFill/>
                        </a:ln>
                        <a:solidFill>
                          <a:schemeClr val="tx1"/>
                        </a:solidFill>
                        <a:effectLst/>
                        <a:latin typeface="Tahoma" pitchFamily="34" charset="0"/>
                      </a:endParaRPr>
                    </a:p>
                  </a:txBody>
                  <a:tcPr marL="77498" marR="77498" marT="38749" marB="38749"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bl>
          </a:graphicData>
        </a:graphic>
      </p:graphicFrame>
      <p:sp>
        <p:nvSpPr>
          <p:cNvPr id="6" name="Rectangle 3"/>
          <p:cNvSpPr txBox="1">
            <a:spLocks noChangeArrowheads="1"/>
          </p:cNvSpPr>
          <p:nvPr/>
        </p:nvSpPr>
        <p:spPr bwMode="auto">
          <a:xfrm>
            <a:off x="293814" y="4686777"/>
            <a:ext cx="8518887" cy="1216285"/>
          </a:xfrm>
          <a:prstGeom prst="rect">
            <a:avLst/>
          </a:prstGeom>
          <a:noFill/>
          <a:ln>
            <a:miter lim="800000"/>
            <a:headEnd/>
            <a:tailEnd/>
          </a:ln>
        </p:spPr>
        <p:txBody>
          <a:bodyPr anchor="t">
            <a:prstTxWarp prst="textNoShape">
              <a:avLst/>
            </a:prstTxWarp>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D0132B"/>
              </a:buClr>
              <a:buFont typeface="Wingdings" charset="2"/>
              <a:buChar char="§"/>
            </a:pPr>
            <a:r>
              <a:rPr lang="en-US" sz="2000">
                <a:solidFill>
                  <a:schemeClr val="tx1">
                    <a:lumMod val="65000"/>
                    <a:lumOff val="35000"/>
                  </a:schemeClr>
                </a:solidFill>
                <a:latin typeface="+mj-lt"/>
                <a:cs typeface="Avenir Book"/>
              </a:rPr>
              <a:t>Identify customer issues</a:t>
            </a:r>
          </a:p>
          <a:p>
            <a:pPr>
              <a:buClr>
                <a:srgbClr val="D0132B"/>
              </a:buClr>
              <a:buFont typeface="Wingdings" charset="2"/>
              <a:buChar char="§"/>
            </a:pPr>
            <a:r>
              <a:rPr lang="en-US" sz="2000">
                <a:solidFill>
                  <a:schemeClr val="tx1">
                    <a:lumMod val="65000"/>
                    <a:lumOff val="35000"/>
                  </a:schemeClr>
                </a:solidFill>
                <a:latin typeface="+mj-lt"/>
                <a:cs typeface="Avenir Book"/>
              </a:rPr>
              <a:t>What could you potentially offer?</a:t>
            </a:r>
          </a:p>
          <a:p>
            <a:pPr>
              <a:buClr>
                <a:srgbClr val="D0132B"/>
              </a:buClr>
              <a:buFont typeface="Wingdings" charset="2"/>
              <a:buChar char="§"/>
            </a:pPr>
            <a:r>
              <a:rPr lang="en-US" sz="2000">
                <a:solidFill>
                  <a:schemeClr val="tx1">
                    <a:lumMod val="65000"/>
                    <a:lumOff val="35000"/>
                  </a:schemeClr>
                </a:solidFill>
                <a:latin typeface="+mj-lt"/>
                <a:cs typeface="Avenir Book"/>
              </a:rPr>
              <a:t>Describe impact in 1-3 word phrases</a:t>
            </a:r>
          </a:p>
          <a:p>
            <a:pPr>
              <a:buClr>
                <a:srgbClr val="D0132B"/>
              </a:buClr>
              <a:buFont typeface="Wingdings" charset="2"/>
              <a:buChar char="§"/>
            </a:pPr>
            <a:r>
              <a:rPr lang="en-US" sz="2000">
                <a:solidFill>
                  <a:schemeClr val="tx1">
                    <a:lumMod val="65000"/>
                    <a:lumOff val="35000"/>
                  </a:schemeClr>
                </a:solidFill>
                <a:latin typeface="+mj-lt"/>
                <a:cs typeface="Avenir Book"/>
              </a:rPr>
              <a:t>Prioritize and order the impact phrases</a:t>
            </a:r>
          </a:p>
        </p:txBody>
      </p:sp>
    </p:spTree>
    <p:extLst>
      <p:ext uri="{BB962C8B-B14F-4D97-AF65-F5344CB8AC3E}">
        <p14:creationId xmlns:p14="http://schemas.microsoft.com/office/powerpoint/2010/main" val="3542553704"/>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0" y="76200"/>
            <a:ext cx="9144000" cy="641667"/>
          </a:xfrm>
        </p:spPr>
        <p:txBody>
          <a:bodyPr>
            <a:normAutofit/>
          </a:bodyPr>
          <a:lstStyle/>
          <a:p>
            <a:r>
              <a:rPr lang="en-US" sz="3600" b="0">
                <a:latin typeface="Franklin Gothic Book"/>
                <a:cs typeface="Franklin Gothic Book"/>
              </a:rPr>
              <a:t>Crafting Your Value Hypothesis</a:t>
            </a:r>
          </a:p>
        </p:txBody>
      </p:sp>
      <p:sp>
        <p:nvSpPr>
          <p:cNvPr id="5" name="Content Placeholder 4"/>
          <p:cNvSpPr>
            <a:spLocks noGrp="1"/>
          </p:cNvSpPr>
          <p:nvPr>
            <p:ph sz="quarter" idx="16"/>
          </p:nvPr>
        </p:nvSpPr>
        <p:spPr/>
        <p:txBody>
          <a:bodyPr>
            <a:normAutofit lnSpcReduction="10000"/>
          </a:bodyPr>
          <a:lstStyle/>
          <a:p>
            <a:pPr marL="0" indent="0">
              <a:spcBef>
                <a:spcPts val="0"/>
              </a:spcBef>
              <a:buFont typeface="Arial" charset="0"/>
              <a:buNone/>
            </a:pPr>
            <a:r>
              <a:rPr lang="en-US" sz="2000"/>
              <a:t>Knowing your focus on…</a:t>
            </a:r>
          </a:p>
          <a:p>
            <a:pPr marL="0" indent="0">
              <a:spcBef>
                <a:spcPts val="0"/>
              </a:spcBef>
            </a:pPr>
            <a:r>
              <a:rPr lang="en-US" sz="2000"/>
              <a:t> </a:t>
            </a:r>
          </a:p>
          <a:p>
            <a:pPr marL="0" indent="0">
              <a:spcBef>
                <a:spcPts val="0"/>
              </a:spcBef>
            </a:pPr>
            <a:r>
              <a:rPr lang="en-US" sz="2000"/>
              <a:t> </a:t>
            </a:r>
          </a:p>
          <a:p>
            <a:pPr marL="0" indent="0">
              <a:spcBef>
                <a:spcPts val="0"/>
              </a:spcBef>
            </a:pPr>
            <a:r>
              <a:rPr lang="en-US" sz="2000"/>
              <a:t> </a:t>
            </a:r>
          </a:p>
          <a:p>
            <a:pPr marL="0" indent="0">
              <a:spcBef>
                <a:spcPts val="0"/>
              </a:spcBef>
              <a:buFont typeface="Arial" charset="0"/>
              <a:buNone/>
            </a:pPr>
            <a:r>
              <a:rPr lang="en-US" sz="2000"/>
              <a:t>We can help you with…</a:t>
            </a:r>
          </a:p>
          <a:p>
            <a:pPr marL="0" indent="0">
              <a:spcBef>
                <a:spcPts val="0"/>
              </a:spcBef>
            </a:pPr>
            <a:r>
              <a:rPr lang="en-US" sz="2000"/>
              <a:t> </a:t>
            </a:r>
          </a:p>
          <a:p>
            <a:pPr marL="0" indent="0">
              <a:spcBef>
                <a:spcPts val="0"/>
              </a:spcBef>
            </a:pPr>
            <a:r>
              <a:rPr lang="en-US" sz="2000"/>
              <a:t> </a:t>
            </a:r>
          </a:p>
          <a:p>
            <a:pPr marL="0" indent="0">
              <a:spcBef>
                <a:spcPts val="0"/>
              </a:spcBef>
            </a:pPr>
            <a:r>
              <a:rPr lang="en-US" sz="2000"/>
              <a:t> </a:t>
            </a:r>
          </a:p>
          <a:p>
            <a:pPr marL="0" indent="0">
              <a:spcBef>
                <a:spcPts val="0"/>
              </a:spcBef>
              <a:buFont typeface="Arial" charset="0"/>
              <a:buNone/>
            </a:pPr>
            <a:r>
              <a:rPr lang="en-US" sz="2000"/>
              <a:t>We do this by…</a:t>
            </a:r>
          </a:p>
          <a:p>
            <a:pPr marL="0" indent="0">
              <a:spcBef>
                <a:spcPts val="0"/>
              </a:spcBef>
            </a:pPr>
            <a:r>
              <a:rPr lang="en-US" sz="2000"/>
              <a:t> </a:t>
            </a:r>
          </a:p>
          <a:p>
            <a:pPr marL="0" indent="0">
              <a:spcBef>
                <a:spcPts val="0"/>
              </a:spcBef>
            </a:pPr>
            <a:r>
              <a:rPr lang="en-US" sz="2000"/>
              <a:t> </a:t>
            </a:r>
          </a:p>
          <a:p>
            <a:pPr marL="0" indent="0">
              <a:spcBef>
                <a:spcPts val="0"/>
              </a:spcBef>
            </a:pPr>
            <a:r>
              <a:rPr lang="en-US" sz="2000"/>
              <a:t> </a:t>
            </a:r>
          </a:p>
          <a:p>
            <a:pPr marL="0" indent="0">
              <a:spcBef>
                <a:spcPts val="0"/>
              </a:spcBef>
              <a:buFont typeface="Arial" charset="0"/>
              <a:buNone/>
            </a:pPr>
            <a:r>
              <a:rPr lang="en-US" sz="2000"/>
              <a:t>We have done this for…</a:t>
            </a:r>
          </a:p>
          <a:p>
            <a:pPr marL="0" indent="0">
              <a:spcBef>
                <a:spcPts val="0"/>
              </a:spcBef>
            </a:pPr>
            <a:r>
              <a:rPr lang="en-US" sz="2000"/>
              <a:t> </a:t>
            </a:r>
          </a:p>
          <a:p>
            <a:pPr marL="0" indent="0">
              <a:spcBef>
                <a:spcPts val="0"/>
              </a:spcBef>
            </a:pPr>
            <a:r>
              <a:rPr lang="en-US" sz="2000"/>
              <a:t> </a:t>
            </a:r>
          </a:p>
          <a:p>
            <a:pPr marL="0" indent="0">
              <a:spcBef>
                <a:spcPts val="0"/>
              </a:spcBef>
            </a:pPr>
            <a:r>
              <a:rPr lang="en-US" sz="2000"/>
              <a:t> </a:t>
            </a:r>
          </a:p>
        </p:txBody>
      </p:sp>
    </p:spTree>
    <p:extLst>
      <p:ext uri="{BB962C8B-B14F-4D97-AF65-F5344CB8AC3E}">
        <p14:creationId xmlns:p14="http://schemas.microsoft.com/office/powerpoint/2010/main" val="4261313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0" y="12700"/>
            <a:ext cx="9144000" cy="825500"/>
          </a:xfrm>
        </p:spPr>
        <p:txBody>
          <a:bodyPr>
            <a:noAutofit/>
          </a:bodyPr>
          <a:lstStyle/>
          <a:p>
            <a:r>
              <a:rPr lang="en-US" sz="2800" b="0" dirty="0">
                <a:latin typeface="Franklin Gothic Book" panose="020B0503020102020204" pitchFamily="34" charset="0"/>
              </a:rPr>
              <a:t>Principle 6- Value Enablers (FIT)  </a:t>
            </a:r>
            <a:r>
              <a:rPr lang="en-US" b="0" dirty="0">
                <a:latin typeface="Franklin Gothic Book" panose="020B0503020102020204" pitchFamily="34" charset="0"/>
              </a:rPr>
              <a:t>Where Do Solutions Impact Customer Business? </a:t>
            </a:r>
          </a:p>
        </p:txBody>
      </p:sp>
      <p:graphicFrame>
        <p:nvGraphicFramePr>
          <p:cNvPr id="5" name="Group 3"/>
          <p:cNvGraphicFramePr>
            <a:graphicFrameLocks noGrp="1"/>
          </p:cNvGraphicFramePr>
          <p:nvPr/>
        </p:nvGraphicFramePr>
        <p:xfrm>
          <a:off x="457200" y="1066800"/>
          <a:ext cx="8150225" cy="4630782"/>
        </p:xfrm>
        <a:graphic>
          <a:graphicData uri="http://schemas.openxmlformats.org/drawingml/2006/table">
            <a:tbl>
              <a:tblPr/>
              <a:tblGrid>
                <a:gridCol w="2716171">
                  <a:extLst>
                    <a:ext uri="{9D8B030D-6E8A-4147-A177-3AD203B41FA5}">
                      <a16:colId xmlns:a16="http://schemas.microsoft.com/office/drawing/2014/main" val="20000"/>
                    </a:ext>
                  </a:extLst>
                </a:gridCol>
                <a:gridCol w="2914956">
                  <a:extLst>
                    <a:ext uri="{9D8B030D-6E8A-4147-A177-3AD203B41FA5}">
                      <a16:colId xmlns:a16="http://schemas.microsoft.com/office/drawing/2014/main" val="20001"/>
                    </a:ext>
                  </a:extLst>
                </a:gridCol>
                <a:gridCol w="2519098">
                  <a:extLst>
                    <a:ext uri="{9D8B030D-6E8A-4147-A177-3AD203B41FA5}">
                      <a16:colId xmlns:a16="http://schemas.microsoft.com/office/drawing/2014/main" val="20002"/>
                    </a:ext>
                  </a:extLst>
                </a:gridCol>
              </a:tblGrid>
              <a:tr h="643998">
                <a:tc>
                  <a:txBody>
                    <a:bodyPr/>
                    <a:lstStyle/>
                    <a:p>
                      <a:pPr marL="0" marR="0" lvl="0" indent="0" algn="ctr" defTabSz="762000" rtl="0" eaLnBrk="0" fontAlgn="base" latinLnBrk="0" hangingPunct="0">
                        <a:lnSpc>
                          <a:spcPct val="100000"/>
                        </a:lnSpc>
                        <a:spcBef>
                          <a:spcPct val="0"/>
                        </a:spcBef>
                        <a:spcAft>
                          <a:spcPct val="0"/>
                        </a:spcAft>
                        <a:buClrTx/>
                        <a:buSzPct val="100000"/>
                        <a:buFont typeface="Wingdings" charset="0"/>
                        <a:buNone/>
                        <a:tabLst/>
                      </a:pPr>
                      <a:r>
                        <a:rPr kumimoji="0" lang="en-US" sz="1800" b="0" i="0" u="none" strike="noStrike" cap="none" normalizeH="0" baseline="0">
                          <a:ln>
                            <a:noFill/>
                          </a:ln>
                          <a:solidFill>
                            <a:schemeClr val="bg1"/>
                          </a:solidFill>
                          <a:effectLst/>
                          <a:latin typeface="+mn-lt"/>
                          <a:ea typeface="Avenir Book" charset="0"/>
                          <a:cs typeface="Avenir Book" charset="0"/>
                        </a:rPr>
                        <a:t>Which 2-3 areas are you going to impact?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A0052"/>
                    </a:solidFill>
                  </a:tcPr>
                </a:tc>
                <a:tc>
                  <a:txBody>
                    <a:bodyPr/>
                    <a:lstStyle/>
                    <a:p>
                      <a:pPr marL="0" marR="0" lvl="0" indent="0" algn="ctr" defTabSz="762000" rtl="0" eaLnBrk="0" fontAlgn="base" latinLnBrk="0" hangingPunct="0">
                        <a:lnSpc>
                          <a:spcPct val="100000"/>
                        </a:lnSpc>
                        <a:spcBef>
                          <a:spcPct val="0"/>
                        </a:spcBef>
                        <a:spcAft>
                          <a:spcPct val="0"/>
                        </a:spcAft>
                        <a:buClrTx/>
                        <a:buSzPct val="100000"/>
                        <a:buFont typeface="Wingdings" charset="0"/>
                        <a:buNone/>
                        <a:tabLst/>
                      </a:pPr>
                      <a:r>
                        <a:rPr kumimoji="0" lang="en-US" sz="1800" b="0" i="0" u="none" strike="noStrike" cap="none" normalizeH="0" baseline="0">
                          <a:ln>
                            <a:noFill/>
                          </a:ln>
                          <a:solidFill>
                            <a:schemeClr val="bg1"/>
                          </a:solidFill>
                          <a:effectLst/>
                          <a:latin typeface="+mn-lt"/>
                          <a:ea typeface="Avenir Book" charset="0"/>
                          <a:cs typeface="Avenir Book" charset="0"/>
                        </a:rPr>
                        <a:t>What products and services could you use?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A0052"/>
                    </a:solidFill>
                  </a:tcPr>
                </a:tc>
                <a:tc>
                  <a:txBody>
                    <a:bodyPr/>
                    <a:lstStyle/>
                    <a:p>
                      <a:pPr marL="0" marR="0" lvl="0" indent="0" algn="ctr" defTabSz="762000" rtl="0" eaLnBrk="0" fontAlgn="base" latinLnBrk="0" hangingPunct="0">
                        <a:lnSpc>
                          <a:spcPct val="100000"/>
                        </a:lnSpc>
                        <a:spcBef>
                          <a:spcPct val="0"/>
                        </a:spcBef>
                        <a:spcAft>
                          <a:spcPct val="0"/>
                        </a:spcAft>
                        <a:buClrTx/>
                        <a:buSzPct val="100000"/>
                        <a:buFont typeface="Wingdings" charset="0"/>
                        <a:buNone/>
                        <a:tabLst/>
                      </a:pPr>
                      <a:r>
                        <a:rPr kumimoji="0" lang="en-US" sz="1800" b="0" i="0" u="none" strike="noStrike" cap="none" normalizeH="0" baseline="0">
                          <a:ln>
                            <a:noFill/>
                          </a:ln>
                          <a:solidFill>
                            <a:schemeClr val="bg1"/>
                          </a:solidFill>
                          <a:effectLst/>
                          <a:latin typeface="+mn-lt"/>
                          <a:ea typeface="Avenir Book" charset="0"/>
                          <a:cs typeface="Avenir Book" charset="0"/>
                        </a:rPr>
                        <a:t>How would you measure that?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A0052"/>
                    </a:solidFill>
                  </a:tcPr>
                </a:tc>
                <a:extLst>
                  <a:ext uri="{0D108BD9-81ED-4DB2-BD59-A6C34878D82A}">
                    <a16:rowId xmlns:a16="http://schemas.microsoft.com/office/drawing/2014/main" val="10000"/>
                  </a:ext>
                </a:extLst>
              </a:tr>
              <a:tr h="3983144">
                <a:tc>
                  <a:txBody>
                    <a:bodyPr/>
                    <a:lstStyle/>
                    <a:p>
                      <a:pPr marL="495300" marR="0" lvl="0" indent="-495300" algn="l" defTabSz="762000" rtl="0" eaLnBrk="0" fontAlgn="base" latinLnBrk="0" hangingPunct="0">
                        <a:lnSpc>
                          <a:spcPct val="100000"/>
                        </a:lnSpc>
                        <a:spcBef>
                          <a:spcPct val="0"/>
                        </a:spcBef>
                        <a:spcAft>
                          <a:spcPct val="400000"/>
                        </a:spcAft>
                        <a:buClrTx/>
                        <a:buSzPct val="100000"/>
                        <a:buFont typeface="Wingdings" charset="0"/>
                        <a:buAutoNum type="arabicPeriod"/>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495300" marR="0" lvl="0" indent="-495300" algn="l" defTabSz="762000" rtl="0" eaLnBrk="0" fontAlgn="base" latinLnBrk="0" hangingPunct="0">
                        <a:lnSpc>
                          <a:spcPct val="100000"/>
                        </a:lnSpc>
                        <a:spcBef>
                          <a:spcPct val="0"/>
                        </a:spcBef>
                        <a:spcAft>
                          <a:spcPct val="400000"/>
                        </a:spcAft>
                        <a:buClrTx/>
                        <a:buSzPct val="100000"/>
                        <a:buFont typeface="Wingdings" charset="0"/>
                        <a:buAutoNum type="arabicPeriod"/>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495300" marR="0" lvl="0" indent="-495300" algn="l" defTabSz="762000" rtl="0" eaLnBrk="0" fontAlgn="base" latinLnBrk="0" hangingPunct="0">
                        <a:lnSpc>
                          <a:spcPct val="100000"/>
                        </a:lnSpc>
                        <a:spcBef>
                          <a:spcPct val="0"/>
                        </a:spcBef>
                        <a:spcAft>
                          <a:spcPct val="0"/>
                        </a:spcAft>
                        <a:buClrTx/>
                        <a:buSzPct val="100000"/>
                        <a:buFont typeface="Wingdings" charset="0"/>
                        <a:buAutoNum type="arabicPeriod"/>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495300" marR="0" lvl="0" indent="-495300" algn="l" defTabSz="762000" rtl="0" eaLnBrk="0" fontAlgn="base" latinLnBrk="0" hangingPunct="0">
                        <a:lnSpc>
                          <a:spcPct val="90000"/>
                        </a:lnSpc>
                        <a:spcBef>
                          <a:spcPct val="20000"/>
                        </a:spcBef>
                        <a:spcAft>
                          <a:spcPct val="0"/>
                        </a:spcAft>
                        <a:buClrTx/>
                        <a:buSzPct val="100000"/>
                        <a:buFont typeface="Wingdings" charset="0"/>
                        <a:buChar char="Ø"/>
                        <a:tabLst/>
                      </a:pPr>
                      <a:endParaRPr kumimoji="0" lang="en-US" sz="1800" b="1" i="0" u="none" strike="noStrike" cap="none" normalizeH="0" baseline="0">
                        <a:ln>
                          <a:noFill/>
                        </a:ln>
                        <a:solidFill>
                          <a:schemeClr val="tx1"/>
                        </a:solidFill>
                        <a:effectLst/>
                        <a:latin typeface="Avenir Book" charset="0"/>
                        <a:ea typeface="Avenir Book" charset="0"/>
                        <a:cs typeface="Avenir Book"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p>
                      <a:pPr marL="0" marR="0" lvl="0" indent="0" algn="l" defTabSz="762000" rtl="0" eaLnBrk="0" fontAlgn="base" latinLnBrk="0" hangingPunct="0">
                        <a:lnSpc>
                          <a:spcPct val="100000"/>
                        </a:lnSpc>
                        <a:spcBef>
                          <a:spcPct val="20000"/>
                        </a:spcBef>
                        <a:spcAft>
                          <a:spcPct val="0"/>
                        </a:spcAft>
                        <a:buClrTx/>
                        <a:buSzPct val="100000"/>
                        <a:buFont typeface="Arial" charset="0"/>
                        <a:buChar char="•"/>
                        <a:tabLst/>
                      </a:pPr>
                      <a:r>
                        <a:rPr kumimoji="0" lang="en-US" sz="1800" b="1" i="0" u="none" strike="noStrike" cap="none" normalizeH="0" baseline="0">
                          <a:ln>
                            <a:noFill/>
                          </a:ln>
                          <a:solidFill>
                            <a:schemeClr val="tx1"/>
                          </a:solidFill>
                          <a:effectLst/>
                          <a:latin typeface="Avenir Book" charset="0"/>
                          <a:ea typeface="Avenir Book" charset="0"/>
                          <a:cs typeface="Avenir Book"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09092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0" y="0"/>
            <a:ext cx="9144000" cy="641667"/>
          </a:xfrm>
        </p:spPr>
        <p:txBody>
          <a:bodyPr>
            <a:normAutofit/>
          </a:bodyPr>
          <a:lstStyle/>
          <a:p>
            <a:r>
              <a:rPr lang="en-US" sz="3600" b="0" dirty="0">
                <a:latin typeface="Franklin Gothic Book"/>
                <a:cs typeface="Franklin Gothic Book"/>
              </a:rPr>
              <a:t>Principle 7 –Value Proposition</a:t>
            </a:r>
          </a:p>
        </p:txBody>
      </p:sp>
      <p:graphicFrame>
        <p:nvGraphicFramePr>
          <p:cNvPr id="5" name="Table 4"/>
          <p:cNvGraphicFramePr>
            <a:graphicFrameLocks noGrp="1"/>
          </p:cNvGraphicFramePr>
          <p:nvPr/>
        </p:nvGraphicFramePr>
        <p:xfrm>
          <a:off x="434979" y="2286000"/>
          <a:ext cx="8316913" cy="3943986"/>
        </p:xfrm>
        <a:graphic>
          <a:graphicData uri="http://schemas.openxmlformats.org/drawingml/2006/table">
            <a:tbl>
              <a:tblPr>
                <a:effectLst/>
              </a:tblPr>
              <a:tblGrid>
                <a:gridCol w="1970088">
                  <a:extLst>
                    <a:ext uri="{9D8B030D-6E8A-4147-A177-3AD203B41FA5}">
                      <a16:colId xmlns:a16="http://schemas.microsoft.com/office/drawing/2014/main" val="20000"/>
                    </a:ext>
                  </a:extLst>
                </a:gridCol>
                <a:gridCol w="2122487">
                  <a:extLst>
                    <a:ext uri="{9D8B030D-6E8A-4147-A177-3AD203B41FA5}">
                      <a16:colId xmlns:a16="http://schemas.microsoft.com/office/drawing/2014/main" val="20001"/>
                    </a:ext>
                  </a:extLst>
                </a:gridCol>
                <a:gridCol w="2066925">
                  <a:extLst>
                    <a:ext uri="{9D8B030D-6E8A-4147-A177-3AD203B41FA5}">
                      <a16:colId xmlns:a16="http://schemas.microsoft.com/office/drawing/2014/main" val="20002"/>
                    </a:ext>
                  </a:extLst>
                </a:gridCol>
                <a:gridCol w="2157413">
                  <a:extLst>
                    <a:ext uri="{9D8B030D-6E8A-4147-A177-3AD203B41FA5}">
                      <a16:colId xmlns:a16="http://schemas.microsoft.com/office/drawing/2014/main" val="20003"/>
                    </a:ext>
                  </a:extLst>
                </a:gridCol>
              </a:tblGrid>
              <a:tr h="7556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bg1"/>
                          </a:solidFill>
                          <a:effectLst/>
                          <a:latin typeface="+mn-lt"/>
                          <a:ea typeface="ＭＳ Ｐゴシック" charset="0"/>
                          <a:cs typeface="ＭＳ Ｐゴシック" charset="0"/>
                        </a:rPr>
                        <a:t>What do your customers/customers’ customers care about?</a:t>
                      </a:r>
                    </a:p>
                  </a:txBody>
                  <a:tcPr anchor="ct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rgbClr val="9A005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bg1"/>
                          </a:solidFill>
                          <a:effectLst/>
                          <a:latin typeface="+mn-lt"/>
                          <a:ea typeface="ＭＳ Ｐゴシック" charset="0"/>
                          <a:cs typeface="ＭＳ Ｐゴシック" charset="0"/>
                        </a:rPr>
                        <a:t>What do you have?</a:t>
                      </a:r>
                    </a:p>
                  </a:txBody>
                  <a:tcPr anchor="ct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rgbClr val="9A005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bg1"/>
                          </a:solidFill>
                          <a:effectLst/>
                          <a:latin typeface="+mn-lt"/>
                          <a:ea typeface="ＭＳ Ｐゴシック" charset="0"/>
                          <a:cs typeface="ＭＳ Ｐゴシック" charset="0"/>
                        </a:rPr>
                        <a:t>How does what you have impact what they care about?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bg1"/>
                          </a:solidFill>
                          <a:effectLst/>
                          <a:latin typeface="+mn-lt"/>
                          <a:ea typeface="ＭＳ Ｐゴシック" charset="0"/>
                          <a:cs typeface="ＭＳ Ｐゴシック" charset="0"/>
                        </a:rPr>
                        <a:t>(So what?)</a:t>
                      </a:r>
                    </a:p>
                  </a:txBody>
                  <a:tcPr anchor="ct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rgbClr val="9A005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a:ln>
                            <a:noFill/>
                          </a:ln>
                          <a:solidFill>
                            <a:schemeClr val="bg1"/>
                          </a:solidFill>
                          <a:effectLst/>
                          <a:latin typeface="+mn-lt"/>
                          <a:ea typeface="ＭＳ Ｐゴシック" charset="0"/>
                          <a:cs typeface="ＭＳ Ｐゴシック" charset="0"/>
                        </a:rPr>
                        <a:t>Where/For Whom have you done this before? What were the results?</a:t>
                      </a:r>
                    </a:p>
                  </a:txBody>
                  <a:tcPr anchor="ct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rgbClr val="9A0052"/>
                    </a:solidFill>
                  </a:tcPr>
                </a:tc>
                <a:extLst>
                  <a:ext uri="{0D108BD9-81ED-4DB2-BD59-A6C34878D82A}">
                    <a16:rowId xmlns:a16="http://schemas.microsoft.com/office/drawing/2014/main" val="10000"/>
                  </a:ext>
                </a:extLst>
              </a:tr>
              <a:tr h="828675">
                <a:tc>
                  <a:txBody>
                    <a:bodyPr/>
                    <a:lstStyle/>
                    <a:p>
                      <a:pPr marL="171450" marR="0" lvl="0" indent="-171450" algn="l" defTabSz="914400" rtl="0" eaLnBrk="1" fontAlgn="base" latinLnBrk="0" hangingPunct="1">
                        <a:lnSpc>
                          <a:spcPct val="100000"/>
                        </a:lnSpc>
                        <a:spcBef>
                          <a:spcPct val="0"/>
                        </a:spcBef>
                        <a:spcAft>
                          <a:spcPct val="0"/>
                        </a:spcAft>
                        <a:buClrTx/>
                        <a:buSzTx/>
                        <a:buFont typeface="Arial"/>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9144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4572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4572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1"/>
                  </a:ext>
                </a:extLst>
              </a:tr>
              <a:tr h="796925">
                <a:tc>
                  <a:txBody>
                    <a:bodyPr/>
                    <a:lstStyle/>
                    <a:p>
                      <a:pPr marL="171450" marR="0" lvl="0" indent="-171450" algn="l" defTabSz="914400" rtl="0" eaLnBrk="1" fontAlgn="base" latinLnBrk="0" hangingPunct="1">
                        <a:lnSpc>
                          <a:spcPct val="100000"/>
                        </a:lnSpc>
                        <a:spcBef>
                          <a:spcPct val="0"/>
                        </a:spcBef>
                        <a:spcAft>
                          <a:spcPct val="0"/>
                        </a:spcAft>
                        <a:buClrTx/>
                        <a:buSzTx/>
                        <a:buFont typeface="Arial"/>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9144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4572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4572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2"/>
                  </a:ext>
                </a:extLst>
              </a:tr>
              <a:tr h="804863">
                <a:tc>
                  <a:txBody>
                    <a:bodyPr/>
                    <a:lstStyle/>
                    <a:p>
                      <a:pPr marL="171450" marR="0" lvl="0" indent="-171450" algn="l" defTabSz="914400" rtl="0" eaLnBrk="1" fontAlgn="base" latinLnBrk="0" hangingPunct="1">
                        <a:lnSpc>
                          <a:spcPct val="100000"/>
                        </a:lnSpc>
                        <a:spcBef>
                          <a:spcPct val="0"/>
                        </a:spcBef>
                        <a:spcAft>
                          <a:spcPct val="0"/>
                        </a:spcAft>
                        <a:buClrTx/>
                        <a:buSzTx/>
                        <a:buFont typeface="Arial"/>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9144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4572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4572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3"/>
                  </a:ext>
                </a:extLst>
              </a:tr>
              <a:tr h="690563">
                <a:tc>
                  <a:txBody>
                    <a:bodyPr/>
                    <a:lstStyle/>
                    <a:p>
                      <a:pPr marL="171450" marR="0" lvl="0" indent="-171450" algn="l" defTabSz="914400" rtl="0" eaLnBrk="1" fontAlgn="base" latinLnBrk="0" hangingPunct="1">
                        <a:lnSpc>
                          <a:spcPct val="100000"/>
                        </a:lnSpc>
                        <a:spcBef>
                          <a:spcPct val="0"/>
                        </a:spcBef>
                        <a:spcAft>
                          <a:spcPct val="0"/>
                        </a:spcAft>
                        <a:buClrTx/>
                        <a:buSzTx/>
                        <a:buFont typeface="Arial"/>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9144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4572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111125" marR="0" lvl="0" indent="-111125" algn="l" defTabSz="457200" rtl="0" eaLnBrk="1" fontAlgn="base" latinLnBrk="0" hangingPunct="1">
                        <a:lnSpc>
                          <a:spcPct val="100000"/>
                        </a:lnSpc>
                        <a:spcBef>
                          <a:spcPct val="0"/>
                        </a:spcBef>
                        <a:spcAft>
                          <a:spcPct val="0"/>
                        </a:spcAft>
                        <a:buClrTx/>
                        <a:buSzTx/>
                        <a:buFont typeface="Arial" charset="0"/>
                        <a:buChar char="•"/>
                        <a:tabLst/>
                      </a:pPr>
                      <a:r>
                        <a:rPr kumimoji="0" lang="en-US" sz="1200" b="0" i="0" u="none" strike="noStrike" cap="none" normalizeH="0" baseline="0">
                          <a:ln>
                            <a:noFill/>
                          </a:ln>
                          <a:solidFill>
                            <a:srgbClr val="262626"/>
                          </a:solidFill>
                          <a:effectLst/>
                          <a:latin typeface="+mn-lt"/>
                          <a:ea typeface="ＭＳ Ｐゴシック" charset="0"/>
                          <a:cs typeface="ＭＳ Ｐゴシック" charset="0"/>
                        </a:rPr>
                        <a:t> </a:t>
                      </a:r>
                    </a:p>
                    <a:p>
                      <a:pPr marL="111125" marR="0" lvl="0" indent="-111125" algn="l" defTabSz="4572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rgbClr val="262626"/>
                        </a:solidFill>
                        <a:effectLst/>
                        <a:latin typeface="+mn-lt"/>
                        <a:ea typeface="ＭＳ Ｐゴシック" charset="0"/>
                        <a:cs typeface="ＭＳ Ｐゴシック" charset="0"/>
                      </a:endParaRPr>
                    </a:p>
                  </a:txBody>
                  <a:tcPr horzOverflow="overflow">
                    <a:lnL w="12700" cap="flat" cmpd="sng" algn="ctr">
                      <a:solidFill>
                        <a:prstClr val="white">
                          <a:lumMod val="50000"/>
                        </a:prstClr>
                      </a:solidFill>
                      <a:prstDash val="solid"/>
                      <a:round/>
                      <a:headEnd type="none" w="med" len="med"/>
                      <a:tailEnd type="none" w="med" len="med"/>
                    </a:lnL>
                    <a:lnR w="12700" cap="flat" cmpd="sng" algn="ctr">
                      <a:solidFill>
                        <a:prstClr val="white">
                          <a:lumMod val="50000"/>
                        </a:prstClr>
                      </a:solidFill>
                      <a:prstDash val="solid"/>
                      <a:round/>
                      <a:headEnd type="none" w="med" len="med"/>
                      <a:tailEnd type="none" w="med" len="med"/>
                    </a:lnR>
                    <a:lnT w="12700" cap="flat" cmpd="sng" algn="ctr">
                      <a:solidFill>
                        <a:prstClr val="white">
                          <a:lumMod val="50000"/>
                        </a:prstClr>
                      </a:solidFill>
                      <a:prstDash val="solid"/>
                      <a:round/>
                      <a:headEnd type="none" w="med" len="med"/>
                      <a:tailEnd type="none" w="med" len="med"/>
                    </a:lnT>
                    <a:lnB w="12700" cap="flat" cmpd="sng" algn="ctr">
                      <a:solidFill>
                        <a:prstClr val="white">
                          <a:lumMod val="50000"/>
                        </a:prstClr>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0004"/>
                  </a:ext>
                </a:extLst>
              </a:tr>
            </a:tbl>
          </a:graphicData>
        </a:graphic>
      </p:graphicFrame>
      <p:sp>
        <p:nvSpPr>
          <p:cNvPr id="6" name="Pentagon 5"/>
          <p:cNvSpPr/>
          <p:nvPr/>
        </p:nvSpPr>
        <p:spPr>
          <a:xfrm>
            <a:off x="421891" y="1371600"/>
            <a:ext cx="1985847" cy="753534"/>
          </a:xfrm>
          <a:prstGeom prst="homePlate">
            <a:avLst>
              <a:gd name="adj" fmla="val 38889"/>
            </a:avLst>
          </a:prstGeom>
          <a:solidFill>
            <a:srgbClr val="9A0052"/>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400" b="1">
                <a:solidFill>
                  <a:schemeClr val="bg1"/>
                </a:solidFill>
                <a:ea typeface="Avenir Medium"/>
                <a:cs typeface="Avenir Medium"/>
              </a:rPr>
              <a:t>THEM</a:t>
            </a:r>
          </a:p>
        </p:txBody>
      </p:sp>
      <p:sp>
        <p:nvSpPr>
          <p:cNvPr id="7" name="Chevron 6"/>
          <p:cNvSpPr/>
          <p:nvPr/>
        </p:nvSpPr>
        <p:spPr>
          <a:xfrm>
            <a:off x="2377691" y="1371600"/>
            <a:ext cx="2144715" cy="753534"/>
          </a:xfrm>
          <a:prstGeom prst="chevron">
            <a:avLst>
              <a:gd name="adj" fmla="val 37179"/>
            </a:avLst>
          </a:prstGeom>
          <a:solidFill>
            <a:srgbClr val="9A0052"/>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400" b="1">
                <a:solidFill>
                  <a:schemeClr val="bg1"/>
                </a:solidFill>
                <a:ea typeface="Avenir Medium"/>
                <a:cs typeface="Avenir Medium"/>
              </a:rPr>
              <a:t>US</a:t>
            </a:r>
          </a:p>
        </p:txBody>
      </p:sp>
      <p:sp>
        <p:nvSpPr>
          <p:cNvPr id="8" name="Chevron 7"/>
          <p:cNvSpPr/>
          <p:nvPr/>
        </p:nvSpPr>
        <p:spPr>
          <a:xfrm>
            <a:off x="4485891" y="1380066"/>
            <a:ext cx="2144715" cy="753534"/>
          </a:xfrm>
          <a:prstGeom prst="chevron">
            <a:avLst>
              <a:gd name="adj" fmla="val 37179"/>
            </a:avLst>
          </a:prstGeom>
          <a:solidFill>
            <a:srgbClr val="9A0052"/>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anchor="ctr"/>
          <a:lstStyle/>
          <a:p>
            <a:pPr algn="ctr">
              <a:defRPr/>
            </a:pPr>
            <a:r>
              <a:rPr lang="en-US" sz="2400" b="1">
                <a:solidFill>
                  <a:schemeClr val="bg1"/>
                </a:solidFill>
                <a:ea typeface="Avenir Medium"/>
                <a:cs typeface="Avenir Medium"/>
              </a:rPr>
              <a:t>FIT</a:t>
            </a:r>
          </a:p>
        </p:txBody>
      </p:sp>
      <p:sp>
        <p:nvSpPr>
          <p:cNvPr id="9" name="Chevron 8"/>
          <p:cNvSpPr/>
          <p:nvPr/>
        </p:nvSpPr>
        <p:spPr>
          <a:xfrm>
            <a:off x="6594091" y="1371600"/>
            <a:ext cx="2144715" cy="753534"/>
          </a:xfrm>
          <a:prstGeom prst="chevron">
            <a:avLst>
              <a:gd name="adj" fmla="val 37179"/>
            </a:avLst>
          </a:prstGeom>
          <a:solidFill>
            <a:srgbClr val="9A0052"/>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lIns="182880" rIns="0" anchor="ctr"/>
          <a:lstStyle/>
          <a:p>
            <a:pPr algn="ctr">
              <a:defRPr/>
            </a:pPr>
            <a:r>
              <a:rPr lang="en-US" sz="2400" b="1">
                <a:solidFill>
                  <a:schemeClr val="bg1"/>
                </a:solidFill>
                <a:ea typeface="Avenir Medium"/>
                <a:cs typeface="Avenir Medium"/>
              </a:rPr>
              <a:t>PROOF</a:t>
            </a:r>
          </a:p>
        </p:txBody>
      </p:sp>
    </p:spTree>
    <p:extLst>
      <p:ext uri="{BB962C8B-B14F-4D97-AF65-F5344CB8AC3E}">
        <p14:creationId xmlns:p14="http://schemas.microsoft.com/office/powerpoint/2010/main" val="1348892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Pie 40"/>
          <p:cNvSpPr/>
          <p:nvPr/>
        </p:nvSpPr>
        <p:spPr>
          <a:xfrm rot="5400000">
            <a:off x="1516652" y="-889268"/>
            <a:ext cx="6110695" cy="9144003"/>
          </a:xfrm>
          <a:prstGeom prst="pie">
            <a:avLst>
              <a:gd name="adj1" fmla="val 10800000"/>
              <a:gd name="adj2" fmla="val 16200000"/>
            </a:avLst>
          </a:prstGeom>
          <a:gradFill flip="none" rotWithShape="1">
            <a:gsLst>
              <a:gs pos="50000">
                <a:schemeClr val="bg1">
                  <a:alpha val="82000"/>
                </a:schemeClr>
              </a:gs>
              <a:gs pos="100000">
                <a:schemeClr val="accent1">
                  <a:lumMod val="60000"/>
                  <a:lumOff val="40000"/>
                  <a:alpha val="6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2" name="Pie 111"/>
          <p:cNvSpPr/>
          <p:nvPr/>
        </p:nvSpPr>
        <p:spPr>
          <a:xfrm rot="10800000">
            <a:off x="0" y="860253"/>
            <a:ext cx="9144000" cy="5646047"/>
          </a:xfrm>
          <a:prstGeom prst="pie">
            <a:avLst>
              <a:gd name="adj1" fmla="val 10800000"/>
              <a:gd name="adj2" fmla="val 16200000"/>
            </a:avLst>
          </a:prstGeom>
          <a:gradFill flip="none" rotWithShape="1">
            <a:gsLst>
              <a:gs pos="50000">
                <a:schemeClr val="bg1">
                  <a:alpha val="82000"/>
                </a:schemeClr>
              </a:gs>
              <a:gs pos="100000">
                <a:schemeClr val="accent1">
                  <a:lumMod val="60000"/>
                  <a:lumOff val="40000"/>
                  <a:alpha val="6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4" name="Pie 113"/>
          <p:cNvSpPr/>
          <p:nvPr/>
        </p:nvSpPr>
        <p:spPr>
          <a:xfrm rot="16200000">
            <a:off x="1543896" y="-916508"/>
            <a:ext cx="6149316" cy="9237108"/>
          </a:xfrm>
          <a:prstGeom prst="pie">
            <a:avLst>
              <a:gd name="adj1" fmla="val 10800000"/>
              <a:gd name="adj2" fmla="val 16200000"/>
            </a:avLst>
          </a:prstGeom>
          <a:gradFill flip="none" rotWithShape="1">
            <a:gsLst>
              <a:gs pos="50000">
                <a:schemeClr val="bg1">
                  <a:alpha val="82000"/>
                </a:schemeClr>
              </a:gs>
              <a:gs pos="100000">
                <a:schemeClr val="accent1">
                  <a:lumMod val="60000"/>
                  <a:lumOff val="40000"/>
                  <a:alpha val="6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5" name="Pie 114"/>
          <p:cNvSpPr/>
          <p:nvPr/>
        </p:nvSpPr>
        <p:spPr>
          <a:xfrm>
            <a:off x="0" y="627388"/>
            <a:ext cx="9144000" cy="6149317"/>
          </a:xfrm>
          <a:prstGeom prst="pie">
            <a:avLst>
              <a:gd name="adj1" fmla="val 10800000"/>
              <a:gd name="adj2" fmla="val 16200000"/>
            </a:avLst>
          </a:prstGeom>
          <a:gradFill flip="none" rotWithShape="1">
            <a:gsLst>
              <a:gs pos="50000">
                <a:schemeClr val="bg1">
                  <a:alpha val="82000"/>
                </a:schemeClr>
              </a:gs>
              <a:gs pos="100000">
                <a:schemeClr val="accent1">
                  <a:lumMod val="60000"/>
                  <a:lumOff val="40000"/>
                  <a:alpha val="6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6" name="Oval 115"/>
          <p:cNvSpPr/>
          <p:nvPr/>
        </p:nvSpPr>
        <p:spPr>
          <a:xfrm>
            <a:off x="2068564" y="1501921"/>
            <a:ext cx="5004380" cy="5004380"/>
          </a:xfrm>
          <a:prstGeom prst="ellipse">
            <a:avLst/>
          </a:prstGeom>
          <a:solidFill>
            <a:schemeClr val="bg1">
              <a:lumMod val="95000"/>
            </a:schemeClr>
          </a:solidFill>
          <a:ln w="19050">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Oval 116"/>
          <p:cNvSpPr/>
          <p:nvPr/>
        </p:nvSpPr>
        <p:spPr>
          <a:xfrm rot="176809">
            <a:off x="2329821" y="1779372"/>
            <a:ext cx="4481866" cy="4465671"/>
          </a:xfrm>
          <a:prstGeom prst="ellipse">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Oval 117"/>
          <p:cNvSpPr/>
          <p:nvPr/>
        </p:nvSpPr>
        <p:spPr>
          <a:xfrm>
            <a:off x="2643329" y="2076686"/>
            <a:ext cx="3854850" cy="3854850"/>
          </a:xfrm>
          <a:prstGeom prst="ellipse">
            <a:avLst/>
          </a:prstGeom>
          <a:solidFill>
            <a:schemeClr val="bg1">
              <a:lumMod val="6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9" name="Group 118"/>
          <p:cNvGrpSpPr/>
          <p:nvPr/>
        </p:nvGrpSpPr>
        <p:grpSpPr>
          <a:xfrm rot="2403096">
            <a:off x="2935688" y="2354927"/>
            <a:ext cx="3278514" cy="3284082"/>
            <a:chOff x="4468949" y="1797050"/>
            <a:chExt cx="3269342" cy="3274894"/>
          </a:xfrm>
        </p:grpSpPr>
        <p:sp>
          <p:nvSpPr>
            <p:cNvPr id="120" name="Block Arc 119"/>
            <p:cNvSpPr/>
            <p:nvPr/>
          </p:nvSpPr>
          <p:spPr>
            <a:xfrm rot="5400000">
              <a:off x="4468948" y="1798901"/>
              <a:ext cx="3265642" cy="3265640"/>
            </a:xfrm>
            <a:prstGeom prst="blockArc">
              <a:avLst>
                <a:gd name="adj1" fmla="val 10800000"/>
                <a:gd name="adj2" fmla="val 16212524"/>
                <a:gd name="adj3" fmla="val 22136"/>
              </a:avLst>
            </a:prstGeom>
            <a:gradFill flip="none" rotWithShape="1">
              <a:gsLst>
                <a:gs pos="63000">
                  <a:schemeClr val="accent1">
                    <a:lumMod val="60000"/>
                    <a:lumOff val="40000"/>
                  </a:schemeClr>
                </a:gs>
                <a:gs pos="21000">
                  <a:schemeClr val="accent1">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1" name="Block Arc 120"/>
            <p:cNvSpPr/>
            <p:nvPr/>
          </p:nvSpPr>
          <p:spPr>
            <a:xfrm>
              <a:off x="4470799" y="1800752"/>
              <a:ext cx="3265642" cy="3265640"/>
            </a:xfrm>
            <a:prstGeom prst="blockArc">
              <a:avLst>
                <a:gd name="adj1" fmla="val 10800000"/>
                <a:gd name="adj2" fmla="val 16212524"/>
                <a:gd name="adj3" fmla="val 22136"/>
              </a:avLst>
            </a:prstGeom>
            <a:gradFill flip="none" rotWithShape="1">
              <a:gsLst>
                <a:gs pos="69000">
                  <a:schemeClr val="accent1">
                    <a:lumMod val="60000"/>
                    <a:lumOff val="40000"/>
                  </a:schemeClr>
                </a:gs>
                <a:gs pos="13000">
                  <a:schemeClr val="accent1">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2" name="Triangle 15"/>
            <p:cNvSpPr/>
            <p:nvPr/>
          </p:nvSpPr>
          <p:spPr>
            <a:xfrm rot="5400000">
              <a:off x="5952172" y="1948715"/>
              <a:ext cx="727075" cy="423746"/>
            </a:xfrm>
            <a:prstGeom prs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Block Arc 122"/>
            <p:cNvSpPr/>
            <p:nvPr/>
          </p:nvSpPr>
          <p:spPr>
            <a:xfrm rot="16200000">
              <a:off x="4472650" y="1800752"/>
              <a:ext cx="3265642" cy="3265640"/>
            </a:xfrm>
            <a:prstGeom prst="blockArc">
              <a:avLst>
                <a:gd name="adj1" fmla="val 10800000"/>
                <a:gd name="adj2" fmla="val 16212524"/>
                <a:gd name="adj3" fmla="val 22136"/>
              </a:avLst>
            </a:prstGeom>
            <a:gradFill flip="none" rotWithShape="1">
              <a:gsLst>
                <a:gs pos="66000">
                  <a:schemeClr val="accent1">
                    <a:lumMod val="60000"/>
                    <a:lumOff val="40000"/>
                  </a:schemeClr>
                </a:gs>
                <a:gs pos="22000">
                  <a:schemeClr val="accent1">
                    <a:lumMod val="75000"/>
                  </a:schemeClr>
                </a:gs>
              </a:gsLst>
              <a:lin ang="9600000" scaled="0"/>
              <a:tileRect/>
            </a:gra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4" name="Triangle 21"/>
            <p:cNvSpPr/>
            <p:nvPr/>
          </p:nvSpPr>
          <p:spPr>
            <a:xfrm>
              <a:off x="4479318" y="3019391"/>
              <a:ext cx="701539" cy="423746"/>
            </a:xfrm>
            <a:prstGeom prs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Block Arc 124"/>
            <p:cNvSpPr/>
            <p:nvPr/>
          </p:nvSpPr>
          <p:spPr>
            <a:xfrm rot="10800000">
              <a:off x="4470799" y="1802603"/>
              <a:ext cx="3265642" cy="3265640"/>
            </a:xfrm>
            <a:prstGeom prst="blockArc">
              <a:avLst>
                <a:gd name="adj1" fmla="val 10800000"/>
                <a:gd name="adj2" fmla="val 16212524"/>
                <a:gd name="adj3" fmla="val 22136"/>
              </a:avLst>
            </a:prstGeom>
            <a:gradFill flip="none" rotWithShape="1">
              <a:gsLst>
                <a:gs pos="66000">
                  <a:schemeClr val="accent1">
                    <a:lumMod val="60000"/>
                    <a:lumOff val="40000"/>
                  </a:schemeClr>
                </a:gs>
                <a:gs pos="22000">
                  <a:schemeClr val="accent1">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6" name="Triangle 24"/>
            <p:cNvSpPr/>
            <p:nvPr/>
          </p:nvSpPr>
          <p:spPr>
            <a:xfrm rot="16200000">
              <a:off x="5527993" y="4496534"/>
              <a:ext cx="727075" cy="423746"/>
            </a:xfrm>
            <a:prstGeom prs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Triangle 27"/>
            <p:cNvSpPr/>
            <p:nvPr/>
          </p:nvSpPr>
          <p:spPr>
            <a:xfrm rot="10800000">
              <a:off x="7011216" y="3431938"/>
              <a:ext cx="727075" cy="423746"/>
            </a:xfrm>
            <a:prstGeom prs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8" name="Group 127"/>
          <p:cNvGrpSpPr/>
          <p:nvPr/>
        </p:nvGrpSpPr>
        <p:grpSpPr>
          <a:xfrm>
            <a:off x="3705591" y="3150127"/>
            <a:ext cx="1731638" cy="1720428"/>
            <a:chOff x="5238457" y="2579588"/>
            <a:chExt cx="1731638" cy="1720428"/>
          </a:xfrm>
          <a:pattFill prst="pct5">
            <a:fgClr>
              <a:srgbClr val="771F4C"/>
            </a:fgClr>
            <a:bgClr>
              <a:prstClr val="white"/>
            </a:bgClr>
          </a:pattFill>
        </p:grpSpPr>
        <p:sp>
          <p:nvSpPr>
            <p:cNvPr id="129" name="Pie 128"/>
            <p:cNvSpPr/>
            <p:nvPr/>
          </p:nvSpPr>
          <p:spPr>
            <a:xfrm>
              <a:off x="5238457" y="2579588"/>
              <a:ext cx="1686084" cy="1686084"/>
            </a:xfrm>
            <a:prstGeom prst="pie">
              <a:avLst>
                <a:gd name="adj1" fmla="val 9024421"/>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62626"/>
                </a:solidFill>
              </a:endParaRPr>
            </a:p>
          </p:txBody>
        </p:sp>
        <p:sp>
          <p:nvSpPr>
            <p:cNvPr id="130" name="Pie 129"/>
            <p:cNvSpPr/>
            <p:nvPr/>
          </p:nvSpPr>
          <p:spPr>
            <a:xfrm rot="14400000">
              <a:off x="5259922" y="2613932"/>
              <a:ext cx="1686084" cy="1686084"/>
            </a:xfrm>
            <a:prstGeom prst="pie">
              <a:avLst>
                <a:gd name="adj1" fmla="val 9024421"/>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1" name="Pie 130"/>
            <p:cNvSpPr/>
            <p:nvPr/>
          </p:nvSpPr>
          <p:spPr>
            <a:xfrm rot="7200000">
              <a:off x="5284011" y="2586861"/>
              <a:ext cx="1686084" cy="1686084"/>
            </a:xfrm>
            <a:prstGeom prst="pie">
              <a:avLst>
                <a:gd name="adj1" fmla="val 9024421"/>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32" name="Oval 131"/>
          <p:cNvSpPr/>
          <p:nvPr/>
        </p:nvSpPr>
        <p:spPr>
          <a:xfrm>
            <a:off x="4156506" y="3648239"/>
            <a:ext cx="843336" cy="805300"/>
          </a:xfrm>
          <a:prstGeom prst="ellipse">
            <a:avLst/>
          </a:prstGeom>
          <a:solidFill>
            <a:schemeClr val="tx1">
              <a:lumMod val="65000"/>
              <a:lumOff val="3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latin typeface="Avenir Book" charset="0"/>
              <a:ea typeface="Avenir Book" charset="0"/>
              <a:cs typeface="Avenir Book" charset="0"/>
            </a:endParaRPr>
          </a:p>
        </p:txBody>
      </p:sp>
      <p:sp>
        <p:nvSpPr>
          <p:cNvPr id="133" name="TextBox 132"/>
          <p:cNvSpPr txBox="1"/>
          <p:nvPr/>
        </p:nvSpPr>
        <p:spPr>
          <a:xfrm rot="18000000">
            <a:off x="3437205" y="3447904"/>
            <a:ext cx="1215397" cy="523220"/>
          </a:xfrm>
          <a:prstGeom prst="rect">
            <a:avLst/>
          </a:prstGeom>
          <a:noFill/>
        </p:spPr>
        <p:txBody>
          <a:bodyPr wrap="none" rtlCol="0">
            <a:spAutoFit/>
          </a:bodyPr>
          <a:lstStyle/>
          <a:p>
            <a:pPr algn="ctr"/>
            <a:r>
              <a:rPr lang="en-US" sz="1400" b="1" dirty="0">
                <a:solidFill>
                  <a:srgbClr val="262626"/>
                </a:solidFill>
                <a:latin typeface="Franklin Gothic Medium" charset="0"/>
                <a:ea typeface="Franklin Gothic Medium" charset="0"/>
                <a:cs typeface="Franklin Gothic Medium" charset="0"/>
              </a:rPr>
              <a:t>Revenue </a:t>
            </a:r>
          </a:p>
          <a:p>
            <a:pPr algn="ctr"/>
            <a:r>
              <a:rPr lang="en-US" sz="1400" b="1" dirty="0">
                <a:solidFill>
                  <a:srgbClr val="262626"/>
                </a:solidFill>
                <a:latin typeface="Franklin Gothic Medium" charset="0"/>
                <a:ea typeface="Franklin Gothic Medium" charset="0"/>
                <a:cs typeface="Franklin Gothic Medium" charset="0"/>
              </a:rPr>
              <a:t>Management</a:t>
            </a:r>
          </a:p>
        </p:txBody>
      </p:sp>
      <p:sp>
        <p:nvSpPr>
          <p:cNvPr id="134" name="TextBox 133"/>
          <p:cNvSpPr txBox="1"/>
          <p:nvPr/>
        </p:nvSpPr>
        <p:spPr>
          <a:xfrm rot="3600000">
            <a:off x="4557697" y="3549210"/>
            <a:ext cx="930949" cy="271869"/>
          </a:xfrm>
          <a:prstGeom prst="rect">
            <a:avLst/>
          </a:prstGeom>
          <a:noFill/>
        </p:spPr>
        <p:txBody>
          <a:bodyPr wrap="square" rtlCol="0">
            <a:spAutoFit/>
          </a:bodyPr>
          <a:lstStyle/>
          <a:p>
            <a:pPr algn="ctr">
              <a:lnSpc>
                <a:spcPct val="80000"/>
              </a:lnSpc>
            </a:pPr>
            <a:r>
              <a:rPr lang="en-US" sz="900" b="1" dirty="0">
                <a:solidFill>
                  <a:srgbClr val="262626"/>
                </a:solidFill>
                <a:latin typeface="Avenir Book" charset="0"/>
                <a:ea typeface="Avenir Book" charset="0"/>
                <a:cs typeface="Avenir Book" charset="0"/>
              </a:rPr>
              <a:t> </a:t>
            </a:r>
            <a:r>
              <a:rPr lang="en-US" sz="1400" b="1" dirty="0">
                <a:solidFill>
                  <a:srgbClr val="262626"/>
                </a:solidFill>
                <a:latin typeface="Franklin Gothic Medium" charset="0"/>
                <a:ea typeface="Franklin Gothic Medium" charset="0"/>
                <a:cs typeface="Franklin Gothic Medium" charset="0"/>
              </a:rPr>
              <a:t>Sales </a:t>
            </a:r>
            <a:endParaRPr lang="en-US" sz="1100" b="1" dirty="0">
              <a:solidFill>
                <a:srgbClr val="262626"/>
              </a:solidFill>
              <a:latin typeface="Franklin Gothic Medium" charset="0"/>
              <a:ea typeface="Franklin Gothic Medium" charset="0"/>
              <a:cs typeface="Franklin Gothic Medium" charset="0"/>
            </a:endParaRPr>
          </a:p>
        </p:txBody>
      </p:sp>
      <p:sp>
        <p:nvSpPr>
          <p:cNvPr id="135" name="TextBox 134"/>
          <p:cNvSpPr txBox="1"/>
          <p:nvPr/>
        </p:nvSpPr>
        <p:spPr>
          <a:xfrm>
            <a:off x="4099856" y="4468780"/>
            <a:ext cx="964624" cy="307777"/>
          </a:xfrm>
          <a:prstGeom prst="rect">
            <a:avLst/>
          </a:prstGeom>
          <a:noFill/>
        </p:spPr>
        <p:txBody>
          <a:bodyPr wrap="none" rtlCol="0">
            <a:spAutoFit/>
          </a:bodyPr>
          <a:lstStyle/>
          <a:p>
            <a:pPr algn="ctr"/>
            <a:r>
              <a:rPr lang="en-US" sz="1400" b="1" dirty="0">
                <a:solidFill>
                  <a:schemeClr val="tx1">
                    <a:lumMod val="85000"/>
                    <a:lumOff val="15000"/>
                  </a:schemeClr>
                </a:solidFill>
                <a:latin typeface="Franklin Gothic Medium" charset="0"/>
                <a:ea typeface="Franklin Gothic Medium" charset="0"/>
                <a:cs typeface="Franklin Gothic Medium" charset="0"/>
              </a:rPr>
              <a:t>Marketing</a:t>
            </a:r>
          </a:p>
        </p:txBody>
      </p:sp>
      <p:sp>
        <p:nvSpPr>
          <p:cNvPr id="136" name="TextBox 135"/>
          <p:cNvSpPr txBox="1"/>
          <p:nvPr/>
        </p:nvSpPr>
        <p:spPr>
          <a:xfrm>
            <a:off x="4137929" y="2517419"/>
            <a:ext cx="864339" cy="461665"/>
          </a:xfrm>
          <a:prstGeom prst="rect">
            <a:avLst/>
          </a:prstGeom>
          <a:noFill/>
        </p:spPr>
        <p:txBody>
          <a:bodyPr wrap="none" rtlCol="0">
            <a:spAutoFit/>
          </a:bodyPr>
          <a:lstStyle/>
          <a:p>
            <a:pPr algn="ctr"/>
            <a:r>
              <a:rPr lang="en-US" sz="1200" dirty="0">
                <a:solidFill>
                  <a:schemeClr val="bg1"/>
                </a:solidFill>
                <a:latin typeface="Avenir Book" charset="0"/>
                <a:ea typeface="Avenir Book" charset="0"/>
                <a:cs typeface="Avenir Book" charset="0"/>
              </a:rPr>
              <a:t>Science &amp; </a:t>
            </a:r>
          </a:p>
          <a:p>
            <a:pPr algn="ctr"/>
            <a:r>
              <a:rPr lang="en-US" sz="1200" dirty="0">
                <a:solidFill>
                  <a:schemeClr val="bg1"/>
                </a:solidFill>
                <a:latin typeface="Avenir Book" charset="0"/>
                <a:ea typeface="Avenir Book" charset="0"/>
                <a:cs typeface="Avenir Book" charset="0"/>
              </a:rPr>
              <a:t>Strategy</a:t>
            </a:r>
          </a:p>
        </p:txBody>
      </p:sp>
      <p:sp>
        <p:nvSpPr>
          <p:cNvPr id="137" name="TextBox 136"/>
          <p:cNvSpPr txBox="1"/>
          <p:nvPr/>
        </p:nvSpPr>
        <p:spPr>
          <a:xfrm>
            <a:off x="3833476" y="5088486"/>
            <a:ext cx="1474997" cy="276999"/>
          </a:xfrm>
          <a:prstGeom prst="rect">
            <a:avLst/>
          </a:prstGeom>
          <a:noFill/>
        </p:spPr>
        <p:txBody>
          <a:bodyPr wrap="none" rtlCol="0">
            <a:spAutoFit/>
          </a:bodyPr>
          <a:lstStyle/>
          <a:p>
            <a:pPr algn="ctr"/>
            <a:r>
              <a:rPr lang="en-US" sz="1200" dirty="0">
                <a:solidFill>
                  <a:schemeClr val="bg1"/>
                </a:solidFill>
                <a:latin typeface="Avenir Book" charset="0"/>
                <a:ea typeface="Avenir Book" charset="0"/>
                <a:cs typeface="Avenir Book" charset="0"/>
              </a:rPr>
              <a:t>Art &amp; Optimization</a:t>
            </a:r>
          </a:p>
        </p:txBody>
      </p:sp>
      <p:sp>
        <p:nvSpPr>
          <p:cNvPr id="138" name="TextBox 137"/>
          <p:cNvSpPr txBox="1"/>
          <p:nvPr/>
        </p:nvSpPr>
        <p:spPr>
          <a:xfrm>
            <a:off x="2833485" y="3855820"/>
            <a:ext cx="954107" cy="461665"/>
          </a:xfrm>
          <a:prstGeom prst="rect">
            <a:avLst/>
          </a:prstGeom>
          <a:noFill/>
        </p:spPr>
        <p:txBody>
          <a:bodyPr wrap="none" rtlCol="0">
            <a:spAutoFit/>
          </a:bodyPr>
          <a:lstStyle/>
          <a:p>
            <a:pPr algn="ctr"/>
            <a:r>
              <a:rPr lang="en-US" sz="1200" dirty="0">
                <a:solidFill>
                  <a:schemeClr val="bg1"/>
                </a:solidFill>
                <a:latin typeface="Avenir Book" charset="0"/>
                <a:ea typeface="Avenir Book" charset="0"/>
                <a:cs typeface="Avenir Book" charset="0"/>
              </a:rPr>
              <a:t>Revenue</a:t>
            </a:r>
          </a:p>
          <a:p>
            <a:pPr algn="ctr"/>
            <a:r>
              <a:rPr lang="en-US" sz="1200" dirty="0">
                <a:solidFill>
                  <a:schemeClr val="bg1"/>
                </a:solidFill>
                <a:latin typeface="Avenir Book" charset="0"/>
                <a:ea typeface="Avenir Book" charset="0"/>
                <a:cs typeface="Avenir Book" charset="0"/>
              </a:rPr>
              <a:t>Operations</a:t>
            </a:r>
          </a:p>
        </p:txBody>
      </p:sp>
      <p:sp>
        <p:nvSpPr>
          <p:cNvPr id="139" name="TextBox 138"/>
          <p:cNvSpPr txBox="1"/>
          <p:nvPr/>
        </p:nvSpPr>
        <p:spPr>
          <a:xfrm>
            <a:off x="3975018" y="2243203"/>
            <a:ext cx="1203889" cy="378999"/>
          </a:xfrm>
          <a:prstGeom prst="rect">
            <a:avLst/>
          </a:prstGeom>
          <a:noFill/>
        </p:spPr>
        <p:txBody>
          <a:bodyPr wrap="none" rtlCol="0">
            <a:prstTxWarp prst="textArchUp">
              <a:avLst>
                <a:gd name="adj" fmla="val 11155698"/>
              </a:avLst>
            </a:prstTxWarp>
            <a:spAutoFit/>
          </a:bodyPr>
          <a:lstStyle/>
          <a:p>
            <a:pPr algn="ctr"/>
            <a:r>
              <a:rPr lang="en-US" sz="1600" dirty="0">
                <a:latin typeface="Avenir Book" charset="0"/>
                <a:ea typeface="Avenir Book" charset="0"/>
                <a:cs typeface="Avenir Book" charset="0"/>
              </a:rPr>
              <a:t>Framework</a:t>
            </a:r>
          </a:p>
          <a:p>
            <a:pPr algn="ctr"/>
            <a:r>
              <a:rPr lang="en-US" sz="1600" dirty="0">
                <a:latin typeface="Avenir Book" charset="0"/>
                <a:ea typeface="Avenir Book" charset="0"/>
                <a:cs typeface="Avenir Book" charset="0"/>
              </a:rPr>
              <a:t>Foundation</a:t>
            </a:r>
          </a:p>
        </p:txBody>
      </p:sp>
      <p:sp>
        <p:nvSpPr>
          <p:cNvPr id="140" name="TextBox 139"/>
          <p:cNvSpPr txBox="1"/>
          <p:nvPr/>
        </p:nvSpPr>
        <p:spPr>
          <a:xfrm>
            <a:off x="3648073" y="1727589"/>
            <a:ext cx="1798588" cy="622739"/>
          </a:xfrm>
          <a:prstGeom prst="rect">
            <a:avLst/>
          </a:prstGeom>
          <a:noFill/>
        </p:spPr>
        <p:txBody>
          <a:bodyPr wrap="none" rtlCol="0">
            <a:prstTxWarp prst="textArchUp">
              <a:avLst>
                <a:gd name="adj" fmla="val 11155698"/>
              </a:avLst>
            </a:prstTxWarp>
            <a:spAutoFit/>
          </a:bodyPr>
          <a:lstStyle/>
          <a:p>
            <a:pPr algn="ctr"/>
            <a:r>
              <a:rPr lang="en-US" sz="1600" dirty="0">
                <a:solidFill>
                  <a:schemeClr val="tx1">
                    <a:lumMod val="85000"/>
                    <a:lumOff val="15000"/>
                  </a:schemeClr>
                </a:solidFill>
                <a:latin typeface="Avenir Book" charset="0"/>
                <a:ea typeface="Avenir Book" charset="0"/>
                <a:cs typeface="Avenir Book" charset="0"/>
              </a:rPr>
              <a:t>Focus</a:t>
            </a:r>
          </a:p>
        </p:txBody>
      </p:sp>
      <p:sp>
        <p:nvSpPr>
          <p:cNvPr id="142" name="TextBox 141"/>
          <p:cNvSpPr txBox="1"/>
          <p:nvPr/>
        </p:nvSpPr>
        <p:spPr>
          <a:xfrm>
            <a:off x="319229" y="1922495"/>
            <a:ext cx="2214268" cy="307777"/>
          </a:xfrm>
          <a:prstGeom prst="rect">
            <a:avLst/>
          </a:prstGeom>
          <a:noFill/>
        </p:spPr>
        <p:txBody>
          <a:bodyPr wrap="none" rtlCol="0">
            <a:spAutoFit/>
          </a:bodyPr>
          <a:lstStyle/>
          <a:p>
            <a:r>
              <a:rPr lang="en-US" sz="1400" dirty="0">
                <a:solidFill>
                  <a:schemeClr val="tx1">
                    <a:lumMod val="75000"/>
                    <a:lumOff val="25000"/>
                  </a:schemeClr>
                </a:solidFill>
                <a:latin typeface="Franklin Gothic Book"/>
                <a:cs typeface="Franklin Gothic Book"/>
              </a:rPr>
              <a:t>Vision, Strategy &amp; Planning</a:t>
            </a:r>
          </a:p>
        </p:txBody>
      </p:sp>
      <p:sp>
        <p:nvSpPr>
          <p:cNvPr id="143" name="TextBox 142"/>
          <p:cNvSpPr txBox="1"/>
          <p:nvPr/>
        </p:nvSpPr>
        <p:spPr>
          <a:xfrm>
            <a:off x="6498179" y="1922797"/>
            <a:ext cx="2197564" cy="307777"/>
          </a:xfrm>
          <a:prstGeom prst="rect">
            <a:avLst/>
          </a:prstGeom>
          <a:noFill/>
        </p:spPr>
        <p:txBody>
          <a:bodyPr wrap="square" rtlCol="0">
            <a:spAutoFit/>
          </a:bodyPr>
          <a:lstStyle/>
          <a:p>
            <a:pPr algn="r"/>
            <a:r>
              <a:rPr lang="en-US" sz="1400" dirty="0">
                <a:solidFill>
                  <a:schemeClr val="tx1">
                    <a:lumMod val="75000"/>
                    <a:lumOff val="25000"/>
                  </a:schemeClr>
                </a:solidFill>
                <a:latin typeface="Franklin Gothic Book"/>
                <a:cs typeface="Franklin Gothic Book"/>
              </a:rPr>
              <a:t>Go-to-Market Planning  </a:t>
            </a:r>
          </a:p>
        </p:txBody>
      </p:sp>
      <p:sp>
        <p:nvSpPr>
          <p:cNvPr id="144" name="TextBox 143"/>
          <p:cNvSpPr txBox="1"/>
          <p:nvPr/>
        </p:nvSpPr>
        <p:spPr>
          <a:xfrm>
            <a:off x="319229" y="5438316"/>
            <a:ext cx="1442034" cy="477054"/>
          </a:xfrm>
          <a:prstGeom prst="rect">
            <a:avLst/>
          </a:prstGeom>
          <a:noFill/>
        </p:spPr>
        <p:txBody>
          <a:bodyPr wrap="none" rtlCol="0">
            <a:spAutoFit/>
          </a:bodyPr>
          <a:lstStyle/>
          <a:p>
            <a:r>
              <a:rPr lang="en-US" sz="1400" dirty="0">
                <a:solidFill>
                  <a:schemeClr val="tx1">
                    <a:lumMod val="75000"/>
                    <a:lumOff val="25000"/>
                  </a:schemeClr>
                </a:solidFill>
                <a:latin typeface="Franklin Gothic Book"/>
                <a:cs typeface="Franklin Gothic Book"/>
              </a:rPr>
              <a:t>Culture &amp; Values</a:t>
            </a:r>
          </a:p>
          <a:p>
            <a:pPr marL="171450" indent="-171450">
              <a:buFont typeface="Arial"/>
              <a:buChar char="•"/>
            </a:pPr>
            <a:endParaRPr lang="en-US" sz="1100" dirty="0">
              <a:solidFill>
                <a:schemeClr val="tx1">
                  <a:lumMod val="75000"/>
                  <a:lumOff val="25000"/>
                </a:schemeClr>
              </a:solidFill>
            </a:endParaRPr>
          </a:p>
        </p:txBody>
      </p:sp>
      <p:sp>
        <p:nvSpPr>
          <p:cNvPr id="145" name="TextBox 144"/>
          <p:cNvSpPr txBox="1"/>
          <p:nvPr/>
        </p:nvSpPr>
        <p:spPr>
          <a:xfrm>
            <a:off x="6498179" y="5438316"/>
            <a:ext cx="2197564" cy="325730"/>
          </a:xfrm>
          <a:prstGeom prst="rect">
            <a:avLst/>
          </a:prstGeom>
          <a:noFill/>
        </p:spPr>
        <p:txBody>
          <a:bodyPr wrap="square" rtlCol="0">
            <a:spAutoFit/>
          </a:bodyPr>
          <a:lstStyle/>
          <a:p>
            <a:pPr algn="r">
              <a:lnSpc>
                <a:spcPct val="110000"/>
              </a:lnSpc>
            </a:pPr>
            <a:r>
              <a:rPr lang="en-US" sz="1400" dirty="0">
                <a:solidFill>
                  <a:schemeClr val="tx1">
                    <a:lumMod val="75000"/>
                    <a:lumOff val="25000"/>
                  </a:schemeClr>
                </a:solidFill>
                <a:latin typeface="Franklin Gothic Book"/>
                <a:cs typeface="Franklin Gothic Book"/>
              </a:rPr>
              <a:t>Leadership &amp; Coaching</a:t>
            </a:r>
            <a:endParaRPr lang="en-US" sz="1100" dirty="0">
              <a:solidFill>
                <a:schemeClr val="tx1">
                  <a:lumMod val="75000"/>
                  <a:lumOff val="25000"/>
                </a:schemeClr>
              </a:solidFill>
              <a:latin typeface="Franklin Gothic Book"/>
              <a:cs typeface="Franklin Gothic Book"/>
            </a:endParaRPr>
          </a:p>
        </p:txBody>
      </p:sp>
      <p:sp>
        <p:nvSpPr>
          <p:cNvPr id="146" name="TextBox 145"/>
          <p:cNvSpPr txBox="1"/>
          <p:nvPr/>
        </p:nvSpPr>
        <p:spPr>
          <a:xfrm>
            <a:off x="4094893" y="3837769"/>
            <a:ext cx="969587" cy="480131"/>
          </a:xfrm>
          <a:prstGeom prst="rect">
            <a:avLst/>
          </a:prstGeom>
          <a:noFill/>
        </p:spPr>
        <p:txBody>
          <a:bodyPr wrap="square" rtlCol="0">
            <a:spAutoFit/>
          </a:bodyPr>
          <a:lstStyle/>
          <a:p>
            <a:pPr algn="ctr">
              <a:lnSpc>
                <a:spcPct val="90000"/>
              </a:lnSpc>
              <a:spcAft>
                <a:spcPts val="300"/>
              </a:spcAft>
            </a:pPr>
            <a:r>
              <a:rPr lang="en-US" sz="1400" b="1" u="sng" dirty="0">
                <a:solidFill>
                  <a:schemeClr val="bg1"/>
                </a:solidFill>
                <a:latin typeface="Franklin Gothic Book"/>
                <a:ea typeface="Avenir Book" charset="0"/>
                <a:cs typeface="Franklin Gothic Book"/>
              </a:rPr>
              <a:t>Profitable Growth</a:t>
            </a:r>
          </a:p>
        </p:txBody>
      </p:sp>
      <p:sp>
        <p:nvSpPr>
          <p:cNvPr id="148" name="TextBox 147"/>
          <p:cNvSpPr txBox="1"/>
          <p:nvPr/>
        </p:nvSpPr>
        <p:spPr>
          <a:xfrm>
            <a:off x="5405512" y="3756305"/>
            <a:ext cx="867048" cy="830997"/>
          </a:xfrm>
          <a:prstGeom prst="rect">
            <a:avLst/>
          </a:prstGeom>
          <a:noFill/>
        </p:spPr>
        <p:txBody>
          <a:bodyPr wrap="none" rtlCol="0">
            <a:spAutoFit/>
          </a:bodyPr>
          <a:lstStyle/>
          <a:p>
            <a:pPr algn="ctr"/>
            <a:r>
              <a:rPr lang="en-US" sz="1200" dirty="0">
                <a:solidFill>
                  <a:schemeClr val="bg1"/>
                </a:solidFill>
                <a:latin typeface="Avenir Book" charset="0"/>
                <a:ea typeface="Avenir Book" charset="0"/>
                <a:cs typeface="Avenir Book" charset="0"/>
              </a:rPr>
              <a:t>Process &amp;</a:t>
            </a:r>
          </a:p>
          <a:p>
            <a:pPr algn="ctr"/>
            <a:r>
              <a:rPr lang="en-US" sz="1200" dirty="0">
                <a:solidFill>
                  <a:schemeClr val="bg1"/>
                </a:solidFill>
                <a:latin typeface="Avenir Book" charset="0"/>
                <a:ea typeface="Avenir Book" charset="0"/>
                <a:cs typeface="Avenir Book" charset="0"/>
              </a:rPr>
              <a:t>Customer </a:t>
            </a:r>
          </a:p>
          <a:p>
            <a:pPr algn="ctr"/>
            <a:r>
              <a:rPr lang="en-US" sz="1200" dirty="0">
                <a:solidFill>
                  <a:schemeClr val="bg1"/>
                </a:solidFill>
                <a:latin typeface="Avenir Book" charset="0"/>
                <a:ea typeface="Avenir Book" charset="0"/>
                <a:cs typeface="Avenir Book" charset="0"/>
              </a:rPr>
              <a:t>Engage-</a:t>
            </a:r>
          </a:p>
          <a:p>
            <a:pPr algn="ctr"/>
            <a:r>
              <a:rPr lang="en-US" sz="1200" dirty="0">
                <a:solidFill>
                  <a:schemeClr val="bg1"/>
                </a:solidFill>
                <a:latin typeface="Avenir Book" charset="0"/>
                <a:ea typeface="Avenir Book" charset="0"/>
                <a:cs typeface="Avenir Book" charset="0"/>
              </a:rPr>
              <a:t>ment</a:t>
            </a:r>
          </a:p>
        </p:txBody>
      </p:sp>
      <p:sp>
        <p:nvSpPr>
          <p:cNvPr id="2" name="Text Placeholder 1"/>
          <p:cNvSpPr>
            <a:spLocks noGrp="1"/>
          </p:cNvSpPr>
          <p:nvPr>
            <p:ph type="body" sz="quarter" idx="10"/>
          </p:nvPr>
        </p:nvSpPr>
        <p:spPr>
          <a:xfrm>
            <a:off x="562121" y="627388"/>
            <a:ext cx="7536577" cy="641667"/>
          </a:xfrm>
        </p:spPr>
        <p:txBody>
          <a:bodyPr>
            <a:noAutofit/>
          </a:bodyPr>
          <a:lstStyle/>
          <a:p>
            <a:pPr algn="ctr">
              <a:lnSpc>
                <a:spcPct val="90000"/>
              </a:lnSpc>
            </a:pPr>
            <a:r>
              <a:rPr lang="en-US" sz="1600" dirty="0">
                <a:solidFill>
                  <a:schemeClr val="bg1">
                    <a:lumMod val="50000"/>
                  </a:schemeClr>
                </a:solidFill>
                <a:latin typeface="Franklin Gothic Book"/>
                <a:cs typeface="Franklin Gothic Book"/>
              </a:rPr>
              <a:t>Illustrative Kate &amp; Co. Framework</a:t>
            </a:r>
          </a:p>
        </p:txBody>
      </p:sp>
      <p:sp>
        <p:nvSpPr>
          <p:cNvPr id="39" name="Title 1"/>
          <p:cNvSpPr txBox="1">
            <a:spLocks/>
          </p:cNvSpPr>
          <p:nvPr/>
        </p:nvSpPr>
        <p:spPr>
          <a:xfrm>
            <a:off x="0" y="-33011"/>
            <a:ext cx="9144000" cy="660399"/>
          </a:xfrm>
          <a:prstGeom prst="rect">
            <a:avLst/>
          </a:prstGeom>
          <a:pattFill prst="dotDmnd">
            <a:fgClr>
              <a:schemeClr val="bg1">
                <a:lumMod val="65000"/>
              </a:schemeClr>
            </a:fgClr>
            <a:bgClr>
              <a:schemeClr val="bg1">
                <a:lumMod val="85000"/>
              </a:schemeClr>
            </a:bgClr>
          </a:pattFill>
        </p:spPr>
        <p:txBody>
          <a:bodyP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dirty="0">
                <a:latin typeface="Franklin Gothic Book"/>
                <a:cs typeface="Franklin Gothic Book"/>
              </a:rPr>
              <a:t>Revenue Methodology</a:t>
            </a:r>
          </a:p>
          <a:p>
            <a:endParaRPr lang="en-US" sz="3200" dirty="0">
              <a:latin typeface="Franklin Gothic Book"/>
              <a:cs typeface="Franklin Gothic Book"/>
            </a:endParaRPr>
          </a:p>
        </p:txBody>
      </p:sp>
    </p:spTree>
    <p:extLst>
      <p:ext uri="{BB962C8B-B14F-4D97-AF65-F5344CB8AC3E}">
        <p14:creationId xmlns:p14="http://schemas.microsoft.com/office/powerpoint/2010/main" val="1784982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409FC017C7BF40961EF880411E08B5" ma:contentTypeVersion="13" ma:contentTypeDescription="Create a new document." ma:contentTypeScope="" ma:versionID="b5bca213ef9ff2908ccf7086a37359b6">
  <xsd:schema xmlns:xsd="http://www.w3.org/2001/XMLSchema" xmlns:xs="http://www.w3.org/2001/XMLSchema" xmlns:p="http://schemas.microsoft.com/office/2006/metadata/properties" xmlns:ns2="5f895480-74b7-4295-beb1-000abdb77711" xmlns:ns3="f9f3b592-2a1e-4fc9-8218-81ad9cd05aa6" targetNamespace="http://schemas.microsoft.com/office/2006/metadata/properties" ma:root="true" ma:fieldsID="dfe532681b131c6d2700ace22e453e6a" ns2:_="" ns3:_="">
    <xsd:import namespace="5f895480-74b7-4295-beb1-000abdb77711"/>
    <xsd:import namespace="f9f3b592-2a1e-4fc9-8218-81ad9cd05a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895480-74b7-4295-beb1-000abdb777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3b592-2a1e-4fc9-8218-81ad9cd05aa6"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20CD733-EFF6-4B40-92DC-7DFA5A7D9550}"/>
</file>

<file path=customXml/itemProps2.xml><?xml version="1.0" encoding="utf-8"?>
<ds:datastoreItem xmlns:ds="http://schemas.openxmlformats.org/officeDocument/2006/customXml" ds:itemID="{8B371154-2372-46C3-B7C5-652E186633AB}"/>
</file>

<file path=customXml/itemProps3.xml><?xml version="1.0" encoding="utf-8"?>
<ds:datastoreItem xmlns:ds="http://schemas.openxmlformats.org/officeDocument/2006/customXml" ds:itemID="{F32ED28F-49AB-4EB4-B1B6-F99863E797E8}"/>
</file>

<file path=docProps/app.xml><?xml version="1.0" encoding="utf-8"?>
<Properties xmlns="http://schemas.openxmlformats.org/officeDocument/2006/extended-properties" xmlns:vt="http://schemas.openxmlformats.org/officeDocument/2006/docPropsVTypes">
  <Template/>
  <TotalTime>7967</TotalTime>
  <Words>1511</Words>
  <Application>Microsoft Macintosh PowerPoint</Application>
  <PresentationFormat>On-screen Show (4:3)</PresentationFormat>
  <Paragraphs>305</Paragraphs>
  <Slides>13</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Arial</vt:lpstr>
      <vt:lpstr>Arial Narrow Regular</vt:lpstr>
      <vt:lpstr>Avenir Book</vt:lpstr>
      <vt:lpstr>Avenir Medium</vt:lpstr>
      <vt:lpstr>Calibri</vt:lpstr>
      <vt:lpstr>Century Gothic</vt:lpstr>
      <vt:lpstr>Franklin Gothic Book</vt:lpstr>
      <vt:lpstr>Franklin Gothic Medium</vt:lpstr>
      <vt:lpstr>Tahoma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Kate Burda</dc:creator>
  <cp:lastModifiedBy>Kate Burda</cp:lastModifiedBy>
  <cp:revision>395</cp:revision>
  <cp:lastPrinted>2018-01-07T23:29:14Z</cp:lastPrinted>
  <dcterms:created xsi:type="dcterms:W3CDTF">2015-12-09T20:56:52Z</dcterms:created>
  <dcterms:modified xsi:type="dcterms:W3CDTF">2019-12-01T22:25:06Z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0x01010075409FC017C7BF40961EF880411E08B5</vt:lpwstr>
  </property>
</Properties>
</file>