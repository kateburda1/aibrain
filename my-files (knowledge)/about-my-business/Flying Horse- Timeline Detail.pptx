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4"/>
  </p:notesMasterIdLst>
  <p:handoutMasterIdLst>
    <p:handoutMasterId r:id="rId15"/>
  </p:handoutMasterIdLst>
  <p:sldIdLst>
    <p:sldId id="4135" r:id="rId5"/>
    <p:sldId id="4171" r:id="rId6"/>
    <p:sldId id="4632" r:id="rId7"/>
    <p:sldId id="2140755489" r:id="rId8"/>
    <p:sldId id="4634" r:id="rId9"/>
    <p:sldId id="2140755491" r:id="rId10"/>
    <p:sldId id="4173" r:id="rId11"/>
    <p:sldId id="2140755490" r:id="rId12"/>
    <p:sldId id="463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EDCF9C9-6838-2F01-F3FC-EFCE4582AF9F}" name="Tristan Carty" initials="TC" userId="S::tristan@thecartycollective.com::aaecc192-4e53-4f1c-81a5-906a3d1806c0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51067"/>
    <a:srgbClr val="B51072"/>
    <a:srgbClr val="B52372"/>
    <a:srgbClr val="D5646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B05B9BC-DBE3-EC4B-8513-E4AFF62C66CF}" v="7" dt="2025-03-28T18:30:24.30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5266"/>
    <p:restoredTop sz="94830"/>
  </p:normalViewPr>
  <p:slideViewPr>
    <p:cSldViewPr snapToGrid="0">
      <p:cViewPr varScale="1">
        <p:scale>
          <a:sx n="117" d="100"/>
          <a:sy n="117" d="100"/>
        </p:scale>
        <p:origin x="146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Relationship Id="rId22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te Burda" userId="44c1ea53-84f5-4c7e-8f48-bfeb434f1f02" providerId="ADAL" clId="{AB05B9BC-DBE3-EC4B-8513-E4AFF62C66CF}"/>
    <pc:docChg chg="custSel modSld">
      <pc:chgData name="Kate Burda" userId="44c1ea53-84f5-4c7e-8f48-bfeb434f1f02" providerId="ADAL" clId="{AB05B9BC-DBE3-EC4B-8513-E4AFF62C66CF}" dt="2025-03-28T18:30:55.422" v="179" actId="20577"/>
      <pc:docMkLst>
        <pc:docMk/>
      </pc:docMkLst>
      <pc:sldChg chg="addSp modSp mod">
        <pc:chgData name="Kate Burda" userId="44c1ea53-84f5-4c7e-8f48-bfeb434f1f02" providerId="ADAL" clId="{AB05B9BC-DBE3-EC4B-8513-E4AFF62C66CF}" dt="2025-03-28T18:24:30.561" v="15" actId="115"/>
        <pc:sldMkLst>
          <pc:docMk/>
          <pc:sldMk cId="1612226772" sldId="4632"/>
        </pc:sldMkLst>
        <pc:spChg chg="add mod">
          <ac:chgData name="Kate Burda" userId="44c1ea53-84f5-4c7e-8f48-bfeb434f1f02" providerId="ADAL" clId="{AB05B9BC-DBE3-EC4B-8513-E4AFF62C66CF}" dt="2025-03-28T18:24:30.561" v="15" actId="115"/>
          <ac:spMkLst>
            <pc:docMk/>
            <pc:sldMk cId="1612226772" sldId="4632"/>
            <ac:spMk id="4" creationId="{ADA7BE1E-5EEB-DD0A-F376-C9FA22021B61}"/>
          </ac:spMkLst>
        </pc:spChg>
      </pc:sldChg>
      <pc:sldChg chg="addSp modSp mod">
        <pc:chgData name="Kate Burda" userId="44c1ea53-84f5-4c7e-8f48-bfeb434f1f02" providerId="ADAL" clId="{AB05B9BC-DBE3-EC4B-8513-E4AFF62C66CF}" dt="2025-03-28T18:28:51.852" v="102" actId="20577"/>
        <pc:sldMkLst>
          <pc:docMk/>
          <pc:sldMk cId="3379650796" sldId="4634"/>
        </pc:sldMkLst>
        <pc:spChg chg="add mod">
          <ac:chgData name="Kate Burda" userId="44c1ea53-84f5-4c7e-8f48-bfeb434f1f02" providerId="ADAL" clId="{AB05B9BC-DBE3-EC4B-8513-E4AFF62C66CF}" dt="2025-03-28T18:25:57.421" v="50" actId="20577"/>
          <ac:spMkLst>
            <pc:docMk/>
            <pc:sldMk cId="3379650796" sldId="4634"/>
            <ac:spMk id="6" creationId="{A5DCECA6-FDF3-D50C-542B-9635F4A1A8AE}"/>
          </ac:spMkLst>
        </pc:spChg>
        <pc:spChg chg="add mod">
          <ac:chgData name="Kate Burda" userId="44c1ea53-84f5-4c7e-8f48-bfeb434f1f02" providerId="ADAL" clId="{AB05B9BC-DBE3-EC4B-8513-E4AFF62C66CF}" dt="2025-03-28T18:28:51.852" v="102" actId="20577"/>
          <ac:spMkLst>
            <pc:docMk/>
            <pc:sldMk cId="3379650796" sldId="4634"/>
            <ac:spMk id="7" creationId="{FB2F55F5-539E-4DCA-7949-33BF9AFB92D6}"/>
          </ac:spMkLst>
        </pc:spChg>
      </pc:sldChg>
      <pc:sldChg chg="addSp modSp mod">
        <pc:chgData name="Kate Burda" userId="44c1ea53-84f5-4c7e-8f48-bfeb434f1f02" providerId="ADAL" clId="{AB05B9BC-DBE3-EC4B-8513-E4AFF62C66CF}" dt="2025-03-28T18:25:18.395" v="25" actId="20577"/>
        <pc:sldMkLst>
          <pc:docMk/>
          <pc:sldMk cId="3909522504" sldId="2140755489"/>
        </pc:sldMkLst>
        <pc:spChg chg="add mod">
          <ac:chgData name="Kate Burda" userId="44c1ea53-84f5-4c7e-8f48-bfeb434f1f02" providerId="ADAL" clId="{AB05B9BC-DBE3-EC4B-8513-E4AFF62C66CF}" dt="2025-03-28T18:25:18.395" v="25" actId="20577"/>
          <ac:spMkLst>
            <pc:docMk/>
            <pc:sldMk cId="3909522504" sldId="2140755489"/>
            <ac:spMk id="5" creationId="{364661FD-DECF-18D7-A604-66AEE40B324A}"/>
          </ac:spMkLst>
        </pc:spChg>
      </pc:sldChg>
      <pc:sldChg chg="addSp modSp mod">
        <pc:chgData name="Kate Burda" userId="44c1ea53-84f5-4c7e-8f48-bfeb434f1f02" providerId="ADAL" clId="{AB05B9BC-DBE3-EC4B-8513-E4AFF62C66CF}" dt="2025-03-28T18:30:55.422" v="179" actId="20577"/>
        <pc:sldMkLst>
          <pc:docMk/>
          <pc:sldMk cId="3206162095" sldId="2140755490"/>
        </pc:sldMkLst>
        <pc:spChg chg="add mod">
          <ac:chgData name="Kate Burda" userId="44c1ea53-84f5-4c7e-8f48-bfeb434f1f02" providerId="ADAL" clId="{AB05B9BC-DBE3-EC4B-8513-E4AFF62C66CF}" dt="2025-03-28T18:30:16.422" v="149" actId="20577"/>
          <ac:spMkLst>
            <pc:docMk/>
            <pc:sldMk cId="3206162095" sldId="2140755490"/>
            <ac:spMk id="4" creationId="{FF90B940-87A3-8DC5-93DC-73551B666723}"/>
          </ac:spMkLst>
        </pc:spChg>
        <pc:spChg chg="add mod">
          <ac:chgData name="Kate Burda" userId="44c1ea53-84f5-4c7e-8f48-bfeb434f1f02" providerId="ADAL" clId="{AB05B9BC-DBE3-EC4B-8513-E4AFF62C66CF}" dt="2025-03-28T18:30:55.422" v="179" actId="20577"/>
          <ac:spMkLst>
            <pc:docMk/>
            <pc:sldMk cId="3206162095" sldId="2140755490"/>
            <ac:spMk id="6" creationId="{EEB33250-135C-EC79-A70B-8116CF8E157B}"/>
          </ac:spMkLst>
        </pc:spChg>
      </pc:sldChg>
      <pc:sldChg chg="addSp modSp mod">
        <pc:chgData name="Kate Burda" userId="44c1ea53-84f5-4c7e-8f48-bfeb434f1f02" providerId="ADAL" clId="{AB05B9BC-DBE3-EC4B-8513-E4AFF62C66CF}" dt="2025-03-28T18:29:38.923" v="123" actId="20577"/>
        <pc:sldMkLst>
          <pc:docMk/>
          <pc:sldMk cId="695207440" sldId="2140755491"/>
        </pc:sldMkLst>
        <pc:spChg chg="add mod">
          <ac:chgData name="Kate Burda" userId="44c1ea53-84f5-4c7e-8f48-bfeb434f1f02" providerId="ADAL" clId="{AB05B9BC-DBE3-EC4B-8513-E4AFF62C66CF}" dt="2025-03-28T18:29:38.923" v="123" actId="20577"/>
          <ac:spMkLst>
            <pc:docMk/>
            <pc:sldMk cId="695207440" sldId="2140755491"/>
            <ac:spMk id="2" creationId="{F6F5DA78-DBCD-A44D-C7B6-17B743BBC251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E77D29B-A84F-8DAF-4DD9-5C3978B9ABB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08C45E-2DEE-9C8D-4F99-67548FB7399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B41864-CD90-3244-B677-A2D5FE685BF9}" type="datetimeFigureOut">
              <a:rPr lang="en-US" smtClean="0"/>
              <a:t>3/28/25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B50AB63-638E-DD7B-CF4F-618583AB465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C72759-57D7-02D6-54C1-4600A56F841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6CF653-701A-1840-AE7C-78D8E3A50A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15815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86B9B4-CBC9-3A48-9A9C-455003932958}" type="datetimeFigureOut">
              <a:rPr lang="en-US" smtClean="0"/>
              <a:t>3/28/25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8F6C56-3E14-034D-AF27-6C904A40B6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03812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8F6C56-3E14-034D-AF27-6C904A40B66F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39710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8F6C56-3E14-034D-AF27-6C904A40B66F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26198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9F825C-F5E4-1B7D-E504-DCA4E438FD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823DAC0-5EE8-06A8-EA9F-03470AB51F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59945F-36F7-99DE-3752-71C5FFDFF6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94B0E-DFF7-024B-A1B7-263AA7331561}" type="datetimeFigureOut">
              <a:rPr lang="en-US" smtClean="0"/>
              <a:t>3/28/25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FC03AE-7DEC-0FD1-EF26-0C4D97454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0DCE4C-B2C3-B032-ECCD-C64EDDE307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E4FCF-A6C5-1446-A3B3-DDF1BB5772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15274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816BC8-E775-CA73-A9DB-F2818C431D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38340C-3E26-C2DE-51B9-99177BC72B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1F8ECB-31A2-E00F-8512-84384FF55A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94B0E-DFF7-024B-A1B7-263AA7331561}" type="datetimeFigureOut">
              <a:rPr lang="en-US" smtClean="0"/>
              <a:t>3/28/25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9EAAF3-B3B7-05B3-ACC6-E6E744F7F6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DC2122-FAA1-9C76-35E7-9686C2BBA0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E4FCF-A6C5-1446-A3B3-DDF1BB5772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9671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725716-752C-ACBC-A090-03C691D633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0FE9C3-1D3F-DF64-479C-0C0D948D95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541982-23C2-8D5B-A7FD-57C073D996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94B0E-DFF7-024B-A1B7-263AA7331561}" type="datetimeFigureOut">
              <a:rPr lang="en-US" smtClean="0"/>
              <a:t>3/28/25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950077-7C40-ADA4-47D4-2B193D321C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9C6976-8248-AE96-9C52-CB230AC518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E4FCF-A6C5-1446-A3B3-DDF1BB5772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29583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85A103-A14D-F7E0-07FA-015F53EF94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5BA737-868B-3B1A-3AB3-884EE18C0C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A051DF-E35C-E592-0252-F87D168A9C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23C2A0-24D4-E4E0-0749-9384302C5D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94B0E-DFF7-024B-A1B7-263AA7331561}" type="datetimeFigureOut">
              <a:rPr lang="en-US" smtClean="0"/>
              <a:t>3/28/25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C6063D-9FBC-C034-E425-1A39A3B22C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49338A-837D-968D-5396-9CB50070DA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E4FCF-A6C5-1446-A3B3-DDF1BB5772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43972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3B45D7-A65A-512B-3010-6F61F31080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90EDDB-C065-8383-902D-0E3FF7C2AE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621A7D-01D2-B6C1-BE24-FDDA9B1A8D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74BA3CD-AE96-8DF8-1293-70DB272E369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6D4A757-8389-B31E-8F26-E06CEAEDD76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88CC1EC-6AE0-DF42-0550-E3EDDEE133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94B0E-DFF7-024B-A1B7-263AA7331561}" type="datetimeFigureOut">
              <a:rPr lang="en-US" smtClean="0"/>
              <a:t>3/28/25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16C73C6-F740-DCA2-86A2-9A6BE06375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A2A308D-1C73-6310-3440-97565633B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E4FCF-A6C5-1446-A3B3-DDF1BB5772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09103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E0C5EF-AC39-B2FB-30CE-8360CF7774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CF46F6C-29BF-239E-2507-FAEB360F5E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94B0E-DFF7-024B-A1B7-263AA7331561}" type="datetimeFigureOut">
              <a:rPr lang="en-US" smtClean="0"/>
              <a:t>3/28/25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F10048-BAC3-508D-C518-32466EFF99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E4FCF-A6C5-1446-A3B3-DDF1BB577287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DE12363-2680-F1E9-B937-023F13CC666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2817" t="42064" r="21306" b="40328"/>
          <a:stretch/>
        </p:blipFill>
        <p:spPr>
          <a:xfrm>
            <a:off x="5613400" y="6390639"/>
            <a:ext cx="965200" cy="426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97364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8CA0C81-4B14-87A6-52CD-D45ADDE1AC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94B0E-DFF7-024B-A1B7-263AA7331561}" type="datetimeFigureOut">
              <a:rPr lang="en-US" smtClean="0"/>
              <a:t>3/28/25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BC8E38-11C0-9080-CB65-1A71AA59A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E4FCF-A6C5-1446-A3B3-DDF1BB577287}" type="slidenum">
              <a:rPr lang="en-US" smtClean="0"/>
              <a:t>‹#›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37EE7DC-D57E-D899-B97A-295AAD6716F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2817" t="42064" r="21306" b="40328"/>
          <a:stretch/>
        </p:blipFill>
        <p:spPr>
          <a:xfrm>
            <a:off x="5613400" y="6390639"/>
            <a:ext cx="965200" cy="426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00506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2CCCD1-902E-2973-FE0F-A431829F43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AB8E58-58E4-5966-CC5B-73B82EB275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D7DB433-0909-ACF3-5661-ACB8DF397B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17D3AE-D6DA-168B-8B19-619CA15E50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94B0E-DFF7-024B-A1B7-263AA7331561}" type="datetimeFigureOut">
              <a:rPr lang="en-US" smtClean="0"/>
              <a:t>3/28/25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CCB074-48F2-6E75-C539-4C207B518B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3800FD-4994-13E7-6AC5-E5D086745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E4FCF-A6C5-1446-A3B3-DDF1BB5772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83759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D0C78B-2C50-6A69-682A-ACC7C3E810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39889B-AFDB-821D-050C-B99FA2B1189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A9CB8A-E14C-F7DC-549F-BC39A04C91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C17124-6E91-38DB-FF22-352D1D40AA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94B0E-DFF7-024B-A1B7-263AA7331561}" type="datetimeFigureOut">
              <a:rPr lang="en-US" smtClean="0"/>
              <a:t>3/28/25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3EF5AB-6238-0E11-C6BC-4228674A2D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A24D13-6EC4-D52A-7AC9-3F75243D88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E4FCF-A6C5-1446-A3B3-DDF1BB5772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30410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AE4C57-E42E-0592-F949-1B238DE95B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B91ACA-62B9-6C02-C611-F7178423CD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5E0836-8D93-73D1-3F68-53235637BF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94B0E-DFF7-024B-A1B7-263AA7331561}" type="datetimeFigureOut">
              <a:rPr lang="en-US" smtClean="0"/>
              <a:t>3/28/25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4A98AE-92EB-2341-F0E1-29391AF32D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BC988C-8FAA-63C3-E577-E11FF91F46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E4FCF-A6C5-1446-A3B3-DDF1BB5772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47873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5BCC19B-2113-DDB2-F0CA-956A1DAF0EC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12D7049-D5C6-2574-8246-E3AA62A195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0AD8DD-EF49-6528-1DAB-805B885128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94B0E-DFF7-024B-A1B7-263AA7331561}" type="datetimeFigureOut">
              <a:rPr lang="en-US" smtClean="0"/>
              <a:t>3/28/25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556047-AA88-E394-47CF-FA2B25D0E9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955A95-AAD8-CAFF-F395-83C566A089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E4FCF-A6C5-1446-A3B3-DDF1BB5772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57073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Kate Burda &amp; Co. - Titl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9" name="Rectangle 8"/>
          <p:cNvSpPr/>
          <p:nvPr userDrawn="1"/>
        </p:nvSpPr>
        <p:spPr>
          <a:xfrm>
            <a:off x="0" y="914400"/>
            <a:ext cx="12192000" cy="5943600"/>
          </a:xfrm>
          <a:prstGeom prst="rect">
            <a:avLst/>
          </a:prstGeom>
          <a:solidFill>
            <a:srgbClr val="CAC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solidFill>
                <a:srgbClr val="CAC8C8"/>
              </a:solidFill>
            </a:endParaRPr>
          </a:p>
        </p:txBody>
      </p:sp>
      <p:sp>
        <p:nvSpPr>
          <p:cNvPr id="15" name="Picture Placeholder 14"/>
          <p:cNvSpPr>
            <a:spLocks noGrp="1"/>
          </p:cNvSpPr>
          <p:nvPr>
            <p:ph type="pic" sz="quarter" idx="10"/>
          </p:nvPr>
        </p:nvSpPr>
        <p:spPr>
          <a:xfrm>
            <a:off x="0" y="914400"/>
            <a:ext cx="12192000" cy="594360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itle 1"/>
          <p:cNvSpPr>
            <a:spLocks noGrp="1"/>
          </p:cNvSpPr>
          <p:nvPr>
            <p:ph type="ctrTitle" hasCustomPrompt="1"/>
          </p:nvPr>
        </p:nvSpPr>
        <p:spPr>
          <a:xfrm>
            <a:off x="1524000" y="228601"/>
            <a:ext cx="10363200" cy="430887"/>
          </a:xfrm>
        </p:spPr>
        <p:txBody>
          <a:bodyPr/>
          <a:lstStyle>
            <a:lvl1pPr algn="r">
              <a:defRPr sz="2800" b="1" baseline="0">
                <a:solidFill>
                  <a:srgbClr val="8A8C8C"/>
                </a:solidFill>
                <a:latin typeface="Franklin Gothic Book" panose="020B0503020102020204" pitchFamily="34" charset="0"/>
              </a:defRPr>
            </a:lvl1pPr>
          </a:lstStyle>
          <a:p>
            <a:r>
              <a:rPr lang="en-US" dirty="0"/>
              <a:t>Click to Insert Title Here</a:t>
            </a:r>
          </a:p>
        </p:txBody>
      </p:sp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82860" y="-716347"/>
            <a:ext cx="1727363" cy="2423291"/>
          </a:xfrm>
          <a:prstGeom prst="rect">
            <a:avLst/>
          </a:prstGeom>
        </p:spPr>
      </p:pic>
      <p:sp>
        <p:nvSpPr>
          <p:cNvPr id="7" name="Holder 4">
            <a:extLst>
              <a:ext uri="{FF2B5EF4-FFF2-40B4-BE49-F238E27FC236}">
                <a16:creationId xmlns:a16="http://schemas.microsoft.com/office/drawing/2014/main" id="{9581F233-BCDC-1D47-8FFD-154F2846ECEA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1176000" y="6377940"/>
            <a:ext cx="406400" cy="246221"/>
          </a:xfrm>
        </p:spPr>
        <p:txBody>
          <a:bodyPr lIns="0" tIns="0" rIns="0" bIns="0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823146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3/28/25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F5ED4CF-792E-3945-926D-4FAABFB91DAC}"/>
              </a:ext>
            </a:extLst>
          </p:cNvPr>
          <p:cNvSpPr/>
          <p:nvPr userDrawn="1"/>
        </p:nvSpPr>
        <p:spPr>
          <a:xfrm>
            <a:off x="0" y="1"/>
            <a:ext cx="12192000" cy="594732"/>
          </a:xfrm>
          <a:prstGeom prst="rect">
            <a:avLst/>
          </a:prstGeom>
          <a:pattFill prst="pct50">
            <a:fgClr>
              <a:schemeClr val="bg1">
                <a:lumMod val="75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8" name="Holder 2">
            <a:extLst>
              <a:ext uri="{FF2B5EF4-FFF2-40B4-BE49-F238E27FC236}">
                <a16:creationId xmlns:a16="http://schemas.microsoft.com/office/drawing/2014/main" id="{4FADDF76-B979-194B-8CB4-21933D95AE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446" y="67073"/>
            <a:ext cx="11617108" cy="430887"/>
          </a:xfrm>
        </p:spPr>
        <p:txBody>
          <a:bodyPr lIns="0" tIns="0" rIns="0" bIns="0"/>
          <a:lstStyle>
            <a:lvl1pPr algn="ctr">
              <a:defRPr sz="2800" b="0" i="0">
                <a:solidFill>
                  <a:srgbClr val="8A8C8C"/>
                </a:solidFill>
                <a:latin typeface="Franklin Gothic Book" panose="020B0503020102020204" pitchFamily="34" charset="0"/>
                <a:cs typeface="Arial"/>
              </a:defRPr>
            </a:lvl1pPr>
          </a:lstStyle>
          <a:p>
            <a:endParaRPr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1CFD3D5-0D87-68F5-D6E5-DA955E54194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2817" t="42064" r="21306" b="40328"/>
          <a:stretch/>
        </p:blipFill>
        <p:spPr>
          <a:xfrm>
            <a:off x="5613400" y="6390639"/>
            <a:ext cx="965200" cy="426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21703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5_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3/28/25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A0D43EF-5490-42E6-6E1F-DEF33529BF4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2817" t="42064" r="21306" b="40328"/>
          <a:stretch/>
        </p:blipFill>
        <p:spPr>
          <a:xfrm>
            <a:off x="5613400" y="6390639"/>
            <a:ext cx="965200" cy="426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271219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1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4350708" y="911763"/>
            <a:ext cx="3490585" cy="3877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1"/>
            <a:ext cx="8534400" cy="3877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3/28/25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A8945F7-1706-4613-BF31-568E85A47E5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2817" t="42064" r="21306" b="40328"/>
          <a:stretch/>
        </p:blipFill>
        <p:spPr>
          <a:xfrm>
            <a:off x="5613400" y="6390639"/>
            <a:ext cx="965200" cy="426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065538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Picture Placeholder 2"/>
          <p:cNvSpPr>
            <a:spLocks noGrp="1"/>
          </p:cNvSpPr>
          <p:nvPr>
            <p:ph type="pic" sz="quarter" idx="21"/>
          </p:nvPr>
        </p:nvSpPr>
        <p:spPr>
          <a:xfrm>
            <a:off x="8966200" y="2489200"/>
            <a:ext cx="3225800" cy="4368800"/>
          </a:xfrm>
          <a:prstGeom prst="rect">
            <a:avLst/>
          </a:prstGeom>
        </p:spPr>
        <p:txBody>
          <a:bodyPr lIns="91439" rIns="91439"/>
          <a:lstStyle/>
          <a:p>
            <a:endParaRPr/>
          </a:p>
        </p:txBody>
      </p:sp>
      <p:sp>
        <p:nvSpPr>
          <p:cNvPr id="34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 defTabSz="914400">
              <a:defRPr>
                <a:solidFill>
                  <a:srgbClr val="000000"/>
                </a:solidFill>
              </a:defRPr>
            </a:lvl1pPr>
          </a:lstStyle>
          <a:p>
            <a:fld id="{86CB4B4D-7CA3-9044-876B-883B54F8677D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75193689"/>
      </p:ext>
    </p:extLst>
  </p:cSld>
  <p:clrMapOvr>
    <a:masterClrMapping/>
  </p:clrMapOvr>
  <p:transition spd="med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88F1552B-B7F6-4E4C-B4A3-EC8BAFED2EC1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E5D163DC-5EF7-4A7C-9A04-A084CF18C74E}" type="datetime1">
              <a:rPr lang="en-IN" smtClean="0"/>
              <a:t>28/03/25</a:t>
            </a:fld>
            <a:endParaRPr lang="en-IN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2B023A1-930B-4BB8-89A1-8E397D1ACAD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CD29B61-8897-49B8-94E9-83FF61E6A2A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36646B31-EC42-4AA4-A03D-41379B95B1BF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2FECAC85-80BC-403D-BEEB-05A85910D0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54298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C3A3F80-B0DC-5073-EAAC-569125EC11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ABFD91-C27E-B00C-8CDB-60EB6AECBE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19D7B8-A44E-0B01-9433-C497DEE5596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Franklin Gothic Book" panose="020B0503020102020204" pitchFamily="34" charset="0"/>
              </a:defRPr>
            </a:lvl1pPr>
          </a:lstStyle>
          <a:p>
            <a:fld id="{2F094B0E-DFF7-024B-A1B7-263AA7331561}" type="datetimeFigureOut">
              <a:rPr lang="en-US" smtClean="0"/>
              <a:pPr/>
              <a:t>3/28/25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2E797E-D5B9-035C-BF2F-5DA9B04DBB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Franklin Gothic Book" panose="020B05030201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6DE664-9CDB-B813-BF13-005E69CF66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Franklin Gothic Book" panose="020B0503020102020204" pitchFamily="34" charset="0"/>
              </a:defRPr>
            </a:lvl1pPr>
          </a:lstStyle>
          <a:p>
            <a:fld id="{2ADE4FCF-A6C5-1446-A3B3-DDF1BB57728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34917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2" r:id="rId13"/>
    <p:sldLayoutId id="2147483668" r:id="rId14"/>
    <p:sldLayoutId id="2147483671" r:id="rId15"/>
    <p:sldLayoutId id="2147483672" r:id="rId16"/>
    <p:sldLayoutId id="2147483673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Franklin Gothic Book" panose="020B0503020102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Franklin Gothic Book" panose="020B0503020102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Franklin Gothic Book" panose="020B0503020102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Franklin Gothic Book" panose="020B0503020102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Franklin Gothic Book" panose="020B0503020102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Franklin Gothic Book" panose="020B05030201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emf"/><Relationship Id="rId3" Type="http://schemas.openxmlformats.org/officeDocument/2006/relationships/image" Target="../media/image5.emf"/><Relationship Id="rId7" Type="http://schemas.openxmlformats.org/officeDocument/2006/relationships/image" Target="../media/image8.emf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7.xml"/><Relationship Id="rId6" Type="http://schemas.microsoft.com/office/2007/relationships/hdphoto" Target="../media/hdphoto1.wdp"/><Relationship Id="rId5" Type="http://schemas.openxmlformats.org/officeDocument/2006/relationships/image" Target="../media/image7.png"/><Relationship Id="rId4" Type="http://schemas.openxmlformats.org/officeDocument/2006/relationships/image" Target="../media/image6.emf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emf"/><Relationship Id="rId4" Type="http://schemas.openxmlformats.org/officeDocument/2006/relationships/image" Target="../media/image10.emf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A close-up of a chess board&#10;&#10;Description automatically generated">
            <a:extLst>
              <a:ext uri="{FF2B5EF4-FFF2-40B4-BE49-F238E27FC236}">
                <a16:creationId xmlns:a16="http://schemas.microsoft.com/office/drawing/2014/main" id="{C1FE091C-30B5-97C6-A92C-4DC093CCBCB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338" t="21532" b="-4461"/>
          <a:stretch/>
        </p:blipFill>
        <p:spPr>
          <a:xfrm>
            <a:off x="7620" y="326571"/>
            <a:ext cx="12184381" cy="6628667"/>
          </a:xfrm>
          <a:prstGeom prst="rect">
            <a:avLst/>
          </a:prstGeom>
        </p:spPr>
      </p:pic>
      <p:sp>
        <p:nvSpPr>
          <p:cNvPr id="2" name="object 2"/>
          <p:cNvSpPr/>
          <p:nvPr/>
        </p:nvSpPr>
        <p:spPr>
          <a:xfrm>
            <a:off x="-15538" y="5605153"/>
            <a:ext cx="12207538" cy="1252847"/>
          </a:xfrm>
          <a:custGeom>
            <a:avLst/>
            <a:gdLst/>
            <a:ahLst/>
            <a:cxnLst/>
            <a:rect l="l" t="t" r="r" b="b"/>
            <a:pathLst>
              <a:path w="9144000" h="895985">
                <a:moveTo>
                  <a:pt x="0" y="0"/>
                </a:moveTo>
                <a:lnTo>
                  <a:pt x="9143998" y="0"/>
                </a:lnTo>
                <a:lnTo>
                  <a:pt x="9143998" y="895986"/>
                </a:lnTo>
                <a:lnTo>
                  <a:pt x="0" y="895986"/>
                </a:lnTo>
                <a:lnTo>
                  <a:pt x="0" y="0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>
            <a:pPr lvl="1"/>
            <a:endParaRPr lang="en-US" sz="2400" dirty="0"/>
          </a:p>
          <a:p>
            <a:r>
              <a:rPr lang="en-US" sz="2400" dirty="0">
                <a:latin typeface="Franklin Gothic Book" panose="020B0503020102020204" pitchFamily="34" charset="0"/>
              </a:rPr>
              <a:t>   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Franklin Gothic Book" panose="020B0503020102020204" pitchFamily="34" charset="0"/>
              </a:rPr>
              <a:t>Prepared for:   Wendy McHenry, Glenn Wallace</a:t>
            </a:r>
          </a:p>
          <a:p>
            <a:endParaRPr lang="en-US" sz="2400" dirty="0">
              <a:solidFill>
                <a:schemeClr val="tx1">
                  <a:lumMod val="75000"/>
                  <a:lumOff val="25000"/>
                </a:schemeClr>
              </a:solidFill>
              <a:latin typeface="Franklin Gothic Book" panose="020B0503020102020204" pitchFamily="34" charset="0"/>
            </a:endParaRPr>
          </a:p>
          <a:p>
            <a:endParaRPr lang="en-US" sz="2400" dirty="0">
              <a:solidFill>
                <a:schemeClr val="tx1">
                  <a:lumMod val="75000"/>
                  <a:lumOff val="25000"/>
                </a:schemeClr>
              </a:solidFill>
              <a:latin typeface="Franklin Gothic Book" panose="020B0503020102020204" pitchFamily="34" charset="0"/>
            </a:endParaRPr>
          </a:p>
          <a:p>
            <a:endParaRPr sz="2400" dirty="0">
              <a:solidFill>
                <a:schemeClr val="tx1">
                  <a:lumMod val="75000"/>
                  <a:lumOff val="25000"/>
                </a:schemeClr>
              </a:solidFill>
              <a:latin typeface="Franklin Gothic Book" panose="020B0503020102020204" pitchFamily="34" charset="0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620" y="-2344"/>
            <a:ext cx="12184380" cy="449532"/>
          </a:xfrm>
          <a:custGeom>
            <a:avLst/>
            <a:gdLst/>
            <a:ahLst/>
            <a:cxnLst/>
            <a:rect l="l" t="t" r="r" b="b"/>
            <a:pathLst>
              <a:path w="9138285" h="336550">
                <a:moveTo>
                  <a:pt x="0" y="0"/>
                </a:moveTo>
                <a:lnTo>
                  <a:pt x="9138053" y="0"/>
                </a:lnTo>
                <a:lnTo>
                  <a:pt x="9138053" y="336378"/>
                </a:lnTo>
                <a:lnTo>
                  <a:pt x="0" y="336378"/>
                </a:lnTo>
                <a:lnTo>
                  <a:pt x="0" y="0"/>
                </a:lnTo>
                <a:close/>
              </a:path>
            </a:pathLst>
          </a:custGeom>
          <a:solidFill>
            <a:srgbClr val="A0155E"/>
          </a:solidFill>
          <a:ln>
            <a:solidFill>
              <a:schemeClr val="accent1">
                <a:lumMod val="20000"/>
                <a:lumOff val="80000"/>
              </a:schemeClr>
            </a:solidFill>
          </a:ln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lIns="0" tIns="0" rIns="0" bIns="0" rtlCol="0"/>
          <a:lstStyle/>
          <a:p>
            <a:endParaRPr sz="2400" dirty="0"/>
          </a:p>
        </p:txBody>
      </p:sp>
      <p:sp>
        <p:nvSpPr>
          <p:cNvPr id="7" name="object 7"/>
          <p:cNvSpPr/>
          <p:nvPr/>
        </p:nvSpPr>
        <p:spPr>
          <a:xfrm>
            <a:off x="7930" y="3643579"/>
            <a:ext cx="12184380" cy="1252846"/>
          </a:xfrm>
          <a:custGeom>
            <a:avLst/>
            <a:gdLst/>
            <a:ahLst/>
            <a:cxnLst/>
            <a:rect l="l" t="t" r="r" b="b"/>
            <a:pathLst>
              <a:path w="9138285" h="632460">
                <a:moveTo>
                  <a:pt x="0" y="0"/>
                </a:moveTo>
                <a:lnTo>
                  <a:pt x="9138053" y="0"/>
                </a:lnTo>
                <a:lnTo>
                  <a:pt x="9138053" y="632460"/>
                </a:lnTo>
                <a:lnTo>
                  <a:pt x="0" y="632460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70199"/>
            </a:srgbClr>
          </a:solidFill>
        </p:spPr>
        <p:txBody>
          <a:bodyPr wrap="square" lIns="0" tIns="0" rIns="0" bIns="0" rtlCol="0"/>
          <a:lstStyle/>
          <a:p>
            <a:endParaRPr sz="2400" dirty="0"/>
          </a:p>
        </p:txBody>
      </p:sp>
      <p:sp>
        <p:nvSpPr>
          <p:cNvPr id="8" name="object 8"/>
          <p:cNvSpPr txBox="1"/>
          <p:nvPr/>
        </p:nvSpPr>
        <p:spPr>
          <a:xfrm>
            <a:off x="295794" y="3715104"/>
            <a:ext cx="11794605" cy="1166003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3733" dirty="0">
                <a:solidFill>
                  <a:srgbClr val="FFFFFF"/>
                </a:solidFill>
                <a:latin typeface="Franklin Gothic Book" panose="020B0503020102020204" pitchFamily="34" charset="0"/>
                <a:cs typeface="Arial"/>
              </a:rPr>
              <a:t>A Conversation of Possibility</a:t>
            </a:r>
            <a:r>
              <a:rPr lang="en-US" sz="3733" dirty="0">
                <a:solidFill>
                  <a:srgbClr val="FFFFFF"/>
                </a:solidFill>
                <a:latin typeface="Franklin Gothic Book" panose="020B0503020102020204" pitchFamily="34" charset="0"/>
                <a:cs typeface="Arial"/>
              </a:rPr>
              <a:t>- Revenue Strategy to Commercial Enablement  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203200" y="6387049"/>
            <a:ext cx="7645400" cy="250496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marR="6773">
              <a:lnSpc>
                <a:spcPts val="933"/>
              </a:lnSpc>
              <a:spcBef>
                <a:spcPts val="1820"/>
              </a:spcBef>
            </a:pPr>
            <a:r>
              <a:rPr sz="1067" spc="-33" dirty="0">
                <a:solidFill>
                  <a:srgbClr val="7F7F7F"/>
                </a:solidFill>
                <a:latin typeface="Franklin Gothic Book" panose="020B0503020102020204" pitchFamily="34" charset="0"/>
                <a:cs typeface="Arial"/>
              </a:rPr>
              <a:t>All </a:t>
            </a:r>
            <a:r>
              <a:rPr sz="1067" spc="-13" dirty="0">
                <a:solidFill>
                  <a:srgbClr val="7F7F7F"/>
                </a:solidFill>
                <a:latin typeface="Franklin Gothic Book" panose="020B0503020102020204" pitchFamily="34" charset="0"/>
                <a:cs typeface="Arial"/>
              </a:rPr>
              <a:t>materials </a:t>
            </a:r>
            <a:r>
              <a:rPr sz="1067" spc="-27" dirty="0">
                <a:solidFill>
                  <a:srgbClr val="7F7F7F"/>
                </a:solidFill>
                <a:latin typeface="Franklin Gothic Book" panose="020B0503020102020204" pitchFamily="34" charset="0"/>
                <a:cs typeface="Arial"/>
              </a:rPr>
              <a:t>and </a:t>
            </a:r>
            <a:r>
              <a:rPr sz="1067" spc="-20" dirty="0">
                <a:solidFill>
                  <a:srgbClr val="7F7F7F"/>
                </a:solidFill>
                <a:latin typeface="Franklin Gothic Book" panose="020B0503020102020204" pitchFamily="34" charset="0"/>
                <a:cs typeface="Arial"/>
              </a:rPr>
              <a:t>methodologies are </a:t>
            </a:r>
            <a:r>
              <a:rPr sz="933" spc="-33" dirty="0">
                <a:solidFill>
                  <a:srgbClr val="7F7F7F"/>
                </a:solidFill>
                <a:latin typeface="Franklin Gothic Book" panose="020B0503020102020204" pitchFamily="34" charset="0"/>
                <a:cs typeface="Arial"/>
              </a:rPr>
              <a:t>copy </a:t>
            </a:r>
            <a:r>
              <a:rPr sz="1067" spc="-7" dirty="0">
                <a:solidFill>
                  <a:srgbClr val="7F7F7F"/>
                </a:solidFill>
                <a:latin typeface="Franklin Gothic Book" panose="020B0503020102020204" pitchFamily="34" charset="0"/>
                <a:cs typeface="Arial"/>
              </a:rPr>
              <a:t>written </a:t>
            </a:r>
            <a:r>
              <a:rPr sz="1067" spc="-27" dirty="0">
                <a:solidFill>
                  <a:srgbClr val="7F7F7F"/>
                </a:solidFill>
                <a:latin typeface="Franklin Gothic Book" panose="020B0503020102020204" pitchFamily="34" charset="0"/>
                <a:cs typeface="Arial"/>
              </a:rPr>
              <a:t>and </a:t>
            </a:r>
            <a:r>
              <a:rPr sz="1067" spc="-13" dirty="0">
                <a:solidFill>
                  <a:srgbClr val="7F7F7F"/>
                </a:solidFill>
                <a:latin typeface="Franklin Gothic Book" panose="020B0503020102020204" pitchFamily="34" charset="0"/>
                <a:cs typeface="Arial"/>
              </a:rPr>
              <a:t>protected Intellectual </a:t>
            </a:r>
            <a:r>
              <a:rPr sz="1067" spc="-27" dirty="0">
                <a:solidFill>
                  <a:srgbClr val="7F7F7F"/>
                </a:solidFill>
                <a:latin typeface="Franklin Gothic Book" panose="020B0503020102020204" pitchFamily="34" charset="0"/>
                <a:cs typeface="Arial"/>
              </a:rPr>
              <a:t>Property </a:t>
            </a:r>
            <a:r>
              <a:rPr sz="1067" spc="-7" dirty="0">
                <a:solidFill>
                  <a:srgbClr val="7F7F7F"/>
                </a:solidFill>
                <a:latin typeface="Franklin Gothic Book" panose="020B0503020102020204" pitchFamily="34" charset="0"/>
                <a:cs typeface="Arial"/>
              </a:rPr>
              <a:t>of </a:t>
            </a:r>
            <a:r>
              <a:rPr sz="1067" spc="-20" dirty="0">
                <a:solidFill>
                  <a:srgbClr val="7F7F7F"/>
                </a:solidFill>
                <a:latin typeface="Franklin Gothic Book" panose="020B0503020102020204" pitchFamily="34" charset="0"/>
                <a:cs typeface="Arial"/>
              </a:rPr>
              <a:t>Kate </a:t>
            </a:r>
            <a:r>
              <a:rPr sz="1067" spc="-27" dirty="0">
                <a:solidFill>
                  <a:srgbClr val="7F7F7F"/>
                </a:solidFill>
                <a:latin typeface="Franklin Gothic Book" panose="020B0503020102020204" pitchFamily="34" charset="0"/>
                <a:cs typeface="Arial"/>
              </a:rPr>
              <a:t>Burda </a:t>
            </a:r>
            <a:r>
              <a:rPr sz="1067" spc="-7" dirty="0">
                <a:solidFill>
                  <a:srgbClr val="7F7F7F"/>
                </a:solidFill>
                <a:latin typeface="Franklin Gothic Book" panose="020B0503020102020204" pitchFamily="34" charset="0"/>
                <a:cs typeface="Arial"/>
              </a:rPr>
              <a:t>&amp; </a:t>
            </a:r>
            <a:r>
              <a:rPr sz="1067" spc="-47" dirty="0">
                <a:solidFill>
                  <a:srgbClr val="7F7F7F"/>
                </a:solidFill>
                <a:latin typeface="Franklin Gothic Book" panose="020B0503020102020204" pitchFamily="34" charset="0"/>
                <a:cs typeface="Arial"/>
              </a:rPr>
              <a:t>Company </a:t>
            </a:r>
            <a:r>
              <a:rPr sz="1067" spc="-27" dirty="0">
                <a:solidFill>
                  <a:srgbClr val="7F7F7F"/>
                </a:solidFill>
                <a:latin typeface="Franklin Gothic Book" panose="020B0503020102020204" pitchFamily="34" charset="0"/>
                <a:cs typeface="Arial"/>
              </a:rPr>
              <a:t>and </a:t>
            </a:r>
            <a:r>
              <a:rPr sz="1067" spc="-13" dirty="0">
                <a:solidFill>
                  <a:srgbClr val="7F7F7F"/>
                </a:solidFill>
                <a:latin typeface="Franklin Gothic Book" panose="020B0503020102020204" pitchFamily="34" charset="0"/>
                <a:cs typeface="Arial"/>
              </a:rPr>
              <a:t>for </a:t>
            </a:r>
            <a:r>
              <a:rPr sz="1067" spc="-7" dirty="0">
                <a:solidFill>
                  <a:srgbClr val="7F7F7F"/>
                </a:solidFill>
                <a:latin typeface="Franklin Gothic Book" panose="020B0503020102020204" pitchFamily="34" charset="0"/>
                <a:cs typeface="Arial"/>
              </a:rPr>
              <a:t>the </a:t>
            </a:r>
            <a:r>
              <a:rPr sz="1067" spc="-33" dirty="0">
                <a:solidFill>
                  <a:srgbClr val="7F7F7F"/>
                </a:solidFill>
                <a:latin typeface="Franklin Gothic Book" panose="020B0503020102020204" pitchFamily="34" charset="0"/>
                <a:cs typeface="Arial"/>
              </a:rPr>
              <a:t>express </a:t>
            </a:r>
            <a:r>
              <a:rPr sz="1067" spc="-27" dirty="0">
                <a:solidFill>
                  <a:srgbClr val="7F7F7F"/>
                </a:solidFill>
                <a:latin typeface="Franklin Gothic Book" panose="020B0503020102020204" pitchFamily="34" charset="0"/>
                <a:cs typeface="Arial"/>
              </a:rPr>
              <a:t>purpose </a:t>
            </a:r>
            <a:r>
              <a:rPr lang="en-US" sz="1067" spc="-13" dirty="0">
                <a:solidFill>
                  <a:srgbClr val="7F7F7F"/>
                </a:solidFill>
                <a:latin typeface="Franklin Gothic Book" panose="020B0503020102020204" pitchFamily="34" charset="0"/>
                <a:cs typeface="Arial"/>
              </a:rPr>
              <a:t>for Flying Horse Resort, </a:t>
            </a:r>
            <a:r>
              <a:rPr sz="1067" spc="-33" dirty="0">
                <a:solidFill>
                  <a:srgbClr val="7F7F7F"/>
                </a:solidFill>
                <a:latin typeface="Franklin Gothic Book" panose="020B0503020102020204" pitchFamily="34" charset="0"/>
                <a:cs typeface="Arial"/>
              </a:rPr>
              <a:t>systems,  </a:t>
            </a:r>
            <a:r>
              <a:rPr sz="1067" spc="-27" dirty="0">
                <a:solidFill>
                  <a:srgbClr val="7F7F7F"/>
                </a:solidFill>
                <a:latin typeface="Franklin Gothic Book" panose="020B0503020102020204" pitchFamily="34" charset="0"/>
                <a:cs typeface="Arial"/>
              </a:rPr>
              <a:t>and </a:t>
            </a:r>
            <a:r>
              <a:rPr sz="1067" spc="-20" dirty="0">
                <a:solidFill>
                  <a:srgbClr val="7F7F7F"/>
                </a:solidFill>
                <a:latin typeface="Franklin Gothic Book" panose="020B0503020102020204" pitchFamily="34" charset="0"/>
                <a:cs typeface="Arial"/>
              </a:rPr>
              <a:t>constructs are </a:t>
            </a:r>
            <a:r>
              <a:rPr sz="1067" spc="-13" dirty="0">
                <a:solidFill>
                  <a:srgbClr val="7F7F7F"/>
                </a:solidFill>
                <a:latin typeface="Franklin Gothic Book" panose="020B0503020102020204" pitchFamily="34" charset="0"/>
                <a:cs typeface="Arial"/>
              </a:rPr>
              <a:t>not for </a:t>
            </a:r>
            <a:r>
              <a:rPr sz="1067" spc="-20" dirty="0">
                <a:solidFill>
                  <a:srgbClr val="7F7F7F"/>
                </a:solidFill>
                <a:latin typeface="Franklin Gothic Book" panose="020B0503020102020204" pitchFamily="34" charset="0"/>
                <a:cs typeface="Arial"/>
              </a:rPr>
              <a:t>external </a:t>
            </a:r>
            <a:r>
              <a:rPr sz="1067" spc="-7" dirty="0">
                <a:solidFill>
                  <a:srgbClr val="7F7F7F"/>
                </a:solidFill>
                <a:latin typeface="Franklin Gothic Book" panose="020B0503020102020204" pitchFamily="34" charset="0"/>
                <a:cs typeface="Arial"/>
              </a:rPr>
              <a:t>distribution </a:t>
            </a:r>
            <a:r>
              <a:rPr sz="1067" spc="-27" dirty="0">
                <a:solidFill>
                  <a:srgbClr val="7F7F7F"/>
                </a:solidFill>
                <a:latin typeface="Franklin Gothic Book" panose="020B0503020102020204" pitchFamily="34" charset="0"/>
                <a:cs typeface="Arial"/>
              </a:rPr>
              <a:t>and </a:t>
            </a:r>
            <a:r>
              <a:rPr sz="1067" spc="-20" dirty="0">
                <a:solidFill>
                  <a:srgbClr val="7F7F7F"/>
                </a:solidFill>
                <a:latin typeface="Franklin Gothic Book" panose="020B0503020102020204" pitchFamily="34" charset="0"/>
                <a:cs typeface="Arial"/>
              </a:rPr>
              <a:t>are</a:t>
            </a:r>
            <a:r>
              <a:rPr sz="1067" spc="-73" dirty="0">
                <a:solidFill>
                  <a:srgbClr val="7F7F7F"/>
                </a:solidFill>
                <a:latin typeface="Franklin Gothic Book" panose="020B0503020102020204" pitchFamily="34" charset="0"/>
                <a:cs typeface="Arial"/>
              </a:rPr>
              <a:t> </a:t>
            </a:r>
            <a:r>
              <a:rPr sz="1067" spc="-13" dirty="0">
                <a:solidFill>
                  <a:srgbClr val="7F7F7F"/>
                </a:solidFill>
                <a:latin typeface="Franklin Gothic Book" panose="020B0503020102020204" pitchFamily="34" charset="0"/>
                <a:cs typeface="Arial"/>
              </a:rPr>
              <a:t>protected.</a:t>
            </a:r>
            <a:endParaRPr sz="1067" dirty="0">
              <a:latin typeface="Franklin Gothic Book" panose="020B0503020102020204" pitchFamily="34" charset="0"/>
              <a:cs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D20FDA8-17A9-6432-09E7-477BCCA3AD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47514" y="5576066"/>
            <a:ext cx="2136556" cy="1281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4700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D76ED04A-D1B1-7D4F-925B-56B554ED403C}"/>
              </a:ext>
            </a:extLst>
          </p:cNvPr>
          <p:cNvSpPr/>
          <p:nvPr/>
        </p:nvSpPr>
        <p:spPr>
          <a:xfrm>
            <a:off x="837870" y="1821649"/>
            <a:ext cx="2436327" cy="2197484"/>
          </a:xfrm>
          <a:prstGeom prst="rect">
            <a:avLst/>
          </a:prstGeom>
          <a:solidFill>
            <a:schemeClr val="bg1">
              <a:lumMod val="6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B7CA32FF-EABB-244D-B51E-03E627718C53}"/>
              </a:ext>
            </a:extLst>
          </p:cNvPr>
          <p:cNvSpPr txBox="1">
            <a:spLocks/>
          </p:cNvSpPr>
          <p:nvPr/>
        </p:nvSpPr>
        <p:spPr>
          <a:xfrm>
            <a:off x="872770" y="1819470"/>
            <a:ext cx="2366525" cy="1615699"/>
          </a:xfrm>
          <a:prstGeom prst="rect">
            <a:avLst/>
          </a:prstGeom>
        </p:spPr>
        <p:txBody>
          <a:bodyPr vert="horz" wrap="square" lIns="45720" tIns="22860" rIns="45720" bIns="22860" rtlCol="0" anchor="t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endParaRPr lang="en-US" sz="1400" i="1" dirty="0">
              <a:solidFill>
                <a:srgbClr val="B52372"/>
              </a:solidFill>
              <a:latin typeface="Franklin Gothic Book" panose="020B0503020102020204" pitchFamily="34" charset="0"/>
              <a:ea typeface="Lato Light" panose="020F0502020204030203" pitchFamily="34" charset="0"/>
              <a:cs typeface="Mukta ExtraLight" panose="020B0000000000000000" pitchFamily="34" charset="77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endParaRPr lang="en-US" sz="1400" i="1" dirty="0">
              <a:solidFill>
                <a:srgbClr val="B52372"/>
              </a:solidFill>
              <a:latin typeface="Franklin Gothic Book" panose="020B0503020102020204" pitchFamily="34" charset="0"/>
              <a:ea typeface="Lato Light" panose="020F0502020204030203" pitchFamily="34" charset="0"/>
              <a:cs typeface="Mukta ExtraLight" panose="020B0000000000000000" pitchFamily="34" charset="77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endParaRPr lang="en-US" sz="1400" i="1" dirty="0">
              <a:solidFill>
                <a:srgbClr val="B52372"/>
              </a:solidFill>
              <a:latin typeface="Franklin Gothic Book" panose="020B0503020102020204" pitchFamily="34" charset="0"/>
              <a:ea typeface="Lato Light" panose="020F0502020204030203" pitchFamily="34" charset="0"/>
              <a:cs typeface="Mukta ExtraLight" panose="020B0000000000000000" pitchFamily="34" charset="77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endParaRPr lang="en-US" sz="1400" i="1" dirty="0">
              <a:solidFill>
                <a:srgbClr val="B52372"/>
              </a:solidFill>
              <a:latin typeface="Franklin Gothic Book" panose="020B0503020102020204" pitchFamily="34" charset="0"/>
              <a:ea typeface="Lato Light" panose="020F0502020204030203" pitchFamily="34" charset="0"/>
              <a:cs typeface="Mukta ExtraLight" panose="020B0000000000000000" pitchFamily="34" charset="77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lang="en-US" sz="2133" i="1" dirty="0">
                <a:solidFill>
                  <a:srgbClr val="B52372"/>
                </a:solidFill>
                <a:latin typeface="Franklin Gothic Book" panose="020B0503020102020204" pitchFamily="34" charset="0"/>
                <a:ea typeface="Lato Light" panose="020F0502020204030203" pitchFamily="34" charset="0"/>
                <a:cs typeface="Mukta ExtraLight" panose="020B0000000000000000" pitchFamily="34" charset="77"/>
              </a:rPr>
              <a:t>Insight Intelligence Report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1B959DC-CD3F-DA4A-BD84-A53C39E2C725}"/>
              </a:ext>
            </a:extLst>
          </p:cNvPr>
          <p:cNvSpPr txBox="1"/>
          <p:nvPr/>
        </p:nvSpPr>
        <p:spPr>
          <a:xfrm rot="16200000">
            <a:off x="-502112" y="2751113"/>
            <a:ext cx="2197485" cy="338554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Franklin Gothic Book" panose="020B0503020102020204" pitchFamily="34" charset="0"/>
              </a:rPr>
              <a:t>What You Get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DB7DF4F-323C-3049-B0AF-AF5245F82986}"/>
              </a:ext>
            </a:extLst>
          </p:cNvPr>
          <p:cNvSpPr/>
          <p:nvPr/>
        </p:nvSpPr>
        <p:spPr>
          <a:xfrm>
            <a:off x="837873" y="4104629"/>
            <a:ext cx="2436327" cy="1978721"/>
          </a:xfrm>
          <a:prstGeom prst="rect">
            <a:avLst/>
          </a:prstGeom>
          <a:solidFill>
            <a:schemeClr val="bg1">
              <a:lumMod val="6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8EA88D6-40CA-4B4E-AC3E-9B5068601B21}"/>
              </a:ext>
            </a:extLst>
          </p:cNvPr>
          <p:cNvSpPr txBox="1"/>
          <p:nvPr/>
        </p:nvSpPr>
        <p:spPr>
          <a:xfrm rot="16200000">
            <a:off x="-384313" y="4924715"/>
            <a:ext cx="1978725" cy="338554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Franklin Gothic Book" panose="020B0503020102020204" pitchFamily="34" charset="0"/>
              </a:rPr>
              <a:t>So You Can</a:t>
            </a:r>
          </a:p>
        </p:txBody>
      </p:sp>
      <p:sp>
        <p:nvSpPr>
          <p:cNvPr id="19" name="Subtitle 2">
            <a:extLst>
              <a:ext uri="{FF2B5EF4-FFF2-40B4-BE49-F238E27FC236}">
                <a16:creationId xmlns:a16="http://schemas.microsoft.com/office/drawing/2014/main" id="{20FDB204-7C28-AE4F-B2D3-5A51655213EB}"/>
              </a:ext>
            </a:extLst>
          </p:cNvPr>
          <p:cNvSpPr txBox="1">
            <a:spLocks/>
          </p:cNvSpPr>
          <p:nvPr/>
        </p:nvSpPr>
        <p:spPr>
          <a:xfrm>
            <a:off x="802662" y="4116371"/>
            <a:ext cx="2453725" cy="2046714"/>
          </a:xfrm>
          <a:prstGeom prst="rect">
            <a:avLst/>
          </a:prstGeom>
        </p:spPr>
        <p:txBody>
          <a:bodyPr vert="horz" wrap="square" lIns="45720" tIns="22860" rIns="45720" bIns="22860" rtlCol="0" anchor="t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</a:pPr>
            <a:r>
              <a:rPr lang="en-US" sz="1467" dirty="0">
                <a:solidFill>
                  <a:schemeClr val="tx1">
                    <a:lumMod val="65000"/>
                    <a:lumOff val="35000"/>
                  </a:schemeClr>
                </a:solidFill>
                <a:latin typeface="Franklin Gothic Book" panose="020B0503020102020204" pitchFamily="34" charset="0"/>
                <a:ea typeface="Lato Light" panose="020F0502020204030203" pitchFamily="34" charset="0"/>
                <a:cs typeface="Mukta ExtraLight" panose="020B0000000000000000" pitchFamily="34" charset="77"/>
              </a:rPr>
              <a:t>Understand what:</a:t>
            </a:r>
          </a:p>
          <a:p>
            <a:pPr marL="380990" indent="82549" algn="l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Franklin Gothic Book" panose="020B0503020102020204" pitchFamily="34" charset="0"/>
                <a:ea typeface="Lato Light" panose="020F0502020204030203" pitchFamily="34" charset="0"/>
                <a:cs typeface="Mukta ExtraLight" panose="020B0000000000000000" pitchFamily="34" charset="77"/>
              </a:rPr>
              <a:t> Is working and needs to be repeated</a:t>
            </a:r>
          </a:p>
          <a:p>
            <a:pPr marL="380990" indent="82549" algn="l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Franklin Gothic Book" panose="020B0503020102020204" pitchFamily="34" charset="0"/>
                <a:ea typeface="Lato Light" panose="020F0502020204030203" pitchFamily="34" charset="0"/>
                <a:cs typeface="Mukta ExtraLight" panose="020B0000000000000000" pitchFamily="34" charset="77"/>
              </a:rPr>
              <a:t>What is missing and needs to be built</a:t>
            </a:r>
          </a:p>
          <a:p>
            <a:pPr marL="380990" indent="82549" algn="l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Franklin Gothic Book" panose="020B0503020102020204" pitchFamily="34" charset="0"/>
                <a:ea typeface="Lato Light" panose="020F0502020204030203" pitchFamily="34" charset="0"/>
                <a:cs typeface="Mukta ExtraLight" panose="020B0000000000000000" pitchFamily="34" charset="77"/>
              </a:rPr>
              <a:t>What isn’t working and needs to be left behind</a:t>
            </a:r>
          </a:p>
          <a:p>
            <a:pPr marL="228594" indent="-228594" algn="l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endParaRPr lang="en-US" sz="1333" i="1" dirty="0">
              <a:solidFill>
                <a:schemeClr val="tx1">
                  <a:lumMod val="65000"/>
                  <a:lumOff val="35000"/>
                </a:schemeClr>
              </a:solidFill>
              <a:latin typeface="Franklin Gothic Book" panose="020B0503020102020204" pitchFamily="34" charset="0"/>
              <a:ea typeface="Lato Light" panose="020F0502020204030203" pitchFamily="34" charset="0"/>
              <a:cs typeface="Mukta ExtraLight" panose="020B0000000000000000" pitchFamily="34" charset="77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014A3A2-4E4F-864D-99A1-5FBF804A5854}"/>
              </a:ext>
            </a:extLst>
          </p:cNvPr>
          <p:cNvSpPr/>
          <p:nvPr/>
        </p:nvSpPr>
        <p:spPr>
          <a:xfrm>
            <a:off x="3618293" y="734927"/>
            <a:ext cx="5113328" cy="5468384"/>
          </a:xfrm>
          <a:prstGeom prst="rect">
            <a:avLst/>
          </a:prstGeom>
          <a:gradFill>
            <a:gsLst>
              <a:gs pos="0">
                <a:srgbClr val="A0A1A2"/>
              </a:gs>
              <a:gs pos="0">
                <a:srgbClr val="A0A1A2">
                  <a:tint val="44500"/>
                  <a:satMod val="160000"/>
                </a:srgbClr>
              </a:gs>
              <a:gs pos="100000">
                <a:srgbClr val="A0A1A2">
                  <a:tint val="23500"/>
                  <a:satMod val="160000"/>
                </a:srgbClr>
              </a:gs>
            </a:gsLst>
            <a:lin ang="13500000" scaled="1"/>
          </a:gra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80990" indent="-38099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1">
                  <a:lumMod val="65000"/>
                  <a:lumOff val="35000"/>
                </a:schemeClr>
              </a:solidFill>
              <a:latin typeface="Franklin Gothic Book" panose="020B0503020102020204" pitchFamily="34" charset="0"/>
            </a:endParaRPr>
          </a:p>
          <a:p>
            <a:pPr marL="380990" indent="-38099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1">
                  <a:lumMod val="65000"/>
                  <a:lumOff val="35000"/>
                </a:schemeClr>
              </a:solidFill>
              <a:latin typeface="Franklin Gothic Book" panose="020B0503020102020204" pitchFamily="34" charset="0"/>
            </a:endParaRPr>
          </a:p>
          <a:p>
            <a:pPr marL="380990" indent="-38099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1">
                  <a:lumMod val="65000"/>
                  <a:lumOff val="35000"/>
                </a:schemeClr>
              </a:solidFill>
              <a:latin typeface="Franklin Gothic Book" panose="020B0503020102020204" pitchFamily="34" charset="0"/>
            </a:endParaRPr>
          </a:p>
          <a:p>
            <a:pPr marL="380990" indent="-38099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1">
                  <a:lumMod val="65000"/>
                  <a:lumOff val="35000"/>
                </a:schemeClr>
              </a:solidFill>
              <a:latin typeface="Franklin Gothic Book" panose="020B0503020102020204" pitchFamily="34" charset="0"/>
            </a:endParaRPr>
          </a:p>
          <a:p>
            <a:pPr marL="380990" indent="-38099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1">
                  <a:lumMod val="65000"/>
                  <a:lumOff val="35000"/>
                </a:schemeClr>
              </a:solidFill>
              <a:latin typeface="Franklin Gothic Book" panose="020B0503020102020204" pitchFamily="34" charset="0"/>
            </a:endParaRPr>
          </a:p>
          <a:p>
            <a:pPr marL="380990" indent="-38099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1">
                  <a:lumMod val="65000"/>
                  <a:lumOff val="35000"/>
                </a:schemeClr>
              </a:solidFill>
              <a:latin typeface="Franklin Gothic Book" panose="020B0503020102020204" pitchFamily="34" charset="0"/>
            </a:endParaRPr>
          </a:p>
          <a:p>
            <a:pPr marL="380990" indent="-38099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1">
                  <a:lumMod val="65000"/>
                  <a:lumOff val="35000"/>
                </a:schemeClr>
              </a:solidFill>
              <a:latin typeface="Franklin Gothic Book" panose="020B0503020102020204" pitchFamily="34" charset="0"/>
            </a:endParaRPr>
          </a:p>
          <a:p>
            <a:pPr marL="380990" indent="-380990">
              <a:buFont typeface="Arial" panose="020B0604020202020204" pitchFamily="34" charset="0"/>
              <a:buChar char="•"/>
            </a:pPr>
            <a:endParaRPr lang="en-US" sz="2133" dirty="0">
              <a:solidFill>
                <a:schemeClr val="tx1">
                  <a:lumMod val="65000"/>
                  <a:lumOff val="35000"/>
                </a:schemeClr>
              </a:solidFill>
              <a:latin typeface="Franklin Gothic Book" panose="020B0503020102020204" pitchFamily="34" charset="0"/>
            </a:endParaRPr>
          </a:p>
          <a:p>
            <a:pPr lvl="1"/>
            <a:endParaRPr lang="en-US" sz="1467" dirty="0">
              <a:solidFill>
                <a:schemeClr val="tx1">
                  <a:lumMod val="65000"/>
                  <a:lumOff val="35000"/>
                </a:schemeClr>
              </a:solidFill>
              <a:latin typeface="Franklin Gothic Book" panose="020B0503020102020204" pitchFamily="34" charset="0"/>
            </a:endParaRPr>
          </a:p>
          <a:p>
            <a:pPr marL="990575" lvl="1" indent="-38099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1">
                  <a:lumMod val="65000"/>
                  <a:lumOff val="35000"/>
                </a:schemeClr>
              </a:solidFill>
              <a:latin typeface="Franklin Gothic Book" panose="020B0503020102020204" pitchFamily="34" charset="0"/>
            </a:endParaRPr>
          </a:p>
          <a:p>
            <a:pPr marL="990575" lvl="1" indent="-982109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1">
                  <a:lumMod val="65000"/>
                  <a:lumOff val="35000"/>
                </a:schemeClr>
              </a:solidFill>
              <a:latin typeface="Franklin Gothic Book" panose="020B0503020102020204" pitchFamily="34" charset="0"/>
            </a:endParaRPr>
          </a:p>
          <a:p>
            <a:pPr marL="380990" indent="-38099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1">
                  <a:lumMod val="65000"/>
                  <a:lumOff val="35000"/>
                </a:schemeClr>
              </a:solidFill>
              <a:latin typeface="Franklin Gothic Book" panose="020B0503020102020204" pitchFamily="34" charset="0"/>
            </a:endParaRPr>
          </a:p>
          <a:p>
            <a:pPr marL="380990" indent="-38099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1">
                  <a:lumMod val="65000"/>
                  <a:lumOff val="35000"/>
                </a:schemeClr>
              </a:solidFill>
              <a:latin typeface="Franklin Gothic Book" panose="020B0503020102020204" pitchFamily="34" charset="0"/>
            </a:endParaRPr>
          </a:p>
          <a:p>
            <a:pPr marL="380990" indent="-38099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1">
                  <a:lumMod val="65000"/>
                  <a:lumOff val="35000"/>
                </a:schemeClr>
              </a:solidFill>
              <a:latin typeface="Franklin Gothic Book" panose="020B0503020102020204" pitchFamily="34" charset="0"/>
            </a:endParaRPr>
          </a:p>
          <a:p>
            <a:pPr marL="380990" indent="-38099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1">
                  <a:lumMod val="65000"/>
                  <a:lumOff val="35000"/>
                </a:schemeClr>
              </a:solidFill>
              <a:latin typeface="Franklin Gothic Book" panose="020B0503020102020204" pitchFamily="34" charset="0"/>
            </a:endParaRPr>
          </a:p>
          <a:p>
            <a:pPr marL="380990" indent="-38099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1">
                  <a:lumMod val="65000"/>
                  <a:lumOff val="35000"/>
                </a:schemeClr>
              </a:solidFill>
              <a:latin typeface="Franklin Gothic Book" panose="020B0503020102020204" pitchFamily="34" charset="0"/>
            </a:endParaRPr>
          </a:p>
          <a:p>
            <a:pPr marL="380990" indent="-380990">
              <a:buFont typeface="Arial" panose="020B0604020202020204" pitchFamily="34" charset="0"/>
              <a:buChar char="•"/>
            </a:pPr>
            <a:endParaRPr lang="en-US" sz="2400" dirty="0">
              <a:latin typeface="Franklin Gothic Book" panose="020B0503020102020204" pitchFamily="34" charset="0"/>
            </a:endParaRP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E0DB6637-E372-7E4D-8FB9-847DAB44A468}"/>
              </a:ext>
            </a:extLst>
          </p:cNvPr>
          <p:cNvSpPr/>
          <p:nvPr/>
        </p:nvSpPr>
        <p:spPr>
          <a:xfrm>
            <a:off x="8967711" y="1224848"/>
            <a:ext cx="2804160" cy="743944"/>
          </a:xfrm>
          <a:prstGeom prst="roundRect">
            <a:avLst/>
          </a:prstGeom>
          <a:noFill/>
          <a:ln>
            <a:solidFill>
              <a:srgbClr val="B5237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287925" rtlCol="0" anchor="t"/>
          <a:lstStyle/>
          <a:p>
            <a:pPr algn="ctr"/>
            <a:endParaRPr lang="en-US" sz="2800" b="1" u="sng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A0A1A2"/>
              </a:highlight>
              <a:latin typeface="Franklin Gothic Book" panose="020B05030201020202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884D4CE-146A-CF4D-9F45-4D48DEB60CFE}"/>
              </a:ext>
            </a:extLst>
          </p:cNvPr>
          <p:cNvSpPr txBox="1"/>
          <p:nvPr/>
        </p:nvSpPr>
        <p:spPr>
          <a:xfrm>
            <a:off x="9646769" y="673492"/>
            <a:ext cx="128272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>
                <a:latin typeface="Franklin Gothic Book" panose="020B0503020102020204" pitchFamily="34" charset="0"/>
              </a:rPr>
              <a:t>Timeline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CF2E060-97C8-E341-BEBD-E9D0A1DE90BA}"/>
              </a:ext>
            </a:extLst>
          </p:cNvPr>
          <p:cNvSpPr txBox="1"/>
          <p:nvPr/>
        </p:nvSpPr>
        <p:spPr>
          <a:xfrm>
            <a:off x="9307173" y="2588170"/>
            <a:ext cx="211078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Franklin Gothic Book" panose="020B0503020102020204" pitchFamily="34" charset="0"/>
              </a:rPr>
              <a:t>Kate &amp; Co </a:t>
            </a:r>
          </a:p>
          <a:p>
            <a:pPr algn="ctr"/>
            <a:r>
              <a:rPr lang="en-US" sz="2400" dirty="0">
                <a:latin typeface="Franklin Gothic Book" panose="020B0503020102020204" pitchFamily="34" charset="0"/>
              </a:rPr>
              <a:t>Team</a:t>
            </a: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4B98DEA1-E7F7-B94C-878A-13AE055E883F}"/>
              </a:ext>
            </a:extLst>
          </p:cNvPr>
          <p:cNvSpPr/>
          <p:nvPr/>
        </p:nvSpPr>
        <p:spPr>
          <a:xfrm>
            <a:off x="8960487" y="2493157"/>
            <a:ext cx="2804160" cy="935844"/>
          </a:xfrm>
          <a:prstGeom prst="roundRect">
            <a:avLst/>
          </a:prstGeom>
          <a:noFill/>
          <a:ln>
            <a:solidFill>
              <a:srgbClr val="B5237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287925" rtlCol="0" anchor="t"/>
          <a:lstStyle/>
          <a:p>
            <a:pPr algn="ctr"/>
            <a:endParaRPr lang="en-US" sz="2800" b="1" u="sng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A0A1A2"/>
              </a:highlight>
              <a:latin typeface="Franklin Gothic Book" panose="020B0503020102020204" pitchFamily="34" charset="0"/>
            </a:endParaRP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AAB0881C-2B13-D046-8B0B-41BA9EED39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73767" y="3784916"/>
            <a:ext cx="710551" cy="812059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F5930BCD-F971-6944-9F84-1E88AF015B53}"/>
              </a:ext>
            </a:extLst>
          </p:cNvPr>
          <p:cNvSpPr txBox="1"/>
          <p:nvPr/>
        </p:nvSpPr>
        <p:spPr>
          <a:xfrm>
            <a:off x="8930426" y="4584653"/>
            <a:ext cx="108233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Bradley Hand" pitchFamily="2" charset="77"/>
              </a:rPr>
              <a:t>Kate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2B12372-4CA1-394C-ADC3-4B552FEF18C9}"/>
              </a:ext>
            </a:extLst>
          </p:cNvPr>
          <p:cNvSpPr txBox="1"/>
          <p:nvPr/>
        </p:nvSpPr>
        <p:spPr>
          <a:xfrm>
            <a:off x="10770252" y="4412197"/>
            <a:ext cx="10823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Fave Script Bold Pro" panose="020F0502020204030204" pitchFamily="34" charset="0"/>
                <a:cs typeface="Fave Script Bold Pro" panose="020F0502020204030204" pitchFamily="34" charset="0"/>
              </a:rPr>
              <a:t>Sharla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5D165A9-65ED-C499-77E0-747543E269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38656" y="3591596"/>
            <a:ext cx="855074" cy="855074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BC956F3C-20D3-A9B4-0C83-52E1FC85CD53}"/>
              </a:ext>
            </a:extLst>
          </p:cNvPr>
          <p:cNvGrpSpPr/>
          <p:nvPr/>
        </p:nvGrpSpPr>
        <p:grpSpPr>
          <a:xfrm>
            <a:off x="420129" y="285239"/>
            <a:ext cx="1177676" cy="1182624"/>
            <a:chOff x="102181" y="139153"/>
            <a:chExt cx="883257" cy="886968"/>
          </a:xfrm>
        </p:grpSpPr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39C0E71D-C792-2512-972C-4D49451017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2181" y="139153"/>
              <a:ext cx="883257" cy="886968"/>
            </a:xfrm>
            <a:custGeom>
              <a:avLst/>
              <a:gdLst>
                <a:gd name="T0" fmla="*/ 1377 w 2753"/>
                <a:gd name="T1" fmla="*/ 0 h 2752"/>
                <a:gd name="T2" fmla="*/ 1377 w 2753"/>
                <a:gd name="T3" fmla="*/ 0 h 2752"/>
                <a:gd name="T4" fmla="*/ 2752 w 2753"/>
                <a:gd name="T5" fmla="*/ 1376 h 2752"/>
                <a:gd name="T6" fmla="*/ 2752 w 2753"/>
                <a:gd name="T7" fmla="*/ 1376 h 2752"/>
                <a:gd name="T8" fmla="*/ 1377 w 2753"/>
                <a:gd name="T9" fmla="*/ 2751 h 2752"/>
                <a:gd name="T10" fmla="*/ 1377 w 2753"/>
                <a:gd name="T11" fmla="*/ 2751 h 2752"/>
                <a:gd name="T12" fmla="*/ 0 w 2753"/>
                <a:gd name="T13" fmla="*/ 1376 h 2752"/>
                <a:gd name="T14" fmla="*/ 0 w 2753"/>
                <a:gd name="T15" fmla="*/ 1376 h 2752"/>
                <a:gd name="T16" fmla="*/ 1377 w 2753"/>
                <a:gd name="T17" fmla="*/ 0 h 27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753" h="2752">
                  <a:moveTo>
                    <a:pt x="1377" y="0"/>
                  </a:moveTo>
                  <a:lnTo>
                    <a:pt x="1377" y="0"/>
                  </a:lnTo>
                  <a:cubicBezTo>
                    <a:pt x="2137" y="0"/>
                    <a:pt x="2752" y="616"/>
                    <a:pt x="2752" y="1376"/>
                  </a:cubicBezTo>
                  <a:lnTo>
                    <a:pt x="2752" y="1376"/>
                  </a:lnTo>
                  <a:cubicBezTo>
                    <a:pt x="2752" y="2135"/>
                    <a:pt x="2137" y="2751"/>
                    <a:pt x="1377" y="2751"/>
                  </a:cubicBezTo>
                  <a:lnTo>
                    <a:pt x="1377" y="2751"/>
                  </a:lnTo>
                  <a:cubicBezTo>
                    <a:pt x="616" y="2751"/>
                    <a:pt x="0" y="2135"/>
                    <a:pt x="0" y="1376"/>
                  </a:cubicBezTo>
                  <a:lnTo>
                    <a:pt x="0" y="1376"/>
                  </a:lnTo>
                  <a:cubicBezTo>
                    <a:pt x="0" y="616"/>
                    <a:pt x="616" y="0"/>
                    <a:pt x="1377" y="0"/>
                  </a:cubicBezTo>
                </a:path>
              </a:pathLst>
            </a:custGeom>
            <a:solidFill>
              <a:schemeClr val="bg1"/>
            </a:solidFill>
            <a:ln w="76200">
              <a:solidFill>
                <a:srgbClr val="B52372"/>
              </a:solidFill>
            </a:ln>
            <a:effectLst/>
          </p:spPr>
          <p:txBody>
            <a:bodyPr wrap="none" anchor="ctr"/>
            <a:lstStyle/>
            <a:p>
              <a:endParaRPr lang="en-US" sz="3265" dirty="0"/>
            </a:p>
          </p:txBody>
        </p:sp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A542DB4C-081D-BE0C-5E0E-522B3255465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19943948">
              <a:off x="360024" y="306818"/>
              <a:ext cx="367570" cy="595463"/>
            </a:xfrm>
            <a:prstGeom prst="rect">
              <a:avLst/>
            </a:prstGeom>
          </p:spPr>
        </p:pic>
      </p:grpSp>
      <p:pic>
        <p:nvPicPr>
          <p:cNvPr id="2" name="Picture 1">
            <a:extLst>
              <a:ext uri="{FF2B5EF4-FFF2-40B4-BE49-F238E27FC236}">
                <a16:creationId xmlns:a16="http://schemas.microsoft.com/office/drawing/2014/main" id="{7B2E3407-4A66-FA2E-0992-C48D1D867B4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742393" y="1436497"/>
            <a:ext cx="254000" cy="254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DE2F5E9-C55C-08AC-0DCC-3401B5C9438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732238" y="2936527"/>
            <a:ext cx="254000" cy="254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CEACF52-A67D-C547-FB30-F302FA628EA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751817" y="4713562"/>
            <a:ext cx="254000" cy="254000"/>
          </a:xfrm>
          <a:prstGeom prst="rect">
            <a:avLst/>
          </a:prstGeom>
        </p:spPr>
      </p:pic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0156D5AE-E9ED-82BA-5B13-47850E3D61F6}"/>
              </a:ext>
            </a:extLst>
          </p:cNvPr>
          <p:cNvSpPr txBox="1">
            <a:spLocks/>
          </p:cNvSpPr>
          <p:nvPr/>
        </p:nvSpPr>
        <p:spPr>
          <a:xfrm>
            <a:off x="8922726" y="6503763"/>
            <a:ext cx="3224189" cy="328295"/>
          </a:xfrm>
          <a:prstGeom prst="rect">
            <a:avLst/>
          </a:prstGeom>
        </p:spPr>
        <p:txBody>
          <a:bodyPr vert="horz" lIns="121920" tIns="60960" rIns="121920" bIns="60960" rtlCol="0" anchor="ctr"/>
          <a:lstStyle>
            <a:defPPr>
              <a:defRPr lang="en-US"/>
            </a:defPPr>
            <a:lvl1pPr marL="0" algn="r" defTabSz="1219170" rtl="0" eaLnBrk="1" latinLnBrk="0" hangingPunct="1">
              <a:defRPr sz="1600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B8111B1-F5BB-486D-8B3C-017EE72F0AF7}" type="slidenum">
              <a:rPr lang="en-US" sz="1000" smtClean="0"/>
              <a:pPr/>
              <a:t>2</a:t>
            </a:fld>
            <a:endParaRPr lang="en-US" sz="1000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82A12AE-A44A-9DA3-78E7-8B0E82214420}"/>
              </a:ext>
            </a:extLst>
          </p:cNvPr>
          <p:cNvSpPr txBox="1">
            <a:spLocks/>
          </p:cNvSpPr>
          <p:nvPr/>
        </p:nvSpPr>
        <p:spPr>
          <a:xfrm>
            <a:off x="0" y="153682"/>
            <a:ext cx="12192000" cy="43088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dirty="0">
                <a:solidFill>
                  <a:schemeClr val="tx1">
                    <a:lumMod val="65000"/>
                    <a:lumOff val="35000"/>
                  </a:schemeClr>
                </a:solidFill>
                <a:latin typeface="Franklin Gothic Book" panose="020B0503020102020204" pitchFamily="34" charset="0"/>
              </a:rPr>
              <a:t>1 – The Reveal </a:t>
            </a:r>
            <a:r>
              <a:rPr lang="en-US" sz="3200" dirty="0">
                <a:solidFill>
                  <a:srgbClr val="B52372"/>
                </a:solidFill>
                <a:latin typeface="Franklin Gothic Book" panose="020B0503020102020204" pitchFamily="34" charset="0"/>
              </a:rPr>
              <a:t>| Operational Plan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D340650-D932-FC0B-4ECC-6032175749C2}"/>
              </a:ext>
            </a:extLst>
          </p:cNvPr>
          <p:cNvSpPr txBox="1"/>
          <p:nvPr/>
        </p:nvSpPr>
        <p:spPr>
          <a:xfrm>
            <a:off x="9434858" y="5696206"/>
            <a:ext cx="14038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Ink Free" panose="03080402000500000000" pitchFamily="66" charset="0"/>
              </a:rPr>
              <a:t>Tristan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B96CCA1-85D5-EE2D-B828-90842671099C}"/>
              </a:ext>
            </a:extLst>
          </p:cNvPr>
          <p:cNvSpPr txBox="1"/>
          <p:nvPr/>
        </p:nvSpPr>
        <p:spPr>
          <a:xfrm>
            <a:off x="3996393" y="904540"/>
            <a:ext cx="4510889" cy="50013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Franklin Gothic Book" panose="020B0503020102020204" pitchFamily="34" charset="0"/>
              </a:rPr>
              <a:t>A deep dive into:</a:t>
            </a:r>
            <a:endParaRPr lang="en-US" sz="1400" dirty="0">
              <a:solidFill>
                <a:schemeClr val="tx1">
                  <a:lumMod val="75000"/>
                  <a:lumOff val="25000"/>
                </a:schemeClr>
              </a:solidFill>
              <a:latin typeface="Franklin Gothic Book" panose="020B0503020102020204" pitchFamily="34" charset="0"/>
            </a:endParaRPr>
          </a:p>
          <a:p>
            <a:endParaRPr lang="en-US" sz="900" dirty="0">
              <a:solidFill>
                <a:schemeClr val="tx1">
                  <a:lumMod val="75000"/>
                  <a:lumOff val="25000"/>
                </a:schemeClr>
              </a:solidFill>
              <a:latin typeface="Franklin Gothic Book" panose="020B0503020102020204" pitchFamily="34" charset="0"/>
            </a:endParaRPr>
          </a:p>
          <a:p>
            <a:r>
              <a:rPr lang="en-US" i="1" dirty="0">
                <a:solidFill>
                  <a:schemeClr val="tx1">
                    <a:lumMod val="75000"/>
                    <a:lumOff val="25000"/>
                  </a:schemeClr>
                </a:solidFill>
                <a:latin typeface="Franklin Gothic Book" panose="020B0503020102020204" pitchFamily="34" charset="0"/>
              </a:rPr>
              <a:t>Critical Crowd Involvement:  (Sales Team, Wendy, Glenn, Rev Mgmt., Marketing) </a:t>
            </a:r>
          </a:p>
          <a:p>
            <a:pPr marL="350838" indent="225425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Franklin Gothic Book" panose="020B0503020102020204" pitchFamily="34" charset="0"/>
              </a:rPr>
              <a:t>One-on-One Interviews</a:t>
            </a:r>
          </a:p>
          <a:p>
            <a:pPr marL="350838" indent="225425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Franklin Gothic Book" panose="020B0503020102020204" pitchFamily="34" charset="0"/>
              </a:rPr>
              <a:t>Rev. Mgmt. &amp; Marketing Calls</a:t>
            </a:r>
          </a:p>
          <a:p>
            <a:pPr marL="350838" indent="225425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Franklin Gothic Book" panose="020B0503020102020204" pitchFamily="34" charset="0"/>
              </a:rPr>
              <a:t>Sales Team</a:t>
            </a:r>
          </a:p>
          <a:p>
            <a:pPr marL="350838"/>
            <a:endParaRPr lang="en-US" sz="1000" dirty="0">
              <a:solidFill>
                <a:schemeClr val="tx1">
                  <a:lumMod val="75000"/>
                  <a:lumOff val="25000"/>
                </a:schemeClr>
              </a:solidFill>
              <a:latin typeface="Franklin Gothic Book" panose="020B0503020102020204" pitchFamily="34" charset="0"/>
            </a:endParaRPr>
          </a:p>
          <a:p>
            <a:pPr marL="7938"/>
            <a:r>
              <a:rPr lang="en-US" i="1" dirty="0">
                <a:solidFill>
                  <a:schemeClr val="tx1">
                    <a:lumMod val="75000"/>
                    <a:lumOff val="25000"/>
                  </a:schemeClr>
                </a:solidFill>
                <a:latin typeface="Franklin Gothic Book" panose="020B0503020102020204" pitchFamily="34" charset="0"/>
              </a:rPr>
              <a:t>Deep dive into: </a:t>
            </a:r>
          </a:p>
          <a:p>
            <a:pPr marL="350838" indent="225425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Franklin Gothic Book" panose="020B0503020102020204" pitchFamily="34" charset="0"/>
              </a:rPr>
              <a:t>Revenue Plan </a:t>
            </a:r>
          </a:p>
          <a:p>
            <a:pPr marL="350838" indent="225425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Franklin Gothic Book" panose="020B0503020102020204" pitchFamily="34" charset="0"/>
              </a:rPr>
              <a:t>Sales Action Plan</a:t>
            </a:r>
          </a:p>
          <a:p>
            <a:pPr marL="350838" indent="225425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Franklin Gothic Book" panose="020B0503020102020204" pitchFamily="34" charset="0"/>
              </a:rPr>
              <a:t>Marketing Plan</a:t>
            </a:r>
          </a:p>
          <a:p>
            <a:pPr marL="350838" indent="225425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Franklin Gothic Book" panose="020B0503020102020204" pitchFamily="34" charset="0"/>
              </a:rPr>
              <a:t>Reports, KPIs, and other relevant information</a:t>
            </a:r>
          </a:p>
          <a:p>
            <a:pPr marL="350838">
              <a:buFont typeface="Arial" panose="020B0604020202020204" pitchFamily="34" charset="0"/>
              <a:buChar char="•"/>
            </a:pPr>
            <a:endParaRPr lang="en-US" sz="1000" dirty="0">
              <a:solidFill>
                <a:schemeClr val="tx1">
                  <a:lumMod val="75000"/>
                  <a:lumOff val="25000"/>
                </a:schemeClr>
              </a:solidFill>
              <a:latin typeface="Franklin Gothic Book" panose="020B0503020102020204" pitchFamily="34" charset="0"/>
            </a:endParaRPr>
          </a:p>
          <a:p>
            <a:pPr marL="7938"/>
            <a:r>
              <a:rPr lang="en-US" i="1" dirty="0">
                <a:solidFill>
                  <a:schemeClr val="tx1">
                    <a:lumMod val="75000"/>
                    <a:lumOff val="25000"/>
                  </a:schemeClr>
                </a:solidFill>
                <a:latin typeface="Franklin Gothic Book" panose="020B0503020102020204" pitchFamily="34" charset="0"/>
              </a:rPr>
              <a:t>Processes and Involvement: </a:t>
            </a:r>
          </a:p>
          <a:p>
            <a:pPr marL="350838" indent="225425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Franklin Gothic Book" panose="020B0503020102020204" pitchFamily="34" charset="0"/>
              </a:rPr>
              <a:t>‘In the tent’ </a:t>
            </a:r>
          </a:p>
          <a:p>
            <a:pPr marL="350838" indent="225425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Franklin Gothic Book" panose="020B0503020102020204" pitchFamily="34" charset="0"/>
              </a:rPr>
              <a:t>Current strategies, actions</a:t>
            </a:r>
          </a:p>
          <a:p>
            <a:pPr marL="350838" indent="225425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Franklin Gothic Book" panose="020B0503020102020204" pitchFamily="34" charset="0"/>
              </a:rPr>
              <a:t>Approach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F34819F-4FE1-B88C-AB7B-F45DA2002E5B}"/>
              </a:ext>
            </a:extLst>
          </p:cNvPr>
          <p:cNvSpPr txBox="1"/>
          <p:nvPr/>
        </p:nvSpPr>
        <p:spPr>
          <a:xfrm>
            <a:off x="9647222" y="1365987"/>
            <a:ext cx="167302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Franklin Gothic Book" panose="020B0503020102020204" pitchFamily="34" charset="0"/>
              </a:rPr>
              <a:t>4 - 5 weeks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2940478E-2C4F-9C5B-6FD9-53A5916B810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47289" y="4396522"/>
            <a:ext cx="474208" cy="1264554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17CEAF86-2472-543C-2CFB-913FEAD7F77C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t="1" b="35282"/>
          <a:stretch/>
        </p:blipFill>
        <p:spPr>
          <a:xfrm>
            <a:off x="10816148" y="5147078"/>
            <a:ext cx="749205" cy="611347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3968131E-E7AD-EC11-93AB-EAED459DC193}"/>
              </a:ext>
            </a:extLst>
          </p:cNvPr>
          <p:cNvSpPr txBox="1"/>
          <p:nvPr/>
        </p:nvSpPr>
        <p:spPr>
          <a:xfrm>
            <a:off x="10770252" y="5895643"/>
            <a:ext cx="92890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Cavolini" panose="03000502040302020204" pitchFamily="66" charset="0"/>
                <a:cs typeface="Cavolini" panose="03000502040302020204" pitchFamily="66" charset="0"/>
              </a:rPr>
              <a:t>Flying Horse Team</a:t>
            </a:r>
          </a:p>
        </p:txBody>
      </p:sp>
    </p:spTree>
    <p:extLst>
      <p:ext uri="{BB962C8B-B14F-4D97-AF65-F5344CB8AC3E}">
        <p14:creationId xmlns:p14="http://schemas.microsoft.com/office/powerpoint/2010/main" val="17585198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officeArt object" descr="Line 840">
            <a:extLst>
              <a:ext uri="{FF2B5EF4-FFF2-40B4-BE49-F238E27FC236}">
                <a16:creationId xmlns:a16="http://schemas.microsoft.com/office/drawing/2014/main" id="{842586C5-9E80-955C-65EA-AB7A8322E0B4}"/>
              </a:ext>
            </a:extLst>
          </p:cNvPr>
          <p:cNvCxnSpPr>
            <a:cxnSpLocks/>
          </p:cNvCxnSpPr>
          <p:nvPr/>
        </p:nvCxnSpPr>
        <p:spPr>
          <a:xfrm>
            <a:off x="343598" y="4779519"/>
            <a:ext cx="1405689" cy="0"/>
          </a:xfrm>
          <a:prstGeom prst="line">
            <a:avLst/>
          </a:prstGeom>
          <a:noFill/>
          <a:ln w="48069" cap="flat">
            <a:solidFill>
              <a:srgbClr val="D51067"/>
            </a:solidFill>
            <a:prstDash val="solid"/>
            <a:round/>
          </a:ln>
          <a:effectLst/>
        </p:spPr>
      </p:cxnSp>
      <p:sp>
        <p:nvSpPr>
          <p:cNvPr id="47" name="Rectangle 47">
            <a:extLst>
              <a:ext uri="{FF2B5EF4-FFF2-40B4-BE49-F238E27FC236}">
                <a16:creationId xmlns:a16="http://schemas.microsoft.com/office/drawing/2014/main" id="{79275FA8-F299-292B-E46F-7560403D9F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749064" tIns="952200" rIns="1091856" bIns="177744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dirty="0"/>
          </a:p>
        </p:txBody>
      </p:sp>
      <p:sp>
        <p:nvSpPr>
          <p:cNvPr id="48" name="Rectangle 825">
            <a:extLst>
              <a:ext uri="{FF2B5EF4-FFF2-40B4-BE49-F238E27FC236}">
                <a16:creationId xmlns:a16="http://schemas.microsoft.com/office/drawing/2014/main" id="{6C4B41A5-A874-CE21-810D-19FAACFA33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922725" y="457200"/>
            <a:ext cx="4173538" cy="4171950"/>
          </a:xfrm>
          <a:prstGeom prst="rect">
            <a:avLst/>
          </a:prstGeom>
          <a:solidFill>
            <a:srgbClr val="9ABE34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49" name="Line 826">
            <a:extLst>
              <a:ext uri="{FF2B5EF4-FFF2-40B4-BE49-F238E27FC236}">
                <a16:creationId xmlns:a16="http://schemas.microsoft.com/office/drawing/2014/main" id="{F7CD8F78-AD20-9398-6DC2-16C7A305C9F5}"/>
              </a:ext>
            </a:extLst>
          </p:cNvPr>
          <p:cNvSpPr>
            <a:spLocks noChangeShapeType="1"/>
          </p:cNvSpPr>
          <p:nvPr/>
        </p:nvSpPr>
        <p:spPr bwMode="auto">
          <a:xfrm>
            <a:off x="0" y="8801100"/>
            <a:ext cx="97075625" cy="0"/>
          </a:xfrm>
          <a:prstGeom prst="line">
            <a:avLst/>
          </a:prstGeom>
          <a:noFill/>
          <a:ln w="3175">
            <a:solidFill>
              <a:srgbClr val="FACC0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48AB22D-38EE-1D25-0FB2-F243D8B8DB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The Reveal- Outline of effort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B8D54F2-0916-0CEF-0BCC-906BE4B055BD}"/>
              </a:ext>
            </a:extLst>
          </p:cNvPr>
          <p:cNvSpPr txBox="1"/>
          <p:nvPr/>
        </p:nvSpPr>
        <p:spPr>
          <a:xfrm>
            <a:off x="384277" y="624362"/>
            <a:ext cx="11423446" cy="39472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marR="0" algn="ctr">
              <a:spcBef>
                <a:spcPts val="0"/>
              </a:spcBef>
              <a:spcAft>
                <a:spcPts val="0"/>
              </a:spcAft>
            </a:pPr>
            <a:r>
              <a:rPr lang="en-US" sz="1400" b="1" u="sng" dirty="0">
                <a:effectLst/>
                <a:latin typeface="Franklin Gothic Book" panose="020B0503020102020204" pitchFamily="34" charset="0"/>
                <a:ea typeface="Cambria" panose="02040503050406030204" pitchFamily="18" charset="0"/>
                <a:cs typeface="Times New Roman" panose="02020603050405020304" pitchFamily="18" charset="0"/>
              </a:rPr>
              <a:t>Week 1: </a:t>
            </a:r>
          </a:p>
          <a:p>
            <a:pPr marL="228600" marR="0" algn="ctr">
              <a:spcBef>
                <a:spcPts val="0"/>
              </a:spcBef>
              <a:spcAft>
                <a:spcPts val="0"/>
              </a:spcAft>
            </a:pPr>
            <a:r>
              <a:rPr lang="en-US" sz="1200" i="1" dirty="0">
                <a:solidFill>
                  <a:srgbClr val="B51072"/>
                </a:solidFill>
                <a:effectLst/>
                <a:latin typeface="Franklin Gothic Book" panose="020B0503020102020204" pitchFamily="34" charset="0"/>
                <a:ea typeface="Cambria" panose="02040503050406030204" pitchFamily="18" charset="0"/>
                <a:cs typeface="Times New Roman" panose="02020603050405020304" pitchFamily="18" charset="0"/>
              </a:rPr>
              <a:t>1 to 2 weeks prior to Kick Off w/ Team</a:t>
            </a:r>
          </a:p>
          <a:p>
            <a:pPr marL="228600" marR="0">
              <a:spcBef>
                <a:spcPts val="0"/>
              </a:spcBef>
              <a:spcAft>
                <a:spcPts val="0"/>
              </a:spcAft>
            </a:pPr>
            <a:r>
              <a:rPr lang="en-US" sz="1200" b="1" dirty="0">
                <a:solidFill>
                  <a:srgbClr val="0070C0"/>
                </a:solidFill>
                <a:latin typeface="Franklin Gothic Book" panose="020B0503020102020204" pitchFamily="34" charset="0"/>
                <a:ea typeface="Cambria" panose="02040503050406030204" pitchFamily="18" charset="0"/>
                <a:cs typeface="Times New Roman" panose="02020603050405020304" pitchFamily="18" charset="0"/>
              </a:rPr>
              <a:t>Communication Touchpoint to Team: </a:t>
            </a:r>
          </a:p>
          <a:p>
            <a:pPr marL="228600" marR="0">
              <a:spcBef>
                <a:spcPts val="0"/>
              </a:spcBef>
              <a:spcAft>
                <a:spcPts val="0"/>
              </a:spcAft>
            </a:pP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Franklin Gothic Book" panose="020B0503020102020204" pitchFamily="34" charset="0"/>
                <a:ea typeface="Cambria" panose="02040503050406030204" pitchFamily="18" charset="0"/>
                <a:cs typeface="Times New Roman" panose="02020603050405020304" pitchFamily="18" charset="0"/>
              </a:rPr>
              <a:t>Communication sent to the team speaking to: </a:t>
            </a:r>
          </a:p>
          <a:p>
            <a:pPr marL="971550" lvl="1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Franklin Gothic Book" panose="020B0503020102020204" pitchFamily="34" charset="0"/>
                <a:ea typeface="Cambria" panose="02040503050406030204" pitchFamily="18" charset="0"/>
                <a:cs typeface="Times New Roman" panose="02020603050405020304" pitchFamily="18" charset="0"/>
              </a:rPr>
              <a:t>Introduction to the project</a:t>
            </a:r>
          </a:p>
          <a:p>
            <a:pPr marL="971550" lvl="1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Franklin Gothic Book" panose="020B0503020102020204" pitchFamily="34" charset="0"/>
                <a:ea typeface="Cambria" panose="02040503050406030204" pitchFamily="18" charset="0"/>
                <a:cs typeface="Times New Roman" panose="02020603050405020304" pitchFamily="18" charset="0"/>
              </a:rPr>
              <a:t>What we are expecting to gain</a:t>
            </a:r>
          </a:p>
          <a:p>
            <a:pPr marL="971550" lvl="1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Franklin Gothic Book" panose="020B0503020102020204" pitchFamily="34" charset="0"/>
                <a:ea typeface="Cambria" panose="02040503050406030204" pitchFamily="18" charset="0"/>
                <a:cs typeface="Times New Roman" panose="02020603050405020304" pitchFamily="18" charset="0"/>
              </a:rPr>
              <a:t>Introduction of Kate and why she was chosen to partner with Flying Horse</a:t>
            </a:r>
          </a:p>
          <a:p>
            <a:pPr marL="971550" lvl="1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Franklin Gothic Book" panose="020B0503020102020204" pitchFamily="34" charset="0"/>
                <a:ea typeface="Cambria" panose="02040503050406030204" pitchFamily="18" charset="0"/>
                <a:cs typeface="Times New Roman" panose="02020603050405020304" pitchFamily="18" charset="0"/>
              </a:rPr>
              <a:t>Next Steps – Kick off Call</a:t>
            </a:r>
          </a:p>
          <a:p>
            <a:pPr marL="290513" lvl="1"/>
            <a:endParaRPr lang="en-US" sz="1050" b="1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Franklin Gothic Book" panose="020B0503020102020204" pitchFamily="34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230188" lvl="1"/>
            <a:r>
              <a:rPr lang="en-US" sz="1200" b="1" dirty="0">
                <a:latin typeface="Franklin Gothic Book" panose="020B0503020102020204" pitchFamily="34" charset="0"/>
                <a:ea typeface="Cambria" panose="02040503050406030204" pitchFamily="18" charset="0"/>
                <a:cs typeface="Times New Roman" panose="02020603050405020304" pitchFamily="18" charset="0"/>
              </a:rPr>
              <a:t>Focus:  Access – Information Dump</a:t>
            </a:r>
          </a:p>
          <a:p>
            <a:pPr marL="230188" lvl="1"/>
            <a:r>
              <a:rPr lang="en-US" sz="1200" dirty="0">
                <a:effectLst/>
                <a:latin typeface="Franklin Gothic Book" panose="020B0503020102020204" pitchFamily="34" charset="0"/>
                <a:ea typeface="Cambria" panose="02040503050406030204" pitchFamily="18" charset="0"/>
                <a:cs typeface="Times New Roman" panose="02020603050405020304" pitchFamily="18" charset="0"/>
              </a:rPr>
              <a:t>Access to Relevant Reporting (Revenue Plan, Sales Strategies, Budgets, KPIs, Marketing Plan, Weekly / Monthly Reports that are submitted, Owners Presentations)</a:t>
            </a:r>
          </a:p>
          <a:p>
            <a:pPr marL="230188" lvl="1"/>
            <a:r>
              <a:rPr lang="en-US" sz="1200" dirty="0">
                <a:latin typeface="Franklin Gothic Book" panose="020B0503020102020204" pitchFamily="34" charset="0"/>
                <a:ea typeface="Cambria" panose="02040503050406030204" pitchFamily="18" charset="0"/>
                <a:cs typeface="Times New Roman" panose="02020603050405020304" pitchFamily="18" charset="0"/>
              </a:rPr>
              <a:t>Schedule of typical meetings- Rev mgmt., Marketing, Sales</a:t>
            </a:r>
            <a:endParaRPr lang="en-US" sz="1200" dirty="0">
              <a:effectLst/>
              <a:latin typeface="Franklin Gothic Book" panose="020B0503020102020204" pitchFamily="34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230188" lvl="1"/>
            <a:endParaRPr lang="en-US" sz="1000" dirty="0">
              <a:latin typeface="Franklin Gothic Book" panose="020B0503020102020204" pitchFamily="34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230188" lvl="1"/>
            <a:r>
              <a:rPr lang="en-US" sz="1200" b="1" dirty="0">
                <a:effectLst/>
                <a:latin typeface="Franklin Gothic Book" panose="020B0503020102020204" pitchFamily="34" charset="0"/>
                <a:ea typeface="Cambria" panose="02040503050406030204" pitchFamily="18" charset="0"/>
                <a:cs typeface="Times New Roman" panose="02020603050405020304" pitchFamily="18" charset="0"/>
              </a:rPr>
              <a:t>What is being done with KB &amp; Co: </a:t>
            </a:r>
          </a:p>
          <a:p>
            <a:pPr marL="461963" lvl="2" indent="225425">
              <a:buFont typeface="Arial" panose="020B0604020202020204" pitchFamily="34" charset="0"/>
              <a:buChar char="•"/>
            </a:pPr>
            <a:r>
              <a:rPr lang="en-US" sz="1200" dirty="0">
                <a:latin typeface="Franklin Gothic Book" panose="020B0503020102020204" pitchFamily="34" charset="0"/>
                <a:ea typeface="Cambria" panose="02040503050406030204" pitchFamily="18" charset="0"/>
                <a:cs typeface="Times New Roman" panose="02020603050405020304" pitchFamily="18" charset="0"/>
              </a:rPr>
              <a:t>Deep Dive:  Reading, research, understanding, thinking</a:t>
            </a:r>
          </a:p>
          <a:p>
            <a:pPr marL="461963" lvl="2" indent="225425">
              <a:buFont typeface="Arial" panose="020B0604020202020204" pitchFamily="34" charset="0"/>
              <a:buChar char="•"/>
            </a:pPr>
            <a:r>
              <a:rPr lang="en-US" sz="1200" dirty="0">
                <a:latin typeface="Franklin Gothic Book" panose="020B0503020102020204" pitchFamily="34" charset="0"/>
                <a:ea typeface="Cambria" panose="02040503050406030204" pitchFamily="18" charset="0"/>
                <a:cs typeface="Times New Roman" panose="02020603050405020304" pitchFamily="18" charset="0"/>
              </a:rPr>
              <a:t>Plan Development of the Reveal: </a:t>
            </a:r>
            <a:r>
              <a:rPr lang="en-US" sz="1200" dirty="0">
                <a:effectLst/>
                <a:latin typeface="Franklin Gothic Book" panose="020B0503020102020204" pitchFamily="34" charset="0"/>
                <a:ea typeface="Cambria" panose="02040503050406030204" pitchFamily="18" charset="0"/>
                <a:cs typeface="Times New Roman" panose="02020603050405020304" pitchFamily="18" charset="0"/>
              </a:rPr>
              <a:t>Build out of workstreams, milestones, supporting departments and framework and dependencies.  </a:t>
            </a:r>
          </a:p>
          <a:p>
            <a:pPr marL="461963" lvl="1" indent="225425"/>
            <a:r>
              <a:rPr lang="en-US" sz="1200" dirty="0">
                <a:effectLst/>
                <a:latin typeface="Franklin Gothic Book" panose="020B0503020102020204" pitchFamily="34" charset="0"/>
                <a:ea typeface="Cambria" panose="02040503050406030204" pitchFamily="18" charset="0"/>
                <a:cs typeface="Times New Roman" panose="02020603050405020304" pitchFamily="18" charset="0"/>
              </a:rPr>
              <a:t> </a:t>
            </a:r>
          </a:p>
          <a:p>
            <a:pPr marL="230188" lvl="1"/>
            <a:r>
              <a:rPr lang="en-US" sz="1200" b="1" dirty="0">
                <a:solidFill>
                  <a:srgbClr val="B51072"/>
                </a:solidFill>
                <a:effectLst/>
                <a:latin typeface="Franklin Gothic Book" panose="020B0503020102020204" pitchFamily="34" charset="0"/>
                <a:ea typeface="Cambria" panose="02040503050406030204" pitchFamily="18" charset="0"/>
                <a:cs typeface="Times New Roman" panose="02020603050405020304" pitchFamily="18" charset="0"/>
              </a:rPr>
              <a:t>Flying Horses Resort Team input need:  </a:t>
            </a:r>
          </a:p>
          <a:p>
            <a:pPr marL="687388" lvl="1" indent="-225425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B51072"/>
                </a:solidFill>
                <a:latin typeface="Franklin Gothic Book" panose="020B0503020102020204" pitchFamily="34" charset="0"/>
                <a:ea typeface="Cambria" panose="02040503050406030204" pitchFamily="18" charset="0"/>
                <a:cs typeface="Times New Roman" panose="02020603050405020304" pitchFamily="18" charset="0"/>
              </a:rPr>
              <a:t>Access to the reports and information needed for KB &amp; Co</a:t>
            </a:r>
            <a:endParaRPr lang="en-US" sz="1200" dirty="0">
              <a:solidFill>
                <a:srgbClr val="B51072"/>
              </a:solidFill>
              <a:effectLst/>
              <a:latin typeface="Franklin Gothic Book" panose="020B0503020102020204" pitchFamily="34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200" dirty="0">
                <a:effectLst/>
                <a:latin typeface="Franklin Gothic Book" panose="020B0503020102020204" pitchFamily="34" charset="0"/>
                <a:ea typeface="Cambria" panose="02040503050406030204" pitchFamily="18" charset="0"/>
                <a:cs typeface="Times New Roman" panose="02020603050405020304" pitchFamily="18" charset="0"/>
              </a:rPr>
              <a:t> </a:t>
            </a:r>
          </a:p>
          <a:p>
            <a:pPr marL="228600" marR="0">
              <a:spcBef>
                <a:spcPts val="0"/>
              </a:spcBef>
              <a:spcAft>
                <a:spcPts val="0"/>
              </a:spcAft>
            </a:pPr>
            <a:r>
              <a:rPr lang="en-US" sz="1200" i="1" dirty="0">
                <a:solidFill>
                  <a:srgbClr val="B52372"/>
                </a:solidFill>
                <a:effectLst/>
                <a:latin typeface="Franklin Gothic Book" panose="020B0503020102020204" pitchFamily="34" charset="0"/>
                <a:ea typeface="Cambria" panose="02040503050406030204" pitchFamily="18" charset="0"/>
                <a:cs typeface="Times New Roman" panose="02020603050405020304" pitchFamily="18" charset="0"/>
              </a:rPr>
              <a:t>Virtual</a:t>
            </a:r>
            <a:r>
              <a:rPr lang="en-US" sz="1200" i="1" u="sng" dirty="0">
                <a:solidFill>
                  <a:srgbClr val="B52372"/>
                </a:solidFill>
                <a:effectLst/>
                <a:latin typeface="Franklin Gothic Book" panose="020B0503020102020204" pitchFamily="34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endParaRPr lang="en-US" sz="1200" u="sng" dirty="0">
              <a:effectLst/>
              <a:latin typeface="Franklin Gothic Book" panose="020B0503020102020204" pitchFamily="34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6AB0B42-E3A5-48BF-A03A-98B46D5507C3}"/>
              </a:ext>
            </a:extLst>
          </p:cNvPr>
          <p:cNvSpPr txBox="1"/>
          <p:nvPr/>
        </p:nvSpPr>
        <p:spPr>
          <a:xfrm>
            <a:off x="473286" y="4556108"/>
            <a:ext cx="10913152" cy="21005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marR="0" algn="ctr">
              <a:spcBef>
                <a:spcPts val="0"/>
              </a:spcBef>
              <a:spcAft>
                <a:spcPts val="0"/>
              </a:spcAft>
            </a:pPr>
            <a:r>
              <a:rPr lang="en-US" sz="1400" b="1" u="sng" dirty="0">
                <a:effectLst/>
                <a:latin typeface="Franklin Gothic Book" panose="020B0503020102020204" pitchFamily="34" charset="0"/>
                <a:ea typeface="Cambria" panose="02040503050406030204" pitchFamily="18" charset="0"/>
                <a:cs typeface="Times New Roman" panose="02020603050405020304" pitchFamily="18" charset="0"/>
              </a:rPr>
              <a:t>Week 2</a:t>
            </a:r>
            <a:r>
              <a:rPr lang="en-US" sz="1200" b="1" u="sng" dirty="0">
                <a:effectLst/>
                <a:latin typeface="Franklin Gothic Book" panose="020B0503020102020204" pitchFamily="34" charset="0"/>
                <a:ea typeface="Cambria" panose="02040503050406030204" pitchFamily="18" charset="0"/>
                <a:cs typeface="Times New Roman" panose="02020603050405020304" pitchFamily="18" charset="0"/>
              </a:rPr>
              <a:t>: </a:t>
            </a:r>
          </a:p>
          <a:p>
            <a:pPr marL="228600" marR="0" algn="ctr">
              <a:spcBef>
                <a:spcPts val="0"/>
              </a:spcBef>
              <a:spcAft>
                <a:spcPts val="0"/>
              </a:spcAft>
            </a:pPr>
            <a:r>
              <a:rPr lang="en-US" sz="1200" i="1" dirty="0">
                <a:solidFill>
                  <a:srgbClr val="B51072"/>
                </a:solidFill>
                <a:effectLst/>
                <a:latin typeface="Franklin Gothic Book" panose="020B0503020102020204" pitchFamily="34" charset="0"/>
                <a:ea typeface="Cambria" panose="02040503050406030204" pitchFamily="18" charset="0"/>
                <a:cs typeface="Times New Roman" panose="02020603050405020304" pitchFamily="18" charset="0"/>
              </a:rPr>
              <a:t>Kick Off w/ Team</a:t>
            </a:r>
          </a:p>
          <a:p>
            <a:pPr marL="228600" marR="0">
              <a:spcBef>
                <a:spcPts val="0"/>
              </a:spcBef>
              <a:spcAft>
                <a:spcPts val="0"/>
              </a:spcAft>
            </a:pPr>
            <a:r>
              <a:rPr lang="en-US" sz="1200" b="1" dirty="0">
                <a:solidFill>
                  <a:srgbClr val="0070C0"/>
                </a:solidFill>
                <a:latin typeface="Franklin Gothic Book" panose="020B0503020102020204" pitchFamily="34" charset="0"/>
                <a:ea typeface="Cambria" panose="02040503050406030204" pitchFamily="18" charset="0"/>
                <a:cs typeface="Times New Roman" panose="02020603050405020304" pitchFamily="18" charset="0"/>
              </a:rPr>
              <a:t>Communication Touchpoint to Team: </a:t>
            </a:r>
          </a:p>
          <a:p>
            <a:pPr marL="228600" marR="0">
              <a:spcBef>
                <a:spcPts val="0"/>
              </a:spcBef>
              <a:spcAft>
                <a:spcPts val="0"/>
              </a:spcAft>
            </a:pP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Franklin Gothic Book" panose="020B0503020102020204" pitchFamily="34" charset="0"/>
                <a:ea typeface="Cambria" panose="02040503050406030204" pitchFamily="18" charset="0"/>
                <a:cs typeface="Times New Roman" panose="02020603050405020304" pitchFamily="18" charset="0"/>
              </a:rPr>
              <a:t>Warm Invite “Premier” to call</a:t>
            </a:r>
          </a:p>
          <a:p>
            <a:pPr marL="228600" marR="0">
              <a:spcBef>
                <a:spcPts val="0"/>
              </a:spcBef>
              <a:spcAft>
                <a:spcPts val="0"/>
              </a:spcAft>
            </a:pPr>
            <a:endParaRPr lang="en-US" sz="1050" b="1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Franklin Gothic Book" panose="020B0503020102020204" pitchFamily="34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230188" lvl="1"/>
            <a:r>
              <a:rPr lang="en-US" sz="1200" b="1" dirty="0">
                <a:latin typeface="Franklin Gothic Book" panose="020B0503020102020204" pitchFamily="34" charset="0"/>
                <a:ea typeface="Cambria" panose="02040503050406030204" pitchFamily="18" charset="0"/>
                <a:cs typeface="Times New Roman" panose="02020603050405020304" pitchFamily="18" charset="0"/>
              </a:rPr>
              <a:t>Focus – Engagement Communication </a:t>
            </a:r>
          </a:p>
          <a:p>
            <a:pPr marL="230188" lvl="1"/>
            <a:r>
              <a:rPr lang="en-US" sz="1200" dirty="0">
                <a:latin typeface="Franklin Gothic Book" panose="020B0503020102020204" pitchFamily="34" charset="0"/>
                <a:ea typeface="Cambria" panose="02040503050406030204" pitchFamily="18" charset="0"/>
                <a:cs typeface="Times New Roman" panose="02020603050405020304" pitchFamily="18" charset="0"/>
              </a:rPr>
              <a:t>Sharing with team of engagement and next steps. </a:t>
            </a:r>
          </a:p>
          <a:p>
            <a:pPr marL="230188" lvl="1"/>
            <a:endParaRPr lang="en-US" sz="1000" dirty="0">
              <a:latin typeface="Franklin Gothic Book" panose="020B0503020102020204" pitchFamily="34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230188" lvl="1"/>
            <a:r>
              <a:rPr lang="en-US" sz="1200" b="1" dirty="0">
                <a:effectLst/>
                <a:latin typeface="Franklin Gothic Book" panose="020B0503020102020204" pitchFamily="34" charset="0"/>
                <a:ea typeface="Cambria" panose="02040503050406030204" pitchFamily="18" charset="0"/>
                <a:cs typeface="Times New Roman" panose="02020603050405020304" pitchFamily="18" charset="0"/>
              </a:rPr>
              <a:t>What is being done with KB &amp; Co: </a:t>
            </a:r>
          </a:p>
          <a:p>
            <a:pPr marL="687388" lvl="2" indent="-225425">
              <a:buFont typeface="Arial" panose="020B0604020202020204" pitchFamily="34" charset="0"/>
              <a:buChar char="•"/>
            </a:pPr>
            <a:r>
              <a:rPr lang="en-US" sz="1200" dirty="0">
                <a:effectLst/>
                <a:latin typeface="Franklin Gothic Book" panose="020B0503020102020204" pitchFamily="34" charset="0"/>
                <a:ea typeface="Cambria" panose="02040503050406030204" pitchFamily="18" charset="0"/>
                <a:cs typeface="Times New Roman" panose="02020603050405020304" pitchFamily="18" charset="0"/>
              </a:rPr>
              <a:t>Call Design, focused outcomes</a:t>
            </a:r>
          </a:p>
          <a:p>
            <a:pPr marL="687388" lvl="2" indent="-225425">
              <a:buFont typeface="Arial" panose="020B0604020202020204" pitchFamily="34" charset="0"/>
              <a:buChar char="•"/>
            </a:pPr>
            <a:endParaRPr lang="en-US" sz="1200" dirty="0">
              <a:effectLst/>
              <a:latin typeface="Franklin Gothic Book" panose="020B0503020102020204" pitchFamily="34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DA7BE1E-5EEB-DD0A-F376-C9FA22021B61}"/>
              </a:ext>
            </a:extLst>
          </p:cNvPr>
          <p:cNvSpPr txBox="1"/>
          <p:nvPr/>
        </p:nvSpPr>
        <p:spPr>
          <a:xfrm>
            <a:off x="7391400" y="5246914"/>
            <a:ext cx="34725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u="sng" dirty="0">
                <a:solidFill>
                  <a:srgbClr val="0070C0"/>
                </a:solidFill>
              </a:rPr>
              <a:t>February 28</a:t>
            </a:r>
          </a:p>
        </p:txBody>
      </p:sp>
    </p:spTree>
    <p:extLst>
      <p:ext uri="{BB962C8B-B14F-4D97-AF65-F5344CB8AC3E}">
        <p14:creationId xmlns:p14="http://schemas.microsoft.com/office/powerpoint/2010/main" val="16122267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DCC434-391E-8FB7-8C0E-3647CCBA44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47">
            <a:extLst>
              <a:ext uri="{FF2B5EF4-FFF2-40B4-BE49-F238E27FC236}">
                <a16:creationId xmlns:a16="http://schemas.microsoft.com/office/drawing/2014/main" id="{D0C4ABDB-D41E-30DC-5081-0ED80C0C8D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749064" tIns="952200" rIns="1091856" bIns="177744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dirty="0"/>
          </a:p>
        </p:txBody>
      </p:sp>
      <p:sp>
        <p:nvSpPr>
          <p:cNvPr id="48" name="Rectangle 825">
            <a:extLst>
              <a:ext uri="{FF2B5EF4-FFF2-40B4-BE49-F238E27FC236}">
                <a16:creationId xmlns:a16="http://schemas.microsoft.com/office/drawing/2014/main" id="{4FBDFE38-90AA-6B80-9EA3-D29F411429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922725" y="457200"/>
            <a:ext cx="4173538" cy="4171950"/>
          </a:xfrm>
          <a:prstGeom prst="rect">
            <a:avLst/>
          </a:prstGeom>
          <a:solidFill>
            <a:srgbClr val="9ABE34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49" name="Line 826">
            <a:extLst>
              <a:ext uri="{FF2B5EF4-FFF2-40B4-BE49-F238E27FC236}">
                <a16:creationId xmlns:a16="http://schemas.microsoft.com/office/drawing/2014/main" id="{726F9CBC-3556-0EA6-D97A-3D2FC3480E96}"/>
              </a:ext>
            </a:extLst>
          </p:cNvPr>
          <p:cNvSpPr>
            <a:spLocks noChangeShapeType="1"/>
          </p:cNvSpPr>
          <p:nvPr/>
        </p:nvSpPr>
        <p:spPr bwMode="auto">
          <a:xfrm>
            <a:off x="0" y="8801100"/>
            <a:ext cx="97075625" cy="0"/>
          </a:xfrm>
          <a:prstGeom prst="line">
            <a:avLst/>
          </a:prstGeom>
          <a:noFill/>
          <a:ln w="3175">
            <a:solidFill>
              <a:srgbClr val="FACC0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AFF406E-C547-97B2-E5C1-91A939E77D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The Reveal- Outline of effort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CA6FC18-558D-2714-1359-CCFF3D2493E5}"/>
              </a:ext>
            </a:extLst>
          </p:cNvPr>
          <p:cNvSpPr txBox="1"/>
          <p:nvPr/>
        </p:nvSpPr>
        <p:spPr>
          <a:xfrm>
            <a:off x="480698" y="565033"/>
            <a:ext cx="11423446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marR="0" algn="ctr">
              <a:spcBef>
                <a:spcPts val="0"/>
              </a:spcBef>
              <a:spcAft>
                <a:spcPts val="0"/>
              </a:spcAft>
            </a:pPr>
            <a:r>
              <a:rPr lang="en-US" sz="1400" b="1" u="sng" dirty="0">
                <a:effectLst/>
                <a:latin typeface="Franklin Gothic Book" panose="020B0503020102020204" pitchFamily="34" charset="0"/>
                <a:ea typeface="Cambria" panose="02040503050406030204" pitchFamily="18" charset="0"/>
                <a:cs typeface="Times New Roman" panose="02020603050405020304" pitchFamily="18" charset="0"/>
              </a:rPr>
              <a:t>Week 2</a:t>
            </a:r>
            <a:r>
              <a:rPr lang="en-US" sz="1200" b="1" u="sng" dirty="0">
                <a:effectLst/>
                <a:latin typeface="Franklin Gothic Book" panose="020B0503020102020204" pitchFamily="34" charset="0"/>
                <a:ea typeface="Cambria" panose="02040503050406030204" pitchFamily="18" charset="0"/>
                <a:cs typeface="Times New Roman" panose="02020603050405020304" pitchFamily="18" charset="0"/>
              </a:rPr>
              <a:t>: </a:t>
            </a:r>
          </a:p>
          <a:p>
            <a:pPr marL="228600" marR="0" algn="ctr">
              <a:spcBef>
                <a:spcPts val="0"/>
              </a:spcBef>
              <a:spcAft>
                <a:spcPts val="0"/>
              </a:spcAft>
            </a:pPr>
            <a:r>
              <a:rPr lang="en-US" sz="1200" i="1" dirty="0">
                <a:solidFill>
                  <a:srgbClr val="B51072"/>
                </a:solidFill>
                <a:latin typeface="Franklin Gothic Book" panose="020B0503020102020204" pitchFamily="34" charset="0"/>
                <a:ea typeface="Cambria" panose="02040503050406030204" pitchFamily="18" charset="0"/>
                <a:cs typeface="Times New Roman" panose="02020603050405020304" pitchFamily="18" charset="0"/>
              </a:rPr>
              <a:t>(cont.)</a:t>
            </a:r>
            <a:endParaRPr lang="en-US" sz="1400" i="1" dirty="0">
              <a:solidFill>
                <a:srgbClr val="B51072"/>
              </a:solidFill>
              <a:effectLst/>
              <a:latin typeface="Franklin Gothic Book" panose="020B0503020102020204" pitchFamily="34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461963" lvl="1" indent="225425"/>
            <a:r>
              <a:rPr lang="en-US" sz="1200" dirty="0">
                <a:effectLst/>
                <a:latin typeface="Franklin Gothic Book" panose="020B0503020102020204" pitchFamily="34" charset="0"/>
                <a:ea typeface="Cambria" panose="02040503050406030204" pitchFamily="18" charset="0"/>
                <a:cs typeface="Times New Roman" panose="02020603050405020304" pitchFamily="18" charset="0"/>
              </a:rPr>
              <a:t> </a:t>
            </a:r>
          </a:p>
          <a:p>
            <a:pPr marL="230188" lvl="1"/>
            <a:r>
              <a:rPr lang="en-US" sz="1200" b="1" dirty="0">
                <a:solidFill>
                  <a:srgbClr val="B51072"/>
                </a:solidFill>
                <a:effectLst/>
                <a:latin typeface="Franklin Gothic Book" panose="020B0503020102020204" pitchFamily="34" charset="0"/>
                <a:ea typeface="Cambria" panose="02040503050406030204" pitchFamily="18" charset="0"/>
                <a:cs typeface="Times New Roman" panose="02020603050405020304" pitchFamily="18" charset="0"/>
              </a:rPr>
              <a:t>Flying Horses Resort Team input need:  </a:t>
            </a:r>
          </a:p>
          <a:p>
            <a:pPr marL="687388" lvl="1" indent="-225425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B51072"/>
                </a:solidFill>
                <a:latin typeface="Franklin Gothic Book" panose="020B0503020102020204" pitchFamily="34" charset="0"/>
                <a:ea typeface="Cambria" panose="02040503050406030204" pitchFamily="18" charset="0"/>
                <a:cs typeface="Times New Roman" panose="02020603050405020304" pitchFamily="18" charset="0"/>
              </a:rPr>
              <a:t>Availability for individual calls, </a:t>
            </a:r>
          </a:p>
          <a:p>
            <a:pPr marL="687388" lvl="1" indent="-225425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B51072"/>
                </a:solidFill>
                <a:latin typeface="Franklin Gothic Book" panose="020B0503020102020204" pitchFamily="34" charset="0"/>
                <a:ea typeface="Cambria" panose="02040503050406030204" pitchFamily="18" charset="0"/>
                <a:cs typeface="Times New Roman" panose="02020603050405020304" pitchFamily="18" charset="0"/>
              </a:rPr>
              <a:t>”In the Tent” - Rev. Mgmt. call, Sales Mtgs, Marketing Mtgs.</a:t>
            </a:r>
            <a:endParaRPr lang="en-US" sz="1200" dirty="0">
              <a:solidFill>
                <a:srgbClr val="B51072"/>
              </a:solidFill>
              <a:effectLst/>
              <a:latin typeface="Franklin Gothic Book" panose="020B0503020102020204" pitchFamily="34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200" dirty="0">
                <a:effectLst/>
                <a:latin typeface="Franklin Gothic Book" panose="020B0503020102020204" pitchFamily="34" charset="0"/>
                <a:ea typeface="Cambria" panose="02040503050406030204" pitchFamily="18" charset="0"/>
                <a:cs typeface="Times New Roman" panose="02020603050405020304" pitchFamily="18" charset="0"/>
              </a:rPr>
              <a:t> </a:t>
            </a:r>
          </a:p>
          <a:p>
            <a:pPr marL="228600" marR="0">
              <a:spcBef>
                <a:spcPts val="0"/>
              </a:spcBef>
              <a:spcAft>
                <a:spcPts val="0"/>
              </a:spcAft>
            </a:pPr>
            <a:r>
              <a:rPr lang="en-US" sz="1200" i="1" dirty="0">
                <a:solidFill>
                  <a:srgbClr val="B52372"/>
                </a:solidFill>
                <a:effectLst/>
                <a:latin typeface="Franklin Gothic Book" panose="020B0503020102020204" pitchFamily="34" charset="0"/>
                <a:ea typeface="Cambria" panose="02040503050406030204" pitchFamily="18" charset="0"/>
                <a:cs typeface="Times New Roman" panose="02020603050405020304" pitchFamily="18" charset="0"/>
              </a:rPr>
              <a:t>Virtual</a:t>
            </a:r>
            <a:r>
              <a:rPr lang="en-US" sz="1200" i="1" u="sng" dirty="0">
                <a:solidFill>
                  <a:srgbClr val="B52372"/>
                </a:solidFill>
                <a:effectLst/>
                <a:latin typeface="Franklin Gothic Book" panose="020B0503020102020204" pitchFamily="34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endParaRPr lang="en-US" sz="1200" u="sng" dirty="0">
              <a:effectLst/>
              <a:latin typeface="Franklin Gothic Book" panose="020B0503020102020204" pitchFamily="34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6E1F605-E373-A1D5-DA56-9A22BEFA0586}"/>
              </a:ext>
            </a:extLst>
          </p:cNvPr>
          <p:cNvSpPr txBox="1"/>
          <p:nvPr/>
        </p:nvSpPr>
        <p:spPr>
          <a:xfrm>
            <a:off x="459010" y="2542408"/>
            <a:ext cx="1127398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marR="0" algn="ctr">
              <a:spcBef>
                <a:spcPts val="0"/>
              </a:spcBef>
              <a:spcAft>
                <a:spcPts val="0"/>
              </a:spcAft>
            </a:pPr>
            <a:r>
              <a:rPr lang="en-US" sz="1400" b="1" u="sng" dirty="0">
                <a:effectLst/>
                <a:latin typeface="Franklin Gothic Book" panose="020B0503020102020204" pitchFamily="34" charset="0"/>
                <a:ea typeface="Cambria" panose="02040503050406030204" pitchFamily="18" charset="0"/>
                <a:cs typeface="Times New Roman" panose="02020603050405020304" pitchFamily="18" charset="0"/>
              </a:rPr>
              <a:t>Week 3</a:t>
            </a:r>
            <a:r>
              <a:rPr lang="en-US" sz="1200" b="1" u="sng" dirty="0">
                <a:effectLst/>
                <a:latin typeface="Franklin Gothic Book" panose="020B0503020102020204" pitchFamily="34" charset="0"/>
                <a:ea typeface="Cambria" panose="02040503050406030204" pitchFamily="18" charset="0"/>
                <a:cs typeface="Times New Roman" panose="02020603050405020304" pitchFamily="18" charset="0"/>
              </a:rPr>
              <a:t>: </a:t>
            </a:r>
          </a:p>
          <a:p>
            <a:pPr marL="228600" marR="0" algn="ctr">
              <a:spcBef>
                <a:spcPts val="0"/>
              </a:spcBef>
              <a:spcAft>
                <a:spcPts val="0"/>
              </a:spcAft>
            </a:pPr>
            <a:r>
              <a:rPr lang="en-US" sz="1400" i="1" dirty="0">
                <a:solidFill>
                  <a:srgbClr val="B51072"/>
                </a:solidFill>
                <a:effectLst/>
                <a:latin typeface="Franklin Gothic Book" panose="020B0503020102020204" pitchFamily="34" charset="0"/>
                <a:ea typeface="Cambria" panose="02040503050406030204" pitchFamily="18" charset="0"/>
                <a:cs typeface="Times New Roman" panose="02020603050405020304" pitchFamily="18" charset="0"/>
              </a:rPr>
              <a:t>In the Weeds</a:t>
            </a:r>
          </a:p>
          <a:p>
            <a:pPr marL="228600" marR="0">
              <a:spcBef>
                <a:spcPts val="0"/>
              </a:spcBef>
              <a:spcAft>
                <a:spcPts val="0"/>
              </a:spcAft>
            </a:pPr>
            <a:endParaRPr lang="en-US" sz="1400" b="1" dirty="0">
              <a:solidFill>
                <a:srgbClr val="0070C0"/>
              </a:solidFill>
              <a:latin typeface="Franklin Gothic Book" panose="020B0503020102020204" pitchFamily="34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228600" marR="0">
              <a:spcBef>
                <a:spcPts val="0"/>
              </a:spcBef>
              <a:spcAft>
                <a:spcPts val="0"/>
              </a:spcAft>
            </a:pPr>
            <a:r>
              <a:rPr lang="en-US" sz="1200" b="1" dirty="0">
                <a:solidFill>
                  <a:srgbClr val="0070C0"/>
                </a:solidFill>
                <a:latin typeface="Franklin Gothic Book" panose="020B0503020102020204" pitchFamily="34" charset="0"/>
                <a:ea typeface="Cambria" panose="02040503050406030204" pitchFamily="18" charset="0"/>
                <a:cs typeface="Times New Roman" panose="02020603050405020304" pitchFamily="18" charset="0"/>
              </a:rPr>
              <a:t>Communication Touchpoint w/ Glenn &amp; Wendy – end of visit wrap up</a:t>
            </a:r>
          </a:p>
          <a:p>
            <a:pPr marL="228600" marR="0">
              <a:spcBef>
                <a:spcPts val="0"/>
              </a:spcBef>
              <a:spcAft>
                <a:spcPts val="0"/>
              </a:spcAft>
            </a:pPr>
            <a:endParaRPr lang="en-US" sz="1200" b="1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Franklin Gothic Book" panose="020B0503020102020204" pitchFamily="34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230188" lvl="1"/>
            <a:r>
              <a:rPr lang="en-US" sz="1200" b="1" dirty="0">
                <a:latin typeface="Franklin Gothic Book" panose="020B0503020102020204" pitchFamily="34" charset="0"/>
                <a:ea typeface="Cambria" panose="02040503050406030204" pitchFamily="18" charset="0"/>
                <a:cs typeface="Times New Roman" panose="02020603050405020304" pitchFamily="18" charset="0"/>
              </a:rPr>
              <a:t>Focus –  Exploration and Understanding </a:t>
            </a:r>
          </a:p>
          <a:p>
            <a:pPr marL="230188" lvl="1"/>
            <a:endParaRPr lang="en-US" sz="1200" dirty="0">
              <a:latin typeface="Franklin Gothic Book" panose="020B0503020102020204" pitchFamily="34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230188" lvl="1"/>
            <a:r>
              <a:rPr lang="en-US" sz="1200" b="1" dirty="0">
                <a:effectLst/>
                <a:latin typeface="Franklin Gothic Book" panose="020B0503020102020204" pitchFamily="34" charset="0"/>
                <a:ea typeface="Cambria" panose="02040503050406030204" pitchFamily="18" charset="0"/>
                <a:cs typeface="Times New Roman" panose="02020603050405020304" pitchFamily="18" charset="0"/>
              </a:rPr>
              <a:t>What is being done with KB &amp; Co: </a:t>
            </a:r>
          </a:p>
          <a:p>
            <a:pPr marL="687388" lvl="2" indent="-225425">
              <a:buFont typeface="Arial" panose="020B0604020202020204" pitchFamily="34" charset="0"/>
              <a:buChar char="•"/>
            </a:pPr>
            <a:r>
              <a:rPr lang="en-US" sz="1200" dirty="0">
                <a:effectLst/>
                <a:latin typeface="Franklin Gothic Book" panose="020B0503020102020204" pitchFamily="34" charset="0"/>
                <a:ea typeface="Cambria" panose="02040503050406030204" pitchFamily="18" charset="0"/>
                <a:cs typeface="Times New Roman" panose="02020603050405020304" pitchFamily="18" charset="0"/>
              </a:rPr>
              <a:t>Property visit</a:t>
            </a:r>
          </a:p>
          <a:p>
            <a:pPr marL="687388" lvl="2" indent="-225425">
              <a:buFont typeface="Arial" panose="020B0604020202020204" pitchFamily="34" charset="0"/>
              <a:buChar char="•"/>
            </a:pPr>
            <a:r>
              <a:rPr lang="en-US" sz="1200" dirty="0">
                <a:effectLst/>
                <a:latin typeface="Franklin Gothic Book" panose="020B0503020102020204" pitchFamily="34" charset="0"/>
                <a:ea typeface="Cambria" panose="02040503050406030204" pitchFamily="18" charset="0"/>
                <a:cs typeface="Times New Roman" panose="02020603050405020304" pitchFamily="18" charset="0"/>
              </a:rPr>
              <a:t>Calls, Meetings, Research</a:t>
            </a:r>
          </a:p>
          <a:p>
            <a:pPr marL="687388" lvl="2" indent="-225425">
              <a:buFont typeface="Arial" panose="020B0604020202020204" pitchFamily="34" charset="0"/>
              <a:buChar char="•"/>
            </a:pPr>
            <a:endParaRPr lang="en-US" sz="1200" dirty="0">
              <a:latin typeface="Franklin Gothic Book" panose="020B0503020102020204" pitchFamily="34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230188" lvl="1"/>
            <a:r>
              <a:rPr lang="en-US" sz="1200" b="1" dirty="0">
                <a:solidFill>
                  <a:srgbClr val="B51072"/>
                </a:solidFill>
                <a:effectLst/>
                <a:latin typeface="Franklin Gothic Book" panose="020B0503020102020204" pitchFamily="34" charset="0"/>
                <a:ea typeface="Cambria" panose="02040503050406030204" pitchFamily="18" charset="0"/>
                <a:cs typeface="Times New Roman" panose="02020603050405020304" pitchFamily="18" charset="0"/>
              </a:rPr>
              <a:t>Flying Horses Resort Team time / input needed:  </a:t>
            </a:r>
          </a:p>
          <a:p>
            <a:pPr marL="687388" lvl="1" indent="-225425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B51072"/>
                </a:solidFill>
                <a:latin typeface="Franklin Gothic Book" panose="020B0503020102020204" pitchFamily="34" charset="0"/>
                <a:ea typeface="Cambria" panose="02040503050406030204" pitchFamily="18" charset="0"/>
                <a:cs typeface="Times New Roman" panose="02020603050405020304" pitchFamily="18" charset="0"/>
              </a:rPr>
              <a:t>Availability for individual meetings</a:t>
            </a:r>
          </a:p>
          <a:p>
            <a:pPr marL="687388" lvl="1" indent="-225425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B51072"/>
                </a:solidFill>
                <a:latin typeface="Franklin Gothic Book" panose="020B0503020102020204" pitchFamily="34" charset="0"/>
                <a:ea typeface="Cambria" panose="02040503050406030204" pitchFamily="18" charset="0"/>
                <a:cs typeface="Times New Roman" panose="02020603050405020304" pitchFamily="18" charset="0"/>
              </a:rPr>
              <a:t>”In the Tent” - Rev. Mgmt. call, Sales Mtgs, Marketing Mtgs.</a:t>
            </a:r>
          </a:p>
          <a:p>
            <a:pPr marL="687388" lvl="1" indent="-225425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B51072"/>
                </a:solidFill>
                <a:latin typeface="Franklin Gothic Book" panose="020B0503020102020204" pitchFamily="34" charset="0"/>
                <a:ea typeface="Cambria" panose="02040503050406030204" pitchFamily="18" charset="0"/>
                <a:cs typeface="Times New Roman" panose="02020603050405020304" pitchFamily="18" charset="0"/>
              </a:rPr>
              <a:t>Wendy / Glenn- Wrap up</a:t>
            </a:r>
            <a:endParaRPr lang="en-US" sz="1200" dirty="0">
              <a:solidFill>
                <a:srgbClr val="B51072"/>
              </a:solidFill>
              <a:effectLst/>
              <a:latin typeface="Franklin Gothic Book" panose="020B0503020102020204" pitchFamily="34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200" dirty="0">
                <a:effectLst/>
                <a:latin typeface="Franklin Gothic Book" panose="020B0503020102020204" pitchFamily="34" charset="0"/>
                <a:ea typeface="Cambria" panose="02040503050406030204" pitchFamily="18" charset="0"/>
                <a:cs typeface="Times New Roman" panose="02020603050405020304" pitchFamily="18" charset="0"/>
              </a:rPr>
              <a:t> </a:t>
            </a:r>
          </a:p>
          <a:p>
            <a:pPr marL="228600" marR="0">
              <a:spcBef>
                <a:spcPts val="0"/>
              </a:spcBef>
              <a:spcAft>
                <a:spcPts val="0"/>
              </a:spcAft>
            </a:pPr>
            <a:r>
              <a:rPr lang="en-US" sz="1200" i="1" dirty="0">
                <a:solidFill>
                  <a:srgbClr val="B52372"/>
                </a:solidFill>
                <a:effectLst/>
                <a:latin typeface="Franklin Gothic Book" panose="020B0503020102020204" pitchFamily="34" charset="0"/>
                <a:ea typeface="Cambria" panose="02040503050406030204" pitchFamily="18" charset="0"/>
                <a:cs typeface="Times New Roman" panose="02020603050405020304" pitchFamily="18" charset="0"/>
              </a:rPr>
              <a:t>Onsite-  2 days</a:t>
            </a:r>
            <a:endParaRPr lang="en-US" sz="1200" u="sng" dirty="0">
              <a:effectLst/>
              <a:latin typeface="Franklin Gothic Book" panose="020B0503020102020204" pitchFamily="34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461963" lvl="2"/>
            <a:endParaRPr lang="en-US" sz="1200" dirty="0">
              <a:effectLst/>
              <a:latin typeface="Franklin Gothic Book" panose="020B0503020102020204" pitchFamily="34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687388" lvl="2" indent="-225425">
              <a:buFont typeface="Arial" panose="020B0604020202020204" pitchFamily="34" charset="0"/>
              <a:buChar char="•"/>
            </a:pPr>
            <a:endParaRPr lang="en-US" sz="1200" dirty="0">
              <a:effectLst/>
              <a:latin typeface="Franklin Gothic Book" panose="020B0503020102020204" pitchFamily="34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" name="officeArt object" descr="Line 840">
            <a:extLst>
              <a:ext uri="{FF2B5EF4-FFF2-40B4-BE49-F238E27FC236}">
                <a16:creationId xmlns:a16="http://schemas.microsoft.com/office/drawing/2014/main" id="{3317F37E-C8BF-69F6-BEA1-4E6D6CD94E87}"/>
              </a:ext>
            </a:extLst>
          </p:cNvPr>
          <p:cNvCxnSpPr>
            <a:cxnSpLocks/>
          </p:cNvCxnSpPr>
          <p:nvPr/>
        </p:nvCxnSpPr>
        <p:spPr>
          <a:xfrm>
            <a:off x="563295" y="2340187"/>
            <a:ext cx="1405689" cy="0"/>
          </a:xfrm>
          <a:prstGeom prst="line">
            <a:avLst/>
          </a:prstGeom>
          <a:noFill/>
          <a:ln w="48069" cap="flat">
            <a:solidFill>
              <a:srgbClr val="D51067"/>
            </a:solidFill>
            <a:prstDash val="solid"/>
            <a:round/>
          </a:ln>
          <a:effectLst/>
        </p:spPr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364661FD-DECF-18D7-A604-66AEE40B324A}"/>
              </a:ext>
            </a:extLst>
          </p:cNvPr>
          <p:cNvSpPr txBox="1"/>
          <p:nvPr/>
        </p:nvSpPr>
        <p:spPr>
          <a:xfrm>
            <a:off x="7271657" y="4204401"/>
            <a:ext cx="34725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u="sng" dirty="0">
                <a:solidFill>
                  <a:srgbClr val="0070C0"/>
                </a:solidFill>
              </a:rPr>
              <a:t>March 18</a:t>
            </a:r>
          </a:p>
        </p:txBody>
      </p:sp>
    </p:spTree>
    <p:extLst>
      <p:ext uri="{BB962C8B-B14F-4D97-AF65-F5344CB8AC3E}">
        <p14:creationId xmlns:p14="http://schemas.microsoft.com/office/powerpoint/2010/main" val="39095225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47">
            <a:extLst>
              <a:ext uri="{FF2B5EF4-FFF2-40B4-BE49-F238E27FC236}">
                <a16:creationId xmlns:a16="http://schemas.microsoft.com/office/drawing/2014/main" id="{79275FA8-F299-292B-E46F-7560403D9F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749064" tIns="952200" rIns="1091856" bIns="177744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dirty="0"/>
          </a:p>
        </p:txBody>
      </p:sp>
      <p:sp>
        <p:nvSpPr>
          <p:cNvPr id="48" name="Rectangle 825">
            <a:extLst>
              <a:ext uri="{FF2B5EF4-FFF2-40B4-BE49-F238E27FC236}">
                <a16:creationId xmlns:a16="http://schemas.microsoft.com/office/drawing/2014/main" id="{6C4B41A5-A874-CE21-810D-19FAACFA33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922725" y="457200"/>
            <a:ext cx="4173538" cy="4171950"/>
          </a:xfrm>
          <a:prstGeom prst="rect">
            <a:avLst/>
          </a:prstGeom>
          <a:solidFill>
            <a:srgbClr val="9ABE34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49" name="Line 826">
            <a:extLst>
              <a:ext uri="{FF2B5EF4-FFF2-40B4-BE49-F238E27FC236}">
                <a16:creationId xmlns:a16="http://schemas.microsoft.com/office/drawing/2014/main" id="{F7CD8F78-AD20-9398-6DC2-16C7A305C9F5}"/>
              </a:ext>
            </a:extLst>
          </p:cNvPr>
          <p:cNvSpPr>
            <a:spLocks noChangeShapeType="1"/>
          </p:cNvSpPr>
          <p:nvPr/>
        </p:nvSpPr>
        <p:spPr bwMode="auto">
          <a:xfrm>
            <a:off x="0" y="8801100"/>
            <a:ext cx="97075625" cy="0"/>
          </a:xfrm>
          <a:prstGeom prst="line">
            <a:avLst/>
          </a:prstGeom>
          <a:noFill/>
          <a:ln w="3175">
            <a:solidFill>
              <a:srgbClr val="FACC0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48AB22D-38EE-1D25-0FB2-F243D8B8DB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The Reveal - Outline of effort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F20AE91-1A5D-844C-FE36-07C8F70DE06E}"/>
              </a:ext>
            </a:extLst>
          </p:cNvPr>
          <p:cNvSpPr txBox="1"/>
          <p:nvPr/>
        </p:nvSpPr>
        <p:spPr>
          <a:xfrm>
            <a:off x="729004" y="3543615"/>
            <a:ext cx="11077119" cy="27776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marR="0" algn="ctr">
              <a:spcBef>
                <a:spcPts val="0"/>
              </a:spcBef>
              <a:spcAft>
                <a:spcPts val="0"/>
              </a:spcAft>
            </a:pPr>
            <a:r>
              <a:rPr lang="en-US" sz="1600" b="1" u="sng" dirty="0">
                <a:effectLst/>
                <a:latin typeface="Franklin Gothic Book" panose="020B0503020102020204" pitchFamily="34" charset="0"/>
                <a:ea typeface="Cambria" panose="02040503050406030204" pitchFamily="18" charset="0"/>
                <a:cs typeface="Times New Roman" panose="02020603050405020304" pitchFamily="18" charset="0"/>
              </a:rPr>
              <a:t>Week 5:</a:t>
            </a:r>
          </a:p>
          <a:p>
            <a:pPr marL="228600" algn="ctr"/>
            <a:r>
              <a:rPr lang="en-US" sz="1200" b="1" i="1" dirty="0">
                <a:solidFill>
                  <a:srgbClr val="B51072"/>
                </a:solidFill>
                <a:latin typeface="Franklin Gothic Book" panose="020B0503020102020204" pitchFamily="34" charset="0"/>
                <a:ea typeface="Cambria" panose="02040503050406030204" pitchFamily="18" charset="0"/>
                <a:cs typeface="Times New Roman" panose="02020603050405020304" pitchFamily="18" charset="0"/>
              </a:rPr>
              <a:t>In the Lab</a:t>
            </a:r>
            <a:endParaRPr lang="en-US" sz="1200" b="1" dirty="0">
              <a:solidFill>
                <a:srgbClr val="0070C0"/>
              </a:solidFill>
              <a:latin typeface="Franklin Gothic Book" panose="020B0503020102020204" pitchFamily="34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228600" marR="0">
              <a:spcBef>
                <a:spcPts val="0"/>
              </a:spcBef>
              <a:spcAft>
                <a:spcPts val="0"/>
              </a:spcAft>
            </a:pPr>
            <a:endParaRPr lang="en-US" sz="1050" dirty="0">
              <a:latin typeface="Franklin Gothic Book" panose="020B0503020102020204" pitchFamily="34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228600" marR="0">
              <a:spcBef>
                <a:spcPts val="0"/>
              </a:spcBef>
              <a:spcAft>
                <a:spcPts val="0"/>
              </a:spcAft>
            </a:pPr>
            <a:r>
              <a:rPr lang="en-US" sz="1200" b="1" dirty="0">
                <a:effectLst/>
                <a:latin typeface="Franklin Gothic Book" panose="020B0503020102020204" pitchFamily="34" charset="0"/>
                <a:ea typeface="Cambria" panose="02040503050406030204" pitchFamily="18" charset="0"/>
                <a:cs typeface="Times New Roman" panose="02020603050405020304" pitchFamily="18" charset="0"/>
              </a:rPr>
              <a:t>Focus- Insight Intelligence Report Build</a:t>
            </a:r>
          </a:p>
          <a:p>
            <a:pPr marL="228600" marR="0">
              <a:spcBef>
                <a:spcPts val="0"/>
              </a:spcBef>
              <a:spcAft>
                <a:spcPts val="0"/>
              </a:spcAft>
            </a:pPr>
            <a:r>
              <a:rPr lang="en-US" sz="1200" dirty="0">
                <a:effectLst/>
                <a:latin typeface="Franklin Gothic Book" panose="020B0503020102020204" pitchFamily="34" charset="0"/>
                <a:ea typeface="Cambria" panose="02040503050406030204" pitchFamily="18" charset="0"/>
                <a:cs typeface="Times New Roman" panose="02020603050405020304" pitchFamily="18" charset="0"/>
              </a:rPr>
              <a:t>Putting together the repor</a:t>
            </a:r>
            <a:r>
              <a:rPr lang="en-US" sz="1200" dirty="0">
                <a:latin typeface="Franklin Gothic Book" panose="020B0503020102020204" pitchFamily="34" charset="0"/>
                <a:ea typeface="Cambria" panose="02040503050406030204" pitchFamily="18" charset="0"/>
                <a:cs typeface="Times New Roman" panose="02020603050405020304" pitchFamily="18" charset="0"/>
              </a:rPr>
              <a:t>t illustrating the findings, what the steps forward need to be, and the prioritization.   This report then frames the Vision-to-Value Roadmap  of what is needed to implement. </a:t>
            </a:r>
            <a:endParaRPr lang="en-US" sz="1200" dirty="0">
              <a:effectLst/>
              <a:latin typeface="Franklin Gothic Book" panose="020B0503020102020204" pitchFamily="34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228600" marR="0">
              <a:spcBef>
                <a:spcPts val="0"/>
              </a:spcBef>
              <a:spcAft>
                <a:spcPts val="0"/>
              </a:spcAft>
            </a:pPr>
            <a:endParaRPr lang="en-US" sz="1400" dirty="0">
              <a:latin typeface="Franklin Gothic Book" panose="020B0503020102020204" pitchFamily="34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230188" lvl="1"/>
            <a:r>
              <a:rPr lang="en-US" sz="1200" b="1" dirty="0">
                <a:effectLst/>
                <a:latin typeface="Franklin Gothic Book" panose="020B0503020102020204" pitchFamily="34" charset="0"/>
                <a:ea typeface="Cambria" panose="02040503050406030204" pitchFamily="18" charset="0"/>
                <a:cs typeface="Times New Roman" panose="02020603050405020304" pitchFamily="18" charset="0"/>
              </a:rPr>
              <a:t>What is being done with KB &amp; Co: </a:t>
            </a:r>
          </a:p>
          <a:p>
            <a:pPr marL="687388" lvl="2" indent="-225425">
              <a:buFont typeface="Arial" panose="020B0604020202020204" pitchFamily="34" charset="0"/>
              <a:buChar char="•"/>
            </a:pPr>
            <a:r>
              <a:rPr lang="en-US" sz="1200" dirty="0">
                <a:effectLst/>
                <a:latin typeface="Franklin Gothic Book" panose="020B0503020102020204" pitchFamily="34" charset="0"/>
                <a:ea typeface="Cambria" panose="02040503050406030204" pitchFamily="18" charset="0"/>
                <a:cs typeface="Times New Roman" panose="02020603050405020304" pitchFamily="18" charset="0"/>
              </a:rPr>
              <a:t>We are heads down putting together the deliverable of </a:t>
            </a:r>
            <a:r>
              <a:rPr lang="en-US" sz="1200" i="1" dirty="0">
                <a:effectLst/>
                <a:latin typeface="Franklin Gothic Book" panose="020B0503020102020204" pitchFamily="34" charset="0"/>
                <a:ea typeface="Cambria" panose="02040503050406030204" pitchFamily="18" charset="0"/>
                <a:cs typeface="Times New Roman" panose="02020603050405020304" pitchFamily="18" charset="0"/>
              </a:rPr>
              <a:t>the </a:t>
            </a:r>
            <a:r>
              <a:rPr lang="en-US" sz="1200" i="1" dirty="0">
                <a:solidFill>
                  <a:srgbClr val="B51072"/>
                </a:solidFill>
                <a:effectLst/>
                <a:latin typeface="Franklin Gothic Book" panose="020B0503020102020204" pitchFamily="34" charset="0"/>
                <a:ea typeface="Cambria" panose="02040503050406030204" pitchFamily="18" charset="0"/>
                <a:cs typeface="Times New Roman" panose="02020603050405020304" pitchFamily="18" charset="0"/>
              </a:rPr>
              <a:t>Insight Intelligence Report</a:t>
            </a:r>
            <a:r>
              <a:rPr lang="en-US" sz="1200" dirty="0">
                <a:effectLst/>
                <a:latin typeface="Franklin Gothic Book" panose="020B0503020102020204" pitchFamily="34" charset="0"/>
                <a:ea typeface="Cambria" panose="02040503050406030204" pitchFamily="18" charset="0"/>
                <a:cs typeface="Times New Roman" panose="02020603050405020304" pitchFamily="18" charset="0"/>
              </a:rPr>
              <a:t>.</a:t>
            </a:r>
            <a:endParaRPr lang="en-US" sz="1400" dirty="0">
              <a:effectLst/>
              <a:latin typeface="Franklin Gothic Book" panose="020B0503020102020204" pitchFamily="34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228600" marR="0">
              <a:spcBef>
                <a:spcPts val="0"/>
              </a:spcBef>
              <a:spcAft>
                <a:spcPts val="0"/>
              </a:spcAft>
            </a:pPr>
            <a:r>
              <a:rPr lang="en-US" sz="1200" dirty="0">
                <a:effectLst/>
                <a:latin typeface="Franklin Gothic Book" panose="020B0503020102020204" pitchFamily="34" charset="0"/>
                <a:ea typeface="Cambria" panose="02040503050406030204" pitchFamily="18" charset="0"/>
                <a:cs typeface="Times New Roman" panose="02020603050405020304" pitchFamily="18" charset="0"/>
              </a:rPr>
              <a:t> </a:t>
            </a:r>
          </a:p>
          <a:p>
            <a:pPr>
              <a:tabLst>
                <a:tab pos="223838" algn="l"/>
                <a:tab pos="336550" algn="l"/>
              </a:tabLst>
            </a:pPr>
            <a:r>
              <a:rPr lang="en-US" sz="1200" i="1" dirty="0">
                <a:solidFill>
                  <a:srgbClr val="B52372"/>
                </a:solidFill>
                <a:effectLst/>
                <a:latin typeface="Franklin Gothic Book" panose="020B0503020102020204" pitchFamily="34" charset="0"/>
                <a:ea typeface="Cambria" panose="02040503050406030204" pitchFamily="18" charset="0"/>
                <a:cs typeface="Times New Roman" panose="02020603050405020304" pitchFamily="18" charset="0"/>
              </a:rPr>
              <a:t>	Flying Horses Resort Team:  </a:t>
            </a:r>
            <a:endParaRPr lang="en-US" sz="1200" dirty="0">
              <a:effectLst/>
              <a:latin typeface="Franklin Gothic Book" panose="020B0503020102020204" pitchFamily="34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buFont typeface="Symbol" pitchFamily="2" charset="2"/>
              <a:buChar char=""/>
            </a:pPr>
            <a:r>
              <a:rPr lang="en-US" sz="1200" dirty="0">
                <a:effectLst/>
                <a:latin typeface="Franklin Gothic Book" panose="020B0503020102020204" pitchFamily="34" charset="0"/>
                <a:ea typeface="Cambria" panose="02040503050406030204" pitchFamily="18" charset="0"/>
                <a:cs typeface="Times New Roman" panose="02020603050405020304" pitchFamily="18" charset="0"/>
              </a:rPr>
              <a:t>Nothing Required- with exception of possible quicks asks for information that we may be missing.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400" dirty="0">
                <a:effectLst/>
                <a:latin typeface="Franklin Gothic Book" panose="020B0503020102020204" pitchFamily="34" charset="0"/>
                <a:ea typeface="Cambria" panose="02040503050406030204" pitchFamily="18" charset="0"/>
                <a:cs typeface="Times New Roman" panose="02020603050405020304" pitchFamily="18" charset="0"/>
              </a:rPr>
              <a:t> </a:t>
            </a:r>
          </a:p>
          <a:p>
            <a:pPr marL="228600" marR="0">
              <a:spcBef>
                <a:spcPts val="0"/>
              </a:spcBef>
              <a:spcAft>
                <a:spcPts val="0"/>
              </a:spcAft>
            </a:pPr>
            <a:r>
              <a:rPr lang="en-US" sz="1200" i="1" dirty="0">
                <a:solidFill>
                  <a:srgbClr val="B52372"/>
                </a:solidFill>
                <a:effectLst/>
                <a:latin typeface="Franklin Gothic Book" panose="020B0503020102020204" pitchFamily="34" charset="0"/>
                <a:ea typeface="Cambria" panose="02040503050406030204" pitchFamily="18" charset="0"/>
                <a:cs typeface="Times New Roman" panose="02020603050405020304" pitchFamily="18" charset="0"/>
              </a:rPr>
              <a:t>Virtual</a:t>
            </a:r>
            <a:endParaRPr lang="en-US" sz="1200" dirty="0">
              <a:effectLst/>
              <a:latin typeface="Franklin Gothic Book" panose="020B0503020102020204" pitchFamily="34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B39DBD0-F448-E32F-CB0B-33F2F662F3C1}"/>
              </a:ext>
            </a:extLst>
          </p:cNvPr>
          <p:cNvSpPr txBox="1"/>
          <p:nvPr/>
        </p:nvSpPr>
        <p:spPr>
          <a:xfrm>
            <a:off x="729004" y="754223"/>
            <a:ext cx="11273980" cy="26545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marR="0" algn="ctr">
              <a:spcBef>
                <a:spcPts val="0"/>
              </a:spcBef>
              <a:spcAft>
                <a:spcPts val="0"/>
              </a:spcAft>
            </a:pPr>
            <a:r>
              <a:rPr lang="en-US" sz="1400" b="1" u="sng" dirty="0">
                <a:effectLst/>
                <a:latin typeface="Franklin Gothic Book" panose="020B0503020102020204" pitchFamily="34" charset="0"/>
                <a:ea typeface="Cambria" panose="02040503050406030204" pitchFamily="18" charset="0"/>
                <a:cs typeface="Times New Roman" panose="02020603050405020304" pitchFamily="18" charset="0"/>
              </a:rPr>
              <a:t>Week 4</a:t>
            </a:r>
            <a:r>
              <a:rPr lang="en-US" sz="1200" b="1" u="sng" dirty="0">
                <a:effectLst/>
                <a:latin typeface="Franklin Gothic Book" panose="020B0503020102020204" pitchFamily="34" charset="0"/>
                <a:ea typeface="Cambria" panose="02040503050406030204" pitchFamily="18" charset="0"/>
                <a:cs typeface="Times New Roman" panose="02020603050405020304" pitchFamily="18" charset="0"/>
              </a:rPr>
              <a:t>:</a:t>
            </a:r>
          </a:p>
          <a:p>
            <a:pPr marL="228600" marR="0" algn="ctr">
              <a:spcBef>
                <a:spcPts val="0"/>
              </a:spcBef>
              <a:spcAft>
                <a:spcPts val="0"/>
              </a:spcAft>
            </a:pPr>
            <a:r>
              <a:rPr lang="en-US" sz="1200" i="1" dirty="0">
                <a:solidFill>
                  <a:srgbClr val="B51072"/>
                </a:solidFill>
                <a:effectLst/>
                <a:latin typeface="Franklin Gothic Book" panose="020B0503020102020204" pitchFamily="34" charset="0"/>
                <a:ea typeface="Cambria" panose="02040503050406030204" pitchFamily="18" charset="0"/>
                <a:cs typeface="Times New Roman" panose="02020603050405020304" pitchFamily="18" charset="0"/>
              </a:rPr>
              <a:t>Same song 2</a:t>
            </a:r>
            <a:r>
              <a:rPr lang="en-US" sz="1200" i="1" baseline="30000" dirty="0">
                <a:solidFill>
                  <a:srgbClr val="B51072"/>
                </a:solidFill>
                <a:effectLst/>
                <a:latin typeface="Franklin Gothic Book" panose="020B0503020102020204" pitchFamily="34" charset="0"/>
                <a:ea typeface="Cambria" panose="02040503050406030204" pitchFamily="18" charset="0"/>
                <a:cs typeface="Times New Roman" panose="02020603050405020304" pitchFamily="18" charset="0"/>
              </a:rPr>
              <a:t>nd</a:t>
            </a:r>
            <a:r>
              <a:rPr lang="en-US" sz="1200" i="1" dirty="0">
                <a:solidFill>
                  <a:srgbClr val="B51072"/>
                </a:solidFill>
                <a:effectLst/>
                <a:latin typeface="Franklin Gothic Book" panose="020B0503020102020204" pitchFamily="34" charset="0"/>
                <a:ea typeface="Cambria" panose="02040503050406030204" pitchFamily="18" charset="0"/>
                <a:cs typeface="Times New Roman" panose="02020603050405020304" pitchFamily="18" charset="0"/>
              </a:rPr>
              <a:t> Verse</a:t>
            </a:r>
            <a:r>
              <a:rPr lang="en-US" sz="1200" b="1" u="sng" dirty="0">
                <a:effectLst/>
                <a:latin typeface="Franklin Gothic Book" panose="020B0503020102020204" pitchFamily="34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endParaRPr lang="en-US" sz="1200" b="1" dirty="0">
              <a:solidFill>
                <a:srgbClr val="0070C0"/>
              </a:solidFill>
              <a:latin typeface="Franklin Gothic Book" panose="020B0503020102020204" pitchFamily="34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228600" marR="0">
              <a:spcBef>
                <a:spcPts val="0"/>
              </a:spcBef>
              <a:spcAft>
                <a:spcPts val="0"/>
              </a:spcAft>
            </a:pPr>
            <a:endParaRPr lang="en-US" sz="1050" b="1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Franklin Gothic Book" panose="020B0503020102020204" pitchFamily="34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230188" lvl="1"/>
            <a:r>
              <a:rPr lang="en-US" sz="1200" b="1" dirty="0">
                <a:latin typeface="Franklin Gothic Book" panose="020B0503020102020204" pitchFamily="34" charset="0"/>
                <a:ea typeface="Cambria" panose="02040503050406030204" pitchFamily="18" charset="0"/>
                <a:cs typeface="Times New Roman" panose="02020603050405020304" pitchFamily="18" charset="0"/>
              </a:rPr>
              <a:t>Focus –  2</a:t>
            </a:r>
            <a:r>
              <a:rPr lang="en-US" sz="1200" b="1" baseline="30000" dirty="0">
                <a:latin typeface="Franklin Gothic Book" panose="020B0503020102020204" pitchFamily="34" charset="0"/>
                <a:ea typeface="Cambria" panose="02040503050406030204" pitchFamily="18" charset="0"/>
                <a:cs typeface="Times New Roman" panose="02020603050405020304" pitchFamily="18" charset="0"/>
              </a:rPr>
              <a:t>nd</a:t>
            </a:r>
            <a:r>
              <a:rPr lang="en-US" sz="1200" b="1" dirty="0">
                <a:latin typeface="Franklin Gothic Book" panose="020B0503020102020204" pitchFamily="34" charset="0"/>
                <a:ea typeface="Cambria" panose="02040503050406030204" pitchFamily="18" charset="0"/>
                <a:cs typeface="Times New Roman" panose="02020603050405020304" pitchFamily="18" charset="0"/>
              </a:rPr>
              <a:t> week continued exploration</a:t>
            </a:r>
          </a:p>
          <a:p>
            <a:pPr marL="230188" lvl="1"/>
            <a:endParaRPr lang="en-US" sz="1000" dirty="0">
              <a:latin typeface="Franklin Gothic Book" panose="020B0503020102020204" pitchFamily="34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230188" lvl="1"/>
            <a:r>
              <a:rPr lang="en-US" sz="1200" b="1" dirty="0">
                <a:effectLst/>
                <a:latin typeface="Franklin Gothic Book" panose="020B0503020102020204" pitchFamily="34" charset="0"/>
                <a:ea typeface="Cambria" panose="02040503050406030204" pitchFamily="18" charset="0"/>
                <a:cs typeface="Times New Roman" panose="02020603050405020304" pitchFamily="18" charset="0"/>
              </a:rPr>
              <a:t>What is being done with KB &amp; Co: </a:t>
            </a:r>
          </a:p>
          <a:p>
            <a:pPr marL="687388" lvl="2" indent="-225425">
              <a:buFont typeface="Arial" panose="020B0604020202020204" pitchFamily="34" charset="0"/>
              <a:buChar char="•"/>
            </a:pPr>
            <a:r>
              <a:rPr lang="en-US" sz="1200" dirty="0">
                <a:effectLst/>
                <a:latin typeface="Franklin Gothic Book" panose="020B0503020102020204" pitchFamily="34" charset="0"/>
                <a:ea typeface="Cambria" panose="02040503050406030204" pitchFamily="18" charset="0"/>
                <a:cs typeface="Times New Roman" panose="02020603050405020304" pitchFamily="18" charset="0"/>
              </a:rPr>
              <a:t>Property visit</a:t>
            </a:r>
          </a:p>
          <a:p>
            <a:pPr marL="687388" lvl="2" indent="-225425">
              <a:buFont typeface="Arial" panose="020B0604020202020204" pitchFamily="34" charset="0"/>
              <a:buChar char="•"/>
            </a:pPr>
            <a:r>
              <a:rPr lang="en-US" sz="1200" dirty="0">
                <a:effectLst/>
                <a:latin typeface="Franklin Gothic Book" panose="020B0503020102020204" pitchFamily="34" charset="0"/>
                <a:ea typeface="Cambria" panose="02040503050406030204" pitchFamily="18" charset="0"/>
                <a:cs typeface="Times New Roman" panose="02020603050405020304" pitchFamily="18" charset="0"/>
              </a:rPr>
              <a:t>Calls, Meetings, Research</a:t>
            </a:r>
          </a:p>
          <a:p>
            <a:pPr marL="687388" lvl="2" indent="-225425">
              <a:buFont typeface="Arial" panose="020B0604020202020204" pitchFamily="34" charset="0"/>
              <a:buChar char="•"/>
            </a:pPr>
            <a:endParaRPr lang="en-US" sz="1200" dirty="0">
              <a:latin typeface="Franklin Gothic Book" panose="020B0503020102020204" pitchFamily="34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230188" lvl="1"/>
            <a:r>
              <a:rPr lang="en-US" sz="1200" b="1" dirty="0">
                <a:solidFill>
                  <a:srgbClr val="B51072"/>
                </a:solidFill>
                <a:effectLst/>
                <a:latin typeface="Franklin Gothic Book" panose="020B0503020102020204" pitchFamily="34" charset="0"/>
                <a:ea typeface="Cambria" panose="02040503050406030204" pitchFamily="18" charset="0"/>
                <a:cs typeface="Times New Roman" panose="02020603050405020304" pitchFamily="18" charset="0"/>
              </a:rPr>
              <a:t>Flying Horses Resort Team time / Input needed:  </a:t>
            </a:r>
          </a:p>
          <a:p>
            <a:pPr marL="687388" lvl="1" indent="-225425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B51072"/>
                </a:solidFill>
                <a:latin typeface="Franklin Gothic Book" panose="020B0503020102020204" pitchFamily="34" charset="0"/>
                <a:ea typeface="Cambria" panose="02040503050406030204" pitchFamily="18" charset="0"/>
                <a:cs typeface="Times New Roman" panose="02020603050405020304" pitchFamily="18" charset="0"/>
              </a:rPr>
              <a:t>Availability for individual meetings</a:t>
            </a:r>
          </a:p>
          <a:p>
            <a:pPr marL="687388" lvl="1" indent="-225425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B51072"/>
                </a:solidFill>
                <a:latin typeface="Franklin Gothic Book" panose="020B0503020102020204" pitchFamily="34" charset="0"/>
                <a:ea typeface="Cambria" panose="02040503050406030204" pitchFamily="18" charset="0"/>
                <a:cs typeface="Times New Roman" panose="02020603050405020304" pitchFamily="18" charset="0"/>
              </a:rPr>
              <a:t>”In the Tent” - Rev. Mgmt. call, Sales Mtgs, Marketing Mtgs.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200" dirty="0">
                <a:effectLst/>
                <a:latin typeface="Franklin Gothic Book" panose="020B0503020102020204" pitchFamily="34" charset="0"/>
                <a:ea typeface="Cambria" panose="02040503050406030204" pitchFamily="18" charset="0"/>
                <a:cs typeface="Times New Roman" panose="02020603050405020304" pitchFamily="18" charset="0"/>
              </a:rPr>
              <a:t> </a:t>
            </a:r>
          </a:p>
          <a:p>
            <a:pPr marL="228600" marR="0">
              <a:spcBef>
                <a:spcPts val="0"/>
              </a:spcBef>
              <a:spcAft>
                <a:spcPts val="0"/>
              </a:spcAft>
            </a:pPr>
            <a:r>
              <a:rPr lang="en-US" sz="1200" i="1" dirty="0">
                <a:solidFill>
                  <a:srgbClr val="B52372"/>
                </a:solidFill>
                <a:effectLst/>
                <a:latin typeface="Franklin Gothic Book" panose="020B0503020102020204" pitchFamily="34" charset="0"/>
                <a:ea typeface="Cambria" panose="02040503050406030204" pitchFamily="18" charset="0"/>
                <a:cs typeface="Times New Roman" panose="02020603050405020304" pitchFamily="18" charset="0"/>
              </a:rPr>
              <a:t>Virtual </a:t>
            </a:r>
            <a:endParaRPr lang="en-US" sz="1200" u="sng" dirty="0">
              <a:effectLst/>
              <a:latin typeface="Franklin Gothic Book" panose="020B0503020102020204" pitchFamily="34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" name="officeArt object" descr="Line 840">
            <a:extLst>
              <a:ext uri="{FF2B5EF4-FFF2-40B4-BE49-F238E27FC236}">
                <a16:creationId xmlns:a16="http://schemas.microsoft.com/office/drawing/2014/main" id="{1EFB46B6-4762-C00D-C87D-5364CA510755}"/>
              </a:ext>
            </a:extLst>
          </p:cNvPr>
          <p:cNvCxnSpPr>
            <a:cxnSpLocks/>
          </p:cNvCxnSpPr>
          <p:nvPr/>
        </p:nvCxnSpPr>
        <p:spPr>
          <a:xfrm>
            <a:off x="675035" y="3671325"/>
            <a:ext cx="1405689" cy="0"/>
          </a:xfrm>
          <a:prstGeom prst="line">
            <a:avLst/>
          </a:prstGeom>
          <a:noFill/>
          <a:ln w="48069" cap="flat">
            <a:solidFill>
              <a:srgbClr val="D51067"/>
            </a:solidFill>
            <a:prstDash val="solid"/>
            <a:round/>
          </a:ln>
          <a:effectLst/>
        </p:spPr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A5DCECA6-FDF3-D50C-542B-9635F4A1A8AE}"/>
              </a:ext>
            </a:extLst>
          </p:cNvPr>
          <p:cNvSpPr txBox="1"/>
          <p:nvPr/>
        </p:nvSpPr>
        <p:spPr>
          <a:xfrm>
            <a:off x="7467600" y="2081509"/>
            <a:ext cx="34725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u="sng" dirty="0">
                <a:solidFill>
                  <a:srgbClr val="0070C0"/>
                </a:solidFill>
              </a:rPr>
              <a:t>THIS WEEK – March 24th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B2F55F5-539E-4DCA-7949-33BF9AFB92D6}"/>
              </a:ext>
            </a:extLst>
          </p:cNvPr>
          <p:cNvSpPr txBox="1"/>
          <p:nvPr/>
        </p:nvSpPr>
        <p:spPr>
          <a:xfrm>
            <a:off x="7467600" y="5107738"/>
            <a:ext cx="34725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u="sng" dirty="0">
                <a:solidFill>
                  <a:srgbClr val="0070C0"/>
                </a:solidFill>
              </a:rPr>
              <a:t>Delivered:  April 4th</a:t>
            </a:r>
          </a:p>
        </p:txBody>
      </p:sp>
    </p:spTree>
    <p:extLst>
      <p:ext uri="{BB962C8B-B14F-4D97-AF65-F5344CB8AC3E}">
        <p14:creationId xmlns:p14="http://schemas.microsoft.com/office/powerpoint/2010/main" val="33796507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8E917E-F01B-2662-CC9C-94C1414FCE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47">
            <a:extLst>
              <a:ext uri="{FF2B5EF4-FFF2-40B4-BE49-F238E27FC236}">
                <a16:creationId xmlns:a16="http://schemas.microsoft.com/office/drawing/2014/main" id="{80EA2A03-F7F2-91EF-BD4A-C6AE11956D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749064" tIns="952200" rIns="1091856" bIns="177744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dirty="0"/>
          </a:p>
        </p:txBody>
      </p:sp>
      <p:sp>
        <p:nvSpPr>
          <p:cNvPr id="48" name="Rectangle 825">
            <a:extLst>
              <a:ext uri="{FF2B5EF4-FFF2-40B4-BE49-F238E27FC236}">
                <a16:creationId xmlns:a16="http://schemas.microsoft.com/office/drawing/2014/main" id="{731F37ED-2632-1D2F-1D59-E1CA7E63F6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922725" y="457200"/>
            <a:ext cx="4173538" cy="4171950"/>
          </a:xfrm>
          <a:prstGeom prst="rect">
            <a:avLst/>
          </a:prstGeom>
          <a:solidFill>
            <a:srgbClr val="9ABE34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49" name="Line 826">
            <a:extLst>
              <a:ext uri="{FF2B5EF4-FFF2-40B4-BE49-F238E27FC236}">
                <a16:creationId xmlns:a16="http://schemas.microsoft.com/office/drawing/2014/main" id="{A584ECE2-B332-9A75-86FD-8B3CAC723639}"/>
              </a:ext>
            </a:extLst>
          </p:cNvPr>
          <p:cNvSpPr>
            <a:spLocks noChangeShapeType="1"/>
          </p:cNvSpPr>
          <p:nvPr/>
        </p:nvSpPr>
        <p:spPr bwMode="auto">
          <a:xfrm>
            <a:off x="0" y="8801100"/>
            <a:ext cx="97075625" cy="0"/>
          </a:xfrm>
          <a:prstGeom prst="line">
            <a:avLst/>
          </a:prstGeom>
          <a:noFill/>
          <a:ln w="3175">
            <a:solidFill>
              <a:srgbClr val="FACC0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D093472-8CFE-C32F-B83F-EBBF45239B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The Reveal - Outline of effort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E8E9E4D-8A4F-75B2-1F30-5F28F5A2ABFB}"/>
              </a:ext>
            </a:extLst>
          </p:cNvPr>
          <p:cNvSpPr txBox="1"/>
          <p:nvPr/>
        </p:nvSpPr>
        <p:spPr>
          <a:xfrm>
            <a:off x="630574" y="970367"/>
            <a:ext cx="11273980" cy="33932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marR="0" algn="ctr">
              <a:spcBef>
                <a:spcPts val="0"/>
              </a:spcBef>
              <a:spcAft>
                <a:spcPts val="0"/>
              </a:spcAft>
            </a:pPr>
            <a:r>
              <a:rPr lang="en-US" sz="1400" b="1" u="sng" dirty="0">
                <a:effectLst/>
                <a:latin typeface="Franklin Gothic Book" panose="020B0503020102020204" pitchFamily="34" charset="0"/>
                <a:ea typeface="Cambria" panose="02040503050406030204" pitchFamily="18" charset="0"/>
                <a:cs typeface="Times New Roman" panose="02020603050405020304" pitchFamily="18" charset="0"/>
              </a:rPr>
              <a:t>Week 6</a:t>
            </a:r>
            <a:r>
              <a:rPr lang="en-US" sz="1200" b="1" u="sng" dirty="0">
                <a:effectLst/>
                <a:latin typeface="Franklin Gothic Book" panose="020B0503020102020204" pitchFamily="34" charset="0"/>
                <a:ea typeface="Cambria" panose="02040503050406030204" pitchFamily="18" charset="0"/>
                <a:cs typeface="Times New Roman" panose="02020603050405020304" pitchFamily="18" charset="0"/>
              </a:rPr>
              <a:t>: </a:t>
            </a:r>
          </a:p>
          <a:p>
            <a:pPr marL="228600" marR="0" algn="ctr">
              <a:spcBef>
                <a:spcPts val="0"/>
              </a:spcBef>
              <a:spcAft>
                <a:spcPts val="0"/>
              </a:spcAft>
            </a:pPr>
            <a:r>
              <a:rPr lang="en-US" sz="1200" i="1" dirty="0">
                <a:solidFill>
                  <a:srgbClr val="B51072"/>
                </a:solidFill>
                <a:effectLst/>
                <a:latin typeface="Franklin Gothic Book" panose="020B0503020102020204" pitchFamily="34" charset="0"/>
                <a:ea typeface="Cambria" panose="02040503050406030204" pitchFamily="18" charset="0"/>
                <a:cs typeface="Times New Roman" panose="02020603050405020304" pitchFamily="18" charset="0"/>
              </a:rPr>
              <a:t>In the Weeds</a:t>
            </a:r>
          </a:p>
          <a:p>
            <a:pPr marL="228600" marR="0">
              <a:spcBef>
                <a:spcPts val="0"/>
              </a:spcBef>
              <a:spcAft>
                <a:spcPts val="0"/>
              </a:spcAft>
            </a:pPr>
            <a:endParaRPr lang="en-US" sz="1200" b="1" dirty="0">
              <a:solidFill>
                <a:srgbClr val="0070C0"/>
              </a:solidFill>
              <a:latin typeface="Franklin Gothic Book" panose="020B0503020102020204" pitchFamily="34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228600" marR="0">
              <a:spcBef>
                <a:spcPts val="0"/>
              </a:spcBef>
              <a:spcAft>
                <a:spcPts val="0"/>
              </a:spcAft>
            </a:pPr>
            <a:endParaRPr lang="en-US" sz="1050" b="1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Franklin Gothic Book" panose="020B0503020102020204" pitchFamily="34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230188" lvl="1"/>
            <a:r>
              <a:rPr lang="en-US" sz="1200" b="1" dirty="0">
                <a:latin typeface="Franklin Gothic Book" panose="020B0503020102020204" pitchFamily="34" charset="0"/>
                <a:ea typeface="Cambria" panose="02040503050406030204" pitchFamily="18" charset="0"/>
                <a:cs typeface="Times New Roman" panose="02020603050405020304" pitchFamily="18" charset="0"/>
              </a:rPr>
              <a:t>Focus – Insight Intelligence Report </a:t>
            </a:r>
          </a:p>
          <a:p>
            <a:pPr marL="230188" lvl="1"/>
            <a:r>
              <a:rPr lang="en-US" sz="1200" dirty="0">
                <a:latin typeface="Franklin Gothic Book" panose="020B0503020102020204" pitchFamily="34" charset="0"/>
                <a:ea typeface="Cambria" panose="02040503050406030204" pitchFamily="18" charset="0"/>
                <a:cs typeface="Times New Roman" panose="02020603050405020304" pitchFamily="18" charset="0"/>
              </a:rPr>
              <a:t>Sharing of insights, vetting and prioritizing.</a:t>
            </a:r>
          </a:p>
          <a:p>
            <a:pPr marL="230188" lvl="1"/>
            <a:endParaRPr lang="en-US" sz="1000" dirty="0">
              <a:latin typeface="Franklin Gothic Book" panose="020B0503020102020204" pitchFamily="34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230188" lvl="1"/>
            <a:r>
              <a:rPr lang="en-US" sz="1200" b="1" dirty="0">
                <a:effectLst/>
                <a:latin typeface="Franklin Gothic Book" panose="020B0503020102020204" pitchFamily="34" charset="0"/>
                <a:ea typeface="Cambria" panose="02040503050406030204" pitchFamily="18" charset="0"/>
                <a:cs typeface="Times New Roman" panose="02020603050405020304" pitchFamily="18" charset="0"/>
              </a:rPr>
              <a:t>What is being done with KB &amp; Co: </a:t>
            </a:r>
          </a:p>
          <a:p>
            <a:pPr marL="687388" lvl="2" indent="-225425">
              <a:buFont typeface="Arial" panose="020B0604020202020204" pitchFamily="34" charset="0"/>
              <a:buChar char="•"/>
            </a:pPr>
            <a:r>
              <a:rPr lang="en-US" sz="1200" dirty="0">
                <a:effectLst/>
                <a:latin typeface="Franklin Gothic Book" panose="020B0503020102020204" pitchFamily="34" charset="0"/>
                <a:ea typeface="Cambria" panose="02040503050406030204" pitchFamily="18" charset="0"/>
                <a:cs typeface="Times New Roman" panose="02020603050405020304" pitchFamily="18" charset="0"/>
              </a:rPr>
              <a:t>Property visit</a:t>
            </a:r>
          </a:p>
          <a:p>
            <a:pPr marL="687388" lvl="2" indent="-225425">
              <a:buFont typeface="Arial" panose="020B0604020202020204" pitchFamily="34" charset="0"/>
              <a:buChar char="•"/>
            </a:pPr>
            <a:r>
              <a:rPr lang="en-US" sz="1200" dirty="0">
                <a:effectLst/>
                <a:latin typeface="Franklin Gothic Book" panose="020B0503020102020204" pitchFamily="34" charset="0"/>
                <a:ea typeface="Cambria" panose="02040503050406030204" pitchFamily="18" charset="0"/>
                <a:cs typeface="Times New Roman" panose="02020603050405020304" pitchFamily="18" charset="0"/>
              </a:rPr>
              <a:t>Calls, Meetings, Research</a:t>
            </a:r>
          </a:p>
          <a:p>
            <a:pPr marL="687388" lvl="2" indent="-225425">
              <a:buFont typeface="Arial" panose="020B0604020202020204" pitchFamily="34" charset="0"/>
              <a:buChar char="•"/>
            </a:pPr>
            <a:endParaRPr lang="en-US" sz="1200" dirty="0">
              <a:latin typeface="Franklin Gothic Book" panose="020B0503020102020204" pitchFamily="34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230188" lvl="1"/>
            <a:r>
              <a:rPr lang="en-US" sz="1200" b="1" dirty="0">
                <a:solidFill>
                  <a:srgbClr val="B51072"/>
                </a:solidFill>
                <a:effectLst/>
                <a:latin typeface="Franklin Gothic Book" panose="020B0503020102020204" pitchFamily="34" charset="0"/>
                <a:ea typeface="Cambria" panose="02040503050406030204" pitchFamily="18" charset="0"/>
                <a:cs typeface="Times New Roman" panose="02020603050405020304" pitchFamily="18" charset="0"/>
              </a:rPr>
              <a:t>Flying Horses Resort Team time / input needed:  </a:t>
            </a:r>
          </a:p>
          <a:p>
            <a:pPr marL="461963" lvl="1"/>
            <a:r>
              <a:rPr lang="en-US" sz="1200" dirty="0">
                <a:solidFill>
                  <a:srgbClr val="B51072"/>
                </a:solidFill>
                <a:effectLst/>
                <a:latin typeface="Franklin Gothic Book" panose="020B0503020102020204" pitchFamily="34" charset="0"/>
                <a:ea typeface="Cambria" panose="02040503050406030204" pitchFamily="18" charset="0"/>
                <a:cs typeface="Times New Roman" panose="02020603050405020304" pitchFamily="18" charset="0"/>
              </a:rPr>
              <a:t>	½ Day w/ Glenn and Wendy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200" dirty="0">
                <a:effectLst/>
                <a:latin typeface="Franklin Gothic Book" panose="020B0503020102020204" pitchFamily="34" charset="0"/>
                <a:ea typeface="Cambria" panose="02040503050406030204" pitchFamily="18" charset="0"/>
                <a:cs typeface="Times New Roman" panose="02020603050405020304" pitchFamily="18" charset="0"/>
              </a:rPr>
              <a:t> </a:t>
            </a:r>
          </a:p>
          <a:p>
            <a:pPr marL="228600" marR="0">
              <a:spcBef>
                <a:spcPts val="0"/>
              </a:spcBef>
              <a:spcAft>
                <a:spcPts val="0"/>
              </a:spcAft>
            </a:pPr>
            <a:r>
              <a:rPr lang="en-US" sz="1200" i="1" dirty="0">
                <a:solidFill>
                  <a:srgbClr val="B52372"/>
                </a:solidFill>
                <a:effectLst/>
                <a:latin typeface="Franklin Gothic Book" panose="020B0503020102020204" pitchFamily="34" charset="0"/>
                <a:ea typeface="Cambria" panose="02040503050406030204" pitchFamily="18" charset="0"/>
                <a:cs typeface="Times New Roman" panose="02020603050405020304" pitchFamily="18" charset="0"/>
              </a:rPr>
              <a:t>Onsite</a:t>
            </a:r>
            <a:endParaRPr lang="en-US" sz="1200" u="sng" dirty="0">
              <a:effectLst/>
              <a:latin typeface="Franklin Gothic Book" panose="020B0503020102020204" pitchFamily="34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461963" lvl="2"/>
            <a:endParaRPr lang="en-US" sz="1200" dirty="0">
              <a:latin typeface="Franklin Gothic Book" panose="020B0503020102020204" pitchFamily="34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4763" lvl="1">
              <a:tabLst>
                <a:tab pos="227013" algn="l"/>
              </a:tabLst>
            </a:pPr>
            <a:r>
              <a:rPr lang="en-US" sz="1200" b="1" dirty="0">
                <a:solidFill>
                  <a:srgbClr val="0070C0"/>
                </a:solidFill>
                <a:latin typeface="Franklin Gothic Book" panose="020B0503020102020204" pitchFamily="34" charset="0"/>
                <a:ea typeface="Cambria" panose="02040503050406030204" pitchFamily="18" charset="0"/>
                <a:cs typeface="Times New Roman" panose="02020603050405020304" pitchFamily="18" charset="0"/>
              </a:rPr>
              <a:t>	Communication Touchpoint w/ Team-   Thank you</a:t>
            </a:r>
          </a:p>
          <a:p>
            <a:pPr marL="4763" lvl="1"/>
            <a:endParaRPr lang="en-US" sz="1200" dirty="0">
              <a:effectLst/>
              <a:latin typeface="Franklin Gothic Book" panose="020B0503020102020204" pitchFamily="34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7" name="officeArt object" descr="Line 840">
            <a:extLst>
              <a:ext uri="{FF2B5EF4-FFF2-40B4-BE49-F238E27FC236}">
                <a16:creationId xmlns:a16="http://schemas.microsoft.com/office/drawing/2014/main" id="{771ECA0C-D213-5C6C-7394-21E410179D18}"/>
              </a:ext>
            </a:extLst>
          </p:cNvPr>
          <p:cNvCxnSpPr>
            <a:cxnSpLocks/>
          </p:cNvCxnSpPr>
          <p:nvPr/>
        </p:nvCxnSpPr>
        <p:spPr>
          <a:xfrm>
            <a:off x="754548" y="4363604"/>
            <a:ext cx="1405689" cy="0"/>
          </a:xfrm>
          <a:prstGeom prst="line">
            <a:avLst/>
          </a:prstGeom>
          <a:noFill/>
          <a:ln w="48069" cap="flat">
            <a:solidFill>
              <a:srgbClr val="D51067"/>
            </a:solidFill>
            <a:prstDash val="solid"/>
            <a:round/>
          </a:ln>
          <a:effectLst/>
        </p:spPr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F6F5DA78-DBCD-A44D-C7B6-17B743BBC251}"/>
              </a:ext>
            </a:extLst>
          </p:cNvPr>
          <p:cNvSpPr txBox="1"/>
          <p:nvPr/>
        </p:nvSpPr>
        <p:spPr>
          <a:xfrm>
            <a:off x="7467600" y="2081509"/>
            <a:ext cx="34725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u="sng" dirty="0">
                <a:solidFill>
                  <a:srgbClr val="0070C0"/>
                </a:solidFill>
              </a:rPr>
              <a:t>Week of April 7</a:t>
            </a:r>
          </a:p>
        </p:txBody>
      </p:sp>
    </p:spTree>
    <p:extLst>
      <p:ext uri="{BB962C8B-B14F-4D97-AF65-F5344CB8AC3E}">
        <p14:creationId xmlns:p14="http://schemas.microsoft.com/office/powerpoint/2010/main" val="6952074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D76ED04A-D1B1-7D4F-925B-56B554ED403C}"/>
              </a:ext>
            </a:extLst>
          </p:cNvPr>
          <p:cNvSpPr/>
          <p:nvPr/>
        </p:nvSpPr>
        <p:spPr>
          <a:xfrm>
            <a:off x="837873" y="2457029"/>
            <a:ext cx="2436327" cy="1886788"/>
          </a:xfrm>
          <a:prstGeom prst="rect">
            <a:avLst/>
          </a:prstGeom>
          <a:solidFill>
            <a:schemeClr val="bg1">
              <a:lumMod val="6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B7CA32FF-EABB-244D-B51E-03E627718C53}"/>
              </a:ext>
            </a:extLst>
          </p:cNvPr>
          <p:cNvSpPr txBox="1">
            <a:spLocks/>
          </p:cNvSpPr>
          <p:nvPr/>
        </p:nvSpPr>
        <p:spPr>
          <a:xfrm>
            <a:off x="941199" y="2511664"/>
            <a:ext cx="2333000" cy="1310872"/>
          </a:xfrm>
          <a:prstGeom prst="rect">
            <a:avLst/>
          </a:prstGeom>
        </p:spPr>
        <p:txBody>
          <a:bodyPr vert="horz" wrap="square" lIns="45720" tIns="22860" rIns="45720" bIns="22860" rtlCol="0" anchor="t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</a:pPr>
            <a:endParaRPr lang="en-US" sz="1867" i="1" dirty="0">
              <a:solidFill>
                <a:srgbClr val="B52372"/>
              </a:solidFill>
              <a:latin typeface="Franklin Gothic Book" panose="020B0503020102020204" pitchFamily="34" charset="0"/>
              <a:ea typeface="Lato Light" panose="020F0502020204030203" pitchFamily="34" charset="0"/>
              <a:cs typeface="Mukta ExtraLight" panose="020B0000000000000000" pitchFamily="34" charset="77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</a:pPr>
            <a:r>
              <a:rPr lang="en-US" sz="1867" i="1" dirty="0">
                <a:solidFill>
                  <a:srgbClr val="B52372"/>
                </a:solidFill>
                <a:latin typeface="Franklin Gothic Book" panose="020B0503020102020204" pitchFamily="34" charset="0"/>
                <a:ea typeface="Lato Light" panose="020F0502020204030203" pitchFamily="34" charset="0"/>
                <a:cs typeface="Mukta ExtraLight" panose="020B0000000000000000" pitchFamily="34" charset="77"/>
              </a:rPr>
              <a:t>Vision-to-Value Roadmap Implementation Plan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1B959DC-CD3F-DA4A-BD84-A53C39E2C725}"/>
              </a:ext>
            </a:extLst>
          </p:cNvPr>
          <p:cNvSpPr txBox="1"/>
          <p:nvPr/>
        </p:nvSpPr>
        <p:spPr>
          <a:xfrm rot="16200000">
            <a:off x="-360871" y="3218735"/>
            <a:ext cx="1861971" cy="338554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Franklin Gothic Book" panose="020B0503020102020204" pitchFamily="34" charset="0"/>
              </a:rPr>
              <a:t>What You Get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DB7DF4F-323C-3049-B0AF-AF5245F82986}"/>
              </a:ext>
            </a:extLst>
          </p:cNvPr>
          <p:cNvSpPr/>
          <p:nvPr/>
        </p:nvSpPr>
        <p:spPr>
          <a:xfrm>
            <a:off x="811359" y="4592921"/>
            <a:ext cx="2436327" cy="1645127"/>
          </a:xfrm>
          <a:prstGeom prst="rect">
            <a:avLst/>
          </a:prstGeom>
          <a:solidFill>
            <a:schemeClr val="bg1">
              <a:lumMod val="6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8EA88D6-40CA-4B4E-AC3E-9B5068601B21}"/>
              </a:ext>
            </a:extLst>
          </p:cNvPr>
          <p:cNvSpPr txBox="1"/>
          <p:nvPr/>
        </p:nvSpPr>
        <p:spPr>
          <a:xfrm rot="16200000">
            <a:off x="-244029" y="5246208"/>
            <a:ext cx="1645128" cy="338554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Franklin Gothic Book" panose="020B0503020102020204" pitchFamily="34" charset="0"/>
              </a:rPr>
              <a:t>So You Can</a:t>
            </a:r>
          </a:p>
        </p:txBody>
      </p:sp>
      <p:sp>
        <p:nvSpPr>
          <p:cNvPr id="19" name="Subtitle 2">
            <a:extLst>
              <a:ext uri="{FF2B5EF4-FFF2-40B4-BE49-F238E27FC236}">
                <a16:creationId xmlns:a16="http://schemas.microsoft.com/office/drawing/2014/main" id="{20FDB204-7C28-AE4F-B2D3-5A51655213EB}"/>
              </a:ext>
            </a:extLst>
          </p:cNvPr>
          <p:cNvSpPr txBox="1">
            <a:spLocks/>
          </p:cNvSpPr>
          <p:nvPr/>
        </p:nvSpPr>
        <p:spPr>
          <a:xfrm>
            <a:off x="907674" y="4806173"/>
            <a:ext cx="2244951" cy="1187184"/>
          </a:xfrm>
          <a:prstGeom prst="rect">
            <a:avLst/>
          </a:prstGeom>
        </p:spPr>
        <p:txBody>
          <a:bodyPr vert="horz" wrap="square" lIns="45720" tIns="22860" rIns="45720" bIns="22860" rtlCol="0" anchor="t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594" indent="-228594" algn="l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sz="1333" dirty="0">
                <a:solidFill>
                  <a:schemeClr val="tx1">
                    <a:lumMod val="65000"/>
                    <a:lumOff val="35000"/>
                  </a:schemeClr>
                </a:solidFill>
                <a:latin typeface="Franklin Gothic Book" panose="020B0503020102020204" pitchFamily="34" charset="0"/>
                <a:ea typeface="Lato Light" panose="020F0502020204030203" pitchFamily="34" charset="0"/>
                <a:cs typeface="Mukta ExtraLight" panose="020B0000000000000000" pitchFamily="34" charset="77"/>
              </a:rPr>
              <a:t>Have a step-wise program that clarifies how we are going to get it done.</a:t>
            </a:r>
          </a:p>
          <a:p>
            <a:pPr marL="228594" indent="-228594" algn="l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sz="1333" dirty="0">
                <a:solidFill>
                  <a:schemeClr val="tx1">
                    <a:lumMod val="65000"/>
                    <a:lumOff val="35000"/>
                  </a:schemeClr>
                </a:solidFill>
                <a:latin typeface="Franklin Gothic Book" panose="020B0503020102020204" pitchFamily="34" charset="0"/>
                <a:ea typeface="Lato Light" panose="020F0502020204030203" pitchFamily="34" charset="0"/>
                <a:cs typeface="Mukta ExtraLight" panose="020B0000000000000000" pitchFamily="34" charset="77"/>
              </a:rPr>
              <a:t>Gives you insights to </a:t>
            </a:r>
            <a:r>
              <a:rPr lang="en-US" sz="1333" i="1" dirty="0">
                <a:solidFill>
                  <a:schemeClr val="tx1">
                    <a:lumMod val="65000"/>
                    <a:lumOff val="35000"/>
                  </a:schemeClr>
                </a:solidFill>
                <a:latin typeface="Franklin Gothic Book" panose="020B0503020102020204" pitchFamily="34" charset="0"/>
                <a:ea typeface="Lato Light" panose="020F0502020204030203" pitchFamily="34" charset="0"/>
                <a:cs typeface="Mukta ExtraLight" panose="020B0000000000000000" pitchFamily="34" charset="77"/>
              </a:rPr>
              <a:t>‘what the best do differently’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014A3A2-4E4F-864D-99A1-5FBF804A5854}"/>
              </a:ext>
            </a:extLst>
          </p:cNvPr>
          <p:cNvSpPr/>
          <p:nvPr/>
        </p:nvSpPr>
        <p:spPr>
          <a:xfrm>
            <a:off x="3816551" y="776125"/>
            <a:ext cx="4601957" cy="5511300"/>
          </a:xfrm>
          <a:prstGeom prst="rect">
            <a:avLst/>
          </a:prstGeom>
          <a:gradFill>
            <a:gsLst>
              <a:gs pos="0">
                <a:srgbClr val="A0A1A2"/>
              </a:gs>
              <a:gs pos="0">
                <a:srgbClr val="A0A1A2">
                  <a:tint val="44500"/>
                  <a:satMod val="160000"/>
                </a:srgbClr>
              </a:gs>
              <a:gs pos="100000">
                <a:srgbClr val="A0A1A2">
                  <a:tint val="23500"/>
                  <a:satMod val="160000"/>
                </a:srgbClr>
              </a:gs>
            </a:gsLst>
            <a:lin ang="13500000" scaled="1"/>
          </a:gra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000" b="1" dirty="0">
              <a:solidFill>
                <a:schemeClr val="tx1">
                  <a:lumMod val="75000"/>
                  <a:lumOff val="25000"/>
                </a:schemeClr>
              </a:solidFill>
              <a:latin typeface="Franklin Gothic Book" panose="020B0503020102020204" pitchFamily="34" charset="0"/>
            </a:endParaRPr>
          </a:p>
          <a:p>
            <a:endParaRPr lang="en-US" sz="2000" dirty="0">
              <a:solidFill>
                <a:schemeClr val="tx1">
                  <a:lumMod val="75000"/>
                  <a:lumOff val="25000"/>
                </a:schemeClr>
              </a:solidFill>
              <a:latin typeface="Franklin Gothic Book" panose="020B0503020102020204" pitchFamily="34" charset="0"/>
            </a:endParaRPr>
          </a:p>
          <a:p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Franklin Gothic Book" panose="020B0503020102020204" pitchFamily="34" charset="0"/>
              </a:rPr>
              <a:t>Creating the roadmap that builds:</a:t>
            </a:r>
            <a:endParaRPr lang="en-US" sz="1400" dirty="0">
              <a:solidFill>
                <a:schemeClr val="tx1">
                  <a:lumMod val="75000"/>
                  <a:lumOff val="25000"/>
                </a:schemeClr>
              </a:solidFill>
              <a:latin typeface="Franklin Gothic Book" panose="020B0503020102020204" pitchFamily="34" charset="0"/>
            </a:endParaRPr>
          </a:p>
          <a:p>
            <a:endParaRPr lang="en-US" sz="900" dirty="0">
              <a:solidFill>
                <a:schemeClr val="tx1">
                  <a:lumMod val="75000"/>
                  <a:lumOff val="25000"/>
                </a:schemeClr>
              </a:solidFill>
              <a:latin typeface="Franklin Gothic Book" panose="020B0503020102020204" pitchFamily="34" charset="0"/>
            </a:endParaRPr>
          </a:p>
          <a:p>
            <a:r>
              <a:rPr lang="en-US" i="1" dirty="0">
                <a:solidFill>
                  <a:schemeClr val="tx1">
                    <a:lumMod val="75000"/>
                    <a:lumOff val="25000"/>
                  </a:schemeClr>
                </a:solidFill>
                <a:latin typeface="Franklin Gothic Book" panose="020B0503020102020204" pitchFamily="34" charset="0"/>
              </a:rPr>
              <a:t>Foundation: </a:t>
            </a:r>
          </a:p>
          <a:p>
            <a:pPr marL="350838" indent="225425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Franklin Gothic Book" panose="020B0503020102020204" pitchFamily="34" charset="0"/>
              </a:rPr>
              <a:t>The strategies and goals of the Flying Horse Resort are connected to the larger vision and financial outcomes.</a:t>
            </a:r>
          </a:p>
          <a:p>
            <a:pPr marL="350838" indent="225425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Franklin Gothic Book" panose="020B0503020102020204" pitchFamily="34" charset="0"/>
              </a:rPr>
              <a:t>The steps to be taken or initiatives that support the strategies and anticipated outcomes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Franklin Gothic Book" panose="020B0503020102020204" pitchFamily="34" charset="0"/>
              </a:rPr>
              <a:t>.</a:t>
            </a:r>
          </a:p>
          <a:p>
            <a:pPr marL="350838" indent="225425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Franklin Gothic Book" panose="020B0503020102020204" pitchFamily="34" charset="0"/>
              </a:rPr>
              <a:t>Revenue to Commercial Plan</a:t>
            </a:r>
          </a:p>
          <a:p>
            <a:pPr marL="350838">
              <a:buFont typeface="Arial" panose="020B0604020202020204" pitchFamily="34" charset="0"/>
              <a:buChar char="•"/>
            </a:pPr>
            <a:endParaRPr lang="en-US" sz="1000" dirty="0">
              <a:solidFill>
                <a:schemeClr val="tx1">
                  <a:lumMod val="75000"/>
                  <a:lumOff val="25000"/>
                </a:schemeClr>
              </a:solidFill>
              <a:latin typeface="Franklin Gothic Book" panose="020B0503020102020204" pitchFamily="34" charset="0"/>
            </a:endParaRPr>
          </a:p>
          <a:p>
            <a:pPr marL="7938"/>
            <a:r>
              <a:rPr lang="en-US" i="1" dirty="0">
                <a:solidFill>
                  <a:schemeClr val="tx1">
                    <a:lumMod val="75000"/>
                    <a:lumOff val="25000"/>
                  </a:schemeClr>
                </a:solidFill>
                <a:latin typeface="Franklin Gothic Book" panose="020B0503020102020204" pitchFamily="34" charset="0"/>
              </a:rPr>
              <a:t>Framework: </a:t>
            </a:r>
          </a:p>
          <a:p>
            <a:pPr marL="350838" indent="225425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Franklin Gothic Book" panose="020B0503020102020204" pitchFamily="34" charset="0"/>
              </a:rPr>
              <a:t>Revenue Plan</a:t>
            </a:r>
          </a:p>
          <a:p>
            <a:pPr marL="350838" indent="225425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Franklin Gothic Book" panose="020B0503020102020204" pitchFamily="34" charset="0"/>
              </a:rPr>
              <a:t>Needed programs, development, &amp; 	output </a:t>
            </a:r>
          </a:p>
          <a:p>
            <a:pPr marL="350838" indent="225425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Franklin Gothic Book" panose="020B0503020102020204" pitchFamily="34" charset="0"/>
              </a:rPr>
              <a:t>Technology and tools</a:t>
            </a:r>
          </a:p>
          <a:p>
            <a:pPr marL="350838" indent="225425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Franklin Gothic Book" panose="020B0503020102020204" pitchFamily="34" charset="0"/>
              </a:rPr>
              <a:t>Resource allocation (capacity)</a:t>
            </a:r>
          </a:p>
          <a:p>
            <a:pPr marL="350838">
              <a:buFont typeface="Arial" panose="020B0604020202020204" pitchFamily="34" charset="0"/>
              <a:buChar char="•"/>
            </a:pPr>
            <a:endParaRPr lang="en-US" sz="1000" dirty="0">
              <a:solidFill>
                <a:schemeClr val="tx1">
                  <a:lumMod val="75000"/>
                  <a:lumOff val="25000"/>
                </a:schemeClr>
              </a:solidFill>
              <a:latin typeface="Franklin Gothic Book" panose="020B0503020102020204" pitchFamily="34" charset="0"/>
            </a:endParaRPr>
          </a:p>
          <a:p>
            <a:pPr marL="7938"/>
            <a:r>
              <a:rPr lang="en-US" i="1" dirty="0">
                <a:solidFill>
                  <a:schemeClr val="tx1">
                    <a:lumMod val="75000"/>
                    <a:lumOff val="25000"/>
                  </a:schemeClr>
                </a:solidFill>
                <a:latin typeface="Franklin Gothic Book" panose="020B0503020102020204" pitchFamily="34" charset="0"/>
              </a:rPr>
              <a:t>Focus: </a:t>
            </a:r>
          </a:p>
          <a:p>
            <a:pPr marL="350838" indent="225425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Franklin Gothic Book" panose="020B0503020102020204" pitchFamily="34" charset="0"/>
              </a:rPr>
              <a:t>Milestones</a:t>
            </a:r>
          </a:p>
          <a:p>
            <a:pPr marL="350838" indent="225425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Franklin Gothic Book" panose="020B0503020102020204" pitchFamily="34" charset="0"/>
              </a:rPr>
              <a:t>Stakeholder Engagement</a:t>
            </a:r>
          </a:p>
          <a:p>
            <a:pPr marL="350838" indent="225425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Franklin Gothic Book" panose="020B0503020102020204" pitchFamily="34" charset="0"/>
              </a:rPr>
              <a:t>Advised KPI and Metrics</a:t>
            </a:r>
          </a:p>
          <a:p>
            <a:pPr marL="990575" lvl="1" indent="-380990">
              <a:buFont typeface="Arial" panose="020B0604020202020204" pitchFamily="34" charset="0"/>
              <a:buChar char="•"/>
            </a:pPr>
            <a:endParaRPr lang="en-US" dirty="0">
              <a:solidFill>
                <a:schemeClr val="tx1">
                  <a:lumMod val="75000"/>
                  <a:lumOff val="25000"/>
                </a:schemeClr>
              </a:solidFill>
              <a:latin typeface="Franklin Gothic Book" panose="020B0503020102020204" pitchFamily="34" charset="0"/>
            </a:endParaRPr>
          </a:p>
          <a:p>
            <a:pPr marL="380990" indent="-380990">
              <a:buFont typeface="Arial" panose="020B0604020202020204" pitchFamily="34" charset="0"/>
              <a:buChar char="•"/>
            </a:pPr>
            <a:endParaRPr lang="en-US" sz="2133" dirty="0">
              <a:solidFill>
                <a:schemeClr val="tx1">
                  <a:lumMod val="75000"/>
                  <a:lumOff val="25000"/>
                </a:schemeClr>
              </a:solidFill>
              <a:latin typeface="Franklin Gothic Book" panose="020B0503020102020204" pitchFamily="34" charset="0"/>
            </a:endParaRP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E0DB6637-E372-7E4D-8FB9-847DAB44A468}"/>
              </a:ext>
            </a:extLst>
          </p:cNvPr>
          <p:cNvSpPr/>
          <p:nvPr/>
        </p:nvSpPr>
        <p:spPr>
          <a:xfrm>
            <a:off x="8970423" y="1488928"/>
            <a:ext cx="2804160" cy="743944"/>
          </a:xfrm>
          <a:prstGeom prst="roundRect">
            <a:avLst/>
          </a:prstGeom>
          <a:noFill/>
          <a:ln>
            <a:solidFill>
              <a:srgbClr val="B5237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287925" rtlCol="0" anchor="t"/>
          <a:lstStyle/>
          <a:p>
            <a:pPr algn="ctr"/>
            <a:endParaRPr lang="en-US" sz="2800" b="1" u="sng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A0A1A2"/>
              </a:highlight>
              <a:latin typeface="Franklin Gothic Book" panose="020B05030201020202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884D4CE-146A-CF4D-9F45-4D48DEB60CFE}"/>
              </a:ext>
            </a:extLst>
          </p:cNvPr>
          <p:cNvSpPr txBox="1"/>
          <p:nvPr/>
        </p:nvSpPr>
        <p:spPr>
          <a:xfrm>
            <a:off x="9649925" y="776124"/>
            <a:ext cx="128272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>
                <a:latin typeface="Franklin Gothic Book" panose="020B0503020102020204" pitchFamily="34" charset="0"/>
              </a:rPr>
              <a:t>Timeline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CF2E060-97C8-E341-BEBD-E9D0A1DE90BA}"/>
              </a:ext>
            </a:extLst>
          </p:cNvPr>
          <p:cNvSpPr txBox="1"/>
          <p:nvPr/>
        </p:nvSpPr>
        <p:spPr>
          <a:xfrm>
            <a:off x="9587845" y="2880846"/>
            <a:ext cx="156389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>
                <a:latin typeface="Franklin Gothic Book" panose="020B0503020102020204" pitchFamily="34" charset="0"/>
              </a:rPr>
              <a:t>Kate &amp; Co </a:t>
            </a:r>
          </a:p>
          <a:p>
            <a:pPr algn="ctr"/>
            <a:r>
              <a:rPr lang="en-US" sz="2400" dirty="0">
                <a:latin typeface="Franklin Gothic Book" panose="020B0503020102020204" pitchFamily="34" charset="0"/>
              </a:rPr>
              <a:t>Team</a:t>
            </a: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4B98DEA1-E7F7-B94C-878A-13AE055E883F}"/>
              </a:ext>
            </a:extLst>
          </p:cNvPr>
          <p:cNvSpPr/>
          <p:nvPr/>
        </p:nvSpPr>
        <p:spPr>
          <a:xfrm>
            <a:off x="8967711" y="2939762"/>
            <a:ext cx="2804160" cy="743944"/>
          </a:xfrm>
          <a:prstGeom prst="roundRect">
            <a:avLst/>
          </a:prstGeom>
          <a:noFill/>
          <a:ln>
            <a:solidFill>
              <a:srgbClr val="B5237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287925" rtlCol="0" anchor="t"/>
          <a:lstStyle/>
          <a:p>
            <a:pPr algn="ctr"/>
            <a:endParaRPr lang="en-US" sz="2800" b="1" u="sng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A0A1A2"/>
              </a:highlight>
              <a:latin typeface="Franklin Gothic Book" panose="020B0503020102020204" pitchFamily="34" charset="0"/>
            </a:endParaRP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AAB0881C-2B13-D046-8B0B-41BA9EED39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29261" y="4195559"/>
            <a:ext cx="920857" cy="1052409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F5930BCD-F971-6944-9F84-1E88AF015B53}"/>
              </a:ext>
            </a:extLst>
          </p:cNvPr>
          <p:cNvSpPr txBox="1"/>
          <p:nvPr/>
        </p:nvSpPr>
        <p:spPr>
          <a:xfrm>
            <a:off x="8809248" y="5371740"/>
            <a:ext cx="10823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Bradley Hand" pitchFamily="2" charset="77"/>
              </a:rPr>
              <a:t>Kate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A4D91AC-C545-360E-1683-55283B936C0B}"/>
              </a:ext>
            </a:extLst>
          </p:cNvPr>
          <p:cNvSpPr txBox="1"/>
          <p:nvPr/>
        </p:nvSpPr>
        <p:spPr>
          <a:xfrm>
            <a:off x="11064582" y="5348253"/>
            <a:ext cx="10823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Fave Script Bold Pro" panose="020F0502020204030204" pitchFamily="34" charset="0"/>
                <a:cs typeface="Fave Script Bold Pro" panose="020F0502020204030204" pitchFamily="34" charset="0"/>
              </a:rPr>
              <a:t>Sharla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425280C-F7B6-3425-B655-39E44179AF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2595" y="4151804"/>
            <a:ext cx="1139917" cy="1139917"/>
          </a:xfrm>
          <a:prstGeom prst="rect">
            <a:avLst/>
          </a:prstGeom>
        </p:spPr>
      </p:pic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AE9C475D-890B-B6EE-AE06-9A74EC5D698D}"/>
              </a:ext>
            </a:extLst>
          </p:cNvPr>
          <p:cNvSpPr txBox="1">
            <a:spLocks/>
          </p:cNvSpPr>
          <p:nvPr/>
        </p:nvSpPr>
        <p:spPr>
          <a:xfrm>
            <a:off x="8922726" y="6503763"/>
            <a:ext cx="3224189" cy="328295"/>
          </a:xfrm>
          <a:prstGeom prst="rect">
            <a:avLst/>
          </a:prstGeom>
        </p:spPr>
        <p:txBody>
          <a:bodyPr vert="horz" lIns="121920" tIns="60960" rIns="121920" bIns="60960" rtlCol="0" anchor="ctr"/>
          <a:lstStyle>
            <a:defPPr>
              <a:defRPr lang="en-US"/>
            </a:defPPr>
            <a:lvl1pPr marL="0" algn="r" defTabSz="1219170" rtl="0" eaLnBrk="1" latinLnBrk="0" hangingPunct="1">
              <a:defRPr sz="1600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B8111B1-F5BB-486D-8B3C-017EE72F0AF7}" type="slidenum">
              <a:rPr lang="en-US" sz="1000" smtClean="0"/>
              <a:pPr/>
              <a:t>7</a:t>
            </a:fld>
            <a:endParaRPr lang="en-US" sz="1000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4E1CFE3C-7250-EFC8-92A8-4585529104FC}"/>
              </a:ext>
            </a:extLst>
          </p:cNvPr>
          <p:cNvSpPr txBox="1">
            <a:spLocks/>
          </p:cNvSpPr>
          <p:nvPr/>
        </p:nvSpPr>
        <p:spPr>
          <a:xfrm>
            <a:off x="0" y="230457"/>
            <a:ext cx="12192000" cy="43088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dirty="0">
                <a:solidFill>
                  <a:schemeClr val="tx1">
                    <a:lumMod val="65000"/>
                    <a:lumOff val="35000"/>
                  </a:schemeClr>
                </a:solidFill>
                <a:latin typeface="Franklin Gothic Book" panose="020B0503020102020204" pitchFamily="34" charset="0"/>
              </a:rPr>
              <a:t>2 – Insight to Execution</a:t>
            </a:r>
            <a:r>
              <a:rPr lang="en-US" sz="3200" dirty="0">
                <a:solidFill>
                  <a:srgbClr val="B52372"/>
                </a:solidFill>
                <a:latin typeface="Franklin Gothic Book" panose="020B0503020102020204" pitchFamily="34" charset="0"/>
              </a:rPr>
              <a:t>| Operational Plan</a:t>
            </a:r>
          </a:p>
        </p:txBody>
      </p:sp>
      <p:sp>
        <p:nvSpPr>
          <p:cNvPr id="11" name="Freeform 5">
            <a:extLst>
              <a:ext uri="{FF2B5EF4-FFF2-40B4-BE49-F238E27FC236}">
                <a16:creationId xmlns:a16="http://schemas.microsoft.com/office/drawing/2014/main" id="{0BFC2805-FC68-5A6B-6EC8-BA917AB215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5135" y="113310"/>
            <a:ext cx="1182624" cy="1182624"/>
          </a:xfrm>
          <a:custGeom>
            <a:avLst/>
            <a:gdLst>
              <a:gd name="T0" fmla="*/ 1376 w 2753"/>
              <a:gd name="T1" fmla="*/ 0 h 2752"/>
              <a:gd name="T2" fmla="*/ 1376 w 2753"/>
              <a:gd name="T3" fmla="*/ 0 h 2752"/>
              <a:gd name="T4" fmla="*/ 2752 w 2753"/>
              <a:gd name="T5" fmla="*/ 1376 h 2752"/>
              <a:gd name="T6" fmla="*/ 2752 w 2753"/>
              <a:gd name="T7" fmla="*/ 1376 h 2752"/>
              <a:gd name="T8" fmla="*/ 1376 w 2753"/>
              <a:gd name="T9" fmla="*/ 2751 h 2752"/>
              <a:gd name="T10" fmla="*/ 1376 w 2753"/>
              <a:gd name="T11" fmla="*/ 2751 h 2752"/>
              <a:gd name="T12" fmla="*/ 0 w 2753"/>
              <a:gd name="T13" fmla="*/ 1376 h 2752"/>
              <a:gd name="T14" fmla="*/ 0 w 2753"/>
              <a:gd name="T15" fmla="*/ 1376 h 2752"/>
              <a:gd name="T16" fmla="*/ 1376 w 2753"/>
              <a:gd name="T17" fmla="*/ 0 h 27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753" h="2752">
                <a:moveTo>
                  <a:pt x="1376" y="0"/>
                </a:moveTo>
                <a:lnTo>
                  <a:pt x="1376" y="0"/>
                </a:lnTo>
                <a:cubicBezTo>
                  <a:pt x="2137" y="0"/>
                  <a:pt x="2752" y="616"/>
                  <a:pt x="2752" y="1376"/>
                </a:cubicBezTo>
                <a:lnTo>
                  <a:pt x="2752" y="1376"/>
                </a:lnTo>
                <a:cubicBezTo>
                  <a:pt x="2752" y="2135"/>
                  <a:pt x="2137" y="2751"/>
                  <a:pt x="1376" y="2751"/>
                </a:cubicBezTo>
                <a:lnTo>
                  <a:pt x="1376" y="2751"/>
                </a:lnTo>
                <a:cubicBezTo>
                  <a:pt x="616" y="2751"/>
                  <a:pt x="0" y="2135"/>
                  <a:pt x="0" y="1376"/>
                </a:cubicBezTo>
                <a:lnTo>
                  <a:pt x="0" y="1376"/>
                </a:lnTo>
                <a:cubicBezTo>
                  <a:pt x="0" y="616"/>
                  <a:pt x="616" y="0"/>
                  <a:pt x="1376" y="0"/>
                </a:cubicBezTo>
              </a:path>
            </a:pathLst>
          </a:custGeom>
          <a:solidFill>
            <a:schemeClr val="bg1"/>
          </a:solidFill>
          <a:ln w="76200">
            <a:solidFill>
              <a:schemeClr val="tx1">
                <a:lumMod val="65000"/>
                <a:lumOff val="35000"/>
              </a:schemeClr>
            </a:solidFill>
          </a:ln>
          <a:effectLst/>
        </p:spPr>
        <p:txBody>
          <a:bodyPr wrap="none" anchor="ctr"/>
          <a:lstStyle/>
          <a:p>
            <a:endParaRPr lang="en-US" sz="3265" dirty="0"/>
          </a:p>
        </p:txBody>
      </p:sp>
      <p:sp>
        <p:nvSpPr>
          <p:cNvPr id="2" name="Freeform 5">
            <a:extLst>
              <a:ext uri="{FF2B5EF4-FFF2-40B4-BE49-F238E27FC236}">
                <a16:creationId xmlns:a16="http://schemas.microsoft.com/office/drawing/2014/main" id="{0B91B71F-F28E-BB99-4DAC-31F27A3545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5135" y="113310"/>
            <a:ext cx="1182624" cy="1182624"/>
          </a:xfrm>
          <a:custGeom>
            <a:avLst/>
            <a:gdLst>
              <a:gd name="T0" fmla="*/ 1376 w 2753"/>
              <a:gd name="T1" fmla="*/ 0 h 2752"/>
              <a:gd name="T2" fmla="*/ 1376 w 2753"/>
              <a:gd name="T3" fmla="*/ 0 h 2752"/>
              <a:gd name="T4" fmla="*/ 2752 w 2753"/>
              <a:gd name="T5" fmla="*/ 1376 h 2752"/>
              <a:gd name="T6" fmla="*/ 2752 w 2753"/>
              <a:gd name="T7" fmla="*/ 1376 h 2752"/>
              <a:gd name="T8" fmla="*/ 1376 w 2753"/>
              <a:gd name="T9" fmla="*/ 2751 h 2752"/>
              <a:gd name="T10" fmla="*/ 1376 w 2753"/>
              <a:gd name="T11" fmla="*/ 2751 h 2752"/>
              <a:gd name="T12" fmla="*/ 0 w 2753"/>
              <a:gd name="T13" fmla="*/ 1376 h 2752"/>
              <a:gd name="T14" fmla="*/ 0 w 2753"/>
              <a:gd name="T15" fmla="*/ 1376 h 2752"/>
              <a:gd name="T16" fmla="*/ 1376 w 2753"/>
              <a:gd name="T17" fmla="*/ 0 h 27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753" h="2752">
                <a:moveTo>
                  <a:pt x="1376" y="0"/>
                </a:moveTo>
                <a:lnTo>
                  <a:pt x="1376" y="0"/>
                </a:lnTo>
                <a:cubicBezTo>
                  <a:pt x="2137" y="0"/>
                  <a:pt x="2752" y="616"/>
                  <a:pt x="2752" y="1376"/>
                </a:cubicBezTo>
                <a:lnTo>
                  <a:pt x="2752" y="1376"/>
                </a:lnTo>
                <a:cubicBezTo>
                  <a:pt x="2752" y="2135"/>
                  <a:pt x="2137" y="2751"/>
                  <a:pt x="1376" y="2751"/>
                </a:cubicBezTo>
                <a:lnTo>
                  <a:pt x="1376" y="2751"/>
                </a:lnTo>
                <a:cubicBezTo>
                  <a:pt x="616" y="2751"/>
                  <a:pt x="0" y="2135"/>
                  <a:pt x="0" y="1376"/>
                </a:cubicBezTo>
                <a:lnTo>
                  <a:pt x="0" y="1376"/>
                </a:lnTo>
                <a:cubicBezTo>
                  <a:pt x="0" y="616"/>
                  <a:pt x="616" y="0"/>
                  <a:pt x="1376" y="0"/>
                </a:cubicBezTo>
              </a:path>
            </a:pathLst>
          </a:custGeom>
          <a:solidFill>
            <a:schemeClr val="bg1"/>
          </a:solidFill>
          <a:ln w="76200">
            <a:solidFill>
              <a:schemeClr val="tx1">
                <a:lumMod val="65000"/>
                <a:lumOff val="35000"/>
              </a:schemeClr>
            </a:solidFill>
          </a:ln>
          <a:effectLst/>
        </p:spPr>
        <p:txBody>
          <a:bodyPr wrap="none" anchor="ctr"/>
          <a:lstStyle/>
          <a:p>
            <a:endParaRPr lang="en-US" sz="3265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5143C1B-409B-3808-4F4E-56C05E2E5C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0120" y="325091"/>
            <a:ext cx="1015596" cy="65715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E5E0F6D-E111-E83F-9130-7794AB077A3D}"/>
              </a:ext>
            </a:extLst>
          </p:cNvPr>
          <p:cNvSpPr txBox="1"/>
          <p:nvPr/>
        </p:nvSpPr>
        <p:spPr>
          <a:xfrm>
            <a:off x="9583653" y="6206245"/>
            <a:ext cx="13489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Ink Free" panose="03080402000500000000" pitchFamily="66" charset="0"/>
              </a:rPr>
              <a:t>Tristan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38638AF-752D-B876-4C45-9C9CAE1C06AB}"/>
              </a:ext>
            </a:extLst>
          </p:cNvPr>
          <p:cNvSpPr txBox="1"/>
          <p:nvPr/>
        </p:nvSpPr>
        <p:spPr>
          <a:xfrm>
            <a:off x="9619717" y="1599606"/>
            <a:ext cx="126105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Franklin Gothic Book" panose="020B0503020102020204" pitchFamily="34" charset="0"/>
              </a:rPr>
              <a:t>3 weeks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30DB382-63A6-C9FB-5C35-83B1D4A1566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75994" y="4750054"/>
            <a:ext cx="576514" cy="1537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01084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3C41F7-3812-E930-A1C0-48EC54CFFF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47">
            <a:extLst>
              <a:ext uri="{FF2B5EF4-FFF2-40B4-BE49-F238E27FC236}">
                <a16:creationId xmlns:a16="http://schemas.microsoft.com/office/drawing/2014/main" id="{52999398-F60C-ACB9-6310-937D269ED9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749064" tIns="952200" rIns="1091856" bIns="177744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dirty="0"/>
          </a:p>
        </p:txBody>
      </p:sp>
      <p:sp>
        <p:nvSpPr>
          <p:cNvPr id="48" name="Rectangle 825">
            <a:extLst>
              <a:ext uri="{FF2B5EF4-FFF2-40B4-BE49-F238E27FC236}">
                <a16:creationId xmlns:a16="http://schemas.microsoft.com/office/drawing/2014/main" id="{CB22DADA-1D63-79A8-992A-4B36DE4BBF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922725" y="457200"/>
            <a:ext cx="4173538" cy="4171950"/>
          </a:xfrm>
          <a:prstGeom prst="rect">
            <a:avLst/>
          </a:prstGeom>
          <a:solidFill>
            <a:srgbClr val="9ABE34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49" name="Line 826">
            <a:extLst>
              <a:ext uri="{FF2B5EF4-FFF2-40B4-BE49-F238E27FC236}">
                <a16:creationId xmlns:a16="http://schemas.microsoft.com/office/drawing/2014/main" id="{BEEA1052-592D-872D-40F4-12584098BE6F}"/>
              </a:ext>
            </a:extLst>
          </p:cNvPr>
          <p:cNvSpPr>
            <a:spLocks noChangeShapeType="1"/>
          </p:cNvSpPr>
          <p:nvPr/>
        </p:nvSpPr>
        <p:spPr bwMode="auto">
          <a:xfrm>
            <a:off x="0" y="8801100"/>
            <a:ext cx="97075625" cy="0"/>
          </a:xfrm>
          <a:prstGeom prst="line">
            <a:avLst/>
          </a:prstGeom>
          <a:noFill/>
          <a:ln w="3175">
            <a:solidFill>
              <a:srgbClr val="FACC0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4A0CA3F-501D-7A68-F9F7-4F6608301C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Insight to Execution- Outline of effort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2A9B4C5-6A53-A99B-4B59-79161BA7A640}"/>
              </a:ext>
            </a:extLst>
          </p:cNvPr>
          <p:cNvSpPr txBox="1"/>
          <p:nvPr/>
        </p:nvSpPr>
        <p:spPr>
          <a:xfrm>
            <a:off x="575050" y="3957207"/>
            <a:ext cx="10913151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marR="0" algn="ctr">
              <a:spcBef>
                <a:spcPts val="0"/>
              </a:spcBef>
              <a:spcAft>
                <a:spcPts val="0"/>
              </a:spcAft>
            </a:pPr>
            <a:r>
              <a:rPr lang="en-US" sz="1400" b="1" u="sng" dirty="0">
                <a:effectLst/>
                <a:latin typeface="Franklin Gothic Book" panose="020B0503020102020204" pitchFamily="34" charset="0"/>
                <a:ea typeface="Cambria" panose="02040503050406030204" pitchFamily="18" charset="0"/>
                <a:cs typeface="Times New Roman" panose="02020603050405020304" pitchFamily="18" charset="0"/>
              </a:rPr>
              <a:t>Week 8 </a:t>
            </a:r>
            <a:r>
              <a:rPr lang="en-US" sz="1600" b="1" u="sng" dirty="0">
                <a:effectLst/>
                <a:latin typeface="Franklin Gothic Book" panose="020B0503020102020204" pitchFamily="34" charset="0"/>
                <a:ea typeface="Cambria" panose="02040503050406030204" pitchFamily="18" charset="0"/>
                <a:cs typeface="Times New Roman" panose="02020603050405020304" pitchFamily="18" charset="0"/>
              </a:rPr>
              <a:t>:</a:t>
            </a:r>
          </a:p>
          <a:p>
            <a:pPr marL="228600" marR="0" algn="ctr">
              <a:spcBef>
                <a:spcPts val="0"/>
              </a:spcBef>
              <a:spcAft>
                <a:spcPts val="0"/>
              </a:spcAft>
            </a:pPr>
            <a:r>
              <a:rPr lang="en-US" sz="1400" i="1" dirty="0">
                <a:solidFill>
                  <a:srgbClr val="B51072"/>
                </a:solidFill>
                <a:latin typeface="Franklin Gothic Book" panose="020B0503020102020204" pitchFamily="34" charset="0"/>
                <a:ea typeface="Cambria" panose="02040503050406030204" pitchFamily="18" charset="0"/>
                <a:cs typeface="Times New Roman" panose="02020603050405020304" pitchFamily="18" charset="0"/>
              </a:rPr>
              <a:t>Presenting the Plan</a:t>
            </a:r>
            <a:endParaRPr lang="en-US" sz="1200" i="1" dirty="0">
              <a:solidFill>
                <a:srgbClr val="B51072"/>
              </a:solidFill>
              <a:effectLst/>
              <a:latin typeface="Franklin Gothic Book" panose="020B0503020102020204" pitchFamily="34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228600" marR="0" algn="ctr">
              <a:spcBef>
                <a:spcPts val="0"/>
              </a:spcBef>
              <a:spcAft>
                <a:spcPts val="0"/>
              </a:spcAft>
            </a:pPr>
            <a:endParaRPr lang="en-US" sz="1600" dirty="0">
              <a:effectLst/>
              <a:latin typeface="Franklin Gothic Book" panose="020B0503020102020204" pitchFamily="34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228600" marR="0">
              <a:spcBef>
                <a:spcPts val="0"/>
              </a:spcBef>
              <a:spcAft>
                <a:spcPts val="0"/>
              </a:spcAft>
            </a:pPr>
            <a:r>
              <a:rPr lang="en-US" sz="1200" b="1" dirty="0">
                <a:effectLst/>
                <a:latin typeface="Franklin Gothic Book" panose="020B0503020102020204" pitchFamily="34" charset="0"/>
                <a:ea typeface="Cambria" panose="02040503050406030204" pitchFamily="18" charset="0"/>
                <a:cs typeface="Times New Roman" panose="02020603050405020304" pitchFamily="18" charset="0"/>
              </a:rPr>
              <a:t>Focus: Vision-to-Value Roadmap </a:t>
            </a:r>
            <a:r>
              <a:rPr lang="en-US" sz="1200" b="1" dirty="0">
                <a:solidFill>
                  <a:srgbClr val="D51067"/>
                </a:solidFill>
                <a:effectLst/>
                <a:latin typeface="Franklin Gothic Book" panose="020B0503020102020204" pitchFamily="34" charset="0"/>
                <a:ea typeface="Cambria" panose="02040503050406030204" pitchFamily="18" charset="0"/>
                <a:cs typeface="Times New Roman" panose="02020603050405020304" pitchFamily="18" charset="0"/>
              </a:rPr>
              <a:t>Presentation</a:t>
            </a:r>
            <a:r>
              <a:rPr lang="en-US" sz="1200" b="1" dirty="0">
                <a:effectLst/>
                <a:latin typeface="Franklin Gothic Book" panose="020B0503020102020204" pitchFamily="34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100" b="1" i="1" dirty="0">
                <a:effectLst/>
                <a:latin typeface="Franklin Gothic Book" panose="020B0503020102020204" pitchFamily="34" charset="0"/>
                <a:ea typeface="Cambria" panose="02040503050406030204" pitchFamily="18" charset="0"/>
                <a:cs typeface="Times New Roman" panose="02020603050405020304" pitchFamily="18" charset="0"/>
              </a:rPr>
              <a:t>(implementation plan)</a:t>
            </a:r>
          </a:p>
          <a:p>
            <a:pPr marL="228600" marR="0">
              <a:spcBef>
                <a:spcPts val="0"/>
              </a:spcBef>
              <a:spcAft>
                <a:spcPts val="0"/>
              </a:spcAft>
            </a:pPr>
            <a:r>
              <a:rPr lang="en-US" sz="1200" dirty="0">
                <a:effectLst/>
                <a:latin typeface="Franklin Gothic Book" panose="020B0503020102020204" pitchFamily="34" charset="0"/>
                <a:ea typeface="Cambria" panose="02040503050406030204" pitchFamily="18" charset="0"/>
                <a:cs typeface="Times New Roman" panose="02020603050405020304" pitchFamily="18" charset="0"/>
              </a:rPr>
              <a:t>Outlines actions, training, support, </a:t>
            </a:r>
            <a:r>
              <a:rPr lang="en-US" sz="1200" dirty="0">
                <a:latin typeface="Franklin Gothic Book" panose="020B0503020102020204" pitchFamily="34" charset="0"/>
                <a:ea typeface="Cambria" panose="02040503050406030204" pitchFamily="18" charset="0"/>
                <a:cs typeface="Times New Roman" panose="02020603050405020304" pitchFamily="18" charset="0"/>
              </a:rPr>
              <a:t>through the lens of Foundation (what do we need to put into place in terms of people, approach), Framework (resources and tools), Focus (governance, cadence, accountability) </a:t>
            </a:r>
            <a:r>
              <a:rPr lang="en-US" sz="1200" dirty="0">
                <a:effectLst/>
                <a:latin typeface="Franklin Gothic Book" panose="020B0503020102020204" pitchFamily="34" charset="0"/>
                <a:ea typeface="Cambria" panose="02040503050406030204" pitchFamily="18" charset="0"/>
                <a:cs typeface="Times New Roman" panose="02020603050405020304" pitchFamily="18" charset="0"/>
              </a:rPr>
              <a:t>of materials and needed support documentation. Prepare documentation that can guide further implementation steps.</a:t>
            </a:r>
          </a:p>
          <a:p>
            <a:pPr marL="228600" marR="0">
              <a:spcBef>
                <a:spcPts val="0"/>
              </a:spcBef>
              <a:spcAft>
                <a:spcPts val="0"/>
              </a:spcAft>
            </a:pPr>
            <a:r>
              <a:rPr lang="en-US" sz="1200" dirty="0">
                <a:effectLst/>
                <a:latin typeface="Franklin Gothic Book" panose="020B0503020102020204" pitchFamily="34" charset="0"/>
                <a:ea typeface="Cambria" panose="02040503050406030204" pitchFamily="18" charset="0"/>
                <a:cs typeface="Times New Roman" panose="02020603050405020304" pitchFamily="18" charset="0"/>
              </a:rPr>
              <a:t> </a:t>
            </a:r>
          </a:p>
          <a:p>
            <a:pPr>
              <a:tabLst>
                <a:tab pos="223838" algn="l"/>
                <a:tab pos="336550" algn="l"/>
              </a:tabLst>
            </a:pPr>
            <a:r>
              <a:rPr lang="en-US" sz="1200" i="1" dirty="0">
                <a:solidFill>
                  <a:srgbClr val="B52372"/>
                </a:solidFill>
                <a:latin typeface="Franklin Gothic Book" panose="020B0503020102020204" pitchFamily="34" charset="0"/>
                <a:ea typeface="Cambria" panose="02040503050406030204" pitchFamily="18" charset="0"/>
                <a:cs typeface="Times New Roman" panose="02020603050405020304" pitchFamily="18" charset="0"/>
              </a:rPr>
              <a:t>	</a:t>
            </a:r>
            <a:r>
              <a:rPr lang="en-US" sz="1200" i="1" dirty="0">
                <a:solidFill>
                  <a:srgbClr val="B52372"/>
                </a:solidFill>
                <a:effectLst/>
                <a:latin typeface="Franklin Gothic Book" panose="020B0503020102020204" pitchFamily="34" charset="0"/>
                <a:ea typeface="Cambria" panose="02040503050406030204" pitchFamily="18" charset="0"/>
                <a:cs typeface="Times New Roman" panose="02020603050405020304" pitchFamily="18" charset="0"/>
              </a:rPr>
              <a:t>Flying Horses Resort Team:  </a:t>
            </a:r>
            <a:endParaRPr lang="en-US" sz="1200" dirty="0">
              <a:effectLst/>
              <a:latin typeface="Franklin Gothic Book" panose="020B0503020102020204" pitchFamily="34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1200" dirty="0">
                <a:solidFill>
                  <a:srgbClr val="B51072"/>
                </a:solidFill>
                <a:effectLst/>
                <a:latin typeface="Franklin Gothic Book" panose="020B0503020102020204" pitchFamily="34" charset="0"/>
                <a:ea typeface="Cambria" panose="02040503050406030204" pitchFamily="18" charset="0"/>
                <a:cs typeface="Times New Roman" panose="02020603050405020304" pitchFamily="18" charset="0"/>
              </a:rPr>
              <a:t>	2 hours Glenn and Wendy  review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200" dirty="0">
                <a:effectLst/>
                <a:latin typeface="Franklin Gothic Book" panose="020B0503020102020204" pitchFamily="34" charset="0"/>
                <a:ea typeface="Cambria" panose="02040503050406030204" pitchFamily="18" charset="0"/>
                <a:cs typeface="Times New Roman" panose="02020603050405020304" pitchFamily="18" charset="0"/>
              </a:rPr>
              <a:t> </a:t>
            </a:r>
          </a:p>
          <a:p>
            <a:pPr marL="228600" marR="0">
              <a:spcBef>
                <a:spcPts val="0"/>
              </a:spcBef>
              <a:spcAft>
                <a:spcPts val="0"/>
              </a:spcAft>
            </a:pPr>
            <a:r>
              <a:rPr lang="en-US" sz="1200" i="1" dirty="0">
                <a:solidFill>
                  <a:srgbClr val="B52372"/>
                </a:solidFill>
                <a:effectLst/>
                <a:latin typeface="Franklin Gothic Book" panose="020B0503020102020204" pitchFamily="34" charset="0"/>
                <a:ea typeface="Cambria" panose="02040503050406030204" pitchFamily="18" charset="0"/>
                <a:cs typeface="Times New Roman" panose="02020603050405020304" pitchFamily="18" charset="0"/>
              </a:rPr>
              <a:t>Virtual</a:t>
            </a:r>
            <a:endParaRPr lang="en-US" sz="1200" dirty="0">
              <a:effectLst/>
              <a:latin typeface="Franklin Gothic Book" panose="020B0503020102020204" pitchFamily="34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228600" marR="0" algn="ctr">
              <a:spcBef>
                <a:spcPts val="0"/>
              </a:spcBef>
              <a:spcAft>
                <a:spcPts val="0"/>
              </a:spcAft>
            </a:pPr>
            <a:endParaRPr lang="en-US" sz="1200" dirty="0">
              <a:effectLst/>
              <a:latin typeface="Franklin Gothic Book" panose="020B0503020102020204" pitchFamily="34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" name="officeArt object" descr="Line 840">
            <a:extLst>
              <a:ext uri="{FF2B5EF4-FFF2-40B4-BE49-F238E27FC236}">
                <a16:creationId xmlns:a16="http://schemas.microsoft.com/office/drawing/2014/main" id="{1A07E9ED-7725-AB78-0A44-5F56FCBC4148}"/>
              </a:ext>
            </a:extLst>
          </p:cNvPr>
          <p:cNvCxnSpPr>
            <a:cxnSpLocks/>
          </p:cNvCxnSpPr>
          <p:nvPr/>
        </p:nvCxnSpPr>
        <p:spPr>
          <a:xfrm>
            <a:off x="444289" y="4108706"/>
            <a:ext cx="1405689" cy="0"/>
          </a:xfrm>
          <a:prstGeom prst="line">
            <a:avLst/>
          </a:prstGeom>
          <a:noFill/>
          <a:ln w="48069" cap="flat">
            <a:solidFill>
              <a:srgbClr val="D51067"/>
            </a:solidFill>
            <a:prstDash val="solid"/>
            <a:round/>
          </a:ln>
          <a:effectLst/>
        </p:spPr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8073C8E9-C289-EA09-AF51-8811B37FAE86}"/>
              </a:ext>
            </a:extLst>
          </p:cNvPr>
          <p:cNvSpPr txBox="1"/>
          <p:nvPr/>
        </p:nvSpPr>
        <p:spPr>
          <a:xfrm>
            <a:off x="639424" y="836320"/>
            <a:ext cx="10913151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marR="0" algn="ctr">
              <a:spcBef>
                <a:spcPts val="0"/>
              </a:spcBef>
              <a:spcAft>
                <a:spcPts val="0"/>
              </a:spcAft>
            </a:pPr>
            <a:r>
              <a:rPr lang="en-US" sz="1400" b="1" u="sng" dirty="0">
                <a:effectLst/>
                <a:latin typeface="Franklin Gothic Book" panose="020B0503020102020204" pitchFamily="34" charset="0"/>
                <a:ea typeface="Cambria" panose="02040503050406030204" pitchFamily="18" charset="0"/>
                <a:cs typeface="Times New Roman" panose="02020603050405020304" pitchFamily="18" charset="0"/>
              </a:rPr>
              <a:t>Week </a:t>
            </a:r>
            <a:r>
              <a:rPr lang="en-US" sz="1400" b="1" u="sng" dirty="0">
                <a:latin typeface="Franklin Gothic Book" panose="020B0503020102020204" pitchFamily="34" charset="0"/>
                <a:ea typeface="Cambria" panose="02040503050406030204" pitchFamily="18" charset="0"/>
                <a:cs typeface="Times New Roman" panose="02020603050405020304" pitchFamily="18" charset="0"/>
              </a:rPr>
              <a:t>7</a:t>
            </a:r>
            <a:r>
              <a:rPr lang="en-US" sz="1400" b="1" u="sng" dirty="0">
                <a:effectLst/>
                <a:latin typeface="Franklin Gothic Book" panose="020B0503020102020204" pitchFamily="34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u="sng" dirty="0">
                <a:effectLst/>
                <a:latin typeface="Franklin Gothic Book" panose="020B0503020102020204" pitchFamily="34" charset="0"/>
                <a:ea typeface="Cambria" panose="02040503050406030204" pitchFamily="18" charset="0"/>
                <a:cs typeface="Times New Roman" panose="02020603050405020304" pitchFamily="18" charset="0"/>
              </a:rPr>
              <a:t>:</a:t>
            </a:r>
          </a:p>
          <a:p>
            <a:pPr marL="228600" marR="0" algn="ctr">
              <a:spcBef>
                <a:spcPts val="0"/>
              </a:spcBef>
              <a:spcAft>
                <a:spcPts val="0"/>
              </a:spcAft>
            </a:pPr>
            <a:r>
              <a:rPr lang="en-US" sz="1400" i="1" dirty="0">
                <a:solidFill>
                  <a:srgbClr val="B51072"/>
                </a:solidFill>
                <a:latin typeface="Franklin Gothic Book" panose="020B0503020102020204" pitchFamily="34" charset="0"/>
                <a:ea typeface="Cambria" panose="02040503050406030204" pitchFamily="18" charset="0"/>
                <a:cs typeface="Times New Roman" panose="02020603050405020304" pitchFamily="18" charset="0"/>
              </a:rPr>
              <a:t>Back in the Lab</a:t>
            </a:r>
            <a:endParaRPr lang="en-US" sz="1400" i="1" dirty="0">
              <a:solidFill>
                <a:srgbClr val="B51072"/>
              </a:solidFill>
              <a:effectLst/>
              <a:latin typeface="Franklin Gothic Book" panose="020B0503020102020204" pitchFamily="34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228600" marR="0" algn="ctr">
              <a:spcBef>
                <a:spcPts val="0"/>
              </a:spcBef>
              <a:spcAft>
                <a:spcPts val="0"/>
              </a:spcAft>
            </a:pPr>
            <a:endParaRPr lang="en-US" sz="1600" dirty="0">
              <a:effectLst/>
              <a:latin typeface="Franklin Gothic Book" panose="020B0503020102020204" pitchFamily="34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228600" marR="0">
              <a:spcBef>
                <a:spcPts val="0"/>
              </a:spcBef>
              <a:spcAft>
                <a:spcPts val="0"/>
              </a:spcAft>
            </a:pPr>
            <a:r>
              <a:rPr lang="en-US" sz="1200" b="1" dirty="0">
                <a:effectLst/>
                <a:latin typeface="Franklin Gothic Book" panose="020B0503020102020204" pitchFamily="34" charset="0"/>
                <a:ea typeface="Cambria" panose="02040503050406030204" pitchFamily="18" charset="0"/>
                <a:cs typeface="Times New Roman" panose="02020603050405020304" pitchFamily="18" charset="0"/>
              </a:rPr>
              <a:t>Focus: Vision-to-Value Roadmap </a:t>
            </a:r>
            <a:r>
              <a:rPr lang="en-US" sz="1200" b="1" dirty="0">
                <a:solidFill>
                  <a:srgbClr val="D51067"/>
                </a:solidFill>
                <a:effectLst/>
                <a:latin typeface="Franklin Gothic Book" panose="020B0503020102020204" pitchFamily="34" charset="0"/>
                <a:ea typeface="Cambria" panose="02040503050406030204" pitchFamily="18" charset="0"/>
                <a:cs typeface="Times New Roman" panose="02020603050405020304" pitchFamily="18" charset="0"/>
              </a:rPr>
              <a:t>Build</a:t>
            </a:r>
            <a:r>
              <a:rPr lang="en-US" sz="1200" b="1" dirty="0">
                <a:effectLst/>
                <a:latin typeface="Franklin Gothic Book" panose="020B0503020102020204" pitchFamily="34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100" b="1" i="1" dirty="0">
                <a:effectLst/>
                <a:latin typeface="Franklin Gothic Book" panose="020B0503020102020204" pitchFamily="34" charset="0"/>
                <a:ea typeface="Cambria" panose="02040503050406030204" pitchFamily="18" charset="0"/>
                <a:cs typeface="Times New Roman" panose="02020603050405020304" pitchFamily="18" charset="0"/>
              </a:rPr>
              <a:t>(implementation plan)</a:t>
            </a:r>
          </a:p>
          <a:p>
            <a:pPr marL="228600" marR="0">
              <a:spcBef>
                <a:spcPts val="0"/>
              </a:spcBef>
              <a:spcAft>
                <a:spcPts val="0"/>
              </a:spcAft>
            </a:pPr>
            <a:r>
              <a:rPr lang="en-US" sz="1200" dirty="0">
                <a:effectLst/>
                <a:latin typeface="Franklin Gothic Book" panose="020B0503020102020204" pitchFamily="34" charset="0"/>
                <a:ea typeface="Cambria" panose="02040503050406030204" pitchFamily="18" charset="0"/>
                <a:cs typeface="Times New Roman" panose="02020603050405020304" pitchFamily="18" charset="0"/>
              </a:rPr>
              <a:t>Outlines actions, training, support, </a:t>
            </a:r>
            <a:r>
              <a:rPr lang="en-US" sz="1200" dirty="0">
                <a:latin typeface="Franklin Gothic Book" panose="020B0503020102020204" pitchFamily="34" charset="0"/>
                <a:ea typeface="Cambria" panose="02040503050406030204" pitchFamily="18" charset="0"/>
                <a:cs typeface="Times New Roman" panose="02020603050405020304" pitchFamily="18" charset="0"/>
              </a:rPr>
              <a:t>through the lens of Foundation (what do we need to put into place in terms of people, approach), Framework (resources and tools), Focus (governance, cadence, accountability) </a:t>
            </a:r>
            <a:r>
              <a:rPr lang="en-US" sz="1200" dirty="0">
                <a:effectLst/>
                <a:latin typeface="Franklin Gothic Book" panose="020B0503020102020204" pitchFamily="34" charset="0"/>
                <a:ea typeface="Cambria" panose="02040503050406030204" pitchFamily="18" charset="0"/>
                <a:cs typeface="Times New Roman" panose="02020603050405020304" pitchFamily="18" charset="0"/>
              </a:rPr>
              <a:t>of materials and needed support documentation. Prepare documentation that can guide further implementation steps.</a:t>
            </a:r>
          </a:p>
          <a:p>
            <a:pPr marL="228600" marR="0">
              <a:spcBef>
                <a:spcPts val="0"/>
              </a:spcBef>
              <a:spcAft>
                <a:spcPts val="0"/>
              </a:spcAft>
            </a:pPr>
            <a:endParaRPr lang="en-US" sz="1200" dirty="0">
              <a:latin typeface="Franklin Gothic Book" panose="020B0503020102020204" pitchFamily="34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230188" lvl="1"/>
            <a:r>
              <a:rPr lang="en-US" sz="1200" b="1" dirty="0">
                <a:effectLst/>
                <a:latin typeface="Franklin Gothic Book" panose="020B0503020102020204" pitchFamily="34" charset="0"/>
                <a:ea typeface="Cambria" panose="02040503050406030204" pitchFamily="18" charset="0"/>
                <a:cs typeface="Times New Roman" panose="02020603050405020304" pitchFamily="18" charset="0"/>
              </a:rPr>
              <a:t>What is being done with KB &amp; Co: </a:t>
            </a:r>
          </a:p>
          <a:p>
            <a:pPr marL="687388" lvl="2" indent="-225425">
              <a:buFont typeface="Arial" panose="020B0604020202020204" pitchFamily="34" charset="0"/>
              <a:buChar char="•"/>
            </a:pPr>
            <a:r>
              <a:rPr lang="en-US" sz="1200" dirty="0">
                <a:effectLst/>
                <a:latin typeface="Franklin Gothic Book" panose="020B0503020102020204" pitchFamily="34" charset="0"/>
                <a:ea typeface="Cambria" panose="02040503050406030204" pitchFamily="18" charset="0"/>
                <a:cs typeface="Times New Roman" panose="02020603050405020304" pitchFamily="18" charset="0"/>
              </a:rPr>
              <a:t>Heads down working, focused and coffee breaks</a:t>
            </a:r>
          </a:p>
          <a:p>
            <a:pPr marL="228600" marR="0">
              <a:spcBef>
                <a:spcPts val="0"/>
              </a:spcBef>
              <a:spcAft>
                <a:spcPts val="0"/>
              </a:spcAft>
            </a:pPr>
            <a:endParaRPr lang="en-US" sz="1200" dirty="0">
              <a:effectLst/>
              <a:latin typeface="Franklin Gothic Book" panose="020B0503020102020204" pitchFamily="34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228600" marR="0">
              <a:spcBef>
                <a:spcPts val="0"/>
              </a:spcBef>
              <a:spcAft>
                <a:spcPts val="0"/>
              </a:spcAft>
            </a:pPr>
            <a:r>
              <a:rPr lang="en-US" sz="1200" dirty="0">
                <a:effectLst/>
                <a:latin typeface="Franklin Gothic Book" panose="020B0503020102020204" pitchFamily="34" charset="0"/>
                <a:ea typeface="Cambria" panose="02040503050406030204" pitchFamily="18" charset="0"/>
                <a:cs typeface="Times New Roman" panose="02020603050405020304" pitchFamily="18" charset="0"/>
              </a:rPr>
              <a:t> </a:t>
            </a:r>
          </a:p>
          <a:p>
            <a:pPr>
              <a:tabLst>
                <a:tab pos="223838" algn="l"/>
                <a:tab pos="336550" algn="l"/>
              </a:tabLst>
            </a:pPr>
            <a:r>
              <a:rPr lang="en-US" sz="1200" i="1" dirty="0">
                <a:solidFill>
                  <a:srgbClr val="B52372"/>
                </a:solidFill>
                <a:latin typeface="Franklin Gothic Book" panose="020B0503020102020204" pitchFamily="34" charset="0"/>
                <a:ea typeface="Cambria" panose="02040503050406030204" pitchFamily="18" charset="0"/>
                <a:cs typeface="Times New Roman" panose="02020603050405020304" pitchFamily="18" charset="0"/>
              </a:rPr>
              <a:t>	</a:t>
            </a:r>
            <a:r>
              <a:rPr lang="en-US" sz="1200" i="1" dirty="0">
                <a:solidFill>
                  <a:srgbClr val="B52372"/>
                </a:solidFill>
                <a:effectLst/>
                <a:latin typeface="Franklin Gothic Book" panose="020B0503020102020204" pitchFamily="34" charset="0"/>
                <a:ea typeface="Cambria" panose="02040503050406030204" pitchFamily="18" charset="0"/>
                <a:cs typeface="Times New Roman" panose="02020603050405020304" pitchFamily="18" charset="0"/>
              </a:rPr>
              <a:t>Flying Horses Resort Team:  </a:t>
            </a:r>
            <a:endParaRPr lang="en-US" sz="1200" dirty="0">
              <a:effectLst/>
              <a:latin typeface="Franklin Gothic Book" panose="020B0503020102020204" pitchFamily="34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1200" dirty="0">
                <a:solidFill>
                  <a:srgbClr val="B51072"/>
                </a:solidFill>
                <a:effectLst/>
                <a:latin typeface="Franklin Gothic Book" panose="020B0503020102020204" pitchFamily="34" charset="0"/>
                <a:ea typeface="Cambria" panose="02040503050406030204" pitchFamily="18" charset="0"/>
                <a:cs typeface="Times New Roman" panose="02020603050405020304" pitchFamily="18" charset="0"/>
              </a:rPr>
              <a:t>	Nothing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200" dirty="0">
                <a:effectLst/>
                <a:latin typeface="Franklin Gothic Book" panose="020B0503020102020204" pitchFamily="34" charset="0"/>
                <a:ea typeface="Cambria" panose="02040503050406030204" pitchFamily="18" charset="0"/>
                <a:cs typeface="Times New Roman" panose="02020603050405020304" pitchFamily="18" charset="0"/>
              </a:rPr>
              <a:t> </a:t>
            </a:r>
          </a:p>
          <a:p>
            <a:pPr marL="228600" marR="0">
              <a:spcBef>
                <a:spcPts val="0"/>
              </a:spcBef>
              <a:spcAft>
                <a:spcPts val="0"/>
              </a:spcAft>
            </a:pPr>
            <a:r>
              <a:rPr lang="en-US" sz="1200" i="1" dirty="0">
                <a:solidFill>
                  <a:srgbClr val="B52372"/>
                </a:solidFill>
                <a:effectLst/>
                <a:latin typeface="Franklin Gothic Book" panose="020B0503020102020204" pitchFamily="34" charset="0"/>
                <a:ea typeface="Cambria" panose="02040503050406030204" pitchFamily="18" charset="0"/>
                <a:cs typeface="Times New Roman" panose="02020603050405020304" pitchFamily="18" charset="0"/>
              </a:rPr>
              <a:t>Virtual</a:t>
            </a:r>
            <a:endParaRPr lang="en-US" sz="1200" dirty="0">
              <a:effectLst/>
              <a:latin typeface="Franklin Gothic Book" panose="020B0503020102020204" pitchFamily="34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228600" marR="0" algn="ctr">
              <a:spcBef>
                <a:spcPts val="0"/>
              </a:spcBef>
              <a:spcAft>
                <a:spcPts val="0"/>
              </a:spcAft>
            </a:pPr>
            <a:endParaRPr lang="en-US" sz="1200" dirty="0">
              <a:effectLst/>
              <a:latin typeface="Franklin Gothic Book" panose="020B0503020102020204" pitchFamily="34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F90B940-87A3-8DC5-93DC-73551B666723}"/>
              </a:ext>
            </a:extLst>
          </p:cNvPr>
          <p:cNvSpPr txBox="1"/>
          <p:nvPr/>
        </p:nvSpPr>
        <p:spPr>
          <a:xfrm>
            <a:off x="7467600" y="2900793"/>
            <a:ext cx="34725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u="sng" dirty="0">
                <a:solidFill>
                  <a:srgbClr val="0070C0"/>
                </a:solidFill>
              </a:rPr>
              <a:t>Delivered:  April 18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EB33250-135C-EC79-A70B-8116CF8E157B}"/>
              </a:ext>
            </a:extLst>
          </p:cNvPr>
          <p:cNvSpPr txBox="1"/>
          <p:nvPr/>
        </p:nvSpPr>
        <p:spPr>
          <a:xfrm>
            <a:off x="7467599" y="5652348"/>
            <a:ext cx="34725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u="sng" dirty="0">
                <a:solidFill>
                  <a:srgbClr val="0070C0"/>
                </a:solidFill>
              </a:rPr>
              <a:t>Review week of April 21</a:t>
            </a:r>
          </a:p>
        </p:txBody>
      </p:sp>
    </p:spTree>
    <p:extLst>
      <p:ext uri="{BB962C8B-B14F-4D97-AF65-F5344CB8AC3E}">
        <p14:creationId xmlns:p14="http://schemas.microsoft.com/office/powerpoint/2010/main" val="32061620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301987A-2D42-7CAA-2729-7266B39A3C4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sz="3200" b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Investment for Performance</a:t>
            </a: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37281023-AFEB-348F-1DCC-D803C1580499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8922726" y="6503763"/>
            <a:ext cx="3224189" cy="328295"/>
          </a:xfrm>
          <a:prstGeom prst="rect">
            <a:avLst/>
          </a:prstGeom>
        </p:spPr>
        <p:txBody>
          <a:bodyPr vert="horz" lIns="121920" tIns="60960" rIns="121920" bIns="60960" rtlCol="0" anchor="ctr"/>
          <a:lstStyle>
            <a:defPPr>
              <a:defRPr lang="en-US"/>
            </a:defPPr>
            <a:lvl1pPr marL="0" algn="r" defTabSz="1219170" rtl="0" eaLnBrk="1" latinLnBrk="0" hangingPunct="1">
              <a:defRPr sz="1600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B8111B1-F5BB-486D-8B3C-017EE72F0AF7}" type="slidenum">
              <a:rPr lang="en-US" sz="1000"/>
              <a:pPr/>
              <a:t>9</a:t>
            </a:fld>
            <a:endParaRPr lang="en-US" sz="1000" dirty="0"/>
          </a:p>
        </p:txBody>
      </p:sp>
      <p:sp>
        <p:nvSpPr>
          <p:cNvPr id="4" name="officeArt object" descr="Rectangle 890">
            <a:extLst>
              <a:ext uri="{FF2B5EF4-FFF2-40B4-BE49-F238E27FC236}">
                <a16:creationId xmlns:a16="http://schemas.microsoft.com/office/drawing/2014/main" id="{4882788F-4879-1E59-7906-CEAD35CFAC62}"/>
              </a:ext>
            </a:extLst>
          </p:cNvPr>
          <p:cNvSpPr/>
          <p:nvPr/>
        </p:nvSpPr>
        <p:spPr>
          <a:xfrm>
            <a:off x="244044" y="978784"/>
            <a:ext cx="11569565" cy="5735327"/>
          </a:xfrm>
          <a:prstGeom prst="rect">
            <a:avLst/>
          </a:prstGeom>
          <a:solidFill>
            <a:srgbClr val="ECECED"/>
          </a:solidFill>
          <a:ln w="28575" cap="flat">
            <a:solidFill>
              <a:srgbClr val="D51067"/>
            </a:solidFill>
            <a:miter lim="400000"/>
          </a:ln>
          <a:effectLst/>
        </p:spPr>
        <p:txBody>
          <a:bodyPr/>
          <a:lstStyle/>
          <a:p>
            <a:endParaRPr lang="en-US" sz="1100" dirty="0"/>
          </a:p>
          <a:p>
            <a:endParaRPr lang="en-US" sz="1100" dirty="0"/>
          </a:p>
          <a:p>
            <a:endParaRPr lang="en-US" sz="1100" dirty="0"/>
          </a:p>
          <a:p>
            <a:endParaRPr lang="en-US" sz="1100" dirty="0">
              <a:latin typeface="Franklin Gothic Book" panose="020B0503020102020204" pitchFamily="34" charset="0"/>
            </a:endParaRPr>
          </a:p>
          <a:p>
            <a:endParaRPr lang="en-US" sz="1050" dirty="0">
              <a:latin typeface="Franklin Gothic Book" panose="020B0503020102020204" pitchFamily="34" charset="0"/>
            </a:endParaRPr>
          </a:p>
          <a:p>
            <a:endParaRPr lang="en-US" sz="1050" dirty="0">
              <a:latin typeface="Franklin Gothic Book" panose="020B0503020102020204" pitchFamily="34" charset="0"/>
            </a:endParaRPr>
          </a:p>
          <a:p>
            <a:endParaRPr lang="en-US" sz="1050" dirty="0">
              <a:latin typeface="Franklin Gothic Book" panose="020B0503020102020204" pitchFamily="34" charset="0"/>
            </a:endParaRPr>
          </a:p>
        </p:txBody>
      </p:sp>
      <p:cxnSp>
        <p:nvCxnSpPr>
          <p:cNvPr id="6" name="officeArt object" descr="Line 892">
            <a:extLst>
              <a:ext uri="{FF2B5EF4-FFF2-40B4-BE49-F238E27FC236}">
                <a16:creationId xmlns:a16="http://schemas.microsoft.com/office/drawing/2014/main" id="{E7E27C76-3274-E21A-B1F6-BE6DFD8A6F83}"/>
              </a:ext>
            </a:extLst>
          </p:cNvPr>
          <p:cNvCxnSpPr>
            <a:cxnSpLocks/>
          </p:cNvCxnSpPr>
          <p:nvPr/>
        </p:nvCxnSpPr>
        <p:spPr>
          <a:xfrm>
            <a:off x="569912" y="1464972"/>
            <a:ext cx="10749397" cy="0"/>
          </a:xfrm>
          <a:prstGeom prst="line">
            <a:avLst/>
          </a:prstGeom>
          <a:noFill/>
          <a:ln w="6350" cap="rnd" cmpd="sng">
            <a:solidFill>
              <a:srgbClr val="0070C0"/>
            </a:solidFill>
            <a:prstDash val="solid"/>
            <a:round/>
          </a:ln>
          <a:effectLst/>
        </p:spPr>
      </p:cxnSp>
      <p:sp>
        <p:nvSpPr>
          <p:cNvPr id="17" name="Text Box 12" descr="Rectangle 924">
            <a:extLst>
              <a:ext uri="{FF2B5EF4-FFF2-40B4-BE49-F238E27FC236}">
                <a16:creationId xmlns:a16="http://schemas.microsoft.com/office/drawing/2014/main" id="{4B6CD573-BCC5-F543-6750-2E57EA0EE1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60316" y="1070070"/>
            <a:ext cx="9671368" cy="2979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231F20"/>
                </a:solidFill>
                <a:effectLst/>
                <a:latin typeface="Franklin Gothic Book" panose="020B05030201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rPr>
              <a:t>Flying Horse Resort | Revenue Strategy Commercial Enablement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Franklin Gothic Book" panose="020B05030201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208E56F-62C2-DC49-F35C-881E6E8F299B}"/>
              </a:ext>
            </a:extLst>
          </p:cNvPr>
          <p:cNvSpPr txBox="1"/>
          <p:nvPr/>
        </p:nvSpPr>
        <p:spPr>
          <a:xfrm>
            <a:off x="3640062" y="6039905"/>
            <a:ext cx="1828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latin typeface="Franklin Gothic Book" panose="020B0503020102020204" pitchFamily="34" charset="0"/>
              </a:rPr>
              <a:t>$12,000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F7666C93-6213-5446-3B8E-655696DB81CB}"/>
              </a:ext>
            </a:extLst>
          </p:cNvPr>
          <p:cNvGrpSpPr/>
          <p:nvPr/>
        </p:nvGrpSpPr>
        <p:grpSpPr>
          <a:xfrm>
            <a:off x="489068" y="1533727"/>
            <a:ext cx="5225932" cy="4339650"/>
            <a:chOff x="493747" y="1533727"/>
            <a:chExt cx="5225932" cy="4339650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B31A42DD-F6B1-C055-F3E0-5FF6684A2D33}"/>
                </a:ext>
              </a:extLst>
            </p:cNvPr>
            <p:cNvSpPr txBox="1"/>
            <p:nvPr/>
          </p:nvSpPr>
          <p:spPr>
            <a:xfrm>
              <a:off x="493747" y="1903059"/>
              <a:ext cx="5225932" cy="39703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n-US" sz="1200" dirty="0"/>
            </a:p>
            <a:p>
              <a:pPr>
                <a:tabLst>
                  <a:tab pos="1597025" algn="l"/>
                </a:tabLst>
              </a:pPr>
              <a:r>
                <a:rPr lang="en-US" sz="1200" dirty="0">
                  <a:latin typeface="Franklin Gothic Book" panose="020B0503020102020204" pitchFamily="34" charset="0"/>
                </a:rPr>
                <a:t>Week 1	</a:t>
              </a:r>
              <a:r>
                <a:rPr lang="en-US" sz="1200" dirty="0">
                  <a:latin typeface="Wingdings" pitchFamily="2" charset="2"/>
                </a:rPr>
                <a:t>t </a:t>
              </a:r>
              <a:r>
                <a:rPr lang="en-US" sz="1200" dirty="0">
                  <a:latin typeface="Franklin Gothic Book" panose="020B0503020102020204" pitchFamily="34" charset="0"/>
                </a:rPr>
                <a:t>Immersion, </a:t>
              </a:r>
              <a:r>
                <a:rPr lang="en-US" sz="1200" dirty="0"/>
                <a:t>Dive into reports, performance	</a:t>
              </a:r>
              <a:r>
                <a:rPr lang="en-US" sz="1200" dirty="0">
                  <a:solidFill>
                    <a:srgbClr val="B51072"/>
                  </a:solidFill>
                  <a:latin typeface="Franklin Gothic Book" panose="020B0503020102020204" pitchFamily="34" charset="0"/>
                </a:rPr>
                <a:t>Virtual</a:t>
              </a:r>
            </a:p>
            <a:p>
              <a:pPr>
                <a:tabLst>
                  <a:tab pos="1597025" algn="l"/>
                </a:tabLst>
              </a:pPr>
              <a:r>
                <a:rPr lang="en-US" sz="1200" dirty="0"/>
                <a:t>			strategies, action plans</a:t>
              </a:r>
            </a:p>
            <a:p>
              <a:pPr>
                <a:tabLst>
                  <a:tab pos="1597025" algn="l"/>
                </a:tabLst>
              </a:pPr>
              <a:r>
                <a:rPr lang="en-US" sz="1200" dirty="0">
                  <a:latin typeface="Franklin Gothic Book" panose="020B0503020102020204" pitchFamily="34" charset="0"/>
                </a:rPr>
                <a:t>	</a:t>
              </a:r>
              <a:r>
                <a:rPr lang="en-US" sz="1200" dirty="0">
                  <a:solidFill>
                    <a:srgbClr val="D51067"/>
                  </a:solidFill>
                  <a:latin typeface="Franklin Gothic Book" panose="020B0503020102020204" pitchFamily="34" charset="0"/>
                </a:rPr>
                <a:t>                   	</a:t>
              </a:r>
              <a:endParaRPr lang="en-US" sz="1200" dirty="0">
                <a:latin typeface="Franklin Gothic Book" panose="020B0503020102020204" pitchFamily="34" charset="0"/>
              </a:endParaRPr>
            </a:p>
            <a:p>
              <a:pPr>
                <a:tabLst>
                  <a:tab pos="1597025" algn="l"/>
                </a:tabLst>
              </a:pPr>
              <a:r>
                <a:rPr lang="en-US" sz="1200" dirty="0"/>
                <a:t>Week 2	</a:t>
              </a:r>
              <a:r>
                <a:rPr lang="en-US" sz="1200" dirty="0">
                  <a:latin typeface="Wingdings" pitchFamily="2" charset="2"/>
                </a:rPr>
                <a:t>t </a:t>
              </a:r>
              <a:r>
                <a:rPr lang="en-US" sz="1200" dirty="0">
                  <a:latin typeface="Franklin Gothic Book" panose="020B0503020102020204" pitchFamily="34" charset="0"/>
                </a:rPr>
                <a:t>Kick Off and Communicated 	</a:t>
              </a:r>
              <a:r>
                <a:rPr lang="en-US" sz="1200" dirty="0">
                  <a:solidFill>
                    <a:srgbClr val="D51067"/>
                  </a:solidFill>
                  <a:latin typeface="Franklin Gothic Book" panose="020B0503020102020204" pitchFamily="34" charset="0"/>
                </a:rPr>
                <a:t>Virtual</a:t>
              </a:r>
            </a:p>
            <a:p>
              <a:pPr>
                <a:tabLst>
                  <a:tab pos="1597025" algn="l"/>
                </a:tabLst>
              </a:pPr>
              <a:r>
                <a:rPr lang="en-US" sz="1200" dirty="0">
                  <a:latin typeface="Franklin Gothic Book" panose="020B0503020102020204" pitchFamily="34" charset="0"/>
                </a:rPr>
                <a:t>			Project Plan </a:t>
              </a:r>
            </a:p>
            <a:p>
              <a:pPr>
                <a:tabLst>
                  <a:tab pos="1597025" algn="l"/>
                </a:tabLst>
              </a:pPr>
              <a:r>
                <a:rPr lang="en-US" sz="1200" dirty="0">
                  <a:latin typeface="Franklin Gothic Book" panose="020B0503020102020204" pitchFamily="34" charset="0"/>
                </a:rPr>
                <a:t>		</a:t>
              </a:r>
              <a:endParaRPr lang="en-US" sz="1200" dirty="0"/>
            </a:p>
            <a:p>
              <a:pPr>
                <a:tabLst>
                  <a:tab pos="1597025" algn="l"/>
                  <a:tab pos="4395788" algn="l"/>
                </a:tabLst>
              </a:pPr>
              <a:r>
                <a:rPr lang="en-US" sz="1200" dirty="0"/>
                <a:t>Week 3	</a:t>
              </a:r>
              <a:r>
                <a:rPr lang="en-US" sz="1200" dirty="0">
                  <a:latin typeface="Wingdings" pitchFamily="2" charset="2"/>
                </a:rPr>
                <a:t>t </a:t>
              </a:r>
              <a:r>
                <a:rPr lang="en-US" sz="1200" dirty="0">
                  <a:latin typeface="Franklin Gothic Book" panose="020B0503020102020204" pitchFamily="34" charset="0"/>
                </a:rPr>
                <a:t>Deep dive into approach</a:t>
              </a:r>
              <a:r>
                <a:rPr lang="en-US" sz="1200" dirty="0"/>
                <a:t>	</a:t>
              </a:r>
              <a:r>
                <a:rPr lang="en-US" sz="1200" dirty="0">
                  <a:solidFill>
                    <a:srgbClr val="D51067"/>
                  </a:solidFill>
                </a:rPr>
                <a:t>     Market 		          Visit</a:t>
              </a:r>
            </a:p>
            <a:p>
              <a:pPr>
                <a:tabLst>
                  <a:tab pos="1597025" algn="l"/>
                  <a:tab pos="4395788" algn="l"/>
                </a:tabLst>
              </a:pPr>
              <a:endParaRPr lang="en-US" sz="1200" dirty="0">
                <a:solidFill>
                  <a:srgbClr val="D51067"/>
                </a:solidFill>
              </a:endParaRPr>
            </a:p>
            <a:p>
              <a:pPr>
                <a:tabLst>
                  <a:tab pos="1597025" algn="l"/>
                </a:tabLst>
              </a:pPr>
              <a:r>
                <a:rPr lang="en-US" sz="1200" dirty="0"/>
                <a:t>Week 4	</a:t>
              </a:r>
              <a:r>
                <a:rPr lang="en-US" sz="1200" dirty="0">
                  <a:latin typeface="Wingdings" pitchFamily="2" charset="2"/>
                </a:rPr>
                <a:t>t </a:t>
              </a:r>
              <a:r>
                <a:rPr lang="en-US" sz="1200" dirty="0">
                  <a:latin typeface="Franklin Gothic Book" panose="020B0503020102020204" pitchFamily="34" charset="0"/>
                </a:rPr>
                <a:t>Continued exploration</a:t>
              </a:r>
              <a:r>
                <a:rPr lang="en-US" sz="1200" dirty="0"/>
                <a:t>	                         	</a:t>
              </a:r>
              <a:r>
                <a:rPr lang="en-US" sz="1200" dirty="0">
                  <a:solidFill>
                    <a:srgbClr val="D51067"/>
                  </a:solidFill>
                </a:rPr>
                <a:t>Virtual</a:t>
              </a:r>
            </a:p>
            <a:p>
              <a:pPr>
                <a:tabLst>
                  <a:tab pos="1597025" algn="l"/>
                </a:tabLst>
              </a:pPr>
              <a:endParaRPr lang="en-US" sz="1200" dirty="0">
                <a:solidFill>
                  <a:srgbClr val="D51067"/>
                </a:solidFill>
              </a:endParaRPr>
            </a:p>
            <a:p>
              <a:endParaRPr lang="en-US" sz="1200" dirty="0"/>
            </a:p>
            <a:p>
              <a:pPr>
                <a:tabLst>
                  <a:tab pos="1597025" algn="l"/>
                  <a:tab pos="1770063" algn="l"/>
                </a:tabLst>
              </a:pPr>
              <a:r>
                <a:rPr lang="en-US" sz="1200" dirty="0"/>
                <a:t>Week 5	</a:t>
              </a:r>
              <a:r>
                <a:rPr lang="en-US" sz="1200" dirty="0">
                  <a:latin typeface="Wingdings" pitchFamily="2" charset="2"/>
                </a:rPr>
                <a:t>t </a:t>
              </a:r>
              <a:r>
                <a:rPr lang="en-US" sz="1200" dirty="0"/>
                <a:t>Insight Production	 </a:t>
              </a:r>
              <a:r>
                <a:rPr lang="en-US" sz="1200" dirty="0">
                  <a:solidFill>
                    <a:srgbClr val="D51067"/>
                  </a:solidFill>
                  <a:latin typeface="Franklin Gothic Book" panose="020B0503020102020204" pitchFamily="34" charset="0"/>
                </a:rPr>
                <a:t>	Virtual</a:t>
              </a:r>
            </a:p>
            <a:p>
              <a:pPr>
                <a:tabLst>
                  <a:tab pos="1597025" algn="l"/>
                  <a:tab pos="1770063" algn="l"/>
                </a:tabLst>
              </a:pPr>
              <a:endParaRPr lang="en-US" sz="1200" dirty="0">
                <a:solidFill>
                  <a:srgbClr val="D51067"/>
                </a:solidFill>
                <a:latin typeface="Franklin Gothic Book" panose="020B0503020102020204" pitchFamily="34" charset="0"/>
              </a:endParaRPr>
            </a:p>
            <a:p>
              <a:pPr>
                <a:tabLst>
                  <a:tab pos="1597025" algn="l"/>
                  <a:tab pos="1770063" algn="l"/>
                </a:tabLst>
              </a:pPr>
              <a:endParaRPr lang="en-US" sz="1200" dirty="0">
                <a:solidFill>
                  <a:srgbClr val="D51067"/>
                </a:solidFill>
                <a:latin typeface="Franklin Gothic Book" panose="020B0503020102020204" pitchFamily="34" charset="0"/>
              </a:endParaRPr>
            </a:p>
            <a:p>
              <a:pPr>
                <a:tabLst>
                  <a:tab pos="1597025" algn="l"/>
                  <a:tab pos="1770063" algn="l"/>
                </a:tabLst>
              </a:pPr>
              <a:r>
                <a:rPr lang="en-US" sz="1200" dirty="0"/>
                <a:t>Week 6	</a:t>
              </a:r>
              <a:r>
                <a:rPr lang="en-US" sz="1200" dirty="0">
                  <a:latin typeface="Wingdings" pitchFamily="2" charset="2"/>
                </a:rPr>
                <a:t>t </a:t>
              </a:r>
              <a:r>
                <a:rPr lang="en-US" sz="1200" dirty="0"/>
                <a:t>Insight  Intelligence-Presentation </a:t>
              </a:r>
              <a:r>
                <a:rPr lang="en-US" sz="1200" dirty="0">
                  <a:solidFill>
                    <a:srgbClr val="D51067"/>
                  </a:solidFill>
                  <a:latin typeface="Franklin Gothic Book" panose="020B0503020102020204" pitchFamily="34" charset="0"/>
                </a:rPr>
                <a:t>               1/2 day</a:t>
              </a:r>
            </a:p>
            <a:p>
              <a:r>
                <a:rPr lang="en-US" sz="1200" dirty="0"/>
                <a:t>	</a:t>
              </a:r>
            </a:p>
            <a:p>
              <a:endParaRPr lang="en-US" sz="1200" dirty="0"/>
            </a:p>
            <a:p>
              <a:pPr>
                <a:tabLst>
                  <a:tab pos="1538288" algn="l"/>
                  <a:tab pos="2798763" algn="l"/>
                  <a:tab pos="3367088" algn="l"/>
                </a:tabLst>
              </a:pPr>
              <a:r>
                <a:rPr lang="en-US" sz="1200" dirty="0">
                  <a:solidFill>
                    <a:schemeClr val="accent1">
                      <a:lumMod val="75000"/>
                    </a:schemeClr>
                  </a:solidFill>
                </a:rPr>
                <a:t>Deliverables: 	</a:t>
              </a:r>
              <a:r>
                <a:rPr lang="en-US" sz="1200" i="1" dirty="0">
                  <a:solidFill>
                    <a:schemeClr val="accent1">
                      <a:lumMod val="75000"/>
                    </a:schemeClr>
                  </a:solidFill>
                </a:rPr>
                <a:t>Insight Intelligence Report, Executive Summary, support 	documents, findings, and recommendations.</a:t>
              </a:r>
              <a:endParaRPr lang="en-US" sz="1100" i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08DA4AA-2A22-8D61-F51F-C37F67EF1FEC}"/>
                </a:ext>
              </a:extLst>
            </p:cNvPr>
            <p:cNvSpPr txBox="1"/>
            <p:nvPr/>
          </p:nvSpPr>
          <p:spPr>
            <a:xfrm>
              <a:off x="493747" y="1533727"/>
              <a:ext cx="278752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i="1" dirty="0">
                  <a:solidFill>
                    <a:srgbClr val="D51067"/>
                  </a:solidFill>
                  <a:latin typeface="Franklin Gothic Book" panose="020B0503020102020204" pitchFamily="34" charset="0"/>
                </a:rPr>
                <a:t>The Reveal</a:t>
              </a: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C6598192-52A2-1400-D5DF-C53318C6015A}"/>
              </a:ext>
            </a:extLst>
          </p:cNvPr>
          <p:cNvGrpSpPr/>
          <p:nvPr/>
        </p:nvGrpSpPr>
        <p:grpSpPr>
          <a:xfrm>
            <a:off x="5944610" y="1502635"/>
            <a:ext cx="5664292" cy="3228602"/>
            <a:chOff x="6053317" y="1523431"/>
            <a:chExt cx="5664292" cy="3228602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CF128103-EE09-46DE-658C-D1CECDD5E205}"/>
                </a:ext>
              </a:extLst>
            </p:cNvPr>
            <p:cNvSpPr txBox="1"/>
            <p:nvPr/>
          </p:nvSpPr>
          <p:spPr>
            <a:xfrm>
              <a:off x="6204706" y="2166710"/>
              <a:ext cx="5512903" cy="2585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n-US" sz="1200" dirty="0">
                <a:latin typeface="Franklin Gothic Book" panose="020B0503020102020204" pitchFamily="34" charset="0"/>
              </a:endParaRPr>
            </a:p>
            <a:p>
              <a:r>
                <a:rPr lang="en-US" sz="1200" dirty="0">
                  <a:latin typeface="Franklin Gothic Book" panose="020B0503020102020204" pitchFamily="34" charset="0"/>
                </a:rPr>
                <a:t>Week 7		</a:t>
              </a:r>
              <a:r>
                <a:rPr lang="en-US" sz="1200" dirty="0">
                  <a:latin typeface="Wingdings" pitchFamily="2" charset="2"/>
                </a:rPr>
                <a:t>t</a:t>
              </a:r>
              <a:r>
                <a:rPr lang="en-US" sz="1200" dirty="0">
                  <a:latin typeface="Franklin Gothic Book" panose="020B0503020102020204" pitchFamily="34" charset="0"/>
                </a:rPr>
                <a:t>  Vision-to-Value Roadmap Development-        </a:t>
              </a:r>
              <a:r>
                <a:rPr lang="en-US" sz="1200" dirty="0">
                  <a:solidFill>
                    <a:srgbClr val="D51067"/>
                  </a:solidFill>
                  <a:latin typeface="Franklin Gothic Book" panose="020B0503020102020204" pitchFamily="34" charset="0"/>
                </a:rPr>
                <a:t>Virtual</a:t>
              </a:r>
            </a:p>
            <a:p>
              <a:endParaRPr lang="en-US" sz="1200" dirty="0">
                <a:latin typeface="Franklin Gothic Book" panose="020B0503020102020204" pitchFamily="34" charset="0"/>
              </a:endParaRPr>
            </a:p>
            <a:p>
              <a:endParaRPr lang="en-US" sz="1200" dirty="0">
                <a:latin typeface="Franklin Gothic Book" panose="020B0503020102020204" pitchFamily="34" charset="0"/>
              </a:endParaRPr>
            </a:p>
            <a:p>
              <a:r>
                <a:rPr lang="en-US" sz="1200" dirty="0">
                  <a:latin typeface="Franklin Gothic Book" panose="020B0503020102020204" pitchFamily="34" charset="0"/>
                </a:rPr>
                <a:t>Week 8		</a:t>
              </a:r>
              <a:r>
                <a:rPr lang="en-US" sz="1200" dirty="0">
                  <a:latin typeface="Wingdings" pitchFamily="2" charset="2"/>
                </a:rPr>
                <a:t>t</a:t>
              </a:r>
              <a:r>
                <a:rPr lang="en-US" sz="1200" dirty="0">
                  <a:latin typeface="Franklin Gothic Book" panose="020B0503020102020204" pitchFamily="34" charset="0"/>
                </a:rPr>
                <a:t>  Vision-to-Value Presentation 	       </a:t>
              </a:r>
              <a:r>
                <a:rPr lang="en-US" sz="1200" dirty="0">
                  <a:solidFill>
                    <a:srgbClr val="D51067"/>
                  </a:solidFill>
                  <a:latin typeface="Franklin Gothic Book" panose="020B0503020102020204" pitchFamily="34" charset="0"/>
                </a:rPr>
                <a:t>Virtual</a:t>
              </a:r>
            </a:p>
            <a:p>
              <a:endParaRPr lang="en-US" sz="1200" dirty="0">
                <a:latin typeface="Franklin Gothic Book" panose="020B0503020102020204" pitchFamily="34" charset="0"/>
              </a:endParaRPr>
            </a:p>
            <a:p>
              <a:endParaRPr lang="en-US" sz="1200" dirty="0">
                <a:latin typeface="Franklin Gothic Book" panose="020B0503020102020204" pitchFamily="34" charset="0"/>
              </a:endParaRPr>
            </a:p>
            <a:p>
              <a:r>
                <a:rPr lang="en-US" sz="1200" dirty="0">
                  <a:latin typeface="Franklin Gothic Book" panose="020B0503020102020204" pitchFamily="34" charset="0"/>
                </a:rPr>
                <a:t>Week 9		</a:t>
              </a:r>
              <a:r>
                <a:rPr lang="en-US" sz="1200" dirty="0">
                  <a:latin typeface="Wingdings" pitchFamily="2" charset="2"/>
                </a:rPr>
                <a:t>t</a:t>
              </a:r>
              <a:r>
                <a:rPr lang="en-US" sz="1200" dirty="0">
                  <a:latin typeface="Franklin Gothic Book" panose="020B0503020102020204" pitchFamily="34" charset="0"/>
                </a:rPr>
                <a:t>  Buffer</a:t>
              </a:r>
              <a:endParaRPr lang="en-US" sz="1200" dirty="0">
                <a:solidFill>
                  <a:srgbClr val="D51067"/>
                </a:solidFill>
                <a:latin typeface="Franklin Gothic Book" panose="020B0503020102020204" pitchFamily="34" charset="0"/>
              </a:endParaRPr>
            </a:p>
            <a:p>
              <a:endParaRPr lang="en-US" sz="1200" dirty="0">
                <a:latin typeface="Franklin Gothic Book" panose="020B0503020102020204" pitchFamily="34" charset="0"/>
              </a:endParaRPr>
            </a:p>
            <a:p>
              <a:endParaRPr lang="en-US" sz="1200" dirty="0">
                <a:latin typeface="Franklin Gothic Book" panose="020B0503020102020204" pitchFamily="34" charset="0"/>
              </a:endParaRPr>
            </a:p>
            <a:p>
              <a:endParaRPr lang="en-US" sz="1200" dirty="0"/>
            </a:p>
            <a:p>
              <a:r>
                <a:rPr lang="en-US" sz="1200" i="1" dirty="0">
                  <a:solidFill>
                    <a:srgbClr val="0070C0"/>
                  </a:solidFill>
                  <a:latin typeface="Franklin Gothic Book" panose="020B0503020102020204" pitchFamily="34" charset="0"/>
                </a:rPr>
                <a:t>Deliverable: 		Vision-to-Value Roadmap, Revenue Plan</a:t>
              </a:r>
            </a:p>
            <a:p>
              <a:endParaRPr lang="en-US" dirty="0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CDB7CF7C-13B6-AE48-2997-05717235C4C7}"/>
                </a:ext>
              </a:extLst>
            </p:cNvPr>
            <p:cNvSpPr txBox="1"/>
            <p:nvPr/>
          </p:nvSpPr>
          <p:spPr>
            <a:xfrm>
              <a:off x="6053317" y="1523431"/>
              <a:ext cx="278752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i="1" dirty="0">
                  <a:solidFill>
                    <a:srgbClr val="D51067"/>
                  </a:solidFill>
                  <a:latin typeface="Franklin Gothic Book" panose="020B0503020102020204" pitchFamily="34" charset="0"/>
                </a:rPr>
                <a:t>Insight to Execution</a:t>
              </a:r>
            </a:p>
          </p:txBody>
        </p:sp>
      </p:grp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3AA028F7-0524-F944-72C8-CDAB2B919836}"/>
              </a:ext>
            </a:extLst>
          </p:cNvPr>
          <p:cNvCxnSpPr>
            <a:cxnSpLocks/>
          </p:cNvCxnSpPr>
          <p:nvPr/>
        </p:nvCxnSpPr>
        <p:spPr>
          <a:xfrm>
            <a:off x="5804115" y="1464972"/>
            <a:ext cx="0" cy="445863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81293C41-9499-4032-E1A6-5792638B1D0D}"/>
              </a:ext>
            </a:extLst>
          </p:cNvPr>
          <p:cNvSpPr txBox="1"/>
          <p:nvPr/>
        </p:nvSpPr>
        <p:spPr>
          <a:xfrm>
            <a:off x="9449393" y="6123030"/>
            <a:ext cx="1828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latin typeface="Franklin Gothic Book" panose="020B0503020102020204" pitchFamily="34" charset="0"/>
              </a:rPr>
              <a:t>$8,000</a:t>
            </a:r>
          </a:p>
        </p:txBody>
      </p:sp>
    </p:spTree>
    <p:extLst>
      <p:ext uri="{BB962C8B-B14F-4D97-AF65-F5344CB8AC3E}">
        <p14:creationId xmlns:p14="http://schemas.microsoft.com/office/powerpoint/2010/main" val="35917856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C50980CCDCA474BBA53C0A951F1A841" ma:contentTypeVersion="16" ma:contentTypeDescription="Create a new document." ma:contentTypeScope="" ma:versionID="dc40de2dda6ec0bedf0d42fce57c906b">
  <xsd:schema xmlns:xsd="http://www.w3.org/2001/XMLSchema" xmlns:xs="http://www.w3.org/2001/XMLSchema" xmlns:p="http://schemas.microsoft.com/office/2006/metadata/properties" xmlns:ns2="c71a9731-672f-4449-b3b2-914e5de0f80c" xmlns:ns3="2587ec5f-2b5f-42cc-868a-c05f4ba18fb4" targetNamespace="http://schemas.microsoft.com/office/2006/metadata/properties" ma:root="true" ma:fieldsID="6533da04a3eab8972e13b1649a227fe9" ns2:_="" ns3:_="">
    <xsd:import namespace="c71a9731-672f-4449-b3b2-914e5de0f80c"/>
    <xsd:import namespace="2587ec5f-2b5f-42cc-868a-c05f4ba18fb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LengthInSeconds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Location" minOccurs="0"/>
                <xsd:element ref="ns2:MediaServiceOCR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71a9731-672f-4449-b3b2-914e5de0f80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LengthInSeconds" ma:index="1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4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5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lcf76f155ced4ddcb4097134ff3c332f" ma:index="20" nillable="true" ma:taxonomy="true" ma:internalName="lcf76f155ced4ddcb4097134ff3c332f" ma:taxonomyFieldName="MediaServiceImageTags" ma:displayName="Image Tags" ma:readOnly="false" ma:fieldId="{5cf76f15-5ced-4ddc-b409-7134ff3c332f}" ma:taxonomyMulti="true" ma:sspId="6c1a3be1-ca2c-4a81-85c0-f6ae1659780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587ec5f-2b5f-42cc-868a-c05f4ba18fb4" elementFormDefault="qualified">
    <xsd:import namespace="http://schemas.microsoft.com/office/2006/documentManagement/types"/>
    <xsd:import namespace="http://schemas.microsoft.com/office/infopath/2007/PartnerControls"/>
    <xsd:element name="TaxCatchAll" ma:index="21" nillable="true" ma:displayName="Taxonomy Catch All Column" ma:hidden="true" ma:list="{266b662a-a866-41db-8c08-3777baa07030}" ma:internalName="TaxCatchAll" ma:showField="CatchAllData" ma:web="2587ec5f-2b5f-42cc-868a-c05f4ba18fb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2587ec5f-2b5f-42cc-868a-c05f4ba18fb4" xsi:nil="true"/>
    <lcf76f155ced4ddcb4097134ff3c332f xmlns="c71a9731-672f-4449-b3b2-914e5de0f80c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3F08C068-B014-4ADC-BC15-8E699D35F16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71a9731-672f-4449-b3b2-914e5de0f80c"/>
    <ds:schemaRef ds:uri="2587ec5f-2b5f-42cc-868a-c05f4ba18fb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E4E7FD7A-5011-4260-8E03-18553EDCD99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E0FAEA2-6084-4129-BDC6-4E43C4811D79}">
  <ds:schemaRefs>
    <ds:schemaRef ds:uri="http://schemas.microsoft.com/office/2006/documentManagement/types"/>
    <ds:schemaRef ds:uri="http://purl.org/dc/elements/1.1/"/>
    <ds:schemaRef ds:uri="http://purl.org/dc/terms/"/>
    <ds:schemaRef ds:uri="http://purl.org/dc/dcmitype/"/>
    <ds:schemaRef ds:uri="http://schemas.microsoft.com/office/infopath/2007/PartnerControls"/>
    <ds:schemaRef ds:uri="http://www.w3.org/XML/1998/namespace"/>
    <ds:schemaRef ds:uri="http://schemas.microsoft.com/office/2006/metadata/properties"/>
    <ds:schemaRef ds:uri="http://schemas.openxmlformats.org/package/2006/metadata/core-properties"/>
    <ds:schemaRef ds:uri="2587ec5f-2b5f-42cc-868a-c05f4ba18fb4"/>
    <ds:schemaRef ds:uri="c71a9731-672f-4449-b3b2-914e5de0f80c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15538</TotalTime>
  <Words>1263</Words>
  <Application>Microsoft Macintosh PowerPoint</Application>
  <PresentationFormat>Widescreen</PresentationFormat>
  <Paragraphs>273</Paragraphs>
  <Slides>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9" baseType="lpstr">
      <vt:lpstr>Arial</vt:lpstr>
      <vt:lpstr>Bradley Hand</vt:lpstr>
      <vt:lpstr>Calibri</vt:lpstr>
      <vt:lpstr>Cavolini</vt:lpstr>
      <vt:lpstr>Fave Script Bold Pro</vt:lpstr>
      <vt:lpstr>Franklin Gothic Book</vt:lpstr>
      <vt:lpstr>Ink Free</vt:lpstr>
      <vt:lpstr>Symbol</vt:lpstr>
      <vt:lpstr>Wingdings</vt:lpstr>
      <vt:lpstr>Office Theme</vt:lpstr>
      <vt:lpstr>PowerPoint Presentation</vt:lpstr>
      <vt:lpstr>PowerPoint Presentation</vt:lpstr>
      <vt:lpstr>The Reveal- Outline of effort</vt:lpstr>
      <vt:lpstr>The Reveal- Outline of effort</vt:lpstr>
      <vt:lpstr>The Reveal - Outline of effort</vt:lpstr>
      <vt:lpstr>The Reveal - Outline of effort</vt:lpstr>
      <vt:lpstr>PowerPoint Presentation</vt:lpstr>
      <vt:lpstr>Insight to Execution- Outline of effort</vt:lpstr>
      <vt:lpstr>Investment for Performance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Kate Burda</dc:creator>
  <cp:lastModifiedBy>Kate Burda</cp:lastModifiedBy>
  <cp:revision>15</cp:revision>
  <cp:lastPrinted>2025-02-05T17:15:12Z</cp:lastPrinted>
  <dcterms:created xsi:type="dcterms:W3CDTF">2023-07-29T16:22:48Z</dcterms:created>
  <dcterms:modified xsi:type="dcterms:W3CDTF">2025-03-28T18:31:02Z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0x0101006C50980CCDCA474BBA53C0A951F1A841</vt:lpwstr>
  </property>
  <property fmtid="{D5CDD505-2E9C-101B-9397-08002B2CF9AE}" pid="3" name="MediaServiceImageTags">
    <vt:lpwstr/>
  </property>
</Properties>
</file>