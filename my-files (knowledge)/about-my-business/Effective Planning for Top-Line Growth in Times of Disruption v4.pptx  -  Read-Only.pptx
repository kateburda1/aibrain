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jpg" ContentType="image/jp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comments/comment2.xml" ContentType="application/vnd.openxmlformats-officedocument.presentationml.comments+xml"/>
  <Override PartName="/ppt/comments/comment1.xml" ContentType="application/vnd.openxmlformats-officedocument.presentationml.comments+xml"/>
  <Override PartName="/ppt/theme/theme1.xml" ContentType="application/vnd.openxmlformats-officedocument.them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ustom.xml" ContentType="application/vnd.openxmlformats-officedocument.custom-properties+xml"/>
  <Override PartName="/docProps/app.xml" ContentType="application/vnd.openxmlformats-officedocument.extended-properties+xml"/>
  <Override PartName="/docProps/core.xml" ContentType="application/vnd.openxmlformats-package.core-properties+xml"/>
  <Override PartName="/ppt/revisionInfo.xml" ContentType="application/vnd.ms-powerpoint.revisioninfo+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75"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6858000" cy="9144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stan Carty" initials="TC" lastIdx="5" clrIdx="0">
    <p:extLst>
      <p:ext uri="{19B8F6BF-5375-455C-9EA6-DF929625EA0E}">
        <p15:presenceInfo xmlns:p15="http://schemas.microsoft.com/office/powerpoint/2012/main" userId="a6303d31203f19ed" providerId="Windows Live"/>
      </p:ext>
    </p:extLst>
  </p:cmAuthor>
  <p:cmAuthor id="2" name="Kate Burda" initials="KB" lastIdx="1" clrIdx="1">
    <p:extLst>
      <p:ext uri="{19B8F6BF-5375-455C-9EA6-DF929625EA0E}">
        <p15:presenceInfo xmlns:p15="http://schemas.microsoft.com/office/powerpoint/2012/main" userId="S::kate@kateburda.com::44c1ea53-84f5-4c7e-8f48-bfeb434f1f0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52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5473BF-27BE-4C9D-864D-D8097F2C26C8}" v="5" dt="2020-12-07T14:22:36.55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88"/>
    <p:restoredTop sz="94692"/>
  </p:normalViewPr>
  <p:slideViewPr>
    <p:cSldViewPr>
      <p:cViewPr varScale="1">
        <p:scale>
          <a:sx n="126" d="100"/>
          <a:sy n="126" d="100"/>
        </p:scale>
        <p:origin x="6344" y="21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28"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openxmlformats.org/officeDocument/2006/relationships/customXml" Target="../customXml/item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12-07T09:04:15.013" idx="4">
    <p:pos x="3867" y="2304"/>
    <p:text>Clarity here, what do you mean by the last question?</p:text>
    <p:extLst>
      <p:ext uri="{C676402C-5697-4E1C-873F-D02D1690AC5C}">
        <p15:threadingInfo xmlns:p15="http://schemas.microsoft.com/office/powerpoint/2012/main" timeZoneBias="30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0-12-07T09:22:27.330" idx="5">
    <p:pos x="4032" y="2678"/>
    <p:text>CBJ?</p:text>
    <p:extLst>
      <p:ext uri="{C676402C-5697-4E1C-873F-D02D1690AC5C}">
        <p15:threadingInfo xmlns:p15="http://schemas.microsoft.com/office/powerpoint/2012/main" timeZoneBias="30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14350" y="2834640"/>
            <a:ext cx="5829300" cy="192024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028700" y="5120640"/>
            <a:ext cx="4800600" cy="22860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tx1"/>
                </a:solidFill>
                <a:latin typeface="Franklin Gothic Book"/>
                <a:cs typeface="Franklin Gothic Book"/>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tx1"/>
                </a:solidFill>
                <a:latin typeface="Franklin Gothic Book"/>
                <a:cs typeface="Franklin Gothic Book"/>
              </a:defRPr>
            </a:lvl1pPr>
          </a:lstStyle>
          <a:p>
            <a:endParaRPr/>
          </a:p>
        </p:txBody>
      </p:sp>
      <p:sp>
        <p:nvSpPr>
          <p:cNvPr id="3" name="Holder 3"/>
          <p:cNvSpPr>
            <a:spLocks noGrp="1"/>
          </p:cNvSpPr>
          <p:nvPr>
            <p:ph sz="half" idx="2"/>
          </p:nvPr>
        </p:nvSpPr>
        <p:spPr>
          <a:xfrm>
            <a:off x="342900" y="2103120"/>
            <a:ext cx="2983230" cy="603504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531870" y="2103120"/>
            <a:ext cx="2983230" cy="603504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21313" y="7814310"/>
            <a:ext cx="1382365" cy="1329689"/>
          </a:xfrm>
          <a:prstGeom prst="rect">
            <a:avLst/>
          </a:prstGeom>
          <a:blipFill>
            <a:blip r:embed="rId2" cstate="print"/>
            <a:stretch>
              <a:fillRect/>
            </a:stretch>
          </a:blipFill>
        </p:spPr>
        <p:txBody>
          <a:bodyPr wrap="square" lIns="0" tIns="0" rIns="0" bIns="0" rtlCol="0"/>
          <a:lstStyle/>
          <a:p>
            <a:endParaRPr/>
          </a:p>
        </p:txBody>
      </p:sp>
      <p:sp>
        <p:nvSpPr>
          <p:cNvPr id="17" name="bk object 17"/>
          <p:cNvSpPr/>
          <p:nvPr/>
        </p:nvSpPr>
        <p:spPr>
          <a:xfrm>
            <a:off x="0" y="1017398"/>
            <a:ext cx="6817359" cy="8126730"/>
          </a:xfrm>
          <a:custGeom>
            <a:avLst/>
            <a:gdLst/>
            <a:ahLst/>
            <a:cxnLst/>
            <a:rect l="l" t="t" r="r" b="b"/>
            <a:pathLst>
              <a:path w="6817359" h="8126730">
                <a:moveTo>
                  <a:pt x="0" y="0"/>
                </a:moveTo>
                <a:lnTo>
                  <a:pt x="0" y="8126601"/>
                </a:lnTo>
                <a:lnTo>
                  <a:pt x="6817266" y="8126601"/>
                </a:lnTo>
                <a:lnTo>
                  <a:pt x="0" y="0"/>
                </a:lnTo>
                <a:close/>
              </a:path>
            </a:pathLst>
          </a:custGeom>
          <a:solidFill>
            <a:srgbClr val="595959"/>
          </a:solidFill>
        </p:spPr>
        <p:txBody>
          <a:bodyPr wrap="square" lIns="0" tIns="0" rIns="0" bIns="0" rtlCol="0"/>
          <a:lstStyle/>
          <a:p>
            <a:endParaRPr/>
          </a:p>
        </p:txBody>
      </p:sp>
      <p:sp>
        <p:nvSpPr>
          <p:cNvPr id="18" name="bk object 18"/>
          <p:cNvSpPr/>
          <p:nvPr/>
        </p:nvSpPr>
        <p:spPr>
          <a:xfrm>
            <a:off x="3642498" y="6252557"/>
            <a:ext cx="3215640" cy="2891790"/>
          </a:xfrm>
          <a:custGeom>
            <a:avLst/>
            <a:gdLst/>
            <a:ahLst/>
            <a:cxnLst/>
            <a:rect l="l" t="t" r="r" b="b"/>
            <a:pathLst>
              <a:path w="3215640" h="2891790">
                <a:moveTo>
                  <a:pt x="0" y="0"/>
                </a:moveTo>
                <a:lnTo>
                  <a:pt x="3215500" y="0"/>
                </a:lnTo>
                <a:lnTo>
                  <a:pt x="3215500" y="2891442"/>
                </a:lnTo>
                <a:lnTo>
                  <a:pt x="0" y="2891442"/>
                </a:lnTo>
                <a:lnTo>
                  <a:pt x="0" y="0"/>
                </a:lnTo>
                <a:close/>
              </a:path>
            </a:pathLst>
          </a:custGeom>
          <a:solidFill>
            <a:srgbClr val="FFFFFF"/>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000" b="0" i="0">
                <a:solidFill>
                  <a:schemeClr val="tx1"/>
                </a:solidFill>
                <a:latin typeface="Franklin Gothic Book"/>
                <a:cs typeface="Franklin Gothic Boo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21313" y="7814310"/>
            <a:ext cx="1382365" cy="13296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132678" y="315467"/>
            <a:ext cx="6592642" cy="330200"/>
          </a:xfrm>
          <a:prstGeom prst="rect">
            <a:avLst/>
          </a:prstGeom>
        </p:spPr>
        <p:txBody>
          <a:bodyPr wrap="square" lIns="0" tIns="0" rIns="0" bIns="0">
            <a:spAutoFit/>
          </a:bodyPr>
          <a:lstStyle>
            <a:lvl1pPr>
              <a:defRPr sz="2000" b="0" i="0">
                <a:solidFill>
                  <a:schemeClr val="tx1"/>
                </a:solidFill>
                <a:latin typeface="Franklin Gothic Book"/>
                <a:cs typeface="Franklin Gothic Book"/>
              </a:defRPr>
            </a:lvl1pPr>
          </a:lstStyle>
          <a:p>
            <a:endParaRPr/>
          </a:p>
        </p:txBody>
      </p:sp>
      <p:sp>
        <p:nvSpPr>
          <p:cNvPr id="3" name="Holder 3"/>
          <p:cNvSpPr>
            <a:spLocks noGrp="1"/>
          </p:cNvSpPr>
          <p:nvPr>
            <p:ph type="body" idx="1"/>
          </p:nvPr>
        </p:nvSpPr>
        <p:spPr>
          <a:xfrm>
            <a:off x="342900" y="2103120"/>
            <a:ext cx="6172200" cy="603504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331720" y="8503920"/>
            <a:ext cx="2194560" cy="4572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42900" y="8503920"/>
            <a:ext cx="1577340" cy="4572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12/7/20</a:t>
            </a:fld>
            <a:endParaRPr lang="en-US"/>
          </a:p>
        </p:txBody>
      </p:sp>
      <p:sp>
        <p:nvSpPr>
          <p:cNvPr id="6" name="Holder 6"/>
          <p:cNvSpPr>
            <a:spLocks noGrp="1"/>
          </p:cNvSpPr>
          <p:nvPr>
            <p:ph type="sldNum" sz="quarter" idx="7"/>
          </p:nvPr>
        </p:nvSpPr>
        <p:spPr>
          <a:xfrm>
            <a:off x="4937760" y="8503920"/>
            <a:ext cx="1577340" cy="4572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5.xml"/><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image" Target="../media/image7.emf"/></Relationships>
</file>

<file path=ppt/slides/_rels/slide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mailto:kate@kateburda.com" TargetMode="External"/><Relationship Id="rId2" Type="http://schemas.openxmlformats.org/officeDocument/2006/relationships/image" Target="../media/image19.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0148" y="204723"/>
            <a:ext cx="5545455" cy="2287270"/>
          </a:xfrm>
          <a:prstGeom prst="rect">
            <a:avLst/>
          </a:prstGeom>
        </p:spPr>
        <p:txBody>
          <a:bodyPr vert="horz" wrap="square" lIns="0" tIns="71755" rIns="0" bIns="0" rtlCol="0">
            <a:spAutoFit/>
          </a:bodyPr>
          <a:lstStyle/>
          <a:p>
            <a:pPr marL="12065" marR="5080" indent="-635" algn="ctr">
              <a:lnSpc>
                <a:spcPct val="90300"/>
              </a:lnSpc>
              <a:spcBef>
                <a:spcPts val="565"/>
              </a:spcBef>
            </a:pPr>
            <a:r>
              <a:rPr sz="4000" spc="-5" dirty="0">
                <a:solidFill>
                  <a:srgbClr val="595959"/>
                </a:solidFill>
                <a:latin typeface="Franklin Gothic Medium"/>
                <a:cs typeface="Franklin Gothic Medium"/>
              </a:rPr>
              <a:t>Effective </a:t>
            </a:r>
            <a:r>
              <a:rPr sz="4000" spc="-10" dirty="0">
                <a:solidFill>
                  <a:srgbClr val="595959"/>
                </a:solidFill>
                <a:latin typeface="Franklin Gothic Medium"/>
                <a:cs typeface="Franklin Gothic Medium"/>
              </a:rPr>
              <a:t>Budget  </a:t>
            </a:r>
            <a:r>
              <a:rPr sz="4000" spc="-5" dirty="0">
                <a:solidFill>
                  <a:srgbClr val="595959"/>
                </a:solidFill>
                <a:latin typeface="Franklin Gothic Medium"/>
                <a:cs typeface="Franklin Gothic Medium"/>
              </a:rPr>
              <a:t>Planning </a:t>
            </a:r>
            <a:r>
              <a:rPr sz="4000" spc="-20" dirty="0">
                <a:solidFill>
                  <a:srgbClr val="595959"/>
                </a:solidFill>
                <a:latin typeface="Franklin Gothic Medium"/>
                <a:cs typeface="Franklin Gothic Medium"/>
              </a:rPr>
              <a:t>for </a:t>
            </a:r>
            <a:r>
              <a:rPr sz="4000" spc="-35" dirty="0">
                <a:solidFill>
                  <a:srgbClr val="595959"/>
                </a:solidFill>
                <a:latin typeface="Franklin Gothic Medium"/>
                <a:cs typeface="Franklin Gothic Medium"/>
              </a:rPr>
              <a:t>Top-Line  </a:t>
            </a:r>
            <a:r>
              <a:rPr sz="4000" spc="-20" dirty="0">
                <a:solidFill>
                  <a:srgbClr val="595959"/>
                </a:solidFill>
                <a:latin typeface="Franklin Gothic Medium"/>
                <a:cs typeface="Franklin Gothic Medium"/>
              </a:rPr>
              <a:t>Revenue </a:t>
            </a:r>
            <a:r>
              <a:rPr sz="4000" spc="-15" dirty="0">
                <a:solidFill>
                  <a:srgbClr val="595959"/>
                </a:solidFill>
                <a:latin typeface="Franklin Gothic Medium"/>
                <a:cs typeface="Franklin Gothic Medium"/>
              </a:rPr>
              <a:t>Growth </a:t>
            </a:r>
            <a:r>
              <a:rPr sz="4000" spc="-5" dirty="0">
                <a:solidFill>
                  <a:srgbClr val="595959"/>
                </a:solidFill>
                <a:latin typeface="Franklin Gothic Medium"/>
                <a:cs typeface="Franklin Gothic Medium"/>
              </a:rPr>
              <a:t>in</a:t>
            </a:r>
            <a:r>
              <a:rPr sz="4000" spc="-55" dirty="0">
                <a:solidFill>
                  <a:srgbClr val="595959"/>
                </a:solidFill>
                <a:latin typeface="Franklin Gothic Medium"/>
                <a:cs typeface="Franklin Gothic Medium"/>
              </a:rPr>
              <a:t> </a:t>
            </a:r>
            <a:r>
              <a:rPr sz="4000" spc="-5" dirty="0">
                <a:solidFill>
                  <a:srgbClr val="595959"/>
                </a:solidFill>
                <a:latin typeface="Franklin Gothic Medium"/>
                <a:cs typeface="Franklin Gothic Medium"/>
              </a:rPr>
              <a:t>Times  of</a:t>
            </a:r>
            <a:r>
              <a:rPr sz="4000" spc="-15" dirty="0">
                <a:solidFill>
                  <a:srgbClr val="595959"/>
                </a:solidFill>
                <a:latin typeface="Franklin Gothic Medium"/>
                <a:cs typeface="Franklin Gothic Medium"/>
              </a:rPr>
              <a:t> </a:t>
            </a:r>
            <a:r>
              <a:rPr sz="4000" spc="-5" dirty="0">
                <a:solidFill>
                  <a:srgbClr val="B52372"/>
                </a:solidFill>
                <a:latin typeface="Franklin Gothic Medium"/>
                <a:cs typeface="Franklin Gothic Medium"/>
              </a:rPr>
              <a:t>Disruption</a:t>
            </a:r>
            <a:endParaRPr sz="4000">
              <a:latin typeface="Franklin Gothic Medium"/>
              <a:cs typeface="Franklin Gothic Medium"/>
            </a:endParaRPr>
          </a:p>
        </p:txBody>
      </p:sp>
      <p:sp>
        <p:nvSpPr>
          <p:cNvPr id="3" name="object 3"/>
          <p:cNvSpPr/>
          <p:nvPr/>
        </p:nvSpPr>
        <p:spPr>
          <a:xfrm>
            <a:off x="3909875" y="6705600"/>
            <a:ext cx="2395728" cy="1575816"/>
          </a:xfrm>
          <a:prstGeom prst="rect">
            <a:avLst/>
          </a:prstGeom>
          <a:blipFill>
            <a:blip r:embed="rId2" cstate="print"/>
            <a:stretch>
              <a:fillRect/>
            </a:stretch>
          </a:blipFill>
        </p:spPr>
        <p:txBody>
          <a:bodyPr wrap="square" lIns="0" tIns="0" rIns="0" bIns="0" rtlCol="0"/>
          <a:lstStyle/>
          <a:p>
            <a:endParaRPr dirty="0"/>
          </a:p>
        </p:txBody>
      </p:sp>
      <p:sp>
        <p:nvSpPr>
          <p:cNvPr id="4" name="object 4"/>
          <p:cNvSpPr/>
          <p:nvPr/>
        </p:nvSpPr>
        <p:spPr>
          <a:xfrm>
            <a:off x="4343400" y="7568184"/>
            <a:ext cx="1757992" cy="1575816"/>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0" y="2534462"/>
            <a:ext cx="6840115" cy="3853474"/>
          </a:xfrm>
          <a:prstGeom prst="rect">
            <a:avLst/>
          </a:prstGeom>
          <a:blipFill>
            <a:blip r:embed="rId4" cstate="print"/>
            <a:stretch>
              <a:fillRect/>
            </a:stretch>
          </a:blipFill>
        </p:spPr>
        <p:txBody>
          <a:bodyPr wrap="square" lIns="0" tIns="0" rIns="0" bIns="0" rtlCol="0"/>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45C5FF9-39FD-E845-B8DF-B66ABF0DA9C5}"/>
              </a:ext>
            </a:extLst>
          </p:cNvPr>
          <p:cNvSpPr>
            <a:spLocks noGrp="1"/>
          </p:cNvSpPr>
          <p:nvPr>
            <p:ph type="ftr" sz="quarter" idx="11"/>
          </p:nvPr>
        </p:nvSpPr>
        <p:spPr>
          <a:xfrm>
            <a:off x="1886109" y="8475136"/>
            <a:ext cx="3085782" cy="486833"/>
          </a:xfrm>
          <a:prstGeom prst="rect">
            <a:avLst/>
          </a:prstGeom>
        </p:spPr>
        <p:txBody>
          <a:bodyPr vert="horz" lIns="91440" tIns="45720" rIns="91440" bIns="45720" rtlCol="0" anchor="ctr">
            <a:normAutofit/>
          </a:bodyPr>
          <a:lstStyle>
            <a:defPPr>
              <a:defRPr lang="en-US"/>
            </a:defPPr>
            <a:lvl1pPr marL="0" algn="ct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1219170">
              <a:spcAft>
                <a:spcPts val="800"/>
              </a:spcAft>
            </a:pPr>
            <a:r>
              <a:rPr lang="en-US"/>
              <a:t>Effective Planning for Top-Line Growth in Times of Disruption</a:t>
            </a:r>
            <a:endParaRPr lang="en-US" dirty="0">
              <a:solidFill>
                <a:srgbClr val="898989"/>
              </a:solidFill>
              <a:latin typeface="Franklin Gothic Book" panose="020B0503020102020204" pitchFamily="34" charset="0"/>
            </a:endParaRPr>
          </a:p>
        </p:txBody>
      </p:sp>
      <p:sp>
        <p:nvSpPr>
          <p:cNvPr id="4" name="Slide Number Placeholder 3">
            <a:extLst>
              <a:ext uri="{FF2B5EF4-FFF2-40B4-BE49-F238E27FC236}">
                <a16:creationId xmlns:a16="http://schemas.microsoft.com/office/drawing/2014/main" id="{779CF32B-716C-BA49-AEC0-47FCFA361D3E}"/>
              </a:ext>
            </a:extLst>
          </p:cNvPr>
          <p:cNvSpPr>
            <a:spLocks noGrp="1"/>
          </p:cNvSpPr>
          <p:nvPr>
            <p:ph type="sldNum" sz="quarter" idx="12"/>
          </p:nvPr>
        </p:nvSpPr>
        <p:spPr>
          <a:xfrm>
            <a:off x="4843463" y="8475136"/>
            <a:ext cx="1543050" cy="486833"/>
          </a:xfrm>
          <a:prstGeom prst="rect">
            <a:avLst/>
          </a:prstGeom>
        </p:spPr>
        <p:txBody>
          <a:bodyPr vert="horz" lIns="91440" tIns="45720" rIns="91440" bIns="45720" rtlCol="0" anchor="ctr">
            <a:normAutofit/>
          </a:bodyP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1219170">
              <a:spcAft>
                <a:spcPts val="800"/>
              </a:spcAft>
            </a:pPr>
            <a:fld id="{32775EE9-40D8-B543-B7C1-B0B1AB060621}" type="slidenum">
              <a:rPr lang="en-US" smtClean="0"/>
              <a:pPr/>
              <a:t>2</a:t>
            </a:fld>
            <a:endParaRPr lang="en-US" sz="1333" dirty="0">
              <a:solidFill>
                <a:srgbClr val="898989"/>
              </a:solidFill>
            </a:endParaRPr>
          </a:p>
        </p:txBody>
      </p:sp>
      <p:sp>
        <p:nvSpPr>
          <p:cNvPr id="5" name="TextBox 4">
            <a:extLst>
              <a:ext uri="{FF2B5EF4-FFF2-40B4-BE49-F238E27FC236}">
                <a16:creationId xmlns:a16="http://schemas.microsoft.com/office/drawing/2014/main" id="{9A0BD690-13DB-4440-B53E-FDEC635AF18A}"/>
              </a:ext>
            </a:extLst>
          </p:cNvPr>
          <p:cNvSpPr txBox="1"/>
          <p:nvPr/>
        </p:nvSpPr>
        <p:spPr>
          <a:xfrm>
            <a:off x="180346" y="229977"/>
            <a:ext cx="2539347" cy="7786747"/>
          </a:xfrm>
          <a:prstGeom prst="rect">
            <a:avLst/>
          </a:prstGeom>
          <a:solidFill>
            <a:schemeClr val="tx1">
              <a:lumMod val="65000"/>
              <a:lumOff val="35000"/>
            </a:schemeClr>
          </a:solidFill>
        </p:spPr>
        <p:txBody>
          <a:bodyPr wrap="square" rtlCol="0">
            <a:spAutoFit/>
          </a:bodyPr>
          <a:lstStyle/>
          <a:p>
            <a:pPr algn="ctr"/>
            <a:endParaRPr lang="en-US" sz="4800" dirty="0">
              <a:solidFill>
                <a:schemeClr val="bg1"/>
              </a:solidFill>
              <a:highlight>
                <a:srgbClr val="808080"/>
              </a:highlight>
              <a:latin typeface="Franklin Gothic Medium" panose="020B0603020102020204" pitchFamily="34" charset="0"/>
            </a:endParaRPr>
          </a:p>
          <a:p>
            <a:pPr algn="ctr"/>
            <a:endParaRPr lang="en-US" sz="4800" dirty="0">
              <a:solidFill>
                <a:schemeClr val="bg1"/>
              </a:solidFill>
              <a:highlight>
                <a:srgbClr val="808080"/>
              </a:highlight>
              <a:latin typeface="Franklin Gothic Medium" panose="020B0603020102020204" pitchFamily="34" charset="0"/>
            </a:endParaRPr>
          </a:p>
          <a:p>
            <a:pPr algn="ctr"/>
            <a:endParaRPr lang="en-US" sz="4800" dirty="0">
              <a:solidFill>
                <a:schemeClr val="bg1"/>
              </a:solidFill>
              <a:highlight>
                <a:srgbClr val="808080"/>
              </a:highlight>
              <a:latin typeface="Franklin Gothic Medium" panose="020B0603020102020204" pitchFamily="34" charset="0"/>
            </a:endParaRPr>
          </a:p>
          <a:p>
            <a:pPr algn="ctr"/>
            <a:endParaRPr lang="en-US" sz="4800" dirty="0">
              <a:solidFill>
                <a:schemeClr val="bg1"/>
              </a:solidFill>
              <a:highlight>
                <a:srgbClr val="808080"/>
              </a:highlight>
              <a:latin typeface="Franklin Gothic Medium" panose="020B0603020102020204" pitchFamily="34" charset="0"/>
            </a:endParaRPr>
          </a:p>
          <a:p>
            <a:pPr algn="ctr"/>
            <a:r>
              <a:rPr lang="en-US" sz="4800" dirty="0">
                <a:solidFill>
                  <a:schemeClr val="bg1"/>
                </a:solidFill>
                <a:latin typeface="Franklin Gothic Medium" panose="020B0603020102020204" pitchFamily="34" charset="0"/>
              </a:rPr>
              <a:t>Table </a:t>
            </a:r>
          </a:p>
          <a:p>
            <a:pPr algn="ctr"/>
            <a:r>
              <a:rPr lang="en-US" sz="4800" dirty="0">
                <a:solidFill>
                  <a:schemeClr val="bg1"/>
                </a:solidFill>
                <a:latin typeface="Franklin Gothic Medium" panose="020B0603020102020204" pitchFamily="34" charset="0"/>
              </a:rPr>
              <a:t>of </a:t>
            </a:r>
          </a:p>
          <a:p>
            <a:pPr algn="ctr"/>
            <a:r>
              <a:rPr lang="en-US" sz="4800" dirty="0">
                <a:solidFill>
                  <a:schemeClr val="bg1"/>
                </a:solidFill>
                <a:latin typeface="Franklin Gothic Medium" panose="020B0603020102020204" pitchFamily="34" charset="0"/>
              </a:rPr>
              <a:t>Contents</a:t>
            </a:r>
          </a:p>
          <a:p>
            <a:pPr algn="ctr"/>
            <a:endParaRPr lang="en-US" sz="4800" dirty="0">
              <a:solidFill>
                <a:schemeClr val="bg1"/>
              </a:solidFill>
              <a:highlight>
                <a:srgbClr val="808080"/>
              </a:highlight>
              <a:latin typeface="Franklin Gothic Medium" panose="020B0603020102020204" pitchFamily="34" charset="0"/>
            </a:endParaRPr>
          </a:p>
          <a:p>
            <a:pPr algn="ctr"/>
            <a:endParaRPr lang="en-US" sz="4800" dirty="0">
              <a:solidFill>
                <a:schemeClr val="bg1"/>
              </a:solidFill>
              <a:highlight>
                <a:srgbClr val="808080"/>
              </a:highlight>
              <a:latin typeface="Franklin Gothic Medium" panose="020B0603020102020204" pitchFamily="34" charset="0"/>
            </a:endParaRPr>
          </a:p>
          <a:p>
            <a:pPr algn="ctr"/>
            <a:endParaRPr lang="en-US" sz="4800" dirty="0">
              <a:solidFill>
                <a:schemeClr val="bg1"/>
              </a:solidFill>
              <a:highlight>
                <a:srgbClr val="808080"/>
              </a:highlight>
              <a:latin typeface="Franklin Gothic Medium" panose="020B0603020102020204" pitchFamily="34" charset="0"/>
            </a:endParaRPr>
          </a:p>
          <a:p>
            <a:endParaRPr lang="en-US" sz="2000" dirty="0">
              <a:solidFill>
                <a:schemeClr val="bg1"/>
              </a:solidFill>
              <a:highlight>
                <a:srgbClr val="808080"/>
              </a:highlight>
            </a:endParaRPr>
          </a:p>
        </p:txBody>
      </p:sp>
      <p:sp>
        <p:nvSpPr>
          <p:cNvPr id="9" name="TextBox 8">
            <a:extLst>
              <a:ext uri="{FF2B5EF4-FFF2-40B4-BE49-F238E27FC236}">
                <a16:creationId xmlns:a16="http://schemas.microsoft.com/office/drawing/2014/main" id="{D339E3B2-6289-7F44-B059-CE8EEAD024E9}"/>
              </a:ext>
            </a:extLst>
          </p:cNvPr>
          <p:cNvSpPr txBox="1"/>
          <p:nvPr/>
        </p:nvSpPr>
        <p:spPr>
          <a:xfrm>
            <a:off x="3736098" y="643994"/>
            <a:ext cx="3054535" cy="1200329"/>
          </a:xfrm>
          <a:prstGeom prst="rect">
            <a:avLst/>
          </a:prstGeom>
          <a:noFill/>
        </p:spPr>
        <p:txBody>
          <a:bodyPr wrap="square" rtlCol="0">
            <a:spAutoFit/>
          </a:bodyPr>
          <a:lstStyle/>
          <a:p>
            <a:pPr algn="ctr"/>
            <a:r>
              <a:rPr lang="en-US" dirty="0">
                <a:latin typeface="Franklin Gothic Book" panose="020B0503020102020204" pitchFamily="34" charset="0"/>
              </a:rPr>
              <a:t>1. Today’s State and the Ripple Effect</a:t>
            </a:r>
          </a:p>
          <a:p>
            <a:r>
              <a:rPr lang="en-US" dirty="0">
                <a:latin typeface="Franklin Gothic Book" panose="020B0503020102020204" pitchFamily="34" charset="0"/>
              </a:rPr>
              <a:t>					</a:t>
            </a:r>
            <a:r>
              <a:rPr lang="en-US" dirty="0">
                <a:solidFill>
                  <a:srgbClr val="B52372"/>
                </a:solidFill>
                <a:latin typeface="Franklin Gothic Book" panose="020B0503020102020204" pitchFamily="34" charset="0"/>
              </a:rPr>
              <a:t> </a:t>
            </a:r>
          </a:p>
        </p:txBody>
      </p:sp>
      <p:sp>
        <p:nvSpPr>
          <p:cNvPr id="11" name="TextBox 10">
            <a:extLst>
              <a:ext uri="{FF2B5EF4-FFF2-40B4-BE49-F238E27FC236}">
                <a16:creationId xmlns:a16="http://schemas.microsoft.com/office/drawing/2014/main" id="{131CEDC2-582B-F34C-89E0-4879822A143F}"/>
              </a:ext>
            </a:extLst>
          </p:cNvPr>
          <p:cNvSpPr txBox="1"/>
          <p:nvPr/>
        </p:nvSpPr>
        <p:spPr>
          <a:xfrm>
            <a:off x="4046956" y="2298263"/>
            <a:ext cx="2755164" cy="1477328"/>
          </a:xfrm>
          <a:prstGeom prst="rect">
            <a:avLst/>
          </a:prstGeom>
          <a:noFill/>
        </p:spPr>
        <p:txBody>
          <a:bodyPr wrap="square" rtlCol="0">
            <a:spAutoFit/>
          </a:bodyPr>
          <a:lstStyle/>
          <a:p>
            <a:r>
              <a:rPr lang="en-US" dirty="0">
                <a:latin typeface="Franklin Gothic Book" panose="020B0503020102020204" pitchFamily="34" charset="0"/>
              </a:rPr>
              <a:t>2. What the Best Do </a:t>
            </a:r>
          </a:p>
          <a:p>
            <a:r>
              <a:rPr lang="en-US" dirty="0">
                <a:latin typeface="Franklin Gothic Book" panose="020B0503020102020204" pitchFamily="34" charset="0"/>
              </a:rPr>
              <a:t>	Differently</a:t>
            </a:r>
          </a:p>
          <a:p>
            <a:r>
              <a:rPr lang="en-US" dirty="0">
                <a:latin typeface="Franklin Gothic Book" panose="020B0503020102020204" pitchFamily="34" charset="0"/>
              </a:rPr>
              <a:t>					</a:t>
            </a:r>
          </a:p>
        </p:txBody>
      </p:sp>
      <p:sp>
        <p:nvSpPr>
          <p:cNvPr id="12" name="TextBox 11">
            <a:extLst>
              <a:ext uri="{FF2B5EF4-FFF2-40B4-BE49-F238E27FC236}">
                <a16:creationId xmlns:a16="http://schemas.microsoft.com/office/drawing/2014/main" id="{6A2FC1AF-EF3B-344B-B18D-F5DFC4357EEB}"/>
              </a:ext>
            </a:extLst>
          </p:cNvPr>
          <p:cNvSpPr txBox="1"/>
          <p:nvPr/>
        </p:nvSpPr>
        <p:spPr>
          <a:xfrm>
            <a:off x="4049478" y="3951088"/>
            <a:ext cx="2566201" cy="646331"/>
          </a:xfrm>
          <a:prstGeom prst="rect">
            <a:avLst/>
          </a:prstGeom>
          <a:noFill/>
        </p:spPr>
        <p:txBody>
          <a:bodyPr wrap="square" rtlCol="0">
            <a:spAutoFit/>
          </a:bodyPr>
          <a:lstStyle/>
          <a:p>
            <a:r>
              <a:rPr lang="en-US" dirty="0">
                <a:latin typeface="Franklin Gothic Book" panose="020B0503020102020204" pitchFamily="34" charset="0"/>
              </a:rPr>
              <a:t>3. The Critical Link		</a:t>
            </a:r>
          </a:p>
        </p:txBody>
      </p:sp>
      <p:sp>
        <p:nvSpPr>
          <p:cNvPr id="14" name="TextBox 13">
            <a:extLst>
              <a:ext uri="{FF2B5EF4-FFF2-40B4-BE49-F238E27FC236}">
                <a16:creationId xmlns:a16="http://schemas.microsoft.com/office/drawing/2014/main" id="{C31B348D-26C5-1B40-8507-25647BA5DFDD}"/>
              </a:ext>
            </a:extLst>
          </p:cNvPr>
          <p:cNvSpPr txBox="1"/>
          <p:nvPr/>
        </p:nvSpPr>
        <p:spPr>
          <a:xfrm>
            <a:off x="4046956" y="5055831"/>
            <a:ext cx="2879581" cy="1754326"/>
          </a:xfrm>
          <a:prstGeom prst="rect">
            <a:avLst/>
          </a:prstGeom>
          <a:noFill/>
        </p:spPr>
        <p:txBody>
          <a:bodyPr wrap="square" rtlCol="0">
            <a:spAutoFit/>
          </a:bodyPr>
          <a:lstStyle/>
          <a:p>
            <a:endParaRPr lang="en-US" dirty="0">
              <a:latin typeface="Franklin Gothic Book" panose="020B0503020102020204" pitchFamily="34" charset="0"/>
            </a:endParaRPr>
          </a:p>
          <a:p>
            <a:endParaRPr lang="en-US" dirty="0">
              <a:latin typeface="Franklin Gothic Book" panose="020B0503020102020204" pitchFamily="34" charset="0"/>
            </a:endParaRPr>
          </a:p>
          <a:p>
            <a:r>
              <a:rPr lang="en-US" dirty="0">
                <a:latin typeface="Franklin Gothic Book" panose="020B0503020102020204" pitchFamily="34" charset="0"/>
              </a:rPr>
              <a:t>4. 10 Critical Questions to a   </a:t>
            </a:r>
          </a:p>
          <a:p>
            <a:r>
              <a:rPr lang="en-US" dirty="0">
                <a:latin typeface="Franklin Gothic Book" panose="020B0503020102020204" pitchFamily="34" charset="0"/>
              </a:rPr>
              <a:t>         Successful Budget</a:t>
            </a:r>
          </a:p>
          <a:p>
            <a:r>
              <a:rPr lang="en-US" dirty="0">
                <a:latin typeface="Franklin Gothic Book" panose="020B0503020102020204" pitchFamily="34" charset="0"/>
              </a:rPr>
              <a:t>	Review			</a:t>
            </a:r>
          </a:p>
        </p:txBody>
      </p:sp>
      <p:sp>
        <p:nvSpPr>
          <p:cNvPr id="16" name="TextBox 15">
            <a:extLst>
              <a:ext uri="{FF2B5EF4-FFF2-40B4-BE49-F238E27FC236}">
                <a16:creationId xmlns:a16="http://schemas.microsoft.com/office/drawing/2014/main" id="{A12B5BCF-FB94-F146-8A1F-CD8A4FDD103A}"/>
              </a:ext>
            </a:extLst>
          </p:cNvPr>
          <p:cNvSpPr txBox="1"/>
          <p:nvPr/>
        </p:nvSpPr>
        <p:spPr>
          <a:xfrm>
            <a:off x="4067438" y="6713509"/>
            <a:ext cx="2879581" cy="1200329"/>
          </a:xfrm>
          <a:prstGeom prst="rect">
            <a:avLst/>
          </a:prstGeom>
          <a:noFill/>
        </p:spPr>
        <p:txBody>
          <a:bodyPr wrap="square" rtlCol="0">
            <a:spAutoFit/>
          </a:bodyPr>
          <a:lstStyle/>
          <a:p>
            <a:endParaRPr lang="en-US" dirty="0">
              <a:latin typeface="Franklin Gothic Book" panose="020B0503020102020204" pitchFamily="34" charset="0"/>
            </a:endParaRPr>
          </a:p>
          <a:p>
            <a:endParaRPr lang="en-US" dirty="0">
              <a:latin typeface="Franklin Gothic Book" panose="020B0503020102020204" pitchFamily="34" charset="0"/>
            </a:endParaRPr>
          </a:p>
          <a:p>
            <a:r>
              <a:rPr lang="en-US" dirty="0">
                <a:latin typeface="Franklin Gothic Book" panose="020B0503020102020204" pitchFamily="34" charset="0"/>
              </a:rPr>
              <a:t>5. The Takeaway			</a:t>
            </a:r>
          </a:p>
        </p:txBody>
      </p:sp>
      <p:pic>
        <p:nvPicPr>
          <p:cNvPr id="17" name="Picture 16">
            <a:extLst>
              <a:ext uri="{FF2B5EF4-FFF2-40B4-BE49-F238E27FC236}">
                <a16:creationId xmlns:a16="http://schemas.microsoft.com/office/drawing/2014/main" id="{EA357A95-B8F9-1D49-993C-E3A0B4AAF16B}"/>
              </a:ext>
            </a:extLst>
          </p:cNvPr>
          <p:cNvPicPr>
            <a:picLocks noChangeAspect="1"/>
          </p:cNvPicPr>
          <p:nvPr/>
        </p:nvPicPr>
        <p:blipFill>
          <a:blip r:embed="rId2"/>
          <a:stretch>
            <a:fillRect/>
          </a:stretch>
        </p:blipFill>
        <p:spPr>
          <a:xfrm>
            <a:off x="3128969" y="7044115"/>
            <a:ext cx="514611" cy="704503"/>
          </a:xfrm>
          <a:prstGeom prst="rect">
            <a:avLst/>
          </a:prstGeom>
        </p:spPr>
      </p:pic>
      <p:pic>
        <p:nvPicPr>
          <p:cNvPr id="18" name="Picture 17">
            <a:extLst>
              <a:ext uri="{FF2B5EF4-FFF2-40B4-BE49-F238E27FC236}">
                <a16:creationId xmlns:a16="http://schemas.microsoft.com/office/drawing/2014/main" id="{F878D4F7-CD88-6542-A293-BABE93027816}"/>
              </a:ext>
            </a:extLst>
          </p:cNvPr>
          <p:cNvPicPr>
            <a:picLocks noChangeAspect="1"/>
          </p:cNvPicPr>
          <p:nvPr/>
        </p:nvPicPr>
        <p:blipFill>
          <a:blip r:embed="rId3">
            <a:grayscl/>
          </a:blip>
          <a:stretch>
            <a:fillRect/>
          </a:stretch>
        </p:blipFill>
        <p:spPr>
          <a:xfrm>
            <a:off x="3065395" y="3896939"/>
            <a:ext cx="583331" cy="439950"/>
          </a:xfrm>
          <a:prstGeom prst="rect">
            <a:avLst/>
          </a:prstGeom>
        </p:spPr>
      </p:pic>
      <p:pic>
        <p:nvPicPr>
          <p:cNvPr id="20" name="Picture 19">
            <a:extLst>
              <a:ext uri="{FF2B5EF4-FFF2-40B4-BE49-F238E27FC236}">
                <a16:creationId xmlns:a16="http://schemas.microsoft.com/office/drawing/2014/main" id="{4268B87E-F442-BA47-8862-85B154745625}"/>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rot="10354531">
            <a:off x="3118128" y="5557213"/>
            <a:ext cx="348317" cy="482128"/>
          </a:xfrm>
          <a:prstGeom prst="rect">
            <a:avLst/>
          </a:prstGeom>
        </p:spPr>
      </p:pic>
      <p:pic>
        <p:nvPicPr>
          <p:cNvPr id="21" name="Picture 20">
            <a:extLst>
              <a:ext uri="{FF2B5EF4-FFF2-40B4-BE49-F238E27FC236}">
                <a16:creationId xmlns:a16="http://schemas.microsoft.com/office/drawing/2014/main" id="{61770EEC-2FE8-AA42-88FA-C05BDA2F244B}"/>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3020858" y="2154658"/>
            <a:ext cx="514611" cy="608955"/>
          </a:xfrm>
          <a:prstGeom prst="rect">
            <a:avLst/>
          </a:prstGeom>
        </p:spPr>
      </p:pic>
      <p:pic>
        <p:nvPicPr>
          <p:cNvPr id="22" name="Picture 21">
            <a:extLst>
              <a:ext uri="{FF2B5EF4-FFF2-40B4-BE49-F238E27FC236}">
                <a16:creationId xmlns:a16="http://schemas.microsoft.com/office/drawing/2014/main" id="{5D65DF00-756D-014D-8A8C-91E8846BE1A1}"/>
              </a:ext>
            </a:extLst>
          </p:cNvPr>
          <p:cNvPicPr>
            <a:picLocks noChangeAspect="1"/>
          </p:cNvPicPr>
          <p:nvPr/>
        </p:nvPicPr>
        <p:blipFill>
          <a:blip r:embed="rId6"/>
          <a:stretch>
            <a:fillRect/>
          </a:stretch>
        </p:blipFill>
        <p:spPr>
          <a:xfrm>
            <a:off x="3057748" y="670924"/>
            <a:ext cx="466037" cy="608955"/>
          </a:xfrm>
          <a:prstGeom prst="rect">
            <a:avLst/>
          </a:prstGeom>
        </p:spPr>
      </p:pic>
    </p:spTree>
    <p:extLst>
      <p:ext uri="{BB962C8B-B14F-4D97-AF65-F5344CB8AC3E}">
        <p14:creationId xmlns:p14="http://schemas.microsoft.com/office/powerpoint/2010/main" val="30260474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6854825" cy="9144000"/>
          </a:xfrm>
          <a:custGeom>
            <a:avLst/>
            <a:gdLst/>
            <a:ahLst/>
            <a:cxnLst/>
            <a:rect l="l" t="t" r="r" b="b"/>
            <a:pathLst>
              <a:path w="6854825" h="9144000">
                <a:moveTo>
                  <a:pt x="0" y="9144000"/>
                </a:moveTo>
                <a:lnTo>
                  <a:pt x="0" y="0"/>
                </a:lnTo>
                <a:lnTo>
                  <a:pt x="6854426" y="0"/>
                </a:lnTo>
                <a:lnTo>
                  <a:pt x="6854426" y="9143999"/>
                </a:lnTo>
                <a:lnTo>
                  <a:pt x="0" y="9144000"/>
                </a:lnTo>
                <a:close/>
              </a:path>
            </a:pathLst>
          </a:custGeom>
          <a:solidFill>
            <a:srgbClr val="555759"/>
          </a:solidFill>
        </p:spPr>
        <p:txBody>
          <a:bodyPr wrap="square" lIns="0" tIns="0" rIns="0" bIns="0" rtlCol="0"/>
          <a:lstStyle/>
          <a:p>
            <a:endParaRPr dirty="0"/>
          </a:p>
        </p:txBody>
      </p:sp>
      <p:sp>
        <p:nvSpPr>
          <p:cNvPr id="3" name="object 3"/>
          <p:cNvSpPr/>
          <p:nvPr/>
        </p:nvSpPr>
        <p:spPr>
          <a:xfrm>
            <a:off x="0" y="0"/>
            <a:ext cx="6854825" cy="9144000"/>
          </a:xfrm>
          <a:custGeom>
            <a:avLst/>
            <a:gdLst/>
            <a:ahLst/>
            <a:cxnLst/>
            <a:rect l="l" t="t" r="r" b="b"/>
            <a:pathLst>
              <a:path w="6854825" h="9144000">
                <a:moveTo>
                  <a:pt x="0" y="0"/>
                </a:moveTo>
                <a:lnTo>
                  <a:pt x="6854426" y="0"/>
                </a:lnTo>
                <a:lnTo>
                  <a:pt x="6854426" y="9143999"/>
                </a:lnTo>
              </a:path>
            </a:pathLst>
          </a:custGeom>
          <a:ln w="12700">
            <a:solidFill>
              <a:srgbClr val="3C3E8F"/>
            </a:solidFill>
          </a:ln>
        </p:spPr>
        <p:txBody>
          <a:bodyPr wrap="square" lIns="0" tIns="0" rIns="0" bIns="0" rtlCol="0"/>
          <a:lstStyle/>
          <a:p>
            <a:endParaRPr/>
          </a:p>
        </p:txBody>
      </p:sp>
      <p:sp>
        <p:nvSpPr>
          <p:cNvPr id="4" name="object 4"/>
          <p:cNvSpPr/>
          <p:nvPr/>
        </p:nvSpPr>
        <p:spPr>
          <a:xfrm>
            <a:off x="334209" y="7574061"/>
            <a:ext cx="1219200" cy="1569938"/>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39960" y="-2895600"/>
            <a:ext cx="6408420" cy="13086080"/>
          </a:xfrm>
          <a:prstGeom prst="rect">
            <a:avLst/>
          </a:prstGeom>
        </p:spPr>
        <p:txBody>
          <a:bodyPr vert="horz" wrap="square" lIns="0" tIns="12700" rIns="0" bIns="0" rtlCol="0">
            <a:spAutoFit/>
          </a:bodyPr>
          <a:lstStyle/>
          <a:p>
            <a:pPr marL="12700">
              <a:lnSpc>
                <a:spcPct val="100000"/>
              </a:lnSpc>
              <a:spcBef>
                <a:spcPts val="100"/>
              </a:spcBef>
            </a:pPr>
            <a:r>
              <a:rPr lang="en-US" sz="85700" dirty="0">
                <a:solidFill>
                  <a:srgbClr val="D51067"/>
                </a:solidFill>
                <a:latin typeface="Franklin Gothic Medium"/>
                <a:cs typeface="Franklin Gothic Medium"/>
              </a:rPr>
              <a:t>1</a:t>
            </a:r>
            <a:endParaRPr sz="85700" dirty="0">
              <a:latin typeface="Franklin Gothic Medium"/>
              <a:cs typeface="Franklin Gothic Medium"/>
            </a:endParaRPr>
          </a:p>
        </p:txBody>
      </p:sp>
      <p:sp>
        <p:nvSpPr>
          <p:cNvPr id="6" name="object 6"/>
          <p:cNvSpPr txBox="1"/>
          <p:nvPr/>
        </p:nvSpPr>
        <p:spPr>
          <a:xfrm>
            <a:off x="3292859" y="5462523"/>
            <a:ext cx="3255645" cy="452120"/>
          </a:xfrm>
          <a:prstGeom prst="rect">
            <a:avLst/>
          </a:prstGeom>
        </p:spPr>
        <p:txBody>
          <a:bodyPr vert="horz" wrap="square" lIns="0" tIns="12700" rIns="0" bIns="0" rtlCol="0">
            <a:spAutoFit/>
          </a:bodyPr>
          <a:lstStyle/>
          <a:p>
            <a:pPr marL="12700">
              <a:lnSpc>
                <a:spcPct val="100000"/>
              </a:lnSpc>
              <a:spcBef>
                <a:spcPts val="100"/>
              </a:spcBef>
            </a:pPr>
            <a:r>
              <a:rPr sz="2800" i="1" dirty="0">
                <a:solidFill>
                  <a:srgbClr val="FFFFFF"/>
                </a:solidFill>
                <a:latin typeface="Franklin Gothic Book Italic"/>
                <a:cs typeface="Franklin Gothic Book Italic"/>
              </a:rPr>
              <a:t>Today’s State and the</a:t>
            </a:r>
            <a:endParaRPr sz="2800" dirty="0">
              <a:latin typeface="Franklin Gothic Book Italic"/>
              <a:cs typeface="Franklin Gothic Book Italic"/>
            </a:endParaRPr>
          </a:p>
        </p:txBody>
      </p:sp>
      <p:sp>
        <p:nvSpPr>
          <p:cNvPr id="7" name="object 7"/>
          <p:cNvSpPr txBox="1"/>
          <p:nvPr/>
        </p:nvSpPr>
        <p:spPr>
          <a:xfrm>
            <a:off x="4599943" y="5843523"/>
            <a:ext cx="1946910" cy="452120"/>
          </a:xfrm>
          <a:prstGeom prst="rect">
            <a:avLst/>
          </a:prstGeom>
        </p:spPr>
        <p:txBody>
          <a:bodyPr vert="horz" wrap="square" lIns="0" tIns="12700" rIns="0" bIns="0" rtlCol="0">
            <a:spAutoFit/>
          </a:bodyPr>
          <a:lstStyle/>
          <a:p>
            <a:pPr marL="12700">
              <a:lnSpc>
                <a:spcPct val="100000"/>
              </a:lnSpc>
              <a:spcBef>
                <a:spcPts val="100"/>
              </a:spcBef>
            </a:pPr>
            <a:r>
              <a:rPr sz="2800" i="1" dirty="0">
                <a:solidFill>
                  <a:srgbClr val="FFFFFF"/>
                </a:solidFill>
                <a:latin typeface="Franklin Gothic Book Italic"/>
                <a:cs typeface="Franklin Gothic Book Italic"/>
              </a:rPr>
              <a:t>Ripple Effect</a:t>
            </a:r>
            <a:endParaRPr sz="2800" dirty="0">
              <a:latin typeface="Franklin Gothic Book Italic"/>
              <a:cs typeface="Franklin Gothic Book Italic"/>
            </a:endParaRPr>
          </a:p>
        </p:txBody>
      </p:sp>
      <p:sp>
        <p:nvSpPr>
          <p:cNvPr id="8" name="object 8"/>
          <p:cNvSpPr txBox="1"/>
          <p:nvPr/>
        </p:nvSpPr>
        <p:spPr>
          <a:xfrm>
            <a:off x="2218927" y="8581135"/>
            <a:ext cx="2412365" cy="151323"/>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2F2F2"/>
                </a:solidFill>
                <a:latin typeface="Franklin Gothic Book"/>
                <a:cs typeface="Franklin Gothic Book"/>
              </a:rPr>
              <a:t>Effective Planning for Top-Line Growth </a:t>
            </a:r>
            <a:r>
              <a:rPr sz="900" dirty="0">
                <a:solidFill>
                  <a:srgbClr val="F2F2F2"/>
                </a:solidFill>
                <a:latin typeface="Franklin Gothic Book"/>
                <a:cs typeface="Franklin Gothic Book"/>
              </a:rPr>
              <a:t>in </a:t>
            </a:r>
            <a:r>
              <a:rPr lang="en-US" sz="900" dirty="0">
                <a:solidFill>
                  <a:srgbClr val="F2F2F2"/>
                </a:solidFill>
                <a:latin typeface="Franklin Gothic Book"/>
                <a:cs typeface="Franklin Gothic Book"/>
              </a:rPr>
              <a:t>Times of</a:t>
            </a:r>
            <a:endParaRPr sz="900" dirty="0">
              <a:latin typeface="Franklin Gothic Book"/>
              <a:cs typeface="Franklin Gothic Book"/>
            </a:endParaRPr>
          </a:p>
        </p:txBody>
      </p:sp>
      <p:sp>
        <p:nvSpPr>
          <p:cNvPr id="9" name="object 9"/>
          <p:cNvSpPr txBox="1"/>
          <p:nvPr/>
        </p:nvSpPr>
        <p:spPr>
          <a:xfrm>
            <a:off x="3164250" y="8721343"/>
            <a:ext cx="52260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2F2F2"/>
                </a:solidFill>
                <a:latin typeface="Franklin Gothic Book"/>
                <a:cs typeface="Franklin Gothic Book"/>
              </a:rPr>
              <a:t>Disruption</a:t>
            </a:r>
            <a:endParaRPr sz="900">
              <a:latin typeface="Franklin Gothic Book"/>
              <a:cs typeface="Franklin Gothic Book"/>
            </a:endParaRPr>
          </a:p>
        </p:txBody>
      </p:sp>
      <p:sp>
        <p:nvSpPr>
          <p:cNvPr id="10" name="object 10"/>
          <p:cNvSpPr txBox="1"/>
          <p:nvPr/>
        </p:nvSpPr>
        <p:spPr>
          <a:xfrm>
            <a:off x="6223952" y="8623807"/>
            <a:ext cx="8382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FFFFFF"/>
                </a:solidFill>
                <a:latin typeface="Calibri"/>
                <a:cs typeface="Calibri"/>
              </a:rPr>
              <a:t>3</a:t>
            </a:r>
            <a:endParaRPr sz="90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5431535"/>
            <a:ext cx="6848856" cy="2295144"/>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6343648" y="8730488"/>
            <a:ext cx="83820" cy="162560"/>
          </a:xfrm>
          <a:prstGeom prst="rect">
            <a:avLst/>
          </a:prstGeom>
        </p:spPr>
        <p:txBody>
          <a:bodyPr vert="horz" wrap="square" lIns="0" tIns="12700" rIns="0" bIns="0" rtlCol="0">
            <a:spAutoFit/>
          </a:bodyPr>
          <a:lstStyle/>
          <a:p>
            <a:pPr marL="12700">
              <a:lnSpc>
                <a:spcPct val="100000"/>
              </a:lnSpc>
              <a:spcBef>
                <a:spcPts val="100"/>
              </a:spcBef>
            </a:pPr>
            <a:r>
              <a:rPr sz="900" dirty="0">
                <a:latin typeface="Calibri"/>
                <a:cs typeface="Calibri"/>
              </a:rPr>
              <a:t>4</a:t>
            </a:r>
            <a:endParaRPr sz="900">
              <a:latin typeface="Calibri"/>
              <a:cs typeface="Calibri"/>
            </a:endParaRPr>
          </a:p>
        </p:txBody>
      </p:sp>
      <p:sp>
        <p:nvSpPr>
          <p:cNvPr id="4" name="object 4"/>
          <p:cNvSpPr txBox="1">
            <a:spLocks noGrp="1"/>
          </p:cNvSpPr>
          <p:nvPr>
            <p:ph type="title"/>
          </p:nvPr>
        </p:nvSpPr>
        <p:spPr>
          <a:xfrm>
            <a:off x="180515" y="78739"/>
            <a:ext cx="4371340" cy="391160"/>
          </a:xfrm>
          <a:prstGeom prst="rect">
            <a:avLst/>
          </a:prstGeom>
        </p:spPr>
        <p:txBody>
          <a:bodyPr vert="horz" wrap="square" lIns="0" tIns="12700" rIns="0" bIns="0" rtlCol="0">
            <a:spAutoFit/>
          </a:bodyPr>
          <a:lstStyle/>
          <a:p>
            <a:pPr marL="12700">
              <a:lnSpc>
                <a:spcPct val="100000"/>
              </a:lnSpc>
              <a:spcBef>
                <a:spcPts val="100"/>
              </a:spcBef>
            </a:pPr>
            <a:r>
              <a:rPr sz="2400" spc="-35" dirty="0"/>
              <a:t>Today’s </a:t>
            </a:r>
            <a:r>
              <a:rPr sz="2400" spc="-10" dirty="0"/>
              <a:t>state </a:t>
            </a:r>
            <a:r>
              <a:rPr sz="2400" dirty="0"/>
              <a:t>and </a:t>
            </a:r>
            <a:r>
              <a:rPr sz="2400" spc="-5" dirty="0"/>
              <a:t>the ripple</a:t>
            </a:r>
            <a:r>
              <a:rPr sz="2400" spc="5" dirty="0"/>
              <a:t> </a:t>
            </a:r>
            <a:r>
              <a:rPr sz="2400" dirty="0"/>
              <a:t>effect</a:t>
            </a:r>
            <a:endParaRPr sz="2400"/>
          </a:p>
        </p:txBody>
      </p:sp>
      <p:sp>
        <p:nvSpPr>
          <p:cNvPr id="5" name="object 5"/>
          <p:cNvSpPr/>
          <p:nvPr/>
        </p:nvSpPr>
        <p:spPr>
          <a:xfrm>
            <a:off x="252684" y="615820"/>
            <a:ext cx="2620010" cy="0"/>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6" name="object 6"/>
          <p:cNvSpPr txBox="1"/>
          <p:nvPr/>
        </p:nvSpPr>
        <p:spPr>
          <a:xfrm>
            <a:off x="331424" y="650239"/>
            <a:ext cx="6175375" cy="4416594"/>
          </a:xfrm>
          <a:prstGeom prst="rect">
            <a:avLst/>
          </a:prstGeom>
        </p:spPr>
        <p:txBody>
          <a:bodyPr vert="horz" wrap="square" lIns="0" tIns="12700" rIns="0" bIns="0" rtlCol="0">
            <a:spAutoFit/>
          </a:bodyPr>
          <a:lstStyle/>
          <a:p>
            <a:pPr marL="12700" marR="55244">
              <a:lnSpc>
                <a:spcPct val="100000"/>
              </a:lnSpc>
              <a:spcBef>
                <a:spcPts val="100"/>
              </a:spcBef>
            </a:pPr>
            <a:r>
              <a:rPr sz="1500" spc="-5" dirty="0">
                <a:latin typeface="Franklin Gothic Book"/>
                <a:cs typeface="Franklin Gothic Book"/>
              </a:rPr>
              <a:t>What </a:t>
            </a:r>
            <a:r>
              <a:rPr sz="1500" spc="-10" dirty="0">
                <a:latin typeface="Franklin Gothic Book"/>
                <a:cs typeface="Franklin Gothic Book"/>
              </a:rPr>
              <a:t>we know </a:t>
            </a:r>
            <a:r>
              <a:rPr sz="1500" spc="-15" dirty="0">
                <a:latin typeface="Franklin Gothic Book"/>
                <a:cs typeface="Franklin Gothic Book"/>
              </a:rPr>
              <a:t>for </a:t>
            </a:r>
            <a:r>
              <a:rPr sz="1500" dirty="0">
                <a:latin typeface="Franklin Gothic Book"/>
                <a:cs typeface="Franklin Gothic Book"/>
              </a:rPr>
              <a:t>sure is the </a:t>
            </a:r>
            <a:r>
              <a:rPr sz="1500" spc="-10" dirty="0">
                <a:latin typeface="Franklin Gothic Book"/>
                <a:cs typeface="Franklin Gothic Book"/>
              </a:rPr>
              <a:t>marketplace </a:t>
            </a:r>
            <a:r>
              <a:rPr sz="1500" spc="-5" dirty="0">
                <a:latin typeface="Franklin Gothic Book"/>
                <a:cs typeface="Franklin Gothic Book"/>
              </a:rPr>
              <a:t>of </a:t>
            </a:r>
            <a:r>
              <a:rPr sz="1500" spc="-10" dirty="0">
                <a:latin typeface="Franklin Gothic Book"/>
                <a:cs typeface="Franklin Gothic Book"/>
              </a:rPr>
              <a:t>tomorrow </a:t>
            </a:r>
            <a:r>
              <a:rPr sz="1500" dirty="0">
                <a:latin typeface="Franklin Gothic Book"/>
                <a:cs typeface="Franklin Gothic Book"/>
              </a:rPr>
              <a:t>will </a:t>
            </a:r>
            <a:r>
              <a:rPr sz="1500" spc="-10" dirty="0">
                <a:latin typeface="Franklin Gothic Book"/>
                <a:cs typeface="Franklin Gothic Book"/>
              </a:rPr>
              <a:t>not </a:t>
            </a:r>
            <a:r>
              <a:rPr sz="1500" spc="-5" dirty="0">
                <a:latin typeface="Franklin Gothic Book"/>
                <a:cs typeface="Franklin Gothic Book"/>
              </a:rPr>
              <a:t>resemble </a:t>
            </a:r>
            <a:r>
              <a:rPr sz="1500" spc="-15" dirty="0">
                <a:latin typeface="Franklin Gothic Book"/>
                <a:cs typeface="Franklin Gothic Book"/>
              </a:rPr>
              <a:t>any</a:t>
            </a:r>
            <a:r>
              <a:rPr lang="en-US" sz="1500" spc="-15" dirty="0">
                <a:latin typeface="Franklin Gothic Book"/>
                <a:cs typeface="Franklin Gothic Book"/>
              </a:rPr>
              <a:t> of</a:t>
            </a:r>
            <a:r>
              <a:rPr sz="1500" spc="-15" dirty="0">
                <a:latin typeface="Franklin Gothic Book"/>
                <a:cs typeface="Franklin Gothic Book"/>
              </a:rPr>
              <a:t> </a:t>
            </a:r>
            <a:r>
              <a:rPr sz="1500" dirty="0">
                <a:latin typeface="Franklin Gothic Book"/>
                <a:cs typeface="Franklin Gothic Book"/>
              </a:rPr>
              <a:t>disruptions </a:t>
            </a:r>
            <a:r>
              <a:rPr sz="1500" spc="-5" dirty="0">
                <a:latin typeface="Franklin Gothic Book"/>
                <a:cs typeface="Franklin Gothic Book"/>
              </a:rPr>
              <a:t>of </a:t>
            </a:r>
            <a:r>
              <a:rPr sz="1500" dirty="0">
                <a:latin typeface="Franklin Gothic Book"/>
                <a:cs typeface="Franklin Gothic Book"/>
              </a:rPr>
              <a:t>the</a:t>
            </a:r>
            <a:r>
              <a:rPr sz="1500" spc="-10" dirty="0">
                <a:latin typeface="Franklin Gothic Book"/>
                <a:cs typeface="Franklin Gothic Book"/>
              </a:rPr>
              <a:t> </a:t>
            </a:r>
            <a:r>
              <a:rPr sz="1500" spc="-5" dirty="0">
                <a:latin typeface="Franklin Gothic Book"/>
                <a:cs typeface="Franklin Gothic Book"/>
              </a:rPr>
              <a:t>past.</a:t>
            </a:r>
            <a:endParaRPr sz="1500" dirty="0">
              <a:latin typeface="Franklin Gothic Book"/>
              <a:cs typeface="Franklin Gothic Book"/>
            </a:endParaRPr>
          </a:p>
          <a:p>
            <a:pPr>
              <a:lnSpc>
                <a:spcPct val="100000"/>
              </a:lnSpc>
              <a:spcBef>
                <a:spcPts val="40"/>
              </a:spcBef>
            </a:pPr>
            <a:endParaRPr sz="800" dirty="0">
              <a:latin typeface="Franklin Gothic Book"/>
              <a:cs typeface="Franklin Gothic Book"/>
            </a:endParaRPr>
          </a:p>
          <a:p>
            <a:pPr marL="12700" marR="458470">
              <a:lnSpc>
                <a:spcPct val="100000"/>
              </a:lnSpc>
            </a:pPr>
            <a:r>
              <a:rPr sz="1500" dirty="0">
                <a:latin typeface="Franklin Gothic Book"/>
                <a:cs typeface="Franklin Gothic Book"/>
              </a:rPr>
              <a:t>In the </a:t>
            </a:r>
            <a:r>
              <a:rPr sz="1500" spc="-5" dirty="0">
                <a:latin typeface="Franklin Gothic Book"/>
                <a:cs typeface="Franklin Gothic Book"/>
              </a:rPr>
              <a:t>aftermath of </a:t>
            </a:r>
            <a:r>
              <a:rPr sz="1500" spc="-15" dirty="0">
                <a:latin typeface="Franklin Gothic Book"/>
                <a:cs typeface="Franklin Gothic Book"/>
              </a:rPr>
              <a:t>9/11 </a:t>
            </a:r>
            <a:r>
              <a:rPr sz="1500" spc="-5" dirty="0">
                <a:latin typeface="Franklin Gothic Book"/>
                <a:cs typeface="Franklin Gothic Book"/>
              </a:rPr>
              <a:t>and </a:t>
            </a:r>
            <a:r>
              <a:rPr sz="1500" dirty="0">
                <a:latin typeface="Franklin Gothic Book"/>
                <a:cs typeface="Franklin Gothic Book"/>
              </a:rPr>
              <a:t>the </a:t>
            </a:r>
            <a:r>
              <a:rPr sz="1500" spc="-5" dirty="0">
                <a:latin typeface="Franklin Gothic Book"/>
                <a:cs typeface="Franklin Gothic Book"/>
              </a:rPr>
              <a:t>2008 financial </a:t>
            </a:r>
            <a:r>
              <a:rPr sz="1500" dirty="0">
                <a:latin typeface="Franklin Gothic Book"/>
                <a:cs typeface="Franklin Gothic Book"/>
              </a:rPr>
              <a:t>crisis, behaviors arose within </a:t>
            </a:r>
            <a:r>
              <a:rPr sz="1500" spc="-10" dirty="0">
                <a:latin typeface="Franklin Gothic Book"/>
                <a:cs typeface="Franklin Gothic Book"/>
              </a:rPr>
              <a:t>revenue </a:t>
            </a:r>
            <a:r>
              <a:rPr sz="1500" spc="-5" dirty="0">
                <a:latin typeface="Franklin Gothic Book"/>
                <a:cs typeface="Franklin Gothic Book"/>
              </a:rPr>
              <a:t>that negatively </a:t>
            </a:r>
            <a:r>
              <a:rPr sz="1500" spc="-10" dirty="0">
                <a:latin typeface="Franklin Gothic Book"/>
                <a:cs typeface="Franklin Gothic Book"/>
              </a:rPr>
              <a:t>impacted revenue </a:t>
            </a:r>
            <a:r>
              <a:rPr sz="1500" spc="-5" dirty="0">
                <a:latin typeface="Franklin Gothic Book"/>
                <a:cs typeface="Franklin Gothic Book"/>
              </a:rPr>
              <a:t>and profitability;</a:t>
            </a:r>
            <a:endParaRPr sz="1500" dirty="0">
              <a:latin typeface="Franklin Gothic Book"/>
              <a:cs typeface="Franklin Gothic Book"/>
            </a:endParaRPr>
          </a:p>
          <a:p>
            <a:pPr marL="469900" marR="5715">
              <a:lnSpc>
                <a:spcPct val="100000"/>
              </a:lnSpc>
              <a:spcBef>
                <a:spcPts val="385"/>
              </a:spcBef>
              <a:buAutoNum type="arabicPeriod"/>
              <a:tabLst>
                <a:tab pos="722630" algn="l"/>
              </a:tabLst>
            </a:pPr>
            <a:r>
              <a:rPr lang="en-US" sz="1500" dirty="0">
                <a:latin typeface="Franklin Gothic Book"/>
                <a:cs typeface="Franklin Gothic Book"/>
              </a:rPr>
              <a:t>  T</a:t>
            </a:r>
            <a:r>
              <a:rPr sz="1500" dirty="0">
                <a:latin typeface="Franklin Gothic Book"/>
                <a:cs typeface="Franklin Gothic Book"/>
              </a:rPr>
              <a:t>he </a:t>
            </a:r>
            <a:r>
              <a:rPr sz="1500" spc="-5" dirty="0">
                <a:latin typeface="Franklin Gothic Book"/>
                <a:cs typeface="Franklin Gothic Book"/>
              </a:rPr>
              <a:t>sales </a:t>
            </a:r>
            <a:r>
              <a:rPr sz="1500" spc="-10" dirty="0">
                <a:latin typeface="Franklin Gothic Book"/>
                <a:cs typeface="Franklin Gothic Book"/>
              </a:rPr>
              <a:t>teams </a:t>
            </a:r>
            <a:r>
              <a:rPr sz="1500" spc="-5" dirty="0">
                <a:latin typeface="Franklin Gothic Book"/>
                <a:cs typeface="Franklin Gothic Book"/>
              </a:rPr>
              <a:t>continued </a:t>
            </a:r>
            <a:r>
              <a:rPr sz="1500" spc="-15" dirty="0">
                <a:latin typeface="Franklin Gothic Book"/>
                <a:cs typeface="Franklin Gothic Book"/>
              </a:rPr>
              <a:t>to </a:t>
            </a:r>
            <a:r>
              <a:rPr sz="1500" dirty="0">
                <a:latin typeface="Franklin Gothic Book"/>
                <a:cs typeface="Franklin Gothic Book"/>
              </a:rPr>
              <a:t>use </a:t>
            </a:r>
            <a:r>
              <a:rPr sz="1500" spc="-5" dirty="0">
                <a:latin typeface="Franklin Gothic Book"/>
                <a:cs typeface="Franklin Gothic Book"/>
              </a:rPr>
              <a:t>archaic methodology </a:t>
            </a:r>
            <a:r>
              <a:rPr sz="1500" spc="-10" dirty="0">
                <a:latin typeface="Franklin Gothic Book"/>
                <a:cs typeface="Franklin Gothic Book"/>
              </a:rPr>
              <a:t>focused </a:t>
            </a:r>
            <a:r>
              <a:rPr sz="1500" spc="-5" dirty="0">
                <a:latin typeface="Franklin Gothic Book"/>
                <a:cs typeface="Franklin Gothic Book"/>
              </a:rPr>
              <a:t>on  </a:t>
            </a:r>
            <a:r>
              <a:rPr sz="1500" dirty="0">
                <a:latin typeface="Franklin Gothic Book"/>
                <a:cs typeface="Franklin Gothic Book"/>
              </a:rPr>
              <a:t>the </a:t>
            </a:r>
            <a:r>
              <a:rPr sz="1500" spc="-5" dirty="0">
                <a:latin typeface="Franklin Gothic Book"/>
                <a:cs typeface="Franklin Gothic Book"/>
              </a:rPr>
              <a:t>price-driven sale that ultimately </a:t>
            </a:r>
            <a:r>
              <a:rPr lang="en-US" sz="1500" spc="-5" dirty="0">
                <a:latin typeface="Franklin Gothic Book"/>
                <a:cs typeface="Franklin Gothic Book"/>
              </a:rPr>
              <a:t>led</a:t>
            </a:r>
            <a:r>
              <a:rPr sz="1500" spc="-5" dirty="0">
                <a:latin typeface="Franklin Gothic Book"/>
                <a:cs typeface="Franklin Gothic Book"/>
              </a:rPr>
              <a:t> </a:t>
            </a:r>
            <a:r>
              <a:rPr sz="1500" spc="-15" dirty="0">
                <a:latin typeface="Franklin Gothic Book"/>
                <a:cs typeface="Franklin Gothic Book"/>
              </a:rPr>
              <a:t>to </a:t>
            </a:r>
            <a:r>
              <a:rPr sz="1500" spc="-5" dirty="0">
                <a:latin typeface="Franklin Gothic Book"/>
                <a:cs typeface="Franklin Gothic Book"/>
              </a:rPr>
              <a:t>increasing</a:t>
            </a:r>
            <a:r>
              <a:rPr sz="1500" spc="75" dirty="0">
                <a:latin typeface="Franklin Gothic Book"/>
                <a:cs typeface="Franklin Gothic Book"/>
              </a:rPr>
              <a:t> </a:t>
            </a:r>
            <a:r>
              <a:rPr sz="1500" spc="-5" dirty="0">
                <a:latin typeface="Franklin Gothic Book"/>
                <a:cs typeface="Franklin Gothic Book"/>
              </a:rPr>
              <a:t>acquisition</a:t>
            </a:r>
            <a:r>
              <a:rPr sz="1500" spc="5" dirty="0">
                <a:latin typeface="Franklin Gothic Book"/>
                <a:cs typeface="Franklin Gothic Book"/>
              </a:rPr>
              <a:t> </a:t>
            </a:r>
            <a:r>
              <a:rPr sz="1500" dirty="0">
                <a:latin typeface="Franklin Gothic Book"/>
                <a:cs typeface="Franklin Gothic Book"/>
              </a:rPr>
              <a:t>costs  and </a:t>
            </a:r>
            <a:r>
              <a:rPr sz="1500" spc="-5" dirty="0">
                <a:latin typeface="Franklin Gothic Book"/>
                <a:cs typeface="Franklin Gothic Book"/>
              </a:rPr>
              <a:t>decreasing </a:t>
            </a:r>
            <a:r>
              <a:rPr sz="1500" spc="-10" dirty="0">
                <a:latin typeface="Franklin Gothic Book"/>
                <a:cs typeface="Franklin Gothic Book"/>
              </a:rPr>
              <a:t>levels </a:t>
            </a:r>
            <a:r>
              <a:rPr sz="1500" spc="-5" dirty="0">
                <a:latin typeface="Franklin Gothic Book"/>
                <a:cs typeface="Franklin Gothic Book"/>
              </a:rPr>
              <a:t>of</a:t>
            </a:r>
            <a:r>
              <a:rPr sz="1500" spc="20" dirty="0">
                <a:latin typeface="Franklin Gothic Book"/>
                <a:cs typeface="Franklin Gothic Book"/>
              </a:rPr>
              <a:t> </a:t>
            </a:r>
            <a:r>
              <a:rPr sz="1500" spc="-10" dirty="0">
                <a:latin typeface="Franklin Gothic Book"/>
                <a:cs typeface="Franklin Gothic Book"/>
              </a:rPr>
              <a:t>profitability.</a:t>
            </a:r>
            <a:endParaRPr sz="1500" dirty="0">
              <a:latin typeface="Franklin Gothic Book"/>
              <a:cs typeface="Franklin Gothic Book"/>
            </a:endParaRPr>
          </a:p>
          <a:p>
            <a:pPr marL="469900" marR="293370">
              <a:lnSpc>
                <a:spcPct val="100000"/>
              </a:lnSpc>
              <a:spcBef>
                <a:spcPts val="1200"/>
              </a:spcBef>
              <a:buAutoNum type="arabicPeriod"/>
              <a:tabLst>
                <a:tab pos="770890" algn="l"/>
                <a:tab pos="771525" algn="l"/>
              </a:tabLst>
            </a:pPr>
            <a:r>
              <a:rPr lang="en-US" sz="1500" spc="-15" dirty="0">
                <a:latin typeface="Franklin Gothic Book"/>
                <a:cs typeface="Franklin Gothic Book"/>
              </a:rPr>
              <a:t>  </a:t>
            </a:r>
            <a:r>
              <a:rPr sz="1500" spc="-15" dirty="0">
                <a:latin typeface="Franklin Gothic Book"/>
                <a:cs typeface="Franklin Gothic Book"/>
              </a:rPr>
              <a:t>Revenue </a:t>
            </a:r>
            <a:r>
              <a:rPr sz="1500" spc="-10" dirty="0">
                <a:latin typeface="Franklin Gothic Book"/>
                <a:cs typeface="Franklin Gothic Book"/>
              </a:rPr>
              <a:t>Management teams </a:t>
            </a:r>
            <a:r>
              <a:rPr sz="1500" spc="-5" dirty="0">
                <a:latin typeface="Franklin Gothic Book"/>
                <a:cs typeface="Franklin Gothic Book"/>
              </a:rPr>
              <a:t>subscribed </a:t>
            </a:r>
            <a:r>
              <a:rPr sz="1500" spc="-15" dirty="0">
                <a:latin typeface="Franklin Gothic Book"/>
                <a:cs typeface="Franklin Gothic Book"/>
              </a:rPr>
              <a:t>to </a:t>
            </a:r>
            <a:r>
              <a:rPr sz="1500" dirty="0">
                <a:latin typeface="Franklin Gothic Book"/>
                <a:cs typeface="Franklin Gothic Book"/>
              </a:rPr>
              <a:t>the </a:t>
            </a:r>
            <a:r>
              <a:rPr sz="1500" spc="-5" dirty="0">
                <a:latin typeface="Franklin Gothic Book"/>
                <a:cs typeface="Franklin Gothic Book"/>
              </a:rPr>
              <a:t>fallacious </a:t>
            </a:r>
            <a:r>
              <a:rPr sz="1500" dirty="0">
                <a:latin typeface="Franklin Gothic Book"/>
                <a:cs typeface="Franklin Gothic Book"/>
              </a:rPr>
              <a:t>belief  that </a:t>
            </a:r>
            <a:r>
              <a:rPr sz="1500" spc="-5" dirty="0">
                <a:latin typeface="Franklin Gothic Book"/>
                <a:cs typeface="Franklin Gothic Book"/>
              </a:rPr>
              <a:t>discounting </a:t>
            </a:r>
            <a:r>
              <a:rPr sz="1500" spc="-10" dirty="0">
                <a:latin typeface="Franklin Gothic Book"/>
                <a:cs typeface="Franklin Gothic Book"/>
              </a:rPr>
              <a:t>rates </a:t>
            </a:r>
            <a:r>
              <a:rPr sz="1500" spc="-5" dirty="0">
                <a:latin typeface="Franklin Gothic Book"/>
                <a:cs typeface="Franklin Gothic Book"/>
              </a:rPr>
              <a:t>would increase </a:t>
            </a:r>
            <a:r>
              <a:rPr sz="1500" spc="-10" dirty="0">
                <a:latin typeface="Franklin Gothic Book"/>
                <a:cs typeface="Franklin Gothic Book"/>
              </a:rPr>
              <a:t>revenue </a:t>
            </a:r>
            <a:r>
              <a:rPr sz="1500" spc="-5" dirty="0">
                <a:latin typeface="Franklin Gothic Book"/>
                <a:cs typeface="Franklin Gothic Book"/>
              </a:rPr>
              <a:t>and</a:t>
            </a:r>
            <a:r>
              <a:rPr sz="1500" spc="40" dirty="0">
                <a:latin typeface="Franklin Gothic Book"/>
                <a:cs typeface="Franklin Gothic Book"/>
              </a:rPr>
              <a:t> </a:t>
            </a:r>
            <a:r>
              <a:rPr sz="1500" spc="-10" dirty="0">
                <a:latin typeface="Franklin Gothic Book"/>
                <a:cs typeface="Franklin Gothic Book"/>
              </a:rPr>
              <a:t>profitablity.</a:t>
            </a:r>
            <a:endParaRPr sz="1500" dirty="0">
              <a:latin typeface="Franklin Gothic Book"/>
              <a:cs typeface="Franklin Gothic Book"/>
            </a:endParaRPr>
          </a:p>
          <a:p>
            <a:pPr marL="469900" marR="667385">
              <a:lnSpc>
                <a:spcPct val="100000"/>
              </a:lnSpc>
              <a:spcBef>
                <a:spcPts val="1105"/>
              </a:spcBef>
              <a:buAutoNum type="arabicPeriod"/>
              <a:tabLst>
                <a:tab pos="770890" algn="l"/>
                <a:tab pos="771525" algn="l"/>
              </a:tabLst>
            </a:pPr>
            <a:r>
              <a:rPr lang="en-US" sz="1500" spc="-5" dirty="0">
                <a:latin typeface="Franklin Gothic Book"/>
                <a:cs typeface="Franklin Gothic Book"/>
              </a:rPr>
              <a:t>  </a:t>
            </a:r>
            <a:r>
              <a:rPr sz="1500" spc="-5" dirty="0">
                <a:latin typeface="Franklin Gothic Book"/>
                <a:cs typeface="Franklin Gothic Book"/>
              </a:rPr>
              <a:t>Sales and </a:t>
            </a:r>
            <a:r>
              <a:rPr sz="1500" spc="-10" dirty="0">
                <a:latin typeface="Franklin Gothic Book"/>
                <a:cs typeface="Franklin Gothic Book"/>
              </a:rPr>
              <a:t>Marketing</a:t>
            </a:r>
            <a:r>
              <a:rPr lang="en-US" sz="1500" spc="-10" dirty="0">
                <a:latin typeface="Franklin Gothic Book"/>
                <a:cs typeface="Franklin Gothic Book"/>
              </a:rPr>
              <a:t> teams</a:t>
            </a:r>
            <a:r>
              <a:rPr sz="1500" spc="-10" dirty="0">
                <a:latin typeface="Franklin Gothic Book"/>
                <a:cs typeface="Franklin Gothic Book"/>
              </a:rPr>
              <a:t> focused </a:t>
            </a:r>
            <a:r>
              <a:rPr sz="1500" spc="-5" dirty="0">
                <a:latin typeface="Franklin Gothic Book"/>
                <a:cs typeface="Franklin Gothic Book"/>
              </a:rPr>
              <a:t>on </a:t>
            </a:r>
            <a:r>
              <a:rPr sz="1500" dirty="0">
                <a:latin typeface="Franklin Gothic Book"/>
                <a:cs typeface="Franklin Gothic Book"/>
              </a:rPr>
              <a:t>a </a:t>
            </a:r>
            <a:r>
              <a:rPr sz="1500" spc="-5" dirty="0">
                <a:latin typeface="Franklin Gothic Book"/>
                <a:cs typeface="Franklin Gothic Book"/>
              </a:rPr>
              <a:t>product and </a:t>
            </a:r>
            <a:r>
              <a:rPr sz="1500" dirty="0">
                <a:latin typeface="Franklin Gothic Book"/>
                <a:cs typeface="Franklin Gothic Book"/>
              </a:rPr>
              <a:t>price driven </a:t>
            </a:r>
            <a:r>
              <a:rPr sz="1500" spc="-10" dirty="0">
                <a:latin typeface="Franklin Gothic Book"/>
                <a:cs typeface="Franklin Gothic Book"/>
              </a:rPr>
              <a:t>conversation, </a:t>
            </a:r>
            <a:r>
              <a:rPr sz="1500" spc="-5" dirty="0">
                <a:latin typeface="Franklin Gothic Book"/>
                <a:cs typeface="Franklin Gothic Book"/>
              </a:rPr>
              <a:t>rather than </a:t>
            </a:r>
            <a:r>
              <a:rPr sz="1500" spc="-10" dirty="0">
                <a:latin typeface="Franklin Gothic Book"/>
                <a:cs typeface="Franklin Gothic Book"/>
              </a:rPr>
              <a:t>focus</a:t>
            </a:r>
            <a:r>
              <a:rPr lang="en-US" sz="1500" spc="-10" dirty="0">
                <a:latin typeface="Franklin Gothic Book"/>
                <a:cs typeface="Franklin Gothic Book"/>
              </a:rPr>
              <a:t>ing</a:t>
            </a:r>
            <a:r>
              <a:rPr sz="1500" spc="-10" dirty="0">
                <a:latin typeface="Franklin Gothic Book"/>
                <a:cs typeface="Franklin Gothic Book"/>
              </a:rPr>
              <a:t> </a:t>
            </a:r>
            <a:r>
              <a:rPr sz="1500" spc="-5" dirty="0">
                <a:latin typeface="Franklin Gothic Book"/>
                <a:cs typeface="Franklin Gothic Book"/>
              </a:rPr>
              <a:t>on </a:t>
            </a:r>
            <a:r>
              <a:rPr sz="1500" dirty="0">
                <a:latin typeface="Franklin Gothic Book"/>
                <a:cs typeface="Franklin Gothic Book"/>
              </a:rPr>
              <a:t>the</a:t>
            </a:r>
            <a:r>
              <a:rPr sz="1500" spc="20" dirty="0">
                <a:latin typeface="Franklin Gothic Book"/>
                <a:cs typeface="Franklin Gothic Book"/>
              </a:rPr>
              <a:t> </a:t>
            </a:r>
            <a:r>
              <a:rPr sz="1500" spc="-15" dirty="0">
                <a:latin typeface="Franklin Gothic Book"/>
                <a:cs typeface="Franklin Gothic Book"/>
              </a:rPr>
              <a:t>customer.</a:t>
            </a:r>
            <a:endParaRPr sz="1500" dirty="0">
              <a:latin typeface="Franklin Gothic Book"/>
              <a:cs typeface="Franklin Gothic Book"/>
            </a:endParaRPr>
          </a:p>
          <a:p>
            <a:pPr marL="12700" marR="213995">
              <a:lnSpc>
                <a:spcPct val="100000"/>
              </a:lnSpc>
              <a:spcBef>
                <a:spcPts val="1105"/>
              </a:spcBef>
            </a:pPr>
            <a:r>
              <a:rPr sz="1500" spc="-5" dirty="0">
                <a:latin typeface="Franklin Gothic Book"/>
                <a:cs typeface="Franklin Gothic Book"/>
              </a:rPr>
              <a:t>Each of these has contributed </a:t>
            </a:r>
            <a:r>
              <a:rPr sz="1500" spc="-15" dirty="0">
                <a:latin typeface="Franklin Gothic Book"/>
                <a:cs typeface="Franklin Gothic Book"/>
              </a:rPr>
              <a:t>to </a:t>
            </a:r>
            <a:r>
              <a:rPr sz="1500" dirty="0">
                <a:latin typeface="Franklin Gothic Book"/>
                <a:cs typeface="Franklin Gothic Book"/>
              </a:rPr>
              <a:t>a </a:t>
            </a:r>
            <a:r>
              <a:rPr sz="1500" spc="-5" dirty="0">
                <a:latin typeface="Franklin Gothic Book"/>
                <a:cs typeface="Franklin Gothic Book"/>
              </a:rPr>
              <a:t>habitual cycle of missteps that </a:t>
            </a:r>
            <a:r>
              <a:rPr sz="1500" spc="-10" dirty="0">
                <a:latin typeface="Franklin Gothic Book"/>
                <a:cs typeface="Franklin Gothic Book"/>
              </a:rPr>
              <a:t>we</a:t>
            </a:r>
            <a:r>
              <a:rPr sz="1500" dirty="0">
                <a:latin typeface="Franklin Gothic Book"/>
                <a:cs typeface="Franklin Gothic Book"/>
              </a:rPr>
              <a:t> have  </a:t>
            </a:r>
            <a:r>
              <a:rPr sz="1500" spc="-5" dirty="0">
                <a:latin typeface="Franklin Gothic Book"/>
                <a:cs typeface="Franklin Gothic Book"/>
              </a:rPr>
              <a:t>either </a:t>
            </a:r>
            <a:r>
              <a:rPr sz="1500" spc="-10" dirty="0">
                <a:latin typeface="Franklin Gothic Book"/>
                <a:cs typeface="Franklin Gothic Book"/>
              </a:rPr>
              <a:t>not </a:t>
            </a:r>
            <a:r>
              <a:rPr sz="1500" spc="-5" dirty="0">
                <a:latin typeface="Franklin Gothic Book"/>
                <a:cs typeface="Franklin Gothic Book"/>
              </a:rPr>
              <a:t>realized or acknowledged </a:t>
            </a:r>
            <a:r>
              <a:rPr sz="1500" dirty="0">
                <a:latin typeface="Franklin Gothic Book"/>
                <a:cs typeface="Franklin Gothic Book"/>
              </a:rPr>
              <a:t>in </a:t>
            </a:r>
            <a:r>
              <a:rPr sz="1500" spc="-10" dirty="0">
                <a:latin typeface="Franklin Gothic Book"/>
                <a:cs typeface="Franklin Gothic Book"/>
              </a:rPr>
              <a:t>today’s</a:t>
            </a:r>
            <a:r>
              <a:rPr sz="1500" spc="30" dirty="0">
                <a:latin typeface="Franklin Gothic Book"/>
                <a:cs typeface="Franklin Gothic Book"/>
              </a:rPr>
              <a:t> </a:t>
            </a:r>
            <a:r>
              <a:rPr sz="1500" spc="-5" dirty="0">
                <a:latin typeface="Franklin Gothic Book"/>
                <a:cs typeface="Franklin Gothic Book"/>
              </a:rPr>
              <a:t>planning.</a:t>
            </a:r>
            <a:endParaRPr sz="1500" dirty="0">
              <a:latin typeface="Franklin Gothic Book"/>
              <a:cs typeface="Franklin Gothic Book"/>
            </a:endParaRPr>
          </a:p>
          <a:p>
            <a:pPr>
              <a:lnSpc>
                <a:spcPct val="100000"/>
              </a:lnSpc>
              <a:spcBef>
                <a:spcPts val="25"/>
              </a:spcBef>
            </a:pPr>
            <a:endParaRPr sz="1650" dirty="0">
              <a:latin typeface="Franklin Gothic Book"/>
              <a:cs typeface="Franklin Gothic Book"/>
            </a:endParaRPr>
          </a:p>
          <a:p>
            <a:pPr marL="12700" marR="443230">
              <a:lnSpc>
                <a:spcPts val="2110"/>
              </a:lnSpc>
            </a:pPr>
            <a:r>
              <a:rPr sz="1800" spc="-10" dirty="0">
                <a:latin typeface="Franklin Gothic Book"/>
                <a:cs typeface="Franklin Gothic Book"/>
              </a:rPr>
              <a:t>Thankfully, we know </a:t>
            </a:r>
            <a:r>
              <a:rPr sz="1800" spc="-5" dirty="0">
                <a:latin typeface="Franklin Gothic Book"/>
                <a:cs typeface="Franklin Gothic Book"/>
              </a:rPr>
              <a:t>these </a:t>
            </a:r>
            <a:r>
              <a:rPr sz="1800" spc="-10" dirty="0">
                <a:latin typeface="Franklin Gothic Book"/>
                <a:cs typeface="Franklin Gothic Book"/>
              </a:rPr>
              <a:t>behaviors </a:t>
            </a:r>
            <a:r>
              <a:rPr sz="1800" spc="-5" dirty="0">
                <a:latin typeface="Franklin Gothic Book"/>
                <a:cs typeface="Franklin Gothic Book"/>
              </a:rPr>
              <a:t>can be </a:t>
            </a:r>
            <a:r>
              <a:rPr sz="1800" dirty="0">
                <a:solidFill>
                  <a:srgbClr val="B52372"/>
                </a:solidFill>
                <a:latin typeface="Franklin Gothic Book"/>
                <a:cs typeface="Franklin Gothic Book"/>
              </a:rPr>
              <a:t>shifted </a:t>
            </a:r>
            <a:r>
              <a:rPr sz="1800" spc="-20" dirty="0">
                <a:latin typeface="Franklin Gothic Book"/>
                <a:cs typeface="Franklin Gothic Book"/>
              </a:rPr>
              <a:t>to </a:t>
            </a:r>
            <a:r>
              <a:rPr sz="1800" dirty="0">
                <a:latin typeface="Franklin Gothic Book"/>
                <a:cs typeface="Franklin Gothic Book"/>
              </a:rPr>
              <a:t>drive  </a:t>
            </a:r>
            <a:r>
              <a:rPr sz="1800" spc="-5" dirty="0">
                <a:solidFill>
                  <a:srgbClr val="B52372"/>
                </a:solidFill>
                <a:latin typeface="Franklin Gothic Book"/>
                <a:cs typeface="Franklin Gothic Book"/>
              </a:rPr>
              <a:t>higher performance </a:t>
            </a:r>
            <a:r>
              <a:rPr sz="1800" spc="-15" dirty="0">
                <a:solidFill>
                  <a:srgbClr val="B52372"/>
                </a:solidFill>
                <a:latin typeface="Franklin Gothic Book"/>
                <a:cs typeface="Franklin Gothic Book"/>
              </a:rPr>
              <a:t>levels</a:t>
            </a:r>
            <a:r>
              <a:rPr sz="1800" spc="-15" dirty="0">
                <a:latin typeface="Franklin Gothic Book"/>
                <a:cs typeface="Franklin Gothic Book"/>
              </a:rPr>
              <a:t>…even </a:t>
            </a:r>
            <a:r>
              <a:rPr sz="1800" spc="-5" dirty="0">
                <a:latin typeface="Franklin Gothic Book"/>
                <a:cs typeface="Franklin Gothic Book"/>
              </a:rPr>
              <a:t>in </a:t>
            </a:r>
            <a:r>
              <a:rPr sz="1800" spc="-15" dirty="0">
                <a:latin typeface="Franklin Gothic Book"/>
                <a:cs typeface="Franklin Gothic Book"/>
              </a:rPr>
              <a:t>today’s</a:t>
            </a:r>
            <a:r>
              <a:rPr sz="1800" spc="50" dirty="0">
                <a:latin typeface="Franklin Gothic Book"/>
                <a:cs typeface="Franklin Gothic Book"/>
              </a:rPr>
              <a:t> </a:t>
            </a:r>
            <a:r>
              <a:rPr sz="1800" spc="-100" dirty="0">
                <a:latin typeface="Franklin Gothic Book"/>
                <a:cs typeface="Franklin Gothic Book"/>
              </a:rPr>
              <a:t>environment.</a:t>
            </a:r>
            <a:endParaRPr sz="1800" dirty="0">
              <a:latin typeface="Franklin Gothic Book"/>
              <a:cs typeface="Franklin Gothic Book"/>
            </a:endParaRPr>
          </a:p>
        </p:txBody>
      </p:sp>
      <p:sp>
        <p:nvSpPr>
          <p:cNvPr id="7" name="object 7"/>
          <p:cNvSpPr txBox="1"/>
          <p:nvPr/>
        </p:nvSpPr>
        <p:spPr>
          <a:xfrm>
            <a:off x="925911" y="7787132"/>
            <a:ext cx="5005705"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B52372"/>
                </a:solidFill>
                <a:latin typeface="Franklin Gothic Book"/>
                <a:cs typeface="Franklin Gothic Book"/>
              </a:rPr>
              <a:t>This is </a:t>
            </a:r>
            <a:r>
              <a:rPr sz="2400" dirty="0">
                <a:solidFill>
                  <a:srgbClr val="B52372"/>
                </a:solidFill>
                <a:latin typeface="Franklin Gothic Book"/>
                <a:cs typeface="Franklin Gothic Book"/>
              </a:rPr>
              <a:t>what </a:t>
            </a:r>
            <a:r>
              <a:rPr sz="2400" spc="-15" dirty="0">
                <a:solidFill>
                  <a:srgbClr val="B52372"/>
                </a:solidFill>
                <a:latin typeface="Franklin Gothic Book"/>
                <a:cs typeface="Franklin Gothic Book"/>
              </a:rPr>
              <a:t>we </a:t>
            </a:r>
            <a:r>
              <a:rPr sz="2400" dirty="0">
                <a:solidFill>
                  <a:srgbClr val="B52372"/>
                </a:solidFill>
                <a:latin typeface="Franklin Gothic Book"/>
                <a:cs typeface="Franklin Gothic Book"/>
              </a:rPr>
              <a:t>are </a:t>
            </a:r>
            <a:r>
              <a:rPr sz="2400" spc="-5" dirty="0">
                <a:solidFill>
                  <a:srgbClr val="B52372"/>
                </a:solidFill>
                <a:latin typeface="Franklin Gothic Book"/>
                <a:cs typeface="Franklin Gothic Book"/>
              </a:rPr>
              <a:t>here </a:t>
            </a:r>
            <a:r>
              <a:rPr sz="2400" spc="-20" dirty="0">
                <a:solidFill>
                  <a:srgbClr val="B52372"/>
                </a:solidFill>
                <a:latin typeface="Franklin Gothic Book"/>
                <a:cs typeface="Franklin Gothic Book"/>
              </a:rPr>
              <a:t>to </a:t>
            </a:r>
            <a:r>
              <a:rPr sz="2400" spc="-5" dirty="0">
                <a:solidFill>
                  <a:srgbClr val="B52372"/>
                </a:solidFill>
                <a:latin typeface="Franklin Gothic Book"/>
                <a:cs typeface="Franklin Gothic Book"/>
              </a:rPr>
              <a:t>help </a:t>
            </a:r>
            <a:r>
              <a:rPr sz="2400" spc="-10" dirty="0">
                <a:solidFill>
                  <a:srgbClr val="B52372"/>
                </a:solidFill>
                <a:latin typeface="Franklin Gothic Book"/>
                <a:cs typeface="Franklin Gothic Book"/>
              </a:rPr>
              <a:t>you</a:t>
            </a:r>
            <a:r>
              <a:rPr sz="2400" spc="5" dirty="0">
                <a:solidFill>
                  <a:srgbClr val="B52372"/>
                </a:solidFill>
                <a:latin typeface="Franklin Gothic Book"/>
                <a:cs typeface="Franklin Gothic Book"/>
              </a:rPr>
              <a:t> </a:t>
            </a:r>
            <a:r>
              <a:rPr sz="2400" spc="-5" dirty="0">
                <a:solidFill>
                  <a:srgbClr val="B52372"/>
                </a:solidFill>
                <a:latin typeface="Franklin Gothic Book"/>
                <a:cs typeface="Franklin Gothic Book"/>
              </a:rPr>
              <a:t>do</a:t>
            </a:r>
            <a:endParaRPr sz="2400">
              <a:latin typeface="Franklin Gothic Book"/>
              <a:cs typeface="Franklin Gothic Book"/>
            </a:endParaRPr>
          </a:p>
        </p:txBody>
      </p:sp>
      <p:sp>
        <p:nvSpPr>
          <p:cNvPr id="8" name="object 8"/>
          <p:cNvSpPr txBox="1"/>
          <p:nvPr/>
        </p:nvSpPr>
        <p:spPr>
          <a:xfrm>
            <a:off x="2137268" y="8636000"/>
            <a:ext cx="2938780" cy="151323"/>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898989"/>
                </a:solidFill>
                <a:latin typeface="Franklin Gothic Book"/>
                <a:cs typeface="Franklin Gothic Book"/>
              </a:rPr>
              <a:t>Effective Planning for Top-Line Growth </a:t>
            </a:r>
            <a:r>
              <a:rPr sz="900" dirty="0">
                <a:solidFill>
                  <a:srgbClr val="898989"/>
                </a:solidFill>
                <a:latin typeface="Franklin Gothic Book"/>
                <a:cs typeface="Franklin Gothic Book"/>
              </a:rPr>
              <a:t>in </a:t>
            </a:r>
            <a:r>
              <a:rPr sz="900" spc="-5" dirty="0">
                <a:solidFill>
                  <a:srgbClr val="898989"/>
                </a:solidFill>
                <a:latin typeface="Franklin Gothic Book"/>
                <a:cs typeface="Franklin Gothic Book"/>
              </a:rPr>
              <a:t>Times of</a:t>
            </a:r>
            <a:r>
              <a:rPr lang="en-US" sz="900" spc="-5" dirty="0">
                <a:solidFill>
                  <a:srgbClr val="898989"/>
                </a:solidFill>
                <a:latin typeface="Franklin Gothic Book"/>
                <a:cs typeface="Franklin Gothic Book"/>
              </a:rPr>
              <a:t> </a:t>
            </a:r>
            <a:r>
              <a:rPr lang="en-US" sz="900" dirty="0">
                <a:solidFill>
                  <a:srgbClr val="898989"/>
                </a:solidFill>
                <a:latin typeface="Franklin Gothic Book"/>
                <a:cs typeface="Franklin Gothic Book"/>
              </a:rPr>
              <a:t>Disruption</a:t>
            </a:r>
            <a:endParaRPr sz="900" dirty="0">
              <a:latin typeface="Franklin Gothic Book"/>
              <a:cs typeface="Franklin Gothic Book"/>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6854825" cy="9144000"/>
          </a:xfrm>
          <a:custGeom>
            <a:avLst/>
            <a:gdLst/>
            <a:ahLst/>
            <a:cxnLst/>
            <a:rect l="l" t="t" r="r" b="b"/>
            <a:pathLst>
              <a:path w="6854825" h="9144000">
                <a:moveTo>
                  <a:pt x="0" y="9144000"/>
                </a:moveTo>
                <a:lnTo>
                  <a:pt x="0" y="0"/>
                </a:lnTo>
                <a:lnTo>
                  <a:pt x="6854426" y="0"/>
                </a:lnTo>
                <a:lnTo>
                  <a:pt x="6854426" y="9143999"/>
                </a:lnTo>
                <a:lnTo>
                  <a:pt x="0" y="9144000"/>
                </a:lnTo>
                <a:close/>
              </a:path>
            </a:pathLst>
          </a:custGeom>
          <a:solidFill>
            <a:srgbClr val="555759"/>
          </a:solidFill>
        </p:spPr>
        <p:txBody>
          <a:bodyPr wrap="square" lIns="0" tIns="0" rIns="0" bIns="0" rtlCol="0"/>
          <a:lstStyle/>
          <a:p>
            <a:endParaRPr/>
          </a:p>
        </p:txBody>
      </p:sp>
      <p:sp>
        <p:nvSpPr>
          <p:cNvPr id="3" name="object 3"/>
          <p:cNvSpPr/>
          <p:nvPr/>
        </p:nvSpPr>
        <p:spPr>
          <a:xfrm>
            <a:off x="0" y="0"/>
            <a:ext cx="6854825" cy="9144000"/>
          </a:xfrm>
          <a:custGeom>
            <a:avLst/>
            <a:gdLst/>
            <a:ahLst/>
            <a:cxnLst/>
            <a:rect l="l" t="t" r="r" b="b"/>
            <a:pathLst>
              <a:path w="6854825" h="9144000">
                <a:moveTo>
                  <a:pt x="0" y="0"/>
                </a:moveTo>
                <a:lnTo>
                  <a:pt x="6854426" y="0"/>
                </a:lnTo>
                <a:lnTo>
                  <a:pt x="6854426" y="9143999"/>
                </a:lnTo>
              </a:path>
            </a:pathLst>
          </a:custGeom>
          <a:ln w="12700">
            <a:solidFill>
              <a:srgbClr val="3C3E8F"/>
            </a:solidFill>
          </a:ln>
        </p:spPr>
        <p:txBody>
          <a:bodyPr wrap="square" lIns="0" tIns="0" rIns="0" bIns="0" rtlCol="0"/>
          <a:lstStyle/>
          <a:p>
            <a:endParaRPr/>
          </a:p>
        </p:txBody>
      </p:sp>
      <p:sp>
        <p:nvSpPr>
          <p:cNvPr id="4" name="object 4"/>
          <p:cNvSpPr/>
          <p:nvPr/>
        </p:nvSpPr>
        <p:spPr>
          <a:xfrm>
            <a:off x="334209" y="7574061"/>
            <a:ext cx="1219200" cy="1569938"/>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446405" y="-2667000"/>
            <a:ext cx="6408420" cy="13086080"/>
          </a:xfrm>
          <a:prstGeom prst="rect">
            <a:avLst/>
          </a:prstGeom>
        </p:spPr>
        <p:txBody>
          <a:bodyPr vert="horz" wrap="square" lIns="0" tIns="12700" rIns="0" bIns="0" rtlCol="0">
            <a:spAutoFit/>
          </a:bodyPr>
          <a:lstStyle/>
          <a:p>
            <a:pPr marL="12700">
              <a:lnSpc>
                <a:spcPct val="100000"/>
              </a:lnSpc>
              <a:spcBef>
                <a:spcPts val="100"/>
              </a:spcBef>
            </a:pPr>
            <a:r>
              <a:rPr sz="85700" dirty="0">
                <a:solidFill>
                  <a:srgbClr val="D51067"/>
                </a:solidFill>
                <a:latin typeface="Franklin Gothic Medium"/>
                <a:cs typeface="Franklin Gothic Medium"/>
              </a:rPr>
              <a:t>2</a:t>
            </a:r>
            <a:endParaRPr sz="85700" dirty="0">
              <a:latin typeface="Franklin Gothic Medium"/>
              <a:cs typeface="Franklin Gothic Medium"/>
            </a:endParaRPr>
          </a:p>
        </p:txBody>
      </p:sp>
      <p:sp>
        <p:nvSpPr>
          <p:cNvPr id="6" name="object 6"/>
          <p:cNvSpPr txBox="1"/>
          <p:nvPr/>
        </p:nvSpPr>
        <p:spPr>
          <a:xfrm>
            <a:off x="3899602" y="5462523"/>
            <a:ext cx="2647315" cy="874598"/>
          </a:xfrm>
          <a:prstGeom prst="rect">
            <a:avLst/>
          </a:prstGeom>
        </p:spPr>
        <p:txBody>
          <a:bodyPr vert="horz" wrap="square" lIns="0" tIns="12700" rIns="0" bIns="0" rtlCol="0">
            <a:spAutoFit/>
          </a:bodyPr>
          <a:lstStyle/>
          <a:p>
            <a:pPr marL="12700">
              <a:lnSpc>
                <a:spcPct val="100000"/>
              </a:lnSpc>
              <a:spcBef>
                <a:spcPts val="100"/>
              </a:spcBef>
            </a:pPr>
            <a:r>
              <a:rPr sz="2800" i="1" spc="300" dirty="0">
                <a:solidFill>
                  <a:srgbClr val="FFFFFF"/>
                </a:solidFill>
                <a:latin typeface="Franklin Gothic Book Italic"/>
                <a:cs typeface="Franklin Gothic Book Italic"/>
              </a:rPr>
              <a:t>What the Best Do</a:t>
            </a:r>
            <a:r>
              <a:rPr lang="en-US" sz="2800" i="1" spc="300" dirty="0">
                <a:solidFill>
                  <a:srgbClr val="FFFFFF"/>
                </a:solidFill>
                <a:latin typeface="Franklin Gothic Book Italic"/>
                <a:cs typeface="Franklin Gothic Book Italic"/>
              </a:rPr>
              <a:t> Differently</a:t>
            </a:r>
            <a:endParaRPr sz="2800" spc="300" dirty="0">
              <a:latin typeface="Franklin Gothic Book Italic"/>
              <a:cs typeface="Franklin Gothic Book Italic"/>
            </a:endParaRPr>
          </a:p>
        </p:txBody>
      </p:sp>
      <p:sp>
        <p:nvSpPr>
          <p:cNvPr id="8" name="object 8"/>
          <p:cNvSpPr txBox="1"/>
          <p:nvPr/>
        </p:nvSpPr>
        <p:spPr>
          <a:xfrm>
            <a:off x="2218927" y="8581135"/>
            <a:ext cx="2412365" cy="151323"/>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2F2F2"/>
                </a:solidFill>
                <a:latin typeface="Franklin Gothic Book"/>
                <a:cs typeface="Franklin Gothic Book"/>
              </a:rPr>
              <a:t>Effective Planning for Top-Line Growth </a:t>
            </a:r>
            <a:r>
              <a:rPr sz="900" dirty="0">
                <a:solidFill>
                  <a:srgbClr val="F2F2F2"/>
                </a:solidFill>
                <a:latin typeface="Franklin Gothic Book"/>
                <a:cs typeface="Franklin Gothic Book"/>
              </a:rPr>
              <a:t>in Times of</a:t>
            </a:r>
            <a:endParaRPr sz="900" dirty="0">
              <a:latin typeface="Franklin Gothic Book"/>
              <a:cs typeface="Franklin Gothic Book"/>
            </a:endParaRPr>
          </a:p>
        </p:txBody>
      </p:sp>
      <p:sp>
        <p:nvSpPr>
          <p:cNvPr id="9" name="object 9"/>
          <p:cNvSpPr txBox="1"/>
          <p:nvPr/>
        </p:nvSpPr>
        <p:spPr>
          <a:xfrm>
            <a:off x="3164250" y="8721343"/>
            <a:ext cx="52260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2F2F2"/>
                </a:solidFill>
                <a:latin typeface="Franklin Gothic Book"/>
                <a:cs typeface="Franklin Gothic Book"/>
              </a:rPr>
              <a:t>Disruption</a:t>
            </a:r>
            <a:endParaRPr sz="900">
              <a:latin typeface="Franklin Gothic Book"/>
              <a:cs typeface="Franklin Gothic Book"/>
            </a:endParaRPr>
          </a:p>
        </p:txBody>
      </p:sp>
      <p:sp>
        <p:nvSpPr>
          <p:cNvPr id="10" name="object 10"/>
          <p:cNvSpPr txBox="1"/>
          <p:nvPr/>
        </p:nvSpPr>
        <p:spPr>
          <a:xfrm>
            <a:off x="6223952" y="8623807"/>
            <a:ext cx="8382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FFFFFF"/>
                </a:solidFill>
                <a:latin typeface="Calibri"/>
                <a:cs typeface="Calibri"/>
              </a:rPr>
              <a:t>5</a:t>
            </a:r>
            <a:endParaRPr sz="90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515" y="78739"/>
            <a:ext cx="3675379" cy="391160"/>
          </a:xfrm>
          <a:prstGeom prst="rect">
            <a:avLst/>
          </a:prstGeom>
        </p:spPr>
        <p:txBody>
          <a:bodyPr vert="horz" wrap="square" lIns="0" tIns="12700" rIns="0" bIns="0" rtlCol="0">
            <a:spAutoFit/>
          </a:bodyPr>
          <a:lstStyle/>
          <a:p>
            <a:pPr marL="12700">
              <a:lnSpc>
                <a:spcPct val="100000"/>
              </a:lnSpc>
              <a:spcBef>
                <a:spcPts val="100"/>
              </a:spcBef>
            </a:pPr>
            <a:r>
              <a:rPr sz="2400" dirty="0"/>
              <a:t>What </a:t>
            </a:r>
            <a:r>
              <a:rPr sz="2400" spc="-5" dirty="0"/>
              <a:t>the Best Do</a:t>
            </a:r>
            <a:r>
              <a:rPr sz="2400" spc="-35" dirty="0"/>
              <a:t> </a:t>
            </a:r>
            <a:r>
              <a:rPr sz="2400" spc="-5" dirty="0"/>
              <a:t>Differently</a:t>
            </a:r>
            <a:endParaRPr sz="2400"/>
          </a:p>
        </p:txBody>
      </p:sp>
      <p:sp>
        <p:nvSpPr>
          <p:cNvPr id="3" name="object 3"/>
          <p:cNvSpPr txBox="1"/>
          <p:nvPr/>
        </p:nvSpPr>
        <p:spPr>
          <a:xfrm>
            <a:off x="2124568" y="8742680"/>
            <a:ext cx="2938780" cy="151323"/>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898989"/>
                </a:solidFill>
                <a:latin typeface="Franklin Gothic Book"/>
                <a:cs typeface="Franklin Gothic Book"/>
              </a:rPr>
              <a:t>Effective Planning for Top-Line Growth </a:t>
            </a:r>
            <a:r>
              <a:rPr sz="900" dirty="0">
                <a:solidFill>
                  <a:srgbClr val="898989"/>
                </a:solidFill>
                <a:latin typeface="Franklin Gothic Book"/>
                <a:cs typeface="Franklin Gothic Book"/>
              </a:rPr>
              <a:t>in </a:t>
            </a:r>
            <a:r>
              <a:rPr sz="900" spc="-5" dirty="0">
                <a:solidFill>
                  <a:srgbClr val="898989"/>
                </a:solidFill>
                <a:latin typeface="Franklin Gothic Book"/>
                <a:cs typeface="Franklin Gothic Book"/>
              </a:rPr>
              <a:t>Times of </a:t>
            </a:r>
            <a:r>
              <a:rPr sz="900" dirty="0">
                <a:solidFill>
                  <a:srgbClr val="898989"/>
                </a:solidFill>
                <a:latin typeface="Franklin Gothic Book"/>
                <a:cs typeface="Franklin Gothic Book"/>
              </a:rPr>
              <a:t>Disruption</a:t>
            </a:r>
            <a:endParaRPr sz="900" dirty="0">
              <a:latin typeface="Franklin Gothic Book"/>
              <a:cs typeface="Franklin Gothic Book"/>
            </a:endParaRPr>
          </a:p>
        </p:txBody>
      </p:sp>
      <p:sp>
        <p:nvSpPr>
          <p:cNvPr id="4" name="object 4"/>
          <p:cNvSpPr txBox="1"/>
          <p:nvPr/>
        </p:nvSpPr>
        <p:spPr>
          <a:xfrm>
            <a:off x="6343648" y="8730488"/>
            <a:ext cx="8382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898989"/>
                </a:solidFill>
                <a:latin typeface="Calibri"/>
                <a:cs typeface="Calibri"/>
              </a:rPr>
              <a:t>6</a:t>
            </a:r>
            <a:endParaRPr sz="900">
              <a:latin typeface="Calibri"/>
              <a:cs typeface="Calibri"/>
            </a:endParaRPr>
          </a:p>
        </p:txBody>
      </p:sp>
      <p:sp>
        <p:nvSpPr>
          <p:cNvPr id="5" name="object 5"/>
          <p:cNvSpPr/>
          <p:nvPr/>
        </p:nvSpPr>
        <p:spPr>
          <a:xfrm>
            <a:off x="252684" y="615820"/>
            <a:ext cx="2620010" cy="0"/>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6" name="object 6"/>
          <p:cNvSpPr txBox="1"/>
          <p:nvPr/>
        </p:nvSpPr>
        <p:spPr>
          <a:xfrm>
            <a:off x="331424" y="784352"/>
            <a:ext cx="6089015" cy="4545475"/>
          </a:xfrm>
          <a:prstGeom prst="rect">
            <a:avLst/>
          </a:prstGeom>
        </p:spPr>
        <p:txBody>
          <a:bodyPr vert="horz" wrap="square" lIns="0" tIns="12700" rIns="0" bIns="0" rtlCol="0">
            <a:spAutoFit/>
          </a:bodyPr>
          <a:lstStyle/>
          <a:p>
            <a:pPr marL="12700" marR="144145">
              <a:lnSpc>
                <a:spcPct val="100000"/>
              </a:lnSpc>
              <a:spcBef>
                <a:spcPts val="100"/>
              </a:spcBef>
            </a:pPr>
            <a:r>
              <a:rPr sz="1400" dirty="0">
                <a:latin typeface="Franklin Gothic Book"/>
                <a:cs typeface="Franklin Gothic Book"/>
              </a:rPr>
              <a:t>Teams that create revenue attainment and stabilization have shown these key attributes:</a:t>
            </a:r>
          </a:p>
          <a:p>
            <a:pPr>
              <a:lnSpc>
                <a:spcPct val="100000"/>
              </a:lnSpc>
              <a:spcBef>
                <a:spcPts val="35"/>
              </a:spcBef>
            </a:pPr>
            <a:endParaRPr sz="1400" dirty="0">
              <a:latin typeface="Franklin Gothic Book"/>
              <a:cs typeface="Franklin Gothic Book"/>
            </a:endParaRPr>
          </a:p>
          <a:p>
            <a:pPr marL="12700">
              <a:lnSpc>
                <a:spcPts val="1910"/>
              </a:lnSpc>
            </a:pPr>
            <a:r>
              <a:rPr sz="1400" dirty="0">
                <a:solidFill>
                  <a:srgbClr val="404040"/>
                </a:solidFill>
                <a:latin typeface="Wingdings"/>
                <a:cs typeface="Wingdings"/>
              </a:rPr>
              <a:t></a:t>
            </a:r>
            <a:r>
              <a:rPr sz="1400" dirty="0">
                <a:solidFill>
                  <a:srgbClr val="404040"/>
                </a:solidFill>
                <a:latin typeface="Times New Roman"/>
                <a:cs typeface="Times New Roman"/>
              </a:rPr>
              <a:t> </a:t>
            </a:r>
            <a:r>
              <a:rPr sz="1400" dirty="0">
                <a:solidFill>
                  <a:srgbClr val="404040"/>
                </a:solidFill>
                <a:latin typeface="Franklin Gothic Medium"/>
                <a:cs typeface="Franklin Gothic Medium"/>
              </a:rPr>
              <a:t>Focused on the Most Profitable Customers</a:t>
            </a:r>
            <a:endParaRPr sz="1400" dirty="0">
              <a:latin typeface="Franklin Gothic Medium"/>
              <a:cs typeface="Franklin Gothic Medium"/>
            </a:endParaRPr>
          </a:p>
          <a:p>
            <a:pPr marL="469900" marR="5080">
              <a:lnSpc>
                <a:spcPct val="99200"/>
              </a:lnSpc>
              <a:spcBef>
                <a:spcPts val="5"/>
              </a:spcBef>
            </a:pPr>
            <a:r>
              <a:rPr sz="1400" dirty="0">
                <a:solidFill>
                  <a:srgbClr val="404040"/>
                </a:solidFill>
                <a:latin typeface="Franklin Gothic Book"/>
                <a:cs typeface="Franklin Gothic Book"/>
              </a:rPr>
              <a:t>Best of class revenue teams understand the most profitable segments, accounts, and customers. Teams understand the types of travelers in every segment. Gone are the days of Transient and Group conversations, but rather the Most Profitable</a:t>
            </a:r>
            <a:r>
              <a:rPr lang="en-US" sz="1400" dirty="0">
                <a:latin typeface="Franklin Gothic Book"/>
                <a:cs typeface="Franklin Gothic Book"/>
              </a:rPr>
              <a:t> </a:t>
            </a:r>
            <a:r>
              <a:rPr sz="1400" dirty="0">
                <a:solidFill>
                  <a:srgbClr val="404040"/>
                </a:solidFill>
                <a:latin typeface="Franklin Gothic Book"/>
                <a:cs typeface="Franklin Gothic Book"/>
              </a:rPr>
              <a:t>Customers (MPC) and how we integrate Sales, Marketing, and Revenue Management to optimize the most profitable  segments, customers and accounts.</a:t>
            </a:r>
            <a:endParaRPr sz="1400" dirty="0">
              <a:latin typeface="Franklin Gothic Book"/>
              <a:cs typeface="Franklin Gothic Book"/>
            </a:endParaRPr>
          </a:p>
          <a:p>
            <a:pPr marL="12700">
              <a:lnSpc>
                <a:spcPct val="100000"/>
              </a:lnSpc>
              <a:spcBef>
                <a:spcPts val="1614"/>
              </a:spcBef>
            </a:pPr>
            <a:r>
              <a:rPr sz="1400" dirty="0">
                <a:solidFill>
                  <a:srgbClr val="404040"/>
                </a:solidFill>
                <a:latin typeface="Wingdings"/>
                <a:cs typeface="Wingdings"/>
              </a:rPr>
              <a:t></a:t>
            </a:r>
            <a:r>
              <a:rPr sz="1400" dirty="0">
                <a:solidFill>
                  <a:srgbClr val="404040"/>
                </a:solidFill>
                <a:latin typeface="Times New Roman"/>
                <a:cs typeface="Times New Roman"/>
              </a:rPr>
              <a:t> </a:t>
            </a:r>
            <a:r>
              <a:rPr sz="1400" dirty="0">
                <a:solidFill>
                  <a:srgbClr val="404040"/>
                </a:solidFill>
                <a:latin typeface="Franklin Gothic Medium"/>
                <a:cs typeface="Franklin Gothic Medium"/>
              </a:rPr>
              <a:t>Focused on the customer…period</a:t>
            </a:r>
            <a:endParaRPr sz="1400" dirty="0">
              <a:latin typeface="Franklin Gothic Medium"/>
              <a:cs typeface="Franklin Gothic Medium"/>
            </a:endParaRPr>
          </a:p>
          <a:p>
            <a:pPr marL="469900" marR="189230">
              <a:lnSpc>
                <a:spcPts val="1900"/>
              </a:lnSpc>
              <a:spcBef>
                <a:spcPts val="80"/>
              </a:spcBef>
            </a:pPr>
            <a:r>
              <a:rPr sz="1400" dirty="0">
                <a:solidFill>
                  <a:srgbClr val="404040"/>
                </a:solidFill>
                <a:latin typeface="Franklin Gothic Book"/>
                <a:cs typeface="Franklin Gothic Book"/>
              </a:rPr>
              <a:t>Sales teams have become focused on transactional selling.  There is a prevailing belief that their customers are in fact third-party</a:t>
            </a:r>
            <a:r>
              <a:rPr lang="en-US" sz="1400" dirty="0">
                <a:solidFill>
                  <a:srgbClr val="404040"/>
                </a:solidFill>
                <a:latin typeface="Franklin Gothic Book"/>
                <a:cs typeface="Franklin Gothic Book"/>
              </a:rPr>
              <a:t> </a:t>
            </a:r>
            <a:r>
              <a:rPr sz="1400" dirty="0">
                <a:solidFill>
                  <a:srgbClr val="404040"/>
                </a:solidFill>
                <a:latin typeface="Franklin Gothic Book"/>
                <a:cs typeface="Franklin Gothic Book"/>
              </a:rPr>
              <a:t>intermediaries, meeting planners, procurement, RFPs,</a:t>
            </a:r>
            <a:r>
              <a:rPr lang="en-US" sz="1400" dirty="0">
                <a:solidFill>
                  <a:srgbClr val="404040"/>
                </a:solidFill>
                <a:latin typeface="Franklin Gothic Book"/>
                <a:cs typeface="Franklin Gothic Book"/>
              </a:rPr>
              <a:t> or</a:t>
            </a:r>
            <a:r>
              <a:rPr sz="1400" dirty="0">
                <a:solidFill>
                  <a:srgbClr val="404040"/>
                </a:solidFill>
                <a:latin typeface="Franklin Gothic Book"/>
                <a:cs typeface="Franklin Gothic Book"/>
              </a:rPr>
              <a:t> response</a:t>
            </a:r>
            <a:r>
              <a:rPr lang="en-US" sz="1400" dirty="0">
                <a:solidFill>
                  <a:srgbClr val="404040"/>
                </a:solidFill>
                <a:latin typeface="Franklin Gothic Book"/>
                <a:cs typeface="Franklin Gothic Book"/>
              </a:rPr>
              <a:t>s</a:t>
            </a:r>
            <a:r>
              <a:rPr sz="1400" dirty="0">
                <a:solidFill>
                  <a:srgbClr val="404040"/>
                </a:solidFill>
                <a:latin typeface="Franklin Gothic Book"/>
                <a:cs typeface="Franklin Gothic Book"/>
              </a:rPr>
              <a:t> to leads from other organizations. Sales teams need to have reinforcement and understanding that the focus should be on the ‘point of inspiration’ or at the ‘recognition of  impact’ vs. on the ‘point of sale’, where it become a price</a:t>
            </a:r>
            <a:r>
              <a:rPr lang="en-US" sz="1400" dirty="0">
                <a:solidFill>
                  <a:srgbClr val="404040"/>
                </a:solidFill>
                <a:latin typeface="Franklin Gothic Book"/>
                <a:cs typeface="Franklin Gothic Book"/>
              </a:rPr>
              <a:t>-</a:t>
            </a:r>
            <a:r>
              <a:rPr sz="1400" dirty="0">
                <a:solidFill>
                  <a:srgbClr val="404040"/>
                </a:solidFill>
                <a:latin typeface="Franklin Gothic Book"/>
                <a:cs typeface="Franklin Gothic Book"/>
              </a:rPr>
              <a:t>driven</a:t>
            </a:r>
            <a:r>
              <a:rPr lang="en-US" sz="1400" dirty="0">
                <a:solidFill>
                  <a:srgbClr val="404040"/>
                </a:solidFill>
                <a:latin typeface="Franklin Gothic Book"/>
                <a:cs typeface="Franklin Gothic Book"/>
              </a:rPr>
              <a:t> product</a:t>
            </a:r>
            <a:r>
              <a:rPr sz="1400" dirty="0">
                <a:solidFill>
                  <a:srgbClr val="404040"/>
                </a:solidFill>
                <a:latin typeface="Franklin Gothic Book"/>
                <a:cs typeface="Franklin Gothic Book"/>
              </a:rPr>
              <a:t> sale.</a:t>
            </a:r>
            <a:r>
              <a:rPr lang="en-US" sz="1400" dirty="0">
                <a:solidFill>
                  <a:srgbClr val="404040"/>
                </a:solidFill>
                <a:latin typeface="Franklin Gothic Book"/>
                <a:cs typeface="Franklin Gothic Book"/>
              </a:rPr>
              <a:t>   An article in Velocity magazine explores </a:t>
            </a:r>
            <a:r>
              <a:rPr lang="en-US" sz="1400">
                <a:solidFill>
                  <a:srgbClr val="404040"/>
                </a:solidFill>
                <a:latin typeface="Franklin Gothic Book"/>
                <a:cs typeface="Franklin Gothic Book"/>
              </a:rPr>
              <a:t>this further, </a:t>
            </a:r>
            <a:endParaRPr sz="1400" dirty="0">
              <a:latin typeface="Franklin Gothic Book"/>
              <a:cs typeface="Franklin Gothic Book"/>
            </a:endParaRPr>
          </a:p>
        </p:txBody>
      </p:sp>
      <p:sp>
        <p:nvSpPr>
          <p:cNvPr id="7" name="object 7"/>
          <p:cNvSpPr txBox="1"/>
          <p:nvPr/>
        </p:nvSpPr>
        <p:spPr>
          <a:xfrm>
            <a:off x="347239" y="5562600"/>
            <a:ext cx="6254115" cy="2743443"/>
          </a:xfrm>
          <a:prstGeom prst="rect">
            <a:avLst/>
          </a:prstGeom>
          <a:solidFill>
            <a:srgbClr val="AAAAAA"/>
          </a:solidFill>
          <a:ln w="12700">
            <a:solidFill>
              <a:srgbClr val="B52372"/>
            </a:solidFill>
          </a:ln>
        </p:spPr>
        <p:txBody>
          <a:bodyPr vert="horz" wrap="square" lIns="0" tIns="1270" rIns="0" bIns="0" rtlCol="0">
            <a:spAutoFit/>
          </a:bodyPr>
          <a:lstStyle/>
          <a:p>
            <a:pPr>
              <a:lnSpc>
                <a:spcPct val="100000"/>
              </a:lnSpc>
              <a:spcBef>
                <a:spcPts val="10"/>
              </a:spcBef>
            </a:pPr>
            <a:endParaRPr sz="1600" dirty="0">
              <a:latin typeface="Times New Roman"/>
              <a:cs typeface="Times New Roman"/>
            </a:endParaRPr>
          </a:p>
          <a:p>
            <a:pPr marL="91440" marR="83820" indent="-635" algn="ctr">
              <a:lnSpc>
                <a:spcPct val="100000"/>
              </a:lnSpc>
            </a:pPr>
            <a:r>
              <a:rPr sz="1800" dirty="0">
                <a:solidFill>
                  <a:srgbClr val="404040"/>
                </a:solidFill>
                <a:latin typeface="Times New Roman"/>
                <a:cs typeface="Times New Roman"/>
              </a:rPr>
              <a:t>In a </a:t>
            </a:r>
            <a:r>
              <a:rPr sz="1800" spc="-5" dirty="0">
                <a:solidFill>
                  <a:srgbClr val="404040"/>
                </a:solidFill>
                <a:latin typeface="Times New Roman"/>
                <a:cs typeface="Times New Roman"/>
              </a:rPr>
              <a:t>survey </a:t>
            </a:r>
            <a:r>
              <a:rPr sz="1800" dirty="0">
                <a:solidFill>
                  <a:srgbClr val="404040"/>
                </a:solidFill>
                <a:latin typeface="Times New Roman"/>
                <a:cs typeface="Times New Roman"/>
              </a:rPr>
              <a:t>of 100 </a:t>
            </a:r>
            <a:r>
              <a:rPr sz="1800" spc="-5" dirty="0">
                <a:solidFill>
                  <a:srgbClr val="404040"/>
                </a:solidFill>
                <a:latin typeface="Times New Roman"/>
                <a:cs typeface="Times New Roman"/>
              </a:rPr>
              <a:t>salespeople</a:t>
            </a:r>
            <a:r>
              <a:rPr lang="en-US" sz="1800" spc="-5" dirty="0">
                <a:solidFill>
                  <a:srgbClr val="404040"/>
                </a:solidFill>
                <a:latin typeface="Times New Roman"/>
                <a:cs typeface="Times New Roman"/>
              </a:rPr>
              <a:t>,</a:t>
            </a:r>
            <a:r>
              <a:rPr sz="1800" spc="-5" dirty="0">
                <a:solidFill>
                  <a:srgbClr val="404040"/>
                </a:solidFill>
                <a:latin typeface="Times New Roman"/>
                <a:cs typeface="Times New Roman"/>
              </a:rPr>
              <a:t> </a:t>
            </a:r>
            <a:r>
              <a:rPr sz="1800" dirty="0">
                <a:solidFill>
                  <a:srgbClr val="404040"/>
                </a:solidFill>
                <a:latin typeface="Times New Roman"/>
                <a:cs typeface="Times New Roman"/>
              </a:rPr>
              <a:t>when </a:t>
            </a:r>
            <a:r>
              <a:rPr sz="1800" spc="-5" dirty="0">
                <a:solidFill>
                  <a:srgbClr val="404040"/>
                </a:solidFill>
                <a:latin typeface="Times New Roman"/>
                <a:cs typeface="Times New Roman"/>
              </a:rPr>
              <a:t>asked if </a:t>
            </a:r>
            <a:r>
              <a:rPr sz="1800" dirty="0">
                <a:solidFill>
                  <a:srgbClr val="404040"/>
                </a:solidFill>
                <a:latin typeface="Times New Roman"/>
                <a:cs typeface="Times New Roman"/>
              </a:rPr>
              <a:t>a </a:t>
            </a:r>
            <a:r>
              <a:rPr sz="1800" spc="-5" dirty="0">
                <a:solidFill>
                  <a:srgbClr val="404040"/>
                </a:solidFill>
                <a:latin typeface="Times New Roman"/>
                <a:cs typeface="Times New Roman"/>
              </a:rPr>
              <a:t>lead source </a:t>
            </a:r>
            <a:r>
              <a:rPr sz="1800" dirty="0">
                <a:solidFill>
                  <a:srgbClr val="404040"/>
                </a:solidFill>
                <a:latin typeface="Times New Roman"/>
                <a:cs typeface="Times New Roman"/>
              </a:rPr>
              <a:t>from a  </a:t>
            </a:r>
            <a:r>
              <a:rPr sz="1800" spc="-5" dirty="0">
                <a:solidFill>
                  <a:srgbClr val="404040"/>
                </a:solidFill>
                <a:latin typeface="Times New Roman"/>
                <a:cs typeface="Times New Roman"/>
              </a:rPr>
              <a:t>third-party </a:t>
            </a:r>
            <a:r>
              <a:rPr sz="1800" dirty="0">
                <a:solidFill>
                  <a:srgbClr val="404040"/>
                </a:solidFill>
                <a:latin typeface="Times New Roman"/>
                <a:cs typeface="Times New Roman"/>
              </a:rPr>
              <a:t>was </a:t>
            </a:r>
            <a:r>
              <a:rPr sz="1800" spc="-5" dirty="0">
                <a:solidFill>
                  <a:srgbClr val="404040"/>
                </a:solidFill>
                <a:latin typeface="Times New Roman"/>
                <a:cs typeface="Times New Roman"/>
              </a:rPr>
              <a:t>taken </a:t>
            </a:r>
            <a:r>
              <a:rPr sz="1800" dirty="0">
                <a:solidFill>
                  <a:srgbClr val="404040"/>
                </a:solidFill>
                <a:latin typeface="Times New Roman"/>
                <a:cs typeface="Times New Roman"/>
              </a:rPr>
              <a:t>away </a:t>
            </a:r>
            <a:r>
              <a:rPr sz="1800" spc="-5" dirty="0">
                <a:solidFill>
                  <a:srgbClr val="404040"/>
                </a:solidFill>
                <a:latin typeface="Times New Roman"/>
                <a:cs typeface="Times New Roman"/>
              </a:rPr>
              <a:t>to find </a:t>
            </a:r>
            <a:r>
              <a:rPr sz="1800" dirty="0">
                <a:solidFill>
                  <a:srgbClr val="404040"/>
                </a:solidFill>
                <a:latin typeface="Times New Roman"/>
                <a:cs typeface="Times New Roman"/>
              </a:rPr>
              <a:t>new </a:t>
            </a:r>
            <a:r>
              <a:rPr sz="1800" spc="-5" dirty="0">
                <a:solidFill>
                  <a:srgbClr val="404040"/>
                </a:solidFill>
                <a:latin typeface="Times New Roman"/>
                <a:cs typeface="Times New Roman"/>
              </a:rPr>
              <a:t>business </a:t>
            </a:r>
            <a:r>
              <a:rPr sz="1800" dirty="0">
                <a:solidFill>
                  <a:srgbClr val="404040"/>
                </a:solidFill>
                <a:latin typeface="Times New Roman"/>
                <a:cs typeface="Times New Roman"/>
              </a:rPr>
              <a:t>89%</a:t>
            </a:r>
            <a:r>
              <a:rPr lang="en-US" sz="1800" dirty="0">
                <a:solidFill>
                  <a:srgbClr val="404040"/>
                </a:solidFill>
                <a:latin typeface="Times New Roman"/>
                <a:cs typeface="Times New Roman"/>
              </a:rPr>
              <a:t> said they</a:t>
            </a:r>
            <a:r>
              <a:rPr sz="1800" dirty="0">
                <a:solidFill>
                  <a:srgbClr val="404040"/>
                </a:solidFill>
                <a:latin typeface="Times New Roman"/>
                <a:cs typeface="Times New Roman"/>
              </a:rPr>
              <a:t> </a:t>
            </a:r>
            <a:r>
              <a:rPr sz="1800" spc="-5" dirty="0">
                <a:solidFill>
                  <a:srgbClr val="404040"/>
                </a:solidFill>
                <a:latin typeface="Times New Roman"/>
                <a:cs typeface="Times New Roman"/>
              </a:rPr>
              <a:t>would look in past guests, rather than expanding their knowledge within </a:t>
            </a:r>
            <a:r>
              <a:rPr sz="1800" dirty="0">
                <a:solidFill>
                  <a:srgbClr val="404040"/>
                </a:solidFill>
                <a:latin typeface="Times New Roman"/>
                <a:cs typeface="Times New Roman"/>
              </a:rPr>
              <a:t>focus </a:t>
            </a:r>
            <a:r>
              <a:rPr sz="1800" spc="-5" dirty="0">
                <a:solidFill>
                  <a:srgbClr val="404040"/>
                </a:solidFill>
                <a:latin typeface="Times New Roman"/>
                <a:cs typeface="Times New Roman"/>
              </a:rPr>
              <a:t>companies </a:t>
            </a:r>
            <a:r>
              <a:rPr sz="1800" dirty="0">
                <a:solidFill>
                  <a:srgbClr val="404040"/>
                </a:solidFill>
                <a:latin typeface="Times New Roman"/>
                <a:cs typeface="Times New Roman"/>
              </a:rPr>
              <a:t>or</a:t>
            </a:r>
            <a:r>
              <a:rPr sz="1800" spc="-5" dirty="0">
                <a:solidFill>
                  <a:srgbClr val="404040"/>
                </a:solidFill>
                <a:latin typeface="Times New Roman"/>
                <a:cs typeface="Times New Roman"/>
              </a:rPr>
              <a:t> organizations.</a:t>
            </a:r>
            <a:endParaRPr sz="1800" dirty="0">
              <a:latin typeface="Times New Roman"/>
              <a:cs typeface="Times New Roman"/>
            </a:endParaRPr>
          </a:p>
          <a:p>
            <a:pPr>
              <a:lnSpc>
                <a:spcPct val="100000"/>
              </a:lnSpc>
              <a:spcBef>
                <a:spcPts val="5"/>
              </a:spcBef>
            </a:pPr>
            <a:endParaRPr sz="1850" dirty="0">
              <a:latin typeface="Times New Roman"/>
              <a:cs typeface="Times New Roman"/>
            </a:endParaRPr>
          </a:p>
          <a:p>
            <a:pPr marL="102235" marR="94615" algn="ctr">
              <a:lnSpc>
                <a:spcPct val="101099"/>
              </a:lnSpc>
              <a:spcBef>
                <a:spcPts val="5"/>
              </a:spcBef>
            </a:pPr>
            <a:r>
              <a:rPr sz="1800" spc="-15" dirty="0">
                <a:solidFill>
                  <a:srgbClr val="404040"/>
                </a:solidFill>
                <a:latin typeface="Times New Roman"/>
                <a:cs typeface="Times New Roman"/>
              </a:rPr>
              <a:t>Within </a:t>
            </a:r>
            <a:r>
              <a:rPr sz="1800" spc="-5" dirty="0">
                <a:solidFill>
                  <a:srgbClr val="404040"/>
                </a:solidFill>
                <a:latin typeface="Times New Roman"/>
                <a:cs typeface="Times New Roman"/>
              </a:rPr>
              <a:t>that </a:t>
            </a:r>
            <a:r>
              <a:rPr sz="1800" dirty="0">
                <a:solidFill>
                  <a:srgbClr val="404040"/>
                </a:solidFill>
                <a:latin typeface="Times New Roman"/>
                <a:cs typeface="Times New Roman"/>
              </a:rPr>
              <a:t>89%</a:t>
            </a:r>
            <a:r>
              <a:rPr lang="en-US" sz="1800" dirty="0">
                <a:solidFill>
                  <a:srgbClr val="404040"/>
                </a:solidFill>
                <a:latin typeface="Times New Roman"/>
                <a:cs typeface="Times New Roman"/>
              </a:rPr>
              <a:t>,</a:t>
            </a:r>
            <a:r>
              <a:rPr sz="1800" dirty="0">
                <a:solidFill>
                  <a:srgbClr val="404040"/>
                </a:solidFill>
                <a:latin typeface="Times New Roman"/>
                <a:cs typeface="Times New Roman"/>
              </a:rPr>
              <a:t> </a:t>
            </a:r>
            <a:r>
              <a:rPr sz="1800" spc="-5" dirty="0">
                <a:solidFill>
                  <a:srgbClr val="404040"/>
                </a:solidFill>
                <a:latin typeface="Times New Roman"/>
                <a:cs typeface="Times New Roman"/>
              </a:rPr>
              <a:t>the respondents </a:t>
            </a:r>
            <a:r>
              <a:rPr sz="1800" dirty="0">
                <a:solidFill>
                  <a:srgbClr val="404040"/>
                </a:solidFill>
                <a:latin typeface="Times New Roman"/>
                <a:cs typeface="Times New Roman"/>
              </a:rPr>
              <a:t>were </a:t>
            </a:r>
            <a:r>
              <a:rPr sz="1800" spc="-5" dirty="0">
                <a:solidFill>
                  <a:srgbClr val="404040"/>
                </a:solidFill>
                <a:latin typeface="Times New Roman"/>
                <a:cs typeface="Times New Roman"/>
              </a:rPr>
              <a:t>asked if they </a:t>
            </a:r>
            <a:r>
              <a:rPr sz="1800" dirty="0">
                <a:solidFill>
                  <a:srgbClr val="404040"/>
                </a:solidFill>
                <a:latin typeface="Times New Roman"/>
                <a:cs typeface="Times New Roman"/>
              </a:rPr>
              <a:t>have a </a:t>
            </a:r>
            <a:r>
              <a:rPr sz="1800" spc="-5" dirty="0">
                <a:solidFill>
                  <a:srgbClr val="404040"/>
                </a:solidFill>
                <a:latin typeface="Times New Roman"/>
                <a:cs typeface="Times New Roman"/>
              </a:rPr>
              <a:t>plan to  saturate accounts </a:t>
            </a:r>
            <a:r>
              <a:rPr sz="1800" dirty="0">
                <a:solidFill>
                  <a:srgbClr val="404040"/>
                </a:solidFill>
                <a:latin typeface="Times New Roman"/>
                <a:cs typeface="Times New Roman"/>
              </a:rPr>
              <a:t>and </a:t>
            </a:r>
            <a:r>
              <a:rPr sz="1800" spc="-5" dirty="0">
                <a:solidFill>
                  <a:srgbClr val="404040"/>
                </a:solidFill>
                <a:latin typeface="Times New Roman"/>
                <a:cs typeface="Times New Roman"/>
              </a:rPr>
              <a:t>organizations they responded</a:t>
            </a:r>
            <a:r>
              <a:rPr sz="1800" spc="20" dirty="0">
                <a:solidFill>
                  <a:srgbClr val="404040"/>
                </a:solidFill>
                <a:latin typeface="Times New Roman"/>
                <a:cs typeface="Times New Roman"/>
              </a:rPr>
              <a:t> </a:t>
            </a:r>
            <a:r>
              <a:rPr sz="1800" dirty="0">
                <a:solidFill>
                  <a:srgbClr val="404040"/>
                </a:solidFill>
                <a:latin typeface="Times New Roman"/>
                <a:cs typeface="Times New Roman"/>
              </a:rPr>
              <a:t>“No”.</a:t>
            </a:r>
            <a:endParaRPr lang="en-US" sz="1800" dirty="0">
              <a:solidFill>
                <a:srgbClr val="404040"/>
              </a:solidFill>
              <a:latin typeface="Times New Roman"/>
              <a:cs typeface="Times New Roman"/>
            </a:endParaRPr>
          </a:p>
          <a:p>
            <a:pPr marL="102235" marR="94615" algn="ctr">
              <a:lnSpc>
                <a:spcPct val="101099"/>
              </a:lnSpc>
              <a:spcBef>
                <a:spcPts val="5"/>
              </a:spcBef>
            </a:pPr>
            <a:endParaRPr lang="en-US" dirty="0">
              <a:solidFill>
                <a:srgbClr val="404040"/>
              </a:solidFill>
              <a:latin typeface="Times New Roman"/>
              <a:cs typeface="Times New Roman"/>
            </a:endParaRPr>
          </a:p>
          <a:p>
            <a:pPr marL="102235" marR="94615" algn="ctr">
              <a:lnSpc>
                <a:spcPct val="101099"/>
              </a:lnSpc>
              <a:spcBef>
                <a:spcPts val="5"/>
              </a:spcBef>
            </a:pPr>
            <a:r>
              <a:rPr lang="en-US" sz="1800" dirty="0">
                <a:solidFill>
                  <a:srgbClr val="404040"/>
                </a:solidFill>
                <a:latin typeface="Times New Roman"/>
                <a:cs typeface="Times New Roman"/>
              </a:rPr>
              <a:t>-done in collaboration with the London School of Business</a:t>
            </a:r>
            <a:endParaRPr sz="1800" dirty="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103053" y="8742680"/>
            <a:ext cx="2938780" cy="151323"/>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898989"/>
                </a:solidFill>
                <a:latin typeface="Franklin Gothic Book"/>
                <a:cs typeface="Franklin Gothic Book"/>
              </a:rPr>
              <a:t>Effective Planning for Top-Line </a:t>
            </a:r>
            <a:r>
              <a:rPr sz="900" dirty="0">
                <a:solidFill>
                  <a:srgbClr val="898989"/>
                </a:solidFill>
                <a:latin typeface="Franklin Gothic Book"/>
                <a:cs typeface="Franklin Gothic Book"/>
              </a:rPr>
              <a:t>Growth in Times of Disruption</a:t>
            </a:r>
            <a:endParaRPr sz="900" dirty="0">
              <a:latin typeface="Franklin Gothic Book"/>
              <a:cs typeface="Franklin Gothic Book"/>
            </a:endParaRPr>
          </a:p>
        </p:txBody>
      </p:sp>
      <p:sp>
        <p:nvSpPr>
          <p:cNvPr id="3" name="object 3"/>
          <p:cNvSpPr txBox="1"/>
          <p:nvPr/>
        </p:nvSpPr>
        <p:spPr>
          <a:xfrm>
            <a:off x="6343648" y="8730488"/>
            <a:ext cx="8382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898989"/>
                </a:solidFill>
                <a:latin typeface="Calibri"/>
                <a:cs typeface="Calibri"/>
              </a:rPr>
              <a:t>7</a:t>
            </a:r>
            <a:endParaRPr sz="900">
              <a:latin typeface="Calibri"/>
              <a:cs typeface="Calibri"/>
            </a:endParaRPr>
          </a:p>
        </p:txBody>
      </p:sp>
      <p:sp>
        <p:nvSpPr>
          <p:cNvPr id="4" name="object 4"/>
          <p:cNvSpPr txBox="1"/>
          <p:nvPr/>
        </p:nvSpPr>
        <p:spPr>
          <a:xfrm>
            <a:off x="177469" y="126491"/>
            <a:ext cx="6242685" cy="2640338"/>
          </a:xfrm>
          <a:prstGeom prst="rect">
            <a:avLst/>
          </a:prstGeom>
        </p:spPr>
        <p:txBody>
          <a:bodyPr vert="horz" wrap="square" lIns="0" tIns="12700" rIns="0" bIns="0" rtlCol="0">
            <a:spAutoFit/>
          </a:bodyPr>
          <a:lstStyle/>
          <a:p>
            <a:pPr marL="12700">
              <a:lnSpc>
                <a:spcPct val="100000"/>
              </a:lnSpc>
              <a:spcBef>
                <a:spcPts val="100"/>
              </a:spcBef>
            </a:pPr>
            <a:r>
              <a:rPr spc="-5" dirty="0">
                <a:latin typeface="Franklin Gothic Book"/>
                <a:cs typeface="Franklin Gothic Book"/>
              </a:rPr>
              <a:t>What the Best </a:t>
            </a:r>
            <a:r>
              <a:rPr dirty="0">
                <a:latin typeface="Franklin Gothic Book"/>
                <a:cs typeface="Franklin Gothic Book"/>
              </a:rPr>
              <a:t>Do</a:t>
            </a:r>
            <a:r>
              <a:rPr spc="-10" dirty="0">
                <a:latin typeface="Franklin Gothic Book"/>
                <a:cs typeface="Franklin Gothic Book"/>
              </a:rPr>
              <a:t> </a:t>
            </a:r>
            <a:r>
              <a:rPr spc="-5" dirty="0">
                <a:latin typeface="Franklin Gothic Book"/>
                <a:cs typeface="Franklin Gothic Book"/>
              </a:rPr>
              <a:t>Differently</a:t>
            </a:r>
            <a:endParaRPr dirty="0">
              <a:latin typeface="Franklin Gothic Book"/>
              <a:cs typeface="Franklin Gothic Book"/>
            </a:endParaRPr>
          </a:p>
          <a:p>
            <a:pPr>
              <a:lnSpc>
                <a:spcPct val="100000"/>
              </a:lnSpc>
              <a:spcBef>
                <a:spcPts val="10"/>
              </a:spcBef>
            </a:pPr>
            <a:endParaRPr dirty="0">
              <a:latin typeface="Franklin Gothic Book"/>
              <a:cs typeface="Franklin Gothic Book"/>
            </a:endParaRPr>
          </a:p>
          <a:p>
            <a:pPr marL="368935">
              <a:lnSpc>
                <a:spcPct val="100000"/>
              </a:lnSpc>
            </a:pPr>
            <a:endParaRPr lang="en-US" sz="1400" spc="-15" dirty="0">
              <a:solidFill>
                <a:srgbClr val="B52372"/>
              </a:solidFill>
              <a:latin typeface="Franklin Gothic Medium"/>
              <a:cs typeface="Franklin Gothic Medium"/>
            </a:endParaRPr>
          </a:p>
          <a:p>
            <a:pPr marL="368935">
              <a:lnSpc>
                <a:spcPct val="100000"/>
              </a:lnSpc>
            </a:pPr>
            <a:r>
              <a:rPr sz="1400" spc="-15" dirty="0">
                <a:solidFill>
                  <a:srgbClr val="B52372"/>
                </a:solidFill>
                <a:latin typeface="Franklin Gothic Medium"/>
                <a:cs typeface="Franklin Gothic Medium"/>
              </a:rPr>
              <a:t>Why </a:t>
            </a:r>
            <a:r>
              <a:rPr sz="1400" spc="-5" dirty="0">
                <a:solidFill>
                  <a:srgbClr val="B52372"/>
                </a:solidFill>
                <a:latin typeface="Franklin Gothic Medium"/>
                <a:cs typeface="Franklin Gothic Medium"/>
              </a:rPr>
              <a:t>does this</a:t>
            </a:r>
            <a:r>
              <a:rPr sz="1400" spc="10" dirty="0">
                <a:solidFill>
                  <a:srgbClr val="B52372"/>
                </a:solidFill>
                <a:latin typeface="Franklin Gothic Medium"/>
                <a:cs typeface="Franklin Gothic Medium"/>
              </a:rPr>
              <a:t> </a:t>
            </a:r>
            <a:r>
              <a:rPr sz="1400" spc="-10" dirty="0">
                <a:solidFill>
                  <a:srgbClr val="B52372"/>
                </a:solidFill>
                <a:latin typeface="Franklin Gothic Medium"/>
                <a:cs typeface="Franklin Gothic Medium"/>
              </a:rPr>
              <a:t>matter?</a:t>
            </a:r>
            <a:endParaRPr lang="en-US" sz="1400" dirty="0">
              <a:latin typeface="Franklin Gothic Medium"/>
              <a:cs typeface="Franklin Gothic Medium"/>
            </a:endParaRPr>
          </a:p>
          <a:p>
            <a:pPr marL="368935">
              <a:lnSpc>
                <a:spcPct val="100000"/>
              </a:lnSpc>
            </a:pPr>
            <a:r>
              <a:rPr sz="1400" spc="-5" dirty="0">
                <a:solidFill>
                  <a:srgbClr val="B52372"/>
                </a:solidFill>
                <a:latin typeface="Franklin Gothic Book"/>
                <a:cs typeface="Franklin Gothic Book"/>
              </a:rPr>
              <a:t>The </a:t>
            </a:r>
            <a:r>
              <a:rPr sz="1400" dirty="0">
                <a:solidFill>
                  <a:srgbClr val="B52372"/>
                </a:solidFill>
                <a:latin typeface="Franklin Gothic Book"/>
                <a:cs typeface="Franklin Gothic Book"/>
              </a:rPr>
              <a:t>results from the survey indicate that teams don’t know how to find new business. Past customers can be good sources of repeat business. However, it illustrates a gap in how leadership is impacting team abilities.</a:t>
            </a:r>
            <a:endParaRPr sz="1400" dirty="0">
              <a:latin typeface="Franklin Gothic Book"/>
              <a:cs typeface="Franklin Gothic Book"/>
            </a:endParaRPr>
          </a:p>
          <a:p>
            <a:pPr marL="267335">
              <a:lnSpc>
                <a:spcPct val="100000"/>
              </a:lnSpc>
              <a:spcBef>
                <a:spcPts val="1010"/>
              </a:spcBef>
            </a:pPr>
            <a:r>
              <a:rPr sz="1400" dirty="0">
                <a:solidFill>
                  <a:srgbClr val="404040"/>
                </a:solidFill>
                <a:latin typeface="Wingdings"/>
                <a:cs typeface="Wingdings"/>
              </a:rPr>
              <a:t></a:t>
            </a:r>
            <a:r>
              <a:rPr sz="1400" dirty="0">
                <a:solidFill>
                  <a:srgbClr val="404040"/>
                </a:solidFill>
                <a:latin typeface="Times New Roman"/>
                <a:cs typeface="Times New Roman"/>
              </a:rPr>
              <a:t> </a:t>
            </a:r>
            <a:r>
              <a:rPr sz="1400" spc="-5" dirty="0">
                <a:solidFill>
                  <a:srgbClr val="404040"/>
                </a:solidFill>
                <a:latin typeface="Franklin Gothic Medium"/>
                <a:cs typeface="Franklin Gothic Medium"/>
              </a:rPr>
              <a:t>Understand the </a:t>
            </a:r>
            <a:r>
              <a:rPr sz="1400" spc="-10" dirty="0">
                <a:solidFill>
                  <a:srgbClr val="404040"/>
                </a:solidFill>
                <a:latin typeface="Franklin Gothic Medium"/>
                <a:cs typeface="Franklin Gothic Medium"/>
              </a:rPr>
              <a:t>customer’s</a:t>
            </a:r>
            <a:r>
              <a:rPr sz="1400" spc="-65" dirty="0">
                <a:solidFill>
                  <a:srgbClr val="404040"/>
                </a:solidFill>
                <a:latin typeface="Franklin Gothic Medium"/>
                <a:cs typeface="Franklin Gothic Medium"/>
              </a:rPr>
              <a:t> </a:t>
            </a:r>
            <a:r>
              <a:rPr sz="1400" spc="-5" dirty="0">
                <a:solidFill>
                  <a:srgbClr val="404040"/>
                </a:solidFill>
                <a:latin typeface="Franklin Gothic Medium"/>
                <a:cs typeface="Franklin Gothic Medium"/>
              </a:rPr>
              <a:t>business</a:t>
            </a:r>
            <a:endParaRPr sz="1400" dirty="0">
              <a:latin typeface="Franklin Gothic Medium"/>
              <a:cs typeface="Franklin Gothic Medium"/>
            </a:endParaRPr>
          </a:p>
          <a:p>
            <a:pPr marL="724535" marR="5080">
              <a:lnSpc>
                <a:spcPct val="99200"/>
              </a:lnSpc>
              <a:spcBef>
                <a:spcPts val="85"/>
              </a:spcBef>
            </a:pPr>
            <a:r>
              <a:rPr sz="1400" dirty="0">
                <a:solidFill>
                  <a:srgbClr val="404040"/>
                </a:solidFill>
                <a:latin typeface="Franklin Gothic Book"/>
                <a:cs typeface="Franklin Gothic Book"/>
              </a:rPr>
              <a:t>Best of class revenue leaders understand what their customer is trying to achieve.</a:t>
            </a:r>
            <a:r>
              <a:rPr lang="en-US" sz="1400" dirty="0">
                <a:solidFill>
                  <a:srgbClr val="404040"/>
                </a:solidFill>
                <a:latin typeface="Franklin Gothic Book"/>
                <a:cs typeface="Franklin Gothic Book"/>
              </a:rPr>
              <a:t>  </a:t>
            </a:r>
            <a:r>
              <a:rPr sz="1400" dirty="0">
                <a:solidFill>
                  <a:srgbClr val="404040"/>
                </a:solidFill>
                <a:latin typeface="Franklin Gothic Book"/>
                <a:cs typeface="Franklin Gothic Book"/>
              </a:rPr>
              <a:t>They can align the offering to the customer that may not even be about the actual physical attributes of the hotel.</a:t>
            </a:r>
            <a:endParaRPr sz="1400" dirty="0">
              <a:latin typeface="Franklin Gothic Book"/>
              <a:cs typeface="Franklin Gothic Book"/>
            </a:endParaRPr>
          </a:p>
        </p:txBody>
      </p:sp>
      <p:sp>
        <p:nvSpPr>
          <p:cNvPr id="5" name="object 5"/>
          <p:cNvSpPr txBox="1"/>
          <p:nvPr/>
        </p:nvSpPr>
        <p:spPr>
          <a:xfrm>
            <a:off x="889336" y="5858764"/>
            <a:ext cx="5302885" cy="1007110"/>
          </a:xfrm>
          <a:prstGeom prst="rect">
            <a:avLst/>
          </a:prstGeom>
        </p:spPr>
        <p:txBody>
          <a:bodyPr vert="horz" wrap="square" lIns="0" tIns="10795" rIns="0" bIns="0" rtlCol="0">
            <a:spAutoFit/>
          </a:bodyPr>
          <a:lstStyle/>
          <a:p>
            <a:pPr marL="12700" marR="5080">
              <a:lnSpc>
                <a:spcPct val="100800"/>
              </a:lnSpc>
              <a:spcBef>
                <a:spcPts val="85"/>
              </a:spcBef>
            </a:pPr>
            <a:r>
              <a:rPr sz="1600" dirty="0">
                <a:solidFill>
                  <a:srgbClr val="404040"/>
                </a:solidFill>
                <a:latin typeface="Franklin Gothic Book"/>
                <a:cs typeface="Franklin Gothic Book"/>
              </a:rPr>
              <a:t>While this knowledge may sound intuitive, it is uncommon.  Teams have been focused on the meeting, the training, or the  event. Rarely do they have a clear understanding of what the customer is trying to achieve beyond the meeting.</a:t>
            </a:r>
            <a:endParaRPr sz="1600" dirty="0">
              <a:latin typeface="Franklin Gothic Book"/>
              <a:cs typeface="Franklin Gothic Book"/>
            </a:endParaRPr>
          </a:p>
        </p:txBody>
      </p:sp>
      <p:sp>
        <p:nvSpPr>
          <p:cNvPr id="6" name="object 6"/>
          <p:cNvSpPr/>
          <p:nvPr/>
        </p:nvSpPr>
        <p:spPr>
          <a:xfrm>
            <a:off x="252684" y="615820"/>
            <a:ext cx="2620010" cy="0"/>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7" name="object 7"/>
          <p:cNvSpPr/>
          <p:nvPr/>
        </p:nvSpPr>
        <p:spPr>
          <a:xfrm>
            <a:off x="607756" y="3008882"/>
            <a:ext cx="5642488" cy="2384865"/>
          </a:xfrm>
          <a:prstGeom prst="rect">
            <a:avLst/>
          </a:prstGeom>
          <a:blipFill>
            <a:blip r:embed="rId2" cstate="print"/>
            <a:stretch>
              <a:fillRect/>
            </a:stretch>
          </a:blipFill>
        </p:spPr>
        <p:txBody>
          <a:bodyPr wrap="square" lIns="0" tIns="0" rIns="0" bIns="0" rtlCol="0"/>
          <a:lstStyle/>
          <a:p>
            <a:endParaRPr/>
          </a:p>
        </p:txBody>
      </p:sp>
      <p:sp>
        <p:nvSpPr>
          <p:cNvPr id="8" name="object 8"/>
          <p:cNvSpPr txBox="1"/>
          <p:nvPr/>
        </p:nvSpPr>
        <p:spPr>
          <a:xfrm>
            <a:off x="1274695" y="7214232"/>
            <a:ext cx="4595495" cy="907813"/>
          </a:xfrm>
          <a:prstGeom prst="rect">
            <a:avLst/>
          </a:prstGeom>
          <a:solidFill>
            <a:srgbClr val="AAAAAA"/>
          </a:solidFill>
          <a:ln w="12700">
            <a:solidFill>
              <a:srgbClr val="B52372"/>
            </a:solidFill>
          </a:ln>
        </p:spPr>
        <p:txBody>
          <a:bodyPr vert="horz" wrap="square" lIns="0" tIns="150495" rIns="0" bIns="0" rtlCol="0">
            <a:spAutoFit/>
          </a:bodyPr>
          <a:lstStyle/>
          <a:p>
            <a:pPr marL="588010" marR="147955" indent="-433705">
              <a:lnSpc>
                <a:spcPct val="103800"/>
              </a:lnSpc>
              <a:spcBef>
                <a:spcPts val="1185"/>
              </a:spcBef>
            </a:pPr>
            <a:r>
              <a:rPr sz="1600" i="1" dirty="0">
                <a:solidFill>
                  <a:srgbClr val="404040"/>
                </a:solidFill>
                <a:latin typeface="Times New Roman"/>
                <a:cs typeface="Times New Roman"/>
              </a:rPr>
              <a:t>75% of business executives said that the salesperson  </a:t>
            </a:r>
            <a:r>
              <a:rPr sz="1600" i="1" spc="-30" dirty="0">
                <a:solidFill>
                  <a:srgbClr val="404040"/>
                </a:solidFill>
                <a:latin typeface="Times New Roman"/>
                <a:cs typeface="Times New Roman"/>
              </a:rPr>
              <a:t>didn’t </a:t>
            </a:r>
            <a:r>
              <a:rPr sz="1600" i="1" dirty="0">
                <a:solidFill>
                  <a:srgbClr val="404040"/>
                </a:solidFill>
                <a:latin typeface="Times New Roman"/>
                <a:cs typeface="Times New Roman"/>
              </a:rPr>
              <a:t>understand </a:t>
            </a:r>
            <a:r>
              <a:rPr sz="1600" i="1" spc="-5" dirty="0">
                <a:solidFill>
                  <a:srgbClr val="404040"/>
                </a:solidFill>
                <a:latin typeface="Times New Roman"/>
                <a:cs typeface="Times New Roman"/>
              </a:rPr>
              <a:t>what </a:t>
            </a:r>
            <a:r>
              <a:rPr sz="1600" i="1" dirty="0">
                <a:solidFill>
                  <a:srgbClr val="404040"/>
                </a:solidFill>
                <a:latin typeface="Times New Roman"/>
                <a:cs typeface="Times New Roman"/>
              </a:rPr>
              <a:t>their business</a:t>
            </a:r>
            <a:r>
              <a:rPr sz="1600" i="1" spc="25" dirty="0">
                <a:solidFill>
                  <a:srgbClr val="404040"/>
                </a:solidFill>
                <a:latin typeface="Times New Roman"/>
                <a:cs typeface="Times New Roman"/>
              </a:rPr>
              <a:t> </a:t>
            </a:r>
            <a:r>
              <a:rPr sz="1600" i="1" dirty="0">
                <a:solidFill>
                  <a:srgbClr val="404040"/>
                </a:solidFill>
                <a:latin typeface="Times New Roman"/>
                <a:cs typeface="Times New Roman"/>
              </a:rPr>
              <a:t>did.</a:t>
            </a:r>
            <a:endParaRPr sz="1600" dirty="0">
              <a:latin typeface="Times New Roman"/>
              <a:cs typeface="Times New Roman"/>
            </a:endParaRPr>
          </a:p>
          <a:p>
            <a:pPr marL="2235835">
              <a:lnSpc>
                <a:spcPts val="1895"/>
              </a:lnSpc>
            </a:pPr>
            <a:r>
              <a:rPr sz="1600" i="1" spc="-5" dirty="0">
                <a:solidFill>
                  <a:srgbClr val="404040"/>
                </a:solidFill>
                <a:latin typeface="Times New Roman"/>
                <a:cs typeface="Times New Roman"/>
              </a:rPr>
              <a:t>-</a:t>
            </a:r>
            <a:r>
              <a:rPr lang="en-US" sz="1600" i="1" spc="-5" dirty="0">
                <a:solidFill>
                  <a:srgbClr val="404040"/>
                </a:solidFill>
                <a:latin typeface="Times New Roman"/>
                <a:cs typeface="Times New Roman"/>
              </a:rPr>
              <a:t>Forrester</a:t>
            </a:r>
            <a:endParaRPr sz="1600" dirty="0">
              <a:latin typeface="Times New Roman"/>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77653" y="8742680"/>
            <a:ext cx="4375150" cy="162560"/>
          </a:xfrm>
          <a:prstGeom prst="rect">
            <a:avLst/>
          </a:prstGeom>
        </p:spPr>
        <p:txBody>
          <a:bodyPr vert="horz" wrap="square" lIns="0" tIns="12700" rIns="0" bIns="0" rtlCol="0">
            <a:spAutoFit/>
          </a:bodyPr>
          <a:lstStyle/>
          <a:p>
            <a:pPr marL="38100">
              <a:lnSpc>
                <a:spcPct val="100000"/>
              </a:lnSpc>
              <a:spcBef>
                <a:spcPts val="100"/>
              </a:spcBef>
              <a:tabLst>
                <a:tab pos="4278630" algn="l"/>
              </a:tabLst>
            </a:pPr>
            <a:r>
              <a:rPr sz="900" spc="-5" dirty="0">
                <a:solidFill>
                  <a:srgbClr val="898989"/>
                </a:solidFill>
                <a:latin typeface="Franklin Gothic Book"/>
                <a:cs typeface="Franklin Gothic Book"/>
              </a:rPr>
              <a:t>Effective Planning for Top-Line Growth </a:t>
            </a:r>
            <a:r>
              <a:rPr sz="900" dirty="0">
                <a:solidFill>
                  <a:srgbClr val="898989"/>
                </a:solidFill>
                <a:latin typeface="Franklin Gothic Book"/>
                <a:cs typeface="Franklin Gothic Book"/>
              </a:rPr>
              <a:t>in </a:t>
            </a:r>
            <a:r>
              <a:rPr sz="900" spc="-5" dirty="0">
                <a:solidFill>
                  <a:srgbClr val="898989"/>
                </a:solidFill>
                <a:latin typeface="Franklin Gothic Book"/>
                <a:cs typeface="Franklin Gothic Book"/>
              </a:rPr>
              <a:t>Times</a:t>
            </a:r>
            <a:r>
              <a:rPr sz="900" spc="90" dirty="0">
                <a:solidFill>
                  <a:srgbClr val="898989"/>
                </a:solidFill>
                <a:latin typeface="Franklin Gothic Book"/>
                <a:cs typeface="Franklin Gothic Book"/>
              </a:rPr>
              <a:t> </a:t>
            </a:r>
            <a:r>
              <a:rPr sz="900" spc="-5" dirty="0">
                <a:solidFill>
                  <a:srgbClr val="898989"/>
                </a:solidFill>
                <a:latin typeface="Franklin Gothic Book"/>
                <a:cs typeface="Franklin Gothic Book"/>
              </a:rPr>
              <a:t>of</a:t>
            </a:r>
            <a:r>
              <a:rPr sz="900" spc="20" dirty="0">
                <a:solidFill>
                  <a:srgbClr val="898989"/>
                </a:solidFill>
                <a:latin typeface="Franklin Gothic Book"/>
                <a:cs typeface="Franklin Gothic Book"/>
              </a:rPr>
              <a:t> </a:t>
            </a:r>
            <a:r>
              <a:rPr sz="900" spc="-5" dirty="0">
                <a:solidFill>
                  <a:srgbClr val="898989"/>
                </a:solidFill>
                <a:latin typeface="Franklin Gothic Book"/>
                <a:cs typeface="Franklin Gothic Book"/>
              </a:rPr>
              <a:t>Disruption	</a:t>
            </a:r>
            <a:r>
              <a:rPr sz="1350" baseline="6172" dirty="0">
                <a:solidFill>
                  <a:srgbClr val="898989"/>
                </a:solidFill>
                <a:latin typeface="Calibri"/>
                <a:cs typeface="Calibri"/>
              </a:rPr>
              <a:t>8</a:t>
            </a:r>
            <a:endParaRPr sz="1350" baseline="6172">
              <a:latin typeface="Calibri"/>
              <a:cs typeface="Calibri"/>
            </a:endParaRPr>
          </a:p>
        </p:txBody>
      </p:sp>
      <p:sp>
        <p:nvSpPr>
          <p:cNvPr id="3" name="object 3"/>
          <p:cNvSpPr txBox="1"/>
          <p:nvPr/>
        </p:nvSpPr>
        <p:spPr>
          <a:xfrm>
            <a:off x="177469" y="126491"/>
            <a:ext cx="6165850" cy="15376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Franklin Gothic Book"/>
                <a:cs typeface="Franklin Gothic Book"/>
              </a:rPr>
              <a:t>What the Best </a:t>
            </a:r>
            <a:r>
              <a:rPr sz="2000" dirty="0">
                <a:latin typeface="Franklin Gothic Book"/>
                <a:cs typeface="Franklin Gothic Book"/>
              </a:rPr>
              <a:t>Do</a:t>
            </a:r>
            <a:r>
              <a:rPr sz="2000" spc="-10" dirty="0">
                <a:latin typeface="Franklin Gothic Book"/>
                <a:cs typeface="Franklin Gothic Book"/>
              </a:rPr>
              <a:t> </a:t>
            </a:r>
            <a:r>
              <a:rPr sz="2000" spc="-5" dirty="0">
                <a:latin typeface="Franklin Gothic Book"/>
                <a:cs typeface="Franklin Gothic Book"/>
              </a:rPr>
              <a:t>Differently</a:t>
            </a:r>
            <a:endParaRPr sz="2000" dirty="0">
              <a:latin typeface="Franklin Gothic Book"/>
              <a:cs typeface="Franklin Gothic Book"/>
            </a:endParaRPr>
          </a:p>
          <a:p>
            <a:pPr marL="268605">
              <a:lnSpc>
                <a:spcPct val="100000"/>
              </a:lnSpc>
              <a:spcBef>
                <a:spcPts val="1865"/>
              </a:spcBef>
            </a:pPr>
            <a:r>
              <a:rPr sz="1600" dirty="0">
                <a:solidFill>
                  <a:srgbClr val="404040"/>
                </a:solidFill>
                <a:latin typeface="Wingdings"/>
                <a:cs typeface="Wingdings"/>
              </a:rPr>
              <a:t></a:t>
            </a:r>
            <a:r>
              <a:rPr sz="1600" dirty="0">
                <a:solidFill>
                  <a:srgbClr val="404040"/>
                </a:solidFill>
                <a:latin typeface="Times New Roman"/>
                <a:cs typeface="Times New Roman"/>
              </a:rPr>
              <a:t> </a:t>
            </a:r>
            <a:r>
              <a:rPr sz="1600" dirty="0">
                <a:solidFill>
                  <a:srgbClr val="404040"/>
                </a:solidFill>
                <a:latin typeface="Franklin Gothic Medium"/>
                <a:cs typeface="Franklin Gothic Medium"/>
              </a:rPr>
              <a:t>Have a strategy that clearly aligns with overall financial goals</a:t>
            </a:r>
            <a:endParaRPr sz="1600" dirty="0">
              <a:latin typeface="Franklin Gothic Medium"/>
              <a:cs typeface="Franklin Gothic Medium"/>
            </a:endParaRPr>
          </a:p>
          <a:p>
            <a:pPr marL="725805" marR="5080">
              <a:lnSpc>
                <a:spcPts val="1900"/>
              </a:lnSpc>
              <a:spcBef>
                <a:spcPts val="80"/>
              </a:spcBef>
            </a:pPr>
            <a:r>
              <a:rPr sz="1500" dirty="0">
                <a:solidFill>
                  <a:srgbClr val="404040"/>
                </a:solidFill>
                <a:latin typeface="Franklin Gothic Book"/>
                <a:cs typeface="Franklin Gothic Book"/>
              </a:rPr>
              <a:t>In the next segment we will explore this more fully as it is one  of the key elements that continuously appears in our research of </a:t>
            </a:r>
            <a:r>
              <a:rPr lang="en-US" sz="1500" dirty="0">
                <a:solidFill>
                  <a:srgbClr val="404040"/>
                </a:solidFill>
                <a:latin typeface="Franklin Gothic Book"/>
                <a:cs typeface="Franklin Gothic Book"/>
              </a:rPr>
              <a:t>having a causal relationship with </a:t>
            </a:r>
            <a:r>
              <a:rPr sz="1500" dirty="0">
                <a:solidFill>
                  <a:srgbClr val="404040"/>
                </a:solidFill>
                <a:latin typeface="Franklin Gothic Book"/>
                <a:cs typeface="Franklin Gothic Book"/>
              </a:rPr>
              <a:t>top-line revenue performance.</a:t>
            </a:r>
            <a:endParaRPr sz="1500" dirty="0">
              <a:latin typeface="Franklin Gothic Book"/>
              <a:cs typeface="Franklin Gothic Book"/>
            </a:endParaRPr>
          </a:p>
        </p:txBody>
      </p:sp>
      <p:sp>
        <p:nvSpPr>
          <p:cNvPr id="4" name="object 4"/>
          <p:cNvSpPr txBox="1"/>
          <p:nvPr/>
        </p:nvSpPr>
        <p:spPr>
          <a:xfrm>
            <a:off x="433741" y="3831844"/>
            <a:ext cx="5950585" cy="4557401"/>
          </a:xfrm>
          <a:prstGeom prst="rect">
            <a:avLst/>
          </a:prstGeom>
        </p:spPr>
        <p:txBody>
          <a:bodyPr vert="horz" wrap="square" lIns="0" tIns="3175" rIns="0" bIns="0" rtlCol="0">
            <a:spAutoFit/>
          </a:bodyPr>
          <a:lstStyle/>
          <a:p>
            <a:pPr marL="298450" marR="226695" indent="-285750">
              <a:lnSpc>
                <a:spcPct val="103800"/>
              </a:lnSpc>
              <a:spcBef>
                <a:spcPts val="25"/>
              </a:spcBef>
            </a:pPr>
            <a:r>
              <a:rPr sz="1600" dirty="0">
                <a:solidFill>
                  <a:srgbClr val="404040"/>
                </a:solidFill>
                <a:latin typeface="Wingdings"/>
                <a:cs typeface="Wingdings"/>
              </a:rPr>
              <a:t></a:t>
            </a:r>
            <a:r>
              <a:rPr sz="1600" dirty="0">
                <a:solidFill>
                  <a:srgbClr val="404040"/>
                </a:solidFill>
                <a:latin typeface="Times New Roman"/>
                <a:cs typeface="Times New Roman"/>
              </a:rPr>
              <a:t> </a:t>
            </a:r>
            <a:r>
              <a:rPr sz="1400" dirty="0">
                <a:solidFill>
                  <a:srgbClr val="404040"/>
                </a:solidFill>
                <a:latin typeface="Franklin Gothic Medium"/>
                <a:cs typeface="Franklin Gothic Medium"/>
              </a:rPr>
              <a:t>Creates a culture that looks for opportunity and challenges the status quo</a:t>
            </a:r>
            <a:endParaRPr sz="1400" dirty="0">
              <a:latin typeface="Franklin Gothic Medium"/>
              <a:cs typeface="Franklin Gothic Medium"/>
            </a:endParaRPr>
          </a:p>
          <a:p>
            <a:pPr marL="469900" marR="16510">
              <a:lnSpc>
                <a:spcPts val="1920"/>
              </a:lnSpc>
              <a:spcBef>
                <a:spcPts val="40"/>
              </a:spcBef>
            </a:pPr>
            <a:r>
              <a:rPr sz="1400" dirty="0">
                <a:solidFill>
                  <a:srgbClr val="404040"/>
                </a:solidFill>
                <a:latin typeface="Franklin Gothic Book"/>
                <a:cs typeface="Franklin Gothic Book"/>
              </a:rPr>
              <a:t>Teams that look for opportunity and that challenge conventional thinking continually find revenue opportunity.</a:t>
            </a:r>
            <a:endParaRPr sz="1400" dirty="0">
              <a:latin typeface="Franklin Gothic Book"/>
              <a:cs typeface="Franklin Gothic Book"/>
            </a:endParaRPr>
          </a:p>
          <a:p>
            <a:pPr>
              <a:lnSpc>
                <a:spcPct val="100000"/>
              </a:lnSpc>
              <a:spcBef>
                <a:spcPts val="50"/>
              </a:spcBef>
            </a:pPr>
            <a:endParaRPr sz="1400" dirty="0">
              <a:latin typeface="Franklin Gothic Book"/>
              <a:cs typeface="Franklin Gothic Book"/>
            </a:endParaRPr>
          </a:p>
          <a:p>
            <a:pPr marL="469900">
              <a:lnSpc>
                <a:spcPct val="100000"/>
              </a:lnSpc>
            </a:pPr>
            <a:r>
              <a:rPr sz="1400" dirty="0">
                <a:solidFill>
                  <a:srgbClr val="404040"/>
                </a:solidFill>
                <a:latin typeface="Franklin Gothic Book"/>
                <a:cs typeface="Franklin Gothic Book"/>
              </a:rPr>
              <a:t>Here are two </a:t>
            </a:r>
            <a:r>
              <a:rPr lang="en-US" sz="1400" b="1" u="sng" dirty="0">
                <a:solidFill>
                  <a:srgbClr val="404040"/>
                </a:solidFill>
                <a:latin typeface="Franklin Gothic Book"/>
                <a:cs typeface="Franklin Gothic Book"/>
              </a:rPr>
              <a:t>real-life</a:t>
            </a:r>
            <a:r>
              <a:rPr lang="en-US" sz="1400" dirty="0">
                <a:solidFill>
                  <a:srgbClr val="404040"/>
                </a:solidFill>
                <a:latin typeface="Franklin Gothic Book"/>
                <a:cs typeface="Franklin Gothic Book"/>
              </a:rPr>
              <a:t> </a:t>
            </a:r>
            <a:r>
              <a:rPr sz="1400" dirty="0">
                <a:solidFill>
                  <a:srgbClr val="404040"/>
                </a:solidFill>
                <a:latin typeface="Franklin Gothic Book"/>
                <a:cs typeface="Franklin Gothic Book"/>
              </a:rPr>
              <a:t>examples where this thinking hasn’t been present.</a:t>
            </a:r>
            <a:endParaRPr sz="1400" dirty="0">
              <a:latin typeface="Franklin Gothic Book"/>
              <a:cs typeface="Franklin Gothic Book"/>
            </a:endParaRPr>
          </a:p>
          <a:p>
            <a:pPr>
              <a:lnSpc>
                <a:spcPct val="100000"/>
              </a:lnSpc>
              <a:spcBef>
                <a:spcPts val="40"/>
              </a:spcBef>
            </a:pPr>
            <a:endParaRPr sz="1400" dirty="0">
              <a:latin typeface="Franklin Gothic Book"/>
              <a:cs typeface="Franklin Gothic Book"/>
            </a:endParaRPr>
          </a:p>
          <a:p>
            <a:pPr marL="469900">
              <a:lnSpc>
                <a:spcPct val="100000"/>
              </a:lnSpc>
            </a:pPr>
            <a:endParaRPr lang="en-US" sz="1400" i="1" dirty="0">
              <a:solidFill>
                <a:srgbClr val="B52372"/>
              </a:solidFill>
              <a:latin typeface="Franklin Gothic Book Italic"/>
              <a:cs typeface="Franklin Gothic Book Italic"/>
            </a:endParaRPr>
          </a:p>
          <a:p>
            <a:pPr marL="469900">
              <a:lnSpc>
                <a:spcPct val="100000"/>
              </a:lnSpc>
            </a:pPr>
            <a:r>
              <a:rPr sz="1400" i="1" dirty="0">
                <a:solidFill>
                  <a:srgbClr val="B52372"/>
                </a:solidFill>
                <a:latin typeface="Franklin Gothic Book Italic"/>
                <a:cs typeface="Franklin Gothic Book Italic"/>
              </a:rPr>
              <a:t>Situation 1:</a:t>
            </a:r>
            <a:endParaRPr sz="1400" dirty="0">
              <a:latin typeface="Franklin Gothic Book Italic"/>
              <a:cs typeface="Franklin Gothic Book Italic"/>
            </a:endParaRPr>
          </a:p>
          <a:p>
            <a:pPr marL="469900" marR="30480">
              <a:lnSpc>
                <a:spcPts val="1900"/>
              </a:lnSpc>
              <a:spcBef>
                <a:spcPts val="80"/>
              </a:spcBef>
            </a:pPr>
            <a:r>
              <a:rPr sz="1400" dirty="0">
                <a:solidFill>
                  <a:srgbClr val="B52372"/>
                </a:solidFill>
                <a:latin typeface="Franklin Gothic Book"/>
                <a:cs typeface="Franklin Gothic Book"/>
              </a:rPr>
              <a:t>A luxury hotel where a large amount of money was being invested into marketing within online travel agencies. The OTA was one of the most expensive channels that the hotel could try</a:t>
            </a:r>
            <a:r>
              <a:rPr lang="en-US" sz="1400" dirty="0">
                <a:latin typeface="Franklin Gothic Book"/>
                <a:cs typeface="Franklin Gothic Book"/>
              </a:rPr>
              <a:t> </a:t>
            </a:r>
            <a:r>
              <a:rPr sz="1400" dirty="0">
                <a:solidFill>
                  <a:srgbClr val="B52372"/>
                </a:solidFill>
                <a:latin typeface="Franklin Gothic Book"/>
                <a:cs typeface="Franklin Gothic Book"/>
              </a:rPr>
              <a:t>to optimize</a:t>
            </a:r>
            <a:r>
              <a:rPr sz="1400" dirty="0">
                <a:solidFill>
                  <a:srgbClr val="404040"/>
                </a:solidFill>
                <a:latin typeface="Franklin Gothic Book"/>
                <a:cs typeface="Franklin Gothic Book"/>
              </a:rPr>
              <a:t>.</a:t>
            </a:r>
            <a:endParaRPr sz="1400" dirty="0">
              <a:latin typeface="Franklin Gothic Book"/>
              <a:cs typeface="Franklin Gothic Book"/>
            </a:endParaRPr>
          </a:p>
          <a:p>
            <a:pPr marL="469900">
              <a:lnSpc>
                <a:spcPct val="100000"/>
              </a:lnSpc>
              <a:spcBef>
                <a:spcPts val="1175"/>
              </a:spcBef>
            </a:pPr>
            <a:r>
              <a:rPr sz="1400" i="1" dirty="0">
                <a:solidFill>
                  <a:srgbClr val="B52372"/>
                </a:solidFill>
                <a:latin typeface="Franklin Gothic Book Italic"/>
                <a:cs typeface="Franklin Gothic Book Italic"/>
              </a:rPr>
              <a:t>Rationale:</a:t>
            </a:r>
            <a:endParaRPr sz="1400" dirty="0">
              <a:latin typeface="Franklin Gothic Book Italic"/>
              <a:cs typeface="Franklin Gothic Book Italic"/>
            </a:endParaRPr>
          </a:p>
          <a:p>
            <a:pPr marL="755650" marR="5080" indent="-285750">
              <a:lnSpc>
                <a:spcPts val="1900"/>
              </a:lnSpc>
              <a:spcBef>
                <a:spcPts val="80"/>
              </a:spcBef>
              <a:buFont typeface="Wingdings"/>
              <a:buChar char=""/>
              <a:tabLst>
                <a:tab pos="755015" algn="l"/>
                <a:tab pos="755650" algn="l"/>
              </a:tabLst>
            </a:pPr>
            <a:r>
              <a:rPr sz="1400" i="1" dirty="0">
                <a:solidFill>
                  <a:srgbClr val="B52372"/>
                </a:solidFill>
                <a:latin typeface="Franklin Gothic Book Italic"/>
                <a:cs typeface="Franklin Gothic Book Italic"/>
              </a:rPr>
              <a:t>Revenue Manager was well respected and General Manager didn’t want to estrange such a hard worker.</a:t>
            </a:r>
            <a:endParaRPr sz="1400" dirty="0">
              <a:latin typeface="Franklin Gothic Book Italic"/>
              <a:cs typeface="Franklin Gothic Book Italic"/>
            </a:endParaRPr>
          </a:p>
          <a:p>
            <a:pPr marL="755650" indent="-285750">
              <a:lnSpc>
                <a:spcPts val="1830"/>
              </a:lnSpc>
              <a:buFont typeface="Wingdings"/>
              <a:buChar char=""/>
              <a:tabLst>
                <a:tab pos="755015" algn="l"/>
                <a:tab pos="755650" algn="l"/>
              </a:tabLst>
            </a:pPr>
            <a:r>
              <a:rPr sz="1400" i="1" dirty="0">
                <a:solidFill>
                  <a:srgbClr val="B52372"/>
                </a:solidFill>
                <a:latin typeface="Franklin Gothic Book Italic"/>
                <a:cs typeface="Franklin Gothic Book Italic"/>
              </a:rPr>
              <a:t>The ad</a:t>
            </a:r>
            <a:r>
              <a:rPr lang="en-US" sz="1400" i="1" dirty="0">
                <a:solidFill>
                  <a:srgbClr val="B52372"/>
                </a:solidFill>
                <a:latin typeface="Franklin Gothic Book Italic"/>
                <a:cs typeface="Franklin Gothic Book Italic"/>
              </a:rPr>
              <a:t>-b</a:t>
            </a:r>
            <a:r>
              <a:rPr sz="1400" i="1" dirty="0">
                <a:solidFill>
                  <a:srgbClr val="B52372"/>
                </a:solidFill>
                <a:latin typeface="Franklin Gothic Book Italic"/>
                <a:cs typeface="Franklin Gothic Book Italic"/>
              </a:rPr>
              <a:t>uy was available and easy to execute.</a:t>
            </a:r>
            <a:endParaRPr sz="1400" dirty="0">
              <a:latin typeface="Franklin Gothic Book Italic"/>
              <a:cs typeface="Franklin Gothic Book Italic"/>
            </a:endParaRPr>
          </a:p>
          <a:p>
            <a:pPr marL="755650" marR="290195" indent="-285750">
              <a:lnSpc>
                <a:spcPct val="99400"/>
              </a:lnSpc>
              <a:spcBef>
                <a:spcPts val="85"/>
              </a:spcBef>
              <a:buFont typeface="Wingdings"/>
              <a:buChar char=""/>
              <a:tabLst>
                <a:tab pos="755015" algn="l"/>
                <a:tab pos="755650" algn="l"/>
              </a:tabLst>
            </a:pPr>
            <a:r>
              <a:rPr sz="1400" i="1" dirty="0">
                <a:solidFill>
                  <a:srgbClr val="B52372"/>
                </a:solidFill>
                <a:latin typeface="Franklin Gothic Book Italic"/>
                <a:cs typeface="Franklin Gothic Book Italic"/>
              </a:rPr>
              <a:t>There was a strong relationship between the OTA and the  Revenue Manager that the </a:t>
            </a:r>
            <a:r>
              <a:rPr lang="en-US" sz="1400" i="1" dirty="0">
                <a:solidFill>
                  <a:srgbClr val="B52372"/>
                </a:solidFill>
                <a:latin typeface="Franklin Gothic Book Italic"/>
                <a:cs typeface="Franklin Gothic Book Italic"/>
              </a:rPr>
              <a:t>General M</a:t>
            </a:r>
            <a:r>
              <a:rPr sz="1400" i="1" dirty="0">
                <a:solidFill>
                  <a:srgbClr val="B52372"/>
                </a:solidFill>
                <a:latin typeface="Franklin Gothic Book Italic"/>
                <a:cs typeface="Franklin Gothic Book Italic"/>
              </a:rPr>
              <a:t>anager didn’t want to  jeopardize.</a:t>
            </a:r>
            <a:endParaRPr sz="1400" dirty="0">
              <a:latin typeface="Franklin Gothic Book Italic"/>
              <a:cs typeface="Franklin Gothic Book Italic"/>
            </a:endParaRPr>
          </a:p>
        </p:txBody>
      </p:sp>
      <p:sp>
        <p:nvSpPr>
          <p:cNvPr id="5" name="object 5"/>
          <p:cNvSpPr/>
          <p:nvPr/>
        </p:nvSpPr>
        <p:spPr>
          <a:xfrm>
            <a:off x="209654" y="593551"/>
            <a:ext cx="2620010" cy="0"/>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6" name="object 6"/>
          <p:cNvSpPr/>
          <p:nvPr/>
        </p:nvSpPr>
        <p:spPr>
          <a:xfrm>
            <a:off x="720760" y="5421853"/>
            <a:ext cx="5486400" cy="0"/>
          </a:xfrm>
          <a:custGeom>
            <a:avLst/>
            <a:gdLst/>
            <a:ahLst/>
            <a:cxnLst/>
            <a:rect l="l" t="t" r="r" b="b"/>
            <a:pathLst>
              <a:path w="5486400">
                <a:moveTo>
                  <a:pt x="0" y="0"/>
                </a:moveTo>
                <a:lnTo>
                  <a:pt x="5486400" y="1"/>
                </a:lnTo>
              </a:path>
            </a:pathLst>
          </a:custGeom>
          <a:ln w="28575">
            <a:solidFill>
              <a:srgbClr val="000000"/>
            </a:solidFill>
          </a:ln>
        </p:spPr>
        <p:txBody>
          <a:bodyPr wrap="square" lIns="0" tIns="0" rIns="0" bIns="0" rtlCol="0"/>
          <a:lstStyle/>
          <a:p>
            <a:endParaRPr/>
          </a:p>
        </p:txBody>
      </p:sp>
      <p:sp>
        <p:nvSpPr>
          <p:cNvPr id="7" name="object 7"/>
          <p:cNvSpPr txBox="1"/>
          <p:nvPr/>
        </p:nvSpPr>
        <p:spPr>
          <a:xfrm>
            <a:off x="828336" y="1798651"/>
            <a:ext cx="5271770" cy="1784463"/>
          </a:xfrm>
          <a:prstGeom prst="rect">
            <a:avLst/>
          </a:prstGeom>
          <a:solidFill>
            <a:srgbClr val="AAAAAA"/>
          </a:solidFill>
          <a:ln w="25400">
            <a:solidFill>
              <a:srgbClr val="B52372"/>
            </a:solidFill>
          </a:ln>
        </p:spPr>
        <p:txBody>
          <a:bodyPr vert="horz" wrap="square" lIns="0" tIns="80645" rIns="0" bIns="0" rtlCol="0">
            <a:spAutoFit/>
          </a:bodyPr>
          <a:lstStyle/>
          <a:p>
            <a:pPr marL="90805">
              <a:lnSpc>
                <a:spcPts val="1645"/>
              </a:lnSpc>
              <a:spcBef>
                <a:spcPts val="635"/>
              </a:spcBef>
            </a:pPr>
            <a:r>
              <a:rPr sz="1400" dirty="0">
                <a:solidFill>
                  <a:srgbClr val="FFFFFF"/>
                </a:solidFill>
                <a:latin typeface="Times New Roman"/>
                <a:cs typeface="Times New Roman"/>
              </a:rPr>
              <a:t>What we find consistently within strategy/budget planning is:</a:t>
            </a:r>
            <a:endParaRPr sz="1400" dirty="0">
              <a:latin typeface="Times New Roman"/>
              <a:cs typeface="Times New Roman"/>
            </a:endParaRPr>
          </a:p>
          <a:p>
            <a:pPr marL="548640">
              <a:lnSpc>
                <a:spcPts val="1645"/>
              </a:lnSpc>
              <a:tabLst>
                <a:tab pos="770890" algn="l"/>
              </a:tabLst>
            </a:pPr>
            <a:r>
              <a:rPr lang="en-US" sz="1400" dirty="0">
                <a:solidFill>
                  <a:srgbClr val="FFFFFF"/>
                </a:solidFill>
                <a:latin typeface="Times New Roman"/>
                <a:cs typeface="Times New Roman"/>
              </a:rPr>
              <a:t>1.    </a:t>
            </a:r>
            <a:r>
              <a:rPr sz="1400" dirty="0">
                <a:solidFill>
                  <a:srgbClr val="FFFFFF"/>
                </a:solidFill>
                <a:latin typeface="Times New Roman"/>
                <a:cs typeface="Times New Roman"/>
              </a:rPr>
              <a:t>No strategy attached to a financial goal</a:t>
            </a:r>
            <a:r>
              <a:rPr lang="en-US" sz="1400" dirty="0">
                <a:solidFill>
                  <a:srgbClr val="FFFFFF"/>
                </a:solidFill>
                <a:latin typeface="Times New Roman"/>
                <a:cs typeface="Times New Roman"/>
              </a:rPr>
              <a:t>.</a:t>
            </a:r>
            <a:endParaRPr sz="1400" dirty="0">
              <a:latin typeface="Times New Roman"/>
              <a:cs typeface="Times New Roman"/>
            </a:endParaRPr>
          </a:p>
          <a:p>
            <a:pPr marL="891540" marR="108585" indent="-342900">
              <a:lnSpc>
                <a:spcPts val="1700"/>
              </a:lnSpc>
              <a:spcBef>
                <a:spcPts val="40"/>
              </a:spcBef>
              <a:buAutoNum type="arabicPeriod" startAt="2"/>
              <a:tabLst>
                <a:tab pos="761365" algn="l"/>
              </a:tabLst>
            </a:pPr>
            <a:r>
              <a:rPr sz="1400" dirty="0">
                <a:solidFill>
                  <a:srgbClr val="FFFFFF"/>
                </a:solidFill>
                <a:latin typeface="Times New Roman"/>
                <a:cs typeface="Times New Roman"/>
              </a:rPr>
              <a:t>A story of what had happened vs. a strategy of where they are going.</a:t>
            </a:r>
            <a:endParaRPr lang="en-US" sz="1400" dirty="0">
              <a:latin typeface="Times New Roman"/>
              <a:cs typeface="Times New Roman"/>
            </a:endParaRPr>
          </a:p>
          <a:p>
            <a:pPr marL="891540" marR="108585" indent="-342900">
              <a:lnSpc>
                <a:spcPts val="1700"/>
              </a:lnSpc>
              <a:spcBef>
                <a:spcPts val="40"/>
              </a:spcBef>
              <a:buAutoNum type="arabicPeriod" startAt="2"/>
              <a:tabLst>
                <a:tab pos="761365" algn="l"/>
              </a:tabLst>
            </a:pPr>
            <a:r>
              <a:rPr sz="1400" dirty="0">
                <a:solidFill>
                  <a:srgbClr val="FFFFFF"/>
                </a:solidFill>
                <a:latin typeface="Times New Roman"/>
                <a:cs typeface="Times New Roman"/>
              </a:rPr>
              <a:t>Tactics that are activity based without a clear relationship to strategy or financial goals.</a:t>
            </a:r>
            <a:endParaRPr lang="en-US" sz="1400" dirty="0">
              <a:latin typeface="Times New Roman"/>
              <a:cs typeface="Times New Roman"/>
            </a:endParaRPr>
          </a:p>
          <a:p>
            <a:pPr marL="891540" marR="108585" indent="-342900">
              <a:lnSpc>
                <a:spcPts val="1700"/>
              </a:lnSpc>
              <a:spcBef>
                <a:spcPts val="40"/>
              </a:spcBef>
              <a:buAutoNum type="arabicPeriod" startAt="2"/>
              <a:tabLst>
                <a:tab pos="761365" algn="l"/>
              </a:tabLst>
            </a:pPr>
            <a:r>
              <a:rPr sz="1400" dirty="0">
                <a:solidFill>
                  <a:srgbClr val="FFFFFF"/>
                </a:solidFill>
                <a:latin typeface="Times New Roman"/>
                <a:cs typeface="Times New Roman"/>
              </a:rPr>
              <a:t>Budget plans in this condition have been approved by</a:t>
            </a:r>
            <a:r>
              <a:rPr lang="en-US" sz="1400" dirty="0">
                <a:latin typeface="Times New Roman"/>
                <a:cs typeface="Times New Roman"/>
              </a:rPr>
              <a:t> </a:t>
            </a:r>
            <a:r>
              <a:rPr sz="1400" dirty="0">
                <a:solidFill>
                  <a:srgbClr val="FFFFFF"/>
                </a:solidFill>
                <a:latin typeface="Times New Roman"/>
                <a:cs typeface="Times New Roman"/>
              </a:rPr>
              <a:t>their leadership.</a:t>
            </a:r>
            <a:endParaRPr sz="1400" dirty="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103053" y="8742680"/>
            <a:ext cx="2938780" cy="151323"/>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898989"/>
                </a:solidFill>
                <a:latin typeface="Franklin Gothic Book"/>
                <a:cs typeface="Franklin Gothic Book"/>
              </a:rPr>
              <a:t>Effective Planning for Top-Line Growth </a:t>
            </a:r>
            <a:r>
              <a:rPr sz="900" dirty="0">
                <a:solidFill>
                  <a:srgbClr val="898989"/>
                </a:solidFill>
                <a:latin typeface="Franklin Gothic Book"/>
                <a:cs typeface="Franklin Gothic Book"/>
              </a:rPr>
              <a:t>in Times of Disruption</a:t>
            </a:r>
            <a:endParaRPr sz="900" dirty="0">
              <a:latin typeface="Franklin Gothic Book"/>
              <a:cs typeface="Franklin Gothic Book"/>
            </a:endParaRPr>
          </a:p>
        </p:txBody>
      </p:sp>
      <p:sp>
        <p:nvSpPr>
          <p:cNvPr id="3" name="object 3"/>
          <p:cNvSpPr txBox="1"/>
          <p:nvPr/>
        </p:nvSpPr>
        <p:spPr>
          <a:xfrm>
            <a:off x="6343648" y="8730488"/>
            <a:ext cx="8382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898989"/>
                </a:solidFill>
                <a:latin typeface="Calibri"/>
                <a:cs typeface="Calibri"/>
              </a:rPr>
              <a:t>9</a:t>
            </a:r>
            <a:endParaRPr sz="900">
              <a:latin typeface="Calibri"/>
              <a:cs typeface="Calibri"/>
            </a:endParaRPr>
          </a:p>
        </p:txBody>
      </p:sp>
      <p:sp>
        <p:nvSpPr>
          <p:cNvPr id="4" name="object 4"/>
          <p:cNvSpPr/>
          <p:nvPr/>
        </p:nvSpPr>
        <p:spPr>
          <a:xfrm>
            <a:off x="209654" y="593551"/>
            <a:ext cx="2620010" cy="0"/>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5" name="object 5"/>
          <p:cNvSpPr/>
          <p:nvPr/>
        </p:nvSpPr>
        <p:spPr>
          <a:xfrm>
            <a:off x="410254" y="6553200"/>
            <a:ext cx="5958840" cy="1780032"/>
          </a:xfrm>
          <a:prstGeom prst="rect">
            <a:avLst/>
          </a:prstGeom>
          <a:blipFill>
            <a:blip r:embed="rId2" cstate="print"/>
            <a:stretch>
              <a:fillRect/>
            </a:stretch>
          </a:blipFill>
        </p:spPr>
        <p:txBody>
          <a:bodyPr wrap="square" lIns="0" tIns="0" rIns="0" bIns="0" rtlCol="0"/>
          <a:lstStyle/>
          <a:p>
            <a:endParaRPr/>
          </a:p>
        </p:txBody>
      </p:sp>
      <p:sp>
        <p:nvSpPr>
          <p:cNvPr id="6" name="object 6"/>
          <p:cNvSpPr txBox="1"/>
          <p:nvPr/>
        </p:nvSpPr>
        <p:spPr>
          <a:xfrm>
            <a:off x="177469" y="126491"/>
            <a:ext cx="5941695" cy="8300093"/>
          </a:xfrm>
          <a:prstGeom prst="rect">
            <a:avLst/>
          </a:prstGeom>
        </p:spPr>
        <p:txBody>
          <a:bodyPr vert="horz" wrap="square" lIns="0" tIns="12700" rIns="0" bIns="0" rtlCol="0">
            <a:spAutoFit/>
          </a:bodyPr>
          <a:lstStyle/>
          <a:p>
            <a:pPr marL="12700">
              <a:lnSpc>
                <a:spcPct val="100000"/>
              </a:lnSpc>
              <a:spcBef>
                <a:spcPts val="100"/>
              </a:spcBef>
            </a:pPr>
            <a:r>
              <a:rPr sz="2000" spc="-5" dirty="0">
                <a:latin typeface="Franklin Gothic Book"/>
                <a:cs typeface="Franklin Gothic Book"/>
              </a:rPr>
              <a:t>What the Best </a:t>
            </a:r>
            <a:r>
              <a:rPr sz="2000" dirty="0">
                <a:latin typeface="Franklin Gothic Book"/>
                <a:cs typeface="Franklin Gothic Book"/>
              </a:rPr>
              <a:t>Do</a:t>
            </a:r>
            <a:r>
              <a:rPr sz="2000" spc="-10" dirty="0">
                <a:latin typeface="Franklin Gothic Book"/>
                <a:cs typeface="Franklin Gothic Book"/>
              </a:rPr>
              <a:t> </a:t>
            </a:r>
            <a:r>
              <a:rPr sz="2000" spc="-5" dirty="0">
                <a:latin typeface="Franklin Gothic Book"/>
                <a:cs typeface="Franklin Gothic Book"/>
              </a:rPr>
              <a:t>Differently</a:t>
            </a:r>
            <a:endParaRPr sz="2000" dirty="0">
              <a:latin typeface="Franklin Gothic Book"/>
              <a:cs typeface="Franklin Gothic Book"/>
            </a:endParaRPr>
          </a:p>
          <a:p>
            <a:pPr>
              <a:lnSpc>
                <a:spcPct val="100000"/>
              </a:lnSpc>
              <a:spcBef>
                <a:spcPts val="35"/>
              </a:spcBef>
            </a:pPr>
            <a:endParaRPr sz="3200" dirty="0">
              <a:latin typeface="Franklin Gothic Book"/>
              <a:cs typeface="Franklin Gothic Book"/>
            </a:endParaRPr>
          </a:p>
          <a:p>
            <a:pPr marL="580390">
              <a:lnSpc>
                <a:spcPts val="1910"/>
              </a:lnSpc>
            </a:pPr>
            <a:r>
              <a:rPr sz="1600" i="1" spc="-10" dirty="0">
                <a:solidFill>
                  <a:srgbClr val="B52372"/>
                </a:solidFill>
                <a:latin typeface="Franklin Gothic Book Italic"/>
                <a:cs typeface="Franklin Gothic Book Italic"/>
              </a:rPr>
              <a:t>Result:</a:t>
            </a:r>
            <a:endParaRPr sz="1600" dirty="0">
              <a:latin typeface="Franklin Gothic Book Italic"/>
              <a:cs typeface="Franklin Gothic Book Italic"/>
            </a:endParaRPr>
          </a:p>
          <a:p>
            <a:pPr marL="866140" indent="-286385">
              <a:lnSpc>
                <a:spcPts val="1910"/>
              </a:lnSpc>
              <a:buFont typeface="Wingdings"/>
              <a:buChar char=""/>
              <a:tabLst>
                <a:tab pos="866775" algn="l"/>
              </a:tabLst>
            </a:pPr>
            <a:r>
              <a:rPr sz="1600" i="1" spc="-10" dirty="0">
                <a:solidFill>
                  <a:srgbClr val="B52372"/>
                </a:solidFill>
                <a:latin typeface="Franklin Gothic Book Italic"/>
                <a:cs typeface="Franklin Gothic Book Italic"/>
              </a:rPr>
              <a:t>Growth </a:t>
            </a:r>
            <a:r>
              <a:rPr sz="1600" i="1" spc="-5" dirty="0">
                <a:solidFill>
                  <a:srgbClr val="B52372"/>
                </a:solidFill>
                <a:latin typeface="Franklin Gothic Book Italic"/>
                <a:cs typeface="Franklin Gothic Book Italic"/>
              </a:rPr>
              <a:t>in one </a:t>
            </a:r>
            <a:r>
              <a:rPr sz="1600" i="1" dirty="0">
                <a:solidFill>
                  <a:srgbClr val="B52372"/>
                </a:solidFill>
                <a:latin typeface="Franklin Gothic Book Italic"/>
                <a:cs typeface="Franklin Gothic Book Italic"/>
              </a:rPr>
              <a:t>of </a:t>
            </a:r>
            <a:r>
              <a:rPr sz="1600" i="1" spc="-5" dirty="0">
                <a:solidFill>
                  <a:srgbClr val="B52372"/>
                </a:solidFill>
                <a:latin typeface="Franklin Gothic Book Italic"/>
                <a:cs typeface="Franklin Gothic Book Italic"/>
              </a:rPr>
              <a:t>the most </a:t>
            </a:r>
            <a:r>
              <a:rPr sz="1600" i="1" spc="-10" dirty="0">
                <a:solidFill>
                  <a:srgbClr val="B52372"/>
                </a:solidFill>
                <a:latin typeface="Franklin Gothic Book Italic"/>
                <a:cs typeface="Franklin Gothic Book Italic"/>
              </a:rPr>
              <a:t>expensive</a:t>
            </a:r>
            <a:r>
              <a:rPr sz="1600" i="1" spc="30" dirty="0">
                <a:solidFill>
                  <a:srgbClr val="B52372"/>
                </a:solidFill>
                <a:latin typeface="Franklin Gothic Book Italic"/>
                <a:cs typeface="Franklin Gothic Book Italic"/>
              </a:rPr>
              <a:t> </a:t>
            </a:r>
            <a:r>
              <a:rPr sz="1600" i="1" spc="-5" dirty="0">
                <a:solidFill>
                  <a:srgbClr val="B52372"/>
                </a:solidFill>
                <a:latin typeface="Franklin Gothic Book Italic"/>
                <a:cs typeface="Franklin Gothic Book Italic"/>
              </a:rPr>
              <a:t>segments</a:t>
            </a:r>
            <a:endParaRPr sz="1600" dirty="0">
              <a:latin typeface="Franklin Gothic Book Italic"/>
              <a:cs typeface="Franklin Gothic Book Italic"/>
            </a:endParaRPr>
          </a:p>
          <a:p>
            <a:pPr marL="866140" indent="-286385">
              <a:lnSpc>
                <a:spcPts val="1910"/>
              </a:lnSpc>
              <a:buFont typeface="Wingdings"/>
              <a:buChar char=""/>
              <a:tabLst>
                <a:tab pos="866775" algn="l"/>
              </a:tabLst>
            </a:pPr>
            <a:r>
              <a:rPr sz="1600" i="1" spc="-5" dirty="0">
                <a:solidFill>
                  <a:srgbClr val="B52372"/>
                </a:solidFill>
                <a:latin typeface="Franklin Gothic Book Italic"/>
                <a:cs typeface="Franklin Gothic Book Italic"/>
              </a:rPr>
              <a:t>Increase in </a:t>
            </a:r>
            <a:r>
              <a:rPr sz="1600" i="1" spc="-10" dirty="0">
                <a:solidFill>
                  <a:srgbClr val="B52372"/>
                </a:solidFill>
                <a:latin typeface="Franklin Gothic Book Italic"/>
                <a:cs typeface="Franklin Gothic Book Italic"/>
              </a:rPr>
              <a:t>cost </a:t>
            </a:r>
            <a:r>
              <a:rPr sz="1600" i="1" dirty="0">
                <a:solidFill>
                  <a:srgbClr val="B52372"/>
                </a:solidFill>
                <a:latin typeface="Franklin Gothic Book Italic"/>
                <a:cs typeface="Franklin Gothic Book Italic"/>
              </a:rPr>
              <a:t>of</a:t>
            </a:r>
            <a:r>
              <a:rPr sz="1600" i="1" spc="15" dirty="0">
                <a:solidFill>
                  <a:srgbClr val="B52372"/>
                </a:solidFill>
                <a:latin typeface="Franklin Gothic Book Italic"/>
                <a:cs typeface="Franklin Gothic Book Italic"/>
              </a:rPr>
              <a:t> </a:t>
            </a:r>
            <a:r>
              <a:rPr sz="1600" i="1" spc="-10" dirty="0">
                <a:solidFill>
                  <a:srgbClr val="B52372"/>
                </a:solidFill>
                <a:latin typeface="Franklin Gothic Book Italic"/>
                <a:cs typeface="Franklin Gothic Book Italic"/>
              </a:rPr>
              <a:t>acquisition</a:t>
            </a:r>
            <a:endParaRPr sz="1600" dirty="0">
              <a:latin typeface="Franklin Gothic Book Italic"/>
              <a:cs typeface="Franklin Gothic Book Italic"/>
            </a:endParaRPr>
          </a:p>
          <a:p>
            <a:pPr marL="866140" indent="-286385">
              <a:lnSpc>
                <a:spcPts val="1910"/>
              </a:lnSpc>
              <a:buFont typeface="Wingdings"/>
              <a:buChar char=""/>
              <a:tabLst>
                <a:tab pos="866775" algn="l"/>
              </a:tabLst>
            </a:pPr>
            <a:r>
              <a:rPr sz="1600" i="1" dirty="0">
                <a:solidFill>
                  <a:srgbClr val="B52372"/>
                </a:solidFill>
                <a:latin typeface="Franklin Gothic Book Italic"/>
                <a:cs typeface="Franklin Gothic Book Italic"/>
              </a:rPr>
              <a:t>Decrease </a:t>
            </a:r>
            <a:r>
              <a:rPr sz="1600" i="1" spc="-5" dirty="0">
                <a:solidFill>
                  <a:srgbClr val="B52372"/>
                </a:solidFill>
                <a:latin typeface="Franklin Gothic Book Italic"/>
                <a:cs typeface="Franklin Gothic Book Italic"/>
              </a:rPr>
              <a:t>in </a:t>
            </a:r>
            <a:r>
              <a:rPr sz="1600" i="1" spc="-10" dirty="0">
                <a:solidFill>
                  <a:srgbClr val="B52372"/>
                </a:solidFill>
                <a:latin typeface="Franklin Gothic Book Italic"/>
                <a:cs typeface="Franklin Gothic Book Italic"/>
              </a:rPr>
              <a:t>potential</a:t>
            </a:r>
            <a:r>
              <a:rPr sz="1600" i="1" spc="-35" dirty="0">
                <a:solidFill>
                  <a:srgbClr val="B52372"/>
                </a:solidFill>
                <a:latin typeface="Franklin Gothic Book Italic"/>
                <a:cs typeface="Franklin Gothic Book Italic"/>
              </a:rPr>
              <a:t> </a:t>
            </a:r>
            <a:r>
              <a:rPr sz="1600" i="1" spc="-25" dirty="0">
                <a:solidFill>
                  <a:srgbClr val="B52372"/>
                </a:solidFill>
                <a:latin typeface="Franklin Gothic Book Italic"/>
                <a:cs typeface="Franklin Gothic Book Italic"/>
              </a:rPr>
              <a:t>RevPAR</a:t>
            </a:r>
            <a:endParaRPr sz="1600" dirty="0">
              <a:latin typeface="Franklin Gothic Book Italic"/>
              <a:cs typeface="Franklin Gothic Book Italic"/>
            </a:endParaRPr>
          </a:p>
          <a:p>
            <a:pPr marL="866140" indent="-286385">
              <a:lnSpc>
                <a:spcPct val="100000"/>
              </a:lnSpc>
              <a:spcBef>
                <a:spcPts val="70"/>
              </a:spcBef>
              <a:buFont typeface="Wingdings"/>
              <a:buChar char=""/>
              <a:tabLst>
                <a:tab pos="866775" algn="l"/>
              </a:tabLst>
            </a:pPr>
            <a:r>
              <a:rPr sz="1600" i="1" spc="-5" dirty="0">
                <a:solidFill>
                  <a:srgbClr val="B52372"/>
                </a:solidFill>
                <a:latin typeface="Franklin Gothic Book Italic"/>
                <a:cs typeface="Franklin Gothic Book Italic"/>
              </a:rPr>
              <a:t>Loyalty built in the </a:t>
            </a:r>
            <a:r>
              <a:rPr sz="1600" i="1" spc="-60" dirty="0">
                <a:solidFill>
                  <a:srgbClr val="B52372"/>
                </a:solidFill>
                <a:latin typeface="Franklin Gothic Book Italic"/>
                <a:cs typeface="Franklin Gothic Book Italic"/>
              </a:rPr>
              <a:t>OTA </a:t>
            </a:r>
            <a:r>
              <a:rPr sz="1600" i="1" spc="-5" dirty="0">
                <a:solidFill>
                  <a:srgbClr val="B52372"/>
                </a:solidFill>
                <a:latin typeface="Franklin Gothic Book Italic"/>
                <a:cs typeface="Franklin Gothic Book Italic"/>
              </a:rPr>
              <a:t>vs. the</a:t>
            </a:r>
            <a:r>
              <a:rPr sz="1600" i="1" spc="65" dirty="0">
                <a:solidFill>
                  <a:srgbClr val="B52372"/>
                </a:solidFill>
                <a:latin typeface="Franklin Gothic Book Italic"/>
                <a:cs typeface="Franklin Gothic Book Italic"/>
              </a:rPr>
              <a:t> </a:t>
            </a:r>
            <a:r>
              <a:rPr sz="1600" i="1" spc="-10" dirty="0">
                <a:solidFill>
                  <a:srgbClr val="B52372"/>
                </a:solidFill>
                <a:latin typeface="Franklin Gothic Book Italic"/>
                <a:cs typeface="Franklin Gothic Book Italic"/>
              </a:rPr>
              <a:t>hotel</a:t>
            </a:r>
            <a:endParaRPr sz="1600" dirty="0">
              <a:latin typeface="Franklin Gothic Book Italic"/>
              <a:cs typeface="Franklin Gothic Book Italic"/>
            </a:endParaRPr>
          </a:p>
          <a:p>
            <a:pPr>
              <a:lnSpc>
                <a:spcPct val="100000"/>
              </a:lnSpc>
            </a:pPr>
            <a:endParaRPr sz="1650" dirty="0">
              <a:latin typeface="Franklin Gothic Book Italic"/>
              <a:cs typeface="Franklin Gothic Book Italic"/>
            </a:endParaRPr>
          </a:p>
          <a:p>
            <a:pPr marL="580390">
              <a:lnSpc>
                <a:spcPct val="100000"/>
              </a:lnSpc>
              <a:spcBef>
                <a:spcPts val="5"/>
              </a:spcBef>
            </a:pPr>
            <a:r>
              <a:rPr sz="1600" i="1" spc="-5" dirty="0">
                <a:solidFill>
                  <a:srgbClr val="B52372"/>
                </a:solidFill>
                <a:latin typeface="Franklin Gothic Book Italic"/>
                <a:cs typeface="Franklin Gothic Book Italic"/>
              </a:rPr>
              <a:t>Situation</a:t>
            </a:r>
            <a:r>
              <a:rPr sz="1600" i="1" spc="-10" dirty="0">
                <a:solidFill>
                  <a:srgbClr val="B52372"/>
                </a:solidFill>
                <a:latin typeface="Franklin Gothic Book Italic"/>
                <a:cs typeface="Franklin Gothic Book Italic"/>
              </a:rPr>
              <a:t> </a:t>
            </a:r>
            <a:r>
              <a:rPr sz="1600" i="1" spc="-5" dirty="0">
                <a:solidFill>
                  <a:srgbClr val="B52372"/>
                </a:solidFill>
                <a:latin typeface="Franklin Gothic Book Italic"/>
                <a:cs typeface="Franklin Gothic Book Italic"/>
              </a:rPr>
              <a:t>2:</a:t>
            </a:r>
            <a:endParaRPr sz="1600" dirty="0">
              <a:latin typeface="Franklin Gothic Book Italic"/>
              <a:cs typeface="Franklin Gothic Book Italic"/>
            </a:endParaRPr>
          </a:p>
          <a:p>
            <a:pPr marL="580390" marR="114935">
              <a:lnSpc>
                <a:spcPts val="1900"/>
              </a:lnSpc>
              <a:spcBef>
                <a:spcPts val="80"/>
              </a:spcBef>
            </a:pPr>
            <a:r>
              <a:rPr sz="1600" i="1" spc="-10" dirty="0">
                <a:solidFill>
                  <a:srgbClr val="B52372"/>
                </a:solidFill>
                <a:latin typeface="Franklin Gothic Book Italic"/>
                <a:cs typeface="Franklin Gothic Book Italic"/>
              </a:rPr>
              <a:t>Hotel </a:t>
            </a:r>
            <a:r>
              <a:rPr sz="1600" i="1" spc="-5" dirty="0">
                <a:solidFill>
                  <a:srgbClr val="B52372"/>
                </a:solidFill>
                <a:latin typeface="Franklin Gothic Book Italic"/>
                <a:cs typeface="Franklin Gothic Book Italic"/>
              </a:rPr>
              <a:t>looks </a:t>
            </a:r>
            <a:r>
              <a:rPr sz="1600" i="1" dirty="0">
                <a:solidFill>
                  <a:srgbClr val="B52372"/>
                </a:solidFill>
                <a:latin typeface="Franklin Gothic Book Italic"/>
                <a:cs typeface="Franklin Gothic Book Italic"/>
              </a:rPr>
              <a:t>at </a:t>
            </a:r>
            <a:r>
              <a:rPr sz="1600" i="1" spc="-10" dirty="0">
                <a:solidFill>
                  <a:srgbClr val="B52372"/>
                </a:solidFill>
                <a:latin typeface="Franklin Gothic Book Italic"/>
                <a:cs typeface="Franklin Gothic Book Italic"/>
              </a:rPr>
              <a:t>growth </a:t>
            </a:r>
            <a:r>
              <a:rPr sz="1600" i="1" spc="-5" dirty="0">
                <a:solidFill>
                  <a:srgbClr val="B52372"/>
                </a:solidFill>
                <a:latin typeface="Franklin Gothic Book Italic"/>
                <a:cs typeface="Franklin Gothic Book Italic"/>
              </a:rPr>
              <a:t>year </a:t>
            </a:r>
            <a:r>
              <a:rPr sz="1600" i="1" spc="-10" dirty="0">
                <a:solidFill>
                  <a:srgbClr val="B52372"/>
                </a:solidFill>
                <a:latin typeface="Franklin Gothic Book Italic"/>
                <a:cs typeface="Franklin Gothic Book Italic"/>
              </a:rPr>
              <a:t>over </a:t>
            </a:r>
            <a:r>
              <a:rPr sz="1600" i="1" spc="-5" dirty="0">
                <a:solidFill>
                  <a:srgbClr val="B52372"/>
                </a:solidFill>
                <a:latin typeface="Franklin Gothic Book Italic"/>
                <a:cs typeface="Franklin Gothic Book Italic"/>
              </a:rPr>
              <a:t>year within segments </a:t>
            </a:r>
            <a:r>
              <a:rPr sz="1600" i="1" dirty="0">
                <a:solidFill>
                  <a:srgbClr val="B52372"/>
                </a:solidFill>
                <a:latin typeface="Franklin Gothic Book Italic"/>
                <a:cs typeface="Franklin Gothic Book Italic"/>
              </a:rPr>
              <a:t>as a  </a:t>
            </a:r>
            <a:r>
              <a:rPr sz="1600" i="1" spc="-5" dirty="0">
                <a:solidFill>
                  <a:srgbClr val="B52372"/>
                </a:solidFill>
                <a:latin typeface="Franklin Gothic Book Italic"/>
                <a:cs typeface="Franklin Gothic Book Italic"/>
              </a:rPr>
              <a:t>percentage gain </a:t>
            </a:r>
            <a:r>
              <a:rPr sz="1600" i="1" dirty="0">
                <a:solidFill>
                  <a:srgbClr val="B52372"/>
                </a:solidFill>
                <a:latin typeface="Franklin Gothic Book Italic"/>
                <a:cs typeface="Franklin Gothic Book Italic"/>
              </a:rPr>
              <a:t>or </a:t>
            </a:r>
            <a:r>
              <a:rPr sz="1600" i="1" spc="-5" dirty="0">
                <a:solidFill>
                  <a:srgbClr val="B52372"/>
                </a:solidFill>
                <a:latin typeface="Franklin Gothic Book Italic"/>
                <a:cs typeface="Franklin Gothic Book Italic"/>
              </a:rPr>
              <a:t>loss, without </a:t>
            </a:r>
            <a:r>
              <a:rPr sz="1600" i="1" dirty="0">
                <a:solidFill>
                  <a:srgbClr val="B52372"/>
                </a:solidFill>
                <a:latin typeface="Franklin Gothic Book Italic"/>
                <a:cs typeface="Franklin Gothic Book Italic"/>
              </a:rPr>
              <a:t>a deep </a:t>
            </a:r>
            <a:r>
              <a:rPr sz="1600" i="1" spc="-5" dirty="0">
                <a:solidFill>
                  <a:srgbClr val="B52372"/>
                </a:solidFill>
                <a:latin typeface="Franklin Gothic Book Italic"/>
                <a:cs typeface="Franklin Gothic Book Italic"/>
              </a:rPr>
              <a:t>understanding </a:t>
            </a:r>
            <a:r>
              <a:rPr sz="1600" i="1" dirty="0">
                <a:solidFill>
                  <a:srgbClr val="B52372"/>
                </a:solidFill>
                <a:latin typeface="Franklin Gothic Book Italic"/>
                <a:cs typeface="Franklin Gothic Book Italic"/>
              </a:rPr>
              <a:t>of</a:t>
            </a:r>
            <a:r>
              <a:rPr sz="1600" i="1" spc="25" dirty="0">
                <a:solidFill>
                  <a:srgbClr val="B52372"/>
                </a:solidFill>
                <a:latin typeface="Franklin Gothic Book Italic"/>
                <a:cs typeface="Franklin Gothic Book Italic"/>
              </a:rPr>
              <a:t> </a:t>
            </a:r>
            <a:r>
              <a:rPr lang="en-US" sz="1600" i="1" spc="-5" dirty="0">
                <a:solidFill>
                  <a:srgbClr val="B52372"/>
                </a:solidFill>
                <a:latin typeface="Franklin Gothic Book Italic"/>
                <a:cs typeface="Franklin Gothic Book Italic"/>
              </a:rPr>
              <a:t>what is happening within the segment, trend analysis or negotiations that are in play.</a:t>
            </a:r>
            <a:endParaRPr sz="1600" dirty="0">
              <a:latin typeface="Franklin Gothic Book Italic"/>
              <a:cs typeface="Franklin Gothic Book Italic"/>
            </a:endParaRPr>
          </a:p>
          <a:p>
            <a:pPr>
              <a:lnSpc>
                <a:spcPct val="100000"/>
              </a:lnSpc>
            </a:pPr>
            <a:endParaRPr sz="1100" dirty="0">
              <a:latin typeface="Franklin Gothic Book Italic"/>
              <a:cs typeface="Franklin Gothic Book Italic"/>
            </a:endParaRPr>
          </a:p>
          <a:p>
            <a:pPr marL="580390">
              <a:lnSpc>
                <a:spcPct val="100000"/>
              </a:lnSpc>
            </a:pPr>
            <a:r>
              <a:rPr sz="1600" i="1" spc="-5" dirty="0">
                <a:solidFill>
                  <a:srgbClr val="B52372"/>
                </a:solidFill>
                <a:latin typeface="Franklin Gothic Book Italic"/>
                <a:cs typeface="Franklin Gothic Book Italic"/>
              </a:rPr>
              <a:t>Rationale:</a:t>
            </a:r>
            <a:endParaRPr sz="1600" dirty="0">
              <a:latin typeface="Franklin Gothic Book Italic"/>
              <a:cs typeface="Franklin Gothic Book Italic"/>
            </a:endParaRPr>
          </a:p>
          <a:p>
            <a:pPr marL="866140" marR="65405" indent="-285750">
              <a:lnSpc>
                <a:spcPts val="1900"/>
              </a:lnSpc>
              <a:spcBef>
                <a:spcPts val="80"/>
              </a:spcBef>
              <a:buFont typeface="Arial"/>
              <a:buChar char="•"/>
              <a:tabLst>
                <a:tab pos="866140" algn="l"/>
                <a:tab pos="866775" algn="l"/>
              </a:tabLst>
            </a:pPr>
            <a:r>
              <a:rPr sz="1600" i="1" dirty="0">
                <a:solidFill>
                  <a:srgbClr val="B52372"/>
                </a:solidFill>
                <a:latin typeface="Franklin Gothic Book Italic"/>
                <a:cs typeface="Franklin Gothic Book Italic"/>
              </a:rPr>
              <a:t>This </a:t>
            </a:r>
            <a:r>
              <a:rPr sz="1600" i="1" spc="-5" dirty="0">
                <a:solidFill>
                  <a:srgbClr val="B52372"/>
                </a:solidFill>
                <a:latin typeface="Franklin Gothic Book Italic"/>
                <a:cs typeface="Franklin Gothic Book Italic"/>
              </a:rPr>
              <a:t>is how </a:t>
            </a:r>
            <a:r>
              <a:rPr sz="1600" i="1" spc="-15" dirty="0">
                <a:solidFill>
                  <a:srgbClr val="B52372"/>
                </a:solidFill>
                <a:latin typeface="Franklin Gothic Book Italic"/>
                <a:cs typeface="Franklin Gothic Book Italic"/>
              </a:rPr>
              <a:t>we </a:t>
            </a:r>
            <a:r>
              <a:rPr sz="1600" i="1" dirty="0">
                <a:solidFill>
                  <a:srgbClr val="B52372"/>
                </a:solidFill>
                <a:latin typeface="Franklin Gothic Book Italic"/>
                <a:cs typeface="Franklin Gothic Book Italic"/>
              </a:rPr>
              <a:t>do </a:t>
            </a:r>
            <a:r>
              <a:rPr sz="1600" i="1" spc="-5" dirty="0">
                <a:solidFill>
                  <a:srgbClr val="B52372"/>
                </a:solidFill>
                <a:latin typeface="Franklin Gothic Book Italic"/>
                <a:cs typeface="Franklin Gothic Book Italic"/>
              </a:rPr>
              <a:t>it </a:t>
            </a:r>
            <a:r>
              <a:rPr sz="1600" i="1" dirty="0">
                <a:solidFill>
                  <a:srgbClr val="B52372"/>
                </a:solidFill>
                <a:latin typeface="Franklin Gothic Book Italic"/>
                <a:cs typeface="Franklin Gothic Book Italic"/>
              </a:rPr>
              <a:t>and </a:t>
            </a:r>
            <a:r>
              <a:rPr sz="1600" i="1" spc="-5" dirty="0">
                <a:solidFill>
                  <a:srgbClr val="B52372"/>
                </a:solidFill>
                <a:latin typeface="Franklin Gothic Book Italic"/>
                <a:cs typeface="Franklin Gothic Book Italic"/>
              </a:rPr>
              <a:t>how </a:t>
            </a:r>
            <a:r>
              <a:rPr sz="1600" i="1" spc="-15" dirty="0">
                <a:solidFill>
                  <a:srgbClr val="B52372"/>
                </a:solidFill>
                <a:latin typeface="Franklin Gothic Book Italic"/>
                <a:cs typeface="Franklin Gothic Book Italic"/>
              </a:rPr>
              <a:t>we have </a:t>
            </a:r>
            <a:r>
              <a:rPr sz="1600" i="1" spc="-10" dirty="0">
                <a:solidFill>
                  <a:srgbClr val="B52372"/>
                </a:solidFill>
                <a:latin typeface="Franklin Gothic Book Italic"/>
                <a:cs typeface="Franklin Gothic Book Italic"/>
              </a:rPr>
              <a:t>always </a:t>
            </a:r>
            <a:r>
              <a:rPr sz="1600" i="1" spc="-5" dirty="0">
                <a:solidFill>
                  <a:srgbClr val="B52372"/>
                </a:solidFill>
                <a:latin typeface="Franklin Gothic Book Italic"/>
                <a:cs typeface="Franklin Gothic Book Italic"/>
              </a:rPr>
              <a:t>done it in the  past.</a:t>
            </a:r>
            <a:endParaRPr sz="1600" dirty="0">
              <a:latin typeface="Franklin Gothic Book Italic"/>
              <a:cs typeface="Franklin Gothic Book Italic"/>
            </a:endParaRPr>
          </a:p>
          <a:p>
            <a:pPr marL="866140" indent="-286385">
              <a:lnSpc>
                <a:spcPts val="1910"/>
              </a:lnSpc>
              <a:spcBef>
                <a:spcPts val="10"/>
              </a:spcBef>
              <a:buFont typeface="Arial"/>
              <a:buChar char="•"/>
              <a:tabLst>
                <a:tab pos="866140" algn="l"/>
                <a:tab pos="866775" algn="l"/>
              </a:tabLst>
            </a:pPr>
            <a:r>
              <a:rPr sz="1600" i="1" spc="-20" dirty="0">
                <a:solidFill>
                  <a:srgbClr val="B52372"/>
                </a:solidFill>
                <a:latin typeface="Franklin Gothic Book Italic"/>
                <a:cs typeface="Franklin Gothic Book Italic"/>
              </a:rPr>
              <a:t>We </a:t>
            </a:r>
            <a:r>
              <a:rPr sz="1600" i="1" spc="-5" dirty="0">
                <a:solidFill>
                  <a:srgbClr val="B52372"/>
                </a:solidFill>
                <a:latin typeface="Franklin Gothic Book Italic"/>
                <a:cs typeface="Franklin Gothic Book Italic"/>
              </a:rPr>
              <a:t>don’t </a:t>
            </a:r>
            <a:r>
              <a:rPr sz="1600" i="1" spc="-15" dirty="0">
                <a:solidFill>
                  <a:srgbClr val="B52372"/>
                </a:solidFill>
                <a:latin typeface="Franklin Gothic Book Italic"/>
                <a:cs typeface="Franklin Gothic Book Italic"/>
              </a:rPr>
              <a:t>have </a:t>
            </a:r>
            <a:r>
              <a:rPr sz="1600" i="1" dirty="0">
                <a:solidFill>
                  <a:srgbClr val="B52372"/>
                </a:solidFill>
                <a:latin typeface="Franklin Gothic Book Italic"/>
                <a:cs typeface="Franklin Gothic Book Italic"/>
              </a:rPr>
              <a:t>data that </a:t>
            </a:r>
            <a:r>
              <a:rPr sz="1600" i="1" spc="-10" dirty="0">
                <a:solidFill>
                  <a:srgbClr val="B52372"/>
                </a:solidFill>
                <a:latin typeface="Franklin Gothic Book Italic"/>
                <a:cs typeface="Franklin Gothic Book Italic"/>
              </a:rPr>
              <a:t>gives </a:t>
            </a:r>
            <a:r>
              <a:rPr sz="1600" i="1" spc="-5" dirty="0">
                <a:solidFill>
                  <a:srgbClr val="B52372"/>
                </a:solidFill>
                <a:latin typeface="Franklin Gothic Book Italic"/>
                <a:cs typeface="Franklin Gothic Book Italic"/>
              </a:rPr>
              <a:t>us </a:t>
            </a:r>
            <a:r>
              <a:rPr sz="1600" i="1" dirty="0">
                <a:solidFill>
                  <a:srgbClr val="B52372"/>
                </a:solidFill>
                <a:latin typeface="Franklin Gothic Book Italic"/>
                <a:cs typeface="Franklin Gothic Book Italic"/>
              </a:rPr>
              <a:t>what </a:t>
            </a:r>
            <a:r>
              <a:rPr sz="1600" i="1" spc="-15" dirty="0">
                <a:solidFill>
                  <a:srgbClr val="B52372"/>
                </a:solidFill>
                <a:latin typeface="Franklin Gothic Book Italic"/>
                <a:cs typeface="Franklin Gothic Book Italic"/>
              </a:rPr>
              <a:t>we </a:t>
            </a:r>
            <a:r>
              <a:rPr sz="1600" i="1" dirty="0">
                <a:solidFill>
                  <a:srgbClr val="B52372"/>
                </a:solidFill>
                <a:latin typeface="Franklin Gothic Book Italic"/>
                <a:cs typeface="Franklin Gothic Book Italic"/>
              </a:rPr>
              <a:t>are </a:t>
            </a:r>
            <a:r>
              <a:rPr sz="1600" i="1" spc="-5" dirty="0">
                <a:solidFill>
                  <a:srgbClr val="B52372"/>
                </a:solidFill>
                <a:latin typeface="Franklin Gothic Book Italic"/>
                <a:cs typeface="Franklin Gothic Book Italic"/>
              </a:rPr>
              <a:t>looking</a:t>
            </a:r>
            <a:r>
              <a:rPr sz="1600" i="1" spc="45" dirty="0">
                <a:solidFill>
                  <a:srgbClr val="B52372"/>
                </a:solidFill>
                <a:latin typeface="Franklin Gothic Book Italic"/>
                <a:cs typeface="Franklin Gothic Book Italic"/>
              </a:rPr>
              <a:t> </a:t>
            </a:r>
            <a:r>
              <a:rPr sz="1600" i="1" spc="-35" dirty="0">
                <a:solidFill>
                  <a:srgbClr val="B52372"/>
                </a:solidFill>
                <a:latin typeface="Franklin Gothic Book Italic"/>
                <a:cs typeface="Franklin Gothic Book Italic"/>
              </a:rPr>
              <a:t>for.</a:t>
            </a:r>
            <a:endParaRPr sz="1600" dirty="0">
              <a:latin typeface="Franklin Gothic Book Italic"/>
              <a:cs typeface="Franklin Gothic Book Italic"/>
            </a:endParaRPr>
          </a:p>
          <a:p>
            <a:pPr marL="866140" marR="351790" indent="-285750" algn="just">
              <a:lnSpc>
                <a:spcPct val="99400"/>
              </a:lnSpc>
              <a:buFont typeface="Arial"/>
              <a:buChar char="•"/>
              <a:tabLst>
                <a:tab pos="866775" algn="l"/>
              </a:tabLst>
            </a:pPr>
            <a:r>
              <a:rPr sz="1600" i="1" spc="-10" dirty="0">
                <a:solidFill>
                  <a:srgbClr val="B52372"/>
                </a:solidFill>
                <a:latin typeface="Franklin Gothic Book Italic"/>
                <a:cs typeface="Franklin Gothic Book Italic"/>
              </a:rPr>
              <a:t>Hotel </a:t>
            </a:r>
            <a:r>
              <a:rPr sz="1600" i="1" dirty="0">
                <a:solidFill>
                  <a:srgbClr val="B52372"/>
                </a:solidFill>
                <a:latin typeface="Franklin Gothic Book Italic"/>
                <a:cs typeface="Franklin Gothic Book Italic"/>
              </a:rPr>
              <a:t>has already </a:t>
            </a:r>
            <a:r>
              <a:rPr sz="1600" i="1" spc="-10" dirty="0">
                <a:solidFill>
                  <a:srgbClr val="B52372"/>
                </a:solidFill>
                <a:latin typeface="Franklin Gothic Book Italic"/>
                <a:cs typeface="Franklin Gothic Book Italic"/>
              </a:rPr>
              <a:t>negotiated </a:t>
            </a:r>
            <a:r>
              <a:rPr sz="1600" i="1" spc="-5" dirty="0">
                <a:solidFill>
                  <a:srgbClr val="B52372"/>
                </a:solidFill>
                <a:latin typeface="Franklin Gothic Book Italic"/>
                <a:cs typeface="Franklin Gothic Book Italic"/>
              </a:rPr>
              <a:t>pricing, but the budgeting  </a:t>
            </a:r>
            <a:r>
              <a:rPr sz="1600" i="1" spc="-10" dirty="0">
                <a:solidFill>
                  <a:srgbClr val="B52372"/>
                </a:solidFill>
                <a:latin typeface="Franklin Gothic Book Italic"/>
                <a:cs typeface="Franklin Gothic Book Italic"/>
              </a:rPr>
              <a:t>systems they </a:t>
            </a:r>
            <a:r>
              <a:rPr sz="1600" i="1" spc="-15" dirty="0">
                <a:solidFill>
                  <a:srgbClr val="B52372"/>
                </a:solidFill>
                <a:latin typeface="Franklin Gothic Book Italic"/>
                <a:cs typeface="Franklin Gothic Book Italic"/>
              </a:rPr>
              <a:t>have </a:t>
            </a:r>
            <a:r>
              <a:rPr sz="1600" i="1" spc="-5" dirty="0">
                <a:solidFill>
                  <a:srgbClr val="B52372"/>
                </a:solidFill>
                <a:latin typeface="Franklin Gothic Book Italic"/>
                <a:cs typeface="Franklin Gothic Book Italic"/>
              </a:rPr>
              <a:t>don’t connect information </a:t>
            </a:r>
            <a:r>
              <a:rPr sz="1600" i="1" spc="-25" dirty="0">
                <a:solidFill>
                  <a:srgbClr val="B52372"/>
                </a:solidFill>
                <a:latin typeface="Franklin Gothic Book Italic"/>
                <a:cs typeface="Franklin Gothic Book Italic"/>
              </a:rPr>
              <a:t>to </a:t>
            </a:r>
            <a:r>
              <a:rPr sz="1600" i="1" dirty="0">
                <a:solidFill>
                  <a:srgbClr val="B52372"/>
                </a:solidFill>
                <a:latin typeface="Franklin Gothic Book Italic"/>
                <a:cs typeface="Franklin Gothic Book Italic"/>
              </a:rPr>
              <a:t>enable  </a:t>
            </a:r>
            <a:r>
              <a:rPr sz="1600" i="1" spc="-10" dirty="0">
                <a:solidFill>
                  <a:srgbClr val="B52372"/>
                </a:solidFill>
                <a:latin typeface="Franklin Gothic Book Italic"/>
                <a:cs typeface="Franklin Gothic Book Italic"/>
              </a:rPr>
              <a:t>better </a:t>
            </a:r>
            <a:r>
              <a:rPr sz="1600" i="1" spc="-5" dirty="0">
                <a:solidFill>
                  <a:srgbClr val="B52372"/>
                </a:solidFill>
                <a:latin typeface="Franklin Gothic Book Italic"/>
                <a:cs typeface="Franklin Gothic Book Italic"/>
              </a:rPr>
              <a:t>decision-making.</a:t>
            </a:r>
            <a:endParaRPr sz="1600" dirty="0">
              <a:latin typeface="Franklin Gothic Book Italic"/>
              <a:cs typeface="Franklin Gothic Book Italic"/>
            </a:endParaRPr>
          </a:p>
          <a:p>
            <a:pPr>
              <a:lnSpc>
                <a:spcPct val="100000"/>
              </a:lnSpc>
              <a:spcBef>
                <a:spcPts val="40"/>
              </a:spcBef>
            </a:pPr>
            <a:endParaRPr sz="1100" dirty="0">
              <a:latin typeface="Franklin Gothic Book Italic"/>
              <a:cs typeface="Franklin Gothic Book Italic"/>
            </a:endParaRPr>
          </a:p>
          <a:p>
            <a:pPr marL="580390">
              <a:lnSpc>
                <a:spcPts val="1910"/>
              </a:lnSpc>
            </a:pPr>
            <a:r>
              <a:rPr sz="1600" i="1" spc="-10" dirty="0">
                <a:solidFill>
                  <a:srgbClr val="B52372"/>
                </a:solidFill>
                <a:latin typeface="Franklin Gothic Book Italic"/>
                <a:cs typeface="Franklin Gothic Book Italic"/>
              </a:rPr>
              <a:t>Result:</a:t>
            </a:r>
            <a:endParaRPr sz="1600" dirty="0">
              <a:latin typeface="Franklin Gothic Book Italic"/>
              <a:cs typeface="Franklin Gothic Book Italic"/>
            </a:endParaRPr>
          </a:p>
          <a:p>
            <a:pPr marL="866140" marR="321945" indent="-285750">
              <a:lnSpc>
                <a:spcPts val="1900"/>
              </a:lnSpc>
              <a:spcBef>
                <a:spcPts val="70"/>
              </a:spcBef>
              <a:buFont typeface="Wingdings"/>
              <a:buChar char=""/>
              <a:tabLst>
                <a:tab pos="866775" algn="l"/>
              </a:tabLst>
            </a:pPr>
            <a:r>
              <a:rPr sz="1600" i="1" spc="-10" dirty="0">
                <a:solidFill>
                  <a:srgbClr val="B52372"/>
                </a:solidFill>
                <a:latin typeface="Franklin Gothic Book Italic"/>
                <a:cs typeface="Franklin Gothic Book Italic"/>
              </a:rPr>
              <a:t>Hotel overstates </a:t>
            </a:r>
            <a:r>
              <a:rPr sz="1600" i="1" dirty="0">
                <a:solidFill>
                  <a:srgbClr val="B52372"/>
                </a:solidFill>
                <a:latin typeface="Franklin Gothic Book Italic"/>
                <a:cs typeface="Franklin Gothic Book Italic"/>
              </a:rPr>
              <a:t>a </a:t>
            </a:r>
            <a:r>
              <a:rPr sz="1600" i="1" spc="-20" dirty="0">
                <a:solidFill>
                  <a:srgbClr val="B52372"/>
                </a:solidFill>
                <a:latin typeface="Franklin Gothic Book Italic"/>
                <a:cs typeface="Franklin Gothic Book Italic"/>
              </a:rPr>
              <a:t>key </a:t>
            </a:r>
            <a:r>
              <a:rPr sz="1600" i="1" spc="-10" dirty="0">
                <a:solidFill>
                  <a:srgbClr val="B52372"/>
                </a:solidFill>
                <a:latin typeface="Franklin Gothic Book Italic"/>
                <a:cs typeface="Franklin Gothic Book Italic"/>
              </a:rPr>
              <a:t>revenue </a:t>
            </a:r>
            <a:r>
              <a:rPr sz="1600" i="1" spc="-5" dirty="0">
                <a:solidFill>
                  <a:srgbClr val="B52372"/>
                </a:solidFill>
                <a:latin typeface="Franklin Gothic Book Italic"/>
                <a:cs typeface="Franklin Gothic Book Italic"/>
              </a:rPr>
              <a:t>segment </a:t>
            </a:r>
            <a:r>
              <a:rPr sz="1600" i="1" spc="-15" dirty="0">
                <a:solidFill>
                  <a:srgbClr val="B52372"/>
                </a:solidFill>
                <a:latin typeface="Franklin Gothic Book Italic"/>
                <a:cs typeface="Franklin Gothic Book Italic"/>
              </a:rPr>
              <a:t>by </a:t>
            </a:r>
            <a:r>
              <a:rPr sz="1600" i="1" spc="-5" dirty="0">
                <a:solidFill>
                  <a:srgbClr val="B52372"/>
                </a:solidFill>
                <a:latin typeface="Franklin Gothic Book Italic"/>
                <a:cs typeface="Franklin Gothic Book Italic"/>
              </a:rPr>
              <a:t>$1.2 million  </a:t>
            </a:r>
            <a:r>
              <a:rPr sz="1600" i="1" dirty="0">
                <a:solidFill>
                  <a:srgbClr val="B52372"/>
                </a:solidFill>
                <a:latin typeface="Franklin Gothic Book Italic"/>
                <a:cs typeface="Franklin Gothic Book Italic"/>
              </a:rPr>
              <a:t>dollars </a:t>
            </a:r>
            <a:r>
              <a:rPr sz="1600" i="1" spc="-10" dirty="0">
                <a:solidFill>
                  <a:srgbClr val="B52372"/>
                </a:solidFill>
                <a:latin typeface="Franklin Gothic Book Italic"/>
                <a:cs typeface="Franklin Gothic Book Italic"/>
              </a:rPr>
              <a:t>unknowingly </a:t>
            </a:r>
            <a:r>
              <a:rPr sz="1600" i="1" spc="-5" dirty="0">
                <a:solidFill>
                  <a:srgbClr val="B52372"/>
                </a:solidFill>
                <a:latin typeface="Franklin Gothic Book Italic"/>
                <a:cs typeface="Franklin Gothic Book Italic"/>
              </a:rPr>
              <a:t>before </a:t>
            </a:r>
            <a:r>
              <a:rPr sz="1600" i="1" spc="-10" dirty="0">
                <a:solidFill>
                  <a:srgbClr val="B52372"/>
                </a:solidFill>
                <a:latin typeface="Franklin Gothic Book Italic"/>
                <a:cs typeface="Franklin Gothic Book Italic"/>
              </a:rPr>
              <a:t>they </a:t>
            </a:r>
            <a:r>
              <a:rPr sz="1600" i="1" spc="-15" dirty="0">
                <a:solidFill>
                  <a:srgbClr val="B52372"/>
                </a:solidFill>
                <a:latin typeface="Franklin Gothic Book Italic"/>
                <a:cs typeface="Franklin Gothic Book Italic"/>
              </a:rPr>
              <a:t>even </a:t>
            </a:r>
            <a:r>
              <a:rPr sz="1600" i="1" spc="-10" dirty="0">
                <a:solidFill>
                  <a:srgbClr val="B52372"/>
                </a:solidFill>
                <a:latin typeface="Franklin Gothic Book Italic"/>
                <a:cs typeface="Franklin Gothic Book Italic"/>
              </a:rPr>
              <a:t>get</a:t>
            </a:r>
            <a:r>
              <a:rPr sz="1600" i="1" spc="20" dirty="0">
                <a:solidFill>
                  <a:srgbClr val="B52372"/>
                </a:solidFill>
                <a:latin typeface="Franklin Gothic Book Italic"/>
                <a:cs typeface="Franklin Gothic Book Italic"/>
              </a:rPr>
              <a:t> </a:t>
            </a:r>
            <a:r>
              <a:rPr sz="1600" i="1" spc="-5" dirty="0">
                <a:solidFill>
                  <a:srgbClr val="B52372"/>
                </a:solidFill>
                <a:latin typeface="Franklin Gothic Book Italic"/>
                <a:cs typeface="Franklin Gothic Book Italic"/>
              </a:rPr>
              <a:t>started.</a:t>
            </a:r>
            <a:endParaRPr sz="1600" dirty="0">
              <a:latin typeface="Franklin Gothic Book Italic"/>
              <a:cs typeface="Franklin Gothic Book Italic"/>
            </a:endParaRPr>
          </a:p>
          <a:p>
            <a:pPr>
              <a:lnSpc>
                <a:spcPct val="100000"/>
              </a:lnSpc>
            </a:pPr>
            <a:endParaRPr dirty="0">
              <a:latin typeface="Franklin Gothic Book Italic"/>
              <a:cs typeface="Franklin Gothic Book Italic"/>
            </a:endParaRPr>
          </a:p>
          <a:p>
            <a:pPr marL="462915" marR="5080">
              <a:lnSpc>
                <a:spcPct val="100400"/>
              </a:lnSpc>
            </a:pPr>
            <a:r>
              <a:rPr sz="1600" i="1" dirty="0">
                <a:latin typeface="Times New Roman"/>
                <a:cs typeface="Times New Roman"/>
              </a:rPr>
              <a:t>In </a:t>
            </a:r>
            <a:r>
              <a:rPr sz="1600" i="1" spc="-5" dirty="0">
                <a:latin typeface="Times New Roman"/>
                <a:cs typeface="Times New Roman"/>
              </a:rPr>
              <a:t>businesses that </a:t>
            </a:r>
            <a:r>
              <a:rPr sz="1600" i="1" spc="-25" dirty="0">
                <a:latin typeface="Times New Roman"/>
                <a:cs typeface="Times New Roman"/>
              </a:rPr>
              <a:t>are </a:t>
            </a:r>
            <a:r>
              <a:rPr sz="1600" i="1" spc="-5" dirty="0">
                <a:latin typeface="Times New Roman"/>
                <a:cs typeface="Times New Roman"/>
              </a:rPr>
              <a:t>changing so fast, in </a:t>
            </a:r>
            <a:r>
              <a:rPr sz="1600" i="1" dirty="0">
                <a:latin typeface="Times New Roman"/>
                <a:cs typeface="Times New Roman"/>
              </a:rPr>
              <a:t>a </a:t>
            </a:r>
            <a:r>
              <a:rPr sz="1600" i="1" spc="-5" dirty="0">
                <a:latin typeface="Times New Roman"/>
                <a:cs typeface="Times New Roman"/>
              </a:rPr>
              <a:t>world ripe with  disruption, </a:t>
            </a:r>
            <a:r>
              <a:rPr sz="1600" i="1" dirty="0">
                <a:latin typeface="Times New Roman"/>
                <a:cs typeface="Times New Roman"/>
              </a:rPr>
              <a:t>and </a:t>
            </a:r>
            <a:r>
              <a:rPr sz="1600" i="1" spc="-5" dirty="0">
                <a:latin typeface="Times New Roman"/>
                <a:cs typeface="Times New Roman"/>
              </a:rPr>
              <a:t>the unknowns outweigh the known, if </a:t>
            </a:r>
            <a:r>
              <a:rPr sz="1600" i="1" dirty="0">
                <a:latin typeface="Times New Roman"/>
                <a:cs typeface="Times New Roman"/>
              </a:rPr>
              <a:t>you </a:t>
            </a:r>
            <a:r>
              <a:rPr sz="1600" i="1" spc="-5" dirty="0">
                <a:latin typeface="Times New Roman"/>
                <a:cs typeface="Times New Roman"/>
              </a:rPr>
              <a:t>maintain the status </a:t>
            </a:r>
            <a:r>
              <a:rPr sz="1600" i="1" dirty="0">
                <a:latin typeface="Times New Roman"/>
                <a:cs typeface="Times New Roman"/>
              </a:rPr>
              <a:t>quo you </a:t>
            </a:r>
            <a:r>
              <a:rPr sz="1600" i="1" spc="-25" dirty="0">
                <a:latin typeface="Times New Roman"/>
                <a:cs typeface="Times New Roman"/>
              </a:rPr>
              <a:t>are </a:t>
            </a:r>
            <a:r>
              <a:rPr sz="1600" i="1" spc="-5" dirty="0">
                <a:latin typeface="Times New Roman"/>
                <a:cs typeface="Times New Roman"/>
              </a:rPr>
              <a:t>likely going to experience  </a:t>
            </a:r>
            <a:r>
              <a:rPr sz="1600" i="1" spc="-15" dirty="0">
                <a:latin typeface="Times New Roman"/>
                <a:cs typeface="Times New Roman"/>
              </a:rPr>
              <a:t>failure. </a:t>
            </a:r>
            <a:r>
              <a:rPr sz="1600" i="1" spc="-5" dirty="0">
                <a:latin typeface="Times New Roman"/>
                <a:cs typeface="Times New Roman"/>
              </a:rPr>
              <a:t>Status </a:t>
            </a:r>
            <a:r>
              <a:rPr sz="1600" i="1" dirty="0">
                <a:latin typeface="Times New Roman"/>
                <a:cs typeface="Times New Roman"/>
              </a:rPr>
              <a:t>quo </a:t>
            </a:r>
            <a:r>
              <a:rPr sz="1600" i="1" spc="-5" dirty="0">
                <a:latin typeface="Times New Roman"/>
                <a:cs typeface="Times New Roman"/>
              </a:rPr>
              <a:t>is </a:t>
            </a:r>
            <a:r>
              <a:rPr sz="1600" i="1" dirty="0">
                <a:latin typeface="Times New Roman"/>
                <a:cs typeface="Times New Roman"/>
              </a:rPr>
              <a:t>a </a:t>
            </a:r>
            <a:r>
              <a:rPr sz="1600" i="1" spc="-5" dirty="0">
                <a:latin typeface="Times New Roman"/>
                <a:cs typeface="Times New Roman"/>
              </a:rPr>
              <a:t>losing</a:t>
            </a:r>
            <a:r>
              <a:rPr sz="1600" i="1" spc="10" dirty="0">
                <a:latin typeface="Times New Roman"/>
                <a:cs typeface="Times New Roman"/>
              </a:rPr>
              <a:t> </a:t>
            </a:r>
            <a:r>
              <a:rPr sz="1600" i="1" spc="-15" dirty="0">
                <a:latin typeface="Times New Roman"/>
                <a:cs typeface="Times New Roman"/>
              </a:rPr>
              <a:t>strategy.</a:t>
            </a:r>
            <a:endParaRPr sz="1600" dirty="0">
              <a:latin typeface="Times New Roman"/>
              <a:cs typeface="Times New Roman"/>
            </a:endParaRPr>
          </a:p>
          <a:p>
            <a:pPr>
              <a:lnSpc>
                <a:spcPct val="100000"/>
              </a:lnSpc>
              <a:spcBef>
                <a:spcPts val="10"/>
              </a:spcBef>
            </a:pPr>
            <a:endParaRPr dirty="0">
              <a:latin typeface="Times New Roman"/>
              <a:cs typeface="Times New Roman"/>
            </a:endParaRPr>
          </a:p>
          <a:p>
            <a:pPr marL="3206115">
              <a:lnSpc>
                <a:spcPct val="100000"/>
              </a:lnSpc>
            </a:pPr>
            <a:r>
              <a:rPr sz="1600" dirty="0">
                <a:latin typeface="Times New Roman"/>
                <a:cs typeface="Times New Roman"/>
              </a:rPr>
              <a:t>- </a:t>
            </a:r>
            <a:r>
              <a:rPr sz="1600" spc="-5" dirty="0">
                <a:latin typeface="Times New Roman"/>
                <a:cs typeface="Times New Roman"/>
              </a:rPr>
              <a:t>Bob </a:t>
            </a:r>
            <a:r>
              <a:rPr sz="1600" spc="-15" dirty="0">
                <a:latin typeface="Times New Roman"/>
                <a:cs typeface="Times New Roman"/>
              </a:rPr>
              <a:t>Iger, </a:t>
            </a:r>
            <a:r>
              <a:rPr sz="1600" spc="-5" dirty="0">
                <a:latin typeface="Times New Roman"/>
                <a:cs typeface="Times New Roman"/>
              </a:rPr>
              <a:t>CEO</a:t>
            </a:r>
            <a:r>
              <a:rPr sz="1600" dirty="0">
                <a:latin typeface="Times New Roman"/>
                <a:cs typeface="Times New Roman"/>
              </a:rPr>
              <a:t> </a:t>
            </a:r>
            <a:r>
              <a:rPr sz="1600" spc="-5" dirty="0">
                <a:latin typeface="Times New Roman"/>
                <a:cs typeface="Times New Roman"/>
              </a:rPr>
              <a:t>Disney</a:t>
            </a:r>
            <a:endParaRPr sz="1600" dirty="0">
              <a:latin typeface="Times New Roman"/>
              <a:cs typeface="Times New Roman"/>
            </a:endParaRPr>
          </a:p>
        </p:txBody>
      </p:sp>
      <p:sp>
        <p:nvSpPr>
          <p:cNvPr id="7" name="object 7"/>
          <p:cNvSpPr/>
          <p:nvPr/>
        </p:nvSpPr>
        <p:spPr>
          <a:xfrm>
            <a:off x="574531" y="2328796"/>
            <a:ext cx="5486400" cy="0"/>
          </a:xfrm>
          <a:custGeom>
            <a:avLst/>
            <a:gdLst/>
            <a:ahLst/>
            <a:cxnLst/>
            <a:rect l="l" t="t" r="r" b="b"/>
            <a:pathLst>
              <a:path w="5486400">
                <a:moveTo>
                  <a:pt x="0" y="0"/>
                </a:moveTo>
                <a:lnTo>
                  <a:pt x="5486400" y="1"/>
                </a:lnTo>
              </a:path>
            </a:pathLst>
          </a:custGeom>
          <a:ln w="28575">
            <a:solidFill>
              <a:srgbClr val="262626"/>
            </a:solidFill>
          </a:ln>
        </p:spPr>
        <p:txBody>
          <a:bodyPr wrap="square" lIns="0" tIns="0" rIns="0" bIns="0" rtlCol="0"/>
          <a:lstStyle/>
          <a:p>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6854825" cy="9144000"/>
          </a:xfrm>
          <a:custGeom>
            <a:avLst/>
            <a:gdLst/>
            <a:ahLst/>
            <a:cxnLst/>
            <a:rect l="l" t="t" r="r" b="b"/>
            <a:pathLst>
              <a:path w="6854825" h="9144000">
                <a:moveTo>
                  <a:pt x="0" y="9144000"/>
                </a:moveTo>
                <a:lnTo>
                  <a:pt x="0" y="0"/>
                </a:lnTo>
                <a:lnTo>
                  <a:pt x="6854426" y="0"/>
                </a:lnTo>
                <a:lnTo>
                  <a:pt x="6854426" y="9143999"/>
                </a:lnTo>
                <a:lnTo>
                  <a:pt x="0" y="9144000"/>
                </a:lnTo>
                <a:close/>
              </a:path>
            </a:pathLst>
          </a:custGeom>
          <a:solidFill>
            <a:srgbClr val="555759"/>
          </a:solidFill>
        </p:spPr>
        <p:txBody>
          <a:bodyPr wrap="square" lIns="0" tIns="0" rIns="0" bIns="0" rtlCol="0"/>
          <a:lstStyle/>
          <a:p>
            <a:endParaRPr/>
          </a:p>
        </p:txBody>
      </p:sp>
      <p:sp>
        <p:nvSpPr>
          <p:cNvPr id="3" name="object 3"/>
          <p:cNvSpPr/>
          <p:nvPr/>
        </p:nvSpPr>
        <p:spPr>
          <a:xfrm>
            <a:off x="0" y="0"/>
            <a:ext cx="6854825" cy="9144000"/>
          </a:xfrm>
          <a:custGeom>
            <a:avLst/>
            <a:gdLst/>
            <a:ahLst/>
            <a:cxnLst/>
            <a:rect l="l" t="t" r="r" b="b"/>
            <a:pathLst>
              <a:path w="6854825" h="9144000">
                <a:moveTo>
                  <a:pt x="0" y="0"/>
                </a:moveTo>
                <a:lnTo>
                  <a:pt x="6854426" y="0"/>
                </a:lnTo>
                <a:lnTo>
                  <a:pt x="6854426" y="9143999"/>
                </a:lnTo>
              </a:path>
            </a:pathLst>
          </a:custGeom>
          <a:ln w="12700">
            <a:solidFill>
              <a:srgbClr val="3C3E8F"/>
            </a:solidFill>
          </a:ln>
        </p:spPr>
        <p:txBody>
          <a:bodyPr wrap="square" lIns="0" tIns="0" rIns="0" bIns="0" rtlCol="0"/>
          <a:lstStyle/>
          <a:p>
            <a:endParaRPr/>
          </a:p>
        </p:txBody>
      </p:sp>
      <p:sp>
        <p:nvSpPr>
          <p:cNvPr id="4" name="object 4"/>
          <p:cNvSpPr/>
          <p:nvPr/>
        </p:nvSpPr>
        <p:spPr>
          <a:xfrm>
            <a:off x="334209" y="7574061"/>
            <a:ext cx="1219200" cy="1569938"/>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90783" y="-2209800"/>
            <a:ext cx="6408420" cy="13086080"/>
          </a:xfrm>
          <a:prstGeom prst="rect">
            <a:avLst/>
          </a:prstGeom>
        </p:spPr>
        <p:txBody>
          <a:bodyPr vert="horz" wrap="square" lIns="0" tIns="12700" rIns="0" bIns="0" rtlCol="0">
            <a:spAutoFit/>
          </a:bodyPr>
          <a:lstStyle/>
          <a:p>
            <a:pPr marL="12700">
              <a:lnSpc>
                <a:spcPct val="100000"/>
              </a:lnSpc>
              <a:spcBef>
                <a:spcPts val="100"/>
              </a:spcBef>
            </a:pPr>
            <a:r>
              <a:rPr sz="85700" dirty="0">
                <a:solidFill>
                  <a:srgbClr val="D51067"/>
                </a:solidFill>
                <a:latin typeface="Franklin Gothic Medium"/>
                <a:cs typeface="Franklin Gothic Medium"/>
              </a:rPr>
              <a:t>3</a:t>
            </a:r>
            <a:endParaRPr sz="85700" dirty="0">
              <a:latin typeface="Franklin Gothic Medium"/>
              <a:cs typeface="Franklin Gothic Medium"/>
            </a:endParaRPr>
          </a:p>
        </p:txBody>
      </p:sp>
      <p:sp>
        <p:nvSpPr>
          <p:cNvPr id="6" name="object 6"/>
          <p:cNvSpPr txBox="1"/>
          <p:nvPr/>
        </p:nvSpPr>
        <p:spPr>
          <a:xfrm>
            <a:off x="4040572" y="5462523"/>
            <a:ext cx="2506980" cy="452120"/>
          </a:xfrm>
          <a:prstGeom prst="rect">
            <a:avLst/>
          </a:prstGeom>
        </p:spPr>
        <p:txBody>
          <a:bodyPr vert="horz" wrap="square" lIns="0" tIns="12700" rIns="0" bIns="0" rtlCol="0">
            <a:spAutoFit/>
          </a:bodyPr>
          <a:lstStyle/>
          <a:p>
            <a:pPr marL="12700">
              <a:lnSpc>
                <a:spcPct val="100000"/>
              </a:lnSpc>
              <a:spcBef>
                <a:spcPts val="100"/>
              </a:spcBef>
            </a:pPr>
            <a:r>
              <a:rPr sz="2800" i="1" spc="-5" dirty="0">
                <a:solidFill>
                  <a:srgbClr val="FFFFFF"/>
                </a:solidFill>
                <a:latin typeface="Franklin Gothic Book Italic"/>
                <a:cs typeface="Franklin Gothic Book Italic"/>
              </a:rPr>
              <a:t>The Critical</a:t>
            </a:r>
            <a:r>
              <a:rPr sz="2800" i="1" spc="-60" dirty="0">
                <a:solidFill>
                  <a:srgbClr val="FFFFFF"/>
                </a:solidFill>
                <a:latin typeface="Franklin Gothic Book Italic"/>
                <a:cs typeface="Franklin Gothic Book Italic"/>
              </a:rPr>
              <a:t> </a:t>
            </a:r>
            <a:r>
              <a:rPr sz="2800" i="1" spc="-235" dirty="0">
                <a:solidFill>
                  <a:srgbClr val="FFFFFF"/>
                </a:solidFill>
                <a:latin typeface="Franklin Gothic Book Italic"/>
                <a:cs typeface="Franklin Gothic Book Italic"/>
              </a:rPr>
              <a:t>Link-</a:t>
            </a:r>
            <a:endParaRPr sz="2800" dirty="0">
              <a:latin typeface="Franklin Gothic Book Italic"/>
              <a:cs typeface="Franklin Gothic Book Italic"/>
            </a:endParaRPr>
          </a:p>
        </p:txBody>
      </p:sp>
      <p:sp>
        <p:nvSpPr>
          <p:cNvPr id="7" name="object 7"/>
          <p:cNvSpPr txBox="1"/>
          <p:nvPr/>
        </p:nvSpPr>
        <p:spPr>
          <a:xfrm>
            <a:off x="2728281" y="5843523"/>
            <a:ext cx="3819525" cy="452120"/>
          </a:xfrm>
          <a:prstGeom prst="rect">
            <a:avLst/>
          </a:prstGeom>
        </p:spPr>
        <p:txBody>
          <a:bodyPr vert="horz" wrap="square" lIns="0" tIns="12700" rIns="0" bIns="0" rtlCol="0">
            <a:spAutoFit/>
          </a:bodyPr>
          <a:lstStyle/>
          <a:p>
            <a:pPr marL="12700">
              <a:lnSpc>
                <a:spcPct val="100000"/>
              </a:lnSpc>
              <a:spcBef>
                <a:spcPts val="100"/>
              </a:spcBef>
            </a:pPr>
            <a:r>
              <a:rPr sz="2800" i="1" dirty="0">
                <a:solidFill>
                  <a:srgbClr val="FFFFFF"/>
                </a:solidFill>
                <a:latin typeface="Franklin Gothic Book Italic"/>
                <a:cs typeface="Franklin Gothic Book Italic"/>
              </a:rPr>
              <a:t>Financial Goals, Strategy,</a:t>
            </a:r>
            <a:endParaRPr sz="2800" dirty="0">
              <a:latin typeface="Franklin Gothic Book Italic"/>
              <a:cs typeface="Franklin Gothic Book Italic"/>
            </a:endParaRPr>
          </a:p>
        </p:txBody>
      </p:sp>
      <p:sp>
        <p:nvSpPr>
          <p:cNvPr id="8" name="object 8"/>
          <p:cNvSpPr txBox="1"/>
          <p:nvPr/>
        </p:nvSpPr>
        <p:spPr>
          <a:xfrm>
            <a:off x="4826765" y="6224523"/>
            <a:ext cx="1721485" cy="452120"/>
          </a:xfrm>
          <a:prstGeom prst="rect">
            <a:avLst/>
          </a:prstGeom>
        </p:spPr>
        <p:txBody>
          <a:bodyPr vert="horz" wrap="square" lIns="0" tIns="12700" rIns="0" bIns="0" rtlCol="0">
            <a:spAutoFit/>
          </a:bodyPr>
          <a:lstStyle/>
          <a:p>
            <a:pPr marL="12700">
              <a:lnSpc>
                <a:spcPct val="100000"/>
              </a:lnSpc>
              <a:spcBef>
                <a:spcPts val="100"/>
              </a:spcBef>
            </a:pPr>
            <a:r>
              <a:rPr sz="2800" i="1" dirty="0">
                <a:solidFill>
                  <a:srgbClr val="FFFFFF"/>
                </a:solidFill>
                <a:latin typeface="Franklin Gothic Book Italic"/>
                <a:cs typeface="Franklin Gothic Book Italic"/>
              </a:rPr>
              <a:t>and Tactics</a:t>
            </a:r>
            <a:endParaRPr sz="2800" dirty="0">
              <a:latin typeface="Franklin Gothic Book Italic"/>
              <a:cs typeface="Franklin Gothic Book Italic"/>
            </a:endParaRPr>
          </a:p>
        </p:txBody>
      </p:sp>
      <p:sp>
        <p:nvSpPr>
          <p:cNvPr id="9" name="object 9"/>
          <p:cNvSpPr txBox="1"/>
          <p:nvPr/>
        </p:nvSpPr>
        <p:spPr>
          <a:xfrm>
            <a:off x="2218927" y="8581135"/>
            <a:ext cx="2412365" cy="151323"/>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2F2F2"/>
                </a:solidFill>
                <a:latin typeface="Franklin Gothic Book"/>
                <a:cs typeface="Franklin Gothic Book"/>
              </a:rPr>
              <a:t>Effective Planning for Top-Line Growth </a:t>
            </a:r>
            <a:r>
              <a:rPr sz="900" dirty="0">
                <a:solidFill>
                  <a:srgbClr val="F2F2F2"/>
                </a:solidFill>
                <a:latin typeface="Franklin Gothic Book"/>
                <a:cs typeface="Franklin Gothic Book"/>
              </a:rPr>
              <a:t>in Times of</a:t>
            </a:r>
            <a:endParaRPr sz="900" dirty="0">
              <a:latin typeface="Franklin Gothic Book"/>
              <a:cs typeface="Franklin Gothic Book"/>
            </a:endParaRPr>
          </a:p>
        </p:txBody>
      </p:sp>
      <p:sp>
        <p:nvSpPr>
          <p:cNvPr id="10" name="object 10"/>
          <p:cNvSpPr txBox="1"/>
          <p:nvPr/>
        </p:nvSpPr>
        <p:spPr>
          <a:xfrm>
            <a:off x="3164250" y="8721343"/>
            <a:ext cx="52260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2F2F2"/>
                </a:solidFill>
                <a:latin typeface="Franklin Gothic Book"/>
                <a:cs typeface="Franklin Gothic Book"/>
              </a:rPr>
              <a:t>Disruption</a:t>
            </a:r>
            <a:endParaRPr sz="900">
              <a:latin typeface="Franklin Gothic Book"/>
              <a:cs typeface="Franklin Gothic Book"/>
            </a:endParaRPr>
          </a:p>
        </p:txBody>
      </p:sp>
      <p:sp>
        <p:nvSpPr>
          <p:cNvPr id="11" name="object 11"/>
          <p:cNvSpPr txBox="1"/>
          <p:nvPr/>
        </p:nvSpPr>
        <p:spPr>
          <a:xfrm>
            <a:off x="6166802" y="8623807"/>
            <a:ext cx="13970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FFFFFF"/>
                </a:solidFill>
                <a:latin typeface="Calibri"/>
                <a:cs typeface="Calibri"/>
              </a:rPr>
              <a:t>10</a:t>
            </a:r>
            <a:endParaRPr sz="900">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183737" y="8742680"/>
            <a:ext cx="2938780" cy="151323"/>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898989"/>
                </a:solidFill>
                <a:latin typeface="Franklin Gothic Book"/>
                <a:cs typeface="Franklin Gothic Book"/>
              </a:rPr>
              <a:t>Effective Planning for Top-Line Growth </a:t>
            </a:r>
            <a:r>
              <a:rPr sz="900" dirty="0">
                <a:solidFill>
                  <a:srgbClr val="898989"/>
                </a:solidFill>
                <a:latin typeface="Franklin Gothic Book"/>
                <a:cs typeface="Franklin Gothic Book"/>
              </a:rPr>
              <a:t>in </a:t>
            </a:r>
            <a:r>
              <a:rPr sz="900" spc="-5" dirty="0">
                <a:solidFill>
                  <a:srgbClr val="898989"/>
                </a:solidFill>
                <a:latin typeface="Franklin Gothic Book"/>
                <a:cs typeface="Franklin Gothic Book"/>
              </a:rPr>
              <a:t>Times </a:t>
            </a:r>
            <a:r>
              <a:rPr sz="900" dirty="0">
                <a:solidFill>
                  <a:srgbClr val="898989"/>
                </a:solidFill>
                <a:latin typeface="Franklin Gothic Book"/>
                <a:cs typeface="Franklin Gothic Book"/>
              </a:rPr>
              <a:t>of Disruption</a:t>
            </a:r>
            <a:endParaRPr sz="900" dirty="0">
              <a:latin typeface="Franklin Gothic Book"/>
              <a:cs typeface="Franklin Gothic Book"/>
            </a:endParaRPr>
          </a:p>
        </p:txBody>
      </p:sp>
      <p:sp>
        <p:nvSpPr>
          <p:cNvPr id="3" name="object 3"/>
          <p:cNvSpPr txBox="1"/>
          <p:nvPr/>
        </p:nvSpPr>
        <p:spPr>
          <a:xfrm>
            <a:off x="6286498" y="8730488"/>
            <a:ext cx="13970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898989"/>
                </a:solidFill>
                <a:latin typeface="Calibri"/>
                <a:cs typeface="Calibri"/>
              </a:rPr>
              <a:t>11</a:t>
            </a:r>
            <a:endParaRPr sz="900">
              <a:latin typeface="Calibri"/>
              <a:cs typeface="Calibri"/>
            </a:endParaRPr>
          </a:p>
        </p:txBody>
      </p:sp>
      <p:sp>
        <p:nvSpPr>
          <p:cNvPr id="4" name="object 4"/>
          <p:cNvSpPr/>
          <p:nvPr/>
        </p:nvSpPr>
        <p:spPr>
          <a:xfrm>
            <a:off x="1459991" y="2700527"/>
            <a:ext cx="3368040" cy="3364992"/>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3130295" y="3041904"/>
            <a:ext cx="2194560" cy="816863"/>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3130295" y="3928871"/>
            <a:ext cx="2194560" cy="816863"/>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3130295" y="4815840"/>
            <a:ext cx="2194560" cy="816863"/>
          </a:xfrm>
          <a:prstGeom prst="rect">
            <a:avLst/>
          </a:prstGeom>
          <a:blipFill>
            <a:blip r:embed="rId4" cstate="print"/>
            <a:stretch>
              <a:fillRect/>
            </a:stretch>
          </a:blipFill>
        </p:spPr>
        <p:txBody>
          <a:bodyPr wrap="square" lIns="0" tIns="0" rIns="0" bIns="0" rtlCol="0"/>
          <a:lstStyle/>
          <a:p>
            <a:endParaRPr/>
          </a:p>
        </p:txBody>
      </p:sp>
      <p:sp>
        <p:nvSpPr>
          <p:cNvPr id="8" name="object 8"/>
          <p:cNvSpPr txBox="1"/>
          <p:nvPr/>
        </p:nvSpPr>
        <p:spPr>
          <a:xfrm>
            <a:off x="3250283" y="3241040"/>
            <a:ext cx="1929764" cy="1973617"/>
          </a:xfrm>
          <a:prstGeom prst="rect">
            <a:avLst/>
          </a:prstGeom>
        </p:spPr>
        <p:txBody>
          <a:bodyPr vert="horz" wrap="square" lIns="0" tIns="12700" rIns="0" bIns="0" rtlCol="0">
            <a:spAutoFit/>
          </a:bodyPr>
          <a:lstStyle/>
          <a:p>
            <a:pPr marL="12700">
              <a:lnSpc>
                <a:spcPct val="100000"/>
              </a:lnSpc>
              <a:spcBef>
                <a:spcPts val="100"/>
              </a:spcBef>
            </a:pPr>
            <a:r>
              <a:rPr sz="2100" dirty="0">
                <a:latin typeface="Calibri"/>
                <a:cs typeface="Calibri"/>
              </a:rPr>
              <a:t>Financial</a:t>
            </a:r>
            <a:r>
              <a:rPr sz="2100" spc="-20" dirty="0">
                <a:latin typeface="Calibri"/>
                <a:cs typeface="Calibri"/>
              </a:rPr>
              <a:t> </a:t>
            </a:r>
            <a:r>
              <a:rPr sz="2100" dirty="0">
                <a:latin typeface="Calibri"/>
                <a:cs typeface="Calibri"/>
              </a:rPr>
              <a:t>Goals</a:t>
            </a:r>
          </a:p>
          <a:p>
            <a:pPr marL="12700" marR="5080">
              <a:lnSpc>
                <a:spcPct val="277100"/>
              </a:lnSpc>
            </a:pPr>
            <a:r>
              <a:rPr sz="2100" spc="-5" dirty="0">
                <a:latin typeface="Calibri"/>
                <a:cs typeface="Calibri"/>
              </a:rPr>
              <a:t>Segment</a:t>
            </a:r>
            <a:r>
              <a:rPr sz="2100" spc="-60" dirty="0">
                <a:latin typeface="Calibri"/>
                <a:cs typeface="Calibri"/>
              </a:rPr>
              <a:t> </a:t>
            </a:r>
            <a:r>
              <a:rPr sz="2100" spc="-15" dirty="0">
                <a:latin typeface="Calibri"/>
                <a:cs typeface="Calibri"/>
              </a:rPr>
              <a:t>Strategy  </a:t>
            </a:r>
            <a:r>
              <a:rPr sz="2100" spc="-25" dirty="0">
                <a:latin typeface="Calibri"/>
                <a:cs typeface="Calibri"/>
              </a:rPr>
              <a:t>Tactics </a:t>
            </a:r>
            <a:r>
              <a:rPr sz="2100" spc="-15" dirty="0">
                <a:latin typeface="Calibri"/>
                <a:cs typeface="Calibri"/>
              </a:rPr>
              <a:t>to</a:t>
            </a:r>
            <a:r>
              <a:rPr sz="2100" spc="-35" dirty="0">
                <a:latin typeface="Calibri"/>
                <a:cs typeface="Calibri"/>
              </a:rPr>
              <a:t> </a:t>
            </a:r>
            <a:r>
              <a:rPr lang="en-US" sz="2100" spc="-10" dirty="0">
                <a:latin typeface="Calibri"/>
                <a:cs typeface="Calibri"/>
              </a:rPr>
              <a:t>A</a:t>
            </a:r>
            <a:r>
              <a:rPr sz="2100" spc="-10" dirty="0">
                <a:latin typeface="Calibri"/>
                <a:cs typeface="Calibri"/>
              </a:rPr>
              <a:t>chieve</a:t>
            </a:r>
            <a:endParaRPr sz="2100" dirty="0">
              <a:latin typeface="Calibri"/>
              <a:cs typeface="Calibri"/>
            </a:endParaRPr>
          </a:p>
        </p:txBody>
      </p:sp>
      <p:sp>
        <p:nvSpPr>
          <p:cNvPr id="9" name="object 9"/>
          <p:cNvSpPr/>
          <p:nvPr/>
        </p:nvSpPr>
        <p:spPr>
          <a:xfrm>
            <a:off x="209654" y="593551"/>
            <a:ext cx="2620010" cy="0"/>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10" name="object 10"/>
          <p:cNvSpPr txBox="1"/>
          <p:nvPr/>
        </p:nvSpPr>
        <p:spPr>
          <a:xfrm>
            <a:off x="148090" y="120395"/>
            <a:ext cx="6101080" cy="2531462"/>
          </a:xfrm>
          <a:prstGeom prst="rect">
            <a:avLst/>
          </a:prstGeom>
        </p:spPr>
        <p:txBody>
          <a:bodyPr vert="horz" wrap="square" lIns="0" tIns="12700" rIns="0" bIns="0" rtlCol="0">
            <a:spAutoFit/>
          </a:bodyPr>
          <a:lstStyle/>
          <a:p>
            <a:pPr marL="12700">
              <a:lnSpc>
                <a:spcPct val="100000"/>
              </a:lnSpc>
              <a:spcBef>
                <a:spcPts val="100"/>
              </a:spcBef>
            </a:pPr>
            <a:r>
              <a:rPr sz="2000" spc="-5" dirty="0">
                <a:latin typeface="Franklin Gothic Book"/>
                <a:cs typeface="Franklin Gothic Book"/>
              </a:rPr>
              <a:t>Linking </a:t>
            </a:r>
            <a:r>
              <a:rPr sz="2000" spc="-10" dirty="0">
                <a:latin typeface="Franklin Gothic Book"/>
                <a:cs typeface="Franklin Gothic Book"/>
              </a:rPr>
              <a:t>Strategy </a:t>
            </a:r>
            <a:r>
              <a:rPr sz="2000" spc="-20" dirty="0">
                <a:latin typeface="Franklin Gothic Book"/>
                <a:cs typeface="Franklin Gothic Book"/>
              </a:rPr>
              <a:t>to </a:t>
            </a:r>
            <a:r>
              <a:rPr sz="2000" dirty="0">
                <a:latin typeface="Franklin Gothic Book"/>
                <a:cs typeface="Franklin Gothic Book"/>
              </a:rPr>
              <a:t>Financial</a:t>
            </a:r>
            <a:r>
              <a:rPr sz="2000" spc="20" dirty="0">
                <a:latin typeface="Franklin Gothic Book"/>
                <a:cs typeface="Franklin Gothic Book"/>
              </a:rPr>
              <a:t> </a:t>
            </a:r>
            <a:r>
              <a:rPr sz="2000" spc="-5" dirty="0">
                <a:latin typeface="Franklin Gothic Book"/>
                <a:cs typeface="Franklin Gothic Book"/>
              </a:rPr>
              <a:t>Outcomes</a:t>
            </a:r>
            <a:endParaRPr sz="2000" dirty="0">
              <a:latin typeface="Franklin Gothic Book"/>
              <a:cs typeface="Franklin Gothic Book"/>
            </a:endParaRPr>
          </a:p>
          <a:p>
            <a:pPr>
              <a:lnSpc>
                <a:spcPct val="100000"/>
              </a:lnSpc>
              <a:spcBef>
                <a:spcPts val="15"/>
              </a:spcBef>
            </a:pPr>
            <a:endParaRPr sz="1600" dirty="0">
              <a:latin typeface="Franklin Gothic Book"/>
              <a:cs typeface="Franklin Gothic Book"/>
            </a:endParaRPr>
          </a:p>
          <a:p>
            <a:pPr marL="704215" marR="50800">
              <a:lnSpc>
                <a:spcPts val="1900"/>
              </a:lnSpc>
            </a:pPr>
            <a:r>
              <a:rPr sz="1600" spc="-5" dirty="0">
                <a:solidFill>
                  <a:srgbClr val="404040"/>
                </a:solidFill>
                <a:latin typeface="Franklin Gothic Book"/>
                <a:cs typeface="Franklin Gothic Book"/>
              </a:rPr>
              <a:t>Here are </a:t>
            </a:r>
            <a:r>
              <a:rPr sz="1600" spc="-15" dirty="0">
                <a:solidFill>
                  <a:srgbClr val="404040"/>
                </a:solidFill>
                <a:latin typeface="Franklin Gothic Book"/>
                <a:cs typeface="Franklin Gothic Book"/>
              </a:rPr>
              <a:t>four </a:t>
            </a:r>
            <a:r>
              <a:rPr sz="1600" spc="-25" dirty="0">
                <a:solidFill>
                  <a:srgbClr val="404040"/>
                </a:solidFill>
                <a:latin typeface="Franklin Gothic Book"/>
                <a:cs typeface="Franklin Gothic Book"/>
              </a:rPr>
              <a:t>key </a:t>
            </a:r>
            <a:r>
              <a:rPr sz="1600" spc="-5" dirty="0">
                <a:solidFill>
                  <a:srgbClr val="404040"/>
                </a:solidFill>
                <a:latin typeface="Franklin Gothic Book"/>
                <a:cs typeface="Franklin Gothic Book"/>
              </a:rPr>
              <a:t>causations between </a:t>
            </a:r>
            <a:r>
              <a:rPr sz="1600" spc="-10" dirty="0">
                <a:solidFill>
                  <a:srgbClr val="404040"/>
                </a:solidFill>
                <a:latin typeface="Franklin Gothic Book"/>
                <a:cs typeface="Franklin Gothic Book"/>
              </a:rPr>
              <a:t>revenue </a:t>
            </a:r>
            <a:r>
              <a:rPr sz="1600" dirty="0">
                <a:solidFill>
                  <a:srgbClr val="404040"/>
                </a:solidFill>
                <a:latin typeface="Franklin Gothic Book"/>
                <a:cs typeface="Franklin Gothic Book"/>
              </a:rPr>
              <a:t>performance  and strategy:</a:t>
            </a:r>
            <a:endParaRPr sz="1600" dirty="0">
              <a:latin typeface="Franklin Gothic Book"/>
              <a:cs typeface="Franklin Gothic Book"/>
            </a:endParaRPr>
          </a:p>
          <a:p>
            <a:pPr>
              <a:lnSpc>
                <a:spcPct val="100000"/>
              </a:lnSpc>
              <a:spcBef>
                <a:spcPts val="10"/>
              </a:spcBef>
            </a:pPr>
            <a:endParaRPr sz="1400" dirty="0">
              <a:latin typeface="Franklin Gothic Book"/>
              <a:cs typeface="Franklin Gothic Book"/>
            </a:endParaRPr>
          </a:p>
          <a:p>
            <a:pPr marL="1104265" marR="5080" indent="-400050">
              <a:lnSpc>
                <a:spcPct val="100400"/>
              </a:lnSpc>
              <a:buFont typeface="Arial"/>
              <a:buChar char="•"/>
              <a:tabLst>
                <a:tab pos="1104265" algn="l"/>
                <a:tab pos="1104900" algn="l"/>
              </a:tabLst>
            </a:pPr>
            <a:r>
              <a:rPr sz="1600" spc="-10" dirty="0">
                <a:solidFill>
                  <a:srgbClr val="404040"/>
                </a:solidFill>
                <a:latin typeface="Franklin Gothic Book"/>
                <a:cs typeface="Franklin Gothic Book"/>
              </a:rPr>
              <a:t>Strategy </a:t>
            </a:r>
            <a:r>
              <a:rPr lang="en-US" sz="1600" spc="-5" dirty="0">
                <a:solidFill>
                  <a:srgbClr val="404040"/>
                </a:solidFill>
                <a:latin typeface="Franklin Gothic Book"/>
                <a:cs typeface="Franklin Gothic Book"/>
              </a:rPr>
              <a:t>needs to be</a:t>
            </a:r>
            <a:r>
              <a:rPr sz="1600" spc="-5" dirty="0">
                <a:solidFill>
                  <a:srgbClr val="404040"/>
                </a:solidFill>
                <a:latin typeface="Franklin Gothic Book"/>
                <a:cs typeface="Franklin Gothic Book"/>
              </a:rPr>
              <a:t> apparent and </a:t>
            </a:r>
            <a:r>
              <a:rPr sz="1600" spc="-10" dirty="0">
                <a:solidFill>
                  <a:srgbClr val="404040"/>
                </a:solidFill>
                <a:latin typeface="Franklin Gothic Book"/>
                <a:cs typeface="Franklin Gothic Book"/>
              </a:rPr>
              <a:t>formulaic</a:t>
            </a:r>
            <a:r>
              <a:rPr lang="en-US" sz="1600" spc="-10" dirty="0">
                <a:solidFill>
                  <a:srgbClr val="404040"/>
                </a:solidFill>
                <a:latin typeface="Franklin Gothic Book"/>
                <a:cs typeface="Franklin Gothic Book"/>
              </a:rPr>
              <a:t> in order</a:t>
            </a:r>
            <a:r>
              <a:rPr sz="1600" spc="-10" dirty="0">
                <a:solidFill>
                  <a:srgbClr val="404040"/>
                </a:solidFill>
                <a:latin typeface="Franklin Gothic Book"/>
                <a:cs typeface="Franklin Gothic Book"/>
              </a:rPr>
              <a:t> </a:t>
            </a:r>
            <a:r>
              <a:rPr sz="1600" spc="-15" dirty="0">
                <a:solidFill>
                  <a:srgbClr val="404040"/>
                </a:solidFill>
                <a:latin typeface="Franklin Gothic Book"/>
                <a:cs typeface="Franklin Gothic Book"/>
              </a:rPr>
              <a:t>to </a:t>
            </a:r>
            <a:r>
              <a:rPr sz="1600" spc="-5" dirty="0">
                <a:solidFill>
                  <a:srgbClr val="404040"/>
                </a:solidFill>
                <a:latin typeface="Franklin Gothic Book"/>
                <a:cs typeface="Franklin Gothic Book"/>
              </a:rPr>
              <a:t>obtain the financial goal. </a:t>
            </a:r>
            <a:endParaRPr lang="en-US" sz="1600" spc="-5" dirty="0">
              <a:solidFill>
                <a:srgbClr val="404040"/>
              </a:solidFill>
              <a:latin typeface="Franklin Gothic Book"/>
              <a:cs typeface="Franklin Gothic Book"/>
            </a:endParaRPr>
          </a:p>
          <a:p>
            <a:pPr marL="1104265" marR="5080" indent="-400050">
              <a:lnSpc>
                <a:spcPct val="100400"/>
              </a:lnSpc>
              <a:buFont typeface="Arial"/>
              <a:buChar char="•"/>
              <a:tabLst>
                <a:tab pos="1104265" algn="l"/>
                <a:tab pos="1104900" algn="l"/>
              </a:tabLst>
            </a:pPr>
            <a:r>
              <a:rPr sz="1600" spc="-10" dirty="0">
                <a:solidFill>
                  <a:srgbClr val="404040"/>
                </a:solidFill>
                <a:latin typeface="Franklin Gothic Book"/>
                <a:cs typeface="Franklin Gothic Book"/>
              </a:rPr>
              <a:t>Strategy </a:t>
            </a:r>
            <a:r>
              <a:rPr sz="1600" spc="-5" dirty="0">
                <a:solidFill>
                  <a:srgbClr val="404040"/>
                </a:solidFill>
                <a:latin typeface="Franklin Gothic Book"/>
                <a:cs typeface="Franklin Gothic Book"/>
              </a:rPr>
              <a:t>is not the </a:t>
            </a:r>
            <a:r>
              <a:rPr sz="1600" dirty="0">
                <a:solidFill>
                  <a:srgbClr val="404040"/>
                </a:solidFill>
                <a:latin typeface="Franklin Gothic Book"/>
                <a:cs typeface="Franklin Gothic Book"/>
              </a:rPr>
              <a:t>story or history of </a:t>
            </a:r>
            <a:r>
              <a:rPr sz="1600" spc="-5" dirty="0">
                <a:solidFill>
                  <a:srgbClr val="404040"/>
                </a:solidFill>
                <a:latin typeface="Franklin Gothic Book"/>
                <a:cs typeface="Franklin Gothic Book"/>
              </a:rPr>
              <a:t>the segment </a:t>
            </a:r>
            <a:r>
              <a:rPr sz="1600" dirty="0">
                <a:solidFill>
                  <a:srgbClr val="404040"/>
                </a:solidFill>
                <a:latin typeface="Franklin Gothic Book"/>
                <a:cs typeface="Franklin Gothic Book"/>
              </a:rPr>
              <a:t>or </a:t>
            </a:r>
            <a:r>
              <a:rPr lang="en-US" sz="1600" spc="-5" dirty="0">
                <a:solidFill>
                  <a:srgbClr val="404040"/>
                </a:solidFill>
                <a:latin typeface="Franklin Gothic Book"/>
                <a:cs typeface="Franklin Gothic Book"/>
              </a:rPr>
              <a:t>account but rather it</a:t>
            </a:r>
            <a:r>
              <a:rPr sz="1600" spc="-5" dirty="0">
                <a:solidFill>
                  <a:srgbClr val="404040"/>
                </a:solidFill>
                <a:latin typeface="Franklin Gothic Book"/>
                <a:cs typeface="Franklin Gothic Book"/>
              </a:rPr>
              <a:t> is the construct </a:t>
            </a:r>
            <a:r>
              <a:rPr sz="1600" dirty="0">
                <a:solidFill>
                  <a:srgbClr val="404040"/>
                </a:solidFill>
                <a:latin typeface="Franklin Gothic Book"/>
                <a:cs typeface="Franklin Gothic Book"/>
              </a:rPr>
              <a:t>of </a:t>
            </a:r>
            <a:r>
              <a:rPr sz="1600" spc="-10" dirty="0">
                <a:solidFill>
                  <a:srgbClr val="404040"/>
                </a:solidFill>
                <a:latin typeface="Franklin Gothic Book"/>
                <a:cs typeface="Franklin Gothic Book"/>
              </a:rPr>
              <a:t>how </a:t>
            </a:r>
            <a:r>
              <a:rPr sz="1600" spc="-5" dirty="0">
                <a:solidFill>
                  <a:srgbClr val="404040"/>
                </a:solidFill>
                <a:latin typeface="Franklin Gothic Book"/>
                <a:cs typeface="Franklin Gothic Book"/>
              </a:rPr>
              <a:t>the </a:t>
            </a:r>
            <a:r>
              <a:rPr sz="1600" spc="-10" dirty="0">
                <a:solidFill>
                  <a:srgbClr val="404040"/>
                </a:solidFill>
                <a:latin typeface="Franklin Gothic Book"/>
                <a:cs typeface="Franklin Gothic Book"/>
              </a:rPr>
              <a:t>teams expect achieve </a:t>
            </a:r>
            <a:r>
              <a:rPr sz="1600" spc="-5" dirty="0">
                <a:solidFill>
                  <a:srgbClr val="404040"/>
                </a:solidFill>
                <a:latin typeface="Franklin Gothic Book"/>
                <a:cs typeface="Franklin Gothic Book"/>
              </a:rPr>
              <a:t>the</a:t>
            </a:r>
            <a:r>
              <a:rPr sz="1600" spc="10" dirty="0">
                <a:solidFill>
                  <a:srgbClr val="404040"/>
                </a:solidFill>
                <a:latin typeface="Franklin Gothic Book"/>
                <a:cs typeface="Franklin Gothic Book"/>
              </a:rPr>
              <a:t> </a:t>
            </a:r>
            <a:r>
              <a:rPr sz="1600" spc="-5" dirty="0">
                <a:solidFill>
                  <a:srgbClr val="404040"/>
                </a:solidFill>
                <a:latin typeface="Franklin Gothic Book"/>
                <a:cs typeface="Franklin Gothic Book"/>
              </a:rPr>
              <a:t>goal.</a:t>
            </a:r>
            <a:endParaRPr sz="1600" dirty="0">
              <a:latin typeface="Franklin Gothic Book"/>
              <a:cs typeface="Franklin Gothic Book"/>
            </a:endParaRPr>
          </a:p>
        </p:txBody>
      </p:sp>
      <p:sp>
        <p:nvSpPr>
          <p:cNvPr id="11" name="object 11"/>
          <p:cNvSpPr txBox="1"/>
          <p:nvPr/>
        </p:nvSpPr>
        <p:spPr>
          <a:xfrm>
            <a:off x="839681" y="6343396"/>
            <a:ext cx="5522595" cy="1488440"/>
          </a:xfrm>
          <a:prstGeom prst="rect">
            <a:avLst/>
          </a:prstGeom>
        </p:spPr>
        <p:txBody>
          <a:bodyPr vert="horz" wrap="square" lIns="0" tIns="12700" rIns="0" bIns="0" rtlCol="0">
            <a:spAutoFit/>
          </a:bodyPr>
          <a:lstStyle/>
          <a:p>
            <a:pPr marL="412750" marR="5080" indent="-400050">
              <a:lnSpc>
                <a:spcPct val="100000"/>
              </a:lnSpc>
              <a:spcBef>
                <a:spcPts val="100"/>
              </a:spcBef>
              <a:buFont typeface="Arial"/>
              <a:buChar char="•"/>
              <a:tabLst>
                <a:tab pos="412115" algn="l"/>
                <a:tab pos="412750" algn="l"/>
                <a:tab pos="3952875" algn="l"/>
              </a:tabLst>
            </a:pPr>
            <a:r>
              <a:rPr sz="1600" dirty="0">
                <a:solidFill>
                  <a:srgbClr val="404040"/>
                </a:solidFill>
                <a:latin typeface="Franklin Gothic Book"/>
                <a:cs typeface="Franklin Gothic Book"/>
              </a:rPr>
              <a:t>Tactics are only an activity, not the goal</a:t>
            </a:r>
            <a:r>
              <a:rPr lang="en-US" sz="1600" dirty="0">
                <a:solidFill>
                  <a:srgbClr val="404040"/>
                </a:solidFill>
                <a:latin typeface="Franklin Gothic Book"/>
                <a:cs typeface="Franklin Gothic Book"/>
              </a:rPr>
              <a:t>. </a:t>
            </a:r>
            <a:r>
              <a:rPr sz="1600" dirty="0">
                <a:solidFill>
                  <a:srgbClr val="404040"/>
                </a:solidFill>
                <a:latin typeface="Franklin Gothic Book"/>
                <a:cs typeface="Franklin Gothic Book"/>
              </a:rPr>
              <a:t>If teams complete  the tactics and there is no change in the financial  performance, then the chosen tactics didn’t work.  Completion of tactics or activities is not performance.  Revenue outcomes </a:t>
            </a:r>
            <a:r>
              <a:rPr sz="1600" b="1" u="sng" dirty="0">
                <a:solidFill>
                  <a:srgbClr val="404040"/>
                </a:solidFill>
                <a:latin typeface="Franklin Gothic Book"/>
                <a:cs typeface="Franklin Gothic Book"/>
              </a:rPr>
              <a:t>as a result of strategy</a:t>
            </a:r>
            <a:r>
              <a:rPr sz="1600" dirty="0">
                <a:solidFill>
                  <a:srgbClr val="404040"/>
                </a:solidFill>
                <a:latin typeface="Franklin Gothic Book"/>
                <a:cs typeface="Franklin Gothic Book"/>
              </a:rPr>
              <a:t> indicates revenue  performance.</a:t>
            </a:r>
            <a:r>
              <a:rPr lang="en-US" sz="1600" dirty="0">
                <a:solidFill>
                  <a:srgbClr val="404040"/>
                </a:solidFill>
                <a:latin typeface="Franklin Gothic Book"/>
                <a:cs typeface="Franklin Gothic Book"/>
              </a:rPr>
              <a:t> </a:t>
            </a:r>
            <a:endParaRPr sz="1600" dirty="0">
              <a:latin typeface="Franklin Gothic Book"/>
              <a:cs typeface="Franklin Gothic Book"/>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8090" y="120395"/>
            <a:ext cx="4185285" cy="330200"/>
          </a:xfrm>
          <a:prstGeom prst="rect">
            <a:avLst/>
          </a:prstGeom>
        </p:spPr>
        <p:txBody>
          <a:bodyPr vert="horz" wrap="square" lIns="0" tIns="12700" rIns="0" bIns="0" rtlCol="0">
            <a:spAutoFit/>
          </a:bodyPr>
          <a:lstStyle/>
          <a:p>
            <a:pPr marL="12700">
              <a:lnSpc>
                <a:spcPct val="100000"/>
              </a:lnSpc>
              <a:spcBef>
                <a:spcPts val="100"/>
              </a:spcBef>
            </a:pPr>
            <a:r>
              <a:rPr dirty="0"/>
              <a:t>Linking Strategy to Financial Outcomes</a:t>
            </a:r>
          </a:p>
        </p:txBody>
      </p:sp>
      <p:sp>
        <p:nvSpPr>
          <p:cNvPr id="3" name="object 3"/>
          <p:cNvSpPr txBox="1"/>
          <p:nvPr/>
        </p:nvSpPr>
        <p:spPr>
          <a:xfrm>
            <a:off x="2183737" y="8742680"/>
            <a:ext cx="2938780" cy="151323"/>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898989"/>
                </a:solidFill>
                <a:latin typeface="Franklin Gothic Book"/>
                <a:cs typeface="Franklin Gothic Book"/>
              </a:rPr>
              <a:t>Effective Planning for Top-Line Growth </a:t>
            </a:r>
            <a:r>
              <a:rPr sz="900" dirty="0">
                <a:solidFill>
                  <a:srgbClr val="898989"/>
                </a:solidFill>
                <a:latin typeface="Franklin Gothic Book"/>
                <a:cs typeface="Franklin Gothic Book"/>
              </a:rPr>
              <a:t>in </a:t>
            </a:r>
            <a:r>
              <a:rPr sz="900" spc="-5" dirty="0">
                <a:solidFill>
                  <a:srgbClr val="898989"/>
                </a:solidFill>
                <a:latin typeface="Franklin Gothic Book"/>
                <a:cs typeface="Franklin Gothic Book"/>
              </a:rPr>
              <a:t>Times </a:t>
            </a:r>
            <a:r>
              <a:rPr sz="900" dirty="0">
                <a:solidFill>
                  <a:srgbClr val="898989"/>
                </a:solidFill>
                <a:latin typeface="Franklin Gothic Book"/>
                <a:cs typeface="Franklin Gothic Book"/>
              </a:rPr>
              <a:t>of Disruption</a:t>
            </a:r>
            <a:endParaRPr sz="900" dirty="0">
              <a:latin typeface="Franklin Gothic Book"/>
              <a:cs typeface="Franklin Gothic Book"/>
            </a:endParaRPr>
          </a:p>
        </p:txBody>
      </p:sp>
      <p:sp>
        <p:nvSpPr>
          <p:cNvPr id="4" name="object 4"/>
          <p:cNvSpPr txBox="1"/>
          <p:nvPr/>
        </p:nvSpPr>
        <p:spPr>
          <a:xfrm>
            <a:off x="6286498" y="8730488"/>
            <a:ext cx="13970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898989"/>
                </a:solidFill>
                <a:latin typeface="Calibri"/>
                <a:cs typeface="Calibri"/>
              </a:rPr>
              <a:t>12</a:t>
            </a:r>
            <a:endParaRPr sz="900">
              <a:latin typeface="Calibri"/>
              <a:cs typeface="Calibri"/>
            </a:endParaRPr>
          </a:p>
        </p:txBody>
      </p:sp>
      <p:sp>
        <p:nvSpPr>
          <p:cNvPr id="5" name="object 5"/>
          <p:cNvSpPr/>
          <p:nvPr/>
        </p:nvSpPr>
        <p:spPr>
          <a:xfrm>
            <a:off x="209654" y="593551"/>
            <a:ext cx="2620010" cy="0"/>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6" name="object 6"/>
          <p:cNvSpPr txBox="1"/>
          <p:nvPr/>
        </p:nvSpPr>
        <p:spPr>
          <a:xfrm>
            <a:off x="455774" y="738123"/>
            <a:ext cx="6249826" cy="2900794"/>
          </a:xfrm>
          <a:prstGeom prst="rect">
            <a:avLst/>
          </a:prstGeom>
        </p:spPr>
        <p:txBody>
          <a:bodyPr vert="horz" wrap="square" lIns="0" tIns="12700" rIns="0" bIns="0" rtlCol="0">
            <a:spAutoFit/>
          </a:bodyPr>
          <a:lstStyle/>
          <a:p>
            <a:pPr marL="298450" indent="-285750">
              <a:lnSpc>
                <a:spcPct val="100000"/>
              </a:lnSpc>
              <a:spcBef>
                <a:spcPts val="100"/>
              </a:spcBef>
              <a:buFont typeface="Arial"/>
              <a:buChar char="•"/>
              <a:tabLst>
                <a:tab pos="297815" algn="l"/>
                <a:tab pos="298450" algn="l"/>
              </a:tabLst>
            </a:pPr>
            <a:r>
              <a:rPr sz="1600" spc="-5" dirty="0">
                <a:solidFill>
                  <a:srgbClr val="404040"/>
                </a:solidFill>
                <a:latin typeface="Franklin Gothic Book"/>
                <a:cs typeface="Franklin Gothic Book"/>
              </a:rPr>
              <a:t>Alignment vs. </a:t>
            </a:r>
            <a:r>
              <a:rPr sz="1600" spc="-20" dirty="0">
                <a:solidFill>
                  <a:srgbClr val="404040"/>
                </a:solidFill>
                <a:latin typeface="Franklin Gothic Book"/>
                <a:cs typeface="Franklin Gothic Book"/>
              </a:rPr>
              <a:t>SMART. </a:t>
            </a:r>
            <a:r>
              <a:rPr lang="en-US" sz="1600" spc="-20" dirty="0">
                <a:solidFill>
                  <a:srgbClr val="404040"/>
                </a:solidFill>
                <a:latin typeface="Franklin Gothic Book"/>
                <a:cs typeface="Franklin Gothic Book"/>
              </a:rPr>
              <a:t> </a:t>
            </a:r>
            <a:r>
              <a:rPr lang="en-US" sz="1600" spc="-5" dirty="0">
                <a:solidFill>
                  <a:srgbClr val="404040"/>
                </a:solidFill>
                <a:latin typeface="Franklin Gothic Book"/>
                <a:cs typeface="Franklin Gothic Book"/>
              </a:rPr>
              <a:t>Impact vs. Activity.</a:t>
            </a:r>
            <a:endParaRPr sz="1600" dirty="0">
              <a:latin typeface="Franklin Gothic Book"/>
              <a:cs typeface="Franklin Gothic Book"/>
            </a:endParaRPr>
          </a:p>
          <a:p>
            <a:pPr marL="12700" marR="24130">
              <a:lnSpc>
                <a:spcPct val="99600"/>
              </a:lnSpc>
              <a:spcBef>
                <a:spcPts val="1285"/>
              </a:spcBef>
              <a:tabLst>
                <a:tab pos="1499870" algn="l"/>
              </a:tabLst>
            </a:pPr>
            <a:r>
              <a:rPr sz="1500" dirty="0">
                <a:solidFill>
                  <a:srgbClr val="404040"/>
                </a:solidFill>
                <a:latin typeface="Franklin Gothic Book"/>
                <a:cs typeface="Franklin Gothic Book"/>
              </a:rPr>
              <a:t>SMART goals came into the business vernacular of planning in 1981 and </a:t>
            </a:r>
            <a:r>
              <a:rPr lang="en-US" sz="1500" dirty="0">
                <a:solidFill>
                  <a:srgbClr val="404040"/>
                </a:solidFill>
                <a:latin typeface="Franklin Gothic Book"/>
                <a:cs typeface="Franklin Gothic Book"/>
              </a:rPr>
              <a:t>are </a:t>
            </a:r>
            <a:r>
              <a:rPr sz="1500" dirty="0">
                <a:solidFill>
                  <a:srgbClr val="404040"/>
                </a:solidFill>
                <a:latin typeface="Franklin Gothic Book"/>
                <a:cs typeface="Franklin Gothic Book"/>
              </a:rPr>
              <a:t>still widely used today.</a:t>
            </a:r>
            <a:r>
              <a:rPr lang="en-US" sz="1500" dirty="0">
                <a:solidFill>
                  <a:srgbClr val="404040"/>
                </a:solidFill>
                <a:latin typeface="Franklin Gothic Book"/>
                <a:cs typeface="Franklin Gothic Book"/>
              </a:rPr>
              <a:t> </a:t>
            </a:r>
            <a:r>
              <a:rPr sz="1500" dirty="0">
                <a:solidFill>
                  <a:srgbClr val="404040"/>
                </a:solidFill>
                <a:latin typeface="Franklin Gothic Book"/>
                <a:cs typeface="Franklin Gothic Book"/>
              </a:rPr>
              <a:t>In more recent </a:t>
            </a:r>
            <a:r>
              <a:rPr lang="en-US" sz="1500" dirty="0">
                <a:solidFill>
                  <a:srgbClr val="404040"/>
                </a:solidFill>
                <a:latin typeface="Franklin Gothic Book"/>
                <a:cs typeface="Franklin Gothic Book"/>
              </a:rPr>
              <a:t>studies</a:t>
            </a:r>
            <a:r>
              <a:rPr sz="1500" dirty="0">
                <a:solidFill>
                  <a:srgbClr val="404040"/>
                </a:solidFill>
                <a:latin typeface="Franklin Gothic Book"/>
                <a:cs typeface="Franklin Gothic Book"/>
              </a:rPr>
              <a:t>, SMART goals don’t garner the  financial performance that many once thought they would. Many goals have  been tirelessly built on a smart platform</a:t>
            </a:r>
            <a:r>
              <a:rPr lang="en-US" sz="1500" dirty="0">
                <a:solidFill>
                  <a:srgbClr val="404040"/>
                </a:solidFill>
                <a:latin typeface="Franklin Gothic Book"/>
                <a:cs typeface="Franklin Gothic Book"/>
              </a:rPr>
              <a:t>,</a:t>
            </a:r>
            <a:r>
              <a:rPr sz="1500" dirty="0">
                <a:solidFill>
                  <a:srgbClr val="404040"/>
                </a:solidFill>
                <a:latin typeface="Franklin Gothic Book"/>
                <a:cs typeface="Franklin Gothic Book"/>
              </a:rPr>
              <a:t> </a:t>
            </a:r>
            <a:r>
              <a:rPr lang="en-US" sz="1500" dirty="0">
                <a:solidFill>
                  <a:srgbClr val="404040"/>
                </a:solidFill>
                <a:latin typeface="Franklin Gothic Book"/>
                <a:cs typeface="Franklin Gothic Book"/>
              </a:rPr>
              <a:t>y</a:t>
            </a:r>
            <a:r>
              <a:rPr sz="1500" dirty="0">
                <a:solidFill>
                  <a:srgbClr val="404040"/>
                </a:solidFill>
                <a:latin typeface="Franklin Gothic Book"/>
                <a:cs typeface="Franklin Gothic Book"/>
              </a:rPr>
              <a:t>et they were not aligned to  revenue achievement or even performance outcomes.</a:t>
            </a:r>
            <a:endParaRPr sz="1500" dirty="0">
              <a:latin typeface="Franklin Gothic Book"/>
              <a:cs typeface="Franklin Gothic Book"/>
            </a:endParaRPr>
          </a:p>
          <a:p>
            <a:pPr marL="12700" marR="5080">
              <a:lnSpc>
                <a:spcPct val="100000"/>
              </a:lnSpc>
              <a:spcBef>
                <a:spcPts val="1320"/>
              </a:spcBef>
            </a:pPr>
            <a:r>
              <a:rPr sz="1500" dirty="0">
                <a:solidFill>
                  <a:srgbClr val="404040"/>
                </a:solidFill>
                <a:latin typeface="Franklin Gothic Book"/>
                <a:cs typeface="Franklin Gothic Book"/>
              </a:rPr>
              <a:t>Teams have felt safe guarded by planning using the SMART format. All too often if goals aren’t aligned to the overall financial vision of performance, they can be very quickly become an exercise of operational structure. Instead</a:t>
            </a:r>
            <a:r>
              <a:rPr lang="en-US" sz="1500" dirty="0">
                <a:solidFill>
                  <a:srgbClr val="404040"/>
                </a:solidFill>
                <a:latin typeface="Franklin Gothic Book"/>
                <a:cs typeface="Franklin Gothic Book"/>
              </a:rPr>
              <a:t>,</a:t>
            </a:r>
            <a:r>
              <a:rPr sz="1500" dirty="0">
                <a:solidFill>
                  <a:srgbClr val="404040"/>
                </a:solidFill>
                <a:latin typeface="Franklin Gothic Book"/>
                <a:cs typeface="Franklin Gothic Book"/>
              </a:rPr>
              <a:t>  teams should be building a formulaic strategy supported by tactics that are  focused on a true financial outcome.</a:t>
            </a:r>
            <a:endParaRPr sz="1500" dirty="0">
              <a:latin typeface="Franklin Gothic Book"/>
              <a:cs typeface="Franklin Gothic Book"/>
            </a:endParaRPr>
          </a:p>
        </p:txBody>
      </p:sp>
      <p:sp>
        <p:nvSpPr>
          <p:cNvPr id="7" name="object 7"/>
          <p:cNvSpPr txBox="1"/>
          <p:nvPr/>
        </p:nvSpPr>
        <p:spPr>
          <a:xfrm>
            <a:off x="455774" y="7024116"/>
            <a:ext cx="5806440" cy="694934"/>
          </a:xfrm>
          <a:prstGeom prst="rect">
            <a:avLst/>
          </a:prstGeom>
        </p:spPr>
        <p:txBody>
          <a:bodyPr vert="horz" wrap="square" lIns="0" tIns="9525" rIns="0" bIns="0" rtlCol="0">
            <a:spAutoFit/>
          </a:bodyPr>
          <a:lstStyle/>
          <a:p>
            <a:pPr marL="12700" marR="5080">
              <a:lnSpc>
                <a:spcPct val="101400"/>
              </a:lnSpc>
              <a:spcBef>
                <a:spcPts val="75"/>
              </a:spcBef>
            </a:pPr>
            <a:r>
              <a:rPr sz="1500" dirty="0">
                <a:solidFill>
                  <a:srgbClr val="404040"/>
                </a:solidFill>
                <a:latin typeface="Franklin Gothic Book"/>
                <a:cs typeface="Franklin Gothic Book"/>
              </a:rPr>
              <a:t>What is also disconcerting is that strategies are many times completely </a:t>
            </a:r>
            <a:r>
              <a:rPr lang="en-US" sz="1500" dirty="0">
                <a:solidFill>
                  <a:srgbClr val="404040"/>
                </a:solidFill>
                <a:latin typeface="Franklin Gothic Book"/>
                <a:cs typeface="Franklin Gothic Book"/>
              </a:rPr>
              <a:t>disregarded</a:t>
            </a:r>
            <a:r>
              <a:rPr sz="1500" dirty="0">
                <a:solidFill>
                  <a:srgbClr val="404040"/>
                </a:solidFill>
                <a:latin typeface="Franklin Gothic Book"/>
                <a:cs typeface="Franklin Gothic Book"/>
              </a:rPr>
              <a:t>, as leaders are overly focused on activity vs. the impact of the work that</a:t>
            </a:r>
            <a:r>
              <a:rPr lang="en-US" sz="1500" dirty="0">
                <a:solidFill>
                  <a:srgbClr val="404040"/>
                </a:solidFill>
                <a:latin typeface="Franklin Gothic Book"/>
                <a:cs typeface="Franklin Gothic Book"/>
              </a:rPr>
              <a:t> </a:t>
            </a:r>
            <a:r>
              <a:rPr sz="1500" dirty="0">
                <a:solidFill>
                  <a:srgbClr val="404040"/>
                </a:solidFill>
                <a:latin typeface="Franklin Gothic Book"/>
                <a:cs typeface="Franklin Gothic Book"/>
              </a:rPr>
              <a:t>is being done.</a:t>
            </a:r>
            <a:endParaRPr sz="1500" dirty="0">
              <a:latin typeface="Franklin Gothic Book"/>
              <a:cs typeface="Franklin Gothic Book"/>
            </a:endParaRPr>
          </a:p>
        </p:txBody>
      </p:sp>
      <p:sp>
        <p:nvSpPr>
          <p:cNvPr id="8" name="object 8"/>
          <p:cNvSpPr/>
          <p:nvPr/>
        </p:nvSpPr>
        <p:spPr>
          <a:xfrm>
            <a:off x="0" y="3978183"/>
            <a:ext cx="6857997" cy="270178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6854825" cy="9144000"/>
          </a:xfrm>
          <a:custGeom>
            <a:avLst/>
            <a:gdLst/>
            <a:ahLst/>
            <a:cxnLst/>
            <a:rect l="l" t="t" r="r" b="b"/>
            <a:pathLst>
              <a:path w="6854825" h="9144000">
                <a:moveTo>
                  <a:pt x="0" y="9144000"/>
                </a:moveTo>
                <a:lnTo>
                  <a:pt x="0" y="0"/>
                </a:lnTo>
                <a:lnTo>
                  <a:pt x="6854426" y="0"/>
                </a:lnTo>
                <a:lnTo>
                  <a:pt x="6854426" y="9143999"/>
                </a:lnTo>
                <a:lnTo>
                  <a:pt x="0" y="9144000"/>
                </a:lnTo>
                <a:close/>
              </a:path>
            </a:pathLst>
          </a:custGeom>
          <a:solidFill>
            <a:srgbClr val="555759"/>
          </a:solidFill>
        </p:spPr>
        <p:txBody>
          <a:bodyPr wrap="square" lIns="0" tIns="0" rIns="0" bIns="0" rtlCol="0"/>
          <a:lstStyle/>
          <a:p>
            <a:endParaRPr/>
          </a:p>
        </p:txBody>
      </p:sp>
      <p:sp>
        <p:nvSpPr>
          <p:cNvPr id="3" name="object 3"/>
          <p:cNvSpPr/>
          <p:nvPr/>
        </p:nvSpPr>
        <p:spPr>
          <a:xfrm>
            <a:off x="0" y="0"/>
            <a:ext cx="6854825" cy="9144000"/>
          </a:xfrm>
          <a:custGeom>
            <a:avLst/>
            <a:gdLst/>
            <a:ahLst/>
            <a:cxnLst/>
            <a:rect l="l" t="t" r="r" b="b"/>
            <a:pathLst>
              <a:path w="6854825" h="9144000">
                <a:moveTo>
                  <a:pt x="0" y="0"/>
                </a:moveTo>
                <a:lnTo>
                  <a:pt x="6854426" y="0"/>
                </a:lnTo>
                <a:lnTo>
                  <a:pt x="6854426" y="9143999"/>
                </a:lnTo>
              </a:path>
            </a:pathLst>
          </a:custGeom>
          <a:ln w="12700">
            <a:solidFill>
              <a:srgbClr val="3C3E8F"/>
            </a:solidFill>
          </a:ln>
        </p:spPr>
        <p:txBody>
          <a:bodyPr wrap="square" lIns="0" tIns="0" rIns="0" bIns="0" rtlCol="0"/>
          <a:lstStyle/>
          <a:p>
            <a:endParaRPr/>
          </a:p>
        </p:txBody>
      </p:sp>
      <p:sp>
        <p:nvSpPr>
          <p:cNvPr id="4" name="object 4"/>
          <p:cNvSpPr/>
          <p:nvPr/>
        </p:nvSpPr>
        <p:spPr>
          <a:xfrm>
            <a:off x="334209" y="7574061"/>
            <a:ext cx="1219200" cy="1569938"/>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56068" y="-2743200"/>
            <a:ext cx="6408420" cy="13086080"/>
          </a:xfrm>
          <a:prstGeom prst="rect">
            <a:avLst/>
          </a:prstGeom>
        </p:spPr>
        <p:txBody>
          <a:bodyPr vert="horz" wrap="square" lIns="0" tIns="12700" rIns="0" bIns="0" rtlCol="0">
            <a:spAutoFit/>
          </a:bodyPr>
          <a:lstStyle/>
          <a:p>
            <a:pPr marL="12700">
              <a:lnSpc>
                <a:spcPct val="100000"/>
              </a:lnSpc>
              <a:spcBef>
                <a:spcPts val="100"/>
              </a:spcBef>
            </a:pPr>
            <a:r>
              <a:rPr sz="85700" dirty="0">
                <a:solidFill>
                  <a:srgbClr val="D51067"/>
                </a:solidFill>
                <a:latin typeface="Franklin Gothic Medium"/>
                <a:cs typeface="Franklin Gothic Medium"/>
              </a:rPr>
              <a:t>4</a:t>
            </a:r>
            <a:endParaRPr sz="85700" dirty="0">
              <a:latin typeface="Franklin Gothic Medium"/>
              <a:cs typeface="Franklin Gothic Medium"/>
            </a:endParaRPr>
          </a:p>
        </p:txBody>
      </p:sp>
      <p:sp>
        <p:nvSpPr>
          <p:cNvPr id="6" name="object 6"/>
          <p:cNvSpPr txBox="1"/>
          <p:nvPr/>
        </p:nvSpPr>
        <p:spPr>
          <a:xfrm>
            <a:off x="2218927" y="8581135"/>
            <a:ext cx="2412365" cy="151323"/>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2F2F2"/>
                </a:solidFill>
                <a:latin typeface="Franklin Gothic Book"/>
                <a:cs typeface="Franklin Gothic Book"/>
              </a:rPr>
              <a:t>Effective Planning for Top-Line Growth </a:t>
            </a:r>
            <a:r>
              <a:rPr sz="900" dirty="0">
                <a:solidFill>
                  <a:srgbClr val="F2F2F2"/>
                </a:solidFill>
                <a:latin typeface="Franklin Gothic Book"/>
                <a:cs typeface="Franklin Gothic Book"/>
              </a:rPr>
              <a:t>in</a:t>
            </a:r>
            <a:r>
              <a:rPr lang="en-US" sz="900" dirty="0">
                <a:solidFill>
                  <a:srgbClr val="F2F2F2"/>
                </a:solidFill>
                <a:latin typeface="Franklin Gothic Book"/>
                <a:cs typeface="Franklin Gothic Book"/>
              </a:rPr>
              <a:t> Times of</a:t>
            </a:r>
            <a:endParaRPr sz="900" dirty="0">
              <a:latin typeface="Franklin Gothic Book"/>
              <a:cs typeface="Franklin Gothic Book"/>
            </a:endParaRPr>
          </a:p>
        </p:txBody>
      </p:sp>
      <p:sp>
        <p:nvSpPr>
          <p:cNvPr id="7" name="object 7"/>
          <p:cNvSpPr txBox="1"/>
          <p:nvPr/>
        </p:nvSpPr>
        <p:spPr>
          <a:xfrm>
            <a:off x="3164250" y="8721343"/>
            <a:ext cx="52260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2F2F2"/>
                </a:solidFill>
                <a:latin typeface="Franklin Gothic Book"/>
                <a:cs typeface="Franklin Gothic Book"/>
              </a:rPr>
              <a:t>Disruption</a:t>
            </a:r>
            <a:endParaRPr sz="900">
              <a:latin typeface="Franklin Gothic Book"/>
              <a:cs typeface="Franklin Gothic Book"/>
            </a:endParaRPr>
          </a:p>
        </p:txBody>
      </p:sp>
      <p:sp>
        <p:nvSpPr>
          <p:cNvPr id="8" name="object 8"/>
          <p:cNvSpPr txBox="1"/>
          <p:nvPr/>
        </p:nvSpPr>
        <p:spPr>
          <a:xfrm>
            <a:off x="6166802" y="8623807"/>
            <a:ext cx="13970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FFFFFF"/>
                </a:solidFill>
                <a:latin typeface="Calibri"/>
                <a:cs typeface="Calibri"/>
              </a:rPr>
              <a:t>13</a:t>
            </a:r>
            <a:endParaRPr sz="900">
              <a:latin typeface="Calibri"/>
              <a:cs typeface="Calibri"/>
            </a:endParaRPr>
          </a:p>
        </p:txBody>
      </p:sp>
      <p:sp>
        <p:nvSpPr>
          <p:cNvPr id="9" name="object 9"/>
          <p:cNvSpPr txBox="1"/>
          <p:nvPr/>
        </p:nvSpPr>
        <p:spPr>
          <a:xfrm>
            <a:off x="3670557" y="5462523"/>
            <a:ext cx="2876550" cy="1736373"/>
          </a:xfrm>
          <a:prstGeom prst="rect">
            <a:avLst/>
          </a:prstGeom>
        </p:spPr>
        <p:txBody>
          <a:bodyPr vert="horz" wrap="square" lIns="0" tIns="12700" rIns="0" bIns="0" rtlCol="0">
            <a:spAutoFit/>
          </a:bodyPr>
          <a:lstStyle/>
          <a:p>
            <a:pPr marL="12700">
              <a:lnSpc>
                <a:spcPct val="100000"/>
              </a:lnSpc>
              <a:spcBef>
                <a:spcPts val="100"/>
              </a:spcBef>
            </a:pPr>
            <a:r>
              <a:rPr sz="2800" i="1" dirty="0">
                <a:solidFill>
                  <a:srgbClr val="FFFFFF"/>
                </a:solidFill>
                <a:latin typeface="Franklin Gothic Book Italic"/>
                <a:cs typeface="Franklin Gothic Book Italic"/>
              </a:rPr>
              <a:t>10 Critical Areas  to</a:t>
            </a:r>
            <a:r>
              <a:rPr lang="en-US" sz="2800" i="1" dirty="0">
                <a:solidFill>
                  <a:srgbClr val="FFFFFF"/>
                </a:solidFill>
                <a:latin typeface="Franklin Gothic Book Italic"/>
                <a:cs typeface="Franklin Gothic Book Italic"/>
              </a:rPr>
              <a:t> Successful Top-Line Revenue Budgeting</a:t>
            </a:r>
            <a:endParaRPr sz="2800" dirty="0">
              <a:latin typeface="Franklin Gothic Book Italic"/>
              <a:cs typeface="Franklin Gothic Book Italic"/>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162221" y="8742680"/>
            <a:ext cx="2938780" cy="151323"/>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898989"/>
                </a:solidFill>
                <a:latin typeface="Franklin Gothic Book"/>
                <a:cs typeface="Franklin Gothic Book"/>
              </a:rPr>
              <a:t>Effective Planning for Top-Line Growth in Times of Disruption</a:t>
            </a:r>
            <a:endParaRPr sz="900" dirty="0">
              <a:latin typeface="Franklin Gothic Book"/>
              <a:cs typeface="Franklin Gothic Book"/>
            </a:endParaRPr>
          </a:p>
        </p:txBody>
      </p:sp>
      <p:sp>
        <p:nvSpPr>
          <p:cNvPr id="3" name="object 3"/>
          <p:cNvSpPr txBox="1"/>
          <p:nvPr/>
        </p:nvSpPr>
        <p:spPr>
          <a:xfrm>
            <a:off x="6286498" y="8730488"/>
            <a:ext cx="13970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898989"/>
                </a:solidFill>
                <a:latin typeface="Calibri"/>
                <a:cs typeface="Calibri"/>
              </a:rPr>
              <a:t>14</a:t>
            </a:r>
            <a:endParaRPr sz="900">
              <a:latin typeface="Calibri"/>
              <a:cs typeface="Calibri"/>
            </a:endParaRPr>
          </a:p>
        </p:txBody>
      </p:sp>
      <p:sp>
        <p:nvSpPr>
          <p:cNvPr id="4" name="object 4"/>
          <p:cNvSpPr txBox="1">
            <a:spLocks noGrp="1"/>
          </p:cNvSpPr>
          <p:nvPr>
            <p:ph type="title"/>
          </p:nvPr>
        </p:nvSpPr>
        <p:spPr>
          <a:xfrm>
            <a:off x="175258" y="41735"/>
            <a:ext cx="6682742" cy="320601"/>
          </a:xfrm>
          <a:prstGeom prst="rect">
            <a:avLst/>
          </a:prstGeom>
        </p:spPr>
        <p:txBody>
          <a:bodyPr vert="horz" wrap="square" lIns="0" tIns="12700" rIns="0" bIns="0" rtlCol="0">
            <a:spAutoFit/>
          </a:bodyPr>
          <a:lstStyle/>
          <a:p>
            <a:pPr marL="12700">
              <a:lnSpc>
                <a:spcPct val="100000"/>
              </a:lnSpc>
              <a:spcBef>
                <a:spcPts val="100"/>
              </a:spcBef>
            </a:pPr>
            <a:r>
              <a:rPr dirty="0"/>
              <a:t>10 Critical Areas to a Successful Top-Line Revenue Budget</a:t>
            </a:r>
          </a:p>
        </p:txBody>
      </p:sp>
      <p:sp>
        <p:nvSpPr>
          <p:cNvPr id="5" name="object 5"/>
          <p:cNvSpPr/>
          <p:nvPr/>
        </p:nvSpPr>
        <p:spPr>
          <a:xfrm>
            <a:off x="175258" y="533400"/>
            <a:ext cx="2620010" cy="0"/>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6" name="object 6"/>
          <p:cNvSpPr txBox="1"/>
          <p:nvPr/>
        </p:nvSpPr>
        <p:spPr>
          <a:xfrm>
            <a:off x="303530" y="665011"/>
            <a:ext cx="6250939" cy="7847982"/>
          </a:xfrm>
          <a:prstGeom prst="rect">
            <a:avLst/>
          </a:prstGeom>
        </p:spPr>
        <p:txBody>
          <a:bodyPr vert="horz" wrap="square" lIns="0" tIns="12700" rIns="0" bIns="0" rtlCol="0">
            <a:spAutoFit/>
          </a:bodyPr>
          <a:lstStyle/>
          <a:p>
            <a:pPr marL="12700">
              <a:lnSpc>
                <a:spcPct val="100000"/>
              </a:lnSpc>
              <a:spcBef>
                <a:spcPts val="100"/>
              </a:spcBef>
            </a:pPr>
            <a:r>
              <a:rPr sz="1400" i="1" spc="-5" dirty="0">
                <a:solidFill>
                  <a:srgbClr val="404040"/>
                </a:solidFill>
                <a:latin typeface="Franklin Gothic Book Italic"/>
                <a:cs typeface="Franklin Gothic Book Italic"/>
              </a:rPr>
              <a:t>Overall look </a:t>
            </a:r>
            <a:r>
              <a:rPr sz="1400" i="1" dirty="0">
                <a:solidFill>
                  <a:srgbClr val="404040"/>
                </a:solidFill>
                <a:latin typeface="Franklin Gothic Book Italic"/>
                <a:cs typeface="Franklin Gothic Book Italic"/>
              </a:rPr>
              <a:t>at </a:t>
            </a:r>
            <a:r>
              <a:rPr sz="1400" i="1" spc="-10" dirty="0">
                <a:solidFill>
                  <a:srgbClr val="404040"/>
                </a:solidFill>
                <a:latin typeface="Franklin Gothic Book Italic"/>
                <a:cs typeface="Franklin Gothic Book Italic"/>
              </a:rPr>
              <a:t>top-line</a:t>
            </a:r>
            <a:r>
              <a:rPr sz="1400" i="1" spc="-5" dirty="0">
                <a:solidFill>
                  <a:srgbClr val="404040"/>
                </a:solidFill>
                <a:latin typeface="Franklin Gothic Book Italic"/>
                <a:cs typeface="Franklin Gothic Book Italic"/>
              </a:rPr>
              <a:t> </a:t>
            </a:r>
            <a:r>
              <a:rPr sz="1400" i="1" spc="-10" dirty="0">
                <a:solidFill>
                  <a:srgbClr val="404040"/>
                </a:solidFill>
                <a:latin typeface="Franklin Gothic Book Italic"/>
                <a:cs typeface="Franklin Gothic Book Italic"/>
              </a:rPr>
              <a:t>revenue:</a:t>
            </a:r>
            <a:endParaRPr sz="1400" dirty="0">
              <a:latin typeface="Franklin Gothic Book Italic"/>
              <a:cs typeface="Franklin Gothic Book Italic"/>
            </a:endParaRPr>
          </a:p>
          <a:p>
            <a:pPr marL="354965" marR="251460" indent="-342900">
              <a:lnSpc>
                <a:spcPct val="98600"/>
              </a:lnSpc>
              <a:spcBef>
                <a:spcPts val="1440"/>
              </a:spcBef>
              <a:buAutoNum type="arabicPeriod"/>
              <a:tabLst>
                <a:tab pos="354965" algn="l"/>
                <a:tab pos="355600" algn="l"/>
              </a:tabLst>
            </a:pPr>
            <a:r>
              <a:rPr sz="1400" dirty="0">
                <a:solidFill>
                  <a:srgbClr val="404040"/>
                </a:solidFill>
                <a:latin typeface="Franklin Gothic Book"/>
                <a:cs typeface="Franklin Gothic Book"/>
              </a:rPr>
              <a:t>In </a:t>
            </a:r>
            <a:r>
              <a:rPr sz="1400" spc="-25" dirty="0">
                <a:solidFill>
                  <a:srgbClr val="404040"/>
                </a:solidFill>
                <a:latin typeface="Franklin Gothic Book"/>
                <a:cs typeface="Franklin Gothic Book"/>
              </a:rPr>
              <a:t>key </a:t>
            </a:r>
            <a:r>
              <a:rPr sz="1400" spc="-5" dirty="0">
                <a:solidFill>
                  <a:srgbClr val="404040"/>
                </a:solidFill>
                <a:latin typeface="Franklin Gothic Book"/>
                <a:cs typeface="Franklin Gothic Book"/>
              </a:rPr>
              <a:t>segments</a:t>
            </a:r>
            <a:r>
              <a:rPr lang="en-US" sz="1400" spc="-5" dirty="0">
                <a:solidFill>
                  <a:srgbClr val="404040"/>
                </a:solidFill>
                <a:latin typeface="Franklin Gothic Book"/>
                <a:cs typeface="Franklin Gothic Book"/>
              </a:rPr>
              <a:t>,</a:t>
            </a:r>
            <a:r>
              <a:rPr sz="1400" spc="-5" dirty="0">
                <a:solidFill>
                  <a:srgbClr val="404040"/>
                </a:solidFill>
                <a:latin typeface="Franklin Gothic Book"/>
                <a:cs typeface="Franklin Gothic Book"/>
              </a:rPr>
              <a:t> ask </a:t>
            </a:r>
            <a:r>
              <a:rPr sz="1400" spc="-15" dirty="0">
                <a:solidFill>
                  <a:srgbClr val="404040"/>
                </a:solidFill>
                <a:latin typeface="Franklin Gothic Book"/>
                <a:cs typeface="Franklin Gothic Book"/>
              </a:rPr>
              <a:t>for </a:t>
            </a:r>
            <a:r>
              <a:rPr sz="1400" spc="-5" dirty="0">
                <a:solidFill>
                  <a:srgbClr val="404040"/>
                </a:solidFill>
                <a:latin typeface="Franklin Gothic Book"/>
                <a:cs typeface="Franklin Gothic Book"/>
              </a:rPr>
              <a:t>their </a:t>
            </a:r>
            <a:r>
              <a:rPr sz="1400" dirty="0">
                <a:solidFill>
                  <a:srgbClr val="404040"/>
                </a:solidFill>
                <a:latin typeface="Franklin Gothic Book"/>
                <a:cs typeface="Franklin Gothic Book"/>
              </a:rPr>
              <a:t>supporting </a:t>
            </a:r>
            <a:r>
              <a:rPr sz="1400" spc="-10" dirty="0">
                <a:solidFill>
                  <a:srgbClr val="404040"/>
                </a:solidFill>
                <a:latin typeface="Franklin Gothic Book"/>
                <a:cs typeface="Franklin Gothic Book"/>
              </a:rPr>
              <a:t>strategies </a:t>
            </a:r>
            <a:r>
              <a:rPr sz="1400" spc="-5" dirty="0">
                <a:solidFill>
                  <a:srgbClr val="404040"/>
                </a:solidFill>
                <a:latin typeface="Franklin Gothic Book"/>
                <a:cs typeface="Franklin Gothic Book"/>
              </a:rPr>
              <a:t>and tactics. </a:t>
            </a:r>
            <a:r>
              <a:rPr sz="1400" spc="-15" dirty="0">
                <a:solidFill>
                  <a:srgbClr val="404040"/>
                </a:solidFill>
                <a:latin typeface="Franklin Gothic Book"/>
                <a:cs typeface="Franklin Gothic Book"/>
              </a:rPr>
              <a:t>They </a:t>
            </a:r>
            <a:r>
              <a:rPr sz="1400" spc="-5" dirty="0">
                <a:solidFill>
                  <a:srgbClr val="404040"/>
                </a:solidFill>
                <a:latin typeface="Franklin Gothic Book"/>
                <a:cs typeface="Franklin Gothic Book"/>
              </a:rPr>
              <a:t>should </a:t>
            </a:r>
            <a:r>
              <a:rPr sz="1400" spc="-20" dirty="0">
                <a:solidFill>
                  <a:srgbClr val="404040"/>
                </a:solidFill>
                <a:latin typeface="Franklin Gothic Book"/>
                <a:cs typeface="Franklin Gothic Book"/>
              </a:rPr>
              <a:t>have </a:t>
            </a:r>
            <a:r>
              <a:rPr sz="1400" spc="-5" dirty="0">
                <a:solidFill>
                  <a:srgbClr val="B52372"/>
                </a:solidFill>
                <a:latin typeface="Franklin Gothic Book"/>
                <a:cs typeface="Franklin Gothic Book"/>
              </a:rPr>
              <a:t>aligned </a:t>
            </a:r>
            <a:r>
              <a:rPr sz="1400" spc="-10" dirty="0">
                <a:solidFill>
                  <a:srgbClr val="B52372"/>
                </a:solidFill>
                <a:latin typeface="Franklin Gothic Book"/>
                <a:cs typeface="Franklin Gothic Book"/>
              </a:rPr>
              <a:t>strategies </a:t>
            </a:r>
            <a:r>
              <a:rPr sz="1400" spc="-10" dirty="0">
                <a:solidFill>
                  <a:srgbClr val="404040"/>
                </a:solidFill>
                <a:latin typeface="Franklin Gothic Book"/>
                <a:cs typeface="Franklin Gothic Book"/>
              </a:rPr>
              <a:t>that </a:t>
            </a:r>
            <a:r>
              <a:rPr sz="1400" spc="-5" dirty="0">
                <a:solidFill>
                  <a:srgbClr val="404040"/>
                </a:solidFill>
                <a:latin typeface="Franklin Gothic Book"/>
                <a:cs typeface="Franklin Gothic Book"/>
              </a:rPr>
              <a:t>can </a:t>
            </a:r>
            <a:r>
              <a:rPr sz="1400" spc="-10" dirty="0">
                <a:solidFill>
                  <a:srgbClr val="404040"/>
                </a:solidFill>
                <a:latin typeface="Franklin Gothic Book"/>
                <a:cs typeface="Franklin Gothic Book"/>
              </a:rPr>
              <a:t>answer </a:t>
            </a:r>
            <a:r>
              <a:rPr sz="1400" spc="-15" dirty="0">
                <a:solidFill>
                  <a:srgbClr val="404040"/>
                </a:solidFill>
                <a:latin typeface="Franklin Gothic Book"/>
                <a:cs typeface="Franklin Gothic Book"/>
              </a:rPr>
              <a:t>how they </a:t>
            </a:r>
            <a:r>
              <a:rPr sz="1400" spc="-5" dirty="0">
                <a:solidFill>
                  <a:srgbClr val="404040"/>
                </a:solidFill>
                <a:latin typeface="Franklin Gothic Book"/>
                <a:cs typeface="Franklin Gothic Book"/>
              </a:rPr>
              <a:t>plan </a:t>
            </a:r>
            <a:r>
              <a:rPr sz="1400" spc="-15" dirty="0">
                <a:solidFill>
                  <a:srgbClr val="404040"/>
                </a:solidFill>
                <a:latin typeface="Franklin Gothic Book"/>
                <a:cs typeface="Franklin Gothic Book"/>
              </a:rPr>
              <a:t>to </a:t>
            </a:r>
            <a:r>
              <a:rPr sz="1400" spc="-10" dirty="0">
                <a:solidFill>
                  <a:srgbClr val="404040"/>
                </a:solidFill>
                <a:latin typeface="Franklin Gothic Book"/>
                <a:cs typeface="Franklin Gothic Book"/>
              </a:rPr>
              <a:t>get </a:t>
            </a:r>
            <a:r>
              <a:rPr lang="en-US" sz="1400" spc="-10" dirty="0">
                <a:solidFill>
                  <a:srgbClr val="404040"/>
                </a:solidFill>
                <a:latin typeface="Franklin Gothic Book"/>
                <a:cs typeface="Franklin Gothic Book"/>
              </a:rPr>
              <a:t>the</a:t>
            </a:r>
            <a:r>
              <a:rPr sz="1400" spc="-10" dirty="0">
                <a:solidFill>
                  <a:srgbClr val="404040"/>
                </a:solidFill>
                <a:latin typeface="Franklin Gothic Book"/>
                <a:cs typeface="Franklin Gothic Book"/>
              </a:rPr>
              <a:t> overall</a:t>
            </a:r>
            <a:r>
              <a:rPr sz="1400" dirty="0">
                <a:solidFill>
                  <a:srgbClr val="404040"/>
                </a:solidFill>
                <a:latin typeface="Franklin Gothic Book"/>
                <a:cs typeface="Franklin Gothic Book"/>
              </a:rPr>
              <a:t> </a:t>
            </a:r>
            <a:r>
              <a:rPr sz="1400" spc="-5" dirty="0">
                <a:solidFill>
                  <a:srgbClr val="404040"/>
                </a:solidFill>
                <a:latin typeface="Franklin Gothic Book"/>
                <a:cs typeface="Franklin Gothic Book"/>
              </a:rPr>
              <a:t>goal.</a:t>
            </a:r>
            <a:endParaRPr sz="1400" dirty="0">
              <a:latin typeface="Franklin Gothic Book"/>
              <a:cs typeface="Franklin Gothic Book"/>
            </a:endParaRPr>
          </a:p>
          <a:p>
            <a:pPr marL="354965" marR="229235" indent="-342900">
              <a:lnSpc>
                <a:spcPts val="1700"/>
              </a:lnSpc>
              <a:spcBef>
                <a:spcPts val="40"/>
              </a:spcBef>
              <a:buAutoNum type="arabicPeriod"/>
              <a:tabLst>
                <a:tab pos="354965" algn="l"/>
                <a:tab pos="355600" algn="l"/>
              </a:tabLst>
            </a:pPr>
            <a:r>
              <a:rPr sz="1400" dirty="0">
                <a:solidFill>
                  <a:srgbClr val="404040"/>
                </a:solidFill>
                <a:latin typeface="Franklin Gothic Book"/>
                <a:cs typeface="Franklin Gothic Book"/>
              </a:rPr>
              <a:t>Disregard conversations that are focused on meta-segments. Redirect  them to the most profitable segments and how they plan grow those  segments.</a:t>
            </a:r>
            <a:endParaRPr sz="1400" dirty="0">
              <a:latin typeface="Franklin Gothic Book"/>
              <a:cs typeface="Franklin Gothic Book"/>
            </a:endParaRPr>
          </a:p>
          <a:p>
            <a:pPr marL="354965" marR="5080" indent="-342900">
              <a:lnSpc>
                <a:spcPct val="97900"/>
              </a:lnSpc>
              <a:spcBef>
                <a:spcPts val="5"/>
              </a:spcBef>
              <a:buAutoNum type="arabicPeriod"/>
              <a:tabLst>
                <a:tab pos="354965" algn="l"/>
                <a:tab pos="355600" algn="l"/>
              </a:tabLst>
            </a:pPr>
            <a:r>
              <a:rPr sz="1400" dirty="0">
                <a:solidFill>
                  <a:srgbClr val="404040"/>
                </a:solidFill>
                <a:latin typeface="Franklin Gothic Book"/>
                <a:cs typeface="Franklin Gothic Book"/>
              </a:rPr>
              <a:t>Review how they are planning to re-mix their business given the economic outlook. Ask for the strategies and the supporting tactics and make sure they are aligned to the overall financial goal.</a:t>
            </a:r>
            <a:endParaRPr sz="1400" dirty="0">
              <a:latin typeface="Franklin Gothic Book"/>
              <a:cs typeface="Franklin Gothic Book"/>
            </a:endParaRPr>
          </a:p>
          <a:p>
            <a:pPr marL="12700">
              <a:lnSpc>
                <a:spcPct val="100000"/>
              </a:lnSpc>
              <a:spcBef>
                <a:spcPts val="1320"/>
              </a:spcBef>
            </a:pPr>
            <a:r>
              <a:rPr sz="1400" i="1" dirty="0">
                <a:solidFill>
                  <a:srgbClr val="404040"/>
                </a:solidFill>
                <a:latin typeface="Franklin Gothic Book Italic"/>
                <a:cs typeface="Franklin Gothic Book Italic"/>
              </a:rPr>
              <a:t>Sales:</a:t>
            </a:r>
            <a:endParaRPr sz="1400" dirty="0">
              <a:latin typeface="Franklin Gothic Book Italic"/>
              <a:cs typeface="Franklin Gothic Book Italic"/>
            </a:endParaRPr>
          </a:p>
          <a:p>
            <a:pPr marL="354965" marR="63500" indent="-342900">
              <a:lnSpc>
                <a:spcPct val="100000"/>
              </a:lnSpc>
              <a:spcBef>
                <a:spcPts val="1320"/>
              </a:spcBef>
              <a:buAutoNum type="arabicPeriod" startAt="4"/>
              <a:tabLst>
                <a:tab pos="354965" algn="l"/>
                <a:tab pos="355600" algn="l"/>
              </a:tabLst>
            </a:pPr>
            <a:r>
              <a:rPr sz="1400" dirty="0">
                <a:solidFill>
                  <a:srgbClr val="404040"/>
                </a:solidFill>
                <a:latin typeface="Franklin Gothic Book"/>
                <a:cs typeface="Franklin Gothic Book"/>
              </a:rPr>
              <a:t>Understand the depth of the accounts they are focusing on. If the customers are predominately at the “purchase phase” ask how they plan to have stronger relationships beyond procurement or the price</a:t>
            </a:r>
            <a:r>
              <a:rPr lang="en-US" sz="1400" dirty="0">
                <a:solidFill>
                  <a:srgbClr val="404040"/>
                </a:solidFill>
                <a:latin typeface="Franklin Gothic Book"/>
                <a:cs typeface="Franklin Gothic Book"/>
              </a:rPr>
              <a:t>-</a:t>
            </a:r>
            <a:r>
              <a:rPr sz="1400" dirty="0">
                <a:solidFill>
                  <a:srgbClr val="404040"/>
                </a:solidFill>
                <a:latin typeface="Franklin Gothic Book"/>
                <a:cs typeface="Franklin Gothic Book"/>
              </a:rPr>
              <a:t>driven sale. How many clients do they have in an account that are in different parts of the organization</a:t>
            </a:r>
            <a:r>
              <a:rPr lang="en-US" sz="1400" dirty="0">
                <a:solidFill>
                  <a:srgbClr val="404040"/>
                </a:solidFill>
                <a:latin typeface="Franklin Gothic Book"/>
                <a:cs typeface="Franklin Gothic Book"/>
              </a:rPr>
              <a:t>, such as finance, engineering, etc.</a:t>
            </a:r>
            <a:r>
              <a:rPr sz="1400" dirty="0">
                <a:solidFill>
                  <a:srgbClr val="404040"/>
                </a:solidFill>
                <a:latin typeface="Franklin Gothic Book"/>
                <a:cs typeface="Franklin Gothic Book"/>
              </a:rPr>
              <a:t>?</a:t>
            </a:r>
            <a:r>
              <a:rPr lang="en-US" sz="1400" dirty="0">
                <a:solidFill>
                  <a:srgbClr val="404040"/>
                </a:solidFill>
                <a:latin typeface="Franklin Gothic Book"/>
                <a:cs typeface="Franklin Gothic Book"/>
              </a:rPr>
              <a:t> </a:t>
            </a:r>
            <a:endParaRPr sz="1400" dirty="0">
              <a:latin typeface="Franklin Gothic Book"/>
              <a:cs typeface="Franklin Gothic Book"/>
            </a:endParaRPr>
          </a:p>
          <a:p>
            <a:pPr marL="354965" marR="16510" indent="-342900">
              <a:lnSpc>
                <a:spcPct val="100000"/>
              </a:lnSpc>
              <a:spcBef>
                <a:spcPts val="1320"/>
              </a:spcBef>
              <a:buAutoNum type="arabicPeriod" startAt="4"/>
              <a:tabLst>
                <a:tab pos="354965" algn="l"/>
                <a:tab pos="355600" algn="l"/>
              </a:tabLst>
            </a:pPr>
            <a:r>
              <a:rPr sz="1400" dirty="0">
                <a:solidFill>
                  <a:srgbClr val="404040"/>
                </a:solidFill>
                <a:latin typeface="Franklin Gothic Book"/>
                <a:cs typeface="Franklin Gothic Book"/>
              </a:rPr>
              <a:t>Do they have development plans in areas within the parts of the economy that are experiencing growth?</a:t>
            </a:r>
            <a:endParaRPr sz="1400" dirty="0">
              <a:latin typeface="Franklin Gothic Book"/>
              <a:cs typeface="Franklin Gothic Book"/>
            </a:endParaRPr>
          </a:p>
          <a:p>
            <a:pPr marL="12700">
              <a:lnSpc>
                <a:spcPct val="100000"/>
              </a:lnSpc>
              <a:spcBef>
                <a:spcPts val="1320"/>
              </a:spcBef>
            </a:pPr>
            <a:r>
              <a:rPr sz="1400" i="1" dirty="0">
                <a:solidFill>
                  <a:srgbClr val="404040"/>
                </a:solidFill>
                <a:latin typeface="Franklin Gothic Book Italic"/>
                <a:cs typeface="Franklin Gothic Book Italic"/>
              </a:rPr>
              <a:t>Digital Marketing:</a:t>
            </a:r>
            <a:endParaRPr sz="1400" dirty="0">
              <a:latin typeface="Franklin Gothic Book Italic"/>
              <a:cs typeface="Franklin Gothic Book Italic"/>
            </a:endParaRPr>
          </a:p>
          <a:p>
            <a:pPr marL="474980" marR="91440" indent="-462280">
              <a:lnSpc>
                <a:spcPct val="100000"/>
              </a:lnSpc>
              <a:spcBef>
                <a:spcPts val="1320"/>
              </a:spcBef>
              <a:buAutoNum type="arabicPeriod" startAt="6"/>
              <a:tabLst>
                <a:tab pos="474345" algn="l"/>
                <a:tab pos="474980" algn="l"/>
                <a:tab pos="2108835" algn="l"/>
              </a:tabLst>
            </a:pPr>
            <a:r>
              <a:rPr sz="1400" b="1" dirty="0">
                <a:solidFill>
                  <a:srgbClr val="404040"/>
                </a:solidFill>
                <a:latin typeface="Franklin Gothic Book"/>
                <a:cs typeface="Franklin Gothic Book"/>
              </a:rPr>
              <a:t>ROI and the MPC Segments- </a:t>
            </a:r>
            <a:r>
              <a:rPr sz="1400" dirty="0">
                <a:solidFill>
                  <a:srgbClr val="404040"/>
                </a:solidFill>
                <a:latin typeface="Franklin Gothic Book"/>
                <a:cs typeface="Franklin Gothic Book"/>
              </a:rPr>
              <a:t>Look at what type of marketing is being done for what segments. If they are segments that have </a:t>
            </a:r>
            <a:r>
              <a:rPr lang="en-US" sz="1400" dirty="0">
                <a:solidFill>
                  <a:srgbClr val="404040"/>
                </a:solidFill>
                <a:latin typeface="Franklin Gothic Book"/>
                <a:cs typeface="Franklin Gothic Book"/>
              </a:rPr>
              <a:t>a </a:t>
            </a:r>
            <a:r>
              <a:rPr sz="1400" dirty="0">
                <a:solidFill>
                  <a:srgbClr val="404040"/>
                </a:solidFill>
                <a:latin typeface="Franklin Gothic Book"/>
                <a:cs typeface="Franklin Gothic Book"/>
              </a:rPr>
              <a:t>high cost of acquisition, understand the logic. Many are lulled into a high return on investment, i.e. the ROI could be 13:1, but it is on a segment customer base that </a:t>
            </a:r>
            <a:r>
              <a:rPr lang="en-US" sz="1400" dirty="0">
                <a:solidFill>
                  <a:srgbClr val="404040"/>
                </a:solidFill>
                <a:latin typeface="Franklin Gothic Book"/>
                <a:cs typeface="Franklin Gothic Book"/>
              </a:rPr>
              <a:t>is</a:t>
            </a:r>
            <a:r>
              <a:rPr sz="1400" dirty="0">
                <a:solidFill>
                  <a:srgbClr val="404040"/>
                </a:solidFill>
                <a:latin typeface="Franklin Gothic Book"/>
                <a:cs typeface="Franklin Gothic Book"/>
              </a:rPr>
              <a:t> costly.</a:t>
            </a:r>
            <a:r>
              <a:rPr lang="en-US" sz="1400" dirty="0">
                <a:solidFill>
                  <a:srgbClr val="404040"/>
                </a:solidFill>
                <a:latin typeface="Franklin Gothic Book"/>
                <a:cs typeface="Franklin Gothic Book"/>
              </a:rPr>
              <a:t> </a:t>
            </a:r>
            <a:r>
              <a:rPr sz="1400" dirty="0">
                <a:solidFill>
                  <a:srgbClr val="404040"/>
                </a:solidFill>
                <a:latin typeface="Franklin Gothic Book"/>
                <a:cs typeface="Franklin Gothic Book"/>
              </a:rPr>
              <a:t>Moreover, your marketing dollars </a:t>
            </a:r>
            <a:r>
              <a:rPr lang="en-US" sz="1400" dirty="0">
                <a:solidFill>
                  <a:srgbClr val="404040"/>
                </a:solidFill>
                <a:latin typeface="Franklin Gothic Book"/>
                <a:cs typeface="Franklin Gothic Book"/>
              </a:rPr>
              <a:t>are</a:t>
            </a:r>
            <a:r>
              <a:rPr sz="1400" dirty="0">
                <a:solidFill>
                  <a:srgbClr val="404040"/>
                </a:solidFill>
                <a:latin typeface="Franklin Gothic Book"/>
                <a:cs typeface="Franklin Gothic Book"/>
              </a:rPr>
              <a:t> building customer loyalty for a third-party rather than your own business.</a:t>
            </a:r>
            <a:endParaRPr sz="1400" dirty="0">
              <a:latin typeface="Franklin Gothic Book"/>
              <a:cs typeface="Franklin Gothic Book"/>
            </a:endParaRPr>
          </a:p>
          <a:p>
            <a:pPr marL="474980" marR="74295" indent="-462280">
              <a:lnSpc>
                <a:spcPts val="1610"/>
              </a:lnSpc>
              <a:spcBef>
                <a:spcPts val="1430"/>
              </a:spcBef>
              <a:buAutoNum type="arabicPeriod" startAt="6"/>
              <a:tabLst>
                <a:tab pos="474345" algn="l"/>
                <a:tab pos="474980" algn="l"/>
              </a:tabLst>
            </a:pPr>
            <a:r>
              <a:rPr sz="1400" b="1" dirty="0">
                <a:solidFill>
                  <a:srgbClr val="404040"/>
                </a:solidFill>
                <a:latin typeface="Franklin Gothic Book"/>
                <a:cs typeface="Franklin Gothic Book"/>
              </a:rPr>
              <a:t>Marketing </a:t>
            </a:r>
            <a:r>
              <a:rPr lang="en-US" sz="1400" b="1" dirty="0">
                <a:solidFill>
                  <a:srgbClr val="404040"/>
                </a:solidFill>
                <a:latin typeface="Franklin Gothic Book"/>
                <a:cs typeface="Franklin Gothic Book"/>
              </a:rPr>
              <a:t>D</a:t>
            </a:r>
            <a:r>
              <a:rPr sz="1400" b="1" dirty="0">
                <a:solidFill>
                  <a:srgbClr val="404040"/>
                </a:solidFill>
                <a:latin typeface="Franklin Gothic Book"/>
                <a:cs typeface="Franklin Gothic Book"/>
              </a:rPr>
              <a:t>ollars </a:t>
            </a:r>
            <a:r>
              <a:rPr lang="en-US" sz="1400" b="1" dirty="0">
                <a:solidFill>
                  <a:srgbClr val="404040"/>
                </a:solidFill>
                <a:latin typeface="Franklin Gothic Book"/>
                <a:cs typeface="Franklin Gothic Book"/>
              </a:rPr>
              <a:t>S</a:t>
            </a:r>
            <a:r>
              <a:rPr sz="1400" b="1" dirty="0">
                <a:solidFill>
                  <a:srgbClr val="404040"/>
                </a:solidFill>
                <a:latin typeface="Franklin Gothic Book"/>
                <a:cs typeface="Franklin Gothic Book"/>
              </a:rPr>
              <a:t>pend- </a:t>
            </a:r>
            <a:r>
              <a:rPr sz="1400" dirty="0">
                <a:solidFill>
                  <a:srgbClr val="404040"/>
                </a:solidFill>
                <a:latin typeface="Franklin Gothic Book"/>
                <a:cs typeface="Franklin Gothic Book"/>
              </a:rPr>
              <a:t>Breakdown if the marketing dollars are being  spent within;</a:t>
            </a:r>
            <a:endParaRPr sz="1400" dirty="0">
              <a:latin typeface="Franklin Gothic Book"/>
              <a:cs typeface="Franklin Gothic Book"/>
            </a:endParaRPr>
          </a:p>
          <a:p>
            <a:pPr marL="755650" lvl="1" indent="-286385">
              <a:lnSpc>
                <a:spcPts val="1660"/>
              </a:lnSpc>
              <a:buFont typeface="Arial"/>
              <a:buChar char="•"/>
              <a:tabLst>
                <a:tab pos="755015" algn="l"/>
                <a:tab pos="755650" algn="l"/>
              </a:tabLst>
            </a:pPr>
            <a:r>
              <a:rPr sz="1400" dirty="0">
                <a:solidFill>
                  <a:srgbClr val="404040"/>
                </a:solidFill>
                <a:latin typeface="Franklin Gothic Book"/>
                <a:cs typeface="Franklin Gothic Book"/>
              </a:rPr>
              <a:t>Brand Marketing</a:t>
            </a:r>
            <a:endParaRPr sz="1400" dirty="0">
              <a:latin typeface="Franklin Gothic Book"/>
              <a:cs typeface="Franklin Gothic Book"/>
            </a:endParaRPr>
          </a:p>
          <a:p>
            <a:pPr marL="926465" marR="338455">
              <a:lnSpc>
                <a:spcPct val="100699"/>
              </a:lnSpc>
              <a:spcBef>
                <a:spcPts val="15"/>
              </a:spcBef>
            </a:pPr>
            <a:r>
              <a:rPr sz="1400" dirty="0">
                <a:solidFill>
                  <a:srgbClr val="404040"/>
                </a:solidFill>
                <a:latin typeface="Franklin Gothic Book"/>
                <a:cs typeface="Franklin Gothic Book"/>
              </a:rPr>
              <a:t>Learning: brand marketing has been scaled back significantly  within large brands. In some cases they are down to sparse  services for an important discipline that creates demand</a:t>
            </a:r>
            <a:r>
              <a:rPr sz="1400" spc="-5" dirty="0">
                <a:solidFill>
                  <a:srgbClr val="404040"/>
                </a:solidFill>
                <a:latin typeface="Franklin Gothic Book"/>
                <a:cs typeface="Franklin Gothic Book"/>
              </a:rPr>
              <a:t>.</a:t>
            </a:r>
            <a:endParaRPr sz="1400" dirty="0">
              <a:latin typeface="Franklin Gothic Book"/>
              <a:cs typeface="Franklin Gothic Book"/>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162221" y="8742680"/>
            <a:ext cx="2938780" cy="151323"/>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898989"/>
                </a:solidFill>
                <a:latin typeface="Franklin Gothic Book"/>
                <a:cs typeface="Franklin Gothic Book"/>
              </a:rPr>
              <a:t>Effective Planning for Top-Line Growth in Times of Disruption</a:t>
            </a:r>
            <a:endParaRPr sz="900" dirty="0">
              <a:latin typeface="Franklin Gothic Book"/>
              <a:cs typeface="Franklin Gothic Book"/>
            </a:endParaRPr>
          </a:p>
        </p:txBody>
      </p:sp>
      <p:sp>
        <p:nvSpPr>
          <p:cNvPr id="3" name="object 3"/>
          <p:cNvSpPr txBox="1"/>
          <p:nvPr/>
        </p:nvSpPr>
        <p:spPr>
          <a:xfrm>
            <a:off x="6286498" y="8730488"/>
            <a:ext cx="13970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898989"/>
                </a:solidFill>
                <a:latin typeface="Calibri"/>
                <a:cs typeface="Calibri"/>
              </a:rPr>
              <a:t>15</a:t>
            </a:r>
            <a:endParaRPr sz="900">
              <a:latin typeface="Calibri"/>
              <a:cs typeface="Calibri"/>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10 Critical Areas to </a:t>
            </a:r>
            <a:r>
              <a:rPr lang="en-US" dirty="0"/>
              <a:t>a </a:t>
            </a:r>
            <a:r>
              <a:rPr dirty="0"/>
              <a:t>Successful Top-Line Revenue Budget</a:t>
            </a:r>
          </a:p>
        </p:txBody>
      </p:sp>
      <p:sp>
        <p:nvSpPr>
          <p:cNvPr id="5" name="object 5"/>
          <p:cNvSpPr/>
          <p:nvPr/>
        </p:nvSpPr>
        <p:spPr>
          <a:xfrm>
            <a:off x="228600" y="838200"/>
            <a:ext cx="2620010" cy="0"/>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6" name="object 6"/>
          <p:cNvSpPr txBox="1"/>
          <p:nvPr/>
        </p:nvSpPr>
        <p:spPr>
          <a:xfrm>
            <a:off x="316228" y="1024049"/>
            <a:ext cx="6109970" cy="7496924"/>
          </a:xfrm>
          <a:prstGeom prst="rect">
            <a:avLst/>
          </a:prstGeom>
        </p:spPr>
        <p:txBody>
          <a:bodyPr vert="horz" wrap="square" lIns="0" tIns="12700" rIns="0" bIns="0" rtlCol="0">
            <a:spAutoFit/>
          </a:bodyPr>
          <a:lstStyle/>
          <a:p>
            <a:pPr marL="755650" indent="-285750">
              <a:lnSpc>
                <a:spcPts val="1645"/>
              </a:lnSpc>
              <a:spcBef>
                <a:spcPts val="100"/>
              </a:spcBef>
              <a:buFont typeface="Arial"/>
              <a:buChar char="•"/>
              <a:tabLst>
                <a:tab pos="755015" algn="l"/>
                <a:tab pos="755650" algn="l"/>
              </a:tabLst>
            </a:pPr>
            <a:r>
              <a:rPr sz="1400" dirty="0">
                <a:solidFill>
                  <a:srgbClr val="404040"/>
                </a:solidFill>
                <a:latin typeface="Franklin Gothic Book"/>
                <a:cs typeface="Franklin Gothic Book"/>
              </a:rPr>
              <a:t>Enterprise Marketing</a:t>
            </a:r>
            <a:endParaRPr sz="1400" dirty="0">
              <a:latin typeface="Franklin Gothic Book"/>
              <a:cs typeface="Franklin Gothic Book"/>
            </a:endParaRPr>
          </a:p>
          <a:p>
            <a:pPr marL="927100" marR="40005">
              <a:lnSpc>
                <a:spcPts val="1700"/>
              </a:lnSpc>
              <a:spcBef>
                <a:spcPts val="5"/>
              </a:spcBef>
              <a:tabLst>
                <a:tab pos="4904105" algn="l"/>
              </a:tabLst>
            </a:pPr>
            <a:r>
              <a:rPr sz="1400" dirty="0">
                <a:solidFill>
                  <a:srgbClr val="404040"/>
                </a:solidFill>
                <a:latin typeface="Franklin Gothic Book"/>
                <a:cs typeface="Franklin Gothic Book"/>
              </a:rPr>
              <a:t>Learning: enterprise marketing focuses on the product and has very  low return, the metric that is used with enterprise marketing is a type  of marketing that drives awareness and evoked set.</a:t>
            </a:r>
            <a:r>
              <a:rPr lang="en-US" sz="1400" dirty="0">
                <a:solidFill>
                  <a:srgbClr val="404040"/>
                </a:solidFill>
                <a:latin typeface="Franklin Gothic Book"/>
                <a:cs typeface="Franklin Gothic Book"/>
              </a:rPr>
              <a:t> </a:t>
            </a:r>
            <a:r>
              <a:rPr sz="1400" dirty="0">
                <a:solidFill>
                  <a:srgbClr val="404040"/>
                </a:solidFill>
                <a:latin typeface="Franklin Gothic Book"/>
                <a:cs typeface="Franklin Gothic Book"/>
              </a:rPr>
              <a:t>It is the most  difficult to get a return.</a:t>
            </a:r>
            <a:endParaRPr sz="1400" dirty="0">
              <a:latin typeface="Franklin Gothic Book"/>
              <a:cs typeface="Franklin Gothic Book"/>
            </a:endParaRPr>
          </a:p>
          <a:p>
            <a:pPr marL="755650" indent="-285750">
              <a:lnSpc>
                <a:spcPct val="100000"/>
              </a:lnSpc>
              <a:spcBef>
                <a:spcPts val="1365"/>
              </a:spcBef>
              <a:buFont typeface="Arial"/>
              <a:buChar char="•"/>
              <a:tabLst>
                <a:tab pos="755015" algn="l"/>
                <a:tab pos="755650" algn="l"/>
              </a:tabLst>
            </a:pPr>
            <a:r>
              <a:rPr sz="1400" dirty="0">
                <a:solidFill>
                  <a:srgbClr val="404040"/>
                </a:solidFill>
                <a:latin typeface="Franklin Gothic Book"/>
                <a:cs typeface="Franklin Gothic Book"/>
              </a:rPr>
              <a:t>Targeted Marketing</a:t>
            </a:r>
            <a:endParaRPr sz="1400" dirty="0">
              <a:latin typeface="Franklin Gothic Book"/>
              <a:cs typeface="Franklin Gothic Book"/>
            </a:endParaRPr>
          </a:p>
          <a:p>
            <a:pPr marL="927100" marR="123825">
              <a:lnSpc>
                <a:spcPct val="100000"/>
              </a:lnSpc>
              <a:spcBef>
                <a:spcPts val="25"/>
              </a:spcBef>
            </a:pPr>
            <a:r>
              <a:rPr sz="1400" dirty="0">
                <a:solidFill>
                  <a:srgbClr val="404040"/>
                </a:solidFill>
                <a:latin typeface="Franklin Gothic Book"/>
                <a:cs typeface="Franklin Gothic Book"/>
              </a:rPr>
              <a:t>Learning: is the most effective and needs to be directed to the  Most Profitable Customer (MPC) with a targeted approach.</a:t>
            </a:r>
            <a:endParaRPr sz="1400" dirty="0">
              <a:latin typeface="Franklin Gothic Book"/>
              <a:cs typeface="Franklin Gothic Book"/>
            </a:endParaRPr>
          </a:p>
          <a:p>
            <a:pPr>
              <a:lnSpc>
                <a:spcPct val="100000"/>
              </a:lnSpc>
              <a:spcBef>
                <a:spcPts val="20"/>
              </a:spcBef>
            </a:pPr>
            <a:endParaRPr sz="1100" dirty="0">
              <a:latin typeface="Franklin Gothic Book"/>
              <a:cs typeface="Franklin Gothic Book"/>
            </a:endParaRPr>
          </a:p>
          <a:p>
            <a:pPr marL="469900" marR="5080">
              <a:lnSpc>
                <a:spcPct val="100000"/>
              </a:lnSpc>
              <a:tabLst>
                <a:tab pos="1052195" algn="l"/>
                <a:tab pos="2178050" algn="l"/>
              </a:tabLst>
            </a:pPr>
            <a:r>
              <a:rPr sz="1400" dirty="0">
                <a:solidFill>
                  <a:srgbClr val="404040"/>
                </a:solidFill>
                <a:latin typeface="Franklin Gothic Book"/>
                <a:cs typeface="Franklin Gothic Book"/>
              </a:rPr>
              <a:t>Seek to understand what segments the marketing dollars are looking to  impact and the Return On Ad Spend (ROAS) or what</a:t>
            </a:r>
            <a:r>
              <a:rPr lang="en-US" sz="1400" dirty="0">
                <a:solidFill>
                  <a:srgbClr val="404040"/>
                </a:solidFill>
                <a:latin typeface="Franklin Gothic Book"/>
                <a:cs typeface="Franklin Gothic Book"/>
              </a:rPr>
              <a:t>ever</a:t>
            </a:r>
            <a:r>
              <a:rPr sz="1400" dirty="0">
                <a:solidFill>
                  <a:srgbClr val="404040"/>
                </a:solidFill>
                <a:latin typeface="Franklin Gothic Book"/>
                <a:cs typeface="Franklin Gothic Book"/>
              </a:rPr>
              <a:t> other metric  they are using.</a:t>
            </a:r>
            <a:r>
              <a:rPr lang="en-US" sz="1400" dirty="0">
                <a:solidFill>
                  <a:srgbClr val="404040"/>
                </a:solidFill>
                <a:latin typeface="Franklin Gothic Book"/>
                <a:cs typeface="Franklin Gothic Book"/>
              </a:rPr>
              <a:t> </a:t>
            </a:r>
            <a:r>
              <a:rPr sz="1400" dirty="0">
                <a:solidFill>
                  <a:srgbClr val="404040"/>
                </a:solidFill>
                <a:latin typeface="Franklin Gothic Book"/>
                <a:cs typeface="Franklin Gothic Book"/>
              </a:rPr>
              <a:t>Remember that although there may be a high return, look to ensure that the focus is on the segment that you need to capitalize upon, rather </a:t>
            </a:r>
            <a:r>
              <a:rPr lang="en-US" sz="1400" dirty="0">
                <a:solidFill>
                  <a:srgbClr val="404040"/>
                </a:solidFill>
                <a:latin typeface="Franklin Gothic Book"/>
                <a:cs typeface="Franklin Gothic Book"/>
              </a:rPr>
              <a:t>than </a:t>
            </a:r>
            <a:r>
              <a:rPr sz="1400" dirty="0">
                <a:solidFill>
                  <a:srgbClr val="404040"/>
                </a:solidFill>
                <a:latin typeface="Franklin Gothic Book"/>
                <a:cs typeface="Franklin Gothic Book"/>
              </a:rPr>
              <a:t>what is easiest to do</a:t>
            </a:r>
            <a:r>
              <a:rPr lang="en-US" sz="1400" dirty="0">
                <a:solidFill>
                  <a:srgbClr val="404040"/>
                </a:solidFill>
                <a:latin typeface="Franklin Gothic Book"/>
                <a:cs typeface="Franklin Gothic Book"/>
              </a:rPr>
              <a:t>. </a:t>
            </a:r>
            <a:r>
              <a:rPr sz="1400" dirty="0">
                <a:solidFill>
                  <a:srgbClr val="404040"/>
                </a:solidFill>
                <a:latin typeface="Franklin Gothic Book"/>
                <a:cs typeface="Franklin Gothic Book"/>
              </a:rPr>
              <a:t>There is a reason why OTA’s are making advertising so customer friendly.</a:t>
            </a:r>
            <a:endParaRPr sz="1400" dirty="0">
              <a:latin typeface="Franklin Gothic Book"/>
              <a:cs typeface="Franklin Gothic Book"/>
            </a:endParaRPr>
          </a:p>
          <a:p>
            <a:pPr marL="12700">
              <a:lnSpc>
                <a:spcPct val="100000"/>
              </a:lnSpc>
              <a:spcBef>
                <a:spcPts val="1320"/>
              </a:spcBef>
            </a:pPr>
            <a:r>
              <a:rPr sz="1400" i="1" dirty="0">
                <a:solidFill>
                  <a:srgbClr val="404040"/>
                </a:solidFill>
                <a:latin typeface="Franklin Gothic Book Italic"/>
                <a:cs typeface="Franklin Gothic Book Italic"/>
              </a:rPr>
              <a:t>Revenue Management:</a:t>
            </a:r>
            <a:endParaRPr sz="1400" dirty="0">
              <a:latin typeface="Franklin Gothic Book Italic"/>
              <a:cs typeface="Franklin Gothic Book Italic"/>
            </a:endParaRPr>
          </a:p>
          <a:p>
            <a:pPr>
              <a:lnSpc>
                <a:spcPct val="100000"/>
              </a:lnSpc>
            </a:pPr>
            <a:endParaRPr sz="1100" dirty="0">
              <a:latin typeface="Franklin Gothic Book Italic"/>
              <a:cs typeface="Franklin Gothic Book Italic"/>
            </a:endParaRPr>
          </a:p>
          <a:p>
            <a:pPr marL="422275" marR="55880" indent="-409575">
              <a:lnSpc>
                <a:spcPct val="101400"/>
              </a:lnSpc>
              <a:buAutoNum type="arabicPeriod" startAt="8"/>
              <a:tabLst>
                <a:tab pos="421640" algn="l"/>
                <a:tab pos="422275" algn="l"/>
              </a:tabLst>
            </a:pPr>
            <a:r>
              <a:rPr sz="1400" b="1" dirty="0">
                <a:solidFill>
                  <a:srgbClr val="404040"/>
                </a:solidFill>
                <a:latin typeface="Franklin Gothic Book"/>
                <a:cs typeface="Franklin Gothic Book"/>
              </a:rPr>
              <a:t>Mix Modeling-</a:t>
            </a:r>
            <a:r>
              <a:rPr sz="1400" dirty="0">
                <a:solidFill>
                  <a:srgbClr val="404040"/>
                </a:solidFill>
                <a:latin typeface="Franklin Gothic Book"/>
                <a:cs typeface="Franklin Gothic Book"/>
              </a:rPr>
              <a:t> </a:t>
            </a:r>
            <a:r>
              <a:rPr lang="en-US" sz="1400" dirty="0">
                <a:solidFill>
                  <a:srgbClr val="404040"/>
                </a:solidFill>
                <a:latin typeface="Franklin Gothic Book"/>
                <a:cs typeface="Franklin Gothic Book"/>
              </a:rPr>
              <a:t> </a:t>
            </a:r>
            <a:r>
              <a:rPr sz="1400" dirty="0">
                <a:solidFill>
                  <a:srgbClr val="404040"/>
                </a:solidFill>
                <a:latin typeface="Franklin Gothic Book"/>
                <a:cs typeface="Franklin Gothic Book"/>
              </a:rPr>
              <a:t>Ask to see a few revenue models or assumption models that re-mix the business.</a:t>
            </a:r>
            <a:r>
              <a:rPr lang="en-US" sz="1400" dirty="0">
                <a:solidFill>
                  <a:srgbClr val="404040"/>
                </a:solidFill>
                <a:latin typeface="Franklin Gothic Book"/>
                <a:cs typeface="Franklin Gothic Book"/>
              </a:rPr>
              <a:t>  Ensure that they have the strategy, competencies, and capabilities to achieve that mix.  Understand shifting mix requires a change in behavior and habit.  We find that teams plan to shift mix, but often fall short as they work to execute.</a:t>
            </a:r>
            <a:endParaRPr sz="1400" dirty="0">
              <a:latin typeface="Franklin Gothic Book"/>
              <a:cs typeface="Franklin Gothic Book"/>
            </a:endParaRPr>
          </a:p>
          <a:p>
            <a:pPr marL="422275" marR="187325" indent="-409575">
              <a:lnSpc>
                <a:spcPct val="99600"/>
              </a:lnSpc>
              <a:spcBef>
                <a:spcPts val="1325"/>
              </a:spcBef>
              <a:buAutoNum type="arabicPeriod" startAt="8"/>
              <a:tabLst>
                <a:tab pos="421640" algn="l"/>
                <a:tab pos="422275" algn="l"/>
                <a:tab pos="5022215" algn="l"/>
              </a:tabLst>
            </a:pPr>
            <a:r>
              <a:rPr sz="1400" b="1" dirty="0">
                <a:solidFill>
                  <a:srgbClr val="404040"/>
                </a:solidFill>
                <a:latin typeface="Franklin Gothic Book"/>
                <a:cs typeface="Franklin Gothic Book"/>
              </a:rPr>
              <a:t>Segment Strategy- </a:t>
            </a:r>
            <a:r>
              <a:rPr sz="1400" dirty="0">
                <a:solidFill>
                  <a:srgbClr val="404040"/>
                </a:solidFill>
                <a:latin typeface="Franklin Gothic Book"/>
                <a:cs typeface="Franklin Gothic Book"/>
              </a:rPr>
              <a:t>Review segment strategy of those accounts that are predominately managed by the revenue management team</a:t>
            </a:r>
            <a:r>
              <a:rPr lang="en-US" sz="1400" dirty="0">
                <a:solidFill>
                  <a:srgbClr val="404040"/>
                </a:solidFill>
                <a:latin typeface="Franklin Gothic Book"/>
                <a:cs typeface="Franklin Gothic Book"/>
              </a:rPr>
              <a:t>. </a:t>
            </a:r>
            <a:r>
              <a:rPr sz="1400" dirty="0">
                <a:solidFill>
                  <a:srgbClr val="404040"/>
                </a:solidFill>
                <a:latin typeface="Franklin Gothic Book"/>
                <a:cs typeface="Franklin Gothic Book"/>
              </a:rPr>
              <a:t>They too  should have segment strategies and tactics. They should be able to  demonstrate how that strategy supports the financial goals of the specific  segment.</a:t>
            </a:r>
            <a:endParaRPr sz="1400" dirty="0">
              <a:latin typeface="Franklin Gothic Book"/>
              <a:cs typeface="Franklin Gothic Book"/>
            </a:endParaRPr>
          </a:p>
          <a:p>
            <a:pPr>
              <a:lnSpc>
                <a:spcPct val="100000"/>
              </a:lnSpc>
              <a:spcBef>
                <a:spcPts val="45"/>
              </a:spcBef>
              <a:buClr>
                <a:srgbClr val="404040"/>
              </a:buClr>
              <a:buFont typeface="Franklin Gothic Book"/>
              <a:buAutoNum type="arabicPeriod" startAt="8"/>
            </a:pPr>
            <a:endParaRPr sz="1100" dirty="0">
              <a:latin typeface="Franklin Gothic Book"/>
              <a:cs typeface="Franklin Gothic Book"/>
            </a:endParaRPr>
          </a:p>
          <a:p>
            <a:pPr marL="469900" marR="289560" indent="-457200">
              <a:lnSpc>
                <a:spcPct val="99000"/>
              </a:lnSpc>
              <a:buAutoNum type="arabicPeriod" startAt="8"/>
              <a:tabLst>
                <a:tab pos="469265" algn="l"/>
                <a:tab pos="469900" algn="l"/>
                <a:tab pos="1628139" algn="l"/>
              </a:tabLst>
            </a:pPr>
            <a:r>
              <a:rPr sz="1400" b="1" dirty="0">
                <a:solidFill>
                  <a:srgbClr val="404040"/>
                </a:solidFill>
                <a:latin typeface="Franklin Gothic Book"/>
                <a:cs typeface="Franklin Gothic Book"/>
              </a:rPr>
              <a:t>OTA Strategy-</a:t>
            </a:r>
            <a:r>
              <a:rPr lang="en-US" sz="1400" dirty="0">
                <a:solidFill>
                  <a:srgbClr val="404040"/>
                </a:solidFill>
                <a:latin typeface="Franklin Gothic Book"/>
                <a:cs typeface="Franklin Gothic Book"/>
              </a:rPr>
              <a:t>  </a:t>
            </a:r>
            <a:r>
              <a:rPr sz="1400" dirty="0">
                <a:solidFill>
                  <a:srgbClr val="404040"/>
                </a:solidFill>
                <a:latin typeface="Franklin Gothic Book"/>
                <a:cs typeface="Franklin Gothic Book"/>
              </a:rPr>
              <a:t>In today’s economy 30% occupancy is the new 100%. Make sure that the OTA strategy is not their strategy for recovery. The price and cost of acquisition is not the only answer. If this is their only strategy, then sales and marketing must start engaging with customers.</a:t>
            </a:r>
            <a:endParaRPr sz="1400" dirty="0">
              <a:latin typeface="Franklin Gothic Book"/>
              <a:cs typeface="Franklin Gothic Book"/>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6854825" cy="9144000"/>
          </a:xfrm>
          <a:custGeom>
            <a:avLst/>
            <a:gdLst/>
            <a:ahLst/>
            <a:cxnLst/>
            <a:rect l="l" t="t" r="r" b="b"/>
            <a:pathLst>
              <a:path w="6854825" h="9144000">
                <a:moveTo>
                  <a:pt x="0" y="9144000"/>
                </a:moveTo>
                <a:lnTo>
                  <a:pt x="0" y="0"/>
                </a:lnTo>
                <a:lnTo>
                  <a:pt x="6854426" y="0"/>
                </a:lnTo>
                <a:lnTo>
                  <a:pt x="6854426" y="9143999"/>
                </a:lnTo>
                <a:lnTo>
                  <a:pt x="0" y="9144000"/>
                </a:lnTo>
                <a:close/>
              </a:path>
            </a:pathLst>
          </a:custGeom>
          <a:solidFill>
            <a:srgbClr val="555759"/>
          </a:solidFill>
        </p:spPr>
        <p:txBody>
          <a:bodyPr wrap="square" lIns="0" tIns="0" rIns="0" bIns="0" rtlCol="0"/>
          <a:lstStyle/>
          <a:p>
            <a:endParaRPr/>
          </a:p>
        </p:txBody>
      </p:sp>
      <p:sp>
        <p:nvSpPr>
          <p:cNvPr id="3" name="object 3"/>
          <p:cNvSpPr/>
          <p:nvPr/>
        </p:nvSpPr>
        <p:spPr>
          <a:xfrm>
            <a:off x="0" y="0"/>
            <a:ext cx="6854825" cy="9144000"/>
          </a:xfrm>
          <a:custGeom>
            <a:avLst/>
            <a:gdLst/>
            <a:ahLst/>
            <a:cxnLst/>
            <a:rect l="l" t="t" r="r" b="b"/>
            <a:pathLst>
              <a:path w="6854825" h="9144000">
                <a:moveTo>
                  <a:pt x="0" y="0"/>
                </a:moveTo>
                <a:lnTo>
                  <a:pt x="6854426" y="0"/>
                </a:lnTo>
                <a:lnTo>
                  <a:pt x="6854426" y="9143999"/>
                </a:lnTo>
              </a:path>
            </a:pathLst>
          </a:custGeom>
          <a:ln w="12700">
            <a:solidFill>
              <a:srgbClr val="3C3E8F"/>
            </a:solidFill>
          </a:ln>
        </p:spPr>
        <p:txBody>
          <a:bodyPr wrap="square" lIns="0" tIns="0" rIns="0" bIns="0" rtlCol="0"/>
          <a:lstStyle/>
          <a:p>
            <a:endParaRPr/>
          </a:p>
        </p:txBody>
      </p:sp>
      <p:sp>
        <p:nvSpPr>
          <p:cNvPr id="4" name="object 4"/>
          <p:cNvSpPr/>
          <p:nvPr/>
        </p:nvSpPr>
        <p:spPr>
          <a:xfrm>
            <a:off x="334209" y="7574061"/>
            <a:ext cx="1219200" cy="1569938"/>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303196" y="-2514600"/>
            <a:ext cx="6408420" cy="13086080"/>
          </a:xfrm>
          <a:prstGeom prst="rect">
            <a:avLst/>
          </a:prstGeom>
        </p:spPr>
        <p:txBody>
          <a:bodyPr vert="horz" wrap="square" lIns="0" tIns="12700" rIns="0" bIns="0" rtlCol="0">
            <a:spAutoFit/>
          </a:bodyPr>
          <a:lstStyle/>
          <a:p>
            <a:pPr marL="12700">
              <a:lnSpc>
                <a:spcPct val="100000"/>
              </a:lnSpc>
              <a:spcBef>
                <a:spcPts val="100"/>
              </a:spcBef>
            </a:pPr>
            <a:r>
              <a:rPr sz="85700" dirty="0">
                <a:solidFill>
                  <a:srgbClr val="D51067"/>
                </a:solidFill>
                <a:latin typeface="Franklin Gothic Medium"/>
                <a:cs typeface="Franklin Gothic Medium"/>
              </a:rPr>
              <a:t>5</a:t>
            </a:r>
            <a:endParaRPr sz="85700" dirty="0">
              <a:latin typeface="Franklin Gothic Medium"/>
              <a:cs typeface="Franklin Gothic Medium"/>
            </a:endParaRPr>
          </a:p>
        </p:txBody>
      </p:sp>
      <p:sp>
        <p:nvSpPr>
          <p:cNvPr id="6" name="object 6"/>
          <p:cNvSpPr txBox="1"/>
          <p:nvPr/>
        </p:nvSpPr>
        <p:spPr>
          <a:xfrm>
            <a:off x="2218927" y="8581135"/>
            <a:ext cx="2412365" cy="151323"/>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2F2F2"/>
                </a:solidFill>
                <a:latin typeface="Franklin Gothic Book"/>
                <a:cs typeface="Franklin Gothic Book"/>
              </a:rPr>
              <a:t>Effective Planning for Top-Line Growth </a:t>
            </a:r>
            <a:r>
              <a:rPr sz="900" dirty="0">
                <a:solidFill>
                  <a:srgbClr val="F2F2F2"/>
                </a:solidFill>
                <a:latin typeface="Franklin Gothic Book"/>
                <a:cs typeface="Franklin Gothic Book"/>
              </a:rPr>
              <a:t>in Times of</a:t>
            </a:r>
            <a:endParaRPr sz="900" dirty="0">
              <a:latin typeface="Franklin Gothic Book"/>
              <a:cs typeface="Franklin Gothic Book"/>
            </a:endParaRPr>
          </a:p>
        </p:txBody>
      </p:sp>
      <p:sp>
        <p:nvSpPr>
          <p:cNvPr id="7" name="object 7"/>
          <p:cNvSpPr txBox="1"/>
          <p:nvPr/>
        </p:nvSpPr>
        <p:spPr>
          <a:xfrm>
            <a:off x="3164250" y="8721343"/>
            <a:ext cx="52260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2F2F2"/>
                </a:solidFill>
                <a:latin typeface="Franklin Gothic Book"/>
                <a:cs typeface="Franklin Gothic Book"/>
              </a:rPr>
              <a:t>Disruption</a:t>
            </a:r>
            <a:endParaRPr sz="900">
              <a:latin typeface="Franklin Gothic Book"/>
              <a:cs typeface="Franklin Gothic Book"/>
            </a:endParaRPr>
          </a:p>
        </p:txBody>
      </p:sp>
      <p:sp>
        <p:nvSpPr>
          <p:cNvPr id="8" name="object 8"/>
          <p:cNvSpPr txBox="1"/>
          <p:nvPr/>
        </p:nvSpPr>
        <p:spPr>
          <a:xfrm>
            <a:off x="6166802" y="8623807"/>
            <a:ext cx="13970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FFFFFF"/>
                </a:solidFill>
                <a:latin typeface="Calibri"/>
                <a:cs typeface="Calibri"/>
              </a:rPr>
              <a:t>16</a:t>
            </a:r>
            <a:endParaRPr sz="900">
              <a:latin typeface="Calibri"/>
              <a:cs typeface="Calibri"/>
            </a:endParaRPr>
          </a:p>
        </p:txBody>
      </p:sp>
      <p:sp>
        <p:nvSpPr>
          <p:cNvPr id="9" name="object 9"/>
          <p:cNvSpPr txBox="1"/>
          <p:nvPr/>
        </p:nvSpPr>
        <p:spPr>
          <a:xfrm>
            <a:off x="4436240" y="5462523"/>
            <a:ext cx="2111375" cy="452120"/>
          </a:xfrm>
          <a:prstGeom prst="rect">
            <a:avLst/>
          </a:prstGeom>
        </p:spPr>
        <p:txBody>
          <a:bodyPr vert="horz" wrap="square" lIns="0" tIns="12700" rIns="0" bIns="0" rtlCol="0">
            <a:spAutoFit/>
          </a:bodyPr>
          <a:lstStyle/>
          <a:p>
            <a:pPr marL="12700">
              <a:lnSpc>
                <a:spcPct val="100000"/>
              </a:lnSpc>
              <a:spcBef>
                <a:spcPts val="100"/>
              </a:spcBef>
            </a:pPr>
            <a:r>
              <a:rPr sz="2800" i="1" spc="-5" dirty="0">
                <a:solidFill>
                  <a:srgbClr val="FFFFFF"/>
                </a:solidFill>
                <a:latin typeface="Franklin Gothic Book Italic"/>
                <a:cs typeface="Franklin Gothic Book Italic"/>
              </a:rPr>
              <a:t>The</a:t>
            </a:r>
            <a:r>
              <a:rPr sz="2800" i="1" spc="-85" dirty="0">
                <a:solidFill>
                  <a:srgbClr val="FFFFFF"/>
                </a:solidFill>
                <a:latin typeface="Franklin Gothic Book Italic"/>
                <a:cs typeface="Franklin Gothic Book Italic"/>
              </a:rPr>
              <a:t> </a:t>
            </a:r>
            <a:r>
              <a:rPr sz="2800" i="1" spc="-50" dirty="0">
                <a:solidFill>
                  <a:srgbClr val="FFFFFF"/>
                </a:solidFill>
                <a:latin typeface="Franklin Gothic Book Italic"/>
                <a:cs typeface="Franklin Gothic Book Italic"/>
              </a:rPr>
              <a:t>Takeaway</a:t>
            </a:r>
            <a:endParaRPr sz="2800" dirty="0">
              <a:latin typeface="Franklin Gothic Book Italic"/>
              <a:cs typeface="Franklin Gothic Book Italic"/>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026" y="228600"/>
            <a:ext cx="1506220" cy="330200"/>
          </a:xfrm>
          <a:prstGeom prst="rect">
            <a:avLst/>
          </a:prstGeom>
        </p:spPr>
        <p:txBody>
          <a:bodyPr vert="horz" wrap="square" lIns="0" tIns="12700" rIns="0" bIns="0" rtlCol="0">
            <a:spAutoFit/>
          </a:bodyPr>
          <a:lstStyle/>
          <a:p>
            <a:pPr marL="12700">
              <a:lnSpc>
                <a:spcPct val="100000"/>
              </a:lnSpc>
              <a:spcBef>
                <a:spcPts val="100"/>
              </a:spcBef>
            </a:pPr>
            <a:r>
              <a:rPr spc="-5" dirty="0"/>
              <a:t>The</a:t>
            </a:r>
            <a:r>
              <a:rPr spc="-65" dirty="0"/>
              <a:t> </a:t>
            </a:r>
            <a:r>
              <a:rPr spc="-40" dirty="0"/>
              <a:t>Takeaway</a:t>
            </a:r>
          </a:p>
        </p:txBody>
      </p:sp>
      <p:sp>
        <p:nvSpPr>
          <p:cNvPr id="3" name="object 3"/>
          <p:cNvSpPr txBox="1"/>
          <p:nvPr/>
        </p:nvSpPr>
        <p:spPr>
          <a:xfrm>
            <a:off x="2183737" y="8742680"/>
            <a:ext cx="2938780" cy="151323"/>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898989"/>
                </a:solidFill>
                <a:latin typeface="Franklin Gothic Book"/>
                <a:cs typeface="Franklin Gothic Book"/>
              </a:rPr>
              <a:t>Effective Planning for Top-Line Growth </a:t>
            </a:r>
            <a:r>
              <a:rPr sz="900" dirty="0">
                <a:solidFill>
                  <a:srgbClr val="898989"/>
                </a:solidFill>
                <a:latin typeface="Franklin Gothic Book"/>
                <a:cs typeface="Franklin Gothic Book"/>
              </a:rPr>
              <a:t>in </a:t>
            </a:r>
            <a:r>
              <a:rPr sz="900" spc="-5" dirty="0">
                <a:solidFill>
                  <a:srgbClr val="898989"/>
                </a:solidFill>
                <a:latin typeface="Franklin Gothic Book"/>
                <a:cs typeface="Franklin Gothic Book"/>
              </a:rPr>
              <a:t>Times of </a:t>
            </a:r>
            <a:r>
              <a:rPr sz="900" dirty="0">
                <a:solidFill>
                  <a:srgbClr val="898989"/>
                </a:solidFill>
                <a:latin typeface="Franklin Gothic Book"/>
                <a:cs typeface="Franklin Gothic Book"/>
              </a:rPr>
              <a:t>Disruption</a:t>
            </a:r>
            <a:endParaRPr sz="900" dirty="0">
              <a:latin typeface="Franklin Gothic Book"/>
              <a:cs typeface="Franklin Gothic Book"/>
            </a:endParaRPr>
          </a:p>
        </p:txBody>
      </p:sp>
      <p:sp>
        <p:nvSpPr>
          <p:cNvPr id="4" name="object 4"/>
          <p:cNvSpPr txBox="1"/>
          <p:nvPr/>
        </p:nvSpPr>
        <p:spPr>
          <a:xfrm>
            <a:off x="6286498" y="8730488"/>
            <a:ext cx="13970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898989"/>
                </a:solidFill>
                <a:latin typeface="Calibri"/>
                <a:cs typeface="Calibri"/>
              </a:rPr>
              <a:t>17</a:t>
            </a:r>
            <a:endParaRPr sz="900">
              <a:latin typeface="Calibri"/>
              <a:cs typeface="Calibri"/>
            </a:endParaRPr>
          </a:p>
        </p:txBody>
      </p:sp>
      <p:sp>
        <p:nvSpPr>
          <p:cNvPr id="5" name="object 5"/>
          <p:cNvSpPr/>
          <p:nvPr/>
        </p:nvSpPr>
        <p:spPr>
          <a:xfrm>
            <a:off x="218325" y="755355"/>
            <a:ext cx="2620010" cy="0"/>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6" name="object 6"/>
          <p:cNvSpPr txBox="1"/>
          <p:nvPr/>
        </p:nvSpPr>
        <p:spPr>
          <a:xfrm>
            <a:off x="533400" y="848097"/>
            <a:ext cx="6073775" cy="4152932"/>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404040"/>
                </a:solidFill>
                <a:latin typeface="Franklin Gothic Medium"/>
                <a:cs typeface="Franklin Gothic Medium"/>
              </a:rPr>
              <a:t>History has shown us</a:t>
            </a:r>
            <a:r>
              <a:rPr sz="1400" dirty="0">
                <a:solidFill>
                  <a:srgbClr val="404040"/>
                </a:solidFill>
                <a:latin typeface="Franklin Gothic Book"/>
                <a:cs typeface="Franklin Gothic Book"/>
              </a:rPr>
              <a:t>:</a:t>
            </a:r>
            <a:endParaRPr sz="1400" dirty="0">
              <a:latin typeface="Franklin Gothic Book"/>
              <a:cs typeface="Franklin Gothic Book"/>
            </a:endParaRPr>
          </a:p>
          <a:p>
            <a:pPr>
              <a:lnSpc>
                <a:spcPct val="100000"/>
              </a:lnSpc>
              <a:spcBef>
                <a:spcPts val="25"/>
              </a:spcBef>
            </a:pPr>
            <a:endParaRPr sz="1100" dirty="0">
              <a:latin typeface="Franklin Gothic Book"/>
              <a:cs typeface="Franklin Gothic Book"/>
            </a:endParaRPr>
          </a:p>
          <a:p>
            <a:pPr marL="12700" marR="228600">
              <a:lnSpc>
                <a:spcPct val="101000"/>
              </a:lnSpc>
            </a:pPr>
            <a:r>
              <a:rPr sz="1500" dirty="0">
                <a:solidFill>
                  <a:srgbClr val="404040"/>
                </a:solidFill>
                <a:latin typeface="Franklin Gothic Book"/>
                <a:cs typeface="Franklin Gothic Book"/>
              </a:rPr>
              <a:t>We have been able to enjoy gains from operational efficiencies, today it is how sales and marketing teams create demand and </a:t>
            </a:r>
            <a:r>
              <a:rPr lang="en-US" sz="1500" dirty="0">
                <a:solidFill>
                  <a:srgbClr val="404040"/>
                </a:solidFill>
                <a:latin typeface="Franklin Gothic Book"/>
                <a:cs typeface="Franklin Gothic Book"/>
              </a:rPr>
              <a:t>how </a:t>
            </a:r>
            <a:r>
              <a:rPr sz="1500" dirty="0">
                <a:solidFill>
                  <a:srgbClr val="404040"/>
                </a:solidFill>
                <a:latin typeface="Franklin Gothic Book"/>
                <a:cs typeface="Franklin Gothic Book"/>
              </a:rPr>
              <a:t>revenue management teams manage established demand. History has show</a:t>
            </a:r>
            <a:r>
              <a:rPr lang="en-US" sz="1500" dirty="0">
                <a:solidFill>
                  <a:srgbClr val="404040"/>
                </a:solidFill>
                <a:latin typeface="Franklin Gothic Book"/>
                <a:cs typeface="Franklin Gothic Book"/>
              </a:rPr>
              <a:t>n</a:t>
            </a:r>
            <a:r>
              <a:rPr sz="1500" dirty="0">
                <a:solidFill>
                  <a:srgbClr val="404040"/>
                </a:solidFill>
                <a:latin typeface="Franklin Gothic Book"/>
                <a:cs typeface="Franklin Gothic Book"/>
              </a:rPr>
              <a:t> that these teams have been ineffective at combating general economic downturns.</a:t>
            </a:r>
            <a:endParaRPr sz="1500" dirty="0">
              <a:latin typeface="Franklin Gothic Book"/>
              <a:cs typeface="Franklin Gothic Book"/>
            </a:endParaRPr>
          </a:p>
          <a:p>
            <a:pPr>
              <a:lnSpc>
                <a:spcPct val="100000"/>
              </a:lnSpc>
              <a:spcBef>
                <a:spcPts val="20"/>
              </a:spcBef>
            </a:pPr>
            <a:endParaRPr sz="1100" dirty="0">
              <a:latin typeface="Franklin Gothic Book"/>
              <a:cs typeface="Franklin Gothic Book"/>
            </a:endParaRPr>
          </a:p>
          <a:p>
            <a:pPr marL="12700" marR="156210">
              <a:lnSpc>
                <a:spcPct val="101400"/>
              </a:lnSpc>
              <a:spcBef>
                <a:spcPts val="5"/>
              </a:spcBef>
            </a:pPr>
            <a:r>
              <a:rPr sz="1500" dirty="0">
                <a:solidFill>
                  <a:srgbClr val="404040"/>
                </a:solidFill>
                <a:latin typeface="Franklin Gothic Book"/>
                <a:cs typeface="Franklin Gothic Book"/>
              </a:rPr>
              <a:t>Today we are seeing the same </a:t>
            </a:r>
            <a:r>
              <a:rPr lang="en-US" sz="1500" dirty="0">
                <a:solidFill>
                  <a:srgbClr val="404040"/>
                </a:solidFill>
                <a:latin typeface="Franklin Gothic Book"/>
                <a:cs typeface="Franklin Gothic Book"/>
              </a:rPr>
              <a:t>mistakes being made</a:t>
            </a:r>
            <a:r>
              <a:rPr sz="1500" dirty="0">
                <a:solidFill>
                  <a:srgbClr val="404040"/>
                </a:solidFill>
                <a:latin typeface="Franklin Gothic Book"/>
                <a:cs typeface="Franklin Gothic Book"/>
              </a:rPr>
              <a:t>, In fact we are repeating some of the same behaviors that will continue to erode profit margins.</a:t>
            </a:r>
            <a:endParaRPr sz="1500" dirty="0">
              <a:latin typeface="Franklin Gothic Book"/>
              <a:cs typeface="Franklin Gothic Book"/>
            </a:endParaRPr>
          </a:p>
          <a:p>
            <a:pPr>
              <a:lnSpc>
                <a:spcPct val="100000"/>
              </a:lnSpc>
            </a:pPr>
            <a:endParaRPr sz="1100" dirty="0">
              <a:latin typeface="Franklin Gothic Book"/>
              <a:cs typeface="Franklin Gothic Book"/>
            </a:endParaRPr>
          </a:p>
          <a:p>
            <a:pPr marL="12700">
              <a:lnSpc>
                <a:spcPct val="100000"/>
              </a:lnSpc>
            </a:pPr>
            <a:r>
              <a:rPr sz="1400" dirty="0">
                <a:solidFill>
                  <a:srgbClr val="404040"/>
                </a:solidFill>
                <a:latin typeface="Franklin Gothic Medium"/>
                <a:cs typeface="Franklin Gothic Medium"/>
              </a:rPr>
              <a:t>New Approach to the new world:</a:t>
            </a:r>
            <a:endParaRPr sz="1400" dirty="0">
              <a:latin typeface="Franklin Gothic Medium"/>
              <a:cs typeface="Franklin Gothic Medium"/>
            </a:endParaRPr>
          </a:p>
          <a:p>
            <a:pPr>
              <a:lnSpc>
                <a:spcPct val="100000"/>
              </a:lnSpc>
              <a:spcBef>
                <a:spcPts val="50"/>
              </a:spcBef>
            </a:pPr>
            <a:endParaRPr sz="1100" dirty="0">
              <a:latin typeface="Franklin Gothic Medium"/>
              <a:cs typeface="Franklin Gothic Medium"/>
            </a:endParaRPr>
          </a:p>
          <a:p>
            <a:pPr marL="12700" marR="5080">
              <a:lnSpc>
                <a:spcPct val="99600"/>
              </a:lnSpc>
            </a:pPr>
            <a:r>
              <a:rPr sz="1500" dirty="0">
                <a:solidFill>
                  <a:srgbClr val="404040"/>
                </a:solidFill>
                <a:latin typeface="Franklin Gothic Book"/>
                <a:cs typeface="Franklin Gothic Book"/>
              </a:rPr>
              <a:t>To be effective in the current marketplace, sales and marketing teams </a:t>
            </a:r>
            <a:r>
              <a:rPr lang="en-US" sz="1500" dirty="0">
                <a:solidFill>
                  <a:srgbClr val="404040"/>
                </a:solidFill>
                <a:latin typeface="Franklin Gothic Book"/>
                <a:cs typeface="Franklin Gothic Book"/>
              </a:rPr>
              <a:t>must</a:t>
            </a:r>
            <a:r>
              <a:rPr sz="1500" dirty="0">
                <a:solidFill>
                  <a:srgbClr val="404040"/>
                </a:solidFill>
                <a:latin typeface="Franklin Gothic Book"/>
                <a:cs typeface="Franklin Gothic Book"/>
              </a:rPr>
              <a:t> elevate their strategies and the method </a:t>
            </a:r>
            <a:r>
              <a:rPr lang="en-US" sz="1500" dirty="0">
                <a:solidFill>
                  <a:srgbClr val="404040"/>
                </a:solidFill>
                <a:latin typeface="Franklin Gothic Book"/>
                <a:cs typeface="Franklin Gothic Book"/>
              </a:rPr>
              <a:t>through</a:t>
            </a:r>
            <a:r>
              <a:rPr sz="1500" dirty="0">
                <a:solidFill>
                  <a:srgbClr val="404040"/>
                </a:solidFill>
                <a:latin typeface="Franklin Gothic Book"/>
                <a:cs typeface="Franklin Gothic Book"/>
              </a:rPr>
              <a:t> which they engage with customers. Rather than at the point of sale or purchase, both the marketing and sales teams must learn how to partner with higher order </a:t>
            </a:r>
            <a:r>
              <a:rPr lang="en-US" sz="1500" dirty="0">
                <a:solidFill>
                  <a:srgbClr val="404040"/>
                </a:solidFill>
                <a:latin typeface="Franklin Gothic Book"/>
                <a:cs typeface="Franklin Gothic Book"/>
              </a:rPr>
              <a:t>businesspeople</a:t>
            </a:r>
            <a:r>
              <a:rPr sz="1500" dirty="0">
                <a:solidFill>
                  <a:srgbClr val="404040"/>
                </a:solidFill>
                <a:latin typeface="Franklin Gothic Book"/>
                <a:cs typeface="Franklin Gothic Book"/>
              </a:rPr>
              <a:t> to create a partnership beyond a product-rate driven sale.</a:t>
            </a:r>
            <a:endParaRPr sz="1500" dirty="0">
              <a:latin typeface="Franklin Gothic Book"/>
              <a:cs typeface="Franklin Gothic Book"/>
            </a:endParaRPr>
          </a:p>
        </p:txBody>
      </p:sp>
      <p:sp>
        <p:nvSpPr>
          <p:cNvPr id="7" name="object 7"/>
          <p:cNvSpPr txBox="1"/>
          <p:nvPr/>
        </p:nvSpPr>
        <p:spPr>
          <a:xfrm>
            <a:off x="1673246" y="7472171"/>
            <a:ext cx="905510" cy="656590"/>
          </a:xfrm>
          <a:prstGeom prst="rect">
            <a:avLst/>
          </a:prstGeom>
        </p:spPr>
        <p:txBody>
          <a:bodyPr vert="horz" wrap="square" lIns="0" tIns="17145" rIns="0" bIns="0" rtlCol="0">
            <a:spAutoFit/>
          </a:bodyPr>
          <a:lstStyle/>
          <a:p>
            <a:pPr marL="12700" marR="5080">
              <a:lnSpc>
                <a:spcPct val="97900"/>
              </a:lnSpc>
              <a:spcBef>
                <a:spcPts val="135"/>
              </a:spcBef>
            </a:pPr>
            <a:r>
              <a:rPr sz="1400" spc="-10" dirty="0">
                <a:solidFill>
                  <a:srgbClr val="404040"/>
                </a:solidFill>
                <a:latin typeface="Franklin Gothic Medium"/>
                <a:cs typeface="Franklin Gothic Medium"/>
              </a:rPr>
              <a:t>Move </a:t>
            </a:r>
            <a:r>
              <a:rPr sz="1400" spc="-30" dirty="0">
                <a:solidFill>
                  <a:srgbClr val="404040"/>
                </a:solidFill>
                <a:latin typeface="Franklin Gothic Medium"/>
                <a:cs typeface="Franklin Gothic Medium"/>
              </a:rPr>
              <a:t>To:  </a:t>
            </a:r>
            <a:r>
              <a:rPr sz="1400" spc="-5" dirty="0">
                <a:solidFill>
                  <a:srgbClr val="404040"/>
                </a:solidFill>
                <a:latin typeface="Franklin Gothic Medium"/>
                <a:cs typeface="Franklin Gothic Medium"/>
              </a:rPr>
              <a:t>business  p</a:t>
            </a:r>
            <a:r>
              <a:rPr sz="1400" spc="5" dirty="0">
                <a:solidFill>
                  <a:srgbClr val="404040"/>
                </a:solidFill>
                <a:latin typeface="Franklin Gothic Medium"/>
                <a:cs typeface="Franklin Gothic Medium"/>
              </a:rPr>
              <a:t>a</a:t>
            </a:r>
            <a:r>
              <a:rPr sz="1400" spc="25" dirty="0">
                <a:solidFill>
                  <a:srgbClr val="404040"/>
                </a:solidFill>
                <a:latin typeface="Franklin Gothic Medium"/>
                <a:cs typeface="Franklin Gothic Medium"/>
              </a:rPr>
              <a:t>r</a:t>
            </a:r>
            <a:r>
              <a:rPr sz="1400" spc="-5" dirty="0">
                <a:solidFill>
                  <a:srgbClr val="404040"/>
                </a:solidFill>
                <a:latin typeface="Franklin Gothic Medium"/>
                <a:cs typeface="Franklin Gothic Medium"/>
              </a:rPr>
              <a:t>t</a:t>
            </a:r>
            <a:r>
              <a:rPr sz="1400" dirty="0">
                <a:solidFill>
                  <a:srgbClr val="404040"/>
                </a:solidFill>
                <a:latin typeface="Franklin Gothic Medium"/>
                <a:cs typeface="Franklin Gothic Medium"/>
              </a:rPr>
              <a:t>ne</a:t>
            </a:r>
            <a:r>
              <a:rPr sz="1400" spc="15" dirty="0">
                <a:solidFill>
                  <a:srgbClr val="404040"/>
                </a:solidFill>
                <a:latin typeface="Franklin Gothic Medium"/>
                <a:cs typeface="Franklin Gothic Medium"/>
              </a:rPr>
              <a:t>r</a:t>
            </a:r>
            <a:r>
              <a:rPr sz="1400" dirty="0">
                <a:solidFill>
                  <a:srgbClr val="404040"/>
                </a:solidFill>
                <a:latin typeface="Franklin Gothic Medium"/>
                <a:cs typeface="Franklin Gothic Medium"/>
              </a:rPr>
              <a:t>sh</a:t>
            </a:r>
            <a:r>
              <a:rPr sz="1400" spc="-10" dirty="0">
                <a:solidFill>
                  <a:srgbClr val="404040"/>
                </a:solidFill>
                <a:latin typeface="Franklin Gothic Medium"/>
                <a:cs typeface="Franklin Gothic Medium"/>
              </a:rPr>
              <a:t>i</a:t>
            </a:r>
            <a:r>
              <a:rPr sz="1400" dirty="0">
                <a:solidFill>
                  <a:srgbClr val="404040"/>
                </a:solidFill>
                <a:latin typeface="Franklin Gothic Medium"/>
                <a:cs typeface="Franklin Gothic Medium"/>
              </a:rPr>
              <a:t>p</a:t>
            </a:r>
            <a:endParaRPr sz="1400">
              <a:latin typeface="Franklin Gothic Medium"/>
              <a:cs typeface="Franklin Gothic Medium"/>
            </a:endParaRPr>
          </a:p>
        </p:txBody>
      </p:sp>
      <p:sp>
        <p:nvSpPr>
          <p:cNvPr id="8" name="object 8"/>
          <p:cNvSpPr txBox="1"/>
          <p:nvPr/>
        </p:nvSpPr>
        <p:spPr>
          <a:xfrm>
            <a:off x="4416446" y="7472171"/>
            <a:ext cx="906144" cy="656590"/>
          </a:xfrm>
          <a:prstGeom prst="rect">
            <a:avLst/>
          </a:prstGeom>
        </p:spPr>
        <p:txBody>
          <a:bodyPr vert="horz" wrap="square" lIns="0" tIns="17145" rIns="0" bIns="0" rtlCol="0">
            <a:spAutoFit/>
          </a:bodyPr>
          <a:lstStyle/>
          <a:p>
            <a:pPr marL="12700" marR="5080" algn="just">
              <a:lnSpc>
                <a:spcPct val="97900"/>
              </a:lnSpc>
              <a:spcBef>
                <a:spcPts val="135"/>
              </a:spcBef>
            </a:pPr>
            <a:r>
              <a:rPr sz="1400" spc="-10" dirty="0">
                <a:solidFill>
                  <a:srgbClr val="404040"/>
                </a:solidFill>
                <a:latin typeface="Franklin Gothic Medium"/>
                <a:cs typeface="Franklin Gothic Medium"/>
              </a:rPr>
              <a:t>Move from:  </a:t>
            </a:r>
            <a:r>
              <a:rPr sz="1400" spc="-5" dirty="0">
                <a:solidFill>
                  <a:srgbClr val="404040"/>
                </a:solidFill>
                <a:latin typeface="Franklin Gothic Medium"/>
                <a:cs typeface="Franklin Gothic Medium"/>
              </a:rPr>
              <a:t>pr</a:t>
            </a:r>
            <a:r>
              <a:rPr sz="1400" spc="-10" dirty="0">
                <a:solidFill>
                  <a:srgbClr val="404040"/>
                </a:solidFill>
                <a:latin typeface="Franklin Gothic Medium"/>
                <a:cs typeface="Franklin Gothic Medium"/>
              </a:rPr>
              <a:t>i</a:t>
            </a:r>
            <a:r>
              <a:rPr sz="1400" spc="-5" dirty="0">
                <a:solidFill>
                  <a:srgbClr val="404040"/>
                </a:solidFill>
                <a:latin typeface="Franklin Gothic Medium"/>
                <a:cs typeface="Franklin Gothic Medium"/>
              </a:rPr>
              <a:t>c</a:t>
            </a:r>
            <a:r>
              <a:rPr sz="1400" dirty="0">
                <a:solidFill>
                  <a:srgbClr val="404040"/>
                </a:solidFill>
                <a:latin typeface="Franklin Gothic Medium"/>
                <a:cs typeface="Franklin Gothic Medium"/>
              </a:rPr>
              <a:t>e-</a:t>
            </a:r>
            <a:r>
              <a:rPr sz="1400" spc="-5" dirty="0">
                <a:solidFill>
                  <a:srgbClr val="404040"/>
                </a:solidFill>
                <a:latin typeface="Franklin Gothic Medium"/>
                <a:cs typeface="Franklin Gothic Medium"/>
              </a:rPr>
              <a:t>dr</a:t>
            </a:r>
            <a:r>
              <a:rPr sz="1400" spc="-10" dirty="0">
                <a:solidFill>
                  <a:srgbClr val="404040"/>
                </a:solidFill>
                <a:latin typeface="Franklin Gothic Medium"/>
                <a:cs typeface="Franklin Gothic Medium"/>
              </a:rPr>
              <a:t>iv</a:t>
            </a:r>
            <a:r>
              <a:rPr sz="1400" dirty="0">
                <a:solidFill>
                  <a:srgbClr val="404040"/>
                </a:solidFill>
                <a:latin typeface="Franklin Gothic Medium"/>
                <a:cs typeface="Franklin Gothic Medium"/>
              </a:rPr>
              <a:t>en  </a:t>
            </a:r>
            <a:r>
              <a:rPr sz="1400" spc="-5" dirty="0">
                <a:solidFill>
                  <a:srgbClr val="404040"/>
                </a:solidFill>
                <a:latin typeface="Franklin Gothic Medium"/>
                <a:cs typeface="Franklin Gothic Medium"/>
              </a:rPr>
              <a:t>sale</a:t>
            </a:r>
            <a:endParaRPr sz="1400">
              <a:latin typeface="Franklin Gothic Medium"/>
              <a:cs typeface="Franklin Gothic Medium"/>
            </a:endParaRPr>
          </a:p>
        </p:txBody>
      </p:sp>
      <p:sp>
        <p:nvSpPr>
          <p:cNvPr id="9" name="object 9"/>
          <p:cNvSpPr/>
          <p:nvPr/>
        </p:nvSpPr>
        <p:spPr>
          <a:xfrm>
            <a:off x="1397000" y="5106131"/>
            <a:ext cx="4064000" cy="2273299"/>
          </a:xfrm>
          <a:prstGeom prst="rect">
            <a:avLst/>
          </a:prstGeom>
          <a:blipFill>
            <a:blip r:embed="rId2" cstate="print"/>
            <a:stretch>
              <a:fillRect/>
            </a:stretch>
          </a:blipFill>
        </p:spPr>
        <p:txBody>
          <a:bodyPr wrap="square" lIns="0" tIns="0" rIns="0" bIns="0" rtlCol="0"/>
          <a:lstStyle/>
          <a:p>
            <a:endParaRPr/>
          </a:p>
        </p:txBody>
      </p:sp>
      <p:sp>
        <p:nvSpPr>
          <p:cNvPr id="10" name="object 10"/>
          <p:cNvSpPr/>
          <p:nvPr/>
        </p:nvSpPr>
        <p:spPr>
          <a:xfrm>
            <a:off x="2651760" y="7719720"/>
            <a:ext cx="1554480" cy="95250"/>
          </a:xfrm>
          <a:custGeom>
            <a:avLst/>
            <a:gdLst/>
            <a:ahLst/>
            <a:cxnLst/>
            <a:rect l="l" t="t" r="r" b="b"/>
            <a:pathLst>
              <a:path w="1554479" h="95250">
                <a:moveTo>
                  <a:pt x="95250" y="0"/>
                </a:moveTo>
                <a:lnTo>
                  <a:pt x="0" y="47625"/>
                </a:lnTo>
                <a:lnTo>
                  <a:pt x="95250" y="95250"/>
                </a:lnTo>
                <a:lnTo>
                  <a:pt x="95250" y="63500"/>
                </a:lnTo>
                <a:lnTo>
                  <a:pt x="79373" y="63500"/>
                </a:lnTo>
                <a:lnTo>
                  <a:pt x="79373" y="31750"/>
                </a:lnTo>
                <a:lnTo>
                  <a:pt x="95250" y="31749"/>
                </a:lnTo>
                <a:lnTo>
                  <a:pt x="95250" y="0"/>
                </a:lnTo>
                <a:close/>
              </a:path>
              <a:path w="1554479" h="95250">
                <a:moveTo>
                  <a:pt x="95250" y="31749"/>
                </a:moveTo>
                <a:lnTo>
                  <a:pt x="79373" y="31750"/>
                </a:lnTo>
                <a:lnTo>
                  <a:pt x="79373" y="63500"/>
                </a:lnTo>
                <a:lnTo>
                  <a:pt x="95250" y="63499"/>
                </a:lnTo>
                <a:lnTo>
                  <a:pt x="95250" y="31749"/>
                </a:lnTo>
                <a:close/>
              </a:path>
              <a:path w="1554479" h="95250">
                <a:moveTo>
                  <a:pt x="95250" y="63499"/>
                </a:moveTo>
                <a:lnTo>
                  <a:pt x="79373" y="63500"/>
                </a:lnTo>
                <a:lnTo>
                  <a:pt x="95250" y="63500"/>
                </a:lnTo>
                <a:close/>
              </a:path>
              <a:path w="1554479" h="95250">
                <a:moveTo>
                  <a:pt x="1554479" y="31748"/>
                </a:moveTo>
                <a:lnTo>
                  <a:pt x="95250" y="31749"/>
                </a:lnTo>
                <a:lnTo>
                  <a:pt x="95250" y="63499"/>
                </a:lnTo>
                <a:lnTo>
                  <a:pt x="1554479" y="63498"/>
                </a:lnTo>
                <a:lnTo>
                  <a:pt x="1554479" y="31748"/>
                </a:lnTo>
                <a:close/>
              </a:path>
            </a:pathLst>
          </a:custGeom>
          <a:solidFill>
            <a:srgbClr val="5557C3"/>
          </a:solidFill>
        </p:spPr>
        <p:txBody>
          <a:bodyPr wrap="square" lIns="0" tIns="0" rIns="0" bIns="0" rtlCol="0"/>
          <a:lstStyle/>
          <a:p>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93900" y="8623807"/>
            <a:ext cx="286956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898989"/>
                </a:solidFill>
                <a:latin typeface="Calibri"/>
                <a:cs typeface="Calibri"/>
              </a:rPr>
              <a:t>Effective Planning </a:t>
            </a:r>
            <a:r>
              <a:rPr sz="900" dirty="0">
                <a:solidFill>
                  <a:srgbClr val="898989"/>
                </a:solidFill>
                <a:latin typeface="Calibri"/>
                <a:cs typeface="Calibri"/>
              </a:rPr>
              <a:t>for </a:t>
            </a:r>
            <a:r>
              <a:rPr sz="900" spc="-5" dirty="0">
                <a:solidFill>
                  <a:srgbClr val="898989"/>
                </a:solidFill>
                <a:latin typeface="Calibri"/>
                <a:cs typeface="Calibri"/>
              </a:rPr>
              <a:t>Top-Line Growth </a:t>
            </a:r>
            <a:r>
              <a:rPr sz="900" dirty="0">
                <a:solidFill>
                  <a:srgbClr val="898989"/>
                </a:solidFill>
                <a:latin typeface="Calibri"/>
                <a:cs typeface="Calibri"/>
              </a:rPr>
              <a:t>in Times of</a:t>
            </a:r>
            <a:r>
              <a:rPr sz="900" spc="10" dirty="0">
                <a:solidFill>
                  <a:srgbClr val="898989"/>
                </a:solidFill>
                <a:latin typeface="Calibri"/>
                <a:cs typeface="Calibri"/>
              </a:rPr>
              <a:t> </a:t>
            </a:r>
            <a:r>
              <a:rPr sz="900" spc="-5" dirty="0">
                <a:solidFill>
                  <a:srgbClr val="898989"/>
                </a:solidFill>
                <a:latin typeface="Calibri"/>
                <a:cs typeface="Calibri"/>
              </a:rPr>
              <a:t>Disruption</a:t>
            </a:r>
            <a:endParaRPr sz="900">
              <a:latin typeface="Calibri"/>
              <a:cs typeface="Calibri"/>
            </a:endParaRPr>
          </a:p>
        </p:txBody>
      </p:sp>
      <p:sp>
        <p:nvSpPr>
          <p:cNvPr id="3" name="object 3"/>
          <p:cNvSpPr txBox="1"/>
          <p:nvPr/>
        </p:nvSpPr>
        <p:spPr>
          <a:xfrm>
            <a:off x="6166802" y="8623807"/>
            <a:ext cx="13970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898989"/>
                </a:solidFill>
                <a:latin typeface="Calibri"/>
                <a:cs typeface="Calibri"/>
              </a:rPr>
              <a:t>18</a:t>
            </a:r>
            <a:endParaRPr sz="900">
              <a:latin typeface="Calibri"/>
              <a:cs typeface="Calibri"/>
            </a:endParaRPr>
          </a:p>
        </p:txBody>
      </p:sp>
      <p:sp>
        <p:nvSpPr>
          <p:cNvPr id="4" name="object 4"/>
          <p:cNvSpPr txBox="1">
            <a:spLocks noGrp="1"/>
          </p:cNvSpPr>
          <p:nvPr>
            <p:ph type="title"/>
          </p:nvPr>
        </p:nvSpPr>
        <p:spPr>
          <a:xfrm>
            <a:off x="171607" y="391667"/>
            <a:ext cx="1506220" cy="330200"/>
          </a:xfrm>
          <a:prstGeom prst="rect">
            <a:avLst/>
          </a:prstGeom>
        </p:spPr>
        <p:txBody>
          <a:bodyPr vert="horz" wrap="square" lIns="0" tIns="12700" rIns="0" bIns="0" rtlCol="0">
            <a:spAutoFit/>
          </a:bodyPr>
          <a:lstStyle/>
          <a:p>
            <a:pPr marL="12700">
              <a:lnSpc>
                <a:spcPct val="100000"/>
              </a:lnSpc>
              <a:spcBef>
                <a:spcPts val="100"/>
              </a:spcBef>
            </a:pPr>
            <a:r>
              <a:rPr spc="-5" dirty="0"/>
              <a:t>The</a:t>
            </a:r>
            <a:r>
              <a:rPr spc="-65" dirty="0"/>
              <a:t> </a:t>
            </a:r>
            <a:r>
              <a:rPr spc="-40" dirty="0"/>
              <a:t>Takeaway</a:t>
            </a:r>
          </a:p>
        </p:txBody>
      </p:sp>
      <p:sp>
        <p:nvSpPr>
          <p:cNvPr id="5" name="object 5"/>
          <p:cNvSpPr/>
          <p:nvPr/>
        </p:nvSpPr>
        <p:spPr>
          <a:xfrm>
            <a:off x="171607" y="838200"/>
            <a:ext cx="2620010" cy="0"/>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6" name="object 6"/>
          <p:cNvSpPr txBox="1"/>
          <p:nvPr/>
        </p:nvSpPr>
        <p:spPr>
          <a:xfrm>
            <a:off x="333692" y="1066800"/>
            <a:ext cx="6189980" cy="6823150"/>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404040"/>
                </a:solidFill>
                <a:latin typeface="Franklin Gothic Medium"/>
                <a:cs typeface="Franklin Gothic Medium"/>
              </a:rPr>
              <a:t>Strategy </a:t>
            </a:r>
            <a:r>
              <a:rPr sz="1400" spc="-5" dirty="0">
                <a:solidFill>
                  <a:srgbClr val="404040"/>
                </a:solidFill>
                <a:latin typeface="Franklin Gothic Medium"/>
                <a:cs typeface="Franklin Gothic Medium"/>
              </a:rPr>
              <a:t>isn’t something…it is</a:t>
            </a:r>
            <a:r>
              <a:rPr sz="1400" dirty="0">
                <a:solidFill>
                  <a:srgbClr val="404040"/>
                </a:solidFill>
                <a:latin typeface="Franklin Gothic Medium"/>
                <a:cs typeface="Franklin Gothic Medium"/>
              </a:rPr>
              <a:t> </a:t>
            </a:r>
            <a:r>
              <a:rPr sz="1400" spc="-5" dirty="0">
                <a:solidFill>
                  <a:srgbClr val="404040"/>
                </a:solidFill>
                <a:latin typeface="Franklin Gothic Medium"/>
                <a:cs typeface="Franklin Gothic Medium"/>
              </a:rPr>
              <a:t>everything:</a:t>
            </a:r>
            <a:endParaRPr sz="1400" dirty="0">
              <a:latin typeface="Franklin Gothic Medium"/>
              <a:cs typeface="Franklin Gothic Medium"/>
            </a:endParaRPr>
          </a:p>
          <a:p>
            <a:pPr>
              <a:lnSpc>
                <a:spcPct val="100000"/>
              </a:lnSpc>
              <a:spcBef>
                <a:spcPts val="20"/>
              </a:spcBef>
            </a:pPr>
            <a:endParaRPr sz="1100" dirty="0">
              <a:latin typeface="Franklin Gothic Medium"/>
              <a:cs typeface="Franklin Gothic Medium"/>
            </a:endParaRPr>
          </a:p>
          <a:p>
            <a:pPr marL="12700" marR="5080">
              <a:lnSpc>
                <a:spcPct val="100000"/>
              </a:lnSpc>
              <a:tabLst>
                <a:tab pos="5256530" algn="l"/>
              </a:tabLst>
            </a:pPr>
            <a:r>
              <a:rPr sz="1400" dirty="0">
                <a:solidFill>
                  <a:srgbClr val="404040"/>
                </a:solidFill>
                <a:latin typeface="Franklin Gothic Book"/>
                <a:cs typeface="Franklin Gothic Book"/>
              </a:rPr>
              <a:t>To achieve to a financial the goal team must have a winning formula</a:t>
            </a:r>
            <a:r>
              <a:rPr lang="en-US" sz="1400" dirty="0">
                <a:solidFill>
                  <a:srgbClr val="404040"/>
                </a:solidFill>
                <a:latin typeface="Franklin Gothic Book"/>
                <a:cs typeface="Franklin Gothic Book"/>
              </a:rPr>
              <a:t>. </a:t>
            </a:r>
            <a:r>
              <a:rPr sz="1400" dirty="0">
                <a:solidFill>
                  <a:srgbClr val="404040"/>
                </a:solidFill>
                <a:latin typeface="Franklin Gothic Book"/>
                <a:cs typeface="Franklin Gothic Book"/>
              </a:rPr>
              <a:t>That  formula is a strategy position that cascades </a:t>
            </a:r>
            <a:r>
              <a:rPr lang="en-US" sz="1400" dirty="0">
                <a:solidFill>
                  <a:srgbClr val="404040"/>
                </a:solidFill>
                <a:latin typeface="Franklin Gothic Book"/>
                <a:cs typeface="Franklin Gothic Book"/>
              </a:rPr>
              <a:t>from </a:t>
            </a:r>
            <a:r>
              <a:rPr sz="1400" dirty="0">
                <a:solidFill>
                  <a:srgbClr val="404040"/>
                </a:solidFill>
                <a:latin typeface="Franklin Gothic Book"/>
                <a:cs typeface="Franklin Gothic Book"/>
              </a:rPr>
              <a:t>financial goals. Tactics are not the goal, revenue performance is. Our industry has rewarded </a:t>
            </a:r>
            <a:r>
              <a:rPr lang="en-US" sz="1400" dirty="0">
                <a:solidFill>
                  <a:srgbClr val="404040"/>
                </a:solidFill>
                <a:latin typeface="Franklin Gothic Book"/>
                <a:cs typeface="Franklin Gothic Book"/>
              </a:rPr>
              <a:t>tactics </a:t>
            </a:r>
            <a:r>
              <a:rPr sz="1400" dirty="0">
                <a:solidFill>
                  <a:srgbClr val="404040"/>
                </a:solidFill>
                <a:latin typeface="Franklin Gothic Book"/>
                <a:cs typeface="Franklin Gothic Book"/>
              </a:rPr>
              <a:t>regardless of their  </a:t>
            </a:r>
            <a:r>
              <a:rPr sz="1400" b="1" i="1" dirty="0">
                <a:solidFill>
                  <a:srgbClr val="404040"/>
                </a:solidFill>
                <a:latin typeface="Franklin Gothic Book"/>
                <a:cs typeface="Franklin Gothic Book"/>
              </a:rPr>
              <a:t>actual</a:t>
            </a:r>
            <a:r>
              <a:rPr sz="1400" dirty="0">
                <a:solidFill>
                  <a:srgbClr val="404040"/>
                </a:solidFill>
                <a:latin typeface="Franklin Gothic Book"/>
                <a:cs typeface="Franklin Gothic Book"/>
              </a:rPr>
              <a:t> financial impact. This mindset was born from the manufacturing era, where  management was focus</a:t>
            </a:r>
            <a:r>
              <a:rPr lang="en-US" sz="1400" dirty="0">
                <a:solidFill>
                  <a:srgbClr val="404040"/>
                </a:solidFill>
                <a:latin typeface="Franklin Gothic Book"/>
                <a:cs typeface="Franklin Gothic Book"/>
              </a:rPr>
              <a:t>ed</a:t>
            </a:r>
            <a:r>
              <a:rPr sz="1400" dirty="0">
                <a:solidFill>
                  <a:srgbClr val="404040"/>
                </a:solidFill>
                <a:latin typeface="Franklin Gothic Book"/>
                <a:cs typeface="Franklin Gothic Book"/>
              </a:rPr>
              <a:t> on productivity and outputs, rather financial impact.</a:t>
            </a:r>
            <a:endParaRPr sz="1400" dirty="0">
              <a:latin typeface="Franklin Gothic Book"/>
              <a:cs typeface="Franklin Gothic Book"/>
            </a:endParaRPr>
          </a:p>
          <a:p>
            <a:pPr marL="12700" marR="187325">
              <a:lnSpc>
                <a:spcPts val="1700"/>
              </a:lnSpc>
              <a:spcBef>
                <a:spcPts val="40"/>
              </a:spcBef>
            </a:pPr>
            <a:r>
              <a:rPr sz="1400" dirty="0">
                <a:solidFill>
                  <a:srgbClr val="404040"/>
                </a:solidFill>
                <a:latin typeface="Franklin Gothic Book"/>
                <a:cs typeface="Franklin Gothic Book"/>
              </a:rPr>
              <a:t>Organization</a:t>
            </a:r>
            <a:r>
              <a:rPr lang="en-US" sz="1400" dirty="0">
                <a:solidFill>
                  <a:srgbClr val="404040"/>
                </a:solidFill>
                <a:latin typeface="Franklin Gothic Book"/>
                <a:cs typeface="Franklin Gothic Book"/>
              </a:rPr>
              <a:t>s</a:t>
            </a:r>
            <a:r>
              <a:rPr sz="1400" dirty="0">
                <a:solidFill>
                  <a:srgbClr val="404040"/>
                </a:solidFill>
                <a:latin typeface="Franklin Gothic Book"/>
                <a:cs typeface="Franklin Gothic Book"/>
              </a:rPr>
              <a:t> must acknowledge that strategy has a causal relationship with  financial impacts, random activities that seem productive on the surface are not  adequate.</a:t>
            </a:r>
            <a:endParaRPr sz="1400" dirty="0">
              <a:latin typeface="Franklin Gothic Book"/>
              <a:cs typeface="Franklin Gothic Book"/>
            </a:endParaRPr>
          </a:p>
          <a:p>
            <a:pPr>
              <a:lnSpc>
                <a:spcPct val="100000"/>
              </a:lnSpc>
              <a:spcBef>
                <a:spcPts val="50"/>
              </a:spcBef>
            </a:pPr>
            <a:endParaRPr sz="1050" dirty="0">
              <a:latin typeface="Franklin Gothic Book"/>
              <a:cs typeface="Franklin Gothic Book"/>
            </a:endParaRPr>
          </a:p>
          <a:p>
            <a:pPr marL="12700">
              <a:lnSpc>
                <a:spcPct val="100000"/>
              </a:lnSpc>
            </a:pPr>
            <a:r>
              <a:rPr sz="1400" dirty="0">
                <a:solidFill>
                  <a:srgbClr val="404040"/>
                </a:solidFill>
                <a:latin typeface="Franklin Gothic Book"/>
                <a:cs typeface="Franklin Gothic Book"/>
              </a:rPr>
              <a:t>An effective strategy could look like the following:</a:t>
            </a:r>
            <a:endParaRPr sz="1400" dirty="0">
              <a:latin typeface="Franklin Gothic Book"/>
              <a:cs typeface="Franklin Gothic Book"/>
            </a:endParaRPr>
          </a:p>
          <a:p>
            <a:pPr>
              <a:lnSpc>
                <a:spcPct val="100000"/>
              </a:lnSpc>
              <a:spcBef>
                <a:spcPts val="10"/>
              </a:spcBef>
            </a:pPr>
            <a:endParaRPr sz="1100" dirty="0">
              <a:latin typeface="Franklin Gothic Book"/>
              <a:cs typeface="Franklin Gothic Book"/>
            </a:endParaRPr>
          </a:p>
          <a:p>
            <a:pPr marL="469900" marR="60960">
              <a:lnSpc>
                <a:spcPct val="99600"/>
              </a:lnSpc>
              <a:tabLst>
                <a:tab pos="1572895" algn="l"/>
                <a:tab pos="4725035" algn="l"/>
              </a:tabLst>
            </a:pPr>
            <a:r>
              <a:rPr sz="1400" i="1" dirty="0">
                <a:solidFill>
                  <a:srgbClr val="0070C0"/>
                </a:solidFill>
                <a:latin typeface="Franklin Gothic Book Italic"/>
                <a:cs typeface="Franklin Gothic Book Italic"/>
              </a:rPr>
              <a:t>We are looking to increase our revenue growth by 14%.To do so, there are  5 accounts that will get us to that goal, General Electric increase of 10%  from $200 to $220, Apple where we are increasing our market share from  20% to 68%.</a:t>
            </a:r>
            <a:r>
              <a:rPr lang="en-US" sz="1400" i="1" dirty="0">
                <a:solidFill>
                  <a:srgbClr val="0070C0"/>
                </a:solidFill>
                <a:latin typeface="Franklin Gothic Book Italic"/>
                <a:cs typeface="Franklin Gothic Book Italic"/>
              </a:rPr>
              <a:t> </a:t>
            </a:r>
            <a:r>
              <a:rPr sz="1400" i="1" dirty="0">
                <a:solidFill>
                  <a:srgbClr val="0070C0"/>
                </a:solidFill>
                <a:latin typeface="Franklin Gothic Book Italic"/>
                <a:cs typeface="Franklin Gothic Book Italic"/>
              </a:rPr>
              <a:t>Below are the tactics that we have outlined to achieve the above strategy and financial goals</a:t>
            </a:r>
            <a:r>
              <a:rPr lang="en-US" sz="1400" i="1" dirty="0">
                <a:solidFill>
                  <a:srgbClr val="0070C0"/>
                </a:solidFill>
                <a:latin typeface="Franklin Gothic Book Italic"/>
                <a:cs typeface="Franklin Gothic Book Italic"/>
              </a:rPr>
              <a:t>….</a:t>
            </a:r>
            <a:endParaRPr sz="1400" dirty="0">
              <a:latin typeface="Franklin Gothic Book Italic"/>
              <a:cs typeface="Franklin Gothic Book Italic"/>
            </a:endParaRPr>
          </a:p>
          <a:p>
            <a:pPr>
              <a:lnSpc>
                <a:spcPct val="100000"/>
              </a:lnSpc>
              <a:spcBef>
                <a:spcPts val="25"/>
              </a:spcBef>
            </a:pPr>
            <a:endParaRPr sz="1200" dirty="0">
              <a:latin typeface="Franklin Gothic Book Italic"/>
              <a:cs typeface="Franklin Gothic Book Italic"/>
            </a:endParaRPr>
          </a:p>
          <a:p>
            <a:pPr marL="12700">
              <a:lnSpc>
                <a:spcPct val="100000"/>
              </a:lnSpc>
            </a:pPr>
            <a:r>
              <a:rPr sz="1400" dirty="0">
                <a:solidFill>
                  <a:srgbClr val="404040"/>
                </a:solidFill>
                <a:latin typeface="Franklin Gothic Medium"/>
                <a:cs typeface="Franklin Gothic Medium"/>
              </a:rPr>
              <a:t>New Approach to the new world:</a:t>
            </a:r>
            <a:endParaRPr sz="1400" dirty="0">
              <a:latin typeface="Franklin Gothic Medium"/>
              <a:cs typeface="Franklin Gothic Medium"/>
            </a:endParaRPr>
          </a:p>
          <a:p>
            <a:pPr>
              <a:lnSpc>
                <a:spcPct val="100000"/>
              </a:lnSpc>
              <a:spcBef>
                <a:spcPts val="35"/>
              </a:spcBef>
            </a:pPr>
            <a:endParaRPr sz="1100" dirty="0">
              <a:latin typeface="Franklin Gothic Medium"/>
              <a:cs typeface="Franklin Gothic Medium"/>
            </a:endParaRPr>
          </a:p>
          <a:p>
            <a:pPr marL="12700" marR="19050">
              <a:lnSpc>
                <a:spcPct val="100699"/>
              </a:lnSpc>
            </a:pPr>
            <a:r>
              <a:rPr sz="1400" dirty="0">
                <a:solidFill>
                  <a:srgbClr val="404040"/>
                </a:solidFill>
                <a:latin typeface="Franklin Gothic Book"/>
                <a:cs typeface="Franklin Gothic Book"/>
              </a:rPr>
              <a:t>Teams have been taking the same approach since the 1970’s</a:t>
            </a:r>
            <a:r>
              <a:rPr lang="en-US" sz="1400" dirty="0">
                <a:solidFill>
                  <a:srgbClr val="404040"/>
                </a:solidFill>
                <a:latin typeface="Franklin Gothic Book"/>
                <a:cs typeface="Franklin Gothic Book"/>
              </a:rPr>
              <a:t>. Y</a:t>
            </a:r>
            <a:r>
              <a:rPr sz="1400" dirty="0">
                <a:solidFill>
                  <a:srgbClr val="404040"/>
                </a:solidFill>
                <a:latin typeface="Franklin Gothic Book"/>
                <a:cs typeface="Franklin Gothic Book"/>
              </a:rPr>
              <a:t>et </a:t>
            </a:r>
            <a:r>
              <a:rPr lang="en-US" sz="1400" dirty="0">
                <a:solidFill>
                  <a:srgbClr val="404040"/>
                </a:solidFill>
                <a:latin typeface="Franklin Gothic Book"/>
                <a:cs typeface="Franklin Gothic Book"/>
              </a:rPr>
              <a:t>they </a:t>
            </a:r>
            <a:r>
              <a:rPr sz="1400" dirty="0">
                <a:solidFill>
                  <a:srgbClr val="404040"/>
                </a:solidFill>
                <a:latin typeface="Franklin Gothic Book"/>
                <a:cs typeface="Franklin Gothic Book"/>
              </a:rPr>
              <a:t>are expecting them to illicit new results. Metaphorically this is </a:t>
            </a:r>
            <a:r>
              <a:rPr lang="en-US" sz="1400" dirty="0">
                <a:solidFill>
                  <a:srgbClr val="404040"/>
                </a:solidFill>
                <a:latin typeface="Franklin Gothic Book"/>
                <a:cs typeface="Franklin Gothic Book"/>
              </a:rPr>
              <a:t>like</a:t>
            </a:r>
            <a:r>
              <a:rPr sz="1400" dirty="0">
                <a:solidFill>
                  <a:srgbClr val="404040"/>
                </a:solidFill>
                <a:latin typeface="Franklin Gothic Book"/>
                <a:cs typeface="Franklin Gothic Book"/>
              </a:rPr>
              <a:t> yelling at a rotary phone for </a:t>
            </a:r>
            <a:r>
              <a:rPr lang="en-US" sz="1400" dirty="0">
                <a:solidFill>
                  <a:srgbClr val="404040"/>
                </a:solidFill>
                <a:latin typeface="Franklin Gothic Book"/>
                <a:cs typeface="Franklin Gothic Book"/>
              </a:rPr>
              <a:t>Siri to give </a:t>
            </a:r>
            <a:r>
              <a:rPr sz="1400" dirty="0">
                <a:solidFill>
                  <a:srgbClr val="404040"/>
                </a:solidFill>
                <a:latin typeface="Franklin Gothic Book"/>
                <a:cs typeface="Franklin Gothic Book"/>
              </a:rPr>
              <a:t>directions to the grocery store</a:t>
            </a:r>
            <a:r>
              <a:rPr lang="en-US" sz="1400" dirty="0">
                <a:solidFill>
                  <a:srgbClr val="404040"/>
                </a:solidFill>
                <a:latin typeface="Franklin Gothic Book"/>
                <a:cs typeface="Franklin Gothic Book"/>
              </a:rPr>
              <a:t>--</a:t>
            </a:r>
            <a:r>
              <a:rPr lang="en-US" sz="1400" b="1" dirty="0">
                <a:solidFill>
                  <a:srgbClr val="404040"/>
                </a:solidFill>
                <a:latin typeface="Franklin Gothic Book"/>
                <a:cs typeface="Franklin Gothic Book"/>
              </a:rPr>
              <a:t>i</a:t>
            </a:r>
            <a:r>
              <a:rPr sz="1400" b="1" dirty="0">
                <a:solidFill>
                  <a:srgbClr val="404040"/>
                </a:solidFill>
                <a:latin typeface="Franklin Gothic Book"/>
                <a:cs typeface="Franklin Gothic Book"/>
              </a:rPr>
              <a:t>t won’t work</a:t>
            </a:r>
            <a:r>
              <a:rPr sz="1400" dirty="0">
                <a:solidFill>
                  <a:srgbClr val="404040"/>
                </a:solidFill>
                <a:latin typeface="Franklin Gothic Book"/>
                <a:cs typeface="Franklin Gothic Book"/>
              </a:rPr>
              <a:t>.</a:t>
            </a:r>
            <a:endParaRPr sz="1400" dirty="0">
              <a:latin typeface="Franklin Gothic Book"/>
              <a:cs typeface="Franklin Gothic Book"/>
            </a:endParaRPr>
          </a:p>
          <a:p>
            <a:pPr>
              <a:lnSpc>
                <a:spcPct val="100000"/>
              </a:lnSpc>
              <a:spcBef>
                <a:spcPts val="5"/>
              </a:spcBef>
            </a:pPr>
            <a:endParaRPr sz="1100" dirty="0">
              <a:latin typeface="Franklin Gothic Book"/>
              <a:cs typeface="Franklin Gothic Book"/>
            </a:endParaRPr>
          </a:p>
          <a:p>
            <a:pPr marL="12700" marR="110489">
              <a:lnSpc>
                <a:spcPct val="97900"/>
              </a:lnSpc>
              <a:tabLst>
                <a:tab pos="1240790" algn="l"/>
                <a:tab pos="2114550" algn="l"/>
              </a:tabLst>
            </a:pPr>
            <a:r>
              <a:rPr sz="1400" dirty="0">
                <a:solidFill>
                  <a:srgbClr val="404040"/>
                </a:solidFill>
                <a:latin typeface="Franklin Gothic Book"/>
                <a:cs typeface="Franklin Gothic Book"/>
              </a:rPr>
              <a:t>Moreover, the leaders of sales and marketing teams have not been exposed to a new approach.</a:t>
            </a:r>
            <a:r>
              <a:rPr lang="en-US" sz="1400" dirty="0">
                <a:solidFill>
                  <a:srgbClr val="404040"/>
                </a:solidFill>
                <a:latin typeface="Franklin Gothic Book"/>
                <a:cs typeface="Franklin Gothic Book"/>
              </a:rPr>
              <a:t> </a:t>
            </a:r>
            <a:r>
              <a:rPr sz="1400" dirty="0">
                <a:solidFill>
                  <a:srgbClr val="404040"/>
                </a:solidFill>
                <a:latin typeface="Franklin Gothic Book"/>
                <a:cs typeface="Franklin Gothic Book"/>
              </a:rPr>
              <a:t>When asked to have a new approach the common refrain is,  “We are going back to basics</a:t>
            </a:r>
            <a:r>
              <a:rPr lang="en-US" sz="1400" dirty="0">
                <a:solidFill>
                  <a:srgbClr val="404040"/>
                </a:solidFill>
                <a:latin typeface="Franklin Gothic Book"/>
                <a:cs typeface="Franklin Gothic Book"/>
              </a:rPr>
              <a:t>.”  </a:t>
            </a:r>
            <a:r>
              <a:rPr sz="1400" dirty="0">
                <a:solidFill>
                  <a:srgbClr val="404040"/>
                </a:solidFill>
                <a:latin typeface="Franklin Gothic Book"/>
                <a:cs typeface="Franklin Gothic Book"/>
              </a:rPr>
              <a:t>As they are not sure themselves of where to go next.</a:t>
            </a:r>
            <a:endParaRPr sz="1400" dirty="0">
              <a:latin typeface="Franklin Gothic Book"/>
              <a:cs typeface="Franklin Gothic Book"/>
            </a:endParaRPr>
          </a:p>
          <a:p>
            <a:pPr>
              <a:lnSpc>
                <a:spcPct val="100000"/>
              </a:lnSpc>
              <a:spcBef>
                <a:spcPts val="50"/>
              </a:spcBef>
            </a:pPr>
            <a:endParaRPr sz="1100" dirty="0">
              <a:latin typeface="Franklin Gothic Book"/>
              <a:cs typeface="Franklin Gothic Book"/>
            </a:endParaRPr>
          </a:p>
          <a:p>
            <a:pPr marL="12700" marR="81915">
              <a:lnSpc>
                <a:spcPct val="98600"/>
              </a:lnSpc>
              <a:tabLst>
                <a:tab pos="1012190" algn="l"/>
              </a:tabLst>
            </a:pPr>
            <a:r>
              <a:rPr sz="1400" dirty="0">
                <a:solidFill>
                  <a:srgbClr val="404040"/>
                </a:solidFill>
                <a:latin typeface="Franklin Gothic Book"/>
                <a:cs typeface="Franklin Gothic Book"/>
              </a:rPr>
              <a:t>It is time for leaders to embrace outside thinking to find way to pivot in this  “brave new world</a:t>
            </a:r>
            <a:r>
              <a:rPr lang="en-US" sz="1400" dirty="0">
                <a:solidFill>
                  <a:srgbClr val="404040"/>
                </a:solidFill>
                <a:latin typeface="Franklin Gothic Book"/>
                <a:cs typeface="Franklin Gothic Book"/>
              </a:rPr>
              <a:t>.</a:t>
            </a:r>
            <a:r>
              <a:rPr sz="1400" dirty="0">
                <a:solidFill>
                  <a:srgbClr val="404040"/>
                </a:solidFill>
                <a:latin typeface="Franklin Gothic Book"/>
                <a:cs typeface="Franklin Gothic Book"/>
              </a:rPr>
              <a:t>”</a:t>
            </a:r>
            <a:r>
              <a:rPr lang="en-US" sz="1400" dirty="0">
                <a:solidFill>
                  <a:srgbClr val="404040"/>
                </a:solidFill>
                <a:latin typeface="Franklin Gothic Book"/>
                <a:cs typeface="Franklin Gothic Book"/>
              </a:rPr>
              <a:t>  </a:t>
            </a:r>
            <a:r>
              <a:rPr sz="1400" dirty="0">
                <a:solidFill>
                  <a:srgbClr val="404040"/>
                </a:solidFill>
                <a:latin typeface="Franklin Gothic Book"/>
                <a:cs typeface="Franklin Gothic Book"/>
              </a:rPr>
              <a:t>There are almost no efficiencies left to be gained via operations in order to increase profits. </a:t>
            </a:r>
            <a:r>
              <a:rPr sz="1400" dirty="0">
                <a:solidFill>
                  <a:srgbClr val="B52372"/>
                </a:solidFill>
                <a:latin typeface="Franklin Gothic Book"/>
                <a:cs typeface="Franklin Gothic Book"/>
              </a:rPr>
              <a:t>Status Quo is not an option.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
            <a:ext cx="6858000" cy="9144000"/>
          </a:xfrm>
          <a:custGeom>
            <a:avLst/>
            <a:gdLst/>
            <a:ahLst/>
            <a:cxnLst/>
            <a:rect l="l" t="t" r="r" b="b"/>
            <a:pathLst>
              <a:path w="6858000" h="9144000">
                <a:moveTo>
                  <a:pt x="0" y="0"/>
                </a:moveTo>
                <a:lnTo>
                  <a:pt x="6858000" y="0"/>
                </a:lnTo>
                <a:lnTo>
                  <a:pt x="6858000" y="9143998"/>
                </a:lnTo>
                <a:lnTo>
                  <a:pt x="0" y="9143998"/>
                </a:lnTo>
                <a:lnTo>
                  <a:pt x="0" y="0"/>
                </a:lnTo>
                <a:close/>
              </a:path>
            </a:pathLst>
          </a:custGeom>
          <a:solidFill>
            <a:srgbClr val="262626"/>
          </a:solidFill>
        </p:spPr>
        <p:txBody>
          <a:bodyPr wrap="square" lIns="0" tIns="0" rIns="0" bIns="0" rtlCol="0"/>
          <a:lstStyle/>
          <a:p>
            <a:endParaRPr/>
          </a:p>
        </p:txBody>
      </p:sp>
      <p:sp>
        <p:nvSpPr>
          <p:cNvPr id="3" name="object 3"/>
          <p:cNvSpPr/>
          <p:nvPr/>
        </p:nvSpPr>
        <p:spPr>
          <a:xfrm>
            <a:off x="0" y="1"/>
            <a:ext cx="6858000" cy="9144000"/>
          </a:xfrm>
          <a:custGeom>
            <a:avLst/>
            <a:gdLst/>
            <a:ahLst/>
            <a:cxnLst/>
            <a:rect l="l" t="t" r="r" b="b"/>
            <a:pathLst>
              <a:path w="6858000" h="9144000">
                <a:moveTo>
                  <a:pt x="0" y="0"/>
                </a:moveTo>
                <a:lnTo>
                  <a:pt x="6858000" y="0"/>
                </a:lnTo>
                <a:lnTo>
                  <a:pt x="6858000" y="9143998"/>
                </a:lnTo>
              </a:path>
            </a:pathLst>
          </a:custGeom>
          <a:ln w="12700">
            <a:solidFill>
              <a:srgbClr val="3C3E8F"/>
            </a:solidFill>
          </a:ln>
        </p:spPr>
        <p:txBody>
          <a:bodyPr wrap="square" lIns="0" tIns="0" rIns="0" bIns="0" rtlCol="0"/>
          <a:lstStyle/>
          <a:p>
            <a:endParaRPr/>
          </a:p>
        </p:txBody>
      </p:sp>
      <p:sp>
        <p:nvSpPr>
          <p:cNvPr id="4" name="object 4"/>
          <p:cNvSpPr/>
          <p:nvPr/>
        </p:nvSpPr>
        <p:spPr>
          <a:xfrm>
            <a:off x="0" y="1"/>
            <a:ext cx="0" cy="9144000"/>
          </a:xfrm>
          <a:custGeom>
            <a:avLst/>
            <a:gdLst/>
            <a:ahLst/>
            <a:cxnLst/>
            <a:rect l="l" t="t" r="r" b="b"/>
            <a:pathLst>
              <a:path h="9144000">
                <a:moveTo>
                  <a:pt x="0" y="9143998"/>
                </a:moveTo>
                <a:lnTo>
                  <a:pt x="0" y="0"/>
                </a:lnTo>
              </a:path>
            </a:pathLst>
          </a:custGeom>
          <a:ln w="12700">
            <a:solidFill>
              <a:srgbClr val="3C3E8F"/>
            </a:solidFill>
          </a:ln>
        </p:spPr>
        <p:txBody>
          <a:bodyPr wrap="square" lIns="0" tIns="0" rIns="0" bIns="0" rtlCol="0"/>
          <a:lstStyle/>
          <a:p>
            <a:endParaRPr/>
          </a:p>
        </p:txBody>
      </p:sp>
      <p:sp>
        <p:nvSpPr>
          <p:cNvPr id="5" name="object 5"/>
          <p:cNvSpPr/>
          <p:nvPr/>
        </p:nvSpPr>
        <p:spPr>
          <a:xfrm>
            <a:off x="0" y="2472856"/>
            <a:ext cx="6857998" cy="4444777"/>
          </a:xfrm>
          <a:prstGeom prst="rect">
            <a:avLst/>
          </a:prstGeom>
          <a:blipFill>
            <a:blip r:embed="rId2" cstate="print"/>
            <a:stretch>
              <a:fillRect/>
            </a:stretch>
          </a:blipFill>
        </p:spPr>
        <p:txBody>
          <a:bodyPr wrap="square" lIns="0" tIns="0" rIns="0" bIns="0" rtlCol="0"/>
          <a:lstStyle/>
          <a:p>
            <a:endParaRPr/>
          </a:p>
        </p:txBody>
      </p:sp>
      <p:sp>
        <p:nvSpPr>
          <p:cNvPr id="6" name="object 6"/>
          <p:cNvSpPr txBox="1">
            <a:spLocks noGrp="1"/>
          </p:cNvSpPr>
          <p:nvPr>
            <p:ph type="title"/>
          </p:nvPr>
        </p:nvSpPr>
        <p:spPr>
          <a:xfrm>
            <a:off x="262884" y="429259"/>
            <a:ext cx="4666615" cy="1854200"/>
          </a:xfrm>
          <a:prstGeom prst="rect">
            <a:avLst/>
          </a:prstGeom>
        </p:spPr>
        <p:txBody>
          <a:bodyPr vert="horz" wrap="square" lIns="0" tIns="12700" rIns="0" bIns="0" rtlCol="0">
            <a:spAutoFit/>
          </a:bodyPr>
          <a:lstStyle/>
          <a:p>
            <a:pPr marL="12700" marR="5080">
              <a:lnSpc>
                <a:spcPct val="100000"/>
              </a:lnSpc>
              <a:spcBef>
                <a:spcPts val="100"/>
              </a:spcBef>
            </a:pPr>
            <a:r>
              <a:rPr sz="2400" spc="-85" dirty="0">
                <a:solidFill>
                  <a:srgbClr val="FFFF00"/>
                </a:solidFill>
              </a:rPr>
              <a:t>We </a:t>
            </a:r>
            <a:r>
              <a:rPr sz="2400" spc="-25" dirty="0">
                <a:solidFill>
                  <a:srgbClr val="FFFF00"/>
                </a:solidFill>
              </a:rPr>
              <a:t>take </a:t>
            </a:r>
            <a:r>
              <a:rPr sz="2400" spc="-10" dirty="0">
                <a:solidFill>
                  <a:srgbClr val="FFFF00"/>
                </a:solidFill>
              </a:rPr>
              <a:t>all the </a:t>
            </a:r>
            <a:r>
              <a:rPr sz="2400" spc="-30" dirty="0">
                <a:solidFill>
                  <a:srgbClr val="FFFF00"/>
                </a:solidFill>
              </a:rPr>
              <a:t>noise, </a:t>
            </a:r>
            <a:r>
              <a:rPr sz="2400" spc="-20" dirty="0">
                <a:solidFill>
                  <a:srgbClr val="FFFF00"/>
                </a:solidFill>
              </a:rPr>
              <a:t>disruption,  </a:t>
            </a:r>
            <a:r>
              <a:rPr sz="2400" spc="-15" dirty="0">
                <a:solidFill>
                  <a:srgbClr val="FFFF00"/>
                </a:solidFill>
              </a:rPr>
              <a:t>frustration </a:t>
            </a:r>
            <a:r>
              <a:rPr sz="2400" spc="-20" dirty="0">
                <a:solidFill>
                  <a:srgbClr val="FFFF00"/>
                </a:solidFill>
              </a:rPr>
              <a:t>and </a:t>
            </a:r>
            <a:r>
              <a:rPr sz="2400" spc="-50" dirty="0">
                <a:solidFill>
                  <a:srgbClr val="FFFF00"/>
                </a:solidFill>
              </a:rPr>
              <a:t>complexity </a:t>
            </a:r>
            <a:r>
              <a:rPr sz="2400" spc="-5" dirty="0">
                <a:solidFill>
                  <a:srgbClr val="FFFF00"/>
                </a:solidFill>
              </a:rPr>
              <a:t>of </a:t>
            </a:r>
            <a:r>
              <a:rPr sz="2400" spc="-10" dirty="0">
                <a:solidFill>
                  <a:srgbClr val="FFFF00"/>
                </a:solidFill>
              </a:rPr>
              <a:t>the</a:t>
            </a:r>
            <a:r>
              <a:rPr sz="2400" spc="-150" dirty="0">
                <a:solidFill>
                  <a:srgbClr val="FFFF00"/>
                </a:solidFill>
              </a:rPr>
              <a:t> </a:t>
            </a:r>
            <a:r>
              <a:rPr sz="2400" spc="-50" dirty="0">
                <a:solidFill>
                  <a:srgbClr val="FFFF00"/>
                </a:solidFill>
              </a:rPr>
              <a:t>new  </a:t>
            </a:r>
            <a:r>
              <a:rPr sz="2400" spc="-55" dirty="0">
                <a:solidFill>
                  <a:srgbClr val="FFFF00"/>
                </a:solidFill>
              </a:rPr>
              <a:t>economy </a:t>
            </a:r>
            <a:r>
              <a:rPr sz="2400" spc="-20" dirty="0">
                <a:solidFill>
                  <a:srgbClr val="FFFF00"/>
                </a:solidFill>
              </a:rPr>
              <a:t>and </a:t>
            </a:r>
            <a:r>
              <a:rPr sz="2400" spc="-30" dirty="0">
                <a:solidFill>
                  <a:srgbClr val="FFFF00"/>
                </a:solidFill>
              </a:rPr>
              <a:t>bring </a:t>
            </a:r>
            <a:r>
              <a:rPr sz="2400" spc="-55" dirty="0">
                <a:solidFill>
                  <a:srgbClr val="FFFF00"/>
                </a:solidFill>
              </a:rPr>
              <a:t>you </a:t>
            </a:r>
            <a:r>
              <a:rPr sz="2400" dirty="0">
                <a:solidFill>
                  <a:srgbClr val="FFFF00"/>
                </a:solidFill>
              </a:rPr>
              <a:t>a </a:t>
            </a:r>
            <a:r>
              <a:rPr sz="2400" spc="-55" dirty="0">
                <a:solidFill>
                  <a:srgbClr val="FFFF00"/>
                </a:solidFill>
              </a:rPr>
              <a:t>clear,  </a:t>
            </a:r>
            <a:r>
              <a:rPr sz="2400" spc="-40" dirty="0">
                <a:solidFill>
                  <a:srgbClr val="FFFF00"/>
                </a:solidFill>
              </a:rPr>
              <a:t>concise </a:t>
            </a:r>
            <a:r>
              <a:rPr sz="2400" spc="-20" dirty="0">
                <a:solidFill>
                  <a:srgbClr val="FFFF00"/>
                </a:solidFill>
              </a:rPr>
              <a:t>and </a:t>
            </a:r>
            <a:r>
              <a:rPr sz="2400" spc="-30" dirty="0">
                <a:solidFill>
                  <a:srgbClr val="FFFF00"/>
                </a:solidFill>
              </a:rPr>
              <a:t>simple </a:t>
            </a:r>
            <a:r>
              <a:rPr sz="2400" spc="-10" dirty="0">
                <a:solidFill>
                  <a:srgbClr val="FFFF00"/>
                </a:solidFill>
              </a:rPr>
              <a:t>path </a:t>
            </a:r>
            <a:r>
              <a:rPr sz="2400" spc="-25" dirty="0">
                <a:solidFill>
                  <a:srgbClr val="FFFF00"/>
                </a:solidFill>
              </a:rPr>
              <a:t>for </a:t>
            </a:r>
            <a:r>
              <a:rPr sz="2400" spc="-45" dirty="0">
                <a:solidFill>
                  <a:srgbClr val="FFFF00"/>
                </a:solidFill>
              </a:rPr>
              <a:t>your  </a:t>
            </a:r>
            <a:r>
              <a:rPr sz="2400" spc="-30" dirty="0">
                <a:solidFill>
                  <a:srgbClr val="FFFF00"/>
                </a:solidFill>
              </a:rPr>
              <a:t>team </a:t>
            </a:r>
            <a:r>
              <a:rPr sz="2400" spc="-25" dirty="0">
                <a:solidFill>
                  <a:srgbClr val="FFFF00"/>
                </a:solidFill>
              </a:rPr>
              <a:t>to </a:t>
            </a:r>
            <a:r>
              <a:rPr sz="2400" spc="-30" dirty="0">
                <a:solidFill>
                  <a:srgbClr val="FFFF00"/>
                </a:solidFill>
              </a:rPr>
              <a:t>get</a:t>
            </a:r>
            <a:r>
              <a:rPr sz="2400" spc="-204" dirty="0">
                <a:solidFill>
                  <a:srgbClr val="FFFF00"/>
                </a:solidFill>
              </a:rPr>
              <a:t> </a:t>
            </a:r>
            <a:r>
              <a:rPr sz="2400" spc="-25" dirty="0">
                <a:solidFill>
                  <a:srgbClr val="FFFF00"/>
                </a:solidFill>
              </a:rPr>
              <a:t>results.</a:t>
            </a:r>
            <a:endParaRPr sz="2400" dirty="0"/>
          </a:p>
        </p:txBody>
      </p:sp>
      <p:sp>
        <p:nvSpPr>
          <p:cNvPr id="7" name="object 7"/>
          <p:cNvSpPr txBox="1"/>
          <p:nvPr/>
        </p:nvSpPr>
        <p:spPr>
          <a:xfrm>
            <a:off x="5167678" y="5299964"/>
            <a:ext cx="1593850" cy="1129030"/>
          </a:xfrm>
          <a:prstGeom prst="rect">
            <a:avLst/>
          </a:prstGeom>
        </p:spPr>
        <p:txBody>
          <a:bodyPr vert="horz" wrap="square" lIns="0" tIns="9525" rIns="0" bIns="0" rtlCol="0">
            <a:spAutoFit/>
          </a:bodyPr>
          <a:lstStyle/>
          <a:p>
            <a:pPr marL="12700" marR="5080">
              <a:lnSpc>
                <a:spcPct val="100800"/>
              </a:lnSpc>
              <a:spcBef>
                <a:spcPts val="75"/>
              </a:spcBef>
              <a:tabLst>
                <a:tab pos="1350010" algn="l"/>
              </a:tabLst>
            </a:pPr>
            <a:r>
              <a:rPr sz="2400" i="1" spc="-30" dirty="0">
                <a:solidFill>
                  <a:srgbClr val="FFFF00"/>
                </a:solidFill>
                <a:latin typeface="Franklin Gothic Book Italic"/>
                <a:cs typeface="Franklin Gothic Book Italic"/>
              </a:rPr>
              <a:t>Bringing  Si</a:t>
            </a:r>
            <a:r>
              <a:rPr sz="2400" i="1" spc="-60" dirty="0">
                <a:solidFill>
                  <a:srgbClr val="FFFF00"/>
                </a:solidFill>
                <a:latin typeface="Franklin Gothic Book Italic"/>
                <a:cs typeface="Franklin Gothic Book Italic"/>
              </a:rPr>
              <a:t>m</a:t>
            </a:r>
            <a:r>
              <a:rPr sz="2400" i="1" spc="-30" dirty="0">
                <a:solidFill>
                  <a:srgbClr val="FFFF00"/>
                </a:solidFill>
                <a:latin typeface="Franklin Gothic Book Italic"/>
                <a:cs typeface="Franklin Gothic Book Italic"/>
              </a:rPr>
              <a:t>pl</a:t>
            </a:r>
            <a:r>
              <a:rPr sz="2400" i="1" spc="-35" dirty="0">
                <a:solidFill>
                  <a:srgbClr val="FFFF00"/>
                </a:solidFill>
                <a:latin typeface="Franklin Gothic Book Italic"/>
                <a:cs typeface="Franklin Gothic Book Italic"/>
              </a:rPr>
              <a:t>ici</a:t>
            </a:r>
            <a:r>
              <a:rPr sz="2400" i="1" spc="-30" dirty="0">
                <a:solidFill>
                  <a:srgbClr val="FFFF00"/>
                </a:solidFill>
                <a:latin typeface="Franklin Gothic Book Italic"/>
                <a:cs typeface="Franklin Gothic Book Italic"/>
              </a:rPr>
              <a:t>t</a:t>
            </a:r>
            <a:r>
              <a:rPr sz="2400" i="1" dirty="0">
                <a:solidFill>
                  <a:srgbClr val="FFFF00"/>
                </a:solidFill>
                <a:latin typeface="Franklin Gothic Book Italic"/>
                <a:cs typeface="Franklin Gothic Book Italic"/>
              </a:rPr>
              <a:t>y	</a:t>
            </a:r>
            <a:r>
              <a:rPr sz="2400" i="1" spc="-85" dirty="0">
                <a:solidFill>
                  <a:srgbClr val="FFFF00"/>
                </a:solidFill>
                <a:latin typeface="Franklin Gothic Book Italic"/>
                <a:cs typeface="Franklin Gothic Book Italic"/>
              </a:rPr>
              <a:t>to  </a:t>
            </a:r>
            <a:r>
              <a:rPr sz="2400" i="1" spc="-55" dirty="0">
                <a:solidFill>
                  <a:srgbClr val="FFFF00"/>
                </a:solidFill>
                <a:latin typeface="Franklin Gothic Book Italic"/>
                <a:cs typeface="Franklin Gothic Book Italic"/>
              </a:rPr>
              <a:t>Complexity</a:t>
            </a:r>
            <a:endParaRPr sz="2400">
              <a:latin typeface="Franklin Gothic Book Italic"/>
              <a:cs typeface="Franklin Gothic Book Italic"/>
            </a:endParaRPr>
          </a:p>
        </p:txBody>
      </p:sp>
      <p:sp>
        <p:nvSpPr>
          <p:cNvPr id="8" name="object 8"/>
          <p:cNvSpPr txBox="1"/>
          <p:nvPr/>
        </p:nvSpPr>
        <p:spPr>
          <a:xfrm>
            <a:off x="972810" y="7125716"/>
            <a:ext cx="5031740" cy="970280"/>
          </a:xfrm>
          <a:prstGeom prst="rect">
            <a:avLst/>
          </a:prstGeom>
        </p:spPr>
        <p:txBody>
          <a:bodyPr vert="horz" wrap="square" lIns="0" tIns="12700" rIns="0" bIns="0" rtlCol="0">
            <a:spAutoFit/>
          </a:bodyPr>
          <a:lstStyle/>
          <a:p>
            <a:pPr marL="102870" algn="ctr">
              <a:lnSpc>
                <a:spcPct val="100000"/>
              </a:lnSpc>
              <a:spcBef>
                <a:spcPts val="100"/>
              </a:spcBef>
            </a:pPr>
            <a:r>
              <a:rPr sz="1800" u="sng" spc="-20" dirty="0">
                <a:solidFill>
                  <a:srgbClr val="FFFFFF"/>
                </a:solidFill>
                <a:uFill>
                  <a:solidFill>
                    <a:srgbClr val="FFFFFF"/>
                  </a:solidFill>
                </a:uFill>
                <a:latin typeface="Calibri"/>
                <a:cs typeface="Calibri"/>
              </a:rPr>
              <a:t>Effective </a:t>
            </a:r>
            <a:r>
              <a:rPr sz="1800" u="sng" spc="-10" dirty="0">
                <a:solidFill>
                  <a:srgbClr val="FFFFFF"/>
                </a:solidFill>
                <a:uFill>
                  <a:solidFill>
                    <a:srgbClr val="FFFFFF"/>
                  </a:solidFill>
                </a:uFill>
                <a:latin typeface="Calibri"/>
                <a:cs typeface="Calibri"/>
              </a:rPr>
              <a:t>Growth </a:t>
            </a:r>
            <a:r>
              <a:rPr sz="1800" u="sng" dirty="0">
                <a:solidFill>
                  <a:srgbClr val="FFFFFF"/>
                </a:solidFill>
                <a:uFill>
                  <a:solidFill>
                    <a:srgbClr val="FFFFFF"/>
                  </a:solidFill>
                </a:uFill>
                <a:latin typeface="Calibri"/>
                <a:cs typeface="Calibri"/>
              </a:rPr>
              <a:t>in </a:t>
            </a:r>
            <a:r>
              <a:rPr sz="1800" u="sng" spc="-5" dirty="0">
                <a:solidFill>
                  <a:srgbClr val="FFFFFF"/>
                </a:solidFill>
                <a:uFill>
                  <a:solidFill>
                    <a:srgbClr val="FFFFFF"/>
                  </a:solidFill>
                </a:uFill>
                <a:latin typeface="Calibri"/>
                <a:cs typeface="Calibri"/>
              </a:rPr>
              <a:t>Times </a:t>
            </a:r>
            <a:r>
              <a:rPr sz="1800" u="sng" dirty="0">
                <a:solidFill>
                  <a:srgbClr val="FFFFFF"/>
                </a:solidFill>
                <a:uFill>
                  <a:solidFill>
                    <a:srgbClr val="FFFFFF"/>
                  </a:solidFill>
                </a:uFill>
                <a:latin typeface="Calibri"/>
                <a:cs typeface="Calibri"/>
              </a:rPr>
              <a:t>of</a:t>
            </a:r>
            <a:r>
              <a:rPr sz="1800" u="sng" spc="65" dirty="0">
                <a:solidFill>
                  <a:srgbClr val="FFFFFF"/>
                </a:solidFill>
                <a:uFill>
                  <a:solidFill>
                    <a:srgbClr val="FFFFFF"/>
                  </a:solidFill>
                </a:uFill>
                <a:latin typeface="Calibri"/>
                <a:cs typeface="Calibri"/>
              </a:rPr>
              <a:t> </a:t>
            </a:r>
            <a:r>
              <a:rPr sz="1800" u="sng" spc="-5" dirty="0">
                <a:solidFill>
                  <a:srgbClr val="FFFFFF"/>
                </a:solidFill>
                <a:uFill>
                  <a:solidFill>
                    <a:srgbClr val="FFFFFF"/>
                  </a:solidFill>
                </a:uFill>
                <a:latin typeface="Calibri"/>
                <a:cs typeface="Calibri"/>
              </a:rPr>
              <a:t>Disruption</a:t>
            </a:r>
            <a:endParaRPr sz="1800">
              <a:latin typeface="Calibri"/>
              <a:cs typeface="Calibri"/>
            </a:endParaRPr>
          </a:p>
          <a:p>
            <a:pPr>
              <a:lnSpc>
                <a:spcPct val="100000"/>
              </a:lnSpc>
              <a:spcBef>
                <a:spcPts val="5"/>
              </a:spcBef>
            </a:pPr>
            <a:endParaRPr sz="2550">
              <a:latin typeface="Calibri"/>
              <a:cs typeface="Calibri"/>
            </a:endParaRPr>
          </a:p>
          <a:p>
            <a:pPr marL="12700">
              <a:lnSpc>
                <a:spcPct val="100000"/>
              </a:lnSpc>
              <a:tabLst>
                <a:tab pos="3020695" algn="l"/>
              </a:tabLst>
            </a:pPr>
            <a:r>
              <a:rPr sz="1800" spc="-10" dirty="0">
                <a:solidFill>
                  <a:srgbClr val="FFFFFF"/>
                </a:solidFill>
                <a:latin typeface="Calibri"/>
                <a:cs typeface="Calibri"/>
              </a:rPr>
              <a:t>Contact </a:t>
            </a:r>
            <a:r>
              <a:rPr sz="1800" dirty="0">
                <a:solidFill>
                  <a:srgbClr val="FFFFFF"/>
                </a:solidFill>
                <a:latin typeface="Calibri"/>
                <a:cs typeface="Calibri"/>
              </a:rPr>
              <a:t>us </a:t>
            </a:r>
            <a:r>
              <a:rPr sz="1800" spc="-15" dirty="0">
                <a:solidFill>
                  <a:srgbClr val="FFFFFF"/>
                </a:solidFill>
                <a:latin typeface="Calibri"/>
                <a:cs typeface="Calibri"/>
              </a:rPr>
              <a:t>for </a:t>
            </a:r>
            <a:r>
              <a:rPr sz="1800" dirty="0">
                <a:solidFill>
                  <a:srgbClr val="FFFFFF"/>
                </a:solidFill>
                <a:latin typeface="Calibri"/>
                <a:cs typeface="Calibri"/>
              </a:rPr>
              <a:t>help</a:t>
            </a:r>
            <a:r>
              <a:rPr sz="1800" spc="60" dirty="0">
                <a:solidFill>
                  <a:srgbClr val="FFFFFF"/>
                </a:solidFill>
                <a:latin typeface="Calibri"/>
                <a:cs typeface="Calibri"/>
              </a:rPr>
              <a:t> </a:t>
            </a:r>
            <a:r>
              <a:rPr sz="1800" dirty="0">
                <a:solidFill>
                  <a:srgbClr val="FFFFFF"/>
                </a:solidFill>
                <a:latin typeface="Calibri"/>
                <a:cs typeface="Calibri"/>
              </a:rPr>
              <a:t>or</a:t>
            </a:r>
            <a:r>
              <a:rPr sz="1800" spc="5" dirty="0">
                <a:solidFill>
                  <a:srgbClr val="FFFFFF"/>
                </a:solidFill>
                <a:latin typeface="Calibri"/>
                <a:cs typeface="Calibri"/>
              </a:rPr>
              <a:t> </a:t>
            </a:r>
            <a:r>
              <a:rPr sz="1800" spc="-5" dirty="0">
                <a:solidFill>
                  <a:srgbClr val="FFFFFF"/>
                </a:solidFill>
                <a:latin typeface="Calibri"/>
                <a:cs typeface="Calibri"/>
              </a:rPr>
              <a:t>support:	</a:t>
            </a:r>
            <a:r>
              <a:rPr sz="1800" u="sng" spc="-15" dirty="0">
                <a:solidFill>
                  <a:srgbClr val="FFFFFF"/>
                </a:solidFill>
                <a:uFill>
                  <a:solidFill>
                    <a:srgbClr val="FFFFFF"/>
                  </a:solidFill>
                </a:uFill>
                <a:latin typeface="Calibri"/>
                <a:cs typeface="Calibri"/>
                <a:hlinkClick r:id="rId3"/>
              </a:rPr>
              <a:t>kate@kateburda.com</a:t>
            </a:r>
            <a:endParaRPr sz="18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5409FC017C7BF40961EF880411E08B5" ma:contentTypeVersion="13" ma:contentTypeDescription="Create a new document." ma:contentTypeScope="" ma:versionID="b5bca213ef9ff2908ccf7086a37359b6">
  <xsd:schema xmlns:xsd="http://www.w3.org/2001/XMLSchema" xmlns:xs="http://www.w3.org/2001/XMLSchema" xmlns:p="http://schemas.microsoft.com/office/2006/metadata/properties" xmlns:ns2="5f895480-74b7-4295-beb1-000abdb77711" xmlns:ns3="f9f3b592-2a1e-4fc9-8218-81ad9cd05aa6" targetNamespace="http://schemas.microsoft.com/office/2006/metadata/properties" ma:root="true" ma:fieldsID="dfe532681b131c6d2700ace22e453e6a" ns2:_="" ns3:_="">
    <xsd:import namespace="5f895480-74b7-4295-beb1-000abdb77711"/>
    <xsd:import namespace="f9f3b592-2a1e-4fc9-8218-81ad9cd05aa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895480-74b7-4295-beb1-000abdb7771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9f3b592-2a1e-4fc9-8218-81ad9cd05aa6"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LengthInSeconds xmlns="5f895480-74b7-4295-beb1-000abdb77711" xsi:nil="true"/>
  </documentManagement>
</p:properties>
</file>

<file path=customXml/itemProps1.xml><?xml version="1.0" encoding="utf-8"?>
<ds:datastoreItem xmlns:ds="http://schemas.openxmlformats.org/officeDocument/2006/customXml" ds:itemID="{0A36494B-EEBC-48CE-8EBC-31E674DEB2D9}"/>
</file>

<file path=customXml/itemProps2.xml><?xml version="1.0" encoding="utf-8"?>
<ds:datastoreItem xmlns:ds="http://schemas.openxmlformats.org/officeDocument/2006/customXml" ds:itemID="{793DCF2C-866A-458C-8FAB-23D6E27E5401}"/>
</file>

<file path=customXml/itemProps3.xml><?xml version="1.0" encoding="utf-8"?>
<ds:datastoreItem xmlns:ds="http://schemas.openxmlformats.org/officeDocument/2006/customXml" ds:itemID="{C191DDA7-2966-4E48-962B-F47B9F55551A}"/>
</file>

<file path=docProps/app.xml><?xml version="1.0" encoding="utf-8"?>
<Properties xmlns="http://schemas.openxmlformats.org/officeDocument/2006/extended-properties" xmlns:vt="http://schemas.openxmlformats.org/officeDocument/2006/docPropsVTypes">
  <Template/>
  <TotalTime>271</TotalTime>
  <Words>2796</Words>
  <Application>Microsoft Macintosh PowerPoint</Application>
  <PresentationFormat>On-screen Show (4:3)</PresentationFormat>
  <Paragraphs>225</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Calibri</vt:lpstr>
      <vt:lpstr>Franklin Gothic Book</vt:lpstr>
      <vt:lpstr>Franklin Gothic Book Italic</vt:lpstr>
      <vt:lpstr>Franklin Gothic Medium</vt:lpstr>
      <vt:lpstr>Times New Roman</vt:lpstr>
      <vt:lpstr>Wingdings</vt:lpstr>
      <vt:lpstr>Office Theme</vt:lpstr>
      <vt:lpstr>Effective Budget  Planning for Top-Line  Revenue Growth in Times  of Disruption</vt:lpstr>
      <vt:lpstr>PowerPoint Presentation</vt:lpstr>
      <vt:lpstr>PowerPoint Presentation</vt:lpstr>
      <vt:lpstr>Today’s state and the ripple effect</vt:lpstr>
      <vt:lpstr>PowerPoint Presentation</vt:lpstr>
      <vt:lpstr>What the Best Do Differently</vt:lpstr>
      <vt:lpstr>PowerPoint Presentation</vt:lpstr>
      <vt:lpstr>PowerPoint Presentation</vt:lpstr>
      <vt:lpstr>PowerPoint Presentation</vt:lpstr>
      <vt:lpstr>PowerPoint Presentation</vt:lpstr>
      <vt:lpstr>PowerPoint Presentation</vt:lpstr>
      <vt:lpstr>Linking Strategy to Financial Outcomes</vt:lpstr>
      <vt:lpstr>PowerPoint Presentation</vt:lpstr>
      <vt:lpstr>10 Critical Areas to a Successful Top-Line Revenue Budget</vt:lpstr>
      <vt:lpstr>10 Critical Areas to a Successful Top-Line Revenue Budget</vt:lpstr>
      <vt:lpstr>PowerPoint Presentation</vt:lpstr>
      <vt:lpstr>The Takeaway</vt:lpstr>
      <vt:lpstr>The Takeaway</vt:lpstr>
      <vt:lpstr>We take all the noise, disruption,  frustration and complexity of the new  economy and bring you a clear,  concise and simple path for your  team to get 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Effective Budget  Planning for Top-Line  Revenue Growth in Times  of Disruption</dc:title>
  <cp:lastModifiedBy>Kate Burda</cp:lastModifiedBy>
  <cp:revision>6</cp:revision>
  <dcterms:created xsi:type="dcterms:W3CDTF">2020-10-14T13:18:19Z</dcterms:created>
  <dcterms:modified xsi:type="dcterms:W3CDTF">2020-12-07T16:13:06Z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2020-10-14T00:00:00Z</vt:filetime>
  </property>
  <property fmtid="{D5CDD505-2E9C-101B-9397-08002B2CF9AE}" pid="3" name="LastSaved">
    <vt:filetime>2020-10-14T00:00:00Z</vt:filetime>
  </property>
  <property fmtid="{D5CDD505-2E9C-101B-9397-08002B2CF9AE}" pid="4" name="ContentTypeId">
    <vt:lpwstr>0x01010075409FC017C7BF40961EF880411E08B5</vt:lpwstr>
  </property>
  <property fmtid="{D5CDD505-2E9C-101B-9397-08002B2CF9AE}" pid="5" name="Order">
    <vt:r8>3345400</vt:r8>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_ExtendedDescription">
    <vt:lpwstr/>
  </property>
  <property fmtid="{D5CDD505-2E9C-101B-9397-08002B2CF9AE}" pid="10" name="TriggerFlowInfo">
    <vt:lpwstr/>
  </property>
</Properties>
</file>