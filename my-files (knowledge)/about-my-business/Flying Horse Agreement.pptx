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4135" r:id="rId5"/>
    <p:sldId id="4171" r:id="rId6"/>
    <p:sldId id="4632" r:id="rId7"/>
    <p:sldId id="2140755489" r:id="rId8"/>
    <p:sldId id="4634" r:id="rId9"/>
    <p:sldId id="4173" r:id="rId10"/>
    <p:sldId id="2140755490" r:id="rId11"/>
    <p:sldId id="2140755491" r:id="rId12"/>
    <p:sldId id="2140755492" r:id="rId13"/>
    <p:sldId id="4637" r:id="rId14"/>
    <p:sldId id="4184" r:id="rId15"/>
    <p:sldId id="4636" r:id="rId16"/>
    <p:sldId id="379" r:id="rId17"/>
    <p:sldId id="418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EDCF9C9-6838-2F01-F3FC-EFCE4582AF9F}" name="Tristan Carty" initials="TC" userId="S::tristan@thecartycollective.com::aaecc192-4e53-4f1c-81a5-906a3d1806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1072"/>
    <a:srgbClr val="D51067"/>
    <a:srgbClr val="B52372"/>
    <a:srgbClr val="D564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48B98F-1528-9442-ADBF-9B57EE034680}" v="2" dt="2025-02-15T16:49:23.3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806"/>
    <p:restoredTop sz="94821"/>
  </p:normalViewPr>
  <p:slideViewPr>
    <p:cSldViewPr snapToGrid="0">
      <p:cViewPr varScale="1">
        <p:scale>
          <a:sx n="169" d="100"/>
          <a:sy n="169" d="100"/>
        </p:scale>
        <p:origin x="1944" y="19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te Burda" userId="44c1ea53-84f5-4c7e-8f48-bfeb434f1f02" providerId="ADAL" clId="{2048B98F-1528-9442-ADBF-9B57EE034680}"/>
    <pc:docChg chg="custSel delSld modSld sldOrd">
      <pc:chgData name="Kate Burda" userId="44c1ea53-84f5-4c7e-8f48-bfeb434f1f02" providerId="ADAL" clId="{2048B98F-1528-9442-ADBF-9B57EE034680}" dt="2025-02-15T16:49:56.553" v="51" actId="14100"/>
      <pc:docMkLst>
        <pc:docMk/>
      </pc:docMkLst>
      <pc:sldChg chg="del">
        <pc:chgData name="Kate Burda" userId="44c1ea53-84f5-4c7e-8f48-bfeb434f1f02" providerId="ADAL" clId="{2048B98F-1528-9442-ADBF-9B57EE034680}" dt="2025-02-15T16:44:26.371" v="0" actId="2696"/>
        <pc:sldMkLst>
          <pc:docMk/>
          <pc:sldMk cId="0" sldId="258"/>
        </pc:sldMkLst>
      </pc:sldChg>
      <pc:sldChg chg="del">
        <pc:chgData name="Kate Burda" userId="44c1ea53-84f5-4c7e-8f48-bfeb434f1f02" providerId="ADAL" clId="{2048B98F-1528-9442-ADBF-9B57EE034680}" dt="2025-02-15T16:44:26.451" v="4" actId="2696"/>
        <pc:sldMkLst>
          <pc:docMk/>
          <pc:sldMk cId="250710135" sldId="263"/>
        </pc:sldMkLst>
      </pc:sldChg>
      <pc:sldChg chg="del">
        <pc:chgData name="Kate Burda" userId="44c1ea53-84f5-4c7e-8f48-bfeb434f1f02" providerId="ADAL" clId="{2048B98F-1528-9442-ADBF-9B57EE034680}" dt="2025-02-15T16:44:26.552" v="7" actId="2696"/>
        <pc:sldMkLst>
          <pc:docMk/>
          <pc:sldMk cId="3756507278" sldId="264"/>
        </pc:sldMkLst>
      </pc:sldChg>
      <pc:sldChg chg="del">
        <pc:chgData name="Kate Burda" userId="44c1ea53-84f5-4c7e-8f48-bfeb434f1f02" providerId="ADAL" clId="{2048B98F-1528-9442-ADBF-9B57EE034680}" dt="2025-02-15T16:44:26.718" v="12" actId="2696"/>
        <pc:sldMkLst>
          <pc:docMk/>
          <pc:sldMk cId="1671960402" sldId="265"/>
        </pc:sldMkLst>
      </pc:sldChg>
      <pc:sldChg chg="del">
        <pc:chgData name="Kate Burda" userId="44c1ea53-84f5-4c7e-8f48-bfeb434f1f02" providerId="ADAL" clId="{2048B98F-1528-9442-ADBF-9B57EE034680}" dt="2025-02-15T16:44:26.673" v="11" actId="2696"/>
        <pc:sldMkLst>
          <pc:docMk/>
          <pc:sldMk cId="1232609372" sldId="266"/>
        </pc:sldMkLst>
      </pc:sldChg>
      <pc:sldChg chg="del">
        <pc:chgData name="Kate Burda" userId="44c1ea53-84f5-4c7e-8f48-bfeb434f1f02" providerId="ADAL" clId="{2048B98F-1528-9442-ADBF-9B57EE034680}" dt="2025-02-15T16:44:26.809" v="13" actId="2696"/>
        <pc:sldMkLst>
          <pc:docMk/>
          <pc:sldMk cId="2102397914" sldId="267"/>
        </pc:sldMkLst>
      </pc:sldChg>
      <pc:sldChg chg="del">
        <pc:chgData name="Kate Burda" userId="44c1ea53-84f5-4c7e-8f48-bfeb434f1f02" providerId="ADAL" clId="{2048B98F-1528-9442-ADBF-9B57EE034680}" dt="2025-02-15T16:44:26.409" v="2" actId="2696"/>
        <pc:sldMkLst>
          <pc:docMk/>
          <pc:sldMk cId="2372977276" sldId="268"/>
        </pc:sldMkLst>
      </pc:sldChg>
      <pc:sldChg chg="del">
        <pc:chgData name="Kate Burda" userId="44c1ea53-84f5-4c7e-8f48-bfeb434f1f02" providerId="ADAL" clId="{2048B98F-1528-9442-ADBF-9B57EE034680}" dt="2025-02-15T16:45:07.091" v="19" actId="2696"/>
        <pc:sldMkLst>
          <pc:docMk/>
          <pc:sldMk cId="1436512022" sldId="269"/>
        </pc:sldMkLst>
      </pc:sldChg>
      <pc:sldChg chg="del">
        <pc:chgData name="Kate Burda" userId="44c1ea53-84f5-4c7e-8f48-bfeb434f1f02" providerId="ADAL" clId="{2048B98F-1528-9442-ADBF-9B57EE034680}" dt="2025-02-15T16:44:26.573" v="8" actId="2696"/>
        <pc:sldMkLst>
          <pc:docMk/>
          <pc:sldMk cId="492905647" sldId="399"/>
        </pc:sldMkLst>
      </pc:sldChg>
      <pc:sldChg chg="del">
        <pc:chgData name="Kate Burda" userId="44c1ea53-84f5-4c7e-8f48-bfeb434f1f02" providerId="ADAL" clId="{2048B98F-1528-9442-ADBF-9B57EE034680}" dt="2025-02-15T16:45:07.117" v="20" actId="2696"/>
        <pc:sldMkLst>
          <pc:docMk/>
          <pc:sldMk cId="4118561297" sldId="2182"/>
        </pc:sldMkLst>
      </pc:sldChg>
      <pc:sldChg chg="del">
        <pc:chgData name="Kate Burda" userId="44c1ea53-84f5-4c7e-8f48-bfeb434f1f02" providerId="ADAL" clId="{2048B98F-1528-9442-ADBF-9B57EE034680}" dt="2025-02-15T16:45:07.164" v="23" actId="2696"/>
        <pc:sldMkLst>
          <pc:docMk/>
          <pc:sldMk cId="1407055369" sldId="2184"/>
        </pc:sldMkLst>
      </pc:sldChg>
      <pc:sldChg chg="del">
        <pc:chgData name="Kate Burda" userId="44c1ea53-84f5-4c7e-8f48-bfeb434f1f02" providerId="ADAL" clId="{2048B98F-1528-9442-ADBF-9B57EE034680}" dt="2025-02-15T16:44:26.601" v="9" actId="2696"/>
        <pc:sldMkLst>
          <pc:docMk/>
          <pc:sldMk cId="1423287674" sldId="4068"/>
        </pc:sldMkLst>
      </pc:sldChg>
      <pc:sldChg chg="del">
        <pc:chgData name="Kate Burda" userId="44c1ea53-84f5-4c7e-8f48-bfeb434f1f02" providerId="ADAL" clId="{2048B98F-1528-9442-ADBF-9B57EE034680}" dt="2025-02-15T16:45:07.140" v="21" actId="2696"/>
        <pc:sldMkLst>
          <pc:docMk/>
          <pc:sldMk cId="3868733034" sldId="4130"/>
        </pc:sldMkLst>
      </pc:sldChg>
      <pc:sldChg chg="del">
        <pc:chgData name="Kate Burda" userId="44c1ea53-84f5-4c7e-8f48-bfeb434f1f02" providerId="ADAL" clId="{2048B98F-1528-9442-ADBF-9B57EE034680}" dt="2025-02-15T16:44:53.525" v="18" actId="2696"/>
        <pc:sldMkLst>
          <pc:docMk/>
          <pc:sldMk cId="1128332548" sldId="4133"/>
        </pc:sldMkLst>
      </pc:sldChg>
      <pc:sldChg chg="del">
        <pc:chgData name="Kate Burda" userId="44c1ea53-84f5-4c7e-8f48-bfeb434f1f02" providerId="ADAL" clId="{2048B98F-1528-9442-ADBF-9B57EE034680}" dt="2025-02-15T16:44:26.642" v="10" actId="2696"/>
        <pc:sldMkLst>
          <pc:docMk/>
          <pc:sldMk cId="2592066562" sldId="4134"/>
        </pc:sldMkLst>
      </pc:sldChg>
      <pc:sldChg chg="addSp delSp modSp mod">
        <pc:chgData name="Kate Burda" userId="44c1ea53-84f5-4c7e-8f48-bfeb434f1f02" providerId="ADAL" clId="{2048B98F-1528-9442-ADBF-9B57EE034680}" dt="2025-02-15T16:49:56.553" v="51" actId="14100"/>
        <pc:sldMkLst>
          <pc:docMk/>
          <pc:sldMk cId="165470004" sldId="4135"/>
        </pc:sldMkLst>
        <pc:spChg chg="mod">
          <ac:chgData name="Kate Burda" userId="44c1ea53-84f5-4c7e-8f48-bfeb434f1f02" providerId="ADAL" clId="{2048B98F-1528-9442-ADBF-9B57EE034680}" dt="2025-02-15T16:49:50.077" v="50" actId="14100"/>
          <ac:spMkLst>
            <pc:docMk/>
            <pc:sldMk cId="165470004" sldId="4135"/>
            <ac:spMk id="7" creationId="{00000000-0000-0000-0000-000000000000}"/>
          </ac:spMkLst>
        </pc:spChg>
        <pc:spChg chg="mod">
          <ac:chgData name="Kate Burda" userId="44c1ea53-84f5-4c7e-8f48-bfeb434f1f02" providerId="ADAL" clId="{2048B98F-1528-9442-ADBF-9B57EE034680}" dt="2025-02-15T16:45:55.635" v="41" actId="20577"/>
          <ac:spMkLst>
            <pc:docMk/>
            <pc:sldMk cId="165470004" sldId="4135"/>
            <ac:spMk id="8" creationId="{00000000-0000-0000-0000-000000000000}"/>
          </ac:spMkLst>
        </pc:spChg>
        <pc:picChg chg="add mod">
          <ac:chgData name="Kate Burda" userId="44c1ea53-84f5-4c7e-8f48-bfeb434f1f02" providerId="ADAL" clId="{2048B98F-1528-9442-ADBF-9B57EE034680}" dt="2025-02-15T16:49:56.553" v="51" actId="14100"/>
          <ac:picMkLst>
            <pc:docMk/>
            <pc:sldMk cId="165470004" sldId="4135"/>
            <ac:picMk id="6" creationId="{8738A79C-6700-0475-C8F3-51B7FA42F665}"/>
          </ac:picMkLst>
        </pc:picChg>
        <pc:picChg chg="del">
          <ac:chgData name="Kate Burda" userId="44c1ea53-84f5-4c7e-8f48-bfeb434f1f02" providerId="ADAL" clId="{2048B98F-1528-9442-ADBF-9B57EE034680}" dt="2025-02-15T16:45:19.348" v="28" actId="478"/>
          <ac:picMkLst>
            <pc:docMk/>
            <pc:sldMk cId="165470004" sldId="4135"/>
            <ac:picMk id="15" creationId="{C1FE091C-30B5-97C6-A92C-4DC093CCBCBF}"/>
          </ac:picMkLst>
        </pc:picChg>
      </pc:sldChg>
      <pc:sldChg chg="del">
        <pc:chgData name="Kate Burda" userId="44c1ea53-84f5-4c7e-8f48-bfeb434f1f02" providerId="ADAL" clId="{2048B98F-1528-9442-ADBF-9B57EE034680}" dt="2025-02-15T16:45:07.196" v="25" actId="2696"/>
        <pc:sldMkLst>
          <pc:docMk/>
          <pc:sldMk cId="2840813856" sldId="4150"/>
        </pc:sldMkLst>
      </pc:sldChg>
      <pc:sldChg chg="del">
        <pc:chgData name="Kate Burda" userId="44c1ea53-84f5-4c7e-8f48-bfeb434f1f02" providerId="ADAL" clId="{2048B98F-1528-9442-ADBF-9B57EE034680}" dt="2025-02-15T16:44:33.088" v="16" actId="2696"/>
        <pc:sldMkLst>
          <pc:docMk/>
          <pc:sldMk cId="2315330111" sldId="4161"/>
        </pc:sldMkLst>
      </pc:sldChg>
      <pc:sldChg chg="del">
        <pc:chgData name="Kate Burda" userId="44c1ea53-84f5-4c7e-8f48-bfeb434f1f02" providerId="ADAL" clId="{2048B98F-1528-9442-ADBF-9B57EE034680}" dt="2025-02-15T16:45:07.222" v="27" actId="2696"/>
        <pc:sldMkLst>
          <pc:docMk/>
          <pc:sldMk cId="656687970" sldId="4165"/>
        </pc:sldMkLst>
      </pc:sldChg>
      <pc:sldChg chg="del">
        <pc:chgData name="Kate Burda" userId="44c1ea53-84f5-4c7e-8f48-bfeb434f1f02" providerId="ADAL" clId="{2048B98F-1528-9442-ADBF-9B57EE034680}" dt="2025-02-15T16:44:33.016" v="14" actId="2696"/>
        <pc:sldMkLst>
          <pc:docMk/>
          <pc:sldMk cId="827288725" sldId="4166"/>
        </pc:sldMkLst>
      </pc:sldChg>
      <pc:sldChg chg="del">
        <pc:chgData name="Kate Burda" userId="44c1ea53-84f5-4c7e-8f48-bfeb434f1f02" providerId="ADAL" clId="{2048B98F-1528-9442-ADBF-9B57EE034680}" dt="2025-02-15T16:45:07.212" v="26" actId="2696"/>
        <pc:sldMkLst>
          <pc:docMk/>
          <pc:sldMk cId="3581565231" sldId="4177"/>
        </pc:sldMkLst>
      </pc:sldChg>
      <pc:sldChg chg="del">
        <pc:chgData name="Kate Burda" userId="44c1ea53-84f5-4c7e-8f48-bfeb434f1f02" providerId="ADAL" clId="{2048B98F-1528-9442-ADBF-9B57EE034680}" dt="2025-02-15T16:45:07.148" v="22" actId="2696"/>
        <pc:sldMkLst>
          <pc:docMk/>
          <pc:sldMk cId="3245116273" sldId="4186"/>
        </pc:sldMkLst>
      </pc:sldChg>
      <pc:sldChg chg="del">
        <pc:chgData name="Kate Burda" userId="44c1ea53-84f5-4c7e-8f48-bfeb434f1f02" providerId="ADAL" clId="{2048B98F-1528-9442-ADBF-9B57EE034680}" dt="2025-02-15T16:45:07.175" v="24" actId="2696"/>
        <pc:sldMkLst>
          <pc:docMk/>
          <pc:sldMk cId="3041186309" sldId="4197"/>
        </pc:sldMkLst>
      </pc:sldChg>
      <pc:sldChg chg="del">
        <pc:chgData name="Kate Burda" userId="44c1ea53-84f5-4c7e-8f48-bfeb434f1f02" providerId="ADAL" clId="{2048B98F-1528-9442-ADBF-9B57EE034680}" dt="2025-02-15T16:44:26.485" v="5" actId="2696"/>
        <pc:sldMkLst>
          <pc:docMk/>
          <pc:sldMk cId="3673948332" sldId="4628"/>
        </pc:sldMkLst>
      </pc:sldChg>
      <pc:sldChg chg="del">
        <pc:chgData name="Kate Burda" userId="44c1ea53-84f5-4c7e-8f48-bfeb434f1f02" providerId="ADAL" clId="{2048B98F-1528-9442-ADBF-9B57EE034680}" dt="2025-02-15T16:44:26.518" v="6" actId="2696"/>
        <pc:sldMkLst>
          <pc:docMk/>
          <pc:sldMk cId="4275507684" sldId="4629"/>
        </pc:sldMkLst>
      </pc:sldChg>
      <pc:sldChg chg="ord">
        <pc:chgData name="Kate Burda" userId="44c1ea53-84f5-4c7e-8f48-bfeb434f1f02" providerId="ADAL" clId="{2048B98F-1528-9442-ADBF-9B57EE034680}" dt="2025-02-15T16:44:42.640" v="17" actId="20578"/>
        <pc:sldMkLst>
          <pc:docMk/>
          <pc:sldMk cId="1612226772" sldId="4632"/>
        </pc:sldMkLst>
      </pc:sldChg>
      <pc:sldChg chg="ord">
        <pc:chgData name="Kate Burda" userId="44c1ea53-84f5-4c7e-8f48-bfeb434f1f02" providerId="ADAL" clId="{2048B98F-1528-9442-ADBF-9B57EE034680}" dt="2025-02-15T16:44:42.640" v="17" actId="20578"/>
        <pc:sldMkLst>
          <pc:docMk/>
          <pc:sldMk cId="3379650796" sldId="4634"/>
        </pc:sldMkLst>
      </pc:sldChg>
      <pc:sldChg chg="del">
        <pc:chgData name="Kate Burda" userId="44c1ea53-84f5-4c7e-8f48-bfeb434f1f02" providerId="ADAL" clId="{2048B98F-1528-9442-ADBF-9B57EE034680}" dt="2025-02-15T16:44:26.374" v="1" actId="2696"/>
        <pc:sldMkLst>
          <pc:docMk/>
          <pc:sldMk cId="763663448" sldId="4638"/>
        </pc:sldMkLst>
      </pc:sldChg>
      <pc:sldChg chg="del">
        <pc:chgData name="Kate Burda" userId="44c1ea53-84f5-4c7e-8f48-bfeb434f1f02" providerId="ADAL" clId="{2048B98F-1528-9442-ADBF-9B57EE034680}" dt="2025-02-15T16:44:26.419" v="3" actId="2696"/>
        <pc:sldMkLst>
          <pc:docMk/>
          <pc:sldMk cId="1670866528" sldId="4639"/>
        </pc:sldMkLst>
      </pc:sldChg>
      <pc:sldChg chg="del">
        <pc:chgData name="Kate Burda" userId="44c1ea53-84f5-4c7e-8f48-bfeb434f1f02" providerId="ADAL" clId="{2048B98F-1528-9442-ADBF-9B57EE034680}" dt="2025-02-15T16:44:33.031" v="15" actId="2696"/>
        <pc:sldMkLst>
          <pc:docMk/>
          <pc:sldMk cId="2405328383" sldId="2140755487"/>
        </pc:sldMkLst>
      </pc:sldChg>
      <pc:sldChg chg="ord">
        <pc:chgData name="Kate Burda" userId="44c1ea53-84f5-4c7e-8f48-bfeb434f1f02" providerId="ADAL" clId="{2048B98F-1528-9442-ADBF-9B57EE034680}" dt="2025-02-15T16:44:42.640" v="17" actId="20578"/>
        <pc:sldMkLst>
          <pc:docMk/>
          <pc:sldMk cId="3909522504" sldId="2140755489"/>
        </pc:sldMkLst>
      </pc:sldChg>
      <pc:sldMasterChg chg="delSldLayout">
        <pc:chgData name="Kate Burda" userId="44c1ea53-84f5-4c7e-8f48-bfeb434f1f02" providerId="ADAL" clId="{2048B98F-1528-9442-ADBF-9B57EE034680}" dt="2025-02-15T16:44:53.525" v="18" actId="2696"/>
        <pc:sldMasterMkLst>
          <pc:docMk/>
          <pc:sldMasterMk cId="2223491774" sldId="2147483648"/>
        </pc:sldMasterMkLst>
        <pc:sldLayoutChg chg="del">
          <pc:chgData name="Kate Burda" userId="44c1ea53-84f5-4c7e-8f48-bfeb434f1f02" providerId="ADAL" clId="{2048B98F-1528-9442-ADBF-9B57EE034680}" dt="2025-02-15T16:44:53.525" v="18" actId="2696"/>
          <pc:sldLayoutMkLst>
            <pc:docMk/>
            <pc:sldMasterMk cId="2223491774" sldId="2147483648"/>
            <pc:sldLayoutMk cId="442454057" sldId="214748366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E77D29B-A84F-8DAF-4DD9-5C3978B9AB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708C45E-2DEE-9C8D-4F99-67548FB7399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41864-CD90-3244-B677-A2D5FE685BF9}" type="datetimeFigureOut">
              <a:rPr lang="en-US" smtClean="0"/>
              <a:t>2/15/25</a:t>
            </a:fld>
            <a:endParaRPr lang="en-US"/>
          </a:p>
        </p:txBody>
      </p:sp>
      <p:sp>
        <p:nvSpPr>
          <p:cNvPr id="4" name="Footer Placeholder 3">
            <a:extLst>
              <a:ext uri="{FF2B5EF4-FFF2-40B4-BE49-F238E27FC236}">
                <a16:creationId xmlns:a16="http://schemas.microsoft.com/office/drawing/2014/main" id="{3B50AB63-638E-DD7B-CF4F-618583AB465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0C72759-57D7-02D6-54C1-4600A56F841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96CF653-701A-1840-AE7C-78D8E3A50AF9}" type="slidenum">
              <a:rPr lang="en-US" smtClean="0"/>
              <a:t>‹#›</a:t>
            </a:fld>
            <a:endParaRPr lang="en-US"/>
          </a:p>
        </p:txBody>
      </p:sp>
    </p:spTree>
    <p:extLst>
      <p:ext uri="{BB962C8B-B14F-4D97-AF65-F5344CB8AC3E}">
        <p14:creationId xmlns:p14="http://schemas.microsoft.com/office/powerpoint/2010/main" val="2021581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86B9B4-CBC9-3A48-9A9C-455003932958}" type="datetimeFigureOut">
              <a:rPr lang="en-US" smtClean="0"/>
              <a:t>2/15/25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8F6C56-3E14-034D-AF27-6C904A40B66F}" type="slidenum">
              <a:rPr lang="en-US" smtClean="0"/>
              <a:t>‹#›</a:t>
            </a:fld>
            <a:endParaRPr lang="en-US"/>
          </a:p>
        </p:txBody>
      </p:sp>
    </p:spTree>
    <p:extLst>
      <p:ext uri="{BB962C8B-B14F-4D97-AF65-F5344CB8AC3E}">
        <p14:creationId xmlns:p14="http://schemas.microsoft.com/office/powerpoint/2010/main" val="25103812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8F6C56-3E14-034D-AF27-6C904A40B66F}" type="slidenum">
              <a:rPr lang="en-US" smtClean="0"/>
              <a:t>1</a:t>
            </a:fld>
            <a:endParaRPr lang="en-US" dirty="0"/>
          </a:p>
        </p:txBody>
      </p:sp>
    </p:spTree>
    <p:extLst>
      <p:ext uri="{BB962C8B-B14F-4D97-AF65-F5344CB8AC3E}">
        <p14:creationId xmlns:p14="http://schemas.microsoft.com/office/powerpoint/2010/main" val="3583971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8F6C56-3E14-034D-AF27-6C904A40B66F}" type="slidenum">
              <a:rPr lang="en-US" smtClean="0"/>
              <a:t>10</a:t>
            </a:fld>
            <a:endParaRPr lang="en-US" dirty="0"/>
          </a:p>
        </p:txBody>
      </p:sp>
    </p:spTree>
    <p:extLst>
      <p:ext uri="{BB962C8B-B14F-4D97-AF65-F5344CB8AC3E}">
        <p14:creationId xmlns:p14="http://schemas.microsoft.com/office/powerpoint/2010/main" val="5626198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8F6C56-3E14-034D-AF27-6C904A40B66F}" type="slidenum">
              <a:rPr lang="en-US" smtClean="0"/>
              <a:t>11</a:t>
            </a:fld>
            <a:endParaRPr lang="en-US" dirty="0"/>
          </a:p>
        </p:txBody>
      </p:sp>
    </p:spTree>
    <p:extLst>
      <p:ext uri="{BB962C8B-B14F-4D97-AF65-F5344CB8AC3E}">
        <p14:creationId xmlns:p14="http://schemas.microsoft.com/office/powerpoint/2010/main" val="46630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841D7A-7318-DF42-A89E-2F30BB3CE33C}" type="slidenum">
              <a:rPr lang="en-US" smtClean="0"/>
              <a:t>13</a:t>
            </a:fld>
            <a:endParaRPr lang="en-US"/>
          </a:p>
        </p:txBody>
      </p:sp>
    </p:spTree>
    <p:extLst>
      <p:ext uri="{BB962C8B-B14F-4D97-AF65-F5344CB8AC3E}">
        <p14:creationId xmlns:p14="http://schemas.microsoft.com/office/powerpoint/2010/main" val="547613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F825C-F5E4-1B7D-E504-DCA4E438FD4F}"/>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E823DAC0-5EE8-06A8-EA9F-03470AB51F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F759945F-36F7-99DE-3752-71C5FFDFF6E8}"/>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Footer Placeholder 4">
            <a:extLst>
              <a:ext uri="{FF2B5EF4-FFF2-40B4-BE49-F238E27FC236}">
                <a16:creationId xmlns:a16="http://schemas.microsoft.com/office/drawing/2014/main" id="{65FC03AE-7DEC-0FD1-EF26-0C4D97454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0DCE4C-B2C3-B032-ECCD-C64EDDE307E3}"/>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091527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6BC8-E775-CA73-A9DB-F2818C431D1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038340C-3E26-C2DE-51B9-99177BC72B48}"/>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1F8ECB-31A2-E00F-8512-84384FF55AC3}"/>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Footer Placeholder 4">
            <a:extLst>
              <a:ext uri="{FF2B5EF4-FFF2-40B4-BE49-F238E27FC236}">
                <a16:creationId xmlns:a16="http://schemas.microsoft.com/office/drawing/2014/main" id="{8B9EAAF3-B3B7-05B3-ACC6-E6E744F7F6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DC2122-FAA1-9C76-35E7-9686C2BBA096}"/>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177967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25716-752C-ACBC-A090-03C691D633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70FE9C3-1D3F-DF64-479C-0C0D948D95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541982-23C2-8D5B-A7FD-57C073D996FE}"/>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Footer Placeholder 4">
            <a:extLst>
              <a:ext uri="{FF2B5EF4-FFF2-40B4-BE49-F238E27FC236}">
                <a16:creationId xmlns:a16="http://schemas.microsoft.com/office/drawing/2014/main" id="{6E950077-7C40-ADA4-47D4-2B193D321C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9C6976-8248-AE96-9C52-CB230AC518C3}"/>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28029583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5A103-A14D-F7E0-07FA-015F53EF94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5BA737-868B-3B1A-3AB3-884EE18C0C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1A051DF-E35C-E592-0252-F87D168A9C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23C2A0-24D4-E4E0-0749-9384302C5D71}"/>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6" name="Footer Placeholder 5">
            <a:extLst>
              <a:ext uri="{FF2B5EF4-FFF2-40B4-BE49-F238E27FC236}">
                <a16:creationId xmlns:a16="http://schemas.microsoft.com/office/drawing/2014/main" id="{10C6063D-9FBC-C034-E425-1A39A3B22C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49338A-837D-968D-5396-9CB50070DA89}"/>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2844397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45D7-A65A-512B-3010-6F61F3108094}"/>
              </a:ext>
            </a:extLst>
          </p:cNvPr>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F90EDDB-C065-8383-902D-0E3FF7C2A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621A7D-01D2-B6C1-BE24-FDDA9B1A8D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4BA3CD-AE96-8DF8-1293-70DB272E36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D4A757-8389-B31E-8F26-E06CEAEDD7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88CC1EC-6AE0-DF42-0550-E3EDDEE13385}"/>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8" name="Footer Placeholder 7">
            <a:extLst>
              <a:ext uri="{FF2B5EF4-FFF2-40B4-BE49-F238E27FC236}">
                <a16:creationId xmlns:a16="http://schemas.microsoft.com/office/drawing/2014/main" id="{B16C73C6-F740-DCA2-86A2-9A6BE06375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2A308D-1C73-6310-3440-97565633BFF2}"/>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870910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0C5EF-AC39-B2FB-30CE-8360CF77746A}"/>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CF46F6C-29BF-239E-2507-FAEB360F5ED4}"/>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Slide Number Placeholder 4">
            <a:extLst>
              <a:ext uri="{FF2B5EF4-FFF2-40B4-BE49-F238E27FC236}">
                <a16:creationId xmlns:a16="http://schemas.microsoft.com/office/drawing/2014/main" id="{D3F10048-BAC3-508D-C518-32466EFF9987}"/>
              </a:ext>
            </a:extLst>
          </p:cNvPr>
          <p:cNvSpPr>
            <a:spLocks noGrp="1"/>
          </p:cNvSpPr>
          <p:nvPr>
            <p:ph type="sldNum" sz="quarter" idx="12"/>
          </p:nvPr>
        </p:nvSpPr>
        <p:spPr/>
        <p:txBody>
          <a:bodyPr/>
          <a:lstStyle/>
          <a:p>
            <a:fld id="{2ADE4FCF-A6C5-1446-A3B3-DDF1BB577287}" type="slidenum">
              <a:rPr lang="en-US" smtClean="0"/>
              <a:t>‹#›</a:t>
            </a:fld>
            <a:endParaRPr lang="en-US"/>
          </a:p>
        </p:txBody>
      </p:sp>
      <p:pic>
        <p:nvPicPr>
          <p:cNvPr id="6" name="Picture 5">
            <a:extLst>
              <a:ext uri="{FF2B5EF4-FFF2-40B4-BE49-F238E27FC236}">
                <a16:creationId xmlns:a16="http://schemas.microsoft.com/office/drawing/2014/main" id="{1DE12363-2680-F1E9-B937-023F13CC666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78973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CA0C81-4B14-87A6-52CD-D45ADDE1ACA2}"/>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4" name="Slide Number Placeholder 3">
            <a:extLst>
              <a:ext uri="{FF2B5EF4-FFF2-40B4-BE49-F238E27FC236}">
                <a16:creationId xmlns:a16="http://schemas.microsoft.com/office/drawing/2014/main" id="{04BC8E38-11C0-9080-CB65-1A71AA59AD13}"/>
              </a:ext>
            </a:extLst>
          </p:cNvPr>
          <p:cNvSpPr>
            <a:spLocks noGrp="1"/>
          </p:cNvSpPr>
          <p:nvPr>
            <p:ph type="sldNum" sz="quarter" idx="12"/>
          </p:nvPr>
        </p:nvSpPr>
        <p:spPr/>
        <p:txBody>
          <a:bodyPr/>
          <a:lstStyle/>
          <a:p>
            <a:fld id="{2ADE4FCF-A6C5-1446-A3B3-DDF1BB577287}" type="slidenum">
              <a:rPr lang="en-US" smtClean="0"/>
              <a:t>‹#›</a:t>
            </a:fld>
            <a:endParaRPr lang="en-US"/>
          </a:p>
        </p:txBody>
      </p:sp>
      <p:pic>
        <p:nvPicPr>
          <p:cNvPr id="5" name="Picture 4">
            <a:extLst>
              <a:ext uri="{FF2B5EF4-FFF2-40B4-BE49-F238E27FC236}">
                <a16:creationId xmlns:a16="http://schemas.microsoft.com/office/drawing/2014/main" id="{337EE7DC-D57E-D899-B97A-295AAD6716F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630050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CCCD1-902E-2973-FE0F-A431829F433A}"/>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D2AB8E58-58E4-5966-CC5B-73B82EB275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1D7DB433-0909-ACF3-5661-ACB8DF397B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17D3AE-D6DA-168B-8B19-619CA15E5019}"/>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6" name="Footer Placeholder 5">
            <a:extLst>
              <a:ext uri="{FF2B5EF4-FFF2-40B4-BE49-F238E27FC236}">
                <a16:creationId xmlns:a16="http://schemas.microsoft.com/office/drawing/2014/main" id="{EFCCB074-48F2-6E75-C539-4C207B518B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3800FD-4994-13E7-6AC5-E5D0867450FD}"/>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1783759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0C78B-2C50-6A69-682A-ACC7C3E810A0}"/>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B939889B-AFDB-821D-050C-B99FA2B118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CA9CB8A-E14C-F7DC-549F-BC39A04C91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C17124-6E91-38DB-FF22-352D1D40AA00}"/>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6" name="Footer Placeholder 5">
            <a:extLst>
              <a:ext uri="{FF2B5EF4-FFF2-40B4-BE49-F238E27FC236}">
                <a16:creationId xmlns:a16="http://schemas.microsoft.com/office/drawing/2014/main" id="{C43EF5AB-6238-0E11-C6BC-4228674A2D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A24D13-6EC4-D52A-7AC9-3F75243D88E9}"/>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3183041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E4C57-E42E-0592-F949-1B238DE95B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2B91ACA-62B9-6C02-C611-F7178423CD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5E0836-8D93-73D1-3F68-53235637BFF3}"/>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Footer Placeholder 4">
            <a:extLst>
              <a:ext uri="{FF2B5EF4-FFF2-40B4-BE49-F238E27FC236}">
                <a16:creationId xmlns:a16="http://schemas.microsoft.com/office/drawing/2014/main" id="{4A4A98AE-92EB-2341-F0E1-29391AF32D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C988C-8FAA-63C3-E577-E11FF91F4682}"/>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1314787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BCC19B-2113-DDB2-F0CA-956A1DAF0EC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2D7049-D5C6-2574-8246-E3AA62A195A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0AD8DD-EF49-6528-1DAB-805B88512829}"/>
              </a:ext>
            </a:extLst>
          </p:cNvPr>
          <p:cNvSpPr>
            <a:spLocks noGrp="1"/>
          </p:cNvSpPr>
          <p:nvPr>
            <p:ph type="dt" sz="half" idx="10"/>
          </p:nvPr>
        </p:nvSpPr>
        <p:spPr/>
        <p:txBody>
          <a:bodyPr/>
          <a:lstStyle/>
          <a:p>
            <a:fld id="{2F094B0E-DFF7-024B-A1B7-263AA7331561}" type="datetimeFigureOut">
              <a:rPr lang="en-US" smtClean="0"/>
              <a:t>2/15/25</a:t>
            </a:fld>
            <a:endParaRPr lang="en-US"/>
          </a:p>
        </p:txBody>
      </p:sp>
      <p:sp>
        <p:nvSpPr>
          <p:cNvPr id="5" name="Footer Placeholder 4">
            <a:extLst>
              <a:ext uri="{FF2B5EF4-FFF2-40B4-BE49-F238E27FC236}">
                <a16:creationId xmlns:a16="http://schemas.microsoft.com/office/drawing/2014/main" id="{AD556047-AA88-E394-47CF-FA2B25D0E9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955A95-AAD8-CAFF-F395-83C566A08925}"/>
              </a:ext>
            </a:extLst>
          </p:cNvPr>
          <p:cNvSpPr>
            <a:spLocks noGrp="1"/>
          </p:cNvSpPr>
          <p:nvPr>
            <p:ph type="sldNum" sz="quarter" idx="12"/>
          </p:nvPr>
        </p:nvSpPr>
        <p:spPr/>
        <p:txBody>
          <a:bodyPr/>
          <a:lstStyle/>
          <a:p>
            <a:fld id="{2ADE4FCF-A6C5-1446-A3B3-DDF1BB577287}" type="slidenum">
              <a:rPr lang="en-US" smtClean="0"/>
              <a:t>‹#›</a:t>
            </a:fld>
            <a:endParaRPr lang="en-US"/>
          </a:p>
        </p:txBody>
      </p:sp>
    </p:spTree>
    <p:extLst>
      <p:ext uri="{BB962C8B-B14F-4D97-AF65-F5344CB8AC3E}">
        <p14:creationId xmlns:p14="http://schemas.microsoft.com/office/powerpoint/2010/main" val="685707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Kate Burda &amp; Co. - Title 3">
    <p:spTree>
      <p:nvGrpSpPr>
        <p:cNvPr id="1" name=""/>
        <p:cNvGrpSpPr/>
        <p:nvPr/>
      </p:nvGrpSpPr>
      <p:grpSpPr>
        <a:xfrm>
          <a:off x="0" y="0"/>
          <a:ext cx="0" cy="0"/>
          <a:chOff x="0" y="0"/>
          <a:chExt cx="0" cy="0"/>
        </a:xfrm>
      </p:grpSpPr>
      <p:sp>
        <p:nvSpPr>
          <p:cNvPr id="8" name="Rectangle 7"/>
          <p:cNvSpPr/>
          <p:nvPr userDrawn="1"/>
        </p:nvSpPr>
        <p:spPr>
          <a:xfrm>
            <a:off x="0" y="0"/>
            <a:ext cx="12192000"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Rectangle 8"/>
          <p:cNvSpPr/>
          <p:nvPr userDrawn="1"/>
        </p:nvSpPr>
        <p:spPr>
          <a:xfrm>
            <a:off x="0" y="914400"/>
            <a:ext cx="12192000" cy="5943600"/>
          </a:xfrm>
          <a:prstGeom prst="rect">
            <a:avLst/>
          </a:prstGeom>
          <a:solidFill>
            <a:srgbClr val="CA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rgbClr val="CAC8C8"/>
              </a:solidFill>
            </a:endParaRPr>
          </a:p>
        </p:txBody>
      </p:sp>
      <p:sp>
        <p:nvSpPr>
          <p:cNvPr id="15" name="Picture Placeholder 14"/>
          <p:cNvSpPr>
            <a:spLocks noGrp="1"/>
          </p:cNvSpPr>
          <p:nvPr>
            <p:ph type="pic" sz="quarter" idx="10"/>
          </p:nvPr>
        </p:nvSpPr>
        <p:spPr>
          <a:xfrm>
            <a:off x="0" y="914400"/>
            <a:ext cx="12192000" cy="5943600"/>
          </a:xfrm>
        </p:spPr>
        <p:txBody>
          <a:bodyPr/>
          <a:lstStyle/>
          <a:p>
            <a:endParaRPr lang="en-US"/>
          </a:p>
        </p:txBody>
      </p:sp>
      <p:sp>
        <p:nvSpPr>
          <p:cNvPr id="11" name="Title 1"/>
          <p:cNvSpPr>
            <a:spLocks noGrp="1"/>
          </p:cNvSpPr>
          <p:nvPr>
            <p:ph type="ctrTitle" hasCustomPrompt="1"/>
          </p:nvPr>
        </p:nvSpPr>
        <p:spPr>
          <a:xfrm>
            <a:off x="1524000" y="228601"/>
            <a:ext cx="10363200" cy="430887"/>
          </a:xfrm>
        </p:spPr>
        <p:txBody>
          <a:bodyPr/>
          <a:lstStyle>
            <a:lvl1pPr algn="r">
              <a:defRPr sz="2800" b="1" baseline="0">
                <a:solidFill>
                  <a:srgbClr val="8A8C8C"/>
                </a:solidFill>
                <a:latin typeface="Franklin Gothic Book" panose="020B0503020102020204" pitchFamily="34" charset="0"/>
              </a:defRPr>
            </a:lvl1pPr>
          </a:lstStyle>
          <a:p>
            <a:r>
              <a:rPr lang="en-US" dirty="0"/>
              <a:t>Click to Insert Title Here</a:t>
            </a:r>
          </a:p>
        </p:txBody>
      </p:sp>
      <p:pic>
        <p:nvPicPr>
          <p:cNvPr id="2" name="Picture 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2860" y="-716347"/>
            <a:ext cx="1727363" cy="2423291"/>
          </a:xfrm>
          <a:prstGeom prst="rect">
            <a:avLst/>
          </a:prstGeom>
        </p:spPr>
      </p:pic>
      <p:sp>
        <p:nvSpPr>
          <p:cNvPr id="7" name="Holder 4">
            <a:extLst>
              <a:ext uri="{FF2B5EF4-FFF2-40B4-BE49-F238E27FC236}">
                <a16:creationId xmlns:a16="http://schemas.microsoft.com/office/drawing/2014/main" id="{9581F233-BCDC-1D47-8FFD-154F2846ECEA}"/>
              </a:ext>
            </a:extLst>
          </p:cNvPr>
          <p:cNvSpPr>
            <a:spLocks noGrp="1"/>
          </p:cNvSpPr>
          <p:nvPr>
            <p:ph type="sldNum" sz="quarter" idx="7"/>
          </p:nvPr>
        </p:nvSpPr>
        <p:spPr>
          <a:xfrm>
            <a:off x="11176000" y="6377940"/>
            <a:ext cx="406400" cy="246221"/>
          </a:xfrm>
        </p:spPr>
        <p:txBody>
          <a:bodyPr lIns="0" tIns="0" rIns="0" bIns="0"/>
          <a:lstStyle>
            <a:lvl1pPr algn="r">
              <a:defRPr sz="16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3448231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1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
        <p:nvSpPr>
          <p:cNvPr id="5" name="Rectangle 4">
            <a:extLst>
              <a:ext uri="{FF2B5EF4-FFF2-40B4-BE49-F238E27FC236}">
                <a16:creationId xmlns:a16="http://schemas.microsoft.com/office/drawing/2014/main" id="{7F5ED4CF-792E-3945-926D-4FAABFB91DAC}"/>
              </a:ext>
            </a:extLst>
          </p:cNvPr>
          <p:cNvSpPr/>
          <p:nvPr userDrawn="1"/>
        </p:nvSpPr>
        <p:spPr>
          <a:xfrm>
            <a:off x="0" y="1"/>
            <a:ext cx="12192000" cy="594732"/>
          </a:xfrm>
          <a:prstGeom prst="rect">
            <a:avLst/>
          </a:prstGeom>
          <a:pattFill prst="pct50">
            <a:fgClr>
              <a:schemeClr val="bg1">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 name="Holder 2">
            <a:extLst>
              <a:ext uri="{FF2B5EF4-FFF2-40B4-BE49-F238E27FC236}">
                <a16:creationId xmlns:a16="http://schemas.microsoft.com/office/drawing/2014/main" id="{4FADDF76-B979-194B-8CB4-21933D95AE2B}"/>
              </a:ext>
            </a:extLst>
          </p:cNvPr>
          <p:cNvSpPr>
            <a:spLocks noGrp="1"/>
          </p:cNvSpPr>
          <p:nvPr>
            <p:ph type="title"/>
          </p:nvPr>
        </p:nvSpPr>
        <p:spPr>
          <a:xfrm>
            <a:off x="287446" y="67073"/>
            <a:ext cx="11617108" cy="430887"/>
          </a:xfrm>
        </p:spPr>
        <p:txBody>
          <a:bodyPr lIns="0" tIns="0" rIns="0" bIns="0"/>
          <a:lstStyle>
            <a:lvl1pPr algn="ctr">
              <a:defRPr sz="2800" b="0" i="0">
                <a:solidFill>
                  <a:srgbClr val="8A8C8C"/>
                </a:solidFill>
                <a:latin typeface="Franklin Gothic Book" panose="020B0503020102020204" pitchFamily="34" charset="0"/>
                <a:cs typeface="Arial"/>
              </a:defRPr>
            </a:lvl1pPr>
          </a:lstStyle>
          <a:p>
            <a:endParaRPr/>
          </a:p>
        </p:txBody>
      </p:sp>
      <p:pic>
        <p:nvPicPr>
          <p:cNvPr id="7" name="Picture 6">
            <a:extLst>
              <a:ext uri="{FF2B5EF4-FFF2-40B4-BE49-F238E27FC236}">
                <a16:creationId xmlns:a16="http://schemas.microsoft.com/office/drawing/2014/main" id="{C1CFD3D5-0D87-68F5-D6E5-DA955E54194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38321703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5_Blank">
    <p:bg>
      <p:bgPr>
        <a:solidFill>
          <a:schemeClr val="bg1"/>
        </a:solidFill>
        <a:effectLst/>
      </p:bgPr>
    </p:bg>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5" name="Picture 4">
            <a:extLst>
              <a:ext uri="{FF2B5EF4-FFF2-40B4-BE49-F238E27FC236}">
                <a16:creationId xmlns:a16="http://schemas.microsoft.com/office/drawing/2014/main" id="{3A0D43EF-5490-42E6-6E1F-DEF33529BF4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1002712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4350708" y="911763"/>
            <a:ext cx="3490585" cy="387798"/>
          </a:xfrm>
          <a:prstGeom prst="rect">
            <a:avLst/>
          </a:prstGeom>
        </p:spPr>
        <p:txBody>
          <a:bodyPr wrap="square" lIns="0" tIns="0" rIns="0" bIns="0">
            <a:spAutoFit/>
          </a:bodyPr>
          <a:lstStyle>
            <a:lvl1pPr>
              <a:defRPr sz="2800" b="0" i="0">
                <a:solidFill>
                  <a:schemeClr val="bg1"/>
                </a:solidFill>
                <a:latin typeface="Arial"/>
                <a:cs typeface="Arial"/>
              </a:defRPr>
            </a:lvl1pPr>
          </a:lstStyle>
          <a:p>
            <a:endParaRPr/>
          </a:p>
        </p:txBody>
      </p:sp>
      <p:sp>
        <p:nvSpPr>
          <p:cNvPr id="3" name="Holder 3"/>
          <p:cNvSpPr>
            <a:spLocks noGrp="1"/>
          </p:cNvSpPr>
          <p:nvPr>
            <p:ph type="subTitle" idx="4"/>
          </p:nvPr>
        </p:nvSpPr>
        <p:spPr>
          <a:xfrm>
            <a:off x="1828800" y="3840481"/>
            <a:ext cx="8534400" cy="387798"/>
          </a:xfrm>
          <a:prstGeom prst="rect">
            <a:avLst/>
          </a:prstGeom>
        </p:spPr>
        <p:txBody>
          <a:bodyPr wrap="square" lIns="0" tIns="0" rIns="0" bIns="0">
            <a:spAutoFit/>
          </a:bodyPr>
          <a:lstStyle>
            <a:lvl1pPr>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2/15/25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7" name="Picture 6">
            <a:extLst>
              <a:ext uri="{FF2B5EF4-FFF2-40B4-BE49-F238E27FC236}">
                <a16:creationId xmlns:a16="http://schemas.microsoft.com/office/drawing/2014/main" id="{BA8945F7-1706-4613-BF31-568E85A47E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22817" t="42064" r="21306" b="40328"/>
          <a:stretch/>
        </p:blipFill>
        <p:spPr>
          <a:xfrm>
            <a:off x="5613400" y="6390639"/>
            <a:ext cx="965200" cy="426721"/>
          </a:xfrm>
          <a:prstGeom prst="rect">
            <a:avLst/>
          </a:prstGeom>
        </p:spPr>
      </p:pic>
    </p:spTree>
    <p:extLst>
      <p:ext uri="{BB962C8B-B14F-4D97-AF65-F5344CB8AC3E}">
        <p14:creationId xmlns:p14="http://schemas.microsoft.com/office/powerpoint/2010/main" val="10006553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3_Title and Content">
    <p:spTree>
      <p:nvGrpSpPr>
        <p:cNvPr id="1" name=""/>
        <p:cNvGrpSpPr/>
        <p:nvPr/>
      </p:nvGrpSpPr>
      <p:grpSpPr>
        <a:xfrm>
          <a:off x="0" y="0"/>
          <a:ext cx="0" cy="0"/>
          <a:chOff x="0" y="0"/>
          <a:chExt cx="0" cy="0"/>
        </a:xfrm>
      </p:grpSpPr>
      <p:sp>
        <p:nvSpPr>
          <p:cNvPr id="340" name="Picture Placeholder 2"/>
          <p:cNvSpPr>
            <a:spLocks noGrp="1"/>
          </p:cNvSpPr>
          <p:nvPr>
            <p:ph type="pic" sz="quarter" idx="21"/>
          </p:nvPr>
        </p:nvSpPr>
        <p:spPr>
          <a:xfrm>
            <a:off x="8966200" y="2489200"/>
            <a:ext cx="3225800" cy="4368800"/>
          </a:xfrm>
          <a:prstGeom prst="rect">
            <a:avLst/>
          </a:prstGeom>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lvl1pPr defTabSz="914400">
              <a:defRPr>
                <a:solidFill>
                  <a:srgbClr val="000000"/>
                </a:solidFill>
              </a:defRPr>
            </a:lvl1pPr>
          </a:lstStyle>
          <a:p>
            <a:fld id="{86CB4B4D-7CA3-9044-876B-883B54F8677D}" type="slidenum">
              <a:rPr/>
              <a:t>‹#›</a:t>
            </a:fld>
            <a:endParaRPr/>
          </a:p>
        </p:txBody>
      </p:sp>
    </p:spTree>
    <p:extLst>
      <p:ext uri="{BB962C8B-B14F-4D97-AF65-F5344CB8AC3E}">
        <p14:creationId xmlns:p14="http://schemas.microsoft.com/office/powerpoint/2010/main" val="575193689"/>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8" name="Date Placeholder 7">
            <a:extLst>
              <a:ext uri="{FF2B5EF4-FFF2-40B4-BE49-F238E27FC236}">
                <a16:creationId xmlns:a16="http://schemas.microsoft.com/office/drawing/2014/main" id="{88F1552B-B7F6-4E4C-B4A3-EC8BAFED2EC1}"/>
              </a:ext>
            </a:extLst>
          </p:cNvPr>
          <p:cNvSpPr>
            <a:spLocks noGrp="1"/>
          </p:cNvSpPr>
          <p:nvPr>
            <p:ph type="dt" sz="half" idx="14"/>
          </p:nvPr>
        </p:nvSpPr>
        <p:spPr/>
        <p:txBody>
          <a:bodyPr/>
          <a:lstStyle/>
          <a:p>
            <a:fld id="{E5D163DC-5EF7-4A7C-9A04-A084CF18C74E}" type="datetime1">
              <a:rPr lang="en-IN" smtClean="0"/>
              <a:t>15/02/25</a:t>
            </a:fld>
            <a:endParaRPr lang="en-IN"/>
          </a:p>
        </p:txBody>
      </p:sp>
      <p:sp>
        <p:nvSpPr>
          <p:cNvPr id="9" name="Footer Placeholder 8">
            <a:extLst>
              <a:ext uri="{FF2B5EF4-FFF2-40B4-BE49-F238E27FC236}">
                <a16:creationId xmlns:a16="http://schemas.microsoft.com/office/drawing/2014/main" id="{D2B023A1-930B-4BB8-89A1-8E397D1ACADD}"/>
              </a:ext>
            </a:extLst>
          </p:cNvPr>
          <p:cNvSpPr>
            <a:spLocks noGrp="1"/>
          </p:cNvSpPr>
          <p:nvPr>
            <p:ph type="ftr" sz="quarter" idx="15"/>
          </p:nvPr>
        </p:nvSpPr>
        <p:spPr/>
        <p:txBody>
          <a:bodyPr/>
          <a:lstStyle/>
          <a:p>
            <a:endParaRPr lang="en-IN"/>
          </a:p>
        </p:txBody>
      </p:sp>
      <p:sp>
        <p:nvSpPr>
          <p:cNvPr id="10" name="Slide Number Placeholder 9">
            <a:extLst>
              <a:ext uri="{FF2B5EF4-FFF2-40B4-BE49-F238E27FC236}">
                <a16:creationId xmlns:a16="http://schemas.microsoft.com/office/drawing/2014/main" id="{1CD29B61-8897-49B8-94E9-83FF61E6A2A2}"/>
              </a:ext>
            </a:extLst>
          </p:cNvPr>
          <p:cNvSpPr>
            <a:spLocks noGrp="1"/>
          </p:cNvSpPr>
          <p:nvPr>
            <p:ph type="sldNum" sz="quarter" idx="16"/>
          </p:nvPr>
        </p:nvSpPr>
        <p:spPr/>
        <p:txBody>
          <a:bodyPr/>
          <a:lstStyle/>
          <a:p>
            <a:fld id="{36646B31-EC42-4AA4-A03D-41379B95B1BF}" type="slidenum">
              <a:rPr lang="en-IN" smtClean="0"/>
              <a:pPr/>
              <a:t>‹#›</a:t>
            </a:fld>
            <a:endParaRPr lang="en-IN"/>
          </a:p>
        </p:txBody>
      </p:sp>
      <p:sp>
        <p:nvSpPr>
          <p:cNvPr id="11" name="Title 10">
            <a:extLst>
              <a:ext uri="{FF2B5EF4-FFF2-40B4-BE49-F238E27FC236}">
                <a16:creationId xmlns:a16="http://schemas.microsoft.com/office/drawing/2014/main" id="{2FECAC85-80BC-403D-BEEB-05A85910D0E0}"/>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415429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A3F80-B0DC-5073-EAAC-569125EC11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BABFD91-C27E-B00C-8CDB-60EB6AECB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219D7B8-A44E-0B01-9433-C497DEE559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Franklin Gothic Book" panose="020B0503020102020204" pitchFamily="34" charset="0"/>
              </a:defRPr>
            </a:lvl1pPr>
          </a:lstStyle>
          <a:p>
            <a:fld id="{2F094B0E-DFF7-024B-A1B7-263AA7331561}" type="datetimeFigureOut">
              <a:rPr lang="en-US" smtClean="0"/>
              <a:pPr/>
              <a:t>2/15/25</a:t>
            </a:fld>
            <a:endParaRPr lang="en-US"/>
          </a:p>
        </p:txBody>
      </p:sp>
      <p:sp>
        <p:nvSpPr>
          <p:cNvPr id="5" name="Footer Placeholder 4">
            <a:extLst>
              <a:ext uri="{FF2B5EF4-FFF2-40B4-BE49-F238E27FC236}">
                <a16:creationId xmlns:a16="http://schemas.microsoft.com/office/drawing/2014/main" id="{162E797E-D5B9-035C-BF2F-5DA9B04DBB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Franklin Gothic Book" panose="020B0503020102020204" pitchFamily="34" charset="0"/>
              </a:defRPr>
            </a:lvl1pPr>
          </a:lstStyle>
          <a:p>
            <a:endParaRPr lang="en-US"/>
          </a:p>
        </p:txBody>
      </p:sp>
      <p:sp>
        <p:nvSpPr>
          <p:cNvPr id="6" name="Slide Number Placeholder 5">
            <a:extLst>
              <a:ext uri="{FF2B5EF4-FFF2-40B4-BE49-F238E27FC236}">
                <a16:creationId xmlns:a16="http://schemas.microsoft.com/office/drawing/2014/main" id="{C76DE664-9CDB-B813-BF13-005E69CF66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Franklin Gothic Book" panose="020B0503020102020204" pitchFamily="34" charset="0"/>
              </a:defRPr>
            </a:lvl1pPr>
          </a:lstStyle>
          <a:p>
            <a:fld id="{2ADE4FCF-A6C5-1446-A3B3-DDF1BB577287}" type="slidenum">
              <a:rPr lang="en-US" smtClean="0"/>
              <a:pPr/>
              <a:t>‹#›</a:t>
            </a:fld>
            <a:endParaRPr lang="en-US"/>
          </a:p>
        </p:txBody>
      </p:sp>
    </p:spTree>
    <p:extLst>
      <p:ext uri="{BB962C8B-B14F-4D97-AF65-F5344CB8AC3E}">
        <p14:creationId xmlns:p14="http://schemas.microsoft.com/office/powerpoint/2010/main" val="2223491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8" r:id="rId14"/>
    <p:sldLayoutId id="2147483671" r:id="rId15"/>
    <p:sldLayoutId id="2147483672" r:id="rId16"/>
    <p:sldLayoutId id="2147483673" r:id="rId17"/>
  </p:sldLayoutIdLst>
  <p:txStyles>
    <p:titleStyle>
      <a:lvl1pPr algn="l" defTabSz="914400" rtl="0" eaLnBrk="1" latinLnBrk="0" hangingPunct="1">
        <a:lnSpc>
          <a:spcPct val="90000"/>
        </a:lnSpc>
        <a:spcBef>
          <a:spcPct val="0"/>
        </a:spcBef>
        <a:buNone/>
        <a:defRPr sz="4400" kern="1200">
          <a:solidFill>
            <a:schemeClr val="tx1"/>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Franklin Gothic Book" panose="020B05030201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Franklin Gothic Book" panose="020B05030201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Franklin Gothic Book" panose="020B05030201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Franklin Gothic Book" panose="020B05030201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emf"/><Relationship Id="rId7" Type="http://schemas.openxmlformats.org/officeDocument/2006/relationships/image" Target="../media/image8.emf"/><Relationship Id="rId2" Type="http://schemas.openxmlformats.org/officeDocument/2006/relationships/image" Target="../media/image4.emf"/><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 Id="rId5" Type="http://schemas.openxmlformats.org/officeDocument/2006/relationships/image" Target="../media/image8.emf"/><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4.emf"/><Relationship Id="rId1" Type="http://schemas.openxmlformats.org/officeDocument/2006/relationships/slideLayout" Target="../slideLayouts/slideLayout7.xml"/><Relationship Id="rId5" Type="http://schemas.openxmlformats.org/officeDocument/2006/relationships/image" Target="../media/image9.emf"/><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hyperlink" Target="mailto:Kate@kateburda.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lose-up of a fountain pen writing on a piece of paper&#10;&#10;AI-generated content may be incorrect.">
            <a:extLst>
              <a:ext uri="{FF2B5EF4-FFF2-40B4-BE49-F238E27FC236}">
                <a16:creationId xmlns:a16="http://schemas.microsoft.com/office/drawing/2014/main" id="{8738A79C-6700-0475-C8F3-51B7FA42F665}"/>
              </a:ext>
            </a:extLst>
          </p:cNvPr>
          <p:cNvPicPr>
            <a:picLocks noChangeAspect="1"/>
          </p:cNvPicPr>
          <p:nvPr/>
        </p:nvPicPr>
        <p:blipFill>
          <a:blip r:embed="rId3"/>
          <a:stretch>
            <a:fillRect/>
          </a:stretch>
        </p:blipFill>
        <p:spPr>
          <a:xfrm>
            <a:off x="7621" y="90684"/>
            <a:ext cx="12184379" cy="6296365"/>
          </a:xfrm>
          <a:prstGeom prst="rect">
            <a:avLst/>
          </a:prstGeom>
        </p:spPr>
      </p:pic>
      <p:sp>
        <p:nvSpPr>
          <p:cNvPr id="2" name="object 2"/>
          <p:cNvSpPr/>
          <p:nvPr/>
        </p:nvSpPr>
        <p:spPr>
          <a:xfrm>
            <a:off x="-15538" y="5605153"/>
            <a:ext cx="12207538" cy="1252847"/>
          </a:xfrm>
          <a:custGeom>
            <a:avLst/>
            <a:gdLst/>
            <a:ahLst/>
            <a:cxnLst/>
            <a:rect l="l" t="t" r="r" b="b"/>
            <a:pathLst>
              <a:path w="9144000" h="895985">
                <a:moveTo>
                  <a:pt x="0" y="0"/>
                </a:moveTo>
                <a:lnTo>
                  <a:pt x="9143998" y="0"/>
                </a:lnTo>
                <a:lnTo>
                  <a:pt x="9143998" y="895986"/>
                </a:lnTo>
                <a:lnTo>
                  <a:pt x="0" y="895986"/>
                </a:lnTo>
                <a:lnTo>
                  <a:pt x="0" y="0"/>
                </a:lnTo>
                <a:close/>
              </a:path>
            </a:pathLst>
          </a:custGeom>
          <a:solidFill>
            <a:srgbClr val="BFBFBF"/>
          </a:solidFill>
        </p:spPr>
        <p:txBody>
          <a:bodyPr wrap="square" lIns="0" tIns="0" rIns="0" bIns="0" rtlCol="0"/>
          <a:lstStyle/>
          <a:p>
            <a:pPr lvl="1"/>
            <a:endParaRPr lang="en-US" sz="2400" dirty="0"/>
          </a:p>
          <a:p>
            <a:r>
              <a:rPr lang="en-US" sz="2400" dirty="0">
                <a:latin typeface="Franklin Gothic Book" panose="020B0503020102020204" pitchFamily="34" charset="0"/>
              </a:rPr>
              <a:t>   </a:t>
            </a:r>
            <a:r>
              <a:rPr lang="en-US" sz="2400" dirty="0">
                <a:solidFill>
                  <a:schemeClr val="tx1">
                    <a:lumMod val="75000"/>
                    <a:lumOff val="25000"/>
                  </a:schemeClr>
                </a:solidFill>
                <a:latin typeface="Franklin Gothic Book" panose="020B0503020102020204" pitchFamily="34" charset="0"/>
              </a:rPr>
              <a:t>Prepared for:   Wendy McHenry, Glenn Wallace</a:t>
            </a:r>
          </a:p>
          <a:p>
            <a:endParaRPr lang="en-US" sz="2400" dirty="0">
              <a:solidFill>
                <a:schemeClr val="tx1">
                  <a:lumMod val="75000"/>
                  <a:lumOff val="25000"/>
                </a:schemeClr>
              </a:solidFill>
              <a:latin typeface="Franklin Gothic Book" panose="020B0503020102020204" pitchFamily="34" charset="0"/>
            </a:endParaRPr>
          </a:p>
          <a:p>
            <a:endParaRPr lang="en-US" sz="2400" dirty="0">
              <a:solidFill>
                <a:schemeClr val="tx1">
                  <a:lumMod val="75000"/>
                  <a:lumOff val="25000"/>
                </a:schemeClr>
              </a:solidFill>
              <a:latin typeface="Franklin Gothic Book" panose="020B0503020102020204" pitchFamily="34" charset="0"/>
            </a:endParaRPr>
          </a:p>
          <a:p>
            <a:endParaRPr sz="2400" dirty="0">
              <a:solidFill>
                <a:schemeClr val="tx1">
                  <a:lumMod val="75000"/>
                  <a:lumOff val="25000"/>
                </a:schemeClr>
              </a:solidFill>
              <a:latin typeface="Franklin Gothic Book" panose="020B0503020102020204" pitchFamily="34" charset="0"/>
            </a:endParaRPr>
          </a:p>
        </p:txBody>
      </p:sp>
      <p:sp>
        <p:nvSpPr>
          <p:cNvPr id="4" name="object 4"/>
          <p:cNvSpPr/>
          <p:nvPr/>
        </p:nvSpPr>
        <p:spPr>
          <a:xfrm>
            <a:off x="7620" y="-2344"/>
            <a:ext cx="12184380" cy="449532"/>
          </a:xfrm>
          <a:custGeom>
            <a:avLst/>
            <a:gdLst/>
            <a:ahLst/>
            <a:cxnLst/>
            <a:rect l="l" t="t" r="r" b="b"/>
            <a:pathLst>
              <a:path w="9138285" h="336550">
                <a:moveTo>
                  <a:pt x="0" y="0"/>
                </a:moveTo>
                <a:lnTo>
                  <a:pt x="9138053" y="0"/>
                </a:lnTo>
                <a:lnTo>
                  <a:pt x="9138053" y="336378"/>
                </a:lnTo>
                <a:lnTo>
                  <a:pt x="0" y="336378"/>
                </a:lnTo>
                <a:lnTo>
                  <a:pt x="0" y="0"/>
                </a:lnTo>
                <a:close/>
              </a:path>
            </a:pathLst>
          </a:custGeom>
          <a:solidFill>
            <a:srgbClr val="A0155E"/>
          </a:solidFill>
          <a:ln>
            <a:solidFill>
              <a:schemeClr val="accent1">
                <a:lumMod val="20000"/>
                <a:lumOff val="80000"/>
              </a:schemeClr>
            </a:solidFill>
          </a:ln>
          <a:effectLst>
            <a:glow rad="63500">
              <a:schemeClr val="accent3">
                <a:satMod val="175000"/>
                <a:alpha val="40000"/>
              </a:schemeClr>
            </a:glow>
          </a:effectLst>
        </p:spPr>
        <p:txBody>
          <a:bodyPr wrap="square" lIns="0" tIns="0" rIns="0" bIns="0" rtlCol="0"/>
          <a:lstStyle/>
          <a:p>
            <a:endParaRPr sz="2400" dirty="0"/>
          </a:p>
        </p:txBody>
      </p:sp>
      <p:sp>
        <p:nvSpPr>
          <p:cNvPr id="7" name="object 7"/>
          <p:cNvSpPr/>
          <p:nvPr/>
        </p:nvSpPr>
        <p:spPr>
          <a:xfrm>
            <a:off x="7930" y="3643579"/>
            <a:ext cx="12184380" cy="777281"/>
          </a:xfrm>
          <a:custGeom>
            <a:avLst/>
            <a:gdLst/>
            <a:ahLst/>
            <a:cxnLst/>
            <a:rect l="l" t="t" r="r" b="b"/>
            <a:pathLst>
              <a:path w="9138285" h="632460">
                <a:moveTo>
                  <a:pt x="0" y="0"/>
                </a:moveTo>
                <a:lnTo>
                  <a:pt x="9138053" y="0"/>
                </a:lnTo>
                <a:lnTo>
                  <a:pt x="9138053" y="632460"/>
                </a:lnTo>
                <a:lnTo>
                  <a:pt x="0" y="632460"/>
                </a:lnTo>
                <a:lnTo>
                  <a:pt x="0" y="0"/>
                </a:lnTo>
                <a:close/>
              </a:path>
            </a:pathLst>
          </a:custGeom>
          <a:solidFill>
            <a:srgbClr val="000000">
              <a:alpha val="70199"/>
            </a:srgbClr>
          </a:solidFill>
        </p:spPr>
        <p:txBody>
          <a:bodyPr wrap="square" lIns="0" tIns="0" rIns="0" bIns="0" rtlCol="0"/>
          <a:lstStyle/>
          <a:p>
            <a:endParaRPr sz="2400" dirty="0"/>
          </a:p>
        </p:txBody>
      </p:sp>
      <p:sp>
        <p:nvSpPr>
          <p:cNvPr id="8" name="object 8"/>
          <p:cNvSpPr txBox="1"/>
          <p:nvPr/>
        </p:nvSpPr>
        <p:spPr>
          <a:xfrm>
            <a:off x="295794" y="3715104"/>
            <a:ext cx="11794605" cy="591551"/>
          </a:xfrm>
          <a:prstGeom prst="rect">
            <a:avLst/>
          </a:prstGeom>
        </p:spPr>
        <p:txBody>
          <a:bodyPr vert="horz" wrap="square" lIns="0" tIns="16933" rIns="0" bIns="0" rtlCol="0">
            <a:spAutoFit/>
          </a:bodyPr>
          <a:lstStyle/>
          <a:p>
            <a:pPr marL="16933">
              <a:spcBef>
                <a:spcPts val="133"/>
              </a:spcBef>
            </a:pPr>
            <a:r>
              <a:rPr lang="en-US" sz="3733" dirty="0">
                <a:solidFill>
                  <a:srgbClr val="FFFFFF"/>
                </a:solidFill>
                <a:latin typeface="Franklin Gothic Book" panose="020B0503020102020204" pitchFamily="34" charset="0"/>
                <a:cs typeface="Arial"/>
              </a:rPr>
              <a:t>Agreement</a:t>
            </a:r>
          </a:p>
        </p:txBody>
      </p:sp>
      <p:sp>
        <p:nvSpPr>
          <p:cNvPr id="9" name="object 9"/>
          <p:cNvSpPr txBox="1"/>
          <p:nvPr/>
        </p:nvSpPr>
        <p:spPr>
          <a:xfrm>
            <a:off x="203200" y="6387049"/>
            <a:ext cx="7645400" cy="250496"/>
          </a:xfrm>
          <a:prstGeom prst="rect">
            <a:avLst/>
          </a:prstGeom>
        </p:spPr>
        <p:txBody>
          <a:bodyPr vert="horz" wrap="square" lIns="0" tIns="16933" rIns="0" bIns="0" rtlCol="0">
            <a:spAutoFit/>
          </a:bodyPr>
          <a:lstStyle/>
          <a:p>
            <a:pPr marL="16933" marR="6773">
              <a:lnSpc>
                <a:spcPts val="933"/>
              </a:lnSpc>
              <a:spcBef>
                <a:spcPts val="1820"/>
              </a:spcBef>
            </a:pPr>
            <a:r>
              <a:rPr sz="1067" spc="-33" dirty="0">
                <a:solidFill>
                  <a:srgbClr val="7F7F7F"/>
                </a:solidFill>
                <a:latin typeface="Franklin Gothic Book" panose="020B0503020102020204" pitchFamily="34" charset="0"/>
                <a:cs typeface="Arial"/>
              </a:rPr>
              <a:t>All </a:t>
            </a:r>
            <a:r>
              <a:rPr sz="1067" spc="-13" dirty="0">
                <a:solidFill>
                  <a:srgbClr val="7F7F7F"/>
                </a:solidFill>
                <a:latin typeface="Franklin Gothic Book" panose="020B0503020102020204" pitchFamily="34" charset="0"/>
                <a:cs typeface="Arial"/>
              </a:rPr>
              <a:t>materials </a:t>
            </a:r>
            <a:r>
              <a:rPr sz="1067" spc="-27" dirty="0">
                <a:solidFill>
                  <a:srgbClr val="7F7F7F"/>
                </a:solidFill>
                <a:latin typeface="Franklin Gothic Book" panose="020B0503020102020204" pitchFamily="34" charset="0"/>
                <a:cs typeface="Arial"/>
              </a:rPr>
              <a:t>and </a:t>
            </a:r>
            <a:r>
              <a:rPr sz="1067" spc="-20" dirty="0">
                <a:solidFill>
                  <a:srgbClr val="7F7F7F"/>
                </a:solidFill>
                <a:latin typeface="Franklin Gothic Book" panose="020B0503020102020204" pitchFamily="34" charset="0"/>
                <a:cs typeface="Arial"/>
              </a:rPr>
              <a:t>methodologies are </a:t>
            </a:r>
            <a:r>
              <a:rPr sz="933" spc="-33" dirty="0">
                <a:solidFill>
                  <a:srgbClr val="7F7F7F"/>
                </a:solidFill>
                <a:latin typeface="Franklin Gothic Book" panose="020B0503020102020204" pitchFamily="34" charset="0"/>
                <a:cs typeface="Arial"/>
              </a:rPr>
              <a:t>copy </a:t>
            </a:r>
            <a:r>
              <a:rPr sz="1067" spc="-7" dirty="0">
                <a:solidFill>
                  <a:srgbClr val="7F7F7F"/>
                </a:solidFill>
                <a:latin typeface="Franklin Gothic Book" panose="020B0503020102020204" pitchFamily="34" charset="0"/>
                <a:cs typeface="Arial"/>
              </a:rPr>
              <a:t>written </a:t>
            </a:r>
            <a:r>
              <a:rPr sz="1067" spc="-27" dirty="0">
                <a:solidFill>
                  <a:srgbClr val="7F7F7F"/>
                </a:solidFill>
                <a:latin typeface="Franklin Gothic Book" panose="020B0503020102020204" pitchFamily="34" charset="0"/>
                <a:cs typeface="Arial"/>
              </a:rPr>
              <a:t>and </a:t>
            </a:r>
            <a:r>
              <a:rPr sz="1067" spc="-13" dirty="0">
                <a:solidFill>
                  <a:srgbClr val="7F7F7F"/>
                </a:solidFill>
                <a:latin typeface="Franklin Gothic Book" panose="020B0503020102020204" pitchFamily="34" charset="0"/>
                <a:cs typeface="Arial"/>
              </a:rPr>
              <a:t>protected Intellectual </a:t>
            </a:r>
            <a:r>
              <a:rPr sz="1067" spc="-27" dirty="0">
                <a:solidFill>
                  <a:srgbClr val="7F7F7F"/>
                </a:solidFill>
                <a:latin typeface="Franklin Gothic Book" panose="020B0503020102020204" pitchFamily="34" charset="0"/>
                <a:cs typeface="Arial"/>
              </a:rPr>
              <a:t>Property </a:t>
            </a:r>
            <a:r>
              <a:rPr sz="1067" spc="-7" dirty="0">
                <a:solidFill>
                  <a:srgbClr val="7F7F7F"/>
                </a:solidFill>
                <a:latin typeface="Franklin Gothic Book" panose="020B0503020102020204" pitchFamily="34" charset="0"/>
                <a:cs typeface="Arial"/>
              </a:rPr>
              <a:t>of </a:t>
            </a:r>
            <a:r>
              <a:rPr sz="1067" spc="-20" dirty="0">
                <a:solidFill>
                  <a:srgbClr val="7F7F7F"/>
                </a:solidFill>
                <a:latin typeface="Franklin Gothic Book" panose="020B0503020102020204" pitchFamily="34" charset="0"/>
                <a:cs typeface="Arial"/>
              </a:rPr>
              <a:t>Kate </a:t>
            </a:r>
            <a:r>
              <a:rPr sz="1067" spc="-27" dirty="0">
                <a:solidFill>
                  <a:srgbClr val="7F7F7F"/>
                </a:solidFill>
                <a:latin typeface="Franklin Gothic Book" panose="020B0503020102020204" pitchFamily="34" charset="0"/>
                <a:cs typeface="Arial"/>
              </a:rPr>
              <a:t>Burda </a:t>
            </a:r>
            <a:r>
              <a:rPr sz="1067" spc="-7" dirty="0">
                <a:solidFill>
                  <a:srgbClr val="7F7F7F"/>
                </a:solidFill>
                <a:latin typeface="Franklin Gothic Book" panose="020B0503020102020204" pitchFamily="34" charset="0"/>
                <a:cs typeface="Arial"/>
              </a:rPr>
              <a:t>&amp; </a:t>
            </a:r>
            <a:r>
              <a:rPr sz="1067" spc="-47" dirty="0">
                <a:solidFill>
                  <a:srgbClr val="7F7F7F"/>
                </a:solidFill>
                <a:latin typeface="Franklin Gothic Book" panose="020B0503020102020204" pitchFamily="34" charset="0"/>
                <a:cs typeface="Arial"/>
              </a:rPr>
              <a:t>Company </a:t>
            </a:r>
            <a:r>
              <a:rPr sz="1067" spc="-27" dirty="0">
                <a:solidFill>
                  <a:srgbClr val="7F7F7F"/>
                </a:solidFill>
                <a:latin typeface="Franklin Gothic Book" panose="020B0503020102020204" pitchFamily="34" charset="0"/>
                <a:cs typeface="Arial"/>
              </a:rPr>
              <a:t>and </a:t>
            </a:r>
            <a:r>
              <a:rPr sz="1067" spc="-13" dirty="0">
                <a:solidFill>
                  <a:srgbClr val="7F7F7F"/>
                </a:solidFill>
                <a:latin typeface="Franklin Gothic Book" panose="020B0503020102020204" pitchFamily="34" charset="0"/>
                <a:cs typeface="Arial"/>
              </a:rPr>
              <a:t>for </a:t>
            </a:r>
            <a:r>
              <a:rPr sz="1067" spc="-7" dirty="0">
                <a:solidFill>
                  <a:srgbClr val="7F7F7F"/>
                </a:solidFill>
                <a:latin typeface="Franklin Gothic Book" panose="020B0503020102020204" pitchFamily="34" charset="0"/>
                <a:cs typeface="Arial"/>
              </a:rPr>
              <a:t>the </a:t>
            </a:r>
            <a:r>
              <a:rPr sz="1067" spc="-33" dirty="0">
                <a:solidFill>
                  <a:srgbClr val="7F7F7F"/>
                </a:solidFill>
                <a:latin typeface="Franklin Gothic Book" panose="020B0503020102020204" pitchFamily="34" charset="0"/>
                <a:cs typeface="Arial"/>
              </a:rPr>
              <a:t>express </a:t>
            </a:r>
            <a:r>
              <a:rPr sz="1067" spc="-27" dirty="0">
                <a:solidFill>
                  <a:srgbClr val="7F7F7F"/>
                </a:solidFill>
                <a:latin typeface="Franklin Gothic Book" panose="020B0503020102020204" pitchFamily="34" charset="0"/>
                <a:cs typeface="Arial"/>
              </a:rPr>
              <a:t>purpose </a:t>
            </a:r>
            <a:r>
              <a:rPr lang="en-US" sz="1067" spc="-13" dirty="0">
                <a:solidFill>
                  <a:srgbClr val="7F7F7F"/>
                </a:solidFill>
                <a:latin typeface="Franklin Gothic Book" panose="020B0503020102020204" pitchFamily="34" charset="0"/>
                <a:cs typeface="Arial"/>
              </a:rPr>
              <a:t>for Flying Horse Resort, </a:t>
            </a:r>
            <a:r>
              <a:rPr sz="1067" spc="-33" dirty="0">
                <a:solidFill>
                  <a:srgbClr val="7F7F7F"/>
                </a:solidFill>
                <a:latin typeface="Franklin Gothic Book" panose="020B0503020102020204" pitchFamily="34" charset="0"/>
                <a:cs typeface="Arial"/>
              </a:rPr>
              <a:t>systems,  </a:t>
            </a:r>
            <a:r>
              <a:rPr sz="1067" spc="-27" dirty="0">
                <a:solidFill>
                  <a:srgbClr val="7F7F7F"/>
                </a:solidFill>
                <a:latin typeface="Franklin Gothic Book" panose="020B0503020102020204" pitchFamily="34" charset="0"/>
                <a:cs typeface="Arial"/>
              </a:rPr>
              <a:t>and </a:t>
            </a:r>
            <a:r>
              <a:rPr sz="1067" spc="-20" dirty="0">
                <a:solidFill>
                  <a:srgbClr val="7F7F7F"/>
                </a:solidFill>
                <a:latin typeface="Franklin Gothic Book" panose="020B0503020102020204" pitchFamily="34" charset="0"/>
                <a:cs typeface="Arial"/>
              </a:rPr>
              <a:t>constructs are </a:t>
            </a:r>
            <a:r>
              <a:rPr sz="1067" spc="-13" dirty="0">
                <a:solidFill>
                  <a:srgbClr val="7F7F7F"/>
                </a:solidFill>
                <a:latin typeface="Franklin Gothic Book" panose="020B0503020102020204" pitchFamily="34" charset="0"/>
                <a:cs typeface="Arial"/>
              </a:rPr>
              <a:t>not for </a:t>
            </a:r>
            <a:r>
              <a:rPr sz="1067" spc="-20" dirty="0">
                <a:solidFill>
                  <a:srgbClr val="7F7F7F"/>
                </a:solidFill>
                <a:latin typeface="Franklin Gothic Book" panose="020B0503020102020204" pitchFamily="34" charset="0"/>
                <a:cs typeface="Arial"/>
              </a:rPr>
              <a:t>external </a:t>
            </a:r>
            <a:r>
              <a:rPr sz="1067" spc="-7" dirty="0">
                <a:solidFill>
                  <a:srgbClr val="7F7F7F"/>
                </a:solidFill>
                <a:latin typeface="Franklin Gothic Book" panose="020B0503020102020204" pitchFamily="34" charset="0"/>
                <a:cs typeface="Arial"/>
              </a:rPr>
              <a:t>distribution </a:t>
            </a:r>
            <a:r>
              <a:rPr sz="1067" spc="-27" dirty="0">
                <a:solidFill>
                  <a:srgbClr val="7F7F7F"/>
                </a:solidFill>
                <a:latin typeface="Franklin Gothic Book" panose="020B0503020102020204" pitchFamily="34" charset="0"/>
                <a:cs typeface="Arial"/>
              </a:rPr>
              <a:t>and </a:t>
            </a:r>
            <a:r>
              <a:rPr sz="1067" spc="-20" dirty="0">
                <a:solidFill>
                  <a:srgbClr val="7F7F7F"/>
                </a:solidFill>
                <a:latin typeface="Franklin Gothic Book" panose="020B0503020102020204" pitchFamily="34" charset="0"/>
                <a:cs typeface="Arial"/>
              </a:rPr>
              <a:t>are</a:t>
            </a:r>
            <a:r>
              <a:rPr sz="1067" spc="-73" dirty="0">
                <a:solidFill>
                  <a:srgbClr val="7F7F7F"/>
                </a:solidFill>
                <a:latin typeface="Franklin Gothic Book" panose="020B0503020102020204" pitchFamily="34" charset="0"/>
                <a:cs typeface="Arial"/>
              </a:rPr>
              <a:t> </a:t>
            </a:r>
            <a:r>
              <a:rPr sz="1067" spc="-13" dirty="0">
                <a:solidFill>
                  <a:srgbClr val="7F7F7F"/>
                </a:solidFill>
                <a:latin typeface="Franklin Gothic Book" panose="020B0503020102020204" pitchFamily="34" charset="0"/>
                <a:cs typeface="Arial"/>
              </a:rPr>
              <a:t>protected.</a:t>
            </a:r>
            <a:endParaRPr sz="1067" dirty="0">
              <a:latin typeface="Franklin Gothic Book" panose="020B0503020102020204" pitchFamily="34" charset="0"/>
              <a:cs typeface="Arial"/>
            </a:endParaRPr>
          </a:p>
        </p:txBody>
      </p:sp>
      <p:pic>
        <p:nvPicPr>
          <p:cNvPr id="3" name="Picture 2">
            <a:extLst>
              <a:ext uri="{FF2B5EF4-FFF2-40B4-BE49-F238E27FC236}">
                <a16:creationId xmlns:a16="http://schemas.microsoft.com/office/drawing/2014/main" id="{BD20FDA8-17A9-6432-09E7-477BCCA3AD8C}"/>
              </a:ext>
            </a:extLst>
          </p:cNvPr>
          <p:cNvPicPr>
            <a:picLocks noChangeAspect="1"/>
          </p:cNvPicPr>
          <p:nvPr/>
        </p:nvPicPr>
        <p:blipFill>
          <a:blip r:embed="rId4"/>
          <a:stretch>
            <a:fillRect/>
          </a:stretch>
        </p:blipFill>
        <p:spPr>
          <a:xfrm>
            <a:off x="10047514" y="5576066"/>
            <a:ext cx="2136556" cy="1281934"/>
          </a:xfrm>
          <a:prstGeom prst="rect">
            <a:avLst/>
          </a:prstGeom>
        </p:spPr>
      </p:pic>
    </p:spTree>
    <p:extLst>
      <p:ext uri="{BB962C8B-B14F-4D97-AF65-F5344CB8AC3E}">
        <p14:creationId xmlns:p14="http://schemas.microsoft.com/office/powerpoint/2010/main" val="165470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76ED04A-D1B1-7D4F-925B-56B554ED403C}"/>
              </a:ext>
            </a:extLst>
          </p:cNvPr>
          <p:cNvSpPr/>
          <p:nvPr/>
        </p:nvSpPr>
        <p:spPr>
          <a:xfrm>
            <a:off x="837870" y="1821649"/>
            <a:ext cx="2436327" cy="2197484"/>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5" name="Subtitle 2">
            <a:extLst>
              <a:ext uri="{FF2B5EF4-FFF2-40B4-BE49-F238E27FC236}">
                <a16:creationId xmlns:a16="http://schemas.microsoft.com/office/drawing/2014/main" id="{B7CA32FF-EABB-244D-B51E-03E627718C53}"/>
              </a:ext>
            </a:extLst>
          </p:cNvPr>
          <p:cNvSpPr txBox="1">
            <a:spLocks/>
          </p:cNvSpPr>
          <p:nvPr/>
        </p:nvSpPr>
        <p:spPr>
          <a:xfrm>
            <a:off x="872770" y="1819470"/>
            <a:ext cx="2366525" cy="1615699"/>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spcAft>
                <a:spcPts val="100"/>
              </a:spcAft>
            </a:pPr>
            <a:endParaRPr lang="en-US" sz="1400"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gn="l">
              <a:lnSpc>
                <a:spcPct val="100000"/>
              </a:lnSpc>
              <a:spcBef>
                <a:spcPts val="0"/>
              </a:spcBef>
              <a:spcAft>
                <a:spcPts val="100"/>
              </a:spcAft>
            </a:pPr>
            <a:endParaRPr lang="en-US" sz="1400"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gn="l">
              <a:lnSpc>
                <a:spcPct val="100000"/>
              </a:lnSpc>
              <a:spcBef>
                <a:spcPts val="0"/>
              </a:spcBef>
              <a:spcAft>
                <a:spcPts val="100"/>
              </a:spcAft>
            </a:pPr>
            <a:endParaRPr lang="en-US" sz="1400"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gn="l">
              <a:lnSpc>
                <a:spcPct val="100000"/>
              </a:lnSpc>
              <a:spcBef>
                <a:spcPts val="0"/>
              </a:spcBef>
              <a:spcAft>
                <a:spcPts val="100"/>
              </a:spcAft>
            </a:pPr>
            <a:endParaRPr lang="en-US" sz="1400"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nSpc>
                <a:spcPct val="100000"/>
              </a:lnSpc>
              <a:spcBef>
                <a:spcPts val="0"/>
              </a:spcBef>
              <a:spcAft>
                <a:spcPts val="100"/>
              </a:spcAft>
            </a:pPr>
            <a:r>
              <a:rPr lang="en-US" sz="2133"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rPr>
              <a:t>Insight Intelligence Report</a:t>
            </a:r>
          </a:p>
        </p:txBody>
      </p:sp>
      <p:sp>
        <p:nvSpPr>
          <p:cNvPr id="16" name="TextBox 15">
            <a:extLst>
              <a:ext uri="{FF2B5EF4-FFF2-40B4-BE49-F238E27FC236}">
                <a16:creationId xmlns:a16="http://schemas.microsoft.com/office/drawing/2014/main" id="{F1B959DC-CD3F-DA4A-BD84-A53C39E2C725}"/>
              </a:ext>
            </a:extLst>
          </p:cNvPr>
          <p:cNvSpPr txBox="1"/>
          <p:nvPr/>
        </p:nvSpPr>
        <p:spPr>
          <a:xfrm rot="16200000">
            <a:off x="-502112" y="2751113"/>
            <a:ext cx="2197485"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What You Get</a:t>
            </a:r>
          </a:p>
        </p:txBody>
      </p:sp>
      <p:sp>
        <p:nvSpPr>
          <p:cNvPr id="17" name="Rectangle 16">
            <a:extLst>
              <a:ext uri="{FF2B5EF4-FFF2-40B4-BE49-F238E27FC236}">
                <a16:creationId xmlns:a16="http://schemas.microsoft.com/office/drawing/2014/main" id="{ADB7DF4F-323C-3049-B0AF-AF5245F82986}"/>
              </a:ext>
            </a:extLst>
          </p:cNvPr>
          <p:cNvSpPr/>
          <p:nvPr/>
        </p:nvSpPr>
        <p:spPr>
          <a:xfrm>
            <a:off x="837873" y="4104629"/>
            <a:ext cx="2436327" cy="1978721"/>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8" name="TextBox 17">
            <a:extLst>
              <a:ext uri="{FF2B5EF4-FFF2-40B4-BE49-F238E27FC236}">
                <a16:creationId xmlns:a16="http://schemas.microsoft.com/office/drawing/2014/main" id="{08EA88D6-40CA-4B4E-AC3E-9B5068601B21}"/>
              </a:ext>
            </a:extLst>
          </p:cNvPr>
          <p:cNvSpPr txBox="1"/>
          <p:nvPr/>
        </p:nvSpPr>
        <p:spPr>
          <a:xfrm rot="16200000">
            <a:off x="-384313" y="4924715"/>
            <a:ext cx="1978725"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So You Can</a:t>
            </a:r>
          </a:p>
        </p:txBody>
      </p:sp>
      <p:sp>
        <p:nvSpPr>
          <p:cNvPr id="19" name="Subtitle 2">
            <a:extLst>
              <a:ext uri="{FF2B5EF4-FFF2-40B4-BE49-F238E27FC236}">
                <a16:creationId xmlns:a16="http://schemas.microsoft.com/office/drawing/2014/main" id="{20FDB204-7C28-AE4F-B2D3-5A51655213EB}"/>
              </a:ext>
            </a:extLst>
          </p:cNvPr>
          <p:cNvSpPr txBox="1">
            <a:spLocks/>
          </p:cNvSpPr>
          <p:nvPr/>
        </p:nvSpPr>
        <p:spPr>
          <a:xfrm>
            <a:off x="802662" y="4116371"/>
            <a:ext cx="2453725" cy="2046714"/>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ct val="100000"/>
              </a:lnSpc>
              <a:spcBef>
                <a:spcPts val="0"/>
              </a:spcBef>
              <a:spcAft>
                <a:spcPts val="900"/>
              </a:spcAft>
            </a:pPr>
            <a:r>
              <a:rPr lang="en-US" sz="1467"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Understand what:</a:t>
            </a:r>
          </a:p>
          <a:p>
            <a:pPr marL="380990" indent="82549" algn="l">
              <a:lnSpc>
                <a:spcPct val="100000"/>
              </a:lnSpc>
              <a:spcBef>
                <a:spcPts val="0"/>
              </a:spcBef>
              <a:spcAft>
                <a:spcPts val="900"/>
              </a:spcAft>
              <a:buFont typeface="Arial" panose="020B0604020202020204" pitchFamily="34" charset="0"/>
              <a:buChar char="•"/>
            </a:pPr>
            <a:r>
              <a:rPr lang="en-US" sz="1200"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 Is working and needs to be repeated</a:t>
            </a:r>
          </a:p>
          <a:p>
            <a:pPr marL="380990" indent="82549" algn="l">
              <a:lnSpc>
                <a:spcPct val="100000"/>
              </a:lnSpc>
              <a:spcBef>
                <a:spcPts val="0"/>
              </a:spcBef>
              <a:spcAft>
                <a:spcPts val="900"/>
              </a:spcAft>
              <a:buFont typeface="Arial" panose="020B0604020202020204" pitchFamily="34" charset="0"/>
              <a:buChar char="•"/>
            </a:pPr>
            <a:r>
              <a:rPr lang="en-US" sz="1200"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What is missing and needs to be built</a:t>
            </a:r>
          </a:p>
          <a:p>
            <a:pPr marL="380990" indent="82549" algn="l">
              <a:lnSpc>
                <a:spcPct val="100000"/>
              </a:lnSpc>
              <a:spcBef>
                <a:spcPts val="0"/>
              </a:spcBef>
              <a:spcAft>
                <a:spcPts val="900"/>
              </a:spcAft>
              <a:buFont typeface="Arial" panose="020B0604020202020204" pitchFamily="34" charset="0"/>
              <a:buChar char="•"/>
            </a:pPr>
            <a:r>
              <a:rPr lang="en-US" sz="1200"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What isn’t working and needs to be left behind</a:t>
            </a:r>
          </a:p>
          <a:p>
            <a:pPr marL="228594" indent="-228594" algn="l">
              <a:lnSpc>
                <a:spcPct val="100000"/>
              </a:lnSpc>
              <a:spcBef>
                <a:spcPts val="0"/>
              </a:spcBef>
              <a:spcAft>
                <a:spcPts val="900"/>
              </a:spcAft>
              <a:buFont typeface="Arial" panose="020B0604020202020204" pitchFamily="34" charset="0"/>
              <a:buChar char="•"/>
            </a:pPr>
            <a:endParaRPr lang="en-US" sz="1333" i="1"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endParaRPr>
          </a:p>
        </p:txBody>
      </p:sp>
      <p:sp>
        <p:nvSpPr>
          <p:cNvPr id="22" name="Rectangle 21">
            <a:extLst>
              <a:ext uri="{FF2B5EF4-FFF2-40B4-BE49-F238E27FC236}">
                <a16:creationId xmlns:a16="http://schemas.microsoft.com/office/drawing/2014/main" id="{0014A3A2-4E4F-864D-99A1-5FBF804A5854}"/>
              </a:ext>
            </a:extLst>
          </p:cNvPr>
          <p:cNvSpPr/>
          <p:nvPr/>
        </p:nvSpPr>
        <p:spPr>
          <a:xfrm>
            <a:off x="3618293" y="734927"/>
            <a:ext cx="5113328" cy="5468384"/>
          </a:xfrm>
          <a:prstGeom prst="rect">
            <a:avLst/>
          </a:prstGeom>
          <a:gradFill>
            <a:gsLst>
              <a:gs pos="0">
                <a:srgbClr val="A0A1A2"/>
              </a:gs>
              <a:gs pos="0">
                <a:srgbClr val="A0A1A2">
                  <a:tint val="44500"/>
                  <a:satMod val="160000"/>
                </a:srgbClr>
              </a:gs>
              <a:gs pos="100000">
                <a:srgbClr val="A0A1A2">
                  <a:tint val="23500"/>
                  <a:satMod val="160000"/>
                </a:srgbClr>
              </a:gs>
            </a:gsLst>
            <a:lin ang="135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133" dirty="0">
              <a:solidFill>
                <a:schemeClr val="tx1">
                  <a:lumMod val="65000"/>
                  <a:lumOff val="35000"/>
                </a:schemeClr>
              </a:solidFill>
              <a:latin typeface="Franklin Gothic Book" panose="020B0503020102020204" pitchFamily="34" charset="0"/>
            </a:endParaRPr>
          </a:p>
          <a:p>
            <a:pPr lvl="1"/>
            <a:endParaRPr lang="en-US" sz="1467" dirty="0">
              <a:solidFill>
                <a:schemeClr val="tx1">
                  <a:lumMod val="65000"/>
                  <a:lumOff val="35000"/>
                </a:schemeClr>
              </a:solidFill>
              <a:latin typeface="Franklin Gothic Book" panose="020B0503020102020204" pitchFamily="34" charset="0"/>
            </a:endParaRPr>
          </a:p>
          <a:p>
            <a:pPr marL="990575" lvl="1"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990575" lvl="1" indent="-982109">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solidFill>
                <a:schemeClr val="tx1">
                  <a:lumMod val="65000"/>
                  <a:lumOff val="35000"/>
                </a:schemeClr>
              </a:solidFill>
              <a:latin typeface="Franklin Gothic Book" panose="020B0503020102020204" pitchFamily="34" charset="0"/>
            </a:endParaRPr>
          </a:p>
          <a:p>
            <a:pPr marL="380990" indent="-380990">
              <a:buFont typeface="Arial" panose="020B0604020202020204" pitchFamily="34" charset="0"/>
              <a:buChar char="•"/>
            </a:pPr>
            <a:endParaRPr lang="en-US" sz="2400" dirty="0">
              <a:latin typeface="Franklin Gothic Book" panose="020B0503020102020204" pitchFamily="34" charset="0"/>
            </a:endParaRPr>
          </a:p>
        </p:txBody>
      </p:sp>
      <p:sp>
        <p:nvSpPr>
          <p:cNvPr id="24" name="Rounded Rectangle 23">
            <a:extLst>
              <a:ext uri="{FF2B5EF4-FFF2-40B4-BE49-F238E27FC236}">
                <a16:creationId xmlns:a16="http://schemas.microsoft.com/office/drawing/2014/main" id="{E0DB6637-E372-7E4D-8FB9-847DAB44A468}"/>
              </a:ext>
            </a:extLst>
          </p:cNvPr>
          <p:cNvSpPr/>
          <p:nvPr/>
        </p:nvSpPr>
        <p:spPr>
          <a:xfrm>
            <a:off x="8967711" y="1224848"/>
            <a:ext cx="2804160" cy="7439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sp>
        <p:nvSpPr>
          <p:cNvPr id="25" name="TextBox 24">
            <a:extLst>
              <a:ext uri="{FF2B5EF4-FFF2-40B4-BE49-F238E27FC236}">
                <a16:creationId xmlns:a16="http://schemas.microsoft.com/office/drawing/2014/main" id="{F884D4CE-146A-CF4D-9F45-4D48DEB60CFE}"/>
              </a:ext>
            </a:extLst>
          </p:cNvPr>
          <p:cNvSpPr txBox="1"/>
          <p:nvPr/>
        </p:nvSpPr>
        <p:spPr>
          <a:xfrm>
            <a:off x="9646769" y="673492"/>
            <a:ext cx="1282723" cy="461665"/>
          </a:xfrm>
          <a:prstGeom prst="rect">
            <a:avLst/>
          </a:prstGeom>
          <a:noFill/>
        </p:spPr>
        <p:txBody>
          <a:bodyPr wrap="none" rtlCol="0">
            <a:spAutoFit/>
          </a:bodyPr>
          <a:lstStyle/>
          <a:p>
            <a:pPr algn="ctr"/>
            <a:r>
              <a:rPr lang="en-US" sz="2400" dirty="0">
                <a:latin typeface="Franklin Gothic Book" panose="020B0503020102020204" pitchFamily="34" charset="0"/>
              </a:rPr>
              <a:t>Timeline</a:t>
            </a:r>
          </a:p>
        </p:txBody>
      </p:sp>
      <p:sp>
        <p:nvSpPr>
          <p:cNvPr id="27" name="TextBox 26">
            <a:extLst>
              <a:ext uri="{FF2B5EF4-FFF2-40B4-BE49-F238E27FC236}">
                <a16:creationId xmlns:a16="http://schemas.microsoft.com/office/drawing/2014/main" id="{5CF2E060-97C8-E341-BEBD-E9D0A1DE90BA}"/>
              </a:ext>
            </a:extLst>
          </p:cNvPr>
          <p:cNvSpPr txBox="1"/>
          <p:nvPr/>
        </p:nvSpPr>
        <p:spPr>
          <a:xfrm>
            <a:off x="9307173" y="2588170"/>
            <a:ext cx="2110788" cy="830997"/>
          </a:xfrm>
          <a:prstGeom prst="rect">
            <a:avLst/>
          </a:prstGeom>
          <a:noFill/>
        </p:spPr>
        <p:txBody>
          <a:bodyPr wrap="square" rtlCol="0">
            <a:spAutoFit/>
          </a:bodyPr>
          <a:lstStyle/>
          <a:p>
            <a:pPr algn="ctr"/>
            <a:r>
              <a:rPr lang="en-US" sz="2400" dirty="0">
                <a:latin typeface="Franklin Gothic Book" panose="020B0503020102020204" pitchFamily="34" charset="0"/>
              </a:rPr>
              <a:t>Kate &amp; Co </a:t>
            </a:r>
          </a:p>
          <a:p>
            <a:pPr algn="ctr"/>
            <a:r>
              <a:rPr lang="en-US" sz="2400" dirty="0">
                <a:latin typeface="Franklin Gothic Book" panose="020B0503020102020204" pitchFamily="34" charset="0"/>
              </a:rPr>
              <a:t>Team</a:t>
            </a:r>
          </a:p>
        </p:txBody>
      </p:sp>
      <p:sp>
        <p:nvSpPr>
          <p:cNvPr id="28" name="Rounded Rectangle 27">
            <a:extLst>
              <a:ext uri="{FF2B5EF4-FFF2-40B4-BE49-F238E27FC236}">
                <a16:creationId xmlns:a16="http://schemas.microsoft.com/office/drawing/2014/main" id="{4B98DEA1-E7F7-B94C-878A-13AE055E883F}"/>
              </a:ext>
            </a:extLst>
          </p:cNvPr>
          <p:cNvSpPr/>
          <p:nvPr/>
        </p:nvSpPr>
        <p:spPr>
          <a:xfrm>
            <a:off x="8960487" y="2493157"/>
            <a:ext cx="2804160" cy="9358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pic>
        <p:nvPicPr>
          <p:cNvPr id="29" name="Picture 28">
            <a:extLst>
              <a:ext uri="{FF2B5EF4-FFF2-40B4-BE49-F238E27FC236}">
                <a16:creationId xmlns:a16="http://schemas.microsoft.com/office/drawing/2014/main" id="{AAB0881C-2B13-D046-8B0B-41BA9EED393D}"/>
              </a:ext>
            </a:extLst>
          </p:cNvPr>
          <p:cNvPicPr>
            <a:picLocks noChangeAspect="1"/>
          </p:cNvPicPr>
          <p:nvPr/>
        </p:nvPicPr>
        <p:blipFill>
          <a:blip r:embed="rId2"/>
          <a:stretch>
            <a:fillRect/>
          </a:stretch>
        </p:blipFill>
        <p:spPr>
          <a:xfrm>
            <a:off x="9073767" y="3784916"/>
            <a:ext cx="710551" cy="812059"/>
          </a:xfrm>
          <a:prstGeom prst="rect">
            <a:avLst/>
          </a:prstGeom>
        </p:spPr>
      </p:pic>
      <p:sp>
        <p:nvSpPr>
          <p:cNvPr id="31" name="TextBox 30">
            <a:extLst>
              <a:ext uri="{FF2B5EF4-FFF2-40B4-BE49-F238E27FC236}">
                <a16:creationId xmlns:a16="http://schemas.microsoft.com/office/drawing/2014/main" id="{F5930BCD-F971-6944-9F84-1E88AF015B53}"/>
              </a:ext>
            </a:extLst>
          </p:cNvPr>
          <p:cNvSpPr txBox="1"/>
          <p:nvPr/>
        </p:nvSpPr>
        <p:spPr>
          <a:xfrm>
            <a:off x="8930426" y="4584653"/>
            <a:ext cx="1082333" cy="400110"/>
          </a:xfrm>
          <a:prstGeom prst="rect">
            <a:avLst/>
          </a:prstGeom>
          <a:noFill/>
        </p:spPr>
        <p:txBody>
          <a:bodyPr wrap="square" rtlCol="0">
            <a:spAutoFit/>
          </a:bodyPr>
          <a:lstStyle/>
          <a:p>
            <a:pPr algn="ctr"/>
            <a:r>
              <a:rPr lang="en-US" sz="2000" dirty="0">
                <a:latin typeface="Bradley Hand" pitchFamily="2" charset="77"/>
              </a:rPr>
              <a:t>Kate</a:t>
            </a:r>
          </a:p>
        </p:txBody>
      </p:sp>
      <p:sp>
        <p:nvSpPr>
          <p:cNvPr id="32" name="TextBox 31">
            <a:extLst>
              <a:ext uri="{FF2B5EF4-FFF2-40B4-BE49-F238E27FC236}">
                <a16:creationId xmlns:a16="http://schemas.microsoft.com/office/drawing/2014/main" id="{02B12372-4CA1-394C-ADC3-4B552FEF18C9}"/>
              </a:ext>
            </a:extLst>
          </p:cNvPr>
          <p:cNvSpPr txBox="1"/>
          <p:nvPr/>
        </p:nvSpPr>
        <p:spPr>
          <a:xfrm>
            <a:off x="10770252" y="4412197"/>
            <a:ext cx="1082333" cy="461665"/>
          </a:xfrm>
          <a:prstGeom prst="rect">
            <a:avLst/>
          </a:prstGeom>
          <a:noFill/>
        </p:spPr>
        <p:txBody>
          <a:bodyPr wrap="square" rtlCol="0">
            <a:spAutoFit/>
          </a:bodyPr>
          <a:lstStyle/>
          <a:p>
            <a:pPr algn="ctr"/>
            <a:r>
              <a:rPr lang="en-US" sz="2400" dirty="0">
                <a:latin typeface="Fave Script Bold Pro" panose="020F0502020204030204" pitchFamily="34" charset="0"/>
                <a:cs typeface="Fave Script Bold Pro" panose="020F0502020204030204" pitchFamily="34" charset="0"/>
              </a:rPr>
              <a:t>Sharla</a:t>
            </a:r>
          </a:p>
        </p:txBody>
      </p:sp>
      <p:pic>
        <p:nvPicPr>
          <p:cNvPr id="7" name="Picture 6">
            <a:extLst>
              <a:ext uri="{FF2B5EF4-FFF2-40B4-BE49-F238E27FC236}">
                <a16:creationId xmlns:a16="http://schemas.microsoft.com/office/drawing/2014/main" id="{95D165A9-65ED-C499-77E0-747543E2698D}"/>
              </a:ext>
            </a:extLst>
          </p:cNvPr>
          <p:cNvPicPr>
            <a:picLocks noChangeAspect="1"/>
          </p:cNvPicPr>
          <p:nvPr/>
        </p:nvPicPr>
        <p:blipFill>
          <a:blip r:embed="rId3"/>
          <a:stretch>
            <a:fillRect/>
          </a:stretch>
        </p:blipFill>
        <p:spPr>
          <a:xfrm>
            <a:off x="10738656" y="3591596"/>
            <a:ext cx="855074" cy="855074"/>
          </a:xfrm>
          <a:prstGeom prst="rect">
            <a:avLst/>
          </a:prstGeom>
        </p:spPr>
      </p:pic>
      <p:grpSp>
        <p:nvGrpSpPr>
          <p:cNvPr id="10" name="Group 9">
            <a:extLst>
              <a:ext uri="{FF2B5EF4-FFF2-40B4-BE49-F238E27FC236}">
                <a16:creationId xmlns:a16="http://schemas.microsoft.com/office/drawing/2014/main" id="{BC956F3C-20D3-A9B4-0C83-52E1FC85CD53}"/>
              </a:ext>
            </a:extLst>
          </p:cNvPr>
          <p:cNvGrpSpPr/>
          <p:nvPr/>
        </p:nvGrpSpPr>
        <p:grpSpPr>
          <a:xfrm>
            <a:off x="420129" y="285239"/>
            <a:ext cx="1177676" cy="1182624"/>
            <a:chOff x="102181" y="139153"/>
            <a:chExt cx="883257" cy="886968"/>
          </a:xfrm>
        </p:grpSpPr>
        <p:sp>
          <p:nvSpPr>
            <p:cNvPr id="12" name="Freeform 11">
              <a:extLst>
                <a:ext uri="{FF2B5EF4-FFF2-40B4-BE49-F238E27FC236}">
                  <a16:creationId xmlns:a16="http://schemas.microsoft.com/office/drawing/2014/main" id="{39C0E71D-C792-2512-972C-4D4945101719}"/>
                </a:ext>
              </a:extLst>
            </p:cNvPr>
            <p:cNvSpPr>
              <a:spLocks noChangeArrowheads="1"/>
            </p:cNvSpPr>
            <p:nvPr/>
          </p:nvSpPr>
          <p:spPr bwMode="auto">
            <a:xfrm>
              <a:off x="102181" y="139153"/>
              <a:ext cx="883257" cy="886968"/>
            </a:xfrm>
            <a:custGeom>
              <a:avLst/>
              <a:gdLst>
                <a:gd name="T0" fmla="*/ 1377 w 2753"/>
                <a:gd name="T1" fmla="*/ 0 h 2752"/>
                <a:gd name="T2" fmla="*/ 1377 w 2753"/>
                <a:gd name="T3" fmla="*/ 0 h 2752"/>
                <a:gd name="T4" fmla="*/ 2752 w 2753"/>
                <a:gd name="T5" fmla="*/ 1376 h 2752"/>
                <a:gd name="T6" fmla="*/ 2752 w 2753"/>
                <a:gd name="T7" fmla="*/ 1376 h 2752"/>
                <a:gd name="T8" fmla="*/ 1377 w 2753"/>
                <a:gd name="T9" fmla="*/ 2751 h 2752"/>
                <a:gd name="T10" fmla="*/ 1377 w 2753"/>
                <a:gd name="T11" fmla="*/ 2751 h 2752"/>
                <a:gd name="T12" fmla="*/ 0 w 2753"/>
                <a:gd name="T13" fmla="*/ 1376 h 2752"/>
                <a:gd name="T14" fmla="*/ 0 w 2753"/>
                <a:gd name="T15" fmla="*/ 1376 h 2752"/>
                <a:gd name="T16" fmla="*/ 1377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7" y="0"/>
                  </a:moveTo>
                  <a:lnTo>
                    <a:pt x="1377" y="0"/>
                  </a:lnTo>
                  <a:cubicBezTo>
                    <a:pt x="2137" y="0"/>
                    <a:pt x="2752" y="616"/>
                    <a:pt x="2752" y="1376"/>
                  </a:cubicBezTo>
                  <a:lnTo>
                    <a:pt x="2752" y="1376"/>
                  </a:lnTo>
                  <a:cubicBezTo>
                    <a:pt x="2752" y="2135"/>
                    <a:pt x="2137" y="2751"/>
                    <a:pt x="1377" y="2751"/>
                  </a:cubicBezTo>
                  <a:lnTo>
                    <a:pt x="1377" y="2751"/>
                  </a:lnTo>
                  <a:cubicBezTo>
                    <a:pt x="616" y="2751"/>
                    <a:pt x="0" y="2135"/>
                    <a:pt x="0" y="1376"/>
                  </a:cubicBezTo>
                  <a:lnTo>
                    <a:pt x="0" y="1376"/>
                  </a:lnTo>
                  <a:cubicBezTo>
                    <a:pt x="0" y="616"/>
                    <a:pt x="616" y="0"/>
                    <a:pt x="1377" y="0"/>
                  </a:cubicBezTo>
                </a:path>
              </a:pathLst>
            </a:custGeom>
            <a:solidFill>
              <a:schemeClr val="bg1"/>
            </a:solidFill>
            <a:ln w="76200">
              <a:solidFill>
                <a:srgbClr val="B52372"/>
              </a:solidFill>
            </a:ln>
            <a:effectLst/>
          </p:spPr>
          <p:txBody>
            <a:bodyPr wrap="none" anchor="ctr"/>
            <a:lstStyle/>
            <a:p>
              <a:endParaRPr lang="en-US" sz="3265" dirty="0"/>
            </a:p>
          </p:txBody>
        </p:sp>
        <p:pic>
          <p:nvPicPr>
            <p:cNvPr id="13" name="Picture 12">
              <a:extLst>
                <a:ext uri="{FF2B5EF4-FFF2-40B4-BE49-F238E27FC236}">
                  <a16:creationId xmlns:a16="http://schemas.microsoft.com/office/drawing/2014/main" id="{A542DB4C-081D-BE0C-5E0E-522B32554650}"/>
                </a:ext>
              </a:extLst>
            </p:cNvPr>
            <p:cNvPicPr>
              <a:picLocks noChangeAspect="1"/>
            </p:cNvPicPr>
            <p:nvPr/>
          </p:nvPicPr>
          <p:blipFill>
            <a:blip r:embed="rId4"/>
            <a:stretch>
              <a:fillRect/>
            </a:stretch>
          </p:blipFill>
          <p:spPr>
            <a:xfrm rot="19943948">
              <a:off x="360024" y="306818"/>
              <a:ext cx="367570" cy="595463"/>
            </a:xfrm>
            <a:prstGeom prst="rect">
              <a:avLst/>
            </a:prstGeom>
          </p:spPr>
        </p:pic>
      </p:grpSp>
      <p:pic>
        <p:nvPicPr>
          <p:cNvPr id="2" name="Picture 1">
            <a:extLst>
              <a:ext uri="{FF2B5EF4-FFF2-40B4-BE49-F238E27FC236}">
                <a16:creationId xmlns:a16="http://schemas.microsoft.com/office/drawing/2014/main" id="{7B2E3407-4A66-FA2E-0992-C48D1D867B4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3742393" y="1436497"/>
            <a:ext cx="254000" cy="254000"/>
          </a:xfrm>
          <a:prstGeom prst="rect">
            <a:avLst/>
          </a:prstGeom>
        </p:spPr>
      </p:pic>
      <p:pic>
        <p:nvPicPr>
          <p:cNvPr id="3" name="Picture 2">
            <a:extLst>
              <a:ext uri="{FF2B5EF4-FFF2-40B4-BE49-F238E27FC236}">
                <a16:creationId xmlns:a16="http://schemas.microsoft.com/office/drawing/2014/main" id="{8DE2F5E9-C55C-08AC-0DCC-3401B5C9438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3732238" y="2936527"/>
            <a:ext cx="254000" cy="254000"/>
          </a:xfrm>
          <a:prstGeom prst="rect">
            <a:avLst/>
          </a:prstGeom>
        </p:spPr>
      </p:pic>
      <p:pic>
        <p:nvPicPr>
          <p:cNvPr id="4" name="Picture 3">
            <a:extLst>
              <a:ext uri="{FF2B5EF4-FFF2-40B4-BE49-F238E27FC236}">
                <a16:creationId xmlns:a16="http://schemas.microsoft.com/office/drawing/2014/main" id="{4CEACF52-A67D-C547-FB30-F302FA628EA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3751817" y="4713562"/>
            <a:ext cx="254000" cy="254000"/>
          </a:xfrm>
          <a:prstGeom prst="rect">
            <a:avLst/>
          </a:prstGeom>
        </p:spPr>
      </p:pic>
      <p:sp>
        <p:nvSpPr>
          <p:cNvPr id="5" name="Slide Number Placeholder 3">
            <a:extLst>
              <a:ext uri="{FF2B5EF4-FFF2-40B4-BE49-F238E27FC236}">
                <a16:creationId xmlns:a16="http://schemas.microsoft.com/office/drawing/2014/main" id="{0156D5AE-E9ED-82BA-5B13-47850E3D61F6}"/>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2</a:t>
            </a:fld>
            <a:endParaRPr lang="en-US" sz="1000" dirty="0"/>
          </a:p>
        </p:txBody>
      </p:sp>
      <p:sp>
        <p:nvSpPr>
          <p:cNvPr id="8" name="Title 1">
            <a:extLst>
              <a:ext uri="{FF2B5EF4-FFF2-40B4-BE49-F238E27FC236}">
                <a16:creationId xmlns:a16="http://schemas.microsoft.com/office/drawing/2014/main" id="{D82A12AE-A44A-9DA3-78E7-8B0E82214420}"/>
              </a:ext>
            </a:extLst>
          </p:cNvPr>
          <p:cNvSpPr txBox="1">
            <a:spLocks/>
          </p:cNvSpPr>
          <p:nvPr/>
        </p:nvSpPr>
        <p:spPr>
          <a:xfrm>
            <a:off x="0" y="153682"/>
            <a:ext cx="12192000" cy="430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tx1">
                    <a:lumMod val="65000"/>
                    <a:lumOff val="35000"/>
                  </a:schemeClr>
                </a:solidFill>
                <a:latin typeface="Franklin Gothic Book" panose="020B0503020102020204" pitchFamily="34" charset="0"/>
              </a:rPr>
              <a:t>1 – The Reveal </a:t>
            </a:r>
            <a:r>
              <a:rPr lang="en-US" sz="3200" dirty="0">
                <a:solidFill>
                  <a:srgbClr val="B52372"/>
                </a:solidFill>
                <a:latin typeface="Franklin Gothic Book" panose="020B0503020102020204" pitchFamily="34" charset="0"/>
              </a:rPr>
              <a:t>| Operational Plan</a:t>
            </a:r>
          </a:p>
        </p:txBody>
      </p:sp>
      <p:sp>
        <p:nvSpPr>
          <p:cNvPr id="9" name="TextBox 8">
            <a:extLst>
              <a:ext uri="{FF2B5EF4-FFF2-40B4-BE49-F238E27FC236}">
                <a16:creationId xmlns:a16="http://schemas.microsoft.com/office/drawing/2014/main" id="{BD340650-D932-FC0B-4ECC-6032175749C2}"/>
              </a:ext>
            </a:extLst>
          </p:cNvPr>
          <p:cNvSpPr txBox="1"/>
          <p:nvPr/>
        </p:nvSpPr>
        <p:spPr>
          <a:xfrm>
            <a:off x="9434858" y="5696206"/>
            <a:ext cx="1403814" cy="369332"/>
          </a:xfrm>
          <a:prstGeom prst="rect">
            <a:avLst/>
          </a:prstGeom>
          <a:noFill/>
        </p:spPr>
        <p:txBody>
          <a:bodyPr wrap="square" rtlCol="0">
            <a:spAutoFit/>
          </a:bodyPr>
          <a:lstStyle/>
          <a:p>
            <a:pPr algn="ctr"/>
            <a:r>
              <a:rPr lang="en-US" dirty="0">
                <a:latin typeface="Ink Free" panose="03080402000500000000" pitchFamily="66" charset="0"/>
              </a:rPr>
              <a:t>Tristan</a:t>
            </a:r>
          </a:p>
        </p:txBody>
      </p:sp>
      <p:sp>
        <p:nvSpPr>
          <p:cNvPr id="20" name="TextBox 19">
            <a:extLst>
              <a:ext uri="{FF2B5EF4-FFF2-40B4-BE49-F238E27FC236}">
                <a16:creationId xmlns:a16="http://schemas.microsoft.com/office/drawing/2014/main" id="{DB96CCA1-85D5-EE2D-B828-90842671099C}"/>
              </a:ext>
            </a:extLst>
          </p:cNvPr>
          <p:cNvSpPr txBox="1"/>
          <p:nvPr/>
        </p:nvSpPr>
        <p:spPr>
          <a:xfrm>
            <a:off x="3996393" y="904540"/>
            <a:ext cx="4510889" cy="5001369"/>
          </a:xfrm>
          <a:prstGeom prst="rect">
            <a:avLst/>
          </a:prstGeom>
          <a:noFill/>
        </p:spPr>
        <p:txBody>
          <a:bodyPr wrap="square">
            <a:spAutoFit/>
          </a:bodyPr>
          <a:lstStyle/>
          <a:p>
            <a:r>
              <a:rPr lang="en-US" sz="2000" dirty="0">
                <a:solidFill>
                  <a:schemeClr val="tx1">
                    <a:lumMod val="75000"/>
                    <a:lumOff val="25000"/>
                  </a:schemeClr>
                </a:solidFill>
                <a:latin typeface="Franklin Gothic Book" panose="020B0503020102020204" pitchFamily="34" charset="0"/>
              </a:rPr>
              <a:t>A deep dive into:</a:t>
            </a:r>
            <a:endParaRPr lang="en-US" sz="1400" dirty="0">
              <a:solidFill>
                <a:schemeClr val="tx1">
                  <a:lumMod val="75000"/>
                  <a:lumOff val="25000"/>
                </a:schemeClr>
              </a:solidFill>
              <a:latin typeface="Franklin Gothic Book" panose="020B0503020102020204" pitchFamily="34" charset="0"/>
            </a:endParaRPr>
          </a:p>
          <a:p>
            <a:endParaRPr lang="en-US" sz="900" dirty="0">
              <a:solidFill>
                <a:schemeClr val="tx1">
                  <a:lumMod val="75000"/>
                  <a:lumOff val="25000"/>
                </a:schemeClr>
              </a:solidFill>
              <a:latin typeface="Franklin Gothic Book" panose="020B0503020102020204" pitchFamily="34" charset="0"/>
            </a:endParaRPr>
          </a:p>
          <a:p>
            <a:r>
              <a:rPr lang="en-US" i="1" dirty="0">
                <a:solidFill>
                  <a:schemeClr val="tx1">
                    <a:lumMod val="75000"/>
                    <a:lumOff val="25000"/>
                  </a:schemeClr>
                </a:solidFill>
                <a:latin typeface="Franklin Gothic Book" panose="020B0503020102020204" pitchFamily="34" charset="0"/>
              </a:rPr>
              <a:t>Critical Crowd Involvement:  (Sales Team, Wendy, Glenn, Rev Mgmt., Marketing) </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One-on-One Interviews</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Rev. Mgmt. &amp; Marketing Calls</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Sales Team</a:t>
            </a:r>
          </a:p>
          <a:p>
            <a:pPr marL="350838"/>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Deep dive into: </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Revenue Plan </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Sales Action Plan</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Marketing Plan</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Reports, KPIs, and other relevant information</a:t>
            </a:r>
          </a:p>
          <a:p>
            <a:pPr marL="350838">
              <a:buFont typeface="Arial" panose="020B0604020202020204" pitchFamily="34" charset="0"/>
              <a:buChar char="•"/>
            </a:pPr>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Processes and Involvement: </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‘In the tent’ </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Current strategies, actions</a:t>
            </a:r>
          </a:p>
          <a:p>
            <a:pPr marL="350838" indent="225425">
              <a:buFont typeface="Arial" panose="020B0604020202020204" pitchFamily="34" charset="0"/>
              <a:buChar char="•"/>
            </a:pPr>
            <a:r>
              <a:rPr lang="en-US" dirty="0">
                <a:solidFill>
                  <a:schemeClr val="tx1">
                    <a:lumMod val="75000"/>
                    <a:lumOff val="25000"/>
                  </a:schemeClr>
                </a:solidFill>
                <a:latin typeface="Franklin Gothic Book" panose="020B0503020102020204" pitchFamily="34" charset="0"/>
              </a:rPr>
              <a:t>Approach</a:t>
            </a:r>
          </a:p>
        </p:txBody>
      </p:sp>
      <p:sp>
        <p:nvSpPr>
          <p:cNvPr id="11" name="TextBox 10">
            <a:extLst>
              <a:ext uri="{FF2B5EF4-FFF2-40B4-BE49-F238E27FC236}">
                <a16:creationId xmlns:a16="http://schemas.microsoft.com/office/drawing/2014/main" id="{CF34819F-4FE1-B88C-AB7B-F45DA2002E5B}"/>
              </a:ext>
            </a:extLst>
          </p:cNvPr>
          <p:cNvSpPr txBox="1"/>
          <p:nvPr/>
        </p:nvSpPr>
        <p:spPr>
          <a:xfrm>
            <a:off x="9647222" y="1365987"/>
            <a:ext cx="1673022" cy="461665"/>
          </a:xfrm>
          <a:prstGeom prst="rect">
            <a:avLst/>
          </a:prstGeom>
          <a:noFill/>
        </p:spPr>
        <p:txBody>
          <a:bodyPr wrap="none" rtlCol="0">
            <a:spAutoFit/>
          </a:bodyPr>
          <a:lstStyle/>
          <a:p>
            <a:r>
              <a:rPr lang="en-US" sz="2400" dirty="0">
                <a:latin typeface="Franklin Gothic Book" panose="020B0503020102020204" pitchFamily="34" charset="0"/>
              </a:rPr>
              <a:t>4 - 5 weeks</a:t>
            </a:r>
          </a:p>
        </p:txBody>
      </p:sp>
      <p:pic>
        <p:nvPicPr>
          <p:cNvPr id="21" name="Picture 20">
            <a:extLst>
              <a:ext uri="{FF2B5EF4-FFF2-40B4-BE49-F238E27FC236}">
                <a16:creationId xmlns:a16="http://schemas.microsoft.com/office/drawing/2014/main" id="{2940478E-2C4F-9C5B-6FD9-53A5916B8103}"/>
              </a:ext>
            </a:extLst>
          </p:cNvPr>
          <p:cNvPicPr>
            <a:picLocks noChangeAspect="1"/>
          </p:cNvPicPr>
          <p:nvPr/>
        </p:nvPicPr>
        <p:blipFill>
          <a:blip r:embed="rId7"/>
          <a:stretch>
            <a:fillRect/>
          </a:stretch>
        </p:blipFill>
        <p:spPr>
          <a:xfrm>
            <a:off x="9947289" y="4396522"/>
            <a:ext cx="474208" cy="1264554"/>
          </a:xfrm>
          <a:prstGeom prst="rect">
            <a:avLst/>
          </a:prstGeom>
        </p:spPr>
      </p:pic>
      <p:pic>
        <p:nvPicPr>
          <p:cNvPr id="23" name="Picture 22">
            <a:extLst>
              <a:ext uri="{FF2B5EF4-FFF2-40B4-BE49-F238E27FC236}">
                <a16:creationId xmlns:a16="http://schemas.microsoft.com/office/drawing/2014/main" id="{17CEAF86-2472-543C-2CFB-913FEAD7F77C}"/>
              </a:ext>
            </a:extLst>
          </p:cNvPr>
          <p:cNvPicPr>
            <a:picLocks noChangeAspect="1"/>
          </p:cNvPicPr>
          <p:nvPr/>
        </p:nvPicPr>
        <p:blipFill>
          <a:blip r:embed="rId8"/>
          <a:srcRect t="1" b="35282"/>
          <a:stretch/>
        </p:blipFill>
        <p:spPr>
          <a:xfrm>
            <a:off x="10816148" y="5147078"/>
            <a:ext cx="749205" cy="611347"/>
          </a:xfrm>
          <a:prstGeom prst="rect">
            <a:avLst/>
          </a:prstGeom>
        </p:spPr>
      </p:pic>
      <p:sp>
        <p:nvSpPr>
          <p:cNvPr id="26" name="TextBox 25">
            <a:extLst>
              <a:ext uri="{FF2B5EF4-FFF2-40B4-BE49-F238E27FC236}">
                <a16:creationId xmlns:a16="http://schemas.microsoft.com/office/drawing/2014/main" id="{3968131E-E7AD-EC11-93AB-EAED459DC193}"/>
              </a:ext>
            </a:extLst>
          </p:cNvPr>
          <p:cNvSpPr txBox="1"/>
          <p:nvPr/>
        </p:nvSpPr>
        <p:spPr>
          <a:xfrm>
            <a:off x="10770252" y="5895643"/>
            <a:ext cx="928908" cy="738664"/>
          </a:xfrm>
          <a:prstGeom prst="rect">
            <a:avLst/>
          </a:prstGeom>
          <a:noFill/>
        </p:spPr>
        <p:txBody>
          <a:bodyPr wrap="square" rtlCol="0">
            <a:spAutoFit/>
          </a:bodyPr>
          <a:lstStyle/>
          <a:p>
            <a:pPr algn="ctr"/>
            <a:r>
              <a:rPr lang="en-US" sz="1400" dirty="0">
                <a:latin typeface="Cavolini" panose="03000502040302020204" pitchFamily="66" charset="0"/>
                <a:cs typeface="Cavolini" panose="03000502040302020204" pitchFamily="66" charset="0"/>
              </a:rPr>
              <a:t>Flying Horse Team</a:t>
            </a:r>
          </a:p>
        </p:txBody>
      </p:sp>
    </p:spTree>
    <p:extLst>
      <p:ext uri="{BB962C8B-B14F-4D97-AF65-F5344CB8AC3E}">
        <p14:creationId xmlns:p14="http://schemas.microsoft.com/office/powerpoint/2010/main" val="1758519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officeArt object" descr="Line 840">
            <a:extLst>
              <a:ext uri="{FF2B5EF4-FFF2-40B4-BE49-F238E27FC236}">
                <a16:creationId xmlns:a16="http://schemas.microsoft.com/office/drawing/2014/main" id="{842586C5-9E80-955C-65EA-AB7A8322E0B4}"/>
              </a:ext>
            </a:extLst>
          </p:cNvPr>
          <p:cNvCxnSpPr>
            <a:cxnSpLocks/>
          </p:cNvCxnSpPr>
          <p:nvPr/>
        </p:nvCxnSpPr>
        <p:spPr>
          <a:xfrm>
            <a:off x="343598" y="4779519"/>
            <a:ext cx="1405689" cy="0"/>
          </a:xfrm>
          <a:prstGeom prst="line">
            <a:avLst/>
          </a:prstGeom>
          <a:noFill/>
          <a:ln w="48069" cap="flat">
            <a:solidFill>
              <a:srgbClr val="D51067"/>
            </a:solidFill>
            <a:prstDash val="solid"/>
            <a:round/>
          </a:ln>
          <a:effectLst/>
        </p:spPr>
      </p:cxnSp>
      <p:sp>
        <p:nvSpPr>
          <p:cNvPr id="47" name="Rectangle 47">
            <a:extLst>
              <a:ext uri="{FF2B5EF4-FFF2-40B4-BE49-F238E27FC236}">
                <a16:creationId xmlns:a16="http://schemas.microsoft.com/office/drawing/2014/main" id="{79275FA8-F299-292B-E46F-7560403D9F6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49064" tIns="952200" rIns="1091856" bIns="177744" numCol="1" anchor="ctr" anchorCtr="0" compatLnSpc="1">
            <a:prstTxWarp prst="textNoShape">
              <a:avLst/>
            </a:prstTxWarp>
            <a:spAutoFit/>
          </a:bodyPr>
          <a:lstStyle/>
          <a:p>
            <a:endParaRPr lang="en-US" dirty="0"/>
          </a:p>
        </p:txBody>
      </p:sp>
      <p:sp>
        <p:nvSpPr>
          <p:cNvPr id="48" name="Rectangle 825">
            <a:extLst>
              <a:ext uri="{FF2B5EF4-FFF2-40B4-BE49-F238E27FC236}">
                <a16:creationId xmlns:a16="http://schemas.microsoft.com/office/drawing/2014/main" id="{6C4B41A5-A874-CE21-810D-19FAACFA3362}"/>
              </a:ext>
            </a:extLst>
          </p:cNvPr>
          <p:cNvSpPr>
            <a:spLocks noChangeArrowheads="1"/>
          </p:cNvSpPr>
          <p:nvPr/>
        </p:nvSpPr>
        <p:spPr bwMode="auto">
          <a:xfrm>
            <a:off x="92922725" y="457200"/>
            <a:ext cx="4173538" cy="4171950"/>
          </a:xfrm>
          <a:prstGeom prst="rect">
            <a:avLst/>
          </a:prstGeom>
          <a:solidFill>
            <a:srgbClr val="9ABE34"/>
          </a:solidFill>
          <a:ln>
            <a:noFill/>
          </a:ln>
          <a:extLst>
            <a:ext uri="{91240B29-F687-4F45-9708-019B960494DF}">
              <a14:hiddenLine xmlns:a14="http://schemas.microsoft.com/office/drawing/2010/main" w="12700">
                <a:solidFill>
                  <a:srgbClr val="000000"/>
                </a:solidFill>
                <a:miter lim="4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Line 826">
            <a:extLst>
              <a:ext uri="{FF2B5EF4-FFF2-40B4-BE49-F238E27FC236}">
                <a16:creationId xmlns:a16="http://schemas.microsoft.com/office/drawing/2014/main" id="{F7CD8F78-AD20-9398-6DC2-16C7A305C9F5}"/>
              </a:ext>
            </a:extLst>
          </p:cNvPr>
          <p:cNvSpPr>
            <a:spLocks noChangeShapeType="1"/>
          </p:cNvSpPr>
          <p:nvPr/>
        </p:nvSpPr>
        <p:spPr bwMode="auto">
          <a:xfrm>
            <a:off x="0" y="8801100"/>
            <a:ext cx="97075625" cy="0"/>
          </a:xfrm>
          <a:prstGeom prst="line">
            <a:avLst/>
          </a:prstGeom>
          <a:noFill/>
          <a:ln w="3175">
            <a:solidFill>
              <a:srgbClr val="FACC0C"/>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Title 2">
            <a:extLst>
              <a:ext uri="{FF2B5EF4-FFF2-40B4-BE49-F238E27FC236}">
                <a16:creationId xmlns:a16="http://schemas.microsoft.com/office/drawing/2014/main" id="{E48AB22D-38EE-1D25-0FB2-F243D8B8DB24}"/>
              </a:ext>
            </a:extLst>
          </p:cNvPr>
          <p:cNvSpPr>
            <a:spLocks noGrp="1"/>
          </p:cNvSpPr>
          <p:nvPr>
            <p:ph type="title"/>
          </p:nvPr>
        </p:nvSpPr>
        <p:spPr/>
        <p:txBody>
          <a:bodyPr/>
          <a:lstStyle/>
          <a:p>
            <a:r>
              <a:rPr lang="en-US" dirty="0">
                <a:solidFill>
                  <a:schemeClr val="tx1">
                    <a:lumMod val="65000"/>
                    <a:lumOff val="35000"/>
                  </a:schemeClr>
                </a:solidFill>
              </a:rPr>
              <a:t>The Reveal- Outline of effort</a:t>
            </a:r>
          </a:p>
        </p:txBody>
      </p:sp>
      <p:sp>
        <p:nvSpPr>
          <p:cNvPr id="6" name="TextBox 5">
            <a:extLst>
              <a:ext uri="{FF2B5EF4-FFF2-40B4-BE49-F238E27FC236}">
                <a16:creationId xmlns:a16="http://schemas.microsoft.com/office/drawing/2014/main" id="{5B8D54F2-0916-0CEF-0BCC-906BE4B055BD}"/>
              </a:ext>
            </a:extLst>
          </p:cNvPr>
          <p:cNvSpPr txBox="1"/>
          <p:nvPr/>
        </p:nvSpPr>
        <p:spPr>
          <a:xfrm>
            <a:off x="384277" y="624362"/>
            <a:ext cx="11423446" cy="3947234"/>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1: </a:t>
            </a:r>
          </a:p>
          <a:p>
            <a:pPr marL="228600" marR="0" algn="ctr">
              <a:spcBef>
                <a:spcPts val="0"/>
              </a:spcBef>
              <a:spcAft>
                <a:spcPts val="0"/>
              </a:spcAft>
            </a:pP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1 to 2 weeks prior to Kick Off w/ Team</a:t>
            </a:r>
          </a:p>
          <a:p>
            <a:pPr marL="228600" marR="0">
              <a:spcBef>
                <a:spcPts val="0"/>
              </a:spcBef>
              <a:spcAft>
                <a:spcPts val="0"/>
              </a:spcAft>
            </a:pPr>
            <a:r>
              <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rPr>
              <a:t>Communication Touchpoint to Team: </a:t>
            </a:r>
          </a:p>
          <a:p>
            <a:pPr marL="228600" marR="0">
              <a:spcBef>
                <a:spcPts val="0"/>
              </a:spcBef>
              <a:spcAft>
                <a:spcPts val="0"/>
              </a:spcAft>
            </a:pPr>
            <a:r>
              <a:rPr lang="en-US" sz="1200"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rPr>
              <a:t>Communication sent to the team speaking to: </a:t>
            </a:r>
          </a:p>
          <a:p>
            <a:pPr marL="971550" lvl="1" indent="-285750">
              <a:buFont typeface="Arial" panose="020B0604020202020204" pitchFamily="34" charset="0"/>
              <a:buChar char="•"/>
            </a:pPr>
            <a:r>
              <a:rPr lang="en-US" sz="1200" dirty="0">
                <a:solidFill>
                  <a:schemeClr val="tx1">
                    <a:lumMod val="75000"/>
                    <a:lumOff val="25000"/>
                  </a:schemeClr>
                </a:solidFill>
                <a:latin typeface="Franklin Gothic Book" panose="020B0503020102020204" pitchFamily="34" charset="0"/>
                <a:ea typeface="Cambria" panose="02040503050406030204" pitchFamily="18" charset="0"/>
                <a:cs typeface="Times New Roman" panose="02020603050405020304" pitchFamily="18" charset="0"/>
              </a:rPr>
              <a:t>Introduction to the project</a:t>
            </a:r>
          </a:p>
          <a:p>
            <a:pPr marL="971550" lvl="1" indent="-285750">
              <a:buFont typeface="Arial" panose="020B0604020202020204" pitchFamily="34" charset="0"/>
              <a:buChar char="•"/>
            </a:pPr>
            <a:r>
              <a:rPr lang="en-US" sz="1200" dirty="0">
                <a:solidFill>
                  <a:schemeClr val="tx1">
                    <a:lumMod val="75000"/>
                    <a:lumOff val="25000"/>
                  </a:schemeClr>
                </a:solidFill>
                <a:latin typeface="Franklin Gothic Book" panose="020B0503020102020204" pitchFamily="34" charset="0"/>
                <a:ea typeface="Cambria" panose="02040503050406030204" pitchFamily="18" charset="0"/>
                <a:cs typeface="Times New Roman" panose="02020603050405020304" pitchFamily="18" charset="0"/>
              </a:rPr>
              <a:t>What we are expecting to gain</a:t>
            </a:r>
          </a:p>
          <a:p>
            <a:pPr marL="971550" lvl="1" indent="-285750">
              <a:buFont typeface="Arial" panose="020B0604020202020204" pitchFamily="34" charset="0"/>
              <a:buChar char="•"/>
            </a:pPr>
            <a:r>
              <a:rPr lang="en-US" sz="1200" dirty="0">
                <a:solidFill>
                  <a:schemeClr val="tx1">
                    <a:lumMod val="75000"/>
                    <a:lumOff val="25000"/>
                  </a:schemeClr>
                </a:solidFill>
                <a:latin typeface="Franklin Gothic Book" panose="020B0503020102020204" pitchFamily="34" charset="0"/>
                <a:ea typeface="Cambria" panose="02040503050406030204" pitchFamily="18" charset="0"/>
                <a:cs typeface="Times New Roman" panose="02020603050405020304" pitchFamily="18" charset="0"/>
              </a:rPr>
              <a:t>Introduction of Kate and why she was chosen to partner with Flying Horse</a:t>
            </a:r>
          </a:p>
          <a:p>
            <a:pPr marL="971550" lvl="1" indent="-285750">
              <a:buFont typeface="Arial" panose="020B0604020202020204" pitchFamily="34" charset="0"/>
              <a:buChar char="•"/>
            </a:pPr>
            <a:r>
              <a:rPr lang="en-US" sz="1200" dirty="0">
                <a:solidFill>
                  <a:schemeClr val="tx1">
                    <a:lumMod val="75000"/>
                    <a:lumOff val="25000"/>
                  </a:schemeClr>
                </a:solidFill>
                <a:latin typeface="Franklin Gothic Book" panose="020B0503020102020204" pitchFamily="34" charset="0"/>
                <a:ea typeface="Cambria" panose="02040503050406030204" pitchFamily="18" charset="0"/>
                <a:cs typeface="Times New Roman" panose="02020603050405020304" pitchFamily="18" charset="0"/>
              </a:rPr>
              <a:t>Next Steps – Kick off Call</a:t>
            </a:r>
          </a:p>
          <a:p>
            <a:pPr marL="290513" lvl="1"/>
            <a:endParaRPr lang="en-US" sz="1050" b="1"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latin typeface="Franklin Gothic Book" panose="020B0503020102020204" pitchFamily="34" charset="0"/>
                <a:ea typeface="Cambria" panose="02040503050406030204" pitchFamily="18" charset="0"/>
                <a:cs typeface="Times New Roman" panose="02020603050405020304" pitchFamily="18" charset="0"/>
              </a:rPr>
              <a:t>Focus:  Access – Information Dump</a:t>
            </a:r>
          </a:p>
          <a:p>
            <a:pPr marL="230188" lvl="1"/>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Access to Relevant Reporting (Revenue Plan, Sales Strategies, Budgets, KPIs, Marketing Plan, Weekly / Monthly Reports that are submitted, Owners Presentations)</a:t>
            </a:r>
          </a:p>
          <a:p>
            <a:pPr marL="230188" lvl="1"/>
            <a:r>
              <a:rPr lang="en-US" sz="1200" dirty="0">
                <a:latin typeface="Franklin Gothic Book" panose="020B0503020102020204" pitchFamily="34" charset="0"/>
                <a:ea typeface="Cambria" panose="02040503050406030204" pitchFamily="18" charset="0"/>
                <a:cs typeface="Times New Roman" panose="02020603050405020304" pitchFamily="18" charset="0"/>
              </a:rPr>
              <a:t>Schedule of typical meetings- Rev mgmt., Marketing, Sales</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endParaRPr lang="en-US" sz="10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461963" lvl="2" indent="225425">
              <a:buFont typeface="Arial" panose="020B0604020202020204" pitchFamily="34" charset="0"/>
              <a:buChar char="•"/>
            </a:pPr>
            <a:r>
              <a:rPr lang="en-US" sz="1200" dirty="0">
                <a:latin typeface="Franklin Gothic Book" panose="020B0503020102020204" pitchFamily="34" charset="0"/>
                <a:ea typeface="Cambria" panose="02040503050406030204" pitchFamily="18" charset="0"/>
                <a:cs typeface="Times New Roman" panose="02020603050405020304" pitchFamily="18" charset="0"/>
              </a:rPr>
              <a:t>Deep Dive:  Reading, research, understanding, thinking</a:t>
            </a:r>
          </a:p>
          <a:p>
            <a:pPr marL="461963" lvl="2" indent="225425">
              <a:buFont typeface="Arial" panose="020B0604020202020204" pitchFamily="34" charset="0"/>
              <a:buChar char="•"/>
            </a:pPr>
            <a:r>
              <a:rPr lang="en-US" sz="1200" dirty="0">
                <a:latin typeface="Franklin Gothic Book" panose="020B0503020102020204" pitchFamily="34" charset="0"/>
                <a:ea typeface="Cambria" panose="02040503050406030204" pitchFamily="18" charset="0"/>
                <a:cs typeface="Times New Roman" panose="02020603050405020304" pitchFamily="18" charset="0"/>
              </a:rPr>
              <a:t>Plan Development of the Reveal: </a:t>
            </a: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Build out of workstreams, milestones, supporting departments and framework and dependencies.  </a:t>
            </a:r>
          </a:p>
          <a:p>
            <a:pPr marL="461963" lvl="1" indent="225425"/>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30188" lvl="1"/>
            <a:r>
              <a:rPr lang="en-US" sz="1200" b="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input need:  </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Access to the reports  and information needed for KB &amp; Co</a:t>
            </a:r>
            <a:endParaRPr lang="en-US" sz="12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Virtual</a:t>
            </a:r>
            <a:r>
              <a:rPr lang="en-US" sz="1200" i="1" u="sng"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 </a:t>
            </a:r>
            <a:endParaRPr lang="en-US" sz="1200" u="sng"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06AB0B42-E3A5-48BF-A03A-98B46D5507C3}"/>
              </a:ext>
            </a:extLst>
          </p:cNvPr>
          <p:cNvSpPr txBox="1"/>
          <p:nvPr/>
        </p:nvSpPr>
        <p:spPr>
          <a:xfrm>
            <a:off x="473286" y="4556108"/>
            <a:ext cx="10913152" cy="2100575"/>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2</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lgn="ctr">
              <a:spcBef>
                <a:spcPts val="0"/>
              </a:spcBef>
              <a:spcAft>
                <a:spcPts val="0"/>
              </a:spcAft>
            </a:pP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Kick Off w/ Team</a:t>
            </a:r>
          </a:p>
          <a:p>
            <a:pPr marL="228600" marR="0">
              <a:spcBef>
                <a:spcPts val="0"/>
              </a:spcBef>
              <a:spcAft>
                <a:spcPts val="0"/>
              </a:spcAft>
            </a:pPr>
            <a:r>
              <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rPr>
              <a:t>Communication Touchpoint to Team: </a:t>
            </a:r>
          </a:p>
          <a:p>
            <a:pPr marL="228600" marR="0">
              <a:spcBef>
                <a:spcPts val="0"/>
              </a:spcBef>
              <a:spcAft>
                <a:spcPts val="0"/>
              </a:spcAft>
            </a:pPr>
            <a:r>
              <a:rPr lang="en-US" sz="1200" dirty="0">
                <a:solidFill>
                  <a:schemeClr val="tx1">
                    <a:lumMod val="75000"/>
                    <a:lumOff val="25000"/>
                  </a:schemeClr>
                </a:solidFill>
                <a:latin typeface="Franklin Gothic Book" panose="020B0503020102020204" pitchFamily="34" charset="0"/>
                <a:ea typeface="Cambria" panose="02040503050406030204" pitchFamily="18" charset="0"/>
                <a:cs typeface="Times New Roman" panose="02020603050405020304" pitchFamily="18" charset="0"/>
              </a:rPr>
              <a:t>Warm Invite “Premier” to call</a:t>
            </a:r>
          </a:p>
          <a:p>
            <a:pPr marL="228600" marR="0">
              <a:spcBef>
                <a:spcPts val="0"/>
              </a:spcBef>
              <a:spcAft>
                <a:spcPts val="0"/>
              </a:spcAft>
            </a:pPr>
            <a:endParaRPr lang="en-US" sz="1050" b="1"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latin typeface="Franklin Gothic Book" panose="020B0503020102020204" pitchFamily="34" charset="0"/>
                <a:ea typeface="Cambria" panose="02040503050406030204" pitchFamily="18" charset="0"/>
                <a:cs typeface="Times New Roman" panose="02020603050405020304" pitchFamily="18" charset="0"/>
              </a:rPr>
              <a:t>Focus – Engagement Communication </a:t>
            </a:r>
          </a:p>
          <a:p>
            <a:pPr marL="230188" lvl="1"/>
            <a:r>
              <a:rPr lang="en-US" sz="1200" dirty="0">
                <a:latin typeface="Franklin Gothic Book" panose="020B0503020102020204" pitchFamily="34" charset="0"/>
                <a:ea typeface="Cambria" panose="02040503050406030204" pitchFamily="18" charset="0"/>
                <a:cs typeface="Times New Roman" panose="02020603050405020304" pitchFamily="18" charset="0"/>
              </a:rPr>
              <a:t>Sharing with team of engagement and next steps. </a:t>
            </a:r>
          </a:p>
          <a:p>
            <a:pPr marL="230188" lvl="1"/>
            <a:endParaRPr lang="en-US" sz="10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Call Design, focused outcomes</a:t>
            </a:r>
          </a:p>
          <a:p>
            <a:pPr marL="687388" lvl="2" indent="-225425">
              <a:buFont typeface="Arial" panose="020B0604020202020204" pitchFamily="34" charset="0"/>
              <a:buChar char="•"/>
            </a:pP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612226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C434-391E-8FB7-8C0E-3647CCBA4471}"/>
            </a:ext>
          </a:extLst>
        </p:cNvPr>
        <p:cNvGrpSpPr/>
        <p:nvPr/>
      </p:nvGrpSpPr>
      <p:grpSpPr>
        <a:xfrm>
          <a:off x="0" y="0"/>
          <a:ext cx="0" cy="0"/>
          <a:chOff x="0" y="0"/>
          <a:chExt cx="0" cy="0"/>
        </a:xfrm>
      </p:grpSpPr>
      <p:sp>
        <p:nvSpPr>
          <p:cNvPr id="47" name="Rectangle 47">
            <a:extLst>
              <a:ext uri="{FF2B5EF4-FFF2-40B4-BE49-F238E27FC236}">
                <a16:creationId xmlns:a16="http://schemas.microsoft.com/office/drawing/2014/main" id="{D0C4ABDB-D41E-30DC-5081-0ED80C0C8DD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49064" tIns="952200" rIns="1091856" bIns="177744" numCol="1" anchor="ctr" anchorCtr="0" compatLnSpc="1">
            <a:prstTxWarp prst="textNoShape">
              <a:avLst/>
            </a:prstTxWarp>
            <a:spAutoFit/>
          </a:bodyPr>
          <a:lstStyle/>
          <a:p>
            <a:endParaRPr lang="en-US" dirty="0"/>
          </a:p>
        </p:txBody>
      </p:sp>
      <p:sp>
        <p:nvSpPr>
          <p:cNvPr id="48" name="Rectangle 825">
            <a:extLst>
              <a:ext uri="{FF2B5EF4-FFF2-40B4-BE49-F238E27FC236}">
                <a16:creationId xmlns:a16="http://schemas.microsoft.com/office/drawing/2014/main" id="{4FBDFE38-90AA-6B80-9EA3-D29F41142938}"/>
              </a:ext>
            </a:extLst>
          </p:cNvPr>
          <p:cNvSpPr>
            <a:spLocks noChangeArrowheads="1"/>
          </p:cNvSpPr>
          <p:nvPr/>
        </p:nvSpPr>
        <p:spPr bwMode="auto">
          <a:xfrm>
            <a:off x="92922725" y="457200"/>
            <a:ext cx="4173538" cy="4171950"/>
          </a:xfrm>
          <a:prstGeom prst="rect">
            <a:avLst/>
          </a:prstGeom>
          <a:solidFill>
            <a:srgbClr val="9ABE34"/>
          </a:solidFill>
          <a:ln>
            <a:noFill/>
          </a:ln>
          <a:extLst>
            <a:ext uri="{91240B29-F687-4F45-9708-019B960494DF}">
              <a14:hiddenLine xmlns:a14="http://schemas.microsoft.com/office/drawing/2010/main" w="12700">
                <a:solidFill>
                  <a:srgbClr val="000000"/>
                </a:solidFill>
                <a:miter lim="4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Line 826">
            <a:extLst>
              <a:ext uri="{FF2B5EF4-FFF2-40B4-BE49-F238E27FC236}">
                <a16:creationId xmlns:a16="http://schemas.microsoft.com/office/drawing/2014/main" id="{726F9CBC-3556-0EA6-D97A-3D2FC3480E96}"/>
              </a:ext>
            </a:extLst>
          </p:cNvPr>
          <p:cNvSpPr>
            <a:spLocks noChangeShapeType="1"/>
          </p:cNvSpPr>
          <p:nvPr/>
        </p:nvSpPr>
        <p:spPr bwMode="auto">
          <a:xfrm>
            <a:off x="0" y="8801100"/>
            <a:ext cx="97075625" cy="0"/>
          </a:xfrm>
          <a:prstGeom prst="line">
            <a:avLst/>
          </a:prstGeom>
          <a:noFill/>
          <a:ln w="3175">
            <a:solidFill>
              <a:srgbClr val="FACC0C"/>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Title 2">
            <a:extLst>
              <a:ext uri="{FF2B5EF4-FFF2-40B4-BE49-F238E27FC236}">
                <a16:creationId xmlns:a16="http://schemas.microsoft.com/office/drawing/2014/main" id="{8AFF406E-C547-97B2-E5C1-91A939E77D3B}"/>
              </a:ext>
            </a:extLst>
          </p:cNvPr>
          <p:cNvSpPr>
            <a:spLocks noGrp="1"/>
          </p:cNvSpPr>
          <p:nvPr>
            <p:ph type="title"/>
          </p:nvPr>
        </p:nvSpPr>
        <p:spPr/>
        <p:txBody>
          <a:bodyPr/>
          <a:lstStyle/>
          <a:p>
            <a:r>
              <a:rPr lang="en-US" dirty="0">
                <a:solidFill>
                  <a:schemeClr val="tx1">
                    <a:lumMod val="65000"/>
                    <a:lumOff val="35000"/>
                  </a:schemeClr>
                </a:solidFill>
              </a:rPr>
              <a:t>The Reveal- Outline of effort</a:t>
            </a:r>
          </a:p>
        </p:txBody>
      </p:sp>
      <p:sp>
        <p:nvSpPr>
          <p:cNvPr id="6" name="TextBox 5">
            <a:extLst>
              <a:ext uri="{FF2B5EF4-FFF2-40B4-BE49-F238E27FC236}">
                <a16:creationId xmlns:a16="http://schemas.microsoft.com/office/drawing/2014/main" id="{0CA6FC18-558D-2714-1359-CCFF3D2493E5}"/>
              </a:ext>
            </a:extLst>
          </p:cNvPr>
          <p:cNvSpPr txBox="1"/>
          <p:nvPr/>
        </p:nvSpPr>
        <p:spPr>
          <a:xfrm>
            <a:off x="480698" y="565033"/>
            <a:ext cx="11423446" cy="1631216"/>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2</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lgn="ctr">
              <a:spcBef>
                <a:spcPts val="0"/>
              </a:spcBef>
              <a:spcAft>
                <a:spcPts val="0"/>
              </a:spcAft>
            </a:pPr>
            <a:r>
              <a:rPr lang="en-US" sz="1200" i="1"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(cont.)</a:t>
            </a:r>
            <a:endParaRPr lang="en-US" sz="14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461963" lvl="1" indent="225425"/>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30188" lvl="1"/>
            <a:r>
              <a:rPr lang="en-US" sz="1200" b="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input need:  </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Availability for individual calls, </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”In the Tent” - Rev. Mgmt. call, Sales Mtgs, Marketing Mtgs.</a:t>
            </a:r>
            <a:endParaRPr lang="en-US" sz="12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Virtual</a:t>
            </a:r>
            <a:r>
              <a:rPr lang="en-US" sz="1200" i="1" u="sng"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 </a:t>
            </a:r>
            <a:endParaRPr lang="en-US" sz="1200" u="sng"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6E1F605-E373-A1D5-DA56-9A22BEFA0586}"/>
              </a:ext>
            </a:extLst>
          </p:cNvPr>
          <p:cNvSpPr txBox="1"/>
          <p:nvPr/>
        </p:nvSpPr>
        <p:spPr>
          <a:xfrm>
            <a:off x="459010" y="2542408"/>
            <a:ext cx="11273980" cy="3693319"/>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3</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lgn="ctr">
              <a:spcBef>
                <a:spcPts val="0"/>
              </a:spcBef>
              <a:spcAft>
                <a:spcPts val="0"/>
              </a:spcAft>
            </a:pPr>
            <a:r>
              <a:rPr lang="en-US" sz="14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In the Weeds</a:t>
            </a:r>
          </a:p>
          <a:p>
            <a:pPr marL="228600" marR="0">
              <a:spcBef>
                <a:spcPts val="0"/>
              </a:spcBef>
              <a:spcAft>
                <a:spcPts val="0"/>
              </a:spcAft>
            </a:pPr>
            <a:endParaRPr lang="en-US" sz="14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r>
              <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rPr>
              <a:t>Communication Touchpoint w/ Glenn &amp; Wendy – end of visit wrap up</a:t>
            </a:r>
          </a:p>
          <a:p>
            <a:pPr marL="228600" marR="0">
              <a:spcBef>
                <a:spcPts val="0"/>
              </a:spcBef>
              <a:spcAft>
                <a:spcPts val="0"/>
              </a:spcAft>
            </a:pPr>
            <a:endParaRPr lang="en-US" sz="1200" b="1"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latin typeface="Franklin Gothic Book" panose="020B0503020102020204" pitchFamily="34" charset="0"/>
                <a:ea typeface="Cambria" panose="02040503050406030204" pitchFamily="18" charset="0"/>
                <a:cs typeface="Times New Roman" panose="02020603050405020304" pitchFamily="18" charset="0"/>
              </a:rPr>
              <a:t>Focus – </a:t>
            </a:r>
          </a:p>
          <a:p>
            <a:pPr marL="230188" lvl="1"/>
            <a:endParaRPr lang="en-US" sz="12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Property visit</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Calls, Meetings, Research</a:t>
            </a:r>
          </a:p>
          <a:p>
            <a:pPr marL="687388" lvl="2" indent="-225425">
              <a:buFont typeface="Arial" panose="020B0604020202020204" pitchFamily="34" charset="0"/>
              <a:buChar char="•"/>
            </a:pPr>
            <a:endParaRPr lang="en-US" sz="12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time / input needed:  </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Availability for individual meetings</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”In the Tent” - Rev. Mgmt. call, Sales Mtgs, Marketing Mtgs.</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Wendy / Glenn- Wrap up</a:t>
            </a:r>
            <a:endParaRPr lang="en-US" sz="12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Onsite-  2 days</a:t>
            </a:r>
            <a:endParaRPr lang="en-US" sz="1200" u="sng"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461963" lvl="2"/>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687388" lvl="2" indent="-225425">
              <a:buFont typeface="Arial" panose="020B0604020202020204" pitchFamily="34" charset="0"/>
              <a:buChar char="•"/>
            </a:pP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cxnSp>
        <p:nvCxnSpPr>
          <p:cNvPr id="4" name="officeArt object" descr="Line 840">
            <a:extLst>
              <a:ext uri="{FF2B5EF4-FFF2-40B4-BE49-F238E27FC236}">
                <a16:creationId xmlns:a16="http://schemas.microsoft.com/office/drawing/2014/main" id="{3317F37E-C8BF-69F6-BEA1-4E6D6CD94E87}"/>
              </a:ext>
            </a:extLst>
          </p:cNvPr>
          <p:cNvCxnSpPr>
            <a:cxnSpLocks/>
          </p:cNvCxnSpPr>
          <p:nvPr/>
        </p:nvCxnSpPr>
        <p:spPr>
          <a:xfrm>
            <a:off x="563295" y="2340187"/>
            <a:ext cx="1405689" cy="0"/>
          </a:xfrm>
          <a:prstGeom prst="line">
            <a:avLst/>
          </a:prstGeom>
          <a:noFill/>
          <a:ln w="48069" cap="flat">
            <a:solidFill>
              <a:srgbClr val="D51067"/>
            </a:solidFill>
            <a:prstDash val="solid"/>
            <a:round/>
          </a:ln>
          <a:effectLst/>
        </p:spPr>
      </p:cxnSp>
    </p:spTree>
    <p:extLst>
      <p:ext uri="{BB962C8B-B14F-4D97-AF65-F5344CB8AC3E}">
        <p14:creationId xmlns:p14="http://schemas.microsoft.com/office/powerpoint/2010/main" val="3909522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Rectangle 47">
            <a:extLst>
              <a:ext uri="{FF2B5EF4-FFF2-40B4-BE49-F238E27FC236}">
                <a16:creationId xmlns:a16="http://schemas.microsoft.com/office/drawing/2014/main" id="{79275FA8-F299-292B-E46F-7560403D9F6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49064" tIns="952200" rIns="1091856" bIns="177744" numCol="1" anchor="ctr" anchorCtr="0" compatLnSpc="1">
            <a:prstTxWarp prst="textNoShape">
              <a:avLst/>
            </a:prstTxWarp>
            <a:spAutoFit/>
          </a:bodyPr>
          <a:lstStyle/>
          <a:p>
            <a:endParaRPr lang="en-US" dirty="0"/>
          </a:p>
        </p:txBody>
      </p:sp>
      <p:sp>
        <p:nvSpPr>
          <p:cNvPr id="48" name="Rectangle 825">
            <a:extLst>
              <a:ext uri="{FF2B5EF4-FFF2-40B4-BE49-F238E27FC236}">
                <a16:creationId xmlns:a16="http://schemas.microsoft.com/office/drawing/2014/main" id="{6C4B41A5-A874-CE21-810D-19FAACFA3362}"/>
              </a:ext>
            </a:extLst>
          </p:cNvPr>
          <p:cNvSpPr>
            <a:spLocks noChangeArrowheads="1"/>
          </p:cNvSpPr>
          <p:nvPr/>
        </p:nvSpPr>
        <p:spPr bwMode="auto">
          <a:xfrm>
            <a:off x="92922725" y="457200"/>
            <a:ext cx="4173538" cy="4171950"/>
          </a:xfrm>
          <a:prstGeom prst="rect">
            <a:avLst/>
          </a:prstGeom>
          <a:solidFill>
            <a:srgbClr val="9ABE34"/>
          </a:solidFill>
          <a:ln>
            <a:noFill/>
          </a:ln>
          <a:extLst>
            <a:ext uri="{91240B29-F687-4F45-9708-019B960494DF}">
              <a14:hiddenLine xmlns:a14="http://schemas.microsoft.com/office/drawing/2010/main" w="12700">
                <a:solidFill>
                  <a:srgbClr val="000000"/>
                </a:solidFill>
                <a:miter lim="4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Line 826">
            <a:extLst>
              <a:ext uri="{FF2B5EF4-FFF2-40B4-BE49-F238E27FC236}">
                <a16:creationId xmlns:a16="http://schemas.microsoft.com/office/drawing/2014/main" id="{F7CD8F78-AD20-9398-6DC2-16C7A305C9F5}"/>
              </a:ext>
            </a:extLst>
          </p:cNvPr>
          <p:cNvSpPr>
            <a:spLocks noChangeShapeType="1"/>
          </p:cNvSpPr>
          <p:nvPr/>
        </p:nvSpPr>
        <p:spPr bwMode="auto">
          <a:xfrm>
            <a:off x="0" y="8801100"/>
            <a:ext cx="97075625" cy="0"/>
          </a:xfrm>
          <a:prstGeom prst="line">
            <a:avLst/>
          </a:prstGeom>
          <a:noFill/>
          <a:ln w="3175">
            <a:solidFill>
              <a:srgbClr val="FACC0C"/>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Title 2">
            <a:extLst>
              <a:ext uri="{FF2B5EF4-FFF2-40B4-BE49-F238E27FC236}">
                <a16:creationId xmlns:a16="http://schemas.microsoft.com/office/drawing/2014/main" id="{E48AB22D-38EE-1D25-0FB2-F243D8B8DB24}"/>
              </a:ext>
            </a:extLst>
          </p:cNvPr>
          <p:cNvSpPr>
            <a:spLocks noGrp="1"/>
          </p:cNvSpPr>
          <p:nvPr>
            <p:ph type="title"/>
          </p:nvPr>
        </p:nvSpPr>
        <p:spPr/>
        <p:txBody>
          <a:bodyPr/>
          <a:lstStyle/>
          <a:p>
            <a:r>
              <a:rPr lang="en-US" dirty="0">
                <a:solidFill>
                  <a:schemeClr val="tx1">
                    <a:lumMod val="65000"/>
                    <a:lumOff val="35000"/>
                  </a:schemeClr>
                </a:solidFill>
              </a:rPr>
              <a:t>The Reveal - Outline of effort</a:t>
            </a:r>
          </a:p>
        </p:txBody>
      </p:sp>
      <p:sp>
        <p:nvSpPr>
          <p:cNvPr id="2" name="TextBox 1">
            <a:extLst>
              <a:ext uri="{FF2B5EF4-FFF2-40B4-BE49-F238E27FC236}">
                <a16:creationId xmlns:a16="http://schemas.microsoft.com/office/drawing/2014/main" id="{CF20AE91-1A5D-844C-FE36-07C8F70DE06E}"/>
              </a:ext>
            </a:extLst>
          </p:cNvPr>
          <p:cNvSpPr txBox="1"/>
          <p:nvPr/>
        </p:nvSpPr>
        <p:spPr>
          <a:xfrm>
            <a:off x="729004" y="3543615"/>
            <a:ext cx="11077119" cy="2777683"/>
          </a:xfrm>
          <a:prstGeom prst="rect">
            <a:avLst/>
          </a:prstGeom>
          <a:noFill/>
        </p:spPr>
        <p:txBody>
          <a:bodyPr wrap="square" rtlCol="0">
            <a:spAutoFit/>
          </a:bodyPr>
          <a:lstStyle/>
          <a:p>
            <a:pPr marL="228600" marR="0" algn="ctr">
              <a:spcBef>
                <a:spcPts val="0"/>
              </a:spcBef>
              <a:spcAft>
                <a:spcPts val="0"/>
              </a:spcAft>
            </a:pPr>
            <a:r>
              <a:rPr lang="en-US" sz="1600" b="1" u="sng" dirty="0">
                <a:effectLst/>
                <a:latin typeface="Franklin Gothic Book" panose="020B0503020102020204" pitchFamily="34" charset="0"/>
                <a:ea typeface="Cambria" panose="02040503050406030204" pitchFamily="18" charset="0"/>
                <a:cs typeface="Times New Roman" panose="02020603050405020304" pitchFamily="18" charset="0"/>
              </a:rPr>
              <a:t>Week 5:</a:t>
            </a:r>
          </a:p>
          <a:p>
            <a:pPr marL="228600" algn="ctr"/>
            <a:r>
              <a:rPr lang="en-US" sz="1200" b="1" i="1"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In the Lab</a:t>
            </a:r>
            <a:endPar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endParaRPr lang="en-US" sz="1050" dirty="0">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Focus- Insight Intelligence Report Build</a:t>
            </a:r>
          </a:p>
          <a:p>
            <a:pPr marL="22860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Putting together the repor</a:t>
            </a:r>
            <a:r>
              <a:rPr lang="en-US" sz="1200" dirty="0">
                <a:latin typeface="Franklin Gothic Book" panose="020B0503020102020204" pitchFamily="34" charset="0"/>
                <a:ea typeface="Cambria" panose="02040503050406030204" pitchFamily="18" charset="0"/>
                <a:cs typeface="Times New Roman" panose="02020603050405020304" pitchFamily="18" charset="0"/>
              </a:rPr>
              <a:t>t illustrating the findings, what the steps forward need to be, the prioritization.   This report then frames the Vision-to-Value Roadmap  of what is needed to implement. </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endParaRPr lang="en-US" sz="14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We are heads down putting together the deliverable of </a:t>
            </a:r>
            <a:r>
              <a:rPr lang="en-US" sz="1200" i="1" dirty="0">
                <a:effectLst/>
                <a:latin typeface="Franklin Gothic Book" panose="020B0503020102020204" pitchFamily="34" charset="0"/>
                <a:ea typeface="Cambria" panose="02040503050406030204" pitchFamily="18" charset="0"/>
                <a:cs typeface="Times New Roman" panose="02020603050405020304" pitchFamily="18" charset="0"/>
              </a:rPr>
              <a:t>the </a:t>
            </a: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Insight Intelligence Report</a:t>
            </a: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a:t>
            </a:r>
            <a:endParaRPr lang="en-US" sz="14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a:tabLst>
                <a:tab pos="223838" algn="l"/>
                <a:tab pos="336550" algn="l"/>
              </a:tabLs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	Flying Horses Resort Team:  </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800100" lvl="1" indent="-342900">
              <a:buFont typeface="Symbol" pitchFamily="2" charset="2"/>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Nothing Required- with exception of possible quicks asks for information that we may be missing.</a:t>
            </a:r>
          </a:p>
          <a:p>
            <a:pPr marL="0" marR="0">
              <a:spcBef>
                <a:spcPts val="0"/>
              </a:spcBef>
              <a:spcAft>
                <a:spcPts val="0"/>
              </a:spcAft>
            </a:pPr>
            <a:r>
              <a:rPr lang="en-US" sz="14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Virtual</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B39DBD0-F448-E32F-CB0B-33F2F662F3C1}"/>
              </a:ext>
            </a:extLst>
          </p:cNvPr>
          <p:cNvSpPr txBox="1"/>
          <p:nvPr/>
        </p:nvSpPr>
        <p:spPr>
          <a:xfrm>
            <a:off x="729004" y="754223"/>
            <a:ext cx="11273980" cy="2654573"/>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4</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a:t>
            </a:r>
          </a:p>
          <a:p>
            <a:pPr marL="228600" marR="0" algn="ctr">
              <a:spcBef>
                <a:spcPts val="0"/>
              </a:spcBef>
              <a:spcAft>
                <a:spcPts val="0"/>
              </a:spcAft>
            </a:pP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Same song 2</a:t>
            </a:r>
            <a:r>
              <a:rPr lang="en-US" sz="1200" i="1" baseline="300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nd</a:t>
            </a: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 Verse</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 </a:t>
            </a:r>
            <a:endPar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endParaRPr lang="en-US" sz="1050" b="1"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latin typeface="Franklin Gothic Book" panose="020B0503020102020204" pitchFamily="34" charset="0"/>
                <a:ea typeface="Cambria" panose="02040503050406030204" pitchFamily="18" charset="0"/>
                <a:cs typeface="Times New Roman" panose="02020603050405020304" pitchFamily="18" charset="0"/>
              </a:rPr>
              <a:t>Focus –  2</a:t>
            </a:r>
            <a:r>
              <a:rPr lang="en-US" sz="1200" b="1" baseline="30000" dirty="0">
                <a:latin typeface="Franklin Gothic Book" panose="020B0503020102020204" pitchFamily="34" charset="0"/>
                <a:ea typeface="Cambria" panose="02040503050406030204" pitchFamily="18" charset="0"/>
                <a:cs typeface="Times New Roman" panose="02020603050405020304" pitchFamily="18" charset="0"/>
              </a:rPr>
              <a:t>nd</a:t>
            </a:r>
            <a:r>
              <a:rPr lang="en-US" sz="1200" b="1" dirty="0">
                <a:latin typeface="Franklin Gothic Book" panose="020B0503020102020204" pitchFamily="34" charset="0"/>
                <a:ea typeface="Cambria" panose="02040503050406030204" pitchFamily="18" charset="0"/>
                <a:cs typeface="Times New Roman" panose="02020603050405020304" pitchFamily="18" charset="0"/>
              </a:rPr>
              <a:t> week </a:t>
            </a:r>
          </a:p>
          <a:p>
            <a:pPr marL="230188" lvl="1"/>
            <a:endParaRPr lang="en-US" sz="10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Property visit</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Calls, Meetings, Research</a:t>
            </a:r>
          </a:p>
          <a:p>
            <a:pPr marL="687388" lvl="2" indent="-225425">
              <a:buFont typeface="Arial" panose="020B0604020202020204" pitchFamily="34" charset="0"/>
              <a:buChar char="•"/>
            </a:pPr>
            <a:endParaRPr lang="en-US" sz="12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time / input needed:  </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Availability for individual meetings</a:t>
            </a:r>
          </a:p>
          <a:p>
            <a:pPr marL="687388" lvl="1" indent="-225425">
              <a:buFont typeface="Arial" panose="020B0604020202020204" pitchFamily="34" charset="0"/>
              <a:buChar char="•"/>
            </a:pP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”In the Tent” - Rev. </a:t>
            </a:r>
            <a:r>
              <a:rPr lang="en-US" sz="1200" dirty="0" err="1">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Mgmt</a:t>
            </a:r>
            <a:r>
              <a:rPr lang="en-US" sz="1200" dirty="0">
                <a:solidFill>
                  <a:srgbClr val="B51072"/>
                </a:solidFill>
                <a:latin typeface="Franklin Gothic Book" panose="020B0503020102020204" pitchFamily="34" charset="0"/>
                <a:ea typeface="Cambria" panose="02040503050406030204" pitchFamily="18" charset="0"/>
                <a:cs typeface="Times New Roman" panose="02020603050405020304" pitchFamily="18" charset="0"/>
              </a:rPr>
              <a:t> call, Sales Mtgs, Marketing Mtgs.</a:t>
            </a: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Virtual </a:t>
            </a:r>
            <a:endParaRPr lang="en-US" sz="1200" u="sng"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cxnSp>
        <p:nvCxnSpPr>
          <p:cNvPr id="5" name="officeArt object" descr="Line 840">
            <a:extLst>
              <a:ext uri="{FF2B5EF4-FFF2-40B4-BE49-F238E27FC236}">
                <a16:creationId xmlns:a16="http://schemas.microsoft.com/office/drawing/2014/main" id="{1EFB46B6-4762-C00D-C87D-5364CA510755}"/>
              </a:ext>
            </a:extLst>
          </p:cNvPr>
          <p:cNvCxnSpPr>
            <a:cxnSpLocks/>
          </p:cNvCxnSpPr>
          <p:nvPr/>
        </p:nvCxnSpPr>
        <p:spPr>
          <a:xfrm>
            <a:off x="675035" y="3671325"/>
            <a:ext cx="1405689" cy="0"/>
          </a:xfrm>
          <a:prstGeom prst="line">
            <a:avLst/>
          </a:prstGeom>
          <a:noFill/>
          <a:ln w="48069" cap="flat">
            <a:solidFill>
              <a:srgbClr val="D51067"/>
            </a:solidFill>
            <a:prstDash val="solid"/>
            <a:round/>
          </a:ln>
          <a:effectLst/>
        </p:spPr>
      </p:cxnSp>
    </p:spTree>
    <p:extLst>
      <p:ext uri="{BB962C8B-B14F-4D97-AF65-F5344CB8AC3E}">
        <p14:creationId xmlns:p14="http://schemas.microsoft.com/office/powerpoint/2010/main" val="3379650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D76ED04A-D1B1-7D4F-925B-56B554ED403C}"/>
              </a:ext>
            </a:extLst>
          </p:cNvPr>
          <p:cNvSpPr/>
          <p:nvPr/>
        </p:nvSpPr>
        <p:spPr>
          <a:xfrm>
            <a:off x="837873" y="2457029"/>
            <a:ext cx="2436327" cy="1886788"/>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5" name="Subtitle 2">
            <a:extLst>
              <a:ext uri="{FF2B5EF4-FFF2-40B4-BE49-F238E27FC236}">
                <a16:creationId xmlns:a16="http://schemas.microsoft.com/office/drawing/2014/main" id="{B7CA32FF-EABB-244D-B51E-03E627718C53}"/>
              </a:ext>
            </a:extLst>
          </p:cNvPr>
          <p:cNvSpPr txBox="1">
            <a:spLocks/>
          </p:cNvSpPr>
          <p:nvPr/>
        </p:nvSpPr>
        <p:spPr>
          <a:xfrm>
            <a:off x="941199" y="2511664"/>
            <a:ext cx="2333000" cy="1310872"/>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spcBef>
                <a:spcPts val="0"/>
              </a:spcBef>
              <a:spcAft>
                <a:spcPts val="900"/>
              </a:spcAft>
            </a:pPr>
            <a:endParaRPr lang="en-US" sz="1867"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nSpc>
                <a:spcPct val="100000"/>
              </a:lnSpc>
              <a:spcBef>
                <a:spcPts val="0"/>
              </a:spcBef>
              <a:spcAft>
                <a:spcPts val="900"/>
              </a:spcAft>
            </a:pPr>
            <a:r>
              <a:rPr lang="en-US" sz="1867"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rPr>
              <a:t>Vision-to-Value Roadmap Implementation Plan</a:t>
            </a:r>
          </a:p>
        </p:txBody>
      </p:sp>
      <p:sp>
        <p:nvSpPr>
          <p:cNvPr id="16" name="TextBox 15">
            <a:extLst>
              <a:ext uri="{FF2B5EF4-FFF2-40B4-BE49-F238E27FC236}">
                <a16:creationId xmlns:a16="http://schemas.microsoft.com/office/drawing/2014/main" id="{F1B959DC-CD3F-DA4A-BD84-A53C39E2C725}"/>
              </a:ext>
            </a:extLst>
          </p:cNvPr>
          <p:cNvSpPr txBox="1"/>
          <p:nvPr/>
        </p:nvSpPr>
        <p:spPr>
          <a:xfrm rot="16200000">
            <a:off x="-360871" y="3218735"/>
            <a:ext cx="1861971"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What You Get</a:t>
            </a:r>
          </a:p>
        </p:txBody>
      </p:sp>
      <p:sp>
        <p:nvSpPr>
          <p:cNvPr id="17" name="Rectangle 16">
            <a:extLst>
              <a:ext uri="{FF2B5EF4-FFF2-40B4-BE49-F238E27FC236}">
                <a16:creationId xmlns:a16="http://schemas.microsoft.com/office/drawing/2014/main" id="{ADB7DF4F-323C-3049-B0AF-AF5245F82986}"/>
              </a:ext>
            </a:extLst>
          </p:cNvPr>
          <p:cNvSpPr/>
          <p:nvPr/>
        </p:nvSpPr>
        <p:spPr>
          <a:xfrm>
            <a:off x="811359" y="4592921"/>
            <a:ext cx="2436327" cy="1645127"/>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8" name="TextBox 17">
            <a:extLst>
              <a:ext uri="{FF2B5EF4-FFF2-40B4-BE49-F238E27FC236}">
                <a16:creationId xmlns:a16="http://schemas.microsoft.com/office/drawing/2014/main" id="{08EA88D6-40CA-4B4E-AC3E-9B5068601B21}"/>
              </a:ext>
            </a:extLst>
          </p:cNvPr>
          <p:cNvSpPr txBox="1"/>
          <p:nvPr/>
        </p:nvSpPr>
        <p:spPr>
          <a:xfrm rot="16200000">
            <a:off x="-244029" y="5246208"/>
            <a:ext cx="1645128"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So You Can</a:t>
            </a:r>
          </a:p>
        </p:txBody>
      </p:sp>
      <p:sp>
        <p:nvSpPr>
          <p:cNvPr id="19" name="Subtitle 2">
            <a:extLst>
              <a:ext uri="{FF2B5EF4-FFF2-40B4-BE49-F238E27FC236}">
                <a16:creationId xmlns:a16="http://schemas.microsoft.com/office/drawing/2014/main" id="{20FDB204-7C28-AE4F-B2D3-5A51655213EB}"/>
              </a:ext>
            </a:extLst>
          </p:cNvPr>
          <p:cNvSpPr txBox="1">
            <a:spLocks/>
          </p:cNvSpPr>
          <p:nvPr/>
        </p:nvSpPr>
        <p:spPr>
          <a:xfrm>
            <a:off x="907674" y="4806173"/>
            <a:ext cx="2244951" cy="1187184"/>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28594" indent="-228594" algn="l">
              <a:lnSpc>
                <a:spcPct val="100000"/>
              </a:lnSpc>
              <a:spcBef>
                <a:spcPts val="0"/>
              </a:spcBef>
              <a:spcAft>
                <a:spcPts val="900"/>
              </a:spcAft>
              <a:buFont typeface="Arial" panose="020B0604020202020204" pitchFamily="34" charset="0"/>
              <a:buChar char="•"/>
            </a:pPr>
            <a:r>
              <a:rPr lang="en-US" sz="1333"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Have a step-wise program that clarifies how we are going to get it done.</a:t>
            </a:r>
          </a:p>
          <a:p>
            <a:pPr marL="228594" indent="-228594" algn="l">
              <a:lnSpc>
                <a:spcPct val="100000"/>
              </a:lnSpc>
              <a:spcBef>
                <a:spcPts val="0"/>
              </a:spcBef>
              <a:spcAft>
                <a:spcPts val="900"/>
              </a:spcAft>
              <a:buFont typeface="Arial" panose="020B0604020202020204" pitchFamily="34" charset="0"/>
              <a:buChar char="•"/>
            </a:pPr>
            <a:r>
              <a:rPr lang="en-US" sz="1333"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Gives you insights to </a:t>
            </a:r>
            <a:r>
              <a:rPr lang="en-US" sz="1333" i="1"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‘what the best do differently’</a:t>
            </a:r>
          </a:p>
        </p:txBody>
      </p:sp>
      <p:sp>
        <p:nvSpPr>
          <p:cNvPr id="22" name="Rectangle 21">
            <a:extLst>
              <a:ext uri="{FF2B5EF4-FFF2-40B4-BE49-F238E27FC236}">
                <a16:creationId xmlns:a16="http://schemas.microsoft.com/office/drawing/2014/main" id="{0014A3A2-4E4F-864D-99A1-5FBF804A5854}"/>
              </a:ext>
            </a:extLst>
          </p:cNvPr>
          <p:cNvSpPr/>
          <p:nvPr/>
        </p:nvSpPr>
        <p:spPr>
          <a:xfrm>
            <a:off x="3816551" y="776125"/>
            <a:ext cx="4601957" cy="5511300"/>
          </a:xfrm>
          <a:prstGeom prst="rect">
            <a:avLst/>
          </a:prstGeom>
          <a:gradFill>
            <a:gsLst>
              <a:gs pos="0">
                <a:srgbClr val="A0A1A2"/>
              </a:gs>
              <a:gs pos="0">
                <a:srgbClr val="A0A1A2">
                  <a:tint val="44500"/>
                  <a:satMod val="160000"/>
                </a:srgbClr>
              </a:gs>
              <a:gs pos="100000">
                <a:srgbClr val="A0A1A2">
                  <a:tint val="23500"/>
                  <a:satMod val="160000"/>
                </a:srgbClr>
              </a:gs>
            </a:gsLst>
            <a:lin ang="135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000" b="1" dirty="0">
              <a:solidFill>
                <a:schemeClr val="tx1">
                  <a:lumMod val="75000"/>
                  <a:lumOff val="25000"/>
                </a:schemeClr>
              </a:solidFill>
              <a:latin typeface="Franklin Gothic Book" panose="020B0503020102020204" pitchFamily="34" charset="0"/>
            </a:endParaRPr>
          </a:p>
          <a:p>
            <a:endParaRPr lang="en-US" sz="2000" dirty="0">
              <a:solidFill>
                <a:schemeClr val="tx1">
                  <a:lumMod val="75000"/>
                  <a:lumOff val="25000"/>
                </a:schemeClr>
              </a:solidFill>
              <a:latin typeface="Franklin Gothic Book" panose="020B0503020102020204" pitchFamily="34" charset="0"/>
            </a:endParaRPr>
          </a:p>
          <a:p>
            <a:r>
              <a:rPr lang="en-US" sz="2000" dirty="0">
                <a:solidFill>
                  <a:schemeClr val="tx1">
                    <a:lumMod val="75000"/>
                    <a:lumOff val="25000"/>
                  </a:schemeClr>
                </a:solidFill>
                <a:latin typeface="Franklin Gothic Book" panose="020B0503020102020204" pitchFamily="34" charset="0"/>
              </a:rPr>
              <a:t>Creating the roadmap that builds:</a:t>
            </a:r>
            <a:endParaRPr lang="en-US" sz="1400" dirty="0">
              <a:solidFill>
                <a:schemeClr val="tx1">
                  <a:lumMod val="75000"/>
                  <a:lumOff val="25000"/>
                </a:schemeClr>
              </a:solidFill>
              <a:latin typeface="Franklin Gothic Book" panose="020B0503020102020204" pitchFamily="34" charset="0"/>
            </a:endParaRPr>
          </a:p>
          <a:p>
            <a:endParaRPr lang="en-US" sz="900" dirty="0">
              <a:solidFill>
                <a:schemeClr val="tx1">
                  <a:lumMod val="75000"/>
                  <a:lumOff val="25000"/>
                </a:schemeClr>
              </a:solidFill>
              <a:latin typeface="Franklin Gothic Book" panose="020B0503020102020204" pitchFamily="34" charset="0"/>
            </a:endParaRPr>
          </a:p>
          <a:p>
            <a:r>
              <a:rPr lang="en-US" i="1" dirty="0">
                <a:solidFill>
                  <a:schemeClr val="tx1">
                    <a:lumMod val="75000"/>
                    <a:lumOff val="25000"/>
                  </a:schemeClr>
                </a:solidFill>
                <a:latin typeface="Franklin Gothic Book" panose="020B0503020102020204" pitchFamily="34" charset="0"/>
              </a:rPr>
              <a:t>Foundation: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The strategies and goals of the Flying Horse Resort are connected to the larger vision and financial outcomes</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The steps to be taken or initiatives that support the strategies and anticipated outcomes</a:t>
            </a:r>
            <a:r>
              <a:rPr lang="en-US" sz="2000" dirty="0">
                <a:solidFill>
                  <a:schemeClr val="tx1">
                    <a:lumMod val="75000"/>
                    <a:lumOff val="25000"/>
                  </a:schemeClr>
                </a:solidFill>
                <a:latin typeface="Franklin Gothic Book" panose="020B0503020102020204" pitchFamily="34" charset="0"/>
              </a:rPr>
              <a:t>.</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Revenue to Commercial Plan</a:t>
            </a:r>
          </a:p>
          <a:p>
            <a:pPr marL="350838">
              <a:buFont typeface="Arial" panose="020B0604020202020204" pitchFamily="34" charset="0"/>
              <a:buChar char="•"/>
            </a:pPr>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Framework: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Revenue Plan</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Needed programs, development, &amp; 	output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Technology and tools</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Resource allocation (capacity)</a:t>
            </a:r>
          </a:p>
          <a:p>
            <a:pPr marL="350838">
              <a:buFont typeface="Arial" panose="020B0604020202020204" pitchFamily="34" charset="0"/>
              <a:buChar char="•"/>
            </a:pPr>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Focus: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Milestones</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Stakeholder Engagement</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Advised KPI and Metrics</a:t>
            </a:r>
          </a:p>
          <a:p>
            <a:pPr marL="990575" lvl="1" indent="-380990">
              <a:buFont typeface="Arial" panose="020B0604020202020204" pitchFamily="34" charset="0"/>
              <a:buChar char="•"/>
            </a:pPr>
            <a:endParaRPr lang="en-US" dirty="0">
              <a:solidFill>
                <a:schemeClr val="tx1">
                  <a:lumMod val="75000"/>
                  <a:lumOff val="25000"/>
                </a:schemeClr>
              </a:solidFill>
              <a:latin typeface="Franklin Gothic Book" panose="020B0503020102020204" pitchFamily="34" charset="0"/>
            </a:endParaRPr>
          </a:p>
          <a:p>
            <a:pPr marL="380990" indent="-380990">
              <a:buFont typeface="Arial" panose="020B0604020202020204" pitchFamily="34" charset="0"/>
              <a:buChar char="•"/>
            </a:pPr>
            <a:endParaRPr lang="en-US" sz="2133" dirty="0">
              <a:solidFill>
                <a:schemeClr val="tx1">
                  <a:lumMod val="75000"/>
                  <a:lumOff val="25000"/>
                </a:schemeClr>
              </a:solidFill>
              <a:latin typeface="Franklin Gothic Book" panose="020B0503020102020204" pitchFamily="34" charset="0"/>
            </a:endParaRPr>
          </a:p>
        </p:txBody>
      </p:sp>
      <p:sp>
        <p:nvSpPr>
          <p:cNvPr id="24" name="Rounded Rectangle 23">
            <a:extLst>
              <a:ext uri="{FF2B5EF4-FFF2-40B4-BE49-F238E27FC236}">
                <a16:creationId xmlns:a16="http://schemas.microsoft.com/office/drawing/2014/main" id="{E0DB6637-E372-7E4D-8FB9-847DAB44A468}"/>
              </a:ext>
            </a:extLst>
          </p:cNvPr>
          <p:cNvSpPr/>
          <p:nvPr/>
        </p:nvSpPr>
        <p:spPr>
          <a:xfrm>
            <a:off x="8970423" y="1488928"/>
            <a:ext cx="2804160" cy="7439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sp>
        <p:nvSpPr>
          <p:cNvPr id="25" name="TextBox 24">
            <a:extLst>
              <a:ext uri="{FF2B5EF4-FFF2-40B4-BE49-F238E27FC236}">
                <a16:creationId xmlns:a16="http://schemas.microsoft.com/office/drawing/2014/main" id="{F884D4CE-146A-CF4D-9F45-4D48DEB60CFE}"/>
              </a:ext>
            </a:extLst>
          </p:cNvPr>
          <p:cNvSpPr txBox="1"/>
          <p:nvPr/>
        </p:nvSpPr>
        <p:spPr>
          <a:xfrm>
            <a:off x="9649925" y="776124"/>
            <a:ext cx="1282723" cy="461665"/>
          </a:xfrm>
          <a:prstGeom prst="rect">
            <a:avLst/>
          </a:prstGeom>
          <a:noFill/>
        </p:spPr>
        <p:txBody>
          <a:bodyPr wrap="none" rtlCol="0">
            <a:spAutoFit/>
          </a:bodyPr>
          <a:lstStyle/>
          <a:p>
            <a:pPr algn="ctr"/>
            <a:r>
              <a:rPr lang="en-US" sz="2400" dirty="0">
                <a:latin typeface="Franklin Gothic Book" panose="020B0503020102020204" pitchFamily="34" charset="0"/>
              </a:rPr>
              <a:t>Timeline</a:t>
            </a:r>
          </a:p>
        </p:txBody>
      </p:sp>
      <p:sp>
        <p:nvSpPr>
          <p:cNvPr id="27" name="TextBox 26">
            <a:extLst>
              <a:ext uri="{FF2B5EF4-FFF2-40B4-BE49-F238E27FC236}">
                <a16:creationId xmlns:a16="http://schemas.microsoft.com/office/drawing/2014/main" id="{5CF2E060-97C8-E341-BEBD-E9D0A1DE90BA}"/>
              </a:ext>
            </a:extLst>
          </p:cNvPr>
          <p:cNvSpPr txBox="1"/>
          <p:nvPr/>
        </p:nvSpPr>
        <p:spPr>
          <a:xfrm>
            <a:off x="9587845" y="2880846"/>
            <a:ext cx="1563890" cy="830997"/>
          </a:xfrm>
          <a:prstGeom prst="rect">
            <a:avLst/>
          </a:prstGeom>
          <a:noFill/>
        </p:spPr>
        <p:txBody>
          <a:bodyPr wrap="none" rtlCol="0">
            <a:spAutoFit/>
          </a:bodyPr>
          <a:lstStyle/>
          <a:p>
            <a:pPr algn="ctr"/>
            <a:r>
              <a:rPr lang="en-US" sz="2400" dirty="0">
                <a:latin typeface="Franklin Gothic Book" panose="020B0503020102020204" pitchFamily="34" charset="0"/>
              </a:rPr>
              <a:t>Kate &amp; Co </a:t>
            </a:r>
          </a:p>
          <a:p>
            <a:pPr algn="ctr"/>
            <a:r>
              <a:rPr lang="en-US" sz="2400" dirty="0">
                <a:latin typeface="Franklin Gothic Book" panose="020B0503020102020204" pitchFamily="34" charset="0"/>
              </a:rPr>
              <a:t>Team</a:t>
            </a:r>
          </a:p>
        </p:txBody>
      </p:sp>
      <p:sp>
        <p:nvSpPr>
          <p:cNvPr id="28" name="Rounded Rectangle 27">
            <a:extLst>
              <a:ext uri="{FF2B5EF4-FFF2-40B4-BE49-F238E27FC236}">
                <a16:creationId xmlns:a16="http://schemas.microsoft.com/office/drawing/2014/main" id="{4B98DEA1-E7F7-B94C-878A-13AE055E883F}"/>
              </a:ext>
            </a:extLst>
          </p:cNvPr>
          <p:cNvSpPr/>
          <p:nvPr/>
        </p:nvSpPr>
        <p:spPr>
          <a:xfrm>
            <a:off x="8967711" y="2939762"/>
            <a:ext cx="2804160" cy="7439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pic>
        <p:nvPicPr>
          <p:cNvPr id="29" name="Picture 28">
            <a:extLst>
              <a:ext uri="{FF2B5EF4-FFF2-40B4-BE49-F238E27FC236}">
                <a16:creationId xmlns:a16="http://schemas.microsoft.com/office/drawing/2014/main" id="{AAB0881C-2B13-D046-8B0B-41BA9EED393D}"/>
              </a:ext>
            </a:extLst>
          </p:cNvPr>
          <p:cNvPicPr>
            <a:picLocks noChangeAspect="1"/>
          </p:cNvPicPr>
          <p:nvPr/>
        </p:nvPicPr>
        <p:blipFill>
          <a:blip r:embed="rId2"/>
          <a:stretch>
            <a:fillRect/>
          </a:stretch>
        </p:blipFill>
        <p:spPr>
          <a:xfrm>
            <a:off x="8829261" y="4195559"/>
            <a:ext cx="920857" cy="1052409"/>
          </a:xfrm>
          <a:prstGeom prst="rect">
            <a:avLst/>
          </a:prstGeom>
        </p:spPr>
      </p:pic>
      <p:sp>
        <p:nvSpPr>
          <p:cNvPr id="31" name="TextBox 30">
            <a:extLst>
              <a:ext uri="{FF2B5EF4-FFF2-40B4-BE49-F238E27FC236}">
                <a16:creationId xmlns:a16="http://schemas.microsoft.com/office/drawing/2014/main" id="{F5930BCD-F971-6944-9F84-1E88AF015B53}"/>
              </a:ext>
            </a:extLst>
          </p:cNvPr>
          <p:cNvSpPr txBox="1"/>
          <p:nvPr/>
        </p:nvSpPr>
        <p:spPr>
          <a:xfrm>
            <a:off x="8809248" y="5371740"/>
            <a:ext cx="1082333" cy="461665"/>
          </a:xfrm>
          <a:prstGeom prst="rect">
            <a:avLst/>
          </a:prstGeom>
          <a:noFill/>
        </p:spPr>
        <p:txBody>
          <a:bodyPr wrap="square" rtlCol="0">
            <a:spAutoFit/>
          </a:bodyPr>
          <a:lstStyle/>
          <a:p>
            <a:r>
              <a:rPr lang="en-US" sz="2400" dirty="0">
                <a:latin typeface="Bradley Hand" pitchFamily="2" charset="77"/>
              </a:rPr>
              <a:t>Kate</a:t>
            </a:r>
          </a:p>
        </p:txBody>
      </p:sp>
      <p:sp>
        <p:nvSpPr>
          <p:cNvPr id="9" name="TextBox 8">
            <a:extLst>
              <a:ext uri="{FF2B5EF4-FFF2-40B4-BE49-F238E27FC236}">
                <a16:creationId xmlns:a16="http://schemas.microsoft.com/office/drawing/2014/main" id="{EA4D91AC-C545-360E-1683-55283B936C0B}"/>
              </a:ext>
            </a:extLst>
          </p:cNvPr>
          <p:cNvSpPr txBox="1"/>
          <p:nvPr/>
        </p:nvSpPr>
        <p:spPr>
          <a:xfrm>
            <a:off x="11064582" y="5348253"/>
            <a:ext cx="1082333" cy="461665"/>
          </a:xfrm>
          <a:prstGeom prst="rect">
            <a:avLst/>
          </a:prstGeom>
          <a:noFill/>
        </p:spPr>
        <p:txBody>
          <a:bodyPr wrap="square" rtlCol="0">
            <a:spAutoFit/>
          </a:bodyPr>
          <a:lstStyle/>
          <a:p>
            <a:r>
              <a:rPr lang="en-US" sz="2400" dirty="0">
                <a:latin typeface="Fave Script Bold Pro" panose="020F0502020204030204" pitchFamily="34" charset="0"/>
                <a:cs typeface="Fave Script Bold Pro" panose="020F0502020204030204" pitchFamily="34" charset="0"/>
              </a:rPr>
              <a:t>Sharla</a:t>
            </a:r>
          </a:p>
        </p:txBody>
      </p:sp>
      <p:pic>
        <p:nvPicPr>
          <p:cNvPr id="10" name="Picture 9">
            <a:extLst>
              <a:ext uri="{FF2B5EF4-FFF2-40B4-BE49-F238E27FC236}">
                <a16:creationId xmlns:a16="http://schemas.microsoft.com/office/drawing/2014/main" id="{D425280C-F7B6-3425-B655-39E44179AFCE}"/>
              </a:ext>
            </a:extLst>
          </p:cNvPr>
          <p:cNvPicPr>
            <a:picLocks noChangeAspect="1"/>
          </p:cNvPicPr>
          <p:nvPr/>
        </p:nvPicPr>
        <p:blipFill>
          <a:blip r:embed="rId3"/>
          <a:stretch>
            <a:fillRect/>
          </a:stretch>
        </p:blipFill>
        <p:spPr>
          <a:xfrm>
            <a:off x="10682595" y="4151804"/>
            <a:ext cx="1139917" cy="1139917"/>
          </a:xfrm>
          <a:prstGeom prst="rect">
            <a:avLst/>
          </a:prstGeom>
        </p:spPr>
      </p:pic>
      <p:sp>
        <p:nvSpPr>
          <p:cNvPr id="3" name="Slide Number Placeholder 3">
            <a:extLst>
              <a:ext uri="{FF2B5EF4-FFF2-40B4-BE49-F238E27FC236}">
                <a16:creationId xmlns:a16="http://schemas.microsoft.com/office/drawing/2014/main" id="{AE9C475D-890B-B6EE-AE06-9A74EC5D698D}"/>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6</a:t>
            </a:fld>
            <a:endParaRPr lang="en-US" sz="1000" dirty="0"/>
          </a:p>
        </p:txBody>
      </p:sp>
      <p:sp>
        <p:nvSpPr>
          <p:cNvPr id="4" name="Title 1">
            <a:extLst>
              <a:ext uri="{FF2B5EF4-FFF2-40B4-BE49-F238E27FC236}">
                <a16:creationId xmlns:a16="http://schemas.microsoft.com/office/drawing/2014/main" id="{4E1CFE3C-7250-EFC8-92A8-4585529104FC}"/>
              </a:ext>
            </a:extLst>
          </p:cNvPr>
          <p:cNvSpPr txBox="1">
            <a:spLocks/>
          </p:cNvSpPr>
          <p:nvPr/>
        </p:nvSpPr>
        <p:spPr>
          <a:xfrm>
            <a:off x="0" y="230457"/>
            <a:ext cx="12192000" cy="430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tx1">
                    <a:lumMod val="65000"/>
                    <a:lumOff val="35000"/>
                  </a:schemeClr>
                </a:solidFill>
                <a:latin typeface="Franklin Gothic Book" panose="020B0503020102020204" pitchFamily="34" charset="0"/>
              </a:rPr>
              <a:t>2 – Insight to Execution</a:t>
            </a:r>
            <a:r>
              <a:rPr lang="en-US" sz="3200" dirty="0">
                <a:solidFill>
                  <a:srgbClr val="B52372"/>
                </a:solidFill>
                <a:latin typeface="Franklin Gothic Book" panose="020B0503020102020204" pitchFamily="34" charset="0"/>
              </a:rPr>
              <a:t>| Operational Plan</a:t>
            </a:r>
          </a:p>
        </p:txBody>
      </p:sp>
      <p:sp>
        <p:nvSpPr>
          <p:cNvPr id="11" name="Freeform 5">
            <a:extLst>
              <a:ext uri="{FF2B5EF4-FFF2-40B4-BE49-F238E27FC236}">
                <a16:creationId xmlns:a16="http://schemas.microsoft.com/office/drawing/2014/main" id="{0BFC2805-FC68-5A6B-6EC8-BA917AB21572}"/>
              </a:ext>
            </a:extLst>
          </p:cNvPr>
          <p:cNvSpPr>
            <a:spLocks noChangeArrowheads="1"/>
          </p:cNvSpPr>
          <p:nvPr/>
        </p:nvSpPr>
        <p:spPr bwMode="auto">
          <a:xfrm>
            <a:off x="375135" y="113310"/>
            <a:ext cx="1182624" cy="1182624"/>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7" y="0"/>
                  <a:pt x="2752" y="616"/>
                  <a:pt x="2752" y="1376"/>
                </a:cubicBezTo>
                <a:lnTo>
                  <a:pt x="2752" y="1376"/>
                </a:lnTo>
                <a:cubicBezTo>
                  <a:pt x="2752" y="2135"/>
                  <a:pt x="2137"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3265" dirty="0"/>
          </a:p>
        </p:txBody>
      </p:sp>
      <p:sp>
        <p:nvSpPr>
          <p:cNvPr id="2" name="Freeform 5">
            <a:extLst>
              <a:ext uri="{FF2B5EF4-FFF2-40B4-BE49-F238E27FC236}">
                <a16:creationId xmlns:a16="http://schemas.microsoft.com/office/drawing/2014/main" id="{0B91B71F-F28E-BB99-4DAC-31F27A35452B}"/>
              </a:ext>
            </a:extLst>
          </p:cNvPr>
          <p:cNvSpPr>
            <a:spLocks noChangeArrowheads="1"/>
          </p:cNvSpPr>
          <p:nvPr/>
        </p:nvSpPr>
        <p:spPr bwMode="auto">
          <a:xfrm>
            <a:off x="375135" y="113310"/>
            <a:ext cx="1182624" cy="1182624"/>
          </a:xfrm>
          <a:custGeom>
            <a:avLst/>
            <a:gdLst>
              <a:gd name="T0" fmla="*/ 1376 w 2753"/>
              <a:gd name="T1" fmla="*/ 0 h 2752"/>
              <a:gd name="T2" fmla="*/ 1376 w 2753"/>
              <a:gd name="T3" fmla="*/ 0 h 2752"/>
              <a:gd name="T4" fmla="*/ 2752 w 2753"/>
              <a:gd name="T5" fmla="*/ 1376 h 2752"/>
              <a:gd name="T6" fmla="*/ 2752 w 2753"/>
              <a:gd name="T7" fmla="*/ 1376 h 2752"/>
              <a:gd name="T8" fmla="*/ 1376 w 2753"/>
              <a:gd name="T9" fmla="*/ 2751 h 2752"/>
              <a:gd name="T10" fmla="*/ 1376 w 2753"/>
              <a:gd name="T11" fmla="*/ 2751 h 2752"/>
              <a:gd name="T12" fmla="*/ 0 w 2753"/>
              <a:gd name="T13" fmla="*/ 1376 h 2752"/>
              <a:gd name="T14" fmla="*/ 0 w 2753"/>
              <a:gd name="T15" fmla="*/ 1376 h 2752"/>
              <a:gd name="T16" fmla="*/ 1376 w 2753"/>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3" h="2752">
                <a:moveTo>
                  <a:pt x="1376" y="0"/>
                </a:moveTo>
                <a:lnTo>
                  <a:pt x="1376" y="0"/>
                </a:lnTo>
                <a:cubicBezTo>
                  <a:pt x="2137" y="0"/>
                  <a:pt x="2752" y="616"/>
                  <a:pt x="2752" y="1376"/>
                </a:cubicBezTo>
                <a:lnTo>
                  <a:pt x="2752" y="1376"/>
                </a:lnTo>
                <a:cubicBezTo>
                  <a:pt x="2752" y="2135"/>
                  <a:pt x="2137"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chemeClr val="tx1">
                <a:lumMod val="65000"/>
                <a:lumOff val="35000"/>
              </a:schemeClr>
            </a:solidFill>
          </a:ln>
          <a:effectLst/>
        </p:spPr>
        <p:txBody>
          <a:bodyPr wrap="none" anchor="ctr"/>
          <a:lstStyle/>
          <a:p>
            <a:endParaRPr lang="en-US" sz="3265" dirty="0"/>
          </a:p>
        </p:txBody>
      </p:sp>
      <p:pic>
        <p:nvPicPr>
          <p:cNvPr id="6" name="Picture 5">
            <a:extLst>
              <a:ext uri="{FF2B5EF4-FFF2-40B4-BE49-F238E27FC236}">
                <a16:creationId xmlns:a16="http://schemas.microsoft.com/office/drawing/2014/main" id="{E5143C1B-409B-3808-4F4E-56C05E2E5C5B}"/>
              </a:ext>
            </a:extLst>
          </p:cNvPr>
          <p:cNvPicPr>
            <a:picLocks noChangeAspect="1"/>
          </p:cNvPicPr>
          <p:nvPr/>
        </p:nvPicPr>
        <p:blipFill>
          <a:blip r:embed="rId4"/>
          <a:stretch>
            <a:fillRect/>
          </a:stretch>
        </p:blipFill>
        <p:spPr>
          <a:xfrm>
            <a:off x="460120" y="325091"/>
            <a:ext cx="1015596" cy="657150"/>
          </a:xfrm>
          <a:prstGeom prst="rect">
            <a:avLst/>
          </a:prstGeom>
        </p:spPr>
      </p:pic>
      <p:sp>
        <p:nvSpPr>
          <p:cNvPr id="8" name="TextBox 7">
            <a:extLst>
              <a:ext uri="{FF2B5EF4-FFF2-40B4-BE49-F238E27FC236}">
                <a16:creationId xmlns:a16="http://schemas.microsoft.com/office/drawing/2014/main" id="{6E5E0F6D-E111-E83F-9130-7794AB077A3D}"/>
              </a:ext>
            </a:extLst>
          </p:cNvPr>
          <p:cNvSpPr txBox="1"/>
          <p:nvPr/>
        </p:nvSpPr>
        <p:spPr>
          <a:xfrm>
            <a:off x="9583653" y="6206245"/>
            <a:ext cx="1348995" cy="461665"/>
          </a:xfrm>
          <a:prstGeom prst="rect">
            <a:avLst/>
          </a:prstGeom>
          <a:noFill/>
        </p:spPr>
        <p:txBody>
          <a:bodyPr wrap="square" rtlCol="0">
            <a:spAutoFit/>
          </a:bodyPr>
          <a:lstStyle/>
          <a:p>
            <a:pPr algn="ctr"/>
            <a:r>
              <a:rPr lang="en-US" sz="2400" dirty="0">
                <a:latin typeface="Ink Free" panose="03080402000500000000" pitchFamily="66" charset="0"/>
              </a:rPr>
              <a:t>Tristan</a:t>
            </a:r>
          </a:p>
        </p:txBody>
      </p:sp>
      <p:sp>
        <p:nvSpPr>
          <p:cNvPr id="5" name="TextBox 4">
            <a:extLst>
              <a:ext uri="{FF2B5EF4-FFF2-40B4-BE49-F238E27FC236}">
                <a16:creationId xmlns:a16="http://schemas.microsoft.com/office/drawing/2014/main" id="{C38638AF-752D-B876-4C45-9C9CAE1C06AB}"/>
              </a:ext>
            </a:extLst>
          </p:cNvPr>
          <p:cNvSpPr txBox="1"/>
          <p:nvPr/>
        </p:nvSpPr>
        <p:spPr>
          <a:xfrm>
            <a:off x="9619717" y="1599606"/>
            <a:ext cx="1261051" cy="461665"/>
          </a:xfrm>
          <a:prstGeom prst="rect">
            <a:avLst/>
          </a:prstGeom>
          <a:noFill/>
        </p:spPr>
        <p:txBody>
          <a:bodyPr wrap="none" rtlCol="0">
            <a:spAutoFit/>
          </a:bodyPr>
          <a:lstStyle/>
          <a:p>
            <a:r>
              <a:rPr lang="en-US" sz="2400" dirty="0">
                <a:latin typeface="Franklin Gothic Book" panose="020B0503020102020204" pitchFamily="34" charset="0"/>
              </a:rPr>
              <a:t>3 weeks</a:t>
            </a:r>
          </a:p>
        </p:txBody>
      </p:sp>
      <p:pic>
        <p:nvPicPr>
          <p:cNvPr id="13" name="Picture 12">
            <a:extLst>
              <a:ext uri="{FF2B5EF4-FFF2-40B4-BE49-F238E27FC236}">
                <a16:creationId xmlns:a16="http://schemas.microsoft.com/office/drawing/2014/main" id="{230DB382-63A6-C9FB-5C35-83B1D4A15661}"/>
              </a:ext>
            </a:extLst>
          </p:cNvPr>
          <p:cNvPicPr>
            <a:picLocks noChangeAspect="1"/>
          </p:cNvPicPr>
          <p:nvPr/>
        </p:nvPicPr>
        <p:blipFill>
          <a:blip r:embed="rId5"/>
          <a:stretch>
            <a:fillRect/>
          </a:stretch>
        </p:blipFill>
        <p:spPr>
          <a:xfrm>
            <a:off x="9975994" y="4750054"/>
            <a:ext cx="576514" cy="1537371"/>
          </a:xfrm>
          <a:prstGeom prst="rect">
            <a:avLst/>
          </a:prstGeom>
        </p:spPr>
      </p:pic>
    </p:spTree>
    <p:extLst>
      <p:ext uri="{BB962C8B-B14F-4D97-AF65-F5344CB8AC3E}">
        <p14:creationId xmlns:p14="http://schemas.microsoft.com/office/powerpoint/2010/main" val="940108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C41F7-3812-E930-A1C0-48EC54CFFF3A}"/>
            </a:ext>
          </a:extLst>
        </p:cNvPr>
        <p:cNvGrpSpPr/>
        <p:nvPr/>
      </p:nvGrpSpPr>
      <p:grpSpPr>
        <a:xfrm>
          <a:off x="0" y="0"/>
          <a:ext cx="0" cy="0"/>
          <a:chOff x="0" y="0"/>
          <a:chExt cx="0" cy="0"/>
        </a:xfrm>
      </p:grpSpPr>
      <p:sp>
        <p:nvSpPr>
          <p:cNvPr id="47" name="Rectangle 47">
            <a:extLst>
              <a:ext uri="{FF2B5EF4-FFF2-40B4-BE49-F238E27FC236}">
                <a16:creationId xmlns:a16="http://schemas.microsoft.com/office/drawing/2014/main" id="{52999398-F60C-ACB9-6310-937D269ED9E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749064" tIns="952200" rIns="1091856" bIns="177744" numCol="1" anchor="ctr" anchorCtr="0" compatLnSpc="1">
            <a:prstTxWarp prst="textNoShape">
              <a:avLst/>
            </a:prstTxWarp>
            <a:spAutoFit/>
          </a:bodyPr>
          <a:lstStyle/>
          <a:p>
            <a:endParaRPr lang="en-US" dirty="0"/>
          </a:p>
        </p:txBody>
      </p:sp>
      <p:sp>
        <p:nvSpPr>
          <p:cNvPr id="48" name="Rectangle 825">
            <a:extLst>
              <a:ext uri="{FF2B5EF4-FFF2-40B4-BE49-F238E27FC236}">
                <a16:creationId xmlns:a16="http://schemas.microsoft.com/office/drawing/2014/main" id="{CB22DADA-1D63-79A8-992A-4B36DE4BBFCF}"/>
              </a:ext>
            </a:extLst>
          </p:cNvPr>
          <p:cNvSpPr>
            <a:spLocks noChangeArrowheads="1"/>
          </p:cNvSpPr>
          <p:nvPr/>
        </p:nvSpPr>
        <p:spPr bwMode="auto">
          <a:xfrm>
            <a:off x="92922725" y="457200"/>
            <a:ext cx="4173538" cy="4171950"/>
          </a:xfrm>
          <a:prstGeom prst="rect">
            <a:avLst/>
          </a:prstGeom>
          <a:solidFill>
            <a:srgbClr val="9ABE34"/>
          </a:solidFill>
          <a:ln>
            <a:noFill/>
          </a:ln>
          <a:extLst>
            <a:ext uri="{91240B29-F687-4F45-9708-019B960494DF}">
              <a14:hiddenLine xmlns:a14="http://schemas.microsoft.com/office/drawing/2010/main" w="12700">
                <a:solidFill>
                  <a:srgbClr val="000000"/>
                </a:solidFill>
                <a:miter lim="4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9" name="Line 826">
            <a:extLst>
              <a:ext uri="{FF2B5EF4-FFF2-40B4-BE49-F238E27FC236}">
                <a16:creationId xmlns:a16="http://schemas.microsoft.com/office/drawing/2014/main" id="{BEEA1052-592D-872D-40F4-12584098BE6F}"/>
              </a:ext>
            </a:extLst>
          </p:cNvPr>
          <p:cNvSpPr>
            <a:spLocks noChangeShapeType="1"/>
          </p:cNvSpPr>
          <p:nvPr/>
        </p:nvSpPr>
        <p:spPr bwMode="auto">
          <a:xfrm>
            <a:off x="0" y="8801100"/>
            <a:ext cx="97075625" cy="0"/>
          </a:xfrm>
          <a:prstGeom prst="line">
            <a:avLst/>
          </a:prstGeom>
          <a:noFill/>
          <a:ln w="3175">
            <a:solidFill>
              <a:srgbClr val="FACC0C"/>
            </a:solidFill>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3" name="Title 2">
            <a:extLst>
              <a:ext uri="{FF2B5EF4-FFF2-40B4-BE49-F238E27FC236}">
                <a16:creationId xmlns:a16="http://schemas.microsoft.com/office/drawing/2014/main" id="{F4A0CA3F-501D-7A68-F9F7-4F6608301CE8}"/>
              </a:ext>
            </a:extLst>
          </p:cNvPr>
          <p:cNvSpPr>
            <a:spLocks noGrp="1"/>
          </p:cNvSpPr>
          <p:nvPr>
            <p:ph type="title"/>
          </p:nvPr>
        </p:nvSpPr>
        <p:spPr/>
        <p:txBody>
          <a:bodyPr/>
          <a:lstStyle/>
          <a:p>
            <a:r>
              <a:rPr lang="en-US" dirty="0">
                <a:solidFill>
                  <a:schemeClr val="tx1">
                    <a:lumMod val="65000"/>
                    <a:lumOff val="35000"/>
                  </a:schemeClr>
                </a:solidFill>
              </a:rPr>
              <a:t>Insight to Execution- Outline of effort</a:t>
            </a:r>
          </a:p>
        </p:txBody>
      </p:sp>
      <p:sp>
        <p:nvSpPr>
          <p:cNvPr id="8" name="TextBox 7">
            <a:extLst>
              <a:ext uri="{FF2B5EF4-FFF2-40B4-BE49-F238E27FC236}">
                <a16:creationId xmlns:a16="http://schemas.microsoft.com/office/drawing/2014/main" id="{B2A9B4C5-6A53-A99B-4B59-79161BA7A640}"/>
              </a:ext>
            </a:extLst>
          </p:cNvPr>
          <p:cNvSpPr txBox="1"/>
          <p:nvPr/>
        </p:nvSpPr>
        <p:spPr>
          <a:xfrm>
            <a:off x="700946" y="4101931"/>
            <a:ext cx="10913151" cy="2431435"/>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7 </a:t>
            </a:r>
            <a:r>
              <a:rPr lang="en-US" sz="1600" b="1" u="sng" dirty="0">
                <a:effectLst/>
                <a:latin typeface="Franklin Gothic Book" panose="020B0503020102020204" pitchFamily="34" charset="0"/>
                <a:ea typeface="Cambria" panose="02040503050406030204" pitchFamily="18" charset="0"/>
                <a:cs typeface="Times New Roman" panose="02020603050405020304" pitchFamily="18" charset="0"/>
              </a:rPr>
              <a:t>:</a:t>
            </a:r>
          </a:p>
          <a:p>
            <a:pPr marL="228600" marR="0" algn="ctr">
              <a:spcBef>
                <a:spcPts val="0"/>
              </a:spcBef>
              <a:spcAft>
                <a:spcPts val="0"/>
              </a:spcAft>
            </a:pPr>
            <a:endParaRPr lang="en-US" sz="16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Focus: Vision-to-Value Roadmap Presentation </a:t>
            </a:r>
            <a:r>
              <a:rPr lang="en-US" sz="1100" b="1" i="1" dirty="0">
                <a:effectLst/>
                <a:latin typeface="Franklin Gothic Book" panose="020B0503020102020204" pitchFamily="34" charset="0"/>
                <a:ea typeface="Cambria" panose="02040503050406030204" pitchFamily="18" charset="0"/>
                <a:cs typeface="Times New Roman" panose="02020603050405020304" pitchFamily="18" charset="0"/>
              </a:rPr>
              <a:t>(implementation plan)</a:t>
            </a:r>
          </a:p>
          <a:p>
            <a:pPr marL="22860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Outlines actions, training, support, </a:t>
            </a:r>
            <a:r>
              <a:rPr lang="en-US" sz="1200" dirty="0">
                <a:latin typeface="Franklin Gothic Book" panose="020B0503020102020204" pitchFamily="34" charset="0"/>
                <a:ea typeface="Cambria" panose="02040503050406030204" pitchFamily="18" charset="0"/>
                <a:cs typeface="Times New Roman" panose="02020603050405020304" pitchFamily="18" charset="0"/>
              </a:rPr>
              <a:t>through the lens of Foundation (what do we need to put into place in terms of people, approach), Framework (resources and tools), Focus (governance, cadence, accountability) </a:t>
            </a: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of materials and needed support documentation. Prepare documentation that can guide further implementation steps.</a:t>
            </a:r>
          </a:p>
          <a:p>
            <a:pPr marL="22860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a:tabLst>
                <a:tab pos="223838" algn="l"/>
                <a:tab pos="336550" algn="l"/>
              </a:tabLst>
            </a:pPr>
            <a:r>
              <a:rPr lang="en-US" sz="1200" i="1" dirty="0">
                <a:solidFill>
                  <a:srgbClr val="B52372"/>
                </a:solidFill>
                <a:latin typeface="Franklin Gothic Book" panose="020B0503020102020204" pitchFamily="34" charset="0"/>
                <a:ea typeface="Cambria" panose="02040503050406030204" pitchFamily="18" charset="0"/>
                <a:cs typeface="Times New Roman" panose="02020603050405020304" pitchFamily="18" charset="0"/>
              </a:rPr>
              <a:t>	</a:t>
            </a: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lvl="1"/>
            <a:r>
              <a:rPr lang="en-US" sz="12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	2 hours Glenn and Wendy  review</a:t>
            </a: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Virtual</a:t>
            </a: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228600" marR="0" algn="ctr">
              <a:spcBef>
                <a:spcPts val="0"/>
              </a:spcBef>
              <a:spcAft>
                <a:spcPts val="0"/>
              </a:spcAft>
            </a:pPr>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DFECB89-6D02-1856-1ADD-DEFBA2F08FDA}"/>
              </a:ext>
            </a:extLst>
          </p:cNvPr>
          <p:cNvSpPr txBox="1"/>
          <p:nvPr/>
        </p:nvSpPr>
        <p:spPr>
          <a:xfrm>
            <a:off x="700946" y="582947"/>
            <a:ext cx="11273980" cy="3393237"/>
          </a:xfrm>
          <a:prstGeom prst="rect">
            <a:avLst/>
          </a:prstGeom>
          <a:noFill/>
        </p:spPr>
        <p:txBody>
          <a:bodyPr wrap="square" rtlCol="0">
            <a:spAutoFit/>
          </a:bodyPr>
          <a:lstStyle/>
          <a:p>
            <a:pPr marL="228600" marR="0" algn="ctr">
              <a:spcBef>
                <a:spcPts val="0"/>
              </a:spcBef>
              <a:spcAft>
                <a:spcPts val="0"/>
              </a:spcAft>
            </a:pPr>
            <a:r>
              <a:rPr lang="en-US" sz="1400" b="1" u="sng" dirty="0">
                <a:effectLst/>
                <a:latin typeface="Franklin Gothic Book" panose="020B0503020102020204" pitchFamily="34" charset="0"/>
                <a:ea typeface="Cambria" panose="02040503050406030204" pitchFamily="18" charset="0"/>
                <a:cs typeface="Times New Roman" panose="02020603050405020304" pitchFamily="18" charset="0"/>
              </a:rPr>
              <a:t>Week 6</a:t>
            </a:r>
            <a:r>
              <a:rPr lang="en-US" sz="1200" b="1" u="sng"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lgn="ctr">
              <a:spcBef>
                <a:spcPts val="0"/>
              </a:spcBef>
              <a:spcAft>
                <a:spcPts val="0"/>
              </a:spcAft>
            </a:pPr>
            <a:r>
              <a:rPr lang="en-US" sz="1200" i="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In the Weeds</a:t>
            </a:r>
          </a:p>
          <a:p>
            <a:pPr marL="228600" marR="0">
              <a:spcBef>
                <a:spcPts val="0"/>
              </a:spcBef>
              <a:spcAft>
                <a:spcPts val="0"/>
              </a:spcAft>
            </a:pPr>
            <a:endPar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endParaRPr>
          </a:p>
          <a:p>
            <a:pPr marL="228600" marR="0">
              <a:spcBef>
                <a:spcPts val="0"/>
              </a:spcBef>
              <a:spcAft>
                <a:spcPts val="0"/>
              </a:spcAft>
            </a:pPr>
            <a:endParaRPr lang="en-US" sz="1050" b="1" dirty="0">
              <a:solidFill>
                <a:schemeClr val="tx1">
                  <a:lumMod val="75000"/>
                  <a:lumOff val="25000"/>
                </a:schemeClr>
              </a:solidFill>
              <a:effectLst/>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latin typeface="Franklin Gothic Book" panose="020B0503020102020204" pitchFamily="34" charset="0"/>
                <a:ea typeface="Cambria" panose="02040503050406030204" pitchFamily="18" charset="0"/>
                <a:cs typeface="Times New Roman" panose="02020603050405020304" pitchFamily="18" charset="0"/>
              </a:rPr>
              <a:t>Focus – Insight Intelligence Report </a:t>
            </a:r>
          </a:p>
          <a:p>
            <a:pPr marL="230188" lvl="1"/>
            <a:r>
              <a:rPr lang="en-US" sz="1200" dirty="0">
                <a:latin typeface="Franklin Gothic Book" panose="020B0503020102020204" pitchFamily="34" charset="0"/>
                <a:ea typeface="Cambria" panose="02040503050406030204" pitchFamily="18" charset="0"/>
                <a:cs typeface="Times New Roman" panose="02020603050405020304" pitchFamily="18" charset="0"/>
              </a:rPr>
              <a:t>Sharing of insights, vetting and prioritizing.</a:t>
            </a:r>
          </a:p>
          <a:p>
            <a:pPr marL="230188" lvl="1"/>
            <a:endParaRPr lang="en-US" sz="10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effectLst/>
                <a:latin typeface="Franklin Gothic Book" panose="020B0503020102020204" pitchFamily="34" charset="0"/>
                <a:ea typeface="Cambria" panose="02040503050406030204" pitchFamily="18" charset="0"/>
                <a:cs typeface="Times New Roman" panose="02020603050405020304" pitchFamily="18" charset="0"/>
              </a:rPr>
              <a:t>What is being done with KB &amp; Co: </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Property visit</a:t>
            </a:r>
          </a:p>
          <a:p>
            <a:pPr marL="687388" lvl="2" indent="-225425">
              <a:buFont typeface="Arial" panose="020B0604020202020204" pitchFamily="34" charset="0"/>
              <a:buChar char="•"/>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Calls, Meetings, Research</a:t>
            </a:r>
          </a:p>
          <a:p>
            <a:pPr marL="687388" lvl="2" indent="-225425">
              <a:buFont typeface="Arial" panose="020B0604020202020204" pitchFamily="34" charset="0"/>
              <a:buChar char="•"/>
            </a:pPr>
            <a:endParaRPr lang="en-US" sz="1200" dirty="0">
              <a:latin typeface="Franklin Gothic Book" panose="020B0503020102020204" pitchFamily="34" charset="0"/>
              <a:ea typeface="Cambria" panose="02040503050406030204" pitchFamily="18" charset="0"/>
              <a:cs typeface="Times New Roman" panose="02020603050405020304" pitchFamily="18" charset="0"/>
            </a:endParaRPr>
          </a:p>
          <a:p>
            <a:pPr marL="230188" lvl="1"/>
            <a:r>
              <a:rPr lang="en-US" sz="1200" b="1"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Flying Horses Resort Team time / input needed:  </a:t>
            </a:r>
          </a:p>
          <a:p>
            <a:pPr marL="461963" lvl="1"/>
            <a:r>
              <a:rPr lang="en-US" sz="1200" dirty="0">
                <a:solidFill>
                  <a:srgbClr val="B51072"/>
                </a:solidFill>
                <a:effectLst/>
                <a:latin typeface="Franklin Gothic Book" panose="020B0503020102020204" pitchFamily="34" charset="0"/>
                <a:ea typeface="Cambria" panose="02040503050406030204" pitchFamily="18" charset="0"/>
                <a:cs typeface="Times New Roman" panose="02020603050405020304" pitchFamily="18" charset="0"/>
              </a:rPr>
              <a:t>	½ Day w/ Glenn and Wendy</a:t>
            </a:r>
          </a:p>
          <a:p>
            <a:pPr marL="0" marR="0">
              <a:spcBef>
                <a:spcPts val="0"/>
              </a:spcBef>
              <a:spcAft>
                <a:spcPts val="0"/>
              </a:spcAft>
            </a:pPr>
            <a:r>
              <a:rPr lang="en-US" sz="1200" dirty="0">
                <a:effectLst/>
                <a:latin typeface="Franklin Gothic Book" panose="020B0503020102020204" pitchFamily="34" charset="0"/>
                <a:ea typeface="Cambria" panose="02040503050406030204" pitchFamily="18" charset="0"/>
                <a:cs typeface="Times New Roman" panose="02020603050405020304" pitchFamily="18" charset="0"/>
              </a:rPr>
              <a:t> </a:t>
            </a:r>
          </a:p>
          <a:p>
            <a:pPr marL="228600" marR="0">
              <a:spcBef>
                <a:spcPts val="0"/>
              </a:spcBef>
              <a:spcAft>
                <a:spcPts val="0"/>
              </a:spcAft>
            </a:pPr>
            <a:r>
              <a:rPr lang="en-US" sz="1200" i="1" dirty="0">
                <a:solidFill>
                  <a:srgbClr val="B52372"/>
                </a:solidFill>
                <a:effectLst/>
                <a:latin typeface="Franklin Gothic Book" panose="020B0503020102020204" pitchFamily="34" charset="0"/>
                <a:ea typeface="Cambria" panose="02040503050406030204" pitchFamily="18" charset="0"/>
                <a:cs typeface="Times New Roman" panose="02020603050405020304" pitchFamily="18" charset="0"/>
              </a:rPr>
              <a:t>Onsite?</a:t>
            </a:r>
            <a:endParaRPr lang="en-US" sz="1200" u="sng" dirty="0">
              <a:effectLst/>
              <a:latin typeface="Franklin Gothic Book" panose="020B0503020102020204" pitchFamily="34" charset="0"/>
              <a:ea typeface="Cambria" panose="02040503050406030204" pitchFamily="18" charset="0"/>
              <a:cs typeface="Times New Roman" panose="02020603050405020304" pitchFamily="18" charset="0"/>
            </a:endParaRPr>
          </a:p>
          <a:p>
            <a:pPr marL="461963" lvl="2"/>
            <a:endParaRPr lang="en-US" sz="1200" dirty="0">
              <a:latin typeface="Franklin Gothic Book" panose="020B0503020102020204" pitchFamily="34" charset="0"/>
              <a:ea typeface="Cambria" panose="02040503050406030204" pitchFamily="18" charset="0"/>
              <a:cs typeface="Times New Roman" panose="02020603050405020304" pitchFamily="18" charset="0"/>
            </a:endParaRPr>
          </a:p>
          <a:p>
            <a:pPr marL="4763" lvl="1">
              <a:tabLst>
                <a:tab pos="227013" algn="l"/>
              </a:tabLst>
            </a:pPr>
            <a:r>
              <a:rPr lang="en-US" sz="1200" b="1" dirty="0">
                <a:solidFill>
                  <a:srgbClr val="0070C0"/>
                </a:solidFill>
                <a:latin typeface="Franklin Gothic Book" panose="020B0503020102020204" pitchFamily="34" charset="0"/>
                <a:ea typeface="Cambria" panose="02040503050406030204" pitchFamily="18" charset="0"/>
                <a:cs typeface="Times New Roman" panose="02020603050405020304" pitchFamily="18" charset="0"/>
              </a:rPr>
              <a:t>	Communication Touchpoint w/ Team-   Thank you</a:t>
            </a:r>
          </a:p>
          <a:p>
            <a:pPr marL="4763" lvl="1"/>
            <a:endParaRPr lang="en-US" sz="1200" dirty="0">
              <a:effectLst/>
              <a:latin typeface="Franklin Gothic Book" panose="020B0503020102020204" pitchFamily="34" charset="0"/>
              <a:ea typeface="Cambria" panose="02040503050406030204" pitchFamily="18" charset="0"/>
              <a:cs typeface="Times New Roman" panose="02020603050405020304" pitchFamily="18" charset="0"/>
            </a:endParaRPr>
          </a:p>
        </p:txBody>
      </p:sp>
      <p:cxnSp>
        <p:nvCxnSpPr>
          <p:cNvPr id="5" name="officeArt object" descr="Line 840">
            <a:extLst>
              <a:ext uri="{FF2B5EF4-FFF2-40B4-BE49-F238E27FC236}">
                <a16:creationId xmlns:a16="http://schemas.microsoft.com/office/drawing/2014/main" id="{1A07E9ED-7725-AB78-0A44-5F56FCBC4148}"/>
              </a:ext>
            </a:extLst>
          </p:cNvPr>
          <p:cNvCxnSpPr>
            <a:cxnSpLocks/>
          </p:cNvCxnSpPr>
          <p:nvPr/>
        </p:nvCxnSpPr>
        <p:spPr>
          <a:xfrm>
            <a:off x="450915" y="3976184"/>
            <a:ext cx="1405689" cy="0"/>
          </a:xfrm>
          <a:prstGeom prst="line">
            <a:avLst/>
          </a:prstGeom>
          <a:noFill/>
          <a:ln w="48069" cap="flat">
            <a:solidFill>
              <a:srgbClr val="D51067"/>
            </a:solidFill>
            <a:prstDash val="solid"/>
            <a:round/>
          </a:ln>
          <a:effectLst/>
        </p:spPr>
      </p:cxnSp>
    </p:spTree>
    <p:extLst>
      <p:ext uri="{BB962C8B-B14F-4D97-AF65-F5344CB8AC3E}">
        <p14:creationId xmlns:p14="http://schemas.microsoft.com/office/powerpoint/2010/main" val="3206162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5346E-37D3-6745-C778-1FB4E5C4FC00}"/>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27E57EAD-64B3-8B75-E994-8A2D22D0F394}"/>
              </a:ext>
            </a:extLst>
          </p:cNvPr>
          <p:cNvSpPr/>
          <p:nvPr/>
        </p:nvSpPr>
        <p:spPr>
          <a:xfrm>
            <a:off x="837873" y="2457029"/>
            <a:ext cx="2436327" cy="1886788"/>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5" name="Subtitle 2">
            <a:extLst>
              <a:ext uri="{FF2B5EF4-FFF2-40B4-BE49-F238E27FC236}">
                <a16:creationId xmlns:a16="http://schemas.microsoft.com/office/drawing/2014/main" id="{9863CF1B-5FCD-2287-A2A5-76D1A6B902BB}"/>
              </a:ext>
            </a:extLst>
          </p:cNvPr>
          <p:cNvSpPr txBox="1">
            <a:spLocks/>
          </p:cNvSpPr>
          <p:nvPr/>
        </p:nvSpPr>
        <p:spPr>
          <a:xfrm>
            <a:off x="941199" y="2511664"/>
            <a:ext cx="2333000" cy="1426288"/>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nSpc>
                <a:spcPct val="100000"/>
              </a:lnSpc>
              <a:spcBef>
                <a:spcPts val="0"/>
              </a:spcBef>
              <a:spcAft>
                <a:spcPts val="900"/>
              </a:spcAft>
            </a:pPr>
            <a:endParaRPr lang="en-US" sz="1867"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endParaRPr>
          </a:p>
          <a:p>
            <a:pPr>
              <a:lnSpc>
                <a:spcPct val="100000"/>
              </a:lnSpc>
              <a:spcBef>
                <a:spcPts val="0"/>
              </a:spcBef>
              <a:spcAft>
                <a:spcPts val="900"/>
              </a:spcAft>
            </a:pPr>
            <a:r>
              <a:rPr lang="en-US" sz="1867"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rPr>
              <a:t>Rolling up our Sleaves- </a:t>
            </a:r>
          </a:p>
          <a:p>
            <a:pPr>
              <a:lnSpc>
                <a:spcPct val="100000"/>
              </a:lnSpc>
              <a:spcBef>
                <a:spcPts val="0"/>
              </a:spcBef>
              <a:spcAft>
                <a:spcPts val="900"/>
              </a:spcAft>
            </a:pPr>
            <a:r>
              <a:rPr lang="en-US" sz="1867" i="1" dirty="0">
                <a:solidFill>
                  <a:srgbClr val="B52372"/>
                </a:solidFill>
                <a:latin typeface="Franklin Gothic Book" panose="020B0503020102020204" pitchFamily="34" charset="0"/>
                <a:ea typeface="Lato Light" panose="020F0502020204030203" pitchFamily="34" charset="0"/>
                <a:cs typeface="Mukta ExtraLight" panose="020B0000000000000000" pitchFamily="34" charset="77"/>
              </a:rPr>
              <a:t>Implementation</a:t>
            </a:r>
          </a:p>
        </p:txBody>
      </p:sp>
      <p:sp>
        <p:nvSpPr>
          <p:cNvPr id="16" name="TextBox 15">
            <a:extLst>
              <a:ext uri="{FF2B5EF4-FFF2-40B4-BE49-F238E27FC236}">
                <a16:creationId xmlns:a16="http://schemas.microsoft.com/office/drawing/2014/main" id="{58F91676-67B7-3B62-E6E0-DE1F4CB06089}"/>
              </a:ext>
            </a:extLst>
          </p:cNvPr>
          <p:cNvSpPr txBox="1"/>
          <p:nvPr/>
        </p:nvSpPr>
        <p:spPr>
          <a:xfrm rot="16200000">
            <a:off x="-360871" y="3218735"/>
            <a:ext cx="1861971"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What You Get</a:t>
            </a:r>
          </a:p>
        </p:txBody>
      </p:sp>
      <p:sp>
        <p:nvSpPr>
          <p:cNvPr id="17" name="Rectangle 16">
            <a:extLst>
              <a:ext uri="{FF2B5EF4-FFF2-40B4-BE49-F238E27FC236}">
                <a16:creationId xmlns:a16="http://schemas.microsoft.com/office/drawing/2014/main" id="{83E9CA97-913A-B149-4925-47D1F787EBCC}"/>
              </a:ext>
            </a:extLst>
          </p:cNvPr>
          <p:cNvSpPr/>
          <p:nvPr/>
        </p:nvSpPr>
        <p:spPr>
          <a:xfrm>
            <a:off x="811359" y="4592921"/>
            <a:ext cx="2436327" cy="1645127"/>
          </a:xfrm>
          <a:prstGeom prst="rect">
            <a:avLst/>
          </a:prstGeom>
          <a:solidFill>
            <a:schemeClr val="bg1">
              <a:lumMod val="6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8" name="TextBox 17">
            <a:extLst>
              <a:ext uri="{FF2B5EF4-FFF2-40B4-BE49-F238E27FC236}">
                <a16:creationId xmlns:a16="http://schemas.microsoft.com/office/drawing/2014/main" id="{013A62E0-C0B6-3E6A-C42C-19678948C6CB}"/>
              </a:ext>
            </a:extLst>
          </p:cNvPr>
          <p:cNvSpPr txBox="1"/>
          <p:nvPr/>
        </p:nvSpPr>
        <p:spPr>
          <a:xfrm rot="16200000">
            <a:off x="-244029" y="5246208"/>
            <a:ext cx="1645128" cy="338554"/>
          </a:xfrm>
          <a:prstGeom prst="rect">
            <a:avLst/>
          </a:prstGeom>
          <a:solidFill>
            <a:schemeClr val="bg1">
              <a:lumMod val="75000"/>
            </a:schemeClr>
          </a:solidFill>
        </p:spPr>
        <p:txBody>
          <a:bodyPr wrap="square" rtlCol="0">
            <a:spAutoFit/>
          </a:bodyPr>
          <a:lstStyle/>
          <a:p>
            <a:pPr algn="ctr"/>
            <a:r>
              <a:rPr lang="en-US" sz="1600" dirty="0">
                <a:solidFill>
                  <a:schemeClr val="tx1">
                    <a:lumMod val="65000"/>
                    <a:lumOff val="35000"/>
                  </a:schemeClr>
                </a:solidFill>
                <a:latin typeface="Franklin Gothic Book" panose="020B0503020102020204" pitchFamily="34" charset="0"/>
              </a:rPr>
              <a:t>So You Can</a:t>
            </a:r>
          </a:p>
        </p:txBody>
      </p:sp>
      <p:sp>
        <p:nvSpPr>
          <p:cNvPr id="19" name="Subtitle 2">
            <a:extLst>
              <a:ext uri="{FF2B5EF4-FFF2-40B4-BE49-F238E27FC236}">
                <a16:creationId xmlns:a16="http://schemas.microsoft.com/office/drawing/2014/main" id="{4199690B-492D-1E68-CE71-097CC2283F08}"/>
              </a:ext>
            </a:extLst>
          </p:cNvPr>
          <p:cNvSpPr txBox="1">
            <a:spLocks/>
          </p:cNvSpPr>
          <p:nvPr/>
        </p:nvSpPr>
        <p:spPr>
          <a:xfrm>
            <a:off x="907674" y="4806173"/>
            <a:ext cx="2244951" cy="982064"/>
          </a:xfrm>
          <a:prstGeom prst="rect">
            <a:avLst/>
          </a:prstGeom>
        </p:spPr>
        <p:txBody>
          <a:bodyPr vert="horz" wrap="square" lIns="45720" tIns="22860" rIns="45720" bIns="22860" rtlCol="0" anchor="t">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marL="228594" indent="-228594" algn="l">
              <a:lnSpc>
                <a:spcPct val="100000"/>
              </a:lnSpc>
              <a:spcBef>
                <a:spcPts val="0"/>
              </a:spcBef>
              <a:spcAft>
                <a:spcPts val="900"/>
              </a:spcAft>
              <a:buFont typeface="Arial" panose="020B0604020202020204" pitchFamily="34" charset="0"/>
              <a:buChar char="•"/>
            </a:pPr>
            <a:r>
              <a:rPr lang="en-US" sz="1333"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Taking what we outlined and prioritized done. </a:t>
            </a:r>
          </a:p>
          <a:p>
            <a:pPr marL="228594" indent="-228594" algn="l">
              <a:lnSpc>
                <a:spcPct val="100000"/>
              </a:lnSpc>
              <a:spcBef>
                <a:spcPts val="0"/>
              </a:spcBef>
              <a:spcAft>
                <a:spcPts val="900"/>
              </a:spcAft>
              <a:buFont typeface="Arial" panose="020B0604020202020204" pitchFamily="34" charset="0"/>
              <a:buChar char="•"/>
            </a:pPr>
            <a:r>
              <a:rPr lang="en-US" sz="1333"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Gives you insights to </a:t>
            </a:r>
            <a:r>
              <a:rPr lang="en-US" sz="1333" i="1" dirty="0">
                <a:solidFill>
                  <a:schemeClr val="tx1">
                    <a:lumMod val="65000"/>
                    <a:lumOff val="35000"/>
                  </a:schemeClr>
                </a:solidFill>
                <a:latin typeface="Franklin Gothic Book" panose="020B0503020102020204" pitchFamily="34" charset="0"/>
                <a:ea typeface="Lato Light" panose="020F0502020204030203" pitchFamily="34" charset="0"/>
                <a:cs typeface="Mukta ExtraLight" panose="020B0000000000000000" pitchFamily="34" charset="77"/>
              </a:rPr>
              <a:t>‘what the best do differently’</a:t>
            </a:r>
          </a:p>
        </p:txBody>
      </p:sp>
      <p:sp>
        <p:nvSpPr>
          <p:cNvPr id="22" name="Rectangle 21">
            <a:extLst>
              <a:ext uri="{FF2B5EF4-FFF2-40B4-BE49-F238E27FC236}">
                <a16:creationId xmlns:a16="http://schemas.microsoft.com/office/drawing/2014/main" id="{8161CF72-AA77-843A-9F39-4563659E29D8}"/>
              </a:ext>
            </a:extLst>
          </p:cNvPr>
          <p:cNvSpPr/>
          <p:nvPr/>
        </p:nvSpPr>
        <p:spPr>
          <a:xfrm>
            <a:off x="3816551" y="776125"/>
            <a:ext cx="4601957" cy="5511300"/>
          </a:xfrm>
          <a:prstGeom prst="rect">
            <a:avLst/>
          </a:prstGeom>
          <a:gradFill>
            <a:gsLst>
              <a:gs pos="0">
                <a:srgbClr val="A0A1A2"/>
              </a:gs>
              <a:gs pos="0">
                <a:srgbClr val="A0A1A2">
                  <a:tint val="44500"/>
                  <a:satMod val="160000"/>
                </a:srgbClr>
              </a:gs>
              <a:gs pos="100000">
                <a:srgbClr val="A0A1A2">
                  <a:tint val="23500"/>
                  <a:satMod val="160000"/>
                </a:srgbClr>
              </a:gs>
            </a:gsLst>
            <a:lin ang="13500000" scaled="1"/>
          </a:gra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lumMod val="75000"/>
                    <a:lumOff val="25000"/>
                  </a:schemeClr>
                </a:solidFill>
                <a:latin typeface="Franklin Gothic Book" panose="020B0503020102020204" pitchFamily="34" charset="0"/>
              </a:rPr>
              <a:t>Creating the roadmap that builds:</a:t>
            </a:r>
          </a:p>
          <a:p>
            <a:endParaRPr lang="en-US" sz="1400" dirty="0">
              <a:solidFill>
                <a:schemeClr val="tx1">
                  <a:lumMod val="75000"/>
                  <a:lumOff val="25000"/>
                </a:schemeClr>
              </a:solidFill>
              <a:latin typeface="Franklin Gothic Book" panose="020B0503020102020204" pitchFamily="34" charset="0"/>
            </a:endParaRPr>
          </a:p>
          <a:p>
            <a:endParaRPr lang="en-US" sz="900" dirty="0">
              <a:solidFill>
                <a:schemeClr val="tx1">
                  <a:lumMod val="75000"/>
                  <a:lumOff val="25000"/>
                </a:schemeClr>
              </a:solidFill>
              <a:latin typeface="Franklin Gothic Book" panose="020B0503020102020204" pitchFamily="34" charset="0"/>
            </a:endParaRPr>
          </a:p>
          <a:p>
            <a:r>
              <a:rPr lang="en-US" i="1" dirty="0">
                <a:solidFill>
                  <a:schemeClr val="tx1">
                    <a:lumMod val="75000"/>
                    <a:lumOff val="25000"/>
                  </a:schemeClr>
                </a:solidFill>
                <a:latin typeface="Franklin Gothic Book" panose="020B0503020102020204" pitchFamily="34" charset="0"/>
              </a:rPr>
              <a:t>Foundation: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Carrying out what is to create the “new way to work” w/ Sales and / or Marketing:</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Science &amp; Strategy</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Process &amp; Customer engagement</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Art &amp; Talent Optimization</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Performance Metrics</a:t>
            </a:r>
          </a:p>
          <a:p>
            <a:pPr marL="350838"/>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Framework: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Building of Tools, programs</a:t>
            </a:r>
          </a:p>
          <a:p>
            <a:pPr marL="350838">
              <a:buFont typeface="Arial" panose="020B0604020202020204" pitchFamily="34" charset="0"/>
              <a:buChar char="•"/>
            </a:pPr>
            <a:endParaRPr lang="en-US" sz="1000" dirty="0">
              <a:solidFill>
                <a:schemeClr val="tx1">
                  <a:lumMod val="75000"/>
                  <a:lumOff val="25000"/>
                </a:schemeClr>
              </a:solidFill>
              <a:latin typeface="Franklin Gothic Book" panose="020B0503020102020204" pitchFamily="34" charset="0"/>
            </a:endParaRPr>
          </a:p>
          <a:p>
            <a:pPr marL="7938"/>
            <a:r>
              <a:rPr lang="en-US" i="1" dirty="0">
                <a:solidFill>
                  <a:schemeClr val="tx1">
                    <a:lumMod val="75000"/>
                    <a:lumOff val="25000"/>
                  </a:schemeClr>
                </a:solidFill>
                <a:latin typeface="Franklin Gothic Book" panose="020B0503020102020204" pitchFamily="34" charset="0"/>
              </a:rPr>
              <a:t>Focus: </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One-on-One Calls</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Account Development </a:t>
            </a:r>
          </a:p>
          <a:p>
            <a:pPr marL="808038" lvl="1"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Skill Coaching</a:t>
            </a:r>
          </a:p>
          <a:p>
            <a:pPr marL="350838" indent="225425">
              <a:buFont typeface="Arial" panose="020B0604020202020204" pitchFamily="34" charset="0"/>
              <a:buChar char="•"/>
            </a:pPr>
            <a:r>
              <a:rPr lang="en-US" sz="1600" dirty="0">
                <a:solidFill>
                  <a:schemeClr val="tx1">
                    <a:lumMod val="75000"/>
                    <a:lumOff val="25000"/>
                  </a:schemeClr>
                </a:solidFill>
                <a:latin typeface="Franklin Gothic Book" panose="020B0503020102020204" pitchFamily="34" charset="0"/>
              </a:rPr>
              <a:t>Commercial Team Calls </a:t>
            </a:r>
          </a:p>
          <a:p>
            <a:pPr marL="990575" lvl="1" indent="-380990">
              <a:buFont typeface="Arial" panose="020B0604020202020204" pitchFamily="34" charset="0"/>
              <a:buChar char="•"/>
            </a:pPr>
            <a:endParaRPr lang="en-US" dirty="0">
              <a:solidFill>
                <a:schemeClr val="tx1">
                  <a:lumMod val="75000"/>
                  <a:lumOff val="25000"/>
                </a:schemeClr>
              </a:solidFill>
              <a:latin typeface="Franklin Gothic Book" panose="020B0503020102020204" pitchFamily="34" charset="0"/>
            </a:endParaRPr>
          </a:p>
          <a:p>
            <a:pPr marL="380990" indent="-380990">
              <a:buFont typeface="Arial" panose="020B0604020202020204" pitchFamily="34" charset="0"/>
              <a:buChar char="•"/>
            </a:pPr>
            <a:endParaRPr lang="en-US" sz="2133" dirty="0">
              <a:solidFill>
                <a:schemeClr val="tx1">
                  <a:lumMod val="75000"/>
                  <a:lumOff val="25000"/>
                </a:schemeClr>
              </a:solidFill>
              <a:latin typeface="Franklin Gothic Book" panose="020B0503020102020204" pitchFamily="34" charset="0"/>
            </a:endParaRPr>
          </a:p>
        </p:txBody>
      </p:sp>
      <p:sp>
        <p:nvSpPr>
          <p:cNvPr id="24" name="Rounded Rectangle 23">
            <a:extLst>
              <a:ext uri="{FF2B5EF4-FFF2-40B4-BE49-F238E27FC236}">
                <a16:creationId xmlns:a16="http://schemas.microsoft.com/office/drawing/2014/main" id="{5A601ACC-319C-1B75-FA29-989A9D547FDB}"/>
              </a:ext>
            </a:extLst>
          </p:cNvPr>
          <p:cNvSpPr/>
          <p:nvPr/>
        </p:nvSpPr>
        <p:spPr>
          <a:xfrm>
            <a:off x="8970423" y="1488928"/>
            <a:ext cx="2804160" cy="7439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sp>
        <p:nvSpPr>
          <p:cNvPr id="25" name="TextBox 24">
            <a:extLst>
              <a:ext uri="{FF2B5EF4-FFF2-40B4-BE49-F238E27FC236}">
                <a16:creationId xmlns:a16="http://schemas.microsoft.com/office/drawing/2014/main" id="{37D7FB0C-A4F5-0B54-4485-085302F88132}"/>
              </a:ext>
            </a:extLst>
          </p:cNvPr>
          <p:cNvSpPr txBox="1"/>
          <p:nvPr/>
        </p:nvSpPr>
        <p:spPr>
          <a:xfrm>
            <a:off x="9649925" y="776124"/>
            <a:ext cx="1282723" cy="461665"/>
          </a:xfrm>
          <a:prstGeom prst="rect">
            <a:avLst/>
          </a:prstGeom>
          <a:noFill/>
        </p:spPr>
        <p:txBody>
          <a:bodyPr wrap="none" rtlCol="0">
            <a:spAutoFit/>
          </a:bodyPr>
          <a:lstStyle/>
          <a:p>
            <a:pPr algn="ctr"/>
            <a:r>
              <a:rPr lang="en-US" sz="2400" dirty="0">
                <a:latin typeface="Franklin Gothic Book" panose="020B0503020102020204" pitchFamily="34" charset="0"/>
              </a:rPr>
              <a:t>Timeline</a:t>
            </a:r>
          </a:p>
        </p:txBody>
      </p:sp>
      <p:sp>
        <p:nvSpPr>
          <p:cNvPr id="27" name="TextBox 26">
            <a:extLst>
              <a:ext uri="{FF2B5EF4-FFF2-40B4-BE49-F238E27FC236}">
                <a16:creationId xmlns:a16="http://schemas.microsoft.com/office/drawing/2014/main" id="{C330A419-2D9B-37B3-624D-39B2D0483C98}"/>
              </a:ext>
            </a:extLst>
          </p:cNvPr>
          <p:cNvSpPr txBox="1"/>
          <p:nvPr/>
        </p:nvSpPr>
        <p:spPr>
          <a:xfrm>
            <a:off x="9587845" y="2880846"/>
            <a:ext cx="1563890" cy="830997"/>
          </a:xfrm>
          <a:prstGeom prst="rect">
            <a:avLst/>
          </a:prstGeom>
          <a:noFill/>
        </p:spPr>
        <p:txBody>
          <a:bodyPr wrap="none" rtlCol="0">
            <a:spAutoFit/>
          </a:bodyPr>
          <a:lstStyle/>
          <a:p>
            <a:pPr algn="ctr"/>
            <a:r>
              <a:rPr lang="en-US" sz="2400" dirty="0">
                <a:latin typeface="Franklin Gothic Book" panose="020B0503020102020204" pitchFamily="34" charset="0"/>
              </a:rPr>
              <a:t>Kate &amp; Co </a:t>
            </a:r>
          </a:p>
          <a:p>
            <a:pPr algn="ctr"/>
            <a:r>
              <a:rPr lang="en-US" sz="2400" dirty="0">
                <a:latin typeface="Franklin Gothic Book" panose="020B0503020102020204" pitchFamily="34" charset="0"/>
              </a:rPr>
              <a:t>Team</a:t>
            </a:r>
          </a:p>
        </p:txBody>
      </p:sp>
      <p:sp>
        <p:nvSpPr>
          <p:cNvPr id="28" name="Rounded Rectangle 27">
            <a:extLst>
              <a:ext uri="{FF2B5EF4-FFF2-40B4-BE49-F238E27FC236}">
                <a16:creationId xmlns:a16="http://schemas.microsoft.com/office/drawing/2014/main" id="{DF18CB20-46D1-D454-2BBB-66BEF3D417B5}"/>
              </a:ext>
            </a:extLst>
          </p:cNvPr>
          <p:cNvSpPr/>
          <p:nvPr/>
        </p:nvSpPr>
        <p:spPr>
          <a:xfrm>
            <a:off x="8967711" y="2939762"/>
            <a:ext cx="2804160" cy="743944"/>
          </a:xfrm>
          <a:prstGeom prst="roundRect">
            <a:avLst/>
          </a:prstGeom>
          <a:noFill/>
          <a:ln>
            <a:solidFill>
              <a:srgbClr val="B5237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287925" rtlCol="0" anchor="t"/>
          <a:lstStyle/>
          <a:p>
            <a:pPr algn="ctr"/>
            <a:endParaRPr lang="en-US" sz="2800" b="1" u="sng" dirty="0">
              <a:solidFill>
                <a:srgbClr val="FFFFFF"/>
              </a:solidFill>
              <a:effectLst>
                <a:outerShdw blurRad="38100" dist="38100" dir="2700000" algn="tl">
                  <a:srgbClr val="000000">
                    <a:alpha val="43137"/>
                  </a:srgbClr>
                </a:outerShdw>
              </a:effectLst>
              <a:highlight>
                <a:srgbClr val="A0A1A2"/>
              </a:highlight>
              <a:latin typeface="Franklin Gothic Book" panose="020B0503020102020204" pitchFamily="34" charset="0"/>
            </a:endParaRPr>
          </a:p>
        </p:txBody>
      </p:sp>
      <p:pic>
        <p:nvPicPr>
          <p:cNvPr id="29" name="Picture 28">
            <a:extLst>
              <a:ext uri="{FF2B5EF4-FFF2-40B4-BE49-F238E27FC236}">
                <a16:creationId xmlns:a16="http://schemas.microsoft.com/office/drawing/2014/main" id="{AC6CA9D2-1D28-D3C3-4B7B-26DABA39FBB6}"/>
              </a:ext>
            </a:extLst>
          </p:cNvPr>
          <p:cNvPicPr>
            <a:picLocks noChangeAspect="1"/>
          </p:cNvPicPr>
          <p:nvPr/>
        </p:nvPicPr>
        <p:blipFill>
          <a:blip r:embed="rId2"/>
          <a:stretch>
            <a:fillRect/>
          </a:stretch>
        </p:blipFill>
        <p:spPr>
          <a:xfrm>
            <a:off x="8829261" y="4195559"/>
            <a:ext cx="920857" cy="1052409"/>
          </a:xfrm>
          <a:prstGeom prst="rect">
            <a:avLst/>
          </a:prstGeom>
        </p:spPr>
      </p:pic>
      <p:sp>
        <p:nvSpPr>
          <p:cNvPr id="31" name="TextBox 30">
            <a:extLst>
              <a:ext uri="{FF2B5EF4-FFF2-40B4-BE49-F238E27FC236}">
                <a16:creationId xmlns:a16="http://schemas.microsoft.com/office/drawing/2014/main" id="{EBD7C658-2B71-F11F-DD65-0CED4F058067}"/>
              </a:ext>
            </a:extLst>
          </p:cNvPr>
          <p:cNvSpPr txBox="1"/>
          <p:nvPr/>
        </p:nvSpPr>
        <p:spPr>
          <a:xfrm>
            <a:off x="8809248" y="5371740"/>
            <a:ext cx="1082333" cy="461665"/>
          </a:xfrm>
          <a:prstGeom prst="rect">
            <a:avLst/>
          </a:prstGeom>
          <a:noFill/>
        </p:spPr>
        <p:txBody>
          <a:bodyPr wrap="square" rtlCol="0">
            <a:spAutoFit/>
          </a:bodyPr>
          <a:lstStyle/>
          <a:p>
            <a:r>
              <a:rPr lang="en-US" sz="2400" dirty="0">
                <a:latin typeface="Bradley Hand" pitchFamily="2" charset="77"/>
              </a:rPr>
              <a:t>Kate</a:t>
            </a:r>
          </a:p>
        </p:txBody>
      </p:sp>
      <p:sp>
        <p:nvSpPr>
          <p:cNvPr id="3" name="Slide Number Placeholder 3">
            <a:extLst>
              <a:ext uri="{FF2B5EF4-FFF2-40B4-BE49-F238E27FC236}">
                <a16:creationId xmlns:a16="http://schemas.microsoft.com/office/drawing/2014/main" id="{B1331205-060C-4CEE-3F35-D280DB78D8EE}"/>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8</a:t>
            </a:fld>
            <a:endParaRPr lang="en-US" sz="1000" dirty="0"/>
          </a:p>
        </p:txBody>
      </p:sp>
      <p:sp>
        <p:nvSpPr>
          <p:cNvPr id="4" name="Title 1">
            <a:extLst>
              <a:ext uri="{FF2B5EF4-FFF2-40B4-BE49-F238E27FC236}">
                <a16:creationId xmlns:a16="http://schemas.microsoft.com/office/drawing/2014/main" id="{8120F1BC-068E-5EB6-0B04-5A22CB7B4B17}"/>
              </a:ext>
            </a:extLst>
          </p:cNvPr>
          <p:cNvSpPr txBox="1">
            <a:spLocks/>
          </p:cNvSpPr>
          <p:nvPr/>
        </p:nvSpPr>
        <p:spPr>
          <a:xfrm>
            <a:off x="0" y="230457"/>
            <a:ext cx="12192000" cy="43088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tx1">
                    <a:lumMod val="65000"/>
                    <a:lumOff val="35000"/>
                  </a:schemeClr>
                </a:solidFill>
                <a:latin typeface="Franklin Gothic Book" panose="020B0503020102020204" pitchFamily="34" charset="0"/>
              </a:rPr>
              <a:t>3 – Enhance, Install &amp; Elevate</a:t>
            </a:r>
            <a:r>
              <a:rPr lang="en-US" sz="3200" dirty="0">
                <a:solidFill>
                  <a:srgbClr val="B52372"/>
                </a:solidFill>
                <a:latin typeface="Franklin Gothic Book" panose="020B0503020102020204" pitchFamily="34" charset="0"/>
              </a:rPr>
              <a:t>| Operational Plan</a:t>
            </a:r>
          </a:p>
        </p:txBody>
      </p:sp>
      <p:sp>
        <p:nvSpPr>
          <p:cNvPr id="8" name="TextBox 7">
            <a:extLst>
              <a:ext uri="{FF2B5EF4-FFF2-40B4-BE49-F238E27FC236}">
                <a16:creationId xmlns:a16="http://schemas.microsoft.com/office/drawing/2014/main" id="{AA6F1FB0-8A8B-3DB1-4DBD-342B2B826A1F}"/>
              </a:ext>
            </a:extLst>
          </p:cNvPr>
          <p:cNvSpPr txBox="1"/>
          <p:nvPr/>
        </p:nvSpPr>
        <p:spPr>
          <a:xfrm>
            <a:off x="9583653" y="6206245"/>
            <a:ext cx="1348995" cy="461665"/>
          </a:xfrm>
          <a:prstGeom prst="rect">
            <a:avLst/>
          </a:prstGeom>
          <a:noFill/>
        </p:spPr>
        <p:txBody>
          <a:bodyPr wrap="square" rtlCol="0">
            <a:spAutoFit/>
          </a:bodyPr>
          <a:lstStyle/>
          <a:p>
            <a:pPr algn="ctr"/>
            <a:r>
              <a:rPr lang="en-US" sz="2400" dirty="0">
                <a:latin typeface="Ink Free" panose="03080402000500000000" pitchFamily="66" charset="0"/>
              </a:rPr>
              <a:t>Tristan</a:t>
            </a:r>
          </a:p>
        </p:txBody>
      </p:sp>
      <p:sp>
        <p:nvSpPr>
          <p:cNvPr id="5" name="TextBox 4">
            <a:extLst>
              <a:ext uri="{FF2B5EF4-FFF2-40B4-BE49-F238E27FC236}">
                <a16:creationId xmlns:a16="http://schemas.microsoft.com/office/drawing/2014/main" id="{73ADB98F-2048-E223-DF3D-0244C5C09EAC}"/>
              </a:ext>
            </a:extLst>
          </p:cNvPr>
          <p:cNvSpPr txBox="1"/>
          <p:nvPr/>
        </p:nvSpPr>
        <p:spPr>
          <a:xfrm>
            <a:off x="10010557" y="1606072"/>
            <a:ext cx="718466" cy="461665"/>
          </a:xfrm>
          <a:prstGeom prst="rect">
            <a:avLst/>
          </a:prstGeom>
          <a:noFill/>
        </p:spPr>
        <p:txBody>
          <a:bodyPr wrap="none" rtlCol="0">
            <a:spAutoFit/>
          </a:bodyPr>
          <a:lstStyle/>
          <a:p>
            <a:r>
              <a:rPr lang="en-US" sz="2400" dirty="0">
                <a:latin typeface="Franklin Gothic Book" panose="020B0503020102020204" pitchFamily="34" charset="0"/>
              </a:rPr>
              <a:t>TBD</a:t>
            </a:r>
          </a:p>
        </p:txBody>
      </p:sp>
      <p:pic>
        <p:nvPicPr>
          <p:cNvPr id="13" name="Picture 12">
            <a:extLst>
              <a:ext uri="{FF2B5EF4-FFF2-40B4-BE49-F238E27FC236}">
                <a16:creationId xmlns:a16="http://schemas.microsoft.com/office/drawing/2014/main" id="{77FC65E3-4636-F5BF-F0B2-F322B789BFFE}"/>
              </a:ext>
            </a:extLst>
          </p:cNvPr>
          <p:cNvPicPr>
            <a:picLocks noChangeAspect="1"/>
          </p:cNvPicPr>
          <p:nvPr/>
        </p:nvPicPr>
        <p:blipFill>
          <a:blip r:embed="rId3"/>
          <a:stretch>
            <a:fillRect/>
          </a:stretch>
        </p:blipFill>
        <p:spPr>
          <a:xfrm>
            <a:off x="9975994" y="4750054"/>
            <a:ext cx="576514" cy="1537371"/>
          </a:xfrm>
          <a:prstGeom prst="rect">
            <a:avLst/>
          </a:prstGeom>
        </p:spPr>
      </p:pic>
      <p:sp>
        <p:nvSpPr>
          <p:cNvPr id="7" name="Freeform 8">
            <a:extLst>
              <a:ext uri="{FF2B5EF4-FFF2-40B4-BE49-F238E27FC236}">
                <a16:creationId xmlns:a16="http://schemas.microsoft.com/office/drawing/2014/main" id="{0132837A-3804-6B96-897B-BED08630BB14}"/>
              </a:ext>
            </a:extLst>
          </p:cNvPr>
          <p:cNvSpPr>
            <a:spLocks noChangeArrowheads="1"/>
          </p:cNvSpPr>
          <p:nvPr/>
        </p:nvSpPr>
        <p:spPr bwMode="auto">
          <a:xfrm>
            <a:off x="414195" y="274855"/>
            <a:ext cx="1179576" cy="1179576"/>
          </a:xfrm>
          <a:custGeom>
            <a:avLst/>
            <a:gdLst>
              <a:gd name="T0" fmla="*/ 1376 w 2752"/>
              <a:gd name="T1" fmla="*/ 0 h 2752"/>
              <a:gd name="T2" fmla="*/ 1376 w 2752"/>
              <a:gd name="T3" fmla="*/ 0 h 2752"/>
              <a:gd name="T4" fmla="*/ 2751 w 2752"/>
              <a:gd name="T5" fmla="*/ 1376 h 2752"/>
              <a:gd name="T6" fmla="*/ 2751 w 2752"/>
              <a:gd name="T7" fmla="*/ 1376 h 2752"/>
              <a:gd name="T8" fmla="*/ 1376 w 2752"/>
              <a:gd name="T9" fmla="*/ 2751 h 2752"/>
              <a:gd name="T10" fmla="*/ 1376 w 2752"/>
              <a:gd name="T11" fmla="*/ 2751 h 2752"/>
              <a:gd name="T12" fmla="*/ 0 w 2752"/>
              <a:gd name="T13" fmla="*/ 1376 h 2752"/>
              <a:gd name="T14" fmla="*/ 0 w 2752"/>
              <a:gd name="T15" fmla="*/ 1376 h 2752"/>
              <a:gd name="T16" fmla="*/ 1376 w 2752"/>
              <a:gd name="T17" fmla="*/ 0 h 27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2" h="2752">
                <a:moveTo>
                  <a:pt x="1376" y="0"/>
                </a:moveTo>
                <a:lnTo>
                  <a:pt x="1376" y="0"/>
                </a:lnTo>
                <a:cubicBezTo>
                  <a:pt x="2135" y="0"/>
                  <a:pt x="2751" y="616"/>
                  <a:pt x="2751" y="1376"/>
                </a:cubicBezTo>
                <a:lnTo>
                  <a:pt x="2751" y="1376"/>
                </a:lnTo>
                <a:cubicBezTo>
                  <a:pt x="2751" y="2135"/>
                  <a:pt x="2135" y="2751"/>
                  <a:pt x="1376" y="2751"/>
                </a:cubicBezTo>
                <a:lnTo>
                  <a:pt x="1376" y="2751"/>
                </a:lnTo>
                <a:cubicBezTo>
                  <a:pt x="616" y="2751"/>
                  <a:pt x="0" y="2135"/>
                  <a:pt x="0" y="1376"/>
                </a:cubicBezTo>
                <a:lnTo>
                  <a:pt x="0" y="1376"/>
                </a:lnTo>
                <a:cubicBezTo>
                  <a:pt x="0" y="616"/>
                  <a:pt x="616" y="0"/>
                  <a:pt x="1376" y="0"/>
                </a:cubicBezTo>
              </a:path>
            </a:pathLst>
          </a:custGeom>
          <a:solidFill>
            <a:schemeClr val="bg1"/>
          </a:solidFill>
          <a:ln w="76200">
            <a:solidFill>
              <a:srgbClr val="B52372"/>
            </a:solidFill>
          </a:ln>
          <a:effectLst/>
        </p:spPr>
        <p:txBody>
          <a:bodyPr wrap="none" anchor="ctr"/>
          <a:lstStyle/>
          <a:p>
            <a:endParaRPr lang="en-US" sz="3265" dirty="0"/>
          </a:p>
        </p:txBody>
      </p:sp>
      <p:pic>
        <p:nvPicPr>
          <p:cNvPr id="12" name="Picture 11">
            <a:extLst>
              <a:ext uri="{FF2B5EF4-FFF2-40B4-BE49-F238E27FC236}">
                <a16:creationId xmlns:a16="http://schemas.microsoft.com/office/drawing/2014/main" id="{0C9EEE19-13F6-1EA6-E61F-15A6223B7718}"/>
              </a:ext>
            </a:extLst>
          </p:cNvPr>
          <p:cNvPicPr>
            <a:picLocks noChangeAspect="1"/>
          </p:cNvPicPr>
          <p:nvPr/>
        </p:nvPicPr>
        <p:blipFill>
          <a:blip r:embed="rId4"/>
          <a:stretch>
            <a:fillRect/>
          </a:stretch>
        </p:blipFill>
        <p:spPr>
          <a:xfrm>
            <a:off x="615604" y="482585"/>
            <a:ext cx="651189" cy="755311"/>
          </a:xfrm>
          <a:prstGeom prst="rect">
            <a:avLst/>
          </a:prstGeom>
        </p:spPr>
      </p:pic>
      <p:pic>
        <p:nvPicPr>
          <p:cNvPr id="20" name="Picture 19">
            <a:extLst>
              <a:ext uri="{FF2B5EF4-FFF2-40B4-BE49-F238E27FC236}">
                <a16:creationId xmlns:a16="http://schemas.microsoft.com/office/drawing/2014/main" id="{60062294-C285-4FD9-474B-9B6253D8CA27}"/>
              </a:ext>
            </a:extLst>
          </p:cNvPr>
          <p:cNvPicPr>
            <a:picLocks noChangeAspect="1"/>
          </p:cNvPicPr>
          <p:nvPr/>
        </p:nvPicPr>
        <p:blipFill>
          <a:blip r:embed="rId5"/>
          <a:srcRect t="1" b="35282"/>
          <a:stretch/>
        </p:blipFill>
        <p:spPr>
          <a:xfrm>
            <a:off x="10944849" y="4215429"/>
            <a:ext cx="749205" cy="611347"/>
          </a:xfrm>
          <a:prstGeom prst="rect">
            <a:avLst/>
          </a:prstGeom>
        </p:spPr>
      </p:pic>
      <p:sp>
        <p:nvSpPr>
          <p:cNvPr id="21" name="TextBox 20">
            <a:extLst>
              <a:ext uri="{FF2B5EF4-FFF2-40B4-BE49-F238E27FC236}">
                <a16:creationId xmlns:a16="http://schemas.microsoft.com/office/drawing/2014/main" id="{6A063556-D39B-2E20-8002-02486A788755}"/>
              </a:ext>
            </a:extLst>
          </p:cNvPr>
          <p:cNvSpPr txBox="1"/>
          <p:nvPr/>
        </p:nvSpPr>
        <p:spPr>
          <a:xfrm>
            <a:off x="10898953" y="4963994"/>
            <a:ext cx="928908" cy="738664"/>
          </a:xfrm>
          <a:prstGeom prst="rect">
            <a:avLst/>
          </a:prstGeom>
          <a:noFill/>
        </p:spPr>
        <p:txBody>
          <a:bodyPr wrap="square" rtlCol="0">
            <a:spAutoFit/>
          </a:bodyPr>
          <a:lstStyle/>
          <a:p>
            <a:pPr algn="ctr"/>
            <a:r>
              <a:rPr lang="en-US" sz="1400" dirty="0">
                <a:latin typeface="Cavolini" panose="03000502040302020204" pitchFamily="66" charset="0"/>
                <a:cs typeface="Cavolini" panose="03000502040302020204" pitchFamily="66" charset="0"/>
              </a:rPr>
              <a:t>Flying Horse Team</a:t>
            </a:r>
          </a:p>
        </p:txBody>
      </p:sp>
    </p:spTree>
    <p:extLst>
      <p:ext uri="{BB962C8B-B14F-4D97-AF65-F5344CB8AC3E}">
        <p14:creationId xmlns:p14="http://schemas.microsoft.com/office/powerpoint/2010/main" val="746502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22" presetClass="entr" presetSubtype="4"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down)">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13E5C34-03DC-7577-A9CE-748DFEFBE8A6}"/>
              </a:ext>
            </a:extLst>
          </p:cNvPr>
          <p:cNvSpPr>
            <a:spLocks noGrp="1"/>
          </p:cNvSpPr>
          <p:nvPr>
            <p:ph type="title"/>
          </p:nvPr>
        </p:nvSpPr>
        <p:spPr/>
        <p:txBody>
          <a:bodyPr>
            <a:noAutofit/>
          </a:bodyPr>
          <a:lstStyle/>
          <a:p>
            <a:pPr algn="ctr"/>
            <a:r>
              <a:rPr lang="en-US" sz="3200" dirty="0">
                <a:solidFill>
                  <a:schemeClr val="tx1">
                    <a:lumMod val="75000"/>
                    <a:lumOff val="25000"/>
                  </a:schemeClr>
                </a:solidFill>
              </a:rPr>
              <a:t>Estimate of Effort- Levels of Horsepower</a:t>
            </a:r>
          </a:p>
        </p:txBody>
      </p:sp>
      <p:sp>
        <p:nvSpPr>
          <p:cNvPr id="9" name="Content Placeholder 2">
            <a:extLst>
              <a:ext uri="{FF2B5EF4-FFF2-40B4-BE49-F238E27FC236}">
                <a16:creationId xmlns:a16="http://schemas.microsoft.com/office/drawing/2014/main" id="{7D084112-2D51-2950-94D7-35AADAB9A936}"/>
              </a:ext>
            </a:extLst>
          </p:cNvPr>
          <p:cNvSpPr>
            <a:spLocks noGrp="1"/>
          </p:cNvSpPr>
          <p:nvPr>
            <p:ph sz="half" idx="4294967295"/>
          </p:nvPr>
        </p:nvSpPr>
        <p:spPr>
          <a:xfrm>
            <a:off x="171963" y="674962"/>
            <a:ext cx="5364606" cy="5989515"/>
          </a:xfrm>
          <a:ln>
            <a:solidFill>
              <a:srgbClr val="B52372"/>
            </a:solidFill>
          </a:ln>
        </p:spPr>
        <p:txBody>
          <a:bodyPr>
            <a:normAutofit fontScale="92500" lnSpcReduction="10000"/>
          </a:bodyPr>
          <a:lstStyle/>
          <a:p>
            <a:pPr marL="0" indent="0" algn="ctr">
              <a:buNone/>
            </a:pPr>
            <a:r>
              <a:rPr lang="en-US" sz="1900" u="sng" dirty="0"/>
              <a:t>Pony Power</a:t>
            </a:r>
          </a:p>
          <a:p>
            <a:pPr marL="0" indent="0">
              <a:buNone/>
            </a:pPr>
            <a:r>
              <a:rPr lang="en-US" sz="1600" u="sng" dirty="0"/>
              <a:t>Foundation: </a:t>
            </a:r>
          </a:p>
          <a:p>
            <a:pPr marL="403225" indent="0">
              <a:buNone/>
            </a:pPr>
            <a:r>
              <a:rPr lang="en-US" sz="1400" u="sng" dirty="0">
                <a:solidFill>
                  <a:srgbClr val="B52372"/>
                </a:solidFill>
              </a:rPr>
              <a:t>Science &amp; Strategy</a:t>
            </a:r>
          </a:p>
          <a:p>
            <a:pPr marL="0" indent="687388">
              <a:buNone/>
            </a:pPr>
            <a:r>
              <a:rPr lang="en-US" sz="1400" dirty="0"/>
              <a:t>Revenue Plan Revisit</a:t>
            </a:r>
          </a:p>
          <a:p>
            <a:pPr marL="457200" lvl="1" indent="342900">
              <a:buNone/>
            </a:pPr>
            <a:r>
              <a:rPr lang="en-US" sz="1100" dirty="0"/>
              <a:t>Segment Strategy and Tactics Revisit</a:t>
            </a:r>
            <a:endParaRPr lang="en-US" sz="1400" u="sng" dirty="0"/>
          </a:p>
          <a:p>
            <a:pPr marL="0" indent="403225">
              <a:buNone/>
            </a:pPr>
            <a:r>
              <a:rPr lang="en-US" sz="1400" u="sng" dirty="0">
                <a:solidFill>
                  <a:srgbClr val="B52372"/>
                </a:solidFill>
              </a:rPr>
              <a:t>Process &amp; Customer Engagement</a:t>
            </a:r>
          </a:p>
          <a:p>
            <a:pPr marL="457200" lvl="1" indent="288925">
              <a:buNone/>
            </a:pPr>
            <a:r>
              <a:rPr lang="en-US" sz="1400" dirty="0">
                <a:solidFill>
                  <a:schemeClr val="tx1">
                    <a:lumMod val="75000"/>
                    <a:lumOff val="25000"/>
                  </a:schemeClr>
                </a:solidFill>
              </a:rPr>
              <a:t>Sales Efficacy (lite) </a:t>
            </a:r>
          </a:p>
          <a:p>
            <a:pPr marL="457200" lvl="1" indent="0">
              <a:buNone/>
            </a:pPr>
            <a:r>
              <a:rPr lang="en-US" sz="1400" dirty="0">
                <a:solidFill>
                  <a:schemeClr val="tx1">
                    <a:lumMod val="75000"/>
                    <a:lumOff val="25000"/>
                  </a:schemeClr>
                </a:solidFill>
              </a:rPr>
              <a:t>	</a:t>
            </a:r>
            <a:r>
              <a:rPr lang="en-US" sz="1200" dirty="0">
                <a:solidFill>
                  <a:schemeClr val="tx1">
                    <a:lumMod val="75000"/>
                    <a:lumOff val="25000"/>
                  </a:schemeClr>
                </a:solidFill>
              </a:rPr>
              <a:t>Sales Training (Skill) </a:t>
            </a:r>
          </a:p>
          <a:p>
            <a:pPr marL="457200" lvl="1" indent="0">
              <a:buNone/>
            </a:pPr>
            <a:r>
              <a:rPr lang="en-US" sz="1200" dirty="0">
                <a:solidFill>
                  <a:schemeClr val="tx1">
                    <a:lumMod val="75000"/>
                    <a:lumOff val="25000"/>
                  </a:schemeClr>
                </a:solidFill>
              </a:rPr>
              <a:t>	Account Development (Strategy)</a:t>
            </a:r>
          </a:p>
          <a:p>
            <a:pPr marL="457200" lvl="1" indent="288925">
              <a:buNone/>
            </a:pPr>
            <a:r>
              <a:rPr lang="en-US" sz="1400" dirty="0">
                <a:solidFill>
                  <a:schemeClr val="tx1">
                    <a:lumMod val="75000"/>
                    <a:lumOff val="25000"/>
                  </a:schemeClr>
                </a:solidFill>
              </a:rPr>
              <a:t>Marketing Efficacy</a:t>
            </a:r>
          </a:p>
          <a:p>
            <a:pPr marL="457200" lvl="1" indent="288925">
              <a:buNone/>
            </a:pPr>
            <a:r>
              <a:rPr lang="en-US" sz="1400" dirty="0">
                <a:solidFill>
                  <a:schemeClr val="tx1">
                    <a:lumMod val="75000"/>
                    <a:lumOff val="25000"/>
                  </a:schemeClr>
                </a:solidFill>
              </a:rPr>
              <a:t>	Marketing Account-Based Marketing</a:t>
            </a:r>
          </a:p>
          <a:p>
            <a:pPr marL="0" indent="403225">
              <a:buNone/>
            </a:pPr>
            <a:r>
              <a:rPr lang="en-US" sz="1400" u="sng" dirty="0">
                <a:solidFill>
                  <a:srgbClr val="B52372"/>
                </a:solidFill>
              </a:rPr>
              <a:t>Art &amp; Talent Optimization</a:t>
            </a:r>
          </a:p>
          <a:p>
            <a:pPr marL="457200" lvl="1" indent="288925">
              <a:buNone/>
            </a:pPr>
            <a:r>
              <a:rPr lang="en-US" sz="1400" dirty="0">
                <a:solidFill>
                  <a:schemeClr val="tx1">
                    <a:lumMod val="75000"/>
                    <a:lumOff val="25000"/>
                  </a:schemeClr>
                </a:solidFill>
              </a:rPr>
              <a:t>Ignite Talent</a:t>
            </a:r>
          </a:p>
          <a:p>
            <a:pPr marL="0" indent="288925">
              <a:buNone/>
            </a:pPr>
            <a:r>
              <a:rPr lang="en-US" sz="1600" u="sng" dirty="0">
                <a:solidFill>
                  <a:srgbClr val="B51072"/>
                </a:solidFill>
              </a:rPr>
              <a:t>Performance Metrics</a:t>
            </a:r>
          </a:p>
          <a:p>
            <a:pPr marL="0" indent="747713">
              <a:buNone/>
            </a:pPr>
            <a:r>
              <a:rPr lang="en-US" sz="1400" dirty="0">
                <a:solidFill>
                  <a:schemeClr val="tx1">
                    <a:lumMod val="75000"/>
                    <a:lumOff val="25000"/>
                  </a:schemeClr>
                </a:solidFill>
              </a:rPr>
              <a:t>KPI Revisit</a:t>
            </a:r>
          </a:p>
          <a:p>
            <a:pPr marL="6350" lvl="1" indent="0">
              <a:buNone/>
            </a:pPr>
            <a:r>
              <a:rPr lang="en-US" sz="1400" u="sng" dirty="0"/>
              <a:t>Framework: </a:t>
            </a:r>
          </a:p>
          <a:p>
            <a:pPr marL="6350" lvl="1" indent="396875">
              <a:buNone/>
            </a:pPr>
            <a:r>
              <a:rPr lang="en-US" sz="1400" dirty="0"/>
              <a:t>Revised Tools to support approach within sales and marketing</a:t>
            </a:r>
          </a:p>
          <a:p>
            <a:pPr marL="6350" lvl="1" indent="0">
              <a:buNone/>
            </a:pPr>
            <a:r>
              <a:rPr lang="en-US" sz="1400" u="sng" dirty="0"/>
              <a:t>Focus: </a:t>
            </a:r>
          </a:p>
          <a:p>
            <a:pPr marL="6350" lvl="1" indent="396875">
              <a:buNone/>
            </a:pPr>
            <a:r>
              <a:rPr lang="en-US" sz="1400" dirty="0"/>
              <a:t>One on One Calls with team</a:t>
            </a:r>
          </a:p>
          <a:p>
            <a:pPr marL="6350" lvl="1" indent="396875">
              <a:buNone/>
            </a:pPr>
            <a:r>
              <a:rPr lang="en-US" sz="1400" dirty="0"/>
              <a:t>One on One Calls with leader (Leader Coach) </a:t>
            </a:r>
          </a:p>
          <a:p>
            <a:pPr marL="6350" lvl="1" indent="396875">
              <a:buNone/>
            </a:pPr>
            <a:r>
              <a:rPr lang="en-US" sz="1400" dirty="0"/>
              <a:t>Quarterly Review</a:t>
            </a:r>
          </a:p>
          <a:p>
            <a:pPr marL="457200" lvl="1" indent="-53975">
              <a:buNone/>
            </a:pPr>
            <a:endParaRPr lang="en-US" sz="1400" dirty="0"/>
          </a:p>
          <a:p>
            <a:pPr marL="457200" lvl="1" indent="-53975">
              <a:buNone/>
            </a:pPr>
            <a:endParaRPr lang="en-US" sz="1400" dirty="0"/>
          </a:p>
          <a:p>
            <a:pPr marL="457200" lvl="1" indent="-53975">
              <a:buNone/>
            </a:pPr>
            <a:r>
              <a:rPr lang="en-US" sz="1400" dirty="0"/>
              <a:t>On going fractional commercial leader 		</a:t>
            </a:r>
            <a:r>
              <a:rPr lang="en-US" sz="1200" dirty="0"/>
              <a:t>TBD</a:t>
            </a:r>
          </a:p>
          <a:p>
            <a:pPr marL="6350" lvl="1" indent="396875">
              <a:buNone/>
            </a:pPr>
            <a:endParaRPr lang="en-US" sz="1400" dirty="0"/>
          </a:p>
          <a:p>
            <a:pPr marL="6350" lvl="1" indent="396875">
              <a:buNone/>
            </a:pPr>
            <a:endParaRPr lang="en-US" sz="1400" dirty="0"/>
          </a:p>
          <a:p>
            <a:pPr marL="6350" lvl="1" indent="396875">
              <a:buNone/>
            </a:pPr>
            <a:endParaRPr lang="en-US" sz="1400" dirty="0"/>
          </a:p>
          <a:p>
            <a:pPr marL="6350" lvl="1" indent="396875">
              <a:buNone/>
            </a:pPr>
            <a:endParaRPr lang="en-US" sz="1400" dirty="0"/>
          </a:p>
          <a:p>
            <a:pPr marL="6350" lvl="1" indent="0">
              <a:buNone/>
            </a:pPr>
            <a:endParaRPr lang="en-US" sz="1400" dirty="0">
              <a:solidFill>
                <a:schemeClr val="tx1">
                  <a:lumMod val="75000"/>
                  <a:lumOff val="25000"/>
                </a:schemeClr>
              </a:solidFill>
            </a:endParaRPr>
          </a:p>
          <a:p>
            <a:pPr marL="0" indent="0">
              <a:buNone/>
            </a:pPr>
            <a:endParaRPr lang="en-US" sz="1400" u="sng" dirty="0"/>
          </a:p>
          <a:p>
            <a:pPr marL="0" indent="0">
              <a:buNone/>
            </a:pPr>
            <a:endParaRPr lang="en-US" sz="1400" u="sng" dirty="0"/>
          </a:p>
          <a:p>
            <a:pPr marL="0" indent="0">
              <a:buNone/>
            </a:pPr>
            <a:endParaRPr lang="en-US" sz="1400" u="sng" dirty="0"/>
          </a:p>
        </p:txBody>
      </p:sp>
      <p:sp>
        <p:nvSpPr>
          <p:cNvPr id="11" name="Content Placeholder 3">
            <a:extLst>
              <a:ext uri="{FF2B5EF4-FFF2-40B4-BE49-F238E27FC236}">
                <a16:creationId xmlns:a16="http://schemas.microsoft.com/office/drawing/2014/main" id="{6A4DE391-3EB9-141B-0E95-7E9365D05D8F}"/>
              </a:ext>
            </a:extLst>
          </p:cNvPr>
          <p:cNvSpPr>
            <a:spLocks noGrp="1"/>
          </p:cNvSpPr>
          <p:nvPr>
            <p:ph sz="half" idx="4294967295"/>
          </p:nvPr>
        </p:nvSpPr>
        <p:spPr>
          <a:xfrm>
            <a:off x="6630496" y="738186"/>
            <a:ext cx="5367527" cy="5863065"/>
          </a:xfrm>
          <a:ln>
            <a:solidFill>
              <a:srgbClr val="B52372"/>
            </a:solidFill>
          </a:ln>
        </p:spPr>
        <p:txBody>
          <a:bodyPr>
            <a:normAutofit fontScale="40000" lnSpcReduction="20000"/>
          </a:bodyPr>
          <a:lstStyle/>
          <a:p>
            <a:pPr marL="0" indent="0" algn="ctr">
              <a:buNone/>
            </a:pPr>
            <a:r>
              <a:rPr lang="en-US" sz="3800" u="sng" dirty="0"/>
              <a:t>Workhorse</a:t>
            </a:r>
            <a:r>
              <a:rPr lang="en-US" sz="3800" dirty="0"/>
              <a:t> </a:t>
            </a:r>
          </a:p>
          <a:p>
            <a:pPr marL="0" indent="0">
              <a:buNone/>
            </a:pPr>
            <a:r>
              <a:rPr lang="en-US" u="sng" dirty="0"/>
              <a:t>Foundation: </a:t>
            </a:r>
          </a:p>
          <a:p>
            <a:pPr marL="403225" indent="0">
              <a:buNone/>
            </a:pPr>
            <a:r>
              <a:rPr lang="en-US" u="sng" dirty="0">
                <a:solidFill>
                  <a:srgbClr val="B52372"/>
                </a:solidFill>
              </a:rPr>
              <a:t>Science &amp; Strategy</a:t>
            </a:r>
          </a:p>
          <a:p>
            <a:pPr marL="0" indent="687388">
              <a:buNone/>
            </a:pPr>
            <a:r>
              <a:rPr lang="en-US" dirty="0"/>
              <a:t>Revenue Plan Development and Design</a:t>
            </a:r>
          </a:p>
          <a:p>
            <a:pPr marL="457200" lvl="1" indent="342900">
              <a:buNone/>
            </a:pPr>
            <a:r>
              <a:rPr lang="en-US" sz="2300" dirty="0"/>
              <a:t>Segment Strategy and Tactics Build</a:t>
            </a:r>
            <a:endParaRPr lang="en-US" sz="2800" u="sng" dirty="0"/>
          </a:p>
          <a:p>
            <a:pPr marL="0" indent="403225">
              <a:buNone/>
            </a:pPr>
            <a:r>
              <a:rPr lang="en-US" u="sng" dirty="0">
                <a:solidFill>
                  <a:srgbClr val="B52372"/>
                </a:solidFill>
              </a:rPr>
              <a:t>Process &amp; Customer Engagement</a:t>
            </a:r>
          </a:p>
          <a:p>
            <a:pPr marL="457200" lvl="1" indent="288925">
              <a:buNone/>
            </a:pPr>
            <a:r>
              <a:rPr lang="en-US" sz="2800" dirty="0">
                <a:solidFill>
                  <a:schemeClr val="tx1">
                    <a:lumMod val="75000"/>
                    <a:lumOff val="25000"/>
                  </a:schemeClr>
                </a:solidFill>
              </a:rPr>
              <a:t>Sales Efficacy </a:t>
            </a:r>
          </a:p>
          <a:p>
            <a:pPr marL="457200" lvl="1" indent="288925">
              <a:buNone/>
            </a:pPr>
            <a:r>
              <a:rPr lang="en-US" sz="2800" dirty="0">
                <a:solidFill>
                  <a:schemeClr val="tx1">
                    <a:lumMod val="75000"/>
                    <a:lumOff val="25000"/>
                  </a:schemeClr>
                </a:solidFill>
              </a:rPr>
              <a:t>	</a:t>
            </a:r>
            <a:r>
              <a:rPr lang="en-US" sz="2300" dirty="0">
                <a:solidFill>
                  <a:schemeClr val="tx1">
                    <a:lumMod val="75000"/>
                    <a:lumOff val="25000"/>
                  </a:schemeClr>
                </a:solidFill>
              </a:rPr>
              <a:t>Sales Training (Skill) </a:t>
            </a:r>
          </a:p>
          <a:p>
            <a:pPr marL="457200" lvl="1" indent="0">
              <a:buNone/>
            </a:pPr>
            <a:r>
              <a:rPr lang="en-US" sz="2300" dirty="0">
                <a:solidFill>
                  <a:schemeClr val="tx1">
                    <a:lumMod val="75000"/>
                    <a:lumOff val="25000"/>
                  </a:schemeClr>
                </a:solidFill>
              </a:rPr>
              <a:t>	Account Development (Strategy)</a:t>
            </a:r>
          </a:p>
          <a:p>
            <a:pPr marL="457200" lvl="1" indent="288925">
              <a:buNone/>
            </a:pPr>
            <a:r>
              <a:rPr lang="en-US" sz="2800" dirty="0">
                <a:solidFill>
                  <a:schemeClr val="tx1">
                    <a:lumMod val="75000"/>
                    <a:lumOff val="25000"/>
                  </a:schemeClr>
                </a:solidFill>
              </a:rPr>
              <a:t>Marketing Efficacy</a:t>
            </a:r>
          </a:p>
          <a:p>
            <a:pPr marL="457200" lvl="1" indent="288925">
              <a:buNone/>
            </a:pPr>
            <a:r>
              <a:rPr lang="en-US" sz="2800" dirty="0">
                <a:solidFill>
                  <a:schemeClr val="tx1">
                    <a:lumMod val="75000"/>
                    <a:lumOff val="25000"/>
                  </a:schemeClr>
                </a:solidFill>
              </a:rPr>
              <a:t>	</a:t>
            </a:r>
            <a:r>
              <a:rPr lang="en-US" sz="2500" dirty="0">
                <a:solidFill>
                  <a:schemeClr val="tx1">
                    <a:lumMod val="75000"/>
                    <a:lumOff val="25000"/>
                  </a:schemeClr>
                </a:solidFill>
              </a:rPr>
              <a:t>Marketing Account-Based Marketing</a:t>
            </a:r>
          </a:p>
          <a:p>
            <a:pPr marL="457200" lvl="1" indent="288925">
              <a:buNone/>
            </a:pPr>
            <a:r>
              <a:rPr lang="en-US" sz="2800" dirty="0">
                <a:solidFill>
                  <a:schemeClr val="tx1">
                    <a:lumMod val="75000"/>
                    <a:lumOff val="25000"/>
                  </a:schemeClr>
                </a:solidFill>
              </a:rPr>
              <a:t>	</a:t>
            </a:r>
            <a:r>
              <a:rPr lang="en-US" sz="2500" dirty="0">
                <a:solidFill>
                  <a:schemeClr val="tx1">
                    <a:lumMod val="75000"/>
                    <a:lumOff val="25000"/>
                  </a:schemeClr>
                </a:solidFill>
              </a:rPr>
              <a:t>Marketing Programming</a:t>
            </a:r>
          </a:p>
          <a:p>
            <a:pPr marL="0" indent="403225">
              <a:buNone/>
            </a:pPr>
            <a:r>
              <a:rPr lang="en-US" u="sng" dirty="0">
                <a:solidFill>
                  <a:srgbClr val="B52372"/>
                </a:solidFill>
              </a:rPr>
              <a:t>Art &amp; Talent Optimization</a:t>
            </a:r>
          </a:p>
          <a:p>
            <a:pPr marL="457200" lvl="1" indent="288925">
              <a:buNone/>
            </a:pPr>
            <a:r>
              <a:rPr lang="en-US" sz="2800" dirty="0">
                <a:solidFill>
                  <a:schemeClr val="tx1">
                    <a:lumMod val="75000"/>
                    <a:lumOff val="25000"/>
                  </a:schemeClr>
                </a:solidFill>
              </a:rPr>
              <a:t>Ignite Talent</a:t>
            </a:r>
          </a:p>
          <a:p>
            <a:pPr marL="457200" lvl="1" indent="288925">
              <a:buNone/>
            </a:pPr>
            <a:r>
              <a:rPr lang="en-US" sz="2800" dirty="0">
                <a:solidFill>
                  <a:schemeClr val="tx1">
                    <a:lumMod val="75000"/>
                    <a:lumOff val="25000"/>
                  </a:schemeClr>
                </a:solidFill>
              </a:rPr>
              <a:t>Leadership Change</a:t>
            </a:r>
          </a:p>
          <a:p>
            <a:pPr marL="0" indent="288925">
              <a:buNone/>
            </a:pPr>
            <a:r>
              <a:rPr lang="en-US" u="sng" dirty="0">
                <a:solidFill>
                  <a:srgbClr val="B51072"/>
                </a:solidFill>
              </a:rPr>
              <a:t>Performance Metrics</a:t>
            </a:r>
          </a:p>
          <a:p>
            <a:pPr marL="0" indent="747713">
              <a:buNone/>
            </a:pPr>
            <a:r>
              <a:rPr lang="en-US" sz="2300" dirty="0">
                <a:solidFill>
                  <a:schemeClr val="tx1">
                    <a:lumMod val="75000"/>
                    <a:lumOff val="25000"/>
                  </a:schemeClr>
                </a:solidFill>
              </a:rPr>
              <a:t>KPI Revisit</a:t>
            </a:r>
            <a:endParaRPr lang="en-US" dirty="0">
              <a:solidFill>
                <a:schemeClr val="tx1">
                  <a:lumMod val="75000"/>
                  <a:lumOff val="25000"/>
                </a:schemeClr>
              </a:solidFill>
            </a:endParaRPr>
          </a:p>
          <a:p>
            <a:pPr marL="457200" lvl="1" indent="288925">
              <a:buNone/>
            </a:pPr>
            <a:r>
              <a:rPr lang="en-US" sz="2800" dirty="0">
                <a:solidFill>
                  <a:schemeClr val="tx1">
                    <a:lumMod val="75000"/>
                    <a:lumOff val="25000"/>
                  </a:schemeClr>
                </a:solidFill>
              </a:rPr>
              <a:t>	</a:t>
            </a:r>
          </a:p>
          <a:p>
            <a:pPr marL="6350" lvl="1" indent="0">
              <a:buNone/>
            </a:pPr>
            <a:r>
              <a:rPr lang="en-US" sz="2800" u="sng" dirty="0"/>
              <a:t>Framework: </a:t>
            </a:r>
          </a:p>
          <a:p>
            <a:pPr marL="6350" lvl="1" indent="396875">
              <a:buNone/>
            </a:pPr>
            <a:r>
              <a:rPr lang="en-US" sz="2800" dirty="0"/>
              <a:t>Building and implementation of tools to support approach within sales and 	marketing and tech enablement</a:t>
            </a:r>
          </a:p>
          <a:p>
            <a:pPr marL="6350" lvl="1" indent="396875">
              <a:buNone/>
            </a:pPr>
            <a:endParaRPr lang="en-US" sz="2500" dirty="0"/>
          </a:p>
          <a:p>
            <a:pPr marL="6350" lvl="1" indent="0">
              <a:buNone/>
            </a:pPr>
            <a:r>
              <a:rPr lang="en-US" sz="2500" u="sng" dirty="0"/>
              <a:t>Focus: </a:t>
            </a:r>
          </a:p>
          <a:p>
            <a:pPr marL="6350" lvl="1" indent="396875">
              <a:buNone/>
            </a:pPr>
            <a:r>
              <a:rPr lang="en-US" sz="2500" dirty="0"/>
              <a:t>One on One Calls with team</a:t>
            </a:r>
          </a:p>
          <a:p>
            <a:pPr marL="6350" lvl="1" indent="396875">
              <a:buNone/>
            </a:pPr>
            <a:r>
              <a:rPr lang="en-US" sz="2500" dirty="0"/>
              <a:t>One on One Calls with leader (Leader Coach)</a:t>
            </a:r>
          </a:p>
          <a:p>
            <a:pPr marL="6350" lvl="1" indent="396875">
              <a:buNone/>
            </a:pPr>
            <a:r>
              <a:rPr lang="en-US" sz="2500" dirty="0"/>
              <a:t>Quarterly Review </a:t>
            </a:r>
          </a:p>
          <a:p>
            <a:pPr marL="6350" lvl="1" indent="396875">
              <a:buNone/>
            </a:pPr>
            <a:endParaRPr lang="en-US" sz="1400" dirty="0"/>
          </a:p>
          <a:p>
            <a:pPr marL="6350" lvl="1" indent="396875">
              <a:buNone/>
            </a:pPr>
            <a:endParaRPr lang="en-US" sz="1400" dirty="0"/>
          </a:p>
          <a:p>
            <a:pPr marL="6350" lvl="1" indent="396875">
              <a:buNone/>
            </a:pPr>
            <a:endParaRPr lang="en-US" sz="1400" dirty="0"/>
          </a:p>
          <a:p>
            <a:pPr marL="6350" lvl="1" indent="396875">
              <a:buNone/>
            </a:pPr>
            <a:endParaRPr lang="en-US" sz="1400" dirty="0"/>
          </a:p>
          <a:p>
            <a:pPr marL="6350" lvl="1" indent="396875">
              <a:buNone/>
            </a:pPr>
            <a:r>
              <a:rPr lang="en-US" sz="2800" dirty="0"/>
              <a:t>On going fractional commercial leader 			</a:t>
            </a:r>
            <a:r>
              <a:rPr lang="en-US" sz="2500" dirty="0"/>
              <a:t>TBD</a:t>
            </a:r>
          </a:p>
          <a:p>
            <a:pPr marL="6350" lvl="1" indent="396875">
              <a:buNone/>
            </a:pPr>
            <a:endParaRPr lang="en-US" sz="1400" dirty="0"/>
          </a:p>
          <a:p>
            <a:pPr marL="6350" lvl="1" indent="396875">
              <a:buNone/>
            </a:pPr>
            <a:endParaRPr lang="en-US" sz="1400" dirty="0"/>
          </a:p>
          <a:p>
            <a:pPr marL="0" indent="0">
              <a:buNone/>
            </a:pPr>
            <a:endParaRPr lang="en-US" sz="1400" dirty="0"/>
          </a:p>
        </p:txBody>
      </p:sp>
      <p:sp>
        <p:nvSpPr>
          <p:cNvPr id="4" name="TextBox 3">
            <a:extLst>
              <a:ext uri="{FF2B5EF4-FFF2-40B4-BE49-F238E27FC236}">
                <a16:creationId xmlns:a16="http://schemas.microsoft.com/office/drawing/2014/main" id="{3912A8E1-296B-1027-4F93-625138279C89}"/>
              </a:ext>
            </a:extLst>
          </p:cNvPr>
          <p:cNvSpPr txBox="1"/>
          <p:nvPr/>
        </p:nvSpPr>
        <p:spPr>
          <a:xfrm>
            <a:off x="4180620" y="5875260"/>
            <a:ext cx="1600200" cy="307777"/>
          </a:xfrm>
          <a:prstGeom prst="rect">
            <a:avLst/>
          </a:prstGeom>
          <a:noFill/>
        </p:spPr>
        <p:txBody>
          <a:bodyPr wrap="square" rtlCol="0">
            <a:spAutoFit/>
          </a:bodyPr>
          <a:lstStyle/>
          <a:p>
            <a:pPr algn="ctr"/>
            <a:r>
              <a:rPr lang="en-US" sz="1400" i="1" dirty="0">
                <a:solidFill>
                  <a:srgbClr val="B51072"/>
                </a:solidFill>
                <a:latin typeface="Franklin Gothic Book" panose="020B0503020102020204" pitchFamily="34" charset="0"/>
              </a:rPr>
              <a:t>$15,000</a:t>
            </a:r>
          </a:p>
        </p:txBody>
      </p:sp>
      <p:cxnSp>
        <p:nvCxnSpPr>
          <p:cNvPr id="6" name="Straight Connector 5">
            <a:extLst>
              <a:ext uri="{FF2B5EF4-FFF2-40B4-BE49-F238E27FC236}">
                <a16:creationId xmlns:a16="http://schemas.microsoft.com/office/drawing/2014/main" id="{E4E42A7C-7510-75C5-FE3B-B64CB1CE0DAE}"/>
              </a:ext>
            </a:extLst>
          </p:cNvPr>
          <p:cNvCxnSpPr/>
          <p:nvPr/>
        </p:nvCxnSpPr>
        <p:spPr>
          <a:xfrm>
            <a:off x="287446" y="6183037"/>
            <a:ext cx="51336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8D4B97F-1818-9D18-F7E9-8A3B670E602C}"/>
              </a:ext>
            </a:extLst>
          </p:cNvPr>
          <p:cNvCxnSpPr/>
          <p:nvPr/>
        </p:nvCxnSpPr>
        <p:spPr>
          <a:xfrm>
            <a:off x="6772376" y="6150283"/>
            <a:ext cx="513364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790B2B8-0D2F-F6F9-6EF9-9864EFD2C755}"/>
              </a:ext>
            </a:extLst>
          </p:cNvPr>
          <p:cNvSpPr txBox="1"/>
          <p:nvPr/>
        </p:nvSpPr>
        <p:spPr>
          <a:xfrm>
            <a:off x="10712048" y="5850463"/>
            <a:ext cx="1600200" cy="307777"/>
          </a:xfrm>
          <a:prstGeom prst="rect">
            <a:avLst/>
          </a:prstGeom>
          <a:noFill/>
        </p:spPr>
        <p:txBody>
          <a:bodyPr wrap="square" rtlCol="0">
            <a:spAutoFit/>
          </a:bodyPr>
          <a:lstStyle/>
          <a:p>
            <a:pPr algn="ctr"/>
            <a:r>
              <a:rPr lang="en-US" sz="1400" i="1" dirty="0">
                <a:solidFill>
                  <a:srgbClr val="B51072"/>
                </a:solidFill>
                <a:latin typeface="Franklin Gothic Book" panose="020B0503020102020204" pitchFamily="34" charset="0"/>
              </a:rPr>
              <a:t>$25,000</a:t>
            </a:r>
          </a:p>
        </p:txBody>
      </p:sp>
      <p:sp>
        <p:nvSpPr>
          <p:cNvPr id="12" name="TextBox 11">
            <a:extLst>
              <a:ext uri="{FF2B5EF4-FFF2-40B4-BE49-F238E27FC236}">
                <a16:creationId xmlns:a16="http://schemas.microsoft.com/office/drawing/2014/main" id="{71632542-5AC2-DD2C-2C37-D6D5B2A33A24}"/>
              </a:ext>
            </a:extLst>
          </p:cNvPr>
          <p:cNvSpPr txBox="1"/>
          <p:nvPr/>
        </p:nvSpPr>
        <p:spPr>
          <a:xfrm>
            <a:off x="1977966" y="914400"/>
            <a:ext cx="1752600" cy="307777"/>
          </a:xfrm>
          <a:prstGeom prst="rect">
            <a:avLst/>
          </a:prstGeom>
          <a:noFill/>
        </p:spPr>
        <p:txBody>
          <a:bodyPr wrap="square" rtlCol="0">
            <a:spAutoFit/>
          </a:bodyPr>
          <a:lstStyle/>
          <a:p>
            <a:pPr algn="ctr"/>
            <a:r>
              <a:rPr lang="en-US" sz="1400" i="1" dirty="0">
                <a:solidFill>
                  <a:srgbClr val="B51072"/>
                </a:solidFill>
                <a:latin typeface="Franklin Gothic Book" panose="020B0503020102020204" pitchFamily="34" charset="0"/>
              </a:rPr>
              <a:t>80 hrs. effort</a:t>
            </a:r>
          </a:p>
        </p:txBody>
      </p:sp>
      <p:sp>
        <p:nvSpPr>
          <p:cNvPr id="13" name="TextBox 12">
            <a:extLst>
              <a:ext uri="{FF2B5EF4-FFF2-40B4-BE49-F238E27FC236}">
                <a16:creationId xmlns:a16="http://schemas.microsoft.com/office/drawing/2014/main" id="{5F07D8D4-6036-09FF-6269-C7F559E97FFC}"/>
              </a:ext>
            </a:extLst>
          </p:cNvPr>
          <p:cNvSpPr txBox="1"/>
          <p:nvPr/>
        </p:nvSpPr>
        <p:spPr>
          <a:xfrm>
            <a:off x="8437959" y="914400"/>
            <a:ext cx="1752600" cy="307777"/>
          </a:xfrm>
          <a:prstGeom prst="rect">
            <a:avLst/>
          </a:prstGeom>
          <a:noFill/>
        </p:spPr>
        <p:txBody>
          <a:bodyPr wrap="square" rtlCol="0">
            <a:spAutoFit/>
          </a:bodyPr>
          <a:lstStyle/>
          <a:p>
            <a:pPr algn="ctr"/>
            <a:r>
              <a:rPr lang="en-US" sz="1400" i="1" dirty="0">
                <a:solidFill>
                  <a:srgbClr val="B51072"/>
                </a:solidFill>
                <a:latin typeface="Franklin Gothic Book" panose="020B0503020102020204" pitchFamily="34" charset="0"/>
              </a:rPr>
              <a:t>120 hrs. effort</a:t>
            </a:r>
          </a:p>
        </p:txBody>
      </p:sp>
    </p:spTree>
    <p:extLst>
      <p:ext uri="{BB962C8B-B14F-4D97-AF65-F5344CB8AC3E}">
        <p14:creationId xmlns:p14="http://schemas.microsoft.com/office/powerpoint/2010/main" val="2728015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301987A-2D42-7CAA-2729-7266B39A3C46}"/>
              </a:ext>
            </a:extLst>
          </p:cNvPr>
          <p:cNvSpPr>
            <a:spLocks noGrp="1"/>
          </p:cNvSpPr>
          <p:nvPr>
            <p:ph type="ctrTitle"/>
          </p:nvPr>
        </p:nvSpPr>
        <p:spPr/>
        <p:txBody>
          <a:bodyPr>
            <a:noAutofit/>
          </a:bodyPr>
          <a:lstStyle/>
          <a:p>
            <a:r>
              <a:rPr lang="en-US" sz="3200" b="0" dirty="0">
                <a:solidFill>
                  <a:schemeClr val="tx1">
                    <a:lumMod val="65000"/>
                    <a:lumOff val="35000"/>
                  </a:schemeClr>
                </a:solidFill>
              </a:rPr>
              <a:t>Investment for Performance</a:t>
            </a:r>
          </a:p>
        </p:txBody>
      </p:sp>
      <p:sp>
        <p:nvSpPr>
          <p:cNvPr id="2" name="Slide Number Placeholder 3">
            <a:extLst>
              <a:ext uri="{FF2B5EF4-FFF2-40B4-BE49-F238E27FC236}">
                <a16:creationId xmlns:a16="http://schemas.microsoft.com/office/drawing/2014/main" id="{37281023-AFEB-348F-1DCC-D803C1580499}"/>
              </a:ext>
            </a:extLst>
          </p:cNvPr>
          <p:cNvSpPr>
            <a:spLocks noGrp="1"/>
          </p:cNvSpPr>
          <p:nvPr>
            <p:ph type="sldNum" sz="quarter" idx="7"/>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a:pPr/>
              <a:t>10</a:t>
            </a:fld>
            <a:endParaRPr lang="en-US" sz="1000" dirty="0"/>
          </a:p>
        </p:txBody>
      </p:sp>
      <p:sp>
        <p:nvSpPr>
          <p:cNvPr id="4" name="officeArt object" descr="Rectangle 890">
            <a:extLst>
              <a:ext uri="{FF2B5EF4-FFF2-40B4-BE49-F238E27FC236}">
                <a16:creationId xmlns:a16="http://schemas.microsoft.com/office/drawing/2014/main" id="{4882788F-4879-1E59-7906-CEAD35CFAC62}"/>
              </a:ext>
            </a:extLst>
          </p:cNvPr>
          <p:cNvSpPr/>
          <p:nvPr/>
        </p:nvSpPr>
        <p:spPr>
          <a:xfrm>
            <a:off x="244044" y="978784"/>
            <a:ext cx="11569565" cy="5735327"/>
          </a:xfrm>
          <a:prstGeom prst="rect">
            <a:avLst/>
          </a:prstGeom>
          <a:solidFill>
            <a:srgbClr val="ECECED"/>
          </a:solidFill>
          <a:ln w="28575" cap="flat">
            <a:solidFill>
              <a:srgbClr val="D51067"/>
            </a:solidFill>
            <a:miter lim="400000"/>
          </a:ln>
          <a:effectLst/>
        </p:spPr>
        <p:txBody>
          <a:bodyPr/>
          <a:lstStyle/>
          <a:p>
            <a:endParaRPr lang="en-US" sz="1100" dirty="0"/>
          </a:p>
          <a:p>
            <a:endParaRPr lang="en-US" sz="1100" dirty="0"/>
          </a:p>
          <a:p>
            <a:endParaRPr lang="en-US" sz="1100" dirty="0"/>
          </a:p>
          <a:p>
            <a:endParaRPr lang="en-US" sz="1100" dirty="0">
              <a:latin typeface="Franklin Gothic Book" panose="020B0503020102020204" pitchFamily="34" charset="0"/>
            </a:endParaRPr>
          </a:p>
          <a:p>
            <a:endParaRPr lang="en-US" sz="1050" dirty="0">
              <a:latin typeface="Franklin Gothic Book" panose="020B0503020102020204" pitchFamily="34" charset="0"/>
            </a:endParaRPr>
          </a:p>
          <a:p>
            <a:endParaRPr lang="en-US" sz="1050" dirty="0">
              <a:latin typeface="Franklin Gothic Book" panose="020B0503020102020204" pitchFamily="34" charset="0"/>
            </a:endParaRPr>
          </a:p>
          <a:p>
            <a:endParaRPr lang="en-US" sz="1050" dirty="0">
              <a:latin typeface="Franklin Gothic Book" panose="020B0503020102020204" pitchFamily="34" charset="0"/>
            </a:endParaRPr>
          </a:p>
        </p:txBody>
      </p:sp>
      <p:cxnSp>
        <p:nvCxnSpPr>
          <p:cNvPr id="6" name="officeArt object" descr="Line 892">
            <a:extLst>
              <a:ext uri="{FF2B5EF4-FFF2-40B4-BE49-F238E27FC236}">
                <a16:creationId xmlns:a16="http://schemas.microsoft.com/office/drawing/2014/main" id="{E7E27C76-3274-E21A-B1F6-BE6DFD8A6F83}"/>
              </a:ext>
            </a:extLst>
          </p:cNvPr>
          <p:cNvCxnSpPr>
            <a:cxnSpLocks/>
          </p:cNvCxnSpPr>
          <p:nvPr/>
        </p:nvCxnSpPr>
        <p:spPr>
          <a:xfrm>
            <a:off x="569912" y="1464972"/>
            <a:ext cx="10749397" cy="0"/>
          </a:xfrm>
          <a:prstGeom prst="line">
            <a:avLst/>
          </a:prstGeom>
          <a:noFill/>
          <a:ln w="6350" cap="rnd" cmpd="sng">
            <a:solidFill>
              <a:srgbClr val="0070C0"/>
            </a:solidFill>
            <a:prstDash val="solid"/>
            <a:round/>
          </a:ln>
          <a:effectLst/>
        </p:spPr>
      </p:cxnSp>
      <p:sp>
        <p:nvSpPr>
          <p:cNvPr id="17" name="Text Box 12" descr="Rectangle 924">
            <a:extLst>
              <a:ext uri="{FF2B5EF4-FFF2-40B4-BE49-F238E27FC236}">
                <a16:creationId xmlns:a16="http://schemas.microsoft.com/office/drawing/2014/main" id="{4B6CD573-BCC5-F543-6750-2E57EA0EE128}"/>
              </a:ext>
            </a:extLst>
          </p:cNvPr>
          <p:cNvSpPr txBox="1">
            <a:spLocks noChangeArrowheads="1"/>
          </p:cNvSpPr>
          <p:nvPr/>
        </p:nvSpPr>
        <p:spPr bwMode="auto">
          <a:xfrm>
            <a:off x="1260316" y="1070070"/>
            <a:ext cx="9671368" cy="2979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231F20"/>
                </a:solidFill>
                <a:effectLst/>
                <a:latin typeface="Franklin Gothic Book" panose="020B0503020102020204" pitchFamily="34" charset="0"/>
                <a:ea typeface="Arial Unicode MS" panose="020B0604020202020204" pitchFamily="34" charset="-128"/>
                <a:cs typeface="Arial Unicode MS" panose="020B0604020202020204" pitchFamily="34" charset="-128"/>
              </a:rPr>
              <a:t>Flying Horse Resort | Revenue Strategy Commercial Enablement</a:t>
            </a:r>
            <a:endParaRPr kumimoji="0" lang="en-US" altLang="en-US" sz="3600" b="0" i="0" u="none" strike="noStrike" cap="none" normalizeH="0" baseline="0" dirty="0">
              <a:ln>
                <a:noFill/>
              </a:ln>
              <a:solidFill>
                <a:schemeClr val="tx1"/>
              </a:solidFill>
              <a:effectLst/>
              <a:latin typeface="Franklin Gothic Book" panose="020B0503020102020204" pitchFamily="34" charset="0"/>
            </a:endParaRPr>
          </a:p>
        </p:txBody>
      </p:sp>
      <p:sp>
        <p:nvSpPr>
          <p:cNvPr id="12" name="TextBox 11">
            <a:extLst>
              <a:ext uri="{FF2B5EF4-FFF2-40B4-BE49-F238E27FC236}">
                <a16:creationId xmlns:a16="http://schemas.microsoft.com/office/drawing/2014/main" id="{6208E56F-62C2-DC49-F35C-881E6E8F299B}"/>
              </a:ext>
            </a:extLst>
          </p:cNvPr>
          <p:cNvSpPr txBox="1"/>
          <p:nvPr/>
        </p:nvSpPr>
        <p:spPr>
          <a:xfrm>
            <a:off x="3640062" y="6039905"/>
            <a:ext cx="1828800" cy="338554"/>
          </a:xfrm>
          <a:prstGeom prst="rect">
            <a:avLst/>
          </a:prstGeom>
          <a:noFill/>
        </p:spPr>
        <p:txBody>
          <a:bodyPr wrap="square" rtlCol="0">
            <a:spAutoFit/>
          </a:bodyPr>
          <a:lstStyle/>
          <a:p>
            <a:pPr algn="r"/>
            <a:r>
              <a:rPr lang="en-US" sz="1600" dirty="0">
                <a:latin typeface="Franklin Gothic Book" panose="020B0503020102020204" pitchFamily="34" charset="0"/>
              </a:rPr>
              <a:t>$12,000</a:t>
            </a:r>
          </a:p>
        </p:txBody>
      </p:sp>
      <p:grpSp>
        <p:nvGrpSpPr>
          <p:cNvPr id="18" name="Group 17">
            <a:extLst>
              <a:ext uri="{FF2B5EF4-FFF2-40B4-BE49-F238E27FC236}">
                <a16:creationId xmlns:a16="http://schemas.microsoft.com/office/drawing/2014/main" id="{F7666C93-6213-5446-3B8E-655696DB81CB}"/>
              </a:ext>
            </a:extLst>
          </p:cNvPr>
          <p:cNvGrpSpPr/>
          <p:nvPr/>
        </p:nvGrpSpPr>
        <p:grpSpPr>
          <a:xfrm>
            <a:off x="489068" y="1533727"/>
            <a:ext cx="5225932" cy="4339650"/>
            <a:chOff x="493747" y="1533727"/>
            <a:chExt cx="5225932" cy="4339650"/>
          </a:xfrm>
        </p:grpSpPr>
        <p:sp>
          <p:nvSpPr>
            <p:cNvPr id="11" name="TextBox 10">
              <a:extLst>
                <a:ext uri="{FF2B5EF4-FFF2-40B4-BE49-F238E27FC236}">
                  <a16:creationId xmlns:a16="http://schemas.microsoft.com/office/drawing/2014/main" id="{B31A42DD-F6B1-C055-F3E0-5FF6684A2D33}"/>
                </a:ext>
              </a:extLst>
            </p:cNvPr>
            <p:cNvSpPr txBox="1"/>
            <p:nvPr/>
          </p:nvSpPr>
          <p:spPr>
            <a:xfrm>
              <a:off x="493747" y="1903059"/>
              <a:ext cx="5225932" cy="3970318"/>
            </a:xfrm>
            <a:prstGeom prst="rect">
              <a:avLst/>
            </a:prstGeom>
            <a:noFill/>
          </p:spPr>
          <p:txBody>
            <a:bodyPr wrap="square" rtlCol="0">
              <a:spAutoFit/>
            </a:bodyPr>
            <a:lstStyle/>
            <a:p>
              <a:endParaRPr lang="en-US" sz="1200" dirty="0"/>
            </a:p>
            <a:p>
              <a:pPr>
                <a:tabLst>
                  <a:tab pos="1597025" algn="l"/>
                </a:tabLst>
              </a:pPr>
              <a:r>
                <a:rPr lang="en-US" sz="1200" dirty="0">
                  <a:latin typeface="Franklin Gothic Book" panose="020B0503020102020204" pitchFamily="34" charset="0"/>
                </a:rPr>
                <a:t>Week 1	</a:t>
              </a:r>
              <a:r>
                <a:rPr lang="en-US" sz="1200" dirty="0">
                  <a:latin typeface="Wingdings" pitchFamily="2" charset="2"/>
                </a:rPr>
                <a:t>t </a:t>
              </a:r>
              <a:r>
                <a:rPr lang="en-US" sz="1200" dirty="0">
                  <a:latin typeface="Franklin Gothic Book" panose="020B0503020102020204" pitchFamily="34" charset="0"/>
                </a:rPr>
                <a:t>Immersion, Kick Off, and Communicated 				Project Plan 	</a:t>
              </a:r>
              <a:r>
                <a:rPr lang="en-US" sz="1200" dirty="0">
                  <a:solidFill>
                    <a:srgbClr val="D51067"/>
                  </a:solidFill>
                  <a:latin typeface="Franklin Gothic Book" panose="020B0503020102020204" pitchFamily="34" charset="0"/>
                </a:rPr>
                <a:t>                   	Virtual</a:t>
              </a:r>
            </a:p>
            <a:p>
              <a:endParaRPr lang="en-US" sz="1200" dirty="0">
                <a:latin typeface="Franklin Gothic Book" panose="020B0503020102020204" pitchFamily="34" charset="0"/>
              </a:endParaRPr>
            </a:p>
            <a:p>
              <a:pPr>
                <a:tabLst>
                  <a:tab pos="1597025" algn="l"/>
                </a:tabLst>
              </a:pPr>
              <a:r>
                <a:rPr lang="en-US" sz="1200" dirty="0">
                  <a:latin typeface="Franklin Gothic Book" panose="020B0503020102020204" pitchFamily="34" charset="0"/>
                </a:rPr>
                <a:t>Week 1 &amp; 2 </a:t>
              </a:r>
              <a:r>
                <a:rPr lang="en-US" sz="1200" dirty="0"/>
                <a:t>	</a:t>
              </a:r>
              <a:r>
                <a:rPr lang="en-US" sz="1200" dirty="0">
                  <a:latin typeface="Wingdings" pitchFamily="2" charset="2"/>
                </a:rPr>
                <a:t>t </a:t>
              </a:r>
              <a:r>
                <a:rPr lang="en-US" sz="1200" dirty="0"/>
                <a:t>Dive into reports, performance	</a:t>
              </a:r>
              <a:r>
                <a:rPr lang="en-US" sz="1200" dirty="0">
                  <a:solidFill>
                    <a:srgbClr val="B51072"/>
                  </a:solidFill>
                </a:rPr>
                <a:t>Virtual</a:t>
              </a:r>
            </a:p>
            <a:p>
              <a:pPr>
                <a:tabLst>
                  <a:tab pos="1597025" algn="l"/>
                </a:tabLst>
              </a:pPr>
              <a:r>
                <a:rPr lang="en-US" sz="1200" dirty="0"/>
                <a:t>			strategies, action plans</a:t>
              </a:r>
            </a:p>
            <a:p>
              <a:pPr>
                <a:tabLst>
                  <a:tab pos="1597025" algn="l"/>
                </a:tabLst>
              </a:pPr>
              <a:endParaRPr lang="en-US" sz="1200" dirty="0"/>
            </a:p>
            <a:p>
              <a:pPr>
                <a:tabLst>
                  <a:tab pos="1597025" algn="l"/>
                  <a:tab pos="4395788" algn="l"/>
                </a:tabLst>
              </a:pPr>
              <a:r>
                <a:rPr lang="en-US" sz="1200" dirty="0"/>
                <a:t>Week 3	</a:t>
              </a:r>
              <a:r>
                <a:rPr lang="en-US" sz="1200" dirty="0">
                  <a:latin typeface="Wingdings" pitchFamily="2" charset="2"/>
                </a:rPr>
                <a:t>t </a:t>
              </a:r>
              <a:r>
                <a:rPr lang="en-US" sz="1200" dirty="0">
                  <a:latin typeface="Franklin Gothic Book" panose="020B0503020102020204" pitchFamily="34" charset="0"/>
                </a:rPr>
                <a:t>Deep dive into approach</a:t>
              </a:r>
              <a:r>
                <a:rPr lang="en-US" sz="1200" dirty="0"/>
                <a:t>	</a:t>
              </a:r>
              <a:r>
                <a:rPr lang="en-US" sz="1200" dirty="0">
                  <a:solidFill>
                    <a:srgbClr val="D51067"/>
                  </a:solidFill>
                </a:rPr>
                <a:t>     Market 		          Visit</a:t>
              </a:r>
            </a:p>
            <a:p>
              <a:pPr>
                <a:tabLst>
                  <a:tab pos="1597025" algn="l"/>
                  <a:tab pos="4395788" algn="l"/>
                </a:tabLst>
              </a:pPr>
              <a:endParaRPr lang="en-US" sz="1200" dirty="0">
                <a:solidFill>
                  <a:srgbClr val="D51067"/>
                </a:solidFill>
              </a:endParaRPr>
            </a:p>
            <a:p>
              <a:pPr>
                <a:tabLst>
                  <a:tab pos="1597025" algn="l"/>
                </a:tabLst>
              </a:pPr>
              <a:r>
                <a:rPr lang="en-US" sz="1200" dirty="0"/>
                <a:t>Week 4	</a:t>
              </a:r>
              <a:r>
                <a:rPr lang="en-US" sz="1200" dirty="0">
                  <a:latin typeface="Wingdings" pitchFamily="2" charset="2"/>
                </a:rPr>
                <a:t>t </a:t>
              </a:r>
              <a:r>
                <a:rPr lang="en-US" sz="1200" dirty="0">
                  <a:latin typeface="Franklin Gothic Book" panose="020B0503020102020204" pitchFamily="34" charset="0"/>
                </a:rPr>
                <a:t>Continued exploration</a:t>
              </a:r>
              <a:r>
                <a:rPr lang="en-US" sz="1200" dirty="0"/>
                <a:t>	                         	</a:t>
              </a:r>
              <a:r>
                <a:rPr lang="en-US" sz="1200" dirty="0">
                  <a:solidFill>
                    <a:srgbClr val="D51067"/>
                  </a:solidFill>
                </a:rPr>
                <a:t>Virtual</a:t>
              </a:r>
            </a:p>
            <a:p>
              <a:pPr>
                <a:tabLst>
                  <a:tab pos="1597025" algn="l"/>
                </a:tabLst>
              </a:pPr>
              <a:endParaRPr lang="en-US" sz="1200" dirty="0">
                <a:solidFill>
                  <a:srgbClr val="D51067"/>
                </a:solidFill>
              </a:endParaRPr>
            </a:p>
            <a:p>
              <a:endParaRPr lang="en-US" sz="1200" dirty="0"/>
            </a:p>
            <a:p>
              <a:pPr>
                <a:tabLst>
                  <a:tab pos="1597025" algn="l"/>
                  <a:tab pos="1770063" algn="l"/>
                </a:tabLst>
              </a:pPr>
              <a:r>
                <a:rPr lang="en-US" sz="1200" dirty="0"/>
                <a:t>Week 5	</a:t>
              </a:r>
              <a:r>
                <a:rPr lang="en-US" sz="1200" dirty="0">
                  <a:latin typeface="Wingdings" pitchFamily="2" charset="2"/>
                </a:rPr>
                <a:t>t </a:t>
              </a:r>
              <a:r>
                <a:rPr lang="en-US" sz="1200" dirty="0"/>
                <a:t>Insight Production	 </a:t>
              </a:r>
              <a:r>
                <a:rPr lang="en-US" sz="1200" dirty="0">
                  <a:solidFill>
                    <a:srgbClr val="D51067"/>
                  </a:solidFill>
                  <a:latin typeface="Franklin Gothic Book" panose="020B0503020102020204" pitchFamily="34" charset="0"/>
                </a:rPr>
                <a:t>	Virtual</a:t>
              </a:r>
            </a:p>
            <a:p>
              <a:pPr>
                <a:tabLst>
                  <a:tab pos="1597025" algn="l"/>
                  <a:tab pos="1770063" algn="l"/>
                </a:tabLst>
              </a:pPr>
              <a:endParaRPr lang="en-US" sz="1200" dirty="0">
                <a:solidFill>
                  <a:srgbClr val="D51067"/>
                </a:solidFill>
                <a:latin typeface="Franklin Gothic Book" panose="020B0503020102020204" pitchFamily="34" charset="0"/>
              </a:endParaRPr>
            </a:p>
            <a:p>
              <a:pPr>
                <a:tabLst>
                  <a:tab pos="1597025" algn="l"/>
                  <a:tab pos="1770063" algn="l"/>
                </a:tabLst>
              </a:pPr>
              <a:endParaRPr lang="en-US" sz="1200" dirty="0">
                <a:solidFill>
                  <a:srgbClr val="D51067"/>
                </a:solidFill>
                <a:latin typeface="Franklin Gothic Book" panose="020B0503020102020204" pitchFamily="34" charset="0"/>
              </a:endParaRPr>
            </a:p>
            <a:p>
              <a:pPr>
                <a:tabLst>
                  <a:tab pos="1597025" algn="l"/>
                  <a:tab pos="1770063" algn="l"/>
                </a:tabLst>
              </a:pPr>
              <a:r>
                <a:rPr lang="en-US" sz="1200" dirty="0"/>
                <a:t>Week 6	</a:t>
              </a:r>
              <a:r>
                <a:rPr lang="en-US" sz="1200" dirty="0">
                  <a:latin typeface="Wingdings" pitchFamily="2" charset="2"/>
                </a:rPr>
                <a:t>t </a:t>
              </a:r>
              <a:r>
                <a:rPr lang="en-US" sz="1200" dirty="0"/>
                <a:t>Insight  Intelligence-Presentation </a:t>
              </a:r>
              <a:r>
                <a:rPr lang="en-US" sz="1200" dirty="0">
                  <a:solidFill>
                    <a:srgbClr val="D51067"/>
                  </a:solidFill>
                  <a:latin typeface="Franklin Gothic Book" panose="020B0503020102020204" pitchFamily="34" charset="0"/>
                </a:rPr>
                <a:t>               1/2 day</a:t>
              </a:r>
            </a:p>
            <a:p>
              <a:r>
                <a:rPr lang="en-US" sz="1200" dirty="0"/>
                <a:t>	</a:t>
              </a:r>
            </a:p>
            <a:p>
              <a:endParaRPr lang="en-US" sz="1200" dirty="0"/>
            </a:p>
            <a:p>
              <a:pPr>
                <a:tabLst>
                  <a:tab pos="1538288" algn="l"/>
                  <a:tab pos="2798763" algn="l"/>
                  <a:tab pos="3367088" algn="l"/>
                </a:tabLst>
              </a:pPr>
              <a:r>
                <a:rPr lang="en-US" sz="1200" dirty="0">
                  <a:solidFill>
                    <a:schemeClr val="accent1">
                      <a:lumMod val="75000"/>
                    </a:schemeClr>
                  </a:solidFill>
                </a:rPr>
                <a:t>Deliverables: 	</a:t>
              </a:r>
              <a:r>
                <a:rPr lang="en-US" sz="1200" i="1" dirty="0">
                  <a:solidFill>
                    <a:schemeClr val="accent1">
                      <a:lumMod val="75000"/>
                    </a:schemeClr>
                  </a:solidFill>
                </a:rPr>
                <a:t>Insight Intelligence Report, Executive Summary, support 	documents, findings, and recommendations.</a:t>
              </a:r>
              <a:endParaRPr lang="en-US" sz="1100" i="1" dirty="0">
                <a:solidFill>
                  <a:schemeClr val="accent1">
                    <a:lumMod val="75000"/>
                  </a:schemeClr>
                </a:solidFill>
              </a:endParaRPr>
            </a:p>
          </p:txBody>
        </p:sp>
        <p:sp>
          <p:nvSpPr>
            <p:cNvPr id="13" name="TextBox 12">
              <a:extLst>
                <a:ext uri="{FF2B5EF4-FFF2-40B4-BE49-F238E27FC236}">
                  <a16:creationId xmlns:a16="http://schemas.microsoft.com/office/drawing/2014/main" id="{708DA4AA-2A22-8D61-F51F-C37F67EF1FEC}"/>
                </a:ext>
              </a:extLst>
            </p:cNvPr>
            <p:cNvSpPr txBox="1"/>
            <p:nvPr/>
          </p:nvSpPr>
          <p:spPr>
            <a:xfrm>
              <a:off x="493747" y="1533727"/>
              <a:ext cx="2787524" cy="369332"/>
            </a:xfrm>
            <a:prstGeom prst="rect">
              <a:avLst/>
            </a:prstGeom>
            <a:noFill/>
          </p:spPr>
          <p:txBody>
            <a:bodyPr wrap="square" rtlCol="0">
              <a:spAutoFit/>
            </a:bodyPr>
            <a:lstStyle/>
            <a:p>
              <a:r>
                <a:rPr lang="en-US" i="1" dirty="0">
                  <a:solidFill>
                    <a:srgbClr val="D51067"/>
                  </a:solidFill>
                  <a:latin typeface="Franklin Gothic Book" panose="020B0503020102020204" pitchFamily="34" charset="0"/>
                </a:rPr>
                <a:t>The Reveal</a:t>
              </a:r>
            </a:p>
          </p:txBody>
        </p:sp>
      </p:grpSp>
      <p:grpSp>
        <p:nvGrpSpPr>
          <p:cNvPr id="16" name="Group 15">
            <a:extLst>
              <a:ext uri="{FF2B5EF4-FFF2-40B4-BE49-F238E27FC236}">
                <a16:creationId xmlns:a16="http://schemas.microsoft.com/office/drawing/2014/main" id="{C6598192-52A2-1400-D5DF-C53318C6015A}"/>
              </a:ext>
            </a:extLst>
          </p:cNvPr>
          <p:cNvGrpSpPr/>
          <p:nvPr/>
        </p:nvGrpSpPr>
        <p:grpSpPr>
          <a:xfrm>
            <a:off x="5944610" y="1502635"/>
            <a:ext cx="5664292" cy="3228602"/>
            <a:chOff x="6053317" y="1523431"/>
            <a:chExt cx="5664292" cy="3228602"/>
          </a:xfrm>
        </p:grpSpPr>
        <p:sp>
          <p:nvSpPr>
            <p:cNvPr id="8" name="TextBox 7">
              <a:extLst>
                <a:ext uri="{FF2B5EF4-FFF2-40B4-BE49-F238E27FC236}">
                  <a16:creationId xmlns:a16="http://schemas.microsoft.com/office/drawing/2014/main" id="{CF128103-EE09-46DE-658C-D1CECDD5E205}"/>
                </a:ext>
              </a:extLst>
            </p:cNvPr>
            <p:cNvSpPr txBox="1"/>
            <p:nvPr/>
          </p:nvSpPr>
          <p:spPr>
            <a:xfrm>
              <a:off x="6204706" y="2166710"/>
              <a:ext cx="5512903" cy="2585323"/>
            </a:xfrm>
            <a:prstGeom prst="rect">
              <a:avLst/>
            </a:prstGeom>
            <a:noFill/>
          </p:spPr>
          <p:txBody>
            <a:bodyPr wrap="square" rtlCol="0">
              <a:spAutoFit/>
            </a:bodyPr>
            <a:lstStyle/>
            <a:p>
              <a:endParaRPr lang="en-US" sz="1200" dirty="0">
                <a:latin typeface="Franklin Gothic Book" panose="020B0503020102020204" pitchFamily="34" charset="0"/>
              </a:endParaRPr>
            </a:p>
            <a:p>
              <a:r>
                <a:rPr lang="en-US" sz="1200" dirty="0">
                  <a:latin typeface="Franklin Gothic Book" panose="020B0503020102020204" pitchFamily="34" charset="0"/>
                </a:rPr>
                <a:t>Week 7		</a:t>
              </a:r>
              <a:r>
                <a:rPr lang="en-US" sz="1200" dirty="0">
                  <a:latin typeface="Wingdings" pitchFamily="2" charset="2"/>
                </a:rPr>
                <a:t>t</a:t>
              </a:r>
              <a:r>
                <a:rPr lang="en-US" sz="1200" dirty="0">
                  <a:latin typeface="Franklin Gothic Book" panose="020B0503020102020204" pitchFamily="34" charset="0"/>
                </a:rPr>
                <a:t>  Vision-to-Value Roadmap Development-        </a:t>
              </a:r>
              <a:r>
                <a:rPr lang="en-US" sz="1200" dirty="0">
                  <a:solidFill>
                    <a:srgbClr val="D51067"/>
                  </a:solidFill>
                  <a:latin typeface="Franklin Gothic Book" panose="020B0503020102020204" pitchFamily="34" charset="0"/>
                </a:rPr>
                <a:t>Virtual</a:t>
              </a:r>
            </a:p>
            <a:p>
              <a:endParaRPr lang="en-US" sz="1200" dirty="0">
                <a:latin typeface="Franklin Gothic Book" panose="020B0503020102020204" pitchFamily="34" charset="0"/>
              </a:endParaRPr>
            </a:p>
            <a:p>
              <a:endParaRPr lang="en-US" sz="1200" dirty="0">
                <a:latin typeface="Franklin Gothic Book" panose="020B0503020102020204" pitchFamily="34" charset="0"/>
              </a:endParaRPr>
            </a:p>
            <a:p>
              <a:r>
                <a:rPr lang="en-US" sz="1200" dirty="0">
                  <a:latin typeface="Franklin Gothic Book" panose="020B0503020102020204" pitchFamily="34" charset="0"/>
                </a:rPr>
                <a:t>Week 8		</a:t>
              </a:r>
              <a:r>
                <a:rPr lang="en-US" sz="1200" dirty="0">
                  <a:latin typeface="Wingdings" pitchFamily="2" charset="2"/>
                </a:rPr>
                <a:t>t</a:t>
              </a:r>
              <a:r>
                <a:rPr lang="en-US" sz="1200" dirty="0">
                  <a:latin typeface="Franklin Gothic Book" panose="020B0503020102020204" pitchFamily="34" charset="0"/>
                </a:rPr>
                <a:t>  Vision-to-Value Presentation 	       </a:t>
              </a:r>
              <a:r>
                <a:rPr lang="en-US" sz="1200" dirty="0">
                  <a:solidFill>
                    <a:srgbClr val="D51067"/>
                  </a:solidFill>
                  <a:latin typeface="Franklin Gothic Book" panose="020B0503020102020204" pitchFamily="34" charset="0"/>
                </a:rPr>
                <a:t>Virtual</a:t>
              </a:r>
            </a:p>
            <a:p>
              <a:endParaRPr lang="en-US" sz="1200" dirty="0">
                <a:latin typeface="Franklin Gothic Book" panose="020B0503020102020204" pitchFamily="34" charset="0"/>
              </a:endParaRPr>
            </a:p>
            <a:p>
              <a:endParaRPr lang="en-US" sz="1200" dirty="0">
                <a:latin typeface="Franklin Gothic Book" panose="020B0503020102020204" pitchFamily="34" charset="0"/>
              </a:endParaRPr>
            </a:p>
            <a:p>
              <a:r>
                <a:rPr lang="en-US" sz="1200" dirty="0">
                  <a:latin typeface="Franklin Gothic Book" panose="020B0503020102020204" pitchFamily="34" charset="0"/>
                </a:rPr>
                <a:t>Week 9		</a:t>
              </a:r>
              <a:r>
                <a:rPr lang="en-US" sz="1200">
                  <a:latin typeface="Wingdings" pitchFamily="2" charset="2"/>
                </a:rPr>
                <a:t>t</a:t>
              </a:r>
              <a:r>
                <a:rPr lang="en-US" sz="1200">
                  <a:latin typeface="Franklin Gothic Book" panose="020B0503020102020204" pitchFamily="34" charset="0"/>
                </a:rPr>
                <a:t>  Buffer</a:t>
              </a:r>
              <a:endParaRPr lang="en-US" sz="1200" dirty="0">
                <a:solidFill>
                  <a:srgbClr val="D51067"/>
                </a:solidFill>
                <a:latin typeface="Franklin Gothic Book" panose="020B0503020102020204" pitchFamily="34" charset="0"/>
              </a:endParaRPr>
            </a:p>
            <a:p>
              <a:endParaRPr lang="en-US" sz="1200" dirty="0">
                <a:latin typeface="Franklin Gothic Book" panose="020B0503020102020204" pitchFamily="34" charset="0"/>
              </a:endParaRPr>
            </a:p>
            <a:p>
              <a:endParaRPr lang="en-US" sz="1200" dirty="0">
                <a:latin typeface="Franklin Gothic Book" panose="020B0503020102020204" pitchFamily="34" charset="0"/>
              </a:endParaRPr>
            </a:p>
            <a:p>
              <a:endParaRPr lang="en-US" sz="1200" dirty="0"/>
            </a:p>
            <a:p>
              <a:r>
                <a:rPr lang="en-US" sz="1200" i="1" dirty="0">
                  <a:solidFill>
                    <a:srgbClr val="0070C0"/>
                  </a:solidFill>
                  <a:latin typeface="Franklin Gothic Book" panose="020B0503020102020204" pitchFamily="34" charset="0"/>
                </a:rPr>
                <a:t>Deliverable: 		Vision-to-Value Roadmap, Revenue Plan</a:t>
              </a:r>
            </a:p>
            <a:p>
              <a:endParaRPr lang="en-US" dirty="0"/>
            </a:p>
          </p:txBody>
        </p:sp>
        <p:sp>
          <p:nvSpPr>
            <p:cNvPr id="14" name="TextBox 13">
              <a:extLst>
                <a:ext uri="{FF2B5EF4-FFF2-40B4-BE49-F238E27FC236}">
                  <a16:creationId xmlns:a16="http://schemas.microsoft.com/office/drawing/2014/main" id="{CDB7CF7C-13B6-AE48-2997-05717235C4C7}"/>
                </a:ext>
              </a:extLst>
            </p:cNvPr>
            <p:cNvSpPr txBox="1"/>
            <p:nvPr/>
          </p:nvSpPr>
          <p:spPr>
            <a:xfrm>
              <a:off x="6053317" y="1523431"/>
              <a:ext cx="2787524" cy="369332"/>
            </a:xfrm>
            <a:prstGeom prst="rect">
              <a:avLst/>
            </a:prstGeom>
            <a:noFill/>
          </p:spPr>
          <p:txBody>
            <a:bodyPr wrap="square" rtlCol="0">
              <a:spAutoFit/>
            </a:bodyPr>
            <a:lstStyle/>
            <a:p>
              <a:r>
                <a:rPr lang="en-US" i="1" dirty="0">
                  <a:solidFill>
                    <a:srgbClr val="D51067"/>
                  </a:solidFill>
                  <a:latin typeface="Franklin Gothic Book" panose="020B0503020102020204" pitchFamily="34" charset="0"/>
                </a:rPr>
                <a:t>Insight to Execution</a:t>
              </a:r>
            </a:p>
          </p:txBody>
        </p:sp>
      </p:grpSp>
      <p:cxnSp>
        <p:nvCxnSpPr>
          <p:cNvPr id="21" name="Straight Connector 20">
            <a:extLst>
              <a:ext uri="{FF2B5EF4-FFF2-40B4-BE49-F238E27FC236}">
                <a16:creationId xmlns:a16="http://schemas.microsoft.com/office/drawing/2014/main" id="{3AA028F7-0524-F944-72C8-CDAB2B919836}"/>
              </a:ext>
            </a:extLst>
          </p:cNvPr>
          <p:cNvCxnSpPr>
            <a:cxnSpLocks/>
          </p:cNvCxnSpPr>
          <p:nvPr/>
        </p:nvCxnSpPr>
        <p:spPr>
          <a:xfrm>
            <a:off x="5804115" y="1464972"/>
            <a:ext cx="0" cy="4458630"/>
          </a:xfrm>
          <a:prstGeom prst="line">
            <a:avLst/>
          </a:prstGeom>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81293C41-9499-4032-E1A6-5792638B1D0D}"/>
              </a:ext>
            </a:extLst>
          </p:cNvPr>
          <p:cNvSpPr txBox="1"/>
          <p:nvPr/>
        </p:nvSpPr>
        <p:spPr>
          <a:xfrm>
            <a:off x="9449393" y="6123030"/>
            <a:ext cx="1828800" cy="338554"/>
          </a:xfrm>
          <a:prstGeom prst="rect">
            <a:avLst/>
          </a:prstGeom>
          <a:noFill/>
        </p:spPr>
        <p:txBody>
          <a:bodyPr wrap="square" rtlCol="0">
            <a:spAutoFit/>
          </a:bodyPr>
          <a:lstStyle/>
          <a:p>
            <a:pPr algn="r"/>
            <a:r>
              <a:rPr lang="en-US" sz="1600" dirty="0">
                <a:latin typeface="Franklin Gothic Book" panose="020B0503020102020204" pitchFamily="34" charset="0"/>
              </a:rPr>
              <a:t>$8,000</a:t>
            </a:r>
          </a:p>
        </p:txBody>
      </p:sp>
    </p:spTree>
    <p:extLst>
      <p:ext uri="{BB962C8B-B14F-4D97-AF65-F5344CB8AC3E}">
        <p14:creationId xmlns:p14="http://schemas.microsoft.com/office/powerpoint/2010/main" val="3591785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37281023-AFEB-348F-1DCC-D803C1580499}"/>
              </a:ext>
            </a:extLst>
          </p:cNvPr>
          <p:cNvSpPr>
            <a:spLocks noGrp="1"/>
          </p:cNvSpPr>
          <p:nvPr>
            <p:ph type="sldNum" sz="quarter" idx="7"/>
          </p:nvPr>
        </p:nvSpPr>
        <p:spPr>
          <a:xfrm>
            <a:off x="9261528" y="6425802"/>
            <a:ext cx="2743200" cy="36512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a:pPr/>
              <a:t>11</a:t>
            </a:fld>
            <a:endParaRPr lang="en-US" sz="1000" dirty="0"/>
          </a:p>
        </p:txBody>
      </p:sp>
      <p:sp>
        <p:nvSpPr>
          <p:cNvPr id="3" name="Title 2">
            <a:extLst>
              <a:ext uri="{FF2B5EF4-FFF2-40B4-BE49-F238E27FC236}">
                <a16:creationId xmlns:a16="http://schemas.microsoft.com/office/drawing/2014/main" id="{8301987A-2D42-7CAA-2729-7266B39A3C46}"/>
              </a:ext>
            </a:extLst>
          </p:cNvPr>
          <p:cNvSpPr>
            <a:spLocks noGrp="1"/>
          </p:cNvSpPr>
          <p:nvPr>
            <p:ph type="title"/>
          </p:nvPr>
        </p:nvSpPr>
        <p:spPr/>
        <p:txBody>
          <a:bodyPr>
            <a:noAutofit/>
          </a:bodyPr>
          <a:lstStyle/>
          <a:p>
            <a:r>
              <a:rPr lang="en-US" sz="3200" b="0" dirty="0">
                <a:solidFill>
                  <a:schemeClr val="tx1">
                    <a:lumMod val="65000"/>
                    <a:lumOff val="35000"/>
                  </a:schemeClr>
                </a:solidFill>
              </a:rPr>
              <a:t>Investment</a:t>
            </a:r>
          </a:p>
        </p:txBody>
      </p:sp>
      <p:pic>
        <p:nvPicPr>
          <p:cNvPr id="42" name="Picture 41" descr="A child in a suit and hat standing next to a safe&#10;&#10;Description automatically generated">
            <a:extLst>
              <a:ext uri="{FF2B5EF4-FFF2-40B4-BE49-F238E27FC236}">
                <a16:creationId xmlns:a16="http://schemas.microsoft.com/office/drawing/2014/main" id="{4F73B663-C554-A55B-AFB4-D8F346B48649}"/>
              </a:ext>
            </a:extLst>
          </p:cNvPr>
          <p:cNvPicPr>
            <a:picLocks noChangeAspect="1"/>
          </p:cNvPicPr>
          <p:nvPr/>
        </p:nvPicPr>
        <p:blipFill rotWithShape="1">
          <a:blip r:embed="rId3"/>
          <a:srcRect l="-345" t="6057" r="345" b="5867"/>
          <a:stretch/>
        </p:blipFill>
        <p:spPr>
          <a:xfrm>
            <a:off x="-61993" y="577516"/>
            <a:ext cx="5072433" cy="6280484"/>
          </a:xfrm>
          <a:prstGeom prst="rect">
            <a:avLst/>
          </a:prstGeom>
        </p:spPr>
      </p:pic>
      <p:sp>
        <p:nvSpPr>
          <p:cNvPr id="44" name="TextBox 43">
            <a:extLst>
              <a:ext uri="{FF2B5EF4-FFF2-40B4-BE49-F238E27FC236}">
                <a16:creationId xmlns:a16="http://schemas.microsoft.com/office/drawing/2014/main" id="{ABED86C9-8E7E-9EB7-7F34-0024A4EBD0A3}"/>
              </a:ext>
            </a:extLst>
          </p:cNvPr>
          <p:cNvSpPr txBox="1"/>
          <p:nvPr/>
        </p:nvSpPr>
        <p:spPr>
          <a:xfrm>
            <a:off x="5428211" y="5440727"/>
            <a:ext cx="6550276" cy="825867"/>
          </a:xfrm>
          <a:prstGeom prst="rect">
            <a:avLst/>
          </a:prstGeom>
          <a:noFill/>
        </p:spPr>
        <p:txBody>
          <a:bodyPr wrap="square">
            <a:spAutoFit/>
          </a:bodyPr>
          <a:lstStyle/>
          <a:p>
            <a:pPr>
              <a:lnSpc>
                <a:spcPts val="1433"/>
              </a:lnSpc>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Flying Horse Resort will</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receive continued communication throughout the</a:t>
            </a:r>
            <a:r>
              <a:rPr lang="en-US" sz="1200" spc="14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engagement:</a:t>
            </a: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a:p>
            <a:pPr marL="990575" lvl="1" indent="-380990">
              <a:buFont typeface="Arial" panose="020B0604020202020204" pitchFamily="34" charset="0"/>
              <a:buChar char="•"/>
              <a:tabLst>
                <a:tab pos="860192" algn="l"/>
                <a:tab pos="1219170"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Progress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report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delivered every </a:t>
            </a:r>
            <a:r>
              <a:rPr lang="en-US" sz="1200" spc="-1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two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weeks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w/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Proposed Timeline</a:t>
            </a:r>
            <a:r>
              <a:rPr lang="en-US" sz="1200" spc="8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update</a:t>
            </a: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a:p>
            <a:pPr marL="990575" lvl="1" indent="-380990">
              <a:buFont typeface="Arial" panose="020B0604020202020204" pitchFamily="34" charset="0"/>
              <a:buChar char="•"/>
              <a:tabLst>
                <a:tab pos="860192" algn="l"/>
                <a:tab pos="1219170" algn="l"/>
              </a:tabLst>
            </a:pPr>
            <a:r>
              <a:rPr lang="en-US" sz="1200" spc="-1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Follow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up </a:t>
            </a:r>
            <a:r>
              <a:rPr lang="en-US" sz="1200" spc="-1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from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all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meetings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and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outcomes of</a:t>
            </a:r>
            <a:r>
              <a:rPr lang="en-US" sz="1200" spc="3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discussions</a:t>
            </a: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a:p>
            <a:pPr marL="990575" lvl="1" indent="-380990">
              <a:buFont typeface="Arial" panose="020B0604020202020204" pitchFamily="34" charset="0"/>
              <a:buChar char="•"/>
              <a:tabLst>
                <a:tab pos="860192" algn="l"/>
                <a:tab pos="1219170" algn="l"/>
              </a:tabLst>
            </a:pPr>
            <a:r>
              <a:rPr lang="en-US" sz="1200" spc="-1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Any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additional information team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deems</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necessary</a:t>
            </a: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p:txBody>
      </p:sp>
      <p:cxnSp>
        <p:nvCxnSpPr>
          <p:cNvPr id="45" name="officeArt object" descr="Line 892">
            <a:extLst>
              <a:ext uri="{FF2B5EF4-FFF2-40B4-BE49-F238E27FC236}">
                <a16:creationId xmlns:a16="http://schemas.microsoft.com/office/drawing/2014/main" id="{AD649B54-C956-AE64-84BE-AC9206D928C5}"/>
              </a:ext>
            </a:extLst>
          </p:cNvPr>
          <p:cNvCxnSpPr>
            <a:cxnSpLocks/>
          </p:cNvCxnSpPr>
          <p:nvPr/>
        </p:nvCxnSpPr>
        <p:spPr>
          <a:xfrm>
            <a:off x="5561309" y="888036"/>
            <a:ext cx="6313176" cy="0"/>
          </a:xfrm>
          <a:prstGeom prst="line">
            <a:avLst/>
          </a:prstGeom>
          <a:noFill/>
          <a:ln w="6350" cap="flat">
            <a:solidFill>
              <a:srgbClr val="636466"/>
            </a:solidFill>
            <a:prstDash val="solid"/>
            <a:round/>
          </a:ln>
          <a:effectLst/>
        </p:spPr>
      </p:cxnSp>
      <p:cxnSp>
        <p:nvCxnSpPr>
          <p:cNvPr id="46" name="officeArt object" descr="Line 893">
            <a:extLst>
              <a:ext uri="{FF2B5EF4-FFF2-40B4-BE49-F238E27FC236}">
                <a16:creationId xmlns:a16="http://schemas.microsoft.com/office/drawing/2014/main" id="{2CE211A6-11BC-0AAB-E21C-9898184B7A50}"/>
              </a:ext>
            </a:extLst>
          </p:cNvPr>
          <p:cNvCxnSpPr>
            <a:cxnSpLocks/>
          </p:cNvCxnSpPr>
          <p:nvPr/>
        </p:nvCxnSpPr>
        <p:spPr>
          <a:xfrm>
            <a:off x="5578563" y="1308562"/>
            <a:ext cx="6426165" cy="0"/>
          </a:xfrm>
          <a:prstGeom prst="line">
            <a:avLst/>
          </a:prstGeom>
          <a:noFill/>
          <a:ln w="3175" cap="flat">
            <a:solidFill>
              <a:srgbClr val="636466"/>
            </a:solidFill>
            <a:prstDash val="solid"/>
            <a:round/>
          </a:ln>
          <a:effectLst/>
        </p:spPr>
      </p:cxnSp>
      <p:sp>
        <p:nvSpPr>
          <p:cNvPr id="47" name="Text Box 23" descr="Rectangle 912">
            <a:extLst>
              <a:ext uri="{FF2B5EF4-FFF2-40B4-BE49-F238E27FC236}">
                <a16:creationId xmlns:a16="http://schemas.microsoft.com/office/drawing/2014/main" id="{3D54C78B-AC9B-6158-A7A6-F4D52723EFB3}"/>
              </a:ext>
            </a:extLst>
          </p:cNvPr>
          <p:cNvSpPr txBox="1">
            <a:spLocks noChangeArrowheads="1"/>
          </p:cNvSpPr>
          <p:nvPr/>
        </p:nvSpPr>
        <p:spPr bwMode="auto">
          <a:xfrm>
            <a:off x="5542896" y="1009834"/>
            <a:ext cx="2816226" cy="1393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rPr>
              <a:t>Part 1: The Reveal</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000" dirty="0">
              <a:solidFill>
                <a:srgbClr val="636466"/>
              </a:solidFill>
              <a:latin typeface="DM Sans 14pt Medium" pitchFamily="2" charset="77"/>
              <a:ea typeface="Arial Unicode MS" panose="020B0604020202020204" pitchFamily="34" charset="-128"/>
              <a:cs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636466"/>
              </a:solidFill>
              <a:effectLst/>
              <a:latin typeface="DM Sans 14pt Medium" pitchFamily="2" charset="77"/>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r>
              <a:rPr kumimoji="0" lang="en-US" altLang="en-US" sz="10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rPr>
              <a:t>Part 2: </a:t>
            </a:r>
            <a:r>
              <a:rPr kumimoji="0" lang="en-US" altLang="en-US" sz="1000" b="1" i="0" u="none" strike="noStrike" cap="none" normalizeH="0" baseline="0" dirty="0">
                <a:ln>
                  <a:noFill/>
                </a:ln>
                <a:solidFill>
                  <a:srgbClr val="D51067"/>
                </a:solidFill>
                <a:effectLst/>
                <a:latin typeface="Franklin Gothic Book" panose="020B0503020102020204" pitchFamily="34" charset="0"/>
                <a:ea typeface="Arial Unicode MS" panose="020B0604020202020204" pitchFamily="34" charset="-128"/>
                <a:cs typeface="Arial Unicode MS" panose="020B0604020202020204" pitchFamily="34" charset="-128"/>
              </a:rPr>
              <a:t>Insight</a:t>
            </a:r>
            <a:r>
              <a:rPr kumimoji="0" lang="en-US" altLang="en-US" sz="10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rPr>
              <a:t> to Execution</a:t>
            </a:r>
          </a:p>
          <a:p>
            <a:pPr eaLnBrk="0" fontAlgn="base" hangingPunct="0">
              <a:spcBef>
                <a:spcPct val="0"/>
              </a:spcBef>
              <a:spcAft>
                <a:spcPct val="0"/>
              </a:spcAft>
            </a:pPr>
            <a:endParaRPr lang="en-US" altLang="en-US" sz="1000" b="1" dirty="0">
              <a:solidFill>
                <a:srgbClr val="636466"/>
              </a:solidFill>
              <a:latin typeface="Franklin Gothic Book" panose="020B0503020102020204" pitchFamily="34" charset="0"/>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endParaRPr kumimoji="0" lang="en-US" altLang="en-US" sz="10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r>
              <a:rPr lang="en-US" altLang="en-US" sz="1000" b="1" dirty="0">
                <a:solidFill>
                  <a:srgbClr val="636466"/>
                </a:solidFill>
                <a:latin typeface="Franklin Gothic Book" panose="020B0503020102020204" pitchFamily="34" charset="0"/>
                <a:ea typeface="Arial Unicode MS" panose="020B0604020202020204" pitchFamily="34" charset="-128"/>
                <a:cs typeface="Arial Unicode MS" panose="020B0604020202020204" pitchFamily="34" charset="-128"/>
              </a:rPr>
              <a:t>Total</a:t>
            </a:r>
          </a:p>
          <a:p>
            <a:pPr eaLnBrk="0" fontAlgn="base" hangingPunct="0">
              <a:spcBef>
                <a:spcPct val="0"/>
              </a:spcBef>
              <a:spcAft>
                <a:spcPct val="0"/>
              </a:spcAft>
            </a:pPr>
            <a:endParaRPr kumimoji="0" lang="en-US" altLang="en-US" sz="11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r>
              <a:rPr lang="en-US" altLang="en-US" sz="1000" b="1" dirty="0">
                <a:solidFill>
                  <a:srgbClr val="636466"/>
                </a:solidFill>
                <a:latin typeface="Franklin Gothic Book" panose="020B0503020102020204" pitchFamily="34" charset="0"/>
                <a:ea typeface="Arial Unicode MS" panose="020B0604020202020204" pitchFamily="34" charset="-128"/>
                <a:cs typeface="Arial Unicode MS" panose="020B0604020202020204" pitchFamily="34" charset="-128"/>
              </a:rPr>
              <a:t>Less: Friends and Family </a:t>
            </a:r>
            <a:endParaRPr kumimoji="0" lang="en-US" altLang="en-US" sz="1000" b="1" i="0" u="none" strike="noStrike" cap="none" normalizeH="0" baseline="0" dirty="0">
              <a:ln>
                <a:noFill/>
              </a:ln>
              <a:solidFill>
                <a:srgbClr val="636466"/>
              </a:solidFill>
              <a:effectLst/>
              <a:latin typeface="Franklin Gothic Book" panose="020B0503020102020204" pitchFamily="34" charset="0"/>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endParaRPr lang="en-US" altLang="en-US" sz="900" i="1" dirty="0">
              <a:solidFill>
                <a:srgbClr val="636466"/>
              </a:solidFill>
              <a:latin typeface="DM Sans 14pt" pitchFamily="2" charset="77"/>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r>
              <a:rPr kumimoji="0" lang="en-US" altLang="en-US" sz="900" b="0" i="1" u="none" strike="noStrike" cap="none" normalizeH="0" baseline="0" dirty="0">
                <a:ln>
                  <a:noFill/>
                </a:ln>
                <a:solidFill>
                  <a:srgbClr val="B51072"/>
                </a:solidFill>
                <a:effectLst/>
                <a:latin typeface="DM Sans 14pt" pitchFamily="2" charset="77"/>
                <a:ea typeface="Arial Unicode MS" panose="020B0604020202020204" pitchFamily="34" charset="-128"/>
                <a:cs typeface="Arial Unicode MS" panose="020B0604020202020204" pitchFamily="34" charset="-128"/>
              </a:rPr>
              <a:t>*Less:  Move forward </a:t>
            </a:r>
          </a:p>
          <a:p>
            <a:pPr eaLnBrk="0" fontAlgn="base" hangingPunct="0">
              <a:spcBef>
                <a:spcPct val="0"/>
              </a:spcBef>
              <a:spcAft>
                <a:spcPct val="0"/>
              </a:spcAft>
            </a:pPr>
            <a:endParaRPr lang="en-US" altLang="en-US" sz="900" i="1" dirty="0">
              <a:solidFill>
                <a:srgbClr val="B51072"/>
              </a:solidFill>
              <a:latin typeface="DM Sans 14pt" pitchFamily="2" charset="77"/>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r>
              <a:rPr kumimoji="0" lang="en-US" altLang="en-US" sz="9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rPr>
              <a:t>	</a:t>
            </a:r>
          </a:p>
          <a:p>
            <a:pPr eaLnBrk="0" fontAlgn="base" hangingPunct="0">
              <a:spcBef>
                <a:spcPct val="0"/>
              </a:spcBef>
              <a:spcAft>
                <a:spcPct val="0"/>
              </a:spcAft>
            </a:pPr>
            <a:endParaRPr lang="en-US" altLang="en-US" sz="900" dirty="0">
              <a:solidFill>
                <a:srgbClr val="636466"/>
              </a:solidFill>
              <a:latin typeface="DM Sans 14pt" pitchFamily="2" charset="77"/>
              <a:ea typeface="Arial Unicode MS" panose="020B0604020202020204" pitchFamily="34" charset="-128"/>
              <a:cs typeface="Arial Unicode MS" panose="020B0604020202020204" pitchFamily="34" charset="-128"/>
            </a:endParaRPr>
          </a:p>
          <a:p>
            <a:pPr eaLnBrk="0" fontAlgn="base" hangingPunct="0">
              <a:spcBef>
                <a:spcPct val="0"/>
              </a:spcBef>
              <a:spcAft>
                <a:spcPct val="0"/>
              </a:spcAft>
            </a:pPr>
            <a:endParaRPr kumimoji="0" lang="en-US" altLang="en-US" sz="9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0" name="Text Box 23" descr="Rectangle 912">
            <a:extLst>
              <a:ext uri="{FF2B5EF4-FFF2-40B4-BE49-F238E27FC236}">
                <a16:creationId xmlns:a16="http://schemas.microsoft.com/office/drawing/2014/main" id="{7074ADD8-804C-AEB4-54CC-4AF0831D5F0E}"/>
              </a:ext>
            </a:extLst>
          </p:cNvPr>
          <p:cNvSpPr txBox="1">
            <a:spLocks noChangeArrowheads="1"/>
          </p:cNvSpPr>
          <p:nvPr/>
        </p:nvSpPr>
        <p:spPr bwMode="auto">
          <a:xfrm>
            <a:off x="10250515" y="989769"/>
            <a:ext cx="1623970" cy="1718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636466"/>
                </a:solidFill>
                <a:effectLst/>
                <a:latin typeface="DM Sans 14pt Medium" pitchFamily="2" charset="77"/>
                <a:ea typeface="Arial Unicode MS" panose="020B0604020202020204" pitchFamily="34" charset="-128"/>
                <a:cs typeface="Arial Unicode MS" panose="020B0604020202020204" pitchFamily="34" charset="-128"/>
              </a:rPr>
              <a:t>$</a:t>
            </a:r>
            <a:r>
              <a:rPr lang="en-US" altLang="en-US" sz="1000" dirty="0">
                <a:solidFill>
                  <a:srgbClr val="636466"/>
                </a:solidFill>
                <a:latin typeface="DM Sans 14pt Medium" pitchFamily="2" charset="77"/>
                <a:ea typeface="Arial Unicode MS" panose="020B0604020202020204" pitchFamily="34" charset="-128"/>
                <a:cs typeface="Arial Unicode MS" panose="020B0604020202020204" pitchFamily="34" charset="-128"/>
              </a:rPr>
              <a:t>12,0</a:t>
            </a:r>
            <a:r>
              <a:rPr kumimoji="0" lang="en-US" altLang="en-US" sz="1000" b="0" i="0" u="none" strike="noStrike" cap="none" normalizeH="0" baseline="0" dirty="0">
                <a:ln>
                  <a:noFill/>
                </a:ln>
                <a:solidFill>
                  <a:srgbClr val="636466"/>
                </a:solidFill>
                <a:effectLst/>
                <a:latin typeface="DM Sans 14pt Medium" pitchFamily="2" charset="77"/>
                <a:ea typeface="Arial Unicode MS" panose="020B0604020202020204" pitchFamily="34" charset="-128"/>
                <a:cs typeface="Arial Unicode MS" panose="020B0604020202020204" pitchFamily="34" charset="-128"/>
              </a:rPr>
              <a:t>00</a:t>
            </a:r>
          </a:p>
          <a:p>
            <a:pPr marL="0" marR="0" lvl="0" indent="0" algn="r" defTabSz="914400" rtl="0" eaLnBrk="0" fontAlgn="base" latinLnBrk="0" hangingPunct="0">
              <a:lnSpc>
                <a:spcPct val="100000"/>
              </a:lnSpc>
              <a:spcBef>
                <a:spcPct val="0"/>
              </a:spcBef>
              <a:spcAft>
                <a:spcPct val="0"/>
              </a:spcAft>
              <a:buClrTx/>
              <a:buSzTx/>
              <a:buFontTx/>
              <a:buNone/>
              <a:tabLst/>
            </a:pPr>
            <a:endParaRPr lang="en-US" altLang="en-US" sz="1000" dirty="0">
              <a:solidFill>
                <a:srgbClr val="636466"/>
              </a:solidFill>
              <a:latin typeface="DM Sans 14pt Medium" pitchFamily="2" charset="77"/>
              <a:ea typeface="Arial Unicode MS" panose="020B0604020202020204" pitchFamily="34" charset="-128"/>
              <a:cs typeface="Arial Unicode MS" panose="020B0604020202020204" pitchFamily="34" charset="-128"/>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1000" b="0" i="0" u="none" strike="noStrike" cap="none" normalizeH="0" baseline="0" dirty="0">
              <a:ln>
                <a:noFill/>
              </a:ln>
              <a:solidFill>
                <a:srgbClr val="636466"/>
              </a:solidFill>
              <a:effectLst/>
              <a:latin typeface="DM Sans 14pt Medium" pitchFamily="2" charset="77"/>
              <a:ea typeface="Arial Unicode MS" panose="020B0604020202020204" pitchFamily="34" charset="-128"/>
              <a:cs typeface="Arial Unicode MS" panose="020B0604020202020204" pitchFamily="34" charset="-128"/>
            </a:endParaRPr>
          </a:p>
          <a:p>
            <a:pPr algn="r" eaLnBrk="0" fontAlgn="base" hangingPunct="0">
              <a:spcBef>
                <a:spcPct val="0"/>
              </a:spcBef>
              <a:spcAft>
                <a:spcPct val="0"/>
              </a:spcAft>
            </a:pPr>
            <a:r>
              <a:rPr kumimoji="0" lang="en-US" altLang="en-US" sz="10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rPr>
              <a:t>$ </a:t>
            </a:r>
            <a:r>
              <a:rPr lang="en-US" altLang="en-US" sz="1000" dirty="0">
                <a:solidFill>
                  <a:srgbClr val="636466"/>
                </a:solidFill>
                <a:latin typeface="DM Sans 14pt" pitchFamily="2" charset="77"/>
                <a:ea typeface="Arial Unicode MS" panose="020B0604020202020204" pitchFamily="34" charset="-128"/>
                <a:cs typeface="Arial Unicode MS" panose="020B0604020202020204" pitchFamily="34" charset="-128"/>
              </a:rPr>
              <a:t>8,0</a:t>
            </a:r>
            <a:r>
              <a:rPr kumimoji="0" lang="en-US" altLang="en-US" sz="10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rPr>
              <a:t>00</a:t>
            </a:r>
          </a:p>
          <a:p>
            <a:pPr algn="r" eaLnBrk="0" fontAlgn="base" hangingPunct="0">
              <a:spcBef>
                <a:spcPct val="0"/>
              </a:spcBef>
              <a:spcAft>
                <a:spcPct val="0"/>
              </a:spcAft>
            </a:pPr>
            <a:endParaRPr lang="en-US" altLang="en-US" sz="1000" dirty="0">
              <a:solidFill>
                <a:srgbClr val="636466"/>
              </a:solidFill>
              <a:latin typeface="DM Sans 14pt" pitchFamily="2" charset="77"/>
              <a:ea typeface="Arial Unicode MS" panose="020B0604020202020204" pitchFamily="34" charset="-128"/>
              <a:cs typeface="Arial Unicode MS" panose="020B0604020202020204" pitchFamily="34" charset="-128"/>
            </a:endParaRPr>
          </a:p>
          <a:p>
            <a:pPr algn="r" eaLnBrk="0" fontAlgn="base" hangingPunct="0">
              <a:spcBef>
                <a:spcPct val="0"/>
              </a:spcBef>
              <a:spcAft>
                <a:spcPct val="0"/>
              </a:spcAft>
            </a:pPr>
            <a:endParaRPr kumimoji="0" lang="en-US" altLang="en-US" sz="10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endParaRPr>
          </a:p>
          <a:p>
            <a:pPr algn="r" eaLnBrk="0" fontAlgn="base" hangingPunct="0">
              <a:spcBef>
                <a:spcPct val="0"/>
              </a:spcBef>
              <a:spcAft>
                <a:spcPct val="0"/>
              </a:spcAft>
            </a:pPr>
            <a:r>
              <a:rPr lang="en-US" altLang="en-US" sz="1000" dirty="0">
                <a:solidFill>
                  <a:srgbClr val="636466"/>
                </a:solidFill>
                <a:latin typeface="DM Sans 14pt" pitchFamily="2" charset="77"/>
                <a:ea typeface="Arial Unicode MS" panose="020B0604020202020204" pitchFamily="34" charset="-128"/>
                <a:cs typeface="Arial Unicode MS" panose="020B0604020202020204" pitchFamily="34" charset="-128"/>
              </a:rPr>
              <a:t>$20,000</a:t>
            </a:r>
          </a:p>
          <a:p>
            <a:pPr algn="r" eaLnBrk="0" fontAlgn="base" hangingPunct="0">
              <a:spcBef>
                <a:spcPct val="0"/>
              </a:spcBef>
              <a:spcAft>
                <a:spcPct val="0"/>
              </a:spcAft>
            </a:pPr>
            <a:endParaRPr kumimoji="0" lang="en-US" altLang="en-US" sz="1100" b="0" i="0" u="none" strike="noStrike" cap="none" normalizeH="0" baseline="0" dirty="0">
              <a:ln>
                <a:noFill/>
              </a:ln>
              <a:solidFill>
                <a:srgbClr val="636466"/>
              </a:solidFill>
              <a:effectLst/>
              <a:latin typeface="DM Sans 14pt" pitchFamily="2" charset="77"/>
              <a:ea typeface="Arial Unicode MS" panose="020B0604020202020204" pitchFamily="34" charset="-128"/>
              <a:cs typeface="Arial Unicode MS" panose="020B0604020202020204" pitchFamily="34" charset="-128"/>
            </a:endParaRPr>
          </a:p>
          <a:p>
            <a:pPr algn="r" eaLnBrk="0" fontAlgn="base" hangingPunct="0">
              <a:spcBef>
                <a:spcPct val="0"/>
              </a:spcBef>
              <a:spcAft>
                <a:spcPct val="0"/>
              </a:spcAft>
            </a:pPr>
            <a:r>
              <a:rPr lang="en-US" altLang="en-US" sz="1000" dirty="0">
                <a:solidFill>
                  <a:srgbClr val="636466"/>
                </a:solidFill>
                <a:latin typeface="DM Sans 14pt" pitchFamily="2" charset="77"/>
                <a:ea typeface="Arial Unicode MS" panose="020B0604020202020204" pitchFamily="34" charset="-128"/>
                <a:cs typeface="Arial Unicode MS" panose="020B0604020202020204" pitchFamily="34" charset="-128"/>
              </a:rPr>
              <a:t>-$ 2,000</a:t>
            </a:r>
          </a:p>
          <a:p>
            <a:pPr algn="r" eaLnBrk="0" fontAlgn="base" hangingPunct="0">
              <a:spcBef>
                <a:spcPct val="0"/>
              </a:spcBef>
              <a:spcAft>
                <a:spcPct val="0"/>
              </a:spcAft>
            </a:pPr>
            <a:endParaRPr lang="en-US" altLang="en-US" sz="1000" dirty="0">
              <a:solidFill>
                <a:srgbClr val="636466"/>
              </a:solidFill>
              <a:latin typeface="DM Sans 14pt" pitchFamily="2" charset="77"/>
              <a:ea typeface="Arial Unicode MS" panose="020B0604020202020204" pitchFamily="34" charset="-128"/>
              <a:cs typeface="Arial Unicode MS" panose="020B0604020202020204" pitchFamily="34" charset="-128"/>
            </a:endParaRPr>
          </a:p>
          <a:p>
            <a:pPr algn="r" eaLnBrk="0" fontAlgn="base" hangingPunct="0">
              <a:spcBef>
                <a:spcPct val="0"/>
              </a:spcBef>
              <a:spcAft>
                <a:spcPct val="0"/>
              </a:spcAft>
            </a:pPr>
            <a:r>
              <a:rPr lang="en-US" altLang="en-US" sz="1000" i="1" dirty="0">
                <a:solidFill>
                  <a:srgbClr val="B51072"/>
                </a:solidFill>
                <a:latin typeface="DM Sans 14pt" pitchFamily="2" charset="77"/>
                <a:ea typeface="Arial Unicode MS" panose="020B0604020202020204" pitchFamily="34" charset="-128"/>
                <a:cs typeface="Arial Unicode MS" panose="020B0604020202020204" pitchFamily="34" charset="-128"/>
              </a:rPr>
              <a:t>-$ 2,000</a:t>
            </a:r>
          </a:p>
          <a:p>
            <a:pPr algn="r" eaLnBrk="0" fontAlgn="base" hangingPunct="0">
              <a:spcBef>
                <a:spcPct val="0"/>
              </a:spcBef>
              <a:spcAft>
                <a:spcPct val="0"/>
              </a:spcAft>
            </a:pPr>
            <a:endParaRPr kumimoji="0" lang="en-US" altLang="en-US" sz="900" b="0" i="0" u="none" strike="noStrike" cap="none" normalizeH="0" baseline="0" dirty="0">
              <a:ln>
                <a:noFill/>
              </a:ln>
              <a:solidFill>
                <a:schemeClr val="tx1"/>
              </a:solidFill>
              <a:effectLst/>
              <a:latin typeface="DM Sans 14pt" pitchFamily="2" charset="77"/>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65" name="officeArt object" descr="Line 893">
            <a:extLst>
              <a:ext uri="{FF2B5EF4-FFF2-40B4-BE49-F238E27FC236}">
                <a16:creationId xmlns:a16="http://schemas.microsoft.com/office/drawing/2014/main" id="{3ABF0A55-5CE1-5733-B97D-2FC684CF8DDF}"/>
              </a:ext>
            </a:extLst>
          </p:cNvPr>
          <p:cNvCxnSpPr>
            <a:cxnSpLocks/>
          </p:cNvCxnSpPr>
          <p:nvPr/>
        </p:nvCxnSpPr>
        <p:spPr>
          <a:xfrm>
            <a:off x="5557631" y="1763347"/>
            <a:ext cx="6447097" cy="0"/>
          </a:xfrm>
          <a:prstGeom prst="line">
            <a:avLst/>
          </a:prstGeom>
          <a:noFill/>
          <a:ln w="3175" cap="flat">
            <a:solidFill>
              <a:srgbClr val="636466"/>
            </a:solidFill>
            <a:prstDash val="solid"/>
            <a:round/>
          </a:ln>
          <a:effectLst/>
        </p:spPr>
      </p:cxnSp>
      <p:grpSp>
        <p:nvGrpSpPr>
          <p:cNvPr id="73" name="Group 72">
            <a:extLst>
              <a:ext uri="{FF2B5EF4-FFF2-40B4-BE49-F238E27FC236}">
                <a16:creationId xmlns:a16="http://schemas.microsoft.com/office/drawing/2014/main" id="{484550D5-21F3-C79F-1938-E8B6E21AA20C}"/>
              </a:ext>
            </a:extLst>
          </p:cNvPr>
          <p:cNvGrpSpPr/>
          <p:nvPr/>
        </p:nvGrpSpPr>
        <p:grpSpPr>
          <a:xfrm>
            <a:off x="5542896" y="2698187"/>
            <a:ext cx="6447097" cy="335096"/>
            <a:chOff x="5561309" y="2578068"/>
            <a:chExt cx="6447097" cy="335096"/>
          </a:xfrm>
        </p:grpSpPr>
        <p:sp>
          <p:nvSpPr>
            <p:cNvPr id="48" name="Text Box 14" descr="Rectangle 922">
              <a:extLst>
                <a:ext uri="{FF2B5EF4-FFF2-40B4-BE49-F238E27FC236}">
                  <a16:creationId xmlns:a16="http://schemas.microsoft.com/office/drawing/2014/main" id="{3D947617-8044-BD57-A286-D64701491712}"/>
                </a:ext>
              </a:extLst>
            </p:cNvPr>
            <p:cNvSpPr txBox="1">
              <a:spLocks noChangeArrowheads="1"/>
            </p:cNvSpPr>
            <p:nvPr/>
          </p:nvSpPr>
          <p:spPr bwMode="auto">
            <a:xfrm>
              <a:off x="5561309" y="2675243"/>
              <a:ext cx="2370138"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en-US" sz="1200" b="0" i="0" u="none" strike="noStrike" cap="none" normalizeH="0" baseline="0" dirty="0">
                  <a:ln>
                    <a:noFill/>
                  </a:ln>
                  <a:solidFill>
                    <a:schemeClr val="tx1">
                      <a:lumMod val="85000"/>
                      <a:lumOff val="15000"/>
                    </a:schemeClr>
                  </a:solidFill>
                  <a:effectLst/>
                  <a:latin typeface="Franklin Gothic Book" panose="020B0503020102020204" pitchFamily="34" charset="0"/>
                  <a:ea typeface="Arial Unicode MS" panose="020B0604020202020204" pitchFamily="34" charset="-128"/>
                  <a:cs typeface="Arial Unicode MS" panose="020B0604020202020204" pitchFamily="34" charset="-128"/>
                </a:rPr>
                <a:t>Total</a:t>
              </a:r>
              <a:endParaRPr kumimoji="0" lang="de-DE" altLang="en-US" sz="1800" b="0" i="0" u="none" strike="noStrike" cap="none" normalizeH="0" baseline="0" dirty="0">
                <a:ln>
                  <a:noFill/>
                </a:ln>
                <a:solidFill>
                  <a:schemeClr val="tx1">
                    <a:lumMod val="85000"/>
                    <a:lumOff val="15000"/>
                  </a:schemeClr>
                </a:solidFill>
                <a:effectLst/>
                <a:latin typeface="Franklin Gothic Book" panose="020B0503020102020204" pitchFamily="34" charset="0"/>
              </a:endParaRPr>
            </a:p>
          </p:txBody>
        </p:sp>
        <p:sp>
          <p:nvSpPr>
            <p:cNvPr id="49" name="Text Box 13" descr="Rectangle 923">
              <a:extLst>
                <a:ext uri="{FF2B5EF4-FFF2-40B4-BE49-F238E27FC236}">
                  <a16:creationId xmlns:a16="http://schemas.microsoft.com/office/drawing/2014/main" id="{F4FB5008-CBF4-FBED-2CF4-A2D8A79149C9}"/>
                </a:ext>
              </a:extLst>
            </p:cNvPr>
            <p:cNvSpPr txBox="1">
              <a:spLocks noChangeArrowheads="1"/>
            </p:cNvSpPr>
            <p:nvPr/>
          </p:nvSpPr>
          <p:spPr bwMode="auto">
            <a:xfrm>
              <a:off x="10680019" y="2679801"/>
              <a:ext cx="1198144"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de-DE" altLang="en-US" sz="1200" b="0" i="0" u="none" strike="noStrike" cap="none" normalizeH="0" baseline="0" dirty="0">
                  <a:ln>
                    <a:noFill/>
                  </a:ln>
                  <a:solidFill>
                    <a:schemeClr val="tx1">
                      <a:lumMod val="85000"/>
                      <a:lumOff val="15000"/>
                    </a:schemeClr>
                  </a:solidFill>
                  <a:effectLst/>
                  <a:latin typeface="DM Sans 14pt" pitchFamily="2" charset="77"/>
                  <a:ea typeface="Arial Unicode MS" panose="020B0604020202020204" pitchFamily="34" charset="-128"/>
                  <a:cs typeface="Arial Unicode MS" panose="020B0604020202020204" pitchFamily="34" charset="-128"/>
                </a:rPr>
                <a:t>$</a:t>
              </a:r>
              <a:r>
                <a:rPr kumimoji="0" lang="en-US" altLang="en-US" sz="1200" b="0" i="0" u="none" strike="noStrike" cap="none" normalizeH="0" baseline="0" dirty="0">
                  <a:ln>
                    <a:noFill/>
                  </a:ln>
                  <a:solidFill>
                    <a:schemeClr val="tx1">
                      <a:lumMod val="85000"/>
                      <a:lumOff val="15000"/>
                    </a:schemeClr>
                  </a:solidFill>
                  <a:effectLst/>
                  <a:latin typeface="DM Sans 14pt" pitchFamily="2" charset="77"/>
                  <a:ea typeface="Arial Unicode MS" panose="020B0604020202020204" pitchFamily="34" charset="-128"/>
                  <a:cs typeface="Arial Unicode MS" panose="020B0604020202020204" pitchFamily="34" charset="-128"/>
                </a:rPr>
                <a:t>18,000</a:t>
              </a:r>
              <a:endParaRPr kumimoji="0" lang="en-US" altLang="en-US" sz="1800" b="0" i="0" u="none" strike="noStrike" cap="none" normalizeH="0" baseline="0" dirty="0">
                <a:ln>
                  <a:noFill/>
                </a:ln>
                <a:solidFill>
                  <a:schemeClr val="tx1">
                    <a:lumMod val="85000"/>
                    <a:lumOff val="15000"/>
                  </a:schemeClr>
                </a:solidFill>
                <a:effectLst/>
                <a:latin typeface="DM Sans 14pt" pitchFamily="2" charset="77"/>
              </a:endParaRPr>
            </a:p>
          </p:txBody>
        </p:sp>
        <p:cxnSp>
          <p:nvCxnSpPr>
            <p:cNvPr id="67" name="Straight Connector 66">
              <a:extLst>
                <a:ext uri="{FF2B5EF4-FFF2-40B4-BE49-F238E27FC236}">
                  <a16:creationId xmlns:a16="http://schemas.microsoft.com/office/drawing/2014/main" id="{41FD3C9D-AADA-E644-9C3E-E885646D018D}"/>
                </a:ext>
              </a:extLst>
            </p:cNvPr>
            <p:cNvCxnSpPr>
              <a:cxnSpLocks/>
            </p:cNvCxnSpPr>
            <p:nvPr/>
          </p:nvCxnSpPr>
          <p:spPr>
            <a:xfrm>
              <a:off x="5561309" y="2578068"/>
              <a:ext cx="6447097" cy="0"/>
            </a:xfrm>
            <a:prstGeom prst="line">
              <a:avLst/>
            </a:prstGeom>
            <a:ln w="15875" cmpd="dbl">
              <a:solidFill>
                <a:srgbClr val="B52372"/>
              </a:solidFill>
              <a:tailEnd w="sm" len="med"/>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CFC11ED5-E80F-99F3-DE83-22CDA0F929E1}"/>
              </a:ext>
            </a:extLst>
          </p:cNvPr>
          <p:cNvSpPr txBox="1"/>
          <p:nvPr/>
        </p:nvSpPr>
        <p:spPr>
          <a:xfrm>
            <a:off x="5428211" y="3066305"/>
            <a:ext cx="6564823" cy="2308324"/>
          </a:xfrm>
          <a:prstGeom prst="rect">
            <a:avLst/>
          </a:prstGeom>
          <a:noFill/>
        </p:spPr>
        <p:txBody>
          <a:bodyPr wrap="square" rtlCol="0">
            <a:spAutoFit/>
          </a:bodyPr>
          <a:lstStyle/>
          <a:p>
            <a:r>
              <a:rPr lang="en-US" sz="1600" dirty="0">
                <a:latin typeface="Franklin Gothic Book" panose="020B0503020102020204" pitchFamily="34" charset="0"/>
              </a:rPr>
              <a:t>Bank of Hours:  (Beyond the First Phase)</a:t>
            </a:r>
          </a:p>
          <a:p>
            <a:pPr lvl="1"/>
            <a:r>
              <a:rPr lang="en-US" sz="1200" b="0" i="0" u="none" strike="noStrike" dirty="0">
                <a:solidFill>
                  <a:srgbClr val="000000"/>
                </a:solidFill>
                <a:effectLst/>
                <a:latin typeface="Franklin Gothic Book" panose="020B0503020102020204" pitchFamily="34" charset="0"/>
              </a:rPr>
              <a:t>We operate on a 'bank of hours' system for this engagement, which means that we would allocate hours upfront for the project. These hours are drawn upon as we progress through the engagement. This approach helps ensure that we manage our time and resources efficiently while maintaining the quality of our work. </a:t>
            </a:r>
          </a:p>
          <a:p>
            <a:pPr lvl="1"/>
            <a:endParaRPr lang="en-US" sz="800" dirty="0">
              <a:solidFill>
                <a:srgbClr val="000000"/>
              </a:solidFill>
              <a:latin typeface="Franklin Gothic Book" panose="020B0503020102020204" pitchFamily="34" charset="0"/>
            </a:endParaRPr>
          </a:p>
          <a:p>
            <a:pPr lvl="1"/>
            <a:r>
              <a:rPr lang="en-US" sz="1200" b="0" i="0" u="none" strike="noStrike" dirty="0">
                <a:solidFill>
                  <a:srgbClr val="000000"/>
                </a:solidFill>
                <a:effectLst/>
                <a:latin typeface="Franklin Gothic Book" panose="020B0503020102020204" pitchFamily="34" charset="0"/>
              </a:rPr>
              <a:t>It also provides a clear structure for both parties, as it allows us to monitor the effort being invested and adjust as necessary to meet the project's goals. By having this bank of hours, we can protect ourselves from overextending our resources while ensuring that all necessary work is completed within the agreed scope. </a:t>
            </a:r>
            <a:r>
              <a:rPr lang="en-US" sz="1200" b="0" i="0" u="none" strike="noStrike" dirty="0">
                <a:solidFill>
                  <a:srgbClr val="000000"/>
                </a:solidFill>
                <a:effectLst/>
                <a:latin typeface="-webkit-standard"/>
              </a:rPr>
              <a:t>Any hours beyond the agreed scope will be billed at our standard hourly rate. We'll notify you in advance if additional time is needed, ensuring full transparency and alignment throughout the project.  </a:t>
            </a:r>
            <a:endParaRPr lang="en-US" sz="1200" dirty="0">
              <a:latin typeface="Franklin Gothic Book" panose="020B0503020102020204" pitchFamily="34" charset="0"/>
            </a:endParaRPr>
          </a:p>
        </p:txBody>
      </p:sp>
    </p:spTree>
    <p:extLst>
      <p:ext uri="{BB962C8B-B14F-4D97-AF65-F5344CB8AC3E}">
        <p14:creationId xmlns:p14="http://schemas.microsoft.com/office/powerpoint/2010/main" val="8076690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26E209D-CAB4-09C2-57D7-94478708A7B3}"/>
              </a:ext>
            </a:extLst>
          </p:cNvPr>
          <p:cNvSpPr/>
          <p:nvPr/>
        </p:nvSpPr>
        <p:spPr>
          <a:xfrm>
            <a:off x="171773" y="108402"/>
            <a:ext cx="11848454" cy="6222656"/>
          </a:xfrm>
          <a:prstGeom prst="rect">
            <a:avLst/>
          </a:prstGeom>
          <a:solidFill>
            <a:schemeClr val="bg2"/>
          </a:solidFill>
          <a:ln w="28575">
            <a:solidFill>
              <a:srgbClr val="D5106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bject 3">
            <a:extLst>
              <a:ext uri="{FF2B5EF4-FFF2-40B4-BE49-F238E27FC236}">
                <a16:creationId xmlns:a16="http://schemas.microsoft.com/office/drawing/2014/main" id="{325613DE-9D9E-BEA9-D10E-77887AF5F729}"/>
              </a:ext>
            </a:extLst>
          </p:cNvPr>
          <p:cNvSpPr txBox="1"/>
          <p:nvPr/>
        </p:nvSpPr>
        <p:spPr>
          <a:xfrm>
            <a:off x="389620" y="180294"/>
            <a:ext cx="1143740" cy="399254"/>
          </a:xfrm>
          <a:prstGeom prst="rect">
            <a:avLst/>
          </a:prstGeom>
        </p:spPr>
        <p:txBody>
          <a:bodyPr vert="horz" wrap="square" lIns="0" tIns="16933" rIns="0" bIns="0" rtlCol="0">
            <a:spAutoFit/>
          </a:bodyPr>
          <a:lstStyle/>
          <a:p>
            <a:pPr marL="11853" marR="11853">
              <a:spcBef>
                <a:spcPts val="133"/>
              </a:spcBef>
            </a:pPr>
            <a:r>
              <a:rPr lang="en-US" sz="1200" spc="-7">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Name:  </a:t>
            </a:r>
          </a:p>
          <a:p>
            <a:pPr marL="11853" marR="11853">
              <a:spcBef>
                <a:spcPts val="133"/>
              </a:spcBef>
            </a:pPr>
            <a:r>
              <a:rPr lang="en-US" sz="1200" spc="-7">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A</a:t>
            </a:r>
            <a:r>
              <a:rPr lang="en-US" sz="1200">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dd</a:t>
            </a:r>
            <a:r>
              <a:rPr lang="en-US" sz="1200" spc="-7">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re</a:t>
            </a:r>
            <a:r>
              <a:rPr lang="en-US" sz="1200">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ss:</a:t>
            </a:r>
            <a:endParaRPr lang="en-US" sz="1200">
              <a:latin typeface="Times New Roman" panose="02020603050405020304" pitchFamily="18" charset="0"/>
              <a:ea typeface="Times New Roman" panose="02020603050405020304" pitchFamily="18" charset="0"/>
            </a:endParaRPr>
          </a:p>
        </p:txBody>
      </p:sp>
      <p:sp>
        <p:nvSpPr>
          <p:cNvPr id="4" name="object 4">
            <a:extLst>
              <a:ext uri="{FF2B5EF4-FFF2-40B4-BE49-F238E27FC236}">
                <a16:creationId xmlns:a16="http://schemas.microsoft.com/office/drawing/2014/main" id="{9184475D-6C53-064C-8111-26F3EBD162F8}"/>
              </a:ext>
            </a:extLst>
          </p:cNvPr>
          <p:cNvSpPr txBox="1"/>
          <p:nvPr/>
        </p:nvSpPr>
        <p:spPr>
          <a:xfrm>
            <a:off x="1604420" y="191863"/>
            <a:ext cx="4491580" cy="1348104"/>
          </a:xfrm>
          <a:prstGeom prst="rect">
            <a:avLst/>
          </a:prstGeom>
        </p:spPr>
        <p:txBody>
          <a:bodyPr vert="horz" wrap="square" lIns="0" tIns="16933" rIns="0" bIns="0" rtlCol="0">
            <a:spAutoFit/>
          </a:bodyPr>
          <a:lstStyle/>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Flying Horse Resort</a:t>
            </a:r>
          </a:p>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1880 Weiskopf Point</a:t>
            </a:r>
          </a:p>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Colorado Springs, CO  80921</a:t>
            </a:r>
          </a:p>
          <a:p>
            <a:pPr marL="11853" marR="11853">
              <a:lnSpc>
                <a:spcPct val="107000"/>
              </a:lnSpc>
              <a:spcBef>
                <a:spcPts val="133"/>
              </a:spcBef>
            </a:pPr>
            <a:endParaRPr lang="en-US" sz="500" spc="-7" dirty="0">
              <a:solidFill>
                <a:srgbClr val="000000"/>
              </a:solidFill>
              <a:latin typeface="Franklin Gothic Book" panose="020B0503020102020204" pitchFamily="34" charset="0"/>
              <a:ea typeface="Times New Roman" panose="02020603050405020304" pitchFamily="18" charset="0"/>
            </a:endParaRPr>
          </a:p>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rPr>
              <a:t>Wendy McHenry</a:t>
            </a:r>
          </a:p>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rPr>
              <a:t>Managing Director</a:t>
            </a:r>
          </a:p>
          <a:p>
            <a:pPr marL="11853" marR="11853">
              <a:lnSpc>
                <a:spcPct val="107000"/>
              </a:lnSpc>
              <a:spcBef>
                <a:spcPts val="133"/>
              </a:spcBef>
            </a:pPr>
            <a:r>
              <a:rPr lang="en-US" sz="1200" spc="-7" dirty="0">
                <a:solidFill>
                  <a:srgbClr val="000000"/>
                </a:solidFill>
                <a:latin typeface="Franklin Gothic Book" panose="020B0503020102020204" pitchFamily="34" charset="0"/>
                <a:ea typeface="Times New Roman" panose="02020603050405020304" pitchFamily="18" charset="0"/>
              </a:rPr>
              <a:t>Commercial Effectiveness / Efficiency Study</a:t>
            </a:r>
          </a:p>
        </p:txBody>
      </p:sp>
      <p:sp>
        <p:nvSpPr>
          <p:cNvPr id="5" name="object 6">
            <a:extLst>
              <a:ext uri="{FF2B5EF4-FFF2-40B4-BE49-F238E27FC236}">
                <a16:creationId xmlns:a16="http://schemas.microsoft.com/office/drawing/2014/main" id="{8EA32283-5E9B-40A4-F406-F89B012F4C3A}"/>
              </a:ext>
            </a:extLst>
          </p:cNvPr>
          <p:cNvSpPr txBox="1"/>
          <p:nvPr/>
        </p:nvSpPr>
        <p:spPr>
          <a:xfrm>
            <a:off x="389620" y="1629961"/>
            <a:ext cx="11497580" cy="3423800"/>
          </a:xfrm>
          <a:prstGeom prst="rect">
            <a:avLst/>
          </a:prstGeom>
        </p:spPr>
        <p:txBody>
          <a:bodyPr vert="horz" wrap="square" lIns="0" tIns="16933" rIns="0" bIns="0" rtlCol="0">
            <a:spAutoFit/>
          </a:bodyPr>
          <a:lstStyle/>
          <a:p>
            <a:pPr marL="457189" indent="-457189">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Engagement </a:t>
            </a:r>
            <a:r>
              <a:rPr lang="en-US" sz="1200" spc="-13"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may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necessitate access of systems, tools,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IT team members, and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team members within</a:t>
            </a:r>
            <a:r>
              <a:rPr lang="en-US" sz="1200" spc="8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leadership.</a:t>
            </a: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a:p>
            <a:pPr marL="457189"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Developed tools, programs,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and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methodologies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will be the </a:t>
            </a: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property of Flying Horse Resort.</a:t>
            </a:r>
          </a:p>
          <a:p>
            <a:pPr marL="457189" indent="-457189">
              <a:lnSpc>
                <a:spcPts val="1433"/>
              </a:lnSpc>
              <a:buFont typeface="Arial" panose="020B0604020202020204" pitchFamily="34" charset="0"/>
              <a:buChar char="•"/>
              <a:tabLst>
                <a:tab pos="245527" algn="l"/>
                <a:tab pos="609585" algn="l"/>
              </a:tabLst>
            </a:pPr>
            <a:endParaRPr lang="en-US" sz="1467" dirty="0">
              <a:latin typeface="Franklin Gothic Book" panose="020B0503020102020204" pitchFamily="34" charset="0"/>
              <a:ea typeface="Cambria" panose="02040503050406030204" pitchFamily="18" charset="0"/>
              <a:cs typeface="Times New Roman" panose="02020603050405020304" pitchFamily="18" charset="0"/>
            </a:endParaRPr>
          </a:p>
          <a:p>
            <a:pPr marL="457189"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Invoicing </a:t>
            </a:r>
            <a:r>
              <a:rPr lang="en-US" sz="1200"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will be paid three times throughout the project:</a:t>
            </a:r>
          </a:p>
          <a:p>
            <a:pPr marL="1371589" lvl="2"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50% at the start of work</a:t>
            </a:r>
          </a:p>
          <a:p>
            <a:pPr marL="1371589" lvl="2"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25% at the halfway point of the engagement</a:t>
            </a:r>
          </a:p>
          <a:p>
            <a:pPr marL="1371589" lvl="2"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25% at the completion </a:t>
            </a:r>
          </a:p>
          <a:p>
            <a:pPr marL="1371589" lvl="2" indent="-457189">
              <a:lnSpc>
                <a:spcPts val="1433"/>
              </a:lnSpc>
              <a:buFont typeface="Arial" panose="020B0604020202020204" pitchFamily="34" charset="0"/>
              <a:buChar char="•"/>
              <a:tabLst>
                <a:tab pos="245527" algn="l"/>
                <a:tab pos="609585" algn="l"/>
              </a:tabLst>
            </a:pPr>
            <a:r>
              <a:rPr lang="en-US" sz="12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‘Bank of Hours” described on slide 27 of this document</a:t>
            </a:r>
          </a:p>
          <a:p>
            <a:pPr marL="11853" marR="11853">
              <a:lnSpc>
                <a:spcPct val="101000"/>
              </a:lnSpc>
              <a:spcBef>
                <a:spcPts val="1100"/>
              </a:spcBef>
            </a:pP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The client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identified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above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agrees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to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engage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Kate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Buda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&amp; Co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to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furnish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specific Consulting,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Leadership Constructs, etc.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(hereinafter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“Services”)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upon the Standard </a:t>
            </a:r>
            <a:r>
              <a:rPr lang="en-US" sz="1200" spc="-2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Terms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and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Conditions attached hereto.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Kate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Burda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&amp; Co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shall perform the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Services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outlined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in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the attached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Scope of Work</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In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return, Flying Horse Resort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agrees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to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the outlined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in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the</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Investment.</a:t>
            </a:r>
            <a:endParaRPr lang="en-US" sz="1600" dirty="0">
              <a:latin typeface="Times New Roman" panose="02020603050405020304" pitchFamily="18" charset="0"/>
              <a:ea typeface="Times New Roman" panose="02020603050405020304" pitchFamily="18" charset="0"/>
            </a:endParaRPr>
          </a:p>
          <a:p>
            <a:pPr marL="11853" marR="1170064">
              <a:lnSpc>
                <a:spcPct val="156000"/>
              </a:lnSpc>
              <a:spcBef>
                <a:spcPts val="147"/>
              </a:spcBef>
            </a:pP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This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Agreement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constitutes the entire agreement between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Client and </a:t>
            </a: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Kate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Burda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&amp; Co and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replaces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all </a:t>
            </a: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prior oral or written communications between the </a:t>
            </a:r>
            <a:r>
              <a:rPr lang="en-US" sz="1200"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parties.  </a:t>
            </a:r>
            <a:endPar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endParaRPr>
          </a:p>
          <a:p>
            <a:pPr marL="11853" marR="1170064">
              <a:lnSpc>
                <a:spcPct val="156000"/>
              </a:lnSpc>
              <a:spcBef>
                <a:spcPts val="147"/>
              </a:spcBef>
            </a:pPr>
            <a:r>
              <a:rPr lang="en-US" sz="1200" spc="-13"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Signatures:</a:t>
            </a:r>
            <a:endParaRPr lang="en-US" sz="1600" dirty="0">
              <a:latin typeface="Times New Roman" panose="02020603050405020304" pitchFamily="18" charset="0"/>
              <a:ea typeface="Times New Roman" panose="02020603050405020304" pitchFamily="18" charset="0"/>
            </a:endParaRPr>
          </a:p>
          <a:p>
            <a:pPr marL="469053" marR="560479" lvl="1">
              <a:lnSpc>
                <a:spcPct val="108000"/>
              </a:lnSpc>
              <a:spcBef>
                <a:spcPts val="480"/>
              </a:spcBef>
            </a:pP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By signing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below,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the undersigned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certify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that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they have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read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and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understand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and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agree </a:t>
            </a:r>
            <a:r>
              <a:rPr lang="en-US" sz="1050" i="1" spc="-20" dirty="0">
                <a:solidFill>
                  <a:srgbClr val="000000"/>
                </a:solidFill>
                <a:latin typeface="Franklin Gothic Book" panose="020B0503020102020204" pitchFamily="34" charset="0"/>
                <a:ea typeface="Times New Roman" panose="02020603050405020304" pitchFamily="18" charset="0"/>
                <a:cs typeface="Franklin Gothic Book Italic"/>
              </a:rPr>
              <a:t>to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be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legally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bound </a:t>
            </a:r>
            <a:r>
              <a:rPr lang="en-US" sz="1050" i="1" spc="-27" dirty="0">
                <a:solidFill>
                  <a:srgbClr val="000000"/>
                </a:solidFill>
                <a:latin typeface="Franklin Gothic Book" panose="020B0503020102020204" pitchFamily="34" charset="0"/>
                <a:ea typeface="Times New Roman" panose="02020603050405020304" pitchFamily="18" charset="0"/>
                <a:cs typeface="Franklin Gothic Book Italic"/>
              </a:rPr>
              <a:t>by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the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terms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and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conditions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of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this Agreement, including the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terms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and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conditions contained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in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any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attached </a:t>
            </a:r>
            <a:r>
              <a:rPr lang="en-US" sz="1050" i="1" spc="-13" dirty="0">
                <a:solidFill>
                  <a:srgbClr val="000000"/>
                </a:solidFill>
                <a:latin typeface="Franklin Gothic Book" panose="020B0503020102020204" pitchFamily="34" charset="0"/>
                <a:ea typeface="Times New Roman" panose="02020603050405020304" pitchFamily="18" charset="0"/>
                <a:cs typeface="Franklin Gothic Book Italic"/>
              </a:rPr>
              <a:t>Work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Scope </a:t>
            </a:r>
            <a:r>
              <a:rPr lang="en-US" sz="1050" i="1" dirty="0">
                <a:solidFill>
                  <a:srgbClr val="000000"/>
                </a:solidFill>
                <a:latin typeface="Franklin Gothic Book" panose="020B0503020102020204" pitchFamily="34" charset="0"/>
                <a:ea typeface="Times New Roman" panose="02020603050405020304" pitchFamily="18" charset="0"/>
                <a:cs typeface="Franklin Gothic Book Italic"/>
              </a:rPr>
              <a:t>and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Fee</a:t>
            </a:r>
            <a:r>
              <a:rPr lang="en-US" sz="1050" i="1" spc="33" dirty="0">
                <a:solidFill>
                  <a:srgbClr val="000000"/>
                </a:solidFill>
                <a:latin typeface="Franklin Gothic Book" panose="020B0503020102020204" pitchFamily="34" charset="0"/>
                <a:ea typeface="Times New Roman" panose="02020603050405020304" pitchFamily="18" charset="0"/>
                <a:cs typeface="Franklin Gothic Book Italic"/>
              </a:rPr>
              <a:t> </a:t>
            </a:r>
            <a:r>
              <a:rPr lang="en-US" sz="1050" i="1" spc="-7" dirty="0">
                <a:solidFill>
                  <a:srgbClr val="000000"/>
                </a:solidFill>
                <a:latin typeface="Franklin Gothic Book" panose="020B0503020102020204" pitchFamily="34" charset="0"/>
                <a:ea typeface="Times New Roman" panose="02020603050405020304" pitchFamily="18" charset="0"/>
                <a:cs typeface="Franklin Gothic Book Italic"/>
              </a:rPr>
              <a:t>Schedules</a:t>
            </a:r>
            <a:r>
              <a:rPr lang="en-US" sz="1050" i="1" spc="-7" dirty="0">
                <a:solidFill>
                  <a:srgbClr val="000000"/>
                </a:solidFill>
                <a:latin typeface="Franklin Gothic Book" panose="020B0503020102020204" pitchFamily="34" charset="0"/>
                <a:ea typeface="Times New Roman" panose="02020603050405020304" pitchFamily="18" charset="0"/>
                <a:cs typeface="Calibri" panose="020F0502020204030204" pitchFamily="34" charset="0"/>
              </a:rPr>
              <a:t>.</a:t>
            </a:r>
            <a:endParaRPr lang="en-US" sz="1200" dirty="0">
              <a:latin typeface="Times New Roman" panose="02020603050405020304" pitchFamily="18" charset="0"/>
              <a:ea typeface="Times New Roman" panose="02020603050405020304" pitchFamily="18" charset="0"/>
            </a:endParaRPr>
          </a:p>
          <a:p>
            <a:pPr marL="469053" marR="560479" lvl="1">
              <a:lnSpc>
                <a:spcPct val="108000"/>
              </a:lnSpc>
              <a:spcBef>
                <a:spcPts val="480"/>
              </a:spcBef>
            </a:pPr>
            <a:r>
              <a:rPr lang="en-US" sz="1200" dirty="0">
                <a:latin typeface="Franklin Gothic Book" panose="020B0503020102020204" pitchFamily="34" charset="0"/>
                <a:ea typeface="Times New Roman" panose="02020603050405020304" pitchFamily="18" charset="0"/>
              </a:rPr>
              <a:t> </a:t>
            </a:r>
            <a:endParaRPr lang="en-US" sz="1200" dirty="0">
              <a:latin typeface="Times New Roman" panose="02020603050405020304" pitchFamily="18" charset="0"/>
              <a:ea typeface="Times New Roman" panose="02020603050405020304" pitchFamily="18" charset="0"/>
            </a:endParaRPr>
          </a:p>
        </p:txBody>
      </p:sp>
      <p:sp>
        <p:nvSpPr>
          <p:cNvPr id="8" name="object 19">
            <a:extLst>
              <a:ext uri="{FF2B5EF4-FFF2-40B4-BE49-F238E27FC236}">
                <a16:creationId xmlns:a16="http://schemas.microsoft.com/office/drawing/2014/main" id="{A622A4AC-3283-4F1A-DE55-89F23A025958}"/>
              </a:ext>
            </a:extLst>
          </p:cNvPr>
          <p:cNvSpPr txBox="1"/>
          <p:nvPr/>
        </p:nvSpPr>
        <p:spPr>
          <a:xfrm>
            <a:off x="398846" y="936822"/>
            <a:ext cx="1488553" cy="589243"/>
          </a:xfrm>
          <a:prstGeom prst="rect">
            <a:avLst/>
          </a:prstGeom>
        </p:spPr>
        <p:txBody>
          <a:bodyPr vert="horz" wrap="square" lIns="0" tIns="16933" rIns="0" bIns="0" rtlCol="0">
            <a:spAutoFit/>
          </a:bodyPr>
          <a:lstStyle/>
          <a:p>
            <a:pPr marL="36406" marR="11853">
              <a:lnSpc>
                <a:spcPct val="107000"/>
              </a:lnSpc>
              <a:spcBef>
                <a:spcPts val="133"/>
              </a:spcBef>
            </a:pPr>
            <a:r>
              <a:rPr lang="en-US" sz="1100" spc="-7">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Contact</a:t>
            </a:r>
            <a:r>
              <a:rPr lang="en-US" sz="1100" spc="-8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 </a:t>
            </a:r>
            <a:r>
              <a:rPr lang="en-US" sz="1100" spc="-7">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Name:  </a:t>
            </a:r>
          </a:p>
          <a:p>
            <a:pPr marL="36406" marR="11853">
              <a:lnSpc>
                <a:spcPct val="107000"/>
              </a:lnSpc>
              <a:spcBef>
                <a:spcPts val="133"/>
              </a:spcBef>
            </a:pPr>
            <a:r>
              <a:rPr lang="en-US" sz="1100" spc="-7">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Title:</a:t>
            </a:r>
            <a:endParaRPr lang="en-US" sz="1200">
              <a:latin typeface="Times New Roman" panose="02020603050405020304" pitchFamily="18" charset="0"/>
              <a:ea typeface="Times New Roman" panose="02020603050405020304" pitchFamily="18" charset="0"/>
            </a:endParaRPr>
          </a:p>
          <a:p>
            <a:pPr marL="36406" marR="11853">
              <a:lnSpc>
                <a:spcPct val="107000"/>
              </a:lnSpc>
              <a:spcBef>
                <a:spcPts val="133"/>
              </a:spcBef>
            </a:pPr>
            <a:r>
              <a:rPr lang="en-US" sz="1100" spc="-13">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Agreement:</a:t>
            </a:r>
            <a:endParaRPr lang="en-US" sz="1200">
              <a:latin typeface="Times New Roman" panose="02020603050405020304" pitchFamily="18" charset="0"/>
              <a:ea typeface="Times New Roman" panose="02020603050405020304" pitchFamily="18" charset="0"/>
            </a:endParaRPr>
          </a:p>
        </p:txBody>
      </p:sp>
      <p:grpSp>
        <p:nvGrpSpPr>
          <p:cNvPr id="19" name="Group 18">
            <a:extLst>
              <a:ext uri="{FF2B5EF4-FFF2-40B4-BE49-F238E27FC236}">
                <a16:creationId xmlns:a16="http://schemas.microsoft.com/office/drawing/2014/main" id="{9FD98904-AF5D-A5B4-68C3-F156C63F2EC1}"/>
              </a:ext>
            </a:extLst>
          </p:cNvPr>
          <p:cNvGrpSpPr/>
          <p:nvPr/>
        </p:nvGrpSpPr>
        <p:grpSpPr>
          <a:xfrm>
            <a:off x="541171" y="5034984"/>
            <a:ext cx="3252371" cy="1010575"/>
            <a:chOff x="541171" y="5034984"/>
            <a:chExt cx="3252371" cy="1010575"/>
          </a:xfrm>
        </p:grpSpPr>
        <p:sp>
          <p:nvSpPr>
            <p:cNvPr id="6" name="object 7">
              <a:extLst>
                <a:ext uri="{FF2B5EF4-FFF2-40B4-BE49-F238E27FC236}">
                  <a16:creationId xmlns:a16="http://schemas.microsoft.com/office/drawing/2014/main" id="{3EC3D0BA-59C7-4D9D-07D2-E95DAE897A72}"/>
                </a:ext>
              </a:extLst>
            </p:cNvPr>
            <p:cNvSpPr txBox="1"/>
            <p:nvPr/>
          </p:nvSpPr>
          <p:spPr>
            <a:xfrm>
              <a:off x="548247" y="5034984"/>
              <a:ext cx="3023307" cy="201764"/>
            </a:xfrm>
            <a:prstGeom prst="rect">
              <a:avLst/>
            </a:prstGeom>
          </p:spPr>
          <p:txBody>
            <a:bodyPr vert="horz" wrap="square" lIns="0" tIns="16933" rIns="0" bIns="0" rtlCol="0">
              <a:spAutoFit/>
            </a:bodyPr>
            <a:lstStyle/>
            <a:p>
              <a:pPr>
                <a:spcBef>
                  <a:spcPts val="133"/>
                </a:spcBef>
              </a:pPr>
              <a:r>
                <a:rPr lang="en-US" sz="1200" spc="-7" dirty="0">
                  <a:solidFill>
                    <a:srgbClr val="000000"/>
                  </a:solidFill>
                  <a:latin typeface="Franklin Gothic Book" panose="020B0503020102020204" pitchFamily="34" charset="0"/>
                  <a:ea typeface="Times New Roman" panose="02020603050405020304" pitchFamily="18" charset="0"/>
                  <a:cs typeface="Franklin Gothic Book" panose="020B0503020102020204" pitchFamily="34" charset="0"/>
                </a:rPr>
                <a:t>Flying Horse Resort</a:t>
              </a:r>
              <a:endParaRPr lang="en-US" sz="1600" dirty="0">
                <a:latin typeface="Times New Roman" panose="02020603050405020304" pitchFamily="18" charset="0"/>
                <a:ea typeface="Times New Roman" panose="02020603050405020304" pitchFamily="18" charset="0"/>
              </a:endParaRPr>
            </a:p>
          </p:txBody>
        </p:sp>
        <p:grpSp>
          <p:nvGrpSpPr>
            <p:cNvPr id="14" name="Group 13">
              <a:extLst>
                <a:ext uri="{FF2B5EF4-FFF2-40B4-BE49-F238E27FC236}">
                  <a16:creationId xmlns:a16="http://schemas.microsoft.com/office/drawing/2014/main" id="{2B6473AE-9F4C-09BE-B05D-269FFA1386CD}"/>
                </a:ext>
              </a:extLst>
            </p:cNvPr>
            <p:cNvGrpSpPr/>
            <p:nvPr/>
          </p:nvGrpSpPr>
          <p:grpSpPr>
            <a:xfrm>
              <a:off x="541171" y="5336473"/>
              <a:ext cx="3252371" cy="709086"/>
              <a:chOff x="470196" y="3822629"/>
              <a:chExt cx="2439278" cy="531814"/>
            </a:xfrm>
          </p:grpSpPr>
          <p:sp>
            <p:nvSpPr>
              <p:cNvPr id="10" name="object 9">
                <a:extLst>
                  <a:ext uri="{FF2B5EF4-FFF2-40B4-BE49-F238E27FC236}">
                    <a16:creationId xmlns:a16="http://schemas.microsoft.com/office/drawing/2014/main" id="{33765966-7765-E306-6B0B-FDFBF570B786}"/>
                  </a:ext>
                </a:extLst>
              </p:cNvPr>
              <p:cNvSpPr txBox="1"/>
              <p:nvPr/>
            </p:nvSpPr>
            <p:spPr>
              <a:xfrm>
                <a:off x="475503" y="3822629"/>
                <a:ext cx="2433971" cy="151323"/>
              </a:xfrm>
              <a:prstGeom prst="rect">
                <a:avLst/>
              </a:prstGeom>
            </p:spPr>
            <p:txBody>
              <a:bodyPr vert="horz" wrap="square" lIns="0" tIns="16933" rIns="0" bIns="0" rtlCol="0">
                <a:spAutoFit/>
              </a:bodyPr>
              <a:lstStyle/>
              <a:p>
                <a:pPr>
                  <a:spcBef>
                    <a:spcPts val="133"/>
                  </a:spcBef>
                  <a:tabLst>
                    <a:tab pos="2420559" algn="l"/>
                  </a:tabLst>
                </a:pPr>
                <a:r>
                  <a:rPr lang="en-US" sz="1200" spc="-7">
                    <a:solidFill>
                      <a:srgbClr val="000000"/>
                    </a:solidFill>
                    <a:latin typeface="Franklin Gothic Book" panose="020B0503020102020204" pitchFamily="34" charset="0"/>
                    <a:ea typeface="Times New Roman" panose="02020603050405020304" pitchFamily="18" charset="0"/>
                  </a:rPr>
                  <a:t>Date: _______________________________</a:t>
                </a:r>
                <a:endParaRPr lang="en-US" sz="1600">
                  <a:latin typeface="Franklin Gothic Book" panose="020B0503020102020204" pitchFamily="34" charset="0"/>
                  <a:ea typeface="Times New Roman" panose="02020603050405020304" pitchFamily="18" charset="0"/>
                </a:endParaRPr>
              </a:p>
            </p:txBody>
          </p:sp>
          <p:sp>
            <p:nvSpPr>
              <p:cNvPr id="11" name="object 11">
                <a:extLst>
                  <a:ext uri="{FF2B5EF4-FFF2-40B4-BE49-F238E27FC236}">
                    <a16:creationId xmlns:a16="http://schemas.microsoft.com/office/drawing/2014/main" id="{B32E6EED-FED6-DDEC-192A-1897209004BE}"/>
                  </a:ext>
                </a:extLst>
              </p:cNvPr>
              <p:cNvSpPr txBox="1"/>
              <p:nvPr/>
            </p:nvSpPr>
            <p:spPr>
              <a:xfrm>
                <a:off x="470196" y="4051796"/>
                <a:ext cx="209592" cy="151323"/>
              </a:xfrm>
              <a:prstGeom prst="rect">
                <a:avLst/>
              </a:prstGeom>
            </p:spPr>
            <p:txBody>
              <a:bodyPr vert="horz" wrap="square" lIns="0" tIns="16933" rIns="0" bIns="0" rtlCol="0">
                <a:spAutoFit/>
              </a:bodyPr>
              <a:lstStyle/>
              <a:p>
                <a:pPr>
                  <a:spcBef>
                    <a:spcPts val="133"/>
                  </a:spcBef>
                </a:pPr>
                <a:r>
                  <a:rPr lang="en-US" sz="1200">
                    <a:solidFill>
                      <a:srgbClr val="000000"/>
                    </a:solidFill>
                    <a:latin typeface="Franklin Gothic Book" panose="020B0503020102020204" pitchFamily="34" charset="0"/>
                    <a:ea typeface="Times New Roman" panose="02020603050405020304" pitchFamily="18" charset="0"/>
                  </a:rPr>
                  <a:t>By:</a:t>
                </a:r>
                <a:endParaRPr lang="en-US" sz="1600">
                  <a:latin typeface="Franklin Gothic Book" panose="020B0503020102020204" pitchFamily="34" charset="0"/>
                  <a:ea typeface="Times New Roman" panose="02020603050405020304" pitchFamily="18" charset="0"/>
                </a:endParaRPr>
              </a:p>
            </p:txBody>
          </p:sp>
          <p:sp>
            <p:nvSpPr>
              <p:cNvPr id="12" name="object 12">
                <a:extLst>
                  <a:ext uri="{FF2B5EF4-FFF2-40B4-BE49-F238E27FC236}">
                    <a16:creationId xmlns:a16="http://schemas.microsoft.com/office/drawing/2014/main" id="{D98CF42B-741C-46BC-5A4A-803D60B68147}"/>
                  </a:ext>
                </a:extLst>
              </p:cNvPr>
              <p:cNvSpPr/>
              <p:nvPr/>
            </p:nvSpPr>
            <p:spPr>
              <a:xfrm>
                <a:off x="679788" y="4162068"/>
                <a:ext cx="1858911" cy="45719"/>
              </a:xfrm>
              <a:custGeom>
                <a:avLst/>
                <a:gdLst/>
                <a:ahLst/>
                <a:cxnLst/>
                <a:rect l="l" t="t" r="r" b="b"/>
                <a:pathLst>
                  <a:path w="1651000">
                    <a:moveTo>
                      <a:pt x="0" y="0"/>
                    </a:moveTo>
                    <a:lnTo>
                      <a:pt x="1651000" y="0"/>
                    </a:lnTo>
                  </a:path>
                </a:pathLst>
              </a:custGeom>
              <a:ln w="12700">
                <a:solidFill>
                  <a:srgbClr val="000000"/>
                </a:solidFill>
              </a:ln>
            </p:spPr>
            <p:txBody>
              <a:bodyPr wrap="square" lIns="0" tIns="0" rIns="0" bIns="0" rtlCol="0"/>
              <a:lstStyle/>
              <a:p>
                <a:endParaRPr lang="en-US" sz="2400"/>
              </a:p>
            </p:txBody>
          </p:sp>
          <p:sp>
            <p:nvSpPr>
              <p:cNvPr id="13" name="object 13">
                <a:extLst>
                  <a:ext uri="{FF2B5EF4-FFF2-40B4-BE49-F238E27FC236}">
                    <a16:creationId xmlns:a16="http://schemas.microsoft.com/office/drawing/2014/main" id="{5817219C-C116-78D9-C250-88BFEC60CC93}"/>
                  </a:ext>
                </a:extLst>
              </p:cNvPr>
              <p:cNvSpPr txBox="1"/>
              <p:nvPr/>
            </p:nvSpPr>
            <p:spPr>
              <a:xfrm>
                <a:off x="682509" y="4203120"/>
                <a:ext cx="1415591" cy="151323"/>
              </a:xfrm>
              <a:prstGeom prst="rect">
                <a:avLst/>
              </a:prstGeom>
            </p:spPr>
            <p:txBody>
              <a:bodyPr vert="horz" wrap="square" lIns="0" tIns="16933" rIns="0" bIns="0" rtlCol="0">
                <a:spAutoFit/>
              </a:bodyPr>
              <a:lstStyle/>
              <a:p>
                <a:pPr>
                  <a:spcBef>
                    <a:spcPts val="133"/>
                  </a:spcBef>
                </a:pPr>
                <a:r>
                  <a:rPr lang="en-US" sz="1200" spc="-7">
                    <a:solidFill>
                      <a:srgbClr val="000000"/>
                    </a:solidFill>
                    <a:latin typeface="Franklin Gothic Book" panose="020B0503020102020204" pitchFamily="34" charset="0"/>
                    <a:ea typeface="Times New Roman" panose="02020603050405020304" pitchFamily="18" charset="0"/>
                  </a:rPr>
                  <a:t>(Authorized</a:t>
                </a:r>
                <a:r>
                  <a:rPr lang="en-US" sz="1200" spc="-27">
                    <a:solidFill>
                      <a:srgbClr val="000000"/>
                    </a:solidFill>
                    <a:latin typeface="Franklin Gothic Book" panose="020B0503020102020204" pitchFamily="34" charset="0"/>
                    <a:ea typeface="Times New Roman" panose="02020603050405020304" pitchFamily="18" charset="0"/>
                  </a:rPr>
                  <a:t> </a:t>
                </a:r>
                <a:r>
                  <a:rPr lang="en-US" sz="1200" spc="-7">
                    <a:solidFill>
                      <a:srgbClr val="000000"/>
                    </a:solidFill>
                    <a:latin typeface="Franklin Gothic Book" panose="020B0503020102020204" pitchFamily="34" charset="0"/>
                    <a:ea typeface="Times New Roman" panose="02020603050405020304" pitchFamily="18" charset="0"/>
                  </a:rPr>
                  <a:t>Signature)</a:t>
                </a:r>
                <a:endParaRPr lang="en-US" sz="1600">
                  <a:latin typeface="Franklin Gothic Book" panose="020B0503020102020204" pitchFamily="34" charset="0"/>
                  <a:ea typeface="Times New Roman" panose="02020603050405020304" pitchFamily="18" charset="0"/>
                </a:endParaRPr>
              </a:p>
            </p:txBody>
          </p:sp>
        </p:grpSp>
      </p:grpSp>
      <p:grpSp>
        <p:nvGrpSpPr>
          <p:cNvPr id="9" name="Group 8">
            <a:extLst>
              <a:ext uri="{FF2B5EF4-FFF2-40B4-BE49-F238E27FC236}">
                <a16:creationId xmlns:a16="http://schemas.microsoft.com/office/drawing/2014/main" id="{2E0CF27C-6DBB-4B81-075B-6FE4C51F0F1C}"/>
              </a:ext>
            </a:extLst>
          </p:cNvPr>
          <p:cNvGrpSpPr/>
          <p:nvPr/>
        </p:nvGrpSpPr>
        <p:grpSpPr>
          <a:xfrm>
            <a:off x="7540084" y="5071898"/>
            <a:ext cx="2634553" cy="1149882"/>
            <a:chOff x="7540084" y="5071898"/>
            <a:chExt cx="2634553" cy="1149882"/>
          </a:xfrm>
        </p:grpSpPr>
        <p:sp>
          <p:nvSpPr>
            <p:cNvPr id="7" name="object 8">
              <a:extLst>
                <a:ext uri="{FF2B5EF4-FFF2-40B4-BE49-F238E27FC236}">
                  <a16:creationId xmlns:a16="http://schemas.microsoft.com/office/drawing/2014/main" id="{EF0F06AC-BEB8-5988-AF2F-381253AE0F86}"/>
                </a:ext>
              </a:extLst>
            </p:cNvPr>
            <p:cNvSpPr txBox="1"/>
            <p:nvPr/>
          </p:nvSpPr>
          <p:spPr>
            <a:xfrm>
              <a:off x="7540084" y="5071898"/>
              <a:ext cx="2315652" cy="194178"/>
            </a:xfrm>
            <a:prstGeom prst="rect">
              <a:avLst/>
            </a:prstGeom>
          </p:spPr>
          <p:txBody>
            <a:bodyPr vert="horz" wrap="square" lIns="0" tIns="13547" rIns="0" bIns="0" rtlCol="0">
              <a:spAutoFit/>
            </a:bodyPr>
            <a:lstStyle/>
            <a:p>
              <a:pPr marR="11853">
                <a:lnSpc>
                  <a:spcPct val="101000"/>
                </a:lnSpc>
                <a:spcBef>
                  <a:spcPts val="107"/>
                </a:spcBef>
              </a:pPr>
              <a:r>
                <a:rPr lang="en-US" sz="1200" spc="-7">
                  <a:solidFill>
                    <a:srgbClr val="000000"/>
                  </a:solidFill>
                  <a:latin typeface="Franklin Gothic Book" panose="020B0503020102020204" pitchFamily="34" charset="0"/>
                  <a:ea typeface="Times New Roman" panose="02020603050405020304" pitchFamily="18" charset="0"/>
                </a:rPr>
                <a:t>Kate Burda </a:t>
              </a:r>
              <a:r>
                <a:rPr lang="en-US" sz="1200">
                  <a:solidFill>
                    <a:srgbClr val="000000"/>
                  </a:solidFill>
                  <a:latin typeface="Franklin Gothic Book" panose="020B0503020102020204" pitchFamily="34" charset="0"/>
                  <a:ea typeface="Times New Roman" panose="02020603050405020304" pitchFamily="18" charset="0"/>
                </a:rPr>
                <a:t>&amp; </a:t>
              </a:r>
              <a:r>
                <a:rPr lang="en-US" sz="1200" spc="-7">
                  <a:solidFill>
                    <a:srgbClr val="000000"/>
                  </a:solidFill>
                  <a:latin typeface="Franklin Gothic Book" panose="020B0503020102020204" pitchFamily="34" charset="0"/>
                  <a:ea typeface="Times New Roman" panose="02020603050405020304" pitchFamily="18" charset="0"/>
                </a:rPr>
                <a:t>Company, </a:t>
              </a:r>
              <a:r>
                <a:rPr lang="en-US" sz="1200">
                  <a:solidFill>
                    <a:srgbClr val="000000"/>
                  </a:solidFill>
                  <a:latin typeface="Franklin Gothic Book" panose="020B0503020102020204" pitchFamily="34" charset="0"/>
                  <a:ea typeface="Times New Roman" panose="02020603050405020304" pitchFamily="18" charset="0"/>
                </a:rPr>
                <a:t>LLC  </a:t>
              </a:r>
            </a:p>
          </p:txBody>
        </p:sp>
        <p:sp>
          <p:nvSpPr>
            <p:cNvPr id="15" name="object 10">
              <a:extLst>
                <a:ext uri="{FF2B5EF4-FFF2-40B4-BE49-F238E27FC236}">
                  <a16:creationId xmlns:a16="http://schemas.microsoft.com/office/drawing/2014/main" id="{FFF8A3B7-072A-A379-B7C7-1643D7701EF7}"/>
                </a:ext>
              </a:extLst>
            </p:cNvPr>
            <p:cNvSpPr txBox="1"/>
            <p:nvPr/>
          </p:nvSpPr>
          <p:spPr>
            <a:xfrm>
              <a:off x="7571844" y="5296926"/>
              <a:ext cx="2602793" cy="201764"/>
            </a:xfrm>
            <a:prstGeom prst="rect">
              <a:avLst/>
            </a:prstGeom>
          </p:spPr>
          <p:txBody>
            <a:bodyPr vert="horz" wrap="square" lIns="0" tIns="16933" rIns="0" bIns="0" rtlCol="0">
              <a:spAutoFit/>
            </a:bodyPr>
            <a:lstStyle/>
            <a:p>
              <a:pPr>
                <a:spcBef>
                  <a:spcPts val="133"/>
                </a:spcBef>
                <a:tabLst>
                  <a:tab pos="2234297" algn="l"/>
                </a:tabLst>
              </a:pPr>
              <a:r>
                <a:rPr lang="en-US" sz="1200" spc="-27">
                  <a:solidFill>
                    <a:srgbClr val="000000"/>
                  </a:solidFill>
                  <a:latin typeface="Franklin Gothic Book" panose="020B0503020102020204" pitchFamily="34" charset="0"/>
                  <a:ea typeface="Times New Roman" panose="02020603050405020304" pitchFamily="18" charset="0"/>
                </a:rPr>
                <a:t>Date: ____________________________</a:t>
              </a:r>
              <a:endParaRPr lang="en-US" sz="1600">
                <a:latin typeface="Franklin Gothic Book" panose="020B0503020102020204" pitchFamily="34" charset="0"/>
                <a:ea typeface="Times New Roman" panose="02020603050405020304" pitchFamily="18" charset="0"/>
              </a:endParaRPr>
            </a:p>
          </p:txBody>
        </p:sp>
        <p:sp>
          <p:nvSpPr>
            <p:cNvPr id="16" name="object 14">
              <a:extLst>
                <a:ext uri="{FF2B5EF4-FFF2-40B4-BE49-F238E27FC236}">
                  <a16:creationId xmlns:a16="http://schemas.microsoft.com/office/drawing/2014/main" id="{ABBDD247-BEC2-27D7-9A60-87FC403C2BE6}"/>
                </a:ext>
              </a:extLst>
            </p:cNvPr>
            <p:cNvSpPr txBox="1"/>
            <p:nvPr/>
          </p:nvSpPr>
          <p:spPr>
            <a:xfrm>
              <a:off x="7619017" y="5562154"/>
              <a:ext cx="261316" cy="201764"/>
            </a:xfrm>
            <a:prstGeom prst="rect">
              <a:avLst/>
            </a:prstGeom>
          </p:spPr>
          <p:txBody>
            <a:bodyPr vert="horz" wrap="square" lIns="0" tIns="16933" rIns="0" bIns="0" rtlCol="0">
              <a:spAutoFit/>
            </a:bodyPr>
            <a:lstStyle/>
            <a:p>
              <a:pPr>
                <a:spcBef>
                  <a:spcPts val="133"/>
                </a:spcBef>
              </a:pPr>
              <a:r>
                <a:rPr lang="en-US" sz="1200">
                  <a:solidFill>
                    <a:srgbClr val="000000"/>
                  </a:solidFill>
                  <a:latin typeface="Franklin Gothic Book" panose="020B0503020102020204" pitchFamily="34" charset="0"/>
                  <a:ea typeface="Times New Roman" panose="02020603050405020304" pitchFamily="18" charset="0"/>
                </a:rPr>
                <a:t>By:</a:t>
              </a:r>
              <a:endParaRPr lang="en-US" sz="1600">
                <a:latin typeface="Franklin Gothic Book" panose="020B0503020102020204" pitchFamily="34" charset="0"/>
                <a:ea typeface="Times New Roman" panose="02020603050405020304" pitchFamily="18" charset="0"/>
              </a:endParaRPr>
            </a:p>
          </p:txBody>
        </p:sp>
        <p:sp>
          <p:nvSpPr>
            <p:cNvPr id="17" name="object 15">
              <a:extLst>
                <a:ext uri="{FF2B5EF4-FFF2-40B4-BE49-F238E27FC236}">
                  <a16:creationId xmlns:a16="http://schemas.microsoft.com/office/drawing/2014/main" id="{8109E3C0-3A40-5490-376B-D5238479C731}"/>
                </a:ext>
              </a:extLst>
            </p:cNvPr>
            <p:cNvSpPr/>
            <p:nvPr/>
          </p:nvSpPr>
          <p:spPr>
            <a:xfrm flipV="1">
              <a:off x="7880333" y="5663036"/>
              <a:ext cx="2127674" cy="45719"/>
            </a:xfrm>
            <a:custGeom>
              <a:avLst/>
              <a:gdLst/>
              <a:ahLst/>
              <a:cxnLst/>
              <a:rect l="l" t="t" r="r" b="b"/>
              <a:pathLst>
                <a:path w="1498600">
                  <a:moveTo>
                    <a:pt x="0" y="0"/>
                  </a:moveTo>
                  <a:lnTo>
                    <a:pt x="1498600" y="0"/>
                  </a:lnTo>
                </a:path>
              </a:pathLst>
            </a:custGeom>
            <a:ln w="12700">
              <a:solidFill>
                <a:srgbClr val="000000"/>
              </a:solidFill>
            </a:ln>
          </p:spPr>
          <p:txBody>
            <a:bodyPr wrap="square" lIns="0" tIns="0" rIns="0" bIns="0" rtlCol="0"/>
            <a:lstStyle/>
            <a:p>
              <a:endParaRPr lang="en-US" sz="2400"/>
            </a:p>
          </p:txBody>
        </p:sp>
        <p:sp>
          <p:nvSpPr>
            <p:cNvPr id="18" name="object 16">
              <a:extLst>
                <a:ext uri="{FF2B5EF4-FFF2-40B4-BE49-F238E27FC236}">
                  <a16:creationId xmlns:a16="http://schemas.microsoft.com/office/drawing/2014/main" id="{EB9429FE-6AF4-B541-5476-C11313996381}"/>
                </a:ext>
              </a:extLst>
            </p:cNvPr>
            <p:cNvSpPr txBox="1"/>
            <p:nvPr/>
          </p:nvSpPr>
          <p:spPr>
            <a:xfrm>
              <a:off x="8004560" y="5809637"/>
              <a:ext cx="1737360" cy="412143"/>
            </a:xfrm>
            <a:prstGeom prst="rect">
              <a:avLst/>
            </a:prstGeom>
          </p:spPr>
          <p:txBody>
            <a:bodyPr vert="horz" wrap="square" lIns="0" tIns="16933" rIns="0" bIns="0" rtlCol="0">
              <a:spAutoFit/>
            </a:bodyPr>
            <a:lstStyle/>
            <a:p>
              <a:pPr marR="11853">
                <a:lnSpc>
                  <a:spcPct val="106000"/>
                </a:lnSpc>
                <a:spcBef>
                  <a:spcPts val="133"/>
                </a:spcBef>
              </a:pPr>
              <a:r>
                <a:rPr lang="en-US" sz="1200" spc="-7">
                  <a:solidFill>
                    <a:srgbClr val="000000"/>
                  </a:solidFill>
                  <a:latin typeface="Franklin Gothic Book" panose="020B0503020102020204" pitchFamily="34" charset="0"/>
                  <a:ea typeface="Times New Roman" panose="02020603050405020304" pitchFamily="18" charset="0"/>
                </a:rPr>
                <a:t>Kate</a:t>
              </a:r>
              <a:r>
                <a:rPr lang="en-US" sz="1200" spc="-87">
                  <a:solidFill>
                    <a:srgbClr val="000000"/>
                  </a:solidFill>
                  <a:latin typeface="Franklin Gothic Book" panose="020B0503020102020204" pitchFamily="34" charset="0"/>
                  <a:ea typeface="Times New Roman" panose="02020603050405020304" pitchFamily="18" charset="0"/>
                </a:rPr>
                <a:t> </a:t>
              </a:r>
              <a:r>
                <a:rPr lang="en-US" sz="1200" spc="-7">
                  <a:solidFill>
                    <a:srgbClr val="000000"/>
                  </a:solidFill>
                  <a:latin typeface="Franklin Gothic Book" panose="020B0503020102020204" pitchFamily="34" charset="0"/>
                  <a:ea typeface="Times New Roman" panose="02020603050405020304" pitchFamily="18" charset="0"/>
                </a:rPr>
                <a:t>Burda  </a:t>
              </a:r>
              <a:endParaRPr lang="en-US" sz="1600">
                <a:latin typeface="Franklin Gothic Book" panose="020B0503020102020204" pitchFamily="34" charset="0"/>
                <a:ea typeface="Times New Roman" panose="02020603050405020304" pitchFamily="18" charset="0"/>
              </a:endParaRPr>
            </a:p>
            <a:p>
              <a:pPr marR="11853">
                <a:lnSpc>
                  <a:spcPct val="106000"/>
                </a:lnSpc>
                <a:spcBef>
                  <a:spcPts val="133"/>
                </a:spcBef>
              </a:pPr>
              <a:r>
                <a:rPr lang="en-US" sz="1200" spc="-7">
                  <a:solidFill>
                    <a:srgbClr val="000000"/>
                  </a:solidFill>
                  <a:latin typeface="Franklin Gothic Book" panose="020B0503020102020204" pitchFamily="34" charset="0"/>
                  <a:ea typeface="Times New Roman" panose="02020603050405020304" pitchFamily="18" charset="0"/>
                </a:rPr>
                <a:t>Principal / Founder</a:t>
              </a:r>
              <a:endParaRPr lang="en-US" sz="1600">
                <a:latin typeface="Franklin Gothic Book" panose="020B0503020102020204" pitchFamily="34" charset="0"/>
                <a:ea typeface="Times New Roman" panose="02020603050405020304" pitchFamily="18" charset="0"/>
              </a:endParaRPr>
            </a:p>
          </p:txBody>
        </p:sp>
      </p:grpSp>
      <p:sp>
        <p:nvSpPr>
          <p:cNvPr id="2" name="Text Box 15" descr="Rectangle 921">
            <a:extLst>
              <a:ext uri="{FF2B5EF4-FFF2-40B4-BE49-F238E27FC236}">
                <a16:creationId xmlns:a16="http://schemas.microsoft.com/office/drawing/2014/main" id="{CAC352C6-2D3E-1179-888F-74EC630BD65B}"/>
              </a:ext>
            </a:extLst>
          </p:cNvPr>
          <p:cNvSpPr txBox="1">
            <a:spLocks noChangeArrowheads="1"/>
          </p:cNvSpPr>
          <p:nvPr/>
        </p:nvSpPr>
        <p:spPr bwMode="auto">
          <a:xfrm>
            <a:off x="7670762" y="268117"/>
            <a:ext cx="3666248" cy="5937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vert="horz" wrap="square" lIns="0" tIns="0" rIns="0" bIns="0" numCol="1" anchor="t" anchorCtr="0" compatLnSpc="1">
            <a:prstTxWarp prst="textNoShape">
              <a:avLst/>
            </a:prstTxWarp>
          </a:bodyPr>
          <a:lstStyle/>
          <a:p>
            <a:pPr>
              <a:lnSpc>
                <a:spcPts val="1433"/>
              </a:lnSpc>
              <a:tabLst>
                <a:tab pos="245527" algn="l"/>
                <a:tab pos="609585" algn="l"/>
              </a:tabLst>
            </a:pPr>
            <a:r>
              <a:rPr lang="en-US" sz="1000" spc="-7" dirty="0">
                <a:solidFill>
                  <a:srgbClr val="000000"/>
                </a:solidFill>
                <a:latin typeface="Franklin Gothic Book" panose="020B0503020102020204" pitchFamily="34" charset="0"/>
                <a:ea typeface="Cambria" panose="02040503050406030204" pitchFamily="18" charset="0"/>
                <a:cs typeface="Franklin Gothic Book" panose="020B0503020102020204" pitchFamily="34" charset="0"/>
              </a:rPr>
              <a:t>Project dates: March</a:t>
            </a:r>
            <a:endParaRPr lang="en-US" sz="1100" dirty="0">
              <a:latin typeface="Franklin Gothic Book" panose="020B0503020102020204" pitchFamily="34"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606304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304800" y="276055"/>
            <a:ext cx="11379200" cy="5842625"/>
          </a:xfrm>
          <a:prstGeom prst="rect">
            <a:avLst/>
          </a:prstGeom>
        </p:spPr>
        <p:txBody>
          <a:bodyPr vert="horz" wrap="square" lIns="0" tIns="12700" rIns="0" bIns="0" rtlCol="0">
            <a:spAutoFit/>
          </a:bodyPr>
          <a:lstStyle/>
          <a:p>
            <a:pPr marL="25399">
              <a:spcBef>
                <a:spcPts val="100"/>
              </a:spcBef>
            </a:pPr>
            <a:r>
              <a:rPr sz="1133" b="1" dirty="0">
                <a:latin typeface="Franklin Gothic Book" panose="020B0503020102020204" pitchFamily="34" charset="0"/>
                <a:cs typeface="Calibri"/>
              </a:rPr>
              <a:t>STANDARD TERMS AND CONDITIONS</a:t>
            </a:r>
            <a:r>
              <a:rPr lang="en-US" sz="1133" b="1" dirty="0">
                <a:latin typeface="Franklin Gothic Book" panose="020B0503020102020204" pitchFamily="34" charset="0"/>
                <a:cs typeface="Calibri"/>
              </a:rPr>
              <a:t>:</a:t>
            </a:r>
          </a:p>
          <a:p>
            <a:pPr marL="25399" algn="just">
              <a:spcBef>
                <a:spcPts val="100"/>
              </a:spcBef>
            </a:pPr>
            <a:endParaRPr lang="en-US" sz="933" b="1" dirty="0">
              <a:latin typeface="Franklin Gothic Book" panose="020B0503020102020204" pitchFamily="34" charset="0"/>
              <a:cs typeface="Calibri"/>
            </a:endParaRPr>
          </a:p>
          <a:p>
            <a:pPr lvl="0" algn="just"/>
            <a:r>
              <a:rPr lang="en-US" sz="933" b="1" dirty="0"/>
              <a:t>1. Where Services may be Performed: </a:t>
            </a:r>
            <a:r>
              <a:rPr lang="en-US" sz="933" dirty="0"/>
              <a:t>The consulting services of Kate Burda &amp; Co may be performed at their oﬃces, the oﬃces of the Client or any other places that are appropriate as determined by Kate Burda &amp; Co and approved by Client.</a:t>
            </a:r>
          </a:p>
          <a:p>
            <a:pPr lvl="0" algn="just"/>
            <a:r>
              <a:rPr lang="en-US" sz="933" b="1" dirty="0"/>
              <a:t> 2. Personnel for Performance of Services: </a:t>
            </a:r>
            <a:r>
              <a:rPr lang="en-US" sz="933" dirty="0"/>
              <a:t>The personnel within Kate Burda &amp; Co and sub-contractors who will participate in the delivery of services under this Agreement will be those described in the relevant Attachments and others as mutually agreed upon by the parties.</a:t>
            </a:r>
          </a:p>
          <a:p>
            <a:pPr lvl="0" algn="just"/>
            <a:r>
              <a:rPr lang="en-US" sz="933" b="1" dirty="0"/>
              <a:t> 3. Compensation: </a:t>
            </a:r>
            <a:r>
              <a:rPr lang="en-US" sz="933" dirty="0"/>
              <a:t>Client shall pay charges for Services rendered by Kate Burda &amp; Co in accordance with the fee schedule set forth on slide 26 &amp; 27 or, if no fee schedule is set forth in the “Investment” portion of the proposal, in accordance with Kate Burda &amp; Co standard rates, minimums, and fee policies that are in eﬀect when the Services are rendered. All out-of-pocket expenses incurred by Kate Burda &amp; Co in the course of rendering Services will be added to invoices, including travel, meals, lodging, supplies, and incidental expenses. Services provided on a time and materials basis and/or any expenses should be invoiced monthly. Client shall pay to Kate Burda &amp; Co the amounts speciﬁed in each invoice issued by Kate Burda &amp; Co within the terms speciﬁed in the invoice. Amounts not paid shall bear interest at the lesser of (</a:t>
            </a:r>
            <a:r>
              <a:rPr lang="en-US" sz="933" dirty="0" err="1"/>
              <a:t>i</a:t>
            </a:r>
            <a:r>
              <a:rPr lang="en-US" sz="933" dirty="0"/>
              <a:t>) one and one-half percent (1.5%) per month or (ii) the maximum amount allowed by law.  Kate Burda &amp; Co may suspend the provision of Services during any period when Client has failed to timely pay Kate Burda &amp; Co any amount owed under this Agreement hereunder. In any action relating to collecting an amount owed by Client under this Agreement, Kate Burda &amp; Co shall be entitled to recover its costs of collection, including attorneys' fees and other legal costs. Except as otherwise set forth investment /Page 27 &amp; 28 Kate Burda &amp; Co may, in its sole discretion, change the rates of compensation for any fees that are outlined in the proposal upon sixty (60) days' prior written notice to Client.</a:t>
            </a:r>
          </a:p>
          <a:p>
            <a:pPr lvl="0" algn="just"/>
            <a:r>
              <a:rPr lang="en-US" sz="933" b="1" dirty="0"/>
              <a:t>4. Complete Agreement: </a:t>
            </a:r>
            <a:r>
              <a:rPr lang="en-US" sz="933" dirty="0"/>
              <a:t>This Agreement sets forth the entire understanding of the parties as to its subject matter and may not be modiﬁed except in writing by both parties.</a:t>
            </a:r>
          </a:p>
          <a:p>
            <a:pPr lvl="0" algn="just"/>
            <a:r>
              <a:rPr lang="en-US" sz="933" b="1" dirty="0"/>
              <a:t>5. Independent Contractor Relationship</a:t>
            </a:r>
            <a:r>
              <a:rPr lang="en-US" sz="933" dirty="0"/>
              <a:t>: The relationship of Kate Burda &amp; Co to the Client is that of an independent contractor under contract with the Client and not that of an agent, servant or employee. Consistent with this relationship, neither party to this Agreement has the authority to act for, represent or bind the other party in any manner without obtaining that party’s prior written consent or approval.</a:t>
            </a:r>
          </a:p>
          <a:p>
            <a:pPr lvl="0" algn="just"/>
            <a:r>
              <a:rPr lang="en-US" sz="933" b="1" dirty="0"/>
              <a:t>6. Proprietary Information</a:t>
            </a:r>
            <a:r>
              <a:rPr lang="en-US" sz="933" dirty="0"/>
              <a:t>: The techniques and ideas provided by Kate Burda &amp; Co under this Agreement constitute confidential proprietary information belonging to Kate Burda &amp; Co that are made available to the Client for its use under this Agreement. Employees and staﬀ of the Client may only use this information in connection with the work that they do for the Client.  The Client agrees to take all reasonable steps necessary to safeguard the conﬁdentiality of these techniques and ideas. The Client grants to Kate Burda &amp; Co the right to use the statistical results of any sales campaign or activities planned and executed during the term of this agreement, as necessary to create results.</a:t>
            </a:r>
          </a:p>
          <a:p>
            <a:pPr lvl="0" algn="just"/>
            <a:r>
              <a:rPr lang="en-US" sz="933" b="1" dirty="0"/>
              <a:t>7. Ownership of Written Work: </a:t>
            </a:r>
            <a:r>
              <a:rPr lang="en-US" sz="933" dirty="0"/>
              <a:t>All written work products produced by Kate Burda &amp; Co pursuant to this Agreement shall become the property of the Client, except for analytical survey protocols and predictive models which, even though non-proprietary and distributed to the Client for its use shall remain the property of and under copyright to Kate Burda &amp; Co its agents, or contractors. Raw survey data and interview notes are the property of Kate Burda &amp; Co.</a:t>
            </a:r>
          </a:p>
          <a:p>
            <a:pPr lvl="0" algn="just"/>
            <a:r>
              <a:rPr lang="en-US" sz="933" b="1" dirty="0"/>
              <a:t> 8. Termination of Agreement</a:t>
            </a:r>
            <a:r>
              <a:rPr lang="en-US" sz="933" dirty="0"/>
              <a:t>: Either party may terminate this Agreement for any reason upon written notice by registered or certiﬁed mail, return requested addressed to the other party.  If this Agreement is terminated by the Client for any reason, the Client in all such terminations shall be liable and shall pay to Kate Burda &amp; Co at the eﬀective date of termination all payments required to be made under the terms of the payment schedule set out in the attachments, plus reasonable expenses. Notice must be given 60 days prior to eﬀective termination date of agreement.</a:t>
            </a:r>
          </a:p>
          <a:p>
            <a:pPr lvl="0" algn="just"/>
            <a:r>
              <a:rPr lang="en-US" sz="933" b="1" dirty="0"/>
              <a:t>9. Client Duty to Co-operate</a:t>
            </a:r>
            <a:r>
              <a:rPr lang="en-US" sz="933" dirty="0"/>
              <a:t>: To enable Kate Burda &amp; Co to furnish the consulting services called for under this Agreement, the Client agrees to provide Kate Burda &amp; Co with the services and documentation described in the Scope of Work.</a:t>
            </a:r>
          </a:p>
          <a:p>
            <a:pPr lvl="0" algn="just"/>
            <a:r>
              <a:rPr lang="en-US" sz="933" b="1" dirty="0"/>
              <a:t> 10. Indemniﬁcation</a:t>
            </a:r>
            <a:r>
              <a:rPr lang="en-US" sz="933" dirty="0"/>
              <a:t>: The Client agrees to indemnify and hold Kate Burda &amp; Co harmless from all claims, losses, expenses, fees including attorney fees, costs, and judgments that may be asserted against Kate Burda &amp; Co that result from the acts or omissions of the Client, the Client’s employees and the Client’s agents. Kate Burda &amp; Co agrees to indemnify and hold Client harmless from all claims, losses, expenses, fees including attorney fees, costs, and judgments that may be asserted against Client that result from the acts or omissions of Kate Burda &amp; Co, Kate Burda &amp; Co employees and Kate Burda &amp; Co agents.</a:t>
            </a:r>
          </a:p>
          <a:p>
            <a:pPr lvl="0" algn="just"/>
            <a:r>
              <a:rPr lang="en-US" sz="933" b="1" dirty="0"/>
              <a:t>11. Guarantees</a:t>
            </a:r>
            <a:r>
              <a:rPr lang="en-US" sz="933" dirty="0"/>
              <a:t>: Kate Burda &amp; Co does not guarantee achieving any revenue goals or projections, nor does it guarantee achieving any speciﬁc performance objectives either set forth by Client or made by Kate Burda &amp; Co in the course of bidding, planning or managing the sales campaign or work covered under the terms of this agreement.</a:t>
            </a:r>
          </a:p>
          <a:p>
            <a:pPr lvl="0" algn="just"/>
            <a:r>
              <a:rPr lang="en-US" sz="933" b="1" dirty="0"/>
              <a:t>12.  Legal action</a:t>
            </a:r>
            <a:r>
              <a:rPr lang="en-US" sz="933" dirty="0"/>
              <a:t>: If any legal action is brought for the enforcement of this agreement, or because of any alleged dispute, default, mistake or misrepresentation or otherwise in connection with any provisions of this agreement, the successful or prevailing party or parties shall be entitled to recover reasonable legal attorney fees and other costs incurred in addition to any other relief to which such parties may be entitled. It is further agreed that the sole jurisdiction with respect to any such legal action shall be in the County of Denton, State of Texas.</a:t>
            </a:r>
          </a:p>
          <a:p>
            <a:pPr lvl="0" algn="just"/>
            <a:r>
              <a:rPr lang="en-US" sz="933" b="1" dirty="0"/>
              <a:t>13. Notice</a:t>
            </a:r>
            <a:r>
              <a:rPr lang="en-US" sz="933" dirty="0"/>
              <a:t>: All notices required to be given by one party to the other under this Agreement shall be by either commercial overnight delivery service or certiﬁed mail, return receipt requested, to the parties at the respective addresses set forth above or to such other address as the party to receive the notice has designated by notice to the other party.</a:t>
            </a:r>
          </a:p>
          <a:p>
            <a:pPr lvl="0" algn="just"/>
            <a:r>
              <a:rPr lang="en-US" sz="933" b="1" dirty="0"/>
              <a:t>14. Liability</a:t>
            </a:r>
            <a:r>
              <a:rPr lang="en-US" sz="933" dirty="0"/>
              <a:t>: In no event shall Kate Burda &amp; Co be liable to the Client or to customers of the Client for any damages related to any failure or delay of Kate Burda &amp; Co in the delivery of the services under this agreement or any Work Plan, resulting from, including without limitation, delays caused by Acts of God, Fire, War, Riots, Strikes, Acts of Terrorism, Quarantines or Embargoes.</a:t>
            </a:r>
          </a:p>
          <a:p>
            <a:pPr lvl="0" algn="just"/>
            <a:r>
              <a:rPr lang="en-US" sz="933" b="1" dirty="0"/>
              <a:t>15. Severability: </a:t>
            </a:r>
            <a:r>
              <a:rPr lang="en-US" sz="933" dirty="0"/>
              <a:t>If any provision of this Agreement is held invalid or otherwise unenforceable, the enforceability of the remaining provisions shall not be impaired thereby.</a:t>
            </a:r>
          </a:p>
          <a:p>
            <a:pPr marL="25399">
              <a:spcBef>
                <a:spcPts val="100"/>
              </a:spcBef>
            </a:pPr>
            <a:endParaRPr sz="1133" dirty="0">
              <a:latin typeface="Franklin Gothic Book" panose="020B0503020102020204" pitchFamily="34" charset="0"/>
              <a:cs typeface="Calibri"/>
            </a:endParaRPr>
          </a:p>
        </p:txBody>
      </p:sp>
      <p:sp>
        <p:nvSpPr>
          <p:cNvPr id="2" name="Slide Number Placeholder 3">
            <a:extLst>
              <a:ext uri="{FF2B5EF4-FFF2-40B4-BE49-F238E27FC236}">
                <a16:creationId xmlns:a16="http://schemas.microsoft.com/office/drawing/2014/main" id="{3E7A1126-1E44-5996-88F2-038B66B49786}"/>
              </a:ext>
            </a:extLst>
          </p:cNvPr>
          <p:cNvSpPr txBox="1">
            <a:spLocks/>
          </p:cNvSpPr>
          <p:nvPr/>
        </p:nvSpPr>
        <p:spPr>
          <a:xfrm>
            <a:off x="8922726" y="6503763"/>
            <a:ext cx="3224189" cy="328295"/>
          </a:xfrm>
          <a:prstGeom prst="rect">
            <a:avLst/>
          </a:prstGeom>
        </p:spPr>
        <p:txBody>
          <a:bodyPr vert="horz" lIns="121920" tIns="60960" rIns="121920" bIns="60960" rtlCol="0" anchor="ctr"/>
          <a:lstStyle>
            <a:defPPr>
              <a:defRPr lang="en-US"/>
            </a:defPPr>
            <a:lvl1pPr marL="0" algn="r" defTabSz="1219170" rtl="0" eaLnBrk="1" latinLnBrk="0" hangingPunct="1">
              <a:defRPr sz="1600" kern="1200">
                <a:solidFill>
                  <a:schemeClr val="tx1">
                    <a:tint val="75000"/>
                  </a:schemeClr>
                </a:solidFill>
                <a:latin typeface="Arial" panose="020B0604020202020204" pitchFamily="34" charset="0"/>
                <a:ea typeface="+mn-ea"/>
                <a:cs typeface="Arial" panose="020B0604020202020204" pitchFamily="34" charset="0"/>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fld id="{3B8111B1-F5BB-486D-8B3C-017EE72F0AF7}" type="slidenum">
              <a:rPr lang="en-US" sz="1000" smtClean="0"/>
              <a:pPr/>
              <a:t>13</a:t>
            </a:fld>
            <a:endParaRPr lang="en-US" sz="1000"/>
          </a:p>
        </p:txBody>
      </p:sp>
    </p:spTree>
    <p:extLst>
      <p:ext uri="{BB962C8B-B14F-4D97-AF65-F5344CB8AC3E}">
        <p14:creationId xmlns:p14="http://schemas.microsoft.com/office/powerpoint/2010/main" val="2554561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8876" y="316991"/>
            <a:ext cx="692099" cy="280415"/>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3" name="object 3"/>
          <p:cNvSpPr/>
          <p:nvPr/>
        </p:nvSpPr>
        <p:spPr>
          <a:xfrm>
            <a:off x="8128" y="990600"/>
            <a:ext cx="12192000" cy="5943600"/>
          </a:xfrm>
          <a:prstGeom prst="rect">
            <a:avLst/>
          </a:prstGeom>
          <a:blipFill>
            <a:blip r:embed="rId3" cstate="screen">
              <a:extLst>
                <a:ext uri="{28A0092B-C50C-407E-A947-70E740481C1C}">
                  <a14:useLocalDpi xmlns:a14="http://schemas.microsoft.com/office/drawing/2010/main"/>
                </a:ext>
              </a:extLst>
            </a:blip>
            <a:stretch>
              <a:fillRect/>
            </a:stretch>
          </a:blipFill>
        </p:spPr>
        <p:txBody>
          <a:bodyPr wrap="square" lIns="0" tIns="0" rIns="0" bIns="0" rtlCol="0"/>
          <a:lstStyle/>
          <a:p>
            <a:endParaRPr sz="2400"/>
          </a:p>
        </p:txBody>
      </p:sp>
      <p:sp>
        <p:nvSpPr>
          <p:cNvPr id="4" name="object 4"/>
          <p:cNvSpPr txBox="1">
            <a:spLocks noGrp="1"/>
          </p:cNvSpPr>
          <p:nvPr>
            <p:ph type="title"/>
          </p:nvPr>
        </p:nvSpPr>
        <p:spPr>
          <a:xfrm>
            <a:off x="1625600" y="110094"/>
            <a:ext cx="10464800" cy="694207"/>
          </a:xfrm>
          <a:prstGeom prst="rect">
            <a:avLst/>
          </a:prstGeom>
        </p:spPr>
        <p:txBody>
          <a:bodyPr vert="horz" wrap="square" lIns="0" tIns="16933" rIns="0" bIns="0" rtlCol="0" anchor="ctr">
            <a:spAutoFit/>
          </a:bodyPr>
          <a:lstStyle/>
          <a:p>
            <a:pPr marL="7619810">
              <a:lnSpc>
                <a:spcPct val="100000"/>
              </a:lnSpc>
              <a:spcBef>
                <a:spcPts val="133"/>
              </a:spcBef>
            </a:pPr>
            <a:r>
              <a:rPr lang="en-US" b="1">
                <a:solidFill>
                  <a:schemeClr val="tx1">
                    <a:lumMod val="65000"/>
                    <a:lumOff val="35000"/>
                  </a:schemeClr>
                </a:solidFill>
                <a:latin typeface="Franklin Gothic Book" panose="020B0503020102020204" pitchFamily="34" charset="0"/>
              </a:rPr>
              <a:t>Thank you</a:t>
            </a:r>
            <a:endParaRPr b="1">
              <a:solidFill>
                <a:schemeClr val="tx1">
                  <a:lumMod val="65000"/>
                  <a:lumOff val="35000"/>
                </a:schemeClr>
              </a:solidFill>
              <a:latin typeface="Franklin Gothic Book" panose="020B0503020102020204" pitchFamily="34" charset="0"/>
            </a:endParaRPr>
          </a:p>
        </p:txBody>
      </p:sp>
      <p:sp>
        <p:nvSpPr>
          <p:cNvPr id="5" name="Slide Number Placeholder 4">
            <a:extLst>
              <a:ext uri="{FF2B5EF4-FFF2-40B4-BE49-F238E27FC236}">
                <a16:creationId xmlns:a16="http://schemas.microsoft.com/office/drawing/2014/main" id="{F6B13CE9-19D8-E445-88A5-5693927D9EB1}"/>
              </a:ext>
            </a:extLst>
          </p:cNvPr>
          <p:cNvSpPr>
            <a:spLocks noGrp="1"/>
          </p:cNvSpPr>
          <p:nvPr>
            <p:ph type="sldNum" sz="quarter" idx="7"/>
          </p:nvPr>
        </p:nvSpPr>
        <p:spPr>
          <a:xfrm>
            <a:off x="9859775" y="6673334"/>
            <a:ext cx="2103120" cy="184666"/>
          </a:xfrm>
          <a:prstGeom prst="rect">
            <a:avLst/>
          </a:prstGeom>
        </p:spPr>
        <p:txBody>
          <a:bodyPr wrap="square" lIns="0" tIns="0" rIns="0" bIns="0">
            <a:spAutoFit/>
          </a:bodyPr>
          <a:lstStyle>
            <a:defPPr>
              <a:defRPr lang="en-US"/>
            </a:defPPr>
            <a:lvl1pPr marL="0" algn="r" defTabSz="914400" rtl="0" eaLnBrk="1" latinLnBrk="0" hangingPunct="1">
              <a:defRPr sz="1200" kern="1200">
                <a:solidFill>
                  <a:schemeClr val="tx1">
                    <a:tint val="75000"/>
                  </a:schemeClr>
                </a:solidFill>
                <a:latin typeface="Franklin Gothic Book" panose="020B05030201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14</a:t>
            </a:fld>
            <a:endParaRPr lang="en-US"/>
          </a:p>
        </p:txBody>
      </p:sp>
      <p:sp>
        <p:nvSpPr>
          <p:cNvPr id="7" name="Rectangle 6">
            <a:extLst>
              <a:ext uri="{FF2B5EF4-FFF2-40B4-BE49-F238E27FC236}">
                <a16:creationId xmlns:a16="http://schemas.microsoft.com/office/drawing/2014/main" id="{FF53B743-CF7F-7189-412B-FD64DC46208D}"/>
              </a:ext>
            </a:extLst>
          </p:cNvPr>
          <p:cNvSpPr/>
          <p:nvPr/>
        </p:nvSpPr>
        <p:spPr>
          <a:xfrm>
            <a:off x="4280192" y="1353412"/>
            <a:ext cx="3631615" cy="4513988"/>
          </a:xfrm>
          <a:prstGeom prst="rect">
            <a:avLst/>
          </a:prstGeom>
          <a:solidFill>
            <a:srgbClr val="FFFFFF">
              <a:alpha val="7058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E1BEABB6-E33D-10C4-4857-D44079BAB1B2}"/>
              </a:ext>
            </a:extLst>
          </p:cNvPr>
          <p:cNvSpPr txBox="1"/>
          <p:nvPr/>
        </p:nvSpPr>
        <p:spPr>
          <a:xfrm>
            <a:off x="4280192" y="1692090"/>
            <a:ext cx="3631615" cy="3908762"/>
          </a:xfrm>
          <a:prstGeom prst="rect">
            <a:avLst/>
          </a:prstGeom>
          <a:noFill/>
        </p:spPr>
        <p:txBody>
          <a:bodyPr wrap="square" rtlCol="0">
            <a:spAutoFit/>
          </a:bodyPr>
          <a:lstStyle/>
          <a:p>
            <a:pPr algn="ctr">
              <a:spcAft>
                <a:spcPts val="600"/>
              </a:spcAft>
            </a:pPr>
            <a:r>
              <a:rPr lang="en-US" sz="2500">
                <a:solidFill>
                  <a:srgbClr val="D51067"/>
                </a:solidFill>
                <a:latin typeface="Arial" panose="020B0604020202020204" pitchFamily="34" charset="0"/>
                <a:cs typeface="Arial" panose="020B0604020202020204" pitchFamily="34" charset="0"/>
              </a:rPr>
              <a:t>KATE BURDA</a:t>
            </a:r>
          </a:p>
          <a:p>
            <a:pPr algn="ctr">
              <a:spcAft>
                <a:spcPts val="600"/>
              </a:spcAft>
            </a:pPr>
            <a:r>
              <a:rPr lang="en-US" sz="2000">
                <a:solidFill>
                  <a:srgbClr val="D51067"/>
                </a:solidFill>
                <a:latin typeface="Arial" panose="020B0604020202020204" pitchFamily="34" charset="0"/>
                <a:cs typeface="Arial" panose="020B0604020202020204" pitchFamily="34" charset="0"/>
              </a:rPr>
              <a:t>kate@kateburda.com</a:t>
            </a:r>
          </a:p>
          <a:p>
            <a:pPr algn="ctr">
              <a:spcAft>
                <a:spcPts val="600"/>
              </a:spcAft>
            </a:pPr>
            <a:r>
              <a:rPr lang="en-US" sz="2000">
                <a:solidFill>
                  <a:srgbClr val="D51067"/>
                </a:solidFill>
                <a:latin typeface="Arial" panose="020B0604020202020204" pitchFamily="34" charset="0"/>
                <a:cs typeface="Arial" panose="020B0604020202020204" pitchFamily="34" charset="0"/>
              </a:rPr>
              <a:t>972-567-7792</a:t>
            </a:r>
          </a:p>
          <a:p>
            <a:pPr algn="ctr">
              <a:spcAft>
                <a:spcPts val="600"/>
              </a:spcAft>
            </a:pPr>
            <a:endParaRPr lang="en-US" sz="2400">
              <a:solidFill>
                <a:srgbClr val="D51067"/>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a:p>
            <a:pPr algn="ctr">
              <a:spcAft>
                <a:spcPts val="600"/>
              </a:spcAft>
            </a:pPr>
            <a:r>
              <a:rPr lang="en-US" sz="2500">
                <a:solidFill>
                  <a:srgbClr val="D51067"/>
                </a:solidFill>
                <a:latin typeface="Arial" panose="020B0604020202020204" pitchFamily="34" charset="0"/>
                <a:cs typeface="Arial" panose="020B0604020202020204" pitchFamily="34" charset="0"/>
              </a:rPr>
              <a:t>SHARLA HIBBERD</a:t>
            </a:r>
          </a:p>
          <a:p>
            <a:pPr algn="ctr">
              <a:spcAft>
                <a:spcPts val="600"/>
              </a:spcAft>
            </a:pPr>
            <a:r>
              <a:rPr lang="en-US" sz="2000">
                <a:solidFill>
                  <a:srgbClr val="D51067"/>
                </a:solidFill>
                <a:latin typeface="Arial" panose="020B0604020202020204" pitchFamily="34" charset="0"/>
                <a:cs typeface="Arial" panose="020B0604020202020204" pitchFamily="34" charset="0"/>
              </a:rPr>
              <a:t>sharla@kateburda.com</a:t>
            </a:r>
          </a:p>
          <a:p>
            <a:pPr algn="ctr">
              <a:spcAft>
                <a:spcPts val="600"/>
              </a:spcAft>
            </a:pPr>
            <a:r>
              <a:rPr lang="en-US" sz="2000">
                <a:solidFill>
                  <a:srgbClr val="D51067"/>
                </a:solidFill>
                <a:latin typeface="Arial" panose="020B0604020202020204" pitchFamily="34" charset="0"/>
                <a:cs typeface="Arial" panose="020B0604020202020204" pitchFamily="34" charset="0"/>
              </a:rPr>
              <a:t>214-538-9996</a:t>
            </a:r>
            <a:endParaRPr lang="en-US" sz="2000">
              <a:solidFill>
                <a:srgbClr val="D51067"/>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a:p>
            <a:pPr algn="ctr">
              <a:spcAft>
                <a:spcPts val="600"/>
              </a:spcAft>
            </a:pPr>
            <a:endParaRPr lang="en-US" sz="2400">
              <a:solidFill>
                <a:srgbClr val="D51067"/>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endParaRPr>
          </a:p>
          <a:p>
            <a:pPr algn="ctr">
              <a:spcAft>
                <a:spcPts val="600"/>
              </a:spcAft>
            </a:pPr>
            <a:r>
              <a:rPr lang="en-US" sz="2400" spc="300">
                <a:solidFill>
                  <a:srgbClr val="D51067"/>
                </a:solidFill>
                <a:latin typeface="Arial" panose="020B0604020202020204" pitchFamily="34" charset="0"/>
                <a:cs typeface="Arial" panose="020B0604020202020204" pitchFamily="34" charset="0"/>
              </a:rPr>
              <a:t>kateburda.com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50980CCDCA474BBA53C0A951F1A841" ma:contentTypeVersion="16" ma:contentTypeDescription="Create a new document." ma:contentTypeScope="" ma:versionID="dc40de2dda6ec0bedf0d42fce57c906b">
  <xsd:schema xmlns:xsd="http://www.w3.org/2001/XMLSchema" xmlns:xs="http://www.w3.org/2001/XMLSchema" xmlns:p="http://schemas.microsoft.com/office/2006/metadata/properties" xmlns:ns2="c71a9731-672f-4449-b3b2-914e5de0f80c" xmlns:ns3="2587ec5f-2b5f-42cc-868a-c05f4ba18fb4" targetNamespace="http://schemas.microsoft.com/office/2006/metadata/properties" ma:root="true" ma:fieldsID="6533da04a3eab8972e13b1649a227fe9" ns2:_="" ns3:_="">
    <xsd:import namespace="c71a9731-672f-4449-b3b2-914e5de0f80c"/>
    <xsd:import namespace="2587ec5f-2b5f-42cc-868a-c05f4ba18fb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2:MediaServiceOCR"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1a9731-672f-4449-b3b2-914e5de0f8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6c1a3be1-ca2c-4a81-85c0-f6ae1659780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587ec5f-2b5f-42cc-868a-c05f4ba18fb4"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266b662a-a866-41db-8c08-3777baa07030}" ma:internalName="TaxCatchAll" ma:showField="CatchAllData" ma:web="2587ec5f-2b5f-42cc-868a-c05f4ba18f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2587ec5f-2b5f-42cc-868a-c05f4ba18fb4" xsi:nil="true"/>
    <lcf76f155ced4ddcb4097134ff3c332f xmlns="c71a9731-672f-4449-b3b2-914e5de0f80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08C068-B014-4ADC-BC15-8E699D35F1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1a9731-672f-4449-b3b2-914e5de0f80c"/>
    <ds:schemaRef ds:uri="2587ec5f-2b5f-42cc-868a-c05f4ba18fb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E0FAEA2-6084-4129-BDC6-4E43C4811D79}">
  <ds:schemaRefs>
    <ds:schemaRef ds:uri="http://schemas.openxmlformats.org/package/2006/metadata/core-properties"/>
    <ds:schemaRef ds:uri="2587ec5f-2b5f-42cc-868a-c05f4ba18fb4"/>
    <ds:schemaRef ds:uri="http://schemas.microsoft.com/office/2006/documentManagement/types"/>
    <ds:schemaRef ds:uri="http://www.w3.org/XML/1998/namespace"/>
    <ds:schemaRef ds:uri="c71a9731-672f-4449-b3b2-914e5de0f80c"/>
    <ds:schemaRef ds:uri="http://purl.org/dc/terms/"/>
    <ds:schemaRef ds:uri="http://purl.org/dc/elements/1.1/"/>
    <ds:schemaRef ds:uri="http://schemas.microsoft.com/office/infopath/2007/PartnerControl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E4E7FD7A-5011-4260-8E03-18553EDCD9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15533</TotalTime>
  <Words>3298</Words>
  <Application>Microsoft Macintosh PowerPoint</Application>
  <PresentationFormat>Widescreen</PresentationFormat>
  <Paragraphs>452</Paragraphs>
  <Slides>14</Slides>
  <Notes>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14</vt:i4>
      </vt:variant>
    </vt:vector>
  </HeadingPairs>
  <TitlesOfParts>
    <vt:vector size="28" baseType="lpstr">
      <vt:lpstr>-webkit-standard</vt:lpstr>
      <vt:lpstr>Arial</vt:lpstr>
      <vt:lpstr>Bradley Hand</vt:lpstr>
      <vt:lpstr>Calibri</vt:lpstr>
      <vt:lpstr>Cavolini</vt:lpstr>
      <vt:lpstr>DM Sans 14pt</vt:lpstr>
      <vt:lpstr>DM Sans 14pt Medium</vt:lpstr>
      <vt:lpstr>Fave Script Bold Pro</vt:lpstr>
      <vt:lpstr>Franklin Gothic Book</vt:lpstr>
      <vt:lpstr>Ink Free</vt:lpstr>
      <vt:lpstr>Symbol</vt:lpstr>
      <vt:lpstr>Times New Roman</vt:lpstr>
      <vt:lpstr>Wingdings</vt:lpstr>
      <vt:lpstr>Office Theme</vt:lpstr>
      <vt:lpstr>PowerPoint Presentation</vt:lpstr>
      <vt:lpstr>PowerPoint Presentation</vt:lpstr>
      <vt:lpstr>The Reveal- Outline of effort</vt:lpstr>
      <vt:lpstr>The Reveal- Outline of effort</vt:lpstr>
      <vt:lpstr>The Reveal - Outline of effort</vt:lpstr>
      <vt:lpstr>PowerPoint Presentation</vt:lpstr>
      <vt:lpstr>Insight to Execution- Outline of effort</vt:lpstr>
      <vt:lpstr>PowerPoint Presentation</vt:lpstr>
      <vt:lpstr>Estimate of Effort- Levels of Horsepower</vt:lpstr>
      <vt:lpstr>Investment for Performance</vt:lpstr>
      <vt:lpstr>Investment</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Kate Burda</dc:creator>
  <cp:lastModifiedBy>Kate Burda</cp:lastModifiedBy>
  <cp:revision>12</cp:revision>
  <cp:lastPrinted>2025-02-05T17:05:26Z</cp:lastPrinted>
  <dcterms:created xsi:type="dcterms:W3CDTF">2023-07-29T16:22:48Z</dcterms:created>
  <dcterms:modified xsi:type="dcterms:W3CDTF">2025-02-15T16:50:00Z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0x0101006C50980CCDCA474BBA53C0A951F1A841</vt:lpwstr>
  </property>
  <property fmtid="{D5CDD505-2E9C-101B-9397-08002B2CF9AE}" pid="3" name="MediaServiceImageTags">
    <vt:lpwstr/>
  </property>
</Properties>
</file>