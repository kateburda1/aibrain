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23"/>
  </p:notesMasterIdLst>
  <p:sldIdLst>
    <p:sldId id="4068" r:id="rId5"/>
    <p:sldId id="399" r:id="rId6"/>
    <p:sldId id="258" r:id="rId7"/>
    <p:sldId id="4134" r:id="rId8"/>
    <p:sldId id="4148" r:id="rId9"/>
    <p:sldId id="4110" r:id="rId10"/>
    <p:sldId id="4156" r:id="rId11"/>
    <p:sldId id="4157" r:id="rId12"/>
    <p:sldId id="4159" r:id="rId13"/>
    <p:sldId id="269" r:id="rId14"/>
    <p:sldId id="2182" r:id="rId15"/>
    <p:sldId id="2184" r:id="rId16"/>
    <p:sldId id="4151" r:id="rId17"/>
    <p:sldId id="4150" r:id="rId18"/>
    <p:sldId id="4153" r:id="rId19"/>
    <p:sldId id="637" r:id="rId20"/>
    <p:sldId id="636" r:id="rId21"/>
    <p:sldId id="275" r:id="rId22"/>
  </p:sldIdLst>
  <p:sldSz cx="9144000" cy="5143500" type="screen16x9"/>
  <p:notesSz cx="51435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ristan Carty" initials="TC" lastIdx="15" clrIdx="0">
    <p:extLst>
      <p:ext uri="{19B8F6BF-5375-455C-9EA6-DF929625EA0E}">
        <p15:presenceInfo xmlns:p15="http://schemas.microsoft.com/office/powerpoint/2012/main" userId="Tristan Carty" providerId="None"/>
      </p:ext>
    </p:extLst>
  </p:cmAuthor>
  <p:cmAuthor id="2" name="Kate Burda" initials="KB" lastIdx="5" clrIdx="1">
    <p:extLst>
      <p:ext uri="{19B8F6BF-5375-455C-9EA6-DF929625EA0E}">
        <p15:presenceInfo xmlns:p15="http://schemas.microsoft.com/office/powerpoint/2012/main" userId="S::kate@kateburda.com::44c1ea53-84f5-4c7e-8f48-bfeb434f1f0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52372"/>
    <a:srgbClr val="D5106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285"/>
    <p:restoredTop sz="94694"/>
  </p:normalViewPr>
  <p:slideViewPr>
    <p:cSldViewPr snapToGrid="0">
      <p:cViewPr varScale="1">
        <p:scale>
          <a:sx n="156" d="100"/>
          <a:sy n="156" d="100"/>
        </p:scale>
        <p:origin x="1080" y="168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commentAuthors" Target="comment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te Burda" userId="44c1ea53-84f5-4c7e-8f48-bfeb434f1f02" providerId="ADAL" clId="{436DBCDB-24DB-AF45-9AFD-CC6290180B8B}"/>
    <pc:docChg chg="delSld">
      <pc:chgData name="Kate Burda" userId="44c1ea53-84f5-4c7e-8f48-bfeb434f1f02" providerId="ADAL" clId="{436DBCDB-24DB-AF45-9AFD-CC6290180B8B}" dt="2022-08-08T13:32:00.520" v="0" actId="2696"/>
      <pc:docMkLst>
        <pc:docMk/>
      </pc:docMkLst>
      <pc:sldChg chg="del">
        <pc:chgData name="Kate Burda" userId="44c1ea53-84f5-4c7e-8f48-bfeb434f1f02" providerId="ADAL" clId="{436DBCDB-24DB-AF45-9AFD-CC6290180B8B}" dt="2022-08-08T13:32:00.520" v="0" actId="2696"/>
        <pc:sldMkLst>
          <pc:docMk/>
          <pc:sldMk cId="2206255353" sldId="4076"/>
        </pc:sldMkLst>
      </pc:sldChg>
      <pc:sldChg chg="del">
        <pc:chgData name="Kate Burda" userId="44c1ea53-84f5-4c7e-8f48-bfeb434f1f02" providerId="ADAL" clId="{436DBCDB-24DB-AF45-9AFD-CC6290180B8B}" dt="2022-08-08T13:32:00.520" v="0" actId="2696"/>
        <pc:sldMkLst>
          <pc:docMk/>
          <pc:sldMk cId="140709708" sldId="415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7FBD31-D430-3F4A-8B46-78DCED41C9B6}" type="datetimeFigureOut">
              <a:rPr lang="en-US" smtClean="0"/>
              <a:t>8/8/22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B48C49-7632-A24D-A577-D5A024C91C9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33465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C204A1-840D-CA41-9990-2FBF1DA0CC27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43375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Virtual Apply, Reinforce/Refresh</a:t>
            </a:r>
            <a:r>
              <a:rPr lang="en-US" baseline="0" dirty="0"/>
              <a:t> &amp; Coach Sessions:</a:t>
            </a:r>
          </a:p>
          <a:p>
            <a:pPr marL="58738" indent="-58738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700" kern="0" dirty="0">
                <a:solidFill>
                  <a:sysClr val="windowText" lastClr="000000"/>
                </a:solidFill>
                <a:latin typeface="Calibri"/>
              </a:rPr>
              <a:t>Virtual / WebEx sessions</a:t>
            </a:r>
          </a:p>
          <a:p>
            <a:pPr marL="58738" indent="-58738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700" kern="0" dirty="0">
                <a:solidFill>
                  <a:sysClr val="windowText" lastClr="000000"/>
                </a:solidFill>
                <a:latin typeface="Calibri"/>
              </a:rPr>
              <a:t>60-90 minutes each</a:t>
            </a:r>
          </a:p>
          <a:p>
            <a:pPr marL="58738" indent="-58738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700" kern="0" dirty="0">
                <a:solidFill>
                  <a:sysClr val="windowText" lastClr="000000"/>
                </a:solidFill>
                <a:latin typeface="Calibri"/>
              </a:rPr>
              <a:t>Interactive with whiteboards and Q&amp;A</a:t>
            </a:r>
          </a:p>
          <a:p>
            <a:pPr marL="58738" indent="-58738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700" kern="0" dirty="0">
                <a:solidFill>
                  <a:sysClr val="windowText" lastClr="000000"/>
                </a:solidFill>
                <a:latin typeface="Calibri"/>
              </a:rPr>
              <a:t>Before each session Account Directors apply strategic selling principle &amp; tool to a target account</a:t>
            </a:r>
          </a:p>
          <a:p>
            <a:pPr marL="58738" indent="-58738">
              <a:lnSpc>
                <a:spcPct val="90000"/>
              </a:lnSpc>
              <a:spcAft>
                <a:spcPts val="100"/>
              </a:spcAft>
              <a:buFont typeface="Arial" panose="020B0604020202020204" pitchFamily="34" charset="0"/>
              <a:buChar char="•"/>
              <a:defRPr/>
            </a:pPr>
            <a:r>
              <a:rPr lang="en-US" sz="700" kern="0" dirty="0">
                <a:solidFill>
                  <a:sysClr val="windowText" lastClr="000000"/>
                </a:solidFill>
                <a:latin typeface="Calibri"/>
              </a:rPr>
              <a:t>In session:</a:t>
            </a:r>
          </a:p>
          <a:p>
            <a:pPr marL="115888" lvl="1" indent="-58738">
              <a:lnSpc>
                <a:spcPct val="90000"/>
              </a:lnSpc>
              <a:spcAft>
                <a:spcPts val="100"/>
              </a:spcAft>
              <a:buFont typeface="Courier New" charset="0"/>
              <a:buChar char="o"/>
              <a:defRPr/>
            </a:pPr>
            <a:r>
              <a:rPr lang="en-US" sz="600" kern="0" dirty="0">
                <a:solidFill>
                  <a:sysClr val="windowText" lastClr="000000"/>
                </a:solidFill>
                <a:latin typeface="Calibri"/>
              </a:rPr>
              <a:t>Review &amp; refresh </a:t>
            </a:r>
          </a:p>
          <a:p>
            <a:pPr marL="115888" lvl="1" indent="-58738">
              <a:lnSpc>
                <a:spcPct val="90000"/>
              </a:lnSpc>
              <a:spcAft>
                <a:spcPts val="100"/>
              </a:spcAft>
              <a:buFont typeface="Courier New" charset="0"/>
              <a:buChar char="o"/>
              <a:defRPr/>
            </a:pPr>
            <a:r>
              <a:rPr lang="en-US" sz="600" kern="0" dirty="0">
                <a:solidFill>
                  <a:sysClr val="windowText" lastClr="000000"/>
                </a:solidFill>
                <a:latin typeface="Calibri"/>
              </a:rPr>
              <a:t>2-3 Account Directors share experience application</a:t>
            </a:r>
          </a:p>
          <a:p>
            <a:pPr marL="115888" lvl="1" indent="-58738">
              <a:lnSpc>
                <a:spcPct val="90000"/>
              </a:lnSpc>
              <a:spcAft>
                <a:spcPts val="100"/>
              </a:spcAft>
              <a:buFont typeface="Courier New" charset="0"/>
              <a:buChar char="o"/>
              <a:defRPr/>
            </a:pPr>
            <a:r>
              <a:rPr lang="en-US" sz="600" kern="0" dirty="0">
                <a:solidFill>
                  <a:sysClr val="windowText" lastClr="000000"/>
                </a:solidFill>
                <a:latin typeface="Calibri"/>
              </a:rPr>
              <a:t>Peers, leaders &amp; TSG provide feedback (WWW / DD / how to apply)</a:t>
            </a:r>
          </a:p>
          <a:p>
            <a:endParaRPr lang="en-US" baseline="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BB8463-FF47-4AB8-A37C-6B473AF28FBD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07188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4528576" y="4784278"/>
            <a:ext cx="438931" cy="218760"/>
          </a:xfrm>
          <a:prstGeom prst="rect">
            <a:avLst/>
          </a:prstGeo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263030" y="491744"/>
            <a:ext cx="2617939" cy="6750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8/8/22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100" b="0" i="0">
                <a:solidFill>
                  <a:srgbClr val="8A8C8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8/8/22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100" b="0" i="0">
                <a:solidFill>
                  <a:srgbClr val="8A8C8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8/8/22</a:t>
            </a:fld>
            <a:endParaRPr lang="en-US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4528576" y="4784278"/>
            <a:ext cx="438931" cy="218760"/>
          </a:xfrm>
          <a:prstGeom prst="rect">
            <a:avLst/>
          </a:prstGeo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100" b="0" i="0">
                <a:solidFill>
                  <a:srgbClr val="8A8C8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8/8/22</a:t>
            </a:fld>
            <a:endParaRPr lang="en-US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4528576" y="4784278"/>
            <a:ext cx="438931" cy="218760"/>
          </a:xfrm>
          <a:prstGeom prst="rect">
            <a:avLst/>
          </a:prstGeo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8/8/22</a:t>
            </a:fld>
            <a:endParaRPr lang="en-US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F5ED4CF-792E-3945-926D-4FAABFB91DAC}"/>
              </a:ext>
            </a:extLst>
          </p:cNvPr>
          <p:cNvSpPr/>
          <p:nvPr userDrawn="1"/>
        </p:nvSpPr>
        <p:spPr>
          <a:xfrm>
            <a:off x="0" y="0"/>
            <a:ext cx="9144000" cy="446049"/>
          </a:xfrm>
          <a:prstGeom prst="rect">
            <a:avLst/>
          </a:prstGeom>
          <a:pattFill prst="pct50">
            <a:fgClr>
              <a:schemeClr val="bg1">
                <a:lumMod val="7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Holder 2">
            <a:extLst>
              <a:ext uri="{FF2B5EF4-FFF2-40B4-BE49-F238E27FC236}">
                <a16:creationId xmlns:a16="http://schemas.microsoft.com/office/drawing/2014/main" id="{4FADDF76-B979-194B-8CB4-21933D95A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584" y="50304"/>
            <a:ext cx="8712831" cy="323165"/>
          </a:xfrm>
        </p:spPr>
        <p:txBody>
          <a:bodyPr lIns="0" tIns="0" rIns="0" bIns="0"/>
          <a:lstStyle>
            <a:lvl1pPr algn="ctr">
              <a:defRPr sz="2100" b="0" i="0">
                <a:solidFill>
                  <a:srgbClr val="8A8C8C"/>
                </a:solidFill>
                <a:latin typeface="Franklin Gothic Book" panose="020B0503020102020204" pitchFamily="34" charset="0"/>
                <a:cs typeface="Arial"/>
              </a:defRPr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Kate Burda &amp; Co. - 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685800"/>
            <a:ext cx="9144000" cy="4457700"/>
          </a:xfrm>
          <a:prstGeom prst="rect">
            <a:avLst/>
          </a:prstGeom>
          <a:solidFill>
            <a:srgbClr val="CA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>
              <a:solidFill>
                <a:srgbClr val="CAC8C8"/>
              </a:solidFill>
            </a:endParaRPr>
          </a:p>
        </p:txBody>
      </p:sp>
      <p:sp>
        <p:nvSpPr>
          <p:cNvPr id="15" name="Picture Placeholder 14"/>
          <p:cNvSpPr>
            <a:spLocks noGrp="1"/>
          </p:cNvSpPr>
          <p:nvPr>
            <p:ph type="pic" sz="quarter" idx="10"/>
          </p:nvPr>
        </p:nvSpPr>
        <p:spPr>
          <a:xfrm>
            <a:off x="0" y="685800"/>
            <a:ext cx="9144000" cy="44577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Title 1"/>
          <p:cNvSpPr>
            <a:spLocks noGrp="1"/>
          </p:cNvSpPr>
          <p:nvPr>
            <p:ph type="ctrTitle" hasCustomPrompt="1"/>
          </p:nvPr>
        </p:nvSpPr>
        <p:spPr>
          <a:xfrm>
            <a:off x="1143000" y="171450"/>
            <a:ext cx="7772400" cy="323165"/>
          </a:xfrm>
        </p:spPr>
        <p:txBody>
          <a:bodyPr/>
          <a:lstStyle>
            <a:lvl1pPr algn="r">
              <a:defRPr sz="2100" b="1" baseline="0">
                <a:solidFill>
                  <a:srgbClr val="8A8C8C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en-US"/>
              <a:t>Click to Insert Title Here</a:t>
            </a: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62145" y="-537260"/>
            <a:ext cx="1295522" cy="1817468"/>
          </a:xfrm>
          <a:prstGeom prst="rect">
            <a:avLst/>
          </a:prstGeom>
        </p:spPr>
      </p:pic>
      <p:sp>
        <p:nvSpPr>
          <p:cNvPr id="7" name="Holder 4">
            <a:extLst>
              <a:ext uri="{FF2B5EF4-FFF2-40B4-BE49-F238E27FC236}">
                <a16:creationId xmlns:a16="http://schemas.microsoft.com/office/drawing/2014/main" id="{9581F233-BCDC-1D47-8FFD-154F2846ECE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382000" y="4783455"/>
            <a:ext cx="304800" cy="184666"/>
          </a:xfrm>
        </p:spPr>
        <p:txBody>
          <a:bodyPr lIns="0" tIns="0" rIns="0" bIns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11514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03494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1_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4352534" y="4783455"/>
            <a:ext cx="438931" cy="21876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4BA4BD-261B-294C-8FFE-5F808C6609ED}" type="datetime1">
              <a:rPr lang="en-US" smtClean="0"/>
              <a:t>8/8/22</a:t>
            </a:fld>
            <a:endParaRPr lang="en-US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184666"/>
          </a:xfrm>
        </p:spPr>
        <p:txBody>
          <a:bodyPr lIns="0" tIns="0" rIns="0" bIns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19425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215584" y="147319"/>
            <a:ext cx="8712831" cy="32316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5139299" y="4717240"/>
            <a:ext cx="450328" cy="92333"/>
          </a:xfrm>
          <a:prstGeom prst="rect">
            <a:avLst/>
          </a:prstGeom>
        </p:spPr>
        <p:txBody>
          <a:bodyPr vert="horz" lIns="91440" tIns="0" rIns="91440" bIns="0" rtlCol="0" anchor="ctr"/>
          <a:lstStyle>
            <a:lvl1pPr algn="l">
              <a:defRPr sz="600">
                <a:solidFill>
                  <a:schemeClr val="bg2"/>
                </a:solidFill>
                <a:latin typeface="Verdana"/>
                <a:cs typeface="Verdana"/>
              </a:defRPr>
            </a:lvl1pPr>
          </a:lstStyle>
          <a:p>
            <a:fld id="{81BF0B4E-CE60-AB48-9D7E-4434414A7C3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61213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15584" y="147319"/>
            <a:ext cx="8712831" cy="3454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00" b="0" i="0">
                <a:solidFill>
                  <a:srgbClr val="8A8C8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431029" y="1031747"/>
            <a:ext cx="6281940" cy="34658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8/8/22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7" r:id="rId6"/>
    <p:sldLayoutId id="2147483668" r:id="rId7"/>
    <p:sldLayoutId id="2147483669" r:id="rId8"/>
    <p:sldLayoutId id="2147483670" r:id="rId9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emf"/><Relationship Id="rId5" Type="http://schemas.openxmlformats.org/officeDocument/2006/relationships/image" Target="../media/image10.emf"/><Relationship Id="rId4" Type="http://schemas.openxmlformats.org/officeDocument/2006/relationships/image" Target="../media/image9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emf"/><Relationship Id="rId5" Type="http://schemas.openxmlformats.org/officeDocument/2006/relationships/image" Target="../media/image10.emf"/><Relationship Id="rId4" Type="http://schemas.openxmlformats.org/officeDocument/2006/relationships/image" Target="../media/image9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jpg"/><Relationship Id="rId18" Type="http://schemas.openxmlformats.org/officeDocument/2006/relationships/image" Target="../media/image32.png"/><Relationship Id="rId3" Type="http://schemas.openxmlformats.org/officeDocument/2006/relationships/image" Target="../media/image17.jpg"/><Relationship Id="rId21" Type="http://schemas.openxmlformats.org/officeDocument/2006/relationships/image" Target="../media/image35.png"/><Relationship Id="rId7" Type="http://schemas.openxmlformats.org/officeDocument/2006/relationships/image" Target="../media/image21.png"/><Relationship Id="rId12" Type="http://schemas.openxmlformats.org/officeDocument/2006/relationships/image" Target="../media/image26.jpg"/><Relationship Id="rId17" Type="http://schemas.openxmlformats.org/officeDocument/2006/relationships/image" Target="../media/image31.png"/><Relationship Id="rId2" Type="http://schemas.openxmlformats.org/officeDocument/2006/relationships/image" Target="../media/image16.png"/><Relationship Id="rId16" Type="http://schemas.openxmlformats.org/officeDocument/2006/relationships/image" Target="../media/image30.jpg"/><Relationship Id="rId20" Type="http://schemas.openxmlformats.org/officeDocument/2006/relationships/image" Target="../media/image34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jpg"/><Relationship Id="rId11" Type="http://schemas.openxmlformats.org/officeDocument/2006/relationships/image" Target="../media/image25.jpg"/><Relationship Id="rId5" Type="http://schemas.openxmlformats.org/officeDocument/2006/relationships/image" Target="../media/image19.jpg"/><Relationship Id="rId15" Type="http://schemas.openxmlformats.org/officeDocument/2006/relationships/image" Target="../media/image29.jpg"/><Relationship Id="rId23" Type="http://schemas.openxmlformats.org/officeDocument/2006/relationships/image" Target="../media/image37.png"/><Relationship Id="rId10" Type="http://schemas.openxmlformats.org/officeDocument/2006/relationships/image" Target="../media/image24.jpg"/><Relationship Id="rId19" Type="http://schemas.openxmlformats.org/officeDocument/2006/relationships/image" Target="../media/image33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Relationship Id="rId14" Type="http://schemas.openxmlformats.org/officeDocument/2006/relationships/image" Target="../media/image28.jpg"/><Relationship Id="rId22" Type="http://schemas.openxmlformats.org/officeDocument/2006/relationships/image" Target="../media/image3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4168448"/>
            <a:ext cx="9144000" cy="975051"/>
          </a:xfrm>
          <a:custGeom>
            <a:avLst/>
            <a:gdLst/>
            <a:ahLst/>
            <a:cxnLst/>
            <a:rect l="l" t="t" r="r" b="b"/>
            <a:pathLst>
              <a:path w="9144000" h="895985">
                <a:moveTo>
                  <a:pt x="0" y="0"/>
                </a:moveTo>
                <a:lnTo>
                  <a:pt x="9143998" y="0"/>
                </a:lnTo>
                <a:lnTo>
                  <a:pt x="9143998" y="895986"/>
                </a:lnTo>
                <a:lnTo>
                  <a:pt x="0" y="895986"/>
                </a:lnTo>
                <a:lnTo>
                  <a:pt x="0" y="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lvl="1"/>
            <a:endParaRPr lang="en-US" dirty="0"/>
          </a:p>
          <a:p>
            <a:r>
              <a:rPr lang="en-US" dirty="0">
                <a:latin typeface="Franklin Gothic Book" panose="020B0503020102020204" pitchFamily="34" charset="0"/>
              </a:rPr>
              <a:t>  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Book" panose="020B0503020102020204" pitchFamily="34" charset="0"/>
              </a:rPr>
              <a:t>Prepared for:  Jasmine Ang</a:t>
            </a:r>
          </a:p>
          <a:p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Franklin Gothic Book" panose="020B0503020102020204" pitchFamily="34" charset="0"/>
            </a:endParaRPr>
          </a:p>
          <a:p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Franklin Gothic Book" panose="020B0503020102020204" pitchFamily="34" charset="0"/>
            </a:endParaRPr>
          </a:p>
          <a:p>
            <a:endParaRPr dirty="0">
              <a:solidFill>
                <a:schemeClr val="tx1">
                  <a:lumMod val="75000"/>
                  <a:lumOff val="25000"/>
                </a:schemeClr>
              </a:solidFill>
              <a:latin typeface="Franklin Gothic Book" panose="020B0503020102020204" pitchFamily="34" charset="0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" y="0"/>
            <a:ext cx="9143999" cy="405384"/>
          </a:xfrm>
          <a:prstGeom prst="rect">
            <a:avLst/>
          </a:prstGeo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" name="object 4"/>
          <p:cNvSpPr/>
          <p:nvPr/>
        </p:nvSpPr>
        <p:spPr>
          <a:xfrm>
            <a:off x="11660" y="9859"/>
            <a:ext cx="9138285" cy="380335"/>
          </a:xfrm>
          <a:custGeom>
            <a:avLst/>
            <a:gdLst/>
            <a:ahLst/>
            <a:cxnLst/>
            <a:rect l="l" t="t" r="r" b="b"/>
            <a:pathLst>
              <a:path w="9138285" h="336550">
                <a:moveTo>
                  <a:pt x="0" y="0"/>
                </a:moveTo>
                <a:lnTo>
                  <a:pt x="9138053" y="0"/>
                </a:lnTo>
                <a:lnTo>
                  <a:pt x="9138053" y="336378"/>
                </a:lnTo>
                <a:lnTo>
                  <a:pt x="0" y="336378"/>
                </a:lnTo>
                <a:lnTo>
                  <a:pt x="0" y="0"/>
                </a:lnTo>
                <a:close/>
              </a:path>
            </a:pathLst>
          </a:custGeom>
          <a:solidFill>
            <a:srgbClr val="A0155E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" name="object 5"/>
          <p:cNvSpPr/>
          <p:nvPr/>
        </p:nvSpPr>
        <p:spPr>
          <a:xfrm>
            <a:off x="5947" y="0"/>
            <a:ext cx="9138285" cy="336550"/>
          </a:xfrm>
          <a:custGeom>
            <a:avLst/>
            <a:gdLst/>
            <a:ahLst/>
            <a:cxnLst/>
            <a:rect l="l" t="t" r="r" b="b"/>
            <a:pathLst>
              <a:path w="9138285" h="336550">
                <a:moveTo>
                  <a:pt x="0" y="0"/>
                </a:moveTo>
                <a:lnTo>
                  <a:pt x="9138053" y="0"/>
                </a:lnTo>
                <a:lnTo>
                  <a:pt x="9138053" y="336378"/>
                </a:lnTo>
                <a:lnTo>
                  <a:pt x="0" y="336378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4A7EBB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object 6"/>
          <p:cNvSpPr/>
          <p:nvPr/>
        </p:nvSpPr>
        <p:spPr>
          <a:xfrm>
            <a:off x="5946" y="338989"/>
            <a:ext cx="9138052" cy="3950983"/>
          </a:xfrm>
          <a:prstGeom prst="rect">
            <a:avLst/>
          </a:prstGeom>
          <a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" name="object 7"/>
          <p:cNvSpPr/>
          <p:nvPr/>
        </p:nvSpPr>
        <p:spPr>
          <a:xfrm>
            <a:off x="5947" y="2732684"/>
            <a:ext cx="9138285" cy="632460"/>
          </a:xfrm>
          <a:custGeom>
            <a:avLst/>
            <a:gdLst/>
            <a:ahLst/>
            <a:cxnLst/>
            <a:rect l="l" t="t" r="r" b="b"/>
            <a:pathLst>
              <a:path w="9138285" h="632460">
                <a:moveTo>
                  <a:pt x="0" y="0"/>
                </a:moveTo>
                <a:lnTo>
                  <a:pt x="9138053" y="0"/>
                </a:lnTo>
                <a:lnTo>
                  <a:pt x="9138053" y="632460"/>
                </a:lnTo>
                <a:lnTo>
                  <a:pt x="0" y="63246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199"/>
            </a:srgbClr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object 8"/>
          <p:cNvSpPr txBox="1"/>
          <p:nvPr/>
        </p:nvSpPr>
        <p:spPr>
          <a:xfrm>
            <a:off x="221846" y="2786328"/>
            <a:ext cx="5493153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800" dirty="0">
                <a:solidFill>
                  <a:srgbClr val="FFFFFF"/>
                </a:solidFill>
                <a:latin typeface="Franklin Gothic Book" panose="020B0503020102020204" pitchFamily="34" charset="0"/>
                <a:cs typeface="Arial"/>
              </a:rPr>
              <a:t>A Conversation of Possibility</a:t>
            </a:r>
            <a:endParaRPr sz="2800" dirty="0">
              <a:latin typeface="Franklin Gothic Book" panose="020B0503020102020204" pitchFamily="34" charset="0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52400" y="4790286"/>
            <a:ext cx="5734050" cy="19646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ts val="700"/>
              </a:lnSpc>
              <a:spcBef>
                <a:spcPts val="1365"/>
              </a:spcBef>
            </a:pPr>
            <a:r>
              <a:rPr sz="800" spc="-25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All </a:t>
            </a:r>
            <a:r>
              <a:rPr sz="800" spc="-10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materials </a:t>
            </a:r>
            <a:r>
              <a:rPr sz="800" spc="-20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and </a:t>
            </a:r>
            <a:r>
              <a:rPr sz="800" spc="-15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methodologies are </a:t>
            </a:r>
            <a:r>
              <a:rPr sz="700" spc="-25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copy </a:t>
            </a:r>
            <a:r>
              <a:rPr sz="800" spc="-5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written </a:t>
            </a:r>
            <a:r>
              <a:rPr sz="800" spc="-20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and </a:t>
            </a:r>
            <a:r>
              <a:rPr sz="800" spc="-10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protected Intellectual </a:t>
            </a:r>
            <a:r>
              <a:rPr sz="800" spc="-20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Property </a:t>
            </a:r>
            <a:r>
              <a:rPr sz="800" spc="-5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of </a:t>
            </a:r>
            <a:r>
              <a:rPr sz="800" spc="-15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Kate </a:t>
            </a:r>
            <a:r>
              <a:rPr sz="800" spc="-20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Burda </a:t>
            </a:r>
            <a:r>
              <a:rPr sz="800" spc="-5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&amp; </a:t>
            </a:r>
            <a:r>
              <a:rPr sz="800" spc="-35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Company </a:t>
            </a:r>
            <a:r>
              <a:rPr sz="800" spc="-20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and </a:t>
            </a:r>
            <a:r>
              <a:rPr sz="800" spc="-10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for </a:t>
            </a:r>
            <a:r>
              <a:rPr sz="800" spc="-5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the </a:t>
            </a:r>
            <a:r>
              <a:rPr sz="800" spc="-25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express </a:t>
            </a:r>
            <a:r>
              <a:rPr sz="800" spc="-20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purpose </a:t>
            </a:r>
            <a:r>
              <a:rPr lang="en-US" sz="800" spc="-10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for Keppel Land</a:t>
            </a:r>
            <a:r>
              <a:rPr sz="800" spc="-15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, </a:t>
            </a:r>
            <a:r>
              <a:rPr sz="800" spc="-25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systems,  </a:t>
            </a:r>
            <a:r>
              <a:rPr sz="800" spc="-20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and </a:t>
            </a:r>
            <a:r>
              <a:rPr sz="800" spc="-15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constructs are </a:t>
            </a:r>
            <a:r>
              <a:rPr sz="800" spc="-10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not for </a:t>
            </a:r>
            <a:r>
              <a:rPr sz="800" spc="-15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external </a:t>
            </a:r>
            <a:r>
              <a:rPr sz="800" spc="-5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distribution </a:t>
            </a:r>
            <a:r>
              <a:rPr sz="800" spc="-20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and </a:t>
            </a:r>
            <a:r>
              <a:rPr sz="800" spc="-15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are</a:t>
            </a:r>
            <a:r>
              <a:rPr sz="800" spc="-55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 </a:t>
            </a:r>
            <a:r>
              <a:rPr sz="800" spc="-10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protected.</a:t>
            </a:r>
            <a:endParaRPr sz="800" dirty="0">
              <a:latin typeface="Franklin Gothic Book" panose="020B0503020102020204" pitchFamily="34" charset="0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54700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ound Diagonal Corner Rectangle 10"/>
          <p:cNvSpPr/>
          <p:nvPr/>
        </p:nvSpPr>
        <p:spPr>
          <a:xfrm>
            <a:off x="3267796" y="1129056"/>
            <a:ext cx="2854709" cy="3871878"/>
          </a:xfrm>
          <a:prstGeom prst="round2Diag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ound Diagonal Corner Rectangle 13"/>
          <p:cNvSpPr/>
          <p:nvPr/>
        </p:nvSpPr>
        <p:spPr>
          <a:xfrm>
            <a:off x="6320921" y="1129055"/>
            <a:ext cx="2620719" cy="3871878"/>
          </a:xfrm>
          <a:prstGeom prst="round2Diag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Chevron 12"/>
          <p:cNvSpPr/>
          <p:nvPr/>
        </p:nvSpPr>
        <p:spPr>
          <a:xfrm>
            <a:off x="6198802" y="793131"/>
            <a:ext cx="2911384" cy="345337"/>
          </a:xfrm>
          <a:prstGeom prst="chevron">
            <a:avLst/>
          </a:prstGeom>
          <a:solidFill>
            <a:srgbClr val="BA3967"/>
          </a:solidFill>
          <a:ln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2" name="Chevron 11"/>
          <p:cNvSpPr/>
          <p:nvPr/>
        </p:nvSpPr>
        <p:spPr>
          <a:xfrm>
            <a:off x="3211402" y="793131"/>
            <a:ext cx="3089641" cy="345337"/>
          </a:xfrm>
          <a:prstGeom prst="chevron">
            <a:avLst/>
          </a:prstGeom>
          <a:solidFill>
            <a:srgbClr val="BA3967"/>
          </a:solidFill>
          <a:ln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0" name="Round Diagonal Corner Rectangle 9"/>
          <p:cNvSpPr/>
          <p:nvPr/>
        </p:nvSpPr>
        <p:spPr>
          <a:xfrm>
            <a:off x="112510" y="1129055"/>
            <a:ext cx="3052642" cy="3871879"/>
          </a:xfrm>
          <a:prstGeom prst="round2Diag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Pentagon 5"/>
          <p:cNvSpPr/>
          <p:nvPr/>
        </p:nvSpPr>
        <p:spPr>
          <a:xfrm>
            <a:off x="0" y="793131"/>
            <a:ext cx="3331168" cy="335925"/>
          </a:xfrm>
          <a:prstGeom prst="homePlate">
            <a:avLst/>
          </a:prstGeom>
          <a:solidFill>
            <a:srgbClr val="BA3967"/>
          </a:solidFill>
          <a:ln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Franklin Gothic Book"/>
                <a:cs typeface="Franklin Gothic Book"/>
              </a:rPr>
              <a:t>We create impact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124272" y="810012"/>
            <a:ext cx="3068413" cy="44550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FFFFFF"/>
                </a:solidFill>
                <a:latin typeface="Franklin Gothic Book"/>
                <a:cs typeface="Franklin Gothic Book"/>
              </a:rPr>
              <a:t>WHAT YOU WANT TO ACHIEVE…</a:t>
            </a:r>
          </a:p>
          <a:p>
            <a:endParaRPr lang="en-US" sz="1400" dirty="0">
              <a:latin typeface="Franklin Gothic Book" panose="020B0503020102020204" pitchFamily="34" charset="0"/>
              <a:cs typeface="Franklin Gothic Book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b="1" dirty="0">
                <a:latin typeface="Franklin Gothic Book" panose="020B0503020102020204" pitchFamily="34" charset="0"/>
              </a:rPr>
              <a:t>Shift mindset to be more customer-centric that is at the centrum of how team members engage with customers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900" b="1" dirty="0">
              <a:latin typeface="Franklin Gothic Book" panose="020B05030201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b="1" dirty="0">
                <a:latin typeface="Franklin Gothic Book" panose="020B0503020102020204" pitchFamily="34" charset="0"/>
              </a:rPr>
              <a:t>Having engagement and follow through throughout the organization from stakeholders to customer-facing disciplines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900" b="1" dirty="0">
              <a:latin typeface="Franklin Gothic Book" panose="020B05030201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b="1" dirty="0">
                <a:latin typeface="Franklin Gothic Book" panose="020B0503020102020204" pitchFamily="34" charset="0"/>
              </a:rPr>
              <a:t>A plan that adjusts to your shift to become ‘asset-light’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900" b="1" dirty="0">
              <a:latin typeface="Franklin Gothic Book" panose="020B05030201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b="1" dirty="0">
                <a:latin typeface="Franklin Gothic Book" panose="020B0503020102020204" pitchFamily="34" charset="0"/>
              </a:rPr>
              <a:t>Having a very clearly articulated ‘future state’ that you can operationalize and execute</a:t>
            </a:r>
          </a:p>
          <a:p>
            <a:endParaRPr lang="en-US" sz="900" b="1" dirty="0">
              <a:latin typeface="Franklin Gothic Book" panose="020B05030201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b="1" dirty="0">
                <a:latin typeface="Franklin Gothic Book" panose="020B0503020102020204" pitchFamily="34" charset="0"/>
              </a:rPr>
              <a:t>Positive business outcomes</a:t>
            </a:r>
            <a:endParaRPr lang="en-US" sz="1400" b="1" dirty="0"/>
          </a:p>
          <a:p>
            <a:endParaRPr lang="en-US" sz="1400" b="1" dirty="0">
              <a:latin typeface="Franklin Gothic Book" panose="020B0503020102020204" pitchFamily="34" charset="0"/>
              <a:cs typeface="Franklin Gothic Book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301186" y="793131"/>
            <a:ext cx="2821319" cy="44396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FFFFFF"/>
                </a:solidFill>
                <a:latin typeface="Franklin Gothic Book" charset="0"/>
                <a:ea typeface="Franklin Gothic Book" charset="0"/>
                <a:cs typeface="Franklin Gothic Book" charset="0"/>
              </a:rPr>
              <a:t>WHAT YOU GET…	</a:t>
            </a:r>
          </a:p>
          <a:p>
            <a:endParaRPr lang="en-US" sz="400" dirty="0">
              <a:latin typeface="Franklin Gothic Book" charset="0"/>
              <a:ea typeface="Franklin Gothic Book" charset="0"/>
              <a:cs typeface="Franklin Gothic Book" charset="0"/>
            </a:endParaRPr>
          </a:p>
          <a:p>
            <a:endParaRPr lang="en-US" sz="400" dirty="0">
              <a:latin typeface="Franklin Gothic Book" charset="0"/>
              <a:ea typeface="Franklin Gothic Book" charset="0"/>
              <a:cs typeface="Franklin Gothic Book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i="1" dirty="0">
                <a:latin typeface="Franklin Gothic Book" charset="0"/>
                <a:ea typeface="Franklin Gothic Book" charset="0"/>
                <a:cs typeface="Franklin Gothic Book" charset="0"/>
              </a:rPr>
              <a:t>Discovery that includes a deep dive into market conditions and trends, SWOT analysis, current customers and aspirational customers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900" b="1" i="1" dirty="0">
              <a:latin typeface="Franklin Gothic Book" charset="0"/>
              <a:ea typeface="Franklin Gothic Book" charset="0"/>
              <a:cs typeface="Franklin Gothic Book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i="1" dirty="0">
                <a:latin typeface="Franklin Gothic Book" charset="0"/>
                <a:ea typeface="Franklin Gothic Book" charset="0"/>
                <a:cs typeface="Franklin Gothic Book" charset="0"/>
              </a:rPr>
              <a:t>‘Vision-to-Value’ roadmap that clearly defines “the new way to work”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900" b="1" i="1" dirty="0">
              <a:latin typeface="Franklin Gothic Book" charset="0"/>
              <a:ea typeface="Franklin Gothic Book" charset="0"/>
              <a:cs typeface="Franklin Gothic Book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i="1" dirty="0">
                <a:latin typeface="Franklin Gothic Book" charset="0"/>
                <a:ea typeface="Franklin Gothic Book" charset="0"/>
                <a:cs typeface="Franklin Gothic Book" charset="0"/>
              </a:rPr>
              <a:t>Playbook - Implementation Plan (Playbook) that enables the new foundation and supporting tools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900" b="1" i="1" dirty="0">
              <a:latin typeface="Franklin Gothic Book" charset="0"/>
              <a:ea typeface="Franklin Gothic Book" charset="0"/>
              <a:cs typeface="Franklin Gothic Book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i="1" dirty="0">
                <a:latin typeface="Franklin Gothic Book" charset="0"/>
                <a:ea typeface="Franklin Gothic Book" charset="0"/>
                <a:cs typeface="Franklin Gothic Book" charset="0"/>
              </a:rPr>
              <a:t>Proven and Pragmatic Approach… yet customized to KeppelLand’s vision and values</a:t>
            </a:r>
          </a:p>
          <a:p>
            <a:endParaRPr lang="en-US" sz="600" b="1" i="1" dirty="0">
              <a:latin typeface="Franklin Gothic Book" charset="0"/>
              <a:ea typeface="Franklin Gothic Book" charset="0"/>
              <a:cs typeface="Franklin Gothic Book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361497" y="793131"/>
            <a:ext cx="2609578" cy="4216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FFFFFF"/>
                </a:solidFill>
                <a:latin typeface="Franklin Gothic Book" charset="0"/>
                <a:ea typeface="Franklin Gothic Book" charset="0"/>
                <a:cs typeface="Franklin Gothic Book" charset="0"/>
              </a:rPr>
              <a:t>SO YOU CAN…</a:t>
            </a:r>
          </a:p>
          <a:p>
            <a:endParaRPr lang="en-US" sz="1400" b="1" dirty="0">
              <a:latin typeface="Franklin Gothic Book" charset="0"/>
              <a:ea typeface="Franklin Gothic Book" charset="0"/>
              <a:cs typeface="Franklin Gothic Book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latin typeface="Franklin Gothic Book" charset="0"/>
                <a:ea typeface="Franklin Gothic Book" charset="0"/>
                <a:cs typeface="Franklin Gothic Book" charset="0"/>
              </a:rPr>
              <a:t>Drive business outcomes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b="1" dirty="0">
              <a:latin typeface="Franklin Gothic Book" charset="0"/>
              <a:ea typeface="Franklin Gothic Book" charset="0"/>
              <a:cs typeface="Franklin Gothic Book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latin typeface="Franklin Gothic Book" charset="0"/>
                <a:ea typeface="Franklin Gothic Book" charset="0"/>
                <a:cs typeface="Franklin Gothic Book" charset="0"/>
              </a:rPr>
              <a:t>Customer Centricity that ‘future proofs’ the business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b="1" dirty="0">
              <a:latin typeface="Franklin Gothic Book" charset="0"/>
              <a:ea typeface="Franklin Gothic Book" charset="0"/>
              <a:cs typeface="Franklin Gothic Book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latin typeface="Franklin Gothic Book" charset="0"/>
                <a:ea typeface="Franklin Gothic Book" charset="0"/>
                <a:cs typeface="Franklin Gothic Book" charset="0"/>
              </a:rPr>
              <a:t>Be relevant to the customers that are most valuable to you</a:t>
            </a:r>
          </a:p>
          <a:p>
            <a:endParaRPr lang="en-US" sz="1400" b="1" dirty="0">
              <a:latin typeface="Franklin Gothic Book" charset="0"/>
              <a:ea typeface="Franklin Gothic Book" charset="0"/>
              <a:cs typeface="Franklin Gothic Book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latin typeface="Franklin Gothic Book" charset="0"/>
                <a:ea typeface="Franklin Gothic Book" charset="0"/>
                <a:cs typeface="Franklin Gothic Book" charset="0"/>
              </a:rPr>
              <a:t>Ability to flex and shift business without losing the foundation and customer centric approach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b="1" dirty="0">
              <a:latin typeface="Franklin Gothic Book" charset="0"/>
              <a:ea typeface="Franklin Gothic Book" charset="0"/>
              <a:cs typeface="Franklin Gothic Book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b="1" dirty="0">
              <a:latin typeface="Franklin Gothic Book" charset="0"/>
              <a:ea typeface="Franklin Gothic Book" charset="0"/>
              <a:cs typeface="Franklin Gothic Book" charset="0"/>
            </a:endParaRPr>
          </a:p>
          <a:p>
            <a:endParaRPr lang="en-US" sz="1400" b="1" dirty="0">
              <a:latin typeface="Franklin Gothic Book" charset="0"/>
              <a:ea typeface="Franklin Gothic Book" charset="0"/>
              <a:cs typeface="Franklin Gothic Book" charset="0"/>
            </a:endParaRPr>
          </a:p>
          <a:p>
            <a:endParaRPr lang="en-US" sz="1400" b="1" dirty="0">
              <a:latin typeface="Franklin Gothic Book" charset="0"/>
              <a:ea typeface="Franklin Gothic Book" charset="0"/>
              <a:cs typeface="Franklin Gothic Book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2D249B-843D-A64A-931B-1CE488C5C8F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626901" y="4836025"/>
            <a:ext cx="304800" cy="184666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2905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499"/>
          </a:xfrm>
          <a:prstGeom prst="rect">
            <a:avLst/>
          </a:prstGeo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7340" y="365251"/>
            <a:ext cx="4478020" cy="112585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0400"/>
              </a:lnSpc>
              <a:spcBef>
                <a:spcPts val="90"/>
              </a:spcBef>
            </a:pPr>
            <a:r>
              <a:rPr sz="1800" dirty="0">
                <a:solidFill>
                  <a:srgbClr val="FFFFFF"/>
                </a:solidFill>
                <a:latin typeface="Franklin Gothic Book" panose="020B0503020102020204" pitchFamily="34" charset="0"/>
              </a:rPr>
              <a:t>We take the noise, disruption, frustration</a:t>
            </a:r>
            <a:r>
              <a:rPr lang="en-US" sz="1800" dirty="0">
                <a:solidFill>
                  <a:srgbClr val="FFFFFF"/>
                </a:solidFill>
                <a:latin typeface="Franklin Gothic Book" panose="020B0503020102020204" pitchFamily="34" charset="0"/>
              </a:rPr>
              <a:t> </a:t>
            </a:r>
            <a:r>
              <a:rPr sz="1800" dirty="0">
                <a:solidFill>
                  <a:srgbClr val="FFFFFF"/>
                </a:solidFill>
                <a:latin typeface="Franklin Gothic Book" panose="020B0503020102020204" pitchFamily="34" charset="0"/>
              </a:rPr>
              <a:t>and complexity of the new economy and bring you a clear, concise and simple path for </a:t>
            </a:r>
            <a:r>
              <a:rPr lang="en-US" sz="1800" dirty="0">
                <a:solidFill>
                  <a:srgbClr val="FFFFFF"/>
                </a:solidFill>
                <a:latin typeface="Franklin Gothic Book" panose="020B0503020102020204" pitchFamily="34" charset="0"/>
              </a:rPr>
              <a:t>you </a:t>
            </a:r>
            <a:r>
              <a:rPr sz="1800" dirty="0">
                <a:solidFill>
                  <a:srgbClr val="FFFFFF"/>
                </a:solidFill>
                <a:latin typeface="Franklin Gothic Book" panose="020B0503020102020204" pitchFamily="34" charset="0"/>
              </a:rPr>
              <a:t>to get results.</a:t>
            </a:r>
            <a:endParaRPr sz="1800" dirty="0">
              <a:latin typeface="Franklin Gothic Book" panose="020B0503020102020204" pitchFamily="34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860540" y="3812540"/>
            <a:ext cx="1837689" cy="126675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36830">
              <a:lnSpc>
                <a:spcPct val="101099"/>
              </a:lnSpc>
              <a:spcBef>
                <a:spcPts val="75"/>
              </a:spcBef>
            </a:pPr>
            <a:r>
              <a:rPr sz="1800" i="1" dirty="0">
                <a:solidFill>
                  <a:srgbClr val="FFFF00"/>
                </a:solidFill>
                <a:latin typeface="Franklin Gothic Book" panose="020B0503020102020204" pitchFamily="34" charset="0"/>
                <a:cs typeface="Arial"/>
              </a:rPr>
              <a:t>Bringing Simplicity  to</a:t>
            </a:r>
            <a:r>
              <a:rPr lang="en-US" sz="1800" i="1" dirty="0">
                <a:solidFill>
                  <a:srgbClr val="FFFF00"/>
                </a:solidFill>
                <a:latin typeface="Franklin Gothic Book" panose="020B0503020102020204" pitchFamily="34" charset="0"/>
                <a:cs typeface="Arial"/>
              </a:rPr>
              <a:t> Your </a:t>
            </a:r>
            <a:r>
              <a:rPr sz="1800" i="1" dirty="0">
                <a:solidFill>
                  <a:srgbClr val="FFFF00"/>
                </a:solidFill>
                <a:latin typeface="Franklin Gothic Book" panose="020B0503020102020204" pitchFamily="34" charset="0"/>
                <a:cs typeface="Arial"/>
              </a:rPr>
              <a:t>Complexity</a:t>
            </a:r>
            <a:endParaRPr sz="1800" dirty="0">
              <a:latin typeface="Franklin Gothic Book" panose="020B0503020102020204" pitchFamily="34" charset="0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650" dirty="0">
              <a:latin typeface="Franklin Gothic Book" panose="020B0503020102020204" pitchFamily="34" charset="0"/>
              <a:cs typeface="Arial"/>
            </a:endParaRPr>
          </a:p>
          <a:p>
            <a:pPr marR="5080" algn="r">
              <a:lnSpc>
                <a:spcPct val="100000"/>
              </a:lnSpc>
            </a:pPr>
            <a:r>
              <a:rPr sz="1800" dirty="0">
                <a:solidFill>
                  <a:srgbClr val="898989"/>
                </a:solidFill>
                <a:latin typeface="Franklin Gothic Book" panose="020B0503020102020204" pitchFamily="34" charset="0"/>
                <a:cs typeface="Arial"/>
              </a:rPr>
              <a:t>3</a:t>
            </a:r>
            <a:endParaRPr sz="1800" dirty="0">
              <a:latin typeface="Franklin Gothic Book" panose="020B0503020102020204" pitchFamily="34" charset="0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Freeform 1">
            <a:extLst>
              <a:ext uri="{FF2B5EF4-FFF2-40B4-BE49-F238E27FC236}">
                <a16:creationId xmlns:a16="http://schemas.microsoft.com/office/drawing/2014/main" id="{6661786B-1E03-6044-9258-2D384ED78A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2225894"/>
            <a:ext cx="8991600" cy="150136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 sz="2449" dirty="0">
              <a:latin typeface="Lato Light" panose="020F0502020204030203" pitchFamily="34" charset="0"/>
            </a:endParaRPr>
          </a:p>
        </p:txBody>
      </p:sp>
      <p:sp>
        <p:nvSpPr>
          <p:cNvPr id="4" name="Freeform 2">
            <a:extLst>
              <a:ext uri="{FF2B5EF4-FFF2-40B4-BE49-F238E27FC236}">
                <a16:creationId xmlns:a16="http://schemas.microsoft.com/office/drawing/2014/main" id="{95252E18-2FFA-1545-83AF-546F436696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0405" y="1658594"/>
            <a:ext cx="1284736" cy="1284736"/>
          </a:xfrm>
          <a:custGeom>
            <a:avLst/>
            <a:gdLst>
              <a:gd name="T0" fmla="*/ 1377 w 2753"/>
              <a:gd name="T1" fmla="*/ 0 h 2752"/>
              <a:gd name="T2" fmla="*/ 1377 w 2753"/>
              <a:gd name="T3" fmla="*/ 0 h 2752"/>
              <a:gd name="T4" fmla="*/ 2752 w 2753"/>
              <a:gd name="T5" fmla="*/ 1376 h 2752"/>
              <a:gd name="T6" fmla="*/ 2752 w 2753"/>
              <a:gd name="T7" fmla="*/ 1376 h 2752"/>
              <a:gd name="T8" fmla="*/ 1377 w 2753"/>
              <a:gd name="T9" fmla="*/ 2751 h 2752"/>
              <a:gd name="T10" fmla="*/ 1377 w 2753"/>
              <a:gd name="T11" fmla="*/ 2751 h 2752"/>
              <a:gd name="T12" fmla="*/ 0 w 2753"/>
              <a:gd name="T13" fmla="*/ 1376 h 2752"/>
              <a:gd name="T14" fmla="*/ 0 w 2753"/>
              <a:gd name="T15" fmla="*/ 1376 h 2752"/>
              <a:gd name="T16" fmla="*/ 1377 w 2753"/>
              <a:gd name="T17" fmla="*/ 0 h 27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753" h="2752">
                <a:moveTo>
                  <a:pt x="1377" y="0"/>
                </a:moveTo>
                <a:lnTo>
                  <a:pt x="1377" y="0"/>
                </a:lnTo>
                <a:cubicBezTo>
                  <a:pt x="2137" y="0"/>
                  <a:pt x="2752" y="616"/>
                  <a:pt x="2752" y="1376"/>
                </a:cubicBezTo>
                <a:lnTo>
                  <a:pt x="2752" y="1376"/>
                </a:lnTo>
                <a:cubicBezTo>
                  <a:pt x="2752" y="2135"/>
                  <a:pt x="2137" y="2751"/>
                  <a:pt x="1377" y="2751"/>
                </a:cubicBezTo>
                <a:lnTo>
                  <a:pt x="1377" y="2751"/>
                </a:lnTo>
                <a:cubicBezTo>
                  <a:pt x="616" y="2751"/>
                  <a:pt x="0" y="2135"/>
                  <a:pt x="0" y="1376"/>
                </a:cubicBezTo>
                <a:lnTo>
                  <a:pt x="0" y="1376"/>
                </a:lnTo>
                <a:cubicBezTo>
                  <a:pt x="0" y="616"/>
                  <a:pt x="616" y="0"/>
                  <a:pt x="1377" y="0"/>
                </a:cubicBezTo>
              </a:path>
            </a:pathLst>
          </a:custGeom>
          <a:solidFill>
            <a:schemeClr val="bg1"/>
          </a:solidFill>
          <a:ln w="76200">
            <a:solidFill>
              <a:srgbClr val="B52372"/>
            </a:solidFill>
          </a:ln>
          <a:effectLst/>
        </p:spPr>
        <p:txBody>
          <a:bodyPr wrap="none" anchor="ctr"/>
          <a:lstStyle/>
          <a:p>
            <a:endParaRPr lang="en-US" sz="2449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57A9D67-CD43-0B47-8040-F95CCC8496BC}"/>
              </a:ext>
            </a:extLst>
          </p:cNvPr>
          <p:cNvSpPr txBox="1"/>
          <p:nvPr/>
        </p:nvSpPr>
        <p:spPr>
          <a:xfrm>
            <a:off x="2595322" y="229640"/>
            <a:ext cx="3953390" cy="4385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250" b="1" dirty="0">
                <a:solidFill>
                  <a:schemeClr val="tx2"/>
                </a:solidFill>
                <a:latin typeface="Franklin Gothic Book" panose="020B0503020102020204" pitchFamily="34" charset="0"/>
                <a:cs typeface="Poppins" pitchFamily="2" charset="77"/>
              </a:rPr>
              <a:t>Strategic Engagement Pathway</a:t>
            </a:r>
          </a:p>
        </p:txBody>
      </p:sp>
      <p:sp>
        <p:nvSpPr>
          <p:cNvPr id="7" name="Freeform 5">
            <a:extLst>
              <a:ext uri="{FF2B5EF4-FFF2-40B4-BE49-F238E27FC236}">
                <a16:creationId xmlns:a16="http://schemas.microsoft.com/office/drawing/2014/main" id="{DECB0E47-80BF-9B46-95D3-E7B7306564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70018" y="1658594"/>
            <a:ext cx="1284736" cy="1284736"/>
          </a:xfrm>
          <a:custGeom>
            <a:avLst/>
            <a:gdLst>
              <a:gd name="T0" fmla="*/ 1376 w 2753"/>
              <a:gd name="T1" fmla="*/ 0 h 2752"/>
              <a:gd name="T2" fmla="*/ 1376 w 2753"/>
              <a:gd name="T3" fmla="*/ 0 h 2752"/>
              <a:gd name="T4" fmla="*/ 2752 w 2753"/>
              <a:gd name="T5" fmla="*/ 1376 h 2752"/>
              <a:gd name="T6" fmla="*/ 2752 w 2753"/>
              <a:gd name="T7" fmla="*/ 1376 h 2752"/>
              <a:gd name="T8" fmla="*/ 1376 w 2753"/>
              <a:gd name="T9" fmla="*/ 2751 h 2752"/>
              <a:gd name="T10" fmla="*/ 1376 w 2753"/>
              <a:gd name="T11" fmla="*/ 2751 h 2752"/>
              <a:gd name="T12" fmla="*/ 0 w 2753"/>
              <a:gd name="T13" fmla="*/ 1376 h 2752"/>
              <a:gd name="T14" fmla="*/ 0 w 2753"/>
              <a:gd name="T15" fmla="*/ 1376 h 2752"/>
              <a:gd name="T16" fmla="*/ 1376 w 2753"/>
              <a:gd name="T17" fmla="*/ 0 h 27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753" h="2752">
                <a:moveTo>
                  <a:pt x="1376" y="0"/>
                </a:moveTo>
                <a:lnTo>
                  <a:pt x="1376" y="0"/>
                </a:lnTo>
                <a:cubicBezTo>
                  <a:pt x="2137" y="0"/>
                  <a:pt x="2752" y="616"/>
                  <a:pt x="2752" y="1376"/>
                </a:cubicBezTo>
                <a:lnTo>
                  <a:pt x="2752" y="1376"/>
                </a:lnTo>
                <a:cubicBezTo>
                  <a:pt x="2752" y="2135"/>
                  <a:pt x="2137" y="2751"/>
                  <a:pt x="1376" y="2751"/>
                </a:cubicBezTo>
                <a:lnTo>
                  <a:pt x="1376" y="2751"/>
                </a:lnTo>
                <a:cubicBezTo>
                  <a:pt x="616" y="2751"/>
                  <a:pt x="0" y="2135"/>
                  <a:pt x="0" y="1376"/>
                </a:cubicBezTo>
                <a:lnTo>
                  <a:pt x="0" y="1376"/>
                </a:lnTo>
                <a:cubicBezTo>
                  <a:pt x="0" y="616"/>
                  <a:pt x="616" y="0"/>
                  <a:pt x="1376" y="0"/>
                </a:cubicBezTo>
              </a:path>
            </a:pathLst>
          </a:custGeom>
          <a:solidFill>
            <a:schemeClr val="bg1"/>
          </a:solidFill>
          <a:ln w="76200">
            <a:solidFill>
              <a:schemeClr val="tx1">
                <a:lumMod val="65000"/>
                <a:lumOff val="35000"/>
              </a:schemeClr>
            </a:solidFill>
          </a:ln>
          <a:effectLst/>
        </p:spPr>
        <p:txBody>
          <a:bodyPr wrap="none" anchor="ctr"/>
          <a:lstStyle/>
          <a:p>
            <a:endParaRPr lang="en-US" sz="2449" dirty="0"/>
          </a:p>
        </p:txBody>
      </p:sp>
      <p:sp>
        <p:nvSpPr>
          <p:cNvPr id="10" name="Freeform 8">
            <a:extLst>
              <a:ext uri="{FF2B5EF4-FFF2-40B4-BE49-F238E27FC236}">
                <a16:creationId xmlns:a16="http://schemas.microsoft.com/office/drawing/2014/main" id="{123A7FA7-121E-9042-8277-B581CAF1EC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37104" y="1658594"/>
            <a:ext cx="1284736" cy="1284736"/>
          </a:xfrm>
          <a:custGeom>
            <a:avLst/>
            <a:gdLst>
              <a:gd name="T0" fmla="*/ 1376 w 2752"/>
              <a:gd name="T1" fmla="*/ 0 h 2752"/>
              <a:gd name="T2" fmla="*/ 1376 w 2752"/>
              <a:gd name="T3" fmla="*/ 0 h 2752"/>
              <a:gd name="T4" fmla="*/ 2751 w 2752"/>
              <a:gd name="T5" fmla="*/ 1376 h 2752"/>
              <a:gd name="T6" fmla="*/ 2751 w 2752"/>
              <a:gd name="T7" fmla="*/ 1376 h 2752"/>
              <a:gd name="T8" fmla="*/ 1376 w 2752"/>
              <a:gd name="T9" fmla="*/ 2751 h 2752"/>
              <a:gd name="T10" fmla="*/ 1376 w 2752"/>
              <a:gd name="T11" fmla="*/ 2751 h 2752"/>
              <a:gd name="T12" fmla="*/ 0 w 2752"/>
              <a:gd name="T13" fmla="*/ 1376 h 2752"/>
              <a:gd name="T14" fmla="*/ 0 w 2752"/>
              <a:gd name="T15" fmla="*/ 1376 h 2752"/>
              <a:gd name="T16" fmla="*/ 1376 w 2752"/>
              <a:gd name="T17" fmla="*/ 0 h 27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752" h="2752">
                <a:moveTo>
                  <a:pt x="1376" y="0"/>
                </a:moveTo>
                <a:lnTo>
                  <a:pt x="1376" y="0"/>
                </a:lnTo>
                <a:cubicBezTo>
                  <a:pt x="2135" y="0"/>
                  <a:pt x="2751" y="616"/>
                  <a:pt x="2751" y="1376"/>
                </a:cubicBezTo>
                <a:lnTo>
                  <a:pt x="2751" y="1376"/>
                </a:lnTo>
                <a:cubicBezTo>
                  <a:pt x="2751" y="2135"/>
                  <a:pt x="2135" y="2751"/>
                  <a:pt x="1376" y="2751"/>
                </a:cubicBezTo>
                <a:lnTo>
                  <a:pt x="1376" y="2751"/>
                </a:lnTo>
                <a:cubicBezTo>
                  <a:pt x="616" y="2751"/>
                  <a:pt x="0" y="2135"/>
                  <a:pt x="0" y="1376"/>
                </a:cubicBezTo>
                <a:lnTo>
                  <a:pt x="0" y="1376"/>
                </a:lnTo>
                <a:cubicBezTo>
                  <a:pt x="0" y="616"/>
                  <a:pt x="616" y="0"/>
                  <a:pt x="1376" y="0"/>
                </a:cubicBezTo>
              </a:path>
            </a:pathLst>
          </a:custGeom>
          <a:solidFill>
            <a:schemeClr val="bg1"/>
          </a:solidFill>
          <a:ln w="76200">
            <a:solidFill>
              <a:srgbClr val="B52372"/>
            </a:solidFill>
          </a:ln>
          <a:effectLst/>
        </p:spPr>
        <p:txBody>
          <a:bodyPr wrap="none" anchor="ctr"/>
          <a:lstStyle/>
          <a:p>
            <a:endParaRPr lang="en-US" sz="2449" dirty="0"/>
          </a:p>
        </p:txBody>
      </p:sp>
      <p:sp>
        <p:nvSpPr>
          <p:cNvPr id="13" name="Freeform 11">
            <a:extLst>
              <a:ext uri="{FF2B5EF4-FFF2-40B4-BE49-F238E27FC236}">
                <a16:creationId xmlns:a16="http://schemas.microsoft.com/office/drawing/2014/main" id="{D4D8D2FC-2F50-514B-A51A-8DD75EB187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9247" y="1658594"/>
            <a:ext cx="1284736" cy="1284736"/>
          </a:xfrm>
          <a:custGeom>
            <a:avLst/>
            <a:gdLst>
              <a:gd name="T0" fmla="*/ 1376 w 2753"/>
              <a:gd name="T1" fmla="*/ 0 h 2752"/>
              <a:gd name="T2" fmla="*/ 1376 w 2753"/>
              <a:gd name="T3" fmla="*/ 0 h 2752"/>
              <a:gd name="T4" fmla="*/ 2752 w 2753"/>
              <a:gd name="T5" fmla="*/ 1376 h 2752"/>
              <a:gd name="T6" fmla="*/ 2752 w 2753"/>
              <a:gd name="T7" fmla="*/ 1376 h 2752"/>
              <a:gd name="T8" fmla="*/ 1376 w 2753"/>
              <a:gd name="T9" fmla="*/ 2751 h 2752"/>
              <a:gd name="T10" fmla="*/ 1376 w 2753"/>
              <a:gd name="T11" fmla="*/ 2751 h 2752"/>
              <a:gd name="T12" fmla="*/ 0 w 2753"/>
              <a:gd name="T13" fmla="*/ 1376 h 2752"/>
              <a:gd name="T14" fmla="*/ 0 w 2753"/>
              <a:gd name="T15" fmla="*/ 1376 h 2752"/>
              <a:gd name="T16" fmla="*/ 1376 w 2753"/>
              <a:gd name="T17" fmla="*/ 0 h 27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753" h="2752">
                <a:moveTo>
                  <a:pt x="1376" y="0"/>
                </a:moveTo>
                <a:lnTo>
                  <a:pt x="1376" y="0"/>
                </a:lnTo>
                <a:cubicBezTo>
                  <a:pt x="2136" y="0"/>
                  <a:pt x="2752" y="616"/>
                  <a:pt x="2752" y="1376"/>
                </a:cubicBezTo>
                <a:lnTo>
                  <a:pt x="2752" y="1376"/>
                </a:lnTo>
                <a:cubicBezTo>
                  <a:pt x="2752" y="2135"/>
                  <a:pt x="2136" y="2751"/>
                  <a:pt x="1376" y="2751"/>
                </a:cubicBezTo>
                <a:lnTo>
                  <a:pt x="1376" y="2751"/>
                </a:lnTo>
                <a:cubicBezTo>
                  <a:pt x="616" y="2751"/>
                  <a:pt x="0" y="2135"/>
                  <a:pt x="0" y="1376"/>
                </a:cubicBezTo>
                <a:lnTo>
                  <a:pt x="0" y="1376"/>
                </a:lnTo>
                <a:cubicBezTo>
                  <a:pt x="0" y="616"/>
                  <a:pt x="616" y="0"/>
                  <a:pt x="1376" y="0"/>
                </a:cubicBezTo>
              </a:path>
            </a:pathLst>
          </a:custGeom>
          <a:solidFill>
            <a:schemeClr val="bg1"/>
          </a:solidFill>
          <a:ln w="76200">
            <a:solidFill>
              <a:schemeClr val="tx1">
                <a:lumMod val="65000"/>
                <a:lumOff val="35000"/>
              </a:schemeClr>
            </a:solidFill>
          </a:ln>
          <a:effectLst/>
        </p:spPr>
        <p:txBody>
          <a:bodyPr wrap="none" anchor="ctr"/>
          <a:lstStyle/>
          <a:p>
            <a:endParaRPr lang="en-US" sz="2449" dirty="0"/>
          </a:p>
        </p:txBody>
      </p:sp>
      <p:sp>
        <p:nvSpPr>
          <p:cNvPr id="16" name="Freeform 14">
            <a:extLst>
              <a:ext uri="{FF2B5EF4-FFF2-40B4-BE49-F238E27FC236}">
                <a16:creationId xmlns:a16="http://schemas.microsoft.com/office/drawing/2014/main" id="{8F81EE76-86C6-3B4C-A8C2-828BA4B812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48860" y="1658594"/>
            <a:ext cx="1284736" cy="1284736"/>
          </a:xfrm>
          <a:custGeom>
            <a:avLst/>
            <a:gdLst>
              <a:gd name="T0" fmla="*/ 1376 w 2753"/>
              <a:gd name="T1" fmla="*/ 0 h 2752"/>
              <a:gd name="T2" fmla="*/ 1376 w 2753"/>
              <a:gd name="T3" fmla="*/ 0 h 2752"/>
              <a:gd name="T4" fmla="*/ 2752 w 2753"/>
              <a:gd name="T5" fmla="*/ 1376 h 2752"/>
              <a:gd name="T6" fmla="*/ 2752 w 2753"/>
              <a:gd name="T7" fmla="*/ 1376 h 2752"/>
              <a:gd name="T8" fmla="*/ 1376 w 2753"/>
              <a:gd name="T9" fmla="*/ 2751 h 2752"/>
              <a:gd name="T10" fmla="*/ 1376 w 2753"/>
              <a:gd name="T11" fmla="*/ 2751 h 2752"/>
              <a:gd name="T12" fmla="*/ 0 w 2753"/>
              <a:gd name="T13" fmla="*/ 1376 h 2752"/>
              <a:gd name="T14" fmla="*/ 0 w 2753"/>
              <a:gd name="T15" fmla="*/ 1376 h 2752"/>
              <a:gd name="T16" fmla="*/ 1376 w 2753"/>
              <a:gd name="T17" fmla="*/ 0 h 27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753" h="2752">
                <a:moveTo>
                  <a:pt x="1376" y="0"/>
                </a:moveTo>
                <a:lnTo>
                  <a:pt x="1376" y="0"/>
                </a:lnTo>
                <a:cubicBezTo>
                  <a:pt x="2136" y="0"/>
                  <a:pt x="2752" y="616"/>
                  <a:pt x="2752" y="1376"/>
                </a:cubicBezTo>
                <a:lnTo>
                  <a:pt x="2752" y="1376"/>
                </a:lnTo>
                <a:cubicBezTo>
                  <a:pt x="2752" y="2135"/>
                  <a:pt x="2136" y="2751"/>
                  <a:pt x="1376" y="2751"/>
                </a:cubicBezTo>
                <a:lnTo>
                  <a:pt x="1376" y="2751"/>
                </a:lnTo>
                <a:cubicBezTo>
                  <a:pt x="616" y="2751"/>
                  <a:pt x="0" y="2135"/>
                  <a:pt x="0" y="1376"/>
                </a:cubicBezTo>
                <a:lnTo>
                  <a:pt x="0" y="1376"/>
                </a:lnTo>
                <a:cubicBezTo>
                  <a:pt x="0" y="616"/>
                  <a:pt x="616" y="0"/>
                  <a:pt x="1376" y="0"/>
                </a:cubicBezTo>
              </a:path>
            </a:pathLst>
          </a:custGeom>
          <a:solidFill>
            <a:schemeClr val="bg1"/>
          </a:solidFill>
          <a:ln w="76200">
            <a:solidFill>
              <a:srgbClr val="B52372"/>
            </a:solidFill>
          </a:ln>
          <a:effectLst/>
        </p:spPr>
        <p:txBody>
          <a:bodyPr wrap="none" anchor="ctr"/>
          <a:lstStyle/>
          <a:p>
            <a:endParaRPr lang="en-US" sz="2449" dirty="0"/>
          </a:p>
        </p:txBody>
      </p:sp>
      <p:sp>
        <p:nvSpPr>
          <p:cNvPr id="37" name="Subtitle 2">
            <a:extLst>
              <a:ext uri="{FF2B5EF4-FFF2-40B4-BE49-F238E27FC236}">
                <a16:creationId xmlns:a16="http://schemas.microsoft.com/office/drawing/2014/main" id="{B5E234F5-E01F-8748-97B5-C537826DB6AD}"/>
              </a:ext>
            </a:extLst>
          </p:cNvPr>
          <p:cNvSpPr txBox="1">
            <a:spLocks/>
          </p:cNvSpPr>
          <p:nvPr/>
        </p:nvSpPr>
        <p:spPr>
          <a:xfrm>
            <a:off x="3690729" y="4162578"/>
            <a:ext cx="1762544" cy="186205"/>
          </a:xfrm>
          <a:prstGeom prst="rect">
            <a:avLst/>
          </a:prstGeom>
        </p:spPr>
        <p:txBody>
          <a:bodyPr vert="horz" wrap="square" lIns="34290" tIns="17145" rIns="34290" bIns="17145" rtlCol="0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313"/>
              </a:lnSpc>
            </a:pPr>
            <a:endParaRPr lang="en-US" sz="900" dirty="0">
              <a:solidFill>
                <a:schemeClr val="tx1"/>
              </a:solidFill>
              <a:latin typeface="Franklin Gothic Book" panose="020B0503020102020204" pitchFamily="34" charset="0"/>
              <a:ea typeface="Lato Light" panose="020F0502020204030203" pitchFamily="34" charset="0"/>
              <a:cs typeface="Mukta ExtraLight" panose="020B0000000000000000" pitchFamily="34" charset="7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23304DA-A9E9-694B-A21D-04CFF68CB580}"/>
              </a:ext>
            </a:extLst>
          </p:cNvPr>
          <p:cNvSpPr txBox="1"/>
          <p:nvPr/>
        </p:nvSpPr>
        <p:spPr>
          <a:xfrm>
            <a:off x="3753512" y="3009553"/>
            <a:ext cx="1636987" cy="523220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pPr algn="ctr"/>
            <a:r>
              <a:rPr lang="en-US" sz="1400" b="1" dirty="0">
                <a:solidFill>
                  <a:schemeClr val="tx2"/>
                </a:solidFill>
                <a:latin typeface="Franklin Gothic Book" panose="020B0503020102020204" pitchFamily="34" charset="0"/>
                <a:ea typeface="League Spartan" charset="0"/>
                <a:cs typeface="Poppins" pitchFamily="2" charset="77"/>
              </a:rPr>
              <a:t>3- Install, Enhance </a:t>
            </a:r>
          </a:p>
          <a:p>
            <a:pPr algn="ctr"/>
            <a:r>
              <a:rPr lang="en-US" sz="1400" b="1" dirty="0">
                <a:solidFill>
                  <a:schemeClr val="tx2"/>
                </a:solidFill>
                <a:latin typeface="Franklin Gothic Book" panose="020B0503020102020204" pitchFamily="34" charset="0"/>
                <a:ea typeface="League Spartan" charset="0"/>
                <a:cs typeface="Poppins" pitchFamily="2" charset="77"/>
              </a:rPr>
              <a:t>&amp; Elevate</a:t>
            </a:r>
          </a:p>
        </p:txBody>
      </p:sp>
      <p:sp>
        <p:nvSpPr>
          <p:cNvPr id="40" name="Subtitle 2">
            <a:extLst>
              <a:ext uri="{FF2B5EF4-FFF2-40B4-BE49-F238E27FC236}">
                <a16:creationId xmlns:a16="http://schemas.microsoft.com/office/drawing/2014/main" id="{075DD1CF-DF07-BD4B-B87E-5D39B904B89D}"/>
              </a:ext>
            </a:extLst>
          </p:cNvPr>
          <p:cNvSpPr txBox="1">
            <a:spLocks/>
          </p:cNvSpPr>
          <p:nvPr/>
        </p:nvSpPr>
        <p:spPr>
          <a:xfrm>
            <a:off x="6836765" y="3603578"/>
            <a:ext cx="1762544" cy="519629"/>
          </a:xfrm>
          <a:prstGeom prst="rect">
            <a:avLst/>
          </a:prstGeom>
        </p:spPr>
        <p:txBody>
          <a:bodyPr vert="horz" wrap="square" lIns="34290" tIns="17145" rIns="34290" bIns="17145" rtlCol="0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313"/>
              </a:lnSpc>
            </a:pPr>
            <a:r>
              <a:rPr lang="en-US" sz="1000" dirty="0">
                <a:solidFill>
                  <a:schemeClr val="tx1"/>
                </a:solidFill>
                <a:latin typeface="Franklin Gothic Book" panose="020B0503020102020204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Measurement of results, KPI’s,  readjusting and moving to the next level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9C40761-40DB-E84E-A3EF-63A2CA78643E}"/>
              </a:ext>
            </a:extLst>
          </p:cNvPr>
          <p:cNvSpPr txBox="1"/>
          <p:nvPr/>
        </p:nvSpPr>
        <p:spPr>
          <a:xfrm>
            <a:off x="6848758" y="3122835"/>
            <a:ext cx="1684949" cy="307777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pPr algn="ctr"/>
            <a:r>
              <a:rPr lang="en-US" sz="1400" b="1" dirty="0">
                <a:solidFill>
                  <a:schemeClr val="tx2"/>
                </a:solidFill>
                <a:latin typeface="Franklin Gothic Book" panose="020B0503020102020204" pitchFamily="34" charset="0"/>
                <a:ea typeface="League Spartan" charset="0"/>
                <a:cs typeface="Poppins" pitchFamily="2" charset="77"/>
              </a:rPr>
              <a:t>5- Measure &amp; Equip</a:t>
            </a:r>
          </a:p>
        </p:txBody>
      </p:sp>
      <p:sp>
        <p:nvSpPr>
          <p:cNvPr id="19" name="Subtitle 2">
            <a:extLst>
              <a:ext uri="{FF2B5EF4-FFF2-40B4-BE49-F238E27FC236}">
                <a16:creationId xmlns:a16="http://schemas.microsoft.com/office/drawing/2014/main" id="{354159BB-7EAF-4B4B-91AA-5A5230AD11FD}"/>
              </a:ext>
            </a:extLst>
          </p:cNvPr>
          <p:cNvSpPr txBox="1">
            <a:spLocks/>
          </p:cNvSpPr>
          <p:nvPr/>
        </p:nvSpPr>
        <p:spPr>
          <a:xfrm>
            <a:off x="372937" y="3603578"/>
            <a:ext cx="2334045" cy="1312475"/>
          </a:xfrm>
          <a:prstGeom prst="rect">
            <a:avLst/>
          </a:prstGeom>
        </p:spPr>
        <p:txBody>
          <a:bodyPr vert="horz" wrap="square" lIns="34290" tIns="17145" rIns="34290" bIns="17145" rtlCol="0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313"/>
              </a:lnSpc>
            </a:pPr>
            <a:r>
              <a:rPr lang="en-US" sz="1000" dirty="0">
                <a:solidFill>
                  <a:schemeClr val="tx1"/>
                </a:solidFill>
                <a:latin typeface="Franklin Gothic Book" panose="020B0503020102020204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A deep dive into the current state that looks at;</a:t>
            </a:r>
          </a:p>
          <a:p>
            <a:pPr>
              <a:lnSpc>
                <a:spcPts val="1313"/>
              </a:lnSpc>
            </a:pPr>
            <a:r>
              <a:rPr lang="en-US" sz="1000" dirty="0">
                <a:solidFill>
                  <a:schemeClr val="tx1"/>
                </a:solidFill>
                <a:latin typeface="Franklin Gothic Book" panose="020B0503020102020204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 Market and Trends (SWOT)</a:t>
            </a:r>
          </a:p>
          <a:p>
            <a:pPr>
              <a:lnSpc>
                <a:spcPts val="1313"/>
              </a:lnSpc>
            </a:pPr>
            <a:r>
              <a:rPr lang="en-US" sz="1000" dirty="0">
                <a:solidFill>
                  <a:schemeClr val="tx1"/>
                </a:solidFill>
                <a:latin typeface="Franklin Gothic Book" panose="020B0503020102020204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Current Customer Segmentation</a:t>
            </a:r>
          </a:p>
          <a:p>
            <a:pPr>
              <a:lnSpc>
                <a:spcPts val="1313"/>
              </a:lnSpc>
            </a:pPr>
            <a:r>
              <a:rPr lang="en-US" sz="1000" dirty="0">
                <a:solidFill>
                  <a:schemeClr val="tx1"/>
                </a:solidFill>
                <a:latin typeface="Franklin Gothic Book" panose="020B0503020102020204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Aspirational Customer in strategic  move forward vision</a:t>
            </a:r>
          </a:p>
          <a:p>
            <a:pPr>
              <a:lnSpc>
                <a:spcPts val="1313"/>
              </a:lnSpc>
            </a:pPr>
            <a:endParaRPr lang="en-US" sz="1000" dirty="0">
              <a:solidFill>
                <a:schemeClr val="tx1"/>
              </a:solidFill>
              <a:latin typeface="Franklin Gothic Book" panose="020B0503020102020204" pitchFamily="34" charset="0"/>
              <a:ea typeface="Lato Light" panose="020F0502020204030203" pitchFamily="34" charset="0"/>
              <a:cs typeface="Mukta ExtraLight" panose="020B0000000000000000" pitchFamily="34" charset="7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70ACC24-D91E-EC40-A611-1223B9CD21DD}"/>
              </a:ext>
            </a:extLst>
          </p:cNvPr>
          <p:cNvSpPr txBox="1"/>
          <p:nvPr/>
        </p:nvSpPr>
        <p:spPr>
          <a:xfrm>
            <a:off x="659066" y="3027796"/>
            <a:ext cx="1587422" cy="523220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pPr algn="ctr"/>
            <a:r>
              <a:rPr lang="en-US" sz="1400" b="1" dirty="0">
                <a:solidFill>
                  <a:schemeClr val="tx2"/>
                </a:solidFill>
                <a:latin typeface="Franklin Gothic Book" panose="020B0503020102020204" pitchFamily="34" charset="0"/>
                <a:ea typeface="League Spartan" charset="0"/>
                <a:cs typeface="Poppins" pitchFamily="2" charset="77"/>
              </a:rPr>
              <a:t>1- Current State – </a:t>
            </a:r>
          </a:p>
          <a:p>
            <a:pPr algn="ctr"/>
            <a:r>
              <a:rPr lang="en-US" sz="1400" b="1" dirty="0">
                <a:solidFill>
                  <a:schemeClr val="tx2"/>
                </a:solidFill>
                <a:latin typeface="Franklin Gothic Book" panose="020B0503020102020204" pitchFamily="34" charset="0"/>
                <a:ea typeface="League Spartan" charset="0"/>
                <a:cs typeface="Poppins" pitchFamily="2" charset="77"/>
              </a:rPr>
              <a:t>Discover</a:t>
            </a:r>
          </a:p>
        </p:txBody>
      </p:sp>
      <p:sp>
        <p:nvSpPr>
          <p:cNvPr id="43" name="Subtitle 2">
            <a:extLst>
              <a:ext uri="{FF2B5EF4-FFF2-40B4-BE49-F238E27FC236}">
                <a16:creationId xmlns:a16="http://schemas.microsoft.com/office/drawing/2014/main" id="{E33F8457-9D45-6142-80AF-9ABB79C73947}"/>
              </a:ext>
            </a:extLst>
          </p:cNvPr>
          <p:cNvSpPr txBox="1">
            <a:spLocks/>
          </p:cNvSpPr>
          <p:nvPr/>
        </p:nvSpPr>
        <p:spPr>
          <a:xfrm>
            <a:off x="1598347" y="1108237"/>
            <a:ext cx="2791067" cy="189091"/>
          </a:xfrm>
          <a:prstGeom prst="rect">
            <a:avLst/>
          </a:prstGeom>
        </p:spPr>
        <p:txBody>
          <a:bodyPr vert="horz" wrap="square" lIns="34290" tIns="17145" rIns="34290" bIns="17145" rtlCol="0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313"/>
              </a:lnSpc>
            </a:pPr>
            <a:r>
              <a:rPr lang="en-US" sz="1000" dirty="0">
                <a:solidFill>
                  <a:schemeClr val="tx1"/>
                </a:solidFill>
                <a:latin typeface="Franklin Gothic Book" panose="020B0503020102020204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The Future State of the ‘New Way to Work’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AE94EE5-6BBF-1946-8C3C-5F56412DF390}"/>
              </a:ext>
            </a:extLst>
          </p:cNvPr>
          <p:cNvSpPr txBox="1"/>
          <p:nvPr/>
        </p:nvSpPr>
        <p:spPr>
          <a:xfrm>
            <a:off x="1873226" y="801527"/>
            <a:ext cx="2264146" cy="307777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pPr algn="ctr"/>
            <a:r>
              <a:rPr lang="en-US" sz="1400" b="1" dirty="0">
                <a:solidFill>
                  <a:schemeClr val="tx2"/>
                </a:solidFill>
                <a:latin typeface="Franklin Gothic Book" panose="020B0503020102020204" pitchFamily="34" charset="0"/>
                <a:ea typeface="League Spartan" charset="0"/>
                <a:cs typeface="Poppins" pitchFamily="2" charset="77"/>
              </a:rPr>
              <a:t>2- Building the Future State</a:t>
            </a:r>
          </a:p>
        </p:txBody>
      </p:sp>
      <p:sp>
        <p:nvSpPr>
          <p:cNvPr id="46" name="Subtitle 2">
            <a:extLst>
              <a:ext uri="{FF2B5EF4-FFF2-40B4-BE49-F238E27FC236}">
                <a16:creationId xmlns:a16="http://schemas.microsoft.com/office/drawing/2014/main" id="{AFDB8E0E-8409-BF44-9307-2E1BE903DF89}"/>
              </a:ext>
            </a:extLst>
          </p:cNvPr>
          <p:cNvSpPr txBox="1">
            <a:spLocks/>
          </p:cNvSpPr>
          <p:nvPr/>
        </p:nvSpPr>
        <p:spPr>
          <a:xfrm>
            <a:off x="5191206" y="1107170"/>
            <a:ext cx="1762544" cy="352917"/>
          </a:xfrm>
          <a:prstGeom prst="rect">
            <a:avLst/>
          </a:prstGeom>
        </p:spPr>
        <p:txBody>
          <a:bodyPr vert="horz" wrap="square" lIns="34290" tIns="17145" rIns="34290" bIns="17145" rtlCol="0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313"/>
              </a:lnSpc>
            </a:pPr>
            <a:r>
              <a:rPr lang="en-US" sz="1000" dirty="0">
                <a:solidFill>
                  <a:schemeClr val="tx1"/>
                </a:solidFill>
                <a:latin typeface="Franklin Gothic Book" panose="020B0503020102020204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Sustainability and coaching to results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E90F1A5-9095-4247-9D9A-6C986097B2E5}"/>
              </a:ext>
            </a:extLst>
          </p:cNvPr>
          <p:cNvSpPr txBox="1"/>
          <p:nvPr/>
        </p:nvSpPr>
        <p:spPr>
          <a:xfrm>
            <a:off x="5296217" y="800459"/>
            <a:ext cx="1552541" cy="307777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pPr algn="ctr"/>
            <a:r>
              <a:rPr lang="en-US" sz="1400" b="1" dirty="0">
                <a:solidFill>
                  <a:schemeClr val="tx2"/>
                </a:solidFill>
                <a:latin typeface="Franklin Gothic Book" panose="020B0503020102020204" pitchFamily="34" charset="0"/>
                <a:ea typeface="League Spartan" charset="0"/>
                <a:cs typeface="Poppins" pitchFamily="2" charset="77"/>
              </a:rPr>
              <a:t>4- Drive &amp; Sustain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350CE52-93A5-C747-8206-246B7817FB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9943948">
            <a:off x="1141452" y="1896051"/>
            <a:ext cx="548306" cy="88825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34A481E3-6DC4-634C-BA0D-82B7E8461C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1" y="1864680"/>
            <a:ext cx="797720" cy="672236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D02CB5E4-9672-8B48-985C-E1CE527C578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biLevel thresh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95323" y="1932576"/>
            <a:ext cx="848248" cy="662413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56EB0B2B-97E2-7F4C-9B30-B61CB921392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2795595">
            <a:off x="5878640" y="1830746"/>
            <a:ext cx="657497" cy="9379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0A6E0855-D429-1C4B-B85E-DA8D8939F3F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96063" y="1877359"/>
            <a:ext cx="726490" cy="717630"/>
          </a:xfrm>
          <a:prstGeom prst="rect">
            <a:avLst/>
          </a:prstGeom>
        </p:spPr>
      </p:pic>
      <p:sp>
        <p:nvSpPr>
          <p:cNvPr id="26" name="Subtitle 2">
            <a:extLst>
              <a:ext uri="{FF2B5EF4-FFF2-40B4-BE49-F238E27FC236}">
                <a16:creationId xmlns:a16="http://schemas.microsoft.com/office/drawing/2014/main" id="{C8CCE1EB-2C49-374D-88E4-651A42A7F963}"/>
              </a:ext>
            </a:extLst>
          </p:cNvPr>
          <p:cNvSpPr txBox="1">
            <a:spLocks/>
          </p:cNvSpPr>
          <p:nvPr/>
        </p:nvSpPr>
        <p:spPr>
          <a:xfrm>
            <a:off x="3753512" y="3603578"/>
            <a:ext cx="1762544" cy="917495"/>
          </a:xfrm>
          <a:prstGeom prst="rect">
            <a:avLst/>
          </a:prstGeom>
        </p:spPr>
        <p:txBody>
          <a:bodyPr vert="horz" wrap="square" lIns="34290" tIns="17145" rIns="34290" bIns="17145" rtlCol="0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313"/>
              </a:lnSpc>
            </a:pPr>
            <a:r>
              <a:rPr lang="en-US" sz="1000" dirty="0">
                <a:solidFill>
                  <a:schemeClr val="tx1"/>
                </a:solidFill>
                <a:latin typeface="Franklin Gothic Book" panose="020B0503020102020204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Playbook that gives you:</a:t>
            </a:r>
          </a:p>
          <a:p>
            <a:pPr>
              <a:lnSpc>
                <a:spcPts val="1313"/>
              </a:lnSpc>
            </a:pPr>
            <a:r>
              <a:rPr lang="en-US" sz="1000" dirty="0">
                <a:solidFill>
                  <a:schemeClr val="tx1"/>
                </a:solidFill>
                <a:latin typeface="Franklin Gothic Book" panose="020B0503020102020204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Foundation (Implementation Plan)</a:t>
            </a:r>
          </a:p>
          <a:p>
            <a:pPr>
              <a:lnSpc>
                <a:spcPts val="1313"/>
              </a:lnSpc>
            </a:pPr>
            <a:r>
              <a:rPr lang="en-US" sz="1000" dirty="0">
                <a:solidFill>
                  <a:schemeClr val="tx1"/>
                </a:solidFill>
                <a:latin typeface="Franklin Gothic Book" panose="020B0503020102020204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Framework (Tools and Supporting Resources) </a:t>
            </a:r>
          </a:p>
        </p:txBody>
      </p:sp>
    </p:spTree>
    <p:extLst>
      <p:ext uri="{BB962C8B-B14F-4D97-AF65-F5344CB8AC3E}">
        <p14:creationId xmlns:p14="http://schemas.microsoft.com/office/powerpoint/2010/main" val="2592066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10" grpId="0" animBg="1"/>
      <p:bldP spid="13" grpId="0" animBg="1"/>
      <p:bldP spid="16" grpId="0" animBg="1"/>
      <p:bldP spid="38" grpId="0"/>
      <p:bldP spid="40" grpId="0"/>
      <p:bldP spid="41" grpId="0"/>
      <p:bldP spid="19" grpId="0"/>
      <p:bldP spid="20" grpId="0"/>
      <p:bldP spid="43" grpId="0"/>
      <p:bldP spid="44" grpId="0"/>
      <p:bldP spid="46" grpId="0"/>
      <p:bldP spid="47" grpId="0"/>
      <p:bldP spid="2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Freeform 1">
            <a:extLst>
              <a:ext uri="{FF2B5EF4-FFF2-40B4-BE49-F238E27FC236}">
                <a16:creationId xmlns:a16="http://schemas.microsoft.com/office/drawing/2014/main" id="{6661786B-1E03-6044-9258-2D384ED78A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527070"/>
            <a:ext cx="8991600" cy="150136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 sz="2449" dirty="0">
              <a:latin typeface="Lato Light" panose="020F0502020204030203" pitchFamily="34" charset="0"/>
            </a:endParaRPr>
          </a:p>
        </p:txBody>
      </p:sp>
      <p:sp>
        <p:nvSpPr>
          <p:cNvPr id="4" name="Freeform 2">
            <a:extLst>
              <a:ext uri="{FF2B5EF4-FFF2-40B4-BE49-F238E27FC236}">
                <a16:creationId xmlns:a16="http://schemas.microsoft.com/office/drawing/2014/main" id="{95252E18-2FFA-1545-83AF-546F436696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2390" y="949490"/>
            <a:ext cx="1284736" cy="1284736"/>
          </a:xfrm>
          <a:custGeom>
            <a:avLst/>
            <a:gdLst>
              <a:gd name="T0" fmla="*/ 1377 w 2753"/>
              <a:gd name="T1" fmla="*/ 0 h 2752"/>
              <a:gd name="T2" fmla="*/ 1377 w 2753"/>
              <a:gd name="T3" fmla="*/ 0 h 2752"/>
              <a:gd name="T4" fmla="*/ 2752 w 2753"/>
              <a:gd name="T5" fmla="*/ 1376 h 2752"/>
              <a:gd name="T6" fmla="*/ 2752 w 2753"/>
              <a:gd name="T7" fmla="*/ 1376 h 2752"/>
              <a:gd name="T8" fmla="*/ 1377 w 2753"/>
              <a:gd name="T9" fmla="*/ 2751 h 2752"/>
              <a:gd name="T10" fmla="*/ 1377 w 2753"/>
              <a:gd name="T11" fmla="*/ 2751 h 2752"/>
              <a:gd name="T12" fmla="*/ 0 w 2753"/>
              <a:gd name="T13" fmla="*/ 1376 h 2752"/>
              <a:gd name="T14" fmla="*/ 0 w 2753"/>
              <a:gd name="T15" fmla="*/ 1376 h 2752"/>
              <a:gd name="T16" fmla="*/ 1377 w 2753"/>
              <a:gd name="T17" fmla="*/ 0 h 27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753" h="2752">
                <a:moveTo>
                  <a:pt x="1377" y="0"/>
                </a:moveTo>
                <a:lnTo>
                  <a:pt x="1377" y="0"/>
                </a:lnTo>
                <a:cubicBezTo>
                  <a:pt x="2137" y="0"/>
                  <a:pt x="2752" y="616"/>
                  <a:pt x="2752" y="1376"/>
                </a:cubicBezTo>
                <a:lnTo>
                  <a:pt x="2752" y="1376"/>
                </a:lnTo>
                <a:cubicBezTo>
                  <a:pt x="2752" y="2135"/>
                  <a:pt x="2137" y="2751"/>
                  <a:pt x="1377" y="2751"/>
                </a:cubicBezTo>
                <a:lnTo>
                  <a:pt x="1377" y="2751"/>
                </a:lnTo>
                <a:cubicBezTo>
                  <a:pt x="616" y="2751"/>
                  <a:pt x="0" y="2135"/>
                  <a:pt x="0" y="1376"/>
                </a:cubicBezTo>
                <a:lnTo>
                  <a:pt x="0" y="1376"/>
                </a:lnTo>
                <a:cubicBezTo>
                  <a:pt x="0" y="616"/>
                  <a:pt x="616" y="0"/>
                  <a:pt x="1377" y="0"/>
                </a:cubicBezTo>
              </a:path>
            </a:pathLst>
          </a:custGeom>
          <a:solidFill>
            <a:schemeClr val="bg1"/>
          </a:solidFill>
          <a:ln w="76200">
            <a:solidFill>
              <a:srgbClr val="B52372"/>
            </a:solidFill>
          </a:ln>
          <a:effectLst/>
        </p:spPr>
        <p:txBody>
          <a:bodyPr wrap="none" anchor="ctr"/>
          <a:lstStyle/>
          <a:p>
            <a:endParaRPr lang="en-US" sz="2449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57A9D67-CD43-0B47-8040-F95CCC8496BC}"/>
              </a:ext>
            </a:extLst>
          </p:cNvPr>
          <p:cNvSpPr txBox="1"/>
          <p:nvPr/>
        </p:nvSpPr>
        <p:spPr>
          <a:xfrm>
            <a:off x="2351537" y="229640"/>
            <a:ext cx="4440960" cy="4385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250" b="1" dirty="0">
                <a:solidFill>
                  <a:schemeClr val="tx2"/>
                </a:solidFill>
                <a:latin typeface="Franklin Gothic Book" panose="020B0503020102020204" pitchFamily="34" charset="0"/>
                <a:cs typeface="Poppins" pitchFamily="2" charset="77"/>
              </a:rPr>
              <a:t>Strategic Engagement Deliverables</a:t>
            </a:r>
          </a:p>
        </p:txBody>
      </p:sp>
      <p:sp>
        <p:nvSpPr>
          <p:cNvPr id="7" name="Freeform 5">
            <a:extLst>
              <a:ext uri="{FF2B5EF4-FFF2-40B4-BE49-F238E27FC236}">
                <a16:creationId xmlns:a16="http://schemas.microsoft.com/office/drawing/2014/main" id="{DECB0E47-80BF-9B46-95D3-E7B7306564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2003" y="949490"/>
            <a:ext cx="1284736" cy="1284736"/>
          </a:xfrm>
          <a:custGeom>
            <a:avLst/>
            <a:gdLst>
              <a:gd name="T0" fmla="*/ 1376 w 2753"/>
              <a:gd name="T1" fmla="*/ 0 h 2752"/>
              <a:gd name="T2" fmla="*/ 1376 w 2753"/>
              <a:gd name="T3" fmla="*/ 0 h 2752"/>
              <a:gd name="T4" fmla="*/ 2752 w 2753"/>
              <a:gd name="T5" fmla="*/ 1376 h 2752"/>
              <a:gd name="T6" fmla="*/ 2752 w 2753"/>
              <a:gd name="T7" fmla="*/ 1376 h 2752"/>
              <a:gd name="T8" fmla="*/ 1376 w 2753"/>
              <a:gd name="T9" fmla="*/ 2751 h 2752"/>
              <a:gd name="T10" fmla="*/ 1376 w 2753"/>
              <a:gd name="T11" fmla="*/ 2751 h 2752"/>
              <a:gd name="T12" fmla="*/ 0 w 2753"/>
              <a:gd name="T13" fmla="*/ 1376 h 2752"/>
              <a:gd name="T14" fmla="*/ 0 w 2753"/>
              <a:gd name="T15" fmla="*/ 1376 h 2752"/>
              <a:gd name="T16" fmla="*/ 1376 w 2753"/>
              <a:gd name="T17" fmla="*/ 0 h 27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753" h="2752">
                <a:moveTo>
                  <a:pt x="1376" y="0"/>
                </a:moveTo>
                <a:lnTo>
                  <a:pt x="1376" y="0"/>
                </a:lnTo>
                <a:cubicBezTo>
                  <a:pt x="2137" y="0"/>
                  <a:pt x="2752" y="616"/>
                  <a:pt x="2752" y="1376"/>
                </a:cubicBezTo>
                <a:lnTo>
                  <a:pt x="2752" y="1376"/>
                </a:lnTo>
                <a:cubicBezTo>
                  <a:pt x="2752" y="2135"/>
                  <a:pt x="2137" y="2751"/>
                  <a:pt x="1376" y="2751"/>
                </a:cubicBezTo>
                <a:lnTo>
                  <a:pt x="1376" y="2751"/>
                </a:lnTo>
                <a:cubicBezTo>
                  <a:pt x="616" y="2751"/>
                  <a:pt x="0" y="2135"/>
                  <a:pt x="0" y="1376"/>
                </a:cubicBezTo>
                <a:lnTo>
                  <a:pt x="0" y="1376"/>
                </a:lnTo>
                <a:cubicBezTo>
                  <a:pt x="0" y="616"/>
                  <a:pt x="616" y="0"/>
                  <a:pt x="1376" y="0"/>
                </a:cubicBezTo>
              </a:path>
            </a:pathLst>
          </a:custGeom>
          <a:solidFill>
            <a:schemeClr val="bg1"/>
          </a:solidFill>
          <a:ln w="76200">
            <a:solidFill>
              <a:schemeClr val="tx1">
                <a:lumMod val="65000"/>
                <a:lumOff val="35000"/>
              </a:schemeClr>
            </a:solidFill>
          </a:ln>
          <a:effectLst/>
        </p:spPr>
        <p:txBody>
          <a:bodyPr wrap="none" anchor="ctr"/>
          <a:lstStyle/>
          <a:p>
            <a:endParaRPr lang="en-US" sz="2449" dirty="0"/>
          </a:p>
        </p:txBody>
      </p:sp>
      <p:sp>
        <p:nvSpPr>
          <p:cNvPr id="10" name="Freeform 8">
            <a:extLst>
              <a:ext uri="{FF2B5EF4-FFF2-40B4-BE49-F238E27FC236}">
                <a16:creationId xmlns:a16="http://schemas.microsoft.com/office/drawing/2014/main" id="{123A7FA7-121E-9042-8277-B581CAF1EC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02296" y="918524"/>
            <a:ext cx="1284736" cy="1284736"/>
          </a:xfrm>
          <a:custGeom>
            <a:avLst/>
            <a:gdLst>
              <a:gd name="T0" fmla="*/ 1376 w 2752"/>
              <a:gd name="T1" fmla="*/ 0 h 2752"/>
              <a:gd name="T2" fmla="*/ 1376 w 2752"/>
              <a:gd name="T3" fmla="*/ 0 h 2752"/>
              <a:gd name="T4" fmla="*/ 2751 w 2752"/>
              <a:gd name="T5" fmla="*/ 1376 h 2752"/>
              <a:gd name="T6" fmla="*/ 2751 w 2752"/>
              <a:gd name="T7" fmla="*/ 1376 h 2752"/>
              <a:gd name="T8" fmla="*/ 1376 w 2752"/>
              <a:gd name="T9" fmla="*/ 2751 h 2752"/>
              <a:gd name="T10" fmla="*/ 1376 w 2752"/>
              <a:gd name="T11" fmla="*/ 2751 h 2752"/>
              <a:gd name="T12" fmla="*/ 0 w 2752"/>
              <a:gd name="T13" fmla="*/ 1376 h 2752"/>
              <a:gd name="T14" fmla="*/ 0 w 2752"/>
              <a:gd name="T15" fmla="*/ 1376 h 2752"/>
              <a:gd name="T16" fmla="*/ 1376 w 2752"/>
              <a:gd name="T17" fmla="*/ 0 h 27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752" h="2752">
                <a:moveTo>
                  <a:pt x="1376" y="0"/>
                </a:moveTo>
                <a:lnTo>
                  <a:pt x="1376" y="0"/>
                </a:lnTo>
                <a:cubicBezTo>
                  <a:pt x="2135" y="0"/>
                  <a:pt x="2751" y="616"/>
                  <a:pt x="2751" y="1376"/>
                </a:cubicBezTo>
                <a:lnTo>
                  <a:pt x="2751" y="1376"/>
                </a:lnTo>
                <a:cubicBezTo>
                  <a:pt x="2751" y="2135"/>
                  <a:pt x="2135" y="2751"/>
                  <a:pt x="1376" y="2751"/>
                </a:cubicBezTo>
                <a:lnTo>
                  <a:pt x="1376" y="2751"/>
                </a:lnTo>
                <a:cubicBezTo>
                  <a:pt x="616" y="2751"/>
                  <a:pt x="0" y="2135"/>
                  <a:pt x="0" y="1376"/>
                </a:cubicBezTo>
                <a:lnTo>
                  <a:pt x="0" y="1376"/>
                </a:lnTo>
                <a:cubicBezTo>
                  <a:pt x="0" y="616"/>
                  <a:pt x="616" y="0"/>
                  <a:pt x="1376" y="0"/>
                </a:cubicBezTo>
              </a:path>
            </a:pathLst>
          </a:custGeom>
          <a:solidFill>
            <a:schemeClr val="bg1"/>
          </a:solidFill>
          <a:ln w="76200">
            <a:solidFill>
              <a:srgbClr val="B52372"/>
            </a:solidFill>
          </a:ln>
          <a:effectLst/>
        </p:spPr>
        <p:txBody>
          <a:bodyPr wrap="none" anchor="ctr"/>
          <a:lstStyle/>
          <a:p>
            <a:endParaRPr lang="en-US" sz="2449" dirty="0"/>
          </a:p>
        </p:txBody>
      </p:sp>
      <p:sp>
        <p:nvSpPr>
          <p:cNvPr id="13" name="Freeform 11">
            <a:extLst>
              <a:ext uri="{FF2B5EF4-FFF2-40B4-BE49-F238E27FC236}">
                <a16:creationId xmlns:a16="http://schemas.microsoft.com/office/drawing/2014/main" id="{D4D8D2FC-2F50-514B-A51A-8DD75EB187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91187" y="918524"/>
            <a:ext cx="1284736" cy="1284736"/>
          </a:xfrm>
          <a:custGeom>
            <a:avLst/>
            <a:gdLst>
              <a:gd name="T0" fmla="*/ 1376 w 2753"/>
              <a:gd name="T1" fmla="*/ 0 h 2752"/>
              <a:gd name="T2" fmla="*/ 1376 w 2753"/>
              <a:gd name="T3" fmla="*/ 0 h 2752"/>
              <a:gd name="T4" fmla="*/ 2752 w 2753"/>
              <a:gd name="T5" fmla="*/ 1376 h 2752"/>
              <a:gd name="T6" fmla="*/ 2752 w 2753"/>
              <a:gd name="T7" fmla="*/ 1376 h 2752"/>
              <a:gd name="T8" fmla="*/ 1376 w 2753"/>
              <a:gd name="T9" fmla="*/ 2751 h 2752"/>
              <a:gd name="T10" fmla="*/ 1376 w 2753"/>
              <a:gd name="T11" fmla="*/ 2751 h 2752"/>
              <a:gd name="T12" fmla="*/ 0 w 2753"/>
              <a:gd name="T13" fmla="*/ 1376 h 2752"/>
              <a:gd name="T14" fmla="*/ 0 w 2753"/>
              <a:gd name="T15" fmla="*/ 1376 h 2752"/>
              <a:gd name="T16" fmla="*/ 1376 w 2753"/>
              <a:gd name="T17" fmla="*/ 0 h 27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753" h="2752">
                <a:moveTo>
                  <a:pt x="1376" y="0"/>
                </a:moveTo>
                <a:lnTo>
                  <a:pt x="1376" y="0"/>
                </a:lnTo>
                <a:cubicBezTo>
                  <a:pt x="2136" y="0"/>
                  <a:pt x="2752" y="616"/>
                  <a:pt x="2752" y="1376"/>
                </a:cubicBezTo>
                <a:lnTo>
                  <a:pt x="2752" y="1376"/>
                </a:lnTo>
                <a:cubicBezTo>
                  <a:pt x="2752" y="2135"/>
                  <a:pt x="2136" y="2751"/>
                  <a:pt x="1376" y="2751"/>
                </a:cubicBezTo>
                <a:lnTo>
                  <a:pt x="1376" y="2751"/>
                </a:lnTo>
                <a:cubicBezTo>
                  <a:pt x="616" y="2751"/>
                  <a:pt x="0" y="2135"/>
                  <a:pt x="0" y="1376"/>
                </a:cubicBezTo>
                <a:lnTo>
                  <a:pt x="0" y="1376"/>
                </a:lnTo>
                <a:cubicBezTo>
                  <a:pt x="0" y="616"/>
                  <a:pt x="616" y="0"/>
                  <a:pt x="1376" y="0"/>
                </a:cubicBezTo>
              </a:path>
            </a:pathLst>
          </a:custGeom>
          <a:solidFill>
            <a:schemeClr val="bg1"/>
          </a:solidFill>
          <a:ln w="76200">
            <a:solidFill>
              <a:schemeClr val="tx1">
                <a:lumMod val="65000"/>
                <a:lumOff val="35000"/>
              </a:schemeClr>
            </a:solidFill>
          </a:ln>
          <a:effectLst/>
        </p:spPr>
        <p:txBody>
          <a:bodyPr wrap="none" anchor="ctr"/>
          <a:lstStyle/>
          <a:p>
            <a:endParaRPr lang="en-US" sz="2449" dirty="0"/>
          </a:p>
        </p:txBody>
      </p:sp>
      <p:sp>
        <p:nvSpPr>
          <p:cNvPr id="16" name="Freeform 14">
            <a:extLst>
              <a:ext uri="{FF2B5EF4-FFF2-40B4-BE49-F238E27FC236}">
                <a16:creationId xmlns:a16="http://schemas.microsoft.com/office/drawing/2014/main" id="{8F81EE76-86C6-3B4C-A8C2-828BA4B812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58273" y="948224"/>
            <a:ext cx="1284736" cy="1284736"/>
          </a:xfrm>
          <a:custGeom>
            <a:avLst/>
            <a:gdLst>
              <a:gd name="T0" fmla="*/ 1376 w 2753"/>
              <a:gd name="T1" fmla="*/ 0 h 2752"/>
              <a:gd name="T2" fmla="*/ 1376 w 2753"/>
              <a:gd name="T3" fmla="*/ 0 h 2752"/>
              <a:gd name="T4" fmla="*/ 2752 w 2753"/>
              <a:gd name="T5" fmla="*/ 1376 h 2752"/>
              <a:gd name="T6" fmla="*/ 2752 w 2753"/>
              <a:gd name="T7" fmla="*/ 1376 h 2752"/>
              <a:gd name="T8" fmla="*/ 1376 w 2753"/>
              <a:gd name="T9" fmla="*/ 2751 h 2752"/>
              <a:gd name="T10" fmla="*/ 1376 w 2753"/>
              <a:gd name="T11" fmla="*/ 2751 h 2752"/>
              <a:gd name="T12" fmla="*/ 0 w 2753"/>
              <a:gd name="T13" fmla="*/ 1376 h 2752"/>
              <a:gd name="T14" fmla="*/ 0 w 2753"/>
              <a:gd name="T15" fmla="*/ 1376 h 2752"/>
              <a:gd name="T16" fmla="*/ 1376 w 2753"/>
              <a:gd name="T17" fmla="*/ 0 h 27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753" h="2752">
                <a:moveTo>
                  <a:pt x="1376" y="0"/>
                </a:moveTo>
                <a:lnTo>
                  <a:pt x="1376" y="0"/>
                </a:lnTo>
                <a:cubicBezTo>
                  <a:pt x="2136" y="0"/>
                  <a:pt x="2752" y="616"/>
                  <a:pt x="2752" y="1376"/>
                </a:cubicBezTo>
                <a:lnTo>
                  <a:pt x="2752" y="1376"/>
                </a:lnTo>
                <a:cubicBezTo>
                  <a:pt x="2752" y="2135"/>
                  <a:pt x="2136" y="2751"/>
                  <a:pt x="1376" y="2751"/>
                </a:cubicBezTo>
                <a:lnTo>
                  <a:pt x="1376" y="2751"/>
                </a:lnTo>
                <a:cubicBezTo>
                  <a:pt x="616" y="2751"/>
                  <a:pt x="0" y="2135"/>
                  <a:pt x="0" y="1376"/>
                </a:cubicBezTo>
                <a:lnTo>
                  <a:pt x="0" y="1376"/>
                </a:lnTo>
                <a:cubicBezTo>
                  <a:pt x="0" y="616"/>
                  <a:pt x="616" y="0"/>
                  <a:pt x="1376" y="0"/>
                </a:cubicBezTo>
              </a:path>
            </a:pathLst>
          </a:custGeom>
          <a:solidFill>
            <a:schemeClr val="bg1"/>
          </a:solidFill>
          <a:ln w="76200">
            <a:solidFill>
              <a:srgbClr val="B52372"/>
            </a:solidFill>
          </a:ln>
          <a:effectLst/>
        </p:spPr>
        <p:txBody>
          <a:bodyPr wrap="none" anchor="ctr"/>
          <a:lstStyle/>
          <a:p>
            <a:endParaRPr lang="en-US" sz="2449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23304DA-A9E9-694B-A21D-04CFF68CB580}"/>
              </a:ext>
            </a:extLst>
          </p:cNvPr>
          <p:cNvSpPr txBox="1"/>
          <p:nvPr/>
        </p:nvSpPr>
        <p:spPr>
          <a:xfrm>
            <a:off x="3824519" y="2542518"/>
            <a:ext cx="1681872" cy="523220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pPr algn="ctr"/>
            <a:r>
              <a:rPr lang="en-US" sz="1400" b="1" dirty="0">
                <a:solidFill>
                  <a:srgbClr val="B52372"/>
                </a:solidFill>
                <a:latin typeface="Franklin Gothic Book" panose="020B0503020102020204" pitchFamily="34" charset="0"/>
                <a:ea typeface="League Spartan" charset="0"/>
                <a:cs typeface="Poppins" pitchFamily="2" charset="77"/>
              </a:rPr>
              <a:t>3- Install, Enhance, </a:t>
            </a:r>
          </a:p>
          <a:p>
            <a:pPr algn="ctr"/>
            <a:r>
              <a:rPr lang="en-US" sz="1400" b="1" dirty="0">
                <a:solidFill>
                  <a:srgbClr val="B52372"/>
                </a:solidFill>
                <a:latin typeface="Franklin Gothic Book" panose="020B0503020102020204" pitchFamily="34" charset="0"/>
                <a:ea typeface="League Spartan" charset="0"/>
                <a:cs typeface="Poppins" pitchFamily="2" charset="77"/>
              </a:rPr>
              <a:t>&amp; Elevate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9C40761-40DB-E84E-A3EF-63A2CA78643E}"/>
              </a:ext>
            </a:extLst>
          </p:cNvPr>
          <p:cNvSpPr txBox="1"/>
          <p:nvPr/>
        </p:nvSpPr>
        <p:spPr>
          <a:xfrm>
            <a:off x="7173380" y="2650240"/>
            <a:ext cx="1684949" cy="307777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pPr algn="ctr"/>
            <a:r>
              <a:rPr lang="en-US" sz="1400" b="1" dirty="0">
                <a:solidFill>
                  <a:srgbClr val="B52372"/>
                </a:solidFill>
                <a:latin typeface="Franklin Gothic Book" panose="020B0503020102020204" pitchFamily="34" charset="0"/>
                <a:ea typeface="League Spartan" charset="0"/>
                <a:cs typeface="Poppins" pitchFamily="2" charset="77"/>
              </a:rPr>
              <a:t>5- Measure &amp; Equip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70ACC24-D91E-EC40-A611-1223B9CD21DD}"/>
              </a:ext>
            </a:extLst>
          </p:cNvPr>
          <p:cNvSpPr txBox="1"/>
          <p:nvPr/>
        </p:nvSpPr>
        <p:spPr>
          <a:xfrm>
            <a:off x="497597" y="2542518"/>
            <a:ext cx="1734321" cy="523220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pPr algn="ctr"/>
            <a:r>
              <a:rPr lang="en-US" sz="1400" b="1" dirty="0">
                <a:solidFill>
                  <a:srgbClr val="B52372"/>
                </a:solidFill>
                <a:latin typeface="Franklin Gothic Book" panose="020B0503020102020204" pitchFamily="34" charset="0"/>
                <a:ea typeface="League Spartan" charset="0"/>
                <a:cs typeface="Poppins" pitchFamily="2" charset="77"/>
              </a:rPr>
              <a:t>1- Current State – </a:t>
            </a:r>
          </a:p>
          <a:p>
            <a:pPr algn="ctr"/>
            <a:r>
              <a:rPr lang="en-US" sz="1400" b="1" dirty="0">
                <a:solidFill>
                  <a:srgbClr val="B52372"/>
                </a:solidFill>
                <a:latin typeface="Franklin Gothic Book" panose="020B0503020102020204" pitchFamily="34" charset="0"/>
                <a:ea typeface="League Spartan" charset="0"/>
                <a:cs typeface="Poppins" pitchFamily="2" charset="77"/>
              </a:rPr>
              <a:t>Discovery &amp; Analysis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AE94EE5-6BBF-1946-8C3C-5F56412DF390}"/>
              </a:ext>
            </a:extLst>
          </p:cNvPr>
          <p:cNvSpPr txBox="1"/>
          <p:nvPr/>
        </p:nvSpPr>
        <p:spPr>
          <a:xfrm>
            <a:off x="1820495" y="2542518"/>
            <a:ext cx="2414688" cy="523220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pPr algn="ctr"/>
            <a:r>
              <a:rPr 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Franklin Gothic Book" panose="020B0503020102020204" pitchFamily="34" charset="0"/>
                <a:ea typeface="League Spartan" charset="0"/>
                <a:cs typeface="Poppins" pitchFamily="2" charset="77"/>
              </a:rPr>
              <a:t>2- Building the </a:t>
            </a:r>
          </a:p>
          <a:p>
            <a:pPr algn="ctr"/>
            <a:r>
              <a:rPr 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Franklin Gothic Book" panose="020B0503020102020204" pitchFamily="34" charset="0"/>
                <a:ea typeface="League Spartan" charset="0"/>
                <a:cs typeface="Poppins" pitchFamily="2" charset="77"/>
              </a:rPr>
              <a:t>Future State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E90F1A5-9095-4247-9D9A-6C986097B2E5}"/>
              </a:ext>
            </a:extLst>
          </p:cNvPr>
          <p:cNvSpPr txBox="1"/>
          <p:nvPr/>
        </p:nvSpPr>
        <p:spPr>
          <a:xfrm>
            <a:off x="5119447" y="2650240"/>
            <a:ext cx="2414688" cy="307777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pPr algn="ctr"/>
            <a:r>
              <a:rPr 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Franklin Gothic Book" panose="020B0503020102020204" pitchFamily="34" charset="0"/>
                <a:ea typeface="League Spartan" charset="0"/>
                <a:cs typeface="Poppins" pitchFamily="2" charset="77"/>
              </a:rPr>
              <a:t>4- Drive &amp; Sustain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350CE52-93A5-C747-8206-246B7817FB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9943948">
            <a:off x="1053437" y="1186947"/>
            <a:ext cx="548306" cy="88825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34A481E3-6DC4-634C-BA0D-82B7E8461C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1317" y="1148928"/>
            <a:ext cx="797720" cy="672236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D02CB5E4-9672-8B48-985C-E1CE527C578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biLevel thresh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07308" y="1223472"/>
            <a:ext cx="848248" cy="662413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56EB0B2B-97E2-7F4C-9B30-B61CB921392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2795595">
            <a:off x="5904807" y="1100635"/>
            <a:ext cx="657497" cy="9379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0A6E0855-D429-1C4B-B85E-DA8D8939F3F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35183" y="1165392"/>
            <a:ext cx="726490" cy="71763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494F4BA-8963-D247-9A43-767DAD47D912}"/>
              </a:ext>
            </a:extLst>
          </p:cNvPr>
          <p:cNvSpPr/>
          <p:nvPr/>
        </p:nvSpPr>
        <p:spPr>
          <a:xfrm>
            <a:off x="497597" y="3181350"/>
            <a:ext cx="8341603" cy="167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B5237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097CD5-0E15-5449-BB44-2EBC721B2894}"/>
              </a:ext>
            </a:extLst>
          </p:cNvPr>
          <p:cNvSpPr txBox="1"/>
          <p:nvPr/>
        </p:nvSpPr>
        <p:spPr>
          <a:xfrm rot="16200000">
            <a:off x="-653709" y="3834884"/>
            <a:ext cx="190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Deliverables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106AE9D-8B26-DC40-A121-71C5525A7BE8}"/>
              </a:ext>
            </a:extLst>
          </p:cNvPr>
          <p:cNvSpPr txBox="1"/>
          <p:nvPr/>
        </p:nvSpPr>
        <p:spPr>
          <a:xfrm>
            <a:off x="636776" y="3747275"/>
            <a:ext cx="16040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Franklin Gothic Book" panose="020B0503020102020204" pitchFamily="34" charset="0"/>
              </a:rPr>
              <a:t>Insights, Findings and Recommendations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61D17F9-0D7F-8E45-B5CA-42B904023E27}"/>
              </a:ext>
            </a:extLst>
          </p:cNvPr>
          <p:cNvSpPr txBox="1"/>
          <p:nvPr/>
        </p:nvSpPr>
        <p:spPr>
          <a:xfrm>
            <a:off x="3920246" y="3289071"/>
            <a:ext cx="160401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Franklin Gothic Book" panose="020B0503020102020204" pitchFamily="34" charset="0"/>
              </a:rPr>
              <a:t>Playbook </a:t>
            </a:r>
            <a:r>
              <a:rPr lang="en-US" sz="1200" dirty="0"/>
              <a:t>:</a:t>
            </a:r>
          </a:p>
          <a:p>
            <a:pPr algn="ctr"/>
            <a:r>
              <a:rPr lang="en-US" sz="1200" dirty="0"/>
              <a:t>Programs and Implementation Plan</a:t>
            </a:r>
          </a:p>
          <a:p>
            <a:pPr algn="ctr"/>
            <a:endParaRPr lang="en-US" sz="1000" dirty="0">
              <a:latin typeface="Franklin Gothic Book" panose="020B0503020102020204" pitchFamily="34" charset="0"/>
            </a:endParaRPr>
          </a:p>
          <a:p>
            <a:pPr algn="ctr"/>
            <a:r>
              <a:rPr lang="en-US" sz="1200" dirty="0">
                <a:latin typeface="Franklin Gothic Book" panose="020B0503020102020204" pitchFamily="34" charset="0"/>
              </a:rPr>
              <a:t>Tools and Resources (Framework):</a:t>
            </a:r>
          </a:p>
          <a:p>
            <a:pPr algn="ctr"/>
            <a:r>
              <a:rPr lang="en-US" sz="1000" dirty="0">
                <a:latin typeface="Franklin Gothic Book" panose="020B0503020102020204" pitchFamily="34" charset="0"/>
              </a:rPr>
              <a:t>Programs, Processes, Training Materials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C68DD71-3188-BA47-AEB7-42E34C61CC0F}"/>
              </a:ext>
            </a:extLst>
          </p:cNvPr>
          <p:cNvSpPr txBox="1"/>
          <p:nvPr/>
        </p:nvSpPr>
        <p:spPr>
          <a:xfrm>
            <a:off x="2215858" y="3747275"/>
            <a:ext cx="16040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Franklin Gothic Book" panose="020B0503020102020204" pitchFamily="34" charset="0"/>
              </a:rPr>
              <a:t>Vision-to-Value Roadmap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1DB7FCF-5DE1-044A-8566-B28D6A001A91}"/>
              </a:ext>
            </a:extLst>
          </p:cNvPr>
          <p:cNvSpPr txBox="1"/>
          <p:nvPr/>
        </p:nvSpPr>
        <p:spPr>
          <a:xfrm>
            <a:off x="7213846" y="3747275"/>
            <a:ext cx="16040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Franklin Gothic Book" panose="020B0503020102020204" pitchFamily="34" charset="0"/>
              </a:rPr>
              <a:t>Benchmark Scorecard, KPIs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0BD9024-4ABF-9341-B027-34B48CDD958F}"/>
              </a:ext>
            </a:extLst>
          </p:cNvPr>
          <p:cNvSpPr txBox="1"/>
          <p:nvPr/>
        </p:nvSpPr>
        <p:spPr>
          <a:xfrm>
            <a:off x="5524782" y="3707404"/>
            <a:ext cx="16040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Franklin Gothic Book" panose="020B0503020102020204" pitchFamily="34" charset="0"/>
              </a:rPr>
              <a:t>Sustainability Program, Maturation Modeling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C31E920-CB3E-F448-863E-42074B6331BE}"/>
              </a:ext>
            </a:extLst>
          </p:cNvPr>
          <p:cNvCxnSpPr>
            <a:cxnSpLocks/>
          </p:cNvCxnSpPr>
          <p:nvPr/>
        </p:nvCxnSpPr>
        <p:spPr>
          <a:xfrm>
            <a:off x="2236897" y="3455072"/>
            <a:ext cx="0" cy="1143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6D111472-8064-0A44-A784-213154FD1613}"/>
              </a:ext>
            </a:extLst>
          </p:cNvPr>
          <p:cNvCxnSpPr>
            <a:cxnSpLocks/>
          </p:cNvCxnSpPr>
          <p:nvPr/>
        </p:nvCxnSpPr>
        <p:spPr>
          <a:xfrm>
            <a:off x="5555555" y="3451757"/>
            <a:ext cx="0" cy="1143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C623B14B-58BD-4F4B-B98B-13FFCD7F39B7}"/>
              </a:ext>
            </a:extLst>
          </p:cNvPr>
          <p:cNvCxnSpPr>
            <a:cxnSpLocks/>
          </p:cNvCxnSpPr>
          <p:nvPr/>
        </p:nvCxnSpPr>
        <p:spPr>
          <a:xfrm>
            <a:off x="3896226" y="3451757"/>
            <a:ext cx="0" cy="1143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06DB2DEF-8348-B04A-AB3D-EBAD9E3FF155}"/>
              </a:ext>
            </a:extLst>
          </p:cNvPr>
          <p:cNvCxnSpPr>
            <a:cxnSpLocks/>
          </p:cNvCxnSpPr>
          <p:nvPr/>
        </p:nvCxnSpPr>
        <p:spPr>
          <a:xfrm>
            <a:off x="7214883" y="3451757"/>
            <a:ext cx="0" cy="1143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32876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iagram&#10;&#10;Description automatically generated">
            <a:extLst>
              <a:ext uri="{FF2B5EF4-FFF2-40B4-BE49-F238E27FC236}">
                <a16:creationId xmlns:a16="http://schemas.microsoft.com/office/drawing/2014/main" id="{8EFEEEF8-72C8-FCC4-9287-A815146812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9560" y="1191267"/>
            <a:ext cx="1009414" cy="694207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54558FC-1E1E-3445-B627-B6AE46E8890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153888"/>
          </a:xfrm>
        </p:spPr>
        <p:txBody>
          <a:bodyPr/>
          <a:lstStyle/>
          <a:p>
            <a:fld id="{B6F15528-21DE-4FAA-801E-634DDDAF4B2B}" type="slidenum">
              <a:rPr lang="en-US" sz="1000" smtClean="0">
                <a:latin typeface="Franklin Gothic Book" panose="020B0503020102020204" pitchFamily="34" charset="0"/>
              </a:rPr>
              <a:t>6</a:t>
            </a:fld>
            <a:endParaRPr lang="en-US" sz="1000" dirty="0">
              <a:latin typeface="Franklin Gothic Book" panose="020B05030201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257C12-D442-E74D-86E2-2FC4CD33E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Current State- Discovery and Analysis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76ED04A-D1B1-7D4F-925B-56B554ED403C}"/>
              </a:ext>
            </a:extLst>
          </p:cNvPr>
          <p:cNvSpPr/>
          <p:nvPr/>
        </p:nvSpPr>
        <p:spPr>
          <a:xfrm>
            <a:off x="537430" y="2383520"/>
            <a:ext cx="1827245" cy="1104097"/>
          </a:xfrm>
          <a:prstGeom prst="rect">
            <a:avLst/>
          </a:prstGeom>
          <a:solidFill>
            <a:schemeClr val="bg1">
              <a:lumMod val="6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B7CA32FF-EABB-244D-B51E-03E627718C53}"/>
              </a:ext>
            </a:extLst>
          </p:cNvPr>
          <p:cNvSpPr txBox="1">
            <a:spLocks/>
          </p:cNvSpPr>
          <p:nvPr/>
        </p:nvSpPr>
        <p:spPr>
          <a:xfrm>
            <a:off x="581870" y="2428274"/>
            <a:ext cx="1698798" cy="860492"/>
          </a:xfrm>
          <a:prstGeom prst="rect">
            <a:avLst/>
          </a:prstGeom>
        </p:spPr>
        <p:txBody>
          <a:bodyPr vert="horz" wrap="square" lIns="34290" tIns="17145" rIns="34290" bIns="17145" rtlCol="0" anchor="t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algn="l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Font typeface="Arial" panose="020B0604020202020204" pitchFamily="34" charset="0"/>
              <a:buChar char="•"/>
            </a:pPr>
            <a:r>
              <a:rPr lang="en-US" sz="900" i="1" dirty="0">
                <a:solidFill>
                  <a:srgbClr val="B52372"/>
                </a:solidFill>
                <a:latin typeface="Franklin Gothic Book" panose="020B0503020102020204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Current State Benchmarking</a:t>
            </a:r>
          </a:p>
          <a:p>
            <a:pPr marL="171450" indent="-171450" algn="l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Font typeface="Arial" panose="020B0604020202020204" pitchFamily="34" charset="0"/>
              <a:buChar char="•"/>
            </a:pPr>
            <a:r>
              <a:rPr lang="en-US" sz="900" i="1" dirty="0">
                <a:solidFill>
                  <a:srgbClr val="B52372"/>
                </a:solidFill>
                <a:latin typeface="Franklin Gothic Book" panose="020B0503020102020204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Effectiveness Mapping  </a:t>
            </a:r>
            <a:r>
              <a:rPr lang="en-US" sz="600" i="1" dirty="0">
                <a:solidFill>
                  <a:srgbClr val="B52372"/>
                </a:solidFill>
                <a:latin typeface="Franklin Gothic Book" panose="020B0503020102020204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*example of a heat map within appendices</a:t>
            </a:r>
            <a:endParaRPr lang="en-US" sz="900" i="1" dirty="0">
              <a:solidFill>
                <a:srgbClr val="B52372"/>
              </a:solidFill>
              <a:latin typeface="Franklin Gothic Book" panose="020B0503020102020204" pitchFamily="34" charset="0"/>
              <a:ea typeface="Lato Light" panose="020F0502020204030203" pitchFamily="34" charset="0"/>
              <a:cs typeface="Mukta ExtraLight" panose="020B0000000000000000" pitchFamily="34" charset="77"/>
            </a:endParaRPr>
          </a:p>
          <a:p>
            <a:pPr marL="171450" indent="-171450" algn="l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Font typeface="Arial" panose="020B0604020202020204" pitchFamily="34" charset="0"/>
              <a:buChar char="•"/>
            </a:pPr>
            <a:r>
              <a:rPr lang="en-US" sz="900" i="1" dirty="0">
                <a:solidFill>
                  <a:srgbClr val="B52372"/>
                </a:solidFill>
                <a:latin typeface="Franklin Gothic Book" panose="020B0503020102020204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Insights, Recommendations, and Outcomes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1B959DC-CD3F-DA4A-BD84-A53C39E2C725}"/>
              </a:ext>
            </a:extLst>
          </p:cNvPr>
          <p:cNvSpPr txBox="1"/>
          <p:nvPr/>
        </p:nvSpPr>
        <p:spPr>
          <a:xfrm rot="16200000">
            <a:off x="-235865" y="2782885"/>
            <a:ext cx="1104098" cy="27699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Franklin Gothic Book" panose="020B0503020102020204" pitchFamily="34" charset="0"/>
              </a:rPr>
              <a:t>What You Get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DB7DF4F-323C-3049-B0AF-AF5245F82986}"/>
              </a:ext>
            </a:extLst>
          </p:cNvPr>
          <p:cNvSpPr/>
          <p:nvPr/>
        </p:nvSpPr>
        <p:spPr>
          <a:xfrm>
            <a:off x="535698" y="3635109"/>
            <a:ext cx="1827245" cy="1233845"/>
          </a:xfrm>
          <a:prstGeom prst="rect">
            <a:avLst/>
          </a:prstGeom>
          <a:solidFill>
            <a:schemeClr val="bg1">
              <a:lumMod val="6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8EA88D6-40CA-4B4E-AC3E-9B5068601B21}"/>
              </a:ext>
            </a:extLst>
          </p:cNvPr>
          <p:cNvSpPr txBox="1"/>
          <p:nvPr/>
        </p:nvSpPr>
        <p:spPr>
          <a:xfrm rot="16200000">
            <a:off x="-289892" y="4113531"/>
            <a:ext cx="1233846" cy="27699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Franklin Gothic Book" panose="020B0503020102020204" pitchFamily="34" charset="0"/>
              </a:rPr>
              <a:t>So You Can</a:t>
            </a:r>
          </a:p>
        </p:txBody>
      </p:sp>
      <p:sp>
        <p:nvSpPr>
          <p:cNvPr id="19" name="Subtitle 2">
            <a:extLst>
              <a:ext uri="{FF2B5EF4-FFF2-40B4-BE49-F238E27FC236}">
                <a16:creationId xmlns:a16="http://schemas.microsoft.com/office/drawing/2014/main" id="{20FDB204-7C28-AE4F-B2D3-5A51655213EB}"/>
              </a:ext>
            </a:extLst>
          </p:cNvPr>
          <p:cNvSpPr txBox="1">
            <a:spLocks/>
          </p:cNvSpPr>
          <p:nvPr/>
        </p:nvSpPr>
        <p:spPr>
          <a:xfrm>
            <a:off x="581870" y="3680066"/>
            <a:ext cx="1421188" cy="955390"/>
          </a:xfrm>
          <a:prstGeom prst="rect">
            <a:avLst/>
          </a:prstGeom>
        </p:spPr>
        <p:txBody>
          <a:bodyPr vert="horz" wrap="square" lIns="34290" tIns="17145" rIns="34290" bIns="17145" rtlCol="0" anchor="t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algn="l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Franklin Gothic Book" panose="020B0503020102020204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See what may be holding you back from realizing full potential</a:t>
            </a:r>
          </a:p>
          <a:p>
            <a:pPr marL="171450" indent="-171450" algn="l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Franklin Gothic Book" panose="020B0503020102020204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Give you insights to how </a:t>
            </a:r>
            <a:r>
              <a:rPr lang="en-US" sz="9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Franklin Gothic Book" panose="020B0503020102020204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‘what the best do differently’</a:t>
            </a:r>
          </a:p>
        </p:txBody>
      </p:sp>
      <p:sp>
        <p:nvSpPr>
          <p:cNvPr id="4" name="Freeform 2">
            <a:extLst>
              <a:ext uri="{FF2B5EF4-FFF2-40B4-BE49-F238E27FC236}">
                <a16:creationId xmlns:a16="http://schemas.microsoft.com/office/drawing/2014/main" id="{DDFB46CD-9ECA-5105-AFA4-F256F1126C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677" y="664685"/>
            <a:ext cx="868680" cy="868680"/>
          </a:xfrm>
          <a:custGeom>
            <a:avLst/>
            <a:gdLst>
              <a:gd name="T0" fmla="*/ 1377 w 2753"/>
              <a:gd name="T1" fmla="*/ 0 h 2752"/>
              <a:gd name="T2" fmla="*/ 1377 w 2753"/>
              <a:gd name="T3" fmla="*/ 0 h 2752"/>
              <a:gd name="T4" fmla="*/ 2752 w 2753"/>
              <a:gd name="T5" fmla="*/ 1376 h 2752"/>
              <a:gd name="T6" fmla="*/ 2752 w 2753"/>
              <a:gd name="T7" fmla="*/ 1376 h 2752"/>
              <a:gd name="T8" fmla="*/ 1377 w 2753"/>
              <a:gd name="T9" fmla="*/ 2751 h 2752"/>
              <a:gd name="T10" fmla="*/ 1377 w 2753"/>
              <a:gd name="T11" fmla="*/ 2751 h 2752"/>
              <a:gd name="T12" fmla="*/ 0 w 2753"/>
              <a:gd name="T13" fmla="*/ 1376 h 2752"/>
              <a:gd name="T14" fmla="*/ 0 w 2753"/>
              <a:gd name="T15" fmla="*/ 1376 h 2752"/>
              <a:gd name="T16" fmla="*/ 1377 w 2753"/>
              <a:gd name="T17" fmla="*/ 0 h 27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753" h="2752">
                <a:moveTo>
                  <a:pt x="1377" y="0"/>
                </a:moveTo>
                <a:lnTo>
                  <a:pt x="1377" y="0"/>
                </a:lnTo>
                <a:cubicBezTo>
                  <a:pt x="2137" y="0"/>
                  <a:pt x="2752" y="616"/>
                  <a:pt x="2752" y="1376"/>
                </a:cubicBezTo>
                <a:lnTo>
                  <a:pt x="2752" y="1376"/>
                </a:lnTo>
                <a:cubicBezTo>
                  <a:pt x="2752" y="2135"/>
                  <a:pt x="2137" y="2751"/>
                  <a:pt x="1377" y="2751"/>
                </a:cubicBezTo>
                <a:lnTo>
                  <a:pt x="1377" y="2751"/>
                </a:lnTo>
                <a:cubicBezTo>
                  <a:pt x="616" y="2751"/>
                  <a:pt x="0" y="2135"/>
                  <a:pt x="0" y="1376"/>
                </a:cubicBezTo>
                <a:lnTo>
                  <a:pt x="0" y="1376"/>
                </a:lnTo>
                <a:cubicBezTo>
                  <a:pt x="0" y="616"/>
                  <a:pt x="616" y="0"/>
                  <a:pt x="1377" y="0"/>
                </a:cubicBezTo>
              </a:path>
            </a:pathLst>
          </a:custGeom>
          <a:solidFill>
            <a:schemeClr val="bg1"/>
          </a:solidFill>
          <a:ln w="76200">
            <a:solidFill>
              <a:srgbClr val="B52372"/>
            </a:solidFill>
          </a:ln>
          <a:effectLst/>
        </p:spPr>
        <p:txBody>
          <a:bodyPr wrap="none" anchor="ctr"/>
          <a:lstStyle/>
          <a:p>
            <a:endParaRPr lang="en-US" sz="2449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34FD50-3EEB-18DF-69EA-81D6CC04178F}"/>
              </a:ext>
            </a:extLst>
          </p:cNvPr>
          <p:cNvSpPr txBox="1"/>
          <p:nvPr/>
        </p:nvSpPr>
        <p:spPr>
          <a:xfrm>
            <a:off x="333111" y="1654155"/>
            <a:ext cx="1734321" cy="523220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pPr algn="ctr"/>
            <a:r>
              <a:rPr lang="en-US" sz="1400" b="1" dirty="0">
                <a:solidFill>
                  <a:srgbClr val="B52372"/>
                </a:solidFill>
                <a:latin typeface="Franklin Gothic Book" panose="020B0503020102020204" pitchFamily="34" charset="0"/>
                <a:ea typeface="League Spartan" charset="0"/>
                <a:cs typeface="Poppins" pitchFamily="2" charset="77"/>
              </a:rPr>
              <a:t>1- Current State – </a:t>
            </a:r>
          </a:p>
          <a:p>
            <a:pPr algn="ctr"/>
            <a:r>
              <a:rPr lang="en-US" sz="1400" b="1" dirty="0">
                <a:solidFill>
                  <a:srgbClr val="B52372"/>
                </a:solidFill>
                <a:latin typeface="Franklin Gothic Book" panose="020B0503020102020204" pitchFamily="34" charset="0"/>
                <a:ea typeface="League Spartan" charset="0"/>
                <a:cs typeface="Poppins" pitchFamily="2" charset="77"/>
              </a:rPr>
              <a:t>Discovery &amp; Analysis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DF321C2-D7CB-A612-6608-AE415789CE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9943948">
            <a:off x="799790" y="827185"/>
            <a:ext cx="389764" cy="653049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7F199D14-039B-A9E4-347A-AD617CA449EC}"/>
              </a:ext>
            </a:extLst>
          </p:cNvPr>
          <p:cNvGrpSpPr/>
          <p:nvPr/>
        </p:nvGrpSpPr>
        <p:grpSpPr>
          <a:xfrm>
            <a:off x="2634083" y="1805667"/>
            <a:ext cx="6448102" cy="2754823"/>
            <a:chOff x="214843" y="1182836"/>
            <a:chExt cx="11845960" cy="5221169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966E8164-FEEF-1618-D886-566964784FCF}"/>
                </a:ext>
              </a:extLst>
            </p:cNvPr>
            <p:cNvGrpSpPr/>
            <p:nvPr/>
          </p:nvGrpSpPr>
          <p:grpSpPr>
            <a:xfrm>
              <a:off x="214843" y="1182836"/>
              <a:ext cx="11845960" cy="5221169"/>
              <a:chOff x="214843" y="1182836"/>
              <a:chExt cx="11845960" cy="5221169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B3370582-9E53-8918-0C11-A79E88B8C7F6}"/>
                  </a:ext>
                </a:extLst>
              </p:cNvPr>
              <p:cNvGrpSpPr/>
              <p:nvPr/>
            </p:nvGrpSpPr>
            <p:grpSpPr>
              <a:xfrm>
                <a:off x="214843" y="1182836"/>
                <a:ext cx="11845960" cy="5221169"/>
                <a:chOff x="214842" y="1128451"/>
                <a:chExt cx="11845960" cy="5221169"/>
              </a:xfrm>
            </p:grpSpPr>
            <p:grpSp>
              <p:nvGrpSpPr>
                <p:cNvPr id="37" name="Group 36">
                  <a:extLst>
                    <a:ext uri="{FF2B5EF4-FFF2-40B4-BE49-F238E27FC236}">
                      <a16:creationId xmlns:a16="http://schemas.microsoft.com/office/drawing/2014/main" id="{03379510-3102-29D7-8574-F1D6331CEABE}"/>
                    </a:ext>
                  </a:extLst>
                </p:cNvPr>
                <p:cNvGrpSpPr/>
                <p:nvPr/>
              </p:nvGrpSpPr>
              <p:grpSpPr>
                <a:xfrm>
                  <a:off x="3873869" y="4589040"/>
                  <a:ext cx="4493626" cy="495827"/>
                  <a:chOff x="4166088" y="4618068"/>
                  <a:chExt cx="4493626" cy="495827"/>
                </a:xfrm>
              </p:grpSpPr>
              <p:sp>
                <p:nvSpPr>
                  <p:cNvPr id="98" name="Rectangle 97">
                    <a:extLst>
                      <a:ext uri="{FF2B5EF4-FFF2-40B4-BE49-F238E27FC236}">
                        <a16:creationId xmlns:a16="http://schemas.microsoft.com/office/drawing/2014/main" id="{F2382AB5-C0E4-AD0F-4546-DB0008CF7518}"/>
                      </a:ext>
                    </a:extLst>
                  </p:cNvPr>
                  <p:cNvSpPr/>
                  <p:nvPr/>
                </p:nvSpPr>
                <p:spPr>
                  <a:xfrm>
                    <a:off x="4166088" y="4618068"/>
                    <a:ext cx="1249231" cy="495826"/>
                  </a:xfrm>
                  <a:prstGeom prst="rect">
                    <a:avLst/>
                  </a:prstGeom>
                </p:spPr>
                <p:txBody>
                  <a:bodyPr wrap="none" anchor="ctr">
                    <a:spAutoFit/>
                  </a:bodyPr>
                  <a:lstStyle/>
                  <a:p>
                    <a:pPr lvl="0" algn="ctr" defTabSz="914400">
                      <a:defRPr/>
                    </a:pPr>
                    <a:r>
                      <a:rPr lang="en-US" sz="1100" b="1" i="1" dirty="0">
                        <a:solidFill>
                          <a:schemeClr val="tx2">
                            <a:lumMod val="65000"/>
                            <a:lumOff val="35000"/>
                          </a:schemeClr>
                        </a:solidFill>
                        <a:latin typeface="Franklin Gothic Book" panose="020B0503020102020204" pitchFamily="34" charset="0"/>
                        <a:cs typeface="Arial" panose="020B0604020202020204" pitchFamily="34" charset="0"/>
                      </a:rPr>
                      <a:t>Internal </a:t>
                    </a:r>
                  </a:p>
                </p:txBody>
              </p:sp>
              <p:sp>
                <p:nvSpPr>
                  <p:cNvPr id="99" name="Rectangle 98">
                    <a:extLst>
                      <a:ext uri="{FF2B5EF4-FFF2-40B4-BE49-F238E27FC236}">
                        <a16:creationId xmlns:a16="http://schemas.microsoft.com/office/drawing/2014/main" id="{318DC4F1-2523-86A1-0170-149C9368175A}"/>
                      </a:ext>
                    </a:extLst>
                  </p:cNvPr>
                  <p:cNvSpPr/>
                  <p:nvPr/>
                </p:nvSpPr>
                <p:spPr>
                  <a:xfrm>
                    <a:off x="7431095" y="4618070"/>
                    <a:ext cx="1228619" cy="495825"/>
                  </a:xfrm>
                  <a:prstGeom prst="rect">
                    <a:avLst/>
                  </a:prstGeom>
                </p:spPr>
                <p:txBody>
                  <a:bodyPr wrap="none" anchor="ctr">
                    <a:spAutoFit/>
                  </a:bodyPr>
                  <a:lstStyle/>
                  <a:p>
                    <a:pPr lvl="0" algn="ctr" defTabSz="914400">
                      <a:defRPr/>
                    </a:pPr>
                    <a:r>
                      <a:rPr lang="en-US" sz="1100" b="1" i="1" dirty="0">
                        <a:solidFill>
                          <a:schemeClr val="tx2">
                            <a:lumMod val="65000"/>
                            <a:lumOff val="35000"/>
                          </a:schemeClr>
                        </a:solidFill>
                        <a:latin typeface="Franklin Gothic Book" panose="020B0503020102020204" pitchFamily="34" charset="0"/>
                        <a:cs typeface="Arial" panose="020B0604020202020204" pitchFamily="34" charset="0"/>
                      </a:rPr>
                      <a:t>External</a:t>
                    </a:r>
                  </a:p>
                </p:txBody>
              </p:sp>
            </p:grpSp>
            <p:grpSp>
              <p:nvGrpSpPr>
                <p:cNvPr id="38" name="Group 37">
                  <a:extLst>
                    <a:ext uri="{FF2B5EF4-FFF2-40B4-BE49-F238E27FC236}">
                      <a16:creationId xmlns:a16="http://schemas.microsoft.com/office/drawing/2014/main" id="{8F3EDB00-F0E4-A500-8A6C-88AAE08979DA}"/>
                    </a:ext>
                  </a:extLst>
                </p:cNvPr>
                <p:cNvGrpSpPr/>
                <p:nvPr/>
              </p:nvGrpSpPr>
              <p:grpSpPr>
                <a:xfrm>
                  <a:off x="214842" y="1128451"/>
                  <a:ext cx="11845960" cy="5221169"/>
                  <a:chOff x="214842" y="1293551"/>
                  <a:chExt cx="11845960" cy="5221169"/>
                </a:xfrm>
              </p:grpSpPr>
              <p:grpSp>
                <p:nvGrpSpPr>
                  <p:cNvPr id="39" name="Group 38">
                    <a:extLst>
                      <a:ext uri="{FF2B5EF4-FFF2-40B4-BE49-F238E27FC236}">
                        <a16:creationId xmlns:a16="http://schemas.microsoft.com/office/drawing/2014/main" id="{79087423-7F99-62A0-5C3B-018D7C3A7DAB}"/>
                      </a:ext>
                    </a:extLst>
                  </p:cNvPr>
                  <p:cNvGrpSpPr/>
                  <p:nvPr/>
                </p:nvGrpSpPr>
                <p:grpSpPr>
                  <a:xfrm>
                    <a:off x="2585579" y="1610589"/>
                    <a:ext cx="7068788" cy="3249218"/>
                    <a:chOff x="2585579" y="1610589"/>
                    <a:chExt cx="7068788" cy="3249218"/>
                  </a:xfrm>
                </p:grpSpPr>
                <p:grpSp>
                  <p:nvGrpSpPr>
                    <p:cNvPr id="54" name="Group 53">
                      <a:extLst>
                        <a:ext uri="{FF2B5EF4-FFF2-40B4-BE49-F238E27FC236}">
                          <a16:creationId xmlns:a16="http://schemas.microsoft.com/office/drawing/2014/main" id="{ADD61F81-7190-A05F-D324-1740FF22692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585579" y="1610589"/>
                      <a:ext cx="7068788" cy="3249218"/>
                      <a:chOff x="2585579" y="1610589"/>
                      <a:chExt cx="7068788" cy="3249218"/>
                    </a:xfrm>
                  </p:grpSpPr>
                  <p:grpSp>
                    <p:nvGrpSpPr>
                      <p:cNvPr id="68" name="Group 67">
                        <a:extLst>
                          <a:ext uri="{FF2B5EF4-FFF2-40B4-BE49-F238E27FC236}">
                            <a16:creationId xmlns:a16="http://schemas.microsoft.com/office/drawing/2014/main" id="{95B5B2B2-1A27-562C-3288-4ABBD1C6100D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592477" y="1610589"/>
                        <a:ext cx="6042348" cy="3249218"/>
                        <a:chOff x="2592477" y="1610589"/>
                        <a:chExt cx="6042348" cy="3249218"/>
                      </a:xfrm>
                    </p:grpSpPr>
                    <p:grpSp>
                      <p:nvGrpSpPr>
                        <p:cNvPr id="84" name="Group 83">
                          <a:extLst>
                            <a:ext uri="{FF2B5EF4-FFF2-40B4-BE49-F238E27FC236}">
                              <a16:creationId xmlns:a16="http://schemas.microsoft.com/office/drawing/2014/main" id="{773791B9-81CF-948D-E553-B811DEE4E7E1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2927853" y="3306021"/>
                          <a:ext cx="3142747" cy="1553786"/>
                          <a:chOff x="2927853" y="3306021"/>
                          <a:chExt cx="3142747" cy="1553786"/>
                        </a:xfrm>
                      </p:grpSpPr>
                      <p:sp>
                        <p:nvSpPr>
                          <p:cNvPr id="92" name="Rectangle 91">
                            <a:extLst>
                              <a:ext uri="{FF2B5EF4-FFF2-40B4-BE49-F238E27FC236}">
                                <a16:creationId xmlns:a16="http://schemas.microsoft.com/office/drawing/2014/main" id="{837D86C0-F009-E18E-1E1E-442A3589692D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2927853" y="3306021"/>
                            <a:ext cx="3142747" cy="1553786"/>
                          </a:xfrm>
                          <a:prstGeom prst="rect">
                            <a:avLst/>
                          </a:prstGeom>
                          <a:solidFill>
                            <a:srgbClr val="B52372"/>
                          </a:solidFill>
                          <a:ln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wrap="square" rtlCol="0" anchor="ctr">
                            <a:noAutofit/>
                          </a:bodyPr>
                          <a:lstStyle>
                            <a:defPPr>
                              <a:defRPr lang="en-US"/>
                            </a:defPPr>
                            <a:lvl1pPr marL="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1pPr>
                            <a:lvl2pPr marL="4572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2pPr>
                            <a:lvl3pPr marL="9144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3pPr>
                            <a:lvl4pPr marL="13716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4pPr>
                            <a:lvl5pPr marL="18288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5pPr>
                            <a:lvl6pPr marL="22860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6pPr>
                            <a:lvl7pPr marL="27432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7pPr>
                            <a:lvl8pPr marL="32004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8pPr>
                            <a:lvl9pPr marL="36576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9pPr>
                          </a:lstStyle>
                          <a:p>
                            <a:pPr algn="ctr"/>
                            <a:endParaRPr lang="en-US" dirty="0">
                              <a:solidFill>
                                <a:schemeClr val="bg1"/>
                              </a:solidFill>
                            </a:endParaRPr>
                          </a:p>
                        </p:txBody>
                      </p:sp>
                      <p:sp>
                        <p:nvSpPr>
                          <p:cNvPr id="94" name="TextBox 93">
                            <a:extLst>
                              <a:ext uri="{FF2B5EF4-FFF2-40B4-BE49-F238E27FC236}">
                                <a16:creationId xmlns:a16="http://schemas.microsoft.com/office/drawing/2014/main" id="{61860B32-C4FE-4B5C-6654-DAC412AEBA52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3309861" y="3878751"/>
                            <a:ext cx="339374" cy="408328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none" rtlCol="0" anchor="ctr">
                            <a:spAutoFit/>
                          </a:bodyPr>
                          <a:lstStyle/>
                          <a:p>
                            <a:endParaRPr lang="en-US" sz="800" b="1" dirty="0">
                              <a:solidFill>
                                <a:schemeClr val="bg2"/>
                              </a:solidFill>
                              <a:latin typeface="Franklin Gothic Book" panose="020B0503020102020204" pitchFamily="34" charset="0"/>
                            </a:endParaRPr>
                          </a:p>
                        </p:txBody>
                      </p:sp>
                    </p:grpSp>
                    <p:grpSp>
                      <p:nvGrpSpPr>
                        <p:cNvPr id="85" name="Group 84">
                          <a:extLst>
                            <a:ext uri="{FF2B5EF4-FFF2-40B4-BE49-F238E27FC236}">
                              <a16:creationId xmlns:a16="http://schemas.microsoft.com/office/drawing/2014/main" id="{40DE31C1-0ED1-FA6C-2A39-43EBC6DECD2E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2592477" y="1610589"/>
                          <a:ext cx="6042348" cy="1579187"/>
                          <a:chOff x="2592477" y="1610589"/>
                          <a:chExt cx="6042348" cy="1579187"/>
                        </a:xfrm>
                      </p:grpSpPr>
                      <p:sp>
                        <p:nvSpPr>
                          <p:cNvPr id="86" name="Rectangle 85">
                            <a:extLst>
                              <a:ext uri="{FF2B5EF4-FFF2-40B4-BE49-F238E27FC236}">
                                <a16:creationId xmlns:a16="http://schemas.microsoft.com/office/drawing/2014/main" id="{3FCD14E6-BC08-D324-C2E2-C76409A80EBC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2927852" y="1610589"/>
                            <a:ext cx="3142747" cy="1579187"/>
                          </a:xfrm>
                          <a:prstGeom prst="rect">
                            <a:avLst/>
                          </a:prstGeom>
                          <a:solidFill>
                            <a:srgbClr val="B52372"/>
                          </a:solidFill>
                          <a:ln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wrap="square" rtlCol="0" anchor="ctr">
                            <a:noAutofit/>
                          </a:bodyPr>
                          <a:lstStyle>
                            <a:defPPr>
                              <a:defRPr lang="en-US"/>
                            </a:defPPr>
                            <a:lvl1pPr marL="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1pPr>
                            <a:lvl2pPr marL="4572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2pPr>
                            <a:lvl3pPr marL="9144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3pPr>
                            <a:lvl4pPr marL="13716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4pPr>
                            <a:lvl5pPr marL="18288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5pPr>
                            <a:lvl6pPr marL="22860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6pPr>
                            <a:lvl7pPr marL="27432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7pPr>
                            <a:lvl8pPr marL="32004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8pPr>
                            <a:lvl9pPr marL="36576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9pPr>
                          </a:lstStyle>
                          <a:p>
                            <a:pPr algn="ctr"/>
                            <a:endParaRPr lang="en-US" dirty="0"/>
                          </a:p>
                        </p:txBody>
                      </p:sp>
                      <p:grpSp>
                        <p:nvGrpSpPr>
                          <p:cNvPr id="87" name="Group 86">
                            <a:extLst>
                              <a:ext uri="{FF2B5EF4-FFF2-40B4-BE49-F238E27FC236}">
                                <a16:creationId xmlns:a16="http://schemas.microsoft.com/office/drawing/2014/main" id="{888889F9-6E97-4F49-16E0-037705AA8A7F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2592477" y="1892119"/>
                            <a:ext cx="6042348" cy="845831"/>
                            <a:chOff x="2567965" y="2498093"/>
                            <a:chExt cx="6042348" cy="845831"/>
                          </a:xfrm>
                        </p:grpSpPr>
                        <p:sp>
                          <p:nvSpPr>
                            <p:cNvPr id="90" name="Hexagon 3">
                              <a:extLst>
                                <a:ext uri="{FF2B5EF4-FFF2-40B4-BE49-F238E27FC236}">
                                  <a16:creationId xmlns:a16="http://schemas.microsoft.com/office/drawing/2014/main" id="{E6CC9933-8F98-DA94-94B0-81EDF0CCEAB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2567965" y="2683535"/>
                              <a:ext cx="654945" cy="660389"/>
                            </a:xfrm>
                            <a:prstGeom prst="ellipse">
                              <a:avLst/>
                            </a:prstGeom>
                            <a:solidFill>
                              <a:srgbClr val="D51067"/>
                            </a:solidFill>
                            <a:ln w="19050">
                              <a:solidFill>
                                <a:schemeClr val="bg1"/>
                              </a:solidFill>
                            </a:ln>
                            <a:effectLst/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>
                              <a:defPPr>
                                <a:defRPr lang="en-US"/>
                              </a:defPPr>
                              <a:lvl1pPr marL="0" algn="l" defTabSz="914400" rtl="0" eaLnBrk="1" latinLnBrk="0" hangingPunct="1">
                                <a:defRPr sz="1800" kern="1200">
                                  <a:solidFill>
                                    <a:schemeClr val="lt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1pPr>
                              <a:lvl2pPr marL="457200" algn="l" defTabSz="914400" rtl="0" eaLnBrk="1" latinLnBrk="0" hangingPunct="1">
                                <a:defRPr sz="1800" kern="1200">
                                  <a:solidFill>
                                    <a:schemeClr val="lt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2pPr>
                              <a:lvl3pPr marL="914400" algn="l" defTabSz="914400" rtl="0" eaLnBrk="1" latinLnBrk="0" hangingPunct="1">
                                <a:defRPr sz="1800" kern="1200">
                                  <a:solidFill>
                                    <a:schemeClr val="lt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3pPr>
                              <a:lvl4pPr marL="1371600" algn="l" defTabSz="914400" rtl="0" eaLnBrk="1" latinLnBrk="0" hangingPunct="1">
                                <a:defRPr sz="1800" kern="1200">
                                  <a:solidFill>
                                    <a:schemeClr val="lt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4pPr>
                              <a:lvl5pPr marL="1828800" algn="l" defTabSz="914400" rtl="0" eaLnBrk="1" latinLnBrk="0" hangingPunct="1">
                                <a:defRPr sz="1800" kern="1200">
                                  <a:solidFill>
                                    <a:schemeClr val="lt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5pPr>
                              <a:lvl6pPr marL="2286000" algn="l" defTabSz="914400" rtl="0" eaLnBrk="1" latinLnBrk="0" hangingPunct="1">
                                <a:defRPr sz="1800" kern="1200">
                                  <a:solidFill>
                                    <a:schemeClr val="lt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6pPr>
                              <a:lvl7pPr marL="2743200" algn="l" defTabSz="914400" rtl="0" eaLnBrk="1" latinLnBrk="0" hangingPunct="1">
                                <a:defRPr sz="1800" kern="1200">
                                  <a:solidFill>
                                    <a:schemeClr val="lt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7pPr>
                              <a:lvl8pPr marL="3200400" algn="l" defTabSz="914400" rtl="0" eaLnBrk="1" latinLnBrk="0" hangingPunct="1">
                                <a:defRPr sz="1800" kern="1200">
                                  <a:solidFill>
                                    <a:schemeClr val="lt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8pPr>
                              <a:lvl9pPr marL="3657600" algn="l" defTabSz="914400" rtl="0" eaLnBrk="1" latinLnBrk="0" hangingPunct="1">
                                <a:defRPr sz="1800" kern="1200">
                                  <a:solidFill>
                                    <a:schemeClr val="lt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9pPr>
                            </a:lstStyle>
                            <a:p>
                              <a:pPr marL="0" marR="0" lvl="0" indent="0" algn="ctr" defTabSz="457200" rtl="0" eaLnBrk="1" fontAlgn="auto" latinLnBrk="0" hangingPunct="1">
                                <a:lnSpc>
                                  <a:spcPct val="100000"/>
                                </a:lnSpc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1" i="0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white"/>
                                </a:solidFill>
                                <a:effectLst/>
                                <a:uLnTx/>
                                <a:uFillTx/>
                                <a:latin typeface="Calibri" panose="020F0502020204030204"/>
                                <a:ea typeface="+mn-ea"/>
                                <a:cs typeface="+mn-cs"/>
                              </a:endParaRPr>
                            </a:p>
                          </p:txBody>
                        </p:sp>
                        <p:sp>
                          <p:nvSpPr>
                            <p:cNvPr id="88" name="TextBox 87">
                              <a:extLst>
                                <a:ext uri="{FF2B5EF4-FFF2-40B4-BE49-F238E27FC236}">
                                  <a16:creationId xmlns:a16="http://schemas.microsoft.com/office/drawing/2014/main" id="{D1B8EDEF-632F-16CA-E58E-A09C90182125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7010635" y="2498093"/>
                              <a:ext cx="1599678" cy="408329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none" rtlCol="0" anchor="ctr">
                              <a:spAutoFit/>
                            </a:bodyPr>
                            <a:lstStyle/>
                            <a:p>
                              <a:r>
                                <a:rPr lang="en-US" sz="800" b="1" dirty="0">
                                  <a:solidFill>
                                    <a:schemeClr val="bg1"/>
                                  </a:solidFill>
                                  <a:latin typeface="Franklin Gothic Book" panose="020B0503020102020204" pitchFamily="34" charset="0"/>
                                </a:rPr>
                                <a:t>Market Analysis</a:t>
                              </a:r>
                            </a:p>
                          </p:txBody>
                        </p:sp>
                      </p:grpSp>
                    </p:grpSp>
                  </p:grpSp>
                  <p:grpSp>
                    <p:nvGrpSpPr>
                      <p:cNvPr id="69" name="Group 68">
                        <a:extLst>
                          <a:ext uri="{FF2B5EF4-FFF2-40B4-BE49-F238E27FC236}">
                            <a16:creationId xmlns:a16="http://schemas.microsoft.com/office/drawing/2014/main" id="{CBDA7BC5-3A7A-93F3-421C-FA25CDBB655B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585579" y="1610590"/>
                        <a:ext cx="7068788" cy="3249217"/>
                        <a:chOff x="2585579" y="1610590"/>
                        <a:chExt cx="7068788" cy="3249217"/>
                      </a:xfrm>
                    </p:grpSpPr>
                    <p:grpSp>
                      <p:nvGrpSpPr>
                        <p:cNvPr id="70" name="Group 69">
                          <a:extLst>
                            <a:ext uri="{FF2B5EF4-FFF2-40B4-BE49-F238E27FC236}">
                              <a16:creationId xmlns:a16="http://schemas.microsoft.com/office/drawing/2014/main" id="{71AAEC0E-29FA-E30B-9070-E31E25CB7CB4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2585579" y="3306021"/>
                          <a:ext cx="6740371" cy="1553786"/>
                          <a:chOff x="2561067" y="3911995"/>
                          <a:chExt cx="6740371" cy="1553786"/>
                        </a:xfrm>
                      </p:grpSpPr>
                      <p:sp>
                        <p:nvSpPr>
                          <p:cNvPr id="78" name="Rectangle 77">
                            <a:extLst>
                              <a:ext uri="{FF2B5EF4-FFF2-40B4-BE49-F238E27FC236}">
                                <a16:creationId xmlns:a16="http://schemas.microsoft.com/office/drawing/2014/main" id="{A068042D-49C0-757D-D930-C01B30A439C1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6148487" y="3911995"/>
                            <a:ext cx="3152951" cy="1553786"/>
                          </a:xfrm>
                          <a:prstGeom prst="rect">
                            <a:avLst/>
                          </a:prstGeom>
                          <a:solidFill>
                            <a:schemeClr val="bg1">
                              <a:lumMod val="50000"/>
                            </a:schemeClr>
                          </a:solidFill>
                          <a:ln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wrap="square" rtlCol="0" anchor="ctr">
                            <a:noAutofit/>
                          </a:bodyPr>
                          <a:lstStyle>
                            <a:defPPr>
                              <a:defRPr lang="en-US"/>
                            </a:defPPr>
                            <a:lvl1pPr marL="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1pPr>
                            <a:lvl2pPr marL="4572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2pPr>
                            <a:lvl3pPr marL="9144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3pPr>
                            <a:lvl4pPr marL="13716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4pPr>
                            <a:lvl5pPr marL="18288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5pPr>
                            <a:lvl6pPr marL="22860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6pPr>
                            <a:lvl7pPr marL="27432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7pPr>
                            <a:lvl8pPr marL="32004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8pPr>
                            <a:lvl9pPr marL="36576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9pPr>
                          </a:lstStyle>
                          <a:p>
                            <a:pPr algn="ctr"/>
                            <a:endParaRPr lang="en-US" dirty="0"/>
                          </a:p>
                        </p:txBody>
                      </p:sp>
                      <p:grpSp>
                        <p:nvGrpSpPr>
                          <p:cNvPr id="79" name="Group 78">
                            <a:extLst>
                              <a:ext uri="{FF2B5EF4-FFF2-40B4-BE49-F238E27FC236}">
                                <a16:creationId xmlns:a16="http://schemas.microsoft.com/office/drawing/2014/main" id="{6C93820B-DC62-6784-9141-CC1244582FD0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2561067" y="4295718"/>
                            <a:ext cx="6398096" cy="772332"/>
                            <a:chOff x="2561067" y="4262008"/>
                            <a:chExt cx="6398096" cy="772332"/>
                          </a:xfrm>
                        </p:grpSpPr>
                        <p:sp>
                          <p:nvSpPr>
                            <p:cNvPr id="80" name="TextBox 79">
                              <a:extLst>
                                <a:ext uri="{FF2B5EF4-FFF2-40B4-BE49-F238E27FC236}">
                                  <a16:creationId xmlns:a16="http://schemas.microsoft.com/office/drawing/2014/main" id="{90D6B1BE-0151-2EC6-5187-06E9A64A8321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7391878" y="4276018"/>
                              <a:ext cx="1567285" cy="758322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none" rtlCol="0" anchor="ctr">
                              <a:spAutoFit/>
                            </a:bodyPr>
                            <a:lstStyle/>
                            <a:p>
                              <a:pPr algn="r"/>
                              <a:r>
                                <a:rPr lang="en-US" sz="1000" b="1" dirty="0">
                                  <a:solidFill>
                                    <a:schemeClr val="bg1"/>
                                  </a:solidFill>
                                  <a:latin typeface="Franklin Gothic Book" panose="020B0503020102020204" pitchFamily="34" charset="0"/>
                                </a:rPr>
                                <a:t>Aspirational </a:t>
                              </a:r>
                            </a:p>
                            <a:p>
                              <a:pPr algn="r"/>
                              <a:r>
                                <a:rPr lang="en-US" sz="1000" b="1" dirty="0">
                                  <a:solidFill>
                                    <a:schemeClr val="bg1"/>
                                  </a:solidFill>
                                  <a:latin typeface="Franklin Gothic Book" panose="020B0503020102020204" pitchFamily="34" charset="0"/>
                                </a:rPr>
                                <a:t>Customer</a:t>
                              </a:r>
                            </a:p>
                          </p:txBody>
                        </p:sp>
                        <p:sp>
                          <p:nvSpPr>
                            <p:cNvPr id="82" name="Hexagon 3">
                              <a:extLst>
                                <a:ext uri="{FF2B5EF4-FFF2-40B4-BE49-F238E27FC236}">
                                  <a16:creationId xmlns:a16="http://schemas.microsoft.com/office/drawing/2014/main" id="{08618974-0815-2806-3FA2-428EF8ED4A3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2561067" y="4262008"/>
                              <a:ext cx="660440" cy="665927"/>
                            </a:xfrm>
                            <a:prstGeom prst="ellipse">
                              <a:avLst/>
                            </a:prstGeom>
                            <a:solidFill>
                              <a:srgbClr val="D51067"/>
                            </a:solidFill>
                            <a:ln w="19050">
                              <a:solidFill>
                                <a:schemeClr val="bg1"/>
                              </a:solidFill>
                            </a:ln>
                            <a:effectLst/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>
                              <a:defPPr>
                                <a:defRPr lang="en-US"/>
                              </a:defPPr>
                              <a:lvl1pPr marL="0" algn="l" defTabSz="914400" rtl="0" eaLnBrk="1" latinLnBrk="0" hangingPunct="1">
                                <a:defRPr sz="1800" kern="1200">
                                  <a:solidFill>
                                    <a:schemeClr val="lt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1pPr>
                              <a:lvl2pPr marL="457200" algn="l" defTabSz="914400" rtl="0" eaLnBrk="1" latinLnBrk="0" hangingPunct="1">
                                <a:defRPr sz="1800" kern="1200">
                                  <a:solidFill>
                                    <a:schemeClr val="lt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2pPr>
                              <a:lvl3pPr marL="914400" algn="l" defTabSz="914400" rtl="0" eaLnBrk="1" latinLnBrk="0" hangingPunct="1">
                                <a:defRPr sz="1800" kern="1200">
                                  <a:solidFill>
                                    <a:schemeClr val="lt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3pPr>
                              <a:lvl4pPr marL="1371600" algn="l" defTabSz="914400" rtl="0" eaLnBrk="1" latinLnBrk="0" hangingPunct="1">
                                <a:defRPr sz="1800" kern="1200">
                                  <a:solidFill>
                                    <a:schemeClr val="lt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4pPr>
                              <a:lvl5pPr marL="1828800" algn="l" defTabSz="914400" rtl="0" eaLnBrk="1" latinLnBrk="0" hangingPunct="1">
                                <a:defRPr sz="1800" kern="1200">
                                  <a:solidFill>
                                    <a:schemeClr val="lt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5pPr>
                              <a:lvl6pPr marL="2286000" algn="l" defTabSz="914400" rtl="0" eaLnBrk="1" latinLnBrk="0" hangingPunct="1">
                                <a:defRPr sz="1800" kern="1200">
                                  <a:solidFill>
                                    <a:schemeClr val="lt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6pPr>
                              <a:lvl7pPr marL="2743200" algn="l" defTabSz="914400" rtl="0" eaLnBrk="1" latinLnBrk="0" hangingPunct="1">
                                <a:defRPr sz="1800" kern="1200">
                                  <a:solidFill>
                                    <a:schemeClr val="lt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7pPr>
                              <a:lvl8pPr marL="3200400" algn="l" defTabSz="914400" rtl="0" eaLnBrk="1" latinLnBrk="0" hangingPunct="1">
                                <a:defRPr sz="1800" kern="1200">
                                  <a:solidFill>
                                    <a:schemeClr val="lt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8pPr>
                              <a:lvl9pPr marL="3657600" algn="l" defTabSz="914400" rtl="0" eaLnBrk="1" latinLnBrk="0" hangingPunct="1">
                                <a:defRPr sz="1800" kern="1200">
                                  <a:solidFill>
                                    <a:schemeClr val="lt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9pPr>
                            </a:lstStyle>
                            <a:p>
                              <a:pPr marL="0" marR="0" lvl="0" indent="0" algn="ctr" defTabSz="457200" rtl="0" eaLnBrk="1" fontAlgn="auto" latinLnBrk="0" hangingPunct="1">
                                <a:lnSpc>
                                  <a:spcPct val="100000"/>
                                </a:lnSpc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1" i="0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white"/>
                                </a:solidFill>
                                <a:effectLst/>
                                <a:uLnTx/>
                                <a:uFillTx/>
                                <a:latin typeface="Calibri" panose="020F0502020204030204"/>
                                <a:ea typeface="+mn-ea"/>
                                <a:cs typeface="+mn-cs"/>
                              </a:endParaRPr>
                            </a:p>
                          </p:txBody>
                        </p:sp>
                      </p:grpSp>
                    </p:grpSp>
                    <p:grpSp>
                      <p:nvGrpSpPr>
                        <p:cNvPr id="71" name="Group 70">
                          <a:extLst>
                            <a:ext uri="{FF2B5EF4-FFF2-40B4-BE49-F238E27FC236}">
                              <a16:creationId xmlns:a16="http://schemas.microsoft.com/office/drawing/2014/main" id="{A5B42A7A-B4C5-729D-22A1-77CF26133DDF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3119605" y="1610590"/>
                          <a:ext cx="6534762" cy="2861324"/>
                          <a:chOff x="3095093" y="2216564"/>
                          <a:chExt cx="6534762" cy="2861324"/>
                        </a:xfrm>
                      </p:grpSpPr>
                      <p:sp>
                        <p:nvSpPr>
                          <p:cNvPr id="72" name="Rectangle 71">
                            <a:extLst>
                              <a:ext uri="{FF2B5EF4-FFF2-40B4-BE49-F238E27FC236}">
                                <a16:creationId xmlns:a16="http://schemas.microsoft.com/office/drawing/2014/main" id="{69F63949-EDDF-6E45-9964-3B00C34B4469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6147687" y="2216564"/>
                            <a:ext cx="3153752" cy="1579185"/>
                          </a:xfrm>
                          <a:prstGeom prst="rect">
                            <a:avLst/>
                          </a:prstGeom>
                          <a:solidFill>
                            <a:schemeClr val="bg1">
                              <a:lumMod val="50000"/>
                            </a:schemeClr>
                          </a:solidFill>
                          <a:ln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wrap="square" rtlCol="0" anchor="ctr">
                            <a:noAutofit/>
                          </a:bodyPr>
                          <a:lstStyle>
                            <a:defPPr>
                              <a:defRPr lang="en-US"/>
                            </a:defPPr>
                            <a:lvl1pPr marL="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1pPr>
                            <a:lvl2pPr marL="4572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2pPr>
                            <a:lvl3pPr marL="9144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3pPr>
                            <a:lvl4pPr marL="13716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4pPr>
                            <a:lvl5pPr marL="18288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5pPr>
                            <a:lvl6pPr marL="22860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6pPr>
                            <a:lvl7pPr marL="27432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7pPr>
                            <a:lvl8pPr marL="32004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8pPr>
                            <a:lvl9pPr marL="36576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9pPr>
                          </a:lstStyle>
                          <a:p>
                            <a:pPr algn="ctr"/>
                            <a:endParaRPr lang="en-US" dirty="0"/>
                          </a:p>
                        </p:txBody>
                      </p:sp>
                      <p:grpSp>
                        <p:nvGrpSpPr>
                          <p:cNvPr id="73" name="Group 72">
                            <a:extLst>
                              <a:ext uri="{FF2B5EF4-FFF2-40B4-BE49-F238E27FC236}">
                                <a16:creationId xmlns:a16="http://schemas.microsoft.com/office/drawing/2014/main" id="{D8688367-CE4B-F2AE-37B2-1DC8A704A3DD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3095093" y="2673193"/>
                            <a:ext cx="6534762" cy="2404695"/>
                            <a:chOff x="3095093" y="2738209"/>
                            <a:chExt cx="6534762" cy="2404695"/>
                          </a:xfrm>
                        </p:grpSpPr>
                        <p:sp>
                          <p:nvSpPr>
                            <p:cNvPr id="74" name="TextBox 73">
                              <a:extLst>
                                <a:ext uri="{FF2B5EF4-FFF2-40B4-BE49-F238E27FC236}">
                                  <a16:creationId xmlns:a16="http://schemas.microsoft.com/office/drawing/2014/main" id="{F5E4DFFF-0E32-F922-96EC-929F2D7223B2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3095093" y="4384582"/>
                              <a:ext cx="2156267" cy="758322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none" rtlCol="0" anchor="ctr">
                              <a:spAutoFit/>
                            </a:bodyPr>
                            <a:lstStyle/>
                            <a:p>
                              <a:pPr algn="r"/>
                              <a:r>
                                <a:rPr lang="en-US" sz="1000" b="1" dirty="0">
                                  <a:solidFill>
                                    <a:schemeClr val="bg1"/>
                                  </a:solidFill>
                                  <a:latin typeface="Franklin Gothic Book" panose="020B0503020102020204" pitchFamily="34" charset="0"/>
                                </a:rPr>
                                <a:t>Current Customer </a:t>
                              </a:r>
                            </a:p>
                            <a:p>
                              <a:pPr algn="r"/>
                              <a:r>
                                <a:rPr lang="en-US" sz="1000" b="1" dirty="0">
                                  <a:solidFill>
                                    <a:schemeClr val="bg1"/>
                                  </a:solidFill>
                                  <a:latin typeface="Franklin Gothic Book" panose="020B0503020102020204" pitchFamily="34" charset="0"/>
                                </a:rPr>
                                <a:t>Engagement</a:t>
                              </a:r>
                            </a:p>
                          </p:txBody>
                        </p:sp>
                        <p:sp>
                          <p:nvSpPr>
                            <p:cNvPr id="76" name="Hexagon 3">
                              <a:extLst>
                                <a:ext uri="{FF2B5EF4-FFF2-40B4-BE49-F238E27FC236}">
                                  <a16:creationId xmlns:a16="http://schemas.microsoft.com/office/drawing/2014/main" id="{68E95835-30EF-A87F-1033-33A1FC66643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69414" y="2738209"/>
                              <a:ext cx="660441" cy="665925"/>
                            </a:xfrm>
                            <a:prstGeom prst="ellipse">
                              <a:avLst/>
                            </a:prstGeom>
                            <a:solidFill>
                              <a:schemeClr val="bg1">
                                <a:lumMod val="75000"/>
                              </a:schemeClr>
                            </a:solidFill>
                            <a:ln w="19050">
                              <a:solidFill>
                                <a:schemeClr val="bg1"/>
                              </a:solidFill>
                            </a:ln>
                            <a:effectLst/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>
                              <a:defPPr>
                                <a:defRPr lang="en-US"/>
                              </a:defPPr>
                              <a:lvl1pPr marL="0" algn="l" defTabSz="914400" rtl="0" eaLnBrk="1" latinLnBrk="0" hangingPunct="1">
                                <a:defRPr sz="1800" kern="1200">
                                  <a:solidFill>
                                    <a:schemeClr val="lt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1pPr>
                              <a:lvl2pPr marL="457200" algn="l" defTabSz="914400" rtl="0" eaLnBrk="1" latinLnBrk="0" hangingPunct="1">
                                <a:defRPr sz="1800" kern="1200">
                                  <a:solidFill>
                                    <a:schemeClr val="lt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2pPr>
                              <a:lvl3pPr marL="914400" algn="l" defTabSz="914400" rtl="0" eaLnBrk="1" latinLnBrk="0" hangingPunct="1">
                                <a:defRPr sz="1800" kern="1200">
                                  <a:solidFill>
                                    <a:schemeClr val="lt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3pPr>
                              <a:lvl4pPr marL="1371600" algn="l" defTabSz="914400" rtl="0" eaLnBrk="1" latinLnBrk="0" hangingPunct="1">
                                <a:defRPr sz="1800" kern="1200">
                                  <a:solidFill>
                                    <a:schemeClr val="lt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4pPr>
                              <a:lvl5pPr marL="1828800" algn="l" defTabSz="914400" rtl="0" eaLnBrk="1" latinLnBrk="0" hangingPunct="1">
                                <a:defRPr sz="1800" kern="1200">
                                  <a:solidFill>
                                    <a:schemeClr val="lt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5pPr>
                              <a:lvl6pPr marL="2286000" algn="l" defTabSz="914400" rtl="0" eaLnBrk="1" latinLnBrk="0" hangingPunct="1">
                                <a:defRPr sz="1800" kern="1200">
                                  <a:solidFill>
                                    <a:schemeClr val="lt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6pPr>
                              <a:lvl7pPr marL="2743200" algn="l" defTabSz="914400" rtl="0" eaLnBrk="1" latinLnBrk="0" hangingPunct="1">
                                <a:defRPr sz="1800" kern="1200">
                                  <a:solidFill>
                                    <a:schemeClr val="lt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7pPr>
                              <a:lvl8pPr marL="3200400" algn="l" defTabSz="914400" rtl="0" eaLnBrk="1" latinLnBrk="0" hangingPunct="1">
                                <a:defRPr sz="1800" kern="1200">
                                  <a:solidFill>
                                    <a:schemeClr val="lt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8pPr>
                              <a:lvl9pPr marL="3657600" algn="l" defTabSz="914400" rtl="0" eaLnBrk="1" latinLnBrk="0" hangingPunct="1">
                                <a:defRPr sz="1800" kern="1200">
                                  <a:solidFill>
                                    <a:schemeClr val="lt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9pPr>
                            </a:lstStyle>
                            <a:p>
                              <a:pPr marL="0" marR="0" lvl="0" indent="0" algn="ctr" defTabSz="457200" rtl="0" eaLnBrk="1" fontAlgn="auto" latinLnBrk="0" hangingPunct="1">
                                <a:lnSpc>
                                  <a:spcPct val="100000"/>
                                </a:lnSpc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1" i="0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white"/>
                                </a:solidFill>
                                <a:effectLst/>
                                <a:uLnTx/>
                                <a:uFillTx/>
                                <a:latin typeface="Calibri" panose="020F0502020204030204"/>
                                <a:ea typeface="+mn-ea"/>
                                <a:cs typeface="+mn-cs"/>
                              </a:endParaRPr>
                            </a:p>
                          </p:txBody>
                        </p:sp>
                      </p:grpSp>
                    </p:grpSp>
                  </p:grpSp>
                </p:grpSp>
                <p:grpSp>
                  <p:nvGrpSpPr>
                    <p:cNvPr id="55" name="Group 54">
                      <a:extLst>
                        <a:ext uri="{FF2B5EF4-FFF2-40B4-BE49-F238E27FC236}">
                          <a16:creationId xmlns:a16="http://schemas.microsoft.com/office/drawing/2014/main" id="{E3C4C84D-DADD-2DDB-6750-9F4D5D97AC1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44871" y="1961748"/>
                      <a:ext cx="2556160" cy="2572302"/>
                      <a:chOff x="4820359" y="2567722"/>
                      <a:chExt cx="2556160" cy="2572302"/>
                    </a:xfrm>
                  </p:grpSpPr>
                  <p:grpSp>
                    <p:nvGrpSpPr>
                      <p:cNvPr id="56" name="Group 55">
                        <a:extLst>
                          <a:ext uri="{FF2B5EF4-FFF2-40B4-BE49-F238E27FC236}">
                            <a16:creationId xmlns:a16="http://schemas.microsoft.com/office/drawing/2014/main" id="{227D81B3-AD69-F286-6E16-F710AE6AC912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4820359" y="2567722"/>
                        <a:ext cx="2556160" cy="2572302"/>
                        <a:chOff x="4596712" y="2110121"/>
                        <a:chExt cx="2621204" cy="2637758"/>
                      </a:xfrm>
                    </p:grpSpPr>
                    <p:grpSp>
                      <p:nvGrpSpPr>
                        <p:cNvPr id="62" name="Group 61">
                          <a:extLst>
                            <a:ext uri="{FF2B5EF4-FFF2-40B4-BE49-F238E27FC236}">
                              <a16:creationId xmlns:a16="http://schemas.microsoft.com/office/drawing/2014/main" id="{27DA5B06-8B15-AE40-2BE3-92B22E1EE7DD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4596712" y="2110121"/>
                          <a:ext cx="2621204" cy="2637758"/>
                          <a:chOff x="4596712" y="2110121"/>
                          <a:chExt cx="2621204" cy="2637758"/>
                        </a:xfrm>
                      </p:grpSpPr>
                      <p:sp>
                        <p:nvSpPr>
                          <p:cNvPr id="64" name="Freeform: Shape 32">
                            <a:extLst>
                              <a:ext uri="{FF2B5EF4-FFF2-40B4-BE49-F238E27FC236}">
                                <a16:creationId xmlns:a16="http://schemas.microsoft.com/office/drawing/2014/main" id="{3C72AD8B-C75A-2A7F-C8DE-7786F3E2FE75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958636" y="3488600"/>
                            <a:ext cx="1259280" cy="1259278"/>
                          </a:xfrm>
                          <a:custGeom>
                            <a:avLst/>
                            <a:gdLst>
                              <a:gd name="connsiteX0" fmla="*/ 900671 w 1259280"/>
                              <a:gd name="connsiteY0" fmla="*/ 0 h 1259278"/>
                              <a:gd name="connsiteX1" fmla="*/ 1259280 w 1259280"/>
                              <a:gd name="connsiteY1" fmla="*/ 0 h 1259278"/>
                              <a:gd name="connsiteX2" fmla="*/ 1255092 w 1259280"/>
                              <a:gd name="connsiteY2" fmla="*/ 82944 h 1259278"/>
                              <a:gd name="connsiteX3" fmla="*/ 82944 w 1259280"/>
                              <a:gd name="connsiteY3" fmla="*/ 1255090 h 1259278"/>
                              <a:gd name="connsiteX4" fmla="*/ 0 w 1259280"/>
                              <a:gd name="connsiteY4" fmla="*/ 1259278 h 1259278"/>
                              <a:gd name="connsiteX5" fmla="*/ 0 w 1259280"/>
                              <a:gd name="connsiteY5" fmla="*/ 900671 h 1259278"/>
                              <a:gd name="connsiteX6" fmla="*/ 46277 w 1259280"/>
                              <a:gd name="connsiteY6" fmla="*/ 898333 h 1259278"/>
                              <a:gd name="connsiteX7" fmla="*/ 898334 w 1259280"/>
                              <a:gd name="connsiteY7" fmla="*/ 46278 h 1259278"/>
                              <a:gd name="connsiteX8" fmla="*/ 900671 w 1259280"/>
                              <a:gd name="connsiteY8" fmla="*/ 0 h 1259278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</a:cxnLst>
                            <a:rect l="l" t="t" r="r" b="b"/>
                            <a:pathLst>
                              <a:path w="1259280" h="1259278">
                                <a:moveTo>
                                  <a:pt x="900671" y="0"/>
                                </a:moveTo>
                                <a:lnTo>
                                  <a:pt x="1259280" y="0"/>
                                </a:lnTo>
                                <a:lnTo>
                                  <a:pt x="1255092" y="82944"/>
                                </a:lnTo>
                                <a:cubicBezTo>
                                  <a:pt x="1192327" y="700983"/>
                                  <a:pt x="700985" y="1192325"/>
                                  <a:pt x="82944" y="1255090"/>
                                </a:cubicBezTo>
                                <a:lnTo>
                                  <a:pt x="0" y="1259278"/>
                                </a:lnTo>
                                <a:lnTo>
                                  <a:pt x="0" y="900671"/>
                                </a:lnTo>
                                <a:lnTo>
                                  <a:pt x="46277" y="898333"/>
                                </a:lnTo>
                                <a:cubicBezTo>
                                  <a:pt x="495543" y="852708"/>
                                  <a:pt x="852708" y="495543"/>
                                  <a:pt x="898334" y="46278"/>
                                </a:cubicBezTo>
                                <a:lnTo>
                                  <a:pt x="900671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chemeClr val="bg1">
                              <a:lumMod val="95000"/>
                            </a:schemeClr>
                          </a:solidFill>
                          <a:ln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wrap="square" rtlCol="0" anchor="ctr">
                            <a:noAutofit/>
                          </a:bodyPr>
                          <a:lstStyle>
                            <a:defPPr>
                              <a:defRPr lang="en-US"/>
                            </a:defPPr>
                            <a:lvl1pPr marL="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1pPr>
                            <a:lvl2pPr marL="4572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2pPr>
                            <a:lvl3pPr marL="9144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3pPr>
                            <a:lvl4pPr marL="13716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4pPr>
                            <a:lvl5pPr marL="18288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5pPr>
                            <a:lvl6pPr marL="22860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6pPr>
                            <a:lvl7pPr marL="27432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7pPr>
                            <a:lvl8pPr marL="32004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8pPr>
                            <a:lvl9pPr marL="36576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9pPr>
                          </a:lstStyle>
                          <a:p>
                            <a:pPr algn="ctr"/>
                            <a:endParaRPr lang="en-US" dirty="0"/>
                          </a:p>
                        </p:txBody>
                      </p:sp>
                      <p:sp>
                        <p:nvSpPr>
                          <p:cNvPr id="65" name="Freeform: Shape 33">
                            <a:extLst>
                              <a:ext uri="{FF2B5EF4-FFF2-40B4-BE49-F238E27FC236}">
                                <a16:creationId xmlns:a16="http://schemas.microsoft.com/office/drawing/2014/main" id="{E92E64F8-031E-108A-93F5-E56A4949BE17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4596712" y="3488600"/>
                            <a:ext cx="1259277" cy="1259279"/>
                          </a:xfrm>
                          <a:custGeom>
                            <a:avLst/>
                            <a:gdLst>
                              <a:gd name="connsiteX0" fmla="*/ 0 w 1259277"/>
                              <a:gd name="connsiteY0" fmla="*/ 0 h 1259279"/>
                              <a:gd name="connsiteX1" fmla="*/ 358607 w 1259277"/>
                              <a:gd name="connsiteY1" fmla="*/ 0 h 1259279"/>
                              <a:gd name="connsiteX2" fmla="*/ 360943 w 1259277"/>
                              <a:gd name="connsiteY2" fmla="*/ 46278 h 1259279"/>
                              <a:gd name="connsiteX3" fmla="*/ 1212999 w 1259277"/>
                              <a:gd name="connsiteY3" fmla="*/ 898334 h 1259279"/>
                              <a:gd name="connsiteX4" fmla="*/ 1259277 w 1259277"/>
                              <a:gd name="connsiteY4" fmla="*/ 900672 h 1259279"/>
                              <a:gd name="connsiteX5" fmla="*/ 1259277 w 1259277"/>
                              <a:gd name="connsiteY5" fmla="*/ 1259279 h 1259279"/>
                              <a:gd name="connsiteX6" fmla="*/ 1176335 w 1259277"/>
                              <a:gd name="connsiteY6" fmla="*/ 1255091 h 1259279"/>
                              <a:gd name="connsiteX7" fmla="*/ 4187 w 1259277"/>
                              <a:gd name="connsiteY7" fmla="*/ 82944 h 1259279"/>
                              <a:gd name="connsiteX8" fmla="*/ 0 w 1259277"/>
                              <a:gd name="connsiteY8" fmla="*/ 0 h 1259279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</a:cxnLst>
                            <a:rect l="l" t="t" r="r" b="b"/>
                            <a:pathLst>
                              <a:path w="1259277" h="1259279">
                                <a:moveTo>
                                  <a:pt x="0" y="0"/>
                                </a:moveTo>
                                <a:lnTo>
                                  <a:pt x="358607" y="0"/>
                                </a:lnTo>
                                <a:lnTo>
                                  <a:pt x="360943" y="46278"/>
                                </a:lnTo>
                                <a:cubicBezTo>
                                  <a:pt x="406568" y="495544"/>
                                  <a:pt x="763734" y="852709"/>
                                  <a:pt x="1212999" y="898334"/>
                                </a:cubicBezTo>
                                <a:lnTo>
                                  <a:pt x="1259277" y="900672"/>
                                </a:lnTo>
                                <a:lnTo>
                                  <a:pt x="1259277" y="1259279"/>
                                </a:lnTo>
                                <a:lnTo>
                                  <a:pt x="1176335" y="1255091"/>
                                </a:lnTo>
                                <a:cubicBezTo>
                                  <a:pt x="558295" y="1192326"/>
                                  <a:pt x="66954" y="700985"/>
                                  <a:pt x="4187" y="82944"/>
                                </a:cubicBezTo>
                                <a:lnTo>
                                  <a:pt x="0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D51067"/>
                          </a:solidFill>
                          <a:ln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wrap="square" rtlCol="0" anchor="ctr">
                            <a:noAutofit/>
                          </a:bodyPr>
                          <a:lstStyle>
                            <a:defPPr>
                              <a:defRPr lang="en-US"/>
                            </a:defPPr>
                            <a:lvl1pPr marL="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1pPr>
                            <a:lvl2pPr marL="4572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2pPr>
                            <a:lvl3pPr marL="9144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3pPr>
                            <a:lvl4pPr marL="13716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4pPr>
                            <a:lvl5pPr marL="18288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5pPr>
                            <a:lvl6pPr marL="22860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6pPr>
                            <a:lvl7pPr marL="27432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7pPr>
                            <a:lvl8pPr marL="32004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8pPr>
                            <a:lvl9pPr marL="36576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9pPr>
                          </a:lstStyle>
                          <a:p>
                            <a:pPr algn="ctr"/>
                            <a:endParaRPr lang="en-US" dirty="0"/>
                          </a:p>
                        </p:txBody>
                      </p:sp>
                      <p:sp>
                        <p:nvSpPr>
                          <p:cNvPr id="66" name="Freeform: Shape 34">
                            <a:extLst>
                              <a:ext uri="{FF2B5EF4-FFF2-40B4-BE49-F238E27FC236}">
                                <a16:creationId xmlns:a16="http://schemas.microsoft.com/office/drawing/2014/main" id="{8CE5B724-7EE6-BB40-F859-9AA64E7E6A1C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958636" y="2110121"/>
                            <a:ext cx="1259280" cy="1259278"/>
                          </a:xfrm>
                          <a:custGeom>
                            <a:avLst/>
                            <a:gdLst>
                              <a:gd name="connsiteX0" fmla="*/ 0 w 1259280"/>
                              <a:gd name="connsiteY0" fmla="*/ 0 h 1259278"/>
                              <a:gd name="connsiteX1" fmla="*/ 82944 w 1259280"/>
                              <a:gd name="connsiteY1" fmla="*/ 4187 h 1259278"/>
                              <a:gd name="connsiteX2" fmla="*/ 1255092 w 1259280"/>
                              <a:gd name="connsiteY2" fmla="*/ 1176335 h 1259278"/>
                              <a:gd name="connsiteX3" fmla="*/ 1259280 w 1259280"/>
                              <a:gd name="connsiteY3" fmla="*/ 1259278 h 1259278"/>
                              <a:gd name="connsiteX4" fmla="*/ 900671 w 1259280"/>
                              <a:gd name="connsiteY4" fmla="*/ 1259278 h 1259278"/>
                              <a:gd name="connsiteX5" fmla="*/ 898334 w 1259280"/>
                              <a:gd name="connsiteY5" fmla="*/ 1213000 h 1259278"/>
                              <a:gd name="connsiteX6" fmla="*/ 46277 w 1259280"/>
                              <a:gd name="connsiteY6" fmla="*/ 360944 h 1259278"/>
                              <a:gd name="connsiteX7" fmla="*/ 0 w 1259280"/>
                              <a:gd name="connsiteY7" fmla="*/ 358608 h 1259278"/>
                              <a:gd name="connsiteX8" fmla="*/ 0 w 1259280"/>
                              <a:gd name="connsiteY8" fmla="*/ 0 h 1259278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</a:cxnLst>
                            <a:rect l="l" t="t" r="r" b="b"/>
                            <a:pathLst>
                              <a:path w="1259280" h="1259278">
                                <a:moveTo>
                                  <a:pt x="0" y="0"/>
                                </a:moveTo>
                                <a:lnTo>
                                  <a:pt x="82944" y="4187"/>
                                </a:lnTo>
                                <a:cubicBezTo>
                                  <a:pt x="700985" y="66954"/>
                                  <a:pt x="1192327" y="558295"/>
                                  <a:pt x="1255092" y="1176335"/>
                                </a:cubicBezTo>
                                <a:lnTo>
                                  <a:pt x="1259280" y="1259278"/>
                                </a:lnTo>
                                <a:lnTo>
                                  <a:pt x="900671" y="1259278"/>
                                </a:lnTo>
                                <a:lnTo>
                                  <a:pt x="898334" y="1213000"/>
                                </a:lnTo>
                                <a:cubicBezTo>
                                  <a:pt x="852708" y="763735"/>
                                  <a:pt x="495543" y="406569"/>
                                  <a:pt x="46277" y="360944"/>
                                </a:cubicBezTo>
                                <a:lnTo>
                                  <a:pt x="0" y="358608"/>
                                </a:lnTo>
                                <a:lnTo>
                                  <a:pt x="0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chemeClr val="bg1">
                              <a:lumMod val="95000"/>
                            </a:schemeClr>
                          </a:solidFill>
                          <a:ln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wrap="square" rtlCol="0" anchor="ctr">
                            <a:noAutofit/>
                          </a:bodyPr>
                          <a:lstStyle>
                            <a:defPPr>
                              <a:defRPr lang="en-US"/>
                            </a:defPPr>
                            <a:lvl1pPr marL="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1pPr>
                            <a:lvl2pPr marL="4572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2pPr>
                            <a:lvl3pPr marL="9144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3pPr>
                            <a:lvl4pPr marL="13716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4pPr>
                            <a:lvl5pPr marL="18288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5pPr>
                            <a:lvl6pPr marL="22860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6pPr>
                            <a:lvl7pPr marL="27432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7pPr>
                            <a:lvl8pPr marL="32004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8pPr>
                            <a:lvl9pPr marL="36576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9pPr>
                          </a:lstStyle>
                          <a:p>
                            <a:pPr algn="ctr"/>
                            <a:endParaRPr lang="en-US" dirty="0"/>
                          </a:p>
                        </p:txBody>
                      </p:sp>
                      <p:sp>
                        <p:nvSpPr>
                          <p:cNvPr id="67" name="Freeform: Shape 35">
                            <a:extLst>
                              <a:ext uri="{FF2B5EF4-FFF2-40B4-BE49-F238E27FC236}">
                                <a16:creationId xmlns:a16="http://schemas.microsoft.com/office/drawing/2014/main" id="{25CA91EB-B71E-B555-A85F-FCEC10A32F3F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4596712" y="2110122"/>
                            <a:ext cx="1259277" cy="1259277"/>
                          </a:xfrm>
                          <a:custGeom>
                            <a:avLst/>
                            <a:gdLst>
                              <a:gd name="connsiteX0" fmla="*/ 1259277 w 1259277"/>
                              <a:gd name="connsiteY0" fmla="*/ 0 h 1259277"/>
                              <a:gd name="connsiteX1" fmla="*/ 1259277 w 1259277"/>
                              <a:gd name="connsiteY1" fmla="*/ 358608 h 1259277"/>
                              <a:gd name="connsiteX2" fmla="*/ 1212999 w 1259277"/>
                              <a:gd name="connsiteY2" fmla="*/ 360944 h 1259277"/>
                              <a:gd name="connsiteX3" fmla="*/ 360943 w 1259277"/>
                              <a:gd name="connsiteY3" fmla="*/ 1213000 h 1259277"/>
                              <a:gd name="connsiteX4" fmla="*/ 358607 w 1259277"/>
                              <a:gd name="connsiteY4" fmla="*/ 1259277 h 1259277"/>
                              <a:gd name="connsiteX5" fmla="*/ 0 w 1259277"/>
                              <a:gd name="connsiteY5" fmla="*/ 1259277 h 1259277"/>
                              <a:gd name="connsiteX6" fmla="*/ 4187 w 1259277"/>
                              <a:gd name="connsiteY6" fmla="*/ 1176335 h 1259277"/>
                              <a:gd name="connsiteX7" fmla="*/ 1176335 w 1259277"/>
                              <a:gd name="connsiteY7" fmla="*/ 4187 h 1259277"/>
                              <a:gd name="connsiteX8" fmla="*/ 1259277 w 1259277"/>
                              <a:gd name="connsiteY8" fmla="*/ 0 h 1259277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</a:cxnLst>
                            <a:rect l="l" t="t" r="r" b="b"/>
                            <a:pathLst>
                              <a:path w="1259277" h="1259277">
                                <a:moveTo>
                                  <a:pt x="1259277" y="0"/>
                                </a:moveTo>
                                <a:lnTo>
                                  <a:pt x="1259277" y="358608"/>
                                </a:lnTo>
                                <a:lnTo>
                                  <a:pt x="1212999" y="360944"/>
                                </a:lnTo>
                                <a:cubicBezTo>
                                  <a:pt x="763734" y="406569"/>
                                  <a:pt x="406568" y="763735"/>
                                  <a:pt x="360943" y="1213000"/>
                                </a:cubicBezTo>
                                <a:lnTo>
                                  <a:pt x="358607" y="1259277"/>
                                </a:lnTo>
                                <a:lnTo>
                                  <a:pt x="0" y="1259277"/>
                                </a:lnTo>
                                <a:lnTo>
                                  <a:pt x="4187" y="1176335"/>
                                </a:lnTo>
                                <a:cubicBezTo>
                                  <a:pt x="66954" y="558295"/>
                                  <a:pt x="558295" y="66954"/>
                                  <a:pt x="1176335" y="4187"/>
                                </a:cubicBezTo>
                                <a:lnTo>
                                  <a:pt x="1259277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D51067"/>
                          </a:solidFill>
                          <a:ln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wrap="square" rtlCol="0" anchor="ctr">
                            <a:noAutofit/>
                          </a:bodyPr>
                          <a:lstStyle>
                            <a:defPPr>
                              <a:defRPr lang="en-US"/>
                            </a:defPPr>
                            <a:lvl1pPr marL="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1pPr>
                            <a:lvl2pPr marL="4572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2pPr>
                            <a:lvl3pPr marL="9144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3pPr>
                            <a:lvl4pPr marL="13716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4pPr>
                            <a:lvl5pPr marL="18288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5pPr>
                            <a:lvl6pPr marL="22860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6pPr>
                            <a:lvl7pPr marL="27432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7pPr>
                            <a:lvl8pPr marL="32004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8pPr>
                            <a:lvl9pPr marL="36576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9pPr>
                          </a:lstStyle>
                          <a:p>
                            <a:pPr algn="ctr"/>
                            <a:endParaRPr lang="en-US" dirty="0"/>
                          </a:p>
                        </p:txBody>
                      </p:sp>
                    </p:grpSp>
                    <p:sp>
                      <p:nvSpPr>
                        <p:cNvPr id="63" name="Oval 62">
                          <a:extLst>
                            <a:ext uri="{FF2B5EF4-FFF2-40B4-BE49-F238E27FC236}">
                              <a16:creationId xmlns:a16="http://schemas.microsoft.com/office/drawing/2014/main" id="{B2839DAA-38EA-7AFF-302A-5B1F34FB0832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4767001" y="2288687"/>
                          <a:ext cx="2280627" cy="2280626"/>
                        </a:xfrm>
                        <a:prstGeom prst="ellipse">
                          <a:avLst/>
                        </a:prstGeom>
                        <a:solidFill>
                          <a:schemeClr val="bg1">
                            <a:lumMod val="65000"/>
                            <a:alpha val="29804"/>
                          </a:schemeClr>
                        </a:solidFill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>
                          <a:defPPr>
                            <a:defRPr lang="en-US"/>
                          </a:defPPr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lt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lt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lt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lt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lt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lt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lt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lt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lt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9pPr>
                        </a:lstStyle>
                        <a:p>
                          <a:pPr algn="ctr"/>
                          <a:endParaRPr lang="en-US" dirty="0"/>
                        </a:p>
                      </p:txBody>
                    </p:sp>
                  </p:grpSp>
                  <p:sp>
                    <p:nvSpPr>
                      <p:cNvPr id="58" name="Oval 57">
                        <a:extLst>
                          <a:ext uri="{FF2B5EF4-FFF2-40B4-BE49-F238E27FC236}">
                            <a16:creationId xmlns:a16="http://schemas.microsoft.com/office/drawing/2014/main" id="{F65078D6-E3D5-7F51-18D4-5D9BD09FDDE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157054" y="2912489"/>
                        <a:ext cx="1882769" cy="1882769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>
                        <a:noFill/>
                      </a:ln>
                      <a:effectLst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>
                        <a:defPPr>
                          <a:defRPr lang="en-US"/>
                        </a:defPPr>
                        <a:lvl1pPr marL="0" algn="l" defTabSz="9144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457200" algn="l" defTabSz="9144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2pPr>
                        <a:lvl3pPr marL="914400" algn="l" defTabSz="9144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3pPr>
                        <a:lvl4pPr marL="1371600" algn="l" defTabSz="9144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4pPr>
                        <a:lvl5pPr marL="1828800" algn="l" defTabSz="9144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5pPr>
                        <a:lvl6pPr marL="2286000" algn="l" defTabSz="9144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6pPr>
                        <a:lvl7pPr marL="2743200" algn="l" defTabSz="9144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7pPr>
                        <a:lvl8pPr marL="3200400" algn="l" defTabSz="9144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8pPr>
                        <a:lvl9pPr marL="3657600" algn="l" defTabSz="9144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9pPr>
                      </a:lstStyle>
                      <a:p>
                        <a:pPr algn="ctr"/>
                        <a:endParaRPr lang="en-US" dirty="0"/>
                      </a:p>
                    </p:txBody>
                  </p:sp>
                </p:grpSp>
              </p:grpSp>
              <p:grpSp>
                <p:nvGrpSpPr>
                  <p:cNvPr id="46" name="Group 45">
                    <a:extLst>
                      <a:ext uri="{FF2B5EF4-FFF2-40B4-BE49-F238E27FC236}">
                        <a16:creationId xmlns:a16="http://schemas.microsoft.com/office/drawing/2014/main" id="{C455EE9B-9B17-9926-F2D7-C2C0B105F89C}"/>
                      </a:ext>
                    </a:extLst>
                  </p:cNvPr>
                  <p:cNvGrpSpPr/>
                  <p:nvPr/>
                </p:nvGrpSpPr>
                <p:grpSpPr>
                  <a:xfrm>
                    <a:off x="214842" y="1293551"/>
                    <a:ext cx="11845960" cy="5221169"/>
                    <a:chOff x="176741" y="1899525"/>
                    <a:chExt cx="11845960" cy="5221168"/>
                  </a:xfrm>
                </p:grpSpPr>
                <p:grpSp>
                  <p:nvGrpSpPr>
                    <p:cNvPr id="48" name="Group 47">
                      <a:extLst>
                        <a:ext uri="{FF2B5EF4-FFF2-40B4-BE49-F238E27FC236}">
                          <a16:creationId xmlns:a16="http://schemas.microsoft.com/office/drawing/2014/main" id="{7F4E0AB4-27BC-0668-BA22-1DD3D57DAE6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76741" y="2225924"/>
                      <a:ext cx="2766600" cy="4894769"/>
                      <a:chOff x="176741" y="2225924"/>
                      <a:chExt cx="2766600" cy="4894769"/>
                    </a:xfrm>
                  </p:grpSpPr>
                  <p:sp>
                    <p:nvSpPr>
                      <p:cNvPr id="52" name="Rectangle 51">
                        <a:extLst>
                          <a:ext uri="{FF2B5EF4-FFF2-40B4-BE49-F238E27FC236}">
                            <a16:creationId xmlns:a16="http://schemas.microsoft.com/office/drawing/2014/main" id="{14F611F5-A5C5-1B4C-CD99-F9F4D8024B3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61594" y="2225924"/>
                        <a:ext cx="2255586" cy="1224980"/>
                      </a:xfrm>
                      <a:prstGeom prst="rect">
                        <a:avLst/>
                      </a:prstGeom>
                    </p:spPr>
                    <p:txBody>
                      <a:bodyPr wrap="square">
                        <a:spAutoFit/>
                      </a:bodyPr>
                      <a:lstStyle/>
                      <a:p>
                        <a:pPr marL="182880" lvl="0" indent="-182880" defTabSz="914400">
                          <a:buFont typeface="Arial" pitchFamily="34" charset="0"/>
                          <a:buChar char="•"/>
                          <a:defRPr/>
                        </a:pPr>
                        <a:r>
                          <a:rPr lang="en-US" sz="900" dirty="0">
                            <a:solidFill>
                              <a:schemeClr val="tx2">
                                <a:lumMod val="65000"/>
                                <a:lumOff val="35000"/>
                              </a:schemeClr>
                            </a:solidFill>
                            <a:latin typeface="Franklin Gothic Book" panose="020B0503020102020204" pitchFamily="34" charset="0"/>
                            <a:cs typeface="Arial" panose="020B0604020202020204" pitchFamily="34" charset="0"/>
                          </a:rPr>
                          <a:t>Strategy</a:t>
                        </a:r>
                      </a:p>
                      <a:p>
                        <a:pPr marL="182880" lvl="0" indent="-182880" defTabSz="914400">
                          <a:buFont typeface="Arial" pitchFamily="34" charset="0"/>
                          <a:buChar char="•"/>
                          <a:defRPr/>
                        </a:pPr>
                        <a:r>
                          <a:rPr lang="en-US" sz="900" dirty="0">
                            <a:solidFill>
                              <a:schemeClr val="tx2">
                                <a:lumMod val="65000"/>
                                <a:lumOff val="35000"/>
                              </a:schemeClr>
                            </a:solidFill>
                            <a:latin typeface="Franklin Gothic Book" panose="020B0503020102020204" pitchFamily="34" charset="0"/>
                            <a:cs typeface="Arial" panose="020B0604020202020204" pitchFamily="34" charset="0"/>
                          </a:rPr>
                          <a:t>Future Vision</a:t>
                        </a:r>
                      </a:p>
                      <a:p>
                        <a:pPr marL="182880" lvl="0" indent="-182880" defTabSz="914400">
                          <a:buFont typeface="Arial" pitchFamily="34" charset="0"/>
                          <a:buChar char="•"/>
                          <a:defRPr/>
                        </a:pPr>
                        <a:r>
                          <a:rPr lang="en-US" sz="900" dirty="0">
                            <a:solidFill>
                              <a:schemeClr val="tx2">
                                <a:lumMod val="65000"/>
                                <a:lumOff val="35000"/>
                              </a:schemeClr>
                            </a:solidFill>
                            <a:latin typeface="Franklin Gothic Book" panose="020B0503020102020204" pitchFamily="34" charset="0"/>
                            <a:cs typeface="Arial" panose="020B0604020202020204" pitchFamily="34" charset="0"/>
                          </a:rPr>
                          <a:t>Alignment</a:t>
                        </a:r>
                      </a:p>
                      <a:p>
                        <a:pPr marL="182880" lvl="0" indent="-182880" defTabSz="914400">
                          <a:buFont typeface="Arial" pitchFamily="34" charset="0"/>
                          <a:buChar char="•"/>
                          <a:defRPr/>
                        </a:pPr>
                        <a:r>
                          <a:rPr lang="en-US" sz="900" dirty="0">
                            <a:solidFill>
                              <a:schemeClr val="tx2">
                                <a:lumMod val="65000"/>
                                <a:lumOff val="35000"/>
                              </a:schemeClr>
                            </a:solidFill>
                            <a:latin typeface="Franklin Gothic Book" panose="020B0503020102020204" pitchFamily="34" charset="0"/>
                            <a:cs typeface="Arial" panose="020B0604020202020204" pitchFamily="34" charset="0"/>
                          </a:rPr>
                          <a:t>Competencies</a:t>
                        </a:r>
                      </a:p>
                    </p:txBody>
                  </p:sp>
                  <p:sp>
                    <p:nvSpPr>
                      <p:cNvPr id="53" name="Rectangle 52">
                        <a:extLst>
                          <a:ext uri="{FF2B5EF4-FFF2-40B4-BE49-F238E27FC236}">
                            <a16:creationId xmlns:a16="http://schemas.microsoft.com/office/drawing/2014/main" id="{BAE1B229-852C-4FF1-66E6-9875A5C3EAE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76741" y="3795749"/>
                        <a:ext cx="2766600" cy="3324944"/>
                      </a:xfrm>
                      <a:prstGeom prst="rect">
                        <a:avLst/>
                      </a:prstGeom>
                    </p:spPr>
                    <p:txBody>
                      <a:bodyPr wrap="square">
                        <a:spAutoFit/>
                      </a:bodyPr>
                      <a:lstStyle/>
                      <a:p>
                        <a:pPr marL="182880" lvl="0" indent="-182880" defTabSz="914400">
                          <a:buFont typeface="Arial" pitchFamily="34" charset="0"/>
                          <a:buChar char="•"/>
                          <a:defRPr/>
                        </a:pPr>
                        <a:r>
                          <a:rPr lang="en-US" sz="900" dirty="0">
                            <a:solidFill>
                              <a:schemeClr val="tx2">
                                <a:lumMod val="65000"/>
                                <a:lumOff val="35000"/>
                              </a:schemeClr>
                            </a:solidFill>
                            <a:latin typeface="Franklin Gothic Book" panose="020B0503020102020204" pitchFamily="34" charset="0"/>
                            <a:cs typeface="Arial" panose="020B0604020202020204" pitchFamily="34" charset="0"/>
                          </a:rPr>
                          <a:t>Current Customer Segmentation</a:t>
                        </a:r>
                      </a:p>
                      <a:p>
                        <a:pPr marL="182880" lvl="0" indent="-182880" defTabSz="914400">
                          <a:buFont typeface="Arial" pitchFamily="34" charset="0"/>
                          <a:buChar char="•"/>
                          <a:defRPr/>
                        </a:pPr>
                        <a:r>
                          <a:rPr lang="en-US" sz="900" dirty="0">
                            <a:solidFill>
                              <a:schemeClr val="tx2">
                                <a:lumMod val="65000"/>
                                <a:lumOff val="35000"/>
                              </a:schemeClr>
                            </a:solidFill>
                            <a:latin typeface="Franklin Gothic Book" panose="020B0503020102020204" pitchFamily="34" charset="0"/>
                            <a:cs typeface="Arial" panose="020B0604020202020204" pitchFamily="34" charset="0"/>
                          </a:rPr>
                          <a:t>Current Customer Experiences by segment</a:t>
                        </a:r>
                      </a:p>
                      <a:p>
                        <a:pPr marL="182880" lvl="0" indent="-182880" defTabSz="914400">
                          <a:buFont typeface="Arial" pitchFamily="34" charset="0"/>
                          <a:buChar char="•"/>
                          <a:defRPr/>
                        </a:pPr>
                        <a:r>
                          <a:rPr lang="en-US" sz="900" dirty="0">
                            <a:solidFill>
                              <a:schemeClr val="tx2">
                                <a:lumMod val="65000"/>
                                <a:lumOff val="35000"/>
                              </a:schemeClr>
                            </a:solidFill>
                            <a:latin typeface="Franklin Gothic Book" panose="020B0503020102020204" pitchFamily="34" charset="0"/>
                            <a:cs typeface="Arial" panose="020B0604020202020204" pitchFamily="34" charset="0"/>
                          </a:rPr>
                          <a:t>Value Proposition</a:t>
                        </a:r>
                      </a:p>
                      <a:p>
                        <a:pPr marL="182880" lvl="0" indent="-182880" defTabSz="914400">
                          <a:buFont typeface="Arial" pitchFamily="34" charset="0"/>
                          <a:buChar char="•"/>
                          <a:defRPr/>
                        </a:pPr>
                        <a:r>
                          <a:rPr lang="en-US" sz="900" dirty="0">
                            <a:solidFill>
                              <a:schemeClr val="tx2">
                                <a:lumMod val="65000"/>
                                <a:lumOff val="35000"/>
                              </a:schemeClr>
                            </a:solidFill>
                            <a:latin typeface="Franklin Gothic Book" panose="020B0503020102020204" pitchFamily="34" charset="0"/>
                            <a:cs typeface="Arial" panose="020B0604020202020204" pitchFamily="34" charset="0"/>
                          </a:rPr>
                          <a:t>Processes</a:t>
                        </a:r>
                      </a:p>
                      <a:p>
                        <a:pPr marL="182880" lvl="0" indent="-182880" defTabSz="914400">
                          <a:buFont typeface="Arial" pitchFamily="34" charset="0"/>
                          <a:buChar char="•"/>
                          <a:defRPr/>
                        </a:pPr>
                        <a:r>
                          <a:rPr lang="en-US" sz="900" dirty="0">
                            <a:solidFill>
                              <a:schemeClr val="tx2">
                                <a:lumMod val="65000"/>
                                <a:lumOff val="35000"/>
                              </a:schemeClr>
                            </a:solidFill>
                            <a:latin typeface="Franklin Gothic Book" panose="020B0503020102020204" pitchFamily="34" charset="0"/>
                            <a:cs typeface="Arial" panose="020B0604020202020204" pitchFamily="34" charset="0"/>
                          </a:rPr>
                          <a:t>Systems</a:t>
                        </a:r>
                      </a:p>
                      <a:p>
                        <a:pPr lvl="0" defTabSz="914400">
                          <a:defRPr/>
                        </a:pPr>
                        <a:endParaRPr lang="en-US" sz="900" dirty="0">
                          <a:solidFill>
                            <a:schemeClr val="tx2">
                              <a:lumMod val="65000"/>
                              <a:lumOff val="35000"/>
                            </a:schemeClr>
                          </a:solidFill>
                          <a:latin typeface="Franklin Gothic Book" panose="020B0503020102020204" pitchFamily="34" charset="0"/>
                          <a:cs typeface="Arial" panose="020B0604020202020204" pitchFamily="34" charset="0"/>
                        </a:endParaRPr>
                      </a:p>
                      <a:p>
                        <a:pPr lvl="0" defTabSz="914400">
                          <a:defRPr/>
                        </a:pPr>
                        <a:r>
                          <a:rPr lang="en-US" sz="900" dirty="0">
                            <a:solidFill>
                              <a:schemeClr val="tx2">
                                <a:lumMod val="65000"/>
                                <a:lumOff val="35000"/>
                              </a:schemeClr>
                            </a:solidFill>
                            <a:latin typeface="Franklin Gothic Book" panose="020B0503020102020204" pitchFamily="34" charset="0"/>
                            <a:cs typeface="Arial" panose="020B0604020202020204" pitchFamily="34" charset="0"/>
                          </a:rPr>
                          <a:t>Within all customer- facing disciplines</a:t>
                        </a:r>
                      </a:p>
                      <a:p>
                        <a:pPr marL="182880" lvl="0" indent="-182880" defTabSz="914400">
                          <a:buFont typeface="Arial" pitchFamily="34" charset="0"/>
                          <a:buChar char="•"/>
                          <a:defRPr/>
                        </a:pPr>
                        <a:endParaRPr lang="en-US" sz="900" dirty="0">
                          <a:solidFill>
                            <a:schemeClr val="tx2">
                              <a:lumMod val="65000"/>
                              <a:lumOff val="35000"/>
                            </a:schemeClr>
                          </a:solidFill>
                          <a:latin typeface="Franklin Gothic Book" panose="020B05030201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</p:grpSp>
                <p:grpSp>
                  <p:nvGrpSpPr>
                    <p:cNvPr id="49" name="Group 48">
                      <a:extLst>
                        <a:ext uri="{FF2B5EF4-FFF2-40B4-BE49-F238E27FC236}">
                          <a16:creationId xmlns:a16="http://schemas.microsoft.com/office/drawing/2014/main" id="{88B0B472-8797-AE48-EC88-1B7278206FF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9663420" y="1899525"/>
                      <a:ext cx="2359281" cy="4326466"/>
                      <a:chOff x="9663420" y="1899525"/>
                      <a:chExt cx="2359281" cy="4326466"/>
                    </a:xfrm>
                  </p:grpSpPr>
                  <p:sp>
                    <p:nvSpPr>
                      <p:cNvPr id="50" name="Rectangle 49">
                        <a:extLst>
                          <a:ext uri="{FF2B5EF4-FFF2-40B4-BE49-F238E27FC236}">
                            <a16:creationId xmlns:a16="http://schemas.microsoft.com/office/drawing/2014/main" id="{E740E593-FC2D-46A4-6E2B-82C475E2B2C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663420" y="1899525"/>
                        <a:ext cx="2359281" cy="2012467"/>
                      </a:xfrm>
                      <a:prstGeom prst="rect">
                        <a:avLst/>
                      </a:prstGeom>
                    </p:spPr>
                    <p:txBody>
                      <a:bodyPr wrap="square">
                        <a:spAutoFit/>
                      </a:bodyPr>
                      <a:lstStyle/>
                      <a:p>
                        <a:pPr marL="182880" lvl="0" indent="-182880" defTabSz="914400">
                          <a:buFont typeface="Arial" pitchFamily="34" charset="0"/>
                          <a:buChar char="•"/>
                          <a:defRPr/>
                        </a:pPr>
                        <a:r>
                          <a:rPr lang="en-US" sz="900" dirty="0">
                            <a:solidFill>
                              <a:schemeClr val="tx2">
                                <a:lumMod val="65000"/>
                                <a:lumOff val="35000"/>
                              </a:schemeClr>
                            </a:solidFill>
                            <a:latin typeface="Franklin Gothic Book" panose="020B0503020102020204" pitchFamily="34" charset="0"/>
                            <a:cs typeface="Arial" panose="020B0604020202020204" pitchFamily="34" charset="0"/>
                          </a:rPr>
                          <a:t>Strengths, Weaknesses, Opportunities, Threats</a:t>
                        </a:r>
                      </a:p>
                      <a:p>
                        <a:pPr marL="182880" lvl="0" indent="-182880" defTabSz="914400">
                          <a:buFont typeface="Arial" pitchFamily="34" charset="0"/>
                          <a:buChar char="•"/>
                          <a:defRPr/>
                        </a:pPr>
                        <a:r>
                          <a:rPr lang="en-US" sz="900" dirty="0">
                            <a:solidFill>
                              <a:schemeClr val="tx2">
                                <a:lumMod val="65000"/>
                                <a:lumOff val="35000"/>
                              </a:schemeClr>
                            </a:solidFill>
                            <a:latin typeface="Franklin Gothic Book" panose="020B0503020102020204" pitchFamily="34" charset="0"/>
                            <a:cs typeface="Arial" panose="020B0604020202020204" pitchFamily="34" charset="0"/>
                          </a:rPr>
                          <a:t>Economic Overlay (PEST)</a:t>
                        </a:r>
                      </a:p>
                      <a:p>
                        <a:pPr marL="182880" lvl="0" indent="-182880" defTabSz="914400">
                          <a:buFont typeface="Arial" pitchFamily="34" charset="0"/>
                          <a:buChar char="•"/>
                          <a:defRPr/>
                        </a:pPr>
                        <a:r>
                          <a:rPr lang="en-US" sz="900" dirty="0">
                            <a:solidFill>
                              <a:schemeClr val="tx2">
                                <a:lumMod val="65000"/>
                                <a:lumOff val="35000"/>
                              </a:schemeClr>
                            </a:solidFill>
                            <a:latin typeface="Franklin Gothic Book" panose="020B0503020102020204" pitchFamily="34" charset="0"/>
                            <a:cs typeface="Arial" panose="020B0604020202020204" pitchFamily="34" charset="0"/>
                          </a:rPr>
                          <a:t>Trends</a:t>
                        </a:r>
                      </a:p>
                    </p:txBody>
                  </p:sp>
                  <p:sp>
                    <p:nvSpPr>
                      <p:cNvPr id="51" name="Rectangle 50">
                        <a:extLst>
                          <a:ext uri="{FF2B5EF4-FFF2-40B4-BE49-F238E27FC236}">
                            <a16:creationId xmlns:a16="http://schemas.microsoft.com/office/drawing/2014/main" id="{C4E5B3E5-C5EF-E3A7-4BF4-3913FFCAB1A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701066" y="4213525"/>
                        <a:ext cx="2108769" cy="2012466"/>
                      </a:xfrm>
                      <a:prstGeom prst="rect">
                        <a:avLst/>
                      </a:prstGeom>
                    </p:spPr>
                    <p:txBody>
                      <a:bodyPr wrap="square">
                        <a:spAutoFit/>
                      </a:bodyPr>
                      <a:lstStyle/>
                      <a:p>
                        <a:pPr marL="182880" lvl="0" indent="-182880" defTabSz="914400">
                          <a:buFont typeface="Arial" pitchFamily="34" charset="0"/>
                          <a:buChar char="•"/>
                          <a:defRPr/>
                        </a:pPr>
                        <a:r>
                          <a:rPr lang="en-US" sz="900" dirty="0">
                            <a:solidFill>
                              <a:schemeClr val="tx2">
                                <a:lumMod val="65000"/>
                                <a:lumOff val="35000"/>
                              </a:schemeClr>
                            </a:solidFill>
                            <a:latin typeface="Franklin Gothic Book" panose="020B0503020102020204" pitchFamily="34" charset="0"/>
                            <a:cs typeface="Arial" panose="020B0604020202020204" pitchFamily="34" charset="0"/>
                          </a:rPr>
                          <a:t>New customer acquisition plans</a:t>
                        </a:r>
                      </a:p>
                      <a:p>
                        <a:pPr marL="182880" lvl="0" indent="-182880" defTabSz="914400">
                          <a:buFont typeface="Arial" pitchFamily="34" charset="0"/>
                          <a:buChar char="•"/>
                          <a:defRPr/>
                        </a:pPr>
                        <a:r>
                          <a:rPr lang="en-US" sz="900" dirty="0">
                            <a:solidFill>
                              <a:schemeClr val="tx2">
                                <a:lumMod val="65000"/>
                                <a:lumOff val="35000"/>
                              </a:schemeClr>
                            </a:solidFill>
                            <a:latin typeface="Franklin Gothic Book" panose="020B0503020102020204" pitchFamily="34" charset="0"/>
                            <a:cs typeface="Arial" panose="020B0604020202020204" pitchFamily="34" charset="0"/>
                          </a:rPr>
                          <a:t>Potential Customer Segments</a:t>
                        </a:r>
                      </a:p>
                      <a:p>
                        <a:pPr marL="182880" lvl="0" indent="-182880" defTabSz="914400">
                          <a:buFont typeface="Arial" pitchFamily="34" charset="0"/>
                          <a:buChar char="•"/>
                          <a:defRPr/>
                        </a:pPr>
                        <a:endParaRPr lang="en-US" sz="900" dirty="0">
                          <a:solidFill>
                            <a:schemeClr val="tx2">
                              <a:lumMod val="65000"/>
                              <a:lumOff val="35000"/>
                            </a:schemeClr>
                          </a:solidFill>
                          <a:latin typeface="Franklin Gothic Book" panose="020B05030201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</p:grpSp>
              </p:grpSp>
            </p:grpSp>
          </p:grp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0626A003-6646-E604-A05A-B0B03D974B8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117430" y="3778425"/>
                <a:ext cx="0" cy="1397767"/>
              </a:xfrm>
              <a:prstGeom prst="line">
                <a:avLst/>
              </a:prstGeom>
              <a:ln>
                <a:solidFill>
                  <a:schemeClr val="bg2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A2809B28-337B-AF4F-0563-3F5F16471504}"/>
                </a:ext>
              </a:extLst>
            </p:cNvPr>
            <p:cNvCxnSpPr>
              <a:cxnSpLocks/>
            </p:cNvCxnSpPr>
            <p:nvPr/>
          </p:nvCxnSpPr>
          <p:spPr>
            <a:xfrm>
              <a:off x="5830325" y="5176192"/>
              <a:ext cx="574211" cy="0"/>
            </a:xfrm>
            <a:prstGeom prst="line">
              <a:avLst/>
            </a:prstGeom>
            <a:ln>
              <a:solidFill>
                <a:schemeClr val="bg2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0" name="TextBox 99">
            <a:extLst>
              <a:ext uri="{FF2B5EF4-FFF2-40B4-BE49-F238E27FC236}">
                <a16:creationId xmlns:a16="http://schemas.microsoft.com/office/drawing/2014/main" id="{7C9F7CD0-B3C6-19BB-A570-EA29E122737C}"/>
              </a:ext>
            </a:extLst>
          </p:cNvPr>
          <p:cNvSpPr txBox="1"/>
          <p:nvPr/>
        </p:nvSpPr>
        <p:spPr>
          <a:xfrm>
            <a:off x="6362463" y="2183078"/>
            <a:ext cx="1035861" cy="24622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r"/>
            <a:r>
              <a:rPr lang="en-US" sz="1000" b="1" dirty="0">
                <a:solidFill>
                  <a:schemeClr val="bg1"/>
                </a:solidFill>
                <a:latin typeface="Franklin Gothic Book" panose="020B0503020102020204" pitchFamily="34" charset="0"/>
              </a:rPr>
              <a:t>Market Analysis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A504E2A1-B0C0-5837-C967-68F7F613FEC0}"/>
              </a:ext>
            </a:extLst>
          </p:cNvPr>
          <p:cNvSpPr txBox="1"/>
          <p:nvPr/>
        </p:nvSpPr>
        <p:spPr>
          <a:xfrm>
            <a:off x="4326029" y="2025144"/>
            <a:ext cx="1077538" cy="553998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r"/>
            <a:r>
              <a:rPr lang="en-US" sz="1000" b="1" dirty="0">
                <a:solidFill>
                  <a:schemeClr val="bg1"/>
                </a:solidFill>
                <a:latin typeface="Franklin Gothic Book" panose="020B0503020102020204" pitchFamily="34" charset="0"/>
              </a:rPr>
              <a:t>Keppel Land’s</a:t>
            </a:r>
          </a:p>
          <a:p>
            <a:pPr algn="r"/>
            <a:r>
              <a:rPr lang="en-US" sz="1000" b="1" dirty="0">
                <a:solidFill>
                  <a:schemeClr val="bg1"/>
                </a:solidFill>
                <a:latin typeface="Franklin Gothic Book" panose="020B0503020102020204" pitchFamily="34" charset="0"/>
              </a:rPr>
              <a:t>Internal Strategy</a:t>
            </a:r>
          </a:p>
          <a:p>
            <a:pPr algn="r"/>
            <a:r>
              <a:rPr lang="en-US" sz="1000" b="1" dirty="0">
                <a:solidFill>
                  <a:schemeClr val="bg1"/>
                </a:solidFill>
                <a:latin typeface="Franklin Gothic Book" panose="020B0503020102020204" pitchFamily="34" charset="0"/>
              </a:rPr>
              <a:t> and alignment</a:t>
            </a:r>
          </a:p>
        </p:txBody>
      </p:sp>
      <p:sp>
        <p:nvSpPr>
          <p:cNvPr id="102" name="Hexagon 3">
            <a:extLst>
              <a:ext uri="{FF2B5EF4-FFF2-40B4-BE49-F238E27FC236}">
                <a16:creationId xmlns:a16="http://schemas.microsoft.com/office/drawing/2014/main" id="{70F28798-ADE3-6F1C-02DC-B9E6A5AB208F}"/>
              </a:ext>
            </a:extLst>
          </p:cNvPr>
          <p:cNvSpPr/>
          <p:nvPr/>
        </p:nvSpPr>
        <p:spPr>
          <a:xfrm>
            <a:off x="7409477" y="3081088"/>
            <a:ext cx="359497" cy="351359"/>
          </a:xfrm>
          <a:prstGeom prst="ellipse">
            <a:avLst/>
          </a:prstGeom>
          <a:solidFill>
            <a:schemeClr val="bg1">
              <a:lumMod val="75000"/>
            </a:schemeClr>
          </a:solidFill>
          <a:ln w="1905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458817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54558FC-1E1E-3445-B627-B6AE46E8890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153888"/>
          </a:xfrm>
        </p:spPr>
        <p:txBody>
          <a:bodyPr/>
          <a:lstStyle/>
          <a:p>
            <a:fld id="{B6F15528-21DE-4FAA-801E-634DDDAF4B2B}" type="slidenum">
              <a:rPr lang="en-US" sz="1000" smtClean="0">
                <a:latin typeface="Franklin Gothic Book" panose="020B0503020102020204" pitchFamily="34" charset="0"/>
              </a:rPr>
              <a:t>7</a:t>
            </a:fld>
            <a:endParaRPr lang="en-US" sz="1000" dirty="0">
              <a:latin typeface="Franklin Gothic Book" panose="020B05030201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257C12-D442-E74D-86E2-2FC4CD33E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Building the Future State  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76ED04A-D1B1-7D4F-925B-56B554ED403C}"/>
              </a:ext>
            </a:extLst>
          </p:cNvPr>
          <p:cNvSpPr/>
          <p:nvPr/>
        </p:nvSpPr>
        <p:spPr>
          <a:xfrm>
            <a:off x="537430" y="2383520"/>
            <a:ext cx="1827245" cy="1104097"/>
          </a:xfrm>
          <a:prstGeom prst="rect">
            <a:avLst/>
          </a:prstGeom>
          <a:solidFill>
            <a:schemeClr val="bg1">
              <a:lumMod val="6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1B959DC-CD3F-DA4A-BD84-A53C39E2C725}"/>
              </a:ext>
            </a:extLst>
          </p:cNvPr>
          <p:cNvSpPr txBox="1"/>
          <p:nvPr/>
        </p:nvSpPr>
        <p:spPr>
          <a:xfrm rot="16200000">
            <a:off x="-235865" y="2782885"/>
            <a:ext cx="1104098" cy="27699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Franklin Gothic Book" panose="020B0503020102020204" pitchFamily="34" charset="0"/>
              </a:rPr>
              <a:t>What You Get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DB7DF4F-323C-3049-B0AF-AF5245F82986}"/>
              </a:ext>
            </a:extLst>
          </p:cNvPr>
          <p:cNvSpPr/>
          <p:nvPr/>
        </p:nvSpPr>
        <p:spPr>
          <a:xfrm>
            <a:off x="535698" y="3635109"/>
            <a:ext cx="1827245" cy="1233845"/>
          </a:xfrm>
          <a:prstGeom prst="rect">
            <a:avLst/>
          </a:prstGeom>
          <a:solidFill>
            <a:schemeClr val="bg1">
              <a:lumMod val="6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8EA88D6-40CA-4B4E-AC3E-9B5068601B21}"/>
              </a:ext>
            </a:extLst>
          </p:cNvPr>
          <p:cNvSpPr txBox="1"/>
          <p:nvPr/>
        </p:nvSpPr>
        <p:spPr>
          <a:xfrm rot="16200000">
            <a:off x="-289892" y="4113531"/>
            <a:ext cx="1233846" cy="27699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Franklin Gothic Book" panose="020B0503020102020204" pitchFamily="34" charset="0"/>
              </a:rPr>
              <a:t>So You Can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7C9F7CD0-B3C6-19BB-A570-EA29E122737C}"/>
              </a:ext>
            </a:extLst>
          </p:cNvPr>
          <p:cNvSpPr txBox="1"/>
          <p:nvPr/>
        </p:nvSpPr>
        <p:spPr>
          <a:xfrm>
            <a:off x="6362463" y="2183078"/>
            <a:ext cx="1035861" cy="24622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r"/>
            <a:r>
              <a:rPr lang="en-US" sz="1000" b="1" dirty="0">
                <a:solidFill>
                  <a:schemeClr val="bg1"/>
                </a:solidFill>
                <a:latin typeface="Franklin Gothic Book" panose="020B0503020102020204" pitchFamily="34" charset="0"/>
              </a:rPr>
              <a:t>Market Analysis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A504E2A1-B0C0-5837-C967-68F7F613FEC0}"/>
              </a:ext>
            </a:extLst>
          </p:cNvPr>
          <p:cNvSpPr txBox="1"/>
          <p:nvPr/>
        </p:nvSpPr>
        <p:spPr>
          <a:xfrm>
            <a:off x="4326028" y="2102088"/>
            <a:ext cx="107753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r"/>
            <a:r>
              <a:rPr lang="en-US" sz="1000" b="1" dirty="0">
                <a:solidFill>
                  <a:schemeClr val="bg1"/>
                </a:solidFill>
                <a:latin typeface="Franklin Gothic Book" panose="020B0503020102020204" pitchFamily="34" charset="0"/>
              </a:rPr>
              <a:t>Internal Strategy</a:t>
            </a:r>
          </a:p>
          <a:p>
            <a:pPr algn="r"/>
            <a:r>
              <a:rPr lang="en-US" sz="1000" b="1" dirty="0">
                <a:solidFill>
                  <a:schemeClr val="bg1"/>
                </a:solidFill>
                <a:latin typeface="Franklin Gothic Book" panose="020B0503020102020204" pitchFamily="34" charset="0"/>
              </a:rPr>
              <a:t> and alignment</a:t>
            </a:r>
          </a:p>
        </p:txBody>
      </p:sp>
      <p:sp>
        <p:nvSpPr>
          <p:cNvPr id="7" name="Freeform 5">
            <a:extLst>
              <a:ext uri="{FF2B5EF4-FFF2-40B4-BE49-F238E27FC236}">
                <a16:creationId xmlns:a16="http://schemas.microsoft.com/office/drawing/2014/main" id="{2F852F9A-E5DC-52C4-77B4-779514DC60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3742" y="577400"/>
            <a:ext cx="871778" cy="868680"/>
          </a:xfrm>
          <a:custGeom>
            <a:avLst/>
            <a:gdLst>
              <a:gd name="T0" fmla="*/ 1376 w 2753"/>
              <a:gd name="T1" fmla="*/ 0 h 2752"/>
              <a:gd name="T2" fmla="*/ 1376 w 2753"/>
              <a:gd name="T3" fmla="*/ 0 h 2752"/>
              <a:gd name="T4" fmla="*/ 2752 w 2753"/>
              <a:gd name="T5" fmla="*/ 1376 h 2752"/>
              <a:gd name="T6" fmla="*/ 2752 w 2753"/>
              <a:gd name="T7" fmla="*/ 1376 h 2752"/>
              <a:gd name="T8" fmla="*/ 1376 w 2753"/>
              <a:gd name="T9" fmla="*/ 2751 h 2752"/>
              <a:gd name="T10" fmla="*/ 1376 w 2753"/>
              <a:gd name="T11" fmla="*/ 2751 h 2752"/>
              <a:gd name="T12" fmla="*/ 0 w 2753"/>
              <a:gd name="T13" fmla="*/ 1376 h 2752"/>
              <a:gd name="T14" fmla="*/ 0 w 2753"/>
              <a:gd name="T15" fmla="*/ 1376 h 2752"/>
              <a:gd name="T16" fmla="*/ 1376 w 2753"/>
              <a:gd name="T17" fmla="*/ 0 h 27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753" h="2752">
                <a:moveTo>
                  <a:pt x="1376" y="0"/>
                </a:moveTo>
                <a:lnTo>
                  <a:pt x="1376" y="0"/>
                </a:lnTo>
                <a:cubicBezTo>
                  <a:pt x="2137" y="0"/>
                  <a:pt x="2752" y="616"/>
                  <a:pt x="2752" y="1376"/>
                </a:cubicBezTo>
                <a:lnTo>
                  <a:pt x="2752" y="1376"/>
                </a:lnTo>
                <a:cubicBezTo>
                  <a:pt x="2752" y="2135"/>
                  <a:pt x="2137" y="2751"/>
                  <a:pt x="1376" y="2751"/>
                </a:cubicBezTo>
                <a:lnTo>
                  <a:pt x="1376" y="2751"/>
                </a:lnTo>
                <a:cubicBezTo>
                  <a:pt x="616" y="2751"/>
                  <a:pt x="0" y="2135"/>
                  <a:pt x="0" y="1376"/>
                </a:cubicBezTo>
                <a:lnTo>
                  <a:pt x="0" y="1376"/>
                </a:lnTo>
                <a:cubicBezTo>
                  <a:pt x="0" y="616"/>
                  <a:pt x="616" y="0"/>
                  <a:pt x="1376" y="0"/>
                </a:cubicBezTo>
              </a:path>
            </a:pathLst>
          </a:custGeom>
          <a:solidFill>
            <a:schemeClr val="bg1"/>
          </a:solidFill>
          <a:ln w="76200">
            <a:solidFill>
              <a:schemeClr val="tx1">
                <a:lumMod val="65000"/>
                <a:lumOff val="35000"/>
              </a:schemeClr>
            </a:solidFill>
          </a:ln>
          <a:effectLst/>
        </p:spPr>
        <p:txBody>
          <a:bodyPr wrap="none" anchor="ctr"/>
          <a:lstStyle/>
          <a:p>
            <a:endParaRPr lang="en-US" sz="2449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331BE3A-0FD4-49BA-B387-519DDFE1BA97}"/>
              </a:ext>
            </a:extLst>
          </p:cNvPr>
          <p:cNvSpPr txBox="1"/>
          <p:nvPr/>
        </p:nvSpPr>
        <p:spPr>
          <a:xfrm>
            <a:off x="-73113" y="1502944"/>
            <a:ext cx="2414688" cy="523220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pPr algn="ctr"/>
            <a:r>
              <a:rPr 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Franklin Gothic Book" panose="020B0503020102020204" pitchFamily="34" charset="0"/>
                <a:ea typeface="League Spartan" charset="0"/>
                <a:cs typeface="Poppins" pitchFamily="2" charset="77"/>
              </a:rPr>
              <a:t>2- Building the </a:t>
            </a:r>
          </a:p>
          <a:p>
            <a:pPr algn="ctr"/>
            <a:r>
              <a:rPr 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Franklin Gothic Book" panose="020B0503020102020204" pitchFamily="34" charset="0"/>
                <a:ea typeface="League Spartan" charset="0"/>
                <a:cs typeface="Poppins" pitchFamily="2" charset="77"/>
              </a:rPr>
              <a:t>Future State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C152BDA-6C26-F899-282B-247CBC8EF3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biLevel thresh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5235" y="761589"/>
            <a:ext cx="575592" cy="449491"/>
          </a:xfrm>
          <a:prstGeom prst="rect">
            <a:avLst/>
          </a:prstGeom>
        </p:spPr>
      </p:pic>
      <p:sp>
        <p:nvSpPr>
          <p:cNvPr id="11" name="Subtitle 2">
            <a:extLst>
              <a:ext uri="{FF2B5EF4-FFF2-40B4-BE49-F238E27FC236}">
                <a16:creationId xmlns:a16="http://schemas.microsoft.com/office/drawing/2014/main" id="{86D0AB71-D652-8671-38C5-81B618E9A9F6}"/>
              </a:ext>
            </a:extLst>
          </p:cNvPr>
          <p:cNvSpPr txBox="1">
            <a:spLocks/>
          </p:cNvSpPr>
          <p:nvPr/>
        </p:nvSpPr>
        <p:spPr>
          <a:xfrm>
            <a:off x="707614" y="2331600"/>
            <a:ext cx="1483185" cy="996427"/>
          </a:xfrm>
          <a:prstGeom prst="rect">
            <a:avLst/>
          </a:prstGeom>
        </p:spPr>
        <p:txBody>
          <a:bodyPr vert="horz" wrap="square" lIns="34290" tIns="17145" rIns="34290" bIns="17145" rtlCol="0" anchor="t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</a:pPr>
            <a:endParaRPr lang="en-US" sz="900" dirty="0">
              <a:solidFill>
                <a:schemeClr val="tx1">
                  <a:lumMod val="65000"/>
                  <a:lumOff val="35000"/>
                </a:schemeClr>
              </a:solidFill>
              <a:latin typeface="Franklin Gothic Book" panose="020B0503020102020204" pitchFamily="34" charset="0"/>
              <a:ea typeface="Lato Light" panose="020F0502020204030203" pitchFamily="34" charset="0"/>
              <a:cs typeface="Mukta ExtraLight" panose="020B0000000000000000" pitchFamily="34" charset="77"/>
            </a:endParaRPr>
          </a:p>
          <a:p>
            <a:pPr marL="171450" indent="-171450" algn="l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Franklin Gothic Book" panose="020B0503020102020204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Vision to Value Roadmap  </a:t>
            </a:r>
          </a:p>
          <a:p>
            <a:pPr marL="171450" indent="-171450" algn="l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Franklin Gothic Book" panose="020B0503020102020204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Future State Build</a:t>
            </a:r>
          </a:p>
          <a:p>
            <a:pPr marL="171450" indent="-171450" algn="l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Franklin Gothic Book" panose="020B0503020102020204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Stakeholder Engagement and Alignment 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04BAE9E9-F620-9D75-F0EC-818108E3BA20}"/>
              </a:ext>
            </a:extLst>
          </p:cNvPr>
          <p:cNvSpPr txBox="1">
            <a:spLocks/>
          </p:cNvSpPr>
          <p:nvPr/>
        </p:nvSpPr>
        <p:spPr>
          <a:xfrm>
            <a:off x="628918" y="3767862"/>
            <a:ext cx="1646083" cy="906658"/>
          </a:xfrm>
          <a:prstGeom prst="rect">
            <a:avLst/>
          </a:prstGeom>
        </p:spPr>
        <p:txBody>
          <a:bodyPr vert="horz" wrap="square" lIns="34290" tIns="17145" rIns="34290" bIns="17145" rtlCol="0" anchor="t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algn="l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Franklin Gothic Book" panose="020B0503020102020204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Have a clear and transparent roadmap </a:t>
            </a:r>
          </a:p>
          <a:p>
            <a:pPr marL="171450" indent="-171450" algn="l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Franklin Gothic Book" panose="020B0503020102020204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‘Critical Crowd’ Engagement</a:t>
            </a:r>
          </a:p>
          <a:p>
            <a:pPr marL="171450" indent="-171450" algn="l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Franklin Gothic Book" panose="020B0503020102020204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Customer-centric ‘future proofing’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87DF93F8-95B6-DD9E-A0EB-189252125893}"/>
              </a:ext>
            </a:extLst>
          </p:cNvPr>
          <p:cNvGrpSpPr/>
          <p:nvPr/>
        </p:nvGrpSpPr>
        <p:grpSpPr>
          <a:xfrm>
            <a:off x="2650502" y="882217"/>
            <a:ext cx="6070790" cy="3659559"/>
            <a:chOff x="391984" y="959343"/>
            <a:chExt cx="11507127" cy="5636720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889D0526-1B83-0DBF-80B9-A6AA24FC75B7}"/>
                </a:ext>
              </a:extLst>
            </p:cNvPr>
            <p:cNvGrpSpPr/>
            <p:nvPr/>
          </p:nvGrpSpPr>
          <p:grpSpPr>
            <a:xfrm>
              <a:off x="4853304" y="2149192"/>
              <a:ext cx="4828164" cy="3608701"/>
              <a:chOff x="4853304" y="2149192"/>
              <a:chExt cx="4828164" cy="3608701"/>
            </a:xfrm>
          </p:grpSpPr>
          <p:grpSp>
            <p:nvGrpSpPr>
              <p:cNvPr id="254" name="Group 253">
                <a:extLst>
                  <a:ext uri="{FF2B5EF4-FFF2-40B4-BE49-F238E27FC236}">
                    <a16:creationId xmlns:a16="http://schemas.microsoft.com/office/drawing/2014/main" id="{88E5A0EC-3AD6-3BC4-E826-917E8D1BA87E}"/>
                  </a:ext>
                </a:extLst>
              </p:cNvPr>
              <p:cNvGrpSpPr/>
              <p:nvPr/>
            </p:nvGrpSpPr>
            <p:grpSpPr>
              <a:xfrm>
                <a:off x="9065038" y="2149192"/>
                <a:ext cx="616430" cy="3608701"/>
                <a:chOff x="9065038" y="2149192"/>
                <a:chExt cx="616430" cy="3608701"/>
              </a:xfrm>
            </p:grpSpPr>
            <p:grpSp>
              <p:nvGrpSpPr>
                <p:cNvPr id="263" name="Group 262">
                  <a:extLst>
                    <a:ext uri="{FF2B5EF4-FFF2-40B4-BE49-F238E27FC236}">
                      <a16:creationId xmlns:a16="http://schemas.microsoft.com/office/drawing/2014/main" id="{26306C17-58C9-F7C9-DDAE-7765496A06D2}"/>
                    </a:ext>
                  </a:extLst>
                </p:cNvPr>
                <p:cNvGrpSpPr/>
                <p:nvPr/>
              </p:nvGrpSpPr>
              <p:grpSpPr>
                <a:xfrm>
                  <a:off x="9065038" y="2149192"/>
                  <a:ext cx="602737" cy="689770"/>
                  <a:chOff x="9062822" y="2110601"/>
                  <a:chExt cx="652675" cy="816900"/>
                </a:xfrm>
              </p:grpSpPr>
              <p:sp>
                <p:nvSpPr>
                  <p:cNvPr id="277" name="Freeform: Shape 235">
                    <a:extLst>
                      <a:ext uri="{FF2B5EF4-FFF2-40B4-BE49-F238E27FC236}">
                        <a16:creationId xmlns:a16="http://schemas.microsoft.com/office/drawing/2014/main" id="{0CEA3070-10D8-CF44-D341-52F4CB93A8A9}"/>
                      </a:ext>
                    </a:extLst>
                  </p:cNvPr>
                  <p:cNvSpPr/>
                  <p:nvPr/>
                </p:nvSpPr>
                <p:spPr>
                  <a:xfrm>
                    <a:off x="9062822" y="2360138"/>
                    <a:ext cx="192241" cy="0"/>
                  </a:xfrm>
                  <a:custGeom>
                    <a:avLst/>
                    <a:gdLst>
                      <a:gd name="connsiteX0" fmla="*/ 0 w 264318"/>
                      <a:gd name="connsiteY0" fmla="*/ 0 h 14287"/>
                      <a:gd name="connsiteX1" fmla="*/ 264318 w 264318"/>
                      <a:gd name="connsiteY1" fmla="*/ 0 h 14287"/>
                      <a:gd name="connsiteX2" fmla="*/ 264318 w 264318"/>
                      <a:gd name="connsiteY2" fmla="*/ 14287 h 14287"/>
                      <a:gd name="connsiteX0" fmla="*/ 0 w 264318"/>
                      <a:gd name="connsiteY0" fmla="*/ 0 h 0"/>
                      <a:gd name="connsiteX1" fmla="*/ 264318 w 264318"/>
                      <a:gd name="connsiteY1" fmla="*/ 0 h 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264318">
                        <a:moveTo>
                          <a:pt x="0" y="0"/>
                        </a:moveTo>
                        <a:lnTo>
                          <a:pt x="264318" y="0"/>
                        </a:lnTo>
                      </a:path>
                    </a:pathLst>
                  </a:custGeom>
                  <a:noFill/>
                  <a:ln w="6350">
                    <a:solidFill>
                      <a:schemeClr val="bg2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000" dirty="0">
                      <a:latin typeface="Franklin Gothic Book" panose="020B0503020102020204" pitchFamily="34" charset="0"/>
                    </a:endParaRPr>
                  </a:p>
                </p:txBody>
              </p:sp>
              <p:sp>
                <p:nvSpPr>
                  <p:cNvPr id="278" name="Freeform: Shape 232">
                    <a:extLst>
                      <a:ext uri="{FF2B5EF4-FFF2-40B4-BE49-F238E27FC236}">
                        <a16:creationId xmlns:a16="http://schemas.microsoft.com/office/drawing/2014/main" id="{92664CF7-C200-4127-7DD3-312B4F4FB421}"/>
                      </a:ext>
                    </a:extLst>
                  </p:cNvPr>
                  <p:cNvSpPr/>
                  <p:nvPr/>
                </p:nvSpPr>
                <p:spPr>
                  <a:xfrm>
                    <a:off x="9251153" y="2110601"/>
                    <a:ext cx="464344" cy="816900"/>
                  </a:xfrm>
                  <a:custGeom>
                    <a:avLst/>
                    <a:gdLst>
                      <a:gd name="connsiteX0" fmla="*/ 495300 w 501194"/>
                      <a:gd name="connsiteY0" fmla="*/ 0 h 504825"/>
                      <a:gd name="connsiteX1" fmla="*/ 0 w 501194"/>
                      <a:gd name="connsiteY1" fmla="*/ 0 h 504825"/>
                      <a:gd name="connsiteX2" fmla="*/ 0 w 501194"/>
                      <a:gd name="connsiteY2" fmla="*/ 504825 h 504825"/>
                      <a:gd name="connsiteX3" fmla="*/ 457200 w 501194"/>
                      <a:gd name="connsiteY3" fmla="*/ 504825 h 504825"/>
                      <a:gd name="connsiteX4" fmla="*/ 457200 w 501194"/>
                      <a:gd name="connsiteY4" fmla="*/ 476250 h 504825"/>
                      <a:gd name="connsiteX0" fmla="*/ 495300 w 495300"/>
                      <a:gd name="connsiteY0" fmla="*/ 0 h 504825"/>
                      <a:gd name="connsiteX1" fmla="*/ 0 w 495300"/>
                      <a:gd name="connsiteY1" fmla="*/ 0 h 504825"/>
                      <a:gd name="connsiteX2" fmla="*/ 0 w 495300"/>
                      <a:gd name="connsiteY2" fmla="*/ 504825 h 504825"/>
                      <a:gd name="connsiteX3" fmla="*/ 457200 w 495300"/>
                      <a:gd name="connsiteY3" fmla="*/ 504825 h 504825"/>
                      <a:gd name="connsiteX0" fmla="*/ 464343 w 464343"/>
                      <a:gd name="connsiteY0" fmla="*/ 0 h 504825"/>
                      <a:gd name="connsiteX1" fmla="*/ 0 w 464343"/>
                      <a:gd name="connsiteY1" fmla="*/ 0 h 504825"/>
                      <a:gd name="connsiteX2" fmla="*/ 0 w 464343"/>
                      <a:gd name="connsiteY2" fmla="*/ 504825 h 504825"/>
                      <a:gd name="connsiteX3" fmla="*/ 457200 w 464343"/>
                      <a:gd name="connsiteY3" fmla="*/ 504825 h 504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464343" h="504825">
                        <a:moveTo>
                          <a:pt x="464343" y="0"/>
                        </a:moveTo>
                        <a:lnTo>
                          <a:pt x="0" y="0"/>
                        </a:lnTo>
                        <a:lnTo>
                          <a:pt x="0" y="504825"/>
                        </a:lnTo>
                        <a:lnTo>
                          <a:pt x="457200" y="504825"/>
                        </a:lnTo>
                      </a:path>
                    </a:pathLst>
                  </a:custGeom>
                  <a:noFill/>
                  <a:ln w="6350">
                    <a:solidFill>
                      <a:schemeClr val="tx1">
                        <a:lumMod val="65000"/>
                        <a:lumOff val="35000"/>
                      </a:schemeClr>
                    </a:solidFill>
                    <a:headEnd type="triangle" w="sm" len="sm"/>
                    <a:tailEnd type="triangle"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000" dirty="0">
                      <a:latin typeface="Franklin Gothic Book" panose="020B0503020102020204" pitchFamily="34" charset="0"/>
                    </a:endParaRPr>
                  </a:p>
                </p:txBody>
              </p:sp>
            </p:grpSp>
            <p:grpSp>
              <p:nvGrpSpPr>
                <p:cNvPr id="264" name="Group 263">
                  <a:extLst>
                    <a:ext uri="{FF2B5EF4-FFF2-40B4-BE49-F238E27FC236}">
                      <a16:creationId xmlns:a16="http://schemas.microsoft.com/office/drawing/2014/main" id="{11EB8D4A-1989-2358-4F67-52BFF3A592E0}"/>
                    </a:ext>
                  </a:extLst>
                </p:cNvPr>
                <p:cNvGrpSpPr/>
                <p:nvPr/>
              </p:nvGrpSpPr>
              <p:grpSpPr>
                <a:xfrm>
                  <a:off x="9072226" y="3005496"/>
                  <a:ext cx="609242" cy="2752397"/>
                  <a:chOff x="9072226" y="3005496"/>
                  <a:chExt cx="609242" cy="2752397"/>
                </a:xfrm>
              </p:grpSpPr>
              <p:grpSp>
                <p:nvGrpSpPr>
                  <p:cNvPr id="265" name="Group 264">
                    <a:extLst>
                      <a:ext uri="{FF2B5EF4-FFF2-40B4-BE49-F238E27FC236}">
                        <a16:creationId xmlns:a16="http://schemas.microsoft.com/office/drawing/2014/main" id="{D19ACAF8-2771-2B13-C823-E116CB2F10A7}"/>
                      </a:ext>
                    </a:extLst>
                  </p:cNvPr>
                  <p:cNvGrpSpPr/>
                  <p:nvPr/>
                </p:nvGrpSpPr>
                <p:grpSpPr>
                  <a:xfrm>
                    <a:off x="9072226" y="3005496"/>
                    <a:ext cx="602737" cy="620668"/>
                    <a:chOff x="9072226" y="3005496"/>
                    <a:chExt cx="602737" cy="620668"/>
                  </a:xfrm>
                </p:grpSpPr>
                <p:sp>
                  <p:nvSpPr>
                    <p:cNvPr id="275" name="Freeform: Shape 217">
                      <a:extLst>
                        <a:ext uri="{FF2B5EF4-FFF2-40B4-BE49-F238E27FC236}">
                          <a16:creationId xmlns:a16="http://schemas.microsoft.com/office/drawing/2014/main" id="{E352893D-A5ED-C2E5-F469-1472B65F407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072226" y="3159381"/>
                      <a:ext cx="177532" cy="0"/>
                    </a:xfrm>
                    <a:custGeom>
                      <a:avLst/>
                      <a:gdLst>
                        <a:gd name="connsiteX0" fmla="*/ 0 w 264318"/>
                        <a:gd name="connsiteY0" fmla="*/ 0 h 14287"/>
                        <a:gd name="connsiteX1" fmla="*/ 264318 w 264318"/>
                        <a:gd name="connsiteY1" fmla="*/ 0 h 14287"/>
                        <a:gd name="connsiteX2" fmla="*/ 264318 w 264318"/>
                        <a:gd name="connsiteY2" fmla="*/ 14287 h 14287"/>
                        <a:gd name="connsiteX0" fmla="*/ 0 w 264318"/>
                        <a:gd name="connsiteY0" fmla="*/ 0 h 0"/>
                        <a:gd name="connsiteX1" fmla="*/ 264318 w 264318"/>
                        <a:gd name="connsiteY1" fmla="*/ 0 h 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</a:cxnLst>
                      <a:rect l="l" t="t" r="r" b="b"/>
                      <a:pathLst>
                        <a:path w="264318">
                          <a:moveTo>
                            <a:pt x="0" y="0"/>
                          </a:moveTo>
                          <a:lnTo>
                            <a:pt x="264318" y="0"/>
                          </a:lnTo>
                        </a:path>
                      </a:pathLst>
                    </a:custGeom>
                    <a:noFill/>
                    <a:ln w="6350">
                      <a:solidFill>
                        <a:schemeClr val="bg2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000" dirty="0">
                        <a:latin typeface="Franklin Gothic Book" panose="020B0503020102020204" pitchFamily="34" charset="0"/>
                      </a:endParaRPr>
                    </a:p>
                  </p:txBody>
                </p:sp>
                <p:sp>
                  <p:nvSpPr>
                    <p:cNvPr id="276" name="Freeform: Shape 219">
                      <a:extLst>
                        <a:ext uri="{FF2B5EF4-FFF2-40B4-BE49-F238E27FC236}">
                          <a16:creationId xmlns:a16="http://schemas.microsoft.com/office/drawing/2014/main" id="{F6175C3A-1939-9C11-2AC2-E399CD20507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246147" y="3005496"/>
                      <a:ext cx="428816" cy="620668"/>
                    </a:xfrm>
                    <a:custGeom>
                      <a:avLst/>
                      <a:gdLst>
                        <a:gd name="connsiteX0" fmla="*/ 495300 w 501194"/>
                        <a:gd name="connsiteY0" fmla="*/ 0 h 504825"/>
                        <a:gd name="connsiteX1" fmla="*/ 0 w 501194"/>
                        <a:gd name="connsiteY1" fmla="*/ 0 h 504825"/>
                        <a:gd name="connsiteX2" fmla="*/ 0 w 501194"/>
                        <a:gd name="connsiteY2" fmla="*/ 504825 h 504825"/>
                        <a:gd name="connsiteX3" fmla="*/ 457200 w 501194"/>
                        <a:gd name="connsiteY3" fmla="*/ 504825 h 504825"/>
                        <a:gd name="connsiteX4" fmla="*/ 457200 w 501194"/>
                        <a:gd name="connsiteY4" fmla="*/ 476250 h 504825"/>
                        <a:gd name="connsiteX0" fmla="*/ 495300 w 495300"/>
                        <a:gd name="connsiteY0" fmla="*/ 0 h 504825"/>
                        <a:gd name="connsiteX1" fmla="*/ 0 w 495300"/>
                        <a:gd name="connsiteY1" fmla="*/ 0 h 504825"/>
                        <a:gd name="connsiteX2" fmla="*/ 0 w 495300"/>
                        <a:gd name="connsiteY2" fmla="*/ 504825 h 504825"/>
                        <a:gd name="connsiteX3" fmla="*/ 457200 w 495300"/>
                        <a:gd name="connsiteY3" fmla="*/ 504825 h 504825"/>
                        <a:gd name="connsiteX0" fmla="*/ 464343 w 464343"/>
                        <a:gd name="connsiteY0" fmla="*/ 0 h 504825"/>
                        <a:gd name="connsiteX1" fmla="*/ 0 w 464343"/>
                        <a:gd name="connsiteY1" fmla="*/ 0 h 504825"/>
                        <a:gd name="connsiteX2" fmla="*/ 0 w 464343"/>
                        <a:gd name="connsiteY2" fmla="*/ 504825 h 504825"/>
                        <a:gd name="connsiteX3" fmla="*/ 457200 w 464343"/>
                        <a:gd name="connsiteY3" fmla="*/ 504825 h 50482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464343" h="504825">
                          <a:moveTo>
                            <a:pt x="464343" y="0"/>
                          </a:moveTo>
                          <a:lnTo>
                            <a:pt x="0" y="0"/>
                          </a:lnTo>
                          <a:lnTo>
                            <a:pt x="0" y="504825"/>
                          </a:lnTo>
                          <a:lnTo>
                            <a:pt x="457200" y="504825"/>
                          </a:lnTo>
                        </a:path>
                      </a:pathLst>
                    </a:custGeom>
                    <a:noFill/>
                    <a:ln w="635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headEnd type="triangle" w="sm" len="sm"/>
                      <a:tailEnd type="triangle" w="sm" len="sm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000" dirty="0">
                        <a:latin typeface="Franklin Gothic Book" panose="020B0503020102020204" pitchFamily="34" charset="0"/>
                      </a:endParaRPr>
                    </a:p>
                  </p:txBody>
                </p:sp>
              </p:grpSp>
              <p:grpSp>
                <p:nvGrpSpPr>
                  <p:cNvPr id="266" name="Group 265">
                    <a:extLst>
                      <a:ext uri="{FF2B5EF4-FFF2-40B4-BE49-F238E27FC236}">
                        <a16:creationId xmlns:a16="http://schemas.microsoft.com/office/drawing/2014/main" id="{7AF0CA9D-07D6-9B91-4988-45D6D670AA12}"/>
                      </a:ext>
                    </a:extLst>
                  </p:cNvPr>
                  <p:cNvGrpSpPr/>
                  <p:nvPr/>
                </p:nvGrpSpPr>
                <p:grpSpPr>
                  <a:xfrm>
                    <a:off x="9073887" y="3829581"/>
                    <a:ext cx="596843" cy="620668"/>
                    <a:chOff x="9072226" y="3005496"/>
                    <a:chExt cx="602737" cy="620668"/>
                  </a:xfrm>
                </p:grpSpPr>
                <p:sp>
                  <p:nvSpPr>
                    <p:cNvPr id="273" name="Freeform: Shape 222">
                      <a:extLst>
                        <a:ext uri="{FF2B5EF4-FFF2-40B4-BE49-F238E27FC236}">
                          <a16:creationId xmlns:a16="http://schemas.microsoft.com/office/drawing/2014/main" id="{1AE51F0E-F16B-936A-637A-88C975B5603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072226" y="3134782"/>
                      <a:ext cx="177532" cy="0"/>
                    </a:xfrm>
                    <a:custGeom>
                      <a:avLst/>
                      <a:gdLst>
                        <a:gd name="connsiteX0" fmla="*/ 0 w 264318"/>
                        <a:gd name="connsiteY0" fmla="*/ 0 h 14287"/>
                        <a:gd name="connsiteX1" fmla="*/ 264318 w 264318"/>
                        <a:gd name="connsiteY1" fmla="*/ 0 h 14287"/>
                        <a:gd name="connsiteX2" fmla="*/ 264318 w 264318"/>
                        <a:gd name="connsiteY2" fmla="*/ 14287 h 14287"/>
                        <a:gd name="connsiteX0" fmla="*/ 0 w 264318"/>
                        <a:gd name="connsiteY0" fmla="*/ 0 h 0"/>
                        <a:gd name="connsiteX1" fmla="*/ 264318 w 264318"/>
                        <a:gd name="connsiteY1" fmla="*/ 0 h 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</a:cxnLst>
                      <a:rect l="l" t="t" r="r" b="b"/>
                      <a:pathLst>
                        <a:path w="264318">
                          <a:moveTo>
                            <a:pt x="0" y="0"/>
                          </a:moveTo>
                          <a:lnTo>
                            <a:pt x="264318" y="0"/>
                          </a:lnTo>
                        </a:path>
                      </a:pathLst>
                    </a:custGeom>
                    <a:noFill/>
                    <a:ln w="6350">
                      <a:solidFill>
                        <a:schemeClr val="bg2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000" dirty="0">
                        <a:latin typeface="Franklin Gothic Book" panose="020B0503020102020204" pitchFamily="34" charset="0"/>
                      </a:endParaRPr>
                    </a:p>
                  </p:txBody>
                </p:sp>
                <p:sp>
                  <p:nvSpPr>
                    <p:cNvPr id="274" name="Freeform: Shape 243">
                      <a:extLst>
                        <a:ext uri="{FF2B5EF4-FFF2-40B4-BE49-F238E27FC236}">
                          <a16:creationId xmlns:a16="http://schemas.microsoft.com/office/drawing/2014/main" id="{B8F25BEB-8990-F68C-0309-68D58AB4FB8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246147" y="3005496"/>
                      <a:ext cx="428816" cy="620668"/>
                    </a:xfrm>
                    <a:custGeom>
                      <a:avLst/>
                      <a:gdLst>
                        <a:gd name="connsiteX0" fmla="*/ 495300 w 501194"/>
                        <a:gd name="connsiteY0" fmla="*/ 0 h 504825"/>
                        <a:gd name="connsiteX1" fmla="*/ 0 w 501194"/>
                        <a:gd name="connsiteY1" fmla="*/ 0 h 504825"/>
                        <a:gd name="connsiteX2" fmla="*/ 0 w 501194"/>
                        <a:gd name="connsiteY2" fmla="*/ 504825 h 504825"/>
                        <a:gd name="connsiteX3" fmla="*/ 457200 w 501194"/>
                        <a:gd name="connsiteY3" fmla="*/ 504825 h 504825"/>
                        <a:gd name="connsiteX4" fmla="*/ 457200 w 501194"/>
                        <a:gd name="connsiteY4" fmla="*/ 476250 h 504825"/>
                        <a:gd name="connsiteX0" fmla="*/ 495300 w 495300"/>
                        <a:gd name="connsiteY0" fmla="*/ 0 h 504825"/>
                        <a:gd name="connsiteX1" fmla="*/ 0 w 495300"/>
                        <a:gd name="connsiteY1" fmla="*/ 0 h 504825"/>
                        <a:gd name="connsiteX2" fmla="*/ 0 w 495300"/>
                        <a:gd name="connsiteY2" fmla="*/ 504825 h 504825"/>
                        <a:gd name="connsiteX3" fmla="*/ 457200 w 495300"/>
                        <a:gd name="connsiteY3" fmla="*/ 504825 h 504825"/>
                        <a:gd name="connsiteX0" fmla="*/ 464343 w 464343"/>
                        <a:gd name="connsiteY0" fmla="*/ 0 h 504825"/>
                        <a:gd name="connsiteX1" fmla="*/ 0 w 464343"/>
                        <a:gd name="connsiteY1" fmla="*/ 0 h 504825"/>
                        <a:gd name="connsiteX2" fmla="*/ 0 w 464343"/>
                        <a:gd name="connsiteY2" fmla="*/ 504825 h 504825"/>
                        <a:gd name="connsiteX3" fmla="*/ 457200 w 464343"/>
                        <a:gd name="connsiteY3" fmla="*/ 504825 h 50482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464343" h="504825">
                          <a:moveTo>
                            <a:pt x="464343" y="0"/>
                          </a:moveTo>
                          <a:lnTo>
                            <a:pt x="0" y="0"/>
                          </a:lnTo>
                          <a:lnTo>
                            <a:pt x="0" y="504825"/>
                          </a:lnTo>
                          <a:lnTo>
                            <a:pt x="457200" y="504825"/>
                          </a:lnTo>
                        </a:path>
                      </a:pathLst>
                    </a:custGeom>
                    <a:noFill/>
                    <a:ln w="635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headEnd type="triangle" w="sm" len="sm"/>
                      <a:tailEnd type="triangle" w="sm" len="sm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000" dirty="0">
                        <a:latin typeface="Franklin Gothic Book" panose="020B0503020102020204" pitchFamily="34" charset="0"/>
                      </a:endParaRPr>
                    </a:p>
                  </p:txBody>
                </p:sp>
              </p:grpSp>
              <p:grpSp>
                <p:nvGrpSpPr>
                  <p:cNvPr id="267" name="Group 266">
                    <a:extLst>
                      <a:ext uri="{FF2B5EF4-FFF2-40B4-BE49-F238E27FC236}">
                        <a16:creationId xmlns:a16="http://schemas.microsoft.com/office/drawing/2014/main" id="{3B6B7040-4D22-8E05-AF1E-D02C1BCD0145}"/>
                      </a:ext>
                    </a:extLst>
                  </p:cNvPr>
                  <p:cNvGrpSpPr/>
                  <p:nvPr/>
                </p:nvGrpSpPr>
                <p:grpSpPr>
                  <a:xfrm>
                    <a:off x="9082244" y="4651608"/>
                    <a:ext cx="599224" cy="532181"/>
                    <a:chOff x="9069821" y="3032939"/>
                    <a:chExt cx="605142" cy="532181"/>
                  </a:xfrm>
                </p:grpSpPr>
                <p:sp>
                  <p:nvSpPr>
                    <p:cNvPr id="271" name="Freeform: Shape 274">
                      <a:extLst>
                        <a:ext uri="{FF2B5EF4-FFF2-40B4-BE49-F238E27FC236}">
                          <a16:creationId xmlns:a16="http://schemas.microsoft.com/office/drawing/2014/main" id="{C292CDC1-3D84-3A69-E317-9428535053F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069821" y="3139684"/>
                      <a:ext cx="177532" cy="0"/>
                    </a:xfrm>
                    <a:custGeom>
                      <a:avLst/>
                      <a:gdLst>
                        <a:gd name="connsiteX0" fmla="*/ 0 w 264318"/>
                        <a:gd name="connsiteY0" fmla="*/ 0 h 14287"/>
                        <a:gd name="connsiteX1" fmla="*/ 264318 w 264318"/>
                        <a:gd name="connsiteY1" fmla="*/ 0 h 14287"/>
                        <a:gd name="connsiteX2" fmla="*/ 264318 w 264318"/>
                        <a:gd name="connsiteY2" fmla="*/ 14287 h 14287"/>
                        <a:gd name="connsiteX0" fmla="*/ 0 w 264318"/>
                        <a:gd name="connsiteY0" fmla="*/ 0 h 0"/>
                        <a:gd name="connsiteX1" fmla="*/ 264318 w 264318"/>
                        <a:gd name="connsiteY1" fmla="*/ 0 h 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</a:cxnLst>
                      <a:rect l="l" t="t" r="r" b="b"/>
                      <a:pathLst>
                        <a:path w="264318">
                          <a:moveTo>
                            <a:pt x="0" y="0"/>
                          </a:moveTo>
                          <a:lnTo>
                            <a:pt x="264318" y="0"/>
                          </a:lnTo>
                        </a:path>
                      </a:pathLst>
                    </a:custGeom>
                    <a:noFill/>
                    <a:ln w="6350">
                      <a:solidFill>
                        <a:schemeClr val="bg2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000" dirty="0">
                        <a:latin typeface="Franklin Gothic Book" panose="020B0503020102020204" pitchFamily="34" charset="0"/>
                      </a:endParaRPr>
                    </a:p>
                  </p:txBody>
                </p:sp>
                <p:sp>
                  <p:nvSpPr>
                    <p:cNvPr id="272" name="Freeform: Shape 281">
                      <a:extLst>
                        <a:ext uri="{FF2B5EF4-FFF2-40B4-BE49-F238E27FC236}">
                          <a16:creationId xmlns:a16="http://schemas.microsoft.com/office/drawing/2014/main" id="{CE376182-ED38-B6C6-9886-3A64243CD13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246147" y="3032939"/>
                      <a:ext cx="428816" cy="532181"/>
                    </a:xfrm>
                    <a:custGeom>
                      <a:avLst/>
                      <a:gdLst>
                        <a:gd name="connsiteX0" fmla="*/ 495300 w 501194"/>
                        <a:gd name="connsiteY0" fmla="*/ 0 h 504825"/>
                        <a:gd name="connsiteX1" fmla="*/ 0 w 501194"/>
                        <a:gd name="connsiteY1" fmla="*/ 0 h 504825"/>
                        <a:gd name="connsiteX2" fmla="*/ 0 w 501194"/>
                        <a:gd name="connsiteY2" fmla="*/ 504825 h 504825"/>
                        <a:gd name="connsiteX3" fmla="*/ 457200 w 501194"/>
                        <a:gd name="connsiteY3" fmla="*/ 504825 h 504825"/>
                        <a:gd name="connsiteX4" fmla="*/ 457200 w 501194"/>
                        <a:gd name="connsiteY4" fmla="*/ 476250 h 504825"/>
                        <a:gd name="connsiteX0" fmla="*/ 495300 w 495300"/>
                        <a:gd name="connsiteY0" fmla="*/ 0 h 504825"/>
                        <a:gd name="connsiteX1" fmla="*/ 0 w 495300"/>
                        <a:gd name="connsiteY1" fmla="*/ 0 h 504825"/>
                        <a:gd name="connsiteX2" fmla="*/ 0 w 495300"/>
                        <a:gd name="connsiteY2" fmla="*/ 504825 h 504825"/>
                        <a:gd name="connsiteX3" fmla="*/ 457200 w 495300"/>
                        <a:gd name="connsiteY3" fmla="*/ 504825 h 504825"/>
                        <a:gd name="connsiteX0" fmla="*/ 464343 w 464343"/>
                        <a:gd name="connsiteY0" fmla="*/ 0 h 504825"/>
                        <a:gd name="connsiteX1" fmla="*/ 0 w 464343"/>
                        <a:gd name="connsiteY1" fmla="*/ 0 h 504825"/>
                        <a:gd name="connsiteX2" fmla="*/ 0 w 464343"/>
                        <a:gd name="connsiteY2" fmla="*/ 504825 h 504825"/>
                        <a:gd name="connsiteX3" fmla="*/ 457200 w 464343"/>
                        <a:gd name="connsiteY3" fmla="*/ 504825 h 50482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464343" h="504825">
                          <a:moveTo>
                            <a:pt x="464343" y="0"/>
                          </a:moveTo>
                          <a:lnTo>
                            <a:pt x="0" y="0"/>
                          </a:lnTo>
                          <a:lnTo>
                            <a:pt x="0" y="504825"/>
                          </a:lnTo>
                          <a:lnTo>
                            <a:pt x="457200" y="504825"/>
                          </a:lnTo>
                        </a:path>
                      </a:pathLst>
                    </a:custGeom>
                    <a:noFill/>
                    <a:ln w="635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headEnd type="triangle" w="sm" len="sm"/>
                      <a:tailEnd type="triangle" w="sm" len="sm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000" dirty="0">
                        <a:latin typeface="Franklin Gothic Book" panose="020B0503020102020204" pitchFamily="34" charset="0"/>
                      </a:endParaRPr>
                    </a:p>
                  </p:txBody>
                </p:sp>
              </p:grpSp>
              <p:grpSp>
                <p:nvGrpSpPr>
                  <p:cNvPr id="268" name="Group 267">
                    <a:extLst>
                      <a:ext uri="{FF2B5EF4-FFF2-40B4-BE49-F238E27FC236}">
                        <a16:creationId xmlns:a16="http://schemas.microsoft.com/office/drawing/2014/main" id="{CF1CD564-F399-6880-351A-591F03CD8237}"/>
                      </a:ext>
                    </a:extLst>
                  </p:cNvPr>
                  <p:cNvGrpSpPr/>
                  <p:nvPr/>
                </p:nvGrpSpPr>
                <p:grpSpPr>
                  <a:xfrm>
                    <a:off x="9081408" y="5288762"/>
                    <a:ext cx="599224" cy="469131"/>
                    <a:chOff x="9069821" y="2994897"/>
                    <a:chExt cx="605142" cy="469131"/>
                  </a:xfrm>
                </p:grpSpPr>
                <p:sp>
                  <p:nvSpPr>
                    <p:cNvPr id="269" name="Freeform: Shape 283">
                      <a:extLst>
                        <a:ext uri="{FF2B5EF4-FFF2-40B4-BE49-F238E27FC236}">
                          <a16:creationId xmlns:a16="http://schemas.microsoft.com/office/drawing/2014/main" id="{EB90C221-CDC3-C83F-B11C-4D772272BA5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069821" y="3263972"/>
                      <a:ext cx="177532" cy="0"/>
                    </a:xfrm>
                    <a:custGeom>
                      <a:avLst/>
                      <a:gdLst>
                        <a:gd name="connsiteX0" fmla="*/ 0 w 264318"/>
                        <a:gd name="connsiteY0" fmla="*/ 0 h 14287"/>
                        <a:gd name="connsiteX1" fmla="*/ 264318 w 264318"/>
                        <a:gd name="connsiteY1" fmla="*/ 0 h 14287"/>
                        <a:gd name="connsiteX2" fmla="*/ 264318 w 264318"/>
                        <a:gd name="connsiteY2" fmla="*/ 14287 h 14287"/>
                        <a:gd name="connsiteX0" fmla="*/ 0 w 264318"/>
                        <a:gd name="connsiteY0" fmla="*/ 0 h 0"/>
                        <a:gd name="connsiteX1" fmla="*/ 264318 w 264318"/>
                        <a:gd name="connsiteY1" fmla="*/ 0 h 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</a:cxnLst>
                      <a:rect l="l" t="t" r="r" b="b"/>
                      <a:pathLst>
                        <a:path w="264318">
                          <a:moveTo>
                            <a:pt x="0" y="0"/>
                          </a:moveTo>
                          <a:lnTo>
                            <a:pt x="264318" y="0"/>
                          </a:lnTo>
                        </a:path>
                      </a:pathLst>
                    </a:custGeom>
                    <a:noFill/>
                    <a:ln w="6350">
                      <a:solidFill>
                        <a:schemeClr val="bg2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000" dirty="0">
                        <a:latin typeface="Franklin Gothic Book" panose="020B0503020102020204" pitchFamily="34" charset="0"/>
                      </a:endParaRPr>
                    </a:p>
                  </p:txBody>
                </p:sp>
                <p:sp>
                  <p:nvSpPr>
                    <p:cNvPr id="270" name="Freeform: Shape 284">
                      <a:extLst>
                        <a:ext uri="{FF2B5EF4-FFF2-40B4-BE49-F238E27FC236}">
                          <a16:creationId xmlns:a16="http://schemas.microsoft.com/office/drawing/2014/main" id="{4D89D5FF-EF4F-86CA-D27A-D6AC9A3364F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246147" y="2994897"/>
                      <a:ext cx="428816" cy="469131"/>
                    </a:xfrm>
                    <a:custGeom>
                      <a:avLst/>
                      <a:gdLst>
                        <a:gd name="connsiteX0" fmla="*/ 495300 w 501194"/>
                        <a:gd name="connsiteY0" fmla="*/ 0 h 504825"/>
                        <a:gd name="connsiteX1" fmla="*/ 0 w 501194"/>
                        <a:gd name="connsiteY1" fmla="*/ 0 h 504825"/>
                        <a:gd name="connsiteX2" fmla="*/ 0 w 501194"/>
                        <a:gd name="connsiteY2" fmla="*/ 504825 h 504825"/>
                        <a:gd name="connsiteX3" fmla="*/ 457200 w 501194"/>
                        <a:gd name="connsiteY3" fmla="*/ 504825 h 504825"/>
                        <a:gd name="connsiteX4" fmla="*/ 457200 w 501194"/>
                        <a:gd name="connsiteY4" fmla="*/ 476250 h 504825"/>
                        <a:gd name="connsiteX0" fmla="*/ 495300 w 495300"/>
                        <a:gd name="connsiteY0" fmla="*/ 0 h 504825"/>
                        <a:gd name="connsiteX1" fmla="*/ 0 w 495300"/>
                        <a:gd name="connsiteY1" fmla="*/ 0 h 504825"/>
                        <a:gd name="connsiteX2" fmla="*/ 0 w 495300"/>
                        <a:gd name="connsiteY2" fmla="*/ 504825 h 504825"/>
                        <a:gd name="connsiteX3" fmla="*/ 457200 w 495300"/>
                        <a:gd name="connsiteY3" fmla="*/ 504825 h 504825"/>
                        <a:gd name="connsiteX0" fmla="*/ 464343 w 464343"/>
                        <a:gd name="connsiteY0" fmla="*/ 0 h 504825"/>
                        <a:gd name="connsiteX1" fmla="*/ 0 w 464343"/>
                        <a:gd name="connsiteY1" fmla="*/ 0 h 504825"/>
                        <a:gd name="connsiteX2" fmla="*/ 0 w 464343"/>
                        <a:gd name="connsiteY2" fmla="*/ 504825 h 504825"/>
                        <a:gd name="connsiteX3" fmla="*/ 457200 w 464343"/>
                        <a:gd name="connsiteY3" fmla="*/ 504825 h 50482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464343" h="504825">
                          <a:moveTo>
                            <a:pt x="464343" y="0"/>
                          </a:moveTo>
                          <a:lnTo>
                            <a:pt x="0" y="0"/>
                          </a:lnTo>
                          <a:lnTo>
                            <a:pt x="0" y="504825"/>
                          </a:lnTo>
                          <a:lnTo>
                            <a:pt x="457200" y="504825"/>
                          </a:lnTo>
                        </a:path>
                      </a:pathLst>
                    </a:custGeom>
                    <a:noFill/>
                    <a:ln w="635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headEnd type="triangle" w="sm" len="sm"/>
                      <a:tailEnd type="triangle" w="sm" len="sm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000" dirty="0">
                        <a:latin typeface="Franklin Gothic Book" panose="020B0503020102020204" pitchFamily="34" charset="0"/>
                      </a:endParaRPr>
                    </a:p>
                  </p:txBody>
                </p:sp>
              </p:grpSp>
            </p:grpSp>
          </p:grpSp>
          <p:sp>
            <p:nvSpPr>
              <p:cNvPr id="255" name="Freeform: Shape 147">
                <a:extLst>
                  <a:ext uri="{FF2B5EF4-FFF2-40B4-BE49-F238E27FC236}">
                    <a16:creationId xmlns:a16="http://schemas.microsoft.com/office/drawing/2014/main" id="{66B8AC48-F795-6083-0084-1CA6F1F23CEB}"/>
                  </a:ext>
                </a:extLst>
              </p:cNvPr>
              <p:cNvSpPr/>
              <p:nvPr/>
            </p:nvSpPr>
            <p:spPr>
              <a:xfrm>
                <a:off x="4853304" y="2224046"/>
                <a:ext cx="201197" cy="2874168"/>
              </a:xfrm>
              <a:custGeom>
                <a:avLst/>
                <a:gdLst>
                  <a:gd name="connsiteX0" fmla="*/ 0 w 241300"/>
                  <a:gd name="connsiteY0" fmla="*/ 3403600 h 3403600"/>
                  <a:gd name="connsiteX1" fmla="*/ 76200 w 241300"/>
                  <a:gd name="connsiteY1" fmla="*/ 3403600 h 3403600"/>
                  <a:gd name="connsiteX2" fmla="*/ 76200 w 241300"/>
                  <a:gd name="connsiteY2" fmla="*/ 38100 h 3403600"/>
                  <a:gd name="connsiteX3" fmla="*/ 241300 w 241300"/>
                  <a:gd name="connsiteY3" fmla="*/ 38100 h 3403600"/>
                  <a:gd name="connsiteX4" fmla="*/ 241300 w 241300"/>
                  <a:gd name="connsiteY4" fmla="*/ 0 h 3403600"/>
                  <a:gd name="connsiteX0" fmla="*/ 0 w 241300"/>
                  <a:gd name="connsiteY0" fmla="*/ 3365500 h 3365500"/>
                  <a:gd name="connsiteX1" fmla="*/ 76200 w 241300"/>
                  <a:gd name="connsiteY1" fmla="*/ 3365500 h 3365500"/>
                  <a:gd name="connsiteX2" fmla="*/ 76200 w 241300"/>
                  <a:gd name="connsiteY2" fmla="*/ 0 h 3365500"/>
                  <a:gd name="connsiteX3" fmla="*/ 241300 w 241300"/>
                  <a:gd name="connsiteY3" fmla="*/ 0 h 3365500"/>
                  <a:gd name="connsiteX0" fmla="*/ 0 w 297669"/>
                  <a:gd name="connsiteY0" fmla="*/ 3365500 h 3365500"/>
                  <a:gd name="connsiteX1" fmla="*/ 132569 w 297669"/>
                  <a:gd name="connsiteY1" fmla="*/ 3365500 h 3365500"/>
                  <a:gd name="connsiteX2" fmla="*/ 132569 w 297669"/>
                  <a:gd name="connsiteY2" fmla="*/ 0 h 3365500"/>
                  <a:gd name="connsiteX3" fmla="*/ 297669 w 297669"/>
                  <a:gd name="connsiteY3" fmla="*/ 0 h 33655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7669" h="3365500">
                    <a:moveTo>
                      <a:pt x="0" y="3365500"/>
                    </a:moveTo>
                    <a:lnTo>
                      <a:pt x="132569" y="3365500"/>
                    </a:lnTo>
                    <a:lnTo>
                      <a:pt x="132569" y="0"/>
                    </a:lnTo>
                    <a:lnTo>
                      <a:pt x="297669" y="0"/>
                    </a:lnTo>
                  </a:path>
                </a:pathLst>
              </a:custGeom>
              <a:noFill/>
              <a:ln w="6350">
                <a:solidFill>
                  <a:schemeClr val="tx1">
                    <a:lumMod val="65000"/>
                    <a:lumOff val="35000"/>
                  </a:schemeClr>
                </a:solidFill>
                <a:tailEnd type="triangle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00" dirty="0">
                  <a:latin typeface="Franklin Gothic Book" panose="020B0503020102020204" pitchFamily="34" charset="0"/>
                </a:endParaRPr>
              </a:p>
            </p:txBody>
          </p:sp>
          <p:grpSp>
            <p:nvGrpSpPr>
              <p:cNvPr id="256" name="Group 255">
                <a:extLst>
                  <a:ext uri="{FF2B5EF4-FFF2-40B4-BE49-F238E27FC236}">
                    <a16:creationId xmlns:a16="http://schemas.microsoft.com/office/drawing/2014/main" id="{8FCA4465-8781-5A42-DB16-C12E64F63E2A}"/>
                  </a:ext>
                </a:extLst>
              </p:cNvPr>
              <p:cNvGrpSpPr/>
              <p:nvPr/>
            </p:nvGrpSpPr>
            <p:grpSpPr>
              <a:xfrm>
                <a:off x="7236533" y="2351792"/>
                <a:ext cx="376788" cy="3203465"/>
                <a:chOff x="7185328" y="2454185"/>
                <a:chExt cx="376788" cy="3123309"/>
              </a:xfrm>
            </p:grpSpPr>
            <p:cxnSp>
              <p:nvCxnSpPr>
                <p:cNvPr id="257" name="Straight Connector 256">
                  <a:extLst>
                    <a:ext uri="{FF2B5EF4-FFF2-40B4-BE49-F238E27FC236}">
                      <a16:creationId xmlns:a16="http://schemas.microsoft.com/office/drawing/2014/main" id="{613BD93C-A34A-F5BA-B0D4-149A72C2015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187709" y="2454185"/>
                  <a:ext cx="0" cy="3123309"/>
                </a:xfrm>
                <a:prstGeom prst="line">
                  <a:avLst/>
                </a:prstGeom>
                <a:ln w="6350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8" name="Straight Connector 257">
                  <a:extLst>
                    <a:ext uri="{FF2B5EF4-FFF2-40B4-BE49-F238E27FC236}">
                      <a16:creationId xmlns:a16="http://schemas.microsoft.com/office/drawing/2014/main" id="{57C7320A-E5B0-3951-83B1-267E34C28D4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185328" y="2460054"/>
                  <a:ext cx="376788" cy="0"/>
                </a:xfrm>
                <a:prstGeom prst="line">
                  <a:avLst/>
                </a:prstGeom>
                <a:ln w="6350">
                  <a:solidFill>
                    <a:schemeClr val="tx1">
                      <a:lumMod val="65000"/>
                      <a:lumOff val="35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9" name="Straight Connector 258">
                  <a:extLst>
                    <a:ext uri="{FF2B5EF4-FFF2-40B4-BE49-F238E27FC236}">
                      <a16:creationId xmlns:a16="http://schemas.microsoft.com/office/drawing/2014/main" id="{98DE9372-A291-D97D-4F55-17B6336D5ED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185328" y="3233195"/>
                  <a:ext cx="376788" cy="0"/>
                </a:xfrm>
                <a:prstGeom prst="line">
                  <a:avLst/>
                </a:prstGeom>
                <a:ln w="6350">
                  <a:solidFill>
                    <a:schemeClr val="tx1">
                      <a:lumMod val="65000"/>
                      <a:lumOff val="35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0" name="Straight Connector 259">
                  <a:extLst>
                    <a:ext uri="{FF2B5EF4-FFF2-40B4-BE49-F238E27FC236}">
                      <a16:creationId xmlns:a16="http://schemas.microsoft.com/office/drawing/2014/main" id="{44E1B764-B7ED-5EEF-BF1A-C5FB70822F4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185328" y="4016964"/>
                  <a:ext cx="376788" cy="0"/>
                </a:xfrm>
                <a:prstGeom prst="line">
                  <a:avLst/>
                </a:prstGeom>
                <a:ln w="6350">
                  <a:solidFill>
                    <a:schemeClr val="tx1">
                      <a:lumMod val="65000"/>
                      <a:lumOff val="35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1" name="Straight Connector 260">
                  <a:extLst>
                    <a:ext uri="{FF2B5EF4-FFF2-40B4-BE49-F238E27FC236}">
                      <a16:creationId xmlns:a16="http://schemas.microsoft.com/office/drawing/2014/main" id="{F55D8CA2-8399-DC31-79F3-1DAA2890E01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185328" y="4796257"/>
                  <a:ext cx="376788" cy="0"/>
                </a:xfrm>
                <a:prstGeom prst="line">
                  <a:avLst/>
                </a:prstGeom>
                <a:ln w="6350">
                  <a:solidFill>
                    <a:schemeClr val="tx1">
                      <a:lumMod val="65000"/>
                      <a:lumOff val="35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2" name="Straight Connector 261">
                  <a:extLst>
                    <a:ext uri="{FF2B5EF4-FFF2-40B4-BE49-F238E27FC236}">
                      <a16:creationId xmlns:a16="http://schemas.microsoft.com/office/drawing/2014/main" id="{5C236E1B-D659-7891-8328-68722539711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185328" y="5577494"/>
                  <a:ext cx="347987" cy="0"/>
                </a:xfrm>
                <a:prstGeom prst="line">
                  <a:avLst/>
                </a:prstGeom>
                <a:ln w="6350">
                  <a:solidFill>
                    <a:schemeClr val="tx1">
                      <a:lumMod val="65000"/>
                      <a:lumOff val="35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0EC15A87-116F-8B50-4D48-FDC92A4C631F}"/>
                </a:ext>
              </a:extLst>
            </p:cNvPr>
            <p:cNvGrpSpPr/>
            <p:nvPr/>
          </p:nvGrpSpPr>
          <p:grpSpPr>
            <a:xfrm>
              <a:off x="391984" y="959343"/>
              <a:ext cx="11507127" cy="5636720"/>
              <a:chOff x="391984" y="959343"/>
              <a:chExt cx="11507127" cy="5636720"/>
            </a:xfrm>
          </p:grpSpPr>
          <p:grpSp>
            <p:nvGrpSpPr>
              <p:cNvPr id="27" name="Group 26">
                <a:extLst>
                  <a:ext uri="{FF2B5EF4-FFF2-40B4-BE49-F238E27FC236}">
                    <a16:creationId xmlns:a16="http://schemas.microsoft.com/office/drawing/2014/main" id="{D3337627-9A33-875D-4491-1EA8FC047B45}"/>
                  </a:ext>
                </a:extLst>
              </p:cNvPr>
              <p:cNvGrpSpPr/>
              <p:nvPr/>
            </p:nvGrpSpPr>
            <p:grpSpPr>
              <a:xfrm>
                <a:off x="391984" y="976788"/>
                <a:ext cx="2168734" cy="5619275"/>
                <a:chOff x="580767" y="956765"/>
                <a:chExt cx="2168734" cy="5619275"/>
              </a:xfrm>
            </p:grpSpPr>
            <p:grpSp>
              <p:nvGrpSpPr>
                <p:cNvPr id="231" name="Group 230">
                  <a:extLst>
                    <a:ext uri="{FF2B5EF4-FFF2-40B4-BE49-F238E27FC236}">
                      <a16:creationId xmlns:a16="http://schemas.microsoft.com/office/drawing/2014/main" id="{9BC416B0-E4D6-474C-1973-E39B6F170D32}"/>
                    </a:ext>
                  </a:extLst>
                </p:cNvPr>
                <p:cNvGrpSpPr/>
                <p:nvPr/>
              </p:nvGrpSpPr>
              <p:grpSpPr>
                <a:xfrm>
                  <a:off x="1665134" y="1841018"/>
                  <a:ext cx="1" cy="4308124"/>
                  <a:chOff x="1665134" y="1841018"/>
                  <a:chExt cx="1" cy="4308124"/>
                </a:xfrm>
              </p:grpSpPr>
              <p:cxnSp>
                <p:nvCxnSpPr>
                  <p:cNvPr id="252" name="Straight Connector 251">
                    <a:extLst>
                      <a:ext uri="{FF2B5EF4-FFF2-40B4-BE49-F238E27FC236}">
                        <a16:creationId xmlns:a16="http://schemas.microsoft.com/office/drawing/2014/main" id="{29584628-104E-6ED3-D361-2A03BE4CCCA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665135" y="1841018"/>
                    <a:ext cx="0" cy="231600"/>
                  </a:xfrm>
                  <a:prstGeom prst="line">
                    <a:avLst/>
                  </a:prstGeom>
                  <a:ln w="6350">
                    <a:solidFill>
                      <a:schemeClr val="tx1">
                        <a:lumMod val="65000"/>
                        <a:lumOff val="35000"/>
                      </a:schemeClr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53" name="Straight Connector 252">
                    <a:extLst>
                      <a:ext uri="{FF2B5EF4-FFF2-40B4-BE49-F238E27FC236}">
                        <a16:creationId xmlns:a16="http://schemas.microsoft.com/office/drawing/2014/main" id="{2B57FFE0-673B-1989-4018-6DDDEF84511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1665134" y="5804462"/>
                    <a:ext cx="1" cy="344680"/>
                  </a:xfrm>
                  <a:prstGeom prst="line">
                    <a:avLst/>
                  </a:prstGeom>
                  <a:ln w="6350">
                    <a:solidFill>
                      <a:schemeClr val="tx1">
                        <a:lumMod val="65000"/>
                        <a:lumOff val="35000"/>
                      </a:schemeClr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32" name="Group 231">
                  <a:extLst>
                    <a:ext uri="{FF2B5EF4-FFF2-40B4-BE49-F238E27FC236}">
                      <a16:creationId xmlns:a16="http://schemas.microsoft.com/office/drawing/2014/main" id="{CC83D655-196F-3CD5-2200-5B20A051F6C7}"/>
                    </a:ext>
                  </a:extLst>
                </p:cNvPr>
                <p:cNvGrpSpPr/>
                <p:nvPr/>
              </p:nvGrpSpPr>
              <p:grpSpPr>
                <a:xfrm>
                  <a:off x="580767" y="956765"/>
                  <a:ext cx="2168734" cy="5619275"/>
                  <a:chOff x="580767" y="939320"/>
                  <a:chExt cx="2168734" cy="5619275"/>
                </a:xfrm>
              </p:grpSpPr>
              <p:grpSp>
                <p:nvGrpSpPr>
                  <p:cNvPr id="233" name="Group 232">
                    <a:extLst>
                      <a:ext uri="{FF2B5EF4-FFF2-40B4-BE49-F238E27FC236}">
                        <a16:creationId xmlns:a16="http://schemas.microsoft.com/office/drawing/2014/main" id="{2B2A146D-4154-58B5-8ADD-205F976CB06B}"/>
                      </a:ext>
                    </a:extLst>
                  </p:cNvPr>
                  <p:cNvGrpSpPr/>
                  <p:nvPr/>
                </p:nvGrpSpPr>
                <p:grpSpPr>
                  <a:xfrm>
                    <a:off x="612237" y="2057554"/>
                    <a:ext cx="2105795" cy="3727689"/>
                    <a:chOff x="465116" y="2100272"/>
                    <a:chExt cx="2105795" cy="3727689"/>
                  </a:xfrm>
                </p:grpSpPr>
                <p:sp>
                  <p:nvSpPr>
                    <p:cNvPr id="250" name="Rectangle 249">
                      <a:extLst>
                        <a:ext uri="{FF2B5EF4-FFF2-40B4-BE49-F238E27FC236}">
                          <a16:creationId xmlns:a16="http://schemas.microsoft.com/office/drawing/2014/main" id="{AA6E1D87-2A11-1895-CAA4-CB164DE428B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65116" y="2100272"/>
                      <a:ext cx="2105795" cy="3727689"/>
                    </a:xfrm>
                    <a:prstGeom prst="rect">
                      <a:avLst/>
                    </a:prstGeom>
                    <a:solidFill>
                      <a:schemeClr val="bg2">
                        <a:lumMod val="95000"/>
                      </a:schemeClr>
                    </a:solidFill>
                    <a:ln>
                      <a:noFill/>
                    </a:ln>
                    <a:effectLst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Franklin Gothic Book" panose="020B0503020102020204" pitchFamily="34" charset="0"/>
                      </a:endParaRPr>
                    </a:p>
                  </p:txBody>
                </p:sp>
                <p:sp>
                  <p:nvSpPr>
                    <p:cNvPr id="251" name="TextBox 250">
                      <a:extLst>
                        <a:ext uri="{FF2B5EF4-FFF2-40B4-BE49-F238E27FC236}">
                          <a16:creationId xmlns:a16="http://schemas.microsoft.com/office/drawing/2014/main" id="{AF450959-C271-BA9A-4D36-A6A894F022A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33521" y="2262229"/>
                      <a:ext cx="1822552" cy="3128795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 anchor="ctr">
                      <a:spAutoFit/>
                    </a:bodyPr>
                    <a:lstStyle/>
                    <a:p>
                      <a:endParaRPr lang="en-US" sz="600" dirty="0">
                        <a:solidFill>
                          <a:schemeClr val="tx2">
                            <a:lumMod val="65000"/>
                            <a:lumOff val="35000"/>
                          </a:schemeClr>
                        </a:solidFill>
                        <a:latin typeface="Franklin Gothic Book" panose="020B0503020102020204" pitchFamily="34" charset="0"/>
                        <a:cs typeface="Arial" panose="020B0604020202020204" pitchFamily="34" charset="0"/>
                      </a:endParaRPr>
                    </a:p>
                    <a:p>
                      <a:pPr marL="182880" indent="-182880">
                        <a:buFont typeface="Arial" panose="020B0604020202020204" pitchFamily="34" charset="0"/>
                        <a:buChar char="•"/>
                      </a:pPr>
                      <a:r>
                        <a:rPr lang="en-US" sz="600" dirty="0">
                          <a:solidFill>
                            <a:schemeClr val="tx2">
                              <a:lumMod val="65000"/>
                              <a:lumOff val="35000"/>
                            </a:schemeClr>
                          </a:solidFill>
                          <a:latin typeface="Franklin Gothic Book" panose="020B0503020102020204" pitchFamily="34" charset="0"/>
                          <a:cs typeface="Arial" panose="020B0604020202020204" pitchFamily="34" charset="0"/>
                        </a:rPr>
                        <a:t>Customer Segmentation (Current and Aspirational</a:t>
                      </a:r>
                    </a:p>
                    <a:p>
                      <a:pPr marL="182880" indent="-182880">
                        <a:buFont typeface="Arial" panose="020B0604020202020204" pitchFamily="34" charset="0"/>
                        <a:buChar char="•"/>
                      </a:pPr>
                      <a:endParaRPr lang="en-US" sz="600" dirty="0">
                        <a:solidFill>
                          <a:schemeClr val="tx2">
                            <a:lumMod val="65000"/>
                            <a:lumOff val="35000"/>
                          </a:schemeClr>
                        </a:solidFill>
                        <a:latin typeface="Franklin Gothic Book" panose="020B0503020102020204" pitchFamily="34" charset="0"/>
                        <a:cs typeface="Arial" panose="020B0604020202020204" pitchFamily="34" charset="0"/>
                      </a:endParaRPr>
                    </a:p>
                    <a:p>
                      <a:pPr marL="182880" indent="-182880">
                        <a:buFont typeface="Arial" panose="020B0604020202020204" pitchFamily="34" charset="0"/>
                        <a:buChar char="•"/>
                      </a:pPr>
                      <a:r>
                        <a:rPr lang="en-US" sz="600" dirty="0">
                          <a:solidFill>
                            <a:schemeClr val="tx2">
                              <a:lumMod val="65000"/>
                              <a:lumOff val="35000"/>
                            </a:schemeClr>
                          </a:solidFill>
                          <a:latin typeface="Franklin Gothic Book" panose="020B0503020102020204" pitchFamily="34" charset="0"/>
                          <a:cs typeface="Arial" panose="020B0604020202020204" pitchFamily="34" charset="0"/>
                        </a:rPr>
                        <a:t>Customized Value Proposition</a:t>
                      </a:r>
                    </a:p>
                    <a:p>
                      <a:pPr marL="182880" indent="-182880">
                        <a:buFont typeface="Arial" panose="020B0604020202020204" pitchFamily="34" charset="0"/>
                        <a:buChar char="•"/>
                      </a:pPr>
                      <a:endParaRPr lang="en-US" sz="600" dirty="0">
                        <a:solidFill>
                          <a:schemeClr val="tx2">
                            <a:lumMod val="65000"/>
                            <a:lumOff val="35000"/>
                          </a:schemeClr>
                        </a:solidFill>
                        <a:latin typeface="Franklin Gothic Book" panose="020B0503020102020204" pitchFamily="34" charset="0"/>
                        <a:cs typeface="Arial" panose="020B0604020202020204" pitchFamily="34" charset="0"/>
                      </a:endParaRPr>
                    </a:p>
                    <a:p>
                      <a:pPr marL="182880" indent="-182880">
                        <a:buFont typeface="Arial" panose="020B0604020202020204" pitchFamily="34" charset="0"/>
                        <a:buChar char="•"/>
                      </a:pPr>
                      <a:r>
                        <a:rPr lang="en-US" sz="600" dirty="0">
                          <a:solidFill>
                            <a:schemeClr val="tx2">
                              <a:lumMod val="65000"/>
                              <a:lumOff val="35000"/>
                            </a:schemeClr>
                          </a:solidFill>
                          <a:latin typeface="Franklin Gothic Book" panose="020B0503020102020204" pitchFamily="34" charset="0"/>
                          <a:cs typeface="Arial" panose="020B0604020202020204" pitchFamily="34" charset="0"/>
                        </a:rPr>
                        <a:t>Customer Journey (Customer Experience)</a:t>
                      </a:r>
                    </a:p>
                    <a:p>
                      <a:pPr marL="182880" indent="-182880">
                        <a:buFont typeface="Arial" panose="020B0604020202020204" pitchFamily="34" charset="0"/>
                        <a:buChar char="•"/>
                      </a:pPr>
                      <a:endParaRPr lang="en-US" sz="600" dirty="0">
                        <a:solidFill>
                          <a:schemeClr val="tx2">
                            <a:lumMod val="65000"/>
                            <a:lumOff val="35000"/>
                          </a:schemeClr>
                        </a:solidFill>
                        <a:latin typeface="Franklin Gothic Book" panose="020B0503020102020204" pitchFamily="34" charset="0"/>
                        <a:cs typeface="Arial" panose="020B0604020202020204" pitchFamily="34" charset="0"/>
                      </a:endParaRPr>
                    </a:p>
                    <a:p>
                      <a:pPr marL="182880" indent="-182880">
                        <a:buFont typeface="Arial" panose="020B0604020202020204" pitchFamily="34" charset="0"/>
                        <a:buChar char="•"/>
                      </a:pPr>
                      <a:r>
                        <a:rPr lang="en-US" sz="600" dirty="0">
                          <a:solidFill>
                            <a:schemeClr val="tx2">
                              <a:lumMod val="65000"/>
                              <a:lumOff val="35000"/>
                            </a:schemeClr>
                          </a:solidFill>
                          <a:latin typeface="Franklin Gothic Book" panose="020B0503020102020204" pitchFamily="34" charset="0"/>
                          <a:cs typeface="Arial" panose="020B0604020202020204" pitchFamily="34" charset="0"/>
                        </a:rPr>
                        <a:t>Internal capabilities and core competencies</a:t>
                      </a:r>
                    </a:p>
                    <a:p>
                      <a:pPr marL="182880" indent="-182880">
                        <a:buFont typeface="Arial" panose="020B0604020202020204" pitchFamily="34" charset="0"/>
                        <a:buChar char="•"/>
                      </a:pPr>
                      <a:endParaRPr lang="en-US" sz="600" dirty="0">
                        <a:solidFill>
                          <a:schemeClr val="tx2">
                            <a:lumMod val="65000"/>
                            <a:lumOff val="35000"/>
                          </a:schemeClr>
                        </a:solidFill>
                        <a:latin typeface="Franklin Gothic Book" panose="020B0503020102020204" pitchFamily="34" charset="0"/>
                        <a:cs typeface="Arial" panose="020B0604020202020204" pitchFamily="34" charset="0"/>
                      </a:endParaRPr>
                    </a:p>
                    <a:p>
                      <a:pPr marL="182880" indent="-182880">
                        <a:buFont typeface="Arial" panose="020B0604020202020204" pitchFamily="34" charset="0"/>
                        <a:buChar char="•"/>
                      </a:pPr>
                      <a:r>
                        <a:rPr lang="en-US" sz="600" dirty="0">
                          <a:solidFill>
                            <a:schemeClr val="tx2">
                              <a:lumMod val="65000"/>
                              <a:lumOff val="35000"/>
                            </a:schemeClr>
                          </a:solidFill>
                          <a:latin typeface="Franklin Gothic Book" panose="020B0503020102020204" pitchFamily="34" charset="0"/>
                          <a:cs typeface="Arial" panose="020B0604020202020204" pitchFamily="34" charset="0"/>
                        </a:rPr>
                        <a:t>Trend Modeling</a:t>
                      </a:r>
                    </a:p>
                    <a:p>
                      <a:pPr marL="182880" indent="-182880">
                        <a:buFont typeface="Arial" panose="020B0604020202020204" pitchFamily="34" charset="0"/>
                        <a:buChar char="•"/>
                      </a:pPr>
                      <a:endParaRPr lang="en-US" sz="600" dirty="0">
                        <a:solidFill>
                          <a:schemeClr val="tx2">
                            <a:lumMod val="65000"/>
                            <a:lumOff val="35000"/>
                          </a:schemeClr>
                        </a:solidFill>
                        <a:latin typeface="Franklin Gothic Book" panose="020B0503020102020204" pitchFamily="34" charset="0"/>
                        <a:cs typeface="Arial" panose="020B0604020202020204" pitchFamily="34" charset="0"/>
                      </a:endParaRPr>
                    </a:p>
                    <a:p>
                      <a:pPr marL="182880" indent="-182880">
                        <a:buFont typeface="Arial" panose="020B0604020202020204" pitchFamily="34" charset="0"/>
                        <a:buChar char="•"/>
                      </a:pPr>
                      <a:r>
                        <a:rPr lang="en-US" sz="600" dirty="0">
                          <a:solidFill>
                            <a:schemeClr val="tx2">
                              <a:lumMod val="65000"/>
                              <a:lumOff val="35000"/>
                            </a:schemeClr>
                          </a:solidFill>
                          <a:latin typeface="Franklin Gothic Book" panose="020B0503020102020204" pitchFamily="34" charset="0"/>
                          <a:cs typeface="Arial" panose="020B0604020202020204" pitchFamily="34" charset="0"/>
                        </a:rPr>
                        <a:t>SWOT</a:t>
                      </a:r>
                    </a:p>
                  </p:txBody>
                </p:sp>
              </p:grpSp>
              <p:grpSp>
                <p:nvGrpSpPr>
                  <p:cNvPr id="234" name="Group 233">
                    <a:extLst>
                      <a:ext uri="{FF2B5EF4-FFF2-40B4-BE49-F238E27FC236}">
                        <a16:creationId xmlns:a16="http://schemas.microsoft.com/office/drawing/2014/main" id="{ECC0F304-C215-F50A-AB72-717CB3AE775A}"/>
                      </a:ext>
                    </a:extLst>
                  </p:cNvPr>
                  <p:cNvGrpSpPr/>
                  <p:nvPr/>
                </p:nvGrpSpPr>
                <p:grpSpPr>
                  <a:xfrm>
                    <a:off x="580767" y="6084534"/>
                    <a:ext cx="2168734" cy="474061"/>
                    <a:chOff x="458759" y="6139237"/>
                    <a:chExt cx="2168734" cy="474061"/>
                  </a:xfrm>
                </p:grpSpPr>
                <p:sp>
                  <p:nvSpPr>
                    <p:cNvPr id="248" name="Rectangle 247">
                      <a:extLst>
                        <a:ext uri="{FF2B5EF4-FFF2-40B4-BE49-F238E27FC236}">
                          <a16:creationId xmlns:a16="http://schemas.microsoft.com/office/drawing/2014/main" id="{EFAB3836-F3FE-AD19-D86A-7FED80DBC9B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90229" y="6180327"/>
                      <a:ext cx="2105795" cy="391885"/>
                    </a:xfrm>
                    <a:prstGeom prst="rect">
                      <a:avLst/>
                    </a:prstGeom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Franklin Gothic Book" panose="020B0503020102020204" pitchFamily="34" charset="0"/>
                      </a:endParaRPr>
                    </a:p>
                  </p:txBody>
                </p:sp>
                <p:sp>
                  <p:nvSpPr>
                    <p:cNvPr id="249" name="TextBox 248">
                      <a:extLst>
                        <a:ext uri="{FF2B5EF4-FFF2-40B4-BE49-F238E27FC236}">
                          <a16:creationId xmlns:a16="http://schemas.microsoft.com/office/drawing/2014/main" id="{0C65895C-6718-95B3-3BE6-D0C6E5D068C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58759" y="6139237"/>
                      <a:ext cx="2168734" cy="474061"/>
                    </a:xfrm>
                    <a:prstGeom prst="rect">
                      <a:avLst/>
                    </a:prstGeom>
                    <a:solidFill>
                      <a:srgbClr val="B52372"/>
                    </a:solidFill>
                  </p:spPr>
                  <p:txBody>
                    <a:bodyPr wrap="square" anchor="ctr">
                      <a:spAutoFit/>
                    </a:bodyPr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uLnTx/>
                          <a:uFillTx/>
                          <a:latin typeface="Franklin Gothic Book" panose="020B0503020102020204" pitchFamily="34" charset="0"/>
                        </a:rPr>
                        <a:t>Aspirational Position in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1" dirty="0">
                          <a:solidFill>
                            <a:schemeClr val="bg2"/>
                          </a:solidFill>
                          <a:latin typeface="Franklin Gothic Book" panose="020B0503020102020204" pitchFamily="34" charset="0"/>
                        </a:rPr>
                        <a:t>t</a:t>
                      </a:r>
                      <a:r>
                        <a:rPr kumimoji="0" 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uLnTx/>
                          <a:uFillTx/>
                          <a:latin typeface="Franklin Gothic Book" panose="020B0503020102020204" pitchFamily="34" charset="0"/>
                        </a:rPr>
                        <a:t>he Market</a:t>
                      </a:r>
                    </a:p>
                  </p:txBody>
                </p:sp>
              </p:grpSp>
              <p:grpSp>
                <p:nvGrpSpPr>
                  <p:cNvPr id="235" name="Group 234">
                    <a:extLst>
                      <a:ext uri="{FF2B5EF4-FFF2-40B4-BE49-F238E27FC236}">
                        <a16:creationId xmlns:a16="http://schemas.microsoft.com/office/drawing/2014/main" id="{1C97ED63-15D8-EE40-DF38-237F5FCEA2FC}"/>
                      </a:ext>
                    </a:extLst>
                  </p:cNvPr>
                  <p:cNvGrpSpPr/>
                  <p:nvPr/>
                </p:nvGrpSpPr>
                <p:grpSpPr>
                  <a:xfrm>
                    <a:off x="591072" y="939320"/>
                    <a:ext cx="2148124" cy="1003263"/>
                    <a:chOff x="443951" y="983255"/>
                    <a:chExt cx="2148124" cy="1003263"/>
                  </a:xfrm>
                </p:grpSpPr>
                <p:grpSp>
                  <p:nvGrpSpPr>
                    <p:cNvPr id="236" name="Group 235">
                      <a:extLst>
                        <a:ext uri="{FF2B5EF4-FFF2-40B4-BE49-F238E27FC236}">
                          <a16:creationId xmlns:a16="http://schemas.microsoft.com/office/drawing/2014/main" id="{4B6930CF-4DA4-33EB-24B1-78860F4C162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43951" y="1267148"/>
                      <a:ext cx="2148124" cy="719370"/>
                      <a:chOff x="418372" y="1324298"/>
                      <a:chExt cx="2148124" cy="719370"/>
                    </a:xfrm>
                  </p:grpSpPr>
                  <p:sp>
                    <p:nvSpPr>
                      <p:cNvPr id="245" name="Google Shape;83409;p3921">
                        <a:extLst>
                          <a:ext uri="{FF2B5EF4-FFF2-40B4-BE49-F238E27FC236}">
                            <a16:creationId xmlns:a16="http://schemas.microsoft.com/office/drawing/2014/main" id="{918BDF5A-91F8-65BA-981B-AFCD9A77659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9537" y="1324298"/>
                        <a:ext cx="2105795" cy="719370"/>
                      </a:xfrm>
                      <a:prstGeom prst="roundRect">
                        <a:avLst>
                          <a:gd name="adj" fmla="val 0"/>
                        </a:avLst>
                      </a:prstGeom>
                      <a:solidFill>
                        <a:srgbClr val="B52372"/>
                      </a:solidFill>
                      <a:ln>
                        <a:noFill/>
                      </a:ln>
                    </p:spPr>
                    <p:txBody>
                      <a:bodyPr spcFirstLastPara="1" wrap="square" lIns="68575" tIns="34275" rIns="68575" bIns="34275" anchor="ctr" anchorCtr="0">
                        <a:noAutofit/>
                      </a:bodyPr>
                      <a:lstStyle/>
                      <a:p>
                        <a:pPr marL="0" marR="0" lvl="0" indent="0" algn="ctr" defTabSz="4572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FFFFFF"/>
                          </a:buClr>
                          <a:buSzPts val="1400"/>
                          <a:buFont typeface="Calibri"/>
                          <a:buNone/>
                          <a:tabLst/>
                          <a:defRPr/>
                        </a:pPr>
                        <a:endParaRPr kumimoji="0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Franklin Gothic Book" panose="020B0503020102020204" pitchFamily="34" charset="0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246" name="Google Shape;83415;p3921">
                        <a:extLst>
                          <a:ext uri="{FF2B5EF4-FFF2-40B4-BE49-F238E27FC236}">
                            <a16:creationId xmlns:a16="http://schemas.microsoft.com/office/drawing/2014/main" id="{0F541C18-A0B0-8B55-7EDB-7413D0F1FF3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18372" y="1974335"/>
                        <a:ext cx="2148124" cy="41064"/>
                      </a:xfrm>
                      <a:prstGeom prst="roundRect">
                        <a:avLst>
                          <a:gd name="adj" fmla="val 0"/>
                        </a:avLst>
                      </a:prstGeom>
                      <a:solidFill>
                        <a:schemeClr val="lt1"/>
                      </a:solidFill>
                      <a:ln>
                        <a:noFill/>
                      </a:ln>
                    </p:spPr>
                    <p:txBody>
                      <a:bodyPr spcFirstLastPara="1" wrap="square" lIns="68575" tIns="34275" rIns="68575" bIns="34275" anchor="ctr" anchorCtr="0">
                        <a:noAutofit/>
                      </a:bodyPr>
                      <a:lstStyle/>
                      <a:p>
                        <a:pPr marL="0" marR="0" lvl="0" indent="0" algn="ctr" defTabSz="4572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FFFFFF"/>
                          </a:buClr>
                          <a:buSzPts val="1400"/>
                          <a:buFont typeface="Calibri"/>
                          <a:buNone/>
                          <a:tabLst/>
                          <a:defRPr/>
                        </a:pPr>
                        <a:endParaRPr kumimoji="0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Franklin Gothic Book" panose="020B0503020102020204" pitchFamily="34" charset="0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247" name="TextBox 246">
                        <a:extLst>
                          <a:ext uri="{FF2B5EF4-FFF2-40B4-BE49-F238E27FC236}">
                            <a16:creationId xmlns:a16="http://schemas.microsoft.com/office/drawing/2014/main" id="{D089A647-3909-B50A-716A-ADBD85B91D1F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431295" y="1529910"/>
                        <a:ext cx="2122279" cy="308139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anchor="ctr">
                        <a:spAutoFit/>
                      </a:bodyPr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lang="en-US" sz="700" b="1" dirty="0">
                            <a:solidFill>
                              <a:schemeClr val="bg2"/>
                            </a:solidFill>
                            <a:latin typeface="Franklin Gothic Book" panose="020B0503020102020204" pitchFamily="34" charset="0"/>
                          </a:rPr>
                          <a:t>Most Valuable Customer</a:t>
                        </a:r>
                        <a:endParaRPr kumimoji="0" 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uLnTx/>
                          <a:uFillTx/>
                          <a:latin typeface="Franklin Gothic Book" panose="020B0503020102020204" pitchFamily="34" charset="0"/>
                        </a:endParaRPr>
                      </a:p>
                    </p:txBody>
                  </p:sp>
                </p:grpSp>
                <p:grpSp>
                  <p:nvGrpSpPr>
                    <p:cNvPr id="237" name="Group 236">
                      <a:extLst>
                        <a:ext uri="{FF2B5EF4-FFF2-40B4-BE49-F238E27FC236}">
                          <a16:creationId xmlns:a16="http://schemas.microsoft.com/office/drawing/2014/main" id="{282F7CD7-E71A-541E-89B9-0B59DF38781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069934" y="983255"/>
                      <a:ext cx="896159" cy="372147"/>
                      <a:chOff x="1069934" y="983255"/>
                      <a:chExt cx="896159" cy="372147"/>
                    </a:xfrm>
                  </p:grpSpPr>
                  <p:grpSp>
                    <p:nvGrpSpPr>
                      <p:cNvPr id="238" name="Google Shape;83411;p3921">
                        <a:extLst>
                          <a:ext uri="{FF2B5EF4-FFF2-40B4-BE49-F238E27FC236}">
                            <a16:creationId xmlns:a16="http://schemas.microsoft.com/office/drawing/2014/main" id="{699B6292-05E9-7C61-63BD-C8A576094E34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069934" y="1214313"/>
                        <a:ext cx="896159" cy="35903"/>
                        <a:chOff x="863283" y="2322123"/>
                        <a:chExt cx="1194878" cy="47871"/>
                      </a:xfrm>
                    </p:grpSpPr>
                    <p:sp>
                      <p:nvSpPr>
                        <p:cNvPr id="242" name="Google Shape;83412;p3921">
                          <a:extLst>
                            <a:ext uri="{FF2B5EF4-FFF2-40B4-BE49-F238E27FC236}">
                              <a16:creationId xmlns:a16="http://schemas.microsoft.com/office/drawing/2014/main" id="{A7898CB5-DF86-2B36-89A5-BA579D0FC098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941176" y="2328811"/>
                          <a:ext cx="1039091" cy="34480"/>
                        </a:xfrm>
                        <a:prstGeom prst="roundRect">
                          <a:avLst>
                            <a:gd name="adj" fmla="val 0"/>
                          </a:avLst>
                        </a:prstGeom>
                        <a:solidFill>
                          <a:srgbClr val="B52372"/>
                        </a:solidFill>
                        <a:ln>
                          <a:noFill/>
                        </a:ln>
                      </p:spPr>
                      <p:txBody>
                        <a:bodyPr spcFirstLastPara="1" wrap="square" lIns="68575" tIns="34275" rIns="68575" bIns="34275" anchor="ctr" anchorCtr="0">
                          <a:noAutofit/>
                        </a:bodyPr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FFFFFF"/>
                            </a:buClr>
                            <a:buSzPts val="1400"/>
                            <a:buFont typeface="Calibri"/>
                            <a:buNone/>
                            <a:tabLst/>
                            <a:defRPr/>
                          </a:pPr>
                          <a:endParaRPr kumimoji="0" sz="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Franklin Gothic Book" panose="020B0503020102020204" pitchFamily="34" charset="0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243" name="Google Shape;83413;p3921">
                          <a:extLst>
                            <a:ext uri="{FF2B5EF4-FFF2-40B4-BE49-F238E27FC236}">
                              <a16:creationId xmlns:a16="http://schemas.microsoft.com/office/drawing/2014/main" id="{8B636AEE-0155-2BF3-D963-1F082FE69C3B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63283" y="2322123"/>
                          <a:ext cx="47863" cy="47863"/>
                        </a:xfrm>
                        <a:prstGeom prst="ellipse">
                          <a:avLst/>
                        </a:prstGeom>
                        <a:solidFill>
                          <a:schemeClr val="lt1"/>
                        </a:solidFill>
                        <a:ln w="9525" cap="flat" cmpd="sng">
                          <a:noFill/>
                          <a:prstDash val="solid"/>
                          <a:miter lim="800000"/>
                          <a:headEnd type="none" w="sm" len="sm"/>
                          <a:tailEnd type="none" w="sm" len="sm"/>
                        </a:ln>
                      </p:spPr>
                      <p:txBody>
                        <a:bodyPr spcFirstLastPara="1" wrap="square" lIns="68575" tIns="34275" rIns="68575" bIns="34275" anchor="ctr" anchorCtr="0">
                          <a:noAutofit/>
                        </a:bodyPr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FFFFFF"/>
                            </a:buClr>
                            <a:buSzPts val="1400"/>
                            <a:buFont typeface="Calibri"/>
                            <a:buNone/>
                            <a:tabLst/>
                            <a:defRPr/>
                          </a:pPr>
                          <a:endParaRPr kumimoji="0" sz="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Franklin Gothic Book" panose="020B0503020102020204" pitchFamily="34" charset="0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244" name="Google Shape;83414;p3921">
                          <a:extLst>
                            <a:ext uri="{FF2B5EF4-FFF2-40B4-BE49-F238E27FC236}">
                              <a16:creationId xmlns:a16="http://schemas.microsoft.com/office/drawing/2014/main" id="{379D320E-027B-D3F2-D83C-2EEDCB0AB1AD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2010298" y="2322131"/>
                          <a:ext cx="47863" cy="47863"/>
                        </a:xfrm>
                        <a:prstGeom prst="ellipse">
                          <a:avLst/>
                        </a:prstGeom>
                        <a:solidFill>
                          <a:schemeClr val="lt1"/>
                        </a:solidFill>
                        <a:ln w="9525" cap="flat" cmpd="sng">
                          <a:noFill/>
                          <a:prstDash val="solid"/>
                          <a:miter lim="800000"/>
                          <a:headEnd type="none" w="sm" len="sm"/>
                          <a:tailEnd type="none" w="sm" len="sm"/>
                        </a:ln>
                      </p:spPr>
                      <p:txBody>
                        <a:bodyPr spcFirstLastPara="1" wrap="square" lIns="68575" tIns="34275" rIns="68575" bIns="34275" anchor="ctr" anchorCtr="0">
                          <a:noAutofit/>
                        </a:bodyPr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FFFFFF"/>
                            </a:buClr>
                            <a:buSzPts val="1400"/>
                            <a:buFont typeface="Calibri"/>
                            <a:buNone/>
                            <a:tabLst/>
                            <a:defRPr/>
                          </a:pPr>
                          <a:endParaRPr kumimoji="0" sz="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Franklin Gothic Book" panose="020B0503020102020204" pitchFamily="34" charset="0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grpSp>
                    <p:nvGrpSpPr>
                      <p:cNvPr id="239" name="Group 238">
                        <a:extLst>
                          <a:ext uri="{FF2B5EF4-FFF2-40B4-BE49-F238E27FC236}">
                            <a16:creationId xmlns:a16="http://schemas.microsoft.com/office/drawing/2014/main" id="{CC51B3C6-4C2A-D7F4-78EB-AE31889D4E6E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331940" y="983255"/>
                        <a:ext cx="372147" cy="372147"/>
                        <a:chOff x="1331940" y="983255"/>
                        <a:chExt cx="372147" cy="372147"/>
                      </a:xfrm>
                    </p:grpSpPr>
                    <p:sp>
                      <p:nvSpPr>
                        <p:cNvPr id="240" name="Google Shape;83463;p3921">
                          <a:extLst>
                            <a:ext uri="{FF2B5EF4-FFF2-40B4-BE49-F238E27FC236}">
                              <a16:creationId xmlns:a16="http://schemas.microsoft.com/office/drawing/2014/main" id="{A1AE77A7-81D3-F38E-B34F-92F5360EA222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331940" y="983255"/>
                          <a:ext cx="372147" cy="372147"/>
                        </a:xfrm>
                        <a:prstGeom prst="ellipse">
                          <a:avLst/>
                        </a:prstGeom>
                        <a:solidFill>
                          <a:schemeClr val="bg1"/>
                        </a:solidFill>
                        <a:ln w="9525" cap="flat" cmpd="sng">
                          <a:solidFill>
                            <a:srgbClr val="B52372"/>
                          </a:solidFill>
                          <a:prstDash val="solid"/>
                          <a:miter lim="800000"/>
                          <a:headEnd type="none" w="sm" len="sm"/>
                          <a:tailEnd type="none" w="sm" len="sm"/>
                        </a:ln>
                      </p:spPr>
                      <p:txBody>
                        <a:bodyPr spcFirstLastPara="1" wrap="square" lIns="68575" tIns="34275" rIns="68575" bIns="34275" anchor="ctr" anchorCtr="0">
                          <a:noAutofit/>
                        </a:bodyPr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FFFFFF"/>
                            </a:buClr>
                            <a:buSzPts val="1400"/>
                            <a:buFont typeface="Calibri"/>
                            <a:buNone/>
                            <a:tabLst/>
                            <a:defRPr/>
                          </a:pPr>
                          <a:endParaRPr kumimoji="0" sz="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Franklin Gothic Book" panose="020B0503020102020204" pitchFamily="34" charset="0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241" name="Freeform: Shape 202">
                          <a:extLst>
                            <a:ext uri="{FF2B5EF4-FFF2-40B4-BE49-F238E27FC236}">
                              <a16:creationId xmlns:a16="http://schemas.microsoft.com/office/drawing/2014/main" id="{4F1BF3AA-E172-0A45-FA2E-BC5F980D0FA5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402414" y="1058175"/>
                          <a:ext cx="231198" cy="222306"/>
                        </a:xfrm>
                        <a:custGeom>
                          <a:avLst/>
                          <a:gdLst>
                            <a:gd name="connsiteX0" fmla="*/ 3894933 w 4457700"/>
                            <a:gd name="connsiteY0" fmla="*/ 3715598 h 4286257"/>
                            <a:gd name="connsiteX1" fmla="*/ 4319267 w 4457700"/>
                            <a:gd name="connsiteY1" fmla="*/ 4139932 h 4286257"/>
                            <a:gd name="connsiteX2" fmla="*/ 4319267 w 4457700"/>
                            <a:gd name="connsiteY2" fmla="*/ 4261172 h 4286257"/>
                            <a:gd name="connsiteX3" fmla="*/ 4198067 w 4457700"/>
                            <a:gd name="connsiteY3" fmla="*/ 4261172 h 4286257"/>
                            <a:gd name="connsiteX4" fmla="*/ 4198067 w 4457700"/>
                            <a:gd name="connsiteY4" fmla="*/ 4261132 h 4286257"/>
                            <a:gd name="connsiteX5" fmla="*/ 3773733 w 4457700"/>
                            <a:gd name="connsiteY5" fmla="*/ 3836798 h 4286257"/>
                            <a:gd name="connsiteX6" fmla="*/ 257175 w 4457700"/>
                            <a:gd name="connsiteY6" fmla="*/ 3686178 h 4286257"/>
                            <a:gd name="connsiteX7" fmla="*/ 257175 w 4457700"/>
                            <a:gd name="connsiteY7" fmla="*/ 3857628 h 4286257"/>
                            <a:gd name="connsiteX8" fmla="*/ 1714500 w 4457700"/>
                            <a:gd name="connsiteY8" fmla="*/ 3857628 h 4286257"/>
                            <a:gd name="connsiteX9" fmla="*/ 1714500 w 4457700"/>
                            <a:gd name="connsiteY9" fmla="*/ 3686178 h 4286257"/>
                            <a:gd name="connsiteX10" fmla="*/ 3652425 w 4457700"/>
                            <a:gd name="connsiteY10" fmla="*/ 3473139 h 4286257"/>
                            <a:gd name="connsiteX11" fmla="*/ 3773664 w 4457700"/>
                            <a:gd name="connsiteY11" fmla="*/ 3594379 h 4286257"/>
                            <a:gd name="connsiteX12" fmla="*/ 3652425 w 4457700"/>
                            <a:gd name="connsiteY12" fmla="*/ 3715618 h 4286257"/>
                            <a:gd name="connsiteX13" fmla="*/ 3531185 w 4457700"/>
                            <a:gd name="connsiteY13" fmla="*/ 3594379 h 4286257"/>
                            <a:gd name="connsiteX14" fmla="*/ 600075 w 4457700"/>
                            <a:gd name="connsiteY14" fmla="*/ 3343278 h 4286257"/>
                            <a:gd name="connsiteX15" fmla="*/ 600075 w 4457700"/>
                            <a:gd name="connsiteY15" fmla="*/ 3514728 h 4286257"/>
                            <a:gd name="connsiteX16" fmla="*/ 1543050 w 4457700"/>
                            <a:gd name="connsiteY16" fmla="*/ 3514728 h 4286257"/>
                            <a:gd name="connsiteX17" fmla="*/ 1543050 w 4457700"/>
                            <a:gd name="connsiteY17" fmla="*/ 3343278 h 4286257"/>
                            <a:gd name="connsiteX18" fmla="*/ 257175 w 4457700"/>
                            <a:gd name="connsiteY18" fmla="*/ 3343278 h 4286257"/>
                            <a:gd name="connsiteX19" fmla="*/ 257175 w 4457700"/>
                            <a:gd name="connsiteY19" fmla="*/ 3514728 h 4286257"/>
                            <a:gd name="connsiteX20" fmla="*/ 428625 w 4457700"/>
                            <a:gd name="connsiteY20" fmla="*/ 3514728 h 4286257"/>
                            <a:gd name="connsiteX21" fmla="*/ 428625 w 4457700"/>
                            <a:gd name="connsiteY21" fmla="*/ 3343278 h 4286257"/>
                            <a:gd name="connsiteX22" fmla="*/ 3111201 w 4457700"/>
                            <a:gd name="connsiteY22" fmla="*/ 2425442 h 4286257"/>
                            <a:gd name="connsiteX23" fmla="*/ 2657476 w 4457700"/>
                            <a:gd name="connsiteY23" fmla="*/ 2879167 h 4286257"/>
                            <a:gd name="connsiteX24" fmla="*/ 2460886 w 4457700"/>
                            <a:gd name="connsiteY24" fmla="*/ 2682617 h 4286257"/>
                            <a:gd name="connsiteX25" fmla="*/ 2339686 w 4457700"/>
                            <a:gd name="connsiteY25" fmla="*/ 2803817 h 4286257"/>
                            <a:gd name="connsiteX26" fmla="*/ 2596861 w 4457700"/>
                            <a:gd name="connsiteY26" fmla="*/ 3060992 h 4286257"/>
                            <a:gd name="connsiteX27" fmla="*/ 2718100 w 4457700"/>
                            <a:gd name="connsiteY27" fmla="*/ 3060992 h 4286257"/>
                            <a:gd name="connsiteX28" fmla="*/ 3232402 w 4457700"/>
                            <a:gd name="connsiteY28" fmla="*/ 2546642 h 4286257"/>
                            <a:gd name="connsiteX29" fmla="*/ 428625 w 4457700"/>
                            <a:gd name="connsiteY29" fmla="*/ 2314578 h 4286257"/>
                            <a:gd name="connsiteX30" fmla="*/ 771525 w 4457700"/>
                            <a:gd name="connsiteY30" fmla="*/ 2314578 h 4286257"/>
                            <a:gd name="connsiteX31" fmla="*/ 771525 w 4457700"/>
                            <a:gd name="connsiteY31" fmla="*/ 2657478 h 4286257"/>
                            <a:gd name="connsiteX32" fmla="*/ 428625 w 4457700"/>
                            <a:gd name="connsiteY32" fmla="*/ 2657478 h 4286257"/>
                            <a:gd name="connsiteX33" fmla="*/ 1200150 w 4457700"/>
                            <a:gd name="connsiteY33" fmla="*/ 2143128 h 4286257"/>
                            <a:gd name="connsiteX34" fmla="*/ 1200150 w 4457700"/>
                            <a:gd name="connsiteY34" fmla="*/ 2314578 h 4286257"/>
                            <a:gd name="connsiteX35" fmla="*/ 1371600 w 4457700"/>
                            <a:gd name="connsiteY35" fmla="*/ 2314578 h 4286257"/>
                            <a:gd name="connsiteX36" fmla="*/ 1371600 w 4457700"/>
                            <a:gd name="connsiteY36" fmla="*/ 2143128 h 4286257"/>
                            <a:gd name="connsiteX37" fmla="*/ 342900 w 4457700"/>
                            <a:gd name="connsiteY37" fmla="*/ 2143128 h 4286257"/>
                            <a:gd name="connsiteX38" fmla="*/ 257175 w 4457700"/>
                            <a:gd name="connsiteY38" fmla="*/ 2228853 h 4286257"/>
                            <a:gd name="connsiteX39" fmla="*/ 257175 w 4457700"/>
                            <a:gd name="connsiteY39" fmla="*/ 2743203 h 4286257"/>
                            <a:gd name="connsiteX40" fmla="*/ 342900 w 4457700"/>
                            <a:gd name="connsiteY40" fmla="*/ 2828928 h 4286257"/>
                            <a:gd name="connsiteX41" fmla="*/ 857250 w 4457700"/>
                            <a:gd name="connsiteY41" fmla="*/ 2828928 h 4286257"/>
                            <a:gd name="connsiteX42" fmla="*/ 917875 w 4457700"/>
                            <a:gd name="connsiteY42" fmla="*/ 2803828 h 4286257"/>
                            <a:gd name="connsiteX43" fmla="*/ 942975 w 4457700"/>
                            <a:gd name="connsiteY43" fmla="*/ 2743203 h 4286257"/>
                            <a:gd name="connsiteX44" fmla="*/ 942975 w 4457700"/>
                            <a:gd name="connsiteY44" fmla="*/ 2228853 h 4286257"/>
                            <a:gd name="connsiteX45" fmla="*/ 917875 w 4457700"/>
                            <a:gd name="connsiteY45" fmla="*/ 2168228 h 4286257"/>
                            <a:gd name="connsiteX46" fmla="*/ 857250 w 4457700"/>
                            <a:gd name="connsiteY46" fmla="*/ 2143128 h 4286257"/>
                            <a:gd name="connsiteX47" fmla="*/ 2743201 w 4457700"/>
                            <a:gd name="connsiteY47" fmla="*/ 1999266 h 4286257"/>
                            <a:gd name="connsiteX48" fmla="*/ 3228159 w 4457700"/>
                            <a:gd name="connsiteY48" fmla="*/ 2200147 h 4286257"/>
                            <a:gd name="connsiteX49" fmla="*/ 3430000 w 4457700"/>
                            <a:gd name="connsiteY49" fmla="*/ 2685066 h 4286257"/>
                            <a:gd name="connsiteX50" fmla="*/ 3228159 w 4457700"/>
                            <a:gd name="connsiteY50" fmla="*/ 3170025 h 4286257"/>
                            <a:gd name="connsiteX51" fmla="*/ 2743201 w 4457700"/>
                            <a:gd name="connsiteY51" fmla="*/ 3370866 h 4286257"/>
                            <a:gd name="connsiteX52" fmla="*/ 2258281 w 4457700"/>
                            <a:gd name="connsiteY52" fmla="*/ 3170025 h 4286257"/>
                            <a:gd name="connsiteX53" fmla="*/ 2057440 w 4457700"/>
                            <a:gd name="connsiteY53" fmla="*/ 2685066 h 4286257"/>
                            <a:gd name="connsiteX54" fmla="*/ 2258281 w 4457700"/>
                            <a:gd name="connsiteY54" fmla="*/ 2200147 h 4286257"/>
                            <a:gd name="connsiteX55" fmla="*/ 2743201 w 4457700"/>
                            <a:gd name="connsiteY55" fmla="*/ 1999266 h 4286257"/>
                            <a:gd name="connsiteX56" fmla="*/ 2702857 w 4457700"/>
                            <a:gd name="connsiteY56" fmla="*/ 1828815 h 4286257"/>
                            <a:gd name="connsiteX57" fmla="*/ 2416035 w 4457700"/>
                            <a:gd name="connsiteY57" fmla="*/ 1892908 h 4286257"/>
                            <a:gd name="connsiteX58" fmla="*/ 1915695 w 4457700"/>
                            <a:gd name="connsiteY58" fmla="*/ 2462789 h 4286257"/>
                            <a:gd name="connsiteX59" fmla="*/ 2063259 w 4457700"/>
                            <a:gd name="connsiteY59" fmla="*/ 3206607 h 4286257"/>
                            <a:gd name="connsiteX60" fmla="*/ 2743201 w 4457700"/>
                            <a:gd name="connsiteY60" fmla="*/ 3542356 h 4286257"/>
                            <a:gd name="connsiteX61" fmla="*/ 2743201 w 4457700"/>
                            <a:gd name="connsiteY61" fmla="*/ 3542003 h 4286257"/>
                            <a:gd name="connsiteX62" fmla="*/ 3349360 w 4457700"/>
                            <a:gd name="connsiteY62" fmla="*/ 3291715 h 4286257"/>
                            <a:gd name="connsiteX63" fmla="*/ 3593603 w 4457700"/>
                            <a:gd name="connsiteY63" fmla="*/ 2573771 h 4286257"/>
                            <a:gd name="connsiteX64" fmla="*/ 3172708 w 4457700"/>
                            <a:gd name="connsiteY64" fmla="*/ 1942962 h 4286257"/>
                            <a:gd name="connsiteX65" fmla="*/ 2702857 w 4457700"/>
                            <a:gd name="connsiteY65" fmla="*/ 1828815 h 4286257"/>
                            <a:gd name="connsiteX66" fmla="*/ 2711031 w 4457700"/>
                            <a:gd name="connsiteY66" fmla="*/ 1656941 h 4286257"/>
                            <a:gd name="connsiteX67" fmla="*/ 3369415 w 4457700"/>
                            <a:gd name="connsiteY67" fmla="*/ 1869033 h 4286257"/>
                            <a:gd name="connsiteX68" fmla="*/ 3771901 w 4457700"/>
                            <a:gd name="connsiteY68" fmla="*/ 2685106 h 4286257"/>
                            <a:gd name="connsiteX69" fmla="*/ 3470560 w 4457700"/>
                            <a:gd name="connsiteY69" fmla="*/ 3412583 h 4286257"/>
                            <a:gd name="connsiteX70" fmla="*/ 2608911 w 4457700"/>
                            <a:gd name="connsiteY70" fmla="*/ 3705047 h 4286257"/>
                            <a:gd name="connsiteX71" fmla="*/ 1852307 w 4457700"/>
                            <a:gd name="connsiteY71" fmla="*/ 3199495 h 4286257"/>
                            <a:gd name="connsiteX72" fmla="*/ 1792800 w 4457700"/>
                            <a:gd name="connsiteY72" fmla="*/ 2291496 h 4286257"/>
                            <a:gd name="connsiteX73" fmla="*/ 2476954 w 4457700"/>
                            <a:gd name="connsiteY73" fmla="*/ 1691499 h 4286257"/>
                            <a:gd name="connsiteX74" fmla="*/ 2711031 w 4457700"/>
                            <a:gd name="connsiteY74" fmla="*/ 1656941 h 4286257"/>
                            <a:gd name="connsiteX75" fmla="*/ 428625 w 4457700"/>
                            <a:gd name="connsiteY75" fmla="*/ 1371604 h 4286257"/>
                            <a:gd name="connsiteX76" fmla="*/ 771525 w 4457700"/>
                            <a:gd name="connsiteY76" fmla="*/ 1371604 h 4286257"/>
                            <a:gd name="connsiteX77" fmla="*/ 771525 w 4457700"/>
                            <a:gd name="connsiteY77" fmla="*/ 1714503 h 4286257"/>
                            <a:gd name="connsiteX78" fmla="*/ 428625 w 4457700"/>
                            <a:gd name="connsiteY78" fmla="*/ 1714503 h 4286257"/>
                            <a:gd name="connsiteX79" fmla="*/ 1543050 w 4457700"/>
                            <a:gd name="connsiteY79" fmla="*/ 1200154 h 4286257"/>
                            <a:gd name="connsiteX80" fmla="*/ 1543050 w 4457700"/>
                            <a:gd name="connsiteY80" fmla="*/ 1371604 h 4286257"/>
                            <a:gd name="connsiteX81" fmla="*/ 2657475 w 4457700"/>
                            <a:gd name="connsiteY81" fmla="*/ 1371604 h 4286257"/>
                            <a:gd name="connsiteX82" fmla="*/ 2657475 w 4457700"/>
                            <a:gd name="connsiteY82" fmla="*/ 1200154 h 4286257"/>
                            <a:gd name="connsiteX83" fmla="*/ 1200150 w 4457700"/>
                            <a:gd name="connsiteY83" fmla="*/ 1200154 h 4286257"/>
                            <a:gd name="connsiteX84" fmla="*/ 1200150 w 4457700"/>
                            <a:gd name="connsiteY84" fmla="*/ 1371604 h 4286257"/>
                            <a:gd name="connsiteX85" fmla="*/ 1371600 w 4457700"/>
                            <a:gd name="connsiteY85" fmla="*/ 1371604 h 4286257"/>
                            <a:gd name="connsiteX86" fmla="*/ 1371600 w 4457700"/>
                            <a:gd name="connsiteY86" fmla="*/ 1200154 h 4286257"/>
                            <a:gd name="connsiteX87" fmla="*/ 342900 w 4457700"/>
                            <a:gd name="connsiteY87" fmla="*/ 1200154 h 4286257"/>
                            <a:gd name="connsiteX88" fmla="*/ 257175 w 4457700"/>
                            <a:gd name="connsiteY88" fmla="*/ 1285879 h 4286257"/>
                            <a:gd name="connsiteX89" fmla="*/ 257175 w 4457700"/>
                            <a:gd name="connsiteY89" fmla="*/ 1800228 h 4286257"/>
                            <a:gd name="connsiteX90" fmla="*/ 342900 w 4457700"/>
                            <a:gd name="connsiteY90" fmla="*/ 1885953 h 4286257"/>
                            <a:gd name="connsiteX91" fmla="*/ 857250 w 4457700"/>
                            <a:gd name="connsiteY91" fmla="*/ 1885953 h 4286257"/>
                            <a:gd name="connsiteX92" fmla="*/ 917875 w 4457700"/>
                            <a:gd name="connsiteY92" fmla="*/ 1860853 h 4286257"/>
                            <a:gd name="connsiteX93" fmla="*/ 942975 w 4457700"/>
                            <a:gd name="connsiteY93" fmla="*/ 1800228 h 4286257"/>
                            <a:gd name="connsiteX94" fmla="*/ 942975 w 4457700"/>
                            <a:gd name="connsiteY94" fmla="*/ 1285879 h 4286257"/>
                            <a:gd name="connsiteX95" fmla="*/ 917875 w 4457700"/>
                            <a:gd name="connsiteY95" fmla="*/ 1225254 h 4286257"/>
                            <a:gd name="connsiteX96" fmla="*/ 857250 w 4457700"/>
                            <a:gd name="connsiteY96" fmla="*/ 1200154 h 4286257"/>
                            <a:gd name="connsiteX97" fmla="*/ 1200150 w 4457700"/>
                            <a:gd name="connsiteY97" fmla="*/ 600079 h 4286257"/>
                            <a:gd name="connsiteX98" fmla="*/ 1200150 w 4457700"/>
                            <a:gd name="connsiteY98" fmla="*/ 771529 h 4286257"/>
                            <a:gd name="connsiteX99" fmla="*/ 2314575 w 4457700"/>
                            <a:gd name="connsiteY99" fmla="*/ 771529 h 4286257"/>
                            <a:gd name="connsiteX100" fmla="*/ 2314575 w 4457700"/>
                            <a:gd name="connsiteY100" fmla="*/ 600079 h 4286257"/>
                            <a:gd name="connsiteX101" fmla="*/ 428625 w 4457700"/>
                            <a:gd name="connsiteY101" fmla="*/ 428628 h 4286257"/>
                            <a:gd name="connsiteX102" fmla="*/ 771525 w 4457700"/>
                            <a:gd name="connsiteY102" fmla="*/ 428628 h 4286257"/>
                            <a:gd name="connsiteX103" fmla="*/ 771525 w 4457700"/>
                            <a:gd name="connsiteY103" fmla="*/ 771528 h 4286257"/>
                            <a:gd name="connsiteX104" fmla="*/ 428625 w 4457700"/>
                            <a:gd name="connsiteY104" fmla="*/ 771528 h 4286257"/>
                            <a:gd name="connsiteX105" fmla="*/ 3600450 w 4457700"/>
                            <a:gd name="connsiteY105" fmla="*/ 342903 h 4286257"/>
                            <a:gd name="connsiteX106" fmla="*/ 3990993 w 4457700"/>
                            <a:gd name="connsiteY106" fmla="*/ 342903 h 4286257"/>
                            <a:gd name="connsiteX107" fmla="*/ 3943350 w 4457700"/>
                            <a:gd name="connsiteY107" fmla="*/ 514353 h 4286257"/>
                            <a:gd name="connsiteX108" fmla="*/ 3943350 w 4457700"/>
                            <a:gd name="connsiteY108" fmla="*/ 1028703 h 4286257"/>
                            <a:gd name="connsiteX109" fmla="*/ 3857625 w 4457700"/>
                            <a:gd name="connsiteY109" fmla="*/ 1177189 h 4286257"/>
                            <a:gd name="connsiteX110" fmla="*/ 3686175 w 4457700"/>
                            <a:gd name="connsiteY110" fmla="*/ 1177189 h 4286257"/>
                            <a:gd name="connsiteX111" fmla="*/ 3600450 w 4457700"/>
                            <a:gd name="connsiteY111" fmla="*/ 1028703 h 4286257"/>
                            <a:gd name="connsiteX112" fmla="*/ 4286250 w 4457700"/>
                            <a:gd name="connsiteY112" fmla="*/ 342903 h 4286257"/>
                            <a:gd name="connsiteX113" fmla="*/ 4407490 w 4457700"/>
                            <a:gd name="connsiteY113" fmla="*/ 393113 h 4286257"/>
                            <a:gd name="connsiteX114" fmla="*/ 4457700 w 4457700"/>
                            <a:gd name="connsiteY114" fmla="*/ 514353 h 4286257"/>
                            <a:gd name="connsiteX115" fmla="*/ 4457700 w 4457700"/>
                            <a:gd name="connsiteY115" fmla="*/ 771528 h 4286257"/>
                            <a:gd name="connsiteX116" fmla="*/ 4114800 w 4457700"/>
                            <a:gd name="connsiteY116" fmla="*/ 771528 h 4286257"/>
                            <a:gd name="connsiteX117" fmla="*/ 4114800 w 4457700"/>
                            <a:gd name="connsiteY117" fmla="*/ 514353 h 4286257"/>
                            <a:gd name="connsiteX118" fmla="*/ 4165010 w 4457700"/>
                            <a:gd name="connsiteY118" fmla="*/ 393113 h 4286257"/>
                            <a:gd name="connsiteX119" fmla="*/ 4286250 w 4457700"/>
                            <a:gd name="connsiteY119" fmla="*/ 342903 h 4286257"/>
                            <a:gd name="connsiteX120" fmla="*/ 1543050 w 4457700"/>
                            <a:gd name="connsiteY120" fmla="*/ 257179 h 4286257"/>
                            <a:gd name="connsiteX121" fmla="*/ 1543050 w 4457700"/>
                            <a:gd name="connsiteY121" fmla="*/ 428629 h 4286257"/>
                            <a:gd name="connsiteX122" fmla="*/ 2657475 w 4457700"/>
                            <a:gd name="connsiteY122" fmla="*/ 428629 h 4286257"/>
                            <a:gd name="connsiteX123" fmla="*/ 2657475 w 4457700"/>
                            <a:gd name="connsiteY123" fmla="*/ 257179 h 4286257"/>
                            <a:gd name="connsiteX124" fmla="*/ 1200150 w 4457700"/>
                            <a:gd name="connsiteY124" fmla="*/ 257179 h 4286257"/>
                            <a:gd name="connsiteX125" fmla="*/ 1200150 w 4457700"/>
                            <a:gd name="connsiteY125" fmla="*/ 428629 h 4286257"/>
                            <a:gd name="connsiteX126" fmla="*/ 1371600 w 4457700"/>
                            <a:gd name="connsiteY126" fmla="*/ 428629 h 4286257"/>
                            <a:gd name="connsiteX127" fmla="*/ 1371600 w 4457700"/>
                            <a:gd name="connsiteY127" fmla="*/ 257179 h 4286257"/>
                            <a:gd name="connsiteX128" fmla="*/ 342900 w 4457700"/>
                            <a:gd name="connsiteY128" fmla="*/ 257179 h 4286257"/>
                            <a:gd name="connsiteX129" fmla="*/ 257175 w 4457700"/>
                            <a:gd name="connsiteY129" fmla="*/ 342904 h 4286257"/>
                            <a:gd name="connsiteX130" fmla="*/ 257175 w 4457700"/>
                            <a:gd name="connsiteY130" fmla="*/ 857254 h 4286257"/>
                            <a:gd name="connsiteX131" fmla="*/ 342900 w 4457700"/>
                            <a:gd name="connsiteY131" fmla="*/ 942979 h 4286257"/>
                            <a:gd name="connsiteX132" fmla="*/ 857250 w 4457700"/>
                            <a:gd name="connsiteY132" fmla="*/ 942979 h 4286257"/>
                            <a:gd name="connsiteX133" fmla="*/ 917875 w 4457700"/>
                            <a:gd name="connsiteY133" fmla="*/ 917879 h 4286257"/>
                            <a:gd name="connsiteX134" fmla="*/ 942975 w 4457700"/>
                            <a:gd name="connsiteY134" fmla="*/ 857254 h 4286257"/>
                            <a:gd name="connsiteX135" fmla="*/ 942975 w 4457700"/>
                            <a:gd name="connsiteY135" fmla="*/ 342904 h 4286257"/>
                            <a:gd name="connsiteX136" fmla="*/ 917875 w 4457700"/>
                            <a:gd name="connsiteY136" fmla="*/ 282284 h 4286257"/>
                            <a:gd name="connsiteX137" fmla="*/ 857250 w 4457700"/>
                            <a:gd name="connsiteY137" fmla="*/ 257179 h 4286257"/>
                            <a:gd name="connsiteX138" fmla="*/ 3257550 w 4457700"/>
                            <a:gd name="connsiteY138" fmla="*/ 6 h 4286257"/>
                            <a:gd name="connsiteX139" fmla="*/ 3343275 w 4457700"/>
                            <a:gd name="connsiteY139" fmla="*/ 22968 h 4286257"/>
                            <a:gd name="connsiteX140" fmla="*/ 3429000 w 4457700"/>
                            <a:gd name="connsiteY140" fmla="*/ 171454 h 4286257"/>
                            <a:gd name="connsiteX141" fmla="*/ 3429000 w 4457700"/>
                            <a:gd name="connsiteY141" fmla="*/ 1028704 h 4286257"/>
                            <a:gd name="connsiteX142" fmla="*/ 3476644 w 4457700"/>
                            <a:gd name="connsiteY142" fmla="*/ 1200154 h 4286257"/>
                            <a:gd name="connsiteX143" fmla="*/ 3086100 w 4457700"/>
                            <a:gd name="connsiteY143" fmla="*/ 1200154 h 4286257"/>
                            <a:gd name="connsiteX144" fmla="*/ 3086100 w 4457700"/>
                            <a:gd name="connsiteY144" fmla="*/ 171454 h 4286257"/>
                            <a:gd name="connsiteX145" fmla="*/ 3171825 w 4457700"/>
                            <a:gd name="connsiteY145" fmla="*/ 22968 h 4286257"/>
                            <a:gd name="connsiteX146" fmla="*/ 3257550 w 4457700"/>
                            <a:gd name="connsiteY146" fmla="*/ 6 h 4286257"/>
                            <a:gd name="connsiteX147" fmla="*/ 171519 w 4457700"/>
                            <a:gd name="connsiteY147" fmla="*/ 0 h 4286257"/>
                            <a:gd name="connsiteX148" fmla="*/ 2962333 w 4457700"/>
                            <a:gd name="connsiteY148" fmla="*/ 0 h 4286257"/>
                            <a:gd name="connsiteX149" fmla="*/ 2914689 w 4457700"/>
                            <a:gd name="connsiteY149" fmla="*/ 171450 h 4286257"/>
                            <a:gd name="connsiteX150" fmla="*/ 2914689 w 4457700"/>
                            <a:gd name="connsiteY150" fmla="*/ 1498476 h 4286257"/>
                            <a:gd name="connsiteX151" fmla="*/ 2374622 w 4457700"/>
                            <a:gd name="connsiteY151" fmla="*/ 1543053 h 4286257"/>
                            <a:gd name="connsiteX152" fmla="*/ 1200140 w 4457700"/>
                            <a:gd name="connsiteY152" fmla="*/ 1543053 h 4286257"/>
                            <a:gd name="connsiteX153" fmla="*/ 1200140 w 4457700"/>
                            <a:gd name="connsiteY153" fmla="*/ 1714503 h 4286257"/>
                            <a:gd name="connsiteX154" fmla="*/ 2039217 w 4457700"/>
                            <a:gd name="connsiteY154" fmla="*/ 1714503 h 4286257"/>
                            <a:gd name="connsiteX155" fmla="*/ 1672823 w 4457700"/>
                            <a:gd name="connsiteY155" fmla="*/ 2143128 h 4286257"/>
                            <a:gd name="connsiteX156" fmla="*/ 1543050 w 4457700"/>
                            <a:gd name="connsiteY156" fmla="*/ 2143128 h 4286257"/>
                            <a:gd name="connsiteX157" fmla="*/ 1543050 w 4457700"/>
                            <a:gd name="connsiteY157" fmla="*/ 2314578 h 4286257"/>
                            <a:gd name="connsiteX158" fmla="*/ 1601519 w 4457700"/>
                            <a:gd name="connsiteY158" fmla="*/ 2314578 h 4286257"/>
                            <a:gd name="connsiteX159" fmla="*/ 1560195 w 4457700"/>
                            <a:gd name="connsiteY159" fmla="*/ 2486028 h 4286257"/>
                            <a:gd name="connsiteX160" fmla="*/ 1200150 w 4457700"/>
                            <a:gd name="connsiteY160" fmla="*/ 2486028 h 4286257"/>
                            <a:gd name="connsiteX161" fmla="*/ 1200150 w 4457700"/>
                            <a:gd name="connsiteY161" fmla="*/ 2657478 h 4286257"/>
                            <a:gd name="connsiteX162" fmla="*/ 1544431 w 4457700"/>
                            <a:gd name="connsiteY162" fmla="*/ 2657478 h 4286257"/>
                            <a:gd name="connsiteX163" fmla="*/ 1543050 w 4457700"/>
                            <a:gd name="connsiteY163" fmla="*/ 2685076 h 4286257"/>
                            <a:gd name="connsiteX164" fmla="*/ 1894562 w 4457700"/>
                            <a:gd name="connsiteY164" fmla="*/ 3533715 h 4286257"/>
                            <a:gd name="connsiteX165" fmla="*/ 2743200 w 4457700"/>
                            <a:gd name="connsiteY165" fmla="*/ 3885226 h 4286257"/>
                            <a:gd name="connsiteX166" fmla="*/ 2914650 w 4457700"/>
                            <a:gd name="connsiteY166" fmla="*/ 3871677 h 4286257"/>
                            <a:gd name="connsiteX167" fmla="*/ 2914650 w 4457700"/>
                            <a:gd name="connsiteY167" fmla="*/ 4114803 h 4286257"/>
                            <a:gd name="connsiteX168" fmla="*/ 0 w 4457700"/>
                            <a:gd name="connsiteY168" fmla="*/ 4114803 h 4286257"/>
                            <a:gd name="connsiteX169" fmla="*/ 0 w 4457700"/>
                            <a:gd name="connsiteY169" fmla="*/ 171454 h 4286257"/>
                            <a:gd name="connsiteX170" fmla="*/ 69 w 4457700"/>
                            <a:gd name="connsiteY170" fmla="*/ 171450 h 4286257"/>
                            <a:gd name="connsiteX171" fmla="*/ 50279 w 4457700"/>
                            <a:gd name="connsiteY171" fmla="*/ 50210 h 4286257"/>
                            <a:gd name="connsiteX172" fmla="*/ 171519 w 4457700"/>
                            <a:gd name="connsiteY172" fmla="*/ 0 h 4286257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  <a:cxn ang="0">
                              <a:pos x="connsiteX15" y="connsiteY15"/>
                            </a:cxn>
                            <a:cxn ang="0">
                              <a:pos x="connsiteX16" y="connsiteY16"/>
                            </a:cxn>
                            <a:cxn ang="0">
                              <a:pos x="connsiteX17" y="connsiteY17"/>
                            </a:cxn>
                            <a:cxn ang="0">
                              <a:pos x="connsiteX18" y="connsiteY18"/>
                            </a:cxn>
                            <a:cxn ang="0">
                              <a:pos x="connsiteX19" y="connsiteY19"/>
                            </a:cxn>
                            <a:cxn ang="0">
                              <a:pos x="connsiteX20" y="connsiteY20"/>
                            </a:cxn>
                            <a:cxn ang="0">
                              <a:pos x="connsiteX21" y="connsiteY21"/>
                            </a:cxn>
                            <a:cxn ang="0">
                              <a:pos x="connsiteX22" y="connsiteY22"/>
                            </a:cxn>
                            <a:cxn ang="0">
                              <a:pos x="connsiteX23" y="connsiteY23"/>
                            </a:cxn>
                            <a:cxn ang="0">
                              <a:pos x="connsiteX24" y="connsiteY24"/>
                            </a:cxn>
                            <a:cxn ang="0">
                              <a:pos x="connsiteX25" y="connsiteY25"/>
                            </a:cxn>
                            <a:cxn ang="0">
                              <a:pos x="connsiteX26" y="connsiteY26"/>
                            </a:cxn>
                            <a:cxn ang="0">
                              <a:pos x="connsiteX27" y="connsiteY27"/>
                            </a:cxn>
                            <a:cxn ang="0">
                              <a:pos x="connsiteX28" y="connsiteY28"/>
                            </a:cxn>
                            <a:cxn ang="0">
                              <a:pos x="connsiteX29" y="connsiteY29"/>
                            </a:cxn>
                            <a:cxn ang="0">
                              <a:pos x="connsiteX30" y="connsiteY30"/>
                            </a:cxn>
                            <a:cxn ang="0">
                              <a:pos x="connsiteX31" y="connsiteY31"/>
                            </a:cxn>
                            <a:cxn ang="0">
                              <a:pos x="connsiteX32" y="connsiteY32"/>
                            </a:cxn>
                            <a:cxn ang="0">
                              <a:pos x="connsiteX33" y="connsiteY33"/>
                            </a:cxn>
                            <a:cxn ang="0">
                              <a:pos x="connsiteX34" y="connsiteY34"/>
                            </a:cxn>
                            <a:cxn ang="0">
                              <a:pos x="connsiteX35" y="connsiteY35"/>
                            </a:cxn>
                            <a:cxn ang="0">
                              <a:pos x="connsiteX36" y="connsiteY36"/>
                            </a:cxn>
                            <a:cxn ang="0">
                              <a:pos x="connsiteX37" y="connsiteY37"/>
                            </a:cxn>
                            <a:cxn ang="0">
                              <a:pos x="connsiteX38" y="connsiteY38"/>
                            </a:cxn>
                            <a:cxn ang="0">
                              <a:pos x="connsiteX39" y="connsiteY39"/>
                            </a:cxn>
                            <a:cxn ang="0">
                              <a:pos x="connsiteX40" y="connsiteY40"/>
                            </a:cxn>
                            <a:cxn ang="0">
                              <a:pos x="connsiteX41" y="connsiteY41"/>
                            </a:cxn>
                            <a:cxn ang="0">
                              <a:pos x="connsiteX42" y="connsiteY42"/>
                            </a:cxn>
                            <a:cxn ang="0">
                              <a:pos x="connsiteX43" y="connsiteY43"/>
                            </a:cxn>
                            <a:cxn ang="0">
                              <a:pos x="connsiteX44" y="connsiteY44"/>
                            </a:cxn>
                            <a:cxn ang="0">
                              <a:pos x="connsiteX45" y="connsiteY45"/>
                            </a:cxn>
                            <a:cxn ang="0">
                              <a:pos x="connsiteX46" y="connsiteY46"/>
                            </a:cxn>
                            <a:cxn ang="0">
                              <a:pos x="connsiteX47" y="connsiteY47"/>
                            </a:cxn>
                            <a:cxn ang="0">
                              <a:pos x="connsiteX48" y="connsiteY48"/>
                            </a:cxn>
                            <a:cxn ang="0">
                              <a:pos x="connsiteX49" y="connsiteY49"/>
                            </a:cxn>
                            <a:cxn ang="0">
                              <a:pos x="connsiteX50" y="connsiteY50"/>
                            </a:cxn>
                            <a:cxn ang="0">
                              <a:pos x="connsiteX51" y="connsiteY51"/>
                            </a:cxn>
                            <a:cxn ang="0">
                              <a:pos x="connsiteX52" y="connsiteY52"/>
                            </a:cxn>
                            <a:cxn ang="0">
                              <a:pos x="connsiteX53" y="connsiteY53"/>
                            </a:cxn>
                            <a:cxn ang="0">
                              <a:pos x="connsiteX54" y="connsiteY54"/>
                            </a:cxn>
                            <a:cxn ang="0">
                              <a:pos x="connsiteX55" y="connsiteY55"/>
                            </a:cxn>
                            <a:cxn ang="0">
                              <a:pos x="connsiteX56" y="connsiteY56"/>
                            </a:cxn>
                            <a:cxn ang="0">
                              <a:pos x="connsiteX57" y="connsiteY57"/>
                            </a:cxn>
                            <a:cxn ang="0">
                              <a:pos x="connsiteX58" y="connsiteY58"/>
                            </a:cxn>
                            <a:cxn ang="0">
                              <a:pos x="connsiteX59" y="connsiteY59"/>
                            </a:cxn>
                            <a:cxn ang="0">
                              <a:pos x="connsiteX60" y="connsiteY60"/>
                            </a:cxn>
                            <a:cxn ang="0">
                              <a:pos x="connsiteX61" y="connsiteY61"/>
                            </a:cxn>
                            <a:cxn ang="0">
                              <a:pos x="connsiteX62" y="connsiteY62"/>
                            </a:cxn>
                            <a:cxn ang="0">
                              <a:pos x="connsiteX63" y="connsiteY63"/>
                            </a:cxn>
                            <a:cxn ang="0">
                              <a:pos x="connsiteX64" y="connsiteY64"/>
                            </a:cxn>
                            <a:cxn ang="0">
                              <a:pos x="connsiteX65" y="connsiteY65"/>
                            </a:cxn>
                            <a:cxn ang="0">
                              <a:pos x="connsiteX66" y="connsiteY66"/>
                            </a:cxn>
                            <a:cxn ang="0">
                              <a:pos x="connsiteX67" y="connsiteY67"/>
                            </a:cxn>
                            <a:cxn ang="0">
                              <a:pos x="connsiteX68" y="connsiteY68"/>
                            </a:cxn>
                            <a:cxn ang="0">
                              <a:pos x="connsiteX69" y="connsiteY69"/>
                            </a:cxn>
                            <a:cxn ang="0">
                              <a:pos x="connsiteX70" y="connsiteY70"/>
                            </a:cxn>
                            <a:cxn ang="0">
                              <a:pos x="connsiteX71" y="connsiteY71"/>
                            </a:cxn>
                            <a:cxn ang="0">
                              <a:pos x="connsiteX72" y="connsiteY72"/>
                            </a:cxn>
                            <a:cxn ang="0">
                              <a:pos x="connsiteX73" y="connsiteY73"/>
                            </a:cxn>
                            <a:cxn ang="0">
                              <a:pos x="connsiteX74" y="connsiteY74"/>
                            </a:cxn>
                            <a:cxn ang="0">
                              <a:pos x="connsiteX75" y="connsiteY75"/>
                            </a:cxn>
                            <a:cxn ang="0">
                              <a:pos x="connsiteX76" y="connsiteY76"/>
                            </a:cxn>
                            <a:cxn ang="0">
                              <a:pos x="connsiteX77" y="connsiteY77"/>
                            </a:cxn>
                            <a:cxn ang="0">
                              <a:pos x="connsiteX78" y="connsiteY78"/>
                            </a:cxn>
                            <a:cxn ang="0">
                              <a:pos x="connsiteX79" y="connsiteY79"/>
                            </a:cxn>
                            <a:cxn ang="0">
                              <a:pos x="connsiteX80" y="connsiteY80"/>
                            </a:cxn>
                            <a:cxn ang="0">
                              <a:pos x="connsiteX81" y="connsiteY81"/>
                            </a:cxn>
                            <a:cxn ang="0">
                              <a:pos x="connsiteX82" y="connsiteY82"/>
                            </a:cxn>
                            <a:cxn ang="0">
                              <a:pos x="connsiteX83" y="connsiteY83"/>
                            </a:cxn>
                            <a:cxn ang="0">
                              <a:pos x="connsiteX84" y="connsiteY84"/>
                            </a:cxn>
                            <a:cxn ang="0">
                              <a:pos x="connsiteX85" y="connsiteY85"/>
                            </a:cxn>
                            <a:cxn ang="0">
                              <a:pos x="connsiteX86" y="connsiteY86"/>
                            </a:cxn>
                            <a:cxn ang="0">
                              <a:pos x="connsiteX87" y="connsiteY87"/>
                            </a:cxn>
                            <a:cxn ang="0">
                              <a:pos x="connsiteX88" y="connsiteY88"/>
                            </a:cxn>
                            <a:cxn ang="0">
                              <a:pos x="connsiteX89" y="connsiteY89"/>
                            </a:cxn>
                            <a:cxn ang="0">
                              <a:pos x="connsiteX90" y="connsiteY90"/>
                            </a:cxn>
                            <a:cxn ang="0">
                              <a:pos x="connsiteX91" y="connsiteY91"/>
                            </a:cxn>
                            <a:cxn ang="0">
                              <a:pos x="connsiteX92" y="connsiteY92"/>
                            </a:cxn>
                            <a:cxn ang="0">
                              <a:pos x="connsiteX93" y="connsiteY93"/>
                            </a:cxn>
                            <a:cxn ang="0">
                              <a:pos x="connsiteX94" y="connsiteY94"/>
                            </a:cxn>
                            <a:cxn ang="0">
                              <a:pos x="connsiteX95" y="connsiteY95"/>
                            </a:cxn>
                            <a:cxn ang="0">
                              <a:pos x="connsiteX96" y="connsiteY96"/>
                            </a:cxn>
                            <a:cxn ang="0">
                              <a:pos x="connsiteX97" y="connsiteY97"/>
                            </a:cxn>
                            <a:cxn ang="0">
                              <a:pos x="connsiteX98" y="connsiteY98"/>
                            </a:cxn>
                            <a:cxn ang="0">
                              <a:pos x="connsiteX99" y="connsiteY99"/>
                            </a:cxn>
                            <a:cxn ang="0">
                              <a:pos x="connsiteX100" y="connsiteY100"/>
                            </a:cxn>
                            <a:cxn ang="0">
                              <a:pos x="connsiteX101" y="connsiteY101"/>
                            </a:cxn>
                            <a:cxn ang="0">
                              <a:pos x="connsiteX102" y="connsiteY102"/>
                            </a:cxn>
                            <a:cxn ang="0">
                              <a:pos x="connsiteX103" y="connsiteY103"/>
                            </a:cxn>
                            <a:cxn ang="0">
                              <a:pos x="connsiteX104" y="connsiteY104"/>
                            </a:cxn>
                            <a:cxn ang="0">
                              <a:pos x="connsiteX105" y="connsiteY105"/>
                            </a:cxn>
                            <a:cxn ang="0">
                              <a:pos x="connsiteX106" y="connsiteY106"/>
                            </a:cxn>
                            <a:cxn ang="0">
                              <a:pos x="connsiteX107" y="connsiteY107"/>
                            </a:cxn>
                            <a:cxn ang="0">
                              <a:pos x="connsiteX108" y="connsiteY108"/>
                            </a:cxn>
                            <a:cxn ang="0">
                              <a:pos x="connsiteX109" y="connsiteY109"/>
                            </a:cxn>
                            <a:cxn ang="0">
                              <a:pos x="connsiteX110" y="connsiteY110"/>
                            </a:cxn>
                            <a:cxn ang="0">
                              <a:pos x="connsiteX111" y="connsiteY111"/>
                            </a:cxn>
                            <a:cxn ang="0">
                              <a:pos x="connsiteX112" y="connsiteY112"/>
                            </a:cxn>
                            <a:cxn ang="0">
                              <a:pos x="connsiteX113" y="connsiteY113"/>
                            </a:cxn>
                            <a:cxn ang="0">
                              <a:pos x="connsiteX114" y="connsiteY114"/>
                            </a:cxn>
                            <a:cxn ang="0">
                              <a:pos x="connsiteX115" y="connsiteY115"/>
                            </a:cxn>
                            <a:cxn ang="0">
                              <a:pos x="connsiteX116" y="connsiteY116"/>
                            </a:cxn>
                            <a:cxn ang="0">
                              <a:pos x="connsiteX117" y="connsiteY117"/>
                            </a:cxn>
                            <a:cxn ang="0">
                              <a:pos x="connsiteX118" y="connsiteY118"/>
                            </a:cxn>
                            <a:cxn ang="0">
                              <a:pos x="connsiteX119" y="connsiteY119"/>
                            </a:cxn>
                            <a:cxn ang="0">
                              <a:pos x="connsiteX120" y="connsiteY120"/>
                            </a:cxn>
                            <a:cxn ang="0">
                              <a:pos x="connsiteX121" y="connsiteY121"/>
                            </a:cxn>
                            <a:cxn ang="0">
                              <a:pos x="connsiteX122" y="connsiteY122"/>
                            </a:cxn>
                            <a:cxn ang="0">
                              <a:pos x="connsiteX123" y="connsiteY123"/>
                            </a:cxn>
                            <a:cxn ang="0">
                              <a:pos x="connsiteX124" y="connsiteY124"/>
                            </a:cxn>
                            <a:cxn ang="0">
                              <a:pos x="connsiteX125" y="connsiteY125"/>
                            </a:cxn>
                            <a:cxn ang="0">
                              <a:pos x="connsiteX126" y="connsiteY126"/>
                            </a:cxn>
                            <a:cxn ang="0">
                              <a:pos x="connsiteX127" y="connsiteY127"/>
                            </a:cxn>
                            <a:cxn ang="0">
                              <a:pos x="connsiteX128" y="connsiteY128"/>
                            </a:cxn>
                            <a:cxn ang="0">
                              <a:pos x="connsiteX129" y="connsiteY129"/>
                            </a:cxn>
                            <a:cxn ang="0">
                              <a:pos x="connsiteX130" y="connsiteY130"/>
                            </a:cxn>
                            <a:cxn ang="0">
                              <a:pos x="connsiteX131" y="connsiteY131"/>
                            </a:cxn>
                            <a:cxn ang="0">
                              <a:pos x="connsiteX132" y="connsiteY132"/>
                            </a:cxn>
                            <a:cxn ang="0">
                              <a:pos x="connsiteX133" y="connsiteY133"/>
                            </a:cxn>
                            <a:cxn ang="0">
                              <a:pos x="connsiteX134" y="connsiteY134"/>
                            </a:cxn>
                            <a:cxn ang="0">
                              <a:pos x="connsiteX135" y="connsiteY135"/>
                            </a:cxn>
                            <a:cxn ang="0">
                              <a:pos x="connsiteX136" y="connsiteY136"/>
                            </a:cxn>
                            <a:cxn ang="0">
                              <a:pos x="connsiteX137" y="connsiteY137"/>
                            </a:cxn>
                            <a:cxn ang="0">
                              <a:pos x="connsiteX138" y="connsiteY138"/>
                            </a:cxn>
                            <a:cxn ang="0">
                              <a:pos x="connsiteX139" y="connsiteY139"/>
                            </a:cxn>
                            <a:cxn ang="0">
                              <a:pos x="connsiteX140" y="connsiteY140"/>
                            </a:cxn>
                            <a:cxn ang="0">
                              <a:pos x="connsiteX141" y="connsiteY141"/>
                            </a:cxn>
                            <a:cxn ang="0">
                              <a:pos x="connsiteX142" y="connsiteY142"/>
                            </a:cxn>
                            <a:cxn ang="0">
                              <a:pos x="connsiteX143" y="connsiteY143"/>
                            </a:cxn>
                            <a:cxn ang="0">
                              <a:pos x="connsiteX144" y="connsiteY144"/>
                            </a:cxn>
                            <a:cxn ang="0">
                              <a:pos x="connsiteX145" y="connsiteY145"/>
                            </a:cxn>
                            <a:cxn ang="0">
                              <a:pos x="connsiteX146" y="connsiteY146"/>
                            </a:cxn>
                            <a:cxn ang="0">
                              <a:pos x="connsiteX147" y="connsiteY147"/>
                            </a:cxn>
                            <a:cxn ang="0">
                              <a:pos x="connsiteX148" y="connsiteY148"/>
                            </a:cxn>
                            <a:cxn ang="0">
                              <a:pos x="connsiteX149" y="connsiteY149"/>
                            </a:cxn>
                            <a:cxn ang="0">
                              <a:pos x="connsiteX150" y="connsiteY150"/>
                            </a:cxn>
                            <a:cxn ang="0">
                              <a:pos x="connsiteX151" y="connsiteY151"/>
                            </a:cxn>
                            <a:cxn ang="0">
                              <a:pos x="connsiteX152" y="connsiteY152"/>
                            </a:cxn>
                            <a:cxn ang="0">
                              <a:pos x="connsiteX153" y="connsiteY153"/>
                            </a:cxn>
                            <a:cxn ang="0">
                              <a:pos x="connsiteX154" y="connsiteY154"/>
                            </a:cxn>
                            <a:cxn ang="0">
                              <a:pos x="connsiteX155" y="connsiteY155"/>
                            </a:cxn>
                            <a:cxn ang="0">
                              <a:pos x="connsiteX156" y="connsiteY156"/>
                            </a:cxn>
                            <a:cxn ang="0">
                              <a:pos x="connsiteX157" y="connsiteY157"/>
                            </a:cxn>
                            <a:cxn ang="0">
                              <a:pos x="connsiteX158" y="connsiteY158"/>
                            </a:cxn>
                            <a:cxn ang="0">
                              <a:pos x="connsiteX159" y="connsiteY159"/>
                            </a:cxn>
                            <a:cxn ang="0">
                              <a:pos x="connsiteX160" y="connsiteY160"/>
                            </a:cxn>
                            <a:cxn ang="0">
                              <a:pos x="connsiteX161" y="connsiteY161"/>
                            </a:cxn>
                            <a:cxn ang="0">
                              <a:pos x="connsiteX162" y="connsiteY162"/>
                            </a:cxn>
                            <a:cxn ang="0">
                              <a:pos x="connsiteX163" y="connsiteY163"/>
                            </a:cxn>
                            <a:cxn ang="0">
                              <a:pos x="connsiteX164" y="connsiteY164"/>
                            </a:cxn>
                            <a:cxn ang="0">
                              <a:pos x="connsiteX165" y="connsiteY165"/>
                            </a:cxn>
                            <a:cxn ang="0">
                              <a:pos x="connsiteX166" y="connsiteY166"/>
                            </a:cxn>
                            <a:cxn ang="0">
                              <a:pos x="connsiteX167" y="connsiteY167"/>
                            </a:cxn>
                            <a:cxn ang="0">
                              <a:pos x="connsiteX168" y="connsiteY168"/>
                            </a:cxn>
                            <a:cxn ang="0">
                              <a:pos x="connsiteX169" y="connsiteY169"/>
                            </a:cxn>
                            <a:cxn ang="0">
                              <a:pos x="connsiteX170" y="connsiteY170"/>
                            </a:cxn>
                            <a:cxn ang="0">
                              <a:pos x="connsiteX171" y="connsiteY171"/>
                            </a:cxn>
                            <a:cxn ang="0">
                              <a:pos x="connsiteX172" y="connsiteY172"/>
                            </a:cxn>
                          </a:cxnLst>
                          <a:rect l="l" t="t" r="r" b="b"/>
                          <a:pathLst>
                            <a:path w="4457700" h="4286257">
                              <a:moveTo>
                                <a:pt x="3894933" y="3715598"/>
                              </a:moveTo>
                              <a:lnTo>
                                <a:pt x="4319267" y="4139932"/>
                              </a:lnTo>
                              <a:cubicBezTo>
                                <a:pt x="4352754" y="4173419"/>
                                <a:pt x="4352754" y="4227685"/>
                                <a:pt x="4319267" y="4261172"/>
                              </a:cubicBezTo>
                              <a:cubicBezTo>
                                <a:pt x="4285820" y="4294619"/>
                                <a:pt x="4231553" y="4294619"/>
                                <a:pt x="4198067" y="4261172"/>
                              </a:cubicBezTo>
                              <a:lnTo>
                                <a:pt x="4198067" y="4261132"/>
                              </a:lnTo>
                              <a:lnTo>
                                <a:pt x="3773733" y="3836798"/>
                              </a:lnTo>
                              <a:close/>
                              <a:moveTo>
                                <a:pt x="257175" y="3686178"/>
                              </a:moveTo>
                              <a:lnTo>
                                <a:pt x="257175" y="3857628"/>
                              </a:lnTo>
                              <a:lnTo>
                                <a:pt x="1714500" y="3857628"/>
                              </a:lnTo>
                              <a:lnTo>
                                <a:pt x="1714500" y="3686178"/>
                              </a:lnTo>
                              <a:close/>
                              <a:moveTo>
                                <a:pt x="3652425" y="3473139"/>
                              </a:moveTo>
                              <a:lnTo>
                                <a:pt x="3773664" y="3594379"/>
                              </a:lnTo>
                              <a:lnTo>
                                <a:pt x="3652425" y="3715618"/>
                              </a:lnTo>
                              <a:lnTo>
                                <a:pt x="3531185" y="3594379"/>
                              </a:lnTo>
                              <a:close/>
                              <a:moveTo>
                                <a:pt x="600075" y="3343278"/>
                              </a:moveTo>
                              <a:lnTo>
                                <a:pt x="600075" y="3514728"/>
                              </a:lnTo>
                              <a:lnTo>
                                <a:pt x="1543050" y="3514728"/>
                              </a:lnTo>
                              <a:lnTo>
                                <a:pt x="1543050" y="3343278"/>
                              </a:lnTo>
                              <a:close/>
                              <a:moveTo>
                                <a:pt x="257175" y="3343278"/>
                              </a:moveTo>
                              <a:lnTo>
                                <a:pt x="257175" y="3514728"/>
                              </a:lnTo>
                              <a:lnTo>
                                <a:pt x="428625" y="3514728"/>
                              </a:lnTo>
                              <a:lnTo>
                                <a:pt x="428625" y="3343278"/>
                              </a:lnTo>
                              <a:close/>
                              <a:moveTo>
                                <a:pt x="3111201" y="2425442"/>
                              </a:moveTo>
                              <a:lnTo>
                                <a:pt x="2657476" y="2879167"/>
                              </a:lnTo>
                              <a:lnTo>
                                <a:pt x="2460886" y="2682617"/>
                              </a:lnTo>
                              <a:lnTo>
                                <a:pt x="2339686" y="2803817"/>
                              </a:lnTo>
                              <a:lnTo>
                                <a:pt x="2596861" y="3060992"/>
                              </a:lnTo>
                              <a:cubicBezTo>
                                <a:pt x="2630347" y="3094440"/>
                                <a:pt x="2684614" y="3094440"/>
                                <a:pt x="2718100" y="3060992"/>
                              </a:cubicBezTo>
                              <a:lnTo>
                                <a:pt x="3232402" y="2546642"/>
                              </a:lnTo>
                              <a:close/>
                              <a:moveTo>
                                <a:pt x="428625" y="2314578"/>
                              </a:moveTo>
                              <a:lnTo>
                                <a:pt x="771525" y="2314578"/>
                              </a:lnTo>
                              <a:lnTo>
                                <a:pt x="771525" y="2657478"/>
                              </a:lnTo>
                              <a:lnTo>
                                <a:pt x="428625" y="2657478"/>
                              </a:lnTo>
                              <a:close/>
                              <a:moveTo>
                                <a:pt x="1200150" y="2143128"/>
                              </a:moveTo>
                              <a:lnTo>
                                <a:pt x="1200150" y="2314578"/>
                              </a:lnTo>
                              <a:lnTo>
                                <a:pt x="1371600" y="2314578"/>
                              </a:lnTo>
                              <a:lnTo>
                                <a:pt x="1371600" y="2143128"/>
                              </a:lnTo>
                              <a:close/>
                              <a:moveTo>
                                <a:pt x="342900" y="2143128"/>
                              </a:moveTo>
                              <a:cubicBezTo>
                                <a:pt x="295560" y="2143128"/>
                                <a:pt x="257175" y="2181513"/>
                                <a:pt x="257175" y="2228853"/>
                              </a:cubicBezTo>
                              <a:lnTo>
                                <a:pt x="257175" y="2743203"/>
                              </a:lnTo>
                              <a:cubicBezTo>
                                <a:pt x="257175" y="2790543"/>
                                <a:pt x="295560" y="2828928"/>
                                <a:pt x="342900" y="2828928"/>
                              </a:cubicBezTo>
                              <a:lnTo>
                                <a:pt x="857250" y="2828928"/>
                              </a:lnTo>
                              <a:cubicBezTo>
                                <a:pt x="879979" y="2828928"/>
                                <a:pt x="901798" y="2819895"/>
                                <a:pt x="917875" y="2803828"/>
                              </a:cubicBezTo>
                              <a:cubicBezTo>
                                <a:pt x="933942" y="2787751"/>
                                <a:pt x="942975" y="2765932"/>
                                <a:pt x="942975" y="2743203"/>
                              </a:cubicBezTo>
                              <a:lnTo>
                                <a:pt x="942975" y="2228853"/>
                              </a:lnTo>
                              <a:cubicBezTo>
                                <a:pt x="942975" y="2206124"/>
                                <a:pt x="933942" y="2184305"/>
                                <a:pt x="917875" y="2168228"/>
                              </a:cubicBezTo>
                              <a:cubicBezTo>
                                <a:pt x="901798" y="2152161"/>
                                <a:pt x="879979" y="2143128"/>
                                <a:pt x="857250" y="2143128"/>
                              </a:cubicBezTo>
                              <a:close/>
                              <a:moveTo>
                                <a:pt x="2743201" y="1999266"/>
                              </a:moveTo>
                              <a:cubicBezTo>
                                <a:pt x="2925095" y="1999266"/>
                                <a:pt x="3099533" y="2071520"/>
                                <a:pt x="3228159" y="2200147"/>
                              </a:cubicBezTo>
                              <a:cubicBezTo>
                                <a:pt x="3357325" y="2328430"/>
                                <a:pt x="3430000" y="2502976"/>
                                <a:pt x="3430000" y="2685066"/>
                              </a:cubicBezTo>
                              <a:cubicBezTo>
                                <a:pt x="3430000" y="2867156"/>
                                <a:pt x="3357325" y="3041701"/>
                                <a:pt x="3228159" y="3170025"/>
                              </a:cubicBezTo>
                              <a:cubicBezTo>
                                <a:pt x="3099533" y="3298612"/>
                                <a:pt x="2925095" y="3370866"/>
                                <a:pt x="2743201" y="3370866"/>
                              </a:cubicBezTo>
                              <a:cubicBezTo>
                                <a:pt x="2561346" y="3370866"/>
                                <a:pt x="2386908" y="3298612"/>
                                <a:pt x="2258281" y="3170025"/>
                              </a:cubicBezTo>
                              <a:cubicBezTo>
                                <a:pt x="2129694" y="3041398"/>
                                <a:pt x="2057440" y="2866960"/>
                                <a:pt x="2057440" y="2685066"/>
                              </a:cubicBezTo>
                              <a:cubicBezTo>
                                <a:pt x="2057440" y="2503211"/>
                                <a:pt x="2129694" y="2328773"/>
                                <a:pt x="2258281" y="2200147"/>
                              </a:cubicBezTo>
                              <a:cubicBezTo>
                                <a:pt x="2386908" y="2071520"/>
                                <a:pt x="2561346" y="1999266"/>
                                <a:pt x="2743201" y="1999266"/>
                              </a:cubicBezTo>
                              <a:close/>
                              <a:moveTo>
                                <a:pt x="2702857" y="1828815"/>
                              </a:moveTo>
                              <a:cubicBezTo>
                                <a:pt x="2605454" y="1833449"/>
                                <a:pt x="2508401" y="1854718"/>
                                <a:pt x="2416035" y="1892908"/>
                              </a:cubicBezTo>
                              <a:cubicBezTo>
                                <a:pt x="2169735" y="1994779"/>
                                <a:pt x="1984853" y="2205389"/>
                                <a:pt x="1915695" y="2462789"/>
                              </a:cubicBezTo>
                              <a:cubicBezTo>
                                <a:pt x="1846576" y="2720199"/>
                                <a:pt x="1901107" y="2995087"/>
                                <a:pt x="2063259" y="3206607"/>
                              </a:cubicBezTo>
                              <a:cubicBezTo>
                                <a:pt x="2225373" y="3418167"/>
                                <a:pt x="2476689" y="3542238"/>
                                <a:pt x="2743201" y="3542356"/>
                              </a:cubicBezTo>
                              <a:lnTo>
                                <a:pt x="2743201" y="3542003"/>
                              </a:lnTo>
                              <a:cubicBezTo>
                                <a:pt x="2970485" y="3542502"/>
                                <a:pt x="3188628" y="3452408"/>
                                <a:pt x="3349360" y="3291715"/>
                              </a:cubicBezTo>
                              <a:cubicBezTo>
                                <a:pt x="3537955" y="3103395"/>
                                <a:pt x="3628236" y="2838029"/>
                                <a:pt x="3593603" y="2573771"/>
                              </a:cubicBezTo>
                              <a:cubicBezTo>
                                <a:pt x="3559009" y="2309513"/>
                                <a:pt x="3403440" y="2076370"/>
                                <a:pt x="3172708" y="1942962"/>
                              </a:cubicBezTo>
                              <a:cubicBezTo>
                                <a:pt x="3028506" y="1859582"/>
                                <a:pt x="2865196" y="1821093"/>
                                <a:pt x="2702857" y="1828815"/>
                              </a:cubicBezTo>
                              <a:close/>
                              <a:moveTo>
                                <a:pt x="2711031" y="1656941"/>
                              </a:moveTo>
                              <a:cubicBezTo>
                                <a:pt x="2946005" y="1649604"/>
                                <a:pt x="3179120" y="1723024"/>
                                <a:pt x="3369415" y="1869033"/>
                              </a:cubicBezTo>
                              <a:cubicBezTo>
                                <a:pt x="3623141" y="2063712"/>
                                <a:pt x="3771901" y="2365317"/>
                                <a:pt x="3771901" y="2685106"/>
                              </a:cubicBezTo>
                              <a:cubicBezTo>
                                <a:pt x="3772665" y="2958123"/>
                                <a:pt x="3664172" y="3220088"/>
                                <a:pt x="3470560" y="3412583"/>
                              </a:cubicBezTo>
                              <a:cubicBezTo>
                                <a:pt x="3244423" y="3638720"/>
                                <a:pt x="2925986" y="3746802"/>
                                <a:pt x="2608911" y="3705047"/>
                              </a:cubicBezTo>
                              <a:cubicBezTo>
                                <a:pt x="2291837" y="3663292"/>
                                <a:pt x="2012197" y="3476460"/>
                                <a:pt x="1852307" y="3199495"/>
                              </a:cubicBezTo>
                              <a:cubicBezTo>
                                <a:pt x="1692418" y="2922529"/>
                                <a:pt x="1670414" y="2586938"/>
                                <a:pt x="1792800" y="2291496"/>
                              </a:cubicBezTo>
                              <a:cubicBezTo>
                                <a:pt x="1915186" y="1996014"/>
                                <a:pt x="2168040" y="1774275"/>
                                <a:pt x="2476954" y="1691499"/>
                              </a:cubicBezTo>
                              <a:cubicBezTo>
                                <a:pt x="2554175" y="1670805"/>
                                <a:pt x="2632706" y="1659387"/>
                                <a:pt x="2711031" y="1656941"/>
                              </a:cubicBezTo>
                              <a:close/>
                              <a:moveTo>
                                <a:pt x="428625" y="1371604"/>
                              </a:moveTo>
                              <a:lnTo>
                                <a:pt x="771525" y="1371604"/>
                              </a:lnTo>
                              <a:lnTo>
                                <a:pt x="771525" y="1714503"/>
                              </a:lnTo>
                              <a:lnTo>
                                <a:pt x="428625" y="1714503"/>
                              </a:lnTo>
                              <a:close/>
                              <a:moveTo>
                                <a:pt x="1543050" y="1200154"/>
                              </a:moveTo>
                              <a:lnTo>
                                <a:pt x="1543050" y="1371604"/>
                              </a:lnTo>
                              <a:lnTo>
                                <a:pt x="2657475" y="1371604"/>
                              </a:lnTo>
                              <a:lnTo>
                                <a:pt x="2657475" y="1200154"/>
                              </a:lnTo>
                              <a:close/>
                              <a:moveTo>
                                <a:pt x="1200150" y="1200154"/>
                              </a:moveTo>
                              <a:lnTo>
                                <a:pt x="1200150" y="1371604"/>
                              </a:lnTo>
                              <a:lnTo>
                                <a:pt x="1371600" y="1371604"/>
                              </a:lnTo>
                              <a:lnTo>
                                <a:pt x="1371600" y="1200154"/>
                              </a:lnTo>
                              <a:close/>
                              <a:moveTo>
                                <a:pt x="342900" y="1200154"/>
                              </a:moveTo>
                              <a:cubicBezTo>
                                <a:pt x="295560" y="1200154"/>
                                <a:pt x="257175" y="1238539"/>
                                <a:pt x="257175" y="1285879"/>
                              </a:cubicBezTo>
                              <a:lnTo>
                                <a:pt x="257175" y="1800228"/>
                              </a:lnTo>
                              <a:cubicBezTo>
                                <a:pt x="257175" y="1847568"/>
                                <a:pt x="295560" y="1885953"/>
                                <a:pt x="342900" y="1885953"/>
                              </a:cubicBezTo>
                              <a:lnTo>
                                <a:pt x="857250" y="1885953"/>
                              </a:lnTo>
                              <a:cubicBezTo>
                                <a:pt x="879979" y="1885953"/>
                                <a:pt x="901798" y="1876920"/>
                                <a:pt x="917875" y="1860853"/>
                              </a:cubicBezTo>
                              <a:cubicBezTo>
                                <a:pt x="933942" y="1844776"/>
                                <a:pt x="942975" y="1822957"/>
                                <a:pt x="942975" y="1800228"/>
                              </a:cubicBezTo>
                              <a:lnTo>
                                <a:pt x="942975" y="1285879"/>
                              </a:lnTo>
                              <a:cubicBezTo>
                                <a:pt x="942975" y="1263150"/>
                                <a:pt x="933942" y="1241331"/>
                                <a:pt x="917875" y="1225254"/>
                              </a:cubicBezTo>
                              <a:cubicBezTo>
                                <a:pt x="901798" y="1209187"/>
                                <a:pt x="879979" y="1200154"/>
                                <a:pt x="857250" y="1200154"/>
                              </a:cubicBezTo>
                              <a:close/>
                              <a:moveTo>
                                <a:pt x="1200150" y="600079"/>
                              </a:moveTo>
                              <a:lnTo>
                                <a:pt x="1200150" y="771529"/>
                              </a:lnTo>
                              <a:lnTo>
                                <a:pt x="2314575" y="771529"/>
                              </a:lnTo>
                              <a:lnTo>
                                <a:pt x="2314575" y="600079"/>
                              </a:lnTo>
                              <a:close/>
                              <a:moveTo>
                                <a:pt x="428625" y="428628"/>
                              </a:moveTo>
                              <a:lnTo>
                                <a:pt x="771525" y="428628"/>
                              </a:lnTo>
                              <a:lnTo>
                                <a:pt x="771525" y="771528"/>
                              </a:lnTo>
                              <a:lnTo>
                                <a:pt x="428625" y="771528"/>
                              </a:lnTo>
                              <a:close/>
                              <a:moveTo>
                                <a:pt x="3600450" y="342903"/>
                              </a:moveTo>
                              <a:lnTo>
                                <a:pt x="3990993" y="342903"/>
                              </a:lnTo>
                              <a:cubicBezTo>
                                <a:pt x="3960152" y="394798"/>
                                <a:pt x="3943693" y="453964"/>
                                <a:pt x="3943350" y="514353"/>
                              </a:cubicBezTo>
                              <a:lnTo>
                                <a:pt x="3943350" y="1028703"/>
                              </a:lnTo>
                              <a:cubicBezTo>
                                <a:pt x="3943350" y="1089974"/>
                                <a:pt x="3910667" y="1146573"/>
                                <a:pt x="3857625" y="1177189"/>
                              </a:cubicBezTo>
                              <a:cubicBezTo>
                                <a:pt x="3804583" y="1207806"/>
                                <a:pt x="3739217" y="1207806"/>
                                <a:pt x="3686175" y="1177189"/>
                              </a:cubicBezTo>
                              <a:cubicBezTo>
                                <a:pt x="3633133" y="1146573"/>
                                <a:pt x="3600450" y="1089974"/>
                                <a:pt x="3600450" y="1028703"/>
                              </a:cubicBezTo>
                              <a:close/>
                              <a:moveTo>
                                <a:pt x="4286250" y="342903"/>
                              </a:moveTo>
                              <a:cubicBezTo>
                                <a:pt x="4331718" y="342903"/>
                                <a:pt x="4375345" y="360969"/>
                                <a:pt x="4407490" y="393113"/>
                              </a:cubicBezTo>
                              <a:cubicBezTo>
                                <a:pt x="4439634" y="425258"/>
                                <a:pt x="4457700" y="468884"/>
                                <a:pt x="4457700" y="514353"/>
                              </a:cubicBezTo>
                              <a:lnTo>
                                <a:pt x="4457700" y="771528"/>
                              </a:lnTo>
                              <a:lnTo>
                                <a:pt x="4114800" y="771528"/>
                              </a:lnTo>
                              <a:lnTo>
                                <a:pt x="4114800" y="514353"/>
                              </a:lnTo>
                              <a:cubicBezTo>
                                <a:pt x="4114800" y="468884"/>
                                <a:pt x="4132866" y="425258"/>
                                <a:pt x="4165010" y="393113"/>
                              </a:cubicBezTo>
                              <a:cubicBezTo>
                                <a:pt x="4197155" y="360969"/>
                                <a:pt x="4240782" y="342903"/>
                                <a:pt x="4286250" y="342903"/>
                              </a:cubicBezTo>
                              <a:close/>
                              <a:moveTo>
                                <a:pt x="1543050" y="257179"/>
                              </a:moveTo>
                              <a:lnTo>
                                <a:pt x="1543050" y="428629"/>
                              </a:lnTo>
                              <a:lnTo>
                                <a:pt x="2657475" y="428629"/>
                              </a:lnTo>
                              <a:lnTo>
                                <a:pt x="2657475" y="257179"/>
                              </a:lnTo>
                              <a:close/>
                              <a:moveTo>
                                <a:pt x="1200150" y="257179"/>
                              </a:moveTo>
                              <a:lnTo>
                                <a:pt x="1200150" y="428629"/>
                              </a:lnTo>
                              <a:lnTo>
                                <a:pt x="1371600" y="428629"/>
                              </a:lnTo>
                              <a:lnTo>
                                <a:pt x="1371600" y="257179"/>
                              </a:lnTo>
                              <a:close/>
                              <a:moveTo>
                                <a:pt x="342900" y="257179"/>
                              </a:moveTo>
                              <a:cubicBezTo>
                                <a:pt x="295560" y="257179"/>
                                <a:pt x="257175" y="295564"/>
                                <a:pt x="257175" y="342904"/>
                              </a:cubicBezTo>
                              <a:lnTo>
                                <a:pt x="257175" y="857254"/>
                              </a:lnTo>
                              <a:cubicBezTo>
                                <a:pt x="257175" y="904594"/>
                                <a:pt x="295560" y="942979"/>
                                <a:pt x="342900" y="942979"/>
                              </a:cubicBezTo>
                              <a:lnTo>
                                <a:pt x="857250" y="942979"/>
                              </a:lnTo>
                              <a:cubicBezTo>
                                <a:pt x="879979" y="942979"/>
                                <a:pt x="901798" y="933946"/>
                                <a:pt x="917875" y="917879"/>
                              </a:cubicBezTo>
                              <a:cubicBezTo>
                                <a:pt x="933942" y="901801"/>
                                <a:pt x="942975" y="879983"/>
                                <a:pt x="942975" y="857254"/>
                              </a:cubicBezTo>
                              <a:lnTo>
                                <a:pt x="942975" y="342904"/>
                              </a:lnTo>
                              <a:cubicBezTo>
                                <a:pt x="942975" y="320175"/>
                                <a:pt x="933942" y="298356"/>
                                <a:pt x="917875" y="282284"/>
                              </a:cubicBezTo>
                              <a:cubicBezTo>
                                <a:pt x="901798" y="266211"/>
                                <a:pt x="879979" y="257179"/>
                                <a:pt x="857250" y="257179"/>
                              </a:cubicBezTo>
                              <a:close/>
                              <a:moveTo>
                                <a:pt x="3257550" y="6"/>
                              </a:moveTo>
                              <a:cubicBezTo>
                                <a:pt x="3287152" y="6"/>
                                <a:pt x="3316754" y="7660"/>
                                <a:pt x="3343275" y="22968"/>
                              </a:cubicBezTo>
                              <a:cubicBezTo>
                                <a:pt x="3396317" y="53584"/>
                                <a:pt x="3429000" y="110183"/>
                                <a:pt x="3429000" y="171454"/>
                              </a:cubicBezTo>
                              <a:lnTo>
                                <a:pt x="3429000" y="1028704"/>
                              </a:lnTo>
                              <a:cubicBezTo>
                                <a:pt x="3429343" y="1089093"/>
                                <a:pt x="3445802" y="1148258"/>
                                <a:pt x="3476644" y="1200154"/>
                              </a:cubicBezTo>
                              <a:lnTo>
                                <a:pt x="3086100" y="1200154"/>
                              </a:lnTo>
                              <a:lnTo>
                                <a:pt x="3086100" y="171454"/>
                              </a:lnTo>
                              <a:cubicBezTo>
                                <a:pt x="3086100" y="110185"/>
                                <a:pt x="3118783" y="53584"/>
                                <a:pt x="3171825" y="22968"/>
                              </a:cubicBezTo>
                              <a:cubicBezTo>
                                <a:pt x="3198346" y="7660"/>
                                <a:pt x="3227948" y="6"/>
                                <a:pt x="3257550" y="6"/>
                              </a:cubicBezTo>
                              <a:close/>
                              <a:moveTo>
                                <a:pt x="171519" y="0"/>
                              </a:moveTo>
                              <a:lnTo>
                                <a:pt x="2962333" y="0"/>
                              </a:lnTo>
                              <a:cubicBezTo>
                                <a:pt x="2931481" y="51895"/>
                                <a:pt x="2915032" y="111059"/>
                                <a:pt x="2914689" y="171450"/>
                              </a:cubicBezTo>
                              <a:lnTo>
                                <a:pt x="2914689" y="1498476"/>
                              </a:lnTo>
                              <a:cubicBezTo>
                                <a:pt x="2733668" y="1470535"/>
                                <a:pt x="2548599" y="1485808"/>
                                <a:pt x="2374622" y="1543053"/>
                              </a:cubicBezTo>
                              <a:lnTo>
                                <a:pt x="1200140" y="1543053"/>
                              </a:lnTo>
                              <a:lnTo>
                                <a:pt x="1200140" y="1714503"/>
                              </a:lnTo>
                              <a:lnTo>
                                <a:pt x="2039217" y="1714503"/>
                              </a:lnTo>
                              <a:cubicBezTo>
                                <a:pt x="1883922" y="1825299"/>
                                <a:pt x="1758088" y="1972442"/>
                                <a:pt x="1672823" y="2143128"/>
                              </a:cubicBezTo>
                              <a:lnTo>
                                <a:pt x="1543050" y="2143128"/>
                              </a:lnTo>
                              <a:lnTo>
                                <a:pt x="1543050" y="2314578"/>
                              </a:lnTo>
                              <a:lnTo>
                                <a:pt x="1601519" y="2314578"/>
                              </a:lnTo>
                              <a:cubicBezTo>
                                <a:pt x="1583532" y="2370647"/>
                                <a:pt x="1569718" y="2427941"/>
                                <a:pt x="1560195" y="2486028"/>
                              </a:cubicBezTo>
                              <a:lnTo>
                                <a:pt x="1200150" y="2486028"/>
                              </a:lnTo>
                              <a:lnTo>
                                <a:pt x="1200150" y="2657478"/>
                              </a:lnTo>
                              <a:lnTo>
                                <a:pt x="1544431" y="2657478"/>
                              </a:lnTo>
                              <a:cubicBezTo>
                                <a:pt x="1544157" y="2666746"/>
                                <a:pt x="1543050" y="2675808"/>
                                <a:pt x="1543050" y="2685076"/>
                              </a:cubicBezTo>
                              <a:cubicBezTo>
                                <a:pt x="1543050" y="3003366"/>
                                <a:pt x="1669492" y="3308645"/>
                                <a:pt x="1894562" y="3533715"/>
                              </a:cubicBezTo>
                              <a:cubicBezTo>
                                <a:pt x="2119631" y="3758785"/>
                                <a:pt x="2424910" y="3885226"/>
                                <a:pt x="2743200" y="3885226"/>
                              </a:cubicBezTo>
                              <a:cubicBezTo>
                                <a:pt x="2800602" y="3884805"/>
                                <a:pt x="2857895" y="3880250"/>
                                <a:pt x="2914650" y="3871677"/>
                              </a:cubicBezTo>
                              <a:lnTo>
                                <a:pt x="2914650" y="4114803"/>
                              </a:lnTo>
                              <a:lnTo>
                                <a:pt x="0" y="4114803"/>
                              </a:lnTo>
                              <a:lnTo>
                                <a:pt x="0" y="171454"/>
                              </a:lnTo>
                              <a:lnTo>
                                <a:pt x="69" y="171450"/>
                              </a:lnTo>
                              <a:cubicBezTo>
                                <a:pt x="69" y="125985"/>
                                <a:pt x="18134" y="82357"/>
                                <a:pt x="50279" y="50210"/>
                              </a:cubicBezTo>
                              <a:cubicBezTo>
                                <a:pt x="82423" y="18064"/>
                                <a:pt x="126050" y="0"/>
                                <a:pt x="171519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B52372"/>
                        </a:solidFill>
                        <a:ln w="979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 sz="1000" dirty="0">
                            <a:latin typeface="Franklin Gothic Book" panose="020B0503020102020204" pitchFamily="34" charset="0"/>
                          </a:endParaRPr>
                        </a:p>
                      </p:txBody>
                    </p:sp>
                  </p:grpSp>
                </p:grpSp>
              </p:grpSp>
            </p:grpSp>
          </p:grpSp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4789225F-575E-D801-FE42-8C44273651E1}"/>
                  </a:ext>
                </a:extLst>
              </p:cNvPr>
              <p:cNvGrpSpPr/>
              <p:nvPr/>
            </p:nvGrpSpPr>
            <p:grpSpPr>
              <a:xfrm>
                <a:off x="2428989" y="976788"/>
                <a:ext cx="2443258" cy="5598939"/>
                <a:chOff x="2617772" y="956765"/>
                <a:chExt cx="2443258" cy="5598939"/>
              </a:xfrm>
            </p:grpSpPr>
            <p:grpSp>
              <p:nvGrpSpPr>
                <p:cNvPr id="201" name="Group 200">
                  <a:extLst>
                    <a:ext uri="{FF2B5EF4-FFF2-40B4-BE49-F238E27FC236}">
                      <a16:creationId xmlns:a16="http://schemas.microsoft.com/office/drawing/2014/main" id="{4DA50097-63EF-8BF2-B9BC-109CE6BA6A19}"/>
                    </a:ext>
                  </a:extLst>
                </p:cNvPr>
                <p:cNvGrpSpPr/>
                <p:nvPr/>
              </p:nvGrpSpPr>
              <p:grpSpPr>
                <a:xfrm>
                  <a:off x="3985265" y="1845667"/>
                  <a:ext cx="0" cy="4307838"/>
                  <a:chOff x="3985265" y="1845667"/>
                  <a:chExt cx="0" cy="4307838"/>
                </a:xfrm>
              </p:grpSpPr>
              <p:cxnSp>
                <p:nvCxnSpPr>
                  <p:cNvPr id="229" name="Straight Connector 228">
                    <a:extLst>
                      <a:ext uri="{FF2B5EF4-FFF2-40B4-BE49-F238E27FC236}">
                        <a16:creationId xmlns:a16="http://schemas.microsoft.com/office/drawing/2014/main" id="{25B42E9A-154E-BDC0-DEE3-B93257D0570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985265" y="1845667"/>
                    <a:ext cx="0" cy="228115"/>
                  </a:xfrm>
                  <a:prstGeom prst="line">
                    <a:avLst/>
                  </a:prstGeom>
                  <a:ln w="6350">
                    <a:solidFill>
                      <a:schemeClr val="tx1">
                        <a:lumMod val="65000"/>
                        <a:lumOff val="35000"/>
                      </a:schemeClr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0" name="Straight Connector 229">
                    <a:extLst>
                      <a:ext uri="{FF2B5EF4-FFF2-40B4-BE49-F238E27FC236}">
                        <a16:creationId xmlns:a16="http://schemas.microsoft.com/office/drawing/2014/main" id="{0405EE79-185E-E40B-3E8B-234B8B6FFF3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>
                    <a:off x="3813532" y="5981773"/>
                    <a:ext cx="343465" cy="0"/>
                  </a:xfrm>
                  <a:prstGeom prst="line">
                    <a:avLst/>
                  </a:prstGeom>
                  <a:ln w="6350">
                    <a:solidFill>
                      <a:schemeClr val="tx1">
                        <a:lumMod val="65000"/>
                        <a:lumOff val="35000"/>
                      </a:schemeClr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02" name="Group 201">
                  <a:extLst>
                    <a:ext uri="{FF2B5EF4-FFF2-40B4-BE49-F238E27FC236}">
                      <a16:creationId xmlns:a16="http://schemas.microsoft.com/office/drawing/2014/main" id="{78836C31-E294-CBFE-5850-EE88BF8A3F4C}"/>
                    </a:ext>
                  </a:extLst>
                </p:cNvPr>
                <p:cNvGrpSpPr/>
                <p:nvPr/>
              </p:nvGrpSpPr>
              <p:grpSpPr>
                <a:xfrm>
                  <a:off x="2617772" y="956765"/>
                  <a:ext cx="2443258" cy="5598939"/>
                  <a:chOff x="2611262" y="939320"/>
                  <a:chExt cx="2443258" cy="5598939"/>
                </a:xfrm>
              </p:grpSpPr>
              <p:grpSp>
                <p:nvGrpSpPr>
                  <p:cNvPr id="203" name="Group 202">
                    <a:extLst>
                      <a:ext uri="{FF2B5EF4-FFF2-40B4-BE49-F238E27FC236}">
                        <a16:creationId xmlns:a16="http://schemas.microsoft.com/office/drawing/2014/main" id="{6EE283A5-E5DB-B85F-D82D-5E5E11BFB187}"/>
                      </a:ext>
                    </a:extLst>
                  </p:cNvPr>
                  <p:cNvGrpSpPr/>
                  <p:nvPr/>
                </p:nvGrpSpPr>
                <p:grpSpPr>
                  <a:xfrm>
                    <a:off x="2611262" y="2049449"/>
                    <a:ext cx="2420390" cy="3737011"/>
                    <a:chOff x="2617772" y="2049449"/>
                    <a:chExt cx="2420390" cy="3737011"/>
                  </a:xfrm>
                </p:grpSpPr>
                <p:grpSp>
                  <p:nvGrpSpPr>
                    <p:cNvPr id="220" name="Group 219">
                      <a:extLst>
                        <a:ext uri="{FF2B5EF4-FFF2-40B4-BE49-F238E27FC236}">
                          <a16:creationId xmlns:a16="http://schemas.microsoft.com/office/drawing/2014/main" id="{7D12606D-AABF-4017-B16D-7CAACBCA2D2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617772" y="2049449"/>
                      <a:ext cx="2419562" cy="2487426"/>
                      <a:chOff x="2427713" y="2093384"/>
                      <a:chExt cx="2419562" cy="2487426"/>
                    </a:xfrm>
                  </p:grpSpPr>
                  <p:sp>
                    <p:nvSpPr>
                      <p:cNvPr id="224" name="Freeform: Shape 210">
                        <a:extLst>
                          <a:ext uri="{FF2B5EF4-FFF2-40B4-BE49-F238E27FC236}">
                            <a16:creationId xmlns:a16="http://schemas.microsoft.com/office/drawing/2014/main" id="{0928BFD3-D527-48ED-892D-75DFBD874A1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740619" y="4171604"/>
                        <a:ext cx="2106656" cy="221524"/>
                      </a:xfrm>
                      <a:custGeom>
                        <a:avLst/>
                        <a:gdLst>
                          <a:gd name="connsiteX0" fmla="*/ 0 w 861740"/>
                          <a:gd name="connsiteY0" fmla="*/ 0 h 221523"/>
                          <a:gd name="connsiteX1" fmla="*/ 861740 w 861740"/>
                          <a:gd name="connsiteY1" fmla="*/ 0 h 221523"/>
                          <a:gd name="connsiteX2" fmla="*/ 861740 w 861740"/>
                          <a:gd name="connsiteY2" fmla="*/ 90058 h 221523"/>
                          <a:gd name="connsiteX3" fmla="*/ 430870 w 861740"/>
                          <a:gd name="connsiteY3" fmla="*/ 221523 h 221523"/>
                          <a:gd name="connsiteX4" fmla="*/ 0 w 861740"/>
                          <a:gd name="connsiteY4" fmla="*/ 90058 h 221523"/>
                          <a:gd name="connsiteX5" fmla="*/ 0 w 861740"/>
                          <a:gd name="connsiteY5" fmla="*/ 0 h 22152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</a:cxnLst>
                        <a:rect l="l" t="t" r="r" b="b"/>
                        <a:pathLst>
                          <a:path w="861740" h="221523">
                            <a:moveTo>
                              <a:pt x="0" y="0"/>
                            </a:moveTo>
                            <a:lnTo>
                              <a:pt x="861740" y="0"/>
                            </a:lnTo>
                            <a:lnTo>
                              <a:pt x="861740" y="90058"/>
                            </a:lnTo>
                            <a:lnTo>
                              <a:pt x="430870" y="221523"/>
                            </a:lnTo>
                            <a:lnTo>
                              <a:pt x="0" y="90058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solidFill>
                        <a:schemeClr val="bg2">
                          <a:lumMod val="95000"/>
                        </a:schemeClr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wrap="square" rtlCol="0" anchor="ctr">
                        <a:noAutofit/>
                      </a:bodyPr>
                      <a:lstStyle/>
                      <a:p>
                        <a:pPr algn="ctr"/>
                        <a:endParaRPr lang="en-US" sz="1000" dirty="0">
                          <a:latin typeface="Franklin Gothic Book" panose="020B0503020102020204" pitchFamily="34" charset="0"/>
                        </a:endParaRPr>
                      </a:p>
                    </p:txBody>
                  </p:sp>
                  <p:grpSp>
                    <p:nvGrpSpPr>
                      <p:cNvPr id="225" name="Group 224">
                        <a:extLst>
                          <a:ext uri="{FF2B5EF4-FFF2-40B4-BE49-F238E27FC236}">
                            <a16:creationId xmlns:a16="http://schemas.microsoft.com/office/drawing/2014/main" id="{17406DD9-4703-79CD-6CA1-BBA7A5007AD6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732982" y="2093384"/>
                        <a:ext cx="2105795" cy="2193481"/>
                        <a:chOff x="2732982" y="2093384"/>
                        <a:chExt cx="2105795" cy="2193481"/>
                      </a:xfrm>
                    </p:grpSpPr>
                    <p:sp>
                      <p:nvSpPr>
                        <p:cNvPr id="227" name="Rectangle 226">
                          <a:extLst>
                            <a:ext uri="{FF2B5EF4-FFF2-40B4-BE49-F238E27FC236}">
                              <a16:creationId xmlns:a16="http://schemas.microsoft.com/office/drawing/2014/main" id="{A700DDD9-509D-19DE-0620-5342D27985F8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2732982" y="2093384"/>
                          <a:ext cx="2105795" cy="2166710"/>
                        </a:xfrm>
                        <a:prstGeom prst="rect">
                          <a:avLst/>
                        </a:prstGeom>
                        <a:solidFill>
                          <a:schemeClr val="bg2">
                            <a:lumMod val="95000"/>
                          </a:schemeClr>
                        </a:solidFill>
                        <a:ln>
                          <a:noFill/>
                        </a:ln>
                        <a:effectLst/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Franklin Gothic Book" panose="020B0503020102020204" pitchFamily="34" charset="0"/>
                          </a:endParaRPr>
                        </a:p>
                      </p:txBody>
                    </p:sp>
                    <p:sp>
                      <p:nvSpPr>
                        <p:cNvPr id="228" name="TextBox 227">
                          <a:extLst>
                            <a:ext uri="{FF2B5EF4-FFF2-40B4-BE49-F238E27FC236}">
                              <a16:creationId xmlns:a16="http://schemas.microsoft.com/office/drawing/2014/main" id="{2BE2CE15-363E-098B-B0F0-AB679620B30F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2794413" y="2153595"/>
                          <a:ext cx="1970143" cy="2133270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anchor="ctr">
                          <a:spAutoFit/>
                        </a:bodyPr>
                        <a:lstStyle/>
                        <a:p>
                          <a:pPr marL="0" marR="0" lvl="0" indent="0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6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chemeClr val="tx2">
                                  <a:lumMod val="65000"/>
                                  <a:lumOff val="35000"/>
                                </a:schemeClr>
                              </a:solidFill>
                              <a:effectLst/>
                              <a:uLnTx/>
                              <a:uFillTx/>
                              <a:latin typeface="Franklin Gothic Book" panose="020B0503020102020204" pitchFamily="34" charset="0"/>
                              <a:cs typeface="Arial" panose="020B0604020202020204" pitchFamily="34" charset="0"/>
                            </a:rPr>
                            <a:t>Alternative Developments</a:t>
                          </a:r>
                        </a:p>
                        <a:p>
                          <a:pPr marL="0" marR="0" lvl="0" indent="0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3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chemeClr val="tx2">
                                <a:lumMod val="65000"/>
                                <a:lumOff val="35000"/>
                              </a:schemeClr>
                            </a:solidFill>
                            <a:effectLst/>
                            <a:uLnTx/>
                            <a:uFillTx/>
                            <a:latin typeface="Franklin Gothic Book" panose="020B0503020102020204" pitchFamily="34" charset="0"/>
                            <a:cs typeface="Arial" panose="020B0604020202020204" pitchFamily="34" charset="0"/>
                          </a:endParaRPr>
                        </a:p>
                        <a:p>
                          <a:pPr marL="182880" marR="0" lvl="0" indent="-182880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Arial" pitchFamily="34" charset="0"/>
                            <a:buChar char="•"/>
                            <a:tabLst/>
                            <a:defRPr/>
                          </a:pPr>
                          <a:r>
                            <a:rPr kumimoji="0" lang="en-US" sz="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chemeClr val="tx2">
                                  <a:lumMod val="65000"/>
                                  <a:lumOff val="35000"/>
                                </a:schemeClr>
                              </a:solidFill>
                              <a:effectLst/>
                              <a:uLnTx/>
                              <a:uFillTx/>
                              <a:latin typeface="Franklin Gothic Book" panose="020B0503020102020204" pitchFamily="34" charset="0"/>
                              <a:cs typeface="Arial" panose="020B0604020202020204" pitchFamily="34" charset="0"/>
                            </a:rPr>
                            <a:t>Customer Acquisition</a:t>
                          </a:r>
                        </a:p>
                        <a:p>
                          <a:pPr marL="182880" marR="0" lvl="0" indent="-182880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Arial" pitchFamily="34" charset="0"/>
                            <a:buChar char="•"/>
                            <a:tabLst/>
                            <a:defRPr/>
                          </a:pPr>
                          <a:endParaRPr kumimoji="0" lang="en-US" sz="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chemeClr val="tx2">
                                <a:lumMod val="65000"/>
                                <a:lumOff val="35000"/>
                              </a:schemeClr>
                            </a:solidFill>
                            <a:effectLst/>
                            <a:uLnTx/>
                            <a:uFillTx/>
                            <a:latin typeface="Franklin Gothic Book" panose="020B0503020102020204" pitchFamily="34" charset="0"/>
                            <a:cs typeface="Arial" panose="020B0604020202020204" pitchFamily="34" charset="0"/>
                          </a:endParaRPr>
                        </a:p>
                        <a:p>
                          <a:pPr marL="182880" marR="0" lvl="0" indent="-182880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Arial" pitchFamily="34" charset="0"/>
                            <a:buChar char="•"/>
                            <a:tabLst/>
                            <a:defRPr/>
                          </a:pPr>
                          <a:r>
                            <a:rPr kumimoji="0" lang="en-US" sz="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chemeClr val="tx2">
                                  <a:lumMod val="65000"/>
                                  <a:lumOff val="35000"/>
                                </a:schemeClr>
                              </a:solidFill>
                              <a:effectLst/>
                              <a:uLnTx/>
                              <a:uFillTx/>
                              <a:latin typeface="Franklin Gothic Book" panose="020B0503020102020204" pitchFamily="34" charset="0"/>
                              <a:cs typeface="Arial" panose="020B0604020202020204" pitchFamily="34" charset="0"/>
                            </a:rPr>
                            <a:t>Target Segmentation</a:t>
                          </a:r>
                        </a:p>
                        <a:p>
                          <a:pPr marL="182880" marR="0" lvl="0" indent="-182880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tabLst/>
                            <a:defRPr/>
                          </a:pPr>
                          <a:endParaRPr kumimoji="0" lang="en-US" sz="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chemeClr val="tx2">
                                <a:lumMod val="65000"/>
                                <a:lumOff val="35000"/>
                              </a:schemeClr>
                            </a:solidFill>
                            <a:effectLst/>
                            <a:uLnTx/>
                            <a:uFillTx/>
                            <a:latin typeface="Franklin Gothic Book" panose="020B0503020102020204" pitchFamily="34" charset="0"/>
                            <a:cs typeface="Arial" panose="020B0604020202020204" pitchFamily="34" charset="0"/>
                          </a:endParaRPr>
                        </a:p>
                        <a:p>
                          <a:pPr marL="182880" marR="0" lvl="0" indent="-182880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Arial" pitchFamily="34" charset="0"/>
                            <a:buChar char="•"/>
                            <a:tabLst/>
                            <a:defRPr/>
                          </a:pPr>
                          <a:r>
                            <a:rPr kumimoji="0" lang="en-US" sz="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chemeClr val="tx2">
                                  <a:lumMod val="65000"/>
                                  <a:lumOff val="35000"/>
                                </a:schemeClr>
                              </a:solidFill>
                              <a:effectLst/>
                              <a:uLnTx/>
                              <a:uFillTx/>
                              <a:latin typeface="Franklin Gothic Book" panose="020B0503020102020204" pitchFamily="34" charset="0"/>
                              <a:cs typeface="Arial" panose="020B0604020202020204" pitchFamily="34" charset="0"/>
                            </a:rPr>
                            <a:t>Differentiation</a:t>
                          </a:r>
                        </a:p>
                        <a:p>
                          <a:pPr marL="0" marR="0" lvl="0" indent="0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Arial" pitchFamily="34" charset="0"/>
                            <a:buChar char="•"/>
                            <a:tabLst/>
                            <a:defRPr/>
                          </a:pPr>
                          <a:endParaRPr kumimoji="0" lang="en-US" sz="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chemeClr val="tx2">
                                <a:lumMod val="65000"/>
                                <a:lumOff val="35000"/>
                              </a:schemeClr>
                            </a:solidFill>
                            <a:effectLst/>
                            <a:uLnTx/>
                            <a:uFillTx/>
                            <a:latin typeface="Franklin Gothic Book" panose="020B0503020102020204" pitchFamily="34" charset="0"/>
                            <a:cs typeface="Arial" panose="020B0604020202020204" pitchFamily="34" charset="0"/>
                          </a:endParaRPr>
                        </a:p>
                        <a:p>
                          <a:pPr marL="0" marR="0" lvl="0" indent="0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6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chemeClr val="tx2">
                                  <a:lumMod val="65000"/>
                                  <a:lumOff val="35000"/>
                                </a:schemeClr>
                              </a:solidFill>
                              <a:effectLst/>
                              <a:uLnTx/>
                              <a:uFillTx/>
                              <a:latin typeface="Franklin Gothic Book" panose="020B0503020102020204" pitchFamily="34" charset="0"/>
                              <a:cs typeface="Arial" panose="020B0604020202020204" pitchFamily="34" charset="0"/>
                            </a:rPr>
                            <a:t>Scenario Hypothesis </a:t>
                          </a:r>
                        </a:p>
                        <a:p>
                          <a:pPr marL="0" marR="0" lvl="0" indent="0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3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chemeClr val="tx2">
                                <a:lumMod val="65000"/>
                                <a:lumOff val="35000"/>
                              </a:schemeClr>
                            </a:solidFill>
                            <a:effectLst/>
                            <a:uLnTx/>
                            <a:uFillTx/>
                            <a:latin typeface="Franklin Gothic Book" panose="020B0503020102020204" pitchFamily="34" charset="0"/>
                            <a:cs typeface="Arial" panose="020B0604020202020204" pitchFamily="34" charset="0"/>
                          </a:endParaRPr>
                        </a:p>
                        <a:p>
                          <a:pPr marL="182880" marR="0" lvl="0" indent="-182880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Arial" pitchFamily="34" charset="0"/>
                            <a:buChar char="•"/>
                            <a:tabLst/>
                            <a:defRPr/>
                          </a:pPr>
                          <a:r>
                            <a:rPr kumimoji="0" lang="en-US" sz="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chemeClr val="tx2">
                                  <a:lumMod val="65000"/>
                                  <a:lumOff val="35000"/>
                                </a:schemeClr>
                              </a:solidFill>
                              <a:effectLst/>
                              <a:uLnTx/>
                              <a:uFillTx/>
                              <a:latin typeface="Franklin Gothic Book" panose="020B0503020102020204" pitchFamily="34" charset="0"/>
                              <a:cs typeface="Arial" panose="020B0604020202020204" pitchFamily="34" charset="0"/>
                            </a:rPr>
                            <a:t>Value Proposition by most valuable customer segment</a:t>
                          </a:r>
                        </a:p>
                        <a:p>
                          <a:pPr marL="182880" marR="0" lvl="0" indent="-182880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tabLst/>
                            <a:defRPr/>
                          </a:pPr>
                          <a:endParaRPr kumimoji="0" lang="en-US" sz="3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chemeClr val="tx2">
                                <a:lumMod val="65000"/>
                                <a:lumOff val="35000"/>
                              </a:schemeClr>
                            </a:solidFill>
                            <a:effectLst/>
                            <a:uLnTx/>
                            <a:uFillTx/>
                            <a:latin typeface="Franklin Gothic Book" panose="020B0503020102020204" pitchFamily="34" charset="0"/>
                            <a:cs typeface="Arial" panose="020B0604020202020204" pitchFamily="34" charset="0"/>
                          </a:endParaRPr>
                        </a:p>
                        <a:p>
                          <a:pPr marL="182880" marR="0" lvl="0" indent="-182880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Arial" pitchFamily="34" charset="0"/>
                            <a:buChar char="•"/>
                            <a:tabLst/>
                            <a:defRPr/>
                          </a:pPr>
                          <a:r>
                            <a:rPr kumimoji="0" lang="en-US" sz="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chemeClr val="tx2">
                                  <a:lumMod val="65000"/>
                                  <a:lumOff val="35000"/>
                                </a:schemeClr>
                              </a:solidFill>
                              <a:effectLst/>
                              <a:uLnTx/>
                              <a:uFillTx/>
                              <a:latin typeface="Franklin Gothic Book" panose="020B0503020102020204" pitchFamily="34" charset="0"/>
                              <a:cs typeface="Arial" panose="020B0604020202020204" pitchFamily="34" charset="0"/>
                            </a:rPr>
                            <a:t>Supporting Products and services</a:t>
                          </a:r>
                        </a:p>
                      </p:txBody>
                    </p:sp>
                  </p:grpSp>
                  <p:sp>
                    <p:nvSpPr>
                      <p:cNvPr id="226" name="Freeform: Shape 230">
                        <a:extLst>
                          <a:ext uri="{FF2B5EF4-FFF2-40B4-BE49-F238E27FC236}">
                            <a16:creationId xmlns:a16="http://schemas.microsoft.com/office/drawing/2014/main" id="{0356A3EF-7B75-051C-93CF-1B5177777FF4}"/>
                          </a:ext>
                        </a:extLst>
                      </p:cNvPr>
                      <p:cNvSpPr/>
                      <p:nvPr/>
                    </p:nvSpPr>
                    <p:spPr>
                      <a:xfrm rot="16200000">
                        <a:off x="1922999" y="3854573"/>
                        <a:ext cx="1230951" cy="221523"/>
                      </a:xfrm>
                      <a:custGeom>
                        <a:avLst/>
                        <a:gdLst>
                          <a:gd name="connsiteX0" fmla="*/ 0 w 861740"/>
                          <a:gd name="connsiteY0" fmla="*/ 0 h 221523"/>
                          <a:gd name="connsiteX1" fmla="*/ 861740 w 861740"/>
                          <a:gd name="connsiteY1" fmla="*/ 0 h 221523"/>
                          <a:gd name="connsiteX2" fmla="*/ 861740 w 861740"/>
                          <a:gd name="connsiteY2" fmla="*/ 90058 h 221523"/>
                          <a:gd name="connsiteX3" fmla="*/ 430870 w 861740"/>
                          <a:gd name="connsiteY3" fmla="*/ 221523 h 221523"/>
                          <a:gd name="connsiteX4" fmla="*/ 0 w 861740"/>
                          <a:gd name="connsiteY4" fmla="*/ 90058 h 221523"/>
                          <a:gd name="connsiteX5" fmla="*/ 0 w 861740"/>
                          <a:gd name="connsiteY5" fmla="*/ 0 h 22152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</a:cxnLst>
                        <a:rect l="l" t="t" r="r" b="b"/>
                        <a:pathLst>
                          <a:path w="861740" h="221523">
                            <a:moveTo>
                              <a:pt x="0" y="0"/>
                            </a:moveTo>
                            <a:lnTo>
                              <a:pt x="861740" y="0"/>
                            </a:lnTo>
                            <a:lnTo>
                              <a:pt x="861740" y="90058"/>
                            </a:lnTo>
                            <a:lnTo>
                              <a:pt x="430870" y="221523"/>
                            </a:lnTo>
                            <a:lnTo>
                              <a:pt x="0" y="90058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solidFill>
                        <a:schemeClr val="bg2">
                          <a:lumMod val="95000"/>
                        </a:schemeClr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wrap="square" rtlCol="0" anchor="ctr">
                        <a:noAutofit/>
                      </a:bodyPr>
                      <a:lstStyle/>
                      <a:p>
                        <a:pPr algn="ctr"/>
                        <a:endParaRPr lang="en-US" sz="1000" dirty="0">
                          <a:latin typeface="Franklin Gothic Book" panose="020B0503020102020204" pitchFamily="34" charset="0"/>
                        </a:endParaRPr>
                      </a:p>
                    </p:txBody>
                  </p:sp>
                </p:grpSp>
                <p:grpSp>
                  <p:nvGrpSpPr>
                    <p:cNvPr id="221" name="Group 220">
                      <a:extLst>
                        <a:ext uri="{FF2B5EF4-FFF2-40B4-BE49-F238E27FC236}">
                          <a16:creationId xmlns:a16="http://schemas.microsoft.com/office/drawing/2014/main" id="{F9A6EC41-CC9F-3D8E-8646-86330A9DE39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932367" y="4414075"/>
                      <a:ext cx="2105795" cy="1372385"/>
                      <a:chOff x="2742307" y="4494440"/>
                      <a:chExt cx="2105795" cy="1372385"/>
                    </a:xfrm>
                  </p:grpSpPr>
                  <p:sp>
                    <p:nvSpPr>
                      <p:cNvPr id="222" name="Rectangle 221">
                        <a:extLst>
                          <a:ext uri="{FF2B5EF4-FFF2-40B4-BE49-F238E27FC236}">
                            <a16:creationId xmlns:a16="http://schemas.microsoft.com/office/drawing/2014/main" id="{D561BBA9-490F-C52E-1D7B-EBC780DF6D4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742307" y="4494440"/>
                        <a:ext cx="2105795" cy="1372385"/>
                      </a:xfrm>
                      <a:prstGeom prst="rect">
                        <a:avLst/>
                      </a:prstGeom>
                      <a:solidFill>
                        <a:schemeClr val="bg2">
                          <a:lumMod val="95000"/>
                        </a:schemeClr>
                      </a:solidFill>
                      <a:ln>
                        <a:noFill/>
                      </a:ln>
                      <a:effectLst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marL="0" marR="0" lvl="0" indent="0" algn="ctr" defTabSz="4572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Franklin Gothic Book" panose="020B0503020102020204" pitchFamily="34" charset="0"/>
                        </a:endParaRPr>
                      </a:p>
                    </p:txBody>
                  </p:sp>
                  <p:sp>
                    <p:nvSpPr>
                      <p:cNvPr id="223" name="TextBox 222">
                        <a:extLst>
                          <a:ext uri="{FF2B5EF4-FFF2-40B4-BE49-F238E27FC236}">
                            <a16:creationId xmlns:a16="http://schemas.microsoft.com/office/drawing/2014/main" id="{ED13D2C4-4B83-30ED-977F-5610FA4EC6D2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2810131" y="4601306"/>
                        <a:ext cx="2037142" cy="1137745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 anchor="ctr">
                        <a:spAutoFit/>
                      </a:bodyPr>
                      <a:lstStyle/>
                      <a:p>
                        <a:r>
                          <a:rPr lang="en-US" sz="600" b="1" dirty="0">
                            <a:solidFill>
                              <a:schemeClr val="tx2">
                                <a:lumMod val="65000"/>
                                <a:lumOff val="35000"/>
                              </a:schemeClr>
                            </a:solidFill>
                            <a:latin typeface="Franklin Gothic Book" panose="020B0503020102020204" pitchFamily="34" charset="0"/>
                            <a:cs typeface="Arial" panose="020B0604020202020204" pitchFamily="34" charset="0"/>
                          </a:rPr>
                          <a:t>Evaluating Criteria</a:t>
                        </a:r>
                      </a:p>
                      <a:p>
                        <a:endParaRPr lang="en-US" sz="300" b="1" dirty="0">
                          <a:solidFill>
                            <a:schemeClr val="tx2">
                              <a:lumMod val="65000"/>
                              <a:lumOff val="35000"/>
                            </a:schemeClr>
                          </a:solidFill>
                          <a:latin typeface="Franklin Gothic Book" panose="020B0503020102020204" pitchFamily="34" charset="0"/>
                          <a:cs typeface="Arial" panose="020B0604020202020204" pitchFamily="34" charset="0"/>
                        </a:endParaRPr>
                      </a:p>
                      <a:p>
                        <a:pPr marL="182880" indent="-182880">
                          <a:buFont typeface="Arial" panose="020B0604020202020204" pitchFamily="34" charset="0"/>
                          <a:buChar char="•"/>
                        </a:pPr>
                        <a:r>
                          <a:rPr lang="en-US" sz="600" dirty="0">
                            <a:solidFill>
                              <a:schemeClr val="tx2">
                                <a:lumMod val="65000"/>
                                <a:lumOff val="35000"/>
                              </a:schemeClr>
                            </a:solidFill>
                            <a:latin typeface="Franklin Gothic Book" panose="020B0503020102020204" pitchFamily="34" charset="0"/>
                            <a:cs typeface="Arial" panose="020B0604020202020204" pitchFamily="34" charset="0"/>
                          </a:rPr>
                          <a:t>Strategic</a:t>
                        </a:r>
                      </a:p>
                      <a:p>
                        <a:pPr marL="182880" indent="-182880">
                          <a:buFont typeface="Arial" panose="020B0604020202020204" pitchFamily="34" charset="0"/>
                          <a:buChar char="•"/>
                        </a:pPr>
                        <a:endParaRPr lang="en-US" sz="300" dirty="0">
                          <a:solidFill>
                            <a:schemeClr val="tx2">
                              <a:lumMod val="65000"/>
                              <a:lumOff val="35000"/>
                            </a:schemeClr>
                          </a:solidFill>
                          <a:latin typeface="Franklin Gothic Book" panose="020B0503020102020204" pitchFamily="34" charset="0"/>
                          <a:cs typeface="Arial" panose="020B0604020202020204" pitchFamily="34" charset="0"/>
                        </a:endParaRPr>
                      </a:p>
                      <a:p>
                        <a:pPr marL="182880" indent="-182880">
                          <a:buFont typeface="Arial" panose="020B0604020202020204" pitchFamily="34" charset="0"/>
                          <a:buChar char="•"/>
                        </a:pPr>
                        <a:r>
                          <a:rPr lang="en-US" sz="600" dirty="0">
                            <a:solidFill>
                              <a:schemeClr val="tx2">
                                <a:lumMod val="65000"/>
                                <a:lumOff val="35000"/>
                              </a:schemeClr>
                            </a:solidFill>
                            <a:latin typeface="Franklin Gothic Book" panose="020B0503020102020204" pitchFamily="34" charset="0"/>
                            <a:cs typeface="Arial" panose="020B0604020202020204" pitchFamily="34" charset="0"/>
                          </a:rPr>
                          <a:t>Feasibility</a:t>
                        </a:r>
                      </a:p>
                      <a:p>
                        <a:pPr marL="182880" indent="-182880"/>
                        <a:endParaRPr lang="en-US" sz="300" dirty="0">
                          <a:solidFill>
                            <a:schemeClr val="tx2">
                              <a:lumMod val="65000"/>
                              <a:lumOff val="35000"/>
                            </a:schemeClr>
                          </a:solidFill>
                          <a:latin typeface="Franklin Gothic Book" panose="020B0503020102020204" pitchFamily="34" charset="0"/>
                          <a:cs typeface="Arial" panose="020B0604020202020204" pitchFamily="34" charset="0"/>
                        </a:endParaRPr>
                      </a:p>
                      <a:p>
                        <a:pPr marL="182880" indent="-182880">
                          <a:buFont typeface="Arial" panose="020B0604020202020204" pitchFamily="34" charset="0"/>
                          <a:buChar char="•"/>
                        </a:pPr>
                        <a:r>
                          <a:rPr lang="en-US" sz="600" dirty="0">
                            <a:solidFill>
                              <a:schemeClr val="tx2">
                                <a:lumMod val="65000"/>
                                <a:lumOff val="35000"/>
                              </a:schemeClr>
                            </a:solidFill>
                            <a:latin typeface="Franklin Gothic Book" panose="020B0503020102020204" pitchFamily="34" charset="0"/>
                            <a:cs typeface="Arial" panose="020B0604020202020204" pitchFamily="34" charset="0"/>
                          </a:rPr>
                          <a:t>Economics</a:t>
                        </a:r>
                      </a:p>
                      <a:p>
                        <a:pPr marL="182880" indent="-182880"/>
                        <a:endParaRPr lang="en-US" sz="300" dirty="0">
                          <a:solidFill>
                            <a:schemeClr val="tx2">
                              <a:lumMod val="65000"/>
                              <a:lumOff val="35000"/>
                            </a:schemeClr>
                          </a:solidFill>
                          <a:latin typeface="Franklin Gothic Book" panose="020B0503020102020204" pitchFamily="34" charset="0"/>
                          <a:cs typeface="Arial" panose="020B0604020202020204" pitchFamily="34" charset="0"/>
                        </a:endParaRPr>
                      </a:p>
                      <a:p>
                        <a:pPr marL="182880" indent="-182880">
                          <a:buFont typeface="Arial" panose="020B0604020202020204" pitchFamily="34" charset="0"/>
                          <a:buChar char="•"/>
                        </a:pPr>
                        <a:r>
                          <a:rPr lang="en-US" sz="600" dirty="0">
                            <a:solidFill>
                              <a:schemeClr val="tx2">
                                <a:lumMod val="65000"/>
                                <a:lumOff val="35000"/>
                              </a:schemeClr>
                            </a:solidFill>
                            <a:latin typeface="Franklin Gothic Book" panose="020B0503020102020204" pitchFamily="34" charset="0"/>
                            <a:cs typeface="Arial" panose="020B0604020202020204" pitchFamily="34" charset="0"/>
                          </a:rPr>
                          <a:t>Legal/Ethical</a:t>
                        </a:r>
                      </a:p>
                    </p:txBody>
                  </p:sp>
                </p:grpSp>
              </p:grpSp>
              <p:sp>
                <p:nvSpPr>
                  <p:cNvPr id="219" name="TextBox 218">
                    <a:extLst>
                      <a:ext uri="{FF2B5EF4-FFF2-40B4-BE49-F238E27FC236}">
                        <a16:creationId xmlns:a16="http://schemas.microsoft.com/office/drawing/2014/main" id="{DA3524A7-C164-B266-3A7E-BD90A5F0FC87}"/>
                      </a:ext>
                    </a:extLst>
                  </p:cNvPr>
                  <p:cNvSpPr txBox="1"/>
                  <p:nvPr/>
                </p:nvSpPr>
                <p:spPr>
                  <a:xfrm>
                    <a:off x="2998395" y="6104868"/>
                    <a:ext cx="2056125" cy="433391"/>
                  </a:xfrm>
                  <a:prstGeom prst="rect">
                    <a:avLst/>
                  </a:prstGeom>
                  <a:solidFill>
                    <a:schemeClr val="tx1">
                      <a:lumMod val="50000"/>
                      <a:lumOff val="50000"/>
                    </a:schemeClr>
                  </a:solidFill>
                </p:spPr>
                <p:txBody>
                  <a:bodyPr wrap="square" anchor="ctr">
                    <a:sp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7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uLnTx/>
                        <a:uFillTx/>
                        <a:latin typeface="Franklin Gothic Book" panose="020B0503020102020204" pitchFamily="34" charset="0"/>
                      </a:rPr>
                      <a:t>Reasons </a:t>
                    </a:r>
                  </a:p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7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uLnTx/>
                        <a:uFillTx/>
                        <a:latin typeface="Franklin Gothic Book" panose="020B0503020102020204" pitchFamily="34" charset="0"/>
                      </a:rPr>
                      <a:t>for Change</a:t>
                    </a:r>
                  </a:p>
                </p:txBody>
              </p:sp>
              <p:grpSp>
                <p:nvGrpSpPr>
                  <p:cNvPr id="205" name="Group 204">
                    <a:extLst>
                      <a:ext uri="{FF2B5EF4-FFF2-40B4-BE49-F238E27FC236}">
                        <a16:creationId xmlns:a16="http://schemas.microsoft.com/office/drawing/2014/main" id="{CB4F3183-E1FD-C5AB-F60D-4786366974CD}"/>
                      </a:ext>
                    </a:extLst>
                  </p:cNvPr>
                  <p:cNvGrpSpPr/>
                  <p:nvPr/>
                </p:nvGrpSpPr>
                <p:grpSpPr>
                  <a:xfrm>
                    <a:off x="2904692" y="939320"/>
                    <a:ext cx="2148124" cy="1003263"/>
                    <a:chOff x="2714655" y="983255"/>
                    <a:chExt cx="2148124" cy="1003263"/>
                  </a:xfrm>
                </p:grpSpPr>
                <p:grpSp>
                  <p:nvGrpSpPr>
                    <p:cNvPr id="206" name="Group 205">
                      <a:extLst>
                        <a:ext uri="{FF2B5EF4-FFF2-40B4-BE49-F238E27FC236}">
                          <a16:creationId xmlns:a16="http://schemas.microsoft.com/office/drawing/2014/main" id="{0AC4ECBF-4849-D5B8-12C4-FD8B8D0BA27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714655" y="1267148"/>
                      <a:ext cx="2148124" cy="719370"/>
                      <a:chOff x="2714314" y="1324298"/>
                      <a:chExt cx="2148124" cy="719370"/>
                    </a:xfrm>
                  </p:grpSpPr>
                  <p:sp>
                    <p:nvSpPr>
                      <p:cNvPr id="215" name="Google Shape;83409;p3921">
                        <a:extLst>
                          <a:ext uri="{FF2B5EF4-FFF2-40B4-BE49-F238E27FC236}">
                            <a16:creationId xmlns:a16="http://schemas.microsoft.com/office/drawing/2014/main" id="{D05B312D-4F4D-0D07-E634-54B15FF57FD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735479" y="1324298"/>
                        <a:ext cx="2105795" cy="719370"/>
                      </a:xfrm>
                      <a:prstGeom prst="roundRect">
                        <a:avLst>
                          <a:gd name="adj" fmla="val 0"/>
                        </a:avLst>
                      </a:prstGeom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n>
                        <a:noFill/>
                      </a:ln>
                    </p:spPr>
                    <p:txBody>
                      <a:bodyPr spcFirstLastPara="1" wrap="square" lIns="68575" tIns="34275" rIns="68575" bIns="34275" anchor="ctr" anchorCtr="0">
                        <a:noAutofit/>
                      </a:bodyPr>
                      <a:lstStyle/>
                      <a:p>
                        <a:pPr marL="0" marR="0" lvl="0" indent="0" algn="ctr" defTabSz="4572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FFFFFF"/>
                          </a:buClr>
                          <a:buSzPts val="1400"/>
                          <a:buFont typeface="Calibri"/>
                          <a:buNone/>
                          <a:tabLst/>
                          <a:defRPr/>
                        </a:pPr>
                        <a:endParaRPr kumimoji="0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Franklin Gothic Book" panose="020B0503020102020204" pitchFamily="34" charset="0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216" name="Google Shape;83415;p3921">
                        <a:extLst>
                          <a:ext uri="{FF2B5EF4-FFF2-40B4-BE49-F238E27FC236}">
                            <a16:creationId xmlns:a16="http://schemas.microsoft.com/office/drawing/2014/main" id="{9963FD98-E4B0-7D64-5E1A-12110062098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714314" y="1974335"/>
                        <a:ext cx="2148124" cy="41064"/>
                      </a:xfrm>
                      <a:prstGeom prst="roundRect">
                        <a:avLst>
                          <a:gd name="adj" fmla="val 0"/>
                        </a:avLst>
                      </a:prstGeom>
                      <a:solidFill>
                        <a:schemeClr val="lt1"/>
                      </a:solidFill>
                      <a:ln>
                        <a:noFill/>
                      </a:ln>
                    </p:spPr>
                    <p:txBody>
                      <a:bodyPr spcFirstLastPara="1" wrap="square" lIns="68575" tIns="34275" rIns="68575" bIns="34275" anchor="ctr" anchorCtr="0">
                        <a:noAutofit/>
                      </a:bodyPr>
                      <a:lstStyle/>
                      <a:p>
                        <a:pPr marL="0" marR="0" lvl="0" indent="0" algn="ctr" defTabSz="4572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FFFFFF"/>
                          </a:buClr>
                          <a:buSzPts val="1400"/>
                          <a:buFont typeface="Calibri"/>
                          <a:buNone/>
                          <a:tabLst/>
                          <a:defRPr/>
                        </a:pPr>
                        <a:endParaRPr kumimoji="0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Franklin Gothic Book" panose="020B0503020102020204" pitchFamily="34" charset="0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217" name="TextBox 216">
                        <a:extLst>
                          <a:ext uri="{FF2B5EF4-FFF2-40B4-BE49-F238E27FC236}">
                            <a16:creationId xmlns:a16="http://schemas.microsoft.com/office/drawing/2014/main" id="{E45D203F-4926-9B30-2A05-D0B1B237B36E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3273046" y="1446953"/>
                        <a:ext cx="1030652" cy="47406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 anchor="ctr">
                        <a:spAutoFit/>
                      </a:bodyPr>
                      <a:lstStyle/>
                      <a:p>
                        <a:pPr algn="ctr"/>
                        <a:r>
                          <a:rPr lang="en-US" sz="700" b="1" dirty="0">
                            <a:solidFill>
                              <a:schemeClr val="bg2"/>
                            </a:solidFill>
                            <a:latin typeface="Franklin Gothic Book" panose="020B0503020102020204" pitchFamily="34" charset="0"/>
                          </a:rPr>
                          <a:t>Strategic </a:t>
                        </a:r>
                      </a:p>
                      <a:p>
                        <a:pPr algn="ctr"/>
                        <a:r>
                          <a:rPr lang="en-US" sz="700" b="1" dirty="0">
                            <a:solidFill>
                              <a:schemeClr val="bg2"/>
                            </a:solidFill>
                            <a:latin typeface="Franklin Gothic Book" panose="020B0503020102020204" pitchFamily="34" charset="0"/>
                          </a:rPr>
                          <a:t>Initiatives</a:t>
                        </a:r>
                      </a:p>
                    </p:txBody>
                  </p:sp>
                </p:grpSp>
                <p:grpSp>
                  <p:nvGrpSpPr>
                    <p:cNvPr id="207" name="Group 206">
                      <a:extLst>
                        <a:ext uri="{FF2B5EF4-FFF2-40B4-BE49-F238E27FC236}">
                          <a16:creationId xmlns:a16="http://schemas.microsoft.com/office/drawing/2014/main" id="{3F577CB6-BA1D-1E5C-524B-2FEACE7A274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340638" y="983255"/>
                      <a:ext cx="896159" cy="372147"/>
                      <a:chOff x="3340638" y="983255"/>
                      <a:chExt cx="896159" cy="372147"/>
                    </a:xfrm>
                  </p:grpSpPr>
                  <p:grpSp>
                    <p:nvGrpSpPr>
                      <p:cNvPr id="208" name="Google Shape;83411;p3921">
                        <a:extLst>
                          <a:ext uri="{FF2B5EF4-FFF2-40B4-BE49-F238E27FC236}">
                            <a16:creationId xmlns:a16="http://schemas.microsoft.com/office/drawing/2014/main" id="{FA114D59-91A5-8721-F266-9606896C54E7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3340638" y="1214313"/>
                        <a:ext cx="896159" cy="35903"/>
                        <a:chOff x="863283" y="2322123"/>
                        <a:chExt cx="1194878" cy="47871"/>
                      </a:xfrm>
                    </p:grpSpPr>
                    <p:sp>
                      <p:nvSpPr>
                        <p:cNvPr id="212" name="Google Shape;83412;p3921">
                          <a:extLst>
                            <a:ext uri="{FF2B5EF4-FFF2-40B4-BE49-F238E27FC236}">
                              <a16:creationId xmlns:a16="http://schemas.microsoft.com/office/drawing/2014/main" id="{2AF7113F-9F6B-418C-B69C-2262C90F62B9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941176" y="2328811"/>
                          <a:ext cx="1039091" cy="34480"/>
                        </a:xfrm>
                        <a:prstGeom prst="roundRect">
                          <a:avLst>
                            <a:gd name="adj" fmla="val 0"/>
                          </a:avLst>
                        </a:prstGeom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n>
                          <a:noFill/>
                        </a:ln>
                      </p:spPr>
                      <p:txBody>
                        <a:bodyPr spcFirstLastPara="1" wrap="square" lIns="68575" tIns="34275" rIns="68575" bIns="34275" anchor="ctr" anchorCtr="0">
                          <a:noAutofit/>
                        </a:bodyPr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FFFFFF"/>
                            </a:buClr>
                            <a:buSzPts val="1400"/>
                            <a:buFont typeface="Calibri"/>
                            <a:buNone/>
                            <a:tabLst/>
                            <a:defRPr/>
                          </a:pPr>
                          <a:endParaRPr kumimoji="0" sz="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Franklin Gothic Book" panose="020B0503020102020204" pitchFamily="34" charset="0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213" name="Google Shape;83413;p3921">
                          <a:extLst>
                            <a:ext uri="{FF2B5EF4-FFF2-40B4-BE49-F238E27FC236}">
                              <a16:creationId xmlns:a16="http://schemas.microsoft.com/office/drawing/2014/main" id="{36993761-6DF6-78F2-4FFB-61E4014822F1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63283" y="2322123"/>
                          <a:ext cx="47863" cy="47863"/>
                        </a:xfrm>
                        <a:prstGeom prst="ellipse">
                          <a:avLst/>
                        </a:prstGeom>
                        <a:solidFill>
                          <a:schemeClr val="lt1"/>
                        </a:solidFill>
                        <a:ln w="9525" cap="flat" cmpd="sng">
                          <a:noFill/>
                          <a:prstDash val="solid"/>
                          <a:miter lim="800000"/>
                          <a:headEnd type="none" w="sm" len="sm"/>
                          <a:tailEnd type="none" w="sm" len="sm"/>
                        </a:ln>
                      </p:spPr>
                      <p:txBody>
                        <a:bodyPr spcFirstLastPara="1" wrap="square" lIns="68575" tIns="34275" rIns="68575" bIns="34275" anchor="ctr" anchorCtr="0">
                          <a:noAutofit/>
                        </a:bodyPr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FFFFFF"/>
                            </a:buClr>
                            <a:buSzPts val="1400"/>
                            <a:buFont typeface="Calibri"/>
                            <a:buNone/>
                            <a:tabLst/>
                            <a:defRPr/>
                          </a:pPr>
                          <a:endParaRPr kumimoji="0" sz="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Franklin Gothic Book" panose="020B0503020102020204" pitchFamily="34" charset="0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214" name="Google Shape;83414;p3921">
                          <a:extLst>
                            <a:ext uri="{FF2B5EF4-FFF2-40B4-BE49-F238E27FC236}">
                              <a16:creationId xmlns:a16="http://schemas.microsoft.com/office/drawing/2014/main" id="{ADCC3812-BE92-4DA3-72D3-675611DCDADC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2010298" y="2322131"/>
                          <a:ext cx="47863" cy="47863"/>
                        </a:xfrm>
                        <a:prstGeom prst="ellipse">
                          <a:avLst/>
                        </a:prstGeom>
                        <a:solidFill>
                          <a:schemeClr val="lt1"/>
                        </a:solidFill>
                        <a:ln w="9525" cap="flat" cmpd="sng">
                          <a:noFill/>
                          <a:prstDash val="solid"/>
                          <a:miter lim="800000"/>
                          <a:headEnd type="none" w="sm" len="sm"/>
                          <a:tailEnd type="none" w="sm" len="sm"/>
                        </a:ln>
                      </p:spPr>
                      <p:txBody>
                        <a:bodyPr spcFirstLastPara="1" wrap="square" lIns="68575" tIns="34275" rIns="68575" bIns="34275" anchor="ctr" anchorCtr="0">
                          <a:noAutofit/>
                        </a:bodyPr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FFFFFF"/>
                            </a:buClr>
                            <a:buSzPts val="1400"/>
                            <a:buFont typeface="Calibri"/>
                            <a:buNone/>
                            <a:tabLst/>
                            <a:defRPr/>
                          </a:pPr>
                          <a:endParaRPr kumimoji="0" sz="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Franklin Gothic Book" panose="020B0503020102020204" pitchFamily="34" charset="0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grpSp>
                    <p:nvGrpSpPr>
                      <p:cNvPr id="209" name="Group 208">
                        <a:extLst>
                          <a:ext uri="{FF2B5EF4-FFF2-40B4-BE49-F238E27FC236}">
                            <a16:creationId xmlns:a16="http://schemas.microsoft.com/office/drawing/2014/main" id="{2C7CD23F-AF42-E6A3-09B7-C3978EA30B08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3602644" y="983255"/>
                        <a:ext cx="372147" cy="372147"/>
                        <a:chOff x="3602644" y="983255"/>
                        <a:chExt cx="372147" cy="372147"/>
                      </a:xfrm>
                    </p:grpSpPr>
                    <p:sp>
                      <p:nvSpPr>
                        <p:cNvPr id="210" name="Google Shape;83463;p3921">
                          <a:extLst>
                            <a:ext uri="{FF2B5EF4-FFF2-40B4-BE49-F238E27FC236}">
                              <a16:creationId xmlns:a16="http://schemas.microsoft.com/office/drawing/2014/main" id="{6C8B5B11-4561-898B-D810-7663BBAE80F8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3602644" y="983255"/>
                          <a:ext cx="372147" cy="372147"/>
                        </a:xfrm>
                        <a:prstGeom prst="ellipse">
                          <a:avLst/>
                        </a:prstGeom>
                        <a:solidFill>
                          <a:schemeClr val="lt1"/>
                        </a:solidFill>
                        <a:ln w="9525" cap="flat" cmpd="sng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prstDash val="solid"/>
                          <a:miter lim="800000"/>
                          <a:headEnd type="none" w="sm" len="sm"/>
                          <a:tailEnd type="none" w="sm" len="sm"/>
                        </a:ln>
                      </p:spPr>
                      <p:txBody>
                        <a:bodyPr spcFirstLastPara="1" wrap="square" lIns="68575" tIns="34275" rIns="68575" bIns="34275" anchor="ctr" anchorCtr="0">
                          <a:noAutofit/>
                        </a:bodyPr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FFFFFF"/>
                            </a:buClr>
                            <a:buSzPts val="1400"/>
                            <a:buFont typeface="Calibri"/>
                            <a:buNone/>
                            <a:tabLst/>
                            <a:defRPr/>
                          </a:pPr>
                          <a:endParaRPr kumimoji="0" sz="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Franklin Gothic Book" panose="020B0503020102020204" pitchFamily="34" charset="0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211" name="Freeform: Shape 204">
                          <a:extLst>
                            <a:ext uri="{FF2B5EF4-FFF2-40B4-BE49-F238E27FC236}">
                              <a16:creationId xmlns:a16="http://schemas.microsoft.com/office/drawing/2014/main" id="{0AA02BEE-07DC-8678-DFB0-4A6EF37E5B65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3671649" y="1059867"/>
                          <a:ext cx="234136" cy="218922"/>
                        </a:xfrm>
                        <a:custGeom>
                          <a:avLst/>
                          <a:gdLst>
                            <a:gd name="connsiteX0" fmla="*/ 3142334 w 5216262"/>
                            <a:gd name="connsiteY0" fmla="*/ 3527776 h 4877342"/>
                            <a:gd name="connsiteX1" fmla="*/ 2955807 w 5216262"/>
                            <a:gd name="connsiteY1" fmla="*/ 3714304 h 4877342"/>
                            <a:gd name="connsiteX2" fmla="*/ 3142334 w 5216262"/>
                            <a:gd name="connsiteY2" fmla="*/ 3900831 h 4877342"/>
                            <a:gd name="connsiteX3" fmla="*/ 3328862 w 5216262"/>
                            <a:gd name="connsiteY3" fmla="*/ 3714304 h 4877342"/>
                            <a:gd name="connsiteX4" fmla="*/ 3142334 w 5216262"/>
                            <a:gd name="connsiteY4" fmla="*/ 3527776 h 4877342"/>
                            <a:gd name="connsiteX5" fmla="*/ 2319395 w 5216262"/>
                            <a:gd name="connsiteY5" fmla="*/ 2446945 h 4877342"/>
                            <a:gd name="connsiteX6" fmla="*/ 2385222 w 5216262"/>
                            <a:gd name="connsiteY6" fmla="*/ 2490836 h 4877342"/>
                            <a:gd name="connsiteX7" fmla="*/ 2385182 w 5216262"/>
                            <a:gd name="connsiteY7" fmla="*/ 2787043 h 4877342"/>
                            <a:gd name="connsiteX8" fmla="*/ 2335815 w 5216262"/>
                            <a:gd name="connsiteY8" fmla="*/ 2841927 h 4877342"/>
                            <a:gd name="connsiteX9" fmla="*/ 2061495 w 5216262"/>
                            <a:gd name="connsiteY9" fmla="*/ 2841927 h 4877342"/>
                            <a:gd name="connsiteX10" fmla="*/ 2006611 w 5216262"/>
                            <a:gd name="connsiteY10" fmla="*/ 2787043 h 4877342"/>
                            <a:gd name="connsiteX11" fmla="*/ 2006611 w 5216262"/>
                            <a:gd name="connsiteY11" fmla="*/ 2523706 h 4877342"/>
                            <a:gd name="connsiteX12" fmla="*/ 2045035 w 5216262"/>
                            <a:gd name="connsiteY12" fmla="*/ 2523706 h 4877342"/>
                            <a:gd name="connsiteX13" fmla="*/ 2160270 w 5216262"/>
                            <a:gd name="connsiteY13" fmla="*/ 2501780 h 4877342"/>
                            <a:gd name="connsiteX14" fmla="*/ 2994222 w 5216262"/>
                            <a:gd name="connsiteY14" fmla="*/ 2309775 h 4877342"/>
                            <a:gd name="connsiteX15" fmla="*/ 3016158 w 5216262"/>
                            <a:gd name="connsiteY15" fmla="*/ 2315252 h 4877342"/>
                            <a:gd name="connsiteX16" fmla="*/ 3016158 w 5216262"/>
                            <a:gd name="connsiteY16" fmla="*/ 2787082 h 4877342"/>
                            <a:gd name="connsiteX17" fmla="*/ 2966790 w 5216262"/>
                            <a:gd name="connsiteY17" fmla="*/ 2841965 h 4877342"/>
                            <a:gd name="connsiteX18" fmla="*/ 2692470 w 5216262"/>
                            <a:gd name="connsiteY18" fmla="*/ 2841965 h 4877342"/>
                            <a:gd name="connsiteX19" fmla="*/ 2637586 w 5216262"/>
                            <a:gd name="connsiteY19" fmla="*/ 2787082 h 4877342"/>
                            <a:gd name="connsiteX20" fmla="*/ 2637586 w 5216262"/>
                            <a:gd name="connsiteY20" fmla="*/ 2518238 h 4877342"/>
                            <a:gd name="connsiteX21" fmla="*/ 2637596 w 5216262"/>
                            <a:gd name="connsiteY21" fmla="*/ 2518238 h 4877342"/>
                            <a:gd name="connsiteX22" fmla="*/ 2725378 w 5216262"/>
                            <a:gd name="connsiteY22" fmla="*/ 2485359 h 4877342"/>
                            <a:gd name="connsiteX23" fmla="*/ 3592210 w 5216262"/>
                            <a:gd name="connsiteY23" fmla="*/ 2128743 h 4877342"/>
                            <a:gd name="connsiteX24" fmla="*/ 3614146 w 5216262"/>
                            <a:gd name="connsiteY24" fmla="*/ 2150669 h 4877342"/>
                            <a:gd name="connsiteX25" fmla="*/ 3652570 w 5216262"/>
                            <a:gd name="connsiteY25" fmla="*/ 2172595 h 4877342"/>
                            <a:gd name="connsiteX26" fmla="*/ 3652570 w 5216262"/>
                            <a:gd name="connsiteY26" fmla="*/ 2787062 h 4877342"/>
                            <a:gd name="connsiteX27" fmla="*/ 3603203 w 5216262"/>
                            <a:gd name="connsiteY27" fmla="*/ 2841946 h 4877342"/>
                            <a:gd name="connsiteX28" fmla="*/ 3328882 w 5216262"/>
                            <a:gd name="connsiteY28" fmla="*/ 2841946 h 4877342"/>
                            <a:gd name="connsiteX29" fmla="*/ 3273999 w 5216262"/>
                            <a:gd name="connsiteY29" fmla="*/ 2787062 h 4877342"/>
                            <a:gd name="connsiteX30" fmla="*/ 3273999 w 5216262"/>
                            <a:gd name="connsiteY30" fmla="*/ 2348140 h 4877342"/>
                            <a:gd name="connsiteX31" fmla="*/ 3438601 w 5216262"/>
                            <a:gd name="connsiteY31" fmla="*/ 2265864 h 4877342"/>
                            <a:gd name="connsiteX32" fmla="*/ 4289003 w 5216262"/>
                            <a:gd name="connsiteY32" fmla="*/ 1887303 h 4877342"/>
                            <a:gd name="connsiteX33" fmla="*/ 4289003 w 5216262"/>
                            <a:gd name="connsiteY33" fmla="*/ 2787073 h 4877342"/>
                            <a:gd name="connsiteX34" fmla="*/ 4239635 w 5216262"/>
                            <a:gd name="connsiteY34" fmla="*/ 2841956 h 4877342"/>
                            <a:gd name="connsiteX35" fmla="*/ 3965314 w 5216262"/>
                            <a:gd name="connsiteY35" fmla="*/ 2841956 h 4877342"/>
                            <a:gd name="connsiteX36" fmla="*/ 3910431 w 5216262"/>
                            <a:gd name="connsiteY36" fmla="*/ 2787073 h 4877342"/>
                            <a:gd name="connsiteX37" fmla="*/ 3915898 w 5216262"/>
                            <a:gd name="connsiteY37" fmla="*/ 2787073 h 4877342"/>
                            <a:gd name="connsiteX38" fmla="*/ 3915937 w 5216262"/>
                            <a:gd name="connsiteY38" fmla="*/ 2200008 h 4877342"/>
                            <a:gd name="connsiteX39" fmla="*/ 4058574 w 5216262"/>
                            <a:gd name="connsiteY39" fmla="*/ 2117732 h 4877342"/>
                            <a:gd name="connsiteX40" fmla="*/ 4247151 w 5216262"/>
                            <a:gd name="connsiteY40" fmla="*/ 1338653 h 4877342"/>
                            <a:gd name="connsiteX41" fmla="*/ 4327407 w 5216262"/>
                            <a:gd name="connsiteY41" fmla="*/ 1371571 h 4877342"/>
                            <a:gd name="connsiteX42" fmla="*/ 4327407 w 5216262"/>
                            <a:gd name="connsiteY42" fmla="*/ 1536173 h 4877342"/>
                            <a:gd name="connsiteX43" fmla="*/ 3899458 w 5216262"/>
                            <a:gd name="connsiteY43" fmla="*/ 1969579 h 4877342"/>
                            <a:gd name="connsiteX44" fmla="*/ 3751315 w 5216262"/>
                            <a:gd name="connsiteY44" fmla="*/ 1980562 h 4877342"/>
                            <a:gd name="connsiteX45" fmla="*/ 3581257 w 5216262"/>
                            <a:gd name="connsiteY45" fmla="*/ 1848878 h 4877342"/>
                            <a:gd name="connsiteX46" fmla="*/ 3295954 w 5216262"/>
                            <a:gd name="connsiteY46" fmla="*/ 2101272 h 4877342"/>
                            <a:gd name="connsiteX47" fmla="*/ 3191693 w 5216262"/>
                            <a:gd name="connsiteY47" fmla="*/ 2128714 h 4877342"/>
                            <a:gd name="connsiteX48" fmla="*/ 2955807 w 5216262"/>
                            <a:gd name="connsiteY48" fmla="*/ 2068364 h 4877342"/>
                            <a:gd name="connsiteX49" fmla="*/ 2604668 w 5216262"/>
                            <a:gd name="connsiteY49" fmla="*/ 2298793 h 4877342"/>
                            <a:gd name="connsiteX50" fmla="*/ 2456525 w 5216262"/>
                            <a:gd name="connsiteY50" fmla="*/ 2282334 h 4877342"/>
                            <a:gd name="connsiteX51" fmla="*/ 2374248 w 5216262"/>
                            <a:gd name="connsiteY51" fmla="*/ 2194541 h 4877342"/>
                            <a:gd name="connsiteX52" fmla="*/ 2083469 w 5216262"/>
                            <a:gd name="connsiteY52" fmla="*/ 2298793 h 4877342"/>
                            <a:gd name="connsiteX53" fmla="*/ 2028586 w 5216262"/>
                            <a:gd name="connsiteY53" fmla="*/ 2304269 h 4877342"/>
                            <a:gd name="connsiteX54" fmla="*/ 1935327 w 5216262"/>
                            <a:gd name="connsiteY54" fmla="*/ 2227460 h 4877342"/>
                            <a:gd name="connsiteX55" fmla="*/ 1935327 w 5216262"/>
                            <a:gd name="connsiteY55" fmla="*/ 2227450 h 4877342"/>
                            <a:gd name="connsiteX56" fmla="*/ 2006660 w 5216262"/>
                            <a:gd name="connsiteY56" fmla="*/ 2084813 h 4877342"/>
                            <a:gd name="connsiteX57" fmla="*/ 2368772 w 5216262"/>
                            <a:gd name="connsiteY57" fmla="*/ 1953130 h 4877342"/>
                            <a:gd name="connsiteX58" fmla="*/ 2489473 w 5216262"/>
                            <a:gd name="connsiteY58" fmla="*/ 1980572 h 4877342"/>
                            <a:gd name="connsiteX59" fmla="*/ 2555300 w 5216262"/>
                            <a:gd name="connsiteY59" fmla="*/ 2051905 h 4877342"/>
                            <a:gd name="connsiteX60" fmla="*/ 2868005 w 5216262"/>
                            <a:gd name="connsiteY60" fmla="*/ 1848878 h 4877342"/>
                            <a:gd name="connsiteX61" fmla="*/ 2961264 w 5216262"/>
                            <a:gd name="connsiteY61" fmla="*/ 1832419 h 4877342"/>
                            <a:gd name="connsiteX62" fmla="*/ 3186216 w 5216262"/>
                            <a:gd name="connsiteY62" fmla="*/ 1887303 h 4877342"/>
                            <a:gd name="connsiteX63" fmla="*/ 3487939 w 5216262"/>
                            <a:gd name="connsiteY63" fmla="*/ 1612983 h 4877342"/>
                            <a:gd name="connsiteX64" fmla="*/ 3636081 w 5216262"/>
                            <a:gd name="connsiteY64" fmla="*/ 1607506 h 4877342"/>
                            <a:gd name="connsiteX65" fmla="*/ 3800683 w 5216262"/>
                            <a:gd name="connsiteY65" fmla="*/ 1733684 h 4877342"/>
                            <a:gd name="connsiteX66" fmla="*/ 4162795 w 5216262"/>
                            <a:gd name="connsiteY66" fmla="*/ 1371571 h 4877342"/>
                            <a:gd name="connsiteX67" fmla="*/ 4247151 w 5216262"/>
                            <a:gd name="connsiteY67" fmla="*/ 1338653 h 4877342"/>
                            <a:gd name="connsiteX68" fmla="*/ 2566262 w 5216262"/>
                            <a:gd name="connsiteY68" fmla="*/ 630937 h 4877342"/>
                            <a:gd name="connsiteX69" fmla="*/ 5035143 w 5216262"/>
                            <a:gd name="connsiteY69" fmla="*/ 630937 h 4877342"/>
                            <a:gd name="connsiteX70" fmla="*/ 5104325 w 5216262"/>
                            <a:gd name="connsiteY70" fmla="*/ 644392 h 4877342"/>
                            <a:gd name="connsiteX71" fmla="*/ 5216262 w 5216262"/>
                            <a:gd name="connsiteY71" fmla="*/ 800967 h 4877342"/>
                            <a:gd name="connsiteX72" fmla="*/ 5216262 w 5216262"/>
                            <a:gd name="connsiteY72" fmla="*/ 3928214 h 4877342"/>
                            <a:gd name="connsiteX73" fmla="*/ 5040678 w 5216262"/>
                            <a:gd name="connsiteY73" fmla="*/ 4103799 h 4877342"/>
                            <a:gd name="connsiteX74" fmla="*/ 3745887 w 5216262"/>
                            <a:gd name="connsiteY74" fmla="*/ 4103799 h 4877342"/>
                            <a:gd name="connsiteX75" fmla="*/ 4140908 w 5216262"/>
                            <a:gd name="connsiteY75" fmla="*/ 4614014 h 4877342"/>
                            <a:gd name="connsiteX76" fmla="*/ 4157367 w 5216262"/>
                            <a:gd name="connsiteY76" fmla="*/ 4784083 h 4877342"/>
                            <a:gd name="connsiteX77" fmla="*/ 4009225 w 5216262"/>
                            <a:gd name="connsiteY77" fmla="*/ 4877342 h 4877342"/>
                            <a:gd name="connsiteX78" fmla="*/ 2275522 w 5216262"/>
                            <a:gd name="connsiteY78" fmla="*/ 4877342 h 4877342"/>
                            <a:gd name="connsiteX79" fmla="*/ 2132886 w 5216262"/>
                            <a:gd name="connsiteY79" fmla="*/ 4784083 h 4877342"/>
                            <a:gd name="connsiteX80" fmla="*/ 2149335 w 5216262"/>
                            <a:gd name="connsiteY80" fmla="*/ 4614014 h 4877342"/>
                            <a:gd name="connsiteX81" fmla="*/ 2544356 w 5216262"/>
                            <a:gd name="connsiteY81" fmla="*/ 4103799 h 4877342"/>
                            <a:gd name="connsiteX82" fmla="*/ 1249566 w 5216262"/>
                            <a:gd name="connsiteY82" fmla="*/ 4103799 h 4877342"/>
                            <a:gd name="connsiteX83" fmla="*/ 1073981 w 5216262"/>
                            <a:gd name="connsiteY83" fmla="*/ 3928214 h 4877342"/>
                            <a:gd name="connsiteX84" fmla="*/ 1073981 w 5216262"/>
                            <a:gd name="connsiteY84" fmla="*/ 2095757 h 4877342"/>
                            <a:gd name="connsiteX85" fmla="*/ 1348301 w 5216262"/>
                            <a:gd name="connsiteY85" fmla="*/ 2128665 h 4877342"/>
                            <a:gd name="connsiteX86" fmla="*/ 1425111 w 5216262"/>
                            <a:gd name="connsiteY86" fmla="*/ 2123199 h 4877342"/>
                            <a:gd name="connsiteX87" fmla="*/ 1425111 w 5216262"/>
                            <a:gd name="connsiteY87" fmla="*/ 3204020 h 4877342"/>
                            <a:gd name="connsiteX88" fmla="*/ 4859597 w 5216262"/>
                            <a:gd name="connsiteY88" fmla="*/ 3204049 h 4877342"/>
                            <a:gd name="connsiteX89" fmla="*/ 4859597 w 5216262"/>
                            <a:gd name="connsiteY89" fmla="*/ 982068 h 4877342"/>
                            <a:gd name="connsiteX90" fmla="*/ 2588227 w 5216262"/>
                            <a:gd name="connsiteY90" fmla="*/ 982068 h 4877342"/>
                            <a:gd name="connsiteX91" fmla="*/ 2593704 w 5216262"/>
                            <a:gd name="connsiteY91" fmla="*/ 888799 h 4877342"/>
                            <a:gd name="connsiteX92" fmla="*/ 2566262 w 5216262"/>
                            <a:gd name="connsiteY92" fmla="*/ 630937 h 4877342"/>
                            <a:gd name="connsiteX93" fmla="*/ 5035132 w 5216262"/>
                            <a:gd name="connsiteY93" fmla="*/ 630935 h 4877342"/>
                            <a:gd name="connsiteX94" fmla="*/ 5035143 w 5216262"/>
                            <a:gd name="connsiteY94" fmla="*/ 630937 h 4877342"/>
                            <a:gd name="connsiteX95" fmla="*/ 5035143 w 5216262"/>
                            <a:gd name="connsiteY95" fmla="*/ 630937 h 4877342"/>
                            <a:gd name="connsiteX96" fmla="*/ 1353768 w 5216262"/>
                            <a:gd name="connsiteY96" fmla="*/ 367569 h 4877342"/>
                            <a:gd name="connsiteX97" fmla="*/ 838037 w 5216262"/>
                            <a:gd name="connsiteY97" fmla="*/ 883302 h 4877342"/>
                            <a:gd name="connsiteX98" fmla="*/ 1353768 w 5216262"/>
                            <a:gd name="connsiteY98" fmla="*/ 1399032 h 4877342"/>
                            <a:gd name="connsiteX99" fmla="*/ 1869500 w 5216262"/>
                            <a:gd name="connsiteY99" fmla="*/ 883302 h 4877342"/>
                            <a:gd name="connsiteX100" fmla="*/ 1353768 w 5216262"/>
                            <a:gd name="connsiteY100" fmla="*/ 367569 h 4877342"/>
                            <a:gd name="connsiteX101" fmla="*/ 1353768 w 5216262"/>
                            <a:gd name="connsiteY101" fmla="*/ 0 h 4877342"/>
                            <a:gd name="connsiteX102" fmla="*/ 2242555 w 5216262"/>
                            <a:gd name="connsiteY102" fmla="*/ 888788 h 4877342"/>
                            <a:gd name="connsiteX103" fmla="*/ 1353768 w 5216262"/>
                            <a:gd name="connsiteY103" fmla="*/ 1777575 h 4877342"/>
                            <a:gd name="connsiteX104" fmla="*/ 1353768 w 5216262"/>
                            <a:gd name="connsiteY104" fmla="*/ 1777565 h 4877342"/>
                            <a:gd name="connsiteX105" fmla="*/ 870955 w 5216262"/>
                            <a:gd name="connsiteY105" fmla="*/ 1629423 h 4877342"/>
                            <a:gd name="connsiteX106" fmla="*/ 316839 w 5216262"/>
                            <a:gd name="connsiteY106" fmla="*/ 2183538 h 4877342"/>
                            <a:gd name="connsiteX107" fmla="*/ 53501 w 5216262"/>
                            <a:gd name="connsiteY107" fmla="*/ 2183538 h 4877342"/>
                            <a:gd name="connsiteX108" fmla="*/ 53501 w 5216262"/>
                            <a:gd name="connsiteY108" fmla="*/ 1920201 h 4877342"/>
                            <a:gd name="connsiteX109" fmla="*/ 607618 w 5216262"/>
                            <a:gd name="connsiteY109" fmla="*/ 1371562 h 4877342"/>
                            <a:gd name="connsiteX110" fmla="*/ 464981 w 5216262"/>
                            <a:gd name="connsiteY110" fmla="*/ 888749 h 4877342"/>
                            <a:gd name="connsiteX111" fmla="*/ 1353768 w 5216262"/>
                            <a:gd name="connsiteY111" fmla="*/ 0 h 4877342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  <a:cxn ang="0">
                              <a:pos x="connsiteX15" y="connsiteY15"/>
                            </a:cxn>
                            <a:cxn ang="0">
                              <a:pos x="connsiteX16" y="connsiteY16"/>
                            </a:cxn>
                            <a:cxn ang="0">
                              <a:pos x="connsiteX17" y="connsiteY17"/>
                            </a:cxn>
                            <a:cxn ang="0">
                              <a:pos x="connsiteX18" y="connsiteY18"/>
                            </a:cxn>
                            <a:cxn ang="0">
                              <a:pos x="connsiteX19" y="connsiteY19"/>
                            </a:cxn>
                            <a:cxn ang="0">
                              <a:pos x="connsiteX20" y="connsiteY20"/>
                            </a:cxn>
                            <a:cxn ang="0">
                              <a:pos x="connsiteX21" y="connsiteY21"/>
                            </a:cxn>
                            <a:cxn ang="0">
                              <a:pos x="connsiteX22" y="connsiteY22"/>
                            </a:cxn>
                            <a:cxn ang="0">
                              <a:pos x="connsiteX23" y="connsiteY23"/>
                            </a:cxn>
                            <a:cxn ang="0">
                              <a:pos x="connsiteX24" y="connsiteY24"/>
                            </a:cxn>
                            <a:cxn ang="0">
                              <a:pos x="connsiteX25" y="connsiteY25"/>
                            </a:cxn>
                            <a:cxn ang="0">
                              <a:pos x="connsiteX26" y="connsiteY26"/>
                            </a:cxn>
                            <a:cxn ang="0">
                              <a:pos x="connsiteX27" y="connsiteY27"/>
                            </a:cxn>
                            <a:cxn ang="0">
                              <a:pos x="connsiteX28" y="connsiteY28"/>
                            </a:cxn>
                            <a:cxn ang="0">
                              <a:pos x="connsiteX29" y="connsiteY29"/>
                            </a:cxn>
                            <a:cxn ang="0">
                              <a:pos x="connsiteX30" y="connsiteY30"/>
                            </a:cxn>
                            <a:cxn ang="0">
                              <a:pos x="connsiteX31" y="connsiteY31"/>
                            </a:cxn>
                            <a:cxn ang="0">
                              <a:pos x="connsiteX32" y="connsiteY32"/>
                            </a:cxn>
                            <a:cxn ang="0">
                              <a:pos x="connsiteX33" y="connsiteY33"/>
                            </a:cxn>
                            <a:cxn ang="0">
                              <a:pos x="connsiteX34" y="connsiteY34"/>
                            </a:cxn>
                            <a:cxn ang="0">
                              <a:pos x="connsiteX35" y="connsiteY35"/>
                            </a:cxn>
                            <a:cxn ang="0">
                              <a:pos x="connsiteX36" y="connsiteY36"/>
                            </a:cxn>
                            <a:cxn ang="0">
                              <a:pos x="connsiteX37" y="connsiteY37"/>
                            </a:cxn>
                            <a:cxn ang="0">
                              <a:pos x="connsiteX38" y="connsiteY38"/>
                            </a:cxn>
                            <a:cxn ang="0">
                              <a:pos x="connsiteX39" y="connsiteY39"/>
                            </a:cxn>
                            <a:cxn ang="0">
                              <a:pos x="connsiteX40" y="connsiteY40"/>
                            </a:cxn>
                            <a:cxn ang="0">
                              <a:pos x="connsiteX41" y="connsiteY41"/>
                            </a:cxn>
                            <a:cxn ang="0">
                              <a:pos x="connsiteX42" y="connsiteY42"/>
                            </a:cxn>
                            <a:cxn ang="0">
                              <a:pos x="connsiteX43" y="connsiteY43"/>
                            </a:cxn>
                            <a:cxn ang="0">
                              <a:pos x="connsiteX44" y="connsiteY44"/>
                            </a:cxn>
                            <a:cxn ang="0">
                              <a:pos x="connsiteX45" y="connsiteY45"/>
                            </a:cxn>
                            <a:cxn ang="0">
                              <a:pos x="connsiteX46" y="connsiteY46"/>
                            </a:cxn>
                            <a:cxn ang="0">
                              <a:pos x="connsiteX47" y="connsiteY47"/>
                            </a:cxn>
                            <a:cxn ang="0">
                              <a:pos x="connsiteX48" y="connsiteY48"/>
                            </a:cxn>
                            <a:cxn ang="0">
                              <a:pos x="connsiteX49" y="connsiteY49"/>
                            </a:cxn>
                            <a:cxn ang="0">
                              <a:pos x="connsiteX50" y="connsiteY50"/>
                            </a:cxn>
                            <a:cxn ang="0">
                              <a:pos x="connsiteX51" y="connsiteY51"/>
                            </a:cxn>
                            <a:cxn ang="0">
                              <a:pos x="connsiteX52" y="connsiteY52"/>
                            </a:cxn>
                            <a:cxn ang="0">
                              <a:pos x="connsiteX53" y="connsiteY53"/>
                            </a:cxn>
                            <a:cxn ang="0">
                              <a:pos x="connsiteX54" y="connsiteY54"/>
                            </a:cxn>
                            <a:cxn ang="0">
                              <a:pos x="connsiteX55" y="connsiteY55"/>
                            </a:cxn>
                            <a:cxn ang="0">
                              <a:pos x="connsiteX56" y="connsiteY56"/>
                            </a:cxn>
                            <a:cxn ang="0">
                              <a:pos x="connsiteX57" y="connsiteY57"/>
                            </a:cxn>
                            <a:cxn ang="0">
                              <a:pos x="connsiteX58" y="connsiteY58"/>
                            </a:cxn>
                            <a:cxn ang="0">
                              <a:pos x="connsiteX59" y="connsiteY59"/>
                            </a:cxn>
                            <a:cxn ang="0">
                              <a:pos x="connsiteX60" y="connsiteY60"/>
                            </a:cxn>
                            <a:cxn ang="0">
                              <a:pos x="connsiteX61" y="connsiteY61"/>
                            </a:cxn>
                            <a:cxn ang="0">
                              <a:pos x="connsiteX62" y="connsiteY62"/>
                            </a:cxn>
                            <a:cxn ang="0">
                              <a:pos x="connsiteX63" y="connsiteY63"/>
                            </a:cxn>
                            <a:cxn ang="0">
                              <a:pos x="connsiteX64" y="connsiteY64"/>
                            </a:cxn>
                            <a:cxn ang="0">
                              <a:pos x="connsiteX65" y="connsiteY65"/>
                            </a:cxn>
                            <a:cxn ang="0">
                              <a:pos x="connsiteX66" y="connsiteY66"/>
                            </a:cxn>
                            <a:cxn ang="0">
                              <a:pos x="connsiteX67" y="connsiteY67"/>
                            </a:cxn>
                            <a:cxn ang="0">
                              <a:pos x="connsiteX68" y="connsiteY68"/>
                            </a:cxn>
                            <a:cxn ang="0">
                              <a:pos x="connsiteX69" y="connsiteY69"/>
                            </a:cxn>
                            <a:cxn ang="0">
                              <a:pos x="connsiteX70" y="connsiteY70"/>
                            </a:cxn>
                            <a:cxn ang="0">
                              <a:pos x="connsiteX71" y="connsiteY71"/>
                            </a:cxn>
                            <a:cxn ang="0">
                              <a:pos x="connsiteX72" y="connsiteY72"/>
                            </a:cxn>
                            <a:cxn ang="0">
                              <a:pos x="connsiteX73" y="connsiteY73"/>
                            </a:cxn>
                            <a:cxn ang="0">
                              <a:pos x="connsiteX74" y="connsiteY74"/>
                            </a:cxn>
                            <a:cxn ang="0">
                              <a:pos x="connsiteX75" y="connsiteY75"/>
                            </a:cxn>
                            <a:cxn ang="0">
                              <a:pos x="connsiteX76" y="connsiteY76"/>
                            </a:cxn>
                            <a:cxn ang="0">
                              <a:pos x="connsiteX77" y="connsiteY77"/>
                            </a:cxn>
                            <a:cxn ang="0">
                              <a:pos x="connsiteX78" y="connsiteY78"/>
                            </a:cxn>
                            <a:cxn ang="0">
                              <a:pos x="connsiteX79" y="connsiteY79"/>
                            </a:cxn>
                            <a:cxn ang="0">
                              <a:pos x="connsiteX80" y="connsiteY80"/>
                            </a:cxn>
                            <a:cxn ang="0">
                              <a:pos x="connsiteX81" y="connsiteY81"/>
                            </a:cxn>
                            <a:cxn ang="0">
                              <a:pos x="connsiteX82" y="connsiteY82"/>
                            </a:cxn>
                            <a:cxn ang="0">
                              <a:pos x="connsiteX83" y="connsiteY83"/>
                            </a:cxn>
                            <a:cxn ang="0">
                              <a:pos x="connsiteX84" y="connsiteY84"/>
                            </a:cxn>
                            <a:cxn ang="0">
                              <a:pos x="connsiteX85" y="connsiteY85"/>
                            </a:cxn>
                            <a:cxn ang="0">
                              <a:pos x="connsiteX86" y="connsiteY86"/>
                            </a:cxn>
                            <a:cxn ang="0">
                              <a:pos x="connsiteX87" y="connsiteY87"/>
                            </a:cxn>
                            <a:cxn ang="0">
                              <a:pos x="connsiteX88" y="connsiteY88"/>
                            </a:cxn>
                            <a:cxn ang="0">
                              <a:pos x="connsiteX89" y="connsiteY89"/>
                            </a:cxn>
                            <a:cxn ang="0">
                              <a:pos x="connsiteX90" y="connsiteY90"/>
                            </a:cxn>
                            <a:cxn ang="0">
                              <a:pos x="connsiteX91" y="connsiteY91"/>
                            </a:cxn>
                            <a:cxn ang="0">
                              <a:pos x="connsiteX92" y="connsiteY92"/>
                            </a:cxn>
                            <a:cxn ang="0">
                              <a:pos x="connsiteX93" y="connsiteY93"/>
                            </a:cxn>
                            <a:cxn ang="0">
                              <a:pos x="connsiteX94" y="connsiteY94"/>
                            </a:cxn>
                            <a:cxn ang="0">
                              <a:pos x="connsiteX95" y="connsiteY95"/>
                            </a:cxn>
                            <a:cxn ang="0">
                              <a:pos x="connsiteX96" y="connsiteY96"/>
                            </a:cxn>
                            <a:cxn ang="0">
                              <a:pos x="connsiteX97" y="connsiteY97"/>
                            </a:cxn>
                            <a:cxn ang="0">
                              <a:pos x="connsiteX98" y="connsiteY98"/>
                            </a:cxn>
                            <a:cxn ang="0">
                              <a:pos x="connsiteX99" y="connsiteY99"/>
                            </a:cxn>
                            <a:cxn ang="0">
                              <a:pos x="connsiteX100" y="connsiteY100"/>
                            </a:cxn>
                            <a:cxn ang="0">
                              <a:pos x="connsiteX101" y="connsiteY101"/>
                            </a:cxn>
                            <a:cxn ang="0">
                              <a:pos x="connsiteX102" y="connsiteY102"/>
                            </a:cxn>
                            <a:cxn ang="0">
                              <a:pos x="connsiteX103" y="connsiteY103"/>
                            </a:cxn>
                            <a:cxn ang="0">
                              <a:pos x="connsiteX104" y="connsiteY104"/>
                            </a:cxn>
                            <a:cxn ang="0">
                              <a:pos x="connsiteX105" y="connsiteY105"/>
                            </a:cxn>
                            <a:cxn ang="0">
                              <a:pos x="connsiteX106" y="connsiteY106"/>
                            </a:cxn>
                            <a:cxn ang="0">
                              <a:pos x="connsiteX107" y="connsiteY107"/>
                            </a:cxn>
                            <a:cxn ang="0">
                              <a:pos x="connsiteX108" y="connsiteY108"/>
                            </a:cxn>
                            <a:cxn ang="0">
                              <a:pos x="connsiteX109" y="connsiteY109"/>
                            </a:cxn>
                            <a:cxn ang="0">
                              <a:pos x="connsiteX110" y="connsiteY110"/>
                            </a:cxn>
                            <a:cxn ang="0">
                              <a:pos x="connsiteX111" y="connsiteY111"/>
                            </a:cxn>
                          </a:cxnLst>
                          <a:rect l="l" t="t" r="r" b="b"/>
                          <a:pathLst>
                            <a:path w="5216262" h="4877342">
                              <a:moveTo>
                                <a:pt x="3142334" y="3527776"/>
                              </a:moveTo>
                              <a:cubicBezTo>
                                <a:pt x="3038083" y="3527776"/>
                                <a:pt x="2955807" y="3610052"/>
                                <a:pt x="2955807" y="3714304"/>
                              </a:cubicBezTo>
                              <a:cubicBezTo>
                                <a:pt x="2955807" y="3818555"/>
                                <a:pt x="3038083" y="3900831"/>
                                <a:pt x="3142334" y="3900831"/>
                              </a:cubicBezTo>
                              <a:cubicBezTo>
                                <a:pt x="3246586" y="3900831"/>
                                <a:pt x="3328901" y="3818555"/>
                                <a:pt x="3328862" y="3714304"/>
                              </a:cubicBezTo>
                              <a:cubicBezTo>
                                <a:pt x="3328862" y="3610052"/>
                                <a:pt x="3246586" y="3527776"/>
                                <a:pt x="3142334" y="3527776"/>
                              </a:cubicBezTo>
                              <a:close/>
                              <a:moveTo>
                                <a:pt x="2319395" y="2446945"/>
                              </a:moveTo>
                              <a:cubicBezTo>
                                <a:pt x="2341321" y="2463395"/>
                                <a:pt x="2363286" y="2479854"/>
                                <a:pt x="2385222" y="2490836"/>
                              </a:cubicBezTo>
                              <a:lnTo>
                                <a:pt x="2385182" y="2787043"/>
                              </a:lnTo>
                              <a:cubicBezTo>
                                <a:pt x="2385182" y="2820001"/>
                                <a:pt x="2363247" y="2841927"/>
                                <a:pt x="2335815" y="2841927"/>
                              </a:cubicBezTo>
                              <a:lnTo>
                                <a:pt x="2061495" y="2841927"/>
                              </a:lnTo>
                              <a:cubicBezTo>
                                <a:pt x="2028537" y="2841927"/>
                                <a:pt x="2006611" y="2814485"/>
                                <a:pt x="2006611" y="2787043"/>
                              </a:cubicBezTo>
                              <a:lnTo>
                                <a:pt x="2006611" y="2523706"/>
                              </a:lnTo>
                              <a:lnTo>
                                <a:pt x="2045035" y="2523706"/>
                              </a:lnTo>
                              <a:cubicBezTo>
                                <a:pt x="2083460" y="2523706"/>
                                <a:pt x="2121845" y="2512762"/>
                                <a:pt x="2160270" y="2501780"/>
                              </a:cubicBezTo>
                              <a:close/>
                              <a:moveTo>
                                <a:pt x="2994222" y="2309775"/>
                              </a:moveTo>
                              <a:lnTo>
                                <a:pt x="3016158" y="2315252"/>
                              </a:lnTo>
                              <a:lnTo>
                                <a:pt x="3016158" y="2787082"/>
                              </a:lnTo>
                              <a:cubicBezTo>
                                <a:pt x="3016158" y="2820030"/>
                                <a:pt x="2994222" y="2841965"/>
                                <a:pt x="2966790" y="2841965"/>
                              </a:cubicBezTo>
                              <a:lnTo>
                                <a:pt x="2692470" y="2841965"/>
                              </a:lnTo>
                              <a:cubicBezTo>
                                <a:pt x="2659512" y="2841965"/>
                                <a:pt x="2637586" y="2814524"/>
                                <a:pt x="2637586" y="2787082"/>
                              </a:cubicBezTo>
                              <a:lnTo>
                                <a:pt x="2637586" y="2518238"/>
                              </a:lnTo>
                              <a:lnTo>
                                <a:pt x="2637596" y="2518238"/>
                              </a:lnTo>
                              <a:cubicBezTo>
                                <a:pt x="2670505" y="2512762"/>
                                <a:pt x="2697946" y="2496312"/>
                                <a:pt x="2725378" y="2485359"/>
                              </a:cubicBezTo>
                              <a:close/>
                              <a:moveTo>
                                <a:pt x="3592210" y="2128743"/>
                              </a:moveTo>
                              <a:lnTo>
                                <a:pt x="3614146" y="2150669"/>
                              </a:lnTo>
                              <a:cubicBezTo>
                                <a:pt x="3625129" y="2156146"/>
                                <a:pt x="3641588" y="2167128"/>
                                <a:pt x="3652570" y="2172595"/>
                              </a:cubicBezTo>
                              <a:lnTo>
                                <a:pt x="3652570" y="2787062"/>
                              </a:lnTo>
                              <a:cubicBezTo>
                                <a:pt x="3652570" y="2820020"/>
                                <a:pt x="3630635" y="2841946"/>
                                <a:pt x="3603203" y="2841946"/>
                              </a:cubicBezTo>
                              <a:lnTo>
                                <a:pt x="3328882" y="2841946"/>
                              </a:lnTo>
                              <a:cubicBezTo>
                                <a:pt x="3295925" y="2841946"/>
                                <a:pt x="3273999" y="2814504"/>
                                <a:pt x="3273999" y="2787062"/>
                              </a:cubicBezTo>
                              <a:lnTo>
                                <a:pt x="3273999" y="2348140"/>
                              </a:lnTo>
                              <a:cubicBezTo>
                                <a:pt x="3334349" y="2337197"/>
                                <a:pt x="3394700" y="2309765"/>
                                <a:pt x="3438601" y="2265864"/>
                              </a:cubicBezTo>
                              <a:close/>
                              <a:moveTo>
                                <a:pt x="4289003" y="1887303"/>
                              </a:moveTo>
                              <a:lnTo>
                                <a:pt x="4289003" y="2787073"/>
                              </a:lnTo>
                              <a:cubicBezTo>
                                <a:pt x="4289003" y="2820020"/>
                                <a:pt x="4267067" y="2841956"/>
                                <a:pt x="4239635" y="2841956"/>
                              </a:cubicBezTo>
                              <a:lnTo>
                                <a:pt x="3965314" y="2841956"/>
                              </a:lnTo>
                              <a:cubicBezTo>
                                <a:pt x="3932357" y="2841956"/>
                                <a:pt x="3910431" y="2814514"/>
                                <a:pt x="3910431" y="2787073"/>
                              </a:cubicBezTo>
                              <a:lnTo>
                                <a:pt x="3915898" y="2787073"/>
                              </a:lnTo>
                              <a:lnTo>
                                <a:pt x="3915937" y="2200008"/>
                              </a:lnTo>
                              <a:cubicBezTo>
                                <a:pt x="3965305" y="2189065"/>
                                <a:pt x="4014673" y="2161633"/>
                                <a:pt x="4058574" y="2117732"/>
                              </a:cubicBezTo>
                              <a:close/>
                              <a:moveTo>
                                <a:pt x="4247151" y="1338653"/>
                              </a:moveTo>
                              <a:cubicBezTo>
                                <a:pt x="4276646" y="1338653"/>
                                <a:pt x="4305457" y="1349626"/>
                                <a:pt x="4327407" y="1371571"/>
                              </a:cubicBezTo>
                              <a:cubicBezTo>
                                <a:pt x="4371298" y="1420939"/>
                                <a:pt x="4371298" y="1492282"/>
                                <a:pt x="4327407" y="1536173"/>
                              </a:cubicBezTo>
                              <a:lnTo>
                                <a:pt x="3899458" y="1969579"/>
                              </a:lnTo>
                              <a:cubicBezTo>
                                <a:pt x="3861034" y="2013480"/>
                                <a:pt x="3795216" y="2013480"/>
                                <a:pt x="3751315" y="1980562"/>
                              </a:cubicBezTo>
                              <a:lnTo>
                                <a:pt x="3581257" y="1848878"/>
                              </a:lnTo>
                              <a:lnTo>
                                <a:pt x="3295954" y="2101272"/>
                              </a:lnTo>
                              <a:cubicBezTo>
                                <a:pt x="3268502" y="2128714"/>
                                <a:pt x="3230117" y="2139697"/>
                                <a:pt x="3191693" y="2128714"/>
                              </a:cubicBezTo>
                              <a:lnTo>
                                <a:pt x="2955807" y="2068364"/>
                              </a:lnTo>
                              <a:lnTo>
                                <a:pt x="2604668" y="2298793"/>
                              </a:lnTo>
                              <a:cubicBezTo>
                                <a:pt x="2555261" y="2331701"/>
                                <a:pt x="2494949" y="2320758"/>
                                <a:pt x="2456525" y="2282334"/>
                              </a:cubicBezTo>
                              <a:lnTo>
                                <a:pt x="2374248" y="2194541"/>
                              </a:lnTo>
                              <a:lnTo>
                                <a:pt x="2083469" y="2298793"/>
                              </a:lnTo>
                              <a:cubicBezTo>
                                <a:pt x="2061504" y="2304269"/>
                                <a:pt x="2045045" y="2304269"/>
                                <a:pt x="2028586" y="2304269"/>
                              </a:cubicBezTo>
                              <a:cubicBezTo>
                                <a:pt x="1990210" y="2298793"/>
                                <a:pt x="1951786" y="2271361"/>
                                <a:pt x="1935327" y="2227460"/>
                              </a:cubicBezTo>
                              <a:lnTo>
                                <a:pt x="1935327" y="2227450"/>
                              </a:lnTo>
                              <a:cubicBezTo>
                                <a:pt x="1913401" y="2167090"/>
                                <a:pt x="1946309" y="2101263"/>
                                <a:pt x="2006660" y="2084813"/>
                              </a:cubicBezTo>
                              <a:lnTo>
                                <a:pt x="2368772" y="1953130"/>
                              </a:lnTo>
                              <a:cubicBezTo>
                                <a:pt x="2412663" y="1936671"/>
                                <a:pt x="2456564" y="1947653"/>
                                <a:pt x="2489473" y="1980572"/>
                              </a:cubicBezTo>
                              <a:lnTo>
                                <a:pt x="2555300" y="2051905"/>
                              </a:lnTo>
                              <a:lnTo>
                                <a:pt x="2868005" y="1848878"/>
                              </a:lnTo>
                              <a:cubicBezTo>
                                <a:pt x="2895447" y="1832419"/>
                                <a:pt x="2928355" y="1826952"/>
                                <a:pt x="2961264" y="1832419"/>
                              </a:cubicBezTo>
                              <a:lnTo>
                                <a:pt x="3186216" y="1887303"/>
                              </a:lnTo>
                              <a:lnTo>
                                <a:pt x="3487939" y="1612983"/>
                              </a:lnTo>
                              <a:cubicBezTo>
                                <a:pt x="3531840" y="1574598"/>
                                <a:pt x="3592190" y="1574598"/>
                                <a:pt x="3636081" y="1607506"/>
                              </a:cubicBezTo>
                              <a:lnTo>
                                <a:pt x="3800683" y="1733684"/>
                              </a:lnTo>
                              <a:lnTo>
                                <a:pt x="4162795" y="1371571"/>
                              </a:lnTo>
                              <a:cubicBezTo>
                                <a:pt x="4187479" y="1349626"/>
                                <a:pt x="4217657" y="1338653"/>
                                <a:pt x="4247151" y="1338653"/>
                              </a:cubicBezTo>
                              <a:close/>
                              <a:moveTo>
                                <a:pt x="2566262" y="630937"/>
                              </a:moveTo>
                              <a:lnTo>
                                <a:pt x="5035143" y="630937"/>
                              </a:lnTo>
                              <a:lnTo>
                                <a:pt x="5104325" y="644392"/>
                              </a:lnTo>
                              <a:cubicBezTo>
                                <a:pt x="5167858" y="670363"/>
                                <a:pt x="5212103" y="731045"/>
                                <a:pt x="5216262" y="800967"/>
                              </a:cubicBezTo>
                              <a:lnTo>
                                <a:pt x="5216262" y="3928214"/>
                              </a:lnTo>
                              <a:cubicBezTo>
                                <a:pt x="5216262" y="4026989"/>
                                <a:pt x="5133937" y="4103799"/>
                                <a:pt x="5040678" y="4103799"/>
                              </a:cubicBezTo>
                              <a:lnTo>
                                <a:pt x="3745887" y="4103799"/>
                              </a:lnTo>
                              <a:lnTo>
                                <a:pt x="4140908" y="4614014"/>
                              </a:lnTo>
                              <a:cubicBezTo>
                                <a:pt x="4173817" y="4663382"/>
                                <a:pt x="4184809" y="4729199"/>
                                <a:pt x="4157367" y="4784083"/>
                              </a:cubicBezTo>
                              <a:cubicBezTo>
                                <a:pt x="4129925" y="4844434"/>
                                <a:pt x="4069575" y="4877342"/>
                                <a:pt x="4009225" y="4877342"/>
                              </a:cubicBezTo>
                              <a:lnTo>
                                <a:pt x="2275522" y="4877342"/>
                              </a:lnTo>
                              <a:cubicBezTo>
                                <a:pt x="2215162" y="4877342"/>
                                <a:pt x="2160327" y="4838957"/>
                                <a:pt x="2132886" y="4784083"/>
                              </a:cubicBezTo>
                              <a:cubicBezTo>
                                <a:pt x="2105444" y="4729248"/>
                                <a:pt x="2110920" y="4663382"/>
                                <a:pt x="2149335" y="4614014"/>
                              </a:cubicBezTo>
                              <a:lnTo>
                                <a:pt x="2544356" y="4103799"/>
                              </a:lnTo>
                              <a:lnTo>
                                <a:pt x="1249566" y="4103799"/>
                              </a:lnTo>
                              <a:cubicBezTo>
                                <a:pt x="1150791" y="4103799"/>
                                <a:pt x="1073981" y="4021473"/>
                                <a:pt x="1073981" y="3928214"/>
                              </a:cubicBezTo>
                              <a:lnTo>
                                <a:pt x="1073981" y="2095757"/>
                              </a:lnTo>
                              <a:cubicBezTo>
                                <a:pt x="1161773" y="2117683"/>
                                <a:pt x="1255042" y="2128665"/>
                                <a:pt x="1348301" y="2128665"/>
                              </a:cubicBezTo>
                              <a:cubicBezTo>
                                <a:pt x="1375743" y="2128665"/>
                                <a:pt x="1403185" y="2128665"/>
                                <a:pt x="1425111" y="2123199"/>
                              </a:cubicBezTo>
                              <a:lnTo>
                                <a:pt x="1425111" y="3204020"/>
                              </a:lnTo>
                              <a:lnTo>
                                <a:pt x="4859597" y="3204049"/>
                              </a:lnTo>
                              <a:lnTo>
                                <a:pt x="4859597" y="982068"/>
                              </a:lnTo>
                              <a:lnTo>
                                <a:pt x="2588227" y="982068"/>
                              </a:lnTo>
                              <a:cubicBezTo>
                                <a:pt x="2593704" y="949149"/>
                                <a:pt x="2593704" y="921707"/>
                                <a:pt x="2593704" y="888799"/>
                              </a:cubicBezTo>
                              <a:cubicBezTo>
                                <a:pt x="2593704" y="801007"/>
                                <a:pt x="2582722" y="713213"/>
                                <a:pt x="2566262" y="630937"/>
                              </a:cubicBezTo>
                              <a:close/>
                              <a:moveTo>
                                <a:pt x="5035132" y="630935"/>
                              </a:moveTo>
                              <a:lnTo>
                                <a:pt x="5035143" y="630937"/>
                              </a:lnTo>
                              <a:lnTo>
                                <a:pt x="5035143" y="630937"/>
                              </a:lnTo>
                              <a:close/>
                              <a:moveTo>
                                <a:pt x="1353768" y="367569"/>
                              </a:moveTo>
                              <a:cubicBezTo>
                                <a:pt x="1068466" y="367569"/>
                                <a:pt x="832560" y="603505"/>
                                <a:pt x="838037" y="883302"/>
                              </a:cubicBezTo>
                              <a:cubicBezTo>
                                <a:pt x="838037" y="1168604"/>
                                <a:pt x="1068466" y="1399032"/>
                                <a:pt x="1353768" y="1399032"/>
                              </a:cubicBezTo>
                              <a:cubicBezTo>
                                <a:pt x="1639071" y="1399032"/>
                                <a:pt x="1869500" y="1168604"/>
                                <a:pt x="1869500" y="883302"/>
                              </a:cubicBezTo>
                              <a:cubicBezTo>
                                <a:pt x="1869500" y="597998"/>
                                <a:pt x="1639071" y="367569"/>
                                <a:pt x="1353768" y="367569"/>
                              </a:cubicBezTo>
                              <a:close/>
                              <a:moveTo>
                                <a:pt x="1353768" y="0"/>
                              </a:moveTo>
                              <a:cubicBezTo>
                                <a:pt x="1842058" y="0"/>
                                <a:pt x="2242555" y="400497"/>
                                <a:pt x="2242555" y="888788"/>
                              </a:cubicBezTo>
                              <a:cubicBezTo>
                                <a:pt x="2242555" y="1377078"/>
                                <a:pt x="1842058" y="1777575"/>
                                <a:pt x="1353768" y="1777575"/>
                              </a:cubicBezTo>
                              <a:lnTo>
                                <a:pt x="1353768" y="1777565"/>
                              </a:lnTo>
                              <a:cubicBezTo>
                                <a:pt x="1172717" y="1777565"/>
                                <a:pt x="1008115" y="1722682"/>
                                <a:pt x="870955" y="1629423"/>
                              </a:cubicBezTo>
                              <a:lnTo>
                                <a:pt x="316839" y="2183538"/>
                              </a:lnTo>
                              <a:cubicBezTo>
                                <a:pt x="245545" y="2254871"/>
                                <a:pt x="124836" y="2254871"/>
                                <a:pt x="53501" y="2183538"/>
                              </a:cubicBezTo>
                              <a:cubicBezTo>
                                <a:pt x="-17834" y="2112245"/>
                                <a:pt x="-17834" y="1991534"/>
                                <a:pt x="53501" y="1920201"/>
                              </a:cubicBezTo>
                              <a:lnTo>
                                <a:pt x="607618" y="1371562"/>
                              </a:lnTo>
                              <a:cubicBezTo>
                                <a:pt x="519865" y="1234402"/>
                                <a:pt x="464981" y="1064333"/>
                                <a:pt x="464981" y="888749"/>
                              </a:cubicBezTo>
                              <a:cubicBezTo>
                                <a:pt x="464981" y="394982"/>
                                <a:pt x="865479" y="-38"/>
                                <a:pt x="1353768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n w="979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 sz="1000" dirty="0">
                            <a:latin typeface="Franklin Gothic Book" panose="020B0503020102020204" pitchFamily="34" charset="0"/>
                          </a:endParaRPr>
                        </a:p>
                      </p:txBody>
                    </p:sp>
                  </p:grpSp>
                </p:grpSp>
              </p:grpSp>
            </p:grpSp>
          </p:grpSp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DD812216-1585-3BC5-6D0D-E5C093FB5378}"/>
                  </a:ext>
                </a:extLst>
              </p:cNvPr>
              <p:cNvGrpSpPr/>
              <p:nvPr/>
            </p:nvGrpSpPr>
            <p:grpSpPr>
              <a:xfrm>
                <a:off x="7342069" y="976788"/>
                <a:ext cx="2148124" cy="5578189"/>
                <a:chOff x="7530852" y="956765"/>
                <a:chExt cx="2148124" cy="5578189"/>
              </a:xfrm>
            </p:grpSpPr>
            <p:grpSp>
              <p:nvGrpSpPr>
                <p:cNvPr id="165" name="Group 164">
                  <a:extLst>
                    <a:ext uri="{FF2B5EF4-FFF2-40B4-BE49-F238E27FC236}">
                      <a16:creationId xmlns:a16="http://schemas.microsoft.com/office/drawing/2014/main" id="{CE87A6DE-89EB-9599-8F00-6A67E0B78D45}"/>
                    </a:ext>
                  </a:extLst>
                </p:cNvPr>
                <p:cNvGrpSpPr/>
                <p:nvPr/>
              </p:nvGrpSpPr>
              <p:grpSpPr>
                <a:xfrm>
                  <a:off x="8604914" y="1838524"/>
                  <a:ext cx="1" cy="4373648"/>
                  <a:chOff x="8604914" y="1838524"/>
                  <a:chExt cx="1" cy="4373648"/>
                </a:xfrm>
              </p:grpSpPr>
              <p:cxnSp>
                <p:nvCxnSpPr>
                  <p:cNvPr id="199" name="Straight Connector 198">
                    <a:extLst>
                      <a:ext uri="{FF2B5EF4-FFF2-40B4-BE49-F238E27FC236}">
                        <a16:creationId xmlns:a16="http://schemas.microsoft.com/office/drawing/2014/main" id="{7ED51CD2-A2F7-A7B9-D31E-0A5D7A44FCC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8604914" y="1838524"/>
                    <a:ext cx="1" cy="232877"/>
                  </a:xfrm>
                  <a:prstGeom prst="line">
                    <a:avLst/>
                  </a:prstGeom>
                  <a:ln w="6350">
                    <a:solidFill>
                      <a:schemeClr val="tx1">
                        <a:lumMod val="65000"/>
                        <a:lumOff val="35000"/>
                      </a:schemeClr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0" name="Straight Connector 199">
                    <a:extLst>
                      <a:ext uri="{FF2B5EF4-FFF2-40B4-BE49-F238E27FC236}">
                        <a16:creationId xmlns:a16="http://schemas.microsoft.com/office/drawing/2014/main" id="{A009FBD6-292F-CD1E-58C3-4080E1A2BBA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8604914" y="5807486"/>
                    <a:ext cx="0" cy="404686"/>
                  </a:xfrm>
                  <a:prstGeom prst="line">
                    <a:avLst/>
                  </a:prstGeom>
                  <a:ln w="6350">
                    <a:solidFill>
                      <a:schemeClr val="tx1">
                        <a:lumMod val="65000"/>
                        <a:lumOff val="35000"/>
                      </a:schemeClr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66" name="Group 165">
                  <a:extLst>
                    <a:ext uri="{FF2B5EF4-FFF2-40B4-BE49-F238E27FC236}">
                      <a16:creationId xmlns:a16="http://schemas.microsoft.com/office/drawing/2014/main" id="{0F384640-6F72-4B1B-75B2-F0D575E119D8}"/>
                    </a:ext>
                  </a:extLst>
                </p:cNvPr>
                <p:cNvGrpSpPr/>
                <p:nvPr/>
              </p:nvGrpSpPr>
              <p:grpSpPr>
                <a:xfrm>
                  <a:off x="7530852" y="956765"/>
                  <a:ext cx="2148124" cy="5578189"/>
                  <a:chOff x="7528275" y="939320"/>
                  <a:chExt cx="2148124" cy="5578189"/>
                </a:xfrm>
              </p:grpSpPr>
              <p:grpSp>
                <p:nvGrpSpPr>
                  <p:cNvPr id="167" name="Group 166">
                    <a:extLst>
                      <a:ext uri="{FF2B5EF4-FFF2-40B4-BE49-F238E27FC236}">
                        <a16:creationId xmlns:a16="http://schemas.microsoft.com/office/drawing/2014/main" id="{8D3B5339-AD05-037B-6DAA-D351FCAE2C22}"/>
                      </a:ext>
                    </a:extLst>
                  </p:cNvPr>
                  <p:cNvGrpSpPr/>
                  <p:nvPr/>
                </p:nvGrpSpPr>
                <p:grpSpPr>
                  <a:xfrm>
                    <a:off x="7726689" y="2056337"/>
                    <a:ext cx="1693142" cy="3819575"/>
                    <a:chOff x="7729266" y="2056337"/>
                    <a:chExt cx="1693142" cy="3819575"/>
                  </a:xfrm>
                </p:grpSpPr>
                <p:grpSp>
                  <p:nvGrpSpPr>
                    <p:cNvPr id="184" name="Group 183">
                      <a:extLst>
                        <a:ext uri="{FF2B5EF4-FFF2-40B4-BE49-F238E27FC236}">
                          <a16:creationId xmlns:a16="http://schemas.microsoft.com/office/drawing/2014/main" id="{8997A049-D722-9088-EBDD-A7095A1EC3F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729266" y="2056337"/>
                      <a:ext cx="1659617" cy="532181"/>
                      <a:chOff x="7447831" y="2113147"/>
                      <a:chExt cx="1659617" cy="532181"/>
                    </a:xfrm>
                  </p:grpSpPr>
                  <p:sp>
                    <p:nvSpPr>
                      <p:cNvPr id="197" name="Rectangle 196">
                        <a:extLst>
                          <a:ext uri="{FF2B5EF4-FFF2-40B4-BE49-F238E27FC236}">
                            <a16:creationId xmlns:a16="http://schemas.microsoft.com/office/drawing/2014/main" id="{6DAEC624-B6E1-3F77-4947-82844B8E7ED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549266" y="2113147"/>
                        <a:ext cx="1548426" cy="532181"/>
                      </a:xfrm>
                      <a:prstGeom prst="rect">
                        <a:avLst/>
                      </a:prstGeom>
                      <a:solidFill>
                        <a:schemeClr val="bg2">
                          <a:lumMod val="95000"/>
                        </a:schemeClr>
                      </a:solidFill>
                      <a:ln>
                        <a:noFill/>
                      </a:ln>
                      <a:effectLst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marL="0" marR="0" lvl="0" indent="0" algn="ctr" defTabSz="4572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Franklin Gothic Book" panose="020B0503020102020204" pitchFamily="34" charset="0"/>
                        </a:endParaRPr>
                      </a:p>
                    </p:txBody>
                  </p:sp>
                  <p:sp>
                    <p:nvSpPr>
                      <p:cNvPr id="198" name="TextBox 197">
                        <a:extLst>
                          <a:ext uri="{FF2B5EF4-FFF2-40B4-BE49-F238E27FC236}">
                            <a16:creationId xmlns:a16="http://schemas.microsoft.com/office/drawing/2014/main" id="{E1902761-A5EE-0FD8-AE73-2DB04E167716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7447831" y="2234829"/>
                        <a:ext cx="1659617" cy="284436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 anchor="ctr">
                        <a:spAutoFit/>
                      </a:bodyPr>
                      <a:lstStyle/>
                      <a:p>
                        <a:r>
                          <a:rPr lang="en-US" sz="600" dirty="0">
                            <a:solidFill>
                              <a:schemeClr val="tx2">
                                <a:lumMod val="65000"/>
                                <a:lumOff val="35000"/>
                              </a:schemeClr>
                            </a:solidFill>
                            <a:latin typeface="Franklin Gothic Book" panose="020B0503020102020204" pitchFamily="34" charset="0"/>
                            <a:cs typeface="Arial" panose="020B0604020202020204" pitchFamily="34" charset="0"/>
                          </a:rPr>
                          <a:t>Growth Opportunities</a:t>
                        </a:r>
                      </a:p>
                    </p:txBody>
                  </p:sp>
                </p:grpSp>
                <p:grpSp>
                  <p:nvGrpSpPr>
                    <p:cNvPr id="185" name="Group 184">
                      <a:extLst>
                        <a:ext uri="{FF2B5EF4-FFF2-40B4-BE49-F238E27FC236}">
                          <a16:creationId xmlns:a16="http://schemas.microsoft.com/office/drawing/2014/main" id="{7F060941-1799-2DE8-F0D5-90CE04A47AD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830701" y="2837478"/>
                      <a:ext cx="1548426" cy="568872"/>
                      <a:chOff x="7549266" y="3021539"/>
                      <a:chExt cx="1548426" cy="568872"/>
                    </a:xfrm>
                  </p:grpSpPr>
                  <p:sp>
                    <p:nvSpPr>
                      <p:cNvPr id="195" name="Rectangle 194">
                        <a:extLst>
                          <a:ext uri="{FF2B5EF4-FFF2-40B4-BE49-F238E27FC236}">
                            <a16:creationId xmlns:a16="http://schemas.microsoft.com/office/drawing/2014/main" id="{6B1BA360-D71A-79E0-7C19-12994822BE4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549266" y="3039884"/>
                        <a:ext cx="1548426" cy="532181"/>
                      </a:xfrm>
                      <a:prstGeom prst="rect">
                        <a:avLst/>
                      </a:prstGeom>
                      <a:solidFill>
                        <a:schemeClr val="bg2">
                          <a:lumMod val="95000"/>
                        </a:schemeClr>
                      </a:solidFill>
                      <a:ln>
                        <a:noFill/>
                      </a:ln>
                      <a:effectLst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marL="0" marR="0" lvl="0" indent="0" algn="ctr" defTabSz="4572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Franklin Gothic Book" panose="020B0503020102020204" pitchFamily="34" charset="0"/>
                        </a:endParaRPr>
                      </a:p>
                    </p:txBody>
                  </p:sp>
                  <p:sp>
                    <p:nvSpPr>
                      <p:cNvPr id="196" name="TextBox 195">
                        <a:extLst>
                          <a:ext uri="{FF2B5EF4-FFF2-40B4-BE49-F238E27FC236}">
                            <a16:creationId xmlns:a16="http://schemas.microsoft.com/office/drawing/2014/main" id="{A4763E63-918A-6E12-763E-6F894096226E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7691378" y="3021539"/>
                        <a:ext cx="1264203" cy="568872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anchor="ctr">
                        <a:spAutoFit/>
                      </a:bodyPr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chemeClr val="tx2">
                                <a:lumMod val="65000"/>
                                <a:lumOff val="35000"/>
                              </a:schemeClr>
                            </a:solidFill>
                            <a:effectLst/>
                            <a:uLnTx/>
                            <a:uFillTx/>
                            <a:latin typeface="Franklin Gothic Book" panose="020B0503020102020204" pitchFamily="34" charset="0"/>
                            <a:cs typeface="Arial" panose="020B0604020202020204" pitchFamily="34" charset="0"/>
                          </a:rPr>
                          <a:t>Customer Intimacy Maximization</a:t>
                        </a:r>
                      </a:p>
                    </p:txBody>
                  </p:sp>
                </p:grpSp>
                <p:grpSp>
                  <p:nvGrpSpPr>
                    <p:cNvPr id="186" name="Group 185">
                      <a:extLst>
                        <a:ext uri="{FF2B5EF4-FFF2-40B4-BE49-F238E27FC236}">
                          <a16:creationId xmlns:a16="http://schemas.microsoft.com/office/drawing/2014/main" id="{92726195-3EC9-7C81-2B97-844D1A2057F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830701" y="3636964"/>
                      <a:ext cx="1548426" cy="568872"/>
                      <a:chOff x="7549266" y="3792422"/>
                      <a:chExt cx="1548426" cy="568872"/>
                    </a:xfrm>
                  </p:grpSpPr>
                  <p:sp>
                    <p:nvSpPr>
                      <p:cNvPr id="193" name="Rectangle 192">
                        <a:extLst>
                          <a:ext uri="{FF2B5EF4-FFF2-40B4-BE49-F238E27FC236}">
                            <a16:creationId xmlns:a16="http://schemas.microsoft.com/office/drawing/2014/main" id="{60891BAC-AF66-9C21-1A79-161020EC031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549266" y="3810767"/>
                        <a:ext cx="1548426" cy="532181"/>
                      </a:xfrm>
                      <a:prstGeom prst="rect">
                        <a:avLst/>
                      </a:prstGeom>
                      <a:solidFill>
                        <a:schemeClr val="bg2">
                          <a:lumMod val="95000"/>
                        </a:schemeClr>
                      </a:solidFill>
                      <a:ln>
                        <a:noFill/>
                      </a:ln>
                      <a:effectLst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marL="0" marR="0" lvl="0" indent="0" algn="ctr" defTabSz="4572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Franklin Gothic Book" panose="020B0503020102020204" pitchFamily="34" charset="0"/>
                        </a:endParaRPr>
                      </a:p>
                    </p:txBody>
                  </p:sp>
                  <p:sp>
                    <p:nvSpPr>
                      <p:cNvPr id="194" name="TextBox 193">
                        <a:extLst>
                          <a:ext uri="{FF2B5EF4-FFF2-40B4-BE49-F238E27FC236}">
                            <a16:creationId xmlns:a16="http://schemas.microsoft.com/office/drawing/2014/main" id="{63D699FE-58D0-CE79-BBE5-75FAD5713FF9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7690620" y="3792422"/>
                        <a:ext cx="1265717" cy="568872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anchor="ctr">
                        <a:spAutoFit/>
                      </a:bodyPr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chemeClr val="tx2">
                                <a:lumMod val="65000"/>
                                <a:lumOff val="35000"/>
                              </a:schemeClr>
                            </a:solidFill>
                            <a:effectLst/>
                            <a:uLnTx/>
                            <a:uFillTx/>
                            <a:latin typeface="Franklin Gothic Book" panose="020B0503020102020204" pitchFamily="34" charset="0"/>
                            <a:cs typeface="Arial" panose="020B0604020202020204" pitchFamily="34" charset="0"/>
                          </a:rPr>
                          <a:t>Stockholder </a:t>
                        </a:r>
                      </a:p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chemeClr val="tx2">
                                <a:lumMod val="65000"/>
                                <a:lumOff val="35000"/>
                              </a:schemeClr>
                            </a:solidFill>
                            <a:effectLst/>
                            <a:uLnTx/>
                            <a:uFillTx/>
                            <a:latin typeface="Franklin Gothic Book" panose="020B0503020102020204" pitchFamily="34" charset="0"/>
                            <a:cs typeface="Arial" panose="020B0604020202020204" pitchFamily="34" charset="0"/>
                          </a:rPr>
                          <a:t>Value Maximization</a:t>
                        </a:r>
                      </a:p>
                    </p:txBody>
                  </p:sp>
                </p:grpSp>
                <p:grpSp>
                  <p:nvGrpSpPr>
                    <p:cNvPr id="187" name="Group 186">
                      <a:extLst>
                        <a:ext uri="{FF2B5EF4-FFF2-40B4-BE49-F238E27FC236}">
                          <a16:creationId xmlns:a16="http://schemas.microsoft.com/office/drawing/2014/main" id="{B944BFCE-904B-3951-06CD-3BEA577F171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830701" y="4454795"/>
                      <a:ext cx="1548426" cy="532181"/>
                      <a:chOff x="7549266" y="4581650"/>
                      <a:chExt cx="1548426" cy="532181"/>
                    </a:xfrm>
                  </p:grpSpPr>
                  <p:sp>
                    <p:nvSpPr>
                      <p:cNvPr id="191" name="Rectangle 190">
                        <a:extLst>
                          <a:ext uri="{FF2B5EF4-FFF2-40B4-BE49-F238E27FC236}">
                            <a16:creationId xmlns:a16="http://schemas.microsoft.com/office/drawing/2014/main" id="{744ED7B8-26BF-162D-76EF-99CBB0EEC42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549266" y="4581650"/>
                        <a:ext cx="1548426" cy="532181"/>
                      </a:xfrm>
                      <a:prstGeom prst="rect">
                        <a:avLst/>
                      </a:prstGeom>
                      <a:solidFill>
                        <a:schemeClr val="bg2">
                          <a:lumMod val="95000"/>
                        </a:schemeClr>
                      </a:solidFill>
                      <a:ln>
                        <a:noFill/>
                      </a:ln>
                      <a:effectLst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marL="0" marR="0" lvl="0" indent="0" algn="ctr" defTabSz="4572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Franklin Gothic Book" panose="020B0503020102020204" pitchFamily="34" charset="0"/>
                        </a:endParaRPr>
                      </a:p>
                    </p:txBody>
                  </p:sp>
                  <p:sp>
                    <p:nvSpPr>
                      <p:cNvPr id="192" name="TextBox 191">
                        <a:extLst>
                          <a:ext uri="{FF2B5EF4-FFF2-40B4-BE49-F238E27FC236}">
                            <a16:creationId xmlns:a16="http://schemas.microsoft.com/office/drawing/2014/main" id="{BC649B50-D9DE-5693-7B72-73F302E175EC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7630366" y="4634410"/>
                        <a:ext cx="1386227" cy="426654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anchor="ctr">
                        <a:spAutoFit/>
                      </a:bodyPr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chemeClr val="tx2">
                                <a:lumMod val="65000"/>
                                <a:lumOff val="35000"/>
                              </a:schemeClr>
                            </a:solidFill>
                            <a:effectLst/>
                            <a:uLnTx/>
                            <a:uFillTx/>
                            <a:latin typeface="Franklin Gothic Book" panose="020B0503020102020204" pitchFamily="34" charset="0"/>
                            <a:cs typeface="Arial" panose="020B0604020202020204" pitchFamily="34" charset="0"/>
                          </a:rPr>
                          <a:t>Operational </a:t>
                        </a:r>
                      </a:p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chemeClr val="tx2">
                                <a:lumMod val="65000"/>
                                <a:lumOff val="35000"/>
                              </a:schemeClr>
                            </a:solidFill>
                            <a:effectLst/>
                            <a:uLnTx/>
                            <a:uFillTx/>
                            <a:latin typeface="Franklin Gothic Book" panose="020B0503020102020204" pitchFamily="34" charset="0"/>
                            <a:cs typeface="Arial" panose="020B0604020202020204" pitchFamily="34" charset="0"/>
                          </a:rPr>
                          <a:t>Quality</a:t>
                        </a:r>
                      </a:p>
                    </p:txBody>
                  </p:sp>
                </p:grpSp>
                <p:grpSp>
                  <p:nvGrpSpPr>
                    <p:cNvPr id="188" name="Group 187">
                      <a:extLst>
                        <a:ext uri="{FF2B5EF4-FFF2-40B4-BE49-F238E27FC236}">
                          <a16:creationId xmlns:a16="http://schemas.microsoft.com/office/drawing/2014/main" id="{07887121-A27E-E930-9889-C274B12AE5D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787420" y="5164822"/>
                      <a:ext cx="1634988" cy="711090"/>
                      <a:chOff x="7508646" y="5263077"/>
                      <a:chExt cx="1634988" cy="711090"/>
                    </a:xfrm>
                  </p:grpSpPr>
                  <p:sp>
                    <p:nvSpPr>
                      <p:cNvPr id="189" name="Rectangle 188">
                        <a:extLst>
                          <a:ext uri="{FF2B5EF4-FFF2-40B4-BE49-F238E27FC236}">
                            <a16:creationId xmlns:a16="http://schemas.microsoft.com/office/drawing/2014/main" id="{798F616B-FDA3-85D6-1FDB-7AEB39FEEE1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551927" y="5352534"/>
                        <a:ext cx="1548426" cy="532181"/>
                      </a:xfrm>
                      <a:prstGeom prst="rect">
                        <a:avLst/>
                      </a:prstGeom>
                      <a:solidFill>
                        <a:schemeClr val="bg2">
                          <a:lumMod val="95000"/>
                        </a:schemeClr>
                      </a:solidFill>
                      <a:ln>
                        <a:noFill/>
                      </a:ln>
                      <a:effectLst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marL="0" marR="0" lvl="0" indent="0" algn="ctr" defTabSz="4572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Franklin Gothic Book" panose="020B0503020102020204" pitchFamily="34" charset="0"/>
                        </a:endParaRPr>
                      </a:p>
                    </p:txBody>
                  </p:sp>
                  <p:sp>
                    <p:nvSpPr>
                      <p:cNvPr id="190" name="TextBox 189">
                        <a:extLst>
                          <a:ext uri="{FF2B5EF4-FFF2-40B4-BE49-F238E27FC236}">
                            <a16:creationId xmlns:a16="http://schemas.microsoft.com/office/drawing/2014/main" id="{AF02F965-9545-2808-565F-315B128FC89F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7508646" y="5263077"/>
                        <a:ext cx="1634988" cy="71109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anchor="ctr">
                        <a:spAutoFit/>
                      </a:bodyPr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chemeClr val="tx2">
                                <a:lumMod val="65000"/>
                                <a:lumOff val="35000"/>
                              </a:schemeClr>
                            </a:solidFill>
                            <a:effectLst/>
                            <a:uLnTx/>
                            <a:uFillTx/>
                            <a:latin typeface="Franklin Gothic Book" panose="020B0503020102020204" pitchFamily="34" charset="0"/>
                            <a:cs typeface="Arial" panose="020B0604020202020204" pitchFamily="34" charset="0"/>
                          </a:rPr>
                          <a:t>Integration of Technology </a:t>
                        </a:r>
                      </a:p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chemeClr val="tx2">
                                <a:lumMod val="65000"/>
                                <a:lumOff val="35000"/>
                              </a:schemeClr>
                            </a:solidFill>
                            <a:effectLst/>
                            <a:uLnTx/>
                            <a:uFillTx/>
                            <a:latin typeface="Franklin Gothic Book" panose="020B0503020102020204" pitchFamily="34" charset="0"/>
                            <a:cs typeface="Arial" panose="020B0604020202020204" pitchFamily="34" charset="0"/>
                          </a:rPr>
                          <a:t>and Human Resource</a:t>
                        </a:r>
                      </a:p>
                    </p:txBody>
                  </p:sp>
                </p:grpSp>
              </p:grpSp>
              <p:grpSp>
                <p:nvGrpSpPr>
                  <p:cNvPr id="168" name="Group 167">
                    <a:extLst>
                      <a:ext uri="{FF2B5EF4-FFF2-40B4-BE49-F238E27FC236}">
                        <a16:creationId xmlns:a16="http://schemas.microsoft.com/office/drawing/2014/main" id="{076B1410-10CB-7CEE-55E1-BE9B1F16223D}"/>
                      </a:ext>
                    </a:extLst>
                  </p:cNvPr>
                  <p:cNvGrpSpPr/>
                  <p:nvPr/>
                </p:nvGrpSpPr>
                <p:grpSpPr>
                  <a:xfrm>
                    <a:off x="7549440" y="6125624"/>
                    <a:ext cx="2105795" cy="391885"/>
                    <a:chOff x="7422331" y="6175564"/>
                    <a:chExt cx="2105795" cy="391885"/>
                  </a:xfrm>
                </p:grpSpPr>
                <p:sp>
                  <p:nvSpPr>
                    <p:cNvPr id="182" name="Rectangle 181">
                      <a:extLst>
                        <a:ext uri="{FF2B5EF4-FFF2-40B4-BE49-F238E27FC236}">
                          <a16:creationId xmlns:a16="http://schemas.microsoft.com/office/drawing/2014/main" id="{93B9289C-9A56-83B3-B392-B31DCCD3E97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422331" y="6175564"/>
                      <a:ext cx="2105795" cy="391885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Franklin Gothic Book" panose="020B0503020102020204" pitchFamily="34" charset="0"/>
                      </a:endParaRPr>
                    </a:p>
                  </p:txBody>
                </p:sp>
                <p:sp>
                  <p:nvSpPr>
                    <p:cNvPr id="183" name="TextBox 182">
                      <a:extLst>
                        <a:ext uri="{FF2B5EF4-FFF2-40B4-BE49-F238E27FC236}">
                          <a16:creationId xmlns:a16="http://schemas.microsoft.com/office/drawing/2014/main" id="{AE8A47DA-DF19-144E-30CF-6B4B838C249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531851" y="6217435"/>
                      <a:ext cx="1886754" cy="308139"/>
                    </a:xfrm>
                    <a:prstGeom prst="rect">
                      <a:avLst/>
                    </a:prstGeom>
                    <a:solidFill>
                      <a:schemeClr val="tx1">
                        <a:lumMod val="50000"/>
                        <a:lumOff val="50000"/>
                      </a:schemeClr>
                    </a:solidFill>
                  </p:spPr>
                  <p:txBody>
                    <a:bodyPr wrap="square" anchor="ctr">
                      <a:spAutoFit/>
                    </a:bodyPr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uLnTx/>
                          <a:uFillTx/>
                          <a:latin typeface="Franklin Gothic Book" panose="020B0503020102020204" pitchFamily="34" charset="0"/>
                        </a:rPr>
                        <a:t>Strategy by Discipline</a:t>
                      </a:r>
                    </a:p>
                  </p:txBody>
                </p:sp>
              </p:grpSp>
              <p:grpSp>
                <p:nvGrpSpPr>
                  <p:cNvPr id="169" name="Group 168">
                    <a:extLst>
                      <a:ext uri="{FF2B5EF4-FFF2-40B4-BE49-F238E27FC236}">
                        <a16:creationId xmlns:a16="http://schemas.microsoft.com/office/drawing/2014/main" id="{15CC7FEF-430E-5C0A-051E-1A9B448F8657}"/>
                      </a:ext>
                    </a:extLst>
                  </p:cNvPr>
                  <p:cNvGrpSpPr/>
                  <p:nvPr/>
                </p:nvGrpSpPr>
                <p:grpSpPr>
                  <a:xfrm>
                    <a:off x="7528275" y="939320"/>
                    <a:ext cx="2148124" cy="1003263"/>
                    <a:chOff x="7338849" y="983255"/>
                    <a:chExt cx="2148124" cy="1003263"/>
                  </a:xfrm>
                </p:grpSpPr>
                <p:grpSp>
                  <p:nvGrpSpPr>
                    <p:cNvPr id="170" name="Group 169">
                      <a:extLst>
                        <a:ext uri="{FF2B5EF4-FFF2-40B4-BE49-F238E27FC236}">
                          <a16:creationId xmlns:a16="http://schemas.microsoft.com/office/drawing/2014/main" id="{F551CA33-1B5A-9AE8-7A39-3954991EF48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338849" y="1267148"/>
                      <a:ext cx="2148124" cy="719370"/>
                      <a:chOff x="7307106" y="1324298"/>
                      <a:chExt cx="2148124" cy="719370"/>
                    </a:xfrm>
                  </p:grpSpPr>
                  <p:sp>
                    <p:nvSpPr>
                      <p:cNvPr id="179" name="Google Shape;83409;p3921">
                        <a:extLst>
                          <a:ext uri="{FF2B5EF4-FFF2-40B4-BE49-F238E27FC236}">
                            <a16:creationId xmlns:a16="http://schemas.microsoft.com/office/drawing/2014/main" id="{1885DF1D-A9CB-D95F-445F-4D36A776A85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328271" y="1324298"/>
                        <a:ext cx="2105795" cy="719370"/>
                      </a:xfrm>
                      <a:prstGeom prst="roundRect">
                        <a:avLst>
                          <a:gd name="adj" fmla="val 0"/>
                        </a:avLst>
                      </a:prstGeom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n>
                        <a:noFill/>
                      </a:ln>
                    </p:spPr>
                    <p:txBody>
                      <a:bodyPr spcFirstLastPara="1" wrap="square" lIns="68575" tIns="34275" rIns="68575" bIns="34275" anchor="ctr" anchorCtr="0">
                        <a:noAutofit/>
                      </a:bodyPr>
                      <a:lstStyle/>
                      <a:p>
                        <a:pPr marL="0" marR="0" lvl="0" indent="0" algn="ctr" defTabSz="4572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FFFFFF"/>
                          </a:buClr>
                          <a:buSzPts val="1400"/>
                          <a:buFont typeface="Calibri"/>
                          <a:buNone/>
                          <a:tabLst/>
                          <a:defRPr/>
                        </a:pPr>
                        <a:endParaRPr kumimoji="0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Franklin Gothic Book" panose="020B0503020102020204" pitchFamily="34" charset="0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180" name="Google Shape;83415;p3921">
                        <a:extLst>
                          <a:ext uri="{FF2B5EF4-FFF2-40B4-BE49-F238E27FC236}">
                            <a16:creationId xmlns:a16="http://schemas.microsoft.com/office/drawing/2014/main" id="{5AF953D0-92D0-5545-BA97-5BDFF206BC5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307106" y="1974335"/>
                        <a:ext cx="2148124" cy="41064"/>
                      </a:xfrm>
                      <a:prstGeom prst="roundRect">
                        <a:avLst>
                          <a:gd name="adj" fmla="val 0"/>
                        </a:avLst>
                      </a:prstGeom>
                      <a:solidFill>
                        <a:schemeClr val="lt1"/>
                      </a:solidFill>
                      <a:ln>
                        <a:noFill/>
                      </a:ln>
                    </p:spPr>
                    <p:txBody>
                      <a:bodyPr spcFirstLastPara="1" wrap="square" lIns="68575" tIns="34275" rIns="68575" bIns="34275" anchor="ctr" anchorCtr="0">
                        <a:noAutofit/>
                      </a:bodyPr>
                      <a:lstStyle/>
                      <a:p>
                        <a:pPr marL="0" marR="0" lvl="0" indent="0" algn="ctr" defTabSz="4572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FFFFFF"/>
                          </a:buClr>
                          <a:buSzPts val="1400"/>
                          <a:buFont typeface="Calibri"/>
                          <a:buNone/>
                          <a:tabLst/>
                          <a:defRPr/>
                        </a:pPr>
                        <a:endParaRPr kumimoji="0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Franklin Gothic Book" panose="020B0503020102020204" pitchFamily="34" charset="0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181" name="TextBox 180">
                        <a:extLst>
                          <a:ext uri="{FF2B5EF4-FFF2-40B4-BE49-F238E27FC236}">
                            <a16:creationId xmlns:a16="http://schemas.microsoft.com/office/drawing/2014/main" id="{627982DB-58A7-0629-98D5-A63623D52A1F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7469131" y="1391441"/>
                        <a:ext cx="1824075" cy="585079"/>
                      </a:xfrm>
                      <a:prstGeom prst="rect">
                        <a:avLst/>
                      </a:prstGeom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p:spPr>
                    <p:txBody>
                      <a:bodyPr wrap="square" anchor="ctr">
                        <a:spAutoFit/>
                      </a:bodyPr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7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chemeClr val="bg2"/>
                            </a:solidFill>
                            <a:uLnTx/>
                            <a:uFillTx/>
                            <a:latin typeface="Franklin Gothic Book" panose="020B0503020102020204" pitchFamily="34" charset="0"/>
                          </a:rPr>
                          <a:t>Strategic Imperatives to Achieve Goals</a:t>
                        </a:r>
                      </a:p>
                    </p:txBody>
                  </p:sp>
                </p:grpSp>
                <p:grpSp>
                  <p:nvGrpSpPr>
                    <p:cNvPr id="171" name="Group 170">
                      <a:extLst>
                        <a:ext uri="{FF2B5EF4-FFF2-40B4-BE49-F238E27FC236}">
                          <a16:creationId xmlns:a16="http://schemas.microsoft.com/office/drawing/2014/main" id="{0D86C55A-470C-FF20-B678-69E86B3C508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964832" y="983255"/>
                      <a:ext cx="896159" cy="372147"/>
                      <a:chOff x="7964832" y="983255"/>
                      <a:chExt cx="896159" cy="372147"/>
                    </a:xfrm>
                  </p:grpSpPr>
                  <p:grpSp>
                    <p:nvGrpSpPr>
                      <p:cNvPr id="172" name="Google Shape;83411;p3921">
                        <a:extLst>
                          <a:ext uri="{FF2B5EF4-FFF2-40B4-BE49-F238E27FC236}">
                            <a16:creationId xmlns:a16="http://schemas.microsoft.com/office/drawing/2014/main" id="{FE4B14BB-7DED-B5E2-A99A-91A457916065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7964832" y="1214313"/>
                        <a:ext cx="896159" cy="35903"/>
                        <a:chOff x="863283" y="2322123"/>
                        <a:chExt cx="1194878" cy="47871"/>
                      </a:xfrm>
                    </p:grpSpPr>
                    <p:sp>
                      <p:nvSpPr>
                        <p:cNvPr id="176" name="Google Shape;83412;p3921">
                          <a:extLst>
                            <a:ext uri="{FF2B5EF4-FFF2-40B4-BE49-F238E27FC236}">
                              <a16:creationId xmlns:a16="http://schemas.microsoft.com/office/drawing/2014/main" id="{898AFEEB-0D04-6C20-3757-9213F54288EB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941176" y="2328811"/>
                          <a:ext cx="1039091" cy="34480"/>
                        </a:xfrm>
                        <a:prstGeom prst="roundRect">
                          <a:avLst>
                            <a:gd name="adj" fmla="val 0"/>
                          </a:avLst>
                        </a:prstGeom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n>
                          <a:noFill/>
                        </a:ln>
                      </p:spPr>
                      <p:txBody>
                        <a:bodyPr spcFirstLastPara="1" wrap="square" lIns="68575" tIns="34275" rIns="68575" bIns="34275" anchor="ctr" anchorCtr="0">
                          <a:noAutofit/>
                        </a:bodyPr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FFFFFF"/>
                            </a:buClr>
                            <a:buSzPts val="1400"/>
                            <a:buFont typeface="Calibri"/>
                            <a:buNone/>
                            <a:tabLst/>
                            <a:defRPr/>
                          </a:pPr>
                          <a:endParaRPr kumimoji="0" sz="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Franklin Gothic Book" panose="020B0503020102020204" pitchFamily="34" charset="0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177" name="Google Shape;83413;p3921">
                          <a:extLst>
                            <a:ext uri="{FF2B5EF4-FFF2-40B4-BE49-F238E27FC236}">
                              <a16:creationId xmlns:a16="http://schemas.microsoft.com/office/drawing/2014/main" id="{DE5046DC-1817-EC55-019C-F12EEE33DEFA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63283" y="2322123"/>
                          <a:ext cx="47863" cy="47863"/>
                        </a:xfrm>
                        <a:prstGeom prst="ellipse">
                          <a:avLst/>
                        </a:prstGeom>
                        <a:solidFill>
                          <a:schemeClr val="lt1"/>
                        </a:solidFill>
                        <a:ln w="9525" cap="flat" cmpd="sng">
                          <a:noFill/>
                          <a:prstDash val="solid"/>
                          <a:miter lim="800000"/>
                          <a:headEnd type="none" w="sm" len="sm"/>
                          <a:tailEnd type="none" w="sm" len="sm"/>
                        </a:ln>
                      </p:spPr>
                      <p:txBody>
                        <a:bodyPr spcFirstLastPara="1" wrap="square" lIns="68575" tIns="34275" rIns="68575" bIns="34275" anchor="ctr" anchorCtr="0">
                          <a:noAutofit/>
                        </a:bodyPr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FFFFFF"/>
                            </a:buClr>
                            <a:buSzPts val="1400"/>
                            <a:buFont typeface="Calibri"/>
                            <a:buNone/>
                            <a:tabLst/>
                            <a:defRPr/>
                          </a:pPr>
                          <a:endParaRPr kumimoji="0" sz="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Franklin Gothic Book" panose="020B0503020102020204" pitchFamily="34" charset="0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178" name="Google Shape;83414;p3921">
                          <a:extLst>
                            <a:ext uri="{FF2B5EF4-FFF2-40B4-BE49-F238E27FC236}">
                              <a16:creationId xmlns:a16="http://schemas.microsoft.com/office/drawing/2014/main" id="{7132D748-D452-E479-BD2F-1178E854A0BB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2010298" y="2322131"/>
                          <a:ext cx="47863" cy="47863"/>
                        </a:xfrm>
                        <a:prstGeom prst="ellipse">
                          <a:avLst/>
                        </a:prstGeom>
                        <a:solidFill>
                          <a:schemeClr val="lt1"/>
                        </a:solidFill>
                        <a:ln w="9525" cap="flat" cmpd="sng">
                          <a:noFill/>
                          <a:prstDash val="solid"/>
                          <a:miter lim="800000"/>
                          <a:headEnd type="none" w="sm" len="sm"/>
                          <a:tailEnd type="none" w="sm" len="sm"/>
                        </a:ln>
                      </p:spPr>
                      <p:txBody>
                        <a:bodyPr spcFirstLastPara="1" wrap="square" lIns="68575" tIns="34275" rIns="68575" bIns="34275" anchor="ctr" anchorCtr="0">
                          <a:noAutofit/>
                        </a:bodyPr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FFFFFF"/>
                            </a:buClr>
                            <a:buSzPts val="1400"/>
                            <a:buFont typeface="Calibri"/>
                            <a:buNone/>
                            <a:tabLst/>
                            <a:defRPr/>
                          </a:pPr>
                          <a:endParaRPr kumimoji="0" sz="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Franklin Gothic Book" panose="020B0503020102020204" pitchFamily="34" charset="0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grpSp>
                    <p:nvGrpSpPr>
                      <p:cNvPr id="173" name="Group 172">
                        <a:extLst>
                          <a:ext uri="{FF2B5EF4-FFF2-40B4-BE49-F238E27FC236}">
                            <a16:creationId xmlns:a16="http://schemas.microsoft.com/office/drawing/2014/main" id="{576158A9-8026-D8D9-B321-119FD1352B1D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8226838" y="983255"/>
                        <a:ext cx="372147" cy="372147"/>
                        <a:chOff x="8226838" y="983255"/>
                        <a:chExt cx="372147" cy="372147"/>
                      </a:xfrm>
                    </p:grpSpPr>
                    <p:sp>
                      <p:nvSpPr>
                        <p:cNvPr id="174" name="Google Shape;83463;p3921">
                          <a:extLst>
                            <a:ext uri="{FF2B5EF4-FFF2-40B4-BE49-F238E27FC236}">
                              <a16:creationId xmlns:a16="http://schemas.microsoft.com/office/drawing/2014/main" id="{964DD061-EE3D-C412-FDC8-46DC403B15E1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226838" y="983255"/>
                          <a:ext cx="372147" cy="372147"/>
                        </a:xfrm>
                        <a:prstGeom prst="ellipse">
                          <a:avLst/>
                        </a:prstGeom>
                        <a:solidFill>
                          <a:schemeClr val="bg1"/>
                        </a:solidFill>
                        <a:ln w="9525" cap="flat" cmpd="sng">
                          <a:solidFill>
                            <a:schemeClr val="accent2"/>
                          </a:solidFill>
                          <a:prstDash val="solid"/>
                          <a:miter lim="800000"/>
                          <a:headEnd type="none" w="sm" len="sm"/>
                          <a:tailEnd type="none" w="sm" len="sm"/>
                        </a:ln>
                      </p:spPr>
                      <p:txBody>
                        <a:bodyPr spcFirstLastPara="1" wrap="square" lIns="68575" tIns="34275" rIns="68575" bIns="34275" anchor="ctr" anchorCtr="0">
                          <a:noAutofit/>
                        </a:bodyPr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FFFFFF"/>
                            </a:buClr>
                            <a:buSzPts val="1400"/>
                            <a:buFont typeface="Calibri"/>
                            <a:buNone/>
                            <a:tabLst/>
                            <a:defRPr/>
                          </a:pPr>
                          <a:endParaRPr kumimoji="0" sz="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Franklin Gothic Book" panose="020B0503020102020204" pitchFamily="34" charset="0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175" name="Freeform: Shape 212">
                          <a:extLst>
                            <a:ext uri="{FF2B5EF4-FFF2-40B4-BE49-F238E27FC236}">
                              <a16:creationId xmlns:a16="http://schemas.microsoft.com/office/drawing/2014/main" id="{806A79C0-50AB-BE20-7C47-B8F1FD185647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flipH="1">
                          <a:off x="8315749" y="1064692"/>
                          <a:ext cx="194324" cy="209272"/>
                        </a:xfrm>
                        <a:custGeom>
                          <a:avLst/>
                          <a:gdLst>
                            <a:gd name="connsiteX0" fmla="*/ 3943350 w 4457700"/>
                            <a:gd name="connsiteY0" fmla="*/ 1034872 h 4800599"/>
                            <a:gd name="connsiteX1" fmla="*/ 4457700 w 4457700"/>
                            <a:gd name="connsiteY1" fmla="*/ 1034872 h 4800599"/>
                            <a:gd name="connsiteX2" fmla="*/ 4457700 w 4457700"/>
                            <a:gd name="connsiteY2" fmla="*/ 3429098 h 4800599"/>
                            <a:gd name="connsiteX3" fmla="*/ 3943350 w 4457700"/>
                            <a:gd name="connsiteY3" fmla="*/ 3429098 h 4800599"/>
                            <a:gd name="connsiteX4" fmla="*/ 3943350 w 4457700"/>
                            <a:gd name="connsiteY4" fmla="*/ 3686175 h 4800599"/>
                            <a:gd name="connsiteX5" fmla="*/ 3952383 w 4457700"/>
                            <a:gd name="connsiteY5" fmla="*/ 3724521 h 4800599"/>
                            <a:gd name="connsiteX6" fmla="*/ 4123833 w 4457700"/>
                            <a:gd name="connsiteY6" fmla="*/ 4067421 h 4800599"/>
                            <a:gd name="connsiteX7" fmla="*/ 4200525 w 4457700"/>
                            <a:gd name="connsiteY7" fmla="*/ 4114839 h 4800599"/>
                            <a:gd name="connsiteX8" fmla="*/ 4277217 w 4457700"/>
                            <a:gd name="connsiteY8" fmla="*/ 4067421 h 4800599"/>
                            <a:gd name="connsiteX9" fmla="*/ 4448667 w 4457700"/>
                            <a:gd name="connsiteY9" fmla="*/ 3724521 h 4800599"/>
                            <a:gd name="connsiteX10" fmla="*/ 4457700 w 4457700"/>
                            <a:gd name="connsiteY10" fmla="*/ 3686175 h 4800599"/>
                            <a:gd name="connsiteX11" fmla="*/ 4457700 w 4457700"/>
                            <a:gd name="connsiteY11" fmla="*/ 3600450 h 4800599"/>
                            <a:gd name="connsiteX12" fmla="*/ 3943350 w 4457700"/>
                            <a:gd name="connsiteY12" fmla="*/ 3600450 h 4800599"/>
                            <a:gd name="connsiteX13" fmla="*/ 4286250 w 4457700"/>
                            <a:gd name="connsiteY13" fmla="*/ 514350 h 4800599"/>
                            <a:gd name="connsiteX14" fmla="*/ 4114800 w 4457700"/>
                            <a:gd name="connsiteY14" fmla="*/ 514350 h 4800599"/>
                            <a:gd name="connsiteX15" fmla="*/ 3993639 w 4457700"/>
                            <a:gd name="connsiteY15" fmla="*/ 564637 h 4800599"/>
                            <a:gd name="connsiteX16" fmla="*/ 3943350 w 4457700"/>
                            <a:gd name="connsiteY16" fmla="*/ 685800 h 4800599"/>
                            <a:gd name="connsiteX17" fmla="*/ 3943350 w 4457700"/>
                            <a:gd name="connsiteY17" fmla="*/ 863373 h 4800599"/>
                            <a:gd name="connsiteX18" fmla="*/ 4457700 w 4457700"/>
                            <a:gd name="connsiteY18" fmla="*/ 863373 h 4800599"/>
                            <a:gd name="connsiteX19" fmla="*/ 4457700 w 4457700"/>
                            <a:gd name="connsiteY19" fmla="*/ 685800 h 4800599"/>
                            <a:gd name="connsiteX20" fmla="*/ 4407412 w 4457700"/>
                            <a:gd name="connsiteY20" fmla="*/ 564637 h 4800599"/>
                            <a:gd name="connsiteX21" fmla="*/ 4286250 w 4457700"/>
                            <a:gd name="connsiteY21" fmla="*/ 514350 h 4800599"/>
                            <a:gd name="connsiteX22" fmla="*/ 685800 w 4457700"/>
                            <a:gd name="connsiteY22" fmla="*/ 4750439 h 4800599"/>
                            <a:gd name="connsiteX23" fmla="*/ 685800 w 4457700"/>
                            <a:gd name="connsiteY23" fmla="*/ 4114849 h 4800599"/>
                            <a:gd name="connsiteX24" fmla="*/ 50210 w 4457700"/>
                            <a:gd name="connsiteY24" fmla="*/ 4114849 h 4800599"/>
                            <a:gd name="connsiteX25" fmla="*/ 942975 w 4457700"/>
                            <a:gd name="connsiteY25" fmla="*/ 1543050 h 4800599"/>
                            <a:gd name="connsiteX26" fmla="*/ 1124830 w 4457700"/>
                            <a:gd name="connsiteY26" fmla="*/ 1467739 h 4800599"/>
                            <a:gd name="connsiteX27" fmla="*/ 1200140 w 4457700"/>
                            <a:gd name="connsiteY27" fmla="*/ 1285875 h 4800599"/>
                            <a:gd name="connsiteX28" fmla="*/ 1124830 w 4457700"/>
                            <a:gd name="connsiteY28" fmla="*/ 1104020 h 4800599"/>
                            <a:gd name="connsiteX29" fmla="*/ 942975 w 4457700"/>
                            <a:gd name="connsiteY29" fmla="*/ 1028710 h 4800599"/>
                            <a:gd name="connsiteX30" fmla="*/ 761121 w 4457700"/>
                            <a:gd name="connsiteY30" fmla="*/ 1104020 h 4800599"/>
                            <a:gd name="connsiteX31" fmla="*/ 685810 w 4457700"/>
                            <a:gd name="connsiteY31" fmla="*/ 1285875 h 4800599"/>
                            <a:gd name="connsiteX32" fmla="*/ 761199 w 4457700"/>
                            <a:gd name="connsiteY32" fmla="*/ 1467671 h 4800599"/>
                            <a:gd name="connsiteX33" fmla="*/ 942985 w 4457700"/>
                            <a:gd name="connsiteY33" fmla="*/ 1543060 h 4800599"/>
                            <a:gd name="connsiteX34" fmla="*/ 2657475 w 4457700"/>
                            <a:gd name="connsiteY34" fmla="*/ 3086100 h 4800599"/>
                            <a:gd name="connsiteX35" fmla="*/ 2475620 w 4457700"/>
                            <a:gd name="connsiteY35" fmla="*/ 3161411 h 4800599"/>
                            <a:gd name="connsiteX36" fmla="*/ 2400300 w 4457700"/>
                            <a:gd name="connsiteY36" fmla="*/ 3343275 h 4800599"/>
                            <a:gd name="connsiteX37" fmla="*/ 2475620 w 4457700"/>
                            <a:gd name="connsiteY37" fmla="*/ 3525130 h 4800599"/>
                            <a:gd name="connsiteX38" fmla="*/ 2657475 w 4457700"/>
                            <a:gd name="connsiteY38" fmla="*/ 3600440 h 4800599"/>
                            <a:gd name="connsiteX39" fmla="*/ 2839330 w 4457700"/>
                            <a:gd name="connsiteY39" fmla="*/ 3525130 h 4800599"/>
                            <a:gd name="connsiteX40" fmla="*/ 2914650 w 4457700"/>
                            <a:gd name="connsiteY40" fmla="*/ 3343275 h 4800599"/>
                            <a:gd name="connsiteX41" fmla="*/ 2839251 w 4457700"/>
                            <a:gd name="connsiteY41" fmla="*/ 3161489 h 4800599"/>
                            <a:gd name="connsiteX42" fmla="*/ 2657465 w 4457700"/>
                            <a:gd name="connsiteY42" fmla="*/ 3086090 h 4800599"/>
                            <a:gd name="connsiteX43" fmla="*/ 3600450 w 4457700"/>
                            <a:gd name="connsiteY43" fmla="*/ 85725 h 4800599"/>
                            <a:gd name="connsiteX44" fmla="*/ 3600450 w 4457700"/>
                            <a:gd name="connsiteY44" fmla="*/ 4714875 h 4800599"/>
                            <a:gd name="connsiteX45" fmla="*/ 3575350 w 4457700"/>
                            <a:gd name="connsiteY45" fmla="*/ 4775490 h 4800599"/>
                            <a:gd name="connsiteX46" fmla="*/ 3514725 w 4457700"/>
                            <a:gd name="connsiteY46" fmla="*/ 4800600 h 4800599"/>
                            <a:gd name="connsiteX47" fmla="*/ 857250 w 4457700"/>
                            <a:gd name="connsiteY47" fmla="*/ 4800600 h 4800599"/>
                            <a:gd name="connsiteX48" fmla="*/ 857250 w 4457700"/>
                            <a:gd name="connsiteY48" fmla="*/ 4029075 h 4800599"/>
                            <a:gd name="connsiteX49" fmla="*/ 832150 w 4457700"/>
                            <a:gd name="connsiteY49" fmla="*/ 3968450 h 4800599"/>
                            <a:gd name="connsiteX50" fmla="*/ 771525 w 4457700"/>
                            <a:gd name="connsiteY50" fmla="*/ 3943350 h 4800599"/>
                            <a:gd name="connsiteX51" fmla="*/ 0 w 4457700"/>
                            <a:gd name="connsiteY51" fmla="*/ 3943350 h 4800599"/>
                            <a:gd name="connsiteX52" fmla="*/ 0 w 4457700"/>
                            <a:gd name="connsiteY52" fmla="*/ 85725 h 4800599"/>
                            <a:gd name="connsiteX53" fmla="*/ 85725 w 4457700"/>
                            <a:gd name="connsiteY53" fmla="*/ 0 h 4800599"/>
                            <a:gd name="connsiteX54" fmla="*/ 3514725 w 4457700"/>
                            <a:gd name="connsiteY54" fmla="*/ 0 h 4800599"/>
                            <a:gd name="connsiteX55" fmla="*/ 3575350 w 4457700"/>
                            <a:gd name="connsiteY55" fmla="*/ 25105 h 4800599"/>
                            <a:gd name="connsiteX56" fmla="*/ 3600450 w 4457700"/>
                            <a:gd name="connsiteY56" fmla="*/ 85725 h 4800599"/>
                            <a:gd name="connsiteX57" fmla="*/ 514350 w 4457700"/>
                            <a:gd name="connsiteY57" fmla="*/ 1285875 h 4800599"/>
                            <a:gd name="connsiteX58" fmla="*/ 639871 w 4457700"/>
                            <a:gd name="connsiteY58" fmla="*/ 1588979 h 4800599"/>
                            <a:gd name="connsiteX59" fmla="*/ 942975 w 4457700"/>
                            <a:gd name="connsiteY59" fmla="*/ 1714500 h 4800599"/>
                            <a:gd name="connsiteX60" fmla="*/ 1246079 w 4457700"/>
                            <a:gd name="connsiteY60" fmla="*/ 1588979 h 4800599"/>
                            <a:gd name="connsiteX61" fmla="*/ 1371600 w 4457700"/>
                            <a:gd name="connsiteY61" fmla="*/ 1285875 h 4800599"/>
                            <a:gd name="connsiteX62" fmla="*/ 1246079 w 4457700"/>
                            <a:gd name="connsiteY62" fmla="*/ 982771 h 4800599"/>
                            <a:gd name="connsiteX63" fmla="*/ 942975 w 4457700"/>
                            <a:gd name="connsiteY63" fmla="*/ 857250 h 4800599"/>
                            <a:gd name="connsiteX64" fmla="*/ 640028 w 4457700"/>
                            <a:gd name="connsiteY64" fmla="*/ 982928 h 4800599"/>
                            <a:gd name="connsiteX65" fmla="*/ 514350 w 4457700"/>
                            <a:gd name="connsiteY65" fmla="*/ 1285875 h 4800599"/>
                            <a:gd name="connsiteX66" fmla="*/ 2571750 w 4457700"/>
                            <a:gd name="connsiteY66" fmla="*/ 1664290 h 4800599"/>
                            <a:gd name="connsiteX67" fmla="*/ 2571750 w 4457700"/>
                            <a:gd name="connsiteY67" fmla="*/ 1800225 h 4800599"/>
                            <a:gd name="connsiteX68" fmla="*/ 2496361 w 4457700"/>
                            <a:gd name="connsiteY68" fmla="*/ 1982011 h 4800599"/>
                            <a:gd name="connsiteX69" fmla="*/ 2314575 w 4457700"/>
                            <a:gd name="connsiteY69" fmla="*/ 2057400 h 4800599"/>
                            <a:gd name="connsiteX70" fmla="*/ 1285875 w 4457700"/>
                            <a:gd name="connsiteY70" fmla="*/ 2057400 h 4800599"/>
                            <a:gd name="connsiteX71" fmla="*/ 982928 w 4457700"/>
                            <a:gd name="connsiteY71" fmla="*/ 2183078 h 4800599"/>
                            <a:gd name="connsiteX72" fmla="*/ 857250 w 4457700"/>
                            <a:gd name="connsiteY72" fmla="*/ 2486025 h 4800599"/>
                            <a:gd name="connsiteX73" fmla="*/ 857250 w 4457700"/>
                            <a:gd name="connsiteY73" fmla="*/ 2657475 h 4800599"/>
                            <a:gd name="connsiteX74" fmla="*/ 942975 w 4457700"/>
                            <a:gd name="connsiteY74" fmla="*/ 2743200 h 4800599"/>
                            <a:gd name="connsiteX75" fmla="*/ 1028700 w 4457700"/>
                            <a:gd name="connsiteY75" fmla="*/ 2657475 h 4800599"/>
                            <a:gd name="connsiteX76" fmla="*/ 1028700 w 4457700"/>
                            <a:gd name="connsiteY76" fmla="*/ 2486025 h 4800599"/>
                            <a:gd name="connsiteX77" fmla="*/ 1104089 w 4457700"/>
                            <a:gd name="connsiteY77" fmla="*/ 2304239 h 4800599"/>
                            <a:gd name="connsiteX78" fmla="*/ 1285875 w 4457700"/>
                            <a:gd name="connsiteY78" fmla="*/ 2228850 h 4800599"/>
                            <a:gd name="connsiteX79" fmla="*/ 2314575 w 4457700"/>
                            <a:gd name="connsiteY79" fmla="*/ 2228850 h 4800599"/>
                            <a:gd name="connsiteX80" fmla="*/ 2617522 w 4457700"/>
                            <a:gd name="connsiteY80" fmla="*/ 2103172 h 4800599"/>
                            <a:gd name="connsiteX81" fmla="*/ 2743200 w 4457700"/>
                            <a:gd name="connsiteY81" fmla="*/ 1800225 h 4800599"/>
                            <a:gd name="connsiteX82" fmla="*/ 2743200 w 4457700"/>
                            <a:gd name="connsiteY82" fmla="*/ 1664290 h 4800599"/>
                            <a:gd name="connsiteX83" fmla="*/ 2839300 w 4457700"/>
                            <a:gd name="connsiteY83" fmla="*/ 1760390 h 4800599"/>
                            <a:gd name="connsiteX84" fmla="*/ 2900150 w 4457700"/>
                            <a:gd name="connsiteY84" fmla="*/ 1786254 h 4800599"/>
                            <a:gd name="connsiteX85" fmla="*/ 2961304 w 4457700"/>
                            <a:gd name="connsiteY85" fmla="*/ 1761154 h 4800599"/>
                            <a:gd name="connsiteX86" fmla="*/ 2986404 w 4457700"/>
                            <a:gd name="connsiteY86" fmla="*/ 1700000 h 4800599"/>
                            <a:gd name="connsiteX87" fmla="*/ 2960540 w 4457700"/>
                            <a:gd name="connsiteY87" fmla="*/ 1639150 h 4800599"/>
                            <a:gd name="connsiteX88" fmla="*/ 2718218 w 4457700"/>
                            <a:gd name="connsiteY88" fmla="*/ 1396828 h 4800599"/>
                            <a:gd name="connsiteX89" fmla="*/ 2596752 w 4457700"/>
                            <a:gd name="connsiteY89" fmla="*/ 1396828 h 4800599"/>
                            <a:gd name="connsiteX90" fmla="*/ 2354430 w 4457700"/>
                            <a:gd name="connsiteY90" fmla="*/ 1639150 h 4800599"/>
                            <a:gd name="connsiteX91" fmla="*/ 2328556 w 4457700"/>
                            <a:gd name="connsiteY91" fmla="*/ 1700000 h 4800599"/>
                            <a:gd name="connsiteX92" fmla="*/ 2353666 w 4457700"/>
                            <a:gd name="connsiteY92" fmla="*/ 1761154 h 4800599"/>
                            <a:gd name="connsiteX93" fmla="*/ 2414819 w 4457700"/>
                            <a:gd name="connsiteY93" fmla="*/ 1786254 h 4800599"/>
                            <a:gd name="connsiteX94" fmla="*/ 2475669 w 4457700"/>
                            <a:gd name="connsiteY94" fmla="*/ 1760390 h 4800599"/>
                            <a:gd name="connsiteX95" fmla="*/ 1064166 w 4457700"/>
                            <a:gd name="connsiteY95" fmla="*/ 3343324 h 4800599"/>
                            <a:gd name="connsiteX96" fmla="*/ 1346441 w 4457700"/>
                            <a:gd name="connsiteY96" fmla="*/ 3061049 h 4800599"/>
                            <a:gd name="connsiteX97" fmla="*/ 1345373 w 4457700"/>
                            <a:gd name="connsiteY97" fmla="*/ 2940877 h 4800599"/>
                            <a:gd name="connsiteX98" fmla="*/ 1225201 w 4457700"/>
                            <a:gd name="connsiteY98" fmla="*/ 2939809 h 4800599"/>
                            <a:gd name="connsiteX99" fmla="*/ 942926 w 4457700"/>
                            <a:gd name="connsiteY99" fmla="*/ 3222084 h 4800599"/>
                            <a:gd name="connsiteX100" fmla="*/ 660651 w 4457700"/>
                            <a:gd name="connsiteY100" fmla="*/ 2939809 h 4800599"/>
                            <a:gd name="connsiteX101" fmla="*/ 540479 w 4457700"/>
                            <a:gd name="connsiteY101" fmla="*/ 2940877 h 4800599"/>
                            <a:gd name="connsiteX102" fmla="*/ 539401 w 4457700"/>
                            <a:gd name="connsiteY102" fmla="*/ 3061049 h 4800599"/>
                            <a:gd name="connsiteX103" fmla="*/ 821677 w 4457700"/>
                            <a:gd name="connsiteY103" fmla="*/ 3343324 h 4800599"/>
                            <a:gd name="connsiteX104" fmla="*/ 539401 w 4457700"/>
                            <a:gd name="connsiteY104" fmla="*/ 3625599 h 4800599"/>
                            <a:gd name="connsiteX105" fmla="*/ 513263 w 4457700"/>
                            <a:gd name="connsiteY105" fmla="*/ 3686528 h 4800599"/>
                            <a:gd name="connsiteX106" fmla="*/ 538373 w 4457700"/>
                            <a:gd name="connsiteY106" fmla="*/ 3747877 h 4800599"/>
                            <a:gd name="connsiteX107" fmla="*/ 599713 w 4457700"/>
                            <a:gd name="connsiteY107" fmla="*/ 3772978 h 4800599"/>
                            <a:gd name="connsiteX108" fmla="*/ 660641 w 4457700"/>
                            <a:gd name="connsiteY108" fmla="*/ 3746839 h 4800599"/>
                            <a:gd name="connsiteX109" fmla="*/ 942916 w 4457700"/>
                            <a:gd name="connsiteY109" fmla="*/ 3464564 h 4800599"/>
                            <a:gd name="connsiteX110" fmla="*/ 1225192 w 4457700"/>
                            <a:gd name="connsiteY110" fmla="*/ 3746839 h 4800599"/>
                            <a:gd name="connsiteX111" fmla="*/ 1345363 w 4457700"/>
                            <a:gd name="connsiteY111" fmla="*/ 3745771 h 4800599"/>
                            <a:gd name="connsiteX112" fmla="*/ 1346441 w 4457700"/>
                            <a:gd name="connsiteY112" fmla="*/ 3625599 h 4800599"/>
                            <a:gd name="connsiteX113" fmla="*/ 3086100 w 4457700"/>
                            <a:gd name="connsiteY113" fmla="*/ 3343324 h 4800599"/>
                            <a:gd name="connsiteX114" fmla="*/ 2960579 w 4457700"/>
                            <a:gd name="connsiteY114" fmla="*/ 3040220 h 4800599"/>
                            <a:gd name="connsiteX115" fmla="*/ 2657475 w 4457700"/>
                            <a:gd name="connsiteY115" fmla="*/ 2914699 h 4800599"/>
                            <a:gd name="connsiteX116" fmla="*/ 2354371 w 4457700"/>
                            <a:gd name="connsiteY116" fmla="*/ 3040220 h 4800599"/>
                            <a:gd name="connsiteX117" fmla="*/ 2228850 w 4457700"/>
                            <a:gd name="connsiteY117" fmla="*/ 3343324 h 4800599"/>
                            <a:gd name="connsiteX118" fmla="*/ 2354371 w 4457700"/>
                            <a:gd name="connsiteY118" fmla="*/ 3646428 h 4800599"/>
                            <a:gd name="connsiteX119" fmla="*/ 2657475 w 4457700"/>
                            <a:gd name="connsiteY119" fmla="*/ 3771949 h 4800599"/>
                            <a:gd name="connsiteX120" fmla="*/ 2960422 w 4457700"/>
                            <a:gd name="connsiteY120" fmla="*/ 3646271 h 4800599"/>
                            <a:gd name="connsiteX121" fmla="*/ 3086100 w 4457700"/>
                            <a:gd name="connsiteY121" fmla="*/ 3343324 h 4800599"/>
                            <a:gd name="connsiteX122" fmla="*/ 2778715 w 4457700"/>
                            <a:gd name="connsiteY122" fmla="*/ 771574 h 4800599"/>
                            <a:gd name="connsiteX123" fmla="*/ 3060990 w 4457700"/>
                            <a:gd name="connsiteY123" fmla="*/ 489299 h 4800599"/>
                            <a:gd name="connsiteX124" fmla="*/ 3059922 w 4457700"/>
                            <a:gd name="connsiteY124" fmla="*/ 369127 h 4800599"/>
                            <a:gd name="connsiteX125" fmla="*/ 2939751 w 4457700"/>
                            <a:gd name="connsiteY125" fmla="*/ 368055 h 4800599"/>
                            <a:gd name="connsiteX126" fmla="*/ 2657475 w 4457700"/>
                            <a:gd name="connsiteY126" fmla="*/ 650334 h 4800599"/>
                            <a:gd name="connsiteX127" fmla="*/ 2375200 w 4457700"/>
                            <a:gd name="connsiteY127" fmla="*/ 368055 h 4800599"/>
                            <a:gd name="connsiteX128" fmla="*/ 2255028 w 4457700"/>
                            <a:gd name="connsiteY128" fmla="*/ 369127 h 4800599"/>
                            <a:gd name="connsiteX129" fmla="*/ 2253951 w 4457700"/>
                            <a:gd name="connsiteY129" fmla="*/ 489299 h 4800599"/>
                            <a:gd name="connsiteX130" fmla="*/ 2536226 w 4457700"/>
                            <a:gd name="connsiteY130" fmla="*/ 771574 h 4800599"/>
                            <a:gd name="connsiteX131" fmla="*/ 2253951 w 4457700"/>
                            <a:gd name="connsiteY131" fmla="*/ 1053849 h 4800599"/>
                            <a:gd name="connsiteX132" fmla="*/ 2227812 w 4457700"/>
                            <a:gd name="connsiteY132" fmla="*/ 1114778 h 4800599"/>
                            <a:gd name="connsiteX133" fmla="*/ 2252922 w 4457700"/>
                            <a:gd name="connsiteY133" fmla="*/ 1176127 h 4800599"/>
                            <a:gd name="connsiteX134" fmla="*/ 2314261 w 4457700"/>
                            <a:gd name="connsiteY134" fmla="*/ 1201228 h 4800599"/>
                            <a:gd name="connsiteX135" fmla="*/ 2375190 w 4457700"/>
                            <a:gd name="connsiteY135" fmla="*/ 1175089 h 4800599"/>
                            <a:gd name="connsiteX136" fmla="*/ 2657465 w 4457700"/>
                            <a:gd name="connsiteY136" fmla="*/ 892814 h 4800599"/>
                            <a:gd name="connsiteX137" fmla="*/ 2939741 w 4457700"/>
                            <a:gd name="connsiteY137" fmla="*/ 1175089 h 4800599"/>
                            <a:gd name="connsiteX138" fmla="*/ 3059912 w 4457700"/>
                            <a:gd name="connsiteY138" fmla="*/ 1174021 h 4800599"/>
                            <a:gd name="connsiteX139" fmla="*/ 3060990 w 4457700"/>
                            <a:gd name="connsiteY139" fmla="*/ 1053849 h 4800599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  <a:cxn ang="0">
                              <a:pos x="connsiteX15" y="connsiteY15"/>
                            </a:cxn>
                            <a:cxn ang="0">
                              <a:pos x="connsiteX16" y="connsiteY16"/>
                            </a:cxn>
                            <a:cxn ang="0">
                              <a:pos x="connsiteX17" y="connsiteY17"/>
                            </a:cxn>
                            <a:cxn ang="0">
                              <a:pos x="connsiteX18" y="connsiteY18"/>
                            </a:cxn>
                            <a:cxn ang="0">
                              <a:pos x="connsiteX19" y="connsiteY19"/>
                            </a:cxn>
                            <a:cxn ang="0">
                              <a:pos x="connsiteX20" y="connsiteY20"/>
                            </a:cxn>
                            <a:cxn ang="0">
                              <a:pos x="connsiteX21" y="connsiteY21"/>
                            </a:cxn>
                            <a:cxn ang="0">
                              <a:pos x="connsiteX22" y="connsiteY22"/>
                            </a:cxn>
                            <a:cxn ang="0">
                              <a:pos x="connsiteX23" y="connsiteY23"/>
                            </a:cxn>
                            <a:cxn ang="0">
                              <a:pos x="connsiteX24" y="connsiteY24"/>
                            </a:cxn>
                            <a:cxn ang="0">
                              <a:pos x="connsiteX25" y="connsiteY25"/>
                            </a:cxn>
                            <a:cxn ang="0">
                              <a:pos x="connsiteX26" y="connsiteY26"/>
                            </a:cxn>
                            <a:cxn ang="0">
                              <a:pos x="connsiteX27" y="connsiteY27"/>
                            </a:cxn>
                            <a:cxn ang="0">
                              <a:pos x="connsiteX28" y="connsiteY28"/>
                            </a:cxn>
                            <a:cxn ang="0">
                              <a:pos x="connsiteX29" y="connsiteY29"/>
                            </a:cxn>
                            <a:cxn ang="0">
                              <a:pos x="connsiteX30" y="connsiteY30"/>
                            </a:cxn>
                            <a:cxn ang="0">
                              <a:pos x="connsiteX31" y="connsiteY31"/>
                            </a:cxn>
                            <a:cxn ang="0">
                              <a:pos x="connsiteX32" y="connsiteY32"/>
                            </a:cxn>
                            <a:cxn ang="0">
                              <a:pos x="connsiteX33" y="connsiteY33"/>
                            </a:cxn>
                            <a:cxn ang="0">
                              <a:pos x="connsiteX34" y="connsiteY34"/>
                            </a:cxn>
                            <a:cxn ang="0">
                              <a:pos x="connsiteX35" y="connsiteY35"/>
                            </a:cxn>
                            <a:cxn ang="0">
                              <a:pos x="connsiteX36" y="connsiteY36"/>
                            </a:cxn>
                            <a:cxn ang="0">
                              <a:pos x="connsiteX37" y="connsiteY37"/>
                            </a:cxn>
                            <a:cxn ang="0">
                              <a:pos x="connsiteX38" y="connsiteY38"/>
                            </a:cxn>
                            <a:cxn ang="0">
                              <a:pos x="connsiteX39" y="connsiteY39"/>
                            </a:cxn>
                            <a:cxn ang="0">
                              <a:pos x="connsiteX40" y="connsiteY40"/>
                            </a:cxn>
                            <a:cxn ang="0">
                              <a:pos x="connsiteX41" y="connsiteY41"/>
                            </a:cxn>
                            <a:cxn ang="0">
                              <a:pos x="connsiteX42" y="connsiteY42"/>
                            </a:cxn>
                            <a:cxn ang="0">
                              <a:pos x="connsiteX43" y="connsiteY43"/>
                            </a:cxn>
                            <a:cxn ang="0">
                              <a:pos x="connsiteX44" y="connsiteY44"/>
                            </a:cxn>
                            <a:cxn ang="0">
                              <a:pos x="connsiteX45" y="connsiteY45"/>
                            </a:cxn>
                            <a:cxn ang="0">
                              <a:pos x="connsiteX46" y="connsiteY46"/>
                            </a:cxn>
                            <a:cxn ang="0">
                              <a:pos x="connsiteX47" y="connsiteY47"/>
                            </a:cxn>
                            <a:cxn ang="0">
                              <a:pos x="connsiteX48" y="connsiteY48"/>
                            </a:cxn>
                            <a:cxn ang="0">
                              <a:pos x="connsiteX49" y="connsiteY49"/>
                            </a:cxn>
                            <a:cxn ang="0">
                              <a:pos x="connsiteX50" y="connsiteY50"/>
                            </a:cxn>
                            <a:cxn ang="0">
                              <a:pos x="connsiteX51" y="connsiteY51"/>
                            </a:cxn>
                            <a:cxn ang="0">
                              <a:pos x="connsiteX52" y="connsiteY52"/>
                            </a:cxn>
                            <a:cxn ang="0">
                              <a:pos x="connsiteX53" y="connsiteY53"/>
                            </a:cxn>
                            <a:cxn ang="0">
                              <a:pos x="connsiteX54" y="connsiteY54"/>
                            </a:cxn>
                            <a:cxn ang="0">
                              <a:pos x="connsiteX55" y="connsiteY55"/>
                            </a:cxn>
                            <a:cxn ang="0">
                              <a:pos x="connsiteX56" y="connsiteY56"/>
                            </a:cxn>
                            <a:cxn ang="0">
                              <a:pos x="connsiteX57" y="connsiteY57"/>
                            </a:cxn>
                            <a:cxn ang="0">
                              <a:pos x="connsiteX58" y="connsiteY58"/>
                            </a:cxn>
                            <a:cxn ang="0">
                              <a:pos x="connsiteX59" y="connsiteY59"/>
                            </a:cxn>
                            <a:cxn ang="0">
                              <a:pos x="connsiteX60" y="connsiteY60"/>
                            </a:cxn>
                            <a:cxn ang="0">
                              <a:pos x="connsiteX61" y="connsiteY61"/>
                            </a:cxn>
                            <a:cxn ang="0">
                              <a:pos x="connsiteX62" y="connsiteY62"/>
                            </a:cxn>
                            <a:cxn ang="0">
                              <a:pos x="connsiteX63" y="connsiteY63"/>
                            </a:cxn>
                            <a:cxn ang="0">
                              <a:pos x="connsiteX64" y="connsiteY64"/>
                            </a:cxn>
                            <a:cxn ang="0">
                              <a:pos x="connsiteX65" y="connsiteY65"/>
                            </a:cxn>
                            <a:cxn ang="0">
                              <a:pos x="connsiteX66" y="connsiteY66"/>
                            </a:cxn>
                            <a:cxn ang="0">
                              <a:pos x="connsiteX67" y="connsiteY67"/>
                            </a:cxn>
                            <a:cxn ang="0">
                              <a:pos x="connsiteX68" y="connsiteY68"/>
                            </a:cxn>
                            <a:cxn ang="0">
                              <a:pos x="connsiteX69" y="connsiteY69"/>
                            </a:cxn>
                            <a:cxn ang="0">
                              <a:pos x="connsiteX70" y="connsiteY70"/>
                            </a:cxn>
                            <a:cxn ang="0">
                              <a:pos x="connsiteX71" y="connsiteY71"/>
                            </a:cxn>
                            <a:cxn ang="0">
                              <a:pos x="connsiteX72" y="connsiteY72"/>
                            </a:cxn>
                            <a:cxn ang="0">
                              <a:pos x="connsiteX73" y="connsiteY73"/>
                            </a:cxn>
                            <a:cxn ang="0">
                              <a:pos x="connsiteX74" y="connsiteY74"/>
                            </a:cxn>
                            <a:cxn ang="0">
                              <a:pos x="connsiteX75" y="connsiteY75"/>
                            </a:cxn>
                            <a:cxn ang="0">
                              <a:pos x="connsiteX76" y="connsiteY76"/>
                            </a:cxn>
                            <a:cxn ang="0">
                              <a:pos x="connsiteX77" y="connsiteY77"/>
                            </a:cxn>
                            <a:cxn ang="0">
                              <a:pos x="connsiteX78" y="connsiteY78"/>
                            </a:cxn>
                            <a:cxn ang="0">
                              <a:pos x="connsiteX79" y="connsiteY79"/>
                            </a:cxn>
                            <a:cxn ang="0">
                              <a:pos x="connsiteX80" y="connsiteY80"/>
                            </a:cxn>
                            <a:cxn ang="0">
                              <a:pos x="connsiteX81" y="connsiteY81"/>
                            </a:cxn>
                            <a:cxn ang="0">
                              <a:pos x="connsiteX82" y="connsiteY82"/>
                            </a:cxn>
                            <a:cxn ang="0">
                              <a:pos x="connsiteX83" y="connsiteY83"/>
                            </a:cxn>
                            <a:cxn ang="0">
                              <a:pos x="connsiteX84" y="connsiteY84"/>
                            </a:cxn>
                            <a:cxn ang="0">
                              <a:pos x="connsiteX85" y="connsiteY85"/>
                            </a:cxn>
                            <a:cxn ang="0">
                              <a:pos x="connsiteX86" y="connsiteY86"/>
                            </a:cxn>
                            <a:cxn ang="0">
                              <a:pos x="connsiteX87" y="connsiteY87"/>
                            </a:cxn>
                            <a:cxn ang="0">
                              <a:pos x="connsiteX88" y="connsiteY88"/>
                            </a:cxn>
                            <a:cxn ang="0">
                              <a:pos x="connsiteX89" y="connsiteY89"/>
                            </a:cxn>
                            <a:cxn ang="0">
                              <a:pos x="connsiteX90" y="connsiteY90"/>
                            </a:cxn>
                            <a:cxn ang="0">
                              <a:pos x="connsiteX91" y="connsiteY91"/>
                            </a:cxn>
                            <a:cxn ang="0">
                              <a:pos x="connsiteX92" y="connsiteY92"/>
                            </a:cxn>
                            <a:cxn ang="0">
                              <a:pos x="connsiteX93" y="connsiteY93"/>
                            </a:cxn>
                            <a:cxn ang="0">
                              <a:pos x="connsiteX94" y="connsiteY94"/>
                            </a:cxn>
                            <a:cxn ang="0">
                              <a:pos x="connsiteX95" y="connsiteY95"/>
                            </a:cxn>
                            <a:cxn ang="0">
                              <a:pos x="connsiteX96" y="connsiteY96"/>
                            </a:cxn>
                            <a:cxn ang="0">
                              <a:pos x="connsiteX97" y="connsiteY97"/>
                            </a:cxn>
                            <a:cxn ang="0">
                              <a:pos x="connsiteX98" y="connsiteY98"/>
                            </a:cxn>
                            <a:cxn ang="0">
                              <a:pos x="connsiteX99" y="connsiteY99"/>
                            </a:cxn>
                            <a:cxn ang="0">
                              <a:pos x="connsiteX100" y="connsiteY100"/>
                            </a:cxn>
                            <a:cxn ang="0">
                              <a:pos x="connsiteX101" y="connsiteY101"/>
                            </a:cxn>
                            <a:cxn ang="0">
                              <a:pos x="connsiteX102" y="connsiteY102"/>
                            </a:cxn>
                            <a:cxn ang="0">
                              <a:pos x="connsiteX103" y="connsiteY103"/>
                            </a:cxn>
                            <a:cxn ang="0">
                              <a:pos x="connsiteX104" y="connsiteY104"/>
                            </a:cxn>
                            <a:cxn ang="0">
                              <a:pos x="connsiteX105" y="connsiteY105"/>
                            </a:cxn>
                            <a:cxn ang="0">
                              <a:pos x="connsiteX106" y="connsiteY106"/>
                            </a:cxn>
                            <a:cxn ang="0">
                              <a:pos x="connsiteX107" y="connsiteY107"/>
                            </a:cxn>
                            <a:cxn ang="0">
                              <a:pos x="connsiteX108" y="connsiteY108"/>
                            </a:cxn>
                            <a:cxn ang="0">
                              <a:pos x="connsiteX109" y="connsiteY109"/>
                            </a:cxn>
                            <a:cxn ang="0">
                              <a:pos x="connsiteX110" y="connsiteY110"/>
                            </a:cxn>
                            <a:cxn ang="0">
                              <a:pos x="connsiteX111" y="connsiteY111"/>
                            </a:cxn>
                            <a:cxn ang="0">
                              <a:pos x="connsiteX112" y="connsiteY112"/>
                            </a:cxn>
                            <a:cxn ang="0">
                              <a:pos x="connsiteX113" y="connsiteY113"/>
                            </a:cxn>
                            <a:cxn ang="0">
                              <a:pos x="connsiteX114" y="connsiteY114"/>
                            </a:cxn>
                            <a:cxn ang="0">
                              <a:pos x="connsiteX115" y="connsiteY115"/>
                            </a:cxn>
                            <a:cxn ang="0">
                              <a:pos x="connsiteX116" y="connsiteY116"/>
                            </a:cxn>
                            <a:cxn ang="0">
                              <a:pos x="connsiteX117" y="connsiteY117"/>
                            </a:cxn>
                            <a:cxn ang="0">
                              <a:pos x="connsiteX118" y="connsiteY118"/>
                            </a:cxn>
                            <a:cxn ang="0">
                              <a:pos x="connsiteX119" y="connsiteY119"/>
                            </a:cxn>
                            <a:cxn ang="0">
                              <a:pos x="connsiteX120" y="connsiteY120"/>
                            </a:cxn>
                            <a:cxn ang="0">
                              <a:pos x="connsiteX121" y="connsiteY121"/>
                            </a:cxn>
                            <a:cxn ang="0">
                              <a:pos x="connsiteX122" y="connsiteY122"/>
                            </a:cxn>
                            <a:cxn ang="0">
                              <a:pos x="connsiteX123" y="connsiteY123"/>
                            </a:cxn>
                            <a:cxn ang="0">
                              <a:pos x="connsiteX124" y="connsiteY124"/>
                            </a:cxn>
                            <a:cxn ang="0">
                              <a:pos x="connsiteX125" y="connsiteY125"/>
                            </a:cxn>
                            <a:cxn ang="0">
                              <a:pos x="connsiteX126" y="connsiteY126"/>
                            </a:cxn>
                            <a:cxn ang="0">
                              <a:pos x="connsiteX127" y="connsiteY127"/>
                            </a:cxn>
                            <a:cxn ang="0">
                              <a:pos x="connsiteX128" y="connsiteY128"/>
                            </a:cxn>
                            <a:cxn ang="0">
                              <a:pos x="connsiteX129" y="connsiteY129"/>
                            </a:cxn>
                            <a:cxn ang="0">
                              <a:pos x="connsiteX130" y="connsiteY130"/>
                            </a:cxn>
                            <a:cxn ang="0">
                              <a:pos x="connsiteX131" y="connsiteY131"/>
                            </a:cxn>
                            <a:cxn ang="0">
                              <a:pos x="connsiteX132" y="connsiteY132"/>
                            </a:cxn>
                            <a:cxn ang="0">
                              <a:pos x="connsiteX133" y="connsiteY133"/>
                            </a:cxn>
                            <a:cxn ang="0">
                              <a:pos x="connsiteX134" y="connsiteY134"/>
                            </a:cxn>
                            <a:cxn ang="0">
                              <a:pos x="connsiteX135" y="connsiteY135"/>
                            </a:cxn>
                            <a:cxn ang="0">
                              <a:pos x="connsiteX136" y="connsiteY136"/>
                            </a:cxn>
                            <a:cxn ang="0">
                              <a:pos x="connsiteX137" y="connsiteY137"/>
                            </a:cxn>
                            <a:cxn ang="0">
                              <a:pos x="connsiteX138" y="connsiteY138"/>
                            </a:cxn>
                            <a:cxn ang="0">
                              <a:pos x="connsiteX139" y="connsiteY139"/>
                            </a:cxn>
                          </a:cxnLst>
                          <a:rect l="l" t="t" r="r" b="b"/>
                          <a:pathLst>
                            <a:path w="4457700" h="4800599">
                              <a:moveTo>
                                <a:pt x="3943350" y="1034872"/>
                              </a:moveTo>
                              <a:lnTo>
                                <a:pt x="4457700" y="1034872"/>
                              </a:lnTo>
                              <a:lnTo>
                                <a:pt x="4457700" y="3429098"/>
                              </a:lnTo>
                              <a:lnTo>
                                <a:pt x="3943350" y="3429098"/>
                              </a:lnTo>
                              <a:close/>
                              <a:moveTo>
                                <a:pt x="3943350" y="3686175"/>
                              </a:moveTo>
                              <a:cubicBezTo>
                                <a:pt x="3943350" y="3699489"/>
                                <a:pt x="3946446" y="3712618"/>
                                <a:pt x="3952383" y="3724521"/>
                              </a:cubicBezTo>
                              <a:lnTo>
                                <a:pt x="4123833" y="4067421"/>
                              </a:lnTo>
                              <a:cubicBezTo>
                                <a:pt x="4138372" y="4096470"/>
                                <a:pt x="4168038" y="4114839"/>
                                <a:pt x="4200525" y="4114839"/>
                              </a:cubicBezTo>
                              <a:cubicBezTo>
                                <a:pt x="4233012" y="4114839"/>
                                <a:pt x="4262678" y="4096470"/>
                                <a:pt x="4277217" y="4067421"/>
                              </a:cubicBezTo>
                              <a:lnTo>
                                <a:pt x="4448667" y="3724521"/>
                              </a:lnTo>
                              <a:cubicBezTo>
                                <a:pt x="4454605" y="3712618"/>
                                <a:pt x="4457700" y="3699489"/>
                                <a:pt x="4457700" y="3686175"/>
                              </a:cubicBezTo>
                              <a:lnTo>
                                <a:pt x="4457700" y="3600450"/>
                              </a:lnTo>
                              <a:lnTo>
                                <a:pt x="3943350" y="3600450"/>
                              </a:lnTo>
                              <a:close/>
                              <a:moveTo>
                                <a:pt x="4286250" y="514350"/>
                              </a:moveTo>
                              <a:lnTo>
                                <a:pt x="4114800" y="514350"/>
                              </a:lnTo>
                              <a:cubicBezTo>
                                <a:pt x="4069332" y="514426"/>
                                <a:pt x="4025783" y="532490"/>
                                <a:pt x="3993639" y="564637"/>
                              </a:cubicBezTo>
                              <a:cubicBezTo>
                                <a:pt x="3961494" y="596783"/>
                                <a:pt x="3943428" y="640331"/>
                                <a:pt x="3943350" y="685800"/>
                              </a:cubicBezTo>
                              <a:lnTo>
                                <a:pt x="3943350" y="863373"/>
                              </a:lnTo>
                              <a:lnTo>
                                <a:pt x="4457700" y="863373"/>
                              </a:lnTo>
                              <a:lnTo>
                                <a:pt x="4457700" y="685800"/>
                              </a:lnTo>
                              <a:cubicBezTo>
                                <a:pt x="4457622" y="640331"/>
                                <a:pt x="4439566" y="596782"/>
                                <a:pt x="4407412" y="564637"/>
                              </a:cubicBezTo>
                              <a:cubicBezTo>
                                <a:pt x="4375267" y="532491"/>
                                <a:pt x="4331719" y="514426"/>
                                <a:pt x="4286250" y="514350"/>
                              </a:cubicBezTo>
                              <a:close/>
                              <a:moveTo>
                                <a:pt x="685800" y="4750439"/>
                              </a:moveTo>
                              <a:lnTo>
                                <a:pt x="685800" y="4114849"/>
                              </a:lnTo>
                              <a:lnTo>
                                <a:pt x="50210" y="4114849"/>
                              </a:lnTo>
                              <a:close/>
                              <a:moveTo>
                                <a:pt x="942975" y="1543050"/>
                              </a:moveTo>
                              <a:cubicBezTo>
                                <a:pt x="1011173" y="1543050"/>
                                <a:pt x="1076618" y="1515951"/>
                                <a:pt x="1124830" y="1467739"/>
                              </a:cubicBezTo>
                              <a:cubicBezTo>
                                <a:pt x="1173041" y="1419518"/>
                                <a:pt x="1200140" y="1354073"/>
                                <a:pt x="1200140" y="1285875"/>
                              </a:cubicBezTo>
                              <a:cubicBezTo>
                                <a:pt x="1200140" y="1217697"/>
                                <a:pt x="1173051" y="1152242"/>
                                <a:pt x="1124830" y="1104020"/>
                              </a:cubicBezTo>
                              <a:cubicBezTo>
                                <a:pt x="1076608" y="1055818"/>
                                <a:pt x="1011163" y="1028710"/>
                                <a:pt x="942975" y="1028710"/>
                              </a:cubicBezTo>
                              <a:cubicBezTo>
                                <a:pt x="874787" y="1028710"/>
                                <a:pt x="809332" y="1055809"/>
                                <a:pt x="761121" y="1104020"/>
                              </a:cubicBezTo>
                              <a:cubicBezTo>
                                <a:pt x="712909" y="1152242"/>
                                <a:pt x="685810" y="1217697"/>
                                <a:pt x="685810" y="1285875"/>
                              </a:cubicBezTo>
                              <a:cubicBezTo>
                                <a:pt x="685878" y="1354073"/>
                                <a:pt x="713016" y="1419449"/>
                                <a:pt x="761199" y="1467671"/>
                              </a:cubicBezTo>
                              <a:cubicBezTo>
                                <a:pt x="809420" y="1515853"/>
                                <a:pt x="874787" y="1542981"/>
                                <a:pt x="942985" y="1543060"/>
                              </a:cubicBezTo>
                              <a:close/>
                              <a:moveTo>
                                <a:pt x="2657475" y="3086100"/>
                              </a:moveTo>
                              <a:cubicBezTo>
                                <a:pt x="2589277" y="3086100"/>
                                <a:pt x="2523832" y="3113199"/>
                                <a:pt x="2475620" y="3161411"/>
                              </a:cubicBezTo>
                              <a:cubicBezTo>
                                <a:pt x="2427409" y="3209632"/>
                                <a:pt x="2400300" y="3275087"/>
                                <a:pt x="2400300" y="3343275"/>
                              </a:cubicBezTo>
                              <a:cubicBezTo>
                                <a:pt x="2400300" y="3411453"/>
                                <a:pt x="2427399" y="3476908"/>
                                <a:pt x="2475620" y="3525130"/>
                              </a:cubicBezTo>
                              <a:cubicBezTo>
                                <a:pt x="2523842" y="3573341"/>
                                <a:pt x="2589287" y="3600440"/>
                                <a:pt x="2657475" y="3600440"/>
                              </a:cubicBezTo>
                              <a:cubicBezTo>
                                <a:pt x="2725663" y="3600440"/>
                                <a:pt x="2791118" y="3573341"/>
                                <a:pt x="2839330" y="3525130"/>
                              </a:cubicBezTo>
                              <a:cubicBezTo>
                                <a:pt x="2887541" y="3476908"/>
                                <a:pt x="2914650" y="3411453"/>
                                <a:pt x="2914650" y="3343275"/>
                              </a:cubicBezTo>
                              <a:cubicBezTo>
                                <a:pt x="2914572" y="3275077"/>
                                <a:pt x="2887434" y="3209711"/>
                                <a:pt x="2839251" y="3161489"/>
                              </a:cubicBezTo>
                              <a:cubicBezTo>
                                <a:pt x="2791030" y="3113307"/>
                                <a:pt x="2725663" y="3086169"/>
                                <a:pt x="2657465" y="3086090"/>
                              </a:cubicBezTo>
                              <a:close/>
                              <a:moveTo>
                                <a:pt x="3600450" y="85725"/>
                              </a:moveTo>
                              <a:lnTo>
                                <a:pt x="3600450" y="4714875"/>
                              </a:lnTo>
                              <a:cubicBezTo>
                                <a:pt x="3600450" y="4737605"/>
                                <a:pt x="3591417" y="4759423"/>
                                <a:pt x="3575350" y="4775490"/>
                              </a:cubicBezTo>
                              <a:cubicBezTo>
                                <a:pt x="3559273" y="4791567"/>
                                <a:pt x="3537455" y="4800600"/>
                                <a:pt x="3514725" y="4800600"/>
                              </a:cubicBezTo>
                              <a:lnTo>
                                <a:pt x="857250" y="4800600"/>
                              </a:lnTo>
                              <a:lnTo>
                                <a:pt x="857250" y="4029075"/>
                              </a:lnTo>
                              <a:cubicBezTo>
                                <a:pt x="857250" y="4006346"/>
                                <a:pt x="848217" y="3984527"/>
                                <a:pt x="832150" y="3968450"/>
                              </a:cubicBezTo>
                              <a:cubicBezTo>
                                <a:pt x="816073" y="3952383"/>
                                <a:pt x="794254" y="3943350"/>
                                <a:pt x="771525" y="3943350"/>
                              </a:cubicBezTo>
                              <a:lnTo>
                                <a:pt x="0" y="3943350"/>
                              </a:lnTo>
                              <a:lnTo>
                                <a:pt x="0" y="85725"/>
                              </a:lnTo>
                              <a:cubicBezTo>
                                <a:pt x="0" y="38385"/>
                                <a:pt x="38385" y="0"/>
                                <a:pt x="85725" y="0"/>
                              </a:cubicBezTo>
                              <a:lnTo>
                                <a:pt x="3514725" y="0"/>
                              </a:lnTo>
                              <a:cubicBezTo>
                                <a:pt x="3537455" y="0"/>
                                <a:pt x="3559273" y="9032"/>
                                <a:pt x="3575350" y="25105"/>
                              </a:cubicBezTo>
                              <a:cubicBezTo>
                                <a:pt x="3591417" y="41178"/>
                                <a:pt x="3600450" y="62993"/>
                                <a:pt x="3600450" y="85725"/>
                              </a:cubicBezTo>
                              <a:close/>
                              <a:moveTo>
                                <a:pt x="514350" y="1285875"/>
                              </a:moveTo>
                              <a:cubicBezTo>
                                <a:pt x="514350" y="1399541"/>
                                <a:pt x="559505" y="1508564"/>
                                <a:pt x="639871" y="1588979"/>
                              </a:cubicBezTo>
                              <a:cubicBezTo>
                                <a:pt x="720276" y="1669345"/>
                                <a:pt x="829309" y="1714500"/>
                                <a:pt x="942975" y="1714500"/>
                              </a:cubicBezTo>
                              <a:cubicBezTo>
                                <a:pt x="1056642" y="1714500"/>
                                <a:pt x="1165664" y="1669345"/>
                                <a:pt x="1246079" y="1588979"/>
                              </a:cubicBezTo>
                              <a:cubicBezTo>
                                <a:pt x="1326445" y="1508574"/>
                                <a:pt x="1371600" y="1399541"/>
                                <a:pt x="1371600" y="1285875"/>
                              </a:cubicBezTo>
                              <a:cubicBezTo>
                                <a:pt x="1371600" y="1172209"/>
                                <a:pt x="1326445" y="1063186"/>
                                <a:pt x="1246079" y="982771"/>
                              </a:cubicBezTo>
                              <a:cubicBezTo>
                                <a:pt x="1165674" y="902405"/>
                                <a:pt x="1056642" y="857250"/>
                                <a:pt x="942975" y="857250"/>
                              </a:cubicBezTo>
                              <a:cubicBezTo>
                                <a:pt x="829348" y="857368"/>
                                <a:pt x="720394" y="902601"/>
                                <a:pt x="640028" y="982928"/>
                              </a:cubicBezTo>
                              <a:cubicBezTo>
                                <a:pt x="559701" y="1063294"/>
                                <a:pt x="514468" y="1172248"/>
                                <a:pt x="514350" y="1285875"/>
                              </a:cubicBezTo>
                              <a:close/>
                              <a:moveTo>
                                <a:pt x="2571750" y="1664290"/>
                              </a:moveTo>
                              <a:lnTo>
                                <a:pt x="2571750" y="1800225"/>
                              </a:lnTo>
                              <a:cubicBezTo>
                                <a:pt x="2571672" y="1868423"/>
                                <a:pt x="2544543" y="1933790"/>
                                <a:pt x="2496361" y="1982011"/>
                              </a:cubicBezTo>
                              <a:cubicBezTo>
                                <a:pt x="2448140" y="2030193"/>
                                <a:pt x="2382773" y="2057322"/>
                                <a:pt x="2314575" y="2057400"/>
                              </a:cubicBezTo>
                              <a:lnTo>
                                <a:pt x="1285875" y="2057400"/>
                              </a:lnTo>
                              <a:cubicBezTo>
                                <a:pt x="1172248" y="2057518"/>
                                <a:pt x="1063294" y="2102751"/>
                                <a:pt x="982928" y="2183078"/>
                              </a:cubicBezTo>
                              <a:cubicBezTo>
                                <a:pt x="902591" y="2263444"/>
                                <a:pt x="857368" y="2372398"/>
                                <a:pt x="857250" y="2486025"/>
                              </a:cubicBezTo>
                              <a:lnTo>
                                <a:pt x="857250" y="2657475"/>
                              </a:lnTo>
                              <a:cubicBezTo>
                                <a:pt x="857250" y="2704815"/>
                                <a:pt x="895635" y="2743200"/>
                                <a:pt x="942975" y="2743200"/>
                              </a:cubicBezTo>
                              <a:cubicBezTo>
                                <a:pt x="990315" y="2743200"/>
                                <a:pt x="1028700" y="2704815"/>
                                <a:pt x="1028700" y="2657475"/>
                              </a:cubicBezTo>
                              <a:lnTo>
                                <a:pt x="1028700" y="2486025"/>
                              </a:lnTo>
                              <a:cubicBezTo>
                                <a:pt x="1028778" y="2417827"/>
                                <a:pt x="1055907" y="2352461"/>
                                <a:pt x="1104089" y="2304239"/>
                              </a:cubicBezTo>
                              <a:cubicBezTo>
                                <a:pt x="1152311" y="2256057"/>
                                <a:pt x="1217677" y="2228928"/>
                                <a:pt x="1285875" y="2228850"/>
                              </a:cubicBezTo>
                              <a:lnTo>
                                <a:pt x="2314575" y="2228850"/>
                              </a:lnTo>
                              <a:cubicBezTo>
                                <a:pt x="2428202" y="2228733"/>
                                <a:pt x="2537156" y="2183499"/>
                                <a:pt x="2617522" y="2103172"/>
                              </a:cubicBezTo>
                              <a:cubicBezTo>
                                <a:pt x="2697849" y="2022806"/>
                                <a:pt x="2743083" y="1913852"/>
                                <a:pt x="2743200" y="1800225"/>
                              </a:cubicBezTo>
                              <a:lnTo>
                                <a:pt x="2743200" y="1664290"/>
                              </a:lnTo>
                              <a:lnTo>
                                <a:pt x="2839300" y="1760390"/>
                              </a:lnTo>
                              <a:cubicBezTo>
                                <a:pt x="2855289" y="1776800"/>
                                <a:pt x="2877225" y="1786107"/>
                                <a:pt x="2900150" y="1786254"/>
                              </a:cubicBezTo>
                              <a:cubicBezTo>
                                <a:pt x="2923066" y="1786411"/>
                                <a:pt x="2945070" y="1777378"/>
                                <a:pt x="2961304" y="1761154"/>
                              </a:cubicBezTo>
                              <a:cubicBezTo>
                                <a:pt x="2977528" y="1744920"/>
                                <a:pt x="2986561" y="1722916"/>
                                <a:pt x="2986404" y="1700000"/>
                              </a:cubicBezTo>
                              <a:cubicBezTo>
                                <a:pt x="2986257" y="1677075"/>
                                <a:pt x="2976950" y="1655139"/>
                                <a:pt x="2960540" y="1639150"/>
                              </a:cubicBezTo>
                              <a:lnTo>
                                <a:pt x="2718218" y="1396828"/>
                              </a:lnTo>
                              <a:cubicBezTo>
                                <a:pt x="2684652" y="1363370"/>
                                <a:pt x="2630308" y="1363370"/>
                                <a:pt x="2596752" y="1396828"/>
                              </a:cubicBezTo>
                              <a:lnTo>
                                <a:pt x="2354430" y="1639150"/>
                              </a:lnTo>
                              <a:cubicBezTo>
                                <a:pt x="2338010" y="1655139"/>
                                <a:pt x="2328712" y="1677075"/>
                                <a:pt x="2328556" y="1700000"/>
                              </a:cubicBezTo>
                              <a:cubicBezTo>
                                <a:pt x="2328399" y="1722916"/>
                                <a:pt x="2337432" y="1744920"/>
                                <a:pt x="2353666" y="1761154"/>
                              </a:cubicBezTo>
                              <a:cubicBezTo>
                                <a:pt x="2369890" y="1777378"/>
                                <a:pt x="2391894" y="1786411"/>
                                <a:pt x="2414819" y="1786254"/>
                              </a:cubicBezTo>
                              <a:cubicBezTo>
                                <a:pt x="2437745" y="1786107"/>
                                <a:pt x="2459671" y="1776800"/>
                                <a:pt x="2475669" y="1760390"/>
                              </a:cubicBezTo>
                              <a:close/>
                              <a:moveTo>
                                <a:pt x="1064166" y="3343324"/>
                              </a:moveTo>
                              <a:lnTo>
                                <a:pt x="1346441" y="3061049"/>
                              </a:lnTo>
                              <a:cubicBezTo>
                                <a:pt x="1378928" y="3027405"/>
                                <a:pt x="1378438" y="2973942"/>
                                <a:pt x="1345373" y="2940877"/>
                              </a:cubicBezTo>
                              <a:cubicBezTo>
                                <a:pt x="1312308" y="2907812"/>
                                <a:pt x="1258845" y="2907312"/>
                                <a:pt x="1225201" y="2939809"/>
                              </a:cubicBezTo>
                              <a:lnTo>
                                <a:pt x="942926" y="3222084"/>
                              </a:lnTo>
                              <a:lnTo>
                                <a:pt x="660651" y="2939809"/>
                              </a:lnTo>
                              <a:cubicBezTo>
                                <a:pt x="627007" y="2907312"/>
                                <a:pt x="573544" y="2907812"/>
                                <a:pt x="540479" y="2940877"/>
                              </a:cubicBezTo>
                              <a:cubicBezTo>
                                <a:pt x="507404" y="2973942"/>
                                <a:pt x="506914" y="3027405"/>
                                <a:pt x="539401" y="3061049"/>
                              </a:cubicBezTo>
                              <a:lnTo>
                                <a:pt x="821677" y="3343324"/>
                              </a:lnTo>
                              <a:lnTo>
                                <a:pt x="539401" y="3625599"/>
                              </a:lnTo>
                              <a:cubicBezTo>
                                <a:pt x="522873" y="3641598"/>
                                <a:pt x="513458" y="3663524"/>
                                <a:pt x="513263" y="3686528"/>
                              </a:cubicBezTo>
                              <a:cubicBezTo>
                                <a:pt x="513037" y="3709531"/>
                                <a:pt x="522109" y="3731644"/>
                                <a:pt x="538373" y="3747877"/>
                              </a:cubicBezTo>
                              <a:cubicBezTo>
                                <a:pt x="554597" y="3764141"/>
                                <a:pt x="576719" y="3773203"/>
                                <a:pt x="599713" y="3772978"/>
                              </a:cubicBezTo>
                              <a:cubicBezTo>
                                <a:pt x="622716" y="3772782"/>
                                <a:pt x="644642" y="3763377"/>
                                <a:pt x="660641" y="3746839"/>
                              </a:cubicBezTo>
                              <a:lnTo>
                                <a:pt x="942916" y="3464564"/>
                              </a:lnTo>
                              <a:lnTo>
                                <a:pt x="1225192" y="3746839"/>
                              </a:lnTo>
                              <a:cubicBezTo>
                                <a:pt x="1258835" y="3779326"/>
                                <a:pt x="1312298" y="3778836"/>
                                <a:pt x="1345363" y="3745771"/>
                              </a:cubicBezTo>
                              <a:cubicBezTo>
                                <a:pt x="1378438" y="3712706"/>
                                <a:pt x="1378928" y="3659243"/>
                                <a:pt x="1346441" y="3625599"/>
                              </a:cubicBezTo>
                              <a:close/>
                              <a:moveTo>
                                <a:pt x="3086100" y="3343324"/>
                              </a:moveTo>
                              <a:cubicBezTo>
                                <a:pt x="3086100" y="3229658"/>
                                <a:pt x="3040945" y="3120635"/>
                                <a:pt x="2960579" y="3040220"/>
                              </a:cubicBezTo>
                              <a:cubicBezTo>
                                <a:pt x="2880174" y="2959854"/>
                                <a:pt x="2771141" y="2914699"/>
                                <a:pt x="2657475" y="2914699"/>
                              </a:cubicBezTo>
                              <a:cubicBezTo>
                                <a:pt x="2543809" y="2914699"/>
                                <a:pt x="2434786" y="2959854"/>
                                <a:pt x="2354371" y="3040220"/>
                              </a:cubicBezTo>
                              <a:cubicBezTo>
                                <a:pt x="2274005" y="3120625"/>
                                <a:pt x="2228850" y="3229658"/>
                                <a:pt x="2228850" y="3343324"/>
                              </a:cubicBezTo>
                              <a:cubicBezTo>
                                <a:pt x="2228850" y="3456990"/>
                                <a:pt x="2274005" y="3566013"/>
                                <a:pt x="2354371" y="3646428"/>
                              </a:cubicBezTo>
                              <a:cubicBezTo>
                                <a:pt x="2434776" y="3726794"/>
                                <a:pt x="2543809" y="3771949"/>
                                <a:pt x="2657475" y="3771949"/>
                              </a:cubicBezTo>
                              <a:cubicBezTo>
                                <a:pt x="2771102" y="3771832"/>
                                <a:pt x="2880056" y="3726598"/>
                                <a:pt x="2960422" y="3646271"/>
                              </a:cubicBezTo>
                              <a:cubicBezTo>
                                <a:pt x="3040749" y="3565905"/>
                                <a:pt x="3085983" y="3456951"/>
                                <a:pt x="3086100" y="3343324"/>
                              </a:cubicBezTo>
                              <a:close/>
                              <a:moveTo>
                                <a:pt x="2778715" y="771574"/>
                              </a:moveTo>
                              <a:lnTo>
                                <a:pt x="3060990" y="489299"/>
                              </a:lnTo>
                              <a:cubicBezTo>
                                <a:pt x="3093477" y="455659"/>
                                <a:pt x="3092988" y="402196"/>
                                <a:pt x="3059922" y="369127"/>
                              </a:cubicBezTo>
                              <a:cubicBezTo>
                                <a:pt x="3026857" y="336058"/>
                                <a:pt x="2973394" y="335564"/>
                                <a:pt x="2939751" y="368055"/>
                              </a:cubicBezTo>
                              <a:lnTo>
                                <a:pt x="2657475" y="650334"/>
                              </a:lnTo>
                              <a:lnTo>
                                <a:pt x="2375200" y="368055"/>
                              </a:lnTo>
                              <a:cubicBezTo>
                                <a:pt x="2341556" y="335564"/>
                                <a:pt x="2288093" y="336062"/>
                                <a:pt x="2255028" y="369127"/>
                              </a:cubicBezTo>
                              <a:cubicBezTo>
                                <a:pt x="2221953" y="402192"/>
                                <a:pt x="2221463" y="455655"/>
                                <a:pt x="2253951" y="489299"/>
                              </a:cubicBezTo>
                              <a:lnTo>
                                <a:pt x="2536226" y="771574"/>
                              </a:lnTo>
                              <a:lnTo>
                                <a:pt x="2253951" y="1053849"/>
                              </a:lnTo>
                              <a:cubicBezTo>
                                <a:pt x="2237423" y="1069848"/>
                                <a:pt x="2228008" y="1091774"/>
                                <a:pt x="2227812" y="1114778"/>
                              </a:cubicBezTo>
                              <a:cubicBezTo>
                                <a:pt x="2227586" y="1137781"/>
                                <a:pt x="2236658" y="1159894"/>
                                <a:pt x="2252922" y="1176127"/>
                              </a:cubicBezTo>
                              <a:cubicBezTo>
                                <a:pt x="2269146" y="1192391"/>
                                <a:pt x="2291268" y="1201453"/>
                                <a:pt x="2314261" y="1201228"/>
                              </a:cubicBezTo>
                              <a:cubicBezTo>
                                <a:pt x="2337265" y="1201032"/>
                                <a:pt x="2359191" y="1191626"/>
                                <a:pt x="2375190" y="1175089"/>
                              </a:cubicBezTo>
                              <a:lnTo>
                                <a:pt x="2657465" y="892814"/>
                              </a:lnTo>
                              <a:lnTo>
                                <a:pt x="2939741" y="1175089"/>
                              </a:lnTo>
                              <a:cubicBezTo>
                                <a:pt x="2973384" y="1207576"/>
                                <a:pt x="3026847" y="1207086"/>
                                <a:pt x="3059912" y="1174021"/>
                              </a:cubicBezTo>
                              <a:cubicBezTo>
                                <a:pt x="3092988" y="1140956"/>
                                <a:pt x="3093477" y="1087493"/>
                                <a:pt x="3060990" y="1053849"/>
                              </a:cubicBezTo>
                              <a:close/>
                            </a:path>
                          </a:pathLst>
                        </a:custGeom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n w="979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 sz="1000" dirty="0">
                            <a:latin typeface="Franklin Gothic Book" panose="020B0503020102020204" pitchFamily="34" charset="0"/>
                          </a:endParaRPr>
                        </a:p>
                      </p:txBody>
                    </p:sp>
                  </p:grpSp>
                </p:grpSp>
              </p:grpSp>
            </p:grpSp>
          </p:grpSp>
          <p:grpSp>
            <p:nvGrpSpPr>
              <p:cNvPr id="30" name="Group 29">
                <a:extLst>
                  <a:ext uri="{FF2B5EF4-FFF2-40B4-BE49-F238E27FC236}">
                    <a16:creationId xmlns:a16="http://schemas.microsoft.com/office/drawing/2014/main" id="{00F4B67C-5327-7271-47A9-F84E44DFC7EB}"/>
                  </a:ext>
                </a:extLst>
              </p:cNvPr>
              <p:cNvGrpSpPr/>
              <p:nvPr/>
            </p:nvGrpSpPr>
            <p:grpSpPr>
              <a:xfrm>
                <a:off x="9552799" y="976788"/>
                <a:ext cx="2346312" cy="5598940"/>
                <a:chOff x="9741582" y="956765"/>
                <a:chExt cx="2346312" cy="5598940"/>
              </a:xfrm>
            </p:grpSpPr>
            <p:grpSp>
              <p:nvGrpSpPr>
                <p:cNvPr id="117" name="Group 116">
                  <a:extLst>
                    <a:ext uri="{FF2B5EF4-FFF2-40B4-BE49-F238E27FC236}">
                      <a16:creationId xmlns:a16="http://schemas.microsoft.com/office/drawing/2014/main" id="{33CB8441-1E67-5204-4C67-7FB7C04F10C5}"/>
                    </a:ext>
                  </a:extLst>
                </p:cNvPr>
                <p:cNvGrpSpPr/>
                <p:nvPr/>
              </p:nvGrpSpPr>
              <p:grpSpPr>
                <a:xfrm>
                  <a:off x="10914737" y="1883644"/>
                  <a:ext cx="2" cy="4262686"/>
                  <a:chOff x="10914737" y="1883644"/>
                  <a:chExt cx="2" cy="4262686"/>
                </a:xfrm>
              </p:grpSpPr>
              <p:cxnSp>
                <p:nvCxnSpPr>
                  <p:cNvPr id="163" name="Straight Connector 162">
                    <a:extLst>
                      <a:ext uri="{FF2B5EF4-FFF2-40B4-BE49-F238E27FC236}">
                        <a16:creationId xmlns:a16="http://schemas.microsoft.com/office/drawing/2014/main" id="{4EB2DC45-3A66-6FDE-8A14-4DDA0DB2516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10914738" y="5804622"/>
                    <a:ext cx="0" cy="341708"/>
                  </a:xfrm>
                  <a:prstGeom prst="line">
                    <a:avLst/>
                  </a:prstGeom>
                  <a:ln w="6350">
                    <a:solidFill>
                      <a:schemeClr val="tx1">
                        <a:lumMod val="65000"/>
                        <a:lumOff val="35000"/>
                      </a:schemeClr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4" name="Straight Connector 163">
                    <a:extLst>
                      <a:ext uri="{FF2B5EF4-FFF2-40B4-BE49-F238E27FC236}">
                        <a16:creationId xmlns:a16="http://schemas.microsoft.com/office/drawing/2014/main" id="{DB7EC2B0-4DB2-0CCF-2300-F945D63EB24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10914737" y="1883644"/>
                    <a:ext cx="2" cy="187276"/>
                  </a:xfrm>
                  <a:prstGeom prst="line">
                    <a:avLst/>
                  </a:prstGeom>
                  <a:ln w="6350">
                    <a:solidFill>
                      <a:schemeClr val="tx1">
                        <a:lumMod val="65000"/>
                        <a:lumOff val="35000"/>
                      </a:schemeClr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18" name="Group 117">
                  <a:extLst>
                    <a:ext uri="{FF2B5EF4-FFF2-40B4-BE49-F238E27FC236}">
                      <a16:creationId xmlns:a16="http://schemas.microsoft.com/office/drawing/2014/main" id="{A130FBB3-65D0-9127-40FB-56DE5DA2906B}"/>
                    </a:ext>
                  </a:extLst>
                </p:cNvPr>
                <p:cNvGrpSpPr/>
                <p:nvPr/>
              </p:nvGrpSpPr>
              <p:grpSpPr>
                <a:xfrm>
                  <a:off x="9741582" y="956765"/>
                  <a:ext cx="2346312" cy="5598940"/>
                  <a:chOff x="9741582" y="939320"/>
                  <a:chExt cx="2346312" cy="5598940"/>
                </a:xfrm>
              </p:grpSpPr>
              <p:grpSp>
                <p:nvGrpSpPr>
                  <p:cNvPr id="119" name="Group 118">
                    <a:extLst>
                      <a:ext uri="{FF2B5EF4-FFF2-40B4-BE49-F238E27FC236}">
                        <a16:creationId xmlns:a16="http://schemas.microsoft.com/office/drawing/2014/main" id="{E7362821-D751-FCCA-5EE2-E73D296EEACC}"/>
                      </a:ext>
                    </a:extLst>
                  </p:cNvPr>
                  <p:cNvGrpSpPr/>
                  <p:nvPr/>
                </p:nvGrpSpPr>
                <p:grpSpPr>
                  <a:xfrm>
                    <a:off x="9861841" y="6104868"/>
                    <a:ext cx="2105795" cy="433392"/>
                    <a:chOff x="9730912" y="6154808"/>
                    <a:chExt cx="2105795" cy="433392"/>
                  </a:xfrm>
                </p:grpSpPr>
                <p:sp>
                  <p:nvSpPr>
                    <p:cNvPr id="161" name="Rectangle 160">
                      <a:extLst>
                        <a:ext uri="{FF2B5EF4-FFF2-40B4-BE49-F238E27FC236}">
                          <a16:creationId xmlns:a16="http://schemas.microsoft.com/office/drawing/2014/main" id="{5055CA09-49D2-49EE-3C78-801A7A1739A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730912" y="6175564"/>
                      <a:ext cx="2105795" cy="391885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Franklin Gothic Book" panose="020B0503020102020204" pitchFamily="34" charset="0"/>
                      </a:endParaRPr>
                    </a:p>
                  </p:txBody>
                </p:sp>
                <p:sp>
                  <p:nvSpPr>
                    <p:cNvPr id="162" name="TextBox 161">
                      <a:extLst>
                        <a:ext uri="{FF2B5EF4-FFF2-40B4-BE49-F238E27FC236}">
                          <a16:creationId xmlns:a16="http://schemas.microsoft.com/office/drawing/2014/main" id="{3BD6AB91-8D34-6D96-49FD-85B1598959A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814604" y="6154808"/>
                      <a:ext cx="1938414" cy="433392"/>
                    </a:xfrm>
                    <a:prstGeom prst="rect">
                      <a:avLst/>
                    </a:prstGeom>
                    <a:solidFill>
                      <a:srgbClr val="B52372"/>
                    </a:solidFill>
                  </p:spPr>
                  <p:txBody>
                    <a:bodyPr wrap="square" anchor="ctr">
                      <a:spAutoFit/>
                    </a:bodyPr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uLnTx/>
                          <a:uFillTx/>
                          <a:latin typeface="Franklin Gothic Book" panose="020B0503020102020204" pitchFamily="34" charset="0"/>
                        </a:rPr>
                        <a:t>Steps to Achieve Goal and Status</a:t>
                      </a:r>
                    </a:p>
                  </p:txBody>
                </p:sp>
              </p:grpSp>
              <p:grpSp>
                <p:nvGrpSpPr>
                  <p:cNvPr id="120" name="Group 119">
                    <a:extLst>
                      <a:ext uri="{FF2B5EF4-FFF2-40B4-BE49-F238E27FC236}">
                        <a16:creationId xmlns:a16="http://schemas.microsoft.com/office/drawing/2014/main" id="{C067BA30-58F6-6DF1-62F0-FFE569976556}"/>
                      </a:ext>
                    </a:extLst>
                  </p:cNvPr>
                  <p:cNvGrpSpPr/>
                  <p:nvPr/>
                </p:nvGrpSpPr>
                <p:grpSpPr>
                  <a:xfrm>
                    <a:off x="9741582" y="2038949"/>
                    <a:ext cx="2346312" cy="3760783"/>
                    <a:chOff x="9741582" y="2038949"/>
                    <a:chExt cx="2346312" cy="3760783"/>
                  </a:xfrm>
                </p:grpSpPr>
                <p:grpSp>
                  <p:nvGrpSpPr>
                    <p:cNvPr id="134" name="Group 133">
                      <a:extLst>
                        <a:ext uri="{FF2B5EF4-FFF2-40B4-BE49-F238E27FC236}">
                          <a16:creationId xmlns:a16="http://schemas.microsoft.com/office/drawing/2014/main" id="{87E2B534-7C8B-29BC-3283-F025B699ED3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9861841" y="5373078"/>
                      <a:ext cx="2105795" cy="426654"/>
                      <a:chOff x="9705391" y="5539302"/>
                      <a:chExt cx="2105795" cy="426654"/>
                    </a:xfrm>
                    <a:solidFill>
                      <a:schemeClr val="bg2">
                        <a:lumMod val="95000"/>
                      </a:schemeClr>
                    </a:solidFill>
                    <a:effectLst/>
                  </p:grpSpPr>
                  <p:sp>
                    <p:nvSpPr>
                      <p:cNvPr id="159" name="Rectangle 158">
                        <a:extLst>
                          <a:ext uri="{FF2B5EF4-FFF2-40B4-BE49-F238E27FC236}">
                            <a16:creationId xmlns:a16="http://schemas.microsoft.com/office/drawing/2014/main" id="{693F6829-5E40-04FB-E01B-637ADE5BEC9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705391" y="5556687"/>
                        <a:ext cx="2105795" cy="391885"/>
                      </a:xfrm>
                      <a:prstGeom prst="rect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marL="0" marR="0" lvl="0" indent="0" algn="ctr" defTabSz="4572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Franklin Gothic Book" panose="020B0503020102020204" pitchFamily="34" charset="0"/>
                        </a:endParaRPr>
                      </a:p>
                    </p:txBody>
                  </p:sp>
                  <p:sp>
                    <p:nvSpPr>
                      <p:cNvPr id="160" name="TextBox 159">
                        <a:extLst>
                          <a:ext uri="{FF2B5EF4-FFF2-40B4-BE49-F238E27FC236}">
                            <a16:creationId xmlns:a16="http://schemas.microsoft.com/office/drawing/2014/main" id="{AC48C7E4-9791-214F-A26F-7923E3C7C5E4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9763531" y="5539302"/>
                        <a:ext cx="1989512" cy="426654"/>
                      </a:xfrm>
                      <a:prstGeom prst="rect">
                        <a:avLst/>
                      </a:prstGeom>
                      <a:grpFill/>
                      <a:ln>
                        <a:noFill/>
                      </a:ln>
                    </p:spPr>
                    <p:txBody>
                      <a:bodyPr wrap="square" anchor="ctr">
                        <a:spAutoFit/>
                      </a:bodyPr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60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chemeClr val="tx2">
                                <a:lumMod val="65000"/>
                                <a:lumOff val="35000"/>
                              </a:schemeClr>
                            </a:solidFill>
                            <a:effectLst/>
                            <a:uLnTx/>
                            <a:uFillTx/>
                            <a:latin typeface="Franklin Gothic Book" panose="020B0503020102020204" pitchFamily="34" charset="0"/>
                            <a:cs typeface="Arial" panose="020B0604020202020204" pitchFamily="34" charset="0"/>
                          </a:rPr>
                          <a:t>Process Innovation and Technology Development</a:t>
                        </a:r>
                      </a:p>
                    </p:txBody>
                  </p:sp>
                </p:grpSp>
                <p:grpSp>
                  <p:nvGrpSpPr>
                    <p:cNvPr id="135" name="Group 134">
                      <a:extLst>
                        <a:ext uri="{FF2B5EF4-FFF2-40B4-BE49-F238E27FC236}">
                          <a16:creationId xmlns:a16="http://schemas.microsoft.com/office/drawing/2014/main" id="{8EBB8484-6C0A-C417-C343-8366FC6F3C0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9861841" y="4971130"/>
                      <a:ext cx="2105795" cy="391885"/>
                      <a:chOff x="9676813" y="5128477"/>
                      <a:chExt cx="2105795" cy="391885"/>
                    </a:xfrm>
                    <a:solidFill>
                      <a:schemeClr val="bg2">
                        <a:lumMod val="95000"/>
                      </a:schemeClr>
                    </a:solidFill>
                    <a:effectLst/>
                  </p:grpSpPr>
                  <p:sp>
                    <p:nvSpPr>
                      <p:cNvPr id="157" name="Rectangle 156">
                        <a:extLst>
                          <a:ext uri="{FF2B5EF4-FFF2-40B4-BE49-F238E27FC236}">
                            <a16:creationId xmlns:a16="http://schemas.microsoft.com/office/drawing/2014/main" id="{21E13835-B11C-01D7-1D4F-D41A0458105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676813" y="5128477"/>
                        <a:ext cx="2105795" cy="391885"/>
                      </a:xfrm>
                      <a:prstGeom prst="rect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marL="0" marR="0" lvl="0" indent="0" algn="ctr" defTabSz="4572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Franklin Gothic Book" panose="020B0503020102020204" pitchFamily="34" charset="0"/>
                        </a:endParaRPr>
                      </a:p>
                    </p:txBody>
                  </p:sp>
                  <p:sp>
                    <p:nvSpPr>
                      <p:cNvPr id="158" name="TextBox 157">
                        <a:extLst>
                          <a:ext uri="{FF2B5EF4-FFF2-40B4-BE49-F238E27FC236}">
                            <a16:creationId xmlns:a16="http://schemas.microsoft.com/office/drawing/2014/main" id="{18F81F4B-05F1-114A-CE5A-22AEA4B125CA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0074766" y="5182200"/>
                        <a:ext cx="1309884" cy="284436"/>
                      </a:xfrm>
                      <a:prstGeom prst="rect">
                        <a:avLst/>
                      </a:prstGeom>
                      <a:grpFill/>
                      <a:ln>
                        <a:noFill/>
                      </a:ln>
                    </p:spPr>
                    <p:txBody>
                      <a:bodyPr wrap="square" anchor="ctr">
                        <a:spAutoFit/>
                      </a:bodyPr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60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chemeClr val="tx2">
                                <a:lumMod val="65000"/>
                                <a:lumOff val="35000"/>
                              </a:schemeClr>
                            </a:solidFill>
                            <a:effectLst/>
                            <a:uLnTx/>
                            <a:uFillTx/>
                            <a:latin typeface="Franklin Gothic Book" panose="020B0503020102020204" pitchFamily="34" charset="0"/>
                            <a:cs typeface="Arial" panose="020B0604020202020204" pitchFamily="34" charset="0"/>
                          </a:rPr>
                          <a:t>Add Text Here</a:t>
                        </a:r>
                      </a:p>
                    </p:txBody>
                  </p:sp>
                </p:grpSp>
                <p:grpSp>
                  <p:nvGrpSpPr>
                    <p:cNvPr id="136" name="Group 135">
                      <a:extLst>
                        <a:ext uri="{FF2B5EF4-FFF2-40B4-BE49-F238E27FC236}">
                          <a16:creationId xmlns:a16="http://schemas.microsoft.com/office/drawing/2014/main" id="{7A698F9D-0F46-AA86-C4FF-7DA711B8313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9861841" y="2038949"/>
                      <a:ext cx="2105795" cy="426654"/>
                      <a:chOff x="9705391" y="2096952"/>
                      <a:chExt cx="2105795" cy="426654"/>
                    </a:xfrm>
                    <a:solidFill>
                      <a:schemeClr val="bg2">
                        <a:lumMod val="95000"/>
                      </a:schemeClr>
                    </a:solidFill>
                    <a:effectLst/>
                  </p:grpSpPr>
                  <p:sp>
                    <p:nvSpPr>
                      <p:cNvPr id="155" name="Rectangle 154">
                        <a:extLst>
                          <a:ext uri="{FF2B5EF4-FFF2-40B4-BE49-F238E27FC236}">
                            <a16:creationId xmlns:a16="http://schemas.microsoft.com/office/drawing/2014/main" id="{DEA605FF-F6BC-0C9F-65BD-0D739CB222C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705391" y="2114340"/>
                        <a:ext cx="2105795" cy="391885"/>
                      </a:xfrm>
                      <a:prstGeom prst="rect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marL="0" marR="0" lvl="0" indent="0" algn="ctr" defTabSz="4572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Franklin Gothic Book" panose="020B0503020102020204" pitchFamily="34" charset="0"/>
                        </a:endParaRPr>
                      </a:p>
                    </p:txBody>
                  </p:sp>
                  <p:sp>
                    <p:nvSpPr>
                      <p:cNvPr id="156" name="TextBox 155">
                        <a:extLst>
                          <a:ext uri="{FF2B5EF4-FFF2-40B4-BE49-F238E27FC236}">
                            <a16:creationId xmlns:a16="http://schemas.microsoft.com/office/drawing/2014/main" id="{669F3147-2EB2-A739-DE5B-CC9219769B9E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0019352" y="2096952"/>
                        <a:ext cx="1477872" cy="4266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wrap="square" anchor="ctr">
                        <a:spAutoFit/>
                      </a:bodyPr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chemeClr val="tx2">
                                <a:lumMod val="65000"/>
                                <a:lumOff val="35000"/>
                              </a:schemeClr>
                            </a:solidFill>
                            <a:effectLst/>
                            <a:uLnTx/>
                            <a:uFillTx/>
                            <a:latin typeface="Franklin Gothic Book" panose="020B0503020102020204" pitchFamily="34" charset="0"/>
                            <a:cs typeface="Arial" panose="020B0604020202020204" pitchFamily="34" charset="0"/>
                          </a:rPr>
                          <a:t>Products and Services</a:t>
                        </a:r>
                      </a:p>
                    </p:txBody>
                  </p:sp>
                </p:grpSp>
                <p:grpSp>
                  <p:nvGrpSpPr>
                    <p:cNvPr id="137" name="Group 136">
                      <a:extLst>
                        <a:ext uri="{FF2B5EF4-FFF2-40B4-BE49-F238E27FC236}">
                          <a16:creationId xmlns:a16="http://schemas.microsoft.com/office/drawing/2014/main" id="{1B7C2DE4-0C8B-D790-2AD7-B7AB64C1734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9861841" y="2454174"/>
                      <a:ext cx="2105795" cy="426654"/>
                      <a:chOff x="9705391" y="2526732"/>
                      <a:chExt cx="2105795" cy="426654"/>
                    </a:xfrm>
                    <a:solidFill>
                      <a:schemeClr val="bg2">
                        <a:lumMod val="95000"/>
                      </a:schemeClr>
                    </a:solidFill>
                    <a:effectLst/>
                  </p:grpSpPr>
                  <p:sp>
                    <p:nvSpPr>
                      <p:cNvPr id="153" name="Rectangle 152">
                        <a:extLst>
                          <a:ext uri="{FF2B5EF4-FFF2-40B4-BE49-F238E27FC236}">
                            <a16:creationId xmlns:a16="http://schemas.microsoft.com/office/drawing/2014/main" id="{93AEBC8D-77C2-DCFD-C448-99A662CAA25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705391" y="2544119"/>
                        <a:ext cx="2105795" cy="391885"/>
                      </a:xfrm>
                      <a:prstGeom prst="rect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marL="0" marR="0" lvl="0" indent="0" algn="ctr" defTabSz="4572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Franklin Gothic Book" panose="020B0503020102020204" pitchFamily="34" charset="0"/>
                        </a:endParaRPr>
                      </a:p>
                    </p:txBody>
                  </p:sp>
                  <p:sp>
                    <p:nvSpPr>
                      <p:cNvPr id="154" name="TextBox 153">
                        <a:extLst>
                          <a:ext uri="{FF2B5EF4-FFF2-40B4-BE49-F238E27FC236}">
                            <a16:creationId xmlns:a16="http://schemas.microsoft.com/office/drawing/2014/main" id="{C83BC11C-9DD4-2BE0-E172-2219A7F5F1FD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9917403" y="2526732"/>
                        <a:ext cx="1681772" cy="4266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wrap="square" anchor="ctr">
                        <a:spAutoFit/>
                      </a:bodyPr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chemeClr val="tx2">
                                <a:lumMod val="65000"/>
                                <a:lumOff val="35000"/>
                              </a:schemeClr>
                            </a:solidFill>
                            <a:effectLst/>
                            <a:uLnTx/>
                            <a:uFillTx/>
                            <a:latin typeface="Franklin Gothic Book" panose="020B0503020102020204" pitchFamily="34" charset="0"/>
                            <a:cs typeface="Arial" panose="020B0604020202020204" pitchFamily="34" charset="0"/>
                          </a:rPr>
                          <a:t>Mergers and Acquisitions</a:t>
                        </a:r>
                      </a:p>
                    </p:txBody>
                  </p:sp>
                </p:grpSp>
                <p:grpSp>
                  <p:nvGrpSpPr>
                    <p:cNvPr id="138" name="Group 137">
                      <a:extLst>
                        <a:ext uri="{FF2B5EF4-FFF2-40B4-BE49-F238E27FC236}">
                          <a16:creationId xmlns:a16="http://schemas.microsoft.com/office/drawing/2014/main" id="{3AB2AEAC-78E2-6CFB-C222-1A91776AE7B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9861841" y="2886785"/>
                      <a:ext cx="2105795" cy="391885"/>
                      <a:chOff x="9705391" y="2973898"/>
                      <a:chExt cx="2105795" cy="391885"/>
                    </a:xfrm>
                    <a:solidFill>
                      <a:schemeClr val="bg2">
                        <a:lumMod val="95000"/>
                      </a:schemeClr>
                    </a:solidFill>
                    <a:effectLst/>
                  </p:grpSpPr>
                  <p:sp>
                    <p:nvSpPr>
                      <p:cNvPr id="151" name="Rectangle 150">
                        <a:extLst>
                          <a:ext uri="{FF2B5EF4-FFF2-40B4-BE49-F238E27FC236}">
                            <a16:creationId xmlns:a16="http://schemas.microsoft.com/office/drawing/2014/main" id="{80E0E5A2-75DB-D761-F8F4-CEEE0C98997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705391" y="2973898"/>
                        <a:ext cx="2105795" cy="391885"/>
                      </a:xfrm>
                      <a:prstGeom prst="rect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marL="0" marR="0" lvl="0" indent="0" algn="ctr" defTabSz="4572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Franklin Gothic Book" panose="020B0503020102020204" pitchFamily="34" charset="0"/>
                        </a:endParaRPr>
                      </a:p>
                    </p:txBody>
                  </p:sp>
                  <p:sp>
                    <p:nvSpPr>
                      <p:cNvPr id="152" name="TextBox 151">
                        <a:extLst>
                          <a:ext uri="{FF2B5EF4-FFF2-40B4-BE49-F238E27FC236}">
                            <a16:creationId xmlns:a16="http://schemas.microsoft.com/office/drawing/2014/main" id="{14373AF1-A4D2-590A-A9BD-DC16BB57A0BD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9862559" y="3027621"/>
                        <a:ext cx="1791458" cy="28443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wrap="square" anchor="ctr">
                        <a:spAutoFit/>
                      </a:bodyPr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60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chemeClr val="tx2">
                                <a:lumMod val="65000"/>
                                <a:lumOff val="35000"/>
                              </a:schemeClr>
                            </a:solidFill>
                            <a:effectLst/>
                            <a:uLnTx/>
                            <a:uFillTx/>
                            <a:latin typeface="Franklin Gothic Book" panose="020B0503020102020204" pitchFamily="34" charset="0"/>
                            <a:cs typeface="Arial" panose="020B0604020202020204" pitchFamily="34" charset="0"/>
                          </a:rPr>
                          <a:t>Information Technology</a:t>
                        </a:r>
                      </a:p>
                    </p:txBody>
                  </p:sp>
                </p:grpSp>
                <p:grpSp>
                  <p:nvGrpSpPr>
                    <p:cNvPr id="139" name="Group 138">
                      <a:extLst>
                        <a:ext uri="{FF2B5EF4-FFF2-40B4-BE49-F238E27FC236}">
                          <a16:creationId xmlns:a16="http://schemas.microsoft.com/office/drawing/2014/main" id="{A016CDBE-B7B5-8F9F-D944-D53CC8F4CE0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9840676" y="3288738"/>
                      <a:ext cx="2126960" cy="426654"/>
                      <a:chOff x="9684226" y="3386293"/>
                      <a:chExt cx="2126960" cy="426654"/>
                    </a:xfrm>
                    <a:solidFill>
                      <a:schemeClr val="bg2">
                        <a:lumMod val="95000"/>
                      </a:schemeClr>
                    </a:solidFill>
                    <a:effectLst/>
                  </p:grpSpPr>
                  <p:sp>
                    <p:nvSpPr>
                      <p:cNvPr id="149" name="Rectangle 148">
                        <a:extLst>
                          <a:ext uri="{FF2B5EF4-FFF2-40B4-BE49-F238E27FC236}">
                            <a16:creationId xmlns:a16="http://schemas.microsoft.com/office/drawing/2014/main" id="{3C2E37C8-295A-C385-966E-9D3C92206FA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705391" y="3403677"/>
                        <a:ext cx="2105795" cy="391885"/>
                      </a:xfrm>
                      <a:prstGeom prst="rect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marL="0" marR="0" lvl="0" indent="0" algn="ctr" defTabSz="4572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Franklin Gothic Book" panose="020B0503020102020204" pitchFamily="34" charset="0"/>
                        </a:endParaRPr>
                      </a:p>
                    </p:txBody>
                  </p:sp>
                  <p:sp>
                    <p:nvSpPr>
                      <p:cNvPr id="150" name="TextBox 149">
                        <a:extLst>
                          <a:ext uri="{FF2B5EF4-FFF2-40B4-BE49-F238E27FC236}">
                            <a16:creationId xmlns:a16="http://schemas.microsoft.com/office/drawing/2014/main" id="{6558352D-7350-F0DB-BA5D-AF9CC4BE0EB1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9684226" y="3386293"/>
                        <a:ext cx="2125055" cy="4266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wrap="square" anchor="ctr">
                        <a:spAutoFit/>
                      </a:bodyPr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chemeClr val="tx2">
                                <a:lumMod val="65000"/>
                                <a:lumOff val="35000"/>
                              </a:schemeClr>
                            </a:solidFill>
                            <a:effectLst/>
                            <a:uLnTx/>
                            <a:uFillTx/>
                            <a:latin typeface="Franklin Gothic Book" panose="020B0503020102020204" pitchFamily="34" charset="0"/>
                            <a:cs typeface="Arial" panose="020B0604020202020204" pitchFamily="34" charset="0"/>
                          </a:rPr>
                          <a:t>Integrated Customer </a:t>
                        </a:r>
                      </a:p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chemeClr val="tx2">
                                <a:lumMod val="65000"/>
                                <a:lumOff val="35000"/>
                              </a:schemeClr>
                            </a:solidFill>
                            <a:effectLst/>
                            <a:uLnTx/>
                            <a:uFillTx/>
                            <a:latin typeface="Franklin Gothic Book" panose="020B0503020102020204" pitchFamily="34" charset="0"/>
                            <a:cs typeface="Arial" panose="020B0604020202020204" pitchFamily="34" charset="0"/>
                          </a:rPr>
                          <a:t>Relationship Management</a:t>
                        </a:r>
                      </a:p>
                    </p:txBody>
                  </p:sp>
                </p:grpSp>
                <p:grpSp>
                  <p:nvGrpSpPr>
                    <p:cNvPr id="140" name="Group 139">
                      <a:extLst>
                        <a:ext uri="{FF2B5EF4-FFF2-40B4-BE49-F238E27FC236}">
                          <a16:creationId xmlns:a16="http://schemas.microsoft.com/office/drawing/2014/main" id="{82E6FC1B-A9CF-D71F-42F6-109BD6FDB5B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9861841" y="3708073"/>
                      <a:ext cx="2105795" cy="426654"/>
                      <a:chOff x="9705391" y="3816071"/>
                      <a:chExt cx="2105795" cy="426654"/>
                    </a:xfrm>
                  </p:grpSpPr>
                  <p:sp>
                    <p:nvSpPr>
                      <p:cNvPr id="147" name="Rectangle 146">
                        <a:extLst>
                          <a:ext uri="{FF2B5EF4-FFF2-40B4-BE49-F238E27FC236}">
                            <a16:creationId xmlns:a16="http://schemas.microsoft.com/office/drawing/2014/main" id="{D534BF92-C2C1-D2E4-90F4-4BD5975221F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705391" y="3833456"/>
                        <a:ext cx="2105795" cy="391885"/>
                      </a:xfrm>
                      <a:prstGeom prst="rect">
                        <a:avLst/>
                      </a:prstGeom>
                      <a:solidFill>
                        <a:schemeClr val="bg2">
                          <a:lumMod val="95000"/>
                        </a:schemeClr>
                      </a:solidFill>
                      <a:ln>
                        <a:noFill/>
                      </a:ln>
                      <a:effectLst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marL="0" marR="0" lvl="0" indent="0" algn="ctr" defTabSz="4572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Franklin Gothic Book" panose="020B0503020102020204" pitchFamily="34" charset="0"/>
                        </a:endParaRPr>
                      </a:p>
                    </p:txBody>
                  </p:sp>
                  <p:sp>
                    <p:nvSpPr>
                      <p:cNvPr id="148" name="TextBox 147">
                        <a:extLst>
                          <a:ext uri="{FF2B5EF4-FFF2-40B4-BE49-F238E27FC236}">
                            <a16:creationId xmlns:a16="http://schemas.microsoft.com/office/drawing/2014/main" id="{C979287A-4FEF-BB37-E43A-DE543F1380C9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0069403" y="3816071"/>
                        <a:ext cx="1377771" cy="426654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anchor="ctr">
                        <a:spAutoFit/>
                      </a:bodyPr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chemeClr val="tx2">
                                <a:lumMod val="65000"/>
                                <a:lumOff val="35000"/>
                              </a:schemeClr>
                            </a:solidFill>
                            <a:effectLst/>
                            <a:uLnTx/>
                            <a:uFillTx/>
                            <a:latin typeface="Franklin Gothic Book" panose="020B0503020102020204" pitchFamily="34" charset="0"/>
                            <a:cs typeface="Arial" panose="020B0604020202020204" pitchFamily="34" charset="0"/>
                          </a:rPr>
                          <a:t>Yield Management</a:t>
                        </a:r>
                      </a:p>
                    </p:txBody>
                  </p:sp>
                </p:grpSp>
                <p:grpSp>
                  <p:nvGrpSpPr>
                    <p:cNvPr id="141" name="Group 140">
                      <a:extLst>
                        <a:ext uri="{FF2B5EF4-FFF2-40B4-BE49-F238E27FC236}">
                          <a16:creationId xmlns:a16="http://schemas.microsoft.com/office/drawing/2014/main" id="{3C9D6DB5-61D3-7A48-3366-7780F6DAC4A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9741582" y="4140682"/>
                      <a:ext cx="2346312" cy="391885"/>
                      <a:chOff x="9585132" y="4263235"/>
                      <a:chExt cx="2346312" cy="391885"/>
                    </a:xfrm>
                  </p:grpSpPr>
                  <p:sp>
                    <p:nvSpPr>
                      <p:cNvPr id="145" name="Rectangle 144">
                        <a:extLst>
                          <a:ext uri="{FF2B5EF4-FFF2-40B4-BE49-F238E27FC236}">
                            <a16:creationId xmlns:a16="http://schemas.microsoft.com/office/drawing/2014/main" id="{4A26E778-17CD-F113-F04B-DD0DD54B35A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705391" y="4263235"/>
                        <a:ext cx="2105795" cy="391885"/>
                      </a:xfrm>
                      <a:prstGeom prst="rect">
                        <a:avLst/>
                      </a:prstGeom>
                      <a:solidFill>
                        <a:schemeClr val="bg2">
                          <a:lumMod val="95000"/>
                        </a:schemeClr>
                      </a:solidFill>
                      <a:ln>
                        <a:noFill/>
                      </a:ln>
                      <a:effectLst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marL="0" marR="0" lvl="0" indent="0" algn="ctr" defTabSz="4572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Franklin Gothic Book" panose="020B0503020102020204" pitchFamily="34" charset="0"/>
                        </a:endParaRPr>
                      </a:p>
                    </p:txBody>
                  </p:sp>
                  <p:sp>
                    <p:nvSpPr>
                      <p:cNvPr id="146" name="TextBox 145">
                        <a:extLst>
                          <a:ext uri="{FF2B5EF4-FFF2-40B4-BE49-F238E27FC236}">
                            <a16:creationId xmlns:a16="http://schemas.microsoft.com/office/drawing/2014/main" id="{A3CD2A7C-B404-3D18-11D8-A08CEF712667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9585132" y="4316958"/>
                        <a:ext cx="2346312" cy="284436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 anchor="ctr">
                        <a:spAutoFit/>
                      </a:bodyPr>
                      <a:lstStyle/>
                      <a:p>
                        <a:pPr algn="ctr"/>
                        <a:r>
                          <a:rPr lang="en-US" sz="600" dirty="0">
                            <a:solidFill>
                              <a:schemeClr val="tx2">
                                <a:lumMod val="65000"/>
                                <a:lumOff val="35000"/>
                              </a:schemeClr>
                            </a:solidFill>
                            <a:latin typeface="Franklin Gothic Book" panose="020B0503020102020204" pitchFamily="34" charset="0"/>
                            <a:cs typeface="Arial" panose="020B0604020202020204" pitchFamily="34" charset="0"/>
                          </a:rPr>
                          <a:t>Profit Maximization/Cost Control</a:t>
                        </a:r>
                      </a:p>
                    </p:txBody>
                  </p:sp>
                </p:grpSp>
                <p:grpSp>
                  <p:nvGrpSpPr>
                    <p:cNvPr id="142" name="Group 141">
                      <a:extLst>
                        <a:ext uri="{FF2B5EF4-FFF2-40B4-BE49-F238E27FC236}">
                          <a16:creationId xmlns:a16="http://schemas.microsoft.com/office/drawing/2014/main" id="{E294A815-3473-FEAB-0AA3-C80054EE3E8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9811466" y="4555906"/>
                      <a:ext cx="2206542" cy="391885"/>
                      <a:chOff x="9655016" y="4693014"/>
                      <a:chExt cx="2206542" cy="391885"/>
                    </a:xfrm>
                  </p:grpSpPr>
                  <p:sp>
                    <p:nvSpPr>
                      <p:cNvPr id="143" name="Rectangle 142">
                        <a:extLst>
                          <a:ext uri="{FF2B5EF4-FFF2-40B4-BE49-F238E27FC236}">
                            <a16:creationId xmlns:a16="http://schemas.microsoft.com/office/drawing/2014/main" id="{E0920092-DB77-F8B5-4097-85B800E1C5F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705391" y="4693014"/>
                        <a:ext cx="2105795" cy="391885"/>
                      </a:xfrm>
                      <a:prstGeom prst="rect">
                        <a:avLst/>
                      </a:prstGeom>
                      <a:solidFill>
                        <a:schemeClr val="bg2">
                          <a:lumMod val="95000"/>
                        </a:schemeClr>
                      </a:solidFill>
                      <a:ln>
                        <a:noFill/>
                      </a:ln>
                      <a:effectLst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marL="0" marR="0" lvl="0" indent="0" algn="ctr" defTabSz="4572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Franklin Gothic Book" panose="020B0503020102020204" pitchFamily="34" charset="0"/>
                        </a:endParaRPr>
                      </a:p>
                    </p:txBody>
                  </p:sp>
                  <p:sp>
                    <p:nvSpPr>
                      <p:cNvPr id="144" name="TextBox 143">
                        <a:extLst>
                          <a:ext uri="{FF2B5EF4-FFF2-40B4-BE49-F238E27FC236}">
                            <a16:creationId xmlns:a16="http://schemas.microsoft.com/office/drawing/2014/main" id="{7B6297D9-6F89-9800-F9D6-D69AF73A31D7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9655016" y="4746737"/>
                        <a:ext cx="2206542" cy="284436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 anchor="ctr">
                        <a:spAutoFit/>
                      </a:bodyPr>
                      <a:lstStyle/>
                      <a:p>
                        <a:pPr algn="ctr"/>
                        <a:r>
                          <a:rPr lang="en-US" sz="600" dirty="0">
                            <a:solidFill>
                              <a:schemeClr val="tx2">
                                <a:lumMod val="65000"/>
                                <a:lumOff val="35000"/>
                              </a:schemeClr>
                            </a:solidFill>
                            <a:latin typeface="Franklin Gothic Book" panose="020B0503020102020204" pitchFamily="34" charset="0"/>
                            <a:cs typeface="Arial" panose="020B0604020202020204" pitchFamily="34" charset="0"/>
                          </a:rPr>
                          <a:t>Quality, Security, Competency </a:t>
                        </a:r>
                      </a:p>
                    </p:txBody>
                  </p:sp>
                </p:grpSp>
              </p:grpSp>
              <p:grpSp>
                <p:nvGrpSpPr>
                  <p:cNvPr id="121" name="Group 120">
                    <a:extLst>
                      <a:ext uri="{FF2B5EF4-FFF2-40B4-BE49-F238E27FC236}">
                        <a16:creationId xmlns:a16="http://schemas.microsoft.com/office/drawing/2014/main" id="{13BAEB8F-07BB-9EE9-9EE8-482F6E3F81A0}"/>
                      </a:ext>
                    </a:extLst>
                  </p:cNvPr>
                  <p:cNvGrpSpPr/>
                  <p:nvPr/>
                </p:nvGrpSpPr>
                <p:grpSpPr>
                  <a:xfrm>
                    <a:off x="9840676" y="939320"/>
                    <a:ext cx="2148124" cy="1003263"/>
                    <a:chOff x="9603502" y="983255"/>
                    <a:chExt cx="2148124" cy="1003263"/>
                  </a:xfrm>
                </p:grpSpPr>
                <p:grpSp>
                  <p:nvGrpSpPr>
                    <p:cNvPr id="122" name="Group 121">
                      <a:extLst>
                        <a:ext uri="{FF2B5EF4-FFF2-40B4-BE49-F238E27FC236}">
                          <a16:creationId xmlns:a16="http://schemas.microsoft.com/office/drawing/2014/main" id="{39D7814E-D4C6-3B4B-17A3-7FA299901E7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9603502" y="1267148"/>
                      <a:ext cx="2148124" cy="719370"/>
                      <a:chOff x="9603502" y="1311598"/>
                      <a:chExt cx="2148124" cy="719370"/>
                    </a:xfrm>
                  </p:grpSpPr>
                  <p:sp>
                    <p:nvSpPr>
                      <p:cNvPr id="131" name="Google Shape;83409;p3921">
                        <a:extLst>
                          <a:ext uri="{FF2B5EF4-FFF2-40B4-BE49-F238E27FC236}">
                            <a16:creationId xmlns:a16="http://schemas.microsoft.com/office/drawing/2014/main" id="{780D6740-EFB2-F249-B9A3-D6F28F90050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624667" y="1311598"/>
                        <a:ext cx="2105795" cy="719370"/>
                      </a:xfrm>
                      <a:prstGeom prst="roundRect">
                        <a:avLst>
                          <a:gd name="adj" fmla="val 0"/>
                        </a:avLst>
                      </a:prstGeom>
                      <a:solidFill>
                        <a:srgbClr val="B52372"/>
                      </a:solidFill>
                      <a:ln>
                        <a:noFill/>
                      </a:ln>
                    </p:spPr>
                    <p:txBody>
                      <a:bodyPr spcFirstLastPara="1" wrap="square" lIns="68575" tIns="34275" rIns="68575" bIns="34275" anchor="ctr" anchorCtr="0">
                        <a:noAutofit/>
                      </a:bodyPr>
                      <a:lstStyle/>
                      <a:p>
                        <a:pPr marL="0" marR="0" lvl="0" indent="0" algn="ctr" defTabSz="4572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FFFFFF"/>
                          </a:buClr>
                          <a:buSzPts val="1400"/>
                          <a:buFont typeface="Calibri"/>
                          <a:buNone/>
                          <a:tabLst/>
                          <a:defRPr/>
                        </a:pPr>
                        <a:endParaRPr kumimoji="0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Franklin Gothic Book" panose="020B0503020102020204" pitchFamily="34" charset="0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132" name="Google Shape;83415;p3921">
                        <a:extLst>
                          <a:ext uri="{FF2B5EF4-FFF2-40B4-BE49-F238E27FC236}">
                            <a16:creationId xmlns:a16="http://schemas.microsoft.com/office/drawing/2014/main" id="{BF888065-A1E3-BA22-DE72-04ECCF59EE2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603502" y="1961635"/>
                        <a:ext cx="2148124" cy="41064"/>
                      </a:xfrm>
                      <a:prstGeom prst="roundRect">
                        <a:avLst>
                          <a:gd name="adj" fmla="val 0"/>
                        </a:avLst>
                      </a:prstGeom>
                      <a:solidFill>
                        <a:schemeClr val="lt1"/>
                      </a:solidFill>
                      <a:ln>
                        <a:noFill/>
                      </a:ln>
                    </p:spPr>
                    <p:txBody>
                      <a:bodyPr spcFirstLastPara="1" wrap="square" lIns="68575" tIns="34275" rIns="68575" bIns="34275" anchor="ctr" anchorCtr="0">
                        <a:noAutofit/>
                      </a:bodyPr>
                      <a:lstStyle/>
                      <a:p>
                        <a:pPr marL="0" marR="0" lvl="0" indent="0" algn="ctr" defTabSz="4572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FFFFFF"/>
                          </a:buClr>
                          <a:buSzPts val="1400"/>
                          <a:buFont typeface="Calibri"/>
                          <a:buNone/>
                          <a:tabLst/>
                          <a:defRPr/>
                        </a:pPr>
                        <a:endParaRPr kumimoji="0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Franklin Gothic Book" panose="020B0503020102020204" pitchFamily="34" charset="0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133" name="TextBox 132">
                        <a:extLst>
                          <a:ext uri="{FF2B5EF4-FFF2-40B4-BE49-F238E27FC236}">
                            <a16:creationId xmlns:a16="http://schemas.microsoft.com/office/drawing/2014/main" id="{92AA3A43-3872-2D47-48C9-0C4EFB04045E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0027430" y="1530431"/>
                        <a:ext cx="1300267" cy="281705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anchor="ctr">
                        <a:spAutoFit/>
                      </a:bodyPr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7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chemeClr val="bg2"/>
                            </a:solidFill>
                            <a:effectLst/>
                            <a:uLnTx/>
                            <a:uFillTx/>
                            <a:latin typeface="Franklin Gothic Book" panose="020B0503020102020204" pitchFamily="34" charset="0"/>
                          </a:rPr>
                          <a:t>Initiatives </a:t>
                        </a:r>
                      </a:p>
                    </p:txBody>
                  </p:sp>
                </p:grpSp>
                <p:grpSp>
                  <p:nvGrpSpPr>
                    <p:cNvPr id="123" name="Group 122">
                      <a:extLst>
                        <a:ext uri="{FF2B5EF4-FFF2-40B4-BE49-F238E27FC236}">
                          <a16:creationId xmlns:a16="http://schemas.microsoft.com/office/drawing/2014/main" id="{FA5452FF-1376-9D95-F5FB-98E3BDE90AB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0229485" y="983255"/>
                      <a:ext cx="896159" cy="372147"/>
                      <a:chOff x="10229485" y="983255"/>
                      <a:chExt cx="896159" cy="372147"/>
                    </a:xfrm>
                  </p:grpSpPr>
                  <p:grpSp>
                    <p:nvGrpSpPr>
                      <p:cNvPr id="124" name="Google Shape;83411;p3921">
                        <a:extLst>
                          <a:ext uri="{FF2B5EF4-FFF2-40B4-BE49-F238E27FC236}">
                            <a16:creationId xmlns:a16="http://schemas.microsoft.com/office/drawing/2014/main" id="{BC15B2F2-ADE7-05F0-2520-F9998EC46B46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0229485" y="1214313"/>
                        <a:ext cx="896159" cy="35903"/>
                        <a:chOff x="863283" y="2322123"/>
                        <a:chExt cx="1194878" cy="47871"/>
                      </a:xfrm>
                    </p:grpSpPr>
                    <p:sp>
                      <p:nvSpPr>
                        <p:cNvPr id="128" name="Google Shape;83412;p3921">
                          <a:extLst>
                            <a:ext uri="{FF2B5EF4-FFF2-40B4-BE49-F238E27FC236}">
                              <a16:creationId xmlns:a16="http://schemas.microsoft.com/office/drawing/2014/main" id="{9FAC7C3F-F3C5-5CB9-B6E6-2CB98B2518FF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941176" y="2328811"/>
                          <a:ext cx="1039091" cy="34480"/>
                        </a:xfrm>
                        <a:prstGeom prst="roundRect">
                          <a:avLst>
                            <a:gd name="adj" fmla="val 0"/>
                          </a:avLst>
                        </a:prstGeom>
                        <a:solidFill>
                          <a:srgbClr val="B52372"/>
                        </a:solidFill>
                        <a:ln>
                          <a:noFill/>
                        </a:ln>
                      </p:spPr>
                      <p:txBody>
                        <a:bodyPr spcFirstLastPara="1" wrap="square" lIns="68575" tIns="34275" rIns="68575" bIns="34275" anchor="ctr" anchorCtr="0">
                          <a:noAutofit/>
                        </a:bodyPr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FFFFFF"/>
                            </a:buClr>
                            <a:buSzPts val="1400"/>
                            <a:buFont typeface="Calibri"/>
                            <a:buNone/>
                            <a:tabLst/>
                            <a:defRPr/>
                          </a:pPr>
                          <a:endParaRPr kumimoji="0" sz="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Franklin Gothic Book" panose="020B0503020102020204" pitchFamily="34" charset="0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129" name="Google Shape;83413;p3921">
                          <a:extLst>
                            <a:ext uri="{FF2B5EF4-FFF2-40B4-BE49-F238E27FC236}">
                              <a16:creationId xmlns:a16="http://schemas.microsoft.com/office/drawing/2014/main" id="{CB565E5C-EEF5-92C6-108F-18D273269D5A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63283" y="2322123"/>
                          <a:ext cx="47863" cy="47863"/>
                        </a:xfrm>
                        <a:prstGeom prst="ellipse">
                          <a:avLst/>
                        </a:prstGeom>
                        <a:solidFill>
                          <a:schemeClr val="lt1"/>
                        </a:solidFill>
                        <a:ln w="9525" cap="flat" cmpd="sng">
                          <a:noFill/>
                          <a:prstDash val="solid"/>
                          <a:miter lim="800000"/>
                          <a:headEnd type="none" w="sm" len="sm"/>
                          <a:tailEnd type="none" w="sm" len="sm"/>
                        </a:ln>
                      </p:spPr>
                      <p:txBody>
                        <a:bodyPr spcFirstLastPara="1" wrap="square" lIns="68575" tIns="34275" rIns="68575" bIns="34275" anchor="ctr" anchorCtr="0">
                          <a:noAutofit/>
                        </a:bodyPr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FFFFFF"/>
                            </a:buClr>
                            <a:buSzPts val="1400"/>
                            <a:buFont typeface="Calibri"/>
                            <a:buNone/>
                            <a:tabLst/>
                            <a:defRPr/>
                          </a:pPr>
                          <a:endParaRPr kumimoji="0" sz="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Franklin Gothic Book" panose="020B0503020102020204" pitchFamily="34" charset="0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130" name="Google Shape;83414;p3921">
                          <a:extLst>
                            <a:ext uri="{FF2B5EF4-FFF2-40B4-BE49-F238E27FC236}">
                              <a16:creationId xmlns:a16="http://schemas.microsoft.com/office/drawing/2014/main" id="{5A3A5453-B45C-7EAB-D1E4-376EA7E2EFAC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2010298" y="2322131"/>
                          <a:ext cx="47863" cy="47863"/>
                        </a:xfrm>
                        <a:prstGeom prst="ellipse">
                          <a:avLst/>
                        </a:prstGeom>
                        <a:solidFill>
                          <a:schemeClr val="lt1"/>
                        </a:solidFill>
                        <a:ln w="9525" cap="flat" cmpd="sng">
                          <a:noFill/>
                          <a:prstDash val="solid"/>
                          <a:miter lim="800000"/>
                          <a:headEnd type="none" w="sm" len="sm"/>
                          <a:tailEnd type="none" w="sm" len="sm"/>
                        </a:ln>
                      </p:spPr>
                      <p:txBody>
                        <a:bodyPr spcFirstLastPara="1" wrap="square" lIns="68575" tIns="34275" rIns="68575" bIns="34275" anchor="ctr" anchorCtr="0">
                          <a:noAutofit/>
                        </a:bodyPr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FFFFFF"/>
                            </a:buClr>
                            <a:buSzPts val="1400"/>
                            <a:buFont typeface="Calibri"/>
                            <a:buNone/>
                            <a:tabLst/>
                            <a:defRPr/>
                          </a:pPr>
                          <a:endParaRPr kumimoji="0" sz="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Franklin Gothic Book" panose="020B0503020102020204" pitchFamily="34" charset="0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grpSp>
                    <p:nvGrpSpPr>
                      <p:cNvPr id="125" name="Group 124">
                        <a:extLst>
                          <a:ext uri="{FF2B5EF4-FFF2-40B4-BE49-F238E27FC236}">
                            <a16:creationId xmlns:a16="http://schemas.microsoft.com/office/drawing/2014/main" id="{7F30EE26-1973-1DE8-146E-CC6CB61BA523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0491491" y="983255"/>
                        <a:ext cx="372147" cy="372147"/>
                        <a:chOff x="10491491" y="983255"/>
                        <a:chExt cx="372147" cy="372147"/>
                      </a:xfrm>
                    </p:grpSpPr>
                    <p:sp>
                      <p:nvSpPr>
                        <p:cNvPr id="126" name="Google Shape;83463;p3921">
                          <a:extLst>
                            <a:ext uri="{FF2B5EF4-FFF2-40B4-BE49-F238E27FC236}">
                              <a16:creationId xmlns:a16="http://schemas.microsoft.com/office/drawing/2014/main" id="{A9C602BC-13E9-A8FC-3CEF-E754A271FE1B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491491" y="983255"/>
                          <a:ext cx="372147" cy="372147"/>
                        </a:xfrm>
                        <a:prstGeom prst="ellipse">
                          <a:avLst/>
                        </a:prstGeom>
                        <a:solidFill>
                          <a:schemeClr val="bg1"/>
                        </a:solidFill>
                        <a:ln w="9525" cap="flat" cmpd="sng">
                          <a:solidFill>
                            <a:srgbClr val="B52372"/>
                          </a:solidFill>
                          <a:prstDash val="solid"/>
                          <a:miter lim="800000"/>
                          <a:headEnd type="none" w="sm" len="sm"/>
                          <a:tailEnd type="none" w="sm" len="sm"/>
                        </a:ln>
                      </p:spPr>
                      <p:txBody>
                        <a:bodyPr spcFirstLastPara="1" wrap="square" lIns="68575" tIns="34275" rIns="68575" bIns="34275" anchor="ctr" anchorCtr="0">
                          <a:noAutofit/>
                        </a:bodyPr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FFFFFF"/>
                            </a:buClr>
                            <a:buSzPts val="1400"/>
                            <a:buFont typeface="Calibri"/>
                            <a:buNone/>
                            <a:tabLst/>
                            <a:defRPr/>
                          </a:pPr>
                          <a:endParaRPr kumimoji="0" sz="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Franklin Gothic Book" panose="020B0503020102020204" pitchFamily="34" charset="0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127" name="Freeform: Shape 231">
                          <a:extLst>
                            <a:ext uri="{FF2B5EF4-FFF2-40B4-BE49-F238E27FC236}">
                              <a16:creationId xmlns:a16="http://schemas.microsoft.com/office/drawing/2014/main" id="{26A38CAA-377D-6DE5-B793-FDE3D364C915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579689" y="1068451"/>
                          <a:ext cx="195750" cy="201754"/>
                        </a:xfrm>
                        <a:custGeom>
                          <a:avLst/>
                          <a:gdLst>
                            <a:gd name="connsiteX0" fmla="*/ 1652288 w 4824064"/>
                            <a:gd name="connsiteY0" fmla="*/ 4286217 h 4972007"/>
                            <a:gd name="connsiteX1" fmla="*/ 1652288 w 4824064"/>
                            <a:gd name="connsiteY1" fmla="*/ 4457667 h 4972007"/>
                            <a:gd name="connsiteX2" fmla="*/ 1823738 w 4824064"/>
                            <a:gd name="connsiteY2" fmla="*/ 4457667 h 4972007"/>
                            <a:gd name="connsiteX3" fmla="*/ 1823738 w 4824064"/>
                            <a:gd name="connsiteY3" fmla="*/ 4286217 h 4972007"/>
                            <a:gd name="connsiteX4" fmla="*/ 1309388 w 4824064"/>
                            <a:gd name="connsiteY4" fmla="*/ 4286217 h 4972007"/>
                            <a:gd name="connsiteX5" fmla="*/ 1309388 w 4824064"/>
                            <a:gd name="connsiteY5" fmla="*/ 4457667 h 4972007"/>
                            <a:gd name="connsiteX6" fmla="*/ 1480838 w 4824064"/>
                            <a:gd name="connsiteY6" fmla="*/ 4457667 h 4972007"/>
                            <a:gd name="connsiteX7" fmla="*/ 1480838 w 4824064"/>
                            <a:gd name="connsiteY7" fmla="*/ 4286217 h 4972007"/>
                            <a:gd name="connsiteX8" fmla="*/ 966488 w 4824064"/>
                            <a:gd name="connsiteY8" fmla="*/ 4286217 h 4972007"/>
                            <a:gd name="connsiteX9" fmla="*/ 966488 w 4824064"/>
                            <a:gd name="connsiteY9" fmla="*/ 4457667 h 4972007"/>
                            <a:gd name="connsiteX10" fmla="*/ 1137938 w 4824064"/>
                            <a:gd name="connsiteY10" fmla="*/ 4457667 h 4972007"/>
                            <a:gd name="connsiteX11" fmla="*/ 1137938 w 4824064"/>
                            <a:gd name="connsiteY11" fmla="*/ 4286217 h 4972007"/>
                            <a:gd name="connsiteX12" fmla="*/ 1092970 w 4824064"/>
                            <a:gd name="connsiteY12" fmla="*/ 3943357 h 4972007"/>
                            <a:gd name="connsiteX13" fmla="*/ 1093002 w 4824064"/>
                            <a:gd name="connsiteY13" fmla="*/ 3943357 h 4972007"/>
                            <a:gd name="connsiteX14" fmla="*/ 1093009 w 4824064"/>
                            <a:gd name="connsiteY14" fmla="*/ 3943367 h 4972007"/>
                            <a:gd name="connsiteX15" fmla="*/ 452187 w 4824064"/>
                            <a:gd name="connsiteY15" fmla="*/ 3771867 h 4972007"/>
                            <a:gd name="connsiteX16" fmla="*/ 971357 w 4824064"/>
                            <a:gd name="connsiteY16" fmla="*/ 4071983 h 4972007"/>
                            <a:gd name="connsiteX17" fmla="*/ 996124 w 4824064"/>
                            <a:gd name="connsiteY17" fmla="*/ 4114767 h 4972007"/>
                            <a:gd name="connsiteX18" fmla="*/ 3165800 w 4824064"/>
                            <a:gd name="connsiteY18" fmla="*/ 4114767 h 4972007"/>
                            <a:gd name="connsiteX19" fmla="*/ 3190596 w 4824064"/>
                            <a:gd name="connsiteY19" fmla="*/ 4071983 h 4972007"/>
                            <a:gd name="connsiteX20" fmla="*/ 3709727 w 4824064"/>
                            <a:gd name="connsiteY20" fmla="*/ 3771867 h 4972007"/>
                            <a:gd name="connsiteX21" fmla="*/ 4161924 w 4824064"/>
                            <a:gd name="connsiteY21" fmla="*/ 3971180 h 4972007"/>
                            <a:gd name="connsiteX22" fmla="*/ 3829566 w 4824064"/>
                            <a:gd name="connsiteY22" fmla="*/ 4037683 h 4972007"/>
                            <a:gd name="connsiteX23" fmla="*/ 3606681 w 4824064"/>
                            <a:gd name="connsiteY23" fmla="*/ 4371932 h 4972007"/>
                            <a:gd name="connsiteX24" fmla="*/ 3829449 w 4824064"/>
                            <a:gd name="connsiteY24" fmla="*/ 4706260 h 4972007"/>
                            <a:gd name="connsiteX25" fmla="*/ 4161905 w 4824064"/>
                            <a:gd name="connsiteY25" fmla="*/ 4772694 h 4972007"/>
                            <a:gd name="connsiteX26" fmla="*/ 3709708 w 4824064"/>
                            <a:gd name="connsiteY26" fmla="*/ 4972007 h 4972007"/>
                            <a:gd name="connsiteX27" fmla="*/ 3190655 w 4824064"/>
                            <a:gd name="connsiteY27" fmla="*/ 4671891 h 4972007"/>
                            <a:gd name="connsiteX28" fmla="*/ 3165898 w 4824064"/>
                            <a:gd name="connsiteY28" fmla="*/ 4629107 h 4972007"/>
                            <a:gd name="connsiteX29" fmla="*/ 996124 w 4824064"/>
                            <a:gd name="connsiteY29" fmla="*/ 4629107 h 4972007"/>
                            <a:gd name="connsiteX30" fmla="*/ 971318 w 4824064"/>
                            <a:gd name="connsiteY30" fmla="*/ 4671891 h 4972007"/>
                            <a:gd name="connsiteX31" fmla="*/ 452187 w 4824064"/>
                            <a:gd name="connsiteY31" fmla="*/ 4972007 h 4972007"/>
                            <a:gd name="connsiteX32" fmla="*/ 0 w 4824064"/>
                            <a:gd name="connsiteY32" fmla="*/ 4772547 h 4972007"/>
                            <a:gd name="connsiteX33" fmla="*/ 332447 w 4824064"/>
                            <a:gd name="connsiteY33" fmla="*/ 4706113 h 4972007"/>
                            <a:gd name="connsiteX34" fmla="*/ 555332 w 4824064"/>
                            <a:gd name="connsiteY34" fmla="*/ 4371864 h 4972007"/>
                            <a:gd name="connsiteX35" fmla="*/ 332447 w 4824064"/>
                            <a:gd name="connsiteY35" fmla="*/ 4037615 h 4972007"/>
                            <a:gd name="connsiteX36" fmla="*/ 0 w 4824064"/>
                            <a:gd name="connsiteY36" fmla="*/ 3971180 h 4972007"/>
                            <a:gd name="connsiteX37" fmla="*/ 452187 w 4824064"/>
                            <a:gd name="connsiteY37" fmla="*/ 3771867 h 4972007"/>
                            <a:gd name="connsiteX38" fmla="*/ 3881149 w 4824064"/>
                            <a:gd name="connsiteY38" fmla="*/ 3000381 h 4972007"/>
                            <a:gd name="connsiteX39" fmla="*/ 3881158 w 4824064"/>
                            <a:gd name="connsiteY39" fmla="*/ 3000382 h 4972007"/>
                            <a:gd name="connsiteX40" fmla="*/ 3881139 w 4824064"/>
                            <a:gd name="connsiteY40" fmla="*/ 3000382 h 4972007"/>
                            <a:gd name="connsiteX41" fmla="*/ 1909463 w 4824064"/>
                            <a:gd name="connsiteY41" fmla="*/ 2914657 h 4972007"/>
                            <a:gd name="connsiteX42" fmla="*/ 1909463 w 4824064"/>
                            <a:gd name="connsiteY42" fmla="*/ 3086107 h 4972007"/>
                            <a:gd name="connsiteX43" fmla="*/ 2080913 w 4824064"/>
                            <a:gd name="connsiteY43" fmla="*/ 3086107 h 4972007"/>
                            <a:gd name="connsiteX44" fmla="*/ 2080913 w 4824064"/>
                            <a:gd name="connsiteY44" fmla="*/ 2914657 h 4972007"/>
                            <a:gd name="connsiteX45" fmla="*/ 1566563 w 4824064"/>
                            <a:gd name="connsiteY45" fmla="*/ 2914657 h 4972007"/>
                            <a:gd name="connsiteX46" fmla="*/ 1566563 w 4824064"/>
                            <a:gd name="connsiteY46" fmla="*/ 3086107 h 4972007"/>
                            <a:gd name="connsiteX47" fmla="*/ 1738013 w 4824064"/>
                            <a:gd name="connsiteY47" fmla="*/ 3086107 h 4972007"/>
                            <a:gd name="connsiteX48" fmla="*/ 1738013 w 4824064"/>
                            <a:gd name="connsiteY48" fmla="*/ 2914657 h 4972007"/>
                            <a:gd name="connsiteX49" fmla="*/ 1223663 w 4824064"/>
                            <a:gd name="connsiteY49" fmla="*/ 2914657 h 4972007"/>
                            <a:gd name="connsiteX50" fmla="*/ 1223663 w 4824064"/>
                            <a:gd name="connsiteY50" fmla="*/ 3086107 h 4972007"/>
                            <a:gd name="connsiteX51" fmla="*/ 1395113 w 4824064"/>
                            <a:gd name="connsiteY51" fmla="*/ 3086107 h 4972007"/>
                            <a:gd name="connsiteX52" fmla="*/ 1395113 w 4824064"/>
                            <a:gd name="connsiteY52" fmla="*/ 2914657 h 4972007"/>
                            <a:gd name="connsiteX53" fmla="*/ 880763 w 4824064"/>
                            <a:gd name="connsiteY53" fmla="*/ 2914657 h 4972007"/>
                            <a:gd name="connsiteX54" fmla="*/ 880763 w 4824064"/>
                            <a:gd name="connsiteY54" fmla="*/ 3086107 h 4972007"/>
                            <a:gd name="connsiteX55" fmla="*/ 1052213 w 4824064"/>
                            <a:gd name="connsiteY55" fmla="*/ 3086107 h 4972007"/>
                            <a:gd name="connsiteX56" fmla="*/ 1052213 w 4824064"/>
                            <a:gd name="connsiteY56" fmla="*/ 2914657 h 4972007"/>
                            <a:gd name="connsiteX57" fmla="*/ 3374538 w 4824064"/>
                            <a:gd name="connsiteY57" fmla="*/ 2571757 h 4972007"/>
                            <a:gd name="connsiteX58" fmla="*/ 4387759 w 4824064"/>
                            <a:gd name="connsiteY58" fmla="*/ 2571757 h 4972007"/>
                            <a:gd name="connsiteX59" fmla="*/ 3974248 w 4824064"/>
                            <a:gd name="connsiteY59" fmla="*/ 2991925 h 4972007"/>
                            <a:gd name="connsiteX60" fmla="*/ 3881149 w 4824064"/>
                            <a:gd name="connsiteY60" fmla="*/ 3000381 h 4972007"/>
                            <a:gd name="connsiteX61" fmla="*/ 3788049 w 4824064"/>
                            <a:gd name="connsiteY61" fmla="*/ 2991925 h 4972007"/>
                            <a:gd name="connsiteX62" fmla="*/ 3374538 w 4824064"/>
                            <a:gd name="connsiteY62" fmla="*/ 2571757 h 4972007"/>
                            <a:gd name="connsiteX63" fmla="*/ 3195338 w 4824064"/>
                            <a:gd name="connsiteY63" fmla="*/ 2228857 h 4972007"/>
                            <a:gd name="connsiteX64" fmla="*/ 4566938 w 4824064"/>
                            <a:gd name="connsiteY64" fmla="*/ 2228857 h 4972007"/>
                            <a:gd name="connsiteX65" fmla="*/ 4652663 w 4824064"/>
                            <a:gd name="connsiteY65" fmla="*/ 2314582 h 4972007"/>
                            <a:gd name="connsiteX66" fmla="*/ 4566938 w 4824064"/>
                            <a:gd name="connsiteY66" fmla="*/ 2400307 h 4972007"/>
                            <a:gd name="connsiteX67" fmla="*/ 3195338 w 4824064"/>
                            <a:gd name="connsiteY67" fmla="*/ 2400307 h 4972007"/>
                            <a:gd name="connsiteX68" fmla="*/ 3109613 w 4824064"/>
                            <a:gd name="connsiteY68" fmla="*/ 2314582 h 4972007"/>
                            <a:gd name="connsiteX69" fmla="*/ 3195338 w 4824064"/>
                            <a:gd name="connsiteY69" fmla="*/ 2228857 h 4972007"/>
                            <a:gd name="connsiteX70" fmla="*/ 709313 w 4824064"/>
                            <a:gd name="connsiteY70" fmla="*/ 2057407 h 4972007"/>
                            <a:gd name="connsiteX71" fmla="*/ 1395113 w 4824064"/>
                            <a:gd name="connsiteY71" fmla="*/ 2057407 h 4972007"/>
                            <a:gd name="connsiteX72" fmla="*/ 1395113 w 4824064"/>
                            <a:gd name="connsiteY72" fmla="*/ 2400307 h 4972007"/>
                            <a:gd name="connsiteX73" fmla="*/ 2252363 w 4824064"/>
                            <a:gd name="connsiteY73" fmla="*/ 2400307 h 4972007"/>
                            <a:gd name="connsiteX74" fmla="*/ 2252363 w 4824064"/>
                            <a:gd name="connsiteY74" fmla="*/ 3257557 h 4972007"/>
                            <a:gd name="connsiteX75" fmla="*/ 709313 w 4824064"/>
                            <a:gd name="connsiteY75" fmla="*/ 3257557 h 4972007"/>
                            <a:gd name="connsiteX76" fmla="*/ 2423814 w 4824064"/>
                            <a:gd name="connsiteY76" fmla="*/ 1200157 h 4972007"/>
                            <a:gd name="connsiteX77" fmla="*/ 2423814 w 4824064"/>
                            <a:gd name="connsiteY77" fmla="*/ 1371608 h 4972007"/>
                            <a:gd name="connsiteX78" fmla="*/ 2595264 w 4824064"/>
                            <a:gd name="connsiteY78" fmla="*/ 1371608 h 4972007"/>
                            <a:gd name="connsiteX79" fmla="*/ 2595264 w 4824064"/>
                            <a:gd name="connsiteY79" fmla="*/ 1200157 h 4972007"/>
                            <a:gd name="connsiteX80" fmla="*/ 2080914 w 4824064"/>
                            <a:gd name="connsiteY80" fmla="*/ 1200157 h 4972007"/>
                            <a:gd name="connsiteX81" fmla="*/ 2080914 w 4824064"/>
                            <a:gd name="connsiteY81" fmla="*/ 1371608 h 4972007"/>
                            <a:gd name="connsiteX82" fmla="*/ 2252364 w 4824064"/>
                            <a:gd name="connsiteY82" fmla="*/ 1371608 h 4972007"/>
                            <a:gd name="connsiteX83" fmla="*/ 2252364 w 4824064"/>
                            <a:gd name="connsiteY83" fmla="*/ 1200157 h 4972007"/>
                            <a:gd name="connsiteX84" fmla="*/ 1738014 w 4824064"/>
                            <a:gd name="connsiteY84" fmla="*/ 1200157 h 4972007"/>
                            <a:gd name="connsiteX85" fmla="*/ 1738014 w 4824064"/>
                            <a:gd name="connsiteY85" fmla="*/ 1371608 h 4972007"/>
                            <a:gd name="connsiteX86" fmla="*/ 1909464 w 4824064"/>
                            <a:gd name="connsiteY86" fmla="*/ 1371608 h 4972007"/>
                            <a:gd name="connsiteX87" fmla="*/ 1909464 w 4824064"/>
                            <a:gd name="connsiteY87" fmla="*/ 1200157 h 4972007"/>
                            <a:gd name="connsiteX88" fmla="*/ 3818153 w 4824064"/>
                            <a:gd name="connsiteY88" fmla="*/ 1114432 h 4972007"/>
                            <a:gd name="connsiteX89" fmla="*/ 3944134 w 4824064"/>
                            <a:gd name="connsiteY89" fmla="*/ 1114432 h 4972007"/>
                            <a:gd name="connsiteX90" fmla="*/ 3894502 w 4824064"/>
                            <a:gd name="connsiteY90" fmla="*/ 2057407 h 4972007"/>
                            <a:gd name="connsiteX91" fmla="*/ 3867785 w 4824064"/>
                            <a:gd name="connsiteY91" fmla="*/ 2057407 h 4972007"/>
                            <a:gd name="connsiteX92" fmla="*/ 1566554 w 4824064"/>
                            <a:gd name="connsiteY92" fmla="*/ 1028708 h 4972007"/>
                            <a:gd name="connsiteX93" fmla="*/ 2772190 w 4824064"/>
                            <a:gd name="connsiteY93" fmla="*/ 1028708 h 4972007"/>
                            <a:gd name="connsiteX94" fmla="*/ 2899661 w 4824064"/>
                            <a:gd name="connsiteY94" fmla="*/ 1468737 h 4972007"/>
                            <a:gd name="connsiteX95" fmla="*/ 3216354 w 4824064"/>
                            <a:gd name="connsiteY95" fmla="*/ 2057407 h 4972007"/>
                            <a:gd name="connsiteX96" fmla="*/ 3195339 w 4824064"/>
                            <a:gd name="connsiteY96" fmla="*/ 2057407 h 4972007"/>
                            <a:gd name="connsiteX97" fmla="*/ 2953918 w 4824064"/>
                            <a:gd name="connsiteY97" fmla="*/ 2228857 h 4972007"/>
                            <a:gd name="connsiteX98" fmla="*/ 1566554 w 4824064"/>
                            <a:gd name="connsiteY98" fmla="*/ 2228857 h 4972007"/>
                            <a:gd name="connsiteX99" fmla="*/ 4215201 w 4824064"/>
                            <a:gd name="connsiteY99" fmla="*/ 771532 h 4972007"/>
                            <a:gd name="connsiteX100" fmla="*/ 4224038 w 4824064"/>
                            <a:gd name="connsiteY100" fmla="*/ 771532 h 4972007"/>
                            <a:gd name="connsiteX101" fmla="*/ 4309763 w 4824064"/>
                            <a:gd name="connsiteY101" fmla="*/ 857257 h 4972007"/>
                            <a:gd name="connsiteX102" fmla="*/ 4224038 w 4824064"/>
                            <a:gd name="connsiteY102" fmla="*/ 942982 h 4972007"/>
                            <a:gd name="connsiteX103" fmla="*/ 4124960 w 4824064"/>
                            <a:gd name="connsiteY103" fmla="*/ 942982 h 4972007"/>
                            <a:gd name="connsiteX104" fmla="*/ 4129623 w 4824064"/>
                            <a:gd name="connsiteY104" fmla="*/ 852701 h 4972007"/>
                            <a:gd name="connsiteX105" fmla="*/ 4215201 w 4824064"/>
                            <a:gd name="connsiteY105" fmla="*/ 771532 h 4972007"/>
                            <a:gd name="connsiteX106" fmla="*/ 3538219 w 4824064"/>
                            <a:gd name="connsiteY106" fmla="*/ 771532 h 4972007"/>
                            <a:gd name="connsiteX107" fmla="*/ 3547056 w 4824064"/>
                            <a:gd name="connsiteY107" fmla="*/ 771532 h 4972007"/>
                            <a:gd name="connsiteX108" fmla="*/ 3632507 w 4824064"/>
                            <a:gd name="connsiteY108" fmla="*/ 852819 h 4972007"/>
                            <a:gd name="connsiteX109" fmla="*/ 3637298 w 4824064"/>
                            <a:gd name="connsiteY109" fmla="*/ 942982 h 4972007"/>
                            <a:gd name="connsiteX110" fmla="*/ 3538219 w 4824064"/>
                            <a:gd name="connsiteY110" fmla="*/ 942982 h 4972007"/>
                            <a:gd name="connsiteX111" fmla="*/ 3452494 w 4824064"/>
                            <a:gd name="connsiteY111" fmla="*/ 857257 h 4972007"/>
                            <a:gd name="connsiteX112" fmla="*/ 3538219 w 4824064"/>
                            <a:gd name="connsiteY112" fmla="*/ 771532 h 4972007"/>
                            <a:gd name="connsiteX113" fmla="*/ 1395153 w 4824064"/>
                            <a:gd name="connsiteY113" fmla="*/ 514358 h 4972007"/>
                            <a:gd name="connsiteX114" fmla="*/ 1395153 w 4824064"/>
                            <a:gd name="connsiteY114" fmla="*/ 685808 h 4972007"/>
                            <a:gd name="connsiteX115" fmla="*/ 2595303 w 4824064"/>
                            <a:gd name="connsiteY115" fmla="*/ 685808 h 4972007"/>
                            <a:gd name="connsiteX116" fmla="*/ 2595303 w 4824064"/>
                            <a:gd name="connsiteY116" fmla="*/ 514358 h 4972007"/>
                            <a:gd name="connsiteX117" fmla="*/ 1395153 w 4824064"/>
                            <a:gd name="connsiteY117" fmla="*/ 171458 h 4972007"/>
                            <a:gd name="connsiteX118" fmla="*/ 1395153 w 4824064"/>
                            <a:gd name="connsiteY118" fmla="*/ 342908 h 4972007"/>
                            <a:gd name="connsiteX119" fmla="*/ 2595303 w 4824064"/>
                            <a:gd name="connsiteY119" fmla="*/ 342908 h 4972007"/>
                            <a:gd name="connsiteX120" fmla="*/ 2595303 w 4824064"/>
                            <a:gd name="connsiteY120" fmla="*/ 171458 h 4972007"/>
                            <a:gd name="connsiteX121" fmla="*/ 1052214 w 4824064"/>
                            <a:gd name="connsiteY121" fmla="*/ 121208 h 4972007"/>
                            <a:gd name="connsiteX122" fmla="*/ 1052214 w 4824064"/>
                            <a:gd name="connsiteY122" fmla="*/ 685808 h 4972007"/>
                            <a:gd name="connsiteX123" fmla="*/ 487614 w 4824064"/>
                            <a:gd name="connsiteY123" fmla="*/ 685808 h 4972007"/>
                            <a:gd name="connsiteX124" fmla="*/ 3882897 w 4824064"/>
                            <a:gd name="connsiteY124" fmla="*/ 7 h 4972007"/>
                            <a:gd name="connsiteX125" fmla="*/ 3978973 w 4824064"/>
                            <a:gd name="connsiteY125" fmla="*/ 4875 h 4972007"/>
                            <a:gd name="connsiteX126" fmla="*/ 4824064 w 4824064"/>
                            <a:gd name="connsiteY126" fmla="*/ 941179 h 4972007"/>
                            <a:gd name="connsiteX127" fmla="*/ 4711593 w 4824064"/>
                            <a:gd name="connsiteY127" fmla="*/ 1387449 h 4972007"/>
                            <a:gd name="connsiteX128" fmla="*/ 4350862 w 4824064"/>
                            <a:gd name="connsiteY128" fmla="*/ 2057407 h 4972007"/>
                            <a:gd name="connsiteX129" fmla="*/ 4066245 w 4824064"/>
                            <a:gd name="connsiteY129" fmla="*/ 2057407 h 4972007"/>
                            <a:gd name="connsiteX130" fmla="*/ 4115809 w 4824064"/>
                            <a:gd name="connsiteY130" fmla="*/ 1114432 h 4972007"/>
                            <a:gd name="connsiteX131" fmla="*/ 4223999 w 4824064"/>
                            <a:gd name="connsiteY131" fmla="*/ 1114432 h 4972007"/>
                            <a:gd name="connsiteX132" fmla="*/ 4481174 w 4824064"/>
                            <a:gd name="connsiteY132" fmla="*/ 857257 h 4972007"/>
                            <a:gd name="connsiteX133" fmla="*/ 4223999 w 4824064"/>
                            <a:gd name="connsiteY133" fmla="*/ 600082 h 4972007"/>
                            <a:gd name="connsiteX134" fmla="*/ 4215152 w 4824064"/>
                            <a:gd name="connsiteY134" fmla="*/ 600082 h 4972007"/>
                            <a:gd name="connsiteX135" fmla="*/ 3958438 w 4824064"/>
                            <a:gd name="connsiteY135" fmla="*/ 843708 h 4972007"/>
                            <a:gd name="connsiteX136" fmla="*/ 3953196 w 4824064"/>
                            <a:gd name="connsiteY136" fmla="*/ 942982 h 4972007"/>
                            <a:gd name="connsiteX137" fmla="*/ 3808992 w 4824064"/>
                            <a:gd name="connsiteY137" fmla="*/ 942982 h 4972007"/>
                            <a:gd name="connsiteX138" fmla="*/ 3803868 w 4824064"/>
                            <a:gd name="connsiteY138" fmla="*/ 843786 h 4972007"/>
                            <a:gd name="connsiteX139" fmla="*/ 3547036 w 4824064"/>
                            <a:gd name="connsiteY139" fmla="*/ 600082 h 4972007"/>
                            <a:gd name="connsiteX140" fmla="*/ 3538189 w 4824064"/>
                            <a:gd name="connsiteY140" fmla="*/ 600082 h 4972007"/>
                            <a:gd name="connsiteX141" fmla="*/ 3281014 w 4824064"/>
                            <a:gd name="connsiteY141" fmla="*/ 857257 h 4972007"/>
                            <a:gd name="connsiteX142" fmla="*/ 3538189 w 4824064"/>
                            <a:gd name="connsiteY142" fmla="*/ 1114432 h 4972007"/>
                            <a:gd name="connsiteX143" fmla="*/ 3646379 w 4824064"/>
                            <a:gd name="connsiteY143" fmla="*/ 1114432 h 4972007"/>
                            <a:gd name="connsiteX144" fmla="*/ 3695943 w 4824064"/>
                            <a:gd name="connsiteY144" fmla="*/ 2057407 h 4972007"/>
                            <a:gd name="connsiteX145" fmla="*/ 3411404 w 4824064"/>
                            <a:gd name="connsiteY145" fmla="*/ 2057407 h 4972007"/>
                            <a:gd name="connsiteX146" fmla="*/ 3050595 w 4824064"/>
                            <a:gd name="connsiteY146" fmla="*/ 1387449 h 4972007"/>
                            <a:gd name="connsiteX147" fmla="*/ 2938124 w 4824064"/>
                            <a:gd name="connsiteY147" fmla="*/ 941179 h 4972007"/>
                            <a:gd name="connsiteX148" fmla="*/ 3786186 w 4824064"/>
                            <a:gd name="connsiteY148" fmla="*/ 4875 h 4972007"/>
                            <a:gd name="connsiteX149" fmla="*/ 3882892 w 4824064"/>
                            <a:gd name="connsiteY149" fmla="*/ 7 h 4972007"/>
                            <a:gd name="connsiteX150" fmla="*/ 3882902 w 4824064"/>
                            <a:gd name="connsiteY150" fmla="*/ 7 h 4972007"/>
                            <a:gd name="connsiteX151" fmla="*/ 3882897 w 4824064"/>
                            <a:gd name="connsiteY151" fmla="*/ 7 h 4972007"/>
                            <a:gd name="connsiteX152" fmla="*/ 1223742 w 4824064"/>
                            <a:gd name="connsiteY152" fmla="*/ 0 h 4972007"/>
                            <a:gd name="connsiteX153" fmla="*/ 3288784 w 4824064"/>
                            <a:gd name="connsiteY153" fmla="*/ 0 h 4972007"/>
                            <a:gd name="connsiteX154" fmla="*/ 2771103 w 4824064"/>
                            <a:gd name="connsiteY154" fmla="*/ 857248 h 4972007"/>
                            <a:gd name="connsiteX155" fmla="*/ 1395192 w 4824064"/>
                            <a:gd name="connsiteY155" fmla="*/ 857248 h 4972007"/>
                            <a:gd name="connsiteX156" fmla="*/ 1395192 w 4824064"/>
                            <a:gd name="connsiteY156" fmla="*/ 1885947 h 4972007"/>
                            <a:gd name="connsiteX157" fmla="*/ 537942 w 4824064"/>
                            <a:gd name="connsiteY157" fmla="*/ 1885947 h 4972007"/>
                            <a:gd name="connsiteX158" fmla="*/ 537942 w 4824064"/>
                            <a:gd name="connsiteY158" fmla="*/ 3428997 h 4972007"/>
                            <a:gd name="connsiteX159" fmla="*/ 2423892 w 4824064"/>
                            <a:gd name="connsiteY159" fmla="*/ 3428997 h 4972007"/>
                            <a:gd name="connsiteX160" fmla="*/ 2423892 w 4824064"/>
                            <a:gd name="connsiteY160" fmla="*/ 2400297 h 4972007"/>
                            <a:gd name="connsiteX161" fmla="*/ 2954006 w 4824064"/>
                            <a:gd name="connsiteY161" fmla="*/ 2400297 h 4972007"/>
                            <a:gd name="connsiteX162" fmla="*/ 3195417 w 4824064"/>
                            <a:gd name="connsiteY162" fmla="*/ 2571747 h 4972007"/>
                            <a:gd name="connsiteX163" fmla="*/ 3201423 w 4824064"/>
                            <a:gd name="connsiteY163" fmla="*/ 2571786 h 4972007"/>
                            <a:gd name="connsiteX164" fmla="*/ 3795570 w 4824064"/>
                            <a:gd name="connsiteY164" fmla="*/ 3165934 h 4972007"/>
                            <a:gd name="connsiteX165" fmla="*/ 3795570 w 4824064"/>
                            <a:gd name="connsiteY165" fmla="*/ 3606120 h 4972007"/>
                            <a:gd name="connsiteX166" fmla="*/ 3709845 w 4824064"/>
                            <a:gd name="connsiteY166" fmla="*/ 3600457 h 4972007"/>
                            <a:gd name="connsiteX167" fmla="*/ 3069053 w 4824064"/>
                            <a:gd name="connsiteY167" fmla="*/ 3943357 h 4972007"/>
                            <a:gd name="connsiteX168" fmla="*/ 1093002 w 4824064"/>
                            <a:gd name="connsiteY168" fmla="*/ 3943357 h 4972007"/>
                            <a:gd name="connsiteX169" fmla="*/ 1035091 w 4824064"/>
                            <a:gd name="connsiteY169" fmla="*/ 3867574 h 4972007"/>
                            <a:gd name="connsiteX170" fmla="*/ 452217 w 4824064"/>
                            <a:gd name="connsiteY170" fmla="*/ 3600467 h 4972007"/>
                            <a:gd name="connsiteX171" fmla="*/ 366492 w 4824064"/>
                            <a:gd name="connsiteY171" fmla="*/ 3606130 h 4972007"/>
                            <a:gd name="connsiteX172" fmla="*/ 366492 w 4824064"/>
                            <a:gd name="connsiteY172" fmla="*/ 857248 h 4972007"/>
                            <a:gd name="connsiteX173" fmla="*/ 1223742 w 4824064"/>
                            <a:gd name="connsiteY173" fmla="*/ 857248 h 4972007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  <a:cxn ang="0">
                              <a:pos x="connsiteX15" y="connsiteY15"/>
                            </a:cxn>
                            <a:cxn ang="0">
                              <a:pos x="connsiteX16" y="connsiteY16"/>
                            </a:cxn>
                            <a:cxn ang="0">
                              <a:pos x="connsiteX17" y="connsiteY17"/>
                            </a:cxn>
                            <a:cxn ang="0">
                              <a:pos x="connsiteX18" y="connsiteY18"/>
                            </a:cxn>
                            <a:cxn ang="0">
                              <a:pos x="connsiteX19" y="connsiteY19"/>
                            </a:cxn>
                            <a:cxn ang="0">
                              <a:pos x="connsiteX20" y="connsiteY20"/>
                            </a:cxn>
                            <a:cxn ang="0">
                              <a:pos x="connsiteX21" y="connsiteY21"/>
                            </a:cxn>
                            <a:cxn ang="0">
                              <a:pos x="connsiteX22" y="connsiteY22"/>
                            </a:cxn>
                            <a:cxn ang="0">
                              <a:pos x="connsiteX23" y="connsiteY23"/>
                            </a:cxn>
                            <a:cxn ang="0">
                              <a:pos x="connsiteX24" y="connsiteY24"/>
                            </a:cxn>
                            <a:cxn ang="0">
                              <a:pos x="connsiteX25" y="connsiteY25"/>
                            </a:cxn>
                            <a:cxn ang="0">
                              <a:pos x="connsiteX26" y="connsiteY26"/>
                            </a:cxn>
                            <a:cxn ang="0">
                              <a:pos x="connsiteX27" y="connsiteY27"/>
                            </a:cxn>
                            <a:cxn ang="0">
                              <a:pos x="connsiteX28" y="connsiteY28"/>
                            </a:cxn>
                            <a:cxn ang="0">
                              <a:pos x="connsiteX29" y="connsiteY29"/>
                            </a:cxn>
                            <a:cxn ang="0">
                              <a:pos x="connsiteX30" y="connsiteY30"/>
                            </a:cxn>
                            <a:cxn ang="0">
                              <a:pos x="connsiteX31" y="connsiteY31"/>
                            </a:cxn>
                            <a:cxn ang="0">
                              <a:pos x="connsiteX32" y="connsiteY32"/>
                            </a:cxn>
                            <a:cxn ang="0">
                              <a:pos x="connsiteX33" y="connsiteY33"/>
                            </a:cxn>
                            <a:cxn ang="0">
                              <a:pos x="connsiteX34" y="connsiteY34"/>
                            </a:cxn>
                            <a:cxn ang="0">
                              <a:pos x="connsiteX35" y="connsiteY35"/>
                            </a:cxn>
                            <a:cxn ang="0">
                              <a:pos x="connsiteX36" y="connsiteY36"/>
                            </a:cxn>
                            <a:cxn ang="0">
                              <a:pos x="connsiteX37" y="connsiteY37"/>
                            </a:cxn>
                            <a:cxn ang="0">
                              <a:pos x="connsiteX38" y="connsiteY38"/>
                            </a:cxn>
                            <a:cxn ang="0">
                              <a:pos x="connsiteX39" y="connsiteY39"/>
                            </a:cxn>
                            <a:cxn ang="0">
                              <a:pos x="connsiteX40" y="connsiteY40"/>
                            </a:cxn>
                            <a:cxn ang="0">
                              <a:pos x="connsiteX41" y="connsiteY41"/>
                            </a:cxn>
                            <a:cxn ang="0">
                              <a:pos x="connsiteX42" y="connsiteY42"/>
                            </a:cxn>
                            <a:cxn ang="0">
                              <a:pos x="connsiteX43" y="connsiteY43"/>
                            </a:cxn>
                            <a:cxn ang="0">
                              <a:pos x="connsiteX44" y="connsiteY44"/>
                            </a:cxn>
                            <a:cxn ang="0">
                              <a:pos x="connsiteX45" y="connsiteY45"/>
                            </a:cxn>
                            <a:cxn ang="0">
                              <a:pos x="connsiteX46" y="connsiteY46"/>
                            </a:cxn>
                            <a:cxn ang="0">
                              <a:pos x="connsiteX47" y="connsiteY47"/>
                            </a:cxn>
                            <a:cxn ang="0">
                              <a:pos x="connsiteX48" y="connsiteY48"/>
                            </a:cxn>
                            <a:cxn ang="0">
                              <a:pos x="connsiteX49" y="connsiteY49"/>
                            </a:cxn>
                            <a:cxn ang="0">
                              <a:pos x="connsiteX50" y="connsiteY50"/>
                            </a:cxn>
                            <a:cxn ang="0">
                              <a:pos x="connsiteX51" y="connsiteY51"/>
                            </a:cxn>
                            <a:cxn ang="0">
                              <a:pos x="connsiteX52" y="connsiteY52"/>
                            </a:cxn>
                            <a:cxn ang="0">
                              <a:pos x="connsiteX53" y="connsiteY53"/>
                            </a:cxn>
                            <a:cxn ang="0">
                              <a:pos x="connsiteX54" y="connsiteY54"/>
                            </a:cxn>
                            <a:cxn ang="0">
                              <a:pos x="connsiteX55" y="connsiteY55"/>
                            </a:cxn>
                            <a:cxn ang="0">
                              <a:pos x="connsiteX56" y="connsiteY56"/>
                            </a:cxn>
                            <a:cxn ang="0">
                              <a:pos x="connsiteX57" y="connsiteY57"/>
                            </a:cxn>
                            <a:cxn ang="0">
                              <a:pos x="connsiteX58" y="connsiteY58"/>
                            </a:cxn>
                            <a:cxn ang="0">
                              <a:pos x="connsiteX59" y="connsiteY59"/>
                            </a:cxn>
                            <a:cxn ang="0">
                              <a:pos x="connsiteX60" y="connsiteY60"/>
                            </a:cxn>
                            <a:cxn ang="0">
                              <a:pos x="connsiteX61" y="connsiteY61"/>
                            </a:cxn>
                            <a:cxn ang="0">
                              <a:pos x="connsiteX62" y="connsiteY62"/>
                            </a:cxn>
                            <a:cxn ang="0">
                              <a:pos x="connsiteX63" y="connsiteY63"/>
                            </a:cxn>
                            <a:cxn ang="0">
                              <a:pos x="connsiteX64" y="connsiteY64"/>
                            </a:cxn>
                            <a:cxn ang="0">
                              <a:pos x="connsiteX65" y="connsiteY65"/>
                            </a:cxn>
                            <a:cxn ang="0">
                              <a:pos x="connsiteX66" y="connsiteY66"/>
                            </a:cxn>
                            <a:cxn ang="0">
                              <a:pos x="connsiteX67" y="connsiteY67"/>
                            </a:cxn>
                            <a:cxn ang="0">
                              <a:pos x="connsiteX68" y="connsiteY68"/>
                            </a:cxn>
                            <a:cxn ang="0">
                              <a:pos x="connsiteX69" y="connsiteY69"/>
                            </a:cxn>
                            <a:cxn ang="0">
                              <a:pos x="connsiteX70" y="connsiteY70"/>
                            </a:cxn>
                            <a:cxn ang="0">
                              <a:pos x="connsiteX71" y="connsiteY71"/>
                            </a:cxn>
                            <a:cxn ang="0">
                              <a:pos x="connsiteX72" y="connsiteY72"/>
                            </a:cxn>
                            <a:cxn ang="0">
                              <a:pos x="connsiteX73" y="connsiteY73"/>
                            </a:cxn>
                            <a:cxn ang="0">
                              <a:pos x="connsiteX74" y="connsiteY74"/>
                            </a:cxn>
                            <a:cxn ang="0">
                              <a:pos x="connsiteX75" y="connsiteY75"/>
                            </a:cxn>
                            <a:cxn ang="0">
                              <a:pos x="connsiteX76" y="connsiteY76"/>
                            </a:cxn>
                            <a:cxn ang="0">
                              <a:pos x="connsiteX77" y="connsiteY77"/>
                            </a:cxn>
                            <a:cxn ang="0">
                              <a:pos x="connsiteX78" y="connsiteY78"/>
                            </a:cxn>
                            <a:cxn ang="0">
                              <a:pos x="connsiteX79" y="connsiteY79"/>
                            </a:cxn>
                            <a:cxn ang="0">
                              <a:pos x="connsiteX80" y="connsiteY80"/>
                            </a:cxn>
                            <a:cxn ang="0">
                              <a:pos x="connsiteX81" y="connsiteY81"/>
                            </a:cxn>
                            <a:cxn ang="0">
                              <a:pos x="connsiteX82" y="connsiteY82"/>
                            </a:cxn>
                            <a:cxn ang="0">
                              <a:pos x="connsiteX83" y="connsiteY83"/>
                            </a:cxn>
                            <a:cxn ang="0">
                              <a:pos x="connsiteX84" y="connsiteY84"/>
                            </a:cxn>
                            <a:cxn ang="0">
                              <a:pos x="connsiteX85" y="connsiteY85"/>
                            </a:cxn>
                            <a:cxn ang="0">
                              <a:pos x="connsiteX86" y="connsiteY86"/>
                            </a:cxn>
                            <a:cxn ang="0">
                              <a:pos x="connsiteX87" y="connsiteY87"/>
                            </a:cxn>
                            <a:cxn ang="0">
                              <a:pos x="connsiteX88" y="connsiteY88"/>
                            </a:cxn>
                            <a:cxn ang="0">
                              <a:pos x="connsiteX89" y="connsiteY89"/>
                            </a:cxn>
                            <a:cxn ang="0">
                              <a:pos x="connsiteX90" y="connsiteY90"/>
                            </a:cxn>
                            <a:cxn ang="0">
                              <a:pos x="connsiteX91" y="connsiteY91"/>
                            </a:cxn>
                            <a:cxn ang="0">
                              <a:pos x="connsiteX92" y="connsiteY92"/>
                            </a:cxn>
                            <a:cxn ang="0">
                              <a:pos x="connsiteX93" y="connsiteY93"/>
                            </a:cxn>
                            <a:cxn ang="0">
                              <a:pos x="connsiteX94" y="connsiteY94"/>
                            </a:cxn>
                            <a:cxn ang="0">
                              <a:pos x="connsiteX95" y="connsiteY95"/>
                            </a:cxn>
                            <a:cxn ang="0">
                              <a:pos x="connsiteX96" y="connsiteY96"/>
                            </a:cxn>
                            <a:cxn ang="0">
                              <a:pos x="connsiteX97" y="connsiteY97"/>
                            </a:cxn>
                            <a:cxn ang="0">
                              <a:pos x="connsiteX98" y="connsiteY98"/>
                            </a:cxn>
                            <a:cxn ang="0">
                              <a:pos x="connsiteX99" y="connsiteY99"/>
                            </a:cxn>
                            <a:cxn ang="0">
                              <a:pos x="connsiteX100" y="connsiteY100"/>
                            </a:cxn>
                            <a:cxn ang="0">
                              <a:pos x="connsiteX101" y="connsiteY101"/>
                            </a:cxn>
                            <a:cxn ang="0">
                              <a:pos x="connsiteX102" y="connsiteY102"/>
                            </a:cxn>
                            <a:cxn ang="0">
                              <a:pos x="connsiteX103" y="connsiteY103"/>
                            </a:cxn>
                            <a:cxn ang="0">
                              <a:pos x="connsiteX104" y="connsiteY104"/>
                            </a:cxn>
                            <a:cxn ang="0">
                              <a:pos x="connsiteX105" y="connsiteY105"/>
                            </a:cxn>
                            <a:cxn ang="0">
                              <a:pos x="connsiteX106" y="connsiteY106"/>
                            </a:cxn>
                            <a:cxn ang="0">
                              <a:pos x="connsiteX107" y="connsiteY107"/>
                            </a:cxn>
                            <a:cxn ang="0">
                              <a:pos x="connsiteX108" y="connsiteY108"/>
                            </a:cxn>
                            <a:cxn ang="0">
                              <a:pos x="connsiteX109" y="connsiteY109"/>
                            </a:cxn>
                            <a:cxn ang="0">
                              <a:pos x="connsiteX110" y="connsiteY110"/>
                            </a:cxn>
                            <a:cxn ang="0">
                              <a:pos x="connsiteX111" y="connsiteY111"/>
                            </a:cxn>
                            <a:cxn ang="0">
                              <a:pos x="connsiteX112" y="connsiteY112"/>
                            </a:cxn>
                            <a:cxn ang="0">
                              <a:pos x="connsiteX113" y="connsiteY113"/>
                            </a:cxn>
                            <a:cxn ang="0">
                              <a:pos x="connsiteX114" y="connsiteY114"/>
                            </a:cxn>
                            <a:cxn ang="0">
                              <a:pos x="connsiteX115" y="connsiteY115"/>
                            </a:cxn>
                            <a:cxn ang="0">
                              <a:pos x="connsiteX116" y="connsiteY116"/>
                            </a:cxn>
                            <a:cxn ang="0">
                              <a:pos x="connsiteX117" y="connsiteY117"/>
                            </a:cxn>
                            <a:cxn ang="0">
                              <a:pos x="connsiteX118" y="connsiteY118"/>
                            </a:cxn>
                            <a:cxn ang="0">
                              <a:pos x="connsiteX119" y="connsiteY119"/>
                            </a:cxn>
                            <a:cxn ang="0">
                              <a:pos x="connsiteX120" y="connsiteY120"/>
                            </a:cxn>
                            <a:cxn ang="0">
                              <a:pos x="connsiteX121" y="connsiteY121"/>
                            </a:cxn>
                            <a:cxn ang="0">
                              <a:pos x="connsiteX122" y="connsiteY122"/>
                            </a:cxn>
                            <a:cxn ang="0">
                              <a:pos x="connsiteX123" y="connsiteY123"/>
                            </a:cxn>
                            <a:cxn ang="0">
                              <a:pos x="connsiteX124" y="connsiteY124"/>
                            </a:cxn>
                            <a:cxn ang="0">
                              <a:pos x="connsiteX125" y="connsiteY125"/>
                            </a:cxn>
                            <a:cxn ang="0">
                              <a:pos x="connsiteX126" y="connsiteY126"/>
                            </a:cxn>
                            <a:cxn ang="0">
                              <a:pos x="connsiteX127" y="connsiteY127"/>
                            </a:cxn>
                            <a:cxn ang="0">
                              <a:pos x="connsiteX128" y="connsiteY128"/>
                            </a:cxn>
                            <a:cxn ang="0">
                              <a:pos x="connsiteX129" y="connsiteY129"/>
                            </a:cxn>
                            <a:cxn ang="0">
                              <a:pos x="connsiteX130" y="connsiteY130"/>
                            </a:cxn>
                            <a:cxn ang="0">
                              <a:pos x="connsiteX131" y="connsiteY131"/>
                            </a:cxn>
                            <a:cxn ang="0">
                              <a:pos x="connsiteX132" y="connsiteY132"/>
                            </a:cxn>
                            <a:cxn ang="0">
                              <a:pos x="connsiteX133" y="connsiteY133"/>
                            </a:cxn>
                            <a:cxn ang="0">
                              <a:pos x="connsiteX134" y="connsiteY134"/>
                            </a:cxn>
                            <a:cxn ang="0">
                              <a:pos x="connsiteX135" y="connsiteY135"/>
                            </a:cxn>
                            <a:cxn ang="0">
                              <a:pos x="connsiteX136" y="connsiteY136"/>
                            </a:cxn>
                            <a:cxn ang="0">
                              <a:pos x="connsiteX137" y="connsiteY137"/>
                            </a:cxn>
                            <a:cxn ang="0">
                              <a:pos x="connsiteX138" y="connsiteY138"/>
                            </a:cxn>
                            <a:cxn ang="0">
                              <a:pos x="connsiteX139" y="connsiteY139"/>
                            </a:cxn>
                            <a:cxn ang="0">
                              <a:pos x="connsiteX140" y="connsiteY140"/>
                            </a:cxn>
                            <a:cxn ang="0">
                              <a:pos x="connsiteX141" y="connsiteY141"/>
                            </a:cxn>
                            <a:cxn ang="0">
                              <a:pos x="connsiteX142" y="connsiteY142"/>
                            </a:cxn>
                            <a:cxn ang="0">
                              <a:pos x="connsiteX143" y="connsiteY143"/>
                            </a:cxn>
                            <a:cxn ang="0">
                              <a:pos x="connsiteX144" y="connsiteY144"/>
                            </a:cxn>
                            <a:cxn ang="0">
                              <a:pos x="connsiteX145" y="connsiteY145"/>
                            </a:cxn>
                            <a:cxn ang="0">
                              <a:pos x="connsiteX146" y="connsiteY146"/>
                            </a:cxn>
                            <a:cxn ang="0">
                              <a:pos x="connsiteX147" y="connsiteY147"/>
                            </a:cxn>
                            <a:cxn ang="0">
                              <a:pos x="connsiteX148" y="connsiteY148"/>
                            </a:cxn>
                            <a:cxn ang="0">
                              <a:pos x="connsiteX149" y="connsiteY149"/>
                            </a:cxn>
                            <a:cxn ang="0">
                              <a:pos x="connsiteX150" y="connsiteY150"/>
                            </a:cxn>
                            <a:cxn ang="0">
                              <a:pos x="connsiteX151" y="connsiteY151"/>
                            </a:cxn>
                            <a:cxn ang="0">
                              <a:pos x="connsiteX152" y="connsiteY152"/>
                            </a:cxn>
                            <a:cxn ang="0">
                              <a:pos x="connsiteX153" y="connsiteY153"/>
                            </a:cxn>
                            <a:cxn ang="0">
                              <a:pos x="connsiteX154" y="connsiteY154"/>
                            </a:cxn>
                            <a:cxn ang="0">
                              <a:pos x="connsiteX155" y="connsiteY155"/>
                            </a:cxn>
                            <a:cxn ang="0">
                              <a:pos x="connsiteX156" y="connsiteY156"/>
                            </a:cxn>
                            <a:cxn ang="0">
                              <a:pos x="connsiteX157" y="connsiteY157"/>
                            </a:cxn>
                            <a:cxn ang="0">
                              <a:pos x="connsiteX158" y="connsiteY158"/>
                            </a:cxn>
                            <a:cxn ang="0">
                              <a:pos x="connsiteX159" y="connsiteY159"/>
                            </a:cxn>
                            <a:cxn ang="0">
                              <a:pos x="connsiteX160" y="connsiteY160"/>
                            </a:cxn>
                            <a:cxn ang="0">
                              <a:pos x="connsiteX161" y="connsiteY161"/>
                            </a:cxn>
                            <a:cxn ang="0">
                              <a:pos x="connsiteX162" y="connsiteY162"/>
                            </a:cxn>
                            <a:cxn ang="0">
                              <a:pos x="connsiteX163" y="connsiteY163"/>
                            </a:cxn>
                            <a:cxn ang="0">
                              <a:pos x="connsiteX164" y="connsiteY164"/>
                            </a:cxn>
                            <a:cxn ang="0">
                              <a:pos x="connsiteX165" y="connsiteY165"/>
                            </a:cxn>
                            <a:cxn ang="0">
                              <a:pos x="connsiteX166" y="connsiteY166"/>
                            </a:cxn>
                            <a:cxn ang="0">
                              <a:pos x="connsiteX167" y="connsiteY167"/>
                            </a:cxn>
                            <a:cxn ang="0">
                              <a:pos x="connsiteX168" y="connsiteY168"/>
                            </a:cxn>
                            <a:cxn ang="0">
                              <a:pos x="connsiteX169" y="connsiteY169"/>
                            </a:cxn>
                            <a:cxn ang="0">
                              <a:pos x="connsiteX170" y="connsiteY170"/>
                            </a:cxn>
                            <a:cxn ang="0">
                              <a:pos x="connsiteX171" y="connsiteY171"/>
                            </a:cxn>
                            <a:cxn ang="0">
                              <a:pos x="connsiteX172" y="connsiteY172"/>
                            </a:cxn>
                            <a:cxn ang="0">
                              <a:pos x="connsiteX173" y="connsiteY173"/>
                            </a:cxn>
                          </a:cxnLst>
                          <a:rect l="l" t="t" r="r" b="b"/>
                          <a:pathLst>
                            <a:path w="4824064" h="4972007">
                              <a:moveTo>
                                <a:pt x="1652288" y="4286217"/>
                              </a:moveTo>
                              <a:lnTo>
                                <a:pt x="1652288" y="4457667"/>
                              </a:lnTo>
                              <a:lnTo>
                                <a:pt x="1823738" y="4457667"/>
                              </a:lnTo>
                              <a:lnTo>
                                <a:pt x="1823738" y="4286217"/>
                              </a:lnTo>
                              <a:close/>
                              <a:moveTo>
                                <a:pt x="1309388" y="4286217"/>
                              </a:moveTo>
                              <a:lnTo>
                                <a:pt x="1309388" y="4457667"/>
                              </a:lnTo>
                              <a:lnTo>
                                <a:pt x="1480838" y="4457667"/>
                              </a:lnTo>
                              <a:lnTo>
                                <a:pt x="1480838" y="4286217"/>
                              </a:lnTo>
                              <a:close/>
                              <a:moveTo>
                                <a:pt x="966488" y="4286217"/>
                              </a:moveTo>
                              <a:lnTo>
                                <a:pt x="966488" y="4457667"/>
                              </a:lnTo>
                              <a:lnTo>
                                <a:pt x="1137938" y="4457667"/>
                              </a:lnTo>
                              <a:lnTo>
                                <a:pt x="1137938" y="4286217"/>
                              </a:lnTo>
                              <a:close/>
                              <a:moveTo>
                                <a:pt x="1092970" y="3943357"/>
                              </a:moveTo>
                              <a:lnTo>
                                <a:pt x="1093002" y="3943357"/>
                              </a:lnTo>
                              <a:lnTo>
                                <a:pt x="1093009" y="3943367"/>
                              </a:lnTo>
                              <a:close/>
                              <a:moveTo>
                                <a:pt x="452187" y="3771867"/>
                              </a:moveTo>
                              <a:cubicBezTo>
                                <a:pt x="665128" y="3771867"/>
                                <a:pt x="864088" y="3886905"/>
                                <a:pt x="971357" y="4071983"/>
                              </a:cubicBezTo>
                              <a:lnTo>
                                <a:pt x="996124" y="4114767"/>
                              </a:lnTo>
                              <a:lnTo>
                                <a:pt x="3165800" y="4114767"/>
                              </a:lnTo>
                              <a:lnTo>
                                <a:pt x="3190596" y="4071983"/>
                              </a:lnTo>
                              <a:cubicBezTo>
                                <a:pt x="3297826" y="3886905"/>
                                <a:pt x="3496796" y="3771867"/>
                                <a:pt x="3709727" y="3771867"/>
                              </a:cubicBezTo>
                              <a:cubicBezTo>
                                <a:pt x="3884087" y="3771867"/>
                                <a:pt x="4048414" y="3846110"/>
                                <a:pt x="4161924" y="3971180"/>
                              </a:cubicBezTo>
                              <a:lnTo>
                                <a:pt x="3829566" y="4037683"/>
                              </a:lnTo>
                              <a:lnTo>
                                <a:pt x="3606681" y="4371932"/>
                              </a:lnTo>
                              <a:lnTo>
                                <a:pt x="3829449" y="4706260"/>
                              </a:lnTo>
                              <a:lnTo>
                                <a:pt x="4161905" y="4772694"/>
                              </a:lnTo>
                              <a:cubicBezTo>
                                <a:pt x="4048395" y="4897764"/>
                                <a:pt x="3884068" y="4972007"/>
                                <a:pt x="3709708" y="4972007"/>
                              </a:cubicBezTo>
                              <a:cubicBezTo>
                                <a:pt x="3496777" y="4972007"/>
                                <a:pt x="3297816" y="4856969"/>
                                <a:pt x="3190655" y="4671891"/>
                              </a:cubicBezTo>
                              <a:lnTo>
                                <a:pt x="3165898" y="4629107"/>
                              </a:lnTo>
                              <a:lnTo>
                                <a:pt x="996124" y="4629107"/>
                              </a:lnTo>
                              <a:lnTo>
                                <a:pt x="971318" y="4671891"/>
                              </a:lnTo>
                              <a:cubicBezTo>
                                <a:pt x="864088" y="4856969"/>
                                <a:pt x="665128" y="4972007"/>
                                <a:pt x="452187" y="4972007"/>
                              </a:cubicBezTo>
                              <a:cubicBezTo>
                                <a:pt x="277827" y="4972007"/>
                                <a:pt x="113510" y="4897764"/>
                                <a:pt x="0" y="4772547"/>
                              </a:cubicBezTo>
                              <a:lnTo>
                                <a:pt x="332447" y="4706113"/>
                              </a:lnTo>
                              <a:lnTo>
                                <a:pt x="555332" y="4371864"/>
                              </a:lnTo>
                              <a:lnTo>
                                <a:pt x="332447" y="4037615"/>
                              </a:lnTo>
                              <a:lnTo>
                                <a:pt x="0" y="3971180"/>
                              </a:lnTo>
                              <a:cubicBezTo>
                                <a:pt x="113510" y="3846110"/>
                                <a:pt x="277827" y="3771867"/>
                                <a:pt x="452187" y="3771867"/>
                              </a:cubicBezTo>
                              <a:close/>
                              <a:moveTo>
                                <a:pt x="3881149" y="3000381"/>
                              </a:moveTo>
                              <a:lnTo>
                                <a:pt x="3881158" y="3000382"/>
                              </a:lnTo>
                              <a:lnTo>
                                <a:pt x="3881139" y="3000382"/>
                              </a:lnTo>
                              <a:close/>
                              <a:moveTo>
                                <a:pt x="1909463" y="2914657"/>
                              </a:moveTo>
                              <a:lnTo>
                                <a:pt x="1909463" y="3086107"/>
                              </a:lnTo>
                              <a:lnTo>
                                <a:pt x="2080913" y="3086107"/>
                              </a:lnTo>
                              <a:lnTo>
                                <a:pt x="2080913" y="2914657"/>
                              </a:lnTo>
                              <a:close/>
                              <a:moveTo>
                                <a:pt x="1566563" y="2914657"/>
                              </a:moveTo>
                              <a:lnTo>
                                <a:pt x="1566563" y="3086107"/>
                              </a:lnTo>
                              <a:lnTo>
                                <a:pt x="1738013" y="3086107"/>
                              </a:lnTo>
                              <a:lnTo>
                                <a:pt x="1738013" y="2914657"/>
                              </a:lnTo>
                              <a:close/>
                              <a:moveTo>
                                <a:pt x="1223663" y="2914657"/>
                              </a:moveTo>
                              <a:lnTo>
                                <a:pt x="1223663" y="3086107"/>
                              </a:lnTo>
                              <a:lnTo>
                                <a:pt x="1395113" y="3086107"/>
                              </a:lnTo>
                              <a:lnTo>
                                <a:pt x="1395113" y="2914657"/>
                              </a:lnTo>
                              <a:close/>
                              <a:moveTo>
                                <a:pt x="880763" y="2914657"/>
                              </a:moveTo>
                              <a:lnTo>
                                <a:pt x="880763" y="3086107"/>
                              </a:lnTo>
                              <a:lnTo>
                                <a:pt x="1052213" y="3086107"/>
                              </a:lnTo>
                              <a:lnTo>
                                <a:pt x="1052213" y="2914657"/>
                              </a:lnTo>
                              <a:close/>
                              <a:moveTo>
                                <a:pt x="3374538" y="2571757"/>
                              </a:moveTo>
                              <a:lnTo>
                                <a:pt x="4387759" y="2571757"/>
                              </a:lnTo>
                              <a:cubicBezTo>
                                <a:pt x="4351832" y="2784260"/>
                                <a:pt x="4185628" y="2953049"/>
                                <a:pt x="3974248" y="2991925"/>
                              </a:cubicBezTo>
                              <a:lnTo>
                                <a:pt x="3881149" y="3000381"/>
                              </a:lnTo>
                              <a:lnTo>
                                <a:pt x="3788049" y="2991925"/>
                              </a:lnTo>
                              <a:cubicBezTo>
                                <a:pt x="3576669" y="2953049"/>
                                <a:pt x="3410466" y="2784260"/>
                                <a:pt x="3374538" y="2571757"/>
                              </a:cubicBezTo>
                              <a:close/>
                              <a:moveTo>
                                <a:pt x="3195338" y="2228857"/>
                              </a:moveTo>
                              <a:lnTo>
                                <a:pt x="4566938" y="2228857"/>
                              </a:lnTo>
                              <a:cubicBezTo>
                                <a:pt x="4614239" y="2228857"/>
                                <a:pt x="4652663" y="2267360"/>
                                <a:pt x="4652663" y="2314582"/>
                              </a:cubicBezTo>
                              <a:cubicBezTo>
                                <a:pt x="4652663" y="2361804"/>
                                <a:pt x="4614239" y="2400307"/>
                                <a:pt x="4566938" y="2400307"/>
                              </a:cubicBezTo>
                              <a:lnTo>
                                <a:pt x="3195338" y="2400307"/>
                              </a:lnTo>
                              <a:cubicBezTo>
                                <a:pt x="3148037" y="2400307"/>
                                <a:pt x="3109613" y="2361804"/>
                                <a:pt x="3109613" y="2314582"/>
                              </a:cubicBezTo>
                              <a:cubicBezTo>
                                <a:pt x="3109613" y="2267360"/>
                                <a:pt x="3148037" y="2228857"/>
                                <a:pt x="3195338" y="2228857"/>
                              </a:cubicBezTo>
                              <a:close/>
                              <a:moveTo>
                                <a:pt x="709313" y="2057407"/>
                              </a:moveTo>
                              <a:lnTo>
                                <a:pt x="1395113" y="2057407"/>
                              </a:lnTo>
                              <a:lnTo>
                                <a:pt x="1395113" y="2400307"/>
                              </a:lnTo>
                              <a:lnTo>
                                <a:pt x="2252363" y="2400307"/>
                              </a:lnTo>
                              <a:lnTo>
                                <a:pt x="2252363" y="3257557"/>
                              </a:lnTo>
                              <a:lnTo>
                                <a:pt x="709313" y="3257557"/>
                              </a:lnTo>
                              <a:close/>
                              <a:moveTo>
                                <a:pt x="2423814" y="1200157"/>
                              </a:moveTo>
                              <a:lnTo>
                                <a:pt x="2423814" y="1371608"/>
                              </a:lnTo>
                              <a:lnTo>
                                <a:pt x="2595264" y="1371608"/>
                              </a:lnTo>
                              <a:lnTo>
                                <a:pt x="2595264" y="1200157"/>
                              </a:lnTo>
                              <a:close/>
                              <a:moveTo>
                                <a:pt x="2080914" y="1200157"/>
                              </a:moveTo>
                              <a:lnTo>
                                <a:pt x="2080914" y="1371608"/>
                              </a:lnTo>
                              <a:lnTo>
                                <a:pt x="2252364" y="1371608"/>
                              </a:lnTo>
                              <a:lnTo>
                                <a:pt x="2252364" y="1200157"/>
                              </a:lnTo>
                              <a:close/>
                              <a:moveTo>
                                <a:pt x="1738014" y="1200157"/>
                              </a:moveTo>
                              <a:lnTo>
                                <a:pt x="1738014" y="1371608"/>
                              </a:lnTo>
                              <a:lnTo>
                                <a:pt x="1909464" y="1371608"/>
                              </a:lnTo>
                              <a:lnTo>
                                <a:pt x="1909464" y="1200157"/>
                              </a:lnTo>
                              <a:close/>
                              <a:moveTo>
                                <a:pt x="3818153" y="1114432"/>
                              </a:moveTo>
                              <a:lnTo>
                                <a:pt x="3944134" y="1114432"/>
                              </a:lnTo>
                              <a:lnTo>
                                <a:pt x="3894502" y="2057407"/>
                              </a:lnTo>
                              <a:lnTo>
                                <a:pt x="3867785" y="2057407"/>
                              </a:lnTo>
                              <a:close/>
                              <a:moveTo>
                                <a:pt x="1566554" y="1028708"/>
                              </a:moveTo>
                              <a:lnTo>
                                <a:pt x="2772190" y="1028708"/>
                              </a:lnTo>
                              <a:cubicBezTo>
                                <a:pt x="2784359" y="1182169"/>
                                <a:pt x="2826535" y="1332880"/>
                                <a:pt x="2899661" y="1468737"/>
                              </a:cubicBezTo>
                              <a:lnTo>
                                <a:pt x="3216354" y="2057407"/>
                              </a:lnTo>
                              <a:lnTo>
                                <a:pt x="3195339" y="2057407"/>
                              </a:lnTo>
                              <a:cubicBezTo>
                                <a:pt x="3083730" y="2057407"/>
                                <a:pt x="2989432" y="2129318"/>
                                <a:pt x="2953918" y="2228857"/>
                              </a:cubicBezTo>
                              <a:lnTo>
                                <a:pt x="1566554" y="2228857"/>
                              </a:lnTo>
                              <a:close/>
                              <a:moveTo>
                                <a:pt x="4215201" y="771532"/>
                              </a:moveTo>
                              <a:lnTo>
                                <a:pt x="4224038" y="771532"/>
                              </a:lnTo>
                              <a:cubicBezTo>
                                <a:pt x="4271339" y="771532"/>
                                <a:pt x="4309763" y="810035"/>
                                <a:pt x="4309763" y="857257"/>
                              </a:cubicBezTo>
                              <a:cubicBezTo>
                                <a:pt x="4309763" y="904479"/>
                                <a:pt x="4271339" y="942982"/>
                                <a:pt x="4224038" y="942982"/>
                              </a:cubicBezTo>
                              <a:lnTo>
                                <a:pt x="4124960" y="942982"/>
                              </a:lnTo>
                              <a:lnTo>
                                <a:pt x="4129623" y="852701"/>
                              </a:lnTo>
                              <a:cubicBezTo>
                                <a:pt x="4131965" y="807203"/>
                                <a:pt x="4169576" y="771532"/>
                                <a:pt x="4215201" y="771532"/>
                              </a:cubicBezTo>
                              <a:close/>
                              <a:moveTo>
                                <a:pt x="3538219" y="771532"/>
                              </a:moveTo>
                              <a:lnTo>
                                <a:pt x="3547056" y="771532"/>
                              </a:lnTo>
                              <a:cubicBezTo>
                                <a:pt x="3592632" y="771532"/>
                                <a:pt x="3630214" y="807203"/>
                                <a:pt x="3632507" y="852819"/>
                              </a:cubicBezTo>
                              <a:lnTo>
                                <a:pt x="3637298" y="942982"/>
                              </a:lnTo>
                              <a:lnTo>
                                <a:pt x="3538219" y="942982"/>
                              </a:lnTo>
                              <a:cubicBezTo>
                                <a:pt x="3490919" y="942982"/>
                                <a:pt x="3452494" y="904479"/>
                                <a:pt x="3452494" y="857257"/>
                              </a:cubicBezTo>
                              <a:cubicBezTo>
                                <a:pt x="3452494" y="810035"/>
                                <a:pt x="3490919" y="771532"/>
                                <a:pt x="3538219" y="771532"/>
                              </a:cubicBezTo>
                              <a:close/>
                              <a:moveTo>
                                <a:pt x="1395153" y="514358"/>
                              </a:moveTo>
                              <a:lnTo>
                                <a:pt x="1395153" y="685808"/>
                              </a:lnTo>
                              <a:lnTo>
                                <a:pt x="2595303" y="685808"/>
                              </a:lnTo>
                              <a:lnTo>
                                <a:pt x="2595303" y="514358"/>
                              </a:lnTo>
                              <a:close/>
                              <a:moveTo>
                                <a:pt x="1395153" y="171458"/>
                              </a:moveTo>
                              <a:lnTo>
                                <a:pt x="1395153" y="342908"/>
                              </a:lnTo>
                              <a:lnTo>
                                <a:pt x="2595303" y="342908"/>
                              </a:lnTo>
                              <a:lnTo>
                                <a:pt x="2595303" y="171458"/>
                              </a:lnTo>
                              <a:close/>
                              <a:moveTo>
                                <a:pt x="1052214" y="121208"/>
                              </a:moveTo>
                              <a:lnTo>
                                <a:pt x="1052214" y="685808"/>
                              </a:lnTo>
                              <a:lnTo>
                                <a:pt x="487614" y="685808"/>
                              </a:lnTo>
                              <a:close/>
                              <a:moveTo>
                                <a:pt x="3882897" y="7"/>
                              </a:moveTo>
                              <a:lnTo>
                                <a:pt x="3978973" y="4875"/>
                              </a:lnTo>
                              <a:cubicBezTo>
                                <a:pt x="4452923" y="53159"/>
                                <a:pt x="4824064" y="454632"/>
                                <a:pt x="4824064" y="941179"/>
                              </a:cubicBezTo>
                              <a:cubicBezTo>
                                <a:pt x="4824064" y="1096445"/>
                                <a:pt x="4785150" y="1250750"/>
                                <a:pt x="4711593" y="1387449"/>
                              </a:cubicBezTo>
                              <a:lnTo>
                                <a:pt x="4350862" y="2057407"/>
                              </a:lnTo>
                              <a:lnTo>
                                <a:pt x="4066245" y="2057407"/>
                              </a:lnTo>
                              <a:lnTo>
                                <a:pt x="4115809" y="1114432"/>
                              </a:lnTo>
                              <a:lnTo>
                                <a:pt x="4223999" y="1114432"/>
                              </a:lnTo>
                              <a:cubicBezTo>
                                <a:pt x="4365793" y="1114432"/>
                                <a:pt x="4481174" y="999051"/>
                                <a:pt x="4481174" y="857257"/>
                              </a:cubicBezTo>
                              <a:cubicBezTo>
                                <a:pt x="4481174" y="715463"/>
                                <a:pt x="4365793" y="600082"/>
                                <a:pt x="4223999" y="600082"/>
                              </a:cubicBezTo>
                              <a:lnTo>
                                <a:pt x="4215152" y="600082"/>
                              </a:lnTo>
                              <a:cubicBezTo>
                                <a:pt x="4078335" y="600082"/>
                                <a:pt x="3965521" y="707155"/>
                                <a:pt x="3958438" y="843708"/>
                              </a:cubicBezTo>
                              <a:lnTo>
                                <a:pt x="3953196" y="942982"/>
                              </a:lnTo>
                              <a:lnTo>
                                <a:pt x="3808992" y="942982"/>
                              </a:lnTo>
                              <a:lnTo>
                                <a:pt x="3803868" y="843786"/>
                              </a:lnTo>
                              <a:cubicBezTo>
                                <a:pt x="3796667" y="707165"/>
                                <a:pt x="3683932" y="600082"/>
                                <a:pt x="3547036" y="600082"/>
                              </a:cubicBezTo>
                              <a:lnTo>
                                <a:pt x="3538189" y="600082"/>
                              </a:lnTo>
                              <a:cubicBezTo>
                                <a:pt x="3396395" y="600082"/>
                                <a:pt x="3281014" y="715463"/>
                                <a:pt x="3281014" y="857257"/>
                              </a:cubicBezTo>
                              <a:cubicBezTo>
                                <a:pt x="3281014" y="999051"/>
                                <a:pt x="3396395" y="1114432"/>
                                <a:pt x="3538189" y="1114432"/>
                              </a:cubicBezTo>
                              <a:lnTo>
                                <a:pt x="3646379" y="1114432"/>
                              </a:lnTo>
                              <a:lnTo>
                                <a:pt x="3695943" y="2057407"/>
                              </a:lnTo>
                              <a:lnTo>
                                <a:pt x="3411404" y="2057407"/>
                              </a:lnTo>
                              <a:lnTo>
                                <a:pt x="3050595" y="1387449"/>
                              </a:lnTo>
                              <a:cubicBezTo>
                                <a:pt x="2977048" y="1250750"/>
                                <a:pt x="2938124" y="1096445"/>
                                <a:pt x="2938124" y="941179"/>
                              </a:cubicBezTo>
                              <a:cubicBezTo>
                                <a:pt x="2938124" y="454641"/>
                                <a:pt x="3309265" y="53160"/>
                                <a:pt x="3786186" y="4875"/>
                              </a:cubicBezTo>
                              <a:close/>
                              <a:moveTo>
                                <a:pt x="3882892" y="7"/>
                              </a:moveTo>
                              <a:lnTo>
                                <a:pt x="3882902" y="7"/>
                              </a:lnTo>
                              <a:lnTo>
                                <a:pt x="3882897" y="7"/>
                              </a:lnTo>
                              <a:close/>
                              <a:moveTo>
                                <a:pt x="1223742" y="0"/>
                              </a:moveTo>
                              <a:lnTo>
                                <a:pt x="3288784" y="0"/>
                              </a:lnTo>
                              <a:cubicBezTo>
                                <a:pt x="2998201" y="183011"/>
                                <a:pt x="2798270" y="496020"/>
                                <a:pt x="2771103" y="857248"/>
                              </a:cubicBezTo>
                              <a:lnTo>
                                <a:pt x="1395192" y="857248"/>
                              </a:lnTo>
                              <a:lnTo>
                                <a:pt x="1395192" y="1885947"/>
                              </a:lnTo>
                              <a:lnTo>
                                <a:pt x="537942" y="1885947"/>
                              </a:lnTo>
                              <a:lnTo>
                                <a:pt x="537942" y="3428997"/>
                              </a:lnTo>
                              <a:lnTo>
                                <a:pt x="2423892" y="3428997"/>
                              </a:lnTo>
                              <a:lnTo>
                                <a:pt x="2423892" y="2400297"/>
                              </a:lnTo>
                              <a:lnTo>
                                <a:pt x="2954006" y="2400297"/>
                              </a:lnTo>
                              <a:cubicBezTo>
                                <a:pt x="2989520" y="2499836"/>
                                <a:pt x="3083818" y="2571747"/>
                                <a:pt x="3195417" y="2571747"/>
                              </a:cubicBezTo>
                              <a:lnTo>
                                <a:pt x="3201423" y="2571786"/>
                              </a:lnTo>
                              <a:cubicBezTo>
                                <a:pt x="3240347" y="2881396"/>
                                <a:pt x="3485932" y="3127089"/>
                                <a:pt x="3795570" y="3165934"/>
                              </a:cubicBezTo>
                              <a:lnTo>
                                <a:pt x="3795570" y="3606120"/>
                              </a:lnTo>
                              <a:cubicBezTo>
                                <a:pt x="3767208" y="3603024"/>
                                <a:pt x="3738737" y="3600457"/>
                                <a:pt x="3709845" y="3600457"/>
                              </a:cubicBezTo>
                              <a:cubicBezTo>
                                <a:pt x="3452749" y="3600457"/>
                                <a:pt x="3211534" y="3730690"/>
                                <a:pt x="3069053" y="3943357"/>
                              </a:cubicBezTo>
                              <a:lnTo>
                                <a:pt x="1093002" y="3943357"/>
                              </a:lnTo>
                              <a:lnTo>
                                <a:pt x="1035091" y="3867574"/>
                              </a:lnTo>
                              <a:cubicBezTo>
                                <a:pt x="889918" y="3700176"/>
                                <a:pt x="677177" y="3600467"/>
                                <a:pt x="452217" y="3600467"/>
                              </a:cubicBezTo>
                              <a:cubicBezTo>
                                <a:pt x="423325" y="3600467"/>
                                <a:pt x="394845" y="3603034"/>
                                <a:pt x="366492" y="3606130"/>
                              </a:cubicBezTo>
                              <a:lnTo>
                                <a:pt x="366492" y="857248"/>
                              </a:lnTo>
                              <a:lnTo>
                                <a:pt x="1223742" y="857248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B52372"/>
                        </a:solidFill>
                        <a:ln w="979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 sz="1000" dirty="0">
                            <a:latin typeface="Franklin Gothic Book" panose="020B0503020102020204" pitchFamily="34" charset="0"/>
                          </a:endParaRPr>
                        </a:p>
                      </p:txBody>
                    </p:sp>
                  </p:grpSp>
                </p:grpSp>
              </p:grpSp>
            </p:grpSp>
          </p:grpSp>
          <p:grpSp>
            <p:nvGrpSpPr>
              <p:cNvPr id="31" name="Group 30">
                <a:extLst>
                  <a:ext uri="{FF2B5EF4-FFF2-40B4-BE49-F238E27FC236}">
                    <a16:creationId xmlns:a16="http://schemas.microsoft.com/office/drawing/2014/main" id="{74EF55AE-CE09-30D2-8FD2-30696B9408FC}"/>
                  </a:ext>
                </a:extLst>
              </p:cNvPr>
              <p:cNvGrpSpPr/>
              <p:nvPr/>
            </p:nvGrpSpPr>
            <p:grpSpPr>
              <a:xfrm>
                <a:off x="5014294" y="959343"/>
                <a:ext cx="2223697" cy="5636719"/>
                <a:chOff x="5014294" y="959343"/>
                <a:chExt cx="2223697" cy="5636719"/>
              </a:xfrm>
            </p:grpSpPr>
            <p:grpSp>
              <p:nvGrpSpPr>
                <p:cNvPr id="32" name="Group 31">
                  <a:extLst>
                    <a:ext uri="{FF2B5EF4-FFF2-40B4-BE49-F238E27FC236}">
                      <a16:creationId xmlns:a16="http://schemas.microsoft.com/office/drawing/2014/main" id="{8809FE4E-F566-4AE5-6773-BDF3A0A5FE29}"/>
                    </a:ext>
                  </a:extLst>
                </p:cNvPr>
                <p:cNvGrpSpPr/>
                <p:nvPr/>
              </p:nvGrpSpPr>
              <p:grpSpPr>
                <a:xfrm>
                  <a:off x="5859756" y="1922690"/>
                  <a:ext cx="481126" cy="4386903"/>
                  <a:chOff x="6048539" y="1902667"/>
                  <a:chExt cx="481126" cy="4386903"/>
                </a:xfrm>
              </p:grpSpPr>
              <p:cxnSp>
                <p:nvCxnSpPr>
                  <p:cNvPr id="111" name="Straight Connector 110">
                    <a:extLst>
                      <a:ext uri="{FF2B5EF4-FFF2-40B4-BE49-F238E27FC236}">
                        <a16:creationId xmlns:a16="http://schemas.microsoft.com/office/drawing/2014/main" id="{4CF87159-D86C-87C0-01E6-73F3FDF33E1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>
                    <a:off x="6044441" y="6038922"/>
                    <a:ext cx="501296" cy="0"/>
                  </a:xfrm>
                  <a:prstGeom prst="line">
                    <a:avLst/>
                  </a:prstGeom>
                  <a:ln w="6350">
                    <a:solidFill>
                      <a:schemeClr val="tx1">
                        <a:lumMod val="65000"/>
                        <a:lumOff val="35000"/>
                      </a:schemeClr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112" name="Group 111">
                    <a:extLst>
                      <a:ext uri="{FF2B5EF4-FFF2-40B4-BE49-F238E27FC236}">
                        <a16:creationId xmlns:a16="http://schemas.microsoft.com/office/drawing/2014/main" id="{15673775-3F41-696C-3BBC-630CC6A2D566}"/>
                      </a:ext>
                    </a:extLst>
                  </p:cNvPr>
                  <p:cNvGrpSpPr/>
                  <p:nvPr/>
                </p:nvGrpSpPr>
                <p:grpSpPr>
                  <a:xfrm>
                    <a:off x="6048539" y="4431522"/>
                    <a:ext cx="481126" cy="752996"/>
                    <a:chOff x="5786581" y="4614264"/>
                    <a:chExt cx="481126" cy="542232"/>
                  </a:xfrm>
                </p:grpSpPr>
                <p:cxnSp>
                  <p:nvCxnSpPr>
                    <p:cNvPr id="115" name="Straight Connector 114">
                      <a:extLst>
                        <a:ext uri="{FF2B5EF4-FFF2-40B4-BE49-F238E27FC236}">
                          <a16:creationId xmlns:a16="http://schemas.microsoft.com/office/drawing/2014/main" id="{7BA82AEE-DFAA-B423-4DA8-386CCACABD4C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5786581" y="4623735"/>
                      <a:ext cx="0" cy="532761"/>
                    </a:xfrm>
                    <a:prstGeom prst="line">
                      <a:avLst/>
                    </a:prstGeom>
                    <a:ln w="635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6" name="Straight Connector 115">
                      <a:extLst>
                        <a:ext uri="{FF2B5EF4-FFF2-40B4-BE49-F238E27FC236}">
                          <a16:creationId xmlns:a16="http://schemas.microsoft.com/office/drawing/2014/main" id="{3A13B9B3-6A93-C279-8D37-29BFBAAB7351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6267703" y="4614264"/>
                      <a:ext cx="4" cy="538635"/>
                    </a:xfrm>
                    <a:prstGeom prst="line">
                      <a:avLst/>
                    </a:prstGeom>
                    <a:ln w="635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113" name="Straight Connector 112">
                    <a:extLst>
                      <a:ext uri="{FF2B5EF4-FFF2-40B4-BE49-F238E27FC236}">
                        <a16:creationId xmlns:a16="http://schemas.microsoft.com/office/drawing/2014/main" id="{0A0CBA3C-EA38-7F3D-4ED1-5D8FE58A970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6295090" y="2437078"/>
                    <a:ext cx="1" cy="477388"/>
                  </a:xfrm>
                  <a:prstGeom prst="line">
                    <a:avLst/>
                  </a:prstGeom>
                  <a:ln w="6350">
                    <a:solidFill>
                      <a:schemeClr val="tx1">
                        <a:lumMod val="65000"/>
                        <a:lumOff val="35000"/>
                      </a:schemeClr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4" name="Straight Connector 113">
                    <a:extLst>
                      <a:ext uri="{FF2B5EF4-FFF2-40B4-BE49-F238E27FC236}">
                        <a16:creationId xmlns:a16="http://schemas.microsoft.com/office/drawing/2014/main" id="{863C2CBA-F278-BE1F-33AC-7D564F71724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295090" y="1902667"/>
                    <a:ext cx="0" cy="153670"/>
                  </a:xfrm>
                  <a:prstGeom prst="line">
                    <a:avLst/>
                  </a:prstGeom>
                  <a:ln w="6350">
                    <a:solidFill>
                      <a:schemeClr val="tx1">
                        <a:lumMod val="65000"/>
                        <a:lumOff val="35000"/>
                      </a:schemeClr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40" name="Group 39">
                  <a:extLst>
                    <a:ext uri="{FF2B5EF4-FFF2-40B4-BE49-F238E27FC236}">
                      <a16:creationId xmlns:a16="http://schemas.microsoft.com/office/drawing/2014/main" id="{A660E953-BF73-4A14-04EA-3E189C0580C8}"/>
                    </a:ext>
                  </a:extLst>
                </p:cNvPr>
                <p:cNvGrpSpPr/>
                <p:nvPr/>
              </p:nvGrpSpPr>
              <p:grpSpPr>
                <a:xfrm>
                  <a:off x="5014294" y="959343"/>
                  <a:ext cx="2223697" cy="5636719"/>
                  <a:chOff x="5014294" y="959343"/>
                  <a:chExt cx="2223697" cy="5636719"/>
                </a:xfrm>
              </p:grpSpPr>
              <p:grpSp>
                <p:nvGrpSpPr>
                  <p:cNvPr id="41" name="Group 40">
                    <a:extLst>
                      <a:ext uri="{FF2B5EF4-FFF2-40B4-BE49-F238E27FC236}">
                        <a16:creationId xmlns:a16="http://schemas.microsoft.com/office/drawing/2014/main" id="{B7F06927-C779-8397-EC5D-DCD4F5748966}"/>
                      </a:ext>
                    </a:extLst>
                  </p:cNvPr>
                  <p:cNvGrpSpPr/>
                  <p:nvPr/>
                </p:nvGrpSpPr>
                <p:grpSpPr>
                  <a:xfrm>
                    <a:off x="5032244" y="959343"/>
                    <a:ext cx="2148124" cy="1003263"/>
                    <a:chOff x="5030439" y="983255"/>
                    <a:chExt cx="2148124" cy="1003263"/>
                  </a:xfrm>
                </p:grpSpPr>
                <p:grpSp>
                  <p:nvGrpSpPr>
                    <p:cNvPr id="93" name="Group 92">
                      <a:extLst>
                        <a:ext uri="{FF2B5EF4-FFF2-40B4-BE49-F238E27FC236}">
                          <a16:creationId xmlns:a16="http://schemas.microsoft.com/office/drawing/2014/main" id="{A81A6CA4-0230-F534-8AB5-0ABCD28394D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030439" y="1267148"/>
                      <a:ext cx="2148124" cy="719370"/>
                      <a:chOff x="4958932" y="1324298"/>
                      <a:chExt cx="2148124" cy="719370"/>
                    </a:xfrm>
                  </p:grpSpPr>
                  <p:sp>
                    <p:nvSpPr>
                      <p:cNvPr id="108" name="Google Shape;83409;p3921">
                        <a:extLst>
                          <a:ext uri="{FF2B5EF4-FFF2-40B4-BE49-F238E27FC236}">
                            <a16:creationId xmlns:a16="http://schemas.microsoft.com/office/drawing/2014/main" id="{4A03882F-8DC7-720B-E775-A728B610D3E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980097" y="1324298"/>
                        <a:ext cx="2105795" cy="719370"/>
                      </a:xfrm>
                      <a:prstGeom prst="roundRect">
                        <a:avLst>
                          <a:gd name="adj" fmla="val 0"/>
                        </a:avLst>
                      </a:prstGeom>
                      <a:solidFill>
                        <a:srgbClr val="B52372"/>
                      </a:solidFill>
                      <a:ln>
                        <a:noFill/>
                      </a:ln>
                    </p:spPr>
                    <p:txBody>
                      <a:bodyPr spcFirstLastPara="1" wrap="square" lIns="68575" tIns="34275" rIns="68575" bIns="34275" anchor="ctr" anchorCtr="0">
                        <a:noAutofit/>
                      </a:bodyPr>
                      <a:lstStyle/>
                      <a:p>
                        <a:pPr marL="0" marR="0" lvl="0" indent="0" algn="ctr" defTabSz="4572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FFFFFF"/>
                          </a:buClr>
                          <a:buSzPts val="1400"/>
                          <a:buFont typeface="Calibri"/>
                          <a:buNone/>
                          <a:tabLst/>
                          <a:defRPr/>
                        </a:pPr>
                        <a:endParaRPr kumimoji="0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Franklin Gothic Book" panose="020B0503020102020204" pitchFamily="34" charset="0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109" name="Google Shape;83415;p3921">
                        <a:extLst>
                          <a:ext uri="{FF2B5EF4-FFF2-40B4-BE49-F238E27FC236}">
                            <a16:creationId xmlns:a16="http://schemas.microsoft.com/office/drawing/2014/main" id="{EA81C8B7-DD5F-1D80-9583-71976C00BA7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958932" y="1974335"/>
                        <a:ext cx="2148124" cy="41064"/>
                      </a:xfrm>
                      <a:prstGeom prst="roundRect">
                        <a:avLst>
                          <a:gd name="adj" fmla="val 0"/>
                        </a:avLst>
                      </a:prstGeom>
                      <a:solidFill>
                        <a:schemeClr val="lt1"/>
                      </a:solidFill>
                      <a:ln>
                        <a:noFill/>
                      </a:ln>
                    </p:spPr>
                    <p:txBody>
                      <a:bodyPr spcFirstLastPara="1" wrap="square" lIns="68575" tIns="34275" rIns="68575" bIns="34275" anchor="ctr" anchorCtr="0">
                        <a:noAutofit/>
                      </a:bodyPr>
                      <a:lstStyle/>
                      <a:p>
                        <a:pPr marL="0" marR="0" lvl="0" indent="0" algn="ctr" defTabSz="4572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FFFFFF"/>
                          </a:buClr>
                          <a:buSzPts val="1400"/>
                          <a:buFont typeface="Calibri"/>
                          <a:buNone/>
                          <a:tabLst/>
                          <a:defRPr/>
                        </a:pPr>
                        <a:endParaRPr kumimoji="0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Franklin Gothic Book" panose="020B0503020102020204" pitchFamily="34" charset="0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110" name="TextBox 109">
                        <a:extLst>
                          <a:ext uri="{FF2B5EF4-FFF2-40B4-BE49-F238E27FC236}">
                            <a16:creationId xmlns:a16="http://schemas.microsoft.com/office/drawing/2014/main" id="{0AC28ADB-7AC7-7BE8-91F4-1BA52FBA11B8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5007536" y="1467286"/>
                        <a:ext cx="2050914" cy="433392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anchor="ctr">
                        <a:spAutoFit/>
                      </a:bodyPr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7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chemeClr val="bg2"/>
                            </a:solidFill>
                            <a:effectLst/>
                            <a:uLnTx/>
                            <a:uFillTx/>
                            <a:latin typeface="Franklin Gothic Book" panose="020B0503020102020204" pitchFamily="34" charset="0"/>
                          </a:rPr>
                          <a:t>End Goal in Customer Value Terms</a:t>
                        </a:r>
                      </a:p>
                    </p:txBody>
                  </p:sp>
                </p:grpSp>
                <p:grpSp>
                  <p:nvGrpSpPr>
                    <p:cNvPr id="95" name="Group 94">
                      <a:extLst>
                        <a:ext uri="{FF2B5EF4-FFF2-40B4-BE49-F238E27FC236}">
                          <a16:creationId xmlns:a16="http://schemas.microsoft.com/office/drawing/2014/main" id="{4130CC31-F78D-7936-B000-E187B47E7B0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656422" y="983255"/>
                      <a:ext cx="896159" cy="372147"/>
                      <a:chOff x="5656422" y="983255"/>
                      <a:chExt cx="896159" cy="372147"/>
                    </a:xfrm>
                  </p:grpSpPr>
                  <p:grpSp>
                    <p:nvGrpSpPr>
                      <p:cNvPr id="96" name="Google Shape;83411;p3921">
                        <a:extLst>
                          <a:ext uri="{FF2B5EF4-FFF2-40B4-BE49-F238E27FC236}">
                            <a16:creationId xmlns:a16="http://schemas.microsoft.com/office/drawing/2014/main" id="{E6C662B9-F394-E111-EC46-69612338B91E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656422" y="1214313"/>
                        <a:ext cx="896159" cy="35903"/>
                        <a:chOff x="863283" y="2322123"/>
                        <a:chExt cx="1194878" cy="47871"/>
                      </a:xfrm>
                    </p:grpSpPr>
                    <p:sp>
                      <p:nvSpPr>
                        <p:cNvPr id="105" name="Google Shape;83412;p3921">
                          <a:extLst>
                            <a:ext uri="{FF2B5EF4-FFF2-40B4-BE49-F238E27FC236}">
                              <a16:creationId xmlns:a16="http://schemas.microsoft.com/office/drawing/2014/main" id="{818B2CA5-7C72-5583-2004-C9CAC0AADB50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941176" y="2328812"/>
                          <a:ext cx="1039091" cy="34480"/>
                        </a:xfrm>
                        <a:prstGeom prst="roundRect">
                          <a:avLst>
                            <a:gd name="adj" fmla="val 0"/>
                          </a:avLst>
                        </a:prstGeom>
                        <a:solidFill>
                          <a:srgbClr val="B52372"/>
                        </a:solidFill>
                        <a:ln>
                          <a:noFill/>
                        </a:ln>
                      </p:spPr>
                      <p:txBody>
                        <a:bodyPr spcFirstLastPara="1" wrap="square" lIns="68575" tIns="34275" rIns="68575" bIns="34275" anchor="ctr" anchorCtr="0">
                          <a:noAutofit/>
                        </a:bodyPr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FFFFFF"/>
                            </a:buClr>
                            <a:buSzPts val="1400"/>
                            <a:buFont typeface="Calibri"/>
                            <a:buNone/>
                            <a:tabLst/>
                            <a:defRPr/>
                          </a:pPr>
                          <a:endParaRPr kumimoji="0" sz="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Franklin Gothic Book" panose="020B0503020102020204" pitchFamily="34" charset="0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106" name="Google Shape;83413;p3921">
                          <a:extLst>
                            <a:ext uri="{FF2B5EF4-FFF2-40B4-BE49-F238E27FC236}">
                              <a16:creationId xmlns:a16="http://schemas.microsoft.com/office/drawing/2014/main" id="{7010D282-79B1-2DB4-9784-51FA0190A0BB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63283" y="2322123"/>
                          <a:ext cx="47863" cy="47863"/>
                        </a:xfrm>
                        <a:prstGeom prst="ellipse">
                          <a:avLst/>
                        </a:prstGeom>
                        <a:solidFill>
                          <a:schemeClr val="lt1"/>
                        </a:solidFill>
                        <a:ln w="9525" cap="flat" cmpd="sng">
                          <a:noFill/>
                          <a:prstDash val="solid"/>
                          <a:miter lim="800000"/>
                          <a:headEnd type="none" w="sm" len="sm"/>
                          <a:tailEnd type="none" w="sm" len="sm"/>
                        </a:ln>
                      </p:spPr>
                      <p:txBody>
                        <a:bodyPr spcFirstLastPara="1" wrap="square" lIns="68575" tIns="34275" rIns="68575" bIns="34275" anchor="ctr" anchorCtr="0">
                          <a:noAutofit/>
                        </a:bodyPr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FFFFFF"/>
                            </a:buClr>
                            <a:buSzPts val="1400"/>
                            <a:buFont typeface="Calibri"/>
                            <a:buNone/>
                            <a:tabLst/>
                            <a:defRPr/>
                          </a:pPr>
                          <a:endParaRPr kumimoji="0" sz="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Franklin Gothic Book" panose="020B0503020102020204" pitchFamily="34" charset="0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107" name="Google Shape;83414;p3921">
                          <a:extLst>
                            <a:ext uri="{FF2B5EF4-FFF2-40B4-BE49-F238E27FC236}">
                              <a16:creationId xmlns:a16="http://schemas.microsoft.com/office/drawing/2014/main" id="{487A78C4-89B3-7D88-0C95-FCC561F8C32C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2010298" y="2322131"/>
                          <a:ext cx="47863" cy="47863"/>
                        </a:xfrm>
                        <a:prstGeom prst="ellipse">
                          <a:avLst/>
                        </a:prstGeom>
                        <a:solidFill>
                          <a:schemeClr val="lt1"/>
                        </a:solidFill>
                        <a:ln w="9525" cap="flat" cmpd="sng">
                          <a:noFill/>
                          <a:prstDash val="solid"/>
                          <a:miter lim="800000"/>
                          <a:headEnd type="none" w="sm" len="sm"/>
                          <a:tailEnd type="none" w="sm" len="sm"/>
                        </a:ln>
                      </p:spPr>
                      <p:txBody>
                        <a:bodyPr spcFirstLastPara="1" wrap="square" lIns="68575" tIns="34275" rIns="68575" bIns="34275" anchor="ctr" anchorCtr="0">
                          <a:noAutofit/>
                        </a:bodyPr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FFFFFF"/>
                            </a:buClr>
                            <a:buSzPts val="1400"/>
                            <a:buFont typeface="Calibri"/>
                            <a:buNone/>
                            <a:tabLst/>
                            <a:defRPr/>
                          </a:pPr>
                          <a:endParaRPr kumimoji="0" sz="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Franklin Gothic Book" panose="020B0503020102020204" pitchFamily="34" charset="0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grpSp>
                    <p:nvGrpSpPr>
                      <p:cNvPr id="97" name="Group 96">
                        <a:extLst>
                          <a:ext uri="{FF2B5EF4-FFF2-40B4-BE49-F238E27FC236}">
                            <a16:creationId xmlns:a16="http://schemas.microsoft.com/office/drawing/2014/main" id="{D53168B8-1393-33B3-939C-E83DA84DF3CC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918428" y="983255"/>
                        <a:ext cx="372147" cy="372147"/>
                        <a:chOff x="5918428" y="983255"/>
                        <a:chExt cx="372147" cy="372147"/>
                      </a:xfrm>
                    </p:grpSpPr>
                    <p:sp>
                      <p:nvSpPr>
                        <p:cNvPr id="103" name="Google Shape;83463;p3921">
                          <a:extLst>
                            <a:ext uri="{FF2B5EF4-FFF2-40B4-BE49-F238E27FC236}">
                              <a16:creationId xmlns:a16="http://schemas.microsoft.com/office/drawing/2014/main" id="{93861B16-5280-E6D1-BCF3-47B8AD26D96F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918428" y="983255"/>
                          <a:ext cx="372147" cy="372147"/>
                        </a:xfrm>
                        <a:prstGeom prst="ellipse">
                          <a:avLst/>
                        </a:prstGeom>
                        <a:solidFill>
                          <a:schemeClr val="bg1"/>
                        </a:solidFill>
                        <a:ln w="9525" cap="flat" cmpd="sng">
                          <a:solidFill>
                            <a:srgbClr val="B52372"/>
                          </a:solidFill>
                          <a:prstDash val="solid"/>
                          <a:miter lim="800000"/>
                          <a:headEnd type="none" w="sm" len="sm"/>
                          <a:tailEnd type="none" w="sm" len="sm"/>
                        </a:ln>
                      </p:spPr>
                      <p:txBody>
                        <a:bodyPr spcFirstLastPara="1" wrap="square" lIns="68575" tIns="34275" rIns="68575" bIns="34275" anchor="ctr" anchorCtr="0">
                          <a:noAutofit/>
                        </a:bodyPr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FFFFFF"/>
                            </a:buClr>
                            <a:buSzPts val="1400"/>
                            <a:buFont typeface="Calibri"/>
                            <a:buNone/>
                            <a:tabLst/>
                            <a:defRPr/>
                          </a:pPr>
                          <a:endParaRPr kumimoji="0" sz="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Franklin Gothic Book" panose="020B0503020102020204" pitchFamily="34" charset="0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104" name="Freeform: Shape 209">
                          <a:extLst>
                            <a:ext uri="{FF2B5EF4-FFF2-40B4-BE49-F238E27FC236}">
                              <a16:creationId xmlns:a16="http://schemas.microsoft.com/office/drawing/2014/main" id="{BCD0CD5F-8C77-5B68-3C06-9C0F0185051D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999648" y="1056674"/>
                          <a:ext cx="225228" cy="225308"/>
                        </a:xfrm>
                        <a:custGeom>
                          <a:avLst/>
                          <a:gdLst>
                            <a:gd name="connsiteX0" fmla="*/ 4210812 w 4827070"/>
                            <a:gd name="connsiteY0" fmla="*/ 735 h 4828767"/>
                            <a:gd name="connsiteX1" fmla="*/ 4150805 w 4827070"/>
                            <a:gd name="connsiteY1" fmla="*/ 28175 h 4828767"/>
                            <a:gd name="connsiteX2" fmla="*/ 3657048 w 4827070"/>
                            <a:gd name="connsiteY2" fmla="*/ 467097 h 4828767"/>
                            <a:gd name="connsiteX3" fmla="*/ 3621034 w 4827070"/>
                            <a:gd name="connsiteY3" fmla="*/ 549377 h 4828767"/>
                            <a:gd name="connsiteX4" fmla="*/ 3621034 w 4827070"/>
                            <a:gd name="connsiteY4" fmla="*/ 1051704 h 4828767"/>
                            <a:gd name="connsiteX5" fmla="*/ 1843048 w 4827070"/>
                            <a:gd name="connsiteY5" fmla="*/ 2829690 h 4828767"/>
                            <a:gd name="connsiteX6" fmla="*/ 1840560 w 4827070"/>
                            <a:gd name="connsiteY6" fmla="*/ 2986444 h 4828767"/>
                            <a:gd name="connsiteX7" fmla="*/ 1997314 w 4827070"/>
                            <a:gd name="connsiteY7" fmla="*/ 2985719 h 4828767"/>
                            <a:gd name="connsiteX8" fmla="*/ 3775300 w 4827070"/>
                            <a:gd name="connsiteY8" fmla="*/ 1207734 h 4828767"/>
                            <a:gd name="connsiteX9" fmla="*/ 4279353 w 4827070"/>
                            <a:gd name="connsiteY9" fmla="*/ 1207734 h 4828767"/>
                            <a:gd name="connsiteX10" fmla="*/ 4361639 w 4827070"/>
                            <a:gd name="connsiteY10" fmla="*/ 1169995 h 4828767"/>
                            <a:gd name="connsiteX11" fmla="*/ 4800561 w 4827070"/>
                            <a:gd name="connsiteY11" fmla="*/ 676239 h 4828767"/>
                            <a:gd name="connsiteX12" fmla="*/ 4817706 w 4827070"/>
                            <a:gd name="connsiteY12" fmla="*/ 558981 h 4828767"/>
                            <a:gd name="connsiteX13" fmla="*/ 4718246 w 4827070"/>
                            <a:gd name="connsiteY13" fmla="*/ 494496 h 4828767"/>
                            <a:gd name="connsiteX14" fmla="*/ 4334207 w 4827070"/>
                            <a:gd name="connsiteY14" fmla="*/ 494496 h 4828767"/>
                            <a:gd name="connsiteX15" fmla="*/ 4334207 w 4827070"/>
                            <a:gd name="connsiteY15" fmla="*/ 110458 h 4828767"/>
                            <a:gd name="connsiteX16" fmla="*/ 4210744 w 4827070"/>
                            <a:gd name="connsiteY16" fmla="*/ 739 h 4828767"/>
                            <a:gd name="connsiteX17" fmla="*/ 1920240 w 4827070"/>
                            <a:gd name="connsiteY17" fmla="*/ 988287 h 4828767"/>
                            <a:gd name="connsiteX18" fmla="*/ 0 w 4827070"/>
                            <a:gd name="connsiteY18" fmla="*/ 2908528 h 4828767"/>
                            <a:gd name="connsiteX19" fmla="*/ 1920240 w 4827070"/>
                            <a:gd name="connsiteY19" fmla="*/ 4828768 h 4828767"/>
                            <a:gd name="connsiteX20" fmla="*/ 3840480 w 4827070"/>
                            <a:gd name="connsiteY20" fmla="*/ 2908528 h 4828767"/>
                            <a:gd name="connsiteX21" fmla="*/ 3387862 w 4827070"/>
                            <a:gd name="connsiteY21" fmla="*/ 1672324 h 4828767"/>
                            <a:gd name="connsiteX22" fmla="*/ 2919823 w 4827070"/>
                            <a:gd name="connsiteY22" fmla="*/ 2140363 h 4828767"/>
                            <a:gd name="connsiteX23" fmla="*/ 3182122 w 4827070"/>
                            <a:gd name="connsiteY23" fmla="*/ 2908439 h 4828767"/>
                            <a:gd name="connsiteX24" fmla="*/ 1920250 w 4827070"/>
                            <a:gd name="connsiteY24" fmla="*/ 4170311 h 4828767"/>
                            <a:gd name="connsiteX25" fmla="*/ 658378 w 4827070"/>
                            <a:gd name="connsiteY25" fmla="*/ 2908439 h 4828767"/>
                            <a:gd name="connsiteX26" fmla="*/ 1920250 w 4827070"/>
                            <a:gd name="connsiteY26" fmla="*/ 1646567 h 4828767"/>
                            <a:gd name="connsiteX27" fmla="*/ 2688326 w 4827070"/>
                            <a:gd name="connsiteY27" fmla="*/ 1907191 h 4828767"/>
                            <a:gd name="connsiteX28" fmla="*/ 3154690 w 4827070"/>
                            <a:gd name="connsiteY28" fmla="*/ 1439152 h 4828767"/>
                            <a:gd name="connsiteX29" fmla="*/ 1920250 w 4827070"/>
                            <a:gd name="connsiteY29" fmla="*/ 988258 h 4828767"/>
                            <a:gd name="connsiteX30" fmla="*/ 1920240 w 4827070"/>
                            <a:gd name="connsiteY30" fmla="*/ 1866131 h 4828767"/>
                            <a:gd name="connsiteX31" fmla="*/ 877824 w 4827070"/>
                            <a:gd name="connsiteY31" fmla="*/ 2908547 h 4828767"/>
                            <a:gd name="connsiteX32" fmla="*/ 1920240 w 4827070"/>
                            <a:gd name="connsiteY32" fmla="*/ 3950963 h 4828767"/>
                            <a:gd name="connsiteX33" fmla="*/ 2962656 w 4827070"/>
                            <a:gd name="connsiteY33" fmla="*/ 2908547 h 4828767"/>
                            <a:gd name="connsiteX34" fmla="*/ 2763764 w 4827070"/>
                            <a:gd name="connsiteY34" fmla="*/ 2296451 h 4828767"/>
                            <a:gd name="connsiteX35" fmla="*/ 2324842 w 4827070"/>
                            <a:gd name="connsiteY35" fmla="*/ 2737097 h 4828767"/>
                            <a:gd name="connsiteX36" fmla="*/ 2359132 w 4827070"/>
                            <a:gd name="connsiteY36" fmla="*/ 2908547 h 4828767"/>
                            <a:gd name="connsiteX37" fmla="*/ 1920211 w 4827070"/>
                            <a:gd name="connsiteY37" fmla="*/ 3347469 h 4828767"/>
                            <a:gd name="connsiteX38" fmla="*/ 1481289 w 4827070"/>
                            <a:gd name="connsiteY38" fmla="*/ 2908547 h 4828767"/>
                            <a:gd name="connsiteX39" fmla="*/ 1920211 w 4827070"/>
                            <a:gd name="connsiteY39" fmla="*/ 2469625 h 4828767"/>
                            <a:gd name="connsiteX40" fmla="*/ 2089936 w 4827070"/>
                            <a:gd name="connsiteY40" fmla="*/ 2503915 h 4828767"/>
                            <a:gd name="connsiteX41" fmla="*/ 2530582 w 4827070"/>
                            <a:gd name="connsiteY41" fmla="*/ 2064994 h 4828767"/>
                            <a:gd name="connsiteX42" fmla="*/ 1920211 w 4827070"/>
                            <a:gd name="connsiteY42" fmla="*/ 1866102 h 4828767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  <a:cxn ang="0">
                              <a:pos x="connsiteX15" y="connsiteY15"/>
                            </a:cxn>
                            <a:cxn ang="0">
                              <a:pos x="connsiteX16" y="connsiteY16"/>
                            </a:cxn>
                            <a:cxn ang="0">
                              <a:pos x="connsiteX17" y="connsiteY17"/>
                            </a:cxn>
                            <a:cxn ang="0">
                              <a:pos x="connsiteX18" y="connsiteY18"/>
                            </a:cxn>
                            <a:cxn ang="0">
                              <a:pos x="connsiteX19" y="connsiteY19"/>
                            </a:cxn>
                            <a:cxn ang="0">
                              <a:pos x="connsiteX20" y="connsiteY20"/>
                            </a:cxn>
                            <a:cxn ang="0">
                              <a:pos x="connsiteX21" y="connsiteY21"/>
                            </a:cxn>
                            <a:cxn ang="0">
                              <a:pos x="connsiteX22" y="connsiteY22"/>
                            </a:cxn>
                            <a:cxn ang="0">
                              <a:pos x="connsiteX23" y="connsiteY23"/>
                            </a:cxn>
                            <a:cxn ang="0">
                              <a:pos x="connsiteX24" y="connsiteY24"/>
                            </a:cxn>
                            <a:cxn ang="0">
                              <a:pos x="connsiteX25" y="connsiteY25"/>
                            </a:cxn>
                            <a:cxn ang="0">
                              <a:pos x="connsiteX26" y="connsiteY26"/>
                            </a:cxn>
                            <a:cxn ang="0">
                              <a:pos x="connsiteX27" y="connsiteY27"/>
                            </a:cxn>
                            <a:cxn ang="0">
                              <a:pos x="connsiteX28" y="connsiteY28"/>
                            </a:cxn>
                            <a:cxn ang="0">
                              <a:pos x="connsiteX29" y="connsiteY29"/>
                            </a:cxn>
                            <a:cxn ang="0">
                              <a:pos x="connsiteX30" y="connsiteY30"/>
                            </a:cxn>
                            <a:cxn ang="0">
                              <a:pos x="connsiteX31" y="connsiteY31"/>
                            </a:cxn>
                            <a:cxn ang="0">
                              <a:pos x="connsiteX32" y="connsiteY32"/>
                            </a:cxn>
                            <a:cxn ang="0">
                              <a:pos x="connsiteX33" y="connsiteY33"/>
                            </a:cxn>
                            <a:cxn ang="0">
                              <a:pos x="connsiteX34" y="connsiteY34"/>
                            </a:cxn>
                            <a:cxn ang="0">
                              <a:pos x="connsiteX35" y="connsiteY35"/>
                            </a:cxn>
                            <a:cxn ang="0">
                              <a:pos x="connsiteX36" y="connsiteY36"/>
                            </a:cxn>
                            <a:cxn ang="0">
                              <a:pos x="connsiteX37" y="connsiteY37"/>
                            </a:cxn>
                            <a:cxn ang="0">
                              <a:pos x="connsiteX38" y="connsiteY38"/>
                            </a:cxn>
                            <a:cxn ang="0">
                              <a:pos x="connsiteX39" y="connsiteY39"/>
                            </a:cxn>
                            <a:cxn ang="0">
                              <a:pos x="connsiteX40" y="connsiteY40"/>
                            </a:cxn>
                            <a:cxn ang="0">
                              <a:pos x="connsiteX41" y="connsiteY41"/>
                            </a:cxn>
                            <a:cxn ang="0">
                              <a:pos x="connsiteX42" y="connsiteY42"/>
                            </a:cxn>
                          </a:cxnLst>
                          <a:rect l="l" t="t" r="r" b="b"/>
                          <a:pathLst>
                            <a:path w="4827070" h="4828767">
                              <a:moveTo>
                                <a:pt x="4210812" y="735"/>
                              </a:moveTo>
                              <a:cubicBezTo>
                                <a:pt x="4188651" y="3491"/>
                                <a:pt x="4167371" y="13211"/>
                                <a:pt x="4150805" y="28175"/>
                              </a:cubicBezTo>
                              <a:lnTo>
                                <a:pt x="3657048" y="467097"/>
                              </a:lnTo>
                              <a:cubicBezTo>
                                <a:pt x="3634201" y="487840"/>
                                <a:pt x="3620769" y="518532"/>
                                <a:pt x="3621034" y="549377"/>
                              </a:cubicBezTo>
                              <a:lnTo>
                                <a:pt x="3621034" y="1051704"/>
                              </a:lnTo>
                              <a:lnTo>
                                <a:pt x="1843048" y="2829690"/>
                              </a:lnTo>
                              <a:cubicBezTo>
                                <a:pt x="1800842" y="2869760"/>
                                <a:pt x="1799647" y="2945071"/>
                                <a:pt x="1840560" y="2986444"/>
                              </a:cubicBezTo>
                              <a:cubicBezTo>
                                <a:pt x="1881473" y="3027818"/>
                                <a:pt x="1956783" y="3027475"/>
                                <a:pt x="1997314" y="2985719"/>
                              </a:cubicBezTo>
                              <a:lnTo>
                                <a:pt x="3775300" y="1207734"/>
                              </a:lnTo>
                              <a:lnTo>
                                <a:pt x="4279353" y="1207734"/>
                              </a:lnTo>
                              <a:cubicBezTo>
                                <a:pt x="4310469" y="1207577"/>
                                <a:pt x="4341242" y="1193498"/>
                                <a:pt x="4361639" y="1169995"/>
                              </a:cubicBezTo>
                              <a:lnTo>
                                <a:pt x="4800561" y="676239"/>
                              </a:lnTo>
                              <a:cubicBezTo>
                                <a:pt x="4827925" y="644747"/>
                                <a:pt x="4834929" y="596986"/>
                                <a:pt x="4817706" y="558981"/>
                              </a:cubicBezTo>
                              <a:cubicBezTo>
                                <a:pt x="4800483" y="520978"/>
                                <a:pt x="4759991" y="494725"/>
                                <a:pt x="4718246" y="494496"/>
                              </a:cubicBezTo>
                              <a:lnTo>
                                <a:pt x="4334207" y="494496"/>
                              </a:lnTo>
                              <a:lnTo>
                                <a:pt x="4334207" y="110458"/>
                              </a:lnTo>
                              <a:cubicBezTo>
                                <a:pt x="4334736" y="48154"/>
                                <a:pt x="4272593" y="-7069"/>
                                <a:pt x="4210744" y="739"/>
                              </a:cubicBezTo>
                              <a:close/>
                              <a:moveTo>
                                <a:pt x="1920240" y="988287"/>
                              </a:moveTo>
                              <a:cubicBezTo>
                                <a:pt x="859699" y="988287"/>
                                <a:pt x="0" y="1848026"/>
                                <a:pt x="0" y="2908528"/>
                              </a:cubicBezTo>
                              <a:cubicBezTo>
                                <a:pt x="0" y="3969029"/>
                                <a:pt x="859739" y="4828768"/>
                                <a:pt x="1920240" y="4828768"/>
                              </a:cubicBezTo>
                              <a:cubicBezTo>
                                <a:pt x="2980781" y="4828768"/>
                                <a:pt x="3840480" y="3969029"/>
                                <a:pt x="3840480" y="2908528"/>
                              </a:cubicBezTo>
                              <a:cubicBezTo>
                                <a:pt x="3840480" y="2437158"/>
                                <a:pt x="3669677" y="2006544"/>
                                <a:pt x="3387862" y="1672324"/>
                              </a:cubicBezTo>
                              <a:lnTo>
                                <a:pt x="2919823" y="2140363"/>
                              </a:lnTo>
                              <a:cubicBezTo>
                                <a:pt x="3084043" y="2353412"/>
                                <a:pt x="3182122" y="2619394"/>
                                <a:pt x="3182122" y="2908439"/>
                              </a:cubicBezTo>
                              <a:cubicBezTo>
                                <a:pt x="3182122" y="3604037"/>
                                <a:pt x="2615876" y="4170311"/>
                                <a:pt x="1920250" y="4170311"/>
                              </a:cubicBezTo>
                              <a:cubicBezTo>
                                <a:pt x="1224653" y="4170311"/>
                                <a:pt x="658378" y="3604027"/>
                                <a:pt x="658378" y="2908439"/>
                              </a:cubicBezTo>
                              <a:cubicBezTo>
                                <a:pt x="658378" y="2212803"/>
                                <a:pt x="1224623" y="1646567"/>
                                <a:pt x="1920250" y="1646567"/>
                              </a:cubicBezTo>
                              <a:cubicBezTo>
                                <a:pt x="2208962" y="1646567"/>
                                <a:pt x="2475434" y="1743353"/>
                                <a:pt x="2688326" y="1907191"/>
                              </a:cubicBezTo>
                              <a:lnTo>
                                <a:pt x="3154690" y="1439152"/>
                              </a:lnTo>
                              <a:cubicBezTo>
                                <a:pt x="2820784" y="1158248"/>
                                <a:pt x="2390738" y="988258"/>
                                <a:pt x="1920250" y="988258"/>
                              </a:cubicBezTo>
                              <a:close/>
                              <a:moveTo>
                                <a:pt x="1920240" y="1866131"/>
                              </a:moveTo>
                              <a:cubicBezTo>
                                <a:pt x="1343237" y="1866131"/>
                                <a:pt x="877824" y="2331535"/>
                                <a:pt x="877824" y="2908547"/>
                              </a:cubicBezTo>
                              <a:cubicBezTo>
                                <a:pt x="877824" y="3485560"/>
                                <a:pt x="1343228" y="3950963"/>
                                <a:pt x="1920240" y="3950963"/>
                              </a:cubicBezTo>
                              <a:cubicBezTo>
                                <a:pt x="2497253" y="3950963"/>
                                <a:pt x="2962656" y="3485560"/>
                                <a:pt x="2962656" y="2908547"/>
                              </a:cubicBezTo>
                              <a:cubicBezTo>
                                <a:pt x="2962656" y="2679343"/>
                                <a:pt x="2888453" y="2468283"/>
                                <a:pt x="2763764" y="2296451"/>
                              </a:cubicBezTo>
                              <a:cubicBezTo>
                                <a:pt x="2618453" y="2443830"/>
                                <a:pt x="2467704" y="2588837"/>
                                <a:pt x="2324842" y="2737097"/>
                              </a:cubicBezTo>
                              <a:cubicBezTo>
                                <a:pt x="2347043" y="2789600"/>
                                <a:pt x="2359132" y="2847922"/>
                                <a:pt x="2359132" y="2908547"/>
                              </a:cubicBezTo>
                              <a:cubicBezTo>
                                <a:pt x="2359132" y="3150948"/>
                                <a:pt x="2162612" y="3347469"/>
                                <a:pt x="1920211" y="3347469"/>
                              </a:cubicBezTo>
                              <a:cubicBezTo>
                                <a:pt x="1677810" y="3347469"/>
                                <a:pt x="1481289" y="3150948"/>
                                <a:pt x="1481289" y="2908547"/>
                              </a:cubicBezTo>
                              <a:cubicBezTo>
                                <a:pt x="1481289" y="2666146"/>
                                <a:pt x="1677810" y="2469625"/>
                                <a:pt x="1920211" y="2469625"/>
                              </a:cubicBezTo>
                              <a:cubicBezTo>
                                <a:pt x="1980257" y="2469625"/>
                                <a:pt x="2037816" y="2482097"/>
                                <a:pt x="2089936" y="2503915"/>
                              </a:cubicBezTo>
                              <a:cubicBezTo>
                                <a:pt x="2237237" y="2360093"/>
                                <a:pt x="2384194" y="2211382"/>
                                <a:pt x="2530582" y="2064994"/>
                              </a:cubicBezTo>
                              <a:cubicBezTo>
                                <a:pt x="2358976" y="1940805"/>
                                <a:pt x="2148915" y="1866102"/>
                                <a:pt x="1920211" y="1866102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B52372"/>
                        </a:solidFill>
                        <a:ln w="979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 sz="1000" dirty="0">
                            <a:latin typeface="Franklin Gothic Book" panose="020B0503020102020204" pitchFamily="34" charset="0"/>
                          </a:endParaRPr>
                        </a:p>
                      </p:txBody>
                    </p:sp>
                  </p:grpSp>
                </p:grpSp>
              </p:grpSp>
              <p:grpSp>
                <p:nvGrpSpPr>
                  <p:cNvPr id="42" name="Group 41">
                    <a:extLst>
                      <a:ext uri="{FF2B5EF4-FFF2-40B4-BE49-F238E27FC236}">
                        <a16:creationId xmlns:a16="http://schemas.microsoft.com/office/drawing/2014/main" id="{C957DEC1-B13B-B274-5E7D-49A172B45431}"/>
                      </a:ext>
                    </a:extLst>
                  </p:cNvPr>
                  <p:cNvGrpSpPr/>
                  <p:nvPr/>
                </p:nvGrpSpPr>
                <p:grpSpPr>
                  <a:xfrm>
                    <a:off x="5014294" y="2076360"/>
                    <a:ext cx="2223697" cy="4519702"/>
                    <a:chOff x="5014294" y="2076360"/>
                    <a:chExt cx="2223697" cy="4519702"/>
                  </a:xfrm>
                </p:grpSpPr>
                <p:grpSp>
                  <p:nvGrpSpPr>
                    <p:cNvPr id="43" name="Group 42">
                      <a:extLst>
                        <a:ext uri="{FF2B5EF4-FFF2-40B4-BE49-F238E27FC236}">
                          <a16:creationId xmlns:a16="http://schemas.microsoft.com/office/drawing/2014/main" id="{24F86541-5AA6-A762-CAAC-559DF9AA60D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053409" y="2076360"/>
                      <a:ext cx="2105795" cy="391885"/>
                      <a:chOff x="4982298" y="2148220"/>
                      <a:chExt cx="2105795" cy="391885"/>
                    </a:xfrm>
                  </p:grpSpPr>
                  <p:sp>
                    <p:nvSpPr>
                      <p:cNvPr id="89" name="Rectangle 88">
                        <a:extLst>
                          <a:ext uri="{FF2B5EF4-FFF2-40B4-BE49-F238E27FC236}">
                            <a16:creationId xmlns:a16="http://schemas.microsoft.com/office/drawing/2014/main" id="{5E182D28-B130-6314-916D-3738E01DDF5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982298" y="2148220"/>
                        <a:ext cx="2105795" cy="391885"/>
                      </a:xfrm>
                      <a:prstGeom prst="rect">
                        <a:avLst/>
                      </a:prstGeom>
                      <a:solidFill>
                        <a:schemeClr val="bg2">
                          <a:lumMod val="95000"/>
                        </a:schemeClr>
                      </a:solidFill>
                      <a:ln>
                        <a:noFill/>
                      </a:ln>
                      <a:effectLst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marL="0" marR="0" lvl="0" indent="0" algn="ctr" defTabSz="4572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Franklin Gothic Book" panose="020B0503020102020204" pitchFamily="34" charset="0"/>
                        </a:endParaRPr>
                      </a:p>
                    </p:txBody>
                  </p:sp>
                  <p:sp>
                    <p:nvSpPr>
                      <p:cNvPr id="91" name="TextBox 90">
                        <a:extLst>
                          <a:ext uri="{FF2B5EF4-FFF2-40B4-BE49-F238E27FC236}">
                            <a16:creationId xmlns:a16="http://schemas.microsoft.com/office/drawing/2014/main" id="{7C4B91CA-7AFE-3056-9FA9-EF773577EB47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5089926" y="2201943"/>
                        <a:ext cx="1890543" cy="284436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 anchor="ctr">
                        <a:spAutoFit/>
                      </a:bodyPr>
                      <a:lstStyle/>
                      <a:p>
                        <a:pPr algn="ctr"/>
                        <a:r>
                          <a:rPr lang="en-US" sz="600" dirty="0">
                            <a:solidFill>
                              <a:schemeClr val="tx2">
                                <a:lumMod val="65000"/>
                                <a:lumOff val="35000"/>
                              </a:schemeClr>
                            </a:solidFill>
                            <a:latin typeface="Franklin Gothic Book" panose="020B0503020102020204" pitchFamily="34" charset="0"/>
                            <a:cs typeface="Arial" panose="020B0604020202020204" pitchFamily="34" charset="0"/>
                          </a:rPr>
                          <a:t>Future Customer Centric </a:t>
                        </a:r>
                      </a:p>
                    </p:txBody>
                  </p:sp>
                </p:grpSp>
                <p:grpSp>
                  <p:nvGrpSpPr>
                    <p:cNvPr id="44" name="Group 43">
                      <a:extLst>
                        <a:ext uri="{FF2B5EF4-FFF2-40B4-BE49-F238E27FC236}">
                          <a16:creationId xmlns:a16="http://schemas.microsoft.com/office/drawing/2014/main" id="{5F052501-021A-25B9-4074-8D5B82B1A52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014294" y="5207449"/>
                      <a:ext cx="2144910" cy="599034"/>
                      <a:chOff x="5012489" y="5109173"/>
                      <a:chExt cx="2144910" cy="599034"/>
                    </a:xfrm>
                  </p:grpSpPr>
                  <p:sp>
                    <p:nvSpPr>
                      <p:cNvPr id="81" name="Rectangle 80">
                        <a:extLst>
                          <a:ext uri="{FF2B5EF4-FFF2-40B4-BE49-F238E27FC236}">
                            <a16:creationId xmlns:a16="http://schemas.microsoft.com/office/drawing/2014/main" id="{93107617-FDC1-5CD5-BA6D-6509E17006B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051604" y="5135951"/>
                        <a:ext cx="2105795" cy="572256"/>
                      </a:xfrm>
                      <a:prstGeom prst="rect">
                        <a:avLst/>
                      </a:prstGeom>
                      <a:solidFill>
                        <a:schemeClr val="bg2">
                          <a:lumMod val="95000"/>
                        </a:schemeClr>
                      </a:solidFill>
                      <a:ln>
                        <a:noFill/>
                      </a:ln>
                      <a:effectLst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marL="0" marR="0" lvl="0" indent="0" algn="ctr" defTabSz="4572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Franklin Gothic Book" panose="020B0503020102020204" pitchFamily="34" charset="0"/>
                        </a:endParaRPr>
                      </a:p>
                    </p:txBody>
                  </p:sp>
                  <p:sp>
                    <p:nvSpPr>
                      <p:cNvPr id="83" name="TextBox 82">
                        <a:extLst>
                          <a:ext uri="{FF2B5EF4-FFF2-40B4-BE49-F238E27FC236}">
                            <a16:creationId xmlns:a16="http://schemas.microsoft.com/office/drawing/2014/main" id="{3A2A8F25-1191-095E-E571-BB02377E85D7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5012489" y="5109173"/>
                        <a:ext cx="2143492" cy="568872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anchor="ctr">
                        <a:spAutoFit/>
                      </a:bodyPr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lang="en-US" sz="600" dirty="0">
                            <a:solidFill>
                              <a:schemeClr val="tx2">
                                <a:lumMod val="65000"/>
                                <a:lumOff val="35000"/>
                              </a:schemeClr>
                            </a:solidFill>
                            <a:latin typeface="Franklin Gothic Book" panose="020B0503020102020204" pitchFamily="34" charset="0"/>
                            <a:cs typeface="Arial" panose="020B0604020202020204" pitchFamily="34" charset="0"/>
                          </a:rPr>
                          <a:t>Organizational Vision, Strategy, and operational constraints</a:t>
                        </a:r>
                        <a:endParaRPr kumimoji="0" lang="en-US" sz="60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2">
                              <a:lumMod val="65000"/>
                              <a:lumOff val="35000"/>
                            </a:schemeClr>
                          </a:solidFill>
                          <a:effectLst/>
                          <a:uLnTx/>
                          <a:uFillTx/>
                          <a:latin typeface="Franklin Gothic Book" panose="020B05030201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</p:grpSp>
                <p:grpSp>
                  <p:nvGrpSpPr>
                    <p:cNvPr id="45" name="Group 44">
                      <a:extLst>
                        <a:ext uri="{FF2B5EF4-FFF2-40B4-BE49-F238E27FC236}">
                          <a16:creationId xmlns:a16="http://schemas.microsoft.com/office/drawing/2014/main" id="{EFE2EE95-870E-13C3-94F4-73A8955F5C0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053409" y="6122002"/>
                      <a:ext cx="2116162" cy="474060"/>
                      <a:chOff x="5113749" y="6145914"/>
                      <a:chExt cx="2116162" cy="474060"/>
                    </a:xfrm>
                  </p:grpSpPr>
                  <p:sp>
                    <p:nvSpPr>
                      <p:cNvPr id="75" name="Rectangle 74">
                        <a:extLst>
                          <a:ext uri="{FF2B5EF4-FFF2-40B4-BE49-F238E27FC236}">
                            <a16:creationId xmlns:a16="http://schemas.microsoft.com/office/drawing/2014/main" id="{BAB39F01-8F34-2794-3891-3CF8FED56A7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113749" y="6169559"/>
                        <a:ext cx="2105795" cy="391885"/>
                      </a:xfrm>
                      <a:prstGeom prst="rect">
                        <a:avLst/>
                      </a:prstGeom>
                      <a:solidFill>
                        <a:srgbClr val="B52372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marL="0" marR="0" lvl="0" indent="0" algn="ctr" defTabSz="4572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Franklin Gothic Book" panose="020B0503020102020204" pitchFamily="34" charset="0"/>
                        </a:endParaRPr>
                      </a:p>
                    </p:txBody>
                  </p:sp>
                  <p:sp>
                    <p:nvSpPr>
                      <p:cNvPr id="77" name="TextBox 76">
                        <a:extLst>
                          <a:ext uri="{FF2B5EF4-FFF2-40B4-BE49-F238E27FC236}">
                            <a16:creationId xmlns:a16="http://schemas.microsoft.com/office/drawing/2014/main" id="{D9AD1ADF-9B98-D005-38E6-699C6F59A597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5173785" y="6145914"/>
                        <a:ext cx="2056126" cy="47406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>
                        <a:spAutoFit/>
                      </a:bodyPr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7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chemeClr val="bg2"/>
                            </a:solidFill>
                            <a:effectLst/>
                            <a:uLnTx/>
                            <a:uFillTx/>
                            <a:latin typeface="Franklin Gothic Book" panose="020B0503020102020204" pitchFamily="34" charset="0"/>
                          </a:rPr>
                          <a:t>Strategic Overview Vetting</a:t>
                        </a:r>
                      </a:p>
                    </p:txBody>
                  </p:sp>
                </p:grpSp>
                <p:grpSp>
                  <p:nvGrpSpPr>
                    <p:cNvPr id="47" name="Group 46">
                      <a:extLst>
                        <a:ext uri="{FF2B5EF4-FFF2-40B4-BE49-F238E27FC236}">
                          <a16:creationId xmlns:a16="http://schemas.microsoft.com/office/drawing/2014/main" id="{8AEAC859-30D5-FEEB-2EFD-633F777198A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034486" y="2938191"/>
                      <a:ext cx="2203505" cy="1502860"/>
                      <a:chOff x="5034486" y="2938191"/>
                      <a:chExt cx="2203505" cy="1502860"/>
                    </a:xfrm>
                  </p:grpSpPr>
                  <p:sp>
                    <p:nvSpPr>
                      <p:cNvPr id="57" name="Rectangle 56">
                        <a:extLst>
                          <a:ext uri="{FF2B5EF4-FFF2-40B4-BE49-F238E27FC236}">
                            <a16:creationId xmlns:a16="http://schemas.microsoft.com/office/drawing/2014/main" id="{23D53318-E721-DEE0-F4C1-E309DE84D5E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053408" y="2938191"/>
                        <a:ext cx="2105795" cy="1502860"/>
                      </a:xfrm>
                      <a:prstGeom prst="rect">
                        <a:avLst/>
                      </a:prstGeom>
                      <a:solidFill>
                        <a:schemeClr val="bg2">
                          <a:lumMod val="95000"/>
                        </a:schemeClr>
                      </a:solidFill>
                      <a:ln>
                        <a:noFill/>
                      </a:ln>
                      <a:effectLst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marL="0" marR="0" lvl="0" indent="0" algn="ctr" defTabSz="4572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Franklin Gothic Book" panose="020B0503020102020204" pitchFamily="34" charset="0"/>
                        </a:endParaRPr>
                      </a:p>
                    </p:txBody>
                  </p:sp>
                  <p:sp>
                    <p:nvSpPr>
                      <p:cNvPr id="60" name="TextBox 59">
                        <a:extLst>
                          <a:ext uri="{FF2B5EF4-FFF2-40B4-BE49-F238E27FC236}">
                            <a16:creationId xmlns:a16="http://schemas.microsoft.com/office/drawing/2014/main" id="{DC1E4435-EF08-8C06-3BC2-67FB5F6B6BF6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5034486" y="3194057"/>
                        <a:ext cx="2203505" cy="71109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 anchor="ctr">
                        <a:spAutoFit/>
                      </a:bodyPr>
                      <a:lstStyle/>
                      <a:p>
                        <a:pPr algn="ctr"/>
                        <a:r>
                          <a:rPr lang="en-US" sz="600" dirty="0">
                            <a:solidFill>
                              <a:schemeClr val="tx2">
                                <a:lumMod val="65000"/>
                                <a:lumOff val="35000"/>
                              </a:schemeClr>
                            </a:solidFill>
                            <a:latin typeface="Franklin Gothic Book" panose="020B0503020102020204" pitchFamily="34" charset="0"/>
                            <a:cs typeface="Arial" panose="020B0604020202020204" pitchFamily="34" charset="0"/>
                          </a:rPr>
                          <a:t>Goals, Objectives, and Metrics</a:t>
                        </a:r>
                      </a:p>
                      <a:p>
                        <a:pPr algn="ctr"/>
                        <a:endParaRPr lang="en-US" sz="600" dirty="0">
                          <a:solidFill>
                            <a:schemeClr val="tx2">
                              <a:lumMod val="65000"/>
                              <a:lumOff val="35000"/>
                            </a:schemeClr>
                          </a:solidFill>
                          <a:latin typeface="Franklin Gothic Book" panose="020B0503020102020204" pitchFamily="34" charset="0"/>
                          <a:cs typeface="Arial" panose="020B0604020202020204" pitchFamily="34" charset="0"/>
                        </a:endParaRPr>
                      </a:p>
                      <a:p>
                        <a:pPr algn="ctr"/>
                        <a:r>
                          <a:rPr lang="en-US" sz="600" dirty="0">
                            <a:solidFill>
                              <a:schemeClr val="tx2">
                                <a:lumMod val="65000"/>
                                <a:lumOff val="35000"/>
                              </a:schemeClr>
                            </a:solidFill>
                            <a:latin typeface="Franklin Gothic Book" panose="020B0503020102020204" pitchFamily="34" charset="0"/>
                            <a:cs typeface="Arial" panose="020B0604020202020204" pitchFamily="34" charset="0"/>
                          </a:rPr>
                          <a:t> </a:t>
                        </a:r>
                      </a:p>
                      <a:p>
                        <a:pPr algn="ctr"/>
                        <a:r>
                          <a:rPr lang="en-US" sz="600" dirty="0">
                            <a:solidFill>
                              <a:schemeClr val="tx2">
                                <a:lumMod val="65000"/>
                                <a:lumOff val="35000"/>
                              </a:schemeClr>
                            </a:solidFill>
                            <a:latin typeface="Franklin Gothic Book" panose="020B0503020102020204" pitchFamily="34" charset="0"/>
                            <a:cs typeface="Arial" panose="020B0604020202020204" pitchFamily="34" charset="0"/>
                          </a:rPr>
                          <a:t>(Quantitative and Qualitative)</a:t>
                        </a:r>
                      </a:p>
                    </p:txBody>
                  </p:sp>
                </p:grpSp>
              </p:grpSp>
            </p:grpSp>
          </p:grpSp>
        </p:grpSp>
      </p:grpSp>
      <p:sp>
        <p:nvSpPr>
          <p:cNvPr id="279" name="TextBox 278">
            <a:extLst>
              <a:ext uri="{FF2B5EF4-FFF2-40B4-BE49-F238E27FC236}">
                <a16:creationId xmlns:a16="http://schemas.microsoft.com/office/drawing/2014/main" id="{CCF998F1-5D71-4E68-0013-D77F70DFF0B0}"/>
              </a:ext>
            </a:extLst>
          </p:cNvPr>
          <p:cNvSpPr txBox="1"/>
          <p:nvPr/>
        </p:nvSpPr>
        <p:spPr>
          <a:xfrm>
            <a:off x="2490572" y="518516"/>
            <a:ext cx="67841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 dirty="0">
                <a:latin typeface="Franklin Gothic Book" panose="020B0503020102020204" pitchFamily="34" charset="0"/>
              </a:rPr>
              <a:t>Vision-to-Value Roadmap is a design outcome of the discovery phase</a:t>
            </a:r>
            <a:endParaRPr lang="en-US" i="1" dirty="0">
              <a:latin typeface="Franklin Gothic Book" panose="020B0503020102020204" pitchFamily="34" charset="0"/>
            </a:endParaRPr>
          </a:p>
        </p:txBody>
      </p:sp>
      <p:sp>
        <p:nvSpPr>
          <p:cNvPr id="280" name="TextBox 279">
            <a:extLst>
              <a:ext uri="{FF2B5EF4-FFF2-40B4-BE49-F238E27FC236}">
                <a16:creationId xmlns:a16="http://schemas.microsoft.com/office/drawing/2014/main" id="{40FE701D-2B2A-AA48-D8F5-B571BFFD6FE2}"/>
              </a:ext>
            </a:extLst>
          </p:cNvPr>
          <p:cNvSpPr txBox="1"/>
          <p:nvPr/>
        </p:nvSpPr>
        <p:spPr>
          <a:xfrm>
            <a:off x="6880393" y="50304"/>
            <a:ext cx="19794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>
                <a:latin typeface="Franklin Gothic Book" panose="020B0503020102020204" pitchFamily="34" charset="0"/>
              </a:rPr>
              <a:t>(Illustrative</a:t>
            </a:r>
            <a:r>
              <a:rPr lang="en-US" sz="1400" i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176419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54558FC-1E1E-3445-B627-B6AE46E8890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153888"/>
          </a:xfrm>
        </p:spPr>
        <p:txBody>
          <a:bodyPr/>
          <a:lstStyle/>
          <a:p>
            <a:fld id="{B6F15528-21DE-4FAA-801E-634DDDAF4B2B}" type="slidenum">
              <a:rPr lang="en-US" sz="1000" smtClean="0">
                <a:latin typeface="Franklin Gothic Book" panose="020B0503020102020204" pitchFamily="34" charset="0"/>
              </a:rPr>
              <a:t>8</a:t>
            </a:fld>
            <a:endParaRPr lang="en-US" sz="1000" dirty="0">
              <a:latin typeface="Franklin Gothic Book" panose="020B05030201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257C12-D442-E74D-86E2-2FC4CD33EB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584" y="0"/>
            <a:ext cx="8712831" cy="323165"/>
          </a:xfrm>
        </p:spPr>
        <p:txBody>
          <a:bodyPr/>
          <a:lstStyle/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Install, Enhance, and Elevate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76ED04A-D1B1-7D4F-925B-56B554ED403C}"/>
              </a:ext>
            </a:extLst>
          </p:cNvPr>
          <p:cNvSpPr/>
          <p:nvPr/>
        </p:nvSpPr>
        <p:spPr>
          <a:xfrm>
            <a:off x="537430" y="2383520"/>
            <a:ext cx="1827245" cy="1104097"/>
          </a:xfrm>
          <a:prstGeom prst="rect">
            <a:avLst/>
          </a:prstGeom>
          <a:solidFill>
            <a:schemeClr val="bg1">
              <a:lumMod val="6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B7CA32FF-EABB-244D-B51E-03E627718C53}"/>
              </a:ext>
            </a:extLst>
          </p:cNvPr>
          <p:cNvSpPr txBox="1">
            <a:spLocks/>
          </p:cNvSpPr>
          <p:nvPr/>
        </p:nvSpPr>
        <p:spPr>
          <a:xfrm>
            <a:off x="581870" y="2428274"/>
            <a:ext cx="1421188" cy="955390"/>
          </a:xfrm>
          <a:prstGeom prst="rect">
            <a:avLst/>
          </a:prstGeom>
        </p:spPr>
        <p:txBody>
          <a:bodyPr vert="horz" wrap="square" lIns="34290" tIns="17145" rIns="34290" bIns="17145" rtlCol="0" anchor="t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algn="l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B52372"/>
                </a:solidFill>
                <a:latin typeface="Franklin Gothic Book" panose="020B0503020102020204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Implementation Plan</a:t>
            </a:r>
          </a:p>
          <a:p>
            <a:pPr marL="171450" indent="-171450" algn="l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B52372"/>
                </a:solidFill>
                <a:latin typeface="Franklin Gothic Book" panose="020B0503020102020204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Supporting Documents, programs, systems, support throughout customer-facing disciplines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1B959DC-CD3F-DA4A-BD84-A53C39E2C725}"/>
              </a:ext>
            </a:extLst>
          </p:cNvPr>
          <p:cNvSpPr txBox="1"/>
          <p:nvPr/>
        </p:nvSpPr>
        <p:spPr>
          <a:xfrm rot="16200000">
            <a:off x="-235865" y="2782885"/>
            <a:ext cx="1104098" cy="27699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Franklin Gothic Book" panose="020B0503020102020204" pitchFamily="34" charset="0"/>
              </a:rPr>
              <a:t>What You Get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DB7DF4F-323C-3049-B0AF-AF5245F82986}"/>
              </a:ext>
            </a:extLst>
          </p:cNvPr>
          <p:cNvSpPr/>
          <p:nvPr/>
        </p:nvSpPr>
        <p:spPr>
          <a:xfrm>
            <a:off x="535698" y="3635109"/>
            <a:ext cx="1827245" cy="1233845"/>
          </a:xfrm>
          <a:prstGeom prst="rect">
            <a:avLst/>
          </a:prstGeom>
          <a:solidFill>
            <a:schemeClr val="bg1">
              <a:lumMod val="6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8EA88D6-40CA-4B4E-AC3E-9B5068601B21}"/>
              </a:ext>
            </a:extLst>
          </p:cNvPr>
          <p:cNvSpPr txBox="1"/>
          <p:nvPr/>
        </p:nvSpPr>
        <p:spPr>
          <a:xfrm rot="16200000">
            <a:off x="-289892" y="4113531"/>
            <a:ext cx="1233846" cy="27699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Franklin Gothic Book" panose="020B0503020102020204" pitchFamily="34" charset="0"/>
              </a:rPr>
              <a:t>So You Can</a:t>
            </a:r>
          </a:p>
        </p:txBody>
      </p:sp>
      <p:sp>
        <p:nvSpPr>
          <p:cNvPr id="19" name="Subtitle 2">
            <a:extLst>
              <a:ext uri="{FF2B5EF4-FFF2-40B4-BE49-F238E27FC236}">
                <a16:creationId xmlns:a16="http://schemas.microsoft.com/office/drawing/2014/main" id="{20FDB204-7C28-AE4F-B2D3-5A51655213EB}"/>
              </a:ext>
            </a:extLst>
          </p:cNvPr>
          <p:cNvSpPr txBox="1">
            <a:spLocks/>
          </p:cNvSpPr>
          <p:nvPr/>
        </p:nvSpPr>
        <p:spPr>
          <a:xfrm>
            <a:off x="581869" y="3680066"/>
            <a:ext cx="1722211" cy="906658"/>
          </a:xfrm>
          <a:prstGeom prst="rect">
            <a:avLst/>
          </a:prstGeom>
        </p:spPr>
        <p:txBody>
          <a:bodyPr vert="horz" wrap="square" lIns="34290" tIns="17145" rIns="34290" bIns="17145" rtlCol="0" anchor="t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algn="l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Franklin Gothic Book" panose="020B0503020102020204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Have a proprietary program that is customized to KeppelLand</a:t>
            </a:r>
          </a:p>
          <a:p>
            <a:pPr marL="171450" indent="-171450" algn="l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Franklin Gothic Book" panose="020B0503020102020204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Make the uncommon habit</a:t>
            </a:r>
          </a:p>
          <a:p>
            <a:pPr marL="171450" indent="-171450" algn="l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Franklin Gothic Book" panose="020B0503020102020204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Creating the new way to work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7C9F7CD0-B3C6-19BB-A570-EA29E122737C}"/>
              </a:ext>
            </a:extLst>
          </p:cNvPr>
          <p:cNvSpPr txBox="1"/>
          <p:nvPr/>
        </p:nvSpPr>
        <p:spPr>
          <a:xfrm>
            <a:off x="6362463" y="2183078"/>
            <a:ext cx="1035861" cy="24622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r"/>
            <a:r>
              <a:rPr lang="en-US" sz="1000" b="1" dirty="0">
                <a:solidFill>
                  <a:schemeClr val="bg1"/>
                </a:solidFill>
                <a:latin typeface="Franklin Gothic Book" panose="020B0503020102020204" pitchFamily="34" charset="0"/>
              </a:rPr>
              <a:t>Market Analysis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A504E2A1-B0C0-5837-C967-68F7F613FEC0}"/>
              </a:ext>
            </a:extLst>
          </p:cNvPr>
          <p:cNvSpPr txBox="1"/>
          <p:nvPr/>
        </p:nvSpPr>
        <p:spPr>
          <a:xfrm>
            <a:off x="4326028" y="2102088"/>
            <a:ext cx="107753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r"/>
            <a:r>
              <a:rPr lang="en-US" sz="1000" b="1" dirty="0">
                <a:solidFill>
                  <a:schemeClr val="bg1"/>
                </a:solidFill>
                <a:latin typeface="Franklin Gothic Book" panose="020B0503020102020204" pitchFamily="34" charset="0"/>
              </a:rPr>
              <a:t>Internal Strategy</a:t>
            </a:r>
          </a:p>
          <a:p>
            <a:pPr algn="r"/>
            <a:r>
              <a:rPr lang="en-US" sz="1000" b="1" dirty="0">
                <a:solidFill>
                  <a:schemeClr val="bg1"/>
                </a:solidFill>
                <a:latin typeface="Franklin Gothic Book" panose="020B0503020102020204" pitchFamily="34" charset="0"/>
              </a:rPr>
              <a:t> and alignment</a:t>
            </a:r>
          </a:p>
        </p:txBody>
      </p:sp>
      <p:sp>
        <p:nvSpPr>
          <p:cNvPr id="7" name="Freeform 8">
            <a:extLst>
              <a:ext uri="{FF2B5EF4-FFF2-40B4-BE49-F238E27FC236}">
                <a16:creationId xmlns:a16="http://schemas.microsoft.com/office/drawing/2014/main" id="{300B157C-56CC-C3B8-C862-98F33749EF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6352" y="595805"/>
            <a:ext cx="868680" cy="868680"/>
          </a:xfrm>
          <a:custGeom>
            <a:avLst/>
            <a:gdLst>
              <a:gd name="T0" fmla="*/ 1376 w 2752"/>
              <a:gd name="T1" fmla="*/ 0 h 2752"/>
              <a:gd name="T2" fmla="*/ 1376 w 2752"/>
              <a:gd name="T3" fmla="*/ 0 h 2752"/>
              <a:gd name="T4" fmla="*/ 2751 w 2752"/>
              <a:gd name="T5" fmla="*/ 1376 h 2752"/>
              <a:gd name="T6" fmla="*/ 2751 w 2752"/>
              <a:gd name="T7" fmla="*/ 1376 h 2752"/>
              <a:gd name="T8" fmla="*/ 1376 w 2752"/>
              <a:gd name="T9" fmla="*/ 2751 h 2752"/>
              <a:gd name="T10" fmla="*/ 1376 w 2752"/>
              <a:gd name="T11" fmla="*/ 2751 h 2752"/>
              <a:gd name="T12" fmla="*/ 0 w 2752"/>
              <a:gd name="T13" fmla="*/ 1376 h 2752"/>
              <a:gd name="T14" fmla="*/ 0 w 2752"/>
              <a:gd name="T15" fmla="*/ 1376 h 2752"/>
              <a:gd name="T16" fmla="*/ 1376 w 2752"/>
              <a:gd name="T17" fmla="*/ 0 h 27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752" h="2752">
                <a:moveTo>
                  <a:pt x="1376" y="0"/>
                </a:moveTo>
                <a:lnTo>
                  <a:pt x="1376" y="0"/>
                </a:lnTo>
                <a:cubicBezTo>
                  <a:pt x="2135" y="0"/>
                  <a:pt x="2751" y="616"/>
                  <a:pt x="2751" y="1376"/>
                </a:cubicBezTo>
                <a:lnTo>
                  <a:pt x="2751" y="1376"/>
                </a:lnTo>
                <a:cubicBezTo>
                  <a:pt x="2751" y="2135"/>
                  <a:pt x="2135" y="2751"/>
                  <a:pt x="1376" y="2751"/>
                </a:cubicBezTo>
                <a:lnTo>
                  <a:pt x="1376" y="2751"/>
                </a:lnTo>
                <a:cubicBezTo>
                  <a:pt x="616" y="2751"/>
                  <a:pt x="0" y="2135"/>
                  <a:pt x="0" y="1376"/>
                </a:cubicBezTo>
                <a:lnTo>
                  <a:pt x="0" y="1376"/>
                </a:lnTo>
                <a:cubicBezTo>
                  <a:pt x="0" y="616"/>
                  <a:pt x="616" y="0"/>
                  <a:pt x="1376" y="0"/>
                </a:cubicBezTo>
              </a:path>
            </a:pathLst>
          </a:custGeom>
          <a:solidFill>
            <a:schemeClr val="bg1"/>
          </a:solidFill>
          <a:ln w="76200">
            <a:solidFill>
              <a:srgbClr val="B52372"/>
            </a:solidFill>
          </a:ln>
          <a:effectLst/>
        </p:spPr>
        <p:txBody>
          <a:bodyPr wrap="none" anchor="ctr"/>
          <a:lstStyle/>
          <a:p>
            <a:endParaRPr lang="en-US" sz="2449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04158DD-331A-A3E5-7CDD-82C40F7B61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856" y="817150"/>
            <a:ext cx="441671" cy="43628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64634B4-9004-726D-8825-255278E9BC0B}"/>
              </a:ext>
            </a:extLst>
          </p:cNvPr>
          <p:cNvSpPr txBox="1"/>
          <p:nvPr/>
        </p:nvSpPr>
        <p:spPr>
          <a:xfrm>
            <a:off x="454684" y="1659858"/>
            <a:ext cx="159865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chemeClr val="tx2"/>
                </a:solidFill>
                <a:latin typeface="Franklin Gothic Book" panose="020B0503020102020204" pitchFamily="34" charset="0"/>
                <a:ea typeface="League Spartan" charset="0"/>
                <a:cs typeface="Poppins" pitchFamily="2" charset="77"/>
              </a:rPr>
              <a:t>3- Install, Enhance </a:t>
            </a:r>
          </a:p>
          <a:p>
            <a:pPr algn="ctr"/>
            <a:r>
              <a:rPr lang="en-US" sz="1400" b="1" dirty="0">
                <a:solidFill>
                  <a:schemeClr val="tx2"/>
                </a:solidFill>
                <a:latin typeface="Franklin Gothic Book" panose="020B0503020102020204" pitchFamily="34" charset="0"/>
                <a:ea typeface="League Spartan" charset="0"/>
                <a:cs typeface="Poppins" pitchFamily="2" charset="77"/>
              </a:rPr>
              <a:t>&amp; Elevate</a:t>
            </a:r>
          </a:p>
        </p:txBody>
      </p:sp>
      <p:pic>
        <p:nvPicPr>
          <p:cNvPr id="13" name="Picture 12" descr="Table&#10;&#10;Description automatically generated">
            <a:extLst>
              <a:ext uri="{FF2B5EF4-FFF2-40B4-BE49-F238E27FC236}">
                <a16:creationId xmlns:a16="http://schemas.microsoft.com/office/drawing/2014/main" id="{A40AB54C-86E3-26D4-A076-2170000DE1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2943" y="754251"/>
            <a:ext cx="6781057" cy="3744958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E326D37E-468C-8A00-051A-5CF515284635}"/>
              </a:ext>
            </a:extLst>
          </p:cNvPr>
          <p:cNvSpPr txBox="1"/>
          <p:nvPr/>
        </p:nvSpPr>
        <p:spPr>
          <a:xfrm>
            <a:off x="6880393" y="50304"/>
            <a:ext cx="19794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>
                <a:latin typeface="Franklin Gothic Book" panose="020B0503020102020204" pitchFamily="34" charset="0"/>
              </a:rPr>
              <a:t>(Illustrative</a:t>
            </a:r>
            <a:r>
              <a:rPr lang="en-US" sz="1400" i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0739639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AAF62-66C9-0403-764E-006D340903D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532109" y="119547"/>
            <a:ext cx="8712200" cy="344487"/>
          </a:xfrm>
        </p:spPr>
        <p:txBody>
          <a:bodyPr wrap="square">
            <a:normAutofit/>
          </a:bodyPr>
          <a:lstStyle/>
          <a:p>
            <a:r>
              <a:rPr lang="en-US" dirty="0"/>
              <a:t>Time Zones and Logistics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0EBA9A8E-CF9F-0EDE-EDE5-4B963042E8DD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4716234" y="359823"/>
            <a:ext cx="3699306" cy="4032250"/>
          </a:xfrm>
        </p:spPr>
        <p:txBody>
          <a:bodyPr/>
          <a:lstStyle/>
          <a:p>
            <a:r>
              <a:rPr lang="en-US" dirty="0">
                <a:latin typeface="Franklin Gothic Book" panose="020B0503020102020204" pitchFamily="34" charset="0"/>
              </a:rPr>
              <a:t>We have the ability to connect for meetings every day from 8 am to 12 pm Singapore Standard time.</a:t>
            </a:r>
          </a:p>
          <a:p>
            <a:endParaRPr lang="en-US" dirty="0">
              <a:latin typeface="Franklin Gothic Book" panose="020B0503020102020204" pitchFamily="34" charset="0"/>
            </a:endParaRPr>
          </a:p>
          <a:p>
            <a:r>
              <a:rPr lang="en-US" dirty="0">
                <a:latin typeface="Franklin Gothic Book" panose="020B0503020102020204" pitchFamily="34" charset="0"/>
              </a:rPr>
              <a:t>That represents over approximately 80 hours per month available to us for face-to-face time.</a:t>
            </a:r>
          </a:p>
          <a:p>
            <a:endParaRPr lang="en-US" dirty="0">
              <a:latin typeface="Franklin Gothic Book" panose="020B0503020102020204" pitchFamily="34" charset="0"/>
            </a:endParaRPr>
          </a:p>
          <a:p>
            <a:r>
              <a:rPr lang="en-US" dirty="0">
                <a:latin typeface="Franklin Gothic Book" panose="020B0503020102020204" pitchFamily="34" charset="0"/>
              </a:rPr>
              <a:t>Production time and behind the scenes work can be done at any point and any time zone. </a:t>
            </a:r>
          </a:p>
          <a:p>
            <a:endParaRPr lang="en-US" dirty="0">
              <a:latin typeface="Franklin Gothic Book" panose="020B0503020102020204" pitchFamily="34" charset="0"/>
            </a:endParaRPr>
          </a:p>
          <a:p>
            <a:endParaRPr lang="en-US" dirty="0">
              <a:latin typeface="Franklin Gothic Book" panose="020B0503020102020204" pitchFamily="34" charset="0"/>
            </a:endParaRPr>
          </a:p>
          <a:p>
            <a:endParaRPr lang="en-US" dirty="0">
              <a:latin typeface="Franklin Gothic Book" panose="020B0503020102020204" pitchFamily="34" charset="0"/>
            </a:endParaRPr>
          </a:p>
          <a:p>
            <a:r>
              <a:rPr lang="en-US" sz="2000" i="1" dirty="0">
                <a:solidFill>
                  <a:srgbClr val="B52372"/>
                </a:solidFill>
                <a:latin typeface="Franklin Gothic Book" panose="020B0503020102020204" pitchFamily="34" charset="0"/>
              </a:rPr>
              <a:t>If our methodology, experience, and  align to your vision and goals, we don’t want logistics to get in the way of the impact you are seeking.</a:t>
            </a:r>
          </a:p>
          <a:p>
            <a:endParaRPr lang="en-US" i="1" dirty="0">
              <a:latin typeface="Franklin Gothic Book" panose="020B0503020102020204" pitchFamily="34" charset="0"/>
            </a:endParaRPr>
          </a:p>
          <a:p>
            <a:endParaRPr lang="en-US" i="1" dirty="0">
              <a:latin typeface="Franklin Gothic Book" panose="020B05030201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54EF6EA-BBF7-6BB1-A351-29E2B35604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419" y="836908"/>
            <a:ext cx="3766380" cy="3766380"/>
          </a:xfrm>
          <a:prstGeom prst="rect">
            <a:avLst/>
          </a:prstGeom>
          <a:noFill/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A101A2D-C6EB-7E20-C08C-AE9AB12AA87A}"/>
              </a:ext>
            </a:extLst>
          </p:cNvPr>
          <p:cNvCxnSpPr>
            <a:cxnSpLocks/>
          </p:cNvCxnSpPr>
          <p:nvPr/>
        </p:nvCxnSpPr>
        <p:spPr>
          <a:xfrm flipH="1">
            <a:off x="1178016" y="2720098"/>
            <a:ext cx="1087593" cy="62768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0CC5904-84CF-A7D9-6295-9F6F56C49A5B}"/>
              </a:ext>
            </a:extLst>
          </p:cNvPr>
          <p:cNvCxnSpPr>
            <a:cxnSpLocks/>
          </p:cNvCxnSpPr>
          <p:nvPr/>
        </p:nvCxnSpPr>
        <p:spPr>
          <a:xfrm flipV="1">
            <a:off x="2275797" y="1291525"/>
            <a:ext cx="0" cy="141293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5B182994-E083-2D8D-9438-EAC16ED362BE}"/>
              </a:ext>
            </a:extLst>
          </p:cNvPr>
          <p:cNvSpPr txBox="1"/>
          <p:nvPr/>
        </p:nvSpPr>
        <p:spPr>
          <a:xfrm>
            <a:off x="1076049" y="1775784"/>
            <a:ext cx="129152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rgbClr val="B52372"/>
                </a:solidFill>
                <a:latin typeface="Franklin Gothic Book" panose="020B0503020102020204" pitchFamily="34" charset="0"/>
              </a:rPr>
              <a:t>Keppel Land Connection Time</a:t>
            </a:r>
          </a:p>
        </p:txBody>
      </p:sp>
    </p:spTree>
    <p:extLst>
      <p:ext uri="{BB962C8B-B14F-4D97-AF65-F5344CB8AC3E}">
        <p14:creationId xmlns:p14="http://schemas.microsoft.com/office/powerpoint/2010/main" val="40076508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990600" y="2190750"/>
            <a:ext cx="2827338" cy="2082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0250" spc="-6134" baseline="-11728" dirty="0">
                <a:solidFill>
                  <a:srgbClr val="D9D9D9"/>
                </a:solidFill>
              </a:rPr>
              <a:t>&amp;</a:t>
            </a:r>
            <a:r>
              <a:rPr sz="3200" dirty="0">
                <a:solidFill>
                  <a:srgbClr val="000000"/>
                </a:solidFill>
                <a:latin typeface="Franklin Gothic Book" panose="020B0503020102020204" pitchFamily="34" charset="0"/>
              </a:rPr>
              <a:t>Who we are</a:t>
            </a:r>
            <a:endParaRPr sz="3200" dirty="0">
              <a:latin typeface="Franklin Gothic Book" panose="020B05030201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88D3389-671F-C040-A885-F9CA1AF7056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6553200" y="4781550"/>
            <a:ext cx="2103437" cy="161583"/>
          </a:xfrm>
        </p:spPr>
        <p:txBody>
          <a:bodyPr/>
          <a:lstStyle/>
          <a:p>
            <a:fld id="{B6F15528-21DE-4FAA-801E-634DDDAF4B2B}" type="slidenum">
              <a:rPr lang="en-US" sz="1050" smtClean="0">
                <a:latin typeface="Franklin Gothic Book" panose="020B0503020102020204" pitchFamily="34" charset="0"/>
              </a:rPr>
              <a:pPr/>
              <a:t>10</a:t>
            </a:fld>
            <a:endParaRPr lang="en-US" sz="1400" dirty="0">
              <a:latin typeface="Franklin Gothic Book" panose="020B05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65120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4150" y="-195004"/>
            <a:ext cx="1155700" cy="1732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200" dirty="0">
                <a:solidFill>
                  <a:srgbClr val="D9D9D9"/>
                </a:solidFill>
                <a:latin typeface="Arial"/>
                <a:cs typeface="Arial"/>
              </a:rPr>
              <a:t>&amp;</a:t>
            </a:r>
            <a:endParaRPr sz="11200" dirty="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400800" y="3529501"/>
            <a:ext cx="2563133" cy="14477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D1B37BB-87DB-4531-8149-019B9178965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304800" y="4783455"/>
            <a:ext cx="2103120" cy="276999"/>
          </a:xfrm>
        </p:spPr>
        <p:txBody>
          <a:bodyPr/>
          <a:lstStyle/>
          <a:p>
            <a:pPr algn="l"/>
            <a:fld id="{B6F15528-21DE-4FAA-801E-634DDDAF4B2B}" type="slidenum">
              <a:rPr lang="en-US" smtClean="0">
                <a:solidFill>
                  <a:schemeClr val="bg1">
                    <a:lumMod val="50000"/>
                  </a:schemeClr>
                </a:solidFill>
              </a:rPr>
              <a:pPr algn="l"/>
              <a:t>11</a:t>
            </a:fld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 idx="4294967295"/>
          </p:nvPr>
        </p:nvSpPr>
        <p:spPr>
          <a:xfrm>
            <a:off x="775355" y="366865"/>
            <a:ext cx="5254625" cy="50641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Franklin Gothic Book" panose="020B0503020102020204" pitchFamily="34" charset="0"/>
              </a:rPr>
              <a:t>Experience is at the core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85800" y="786269"/>
            <a:ext cx="8287405" cy="408829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188595">
              <a:lnSpc>
                <a:spcPct val="95000"/>
              </a:lnSpc>
              <a:spcBef>
                <a:spcPts val="180"/>
              </a:spcBef>
            </a:pPr>
            <a:r>
              <a:rPr sz="1400" dirty="0">
                <a:latin typeface="Franklin Gothic Book" panose="020B0503020102020204" pitchFamily="34" charset="0"/>
                <a:cs typeface="Arial"/>
              </a:rPr>
              <a:t>Kate brings 28+ years’ experience leading teams f</a:t>
            </a:r>
            <a:r>
              <a:rPr lang="en-US" sz="1400" dirty="0">
                <a:latin typeface="Franklin Gothic Book" panose="020B0503020102020204" pitchFamily="34" charset="0"/>
                <a:cs typeface="Arial"/>
              </a:rPr>
              <a:t>rom </a:t>
            </a:r>
            <a:r>
              <a:rPr sz="1400" dirty="0">
                <a:latin typeface="Franklin Gothic Book" panose="020B0503020102020204" pitchFamily="34" charset="0"/>
                <a:cs typeface="Arial"/>
              </a:rPr>
              <a:t>national and multi-national companies in the Hospitality, REIT, Commercial and Multi/Single- Owner Residential properties. Notable accomplishments:</a:t>
            </a:r>
            <a:endParaRPr lang="en-US" sz="1400" dirty="0">
              <a:latin typeface="Franklin Gothic Book" panose="020B0503020102020204" pitchFamily="34" charset="0"/>
              <a:cs typeface="Arial"/>
            </a:endParaRPr>
          </a:p>
          <a:p>
            <a:pPr marL="12700" marR="188595">
              <a:lnSpc>
                <a:spcPct val="95000"/>
              </a:lnSpc>
              <a:spcBef>
                <a:spcPts val="180"/>
              </a:spcBef>
            </a:pPr>
            <a:endParaRPr sz="200" dirty="0">
              <a:latin typeface="Franklin Gothic Book" panose="020B0503020102020204" pitchFamily="34" charset="0"/>
              <a:cs typeface="Arial"/>
            </a:endParaRPr>
          </a:p>
          <a:p>
            <a:pPr marL="317500" marR="100330" indent="-213995">
              <a:lnSpc>
                <a:spcPts val="1300"/>
              </a:lnSpc>
              <a:spcBef>
                <a:spcPts val="385"/>
              </a:spcBef>
              <a:buChar char="-"/>
              <a:tabLst>
                <a:tab pos="317500" algn="l"/>
                <a:tab pos="318135" algn="l"/>
              </a:tabLst>
            </a:pPr>
            <a:r>
              <a:rPr sz="1200" dirty="0">
                <a:latin typeface="Franklin Gothic Book" panose="020B0503020102020204" pitchFamily="34" charset="0"/>
                <a:cs typeface="Arial"/>
              </a:rPr>
              <a:t>Experience leading transformation, design, and delivery </a:t>
            </a:r>
            <a:r>
              <a:rPr lang="en-US" sz="1200" dirty="0">
                <a:latin typeface="Franklin Gothic Book" panose="020B0503020102020204" pitchFamily="34" charset="0"/>
                <a:cs typeface="Arial"/>
              </a:rPr>
              <a:t>from branding, to revenue performance. </a:t>
            </a:r>
            <a:endParaRPr sz="1200" dirty="0">
              <a:latin typeface="Franklin Gothic Book" panose="020B0503020102020204" pitchFamily="34" charset="0"/>
              <a:cs typeface="Arial"/>
            </a:endParaRPr>
          </a:p>
          <a:p>
            <a:pPr marL="317500" marR="190500" indent="-213995">
              <a:lnSpc>
                <a:spcPts val="1300"/>
              </a:lnSpc>
              <a:spcBef>
                <a:spcPts val="595"/>
              </a:spcBef>
              <a:buChar char="-"/>
              <a:tabLst>
                <a:tab pos="317500" algn="l"/>
                <a:tab pos="318135" algn="l"/>
              </a:tabLst>
            </a:pPr>
            <a:r>
              <a:rPr sz="1200" dirty="0">
                <a:latin typeface="Franklin Gothic Book" panose="020B0503020102020204" pitchFamily="34" charset="0"/>
                <a:cs typeface="Arial"/>
              </a:rPr>
              <a:t>Increased revenue for Full-Service, Select, Extended Stay, Brand and Franchise hotel properties including Marriott, Loew’s, </a:t>
            </a:r>
            <a:r>
              <a:rPr lang="en-US" sz="1200" dirty="0">
                <a:latin typeface="Franklin Gothic Book" panose="020B0503020102020204" pitchFamily="34" charset="0"/>
                <a:cs typeface="Arial"/>
              </a:rPr>
              <a:t>Goldman Sachs</a:t>
            </a:r>
            <a:r>
              <a:rPr sz="1200" dirty="0">
                <a:latin typeface="Franklin Gothic Book" panose="020B0503020102020204" pitchFamily="34" charset="0"/>
                <a:cs typeface="Arial"/>
              </a:rPr>
              <a:t>, IHG, Hyatt and Starwood, CSM, American Residential Properties and more.</a:t>
            </a:r>
            <a:endParaRPr lang="en-US" sz="1200" dirty="0">
              <a:latin typeface="Franklin Gothic Book" panose="020B0503020102020204" pitchFamily="34" charset="0"/>
              <a:cs typeface="Arial"/>
            </a:endParaRPr>
          </a:p>
          <a:p>
            <a:pPr marL="317500" marR="190500" indent="-213995">
              <a:lnSpc>
                <a:spcPts val="1300"/>
              </a:lnSpc>
              <a:spcBef>
                <a:spcPts val="595"/>
              </a:spcBef>
              <a:buChar char="-"/>
              <a:tabLst>
                <a:tab pos="317500" algn="l"/>
                <a:tab pos="318135" algn="l"/>
              </a:tabLst>
            </a:pPr>
            <a:r>
              <a:rPr lang="en-US" sz="1200" dirty="0">
                <a:latin typeface="Franklin Gothic Book" panose="020B0503020102020204" pitchFamily="34" charset="0"/>
                <a:cs typeface="Arial"/>
              </a:rPr>
              <a:t>Lead revenue transformation within B2B companies, such as; Ricoh, Boehringer Ingelheim, Medtronic, Johnson &amp; Johnson, and Indeed</a:t>
            </a:r>
            <a:endParaRPr sz="1200" dirty="0">
              <a:latin typeface="Franklin Gothic Book" panose="020B0503020102020204" pitchFamily="34" charset="0"/>
              <a:cs typeface="Arial"/>
            </a:endParaRPr>
          </a:p>
          <a:p>
            <a:pPr marL="318135" indent="-214629">
              <a:lnSpc>
                <a:spcPct val="100000"/>
              </a:lnSpc>
              <a:spcBef>
                <a:spcPts val="450"/>
              </a:spcBef>
              <a:buChar char="-"/>
              <a:tabLst>
                <a:tab pos="317500" algn="l"/>
                <a:tab pos="318135" algn="l"/>
              </a:tabLst>
            </a:pPr>
            <a:r>
              <a:rPr sz="1200" dirty="0">
                <a:latin typeface="Franklin Gothic Book" panose="020B0503020102020204" pitchFamily="34" charset="0"/>
                <a:cs typeface="Arial"/>
              </a:rPr>
              <a:t>Headed long-running strategies with start-ups, growth acquisition, market shifts, downturns and disposition</a:t>
            </a:r>
          </a:p>
          <a:p>
            <a:pPr marL="318135" indent="-214629">
              <a:lnSpc>
                <a:spcPct val="100000"/>
              </a:lnSpc>
              <a:spcBef>
                <a:spcPts val="555"/>
              </a:spcBef>
              <a:buChar char="-"/>
              <a:tabLst>
                <a:tab pos="317500" algn="l"/>
                <a:tab pos="318135" algn="l"/>
              </a:tabLst>
            </a:pPr>
            <a:r>
              <a:rPr sz="1200" dirty="0">
                <a:latin typeface="Franklin Gothic Book" panose="020B0503020102020204" pitchFamily="34" charset="0"/>
                <a:cs typeface="Arial"/>
              </a:rPr>
              <a:t>Developed marketing programs to infuse emerging markets and media into sales opportunities</a:t>
            </a:r>
          </a:p>
          <a:p>
            <a:pPr marL="318135" indent="-214629">
              <a:lnSpc>
                <a:spcPct val="100000"/>
              </a:lnSpc>
              <a:spcBef>
                <a:spcPts val="455"/>
              </a:spcBef>
              <a:buChar char="-"/>
              <a:tabLst>
                <a:tab pos="317500" algn="l"/>
                <a:tab pos="318135" algn="l"/>
              </a:tabLst>
            </a:pPr>
            <a:r>
              <a:rPr sz="1200" dirty="0">
                <a:latin typeface="Franklin Gothic Book" panose="020B0503020102020204" pitchFamily="34" charset="0"/>
                <a:cs typeface="Arial"/>
              </a:rPr>
              <a:t>Led acquisitions revenue through the full lifecycle: due diligence to exit sale disposition</a:t>
            </a:r>
          </a:p>
          <a:p>
            <a:pPr marL="317500" marR="3100705" indent="-213995">
              <a:lnSpc>
                <a:spcPts val="1300"/>
              </a:lnSpc>
              <a:spcBef>
                <a:spcPts val="830"/>
              </a:spcBef>
              <a:buChar char="-"/>
              <a:tabLst>
                <a:tab pos="317500" algn="l"/>
                <a:tab pos="318135" algn="l"/>
              </a:tabLst>
            </a:pPr>
            <a:r>
              <a:rPr sz="1200" dirty="0">
                <a:latin typeface="Franklin Gothic Book" panose="020B0503020102020204" pitchFamily="34" charset="0"/>
                <a:cs typeface="Arial"/>
              </a:rPr>
              <a:t>Professor at </a:t>
            </a:r>
            <a:r>
              <a:rPr lang="en-US" sz="1200" dirty="0">
                <a:latin typeface="Franklin Gothic Book" panose="020B0503020102020204" pitchFamily="34" charset="0"/>
                <a:cs typeface="Arial"/>
              </a:rPr>
              <a:t>Fairleigh Dickenson </a:t>
            </a:r>
            <a:r>
              <a:rPr sz="1200" dirty="0">
                <a:latin typeface="Franklin Gothic Book" panose="020B0503020102020204" pitchFamily="34" charset="0"/>
                <a:cs typeface="Arial"/>
              </a:rPr>
              <a:t>for Revenue Management and Distribution</a:t>
            </a:r>
            <a:r>
              <a:rPr lang="en-US" sz="1200" dirty="0">
                <a:latin typeface="Franklin Gothic Book" panose="020B0503020102020204" pitchFamily="34" charset="0"/>
                <a:cs typeface="Arial"/>
              </a:rPr>
              <a:t> </a:t>
            </a:r>
            <a:r>
              <a:rPr sz="1200" dirty="0">
                <a:latin typeface="Franklin Gothic Book" panose="020B0503020102020204" pitchFamily="34" charset="0"/>
                <a:cs typeface="Arial"/>
              </a:rPr>
              <a:t>Systems</a:t>
            </a:r>
            <a:r>
              <a:rPr lang="en-US" sz="1200" dirty="0">
                <a:latin typeface="Franklin Gothic Book" panose="020B0503020102020204" pitchFamily="34" charset="0"/>
                <a:cs typeface="Arial"/>
              </a:rPr>
              <a:t>, Global Marketing, and Digital Marketing</a:t>
            </a:r>
            <a:endParaRPr sz="1200" dirty="0">
              <a:latin typeface="Franklin Gothic Book" panose="020B0503020102020204" pitchFamily="34" charset="0"/>
              <a:cs typeface="Arial"/>
            </a:endParaRPr>
          </a:p>
          <a:p>
            <a:pPr marL="318135" indent="-214629">
              <a:lnSpc>
                <a:spcPct val="100000"/>
              </a:lnSpc>
              <a:spcBef>
                <a:spcPts val="530"/>
              </a:spcBef>
              <a:buChar char="-"/>
              <a:tabLst>
                <a:tab pos="317500" algn="l"/>
                <a:tab pos="318135" algn="l"/>
              </a:tabLst>
            </a:pPr>
            <a:r>
              <a:rPr lang="en-US" sz="1200" dirty="0">
                <a:latin typeface="Franklin Gothic Book" panose="020B0503020102020204" pitchFamily="34" charset="0"/>
                <a:cs typeface="Arial"/>
              </a:rPr>
              <a:t>Board member at Boutique and Lifestyle Lodging Association (BLLA),                                                                                   Member and Vendor with Strategic Account Management Association (SAMA)</a:t>
            </a:r>
          </a:p>
          <a:p>
            <a:pPr marL="318135" indent="-214629">
              <a:lnSpc>
                <a:spcPct val="100000"/>
              </a:lnSpc>
              <a:spcBef>
                <a:spcPts val="550"/>
              </a:spcBef>
              <a:buChar char="-"/>
              <a:tabLst>
                <a:tab pos="317500" algn="l"/>
                <a:tab pos="318135" algn="l"/>
              </a:tabLst>
            </a:pPr>
            <a:r>
              <a:rPr sz="1200" dirty="0">
                <a:latin typeface="Franklin Gothic Book" panose="020B0503020102020204" pitchFamily="34" charset="0"/>
                <a:cs typeface="Arial"/>
              </a:rPr>
              <a:t>An active member of Women Owned Businesses (WBENC)</a:t>
            </a:r>
            <a:endParaRPr lang="en-US" sz="1200" dirty="0">
              <a:latin typeface="Franklin Gothic Book" panose="020B0503020102020204" pitchFamily="34" charset="0"/>
              <a:cs typeface="Arial"/>
            </a:endParaRPr>
          </a:p>
          <a:p>
            <a:pPr marL="318135" indent="-214629">
              <a:lnSpc>
                <a:spcPct val="100000"/>
              </a:lnSpc>
              <a:spcBef>
                <a:spcPts val="550"/>
              </a:spcBef>
              <a:buChar char="-"/>
              <a:tabLst>
                <a:tab pos="317500" algn="l"/>
                <a:tab pos="318135" algn="l"/>
              </a:tabLst>
            </a:pPr>
            <a:r>
              <a:rPr lang="en-US" sz="1200" dirty="0">
                <a:latin typeface="Franklin Gothic Book" panose="020B0503020102020204" pitchFamily="34" charset="0"/>
                <a:cs typeface="Arial"/>
              </a:rPr>
              <a:t>Active member at ISHC, Marketing Committee Member</a:t>
            </a:r>
            <a:endParaRPr sz="1200" dirty="0">
              <a:latin typeface="Franklin Gothic Book" panose="020B0503020102020204" pitchFamily="34" charset="0"/>
              <a:cs typeface="Arial"/>
            </a:endParaRPr>
          </a:p>
          <a:p>
            <a:pPr marL="317500" marR="2568575" indent="-213995">
              <a:lnSpc>
                <a:spcPts val="1300"/>
              </a:lnSpc>
              <a:spcBef>
                <a:spcPts val="640"/>
              </a:spcBef>
              <a:buChar char="-"/>
              <a:tabLst>
                <a:tab pos="317500" algn="l"/>
                <a:tab pos="318135" algn="l"/>
              </a:tabLst>
            </a:pPr>
            <a:r>
              <a:rPr sz="1200" dirty="0">
                <a:latin typeface="Franklin Gothic Book" panose="020B0503020102020204" pitchFamily="34" charset="0"/>
                <a:cs typeface="Arial"/>
              </a:rPr>
              <a:t>Is </a:t>
            </a:r>
            <a:r>
              <a:rPr lang="en-US" sz="1200" dirty="0">
                <a:latin typeface="Franklin Gothic Book" panose="020B0503020102020204" pitchFamily="34" charset="0"/>
                <a:cs typeface="Arial"/>
              </a:rPr>
              <a:t>fanatical</a:t>
            </a:r>
            <a:r>
              <a:rPr sz="1200" dirty="0">
                <a:latin typeface="Franklin Gothic Book" panose="020B0503020102020204" pitchFamily="34" charset="0"/>
                <a:cs typeface="Arial"/>
              </a:rPr>
              <a:t> about bringing clarity</a:t>
            </a:r>
            <a:r>
              <a:rPr lang="en-US" sz="1200" dirty="0">
                <a:latin typeface="Franklin Gothic Book" panose="020B0503020102020204" pitchFamily="34" charset="0"/>
                <a:cs typeface="Arial"/>
              </a:rPr>
              <a:t> to build their future</a:t>
            </a:r>
            <a:r>
              <a:rPr sz="1200" dirty="0">
                <a:latin typeface="Franklin Gothic Book" panose="020B0503020102020204" pitchFamily="34" charset="0"/>
                <a:cs typeface="Arial"/>
              </a:rPr>
              <a:t> and </a:t>
            </a:r>
            <a:r>
              <a:rPr lang="en-US" sz="1200" dirty="0">
                <a:latin typeface="Franklin Gothic Book" panose="020B0503020102020204" pitchFamily="34" charset="0"/>
                <a:cs typeface="Arial"/>
              </a:rPr>
              <a:t>build </a:t>
            </a:r>
            <a:r>
              <a:rPr sz="1200" dirty="0">
                <a:latin typeface="Franklin Gothic Book" panose="020B0503020102020204" pitchFamily="34" charset="0"/>
                <a:cs typeface="Arial"/>
              </a:rPr>
              <a:t>connection to  </a:t>
            </a:r>
            <a:r>
              <a:rPr lang="en-US" sz="1200" dirty="0">
                <a:latin typeface="Franklin Gothic Book" panose="020B0503020102020204" pitchFamily="34" charset="0"/>
                <a:cs typeface="Arial"/>
              </a:rPr>
              <a:t>customers</a:t>
            </a:r>
            <a:r>
              <a:rPr sz="1200" dirty="0">
                <a:latin typeface="Franklin Gothic Book" panose="020B0503020102020204" pitchFamily="34" charset="0"/>
                <a:cs typeface="Arial"/>
              </a:rPr>
              <a:t> to be better than they were before.</a:t>
            </a:r>
            <a:endParaRPr sz="1400" dirty="0">
              <a:latin typeface="Franklin Gothic Book" panose="020B0503020102020204" pitchFamily="34" charset="0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185612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609600" y="1962150"/>
            <a:ext cx="4102100" cy="20907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250" spc="-7050" baseline="-5349" dirty="0">
                <a:solidFill>
                  <a:srgbClr val="D9D9D9"/>
                </a:solidFill>
                <a:latin typeface="Franklin Gothic Book" panose="020B0503020102020204" pitchFamily="34" charset="0"/>
              </a:rPr>
              <a:t>&amp;</a:t>
            </a:r>
            <a:r>
              <a:rPr sz="3200" dirty="0">
                <a:solidFill>
                  <a:schemeClr val="tx1"/>
                </a:solidFill>
                <a:latin typeface="Franklin Gothic Book" panose="020B0503020102020204" pitchFamily="34" charset="0"/>
              </a:rPr>
              <a:t>In good company</a:t>
            </a:r>
          </a:p>
        </p:txBody>
      </p:sp>
    </p:spTree>
    <p:extLst>
      <p:ext uri="{BB962C8B-B14F-4D97-AF65-F5344CB8AC3E}">
        <p14:creationId xmlns:p14="http://schemas.microsoft.com/office/powerpoint/2010/main" val="14070553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Picture 43" descr="A screenshot of a cell phone&#10;&#10;Description automatically generated">
            <a:extLst>
              <a:ext uri="{FF2B5EF4-FFF2-40B4-BE49-F238E27FC236}">
                <a16:creationId xmlns:a16="http://schemas.microsoft.com/office/drawing/2014/main" id="{0E16D0EB-242A-FB45-B280-CA22B0CF2C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11931" y="2198722"/>
            <a:ext cx="987374" cy="987374"/>
          </a:xfrm>
          <a:prstGeom prst="rect">
            <a:avLst/>
          </a:prstGeom>
        </p:spPr>
      </p:pic>
      <p:sp>
        <p:nvSpPr>
          <p:cNvPr id="2" name="object 2"/>
          <p:cNvSpPr/>
          <p:nvPr/>
        </p:nvSpPr>
        <p:spPr>
          <a:xfrm>
            <a:off x="0" y="1"/>
            <a:ext cx="9143997" cy="49529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1520667" y="45238"/>
            <a:ext cx="6102662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Franklin Gothic Book" panose="020B0503020102020204" pitchFamily="34" charset="0"/>
                <a:cs typeface="Arial"/>
              </a:rPr>
              <a:t>Companies that have taken this journey...</a:t>
            </a:r>
          </a:p>
        </p:txBody>
      </p:sp>
      <p:sp>
        <p:nvSpPr>
          <p:cNvPr id="4" name="object 4"/>
          <p:cNvSpPr/>
          <p:nvPr/>
        </p:nvSpPr>
        <p:spPr>
          <a:xfrm>
            <a:off x="4211931" y="1788726"/>
            <a:ext cx="987374" cy="52618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object 6"/>
          <p:cNvSpPr/>
          <p:nvPr/>
        </p:nvSpPr>
        <p:spPr>
          <a:xfrm>
            <a:off x="4271580" y="3781369"/>
            <a:ext cx="868076" cy="34607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" name="object 7"/>
          <p:cNvSpPr/>
          <p:nvPr/>
        </p:nvSpPr>
        <p:spPr>
          <a:xfrm>
            <a:off x="7840084" y="3103716"/>
            <a:ext cx="884568" cy="18969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" name="object 9"/>
          <p:cNvSpPr/>
          <p:nvPr/>
        </p:nvSpPr>
        <p:spPr>
          <a:xfrm>
            <a:off x="6117131" y="2690368"/>
            <a:ext cx="922100" cy="355691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0" name="object 10"/>
          <p:cNvSpPr/>
          <p:nvPr/>
        </p:nvSpPr>
        <p:spPr>
          <a:xfrm>
            <a:off x="5921033" y="1544456"/>
            <a:ext cx="1278271" cy="52244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1" name="object 11"/>
          <p:cNvSpPr/>
          <p:nvPr/>
        </p:nvSpPr>
        <p:spPr>
          <a:xfrm>
            <a:off x="2499723" y="1560775"/>
            <a:ext cx="978720" cy="302882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2" name="object 12"/>
          <p:cNvSpPr/>
          <p:nvPr/>
        </p:nvSpPr>
        <p:spPr>
          <a:xfrm>
            <a:off x="7782964" y="1485736"/>
            <a:ext cx="1056114" cy="34158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3" name="object 13"/>
          <p:cNvSpPr/>
          <p:nvPr/>
        </p:nvSpPr>
        <p:spPr>
          <a:xfrm>
            <a:off x="7840084" y="2181785"/>
            <a:ext cx="941873" cy="379619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4" name="object 14"/>
          <p:cNvSpPr/>
          <p:nvPr/>
        </p:nvSpPr>
        <p:spPr>
          <a:xfrm>
            <a:off x="4221703" y="1241764"/>
            <a:ext cx="967830" cy="308429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5" name="object 15"/>
          <p:cNvSpPr/>
          <p:nvPr/>
        </p:nvSpPr>
        <p:spPr>
          <a:xfrm>
            <a:off x="688351" y="1114729"/>
            <a:ext cx="928935" cy="925437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6" name="object 16"/>
          <p:cNvSpPr txBox="1"/>
          <p:nvPr/>
        </p:nvSpPr>
        <p:spPr>
          <a:xfrm>
            <a:off x="4286642" y="550322"/>
            <a:ext cx="771525" cy="358140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41605" marR="5080" indent="-129539" algn="ctr">
              <a:lnSpc>
                <a:spcPts val="1300"/>
              </a:lnSpc>
              <a:spcBef>
                <a:spcPts val="160"/>
              </a:spcBef>
            </a:pPr>
            <a:r>
              <a:rPr sz="1100" spc="-25" dirty="0">
                <a:latin typeface="Franklin Gothic Book" panose="020B0503020102020204" pitchFamily="34" charset="0"/>
                <a:cs typeface="Arial"/>
              </a:rPr>
              <a:t>Hospitality</a:t>
            </a:r>
            <a:r>
              <a:rPr sz="1100" spc="-85" dirty="0">
                <a:latin typeface="Franklin Gothic Book" panose="020B0503020102020204" pitchFamily="34" charset="0"/>
                <a:cs typeface="Arial"/>
              </a:rPr>
              <a:t> </a:t>
            </a:r>
            <a:r>
              <a:rPr sz="1100" spc="-5" dirty="0">
                <a:latin typeface="Franklin Gothic Book" panose="020B0503020102020204" pitchFamily="34" charset="0"/>
                <a:cs typeface="Arial"/>
              </a:rPr>
              <a:t>&amp;  </a:t>
            </a:r>
            <a:r>
              <a:rPr sz="1100" spc="-40" dirty="0">
                <a:latin typeface="Franklin Gothic Book" panose="020B0503020102020204" pitchFamily="34" charset="0"/>
                <a:cs typeface="Arial"/>
              </a:rPr>
              <a:t>Tourism</a:t>
            </a:r>
            <a:endParaRPr sz="1100" dirty="0">
              <a:latin typeface="Franklin Gothic Book" panose="020B0503020102020204" pitchFamily="34" charset="0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862120" y="539008"/>
            <a:ext cx="1231141" cy="7027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1100" spc="-20" dirty="0">
                <a:latin typeface="Franklin Gothic Book" panose="020B0503020102020204" pitchFamily="34" charset="0"/>
                <a:cs typeface="Arial"/>
              </a:rPr>
              <a:t>Commercial, Real Estate, Single Family / Multi Family</a:t>
            </a:r>
            <a:endParaRPr lang="en-US" sz="1100" spc="-5" dirty="0">
              <a:latin typeface="Franklin Gothic Book" panose="020B0503020102020204" pitchFamily="34" charset="0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1100" dirty="0">
              <a:latin typeface="Franklin Gothic Book" panose="020B0503020102020204" pitchFamily="34" charset="0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33668" y="550322"/>
            <a:ext cx="1420613" cy="52065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36830" marR="5080" indent="-24765" algn="ctr">
              <a:lnSpc>
                <a:spcPts val="1300"/>
              </a:lnSpc>
              <a:spcBef>
                <a:spcPts val="160"/>
              </a:spcBef>
            </a:pPr>
            <a:r>
              <a:rPr sz="1100" dirty="0">
                <a:latin typeface="Franklin Gothic Book" panose="020B0503020102020204" pitchFamily="34" charset="0"/>
                <a:cs typeface="Arial"/>
              </a:rPr>
              <a:t>Financial Services &amp;  Asset Management</a:t>
            </a:r>
            <a:r>
              <a:rPr lang="en-US" sz="1100" dirty="0">
                <a:latin typeface="Franklin Gothic Book" panose="020B0503020102020204" pitchFamily="34" charset="0"/>
                <a:cs typeface="Arial"/>
              </a:rPr>
              <a:t>- Hospitality Investment</a:t>
            </a:r>
            <a:endParaRPr sz="1100" dirty="0">
              <a:latin typeface="Franklin Gothic Book" panose="020B0503020102020204" pitchFamily="34" charset="0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618189" y="550322"/>
            <a:ext cx="804545" cy="358140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 marR="5080" indent="3175">
              <a:lnSpc>
                <a:spcPts val="1300"/>
              </a:lnSpc>
              <a:spcBef>
                <a:spcPts val="160"/>
              </a:spcBef>
            </a:pPr>
            <a:r>
              <a:rPr sz="1100" spc="-25" dirty="0">
                <a:latin typeface="Franklin Gothic Book" panose="020B0503020102020204" pitchFamily="34" charset="0"/>
                <a:cs typeface="Arial"/>
              </a:rPr>
              <a:t>Healthcare</a:t>
            </a:r>
            <a:r>
              <a:rPr sz="1100" spc="-110" dirty="0">
                <a:latin typeface="Franklin Gothic Book" panose="020B0503020102020204" pitchFamily="34" charset="0"/>
                <a:cs typeface="Arial"/>
              </a:rPr>
              <a:t> </a:t>
            </a:r>
            <a:r>
              <a:rPr sz="1100" spc="-5" dirty="0">
                <a:latin typeface="Franklin Gothic Book" panose="020B0503020102020204" pitchFamily="34" charset="0"/>
                <a:cs typeface="Arial"/>
              </a:rPr>
              <a:t>&amp;  </a:t>
            </a:r>
            <a:r>
              <a:rPr sz="1100" spc="-25" dirty="0">
                <a:latin typeface="Franklin Gothic Book" panose="020B0503020102020204" pitchFamily="34" charset="0"/>
                <a:cs typeface="Arial"/>
              </a:rPr>
              <a:t>Life</a:t>
            </a:r>
            <a:r>
              <a:rPr sz="1100" spc="-110" dirty="0">
                <a:latin typeface="Franklin Gothic Book" panose="020B0503020102020204" pitchFamily="34" charset="0"/>
                <a:cs typeface="Arial"/>
              </a:rPr>
              <a:t> </a:t>
            </a:r>
            <a:r>
              <a:rPr sz="1100" spc="-40" dirty="0">
                <a:latin typeface="Franklin Gothic Book" panose="020B0503020102020204" pitchFamily="34" charset="0"/>
                <a:cs typeface="Arial"/>
              </a:rPr>
              <a:t>Sciences</a:t>
            </a:r>
            <a:endParaRPr sz="1100" dirty="0">
              <a:latin typeface="Franklin Gothic Book" panose="020B0503020102020204" pitchFamily="34" charset="0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876999" y="550322"/>
            <a:ext cx="888365" cy="51296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1310"/>
              </a:lnSpc>
              <a:spcBef>
                <a:spcPts val="100"/>
              </a:spcBef>
            </a:pPr>
            <a:r>
              <a:rPr sz="1100" dirty="0">
                <a:latin typeface="Franklin Gothic Book" panose="020B0503020102020204" pitchFamily="34" charset="0"/>
                <a:cs typeface="Arial"/>
              </a:rPr>
              <a:t>CPG</a:t>
            </a:r>
            <a:r>
              <a:rPr lang="en-US" sz="1100" dirty="0">
                <a:latin typeface="Franklin Gothic Book" panose="020B0503020102020204" pitchFamily="34" charset="0"/>
                <a:cs typeface="Arial"/>
              </a:rPr>
              <a:t>,</a:t>
            </a:r>
            <a:endParaRPr sz="1100" dirty="0">
              <a:latin typeface="Franklin Gothic Book" panose="020B0503020102020204" pitchFamily="34" charset="0"/>
              <a:cs typeface="Arial"/>
            </a:endParaRPr>
          </a:p>
          <a:p>
            <a:pPr algn="ctr">
              <a:lnSpc>
                <a:spcPts val="1310"/>
              </a:lnSpc>
            </a:pPr>
            <a:r>
              <a:rPr sz="1100" dirty="0">
                <a:latin typeface="Franklin Gothic Book" panose="020B0503020102020204" pitchFamily="34" charset="0"/>
                <a:cs typeface="Arial"/>
              </a:rPr>
              <a:t>Manufacturi</a:t>
            </a:r>
            <a:r>
              <a:rPr lang="en-US" sz="1100" dirty="0">
                <a:latin typeface="Franklin Gothic Book" panose="020B0503020102020204" pitchFamily="34" charset="0"/>
                <a:cs typeface="Arial"/>
              </a:rPr>
              <a:t>n</a:t>
            </a:r>
            <a:r>
              <a:rPr sz="1100" dirty="0">
                <a:latin typeface="Franklin Gothic Book" panose="020B0503020102020204" pitchFamily="34" charset="0"/>
                <a:cs typeface="Arial"/>
              </a:rPr>
              <a:t>g</a:t>
            </a:r>
            <a:r>
              <a:rPr lang="en-US" sz="1100" dirty="0">
                <a:latin typeface="Franklin Gothic Book" panose="020B0503020102020204" pitchFamily="34" charset="0"/>
                <a:cs typeface="Arial"/>
              </a:rPr>
              <a:t>, </a:t>
            </a:r>
            <a:endParaRPr sz="1100" dirty="0">
              <a:latin typeface="Franklin Gothic Book" panose="020B0503020102020204" pitchFamily="34" charset="0"/>
              <a:cs typeface="Aria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4219889" y="1121662"/>
            <a:ext cx="969644" cy="0"/>
          </a:xfrm>
          <a:custGeom>
            <a:avLst/>
            <a:gdLst/>
            <a:ahLst/>
            <a:cxnLst/>
            <a:rect l="l" t="t" r="r" b="b"/>
            <a:pathLst>
              <a:path w="969644">
                <a:moveTo>
                  <a:pt x="0" y="0"/>
                </a:moveTo>
                <a:lnTo>
                  <a:pt x="969627" y="1"/>
                </a:lnTo>
              </a:path>
            </a:pathLst>
          </a:custGeom>
          <a:ln w="25400">
            <a:solidFill>
              <a:srgbClr val="A5335D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5" name="object 25"/>
          <p:cNvSpPr/>
          <p:nvPr/>
        </p:nvSpPr>
        <p:spPr>
          <a:xfrm>
            <a:off x="7885075" y="1121662"/>
            <a:ext cx="969644" cy="0"/>
          </a:xfrm>
          <a:custGeom>
            <a:avLst/>
            <a:gdLst/>
            <a:ahLst/>
            <a:cxnLst/>
            <a:rect l="l" t="t" r="r" b="b"/>
            <a:pathLst>
              <a:path w="969645">
                <a:moveTo>
                  <a:pt x="0" y="0"/>
                </a:moveTo>
                <a:lnTo>
                  <a:pt x="969626" y="1"/>
                </a:lnTo>
              </a:path>
            </a:pathLst>
          </a:custGeom>
          <a:ln w="25400">
            <a:solidFill>
              <a:srgbClr val="A5335D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7" name="object 27"/>
          <p:cNvSpPr/>
          <p:nvPr/>
        </p:nvSpPr>
        <p:spPr>
          <a:xfrm>
            <a:off x="6027041" y="1109597"/>
            <a:ext cx="1012190" cy="12065"/>
          </a:xfrm>
          <a:custGeom>
            <a:avLst/>
            <a:gdLst/>
            <a:ahLst/>
            <a:cxnLst/>
            <a:rect l="l" t="t" r="r" b="b"/>
            <a:pathLst>
              <a:path w="1012190" h="12065">
                <a:moveTo>
                  <a:pt x="0" y="11572"/>
                </a:moveTo>
                <a:lnTo>
                  <a:pt x="1011961" y="0"/>
                </a:lnTo>
              </a:path>
            </a:pathLst>
          </a:custGeom>
          <a:ln w="25400">
            <a:solidFill>
              <a:srgbClr val="A5335D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9" name="object 29"/>
          <p:cNvSpPr/>
          <p:nvPr/>
        </p:nvSpPr>
        <p:spPr>
          <a:xfrm>
            <a:off x="2499723" y="1121662"/>
            <a:ext cx="969644" cy="0"/>
          </a:xfrm>
          <a:custGeom>
            <a:avLst/>
            <a:gdLst/>
            <a:ahLst/>
            <a:cxnLst/>
            <a:rect l="l" t="t" r="r" b="b"/>
            <a:pathLst>
              <a:path w="969644">
                <a:moveTo>
                  <a:pt x="0" y="0"/>
                </a:moveTo>
                <a:lnTo>
                  <a:pt x="969627" y="1"/>
                </a:lnTo>
              </a:path>
            </a:pathLst>
          </a:custGeom>
          <a:ln w="25400">
            <a:solidFill>
              <a:srgbClr val="A5335D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1" name="object 31"/>
          <p:cNvSpPr/>
          <p:nvPr/>
        </p:nvSpPr>
        <p:spPr>
          <a:xfrm>
            <a:off x="361594" y="1075943"/>
            <a:ext cx="1420613" cy="45719"/>
          </a:xfrm>
          <a:custGeom>
            <a:avLst/>
            <a:gdLst/>
            <a:ahLst/>
            <a:cxnLst/>
            <a:rect l="l" t="t" r="r" b="b"/>
            <a:pathLst>
              <a:path w="1273175">
                <a:moveTo>
                  <a:pt x="0" y="0"/>
                </a:moveTo>
                <a:lnTo>
                  <a:pt x="1273041" y="1"/>
                </a:lnTo>
              </a:path>
            </a:pathLst>
          </a:custGeom>
          <a:ln w="25400">
            <a:solidFill>
              <a:srgbClr val="A5335D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3" name="object 33"/>
          <p:cNvSpPr/>
          <p:nvPr/>
        </p:nvSpPr>
        <p:spPr>
          <a:xfrm>
            <a:off x="580881" y="2328216"/>
            <a:ext cx="1143875" cy="270916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5" name="object 35"/>
          <p:cNvSpPr/>
          <p:nvPr/>
        </p:nvSpPr>
        <p:spPr>
          <a:xfrm>
            <a:off x="2539254" y="2051817"/>
            <a:ext cx="1065363" cy="928755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7" name="object 37"/>
          <p:cNvSpPr/>
          <p:nvPr/>
        </p:nvSpPr>
        <p:spPr>
          <a:xfrm>
            <a:off x="2401380" y="3073535"/>
            <a:ext cx="1060418" cy="799966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D021C6BF-F540-0E47-B44C-4560351E52AD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3792" y="3073535"/>
            <a:ext cx="986373" cy="655182"/>
          </a:xfrm>
          <a:prstGeom prst="rect">
            <a:avLst/>
          </a:prstGeom>
        </p:spPr>
      </p:pic>
      <p:pic>
        <p:nvPicPr>
          <p:cNvPr id="8" name="Picture 7" descr="A close up of a logo&#10;&#10;Description automatically generated">
            <a:extLst>
              <a:ext uri="{FF2B5EF4-FFF2-40B4-BE49-F238E27FC236}">
                <a16:creationId xmlns:a16="http://schemas.microsoft.com/office/drawing/2014/main" id="{7D6265F1-49EC-AC4E-A18C-F088C10E7FE5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91631" y="4370366"/>
            <a:ext cx="1027975" cy="268644"/>
          </a:xfrm>
          <a:prstGeom prst="rect">
            <a:avLst/>
          </a:prstGeom>
        </p:spPr>
      </p:pic>
      <p:sp>
        <p:nvSpPr>
          <p:cNvPr id="18" name="Slide Number Placeholder 12">
            <a:extLst>
              <a:ext uri="{FF2B5EF4-FFF2-40B4-BE49-F238E27FC236}">
                <a16:creationId xmlns:a16="http://schemas.microsoft.com/office/drawing/2014/main" id="{FFFB407B-855F-4C3F-9BE9-59E9C776173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6592824" y="4733151"/>
            <a:ext cx="2103120" cy="276999"/>
          </a:xfr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chemeClr val="bg1">
                    <a:lumMod val="50000"/>
                  </a:schemeClr>
                </a:solidFill>
              </a:rPr>
              <a:pPr/>
              <a:t>13</a:t>
            </a:fld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564E1A-D212-7D45-85A7-9E1B47C8E85C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229368" y="3047095"/>
            <a:ext cx="952500" cy="52705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4482E45E-2BAC-8E40-A3BD-4A079316C99E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069007" y="3401126"/>
            <a:ext cx="1143000" cy="114300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BF10A30F-A654-AB4B-AE42-2B597F65BBAC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33668" y="3830414"/>
            <a:ext cx="1638300" cy="12319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AE76186A-43CE-7340-ACC9-C6EB27A1E8FB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998224" y="3768353"/>
            <a:ext cx="697720" cy="904188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D44CD02B-E3DC-9A45-B598-E17486CD648B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2328898" y="3781369"/>
            <a:ext cx="1270000" cy="127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52573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C7CC3-E8E8-4C45-AF12-E869FADFF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"/>
            <a:ext cx="9144000" cy="492443"/>
          </a:xfrm>
          <a:pattFill prst="pct20">
            <a:fgClr>
              <a:schemeClr val="bg2">
                <a:lumMod val="75000"/>
              </a:schemeClr>
            </a:fgClr>
            <a:bgClr>
              <a:schemeClr val="bg1"/>
            </a:bgClr>
          </a:pattFill>
        </p:spPr>
        <p:txBody>
          <a:bodyPr>
            <a:normAutofit/>
          </a:bodyPr>
          <a:lstStyle/>
          <a:p>
            <a:pPr algn="ctr"/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Book" panose="020B0503020102020204" pitchFamily="34" charset="0"/>
              </a:rPr>
              <a:t>Where we serve    </a:t>
            </a:r>
          </a:p>
        </p:txBody>
      </p:sp>
      <p:pic>
        <p:nvPicPr>
          <p:cNvPr id="4" name="Picture 3" descr="Text&#10;&#10;Description automatically generated">
            <a:extLst>
              <a:ext uri="{FF2B5EF4-FFF2-40B4-BE49-F238E27FC236}">
                <a16:creationId xmlns:a16="http://schemas.microsoft.com/office/drawing/2014/main" id="{5BE494FD-0782-D145-A578-ED810C05AB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92287" y="1557069"/>
            <a:ext cx="2759426" cy="119575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CEBE929-38CA-E14B-B744-0A8F407713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612" y="2571749"/>
            <a:ext cx="2679551" cy="164895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2D14088-C8BB-F84A-A05E-302BB9F17B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8362" y="2595125"/>
            <a:ext cx="1554666" cy="13208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F5CBD83-4AFE-E943-99C3-A99AF4A07773}"/>
              </a:ext>
            </a:extLst>
          </p:cNvPr>
          <p:cNvSpPr txBox="1"/>
          <p:nvPr/>
        </p:nvSpPr>
        <p:spPr>
          <a:xfrm>
            <a:off x="6477145" y="3915925"/>
            <a:ext cx="244014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Strategic Account Management Association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D40A999-516B-5440-B7A3-6E1E4D81FD83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3212" r="24852"/>
          <a:stretch/>
        </p:blipFill>
        <p:spPr>
          <a:xfrm>
            <a:off x="753719" y="472910"/>
            <a:ext cx="1892300" cy="108415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035B46C-D515-854F-987F-98A3C20BF88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95486" y="3446025"/>
            <a:ext cx="2133600" cy="9398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40D115F-9DD5-814F-B7E8-9FEE67CAFBE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7145" y="757675"/>
            <a:ext cx="2197100" cy="92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08138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922CC13-FD25-07F1-A884-7AB41150C1F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Appendices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8A0BC4-5A6F-FCC3-1169-17EA1105FABB}"/>
              </a:ext>
            </a:extLst>
          </p:cNvPr>
          <p:cNvSpPr txBox="1"/>
          <p:nvPr/>
        </p:nvSpPr>
        <p:spPr>
          <a:xfrm>
            <a:off x="3444815" y="1886309"/>
            <a:ext cx="50378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Vision to Value Roadmap</a:t>
            </a:r>
          </a:p>
          <a:p>
            <a:r>
              <a:rPr lang="en-US" dirty="0"/>
              <a:t>Competency and Agility Heatmap</a:t>
            </a:r>
          </a:p>
        </p:txBody>
      </p:sp>
    </p:spTree>
    <p:extLst>
      <p:ext uri="{BB962C8B-B14F-4D97-AF65-F5344CB8AC3E}">
        <p14:creationId xmlns:p14="http://schemas.microsoft.com/office/powerpoint/2010/main" val="10800146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1689" y="110489"/>
            <a:ext cx="8425003" cy="484748"/>
          </a:xfrm>
        </p:spPr>
        <p:txBody>
          <a:bodyPr/>
          <a:lstStyle/>
          <a:p>
            <a:r>
              <a:rPr lang="en-US" sz="1800" dirty="0"/>
              <a:t>Customer Engagement Learning Roadmap </a:t>
            </a:r>
            <a:r>
              <a:rPr lang="en-US" sz="1350" dirty="0"/>
              <a:t>Learning Journey Draft for Review</a:t>
            </a:r>
            <a:endParaRPr lang="en-US" sz="18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1BF0B4E-CE60-AB48-9D7E-4434414A7C38}" type="slidenum">
              <a:rPr lang="en-US" smtClean="0"/>
              <a:pPr/>
              <a:t>16</a:t>
            </a:fld>
            <a:endParaRPr lang="en-US" dirty="0"/>
          </a:p>
        </p:txBody>
      </p:sp>
      <p:cxnSp>
        <p:nvCxnSpPr>
          <p:cNvPr id="66" name="Straight Connector 65"/>
          <p:cNvCxnSpPr/>
          <p:nvPr/>
        </p:nvCxnSpPr>
        <p:spPr>
          <a:xfrm>
            <a:off x="1780783" y="883885"/>
            <a:ext cx="1" cy="3702110"/>
          </a:xfrm>
          <a:prstGeom prst="line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67" name="Straight Connector 66"/>
          <p:cNvCxnSpPr/>
          <p:nvPr/>
        </p:nvCxnSpPr>
        <p:spPr>
          <a:xfrm>
            <a:off x="2983494" y="883885"/>
            <a:ext cx="1" cy="3702110"/>
          </a:xfrm>
          <a:prstGeom prst="line">
            <a:avLst/>
          </a:prstGeom>
          <a:ln>
            <a:solidFill>
              <a:schemeClr val="tx1">
                <a:lumMod val="40000"/>
                <a:lumOff val="6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/>
          <p:cNvCxnSpPr/>
          <p:nvPr/>
        </p:nvCxnSpPr>
        <p:spPr>
          <a:xfrm>
            <a:off x="5388916" y="883885"/>
            <a:ext cx="1" cy="3702110"/>
          </a:xfrm>
          <a:prstGeom prst="line">
            <a:avLst/>
          </a:prstGeom>
          <a:ln>
            <a:solidFill>
              <a:schemeClr val="tx1">
                <a:lumMod val="40000"/>
                <a:lumOff val="6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/>
          <p:cNvCxnSpPr/>
          <p:nvPr/>
        </p:nvCxnSpPr>
        <p:spPr>
          <a:xfrm>
            <a:off x="7405042" y="883885"/>
            <a:ext cx="1" cy="3702110"/>
          </a:xfrm>
          <a:prstGeom prst="line">
            <a:avLst/>
          </a:prstGeom>
          <a:ln>
            <a:solidFill>
              <a:schemeClr val="tx1">
                <a:lumMod val="40000"/>
                <a:lumOff val="6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/>
          <p:cNvCxnSpPr/>
          <p:nvPr/>
        </p:nvCxnSpPr>
        <p:spPr>
          <a:xfrm>
            <a:off x="4186206" y="883885"/>
            <a:ext cx="1" cy="3702110"/>
          </a:xfrm>
          <a:prstGeom prst="line">
            <a:avLst/>
          </a:prstGeom>
          <a:ln>
            <a:solidFill>
              <a:schemeClr val="tx1">
                <a:lumMod val="40000"/>
                <a:lumOff val="6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Rectangle 82"/>
          <p:cNvSpPr/>
          <p:nvPr/>
        </p:nvSpPr>
        <p:spPr>
          <a:xfrm>
            <a:off x="528973" y="883885"/>
            <a:ext cx="1251810" cy="3702110"/>
          </a:xfrm>
          <a:prstGeom prst="rect">
            <a:avLst/>
          </a:prstGeom>
          <a:solidFill>
            <a:schemeClr val="bg1">
              <a:lumMod val="75000"/>
              <a:alpha val="25098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85" name="Rectangle 84"/>
          <p:cNvSpPr/>
          <p:nvPr/>
        </p:nvSpPr>
        <p:spPr>
          <a:xfrm>
            <a:off x="2982545" y="883885"/>
            <a:ext cx="1211885" cy="3702110"/>
          </a:xfrm>
          <a:prstGeom prst="rect">
            <a:avLst/>
          </a:prstGeom>
          <a:solidFill>
            <a:schemeClr val="bg1">
              <a:lumMod val="75000"/>
              <a:alpha val="25098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125" name="Rectangle 124"/>
          <p:cNvSpPr/>
          <p:nvPr/>
        </p:nvSpPr>
        <p:spPr>
          <a:xfrm>
            <a:off x="5400698" y="889558"/>
            <a:ext cx="1999900" cy="3702110"/>
          </a:xfrm>
          <a:prstGeom prst="rect">
            <a:avLst/>
          </a:prstGeom>
          <a:solidFill>
            <a:schemeClr val="bg1">
              <a:lumMod val="75000"/>
              <a:alpha val="25098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127" name="TextBox 126"/>
          <p:cNvSpPr txBox="1"/>
          <p:nvPr/>
        </p:nvSpPr>
        <p:spPr>
          <a:xfrm>
            <a:off x="3402831" y="3089902"/>
            <a:ext cx="2341037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C00000"/>
            </a:solidFill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900" b="1" dirty="0">
                <a:solidFill>
                  <a:srgbClr val="333131"/>
                </a:solidFill>
                <a:latin typeface="Arial" charset="0"/>
                <a:ea typeface="Arial" charset="0"/>
                <a:cs typeface="Arial" charset="0"/>
              </a:rPr>
              <a:t>Lead, Coach, Sponsor, Enable &amp; Sustain</a:t>
            </a:r>
          </a:p>
        </p:txBody>
      </p:sp>
      <p:cxnSp>
        <p:nvCxnSpPr>
          <p:cNvPr id="128" name="Straight Connector 127"/>
          <p:cNvCxnSpPr/>
          <p:nvPr/>
        </p:nvCxnSpPr>
        <p:spPr>
          <a:xfrm>
            <a:off x="5794002" y="3193776"/>
            <a:ext cx="3146612" cy="0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Connector 128"/>
          <p:cNvCxnSpPr/>
          <p:nvPr/>
        </p:nvCxnSpPr>
        <p:spPr>
          <a:xfrm>
            <a:off x="528973" y="3193776"/>
            <a:ext cx="2762118" cy="0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Rounded Rectangle 129"/>
          <p:cNvSpPr/>
          <p:nvPr/>
        </p:nvSpPr>
        <p:spPr>
          <a:xfrm>
            <a:off x="5379580" y="3873682"/>
            <a:ext cx="2925332" cy="389000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lnSpc>
                <a:spcPct val="110000"/>
              </a:lnSpc>
            </a:pPr>
            <a:r>
              <a:rPr lang="en-US" sz="900" b="1" dirty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rPr>
              <a:t>Transforming Customer Engagement</a:t>
            </a:r>
          </a:p>
          <a:p>
            <a:pPr lvl="0" algn="ctr">
              <a:lnSpc>
                <a:spcPct val="110000"/>
              </a:lnSpc>
            </a:pPr>
            <a:r>
              <a:rPr lang="en-US" sz="600" dirty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rPr>
              <a:t>“Critical Crowd” </a:t>
            </a:r>
            <a:r>
              <a:rPr lang="mr-IN" sz="600" dirty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rPr>
              <a:t>–</a:t>
            </a:r>
            <a:r>
              <a:rPr lang="en-US" sz="600" dirty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US" sz="600" dirty="0">
                <a:solidFill>
                  <a:schemeClr val="tx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Accelerating Strategic Account Management and Enabling Transformative Change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5994591" y="3398538"/>
            <a:ext cx="2067848" cy="384104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825" b="1" dirty="0">
                <a:solidFill>
                  <a:schemeClr val="tx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Lead &amp; Sponsor Strategic Customer Engagement</a:t>
            </a:r>
          </a:p>
          <a:p>
            <a:pPr algn="ctr"/>
            <a:r>
              <a:rPr lang="en-US" sz="600" dirty="0">
                <a:solidFill>
                  <a:schemeClr val="tx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Janssen / J&amp;J Executive Leaders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2027317" y="3398538"/>
            <a:ext cx="1606075" cy="384104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825" b="1" dirty="0">
                <a:solidFill>
                  <a:schemeClr val="tx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Transformative Leader-Coach</a:t>
            </a:r>
          </a:p>
          <a:p>
            <a:pPr algn="ctr"/>
            <a:r>
              <a:rPr lang="en-US" sz="600" dirty="0">
                <a:solidFill>
                  <a:schemeClr val="tx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Managers of Account Directors &amp; Leaders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533195" y="787873"/>
            <a:ext cx="505267" cy="230832"/>
          </a:xfrm>
          <a:prstGeom prst="rect">
            <a:avLst/>
          </a:prstGeom>
          <a:solidFill>
            <a:srgbClr val="68ABFB">
              <a:alpha val="40000"/>
            </a:srgbClr>
          </a:solidFill>
          <a:ln>
            <a:solidFill>
              <a:schemeClr val="tx1"/>
            </a:solidFill>
          </a:ln>
          <a:effectLst/>
        </p:spPr>
        <p:txBody>
          <a:bodyPr wrap="none" rtlCol="0">
            <a:spAutoFit/>
          </a:bodyPr>
          <a:lstStyle>
            <a:defPPr>
              <a:defRPr lang="en-US"/>
            </a:defPPr>
            <a:lvl1pPr algn="ctr">
              <a:defRPr sz="1200" b="1">
                <a:solidFill>
                  <a:srgbClr val="33313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n-US" sz="900" dirty="0"/>
              <a:t>Equip</a:t>
            </a:r>
          </a:p>
        </p:txBody>
      </p:sp>
      <p:cxnSp>
        <p:nvCxnSpPr>
          <p:cNvPr id="134" name="Straight Connector 133"/>
          <p:cNvCxnSpPr/>
          <p:nvPr/>
        </p:nvCxnSpPr>
        <p:spPr>
          <a:xfrm>
            <a:off x="2162473" y="883398"/>
            <a:ext cx="3895916" cy="1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TextBox 134"/>
          <p:cNvSpPr txBox="1"/>
          <p:nvPr/>
        </p:nvSpPr>
        <p:spPr>
          <a:xfrm>
            <a:off x="6193061" y="790567"/>
            <a:ext cx="505267" cy="230832"/>
          </a:xfrm>
          <a:prstGeom prst="rect">
            <a:avLst/>
          </a:prstGeom>
          <a:solidFill>
            <a:srgbClr val="BEE7F1">
              <a:alpha val="69020"/>
            </a:srgbClr>
          </a:solidFill>
          <a:ln>
            <a:solidFill>
              <a:schemeClr val="tx1"/>
            </a:solidFill>
          </a:ln>
          <a:effectLst/>
        </p:spPr>
        <p:txBody>
          <a:bodyPr wrap="none" rtlCol="0">
            <a:spAutoFit/>
          </a:bodyPr>
          <a:lstStyle>
            <a:defPPr>
              <a:defRPr lang="en-US"/>
            </a:defPPr>
            <a:lvl1pPr algn="ctr">
              <a:defRPr sz="1200" b="1">
                <a:solidFill>
                  <a:srgbClr val="33313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n-US" sz="900" dirty="0"/>
              <a:t>Apply</a:t>
            </a:r>
          </a:p>
        </p:txBody>
      </p:sp>
      <p:cxnSp>
        <p:nvCxnSpPr>
          <p:cNvPr id="136" name="Straight Connector 135"/>
          <p:cNvCxnSpPr/>
          <p:nvPr/>
        </p:nvCxnSpPr>
        <p:spPr>
          <a:xfrm>
            <a:off x="6841960" y="886467"/>
            <a:ext cx="814300" cy="639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TextBox 136"/>
          <p:cNvSpPr txBox="1"/>
          <p:nvPr/>
        </p:nvSpPr>
        <p:spPr>
          <a:xfrm>
            <a:off x="7815989" y="793604"/>
            <a:ext cx="588624" cy="230832"/>
          </a:xfrm>
          <a:prstGeom prst="rect">
            <a:avLst/>
          </a:prstGeom>
          <a:solidFill>
            <a:srgbClr val="9437FF">
              <a:alpha val="25098"/>
            </a:srgbClr>
          </a:solidFill>
          <a:ln>
            <a:solidFill>
              <a:schemeClr val="tx1"/>
            </a:solidFill>
          </a:ln>
          <a:effectLst/>
        </p:spPr>
        <p:txBody>
          <a:bodyPr wrap="none" rtlCol="0">
            <a:spAutoFit/>
          </a:bodyPr>
          <a:lstStyle>
            <a:defPPr>
              <a:defRPr lang="en-US"/>
            </a:defPPr>
            <a:lvl1pPr algn="ctr">
              <a:defRPr sz="1200" b="1">
                <a:solidFill>
                  <a:srgbClr val="33313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n-US" sz="900" dirty="0">
                <a:solidFill>
                  <a:schemeClr val="tx1"/>
                </a:solidFill>
              </a:rPr>
              <a:t>Elevate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5393793" y="1111280"/>
            <a:ext cx="1455325" cy="866357"/>
          </a:xfrm>
          <a:prstGeom prst="roundRect">
            <a:avLst>
              <a:gd name="adj" fmla="val 8701"/>
            </a:avLst>
          </a:prstGeom>
          <a:solidFill>
            <a:srgbClr val="BEE7F1"/>
          </a:solidFill>
          <a:ln w="3175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lnSpc>
                <a:spcPct val="90000"/>
              </a:lnSpc>
            </a:pPr>
            <a:r>
              <a:rPr lang="en-US" sz="825" b="1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Accelerating Strategic Account Growth </a:t>
            </a:r>
            <a:r>
              <a:rPr lang="en-US" sz="825" b="1" i="1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- Live</a:t>
            </a:r>
          </a:p>
          <a:p>
            <a:pPr algn="ctr"/>
            <a:endParaRPr lang="en-US" sz="225" dirty="0">
              <a:solidFill>
                <a:schemeClr val="tx1"/>
              </a:solidFill>
              <a:latin typeface="Arial" charset="0"/>
              <a:ea typeface="Arial" charset="0"/>
              <a:cs typeface="Arial" charset="0"/>
            </a:endParaRPr>
          </a:p>
          <a:p>
            <a:pPr algn="ctr">
              <a:lnSpc>
                <a:spcPct val="90000"/>
              </a:lnSpc>
            </a:pPr>
            <a:endParaRPr lang="en-US" sz="100" dirty="0">
              <a:solidFill>
                <a:schemeClr val="tx1"/>
              </a:solidFill>
              <a:latin typeface="Arial" charset="0"/>
              <a:ea typeface="Arial" charset="0"/>
              <a:cs typeface="Arial" charset="0"/>
            </a:endParaRPr>
          </a:p>
          <a:p>
            <a:pPr algn="ctr">
              <a:lnSpc>
                <a:spcPct val="90000"/>
              </a:lnSpc>
            </a:pPr>
            <a:r>
              <a:rPr lang="en-US" sz="600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Leaders, Account Directors, Cross-Function Account Teams Develop &amp; Execute Strategies, Tactics, &amp; Plans for Must Win + Must Have Accounts / Opportunities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5994591" y="2069905"/>
            <a:ext cx="1404146" cy="866357"/>
          </a:xfrm>
          <a:prstGeom prst="roundRect">
            <a:avLst>
              <a:gd name="adj" fmla="val 5382"/>
            </a:avLst>
          </a:prstGeom>
          <a:solidFill>
            <a:srgbClr val="BEE7F1"/>
          </a:solidFill>
          <a:ln w="3175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825" b="1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Collaborative Business Alignment &amp; Joint Planning</a:t>
            </a:r>
          </a:p>
          <a:p>
            <a:pPr algn="ctr"/>
            <a:r>
              <a:rPr lang="en-US" sz="600" dirty="0">
                <a:solidFill>
                  <a:schemeClr val="tx1"/>
                </a:solidFill>
              </a:rPr>
              <a:t>Co-Creating Business Value</a:t>
            </a:r>
            <a:endParaRPr lang="en-US" sz="150" b="1" dirty="0">
              <a:solidFill>
                <a:schemeClr val="tx1"/>
              </a:solidFill>
              <a:latin typeface="Arial" charset="0"/>
              <a:ea typeface="Arial" charset="0"/>
              <a:cs typeface="Arial" charset="0"/>
            </a:endParaRPr>
          </a:p>
          <a:p>
            <a:pPr algn="ctr"/>
            <a:endParaRPr lang="en-US" sz="100" dirty="0">
              <a:solidFill>
                <a:schemeClr val="tx1"/>
              </a:solidFill>
              <a:latin typeface="Arial" charset="0"/>
              <a:ea typeface="Arial" charset="0"/>
              <a:cs typeface="Arial" charset="0"/>
            </a:endParaRPr>
          </a:p>
          <a:p>
            <a:pPr algn="ctr">
              <a:lnSpc>
                <a:spcPct val="90000"/>
              </a:lnSpc>
            </a:pPr>
            <a:endParaRPr lang="en-US" sz="150" dirty="0">
              <a:solidFill>
                <a:schemeClr val="tx1"/>
              </a:solidFill>
              <a:latin typeface="Arial" charset="0"/>
              <a:ea typeface="Arial" charset="0"/>
              <a:cs typeface="Arial" charset="0"/>
            </a:endParaRPr>
          </a:p>
          <a:p>
            <a:pPr algn="ctr">
              <a:lnSpc>
                <a:spcPct val="90000"/>
              </a:lnSpc>
            </a:pPr>
            <a:r>
              <a:rPr lang="en-US" sz="600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Sponsor, Account Director + Core Team Joint Business Plan Development, Business Alignment &amp; Execution </a:t>
            </a:r>
            <a:r>
              <a:rPr lang="en-US" sz="600" u="sng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with</a:t>
            </a:r>
            <a:r>
              <a:rPr lang="en-US" sz="600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 Strategic Accounts</a:t>
            </a:r>
            <a:endParaRPr lang="en-US" sz="750" dirty="0">
              <a:solidFill>
                <a:schemeClr val="tx1"/>
              </a:solidFill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142" name="Rounded Rectangle 141"/>
          <p:cNvSpPr/>
          <p:nvPr/>
        </p:nvSpPr>
        <p:spPr>
          <a:xfrm>
            <a:off x="7462132" y="1101992"/>
            <a:ext cx="1124562" cy="375681"/>
          </a:xfrm>
          <a:prstGeom prst="roundRect">
            <a:avLst/>
          </a:prstGeom>
          <a:solidFill>
            <a:srgbClr val="BF96F2">
              <a:alpha val="25098"/>
            </a:srgb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lnSpc>
                <a:spcPct val="90000"/>
              </a:lnSpc>
            </a:pPr>
            <a:r>
              <a:rPr lang="en-US" sz="750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Masters MSc</a:t>
            </a:r>
          </a:p>
          <a:p>
            <a:pPr algn="ctr">
              <a:lnSpc>
                <a:spcPct val="90000"/>
              </a:lnSpc>
            </a:pPr>
            <a:r>
              <a:rPr lang="en-US" sz="675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Strategic Account Transformation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7462132" y="2370391"/>
            <a:ext cx="1124562" cy="306323"/>
          </a:xfrm>
          <a:prstGeom prst="roundRect">
            <a:avLst/>
          </a:prstGeom>
          <a:solidFill>
            <a:srgbClr val="BF96F2">
              <a:alpha val="25098"/>
            </a:srgb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lnSpc>
                <a:spcPct val="80000"/>
              </a:lnSpc>
            </a:pPr>
            <a:r>
              <a:rPr lang="en-US" sz="750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Quantify + Communicate Healthcare Value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7462132" y="1492430"/>
            <a:ext cx="1124562" cy="244793"/>
          </a:xfrm>
          <a:prstGeom prst="roundRect">
            <a:avLst/>
          </a:prstGeom>
          <a:solidFill>
            <a:srgbClr val="BF96F2">
              <a:alpha val="25098"/>
            </a:srgb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lnSpc>
                <a:spcPct val="80000"/>
              </a:lnSpc>
            </a:pPr>
            <a:r>
              <a:rPr lang="en-US" sz="750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Strategic Thinking      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7462132" y="1751980"/>
            <a:ext cx="1124562" cy="244793"/>
          </a:xfrm>
          <a:prstGeom prst="roundRect">
            <a:avLst/>
          </a:prstGeom>
          <a:solidFill>
            <a:srgbClr val="BF96F2">
              <a:alpha val="25098"/>
            </a:srgb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lnSpc>
                <a:spcPct val="90000"/>
              </a:lnSpc>
            </a:pPr>
            <a:r>
              <a:rPr lang="en-US" sz="750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Co-Innovation</a:t>
            </a:r>
          </a:p>
          <a:p>
            <a:pPr algn="ctr"/>
            <a:r>
              <a:rPr lang="en-US" sz="525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with Strategic Accounts       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7462132" y="2691469"/>
            <a:ext cx="1124562" cy="244793"/>
          </a:xfrm>
          <a:prstGeom prst="roundRect">
            <a:avLst/>
          </a:prstGeom>
          <a:solidFill>
            <a:srgbClr val="BF96F2">
              <a:alpha val="25098"/>
            </a:srgb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lnSpc>
                <a:spcPct val="80000"/>
              </a:lnSpc>
            </a:pPr>
            <a:r>
              <a:rPr lang="en-US" sz="750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Leading Negotiation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7462132" y="2011530"/>
            <a:ext cx="1124562" cy="344104"/>
          </a:xfrm>
          <a:prstGeom prst="roundRect">
            <a:avLst/>
          </a:prstGeom>
          <a:solidFill>
            <a:srgbClr val="BF96F2">
              <a:alpha val="25098"/>
            </a:srgb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lnSpc>
                <a:spcPct val="90000"/>
              </a:lnSpc>
            </a:pPr>
            <a:r>
              <a:rPr lang="en-US" sz="750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Leading High-Performance Account Teams</a:t>
            </a:r>
            <a:endParaRPr lang="en-US" sz="675" dirty="0">
              <a:solidFill>
                <a:schemeClr val="tx1"/>
              </a:solidFill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148" name="Rounded Rectangle 147"/>
          <p:cNvSpPr/>
          <p:nvPr/>
        </p:nvSpPr>
        <p:spPr>
          <a:xfrm>
            <a:off x="731534" y="1103901"/>
            <a:ext cx="1537097" cy="395159"/>
          </a:xfrm>
          <a:prstGeom prst="roundRect">
            <a:avLst/>
          </a:prstGeom>
          <a:solidFill>
            <a:srgbClr val="68ABFB">
              <a:alpha val="29804"/>
            </a:srgbClr>
          </a:solidFill>
          <a:ln w="3175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713" b="1" dirty="0">
                <a:solidFill>
                  <a:schemeClr val="tx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Distinguishing Customer Engagement I </a:t>
            </a:r>
            <a:r>
              <a:rPr lang="mr-IN" sz="713" b="1" dirty="0">
                <a:solidFill>
                  <a:schemeClr val="tx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–</a:t>
            </a:r>
            <a:r>
              <a:rPr lang="en-US" sz="713" b="1" dirty="0">
                <a:solidFill>
                  <a:schemeClr val="tx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US" sz="713" b="1" i="1" dirty="0">
                <a:solidFill>
                  <a:schemeClr val="accent2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Discover</a:t>
            </a:r>
            <a:endParaRPr lang="en-US" sz="713" dirty="0">
              <a:solidFill>
                <a:schemeClr val="accent2">
                  <a:lumMod val="50000"/>
                </a:schemeClr>
              </a:solidFill>
              <a:latin typeface="Arial" charset="0"/>
              <a:ea typeface="Arial" charset="0"/>
              <a:cs typeface="Arial" charset="0"/>
            </a:endParaRPr>
          </a:p>
          <a:p>
            <a:pPr algn="ctr"/>
            <a:r>
              <a:rPr lang="en-US" sz="525" dirty="0">
                <a:solidFill>
                  <a:schemeClr val="tx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Account Directors + Team Members develop CEF  “discovery” / insights skillset &amp; mindset</a:t>
            </a:r>
            <a:endParaRPr lang="en-US" sz="100" dirty="0">
              <a:solidFill>
                <a:schemeClr val="tx1">
                  <a:lumMod val="50000"/>
                </a:schemeClr>
              </a:solidFill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152" name="TextBox 151"/>
          <p:cNvSpPr txBox="1"/>
          <p:nvPr/>
        </p:nvSpPr>
        <p:spPr>
          <a:xfrm>
            <a:off x="499503" y="793546"/>
            <a:ext cx="518092" cy="230832"/>
          </a:xfrm>
          <a:prstGeom prst="rect">
            <a:avLst/>
          </a:prstGeom>
          <a:solidFill>
            <a:srgbClr val="68ABFB">
              <a:alpha val="40000"/>
            </a:srgbClr>
          </a:solidFill>
          <a:ln>
            <a:solidFill>
              <a:schemeClr val="tx1"/>
            </a:solidFill>
          </a:ln>
          <a:effectLst/>
        </p:spPr>
        <p:txBody>
          <a:bodyPr wrap="none" rtlCol="0">
            <a:spAutoFit/>
          </a:bodyPr>
          <a:lstStyle>
            <a:defPPr>
              <a:defRPr lang="en-US"/>
            </a:defPPr>
            <a:lvl1pPr algn="ctr">
              <a:defRPr sz="1200" b="1">
                <a:solidFill>
                  <a:srgbClr val="33313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n-US" sz="900" dirty="0"/>
              <a:t>Install</a:t>
            </a:r>
          </a:p>
        </p:txBody>
      </p:sp>
      <p:cxnSp>
        <p:nvCxnSpPr>
          <p:cNvPr id="153" name="Straight Connector 152"/>
          <p:cNvCxnSpPr/>
          <p:nvPr/>
        </p:nvCxnSpPr>
        <p:spPr>
          <a:xfrm flipV="1">
            <a:off x="1037873" y="883398"/>
            <a:ext cx="452792" cy="1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Straight Connector 153"/>
          <p:cNvCxnSpPr/>
          <p:nvPr/>
        </p:nvCxnSpPr>
        <p:spPr>
          <a:xfrm>
            <a:off x="8476690" y="886467"/>
            <a:ext cx="463924" cy="0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Connector 154"/>
          <p:cNvCxnSpPr/>
          <p:nvPr/>
        </p:nvCxnSpPr>
        <p:spPr>
          <a:xfrm>
            <a:off x="528973" y="4614863"/>
            <a:ext cx="8411641" cy="1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headEnd type="none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" name="TextBox 155"/>
          <p:cNvSpPr txBox="1"/>
          <p:nvPr/>
        </p:nvSpPr>
        <p:spPr>
          <a:xfrm>
            <a:off x="677228" y="4389267"/>
            <a:ext cx="934871" cy="2077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50" b="1" dirty="0"/>
              <a:t>Q4 2017 </a:t>
            </a:r>
            <a:r>
              <a:rPr lang="mr-IN" sz="750" b="1" dirty="0"/>
              <a:t>–</a:t>
            </a:r>
            <a:r>
              <a:rPr lang="en-US" sz="750" b="1" dirty="0"/>
              <a:t> Q1 2018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2101793" y="4389267"/>
            <a:ext cx="513282" cy="2077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50" b="1" dirty="0"/>
              <a:t>Q2 2018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3369226" y="4389267"/>
            <a:ext cx="513282" cy="2077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50" b="1" dirty="0"/>
              <a:t>Q3 2018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4420043" y="4389267"/>
            <a:ext cx="513282" cy="2077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50" b="1" dirty="0"/>
              <a:t>Q4 2018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6240945" y="4389267"/>
            <a:ext cx="377026" cy="2077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50" b="1" dirty="0"/>
              <a:t>2019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7954816" y="4389267"/>
            <a:ext cx="377026" cy="2077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50" b="1" dirty="0"/>
              <a:t>2020</a:t>
            </a:r>
          </a:p>
        </p:txBody>
      </p:sp>
      <p:sp>
        <p:nvSpPr>
          <p:cNvPr id="162" name="Rounded Rectangle 161"/>
          <p:cNvSpPr/>
          <p:nvPr/>
        </p:nvSpPr>
        <p:spPr>
          <a:xfrm>
            <a:off x="2442569" y="1103901"/>
            <a:ext cx="147488" cy="395159"/>
          </a:xfrm>
          <a:prstGeom prst="roundRect">
            <a:avLst/>
          </a:prstGeom>
          <a:solidFill>
            <a:srgbClr val="68ABFB">
              <a:alpha val="29804"/>
            </a:srgbClr>
          </a:solidFill>
          <a:ln w="3175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vert270" lIns="0" tIns="0" rIns="0" bIns="0" rtlCol="0" anchor="ctr"/>
          <a:lstStyle/>
          <a:p>
            <a:pPr algn="ctr">
              <a:lnSpc>
                <a:spcPts val="450"/>
              </a:lnSpc>
            </a:pPr>
            <a:r>
              <a:rPr lang="en-US" sz="525" dirty="0">
                <a:solidFill>
                  <a:schemeClr val="tx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Apply &amp; Review</a:t>
            </a:r>
          </a:p>
        </p:txBody>
      </p:sp>
      <p:sp>
        <p:nvSpPr>
          <p:cNvPr id="163" name="Rounded Rectangle 162"/>
          <p:cNvSpPr/>
          <p:nvPr/>
        </p:nvSpPr>
        <p:spPr>
          <a:xfrm>
            <a:off x="2763995" y="1110751"/>
            <a:ext cx="147488" cy="395159"/>
          </a:xfrm>
          <a:prstGeom prst="roundRect">
            <a:avLst/>
          </a:prstGeom>
          <a:solidFill>
            <a:srgbClr val="68ABFB">
              <a:alpha val="29804"/>
            </a:srgbClr>
          </a:solidFill>
          <a:ln w="3175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vert270" lIns="0" tIns="0" rIns="0" bIns="0" rtlCol="0" anchor="ctr"/>
          <a:lstStyle/>
          <a:p>
            <a:pPr algn="ctr">
              <a:lnSpc>
                <a:spcPts val="450"/>
              </a:lnSpc>
            </a:pPr>
            <a:r>
              <a:rPr lang="en-US" sz="525" dirty="0">
                <a:solidFill>
                  <a:schemeClr val="tx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Apply &amp; Review</a:t>
            </a:r>
          </a:p>
        </p:txBody>
      </p:sp>
      <p:sp>
        <p:nvSpPr>
          <p:cNvPr id="164" name="Rounded Rectangle 163"/>
          <p:cNvSpPr/>
          <p:nvPr/>
        </p:nvSpPr>
        <p:spPr>
          <a:xfrm>
            <a:off x="522442" y="1110751"/>
            <a:ext cx="147488" cy="395159"/>
          </a:xfrm>
          <a:prstGeom prst="roundRect">
            <a:avLst/>
          </a:prstGeom>
          <a:solidFill>
            <a:srgbClr val="68ABFB">
              <a:alpha val="29804"/>
            </a:srgbClr>
          </a:solidFill>
          <a:ln w="3175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vert270" lIns="0" tIns="0" rIns="0" bIns="0" rtlCol="0" anchor="ctr"/>
          <a:lstStyle/>
          <a:p>
            <a:pPr algn="ctr">
              <a:lnSpc>
                <a:spcPts val="450"/>
              </a:lnSpc>
            </a:pPr>
            <a:r>
              <a:rPr lang="en-US" sz="525" dirty="0">
                <a:solidFill>
                  <a:schemeClr val="tx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Virtual Pre-Session</a:t>
            </a:r>
          </a:p>
        </p:txBody>
      </p:sp>
      <p:sp>
        <p:nvSpPr>
          <p:cNvPr id="175" name="Oval 174"/>
          <p:cNvSpPr/>
          <p:nvPr/>
        </p:nvSpPr>
        <p:spPr>
          <a:xfrm>
            <a:off x="445182" y="1047962"/>
            <a:ext cx="131389" cy="128076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675" b="1" dirty="0"/>
              <a:t>1</a:t>
            </a:r>
          </a:p>
        </p:txBody>
      </p:sp>
      <p:sp>
        <p:nvSpPr>
          <p:cNvPr id="179" name="Oval 178"/>
          <p:cNvSpPr/>
          <p:nvPr/>
        </p:nvSpPr>
        <p:spPr>
          <a:xfrm>
            <a:off x="5323653" y="1060976"/>
            <a:ext cx="131389" cy="128076"/>
          </a:xfrm>
          <a:prstGeom prst="ellipse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675" b="1" dirty="0"/>
              <a:t>5</a:t>
            </a:r>
          </a:p>
        </p:txBody>
      </p:sp>
      <p:sp>
        <p:nvSpPr>
          <p:cNvPr id="180" name="Oval 179"/>
          <p:cNvSpPr/>
          <p:nvPr/>
        </p:nvSpPr>
        <p:spPr>
          <a:xfrm>
            <a:off x="5933264" y="2017474"/>
            <a:ext cx="131389" cy="128076"/>
          </a:xfrm>
          <a:prstGeom prst="ellipse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675" b="1" dirty="0"/>
              <a:t>6</a:t>
            </a:r>
          </a:p>
        </p:txBody>
      </p:sp>
      <p:sp>
        <p:nvSpPr>
          <p:cNvPr id="181" name="Oval 180"/>
          <p:cNvSpPr>
            <a:spLocks noChangeAspect="1"/>
          </p:cNvSpPr>
          <p:nvPr/>
        </p:nvSpPr>
        <p:spPr>
          <a:xfrm>
            <a:off x="7405988" y="1056269"/>
            <a:ext cx="130302" cy="130302"/>
          </a:xfrm>
          <a:prstGeom prst="ellipse">
            <a:avLst/>
          </a:prstGeom>
          <a:solidFill>
            <a:srgbClr val="7030A0"/>
          </a:solidFill>
          <a:ln w="3175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675" b="1" dirty="0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182" name="Oval 181"/>
          <p:cNvSpPr/>
          <p:nvPr/>
        </p:nvSpPr>
        <p:spPr>
          <a:xfrm>
            <a:off x="1967287" y="3349004"/>
            <a:ext cx="131389" cy="128076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675" b="1" dirty="0"/>
              <a:t>B</a:t>
            </a:r>
          </a:p>
        </p:txBody>
      </p:sp>
      <p:sp>
        <p:nvSpPr>
          <p:cNvPr id="183" name="Oval 182"/>
          <p:cNvSpPr/>
          <p:nvPr/>
        </p:nvSpPr>
        <p:spPr>
          <a:xfrm>
            <a:off x="5929513" y="3346718"/>
            <a:ext cx="131389" cy="128076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675" b="1" dirty="0"/>
              <a:t>E</a:t>
            </a:r>
          </a:p>
        </p:txBody>
      </p:sp>
      <p:sp>
        <p:nvSpPr>
          <p:cNvPr id="184" name="Oval 183"/>
          <p:cNvSpPr/>
          <p:nvPr/>
        </p:nvSpPr>
        <p:spPr>
          <a:xfrm>
            <a:off x="5328480" y="3821744"/>
            <a:ext cx="131389" cy="128076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675" b="1" dirty="0"/>
              <a:t>D</a:t>
            </a:r>
          </a:p>
        </p:txBody>
      </p:sp>
      <p:sp>
        <p:nvSpPr>
          <p:cNvPr id="185" name="Rounded Rectangle 184"/>
          <p:cNvSpPr/>
          <p:nvPr/>
        </p:nvSpPr>
        <p:spPr>
          <a:xfrm>
            <a:off x="2027317" y="1531939"/>
            <a:ext cx="1537097" cy="512719"/>
          </a:xfrm>
          <a:prstGeom prst="roundRect">
            <a:avLst/>
          </a:prstGeom>
          <a:solidFill>
            <a:srgbClr val="68ABFB">
              <a:alpha val="29804"/>
            </a:srgbClr>
          </a:solidFill>
          <a:ln w="3175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713" b="1" dirty="0">
                <a:solidFill>
                  <a:schemeClr val="tx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Distinguishing Customer Engagement II </a:t>
            </a:r>
            <a:r>
              <a:rPr lang="mr-IN" sz="713" b="1" i="1" dirty="0">
                <a:solidFill>
                  <a:schemeClr val="accent2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–</a:t>
            </a:r>
            <a:r>
              <a:rPr lang="en-US" sz="713" b="1" i="1" dirty="0">
                <a:solidFill>
                  <a:schemeClr val="accent2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 Discover &amp; Define</a:t>
            </a:r>
            <a:endParaRPr lang="en-US" sz="713" i="1" dirty="0">
              <a:solidFill>
                <a:schemeClr val="accent2">
                  <a:lumMod val="50000"/>
                </a:schemeClr>
              </a:solidFill>
              <a:latin typeface="Arial" charset="0"/>
              <a:ea typeface="Arial" charset="0"/>
              <a:cs typeface="Arial" charset="0"/>
            </a:endParaRPr>
          </a:p>
          <a:p>
            <a:pPr algn="ctr"/>
            <a:r>
              <a:rPr lang="en-US" sz="525" dirty="0">
                <a:solidFill>
                  <a:schemeClr val="tx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Account Directors + Team Members develop “discovery” / engage &amp; define skillset &amp; mindset</a:t>
            </a:r>
            <a:endParaRPr lang="en-US" sz="100" dirty="0">
              <a:solidFill>
                <a:schemeClr val="tx1">
                  <a:lumMod val="50000"/>
                </a:schemeClr>
              </a:solidFill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188" name="Rounded Rectangle 187"/>
          <p:cNvSpPr/>
          <p:nvPr/>
        </p:nvSpPr>
        <p:spPr>
          <a:xfrm>
            <a:off x="1818224" y="1595119"/>
            <a:ext cx="147488" cy="395159"/>
          </a:xfrm>
          <a:prstGeom prst="roundRect">
            <a:avLst/>
          </a:prstGeom>
          <a:solidFill>
            <a:srgbClr val="68ABFB">
              <a:alpha val="29804"/>
            </a:srgbClr>
          </a:solidFill>
          <a:ln w="3175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vert270" lIns="0" tIns="0" rIns="0" bIns="0" rtlCol="0" anchor="ctr"/>
          <a:lstStyle/>
          <a:p>
            <a:pPr algn="ctr">
              <a:lnSpc>
                <a:spcPts val="450"/>
              </a:lnSpc>
            </a:pPr>
            <a:r>
              <a:rPr lang="en-US" sz="525" dirty="0">
                <a:solidFill>
                  <a:schemeClr val="tx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Virtual Pre-Session</a:t>
            </a:r>
          </a:p>
        </p:txBody>
      </p:sp>
      <p:sp>
        <p:nvSpPr>
          <p:cNvPr id="189" name="Oval 188"/>
          <p:cNvSpPr/>
          <p:nvPr/>
        </p:nvSpPr>
        <p:spPr>
          <a:xfrm>
            <a:off x="1740964" y="1532330"/>
            <a:ext cx="131389" cy="128076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675" b="1" dirty="0"/>
              <a:t>2</a:t>
            </a:r>
          </a:p>
        </p:txBody>
      </p:sp>
      <p:sp>
        <p:nvSpPr>
          <p:cNvPr id="190" name="Rounded Rectangle 189"/>
          <p:cNvSpPr/>
          <p:nvPr/>
        </p:nvSpPr>
        <p:spPr>
          <a:xfrm>
            <a:off x="2975269" y="2066677"/>
            <a:ext cx="1537097" cy="395159"/>
          </a:xfrm>
          <a:prstGeom prst="roundRect">
            <a:avLst/>
          </a:prstGeom>
          <a:solidFill>
            <a:srgbClr val="68ABFB">
              <a:alpha val="50196"/>
            </a:srgbClr>
          </a:solidFill>
          <a:ln w="3175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675" b="1" dirty="0">
                <a:solidFill>
                  <a:schemeClr val="tx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Customer Engagement Strategies &amp; Tactics III </a:t>
            </a:r>
            <a:r>
              <a:rPr lang="mr-IN" sz="600" b="1" i="1" dirty="0">
                <a:solidFill>
                  <a:schemeClr val="accent2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–</a:t>
            </a:r>
            <a:r>
              <a:rPr lang="en-US" sz="600" b="1" i="1" dirty="0">
                <a:solidFill>
                  <a:schemeClr val="accent2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US" sz="600" b="1" i="1" dirty="0">
                <a:solidFill>
                  <a:schemeClr val="tx2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Business Simulation</a:t>
            </a:r>
            <a:endParaRPr lang="en-US" sz="600" i="1" dirty="0">
              <a:solidFill>
                <a:schemeClr val="tx2">
                  <a:lumMod val="50000"/>
                </a:schemeClr>
              </a:solidFill>
              <a:latin typeface="Arial" charset="0"/>
              <a:ea typeface="Arial" charset="0"/>
              <a:cs typeface="Arial" charset="0"/>
            </a:endParaRPr>
          </a:p>
          <a:p>
            <a:pPr algn="ctr"/>
            <a:r>
              <a:rPr lang="en-US" sz="525" dirty="0">
                <a:solidFill>
                  <a:schemeClr val="tx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Account Directors + Team Members develop “discovery” / engage &amp; define skillset &amp; MIndset</a:t>
            </a:r>
            <a:endParaRPr lang="en-US" sz="100" dirty="0">
              <a:solidFill>
                <a:schemeClr val="tx1">
                  <a:lumMod val="50000"/>
                </a:schemeClr>
              </a:solidFill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193" name="Rounded Rectangle 192"/>
          <p:cNvSpPr/>
          <p:nvPr/>
        </p:nvSpPr>
        <p:spPr>
          <a:xfrm>
            <a:off x="2766177" y="2073527"/>
            <a:ext cx="147488" cy="395159"/>
          </a:xfrm>
          <a:prstGeom prst="roundRect">
            <a:avLst/>
          </a:prstGeom>
          <a:solidFill>
            <a:srgbClr val="68ABFB">
              <a:alpha val="50000"/>
            </a:srgbClr>
          </a:solidFill>
          <a:ln w="3175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vert270" lIns="0" tIns="0" rIns="0" bIns="0" rtlCol="0" anchor="ctr"/>
          <a:lstStyle/>
          <a:p>
            <a:pPr algn="ctr">
              <a:lnSpc>
                <a:spcPts val="450"/>
              </a:lnSpc>
            </a:pPr>
            <a:r>
              <a:rPr lang="en-US" sz="525" dirty="0">
                <a:solidFill>
                  <a:schemeClr val="tx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Virtual Pre-Session</a:t>
            </a:r>
          </a:p>
        </p:txBody>
      </p:sp>
      <p:sp>
        <p:nvSpPr>
          <p:cNvPr id="194" name="Oval 193"/>
          <p:cNvSpPr/>
          <p:nvPr/>
        </p:nvSpPr>
        <p:spPr>
          <a:xfrm>
            <a:off x="2688917" y="2010737"/>
            <a:ext cx="131389" cy="128076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675" b="1" dirty="0"/>
              <a:t>3</a:t>
            </a:r>
          </a:p>
        </p:txBody>
      </p:sp>
      <p:sp>
        <p:nvSpPr>
          <p:cNvPr id="195" name="Rounded Rectangle 194"/>
          <p:cNvSpPr/>
          <p:nvPr/>
        </p:nvSpPr>
        <p:spPr>
          <a:xfrm>
            <a:off x="3842484" y="2545717"/>
            <a:ext cx="1537097" cy="395159"/>
          </a:xfrm>
          <a:prstGeom prst="roundRect">
            <a:avLst/>
          </a:prstGeom>
          <a:solidFill>
            <a:srgbClr val="68ABFB">
              <a:alpha val="29804"/>
            </a:srgbClr>
          </a:solidFill>
          <a:ln w="3175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713" b="1" dirty="0">
                <a:solidFill>
                  <a:schemeClr val="tx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Distinguishing Customer Engagement IV </a:t>
            </a:r>
            <a:r>
              <a:rPr lang="mr-IN" sz="713" b="1" i="1" dirty="0">
                <a:solidFill>
                  <a:schemeClr val="accent2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–</a:t>
            </a:r>
            <a:r>
              <a:rPr lang="en-US" sz="713" b="1" i="1" dirty="0">
                <a:solidFill>
                  <a:schemeClr val="accent2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 Develop / Refine / Execute &amp; Expand</a:t>
            </a:r>
            <a:endParaRPr lang="en-US" sz="713" i="1" dirty="0">
              <a:solidFill>
                <a:schemeClr val="accent2">
                  <a:lumMod val="50000"/>
                </a:schemeClr>
              </a:solidFill>
              <a:latin typeface="Arial" charset="0"/>
              <a:ea typeface="Arial" charset="0"/>
              <a:cs typeface="Arial" charset="0"/>
            </a:endParaRPr>
          </a:p>
          <a:p>
            <a:pPr algn="ctr"/>
            <a:r>
              <a:rPr lang="en-US" sz="525" dirty="0">
                <a:solidFill>
                  <a:schemeClr val="tx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Account Directors + Team Members</a:t>
            </a:r>
            <a:endParaRPr lang="en-US" sz="100" dirty="0">
              <a:solidFill>
                <a:schemeClr val="tx1">
                  <a:lumMod val="50000"/>
                </a:schemeClr>
              </a:solidFill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196" name="Rounded Rectangle 195"/>
          <p:cNvSpPr/>
          <p:nvPr/>
        </p:nvSpPr>
        <p:spPr>
          <a:xfrm>
            <a:off x="5553519" y="2545717"/>
            <a:ext cx="147488" cy="395159"/>
          </a:xfrm>
          <a:prstGeom prst="roundRect">
            <a:avLst/>
          </a:prstGeom>
          <a:solidFill>
            <a:srgbClr val="68ABFB">
              <a:alpha val="29804"/>
            </a:srgbClr>
          </a:solidFill>
          <a:ln w="3175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vert270" lIns="0" tIns="0" rIns="0" bIns="0" rtlCol="0" anchor="ctr"/>
          <a:lstStyle/>
          <a:p>
            <a:pPr algn="ctr">
              <a:lnSpc>
                <a:spcPts val="450"/>
              </a:lnSpc>
            </a:pPr>
            <a:r>
              <a:rPr lang="en-US" sz="525" dirty="0">
                <a:solidFill>
                  <a:schemeClr val="tx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Apply &amp; Review</a:t>
            </a:r>
          </a:p>
        </p:txBody>
      </p:sp>
      <p:sp>
        <p:nvSpPr>
          <p:cNvPr id="198" name="Rounded Rectangle 197"/>
          <p:cNvSpPr/>
          <p:nvPr/>
        </p:nvSpPr>
        <p:spPr>
          <a:xfrm>
            <a:off x="3633391" y="2552568"/>
            <a:ext cx="147488" cy="395159"/>
          </a:xfrm>
          <a:prstGeom prst="roundRect">
            <a:avLst/>
          </a:prstGeom>
          <a:solidFill>
            <a:srgbClr val="68ABFB">
              <a:alpha val="29804"/>
            </a:srgbClr>
          </a:solidFill>
          <a:ln w="3175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vert270" lIns="0" tIns="0" rIns="0" bIns="0" rtlCol="0" anchor="ctr"/>
          <a:lstStyle/>
          <a:p>
            <a:pPr algn="ctr">
              <a:lnSpc>
                <a:spcPts val="450"/>
              </a:lnSpc>
            </a:pPr>
            <a:r>
              <a:rPr lang="en-US" sz="525" dirty="0">
                <a:solidFill>
                  <a:schemeClr val="tx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Virtual Pre-Session</a:t>
            </a:r>
          </a:p>
        </p:txBody>
      </p:sp>
      <p:sp>
        <p:nvSpPr>
          <p:cNvPr id="199" name="Oval 198"/>
          <p:cNvSpPr/>
          <p:nvPr/>
        </p:nvSpPr>
        <p:spPr>
          <a:xfrm>
            <a:off x="3556131" y="2489778"/>
            <a:ext cx="131389" cy="128076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675" b="1" dirty="0"/>
              <a:t>4</a:t>
            </a:r>
          </a:p>
        </p:txBody>
      </p:sp>
      <p:sp>
        <p:nvSpPr>
          <p:cNvPr id="201" name="Rounded Rectangle 200"/>
          <p:cNvSpPr/>
          <p:nvPr/>
        </p:nvSpPr>
        <p:spPr>
          <a:xfrm>
            <a:off x="4376215" y="3394915"/>
            <a:ext cx="1417787" cy="384104"/>
          </a:xfrm>
          <a:prstGeom prst="roundRect">
            <a:avLst/>
          </a:prstGeom>
          <a:solidFill>
            <a:schemeClr val="bg1">
              <a:lumMod val="75000"/>
              <a:alpha val="40000"/>
            </a:schemeClr>
          </a:solidFill>
          <a:ln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825" b="1" dirty="0">
                <a:solidFill>
                  <a:schemeClr val="tx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Customer Engagement    T3 &amp; Certify</a:t>
            </a:r>
          </a:p>
          <a:p>
            <a:pPr algn="ctr"/>
            <a:r>
              <a:rPr lang="en-US" sz="600" dirty="0">
                <a:solidFill>
                  <a:schemeClr val="tx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Janssen SCG Learning &amp; Development</a:t>
            </a:r>
          </a:p>
        </p:txBody>
      </p:sp>
      <p:sp>
        <p:nvSpPr>
          <p:cNvPr id="202" name="Oval 201"/>
          <p:cNvSpPr/>
          <p:nvPr/>
        </p:nvSpPr>
        <p:spPr>
          <a:xfrm>
            <a:off x="4311136" y="3343095"/>
            <a:ext cx="131389" cy="128076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675" b="1" dirty="0"/>
              <a:t>C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8650165" y="1099264"/>
            <a:ext cx="254522" cy="1840058"/>
          </a:xfrm>
          <a:prstGeom prst="roundRect">
            <a:avLst/>
          </a:prstGeom>
          <a:solidFill>
            <a:srgbClr val="FFC000">
              <a:alpha val="29804"/>
            </a:srgbClr>
          </a:solidFill>
          <a:ln w="3175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vert270" lIns="0" tIns="0" rIns="0" bIns="0" rtlCol="0" anchor="ctr"/>
          <a:lstStyle/>
          <a:p>
            <a:pPr algn="ctr"/>
            <a:r>
              <a:rPr lang="en-US" sz="675" dirty="0">
                <a:solidFill>
                  <a:schemeClr val="tx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Strategic Customer Management &amp; Engagement Certification</a:t>
            </a:r>
          </a:p>
        </p:txBody>
      </p:sp>
      <p:sp>
        <p:nvSpPr>
          <p:cNvPr id="65" name="Oval 64"/>
          <p:cNvSpPr>
            <a:spLocks noChangeAspect="1"/>
          </p:cNvSpPr>
          <p:nvPr/>
        </p:nvSpPr>
        <p:spPr>
          <a:xfrm>
            <a:off x="8590862" y="1057713"/>
            <a:ext cx="130302" cy="130302"/>
          </a:xfrm>
          <a:prstGeom prst="ellipse">
            <a:avLst/>
          </a:prstGeom>
          <a:solidFill>
            <a:srgbClr val="F4930D"/>
          </a:solidFill>
          <a:ln w="3175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675" b="1" dirty="0">
                <a:solidFill>
                  <a:schemeClr val="bg1"/>
                </a:solidFill>
              </a:rPr>
              <a:t>8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629471" y="3391124"/>
            <a:ext cx="1212497" cy="384104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825" b="1" dirty="0">
                <a:solidFill>
                  <a:schemeClr val="tx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CEF Fast Start</a:t>
            </a:r>
          </a:p>
          <a:p>
            <a:pPr algn="ctr"/>
            <a:r>
              <a:rPr lang="en-US" sz="600" dirty="0">
                <a:solidFill>
                  <a:schemeClr val="tx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Janssen SCG Leaders</a:t>
            </a:r>
          </a:p>
        </p:txBody>
      </p:sp>
      <p:sp>
        <p:nvSpPr>
          <p:cNvPr id="81" name="Oval 80"/>
          <p:cNvSpPr/>
          <p:nvPr/>
        </p:nvSpPr>
        <p:spPr>
          <a:xfrm>
            <a:off x="569441" y="3341591"/>
            <a:ext cx="131389" cy="128076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675" b="1" dirty="0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2337816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1689" y="110490"/>
            <a:ext cx="6534623" cy="530915"/>
          </a:xfrm>
        </p:spPr>
        <p:txBody>
          <a:bodyPr/>
          <a:lstStyle/>
          <a:p>
            <a:r>
              <a:rPr lang="en-US" dirty="0"/>
              <a:t>Customer Engagement Competence Heatmap</a:t>
            </a:r>
            <a:br>
              <a:rPr lang="en-US" dirty="0"/>
            </a:br>
            <a:r>
              <a:rPr lang="en-US" sz="1350" dirty="0"/>
              <a:t>Competence Heatmap </a:t>
            </a:r>
            <a:r>
              <a:rPr lang="mr-IN" sz="1350" dirty="0"/>
              <a:t>–</a:t>
            </a:r>
            <a:r>
              <a:rPr lang="en-US" sz="1350" dirty="0"/>
              <a:t> Draft for Review</a:t>
            </a:r>
            <a:endParaRPr lang="en-US" sz="18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1BF0B4E-CE60-AB48-9D7E-4434414A7C38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228" name="Rectangle 227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1797132" y="2535685"/>
            <a:ext cx="995859" cy="191641"/>
          </a:xfrm>
          <a:prstGeom prst="rect">
            <a:avLst/>
          </a:prstGeom>
          <a:solidFill>
            <a:srgbClr val="50A12B"/>
          </a:solidFill>
          <a:ln w="6350" cap="flat" cmpd="sng" algn="ctr">
            <a:noFill/>
            <a:prstDash val="solid"/>
          </a:ln>
          <a:effectLst/>
        </p:spPr>
        <p:txBody>
          <a:bodyPr rtlCol="0" anchor="t"/>
          <a:lstStyle/>
          <a:p>
            <a:pPr defTabSz="685800">
              <a:defRPr/>
            </a:pPr>
            <a:endParaRPr lang="en-US" sz="525" kern="0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520700" y="852888"/>
            <a:ext cx="1240376" cy="422060"/>
          </a:xfrm>
          <a:prstGeom prst="rect">
            <a:avLst/>
          </a:prstGeom>
          <a:solidFill>
            <a:srgbClr val="1F497D">
              <a:lumMod val="5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vert="horz" rtlCol="0" anchor="ctr"/>
          <a:lstStyle/>
          <a:p>
            <a:pPr algn="ctr" defTabSz="685800">
              <a:lnSpc>
                <a:spcPct val="90000"/>
              </a:lnSpc>
              <a:defRPr/>
            </a:pPr>
            <a:r>
              <a:rPr lang="en-US" sz="788" b="1" kern="0" spc="225" dirty="0">
                <a:solidFill>
                  <a:sysClr val="window" lastClr="FFFFFF"/>
                </a:solidFill>
                <a:latin typeface="Calibri"/>
              </a:rPr>
              <a:t>PROGRAM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520701" y="1304046"/>
            <a:ext cx="1240376" cy="1190216"/>
          </a:xfrm>
          <a:prstGeom prst="rect">
            <a:avLst/>
          </a:prstGeom>
          <a:solidFill>
            <a:schemeClr val="accent1">
              <a:lumMod val="7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vert="horz" rtlCol="0" anchor="ctr"/>
          <a:lstStyle/>
          <a:p>
            <a:pPr algn="ctr" defTabSz="685800">
              <a:lnSpc>
                <a:spcPct val="90000"/>
              </a:lnSpc>
              <a:defRPr/>
            </a:pPr>
            <a:r>
              <a:rPr lang="en-US" sz="788" b="1" kern="0" spc="225" dirty="0">
                <a:solidFill>
                  <a:srgbClr val="FFFFFF"/>
                </a:solidFill>
                <a:latin typeface="Calibri"/>
              </a:rPr>
              <a:t>OUTLINE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520700" y="2533080"/>
            <a:ext cx="337934" cy="667320"/>
          </a:xfrm>
          <a:prstGeom prst="rect">
            <a:avLst/>
          </a:prstGeom>
          <a:solidFill>
            <a:srgbClr val="61C235"/>
          </a:solidFill>
          <a:ln w="25400" cap="flat" cmpd="sng" algn="ctr">
            <a:solidFill>
              <a:srgbClr val="6CD33C"/>
            </a:solidFill>
            <a:prstDash val="solid"/>
          </a:ln>
          <a:effectLst/>
        </p:spPr>
        <p:txBody>
          <a:bodyPr vert="vert270" rtlCol="0" anchor="ctr"/>
          <a:lstStyle/>
          <a:p>
            <a:pPr algn="ctr" defTabSz="685800">
              <a:lnSpc>
                <a:spcPct val="90000"/>
              </a:lnSpc>
              <a:defRPr/>
            </a:pPr>
            <a:r>
              <a:rPr lang="en-US" sz="750" b="1" kern="0" spc="225" dirty="0">
                <a:solidFill>
                  <a:sysClr val="window" lastClr="FFFFFF"/>
                </a:solidFill>
                <a:latin typeface="Calibri"/>
              </a:rPr>
              <a:t>Business Acumen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902846" y="2542201"/>
            <a:ext cx="847898" cy="20574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6350" cap="flat" cmpd="sng" algn="ctr">
            <a:solidFill>
              <a:srgbClr val="6CD33C"/>
            </a:solidFill>
            <a:prstDash val="solid"/>
          </a:ln>
          <a:effectLst/>
        </p:spPr>
        <p:txBody>
          <a:bodyPr vert="horz" lIns="0" rIns="0" rtlCol="0" anchor="ctr"/>
          <a:lstStyle/>
          <a:p>
            <a:pPr algn="ctr" defTabSz="685800">
              <a:lnSpc>
                <a:spcPct val="80000"/>
              </a:lnSpc>
              <a:defRPr/>
            </a:pPr>
            <a:r>
              <a:rPr lang="en-US" sz="600" kern="0" dirty="0">
                <a:latin typeface="Calibri"/>
              </a:rPr>
              <a:t>Business Insights &amp; Planning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896722" y="2778125"/>
            <a:ext cx="847898" cy="20574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6350" cap="flat" cmpd="sng" algn="ctr">
            <a:solidFill>
              <a:srgbClr val="6CD33C"/>
            </a:solidFill>
            <a:prstDash val="solid"/>
          </a:ln>
          <a:effectLst/>
        </p:spPr>
        <p:txBody>
          <a:bodyPr vert="horz" lIns="0" rIns="0" rtlCol="0" anchor="ctr"/>
          <a:lstStyle/>
          <a:p>
            <a:pPr algn="ctr" defTabSz="685800">
              <a:lnSpc>
                <a:spcPct val="80000"/>
              </a:lnSpc>
              <a:defRPr/>
            </a:pPr>
            <a:r>
              <a:rPr lang="en-US" sz="600" kern="0" dirty="0">
                <a:latin typeface="Calibri"/>
              </a:rPr>
              <a:t>Analytics &amp; Insight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901545" y="3014637"/>
            <a:ext cx="847898" cy="20574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6350" cap="flat" cmpd="sng" algn="ctr">
            <a:solidFill>
              <a:srgbClr val="6CD33C"/>
            </a:solidFill>
            <a:prstDash val="solid"/>
          </a:ln>
          <a:effectLst/>
        </p:spPr>
        <p:txBody>
          <a:bodyPr vert="horz" lIns="0" rIns="0" rtlCol="0" anchor="ctr"/>
          <a:lstStyle/>
          <a:p>
            <a:pPr algn="ctr" defTabSz="685800">
              <a:lnSpc>
                <a:spcPct val="80000"/>
              </a:lnSpc>
              <a:defRPr/>
            </a:pPr>
            <a:r>
              <a:rPr lang="en-US" sz="600" kern="0" dirty="0">
                <a:latin typeface="Calibri"/>
              </a:rPr>
              <a:t>Contracting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1797132" y="2776985"/>
            <a:ext cx="995859" cy="191641"/>
          </a:xfrm>
          <a:prstGeom prst="rect">
            <a:avLst/>
          </a:prstGeom>
          <a:solidFill>
            <a:srgbClr val="50A12B"/>
          </a:solidFill>
          <a:ln w="6350" cap="flat" cmpd="sng" algn="ctr">
            <a:noFill/>
            <a:prstDash val="solid"/>
          </a:ln>
          <a:effectLst/>
        </p:spPr>
        <p:txBody>
          <a:bodyPr rtlCol="0" anchor="t"/>
          <a:lstStyle/>
          <a:p>
            <a:pPr defTabSz="685800">
              <a:defRPr/>
            </a:pPr>
            <a:endParaRPr lang="en-US" sz="525" kern="0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1797132" y="3008760"/>
            <a:ext cx="995859" cy="191641"/>
          </a:xfrm>
          <a:prstGeom prst="rect">
            <a:avLst/>
          </a:prstGeom>
          <a:solidFill>
            <a:srgbClr val="CC3E26"/>
          </a:solidFill>
          <a:ln w="6350" cap="flat" cmpd="sng" algn="ctr">
            <a:solidFill>
              <a:schemeClr val="accent2"/>
            </a:solidFill>
            <a:prstDash val="solid"/>
          </a:ln>
          <a:effectLst/>
        </p:spPr>
        <p:txBody>
          <a:bodyPr rtlCol="0" anchor="t"/>
          <a:lstStyle/>
          <a:p>
            <a:pPr defTabSz="685800">
              <a:defRPr/>
            </a:pPr>
            <a:endParaRPr lang="en-US" sz="525" kern="0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520700" y="3244851"/>
            <a:ext cx="1223919" cy="290401"/>
          </a:xfrm>
          <a:prstGeom prst="rect">
            <a:avLst/>
          </a:prstGeom>
          <a:solidFill>
            <a:srgbClr val="C3A81D"/>
          </a:solidFill>
          <a:ln w="28575" cap="flat" cmpd="sng" algn="ctr">
            <a:solidFill>
              <a:srgbClr val="E4AC16"/>
            </a:solidFill>
            <a:prstDash val="solid"/>
          </a:ln>
          <a:effectLst/>
        </p:spPr>
        <p:txBody>
          <a:bodyPr vert="horz" rtlCol="0" anchor="ctr"/>
          <a:lstStyle/>
          <a:p>
            <a:pPr defTabSz="685800">
              <a:lnSpc>
                <a:spcPct val="80000"/>
              </a:lnSpc>
              <a:defRPr/>
            </a:pPr>
            <a:r>
              <a:rPr lang="en-US" sz="788" kern="0" spc="225" dirty="0">
                <a:solidFill>
                  <a:schemeClr val="bg1"/>
                </a:solidFill>
                <a:latin typeface="Calibri"/>
              </a:rPr>
              <a:t>Healthcare Ecosystem 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514350" y="3589109"/>
            <a:ext cx="337934" cy="429597"/>
          </a:xfrm>
          <a:prstGeom prst="rect">
            <a:avLst/>
          </a:prstGeom>
          <a:solidFill>
            <a:srgbClr val="3DA1CD"/>
          </a:solidFill>
          <a:ln w="25400" cap="flat" cmpd="sng" algn="ctr">
            <a:solidFill>
              <a:srgbClr val="96BCEF"/>
            </a:solidFill>
            <a:prstDash val="solid"/>
          </a:ln>
          <a:effectLst/>
        </p:spPr>
        <p:txBody>
          <a:bodyPr vert="vert270" lIns="0" tIns="0" rIns="0" bIns="0" rtlCol="0" anchor="ctr"/>
          <a:lstStyle/>
          <a:p>
            <a:pPr algn="ctr" defTabSz="685800">
              <a:lnSpc>
                <a:spcPct val="110000"/>
              </a:lnSpc>
              <a:defRPr/>
            </a:pPr>
            <a:r>
              <a:rPr lang="en-US" sz="638" b="1" kern="0" dirty="0">
                <a:solidFill>
                  <a:sysClr val="window" lastClr="FFFFFF"/>
                </a:solidFill>
                <a:latin typeface="Calibri"/>
              </a:rPr>
              <a:t>Stakeholder Mgmt.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896722" y="3578225"/>
            <a:ext cx="847898" cy="20574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6350" cap="flat" cmpd="sng" algn="ctr">
            <a:solidFill>
              <a:srgbClr val="3DA1CD"/>
            </a:solidFill>
            <a:prstDash val="solid"/>
          </a:ln>
          <a:effectLst/>
        </p:spPr>
        <p:txBody>
          <a:bodyPr vert="horz" lIns="0" rIns="0" rtlCol="0" anchor="ctr"/>
          <a:lstStyle/>
          <a:p>
            <a:pPr algn="ctr" defTabSz="685800">
              <a:lnSpc>
                <a:spcPct val="80000"/>
              </a:lnSpc>
              <a:defRPr/>
            </a:pPr>
            <a:r>
              <a:rPr lang="en-US" sz="600" kern="0" dirty="0">
                <a:latin typeface="Calibri"/>
              </a:rPr>
              <a:t>Consultative Stakeholder Management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901546" y="3821087"/>
            <a:ext cx="847898" cy="20574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6350" cap="flat" cmpd="sng" algn="ctr">
            <a:solidFill>
              <a:srgbClr val="3DA1CD"/>
            </a:solidFill>
            <a:prstDash val="solid"/>
          </a:ln>
          <a:effectLst/>
        </p:spPr>
        <p:txBody>
          <a:bodyPr vert="horz" lIns="0" rIns="0" rtlCol="0" anchor="ctr"/>
          <a:lstStyle/>
          <a:p>
            <a:pPr algn="ctr" defTabSz="685800">
              <a:lnSpc>
                <a:spcPct val="80000"/>
              </a:lnSpc>
              <a:defRPr/>
            </a:pPr>
            <a:r>
              <a:rPr lang="en-US" sz="600" kern="0" dirty="0">
                <a:latin typeface="Calibri"/>
              </a:rPr>
              <a:t>Executive Presence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514350" y="4064570"/>
            <a:ext cx="337934" cy="462453"/>
          </a:xfrm>
          <a:prstGeom prst="rect">
            <a:avLst/>
          </a:prstGeom>
          <a:solidFill>
            <a:schemeClr val="accent4">
              <a:lumMod val="75000"/>
            </a:schemeClr>
          </a:solidFill>
          <a:ln w="25400" cap="flat" cmpd="sng" algn="ctr">
            <a:solidFill>
              <a:schemeClr val="accent4"/>
            </a:solidFill>
            <a:prstDash val="solid"/>
          </a:ln>
          <a:effectLst/>
        </p:spPr>
        <p:txBody>
          <a:bodyPr vert="vert270" lIns="0" tIns="0" rIns="0" bIns="0" rtlCol="0" anchor="ctr"/>
          <a:lstStyle/>
          <a:p>
            <a:pPr algn="ctr" defTabSz="685800">
              <a:lnSpc>
                <a:spcPct val="110000"/>
              </a:lnSpc>
              <a:defRPr/>
            </a:pPr>
            <a:r>
              <a:rPr lang="en-US" sz="600" b="1" kern="0" dirty="0">
                <a:solidFill>
                  <a:sysClr val="window" lastClr="FFFFFF"/>
                </a:solidFill>
                <a:latin typeface="Calibri"/>
              </a:rPr>
              <a:t>Organization Agility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900596" y="4067175"/>
            <a:ext cx="846696" cy="20574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6350" cap="flat" cmpd="sng" algn="ctr">
            <a:solidFill>
              <a:srgbClr val="8064A2"/>
            </a:solidFill>
            <a:prstDash val="solid"/>
          </a:ln>
          <a:effectLst/>
        </p:spPr>
        <p:txBody>
          <a:bodyPr vert="horz" lIns="0" rIns="0" rtlCol="0" anchor="ctr"/>
          <a:lstStyle/>
          <a:p>
            <a:pPr algn="ctr" defTabSz="685800">
              <a:lnSpc>
                <a:spcPct val="80000"/>
              </a:lnSpc>
              <a:defRPr/>
            </a:pPr>
            <a:r>
              <a:rPr lang="en-US" sz="600" kern="0" dirty="0">
                <a:latin typeface="Calibri"/>
              </a:rPr>
              <a:t>Change Leadership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897421" y="4310037"/>
            <a:ext cx="849491" cy="20574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6350" cap="flat" cmpd="sng" algn="ctr">
            <a:solidFill>
              <a:srgbClr val="8064A2"/>
            </a:solidFill>
            <a:prstDash val="solid"/>
          </a:ln>
          <a:effectLst/>
        </p:spPr>
        <p:txBody>
          <a:bodyPr vert="horz" lIns="0" rIns="0" rtlCol="0" anchor="ctr"/>
          <a:lstStyle/>
          <a:p>
            <a:pPr algn="ctr" defTabSz="685800">
              <a:lnSpc>
                <a:spcPct val="80000"/>
              </a:lnSpc>
              <a:defRPr/>
            </a:pPr>
            <a:r>
              <a:rPr lang="en-US" sz="600" kern="0" dirty="0">
                <a:latin typeface="Calibri"/>
              </a:rPr>
              <a:t>Prioritization of Resources &amp; Investment 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1796351" y="3244851"/>
            <a:ext cx="997649" cy="290401"/>
          </a:xfrm>
          <a:prstGeom prst="rect">
            <a:avLst/>
          </a:prstGeom>
          <a:solidFill>
            <a:srgbClr val="50A12B"/>
          </a:solidFill>
          <a:ln w="6350" cap="flat" cmpd="sng" algn="ctr">
            <a:noFill/>
            <a:prstDash val="solid"/>
          </a:ln>
          <a:effectLst/>
        </p:spPr>
        <p:txBody>
          <a:bodyPr vert="horz" rtlCol="0" anchor="ctr"/>
          <a:lstStyle/>
          <a:p>
            <a:pPr defTabSz="685800">
              <a:lnSpc>
                <a:spcPct val="80000"/>
              </a:lnSpc>
              <a:defRPr/>
            </a:pPr>
            <a:endParaRPr lang="en-US" sz="788" kern="0" spc="225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1796352" y="3578227"/>
            <a:ext cx="991298" cy="195287"/>
          </a:xfrm>
          <a:prstGeom prst="rect">
            <a:avLst/>
          </a:prstGeom>
          <a:solidFill>
            <a:srgbClr val="50A12B"/>
          </a:solidFill>
          <a:ln w="6350" cap="flat" cmpd="sng" algn="ctr">
            <a:solidFill>
              <a:srgbClr val="3DA1CD"/>
            </a:solidFill>
            <a:prstDash val="solid"/>
          </a:ln>
          <a:effectLst/>
        </p:spPr>
        <p:txBody>
          <a:bodyPr vert="horz" rtlCol="0" anchor="ctr"/>
          <a:lstStyle/>
          <a:p>
            <a:pPr algn="ctr" defTabSz="685800">
              <a:lnSpc>
                <a:spcPct val="80000"/>
              </a:lnSpc>
              <a:defRPr/>
            </a:pPr>
            <a:endParaRPr lang="en-US" sz="600" kern="0" dirty="0">
              <a:latin typeface="Calibri"/>
            </a:endParaRP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1801175" y="3821089"/>
            <a:ext cx="991298" cy="195287"/>
          </a:xfrm>
          <a:prstGeom prst="rect">
            <a:avLst/>
          </a:prstGeom>
          <a:solidFill>
            <a:srgbClr val="E4AC16"/>
          </a:solidFill>
          <a:ln w="6350" cap="flat" cmpd="sng" algn="ctr">
            <a:solidFill>
              <a:srgbClr val="E4AC16"/>
            </a:solidFill>
            <a:prstDash val="solid"/>
          </a:ln>
          <a:effectLst/>
        </p:spPr>
        <p:txBody>
          <a:bodyPr vert="horz" rtlCol="0" anchor="ctr"/>
          <a:lstStyle/>
          <a:p>
            <a:pPr algn="ctr" defTabSz="685800">
              <a:lnSpc>
                <a:spcPct val="80000"/>
              </a:lnSpc>
              <a:defRPr/>
            </a:pPr>
            <a:endParaRPr lang="en-US" sz="600" kern="0" dirty="0">
              <a:latin typeface="Calibri"/>
            </a:endParaRP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1796352" y="4067176"/>
            <a:ext cx="994474" cy="195287"/>
          </a:xfrm>
          <a:prstGeom prst="rect">
            <a:avLst/>
          </a:prstGeom>
          <a:solidFill>
            <a:srgbClr val="E4AC16"/>
          </a:solidFill>
          <a:ln w="6350" cap="flat" cmpd="sng" algn="ctr">
            <a:solidFill>
              <a:srgbClr val="E4AC16"/>
            </a:solidFill>
            <a:prstDash val="solid"/>
          </a:ln>
          <a:effectLst/>
        </p:spPr>
        <p:txBody>
          <a:bodyPr vert="horz" rtlCol="0" anchor="ctr"/>
          <a:lstStyle/>
          <a:p>
            <a:pPr algn="ctr" defTabSz="685800">
              <a:lnSpc>
                <a:spcPct val="80000"/>
              </a:lnSpc>
              <a:defRPr/>
            </a:pPr>
            <a:endParaRPr lang="en-US" sz="600" kern="0" dirty="0">
              <a:latin typeface="Calibri"/>
            </a:endParaRP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1801175" y="4310038"/>
            <a:ext cx="994474" cy="195287"/>
          </a:xfrm>
          <a:prstGeom prst="rect">
            <a:avLst/>
          </a:prstGeom>
          <a:solidFill>
            <a:srgbClr val="E4AC16"/>
          </a:solidFill>
          <a:ln w="6350" cap="flat" cmpd="sng" algn="ctr">
            <a:solidFill>
              <a:srgbClr val="E4AC16"/>
            </a:solidFill>
            <a:prstDash val="solid"/>
          </a:ln>
          <a:effectLst/>
        </p:spPr>
        <p:txBody>
          <a:bodyPr vert="horz" rtlCol="0" anchor="ctr"/>
          <a:lstStyle/>
          <a:p>
            <a:pPr algn="ctr" defTabSz="685800">
              <a:lnSpc>
                <a:spcPct val="80000"/>
              </a:lnSpc>
              <a:defRPr/>
            </a:pPr>
            <a:endParaRPr lang="en-US" sz="600" kern="0" dirty="0">
              <a:latin typeface="Calibri"/>
            </a:endParaRP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2825832" y="2533080"/>
            <a:ext cx="995859" cy="191641"/>
          </a:xfrm>
          <a:prstGeom prst="rect">
            <a:avLst/>
          </a:prstGeom>
          <a:solidFill>
            <a:srgbClr val="50A12B"/>
          </a:solidFill>
          <a:ln w="6350" cap="flat" cmpd="sng" algn="ctr">
            <a:noFill/>
            <a:prstDash val="solid"/>
          </a:ln>
          <a:effectLst/>
        </p:spPr>
        <p:txBody>
          <a:bodyPr rtlCol="0" anchor="t"/>
          <a:lstStyle/>
          <a:p>
            <a:pPr defTabSz="685800"/>
            <a:endParaRPr lang="en-US" sz="525" kern="0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2825832" y="2774379"/>
            <a:ext cx="995859" cy="191641"/>
          </a:xfrm>
          <a:prstGeom prst="rect">
            <a:avLst/>
          </a:prstGeom>
          <a:solidFill>
            <a:srgbClr val="50A12B"/>
          </a:solidFill>
          <a:ln w="6350" cap="flat" cmpd="sng" algn="ctr">
            <a:noFill/>
            <a:prstDash val="solid"/>
          </a:ln>
          <a:effectLst/>
        </p:spPr>
        <p:txBody>
          <a:bodyPr rtlCol="0" anchor="t"/>
          <a:lstStyle/>
          <a:p>
            <a:pPr defTabSz="685800"/>
            <a:endParaRPr lang="en-US" sz="525" kern="0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2825832" y="3006154"/>
            <a:ext cx="995859" cy="191641"/>
          </a:xfrm>
          <a:prstGeom prst="rect">
            <a:avLst/>
          </a:prstGeom>
          <a:solidFill>
            <a:srgbClr val="CC3E26"/>
          </a:solidFill>
          <a:ln w="6350" cap="flat" cmpd="sng" algn="ctr">
            <a:solidFill>
              <a:schemeClr val="accent2"/>
            </a:solidFill>
            <a:prstDash val="solid"/>
          </a:ln>
          <a:effectLst/>
        </p:spPr>
        <p:txBody>
          <a:bodyPr rtlCol="0" anchor="t"/>
          <a:lstStyle/>
          <a:p>
            <a:pPr defTabSz="685800"/>
            <a:endParaRPr lang="en-US" sz="525" kern="0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2825051" y="3242245"/>
            <a:ext cx="997649" cy="290401"/>
          </a:xfrm>
          <a:prstGeom prst="rect">
            <a:avLst/>
          </a:prstGeom>
          <a:solidFill>
            <a:srgbClr val="50A12B"/>
          </a:solidFill>
          <a:ln w="6350" cap="flat" cmpd="sng" algn="ctr">
            <a:noFill/>
            <a:prstDash val="solid"/>
          </a:ln>
          <a:effectLst/>
        </p:spPr>
        <p:txBody>
          <a:bodyPr rtlCol="0" anchor="t"/>
          <a:lstStyle/>
          <a:p>
            <a:pPr defTabSz="685800"/>
            <a:endParaRPr lang="en-US" sz="525" kern="0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2825052" y="3575621"/>
            <a:ext cx="991298" cy="195287"/>
          </a:xfrm>
          <a:prstGeom prst="rect">
            <a:avLst/>
          </a:prstGeom>
          <a:solidFill>
            <a:srgbClr val="50A12B"/>
          </a:solidFill>
          <a:ln w="6350" cap="flat" cmpd="sng" algn="ctr">
            <a:solidFill>
              <a:srgbClr val="61C235"/>
            </a:solidFill>
            <a:prstDash val="solid"/>
          </a:ln>
          <a:effectLst/>
        </p:spPr>
        <p:txBody>
          <a:bodyPr rtlCol="0" anchor="t"/>
          <a:lstStyle/>
          <a:p>
            <a:pPr defTabSz="685800"/>
            <a:endParaRPr lang="en-US" sz="525" kern="0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2829875" y="3818483"/>
            <a:ext cx="991298" cy="195287"/>
          </a:xfrm>
          <a:prstGeom prst="rect">
            <a:avLst/>
          </a:prstGeom>
          <a:solidFill>
            <a:srgbClr val="E4AC16"/>
          </a:solidFill>
          <a:ln w="6350" cap="flat" cmpd="sng" algn="ctr">
            <a:solidFill>
              <a:srgbClr val="E4AC16"/>
            </a:solidFill>
            <a:prstDash val="solid"/>
          </a:ln>
          <a:effectLst/>
        </p:spPr>
        <p:txBody>
          <a:bodyPr rtlCol="0" anchor="t"/>
          <a:lstStyle/>
          <a:p>
            <a:pPr defTabSz="685800"/>
            <a:endParaRPr lang="en-US" sz="525" kern="0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2825052" y="4064571"/>
            <a:ext cx="994474" cy="195287"/>
          </a:xfrm>
          <a:prstGeom prst="rect">
            <a:avLst/>
          </a:prstGeom>
          <a:solidFill>
            <a:srgbClr val="E4AC16"/>
          </a:solidFill>
          <a:ln w="6350" cap="flat" cmpd="sng" algn="ctr">
            <a:solidFill>
              <a:srgbClr val="E4AC16"/>
            </a:solidFill>
            <a:prstDash val="solid"/>
          </a:ln>
          <a:effectLst/>
        </p:spPr>
        <p:txBody>
          <a:bodyPr rtlCol="0" anchor="t"/>
          <a:lstStyle/>
          <a:p>
            <a:pPr defTabSz="685800"/>
            <a:endParaRPr lang="en-US" sz="525" kern="0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2829875" y="4307433"/>
            <a:ext cx="994474" cy="195287"/>
          </a:xfrm>
          <a:prstGeom prst="rect">
            <a:avLst/>
          </a:prstGeom>
          <a:solidFill>
            <a:srgbClr val="50A12B"/>
          </a:solidFill>
          <a:ln w="6350" cap="flat" cmpd="sng" algn="ctr">
            <a:solidFill>
              <a:srgbClr val="61C235"/>
            </a:solidFill>
            <a:prstDash val="solid"/>
          </a:ln>
          <a:effectLst/>
        </p:spPr>
        <p:txBody>
          <a:bodyPr rtlCol="0" anchor="t"/>
          <a:lstStyle/>
          <a:p>
            <a:pPr defTabSz="685800"/>
            <a:endParaRPr lang="en-US" sz="525" kern="0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3845007" y="2533080"/>
            <a:ext cx="995859" cy="191641"/>
          </a:xfrm>
          <a:prstGeom prst="rect">
            <a:avLst/>
          </a:prstGeom>
          <a:solidFill>
            <a:srgbClr val="E4AC16"/>
          </a:solidFill>
          <a:ln w="6350" cap="flat" cmpd="sng" algn="ctr">
            <a:solidFill>
              <a:srgbClr val="E4AC16"/>
            </a:solidFill>
            <a:prstDash val="solid"/>
          </a:ln>
          <a:effectLst/>
        </p:spPr>
        <p:txBody>
          <a:bodyPr vert="horz" rtlCol="0" anchor="ctr"/>
          <a:lstStyle/>
          <a:p>
            <a:pPr algn="ctr" defTabSz="685800">
              <a:lnSpc>
                <a:spcPct val="80000"/>
              </a:lnSpc>
            </a:pPr>
            <a:endParaRPr lang="en-US" sz="600" kern="0" dirty="0">
              <a:latin typeface="Calibri"/>
            </a:endParaRP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3845007" y="2774379"/>
            <a:ext cx="995859" cy="191641"/>
          </a:xfrm>
          <a:prstGeom prst="rect">
            <a:avLst/>
          </a:prstGeom>
          <a:solidFill>
            <a:srgbClr val="50A12B"/>
          </a:solidFill>
          <a:ln w="6350" cap="flat" cmpd="sng" algn="ctr">
            <a:noFill/>
            <a:prstDash val="solid"/>
          </a:ln>
          <a:effectLst/>
        </p:spPr>
        <p:txBody>
          <a:bodyPr rtlCol="0" anchor="t"/>
          <a:lstStyle/>
          <a:p>
            <a:pPr defTabSz="685800"/>
            <a:endParaRPr lang="en-US" sz="525" kern="0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3845007" y="3006154"/>
            <a:ext cx="995859" cy="191641"/>
          </a:xfrm>
          <a:prstGeom prst="rect">
            <a:avLst/>
          </a:prstGeom>
          <a:solidFill>
            <a:srgbClr val="CC3E26"/>
          </a:solidFill>
          <a:ln w="6350" cap="flat" cmpd="sng" algn="ctr">
            <a:solidFill>
              <a:schemeClr val="accent2"/>
            </a:solidFill>
            <a:prstDash val="solid"/>
          </a:ln>
          <a:effectLst/>
        </p:spPr>
        <p:txBody>
          <a:bodyPr rtlCol="0" anchor="t"/>
          <a:lstStyle/>
          <a:p>
            <a:pPr defTabSz="685800"/>
            <a:endParaRPr lang="en-US" sz="525" kern="0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3844226" y="3242245"/>
            <a:ext cx="997649" cy="290401"/>
          </a:xfrm>
          <a:prstGeom prst="rect">
            <a:avLst/>
          </a:prstGeom>
          <a:solidFill>
            <a:srgbClr val="50A12B"/>
          </a:solidFill>
          <a:ln w="6350" cap="flat" cmpd="sng" algn="ctr">
            <a:noFill/>
            <a:prstDash val="solid"/>
          </a:ln>
          <a:effectLst/>
        </p:spPr>
        <p:txBody>
          <a:bodyPr rtlCol="0" anchor="t"/>
          <a:lstStyle/>
          <a:p>
            <a:pPr defTabSz="685800"/>
            <a:endParaRPr lang="en-US" sz="525" kern="0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3844227" y="3575621"/>
            <a:ext cx="991298" cy="195287"/>
          </a:xfrm>
          <a:prstGeom prst="rect">
            <a:avLst/>
          </a:prstGeom>
          <a:solidFill>
            <a:srgbClr val="50A12B"/>
          </a:solidFill>
          <a:ln w="6350" cap="flat" cmpd="sng" algn="ctr">
            <a:noFill/>
            <a:prstDash val="solid"/>
          </a:ln>
          <a:effectLst/>
        </p:spPr>
        <p:txBody>
          <a:bodyPr rtlCol="0" anchor="t"/>
          <a:lstStyle/>
          <a:p>
            <a:pPr defTabSz="685800"/>
            <a:endParaRPr lang="en-US" sz="525" kern="0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3849050" y="3818483"/>
            <a:ext cx="991298" cy="195287"/>
          </a:xfrm>
          <a:prstGeom prst="rect">
            <a:avLst/>
          </a:prstGeom>
          <a:solidFill>
            <a:srgbClr val="50A12B"/>
          </a:solidFill>
          <a:ln w="6350" cap="flat" cmpd="sng" algn="ctr">
            <a:noFill/>
            <a:prstDash val="solid"/>
          </a:ln>
          <a:effectLst/>
        </p:spPr>
        <p:txBody>
          <a:bodyPr rtlCol="0" anchor="t"/>
          <a:lstStyle/>
          <a:p>
            <a:pPr defTabSz="685800"/>
            <a:endParaRPr lang="en-US" sz="525" kern="0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3844227" y="4064571"/>
            <a:ext cx="994474" cy="195287"/>
          </a:xfrm>
          <a:prstGeom prst="rect">
            <a:avLst/>
          </a:prstGeom>
          <a:solidFill>
            <a:srgbClr val="50A12B"/>
          </a:solidFill>
          <a:ln w="6350" cap="flat" cmpd="sng" algn="ctr">
            <a:noFill/>
            <a:prstDash val="solid"/>
          </a:ln>
          <a:effectLst/>
        </p:spPr>
        <p:txBody>
          <a:bodyPr rtlCol="0" anchor="t"/>
          <a:lstStyle/>
          <a:p>
            <a:pPr defTabSz="685800"/>
            <a:endParaRPr lang="en-US" sz="525" kern="0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3849050" y="4307433"/>
            <a:ext cx="994474" cy="195287"/>
          </a:xfrm>
          <a:prstGeom prst="rect">
            <a:avLst/>
          </a:prstGeom>
          <a:solidFill>
            <a:srgbClr val="E4AC16"/>
          </a:solidFill>
          <a:ln w="6350" cap="flat" cmpd="sng" algn="ctr">
            <a:solidFill>
              <a:srgbClr val="E4AC16"/>
            </a:solidFill>
            <a:prstDash val="solid"/>
          </a:ln>
          <a:effectLst/>
        </p:spPr>
        <p:txBody>
          <a:bodyPr vert="horz" rtlCol="0" anchor="ctr"/>
          <a:lstStyle/>
          <a:p>
            <a:pPr algn="ctr" defTabSz="685800">
              <a:lnSpc>
                <a:spcPct val="80000"/>
              </a:lnSpc>
            </a:pPr>
            <a:endParaRPr lang="en-US" sz="600" kern="0" dirty="0">
              <a:latin typeface="Calibri"/>
            </a:endParaRP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4864182" y="2533080"/>
            <a:ext cx="995859" cy="191641"/>
          </a:xfrm>
          <a:prstGeom prst="rect">
            <a:avLst/>
          </a:prstGeom>
          <a:solidFill>
            <a:srgbClr val="50A12B"/>
          </a:solidFill>
          <a:ln w="6350" cap="flat" cmpd="sng" algn="ctr">
            <a:noFill/>
            <a:prstDash val="solid"/>
          </a:ln>
          <a:effectLst/>
        </p:spPr>
        <p:txBody>
          <a:bodyPr rtlCol="0" anchor="t"/>
          <a:lstStyle/>
          <a:p>
            <a:pPr defTabSz="685800"/>
            <a:endParaRPr lang="en-US" sz="525" kern="0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4864182" y="2774379"/>
            <a:ext cx="995859" cy="191641"/>
          </a:xfrm>
          <a:prstGeom prst="rect">
            <a:avLst/>
          </a:prstGeom>
          <a:solidFill>
            <a:srgbClr val="50A12B"/>
          </a:solidFill>
          <a:ln w="6350" cap="flat" cmpd="sng" algn="ctr">
            <a:noFill/>
            <a:prstDash val="solid"/>
          </a:ln>
          <a:effectLst/>
        </p:spPr>
        <p:txBody>
          <a:bodyPr rtlCol="0" anchor="t"/>
          <a:lstStyle/>
          <a:p>
            <a:pPr defTabSz="685800"/>
            <a:endParaRPr lang="en-US" sz="525" kern="0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4864182" y="3006154"/>
            <a:ext cx="995859" cy="191641"/>
          </a:xfrm>
          <a:prstGeom prst="rect">
            <a:avLst/>
          </a:prstGeom>
          <a:solidFill>
            <a:srgbClr val="E4AC16"/>
          </a:solidFill>
          <a:ln w="6350" cap="flat" cmpd="sng" algn="ctr">
            <a:solidFill>
              <a:srgbClr val="E4AC16"/>
            </a:solidFill>
            <a:prstDash val="solid"/>
          </a:ln>
          <a:effectLst/>
        </p:spPr>
        <p:txBody>
          <a:bodyPr vert="horz" rtlCol="0" anchor="ctr"/>
          <a:lstStyle/>
          <a:p>
            <a:pPr algn="ctr" defTabSz="685800">
              <a:lnSpc>
                <a:spcPct val="80000"/>
              </a:lnSpc>
            </a:pPr>
            <a:endParaRPr lang="en-US" sz="600" kern="0" dirty="0">
              <a:latin typeface="Calibri"/>
            </a:endParaRP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4863401" y="3242245"/>
            <a:ext cx="997649" cy="290401"/>
          </a:xfrm>
          <a:prstGeom prst="rect">
            <a:avLst/>
          </a:prstGeom>
          <a:solidFill>
            <a:srgbClr val="E4AC16"/>
          </a:solidFill>
          <a:ln w="6350" cap="flat" cmpd="sng" algn="ctr">
            <a:solidFill>
              <a:srgbClr val="E4AC16"/>
            </a:solidFill>
            <a:prstDash val="solid"/>
          </a:ln>
          <a:effectLst/>
        </p:spPr>
        <p:txBody>
          <a:bodyPr vert="horz" rtlCol="0" anchor="ctr"/>
          <a:lstStyle/>
          <a:p>
            <a:pPr algn="ctr" defTabSz="685800">
              <a:lnSpc>
                <a:spcPct val="80000"/>
              </a:lnSpc>
            </a:pPr>
            <a:endParaRPr lang="en-US" sz="600" kern="0" dirty="0">
              <a:latin typeface="Calibri"/>
            </a:endParaRP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4863402" y="3575621"/>
            <a:ext cx="991298" cy="195287"/>
          </a:xfrm>
          <a:prstGeom prst="rect">
            <a:avLst/>
          </a:prstGeom>
          <a:solidFill>
            <a:srgbClr val="50A12B"/>
          </a:solidFill>
          <a:ln w="6350" cap="flat" cmpd="sng" algn="ctr">
            <a:noFill/>
            <a:prstDash val="solid"/>
          </a:ln>
          <a:effectLst/>
        </p:spPr>
        <p:txBody>
          <a:bodyPr rtlCol="0" anchor="t"/>
          <a:lstStyle/>
          <a:p>
            <a:pPr defTabSz="685800"/>
            <a:endParaRPr lang="en-US" sz="525" kern="0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4868225" y="3818483"/>
            <a:ext cx="991298" cy="195287"/>
          </a:xfrm>
          <a:prstGeom prst="rect">
            <a:avLst/>
          </a:prstGeom>
          <a:solidFill>
            <a:srgbClr val="E4AC16"/>
          </a:solidFill>
          <a:ln w="6350" cap="flat" cmpd="sng" algn="ctr">
            <a:solidFill>
              <a:srgbClr val="E4AC16"/>
            </a:solidFill>
            <a:prstDash val="solid"/>
          </a:ln>
          <a:effectLst/>
        </p:spPr>
        <p:txBody>
          <a:bodyPr vert="horz" rtlCol="0" anchor="ctr"/>
          <a:lstStyle/>
          <a:p>
            <a:pPr algn="ctr" defTabSz="685800">
              <a:lnSpc>
                <a:spcPct val="80000"/>
              </a:lnSpc>
            </a:pPr>
            <a:endParaRPr lang="en-US" sz="600" kern="0" dirty="0">
              <a:latin typeface="Calibri"/>
            </a:endParaRP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4863402" y="4064571"/>
            <a:ext cx="994474" cy="195287"/>
          </a:xfrm>
          <a:prstGeom prst="rect">
            <a:avLst/>
          </a:prstGeom>
          <a:solidFill>
            <a:srgbClr val="50A12B"/>
          </a:solidFill>
          <a:ln w="6350" cap="flat" cmpd="sng" algn="ctr">
            <a:noFill/>
            <a:prstDash val="solid"/>
          </a:ln>
          <a:effectLst/>
        </p:spPr>
        <p:txBody>
          <a:bodyPr rtlCol="0" anchor="t"/>
          <a:lstStyle/>
          <a:p>
            <a:pPr defTabSz="685800"/>
            <a:endParaRPr lang="en-US" sz="525" kern="0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4868225" y="4307433"/>
            <a:ext cx="994474" cy="195287"/>
          </a:xfrm>
          <a:prstGeom prst="rect">
            <a:avLst/>
          </a:prstGeom>
          <a:solidFill>
            <a:srgbClr val="50A12B"/>
          </a:solidFill>
          <a:ln w="6350" cap="flat" cmpd="sng" algn="ctr">
            <a:noFill/>
            <a:prstDash val="solid"/>
          </a:ln>
          <a:effectLst/>
        </p:spPr>
        <p:txBody>
          <a:bodyPr rtlCol="0" anchor="t"/>
          <a:lstStyle/>
          <a:p>
            <a:pPr defTabSz="685800"/>
            <a:endParaRPr lang="en-US" sz="525" kern="0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5903185" y="2533080"/>
            <a:ext cx="1987736" cy="191641"/>
          </a:xfrm>
          <a:prstGeom prst="rect">
            <a:avLst/>
          </a:prstGeom>
          <a:solidFill>
            <a:srgbClr val="50A12B"/>
          </a:solidFill>
          <a:ln w="6350" cap="flat" cmpd="sng" algn="ctr">
            <a:noFill/>
            <a:prstDash val="solid"/>
          </a:ln>
          <a:effectLst/>
        </p:spPr>
        <p:txBody>
          <a:bodyPr rtlCol="0" anchor="t"/>
          <a:lstStyle/>
          <a:p>
            <a:pPr defTabSz="685800"/>
            <a:endParaRPr lang="en-US" sz="525" kern="0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5903185" y="2774379"/>
            <a:ext cx="1987736" cy="191641"/>
          </a:xfrm>
          <a:prstGeom prst="rect">
            <a:avLst/>
          </a:prstGeom>
          <a:solidFill>
            <a:srgbClr val="50A12B"/>
          </a:solidFill>
          <a:ln w="6350" cap="flat" cmpd="sng" algn="ctr">
            <a:noFill/>
            <a:prstDash val="solid"/>
          </a:ln>
          <a:effectLst/>
        </p:spPr>
        <p:txBody>
          <a:bodyPr rtlCol="0" anchor="t"/>
          <a:lstStyle/>
          <a:p>
            <a:pPr defTabSz="685800"/>
            <a:endParaRPr lang="en-US" sz="525" kern="0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5903185" y="3006154"/>
            <a:ext cx="1987736" cy="191641"/>
          </a:xfrm>
          <a:prstGeom prst="rect">
            <a:avLst/>
          </a:prstGeom>
          <a:solidFill>
            <a:srgbClr val="E4AC16"/>
          </a:solidFill>
          <a:ln w="6350" cap="flat" cmpd="sng" algn="ctr">
            <a:solidFill>
              <a:srgbClr val="E4AC16"/>
            </a:solidFill>
            <a:prstDash val="solid"/>
          </a:ln>
          <a:effectLst/>
        </p:spPr>
        <p:txBody>
          <a:bodyPr vert="horz" rtlCol="0" anchor="ctr"/>
          <a:lstStyle/>
          <a:p>
            <a:pPr algn="ctr" defTabSz="685800">
              <a:lnSpc>
                <a:spcPct val="80000"/>
              </a:lnSpc>
            </a:pPr>
            <a:endParaRPr lang="en-US" sz="600" kern="0" dirty="0">
              <a:latin typeface="Calibri"/>
            </a:endParaRP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5901626" y="3242245"/>
            <a:ext cx="1991309" cy="290401"/>
          </a:xfrm>
          <a:prstGeom prst="rect">
            <a:avLst/>
          </a:prstGeom>
          <a:solidFill>
            <a:srgbClr val="50A12B"/>
          </a:solidFill>
          <a:ln w="6350" cap="flat" cmpd="sng" algn="ctr">
            <a:noFill/>
            <a:prstDash val="solid"/>
          </a:ln>
          <a:effectLst/>
        </p:spPr>
        <p:txBody>
          <a:bodyPr rtlCol="0" anchor="t"/>
          <a:lstStyle/>
          <a:p>
            <a:pPr defTabSz="685800"/>
            <a:endParaRPr lang="en-US" sz="525" kern="0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5901627" y="3575621"/>
            <a:ext cx="1978633" cy="195287"/>
          </a:xfrm>
          <a:prstGeom prst="rect">
            <a:avLst/>
          </a:prstGeom>
          <a:solidFill>
            <a:srgbClr val="50A12B"/>
          </a:solidFill>
          <a:ln w="6350" cap="flat" cmpd="sng" algn="ctr">
            <a:noFill/>
            <a:prstDash val="solid"/>
          </a:ln>
          <a:effectLst/>
        </p:spPr>
        <p:txBody>
          <a:bodyPr rtlCol="0" anchor="t"/>
          <a:lstStyle/>
          <a:p>
            <a:pPr defTabSz="685800"/>
            <a:endParaRPr lang="en-US" sz="525" kern="0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5911254" y="3818483"/>
            <a:ext cx="1978633" cy="195287"/>
          </a:xfrm>
          <a:prstGeom prst="rect">
            <a:avLst/>
          </a:prstGeom>
          <a:solidFill>
            <a:srgbClr val="50A12B"/>
          </a:solidFill>
          <a:ln w="6350" cap="flat" cmpd="sng" algn="ctr">
            <a:noFill/>
            <a:prstDash val="solid"/>
          </a:ln>
          <a:effectLst/>
        </p:spPr>
        <p:txBody>
          <a:bodyPr rtlCol="0" anchor="t"/>
          <a:lstStyle/>
          <a:p>
            <a:pPr defTabSz="685800"/>
            <a:endParaRPr lang="en-US" sz="525" kern="0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5901627" y="4064571"/>
            <a:ext cx="1984971" cy="195287"/>
          </a:xfrm>
          <a:prstGeom prst="rect">
            <a:avLst/>
          </a:prstGeom>
          <a:solidFill>
            <a:srgbClr val="E4AC16"/>
          </a:solidFill>
          <a:ln w="6350" cap="flat" cmpd="sng" algn="ctr">
            <a:solidFill>
              <a:srgbClr val="E4AC16"/>
            </a:solidFill>
            <a:prstDash val="solid"/>
          </a:ln>
          <a:effectLst/>
        </p:spPr>
        <p:txBody>
          <a:bodyPr vert="horz" rtlCol="0" anchor="ctr"/>
          <a:lstStyle/>
          <a:p>
            <a:pPr algn="ctr" defTabSz="685800">
              <a:lnSpc>
                <a:spcPct val="80000"/>
              </a:lnSpc>
            </a:pPr>
            <a:endParaRPr lang="en-US" sz="600" kern="0" dirty="0">
              <a:latin typeface="Calibri"/>
            </a:endParaRP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5911254" y="4307433"/>
            <a:ext cx="1984971" cy="195287"/>
          </a:xfrm>
          <a:prstGeom prst="rect">
            <a:avLst/>
          </a:prstGeom>
          <a:solidFill>
            <a:srgbClr val="50A12B"/>
          </a:solidFill>
          <a:ln w="6350" cap="flat" cmpd="sng" algn="ctr">
            <a:noFill/>
            <a:prstDash val="solid"/>
          </a:ln>
          <a:effectLst/>
        </p:spPr>
        <p:txBody>
          <a:bodyPr rtlCol="0" anchor="t"/>
          <a:lstStyle/>
          <a:p>
            <a:pPr defTabSz="685800"/>
            <a:endParaRPr lang="en-US" sz="525" kern="0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7921707" y="2533080"/>
            <a:ext cx="995859" cy="191641"/>
          </a:xfrm>
          <a:prstGeom prst="rect">
            <a:avLst/>
          </a:prstGeom>
          <a:solidFill>
            <a:srgbClr val="50A12B"/>
          </a:solidFill>
          <a:ln w="6350" cap="flat" cmpd="sng" algn="ctr">
            <a:noFill/>
            <a:prstDash val="solid"/>
          </a:ln>
          <a:effectLst/>
        </p:spPr>
        <p:txBody>
          <a:bodyPr rtlCol="0" anchor="t"/>
          <a:lstStyle/>
          <a:p>
            <a:pPr defTabSz="685800"/>
            <a:endParaRPr lang="en-US" sz="525" kern="0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7921707" y="2774379"/>
            <a:ext cx="995859" cy="191641"/>
          </a:xfrm>
          <a:prstGeom prst="rect">
            <a:avLst/>
          </a:prstGeom>
          <a:solidFill>
            <a:srgbClr val="50A12B"/>
          </a:solidFill>
          <a:ln w="6350" cap="flat" cmpd="sng" algn="ctr">
            <a:noFill/>
            <a:prstDash val="solid"/>
          </a:ln>
          <a:effectLst/>
        </p:spPr>
        <p:txBody>
          <a:bodyPr rtlCol="0" anchor="t"/>
          <a:lstStyle/>
          <a:p>
            <a:pPr defTabSz="685800"/>
            <a:endParaRPr lang="en-US" sz="525" kern="0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7921707" y="3006154"/>
            <a:ext cx="995859" cy="191641"/>
          </a:xfrm>
          <a:prstGeom prst="rect">
            <a:avLst/>
          </a:prstGeom>
          <a:solidFill>
            <a:srgbClr val="50A12B"/>
          </a:solidFill>
          <a:ln w="6350" cap="flat" cmpd="sng" algn="ctr">
            <a:noFill/>
            <a:prstDash val="solid"/>
          </a:ln>
          <a:effectLst/>
        </p:spPr>
        <p:txBody>
          <a:bodyPr rtlCol="0" anchor="t"/>
          <a:lstStyle/>
          <a:p>
            <a:pPr defTabSz="685800"/>
            <a:endParaRPr lang="en-US" sz="525" kern="0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7920926" y="3242245"/>
            <a:ext cx="997649" cy="290401"/>
          </a:xfrm>
          <a:prstGeom prst="rect">
            <a:avLst/>
          </a:prstGeom>
          <a:solidFill>
            <a:srgbClr val="50A12B"/>
          </a:solidFill>
          <a:ln w="6350" cap="flat" cmpd="sng" algn="ctr">
            <a:noFill/>
            <a:prstDash val="solid"/>
          </a:ln>
          <a:effectLst/>
        </p:spPr>
        <p:txBody>
          <a:bodyPr rtlCol="0" anchor="t"/>
          <a:lstStyle/>
          <a:p>
            <a:pPr defTabSz="685800"/>
            <a:endParaRPr lang="en-US" sz="525" kern="0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7920927" y="3575621"/>
            <a:ext cx="991298" cy="195287"/>
          </a:xfrm>
          <a:prstGeom prst="rect">
            <a:avLst/>
          </a:prstGeom>
          <a:solidFill>
            <a:srgbClr val="50A12B"/>
          </a:solidFill>
          <a:ln w="6350" cap="flat" cmpd="sng" algn="ctr">
            <a:noFill/>
            <a:prstDash val="solid"/>
          </a:ln>
          <a:effectLst/>
        </p:spPr>
        <p:txBody>
          <a:bodyPr rtlCol="0" anchor="t"/>
          <a:lstStyle/>
          <a:p>
            <a:pPr defTabSz="685800"/>
            <a:endParaRPr lang="en-US" sz="525" kern="0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7925750" y="3818483"/>
            <a:ext cx="991298" cy="195287"/>
          </a:xfrm>
          <a:prstGeom prst="rect">
            <a:avLst/>
          </a:prstGeom>
          <a:solidFill>
            <a:srgbClr val="50A12B"/>
          </a:solidFill>
          <a:ln w="6350" cap="flat" cmpd="sng" algn="ctr">
            <a:noFill/>
            <a:prstDash val="solid"/>
          </a:ln>
          <a:effectLst/>
        </p:spPr>
        <p:txBody>
          <a:bodyPr rtlCol="0" anchor="t"/>
          <a:lstStyle/>
          <a:p>
            <a:pPr defTabSz="685800"/>
            <a:endParaRPr lang="en-US" sz="525" kern="0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7920927" y="4064571"/>
            <a:ext cx="994474" cy="195287"/>
          </a:xfrm>
          <a:prstGeom prst="rect">
            <a:avLst/>
          </a:prstGeom>
          <a:solidFill>
            <a:srgbClr val="50A12B"/>
          </a:solidFill>
          <a:ln w="6350" cap="flat" cmpd="sng" algn="ctr">
            <a:noFill/>
            <a:prstDash val="solid"/>
          </a:ln>
          <a:effectLst/>
        </p:spPr>
        <p:txBody>
          <a:bodyPr rtlCol="0" anchor="t"/>
          <a:lstStyle/>
          <a:p>
            <a:pPr defTabSz="685800"/>
            <a:endParaRPr lang="en-US" sz="525" kern="0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7925750" y="4307433"/>
            <a:ext cx="994474" cy="195287"/>
          </a:xfrm>
          <a:prstGeom prst="rect">
            <a:avLst/>
          </a:prstGeom>
          <a:solidFill>
            <a:srgbClr val="50A12B"/>
          </a:solidFill>
          <a:ln w="6350" cap="flat" cmpd="sng" algn="ctr">
            <a:noFill/>
            <a:prstDash val="solid"/>
          </a:ln>
          <a:effectLst/>
        </p:spPr>
        <p:txBody>
          <a:bodyPr rtlCol="0" anchor="t"/>
          <a:lstStyle/>
          <a:p>
            <a:pPr defTabSz="685800"/>
            <a:endParaRPr lang="en-US" sz="525" kern="0" dirty="0">
              <a:solidFill>
                <a:sysClr val="windowText" lastClr="000000"/>
              </a:solidFill>
              <a:latin typeface="Calibri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6243637" y="4486275"/>
            <a:ext cx="782469" cy="196208"/>
            <a:chOff x="704850" y="45545"/>
            <a:chExt cx="1043291" cy="384889"/>
          </a:xfrm>
        </p:grpSpPr>
        <p:sp>
          <p:nvSpPr>
            <p:cNvPr id="4" name="TextBox 3"/>
            <p:cNvSpPr txBox="1"/>
            <p:nvPr/>
          </p:nvSpPr>
          <p:spPr>
            <a:xfrm>
              <a:off x="939800" y="45545"/>
              <a:ext cx="808341" cy="38488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675" dirty="0"/>
                <a:t>High Impact</a:t>
              </a:r>
            </a:p>
          </p:txBody>
        </p:sp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58496D5B-A4A6-49B7-A8D6-BCB358376FED}"/>
                </a:ext>
              </a:extLst>
            </p:cNvPr>
            <p:cNvSpPr/>
            <p:nvPr/>
          </p:nvSpPr>
          <p:spPr>
            <a:xfrm>
              <a:off x="704850" y="125479"/>
              <a:ext cx="285750" cy="217421"/>
            </a:xfrm>
            <a:prstGeom prst="rect">
              <a:avLst/>
            </a:prstGeom>
            <a:solidFill>
              <a:srgbClr val="50A12B"/>
            </a:solidFill>
            <a:ln w="6350" cap="flat" cmpd="sng" algn="ctr">
              <a:solidFill>
                <a:srgbClr val="61C235"/>
              </a:solidFill>
              <a:prstDash val="solid"/>
            </a:ln>
            <a:effectLst/>
          </p:spPr>
          <p:txBody>
            <a:bodyPr rtlCol="0" anchor="t"/>
            <a:lstStyle/>
            <a:p>
              <a:pPr defTabSz="685800">
                <a:defRPr/>
              </a:pPr>
              <a:endParaRPr lang="en-US" sz="375" kern="0" dirty="0">
                <a:solidFill>
                  <a:sysClr val="windowText" lastClr="000000"/>
                </a:solidFill>
                <a:latin typeface="Calibri"/>
              </a:endParaRPr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7096125" y="4486275"/>
            <a:ext cx="918724" cy="196208"/>
            <a:chOff x="1841500" y="58245"/>
            <a:chExt cx="1224965" cy="384889"/>
          </a:xfrm>
        </p:grpSpPr>
        <p:sp>
          <p:nvSpPr>
            <p:cNvPr id="148" name="TextBox 147"/>
            <p:cNvSpPr txBox="1"/>
            <p:nvPr/>
          </p:nvSpPr>
          <p:spPr>
            <a:xfrm>
              <a:off x="2076451" y="58245"/>
              <a:ext cx="990014" cy="38488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675" dirty="0"/>
                <a:t>Medium Impact</a:t>
              </a:r>
            </a:p>
          </p:txBody>
        </p:sp>
        <p:sp>
          <p:nvSpPr>
            <p:cNvPr id="149" name="Rectangle 148">
              <a:extLst>
                <a:ext uri="{FF2B5EF4-FFF2-40B4-BE49-F238E27FC236}">
                  <a16:creationId xmlns:a16="http://schemas.microsoft.com/office/drawing/2014/main" id="{58496D5B-A4A6-49B7-A8D6-BCB358376FED}"/>
                </a:ext>
              </a:extLst>
            </p:cNvPr>
            <p:cNvSpPr/>
            <p:nvPr/>
          </p:nvSpPr>
          <p:spPr>
            <a:xfrm>
              <a:off x="1841500" y="138179"/>
              <a:ext cx="285750" cy="217421"/>
            </a:xfrm>
            <a:prstGeom prst="rect">
              <a:avLst/>
            </a:prstGeom>
            <a:solidFill>
              <a:srgbClr val="E4AC16"/>
            </a:solidFill>
            <a:ln w="6350" cap="flat" cmpd="sng" algn="ctr">
              <a:solidFill>
                <a:srgbClr val="E4AC16"/>
              </a:solidFill>
              <a:prstDash val="solid"/>
            </a:ln>
            <a:effectLst/>
          </p:spPr>
          <p:txBody>
            <a:bodyPr rtlCol="0" anchor="t"/>
            <a:lstStyle/>
            <a:p>
              <a:pPr defTabSz="685800">
                <a:defRPr/>
              </a:pPr>
              <a:endParaRPr lang="en-US" sz="375" kern="0" dirty="0">
                <a:solidFill>
                  <a:sysClr val="windowText" lastClr="000000"/>
                </a:solidFill>
                <a:latin typeface="Calibri"/>
              </a:endParaRP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8113905" y="4486275"/>
            <a:ext cx="768041" cy="196208"/>
            <a:chOff x="3211239" y="7445"/>
            <a:chExt cx="1024055" cy="384889"/>
          </a:xfrm>
        </p:grpSpPr>
        <p:sp>
          <p:nvSpPr>
            <p:cNvPr id="150" name="TextBox 149"/>
            <p:cNvSpPr txBox="1"/>
            <p:nvPr/>
          </p:nvSpPr>
          <p:spPr>
            <a:xfrm>
              <a:off x="3446188" y="7445"/>
              <a:ext cx="789106" cy="38488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675" dirty="0"/>
                <a:t>Low Impact</a:t>
              </a:r>
            </a:p>
          </p:txBody>
        </p:sp>
        <p:sp>
          <p:nvSpPr>
            <p:cNvPr id="151" name="Rectangle 150">
              <a:extLst>
                <a:ext uri="{FF2B5EF4-FFF2-40B4-BE49-F238E27FC236}">
                  <a16:creationId xmlns:a16="http://schemas.microsoft.com/office/drawing/2014/main" id="{58496D5B-A4A6-49B7-A8D6-BCB358376FED}"/>
                </a:ext>
              </a:extLst>
            </p:cNvPr>
            <p:cNvSpPr/>
            <p:nvPr/>
          </p:nvSpPr>
          <p:spPr>
            <a:xfrm>
              <a:off x="3211239" y="87379"/>
              <a:ext cx="285750" cy="217421"/>
            </a:xfrm>
            <a:prstGeom prst="rect">
              <a:avLst/>
            </a:prstGeom>
            <a:solidFill>
              <a:srgbClr val="CC3E26"/>
            </a:solidFill>
            <a:ln w="6350" cap="flat" cmpd="sng" algn="ctr">
              <a:solidFill>
                <a:srgbClr val="C0504D"/>
              </a:solidFill>
              <a:prstDash val="solid"/>
            </a:ln>
            <a:effectLst/>
          </p:spPr>
          <p:txBody>
            <a:bodyPr rtlCol="0" anchor="t"/>
            <a:lstStyle/>
            <a:p>
              <a:pPr defTabSz="685800"/>
              <a:endParaRPr lang="en-US" sz="375" kern="0" dirty="0">
                <a:solidFill>
                  <a:sysClr val="windowText" lastClr="000000"/>
                </a:solidFill>
                <a:latin typeface="Calibri"/>
              </a:endParaRPr>
            </a:p>
          </p:txBody>
        </p:sp>
      </p:grpSp>
      <p:sp>
        <p:nvSpPr>
          <p:cNvPr id="108" name="Rectangle 107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5892787" y="1320736"/>
            <a:ext cx="988610" cy="1164769"/>
          </a:xfrm>
          <a:prstGeom prst="rect">
            <a:avLst/>
          </a:prstGeom>
          <a:solidFill>
            <a:srgbClr val="4BACC6">
              <a:lumMod val="40000"/>
              <a:lumOff val="6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t"/>
          <a:lstStyle/>
          <a:p>
            <a:pPr defTabSz="685800">
              <a:lnSpc>
                <a:spcPct val="90000"/>
              </a:lnSpc>
              <a:spcAft>
                <a:spcPts val="300"/>
              </a:spcAft>
              <a:defRPr/>
            </a:pPr>
            <a:r>
              <a:rPr lang="en-US" sz="525" b="1" kern="0" dirty="0">
                <a:solidFill>
                  <a:sysClr val="windowText" lastClr="000000"/>
                </a:solidFill>
                <a:latin typeface="Calibri"/>
              </a:rPr>
              <a:t>Account Plan </a:t>
            </a:r>
            <a:r>
              <a:rPr lang="en-US" sz="525" kern="0" dirty="0">
                <a:solidFill>
                  <a:sysClr val="windowText" lastClr="000000"/>
                </a:solidFill>
                <a:latin typeface="Calibri"/>
              </a:rPr>
              <a:t>Guidelines &amp; Customer Engagement Storyboard </a:t>
            </a:r>
            <a:r>
              <a:rPr lang="en-US" sz="450" kern="0" dirty="0">
                <a:solidFill>
                  <a:sysClr val="windowText" lastClr="000000"/>
                </a:solidFill>
                <a:latin typeface="Calibri"/>
              </a:rPr>
              <a:t>(Live / 1-day)</a:t>
            </a:r>
          </a:p>
          <a:p>
            <a:pPr marL="44054" indent="-44054" defTabSz="685800">
              <a:lnSpc>
                <a:spcPct val="90000"/>
              </a:lnSpc>
              <a:spcAft>
                <a:spcPts val="150"/>
              </a:spcAft>
              <a:buFont typeface="Arial" panose="020B0604020202020204" pitchFamily="34" charset="0"/>
              <a:buChar char="•"/>
              <a:defRPr/>
            </a:pPr>
            <a:r>
              <a:rPr lang="en-US" sz="525" kern="0" dirty="0">
                <a:solidFill>
                  <a:sysClr val="windowText" lastClr="000000"/>
                </a:solidFill>
                <a:latin typeface="Calibri"/>
              </a:rPr>
              <a:t>Account Teams develop account strategy &amp; tactics to accelerate revenue / value creation</a:t>
            </a:r>
          </a:p>
          <a:p>
            <a:pPr marL="44054" indent="-44054" defTabSz="685800">
              <a:lnSpc>
                <a:spcPct val="90000"/>
              </a:lnSpc>
              <a:spcAft>
                <a:spcPts val="150"/>
              </a:spcAft>
              <a:buFont typeface="Arial" panose="020B0604020202020204" pitchFamily="34" charset="0"/>
              <a:buChar char="•"/>
              <a:defRPr/>
            </a:pPr>
            <a:r>
              <a:rPr lang="en-US" sz="525" b="1" kern="0" dirty="0">
                <a:solidFill>
                  <a:sysClr val="windowText" lastClr="000000"/>
                </a:solidFill>
                <a:latin typeface="Calibri"/>
              </a:rPr>
              <a:t>Option: </a:t>
            </a:r>
            <a:r>
              <a:rPr lang="en-US" sz="525" kern="0" dirty="0">
                <a:solidFill>
                  <a:sysClr val="windowText" lastClr="000000"/>
                </a:solidFill>
                <a:latin typeface="Calibri"/>
              </a:rPr>
              <a:t>Team validate discovery insights &amp; mutual opportunity with customer stakeholders</a:t>
            </a:r>
          </a:p>
          <a:p>
            <a:pPr marL="44054" indent="-44054" defTabSz="685800">
              <a:lnSpc>
                <a:spcPct val="90000"/>
              </a:lnSpc>
              <a:spcAft>
                <a:spcPts val="150"/>
              </a:spcAft>
              <a:buFont typeface="Arial" panose="020B0604020202020204" pitchFamily="34" charset="0"/>
              <a:buChar char="•"/>
              <a:defRPr/>
            </a:pPr>
            <a:r>
              <a:rPr lang="en-US" sz="525" kern="0" dirty="0">
                <a:solidFill>
                  <a:sysClr val="windowText" lastClr="000000"/>
                </a:solidFill>
                <a:latin typeface="Calibri"/>
              </a:rPr>
              <a:t>Teams present Customer Engagement Storyboard Account Plan</a:t>
            </a:r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1796430" y="1320736"/>
            <a:ext cx="995859" cy="1162586"/>
          </a:xfrm>
          <a:prstGeom prst="rect">
            <a:avLst/>
          </a:prstGeom>
          <a:solidFill>
            <a:schemeClr val="accent1">
              <a:lumMod val="20000"/>
              <a:lumOff val="80000"/>
              <a:alpha val="69804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t"/>
          <a:lstStyle/>
          <a:p>
            <a:pPr marL="86916" indent="-86916" defTabSz="685800">
              <a:buFont typeface="Arial"/>
              <a:buChar char="•"/>
              <a:defRPr/>
            </a:pPr>
            <a:endParaRPr lang="en-US" sz="525" kern="0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2822102" y="1320736"/>
            <a:ext cx="995859" cy="1172210"/>
          </a:xfrm>
          <a:prstGeom prst="rect">
            <a:avLst/>
          </a:prstGeom>
          <a:solidFill>
            <a:schemeClr val="accent1">
              <a:lumMod val="20000"/>
              <a:lumOff val="80000"/>
              <a:alpha val="69804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t"/>
          <a:lstStyle/>
          <a:p>
            <a:pPr>
              <a:spcAft>
                <a:spcPts val="450"/>
              </a:spcAft>
            </a:pPr>
            <a:endParaRPr lang="en-US" sz="525" b="1" kern="0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A1613B2C-1B3F-4517-A52E-0C990F55A980}"/>
              </a:ext>
            </a:extLst>
          </p:cNvPr>
          <p:cNvSpPr/>
          <p:nvPr/>
        </p:nvSpPr>
        <p:spPr>
          <a:xfrm>
            <a:off x="2854046" y="1346737"/>
            <a:ext cx="777510" cy="563231"/>
          </a:xfrm>
          <a:prstGeom prst="rect">
            <a:avLst/>
          </a:prstGeom>
          <a:solidFill>
            <a:srgbClr val="68ABFB">
              <a:alpha val="40000"/>
            </a:srgbClr>
          </a:solidFill>
          <a:ln w="3175" cap="flat" cmpd="sng" algn="ctr">
            <a:solidFill>
              <a:srgbClr val="68ABFB"/>
            </a:solidFill>
            <a:prstDash val="sysDash"/>
          </a:ln>
          <a:effectLst/>
        </p:spPr>
        <p:txBody>
          <a:bodyPr lIns="34290" rIns="34290" rtlCol="0" anchor="t"/>
          <a:lstStyle/>
          <a:p>
            <a:pPr defTabSz="685800">
              <a:spcBef>
                <a:spcPts val="75"/>
              </a:spcBef>
              <a:spcAft>
                <a:spcPts val="75"/>
              </a:spcAft>
            </a:pPr>
            <a:r>
              <a:rPr lang="en-US" sz="450" b="1" kern="0" dirty="0">
                <a:solidFill>
                  <a:sysClr val="windowText" lastClr="000000"/>
                </a:solidFill>
              </a:rPr>
              <a:t>Distinguishing Customer Engagement </a:t>
            </a:r>
            <a:r>
              <a:rPr lang="mr-IN" sz="450" b="1" kern="0" dirty="0">
                <a:solidFill>
                  <a:sysClr val="windowText" lastClr="000000"/>
                </a:solidFill>
                <a:latin typeface="Mangal"/>
              </a:rPr>
              <a:t>–</a:t>
            </a:r>
            <a:r>
              <a:rPr lang="en-US" sz="450" b="1" kern="0" dirty="0">
                <a:solidFill>
                  <a:sysClr val="windowText" lastClr="000000"/>
                </a:solidFill>
              </a:rPr>
              <a:t> II </a:t>
            </a:r>
            <a:r>
              <a:rPr lang="en-US" sz="375" kern="0" dirty="0">
                <a:solidFill>
                  <a:sysClr val="windowText" lastClr="000000"/>
                </a:solidFill>
              </a:rPr>
              <a:t>(Virtual and/or live / 90 </a:t>
            </a:r>
            <a:r>
              <a:rPr lang="mr-IN" sz="375" kern="0" dirty="0">
                <a:solidFill>
                  <a:sysClr val="windowText" lastClr="000000"/>
                </a:solidFill>
              </a:rPr>
              <a:t>–</a:t>
            </a:r>
            <a:r>
              <a:rPr lang="en-US" sz="375" kern="0" dirty="0">
                <a:solidFill>
                  <a:sysClr val="windowText" lastClr="000000"/>
                </a:solidFill>
              </a:rPr>
              <a:t> 120 min.)</a:t>
            </a:r>
            <a:endParaRPr lang="en-US" sz="450" b="1" kern="0" dirty="0">
              <a:solidFill>
                <a:sysClr val="windowText" lastClr="000000"/>
              </a:solidFill>
            </a:endParaRPr>
          </a:p>
          <a:p>
            <a:pPr marL="44054" indent="-44054" defTabSz="685800">
              <a:lnSpc>
                <a:spcPct val="80000"/>
              </a:lnSpc>
              <a:spcBef>
                <a:spcPts val="75"/>
              </a:spcBef>
              <a:spcAft>
                <a:spcPts val="75"/>
              </a:spcAft>
              <a:buFont typeface="Arial" panose="020B0604020202020204" pitchFamily="34" charset="0"/>
              <a:buChar char="•"/>
              <a:defRPr/>
            </a:pPr>
            <a:r>
              <a:rPr lang="en-US" sz="450" kern="0" dirty="0">
                <a:solidFill>
                  <a:sysClr val="windowText" lastClr="000000"/>
                </a:solidFill>
              </a:rPr>
              <a:t>Elevate &amp; Expand Relationships</a:t>
            </a:r>
          </a:p>
          <a:p>
            <a:pPr defTabSz="685800">
              <a:spcBef>
                <a:spcPts val="75"/>
              </a:spcBef>
              <a:spcAft>
                <a:spcPts val="75"/>
              </a:spcAft>
            </a:pPr>
            <a:endParaRPr lang="en-US" sz="450" b="1" kern="0" dirty="0">
              <a:solidFill>
                <a:sysClr val="windowText" lastClr="000000"/>
              </a:solidFill>
            </a:endParaRPr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3840952" y="1320736"/>
            <a:ext cx="995859" cy="1172210"/>
          </a:xfrm>
          <a:prstGeom prst="rect">
            <a:avLst/>
          </a:prstGeom>
          <a:solidFill>
            <a:srgbClr val="C1D9FF"/>
          </a:solidFill>
          <a:ln w="25400" cap="flat" cmpd="sng" algn="ctr">
            <a:noFill/>
            <a:prstDash val="solid"/>
          </a:ln>
          <a:effectLst/>
        </p:spPr>
        <p:txBody>
          <a:bodyPr rtlCol="0" anchor="t"/>
          <a:lstStyle/>
          <a:p>
            <a:pPr defTabSz="685800">
              <a:lnSpc>
                <a:spcPct val="90000"/>
              </a:lnSpc>
              <a:spcAft>
                <a:spcPts val="150"/>
              </a:spcAft>
              <a:defRPr/>
            </a:pPr>
            <a:r>
              <a:rPr lang="en-US" sz="525" b="1" kern="0" dirty="0">
                <a:solidFill>
                  <a:sysClr val="windowText" lastClr="000000"/>
                </a:solidFill>
                <a:latin typeface="Calibri"/>
              </a:rPr>
              <a:t>BEST </a:t>
            </a:r>
            <a:r>
              <a:rPr lang="mr-IN" sz="525" b="1" kern="0" dirty="0">
                <a:solidFill>
                  <a:sysClr val="windowText" lastClr="000000"/>
                </a:solidFill>
                <a:latin typeface="Calibri"/>
              </a:rPr>
              <a:t>–</a:t>
            </a:r>
            <a:r>
              <a:rPr lang="en-US" sz="525" b="1" kern="0" dirty="0">
                <a:solidFill>
                  <a:sysClr val="windowText" lastClr="000000"/>
                </a:solidFill>
                <a:latin typeface="Calibri"/>
              </a:rPr>
              <a:t> Customer Engagement Strategies &amp; Tactics </a:t>
            </a:r>
            <a:r>
              <a:rPr lang="en-US" sz="375" kern="0" dirty="0">
                <a:solidFill>
                  <a:sysClr val="windowText" lastClr="000000"/>
                </a:solidFill>
                <a:latin typeface="Calibri"/>
              </a:rPr>
              <a:t>(live / 1.5 </a:t>
            </a:r>
            <a:r>
              <a:rPr lang="mr-IN" sz="375" kern="0" dirty="0">
                <a:solidFill>
                  <a:sysClr val="windowText" lastClr="000000"/>
                </a:solidFill>
                <a:latin typeface="Calibri"/>
              </a:rPr>
              <a:t>–</a:t>
            </a:r>
            <a:r>
              <a:rPr lang="en-US" sz="375" kern="0" dirty="0">
                <a:solidFill>
                  <a:sysClr val="windowText" lastClr="000000"/>
                </a:solidFill>
                <a:latin typeface="Calibri"/>
              </a:rPr>
              <a:t> 2 days)</a:t>
            </a:r>
          </a:p>
          <a:p>
            <a:pPr marL="44054" indent="-44054" defTabSz="685800">
              <a:lnSpc>
                <a:spcPct val="90000"/>
              </a:lnSpc>
              <a:spcBef>
                <a:spcPts val="150"/>
              </a:spcBef>
              <a:spcAft>
                <a:spcPts val="225"/>
              </a:spcAft>
              <a:buFont typeface="Arial" panose="020B0604020202020204" pitchFamily="34" charset="0"/>
              <a:buChar char="•"/>
              <a:defRPr/>
            </a:pPr>
            <a:r>
              <a:rPr lang="en-US" sz="488" kern="0" dirty="0">
                <a:solidFill>
                  <a:sysClr val="windowText" lastClr="000000"/>
                </a:solidFill>
                <a:latin typeface="Calibri"/>
              </a:rPr>
              <a:t>Business case driven, real-world, simulation</a:t>
            </a:r>
          </a:p>
          <a:p>
            <a:pPr marL="44054" indent="-44054" defTabSz="685800">
              <a:lnSpc>
                <a:spcPct val="90000"/>
              </a:lnSpc>
              <a:spcBef>
                <a:spcPts val="150"/>
              </a:spcBef>
              <a:spcAft>
                <a:spcPts val="225"/>
              </a:spcAft>
              <a:buFont typeface="Arial" panose="020B0604020202020204" pitchFamily="34" charset="0"/>
              <a:buChar char="•"/>
              <a:defRPr/>
            </a:pPr>
            <a:r>
              <a:rPr lang="en-US" sz="488" kern="0" dirty="0">
                <a:solidFill>
                  <a:sysClr val="windowText" lastClr="000000"/>
                </a:solidFill>
                <a:latin typeface="Calibri"/>
              </a:rPr>
              <a:t>Customer Engagement Real Plays</a:t>
            </a:r>
          </a:p>
          <a:p>
            <a:pPr marL="44054" indent="-44054" defTabSz="685800">
              <a:lnSpc>
                <a:spcPct val="90000"/>
              </a:lnSpc>
              <a:spcBef>
                <a:spcPts val="150"/>
              </a:spcBef>
              <a:spcAft>
                <a:spcPts val="225"/>
              </a:spcAft>
              <a:buFont typeface="Arial" panose="020B0604020202020204" pitchFamily="34" charset="0"/>
              <a:buChar char="•"/>
              <a:defRPr/>
            </a:pPr>
            <a:r>
              <a:rPr lang="en-US" sz="488" kern="0" dirty="0">
                <a:solidFill>
                  <a:sysClr val="windowText" lastClr="000000"/>
                </a:solidFill>
                <a:latin typeface="Calibri"/>
              </a:rPr>
              <a:t>Application of principles &amp; tools (Discover &amp; Define stages)</a:t>
            </a:r>
          </a:p>
        </p:txBody>
      </p:sp>
      <p:sp>
        <p:nvSpPr>
          <p:cNvPr id="155" name="Rectangle 154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4861574" y="1320736"/>
            <a:ext cx="995859" cy="1172210"/>
          </a:xfrm>
          <a:prstGeom prst="rect">
            <a:avLst/>
          </a:prstGeom>
          <a:solidFill>
            <a:schemeClr val="accent1">
              <a:lumMod val="20000"/>
              <a:lumOff val="80000"/>
              <a:alpha val="69804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t"/>
          <a:lstStyle/>
          <a:p>
            <a:pPr defTabSz="685800">
              <a:spcAft>
                <a:spcPts val="450"/>
              </a:spcAft>
              <a:defRPr/>
            </a:pPr>
            <a:endParaRPr lang="en-US" sz="525" b="1" kern="0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A1613B2C-1B3F-4517-A52E-0C990F55A980}"/>
              </a:ext>
            </a:extLst>
          </p:cNvPr>
          <p:cNvSpPr/>
          <p:nvPr/>
        </p:nvSpPr>
        <p:spPr>
          <a:xfrm>
            <a:off x="4927588" y="1361063"/>
            <a:ext cx="636205" cy="225160"/>
          </a:xfrm>
          <a:prstGeom prst="rect">
            <a:avLst/>
          </a:prstGeom>
          <a:solidFill>
            <a:srgbClr val="68ABFB">
              <a:alpha val="40000"/>
            </a:srgbClr>
          </a:solidFill>
          <a:ln w="3175" cap="flat" cmpd="sng" algn="ctr">
            <a:solidFill>
              <a:srgbClr val="68ABFB"/>
            </a:solidFill>
            <a:prstDash val="sysDash"/>
          </a:ln>
          <a:effectLst/>
        </p:spPr>
        <p:txBody>
          <a:bodyPr lIns="68580" rtlCol="0" anchor="ctr"/>
          <a:lstStyle/>
          <a:p>
            <a:pPr algn="ctr" defTabSz="685766">
              <a:lnSpc>
                <a:spcPct val="90000"/>
              </a:lnSpc>
            </a:pPr>
            <a:r>
              <a:rPr lang="en-US" sz="488" kern="0" dirty="0">
                <a:solidFill>
                  <a:sysClr val="windowText" lastClr="000000"/>
                </a:solidFill>
                <a:latin typeface="Calibri"/>
              </a:rPr>
              <a:t>Define Value-Enabled Solutions</a:t>
            </a:r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A1613B2C-1B3F-4517-A52E-0C990F55A980}"/>
              </a:ext>
            </a:extLst>
          </p:cNvPr>
          <p:cNvSpPr/>
          <p:nvPr/>
        </p:nvSpPr>
        <p:spPr>
          <a:xfrm>
            <a:off x="5015385" y="1639920"/>
            <a:ext cx="636205" cy="225160"/>
          </a:xfrm>
          <a:prstGeom prst="rect">
            <a:avLst/>
          </a:prstGeom>
          <a:solidFill>
            <a:srgbClr val="68ABFB">
              <a:alpha val="40000"/>
            </a:srgbClr>
          </a:solidFill>
          <a:ln w="3175" cap="flat" cmpd="sng" algn="ctr">
            <a:solidFill>
              <a:srgbClr val="68ABFB"/>
            </a:solidFill>
            <a:prstDash val="sysDash"/>
          </a:ln>
          <a:effectLst/>
        </p:spPr>
        <p:txBody>
          <a:bodyPr lIns="68580" rtlCol="0" anchor="ctr"/>
          <a:lstStyle/>
          <a:p>
            <a:pPr algn="ctr" defTabSz="685766">
              <a:lnSpc>
                <a:spcPct val="90000"/>
              </a:lnSpc>
            </a:pPr>
            <a:r>
              <a:rPr lang="en-US" sz="488" kern="0" dirty="0">
                <a:solidFill>
                  <a:sysClr val="windowText" lastClr="000000"/>
                </a:solidFill>
                <a:latin typeface="Calibri"/>
              </a:rPr>
              <a:t>Engage &amp; Align Internal Resources</a:t>
            </a:r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A1613B2C-1B3F-4517-A52E-0C990F55A980}"/>
              </a:ext>
            </a:extLst>
          </p:cNvPr>
          <p:cNvSpPr/>
          <p:nvPr/>
        </p:nvSpPr>
        <p:spPr>
          <a:xfrm>
            <a:off x="5103183" y="1918778"/>
            <a:ext cx="636205" cy="225160"/>
          </a:xfrm>
          <a:prstGeom prst="rect">
            <a:avLst/>
          </a:prstGeom>
          <a:solidFill>
            <a:srgbClr val="68ABFB">
              <a:alpha val="40000"/>
            </a:srgbClr>
          </a:solidFill>
          <a:ln w="3175" cap="flat" cmpd="sng" algn="ctr">
            <a:solidFill>
              <a:srgbClr val="68ABFB"/>
            </a:solidFill>
            <a:prstDash val="sysDash"/>
          </a:ln>
          <a:effectLst/>
        </p:spPr>
        <p:txBody>
          <a:bodyPr lIns="68580" rtlCol="0" anchor="ctr"/>
          <a:lstStyle/>
          <a:p>
            <a:pPr algn="ctr" defTabSz="685766">
              <a:lnSpc>
                <a:spcPct val="90000"/>
              </a:lnSpc>
            </a:pPr>
            <a:r>
              <a:rPr lang="en-US" sz="488" kern="0" dirty="0">
                <a:solidFill>
                  <a:sysClr val="windowText" lastClr="000000"/>
                </a:solidFill>
                <a:latin typeface="Calibri"/>
              </a:rPr>
              <a:t>Competitive Position  – SWOT / Value Canvas</a:t>
            </a:r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A1613B2C-1B3F-4517-A52E-0C990F55A980}"/>
              </a:ext>
            </a:extLst>
          </p:cNvPr>
          <p:cNvSpPr/>
          <p:nvPr/>
        </p:nvSpPr>
        <p:spPr>
          <a:xfrm>
            <a:off x="5204465" y="2197636"/>
            <a:ext cx="636205" cy="225160"/>
          </a:xfrm>
          <a:prstGeom prst="rect">
            <a:avLst/>
          </a:prstGeom>
          <a:solidFill>
            <a:srgbClr val="68ABFB">
              <a:alpha val="40000"/>
            </a:srgbClr>
          </a:solidFill>
          <a:ln w="3175" cap="flat" cmpd="sng" algn="ctr">
            <a:solidFill>
              <a:srgbClr val="68ABFB"/>
            </a:solidFill>
            <a:prstDash val="sysDash"/>
          </a:ln>
          <a:effectLst/>
        </p:spPr>
        <p:txBody>
          <a:bodyPr lIns="68580" rtlCol="0" anchor="ctr"/>
          <a:lstStyle/>
          <a:p>
            <a:pPr algn="ctr" defTabSz="685766">
              <a:lnSpc>
                <a:spcPct val="90000"/>
              </a:lnSpc>
            </a:pPr>
            <a:r>
              <a:rPr lang="en-US" sz="488" kern="0" dirty="0">
                <a:solidFill>
                  <a:sysClr val="windowText" lastClr="000000"/>
                </a:solidFill>
                <a:latin typeface="Calibri"/>
              </a:rPr>
              <a:t>Personalized Value Proposition / Business Case</a:t>
            </a:r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6906683" y="1323217"/>
            <a:ext cx="995859" cy="1162288"/>
          </a:xfrm>
          <a:prstGeom prst="rect">
            <a:avLst/>
          </a:prstGeom>
          <a:solidFill>
            <a:srgbClr val="4BACC6">
              <a:lumMod val="40000"/>
              <a:lumOff val="6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t"/>
          <a:lstStyle/>
          <a:p>
            <a:pPr defTabSz="685800">
              <a:lnSpc>
                <a:spcPct val="90000"/>
              </a:lnSpc>
              <a:spcAft>
                <a:spcPts val="300"/>
              </a:spcAft>
              <a:defRPr/>
            </a:pPr>
            <a:endParaRPr lang="en-US" sz="525" b="1" kern="0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A1613B2C-1B3F-4517-A52E-0C990F55A980}"/>
              </a:ext>
            </a:extLst>
          </p:cNvPr>
          <p:cNvSpPr/>
          <p:nvPr/>
        </p:nvSpPr>
        <p:spPr>
          <a:xfrm>
            <a:off x="6972287" y="1376845"/>
            <a:ext cx="873870" cy="303836"/>
          </a:xfrm>
          <a:prstGeom prst="rect">
            <a:avLst/>
          </a:prstGeom>
          <a:solidFill>
            <a:srgbClr val="4BACC6">
              <a:lumMod val="20000"/>
              <a:lumOff val="80000"/>
            </a:srgbClr>
          </a:solidFill>
          <a:ln w="3175" cap="flat" cmpd="sng" algn="ctr">
            <a:solidFill>
              <a:srgbClr val="4BACC6">
                <a:lumMod val="50000"/>
              </a:srgbClr>
            </a:solidFill>
            <a:prstDash val="sysDash"/>
          </a:ln>
          <a:effectLst/>
        </p:spPr>
        <p:txBody>
          <a:bodyPr lIns="68580" rtlCol="0" anchor="ctr"/>
          <a:lstStyle/>
          <a:p>
            <a:pPr algn="ctr" defTabSz="685800">
              <a:spcAft>
                <a:spcPts val="75"/>
              </a:spcAft>
              <a:defRPr/>
            </a:pPr>
            <a:r>
              <a:rPr lang="en-US" sz="525" kern="0" dirty="0">
                <a:solidFill>
                  <a:sysClr val="windowText" lastClr="000000"/>
                </a:solidFill>
                <a:latin typeface="Calibri"/>
              </a:rPr>
              <a:t>Account Review</a:t>
            </a:r>
          </a:p>
          <a:p>
            <a:pPr algn="ctr" defTabSz="685800">
              <a:lnSpc>
                <a:spcPct val="90000"/>
              </a:lnSpc>
              <a:spcAft>
                <a:spcPts val="300"/>
              </a:spcAft>
              <a:defRPr/>
            </a:pPr>
            <a:r>
              <a:rPr lang="en-US" sz="375" kern="0" dirty="0">
                <a:solidFill>
                  <a:sysClr val="windowText" lastClr="000000"/>
                </a:solidFill>
              </a:rPr>
              <a:t>(Virtual / 60 </a:t>
            </a:r>
            <a:r>
              <a:rPr lang="mr-IN" sz="375" kern="0" dirty="0">
                <a:solidFill>
                  <a:sysClr val="windowText" lastClr="000000"/>
                </a:solidFill>
              </a:rPr>
              <a:t>–</a:t>
            </a:r>
            <a:r>
              <a:rPr lang="en-US" sz="375" kern="0" dirty="0">
                <a:solidFill>
                  <a:sysClr val="windowText" lastClr="000000"/>
                </a:solidFill>
              </a:rPr>
              <a:t> 90 min)</a:t>
            </a:r>
            <a:endParaRPr lang="en-US" sz="525" kern="0" dirty="0">
              <a:solidFill>
                <a:sysClr val="windowText" lastClr="000000"/>
              </a:solidFill>
            </a:endParaRPr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A1613B2C-1B3F-4517-A52E-0C990F55A980}"/>
              </a:ext>
            </a:extLst>
          </p:cNvPr>
          <p:cNvSpPr/>
          <p:nvPr/>
        </p:nvSpPr>
        <p:spPr>
          <a:xfrm>
            <a:off x="6972287" y="1711967"/>
            <a:ext cx="873870" cy="387332"/>
          </a:xfrm>
          <a:prstGeom prst="rect">
            <a:avLst/>
          </a:prstGeom>
          <a:solidFill>
            <a:srgbClr val="4BACC6">
              <a:lumMod val="20000"/>
              <a:lumOff val="80000"/>
            </a:srgbClr>
          </a:solidFill>
          <a:ln w="3175" cap="flat" cmpd="sng" algn="ctr">
            <a:solidFill>
              <a:srgbClr val="4BACC6">
                <a:lumMod val="50000"/>
              </a:srgbClr>
            </a:solidFill>
            <a:prstDash val="sysDash"/>
          </a:ln>
          <a:effectLst/>
        </p:spPr>
        <p:txBody>
          <a:bodyPr lIns="68580" rtlCol="0" anchor="ctr"/>
          <a:lstStyle/>
          <a:p>
            <a:pPr algn="ctr" defTabSz="685800">
              <a:spcAft>
                <a:spcPts val="75"/>
              </a:spcAft>
              <a:defRPr/>
            </a:pPr>
            <a:r>
              <a:rPr lang="en-US" sz="525" i="1" kern="0" dirty="0">
                <a:solidFill>
                  <a:sysClr val="windowText" lastClr="000000"/>
                </a:solidFill>
                <a:latin typeface="Calibri"/>
              </a:rPr>
              <a:t>Key</a:t>
            </a:r>
            <a:r>
              <a:rPr lang="en-US" sz="525" kern="0" dirty="0">
                <a:solidFill>
                  <a:sysClr val="windowText" lastClr="000000"/>
                </a:solidFill>
                <a:latin typeface="Calibri"/>
              </a:rPr>
              <a:t> next steps &amp; resources to accelerate value + execute</a:t>
            </a:r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A1613B2C-1B3F-4517-A52E-0C990F55A980}"/>
              </a:ext>
            </a:extLst>
          </p:cNvPr>
          <p:cNvSpPr/>
          <p:nvPr/>
        </p:nvSpPr>
        <p:spPr>
          <a:xfrm>
            <a:off x="6976554" y="2130584"/>
            <a:ext cx="873870" cy="303836"/>
          </a:xfrm>
          <a:prstGeom prst="rect">
            <a:avLst/>
          </a:prstGeom>
          <a:solidFill>
            <a:srgbClr val="4BACC6">
              <a:lumMod val="20000"/>
              <a:lumOff val="80000"/>
            </a:srgbClr>
          </a:solidFill>
          <a:ln w="3175" cap="flat" cmpd="sng" algn="ctr">
            <a:solidFill>
              <a:srgbClr val="4BACC6">
                <a:lumMod val="50000"/>
              </a:srgbClr>
            </a:solidFill>
            <a:prstDash val="sysDash"/>
          </a:ln>
          <a:effectLst/>
        </p:spPr>
        <p:txBody>
          <a:bodyPr lIns="68580" rtlCol="0" anchor="ctr"/>
          <a:lstStyle/>
          <a:p>
            <a:pPr algn="ctr" defTabSz="685800">
              <a:spcAft>
                <a:spcPts val="75"/>
              </a:spcAft>
              <a:defRPr/>
            </a:pPr>
            <a:r>
              <a:rPr lang="en-US" sz="525" kern="0" dirty="0">
                <a:solidFill>
                  <a:sysClr val="windowText" lastClr="000000"/>
                </a:solidFill>
                <a:latin typeface="Calibri"/>
              </a:rPr>
              <a:t>Challenge </a:t>
            </a:r>
            <a:r>
              <a:rPr lang="en-US" sz="525" kern="0" dirty="0">
                <a:solidFill>
                  <a:sysClr val="windowText" lastClr="000000"/>
                </a:solidFill>
                <a:latin typeface="Calibri"/>
                <a:sym typeface="Wingdings"/>
              </a:rPr>
              <a:t> What Matters Next  Commit</a:t>
            </a:r>
            <a:endParaRPr lang="en-US" sz="525" kern="0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7928041" y="1323217"/>
            <a:ext cx="995859" cy="1157500"/>
          </a:xfrm>
          <a:prstGeom prst="rect">
            <a:avLst/>
          </a:prstGeom>
          <a:solidFill>
            <a:srgbClr val="C8B7E0"/>
          </a:solidFill>
          <a:ln w="25400" cap="flat" cmpd="sng" algn="ctr">
            <a:noFill/>
            <a:prstDash val="solid"/>
          </a:ln>
          <a:effectLst/>
        </p:spPr>
        <p:txBody>
          <a:bodyPr rtlCol="0" anchor="t"/>
          <a:lstStyle/>
          <a:p>
            <a:pPr defTabSz="685800">
              <a:spcAft>
                <a:spcPts val="450"/>
              </a:spcAft>
              <a:defRPr/>
            </a:pPr>
            <a:endParaRPr lang="en-US" sz="525" b="1" kern="0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167" name="Rectangle 166">
            <a:extLst>
              <a:ext uri="{FF2B5EF4-FFF2-40B4-BE49-F238E27FC236}">
                <a16:creationId xmlns:a16="http://schemas.microsoft.com/office/drawing/2014/main" id="{A1613B2C-1B3F-4517-A52E-0C990F55A980}"/>
              </a:ext>
            </a:extLst>
          </p:cNvPr>
          <p:cNvSpPr/>
          <p:nvPr/>
        </p:nvSpPr>
        <p:spPr>
          <a:xfrm>
            <a:off x="8032247" y="1351310"/>
            <a:ext cx="785370" cy="150099"/>
          </a:xfrm>
          <a:prstGeom prst="rect">
            <a:avLst/>
          </a:prstGeom>
          <a:solidFill>
            <a:srgbClr val="8064A2">
              <a:lumMod val="20000"/>
              <a:lumOff val="80000"/>
            </a:srgbClr>
          </a:solidFill>
          <a:ln w="3175" cap="flat" cmpd="sng" algn="ctr">
            <a:solidFill>
              <a:srgbClr val="8064A2">
                <a:lumMod val="50000"/>
              </a:srgbClr>
            </a:solidFill>
            <a:prstDash val="sysDash"/>
          </a:ln>
          <a:effectLst/>
        </p:spPr>
        <p:txBody>
          <a:bodyPr lIns="68580" rtlCol="0" anchor="ctr"/>
          <a:lstStyle/>
          <a:p>
            <a:pPr algn="ctr" defTabSz="685800">
              <a:lnSpc>
                <a:spcPct val="80000"/>
              </a:lnSpc>
              <a:defRPr/>
            </a:pPr>
            <a:r>
              <a:rPr lang="en-US" sz="450" kern="0" dirty="0">
                <a:solidFill>
                  <a:sysClr val="windowText" lastClr="000000"/>
                </a:solidFill>
                <a:latin typeface="Calibri"/>
              </a:rPr>
              <a:t>Leading High Performance Account Teams</a:t>
            </a:r>
          </a:p>
        </p:txBody>
      </p:sp>
      <p:sp>
        <p:nvSpPr>
          <p:cNvPr id="168" name="Rectangle 167">
            <a:extLst>
              <a:ext uri="{FF2B5EF4-FFF2-40B4-BE49-F238E27FC236}">
                <a16:creationId xmlns:a16="http://schemas.microsoft.com/office/drawing/2014/main" id="{A1613B2C-1B3F-4517-A52E-0C990F55A980}"/>
              </a:ext>
            </a:extLst>
          </p:cNvPr>
          <p:cNvSpPr/>
          <p:nvPr/>
        </p:nvSpPr>
        <p:spPr>
          <a:xfrm>
            <a:off x="8032247" y="1723748"/>
            <a:ext cx="785370" cy="150099"/>
          </a:xfrm>
          <a:prstGeom prst="rect">
            <a:avLst/>
          </a:prstGeom>
          <a:solidFill>
            <a:srgbClr val="8064A2">
              <a:lumMod val="20000"/>
              <a:lumOff val="80000"/>
            </a:srgbClr>
          </a:solidFill>
          <a:ln w="3175" cap="flat" cmpd="sng" algn="ctr">
            <a:solidFill>
              <a:srgbClr val="8064A2">
                <a:lumMod val="50000"/>
              </a:srgbClr>
            </a:solidFill>
            <a:prstDash val="sysDash"/>
          </a:ln>
          <a:effectLst/>
        </p:spPr>
        <p:txBody>
          <a:bodyPr lIns="0" rIns="0" rtlCol="0" anchor="ctr"/>
          <a:lstStyle/>
          <a:p>
            <a:pPr algn="ctr" defTabSz="685766">
              <a:lnSpc>
                <a:spcPct val="90000"/>
              </a:lnSpc>
              <a:defRPr/>
            </a:pPr>
            <a:r>
              <a:rPr lang="en-US" sz="450" kern="0" dirty="0">
                <a:solidFill>
                  <a:sysClr val="windowText" lastClr="000000"/>
                </a:solidFill>
                <a:latin typeface="Calibri"/>
              </a:rPr>
              <a:t>Value Exchange</a:t>
            </a:r>
          </a:p>
          <a:p>
            <a:pPr algn="ctr" defTabSz="685766">
              <a:lnSpc>
                <a:spcPct val="90000"/>
              </a:lnSpc>
              <a:defRPr/>
            </a:pPr>
            <a:r>
              <a:rPr lang="en-US" sz="353" kern="0" dirty="0">
                <a:solidFill>
                  <a:sysClr val="windowText" lastClr="000000"/>
                </a:solidFill>
                <a:latin typeface="Calibri"/>
              </a:rPr>
              <a:t>Leading Negotiation</a:t>
            </a:r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A1613B2C-1B3F-4517-A52E-0C990F55A980}"/>
              </a:ext>
            </a:extLst>
          </p:cNvPr>
          <p:cNvSpPr/>
          <p:nvPr/>
        </p:nvSpPr>
        <p:spPr>
          <a:xfrm>
            <a:off x="8032247" y="1909967"/>
            <a:ext cx="785370" cy="150099"/>
          </a:xfrm>
          <a:prstGeom prst="rect">
            <a:avLst/>
          </a:prstGeom>
          <a:solidFill>
            <a:srgbClr val="8064A2">
              <a:lumMod val="20000"/>
              <a:lumOff val="80000"/>
            </a:srgbClr>
          </a:solidFill>
          <a:ln w="3175" cap="flat" cmpd="sng" algn="ctr">
            <a:solidFill>
              <a:srgbClr val="8064A2">
                <a:lumMod val="50000"/>
              </a:srgbClr>
            </a:solidFill>
            <a:prstDash val="sysDash"/>
          </a:ln>
          <a:effectLst/>
        </p:spPr>
        <p:txBody>
          <a:bodyPr lIns="68580" rtlCol="0" anchor="ctr"/>
          <a:lstStyle/>
          <a:p>
            <a:pPr algn="ctr" defTabSz="685766">
              <a:lnSpc>
                <a:spcPct val="90000"/>
              </a:lnSpc>
              <a:defRPr/>
            </a:pPr>
            <a:r>
              <a:rPr lang="en-US" sz="450" kern="0" dirty="0">
                <a:solidFill>
                  <a:sysClr val="windowText" lastClr="000000"/>
                </a:solidFill>
                <a:latin typeface="Calibri"/>
              </a:rPr>
              <a:t>Strategic Thinking</a:t>
            </a:r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A1613B2C-1B3F-4517-A52E-0C990F55A980}"/>
              </a:ext>
            </a:extLst>
          </p:cNvPr>
          <p:cNvSpPr/>
          <p:nvPr/>
        </p:nvSpPr>
        <p:spPr>
          <a:xfrm>
            <a:off x="8032247" y="2096186"/>
            <a:ext cx="785370" cy="150099"/>
          </a:xfrm>
          <a:prstGeom prst="rect">
            <a:avLst/>
          </a:prstGeom>
          <a:solidFill>
            <a:srgbClr val="8064A2">
              <a:lumMod val="20000"/>
              <a:lumOff val="80000"/>
            </a:srgbClr>
          </a:solidFill>
          <a:ln w="3175" cap="flat" cmpd="sng" algn="ctr">
            <a:solidFill>
              <a:srgbClr val="8064A2">
                <a:lumMod val="50000"/>
              </a:srgbClr>
            </a:solidFill>
            <a:prstDash val="sysDash"/>
          </a:ln>
          <a:effectLst/>
        </p:spPr>
        <p:txBody>
          <a:bodyPr lIns="68580" rtlCol="0" anchor="ctr"/>
          <a:lstStyle/>
          <a:p>
            <a:pPr algn="ctr" defTabSz="685766">
              <a:lnSpc>
                <a:spcPct val="90000"/>
              </a:lnSpc>
              <a:defRPr/>
            </a:pPr>
            <a:r>
              <a:rPr lang="en-US" sz="450" kern="0" dirty="0">
                <a:solidFill>
                  <a:sysClr val="windowText" lastClr="000000"/>
                </a:solidFill>
                <a:latin typeface="Calibri"/>
              </a:rPr>
              <a:t>Executive Engagement</a:t>
            </a:r>
          </a:p>
          <a:p>
            <a:pPr algn="ctr" defTabSz="685766">
              <a:lnSpc>
                <a:spcPct val="90000"/>
              </a:lnSpc>
              <a:defRPr/>
            </a:pPr>
            <a:r>
              <a:rPr lang="en-US" sz="375" kern="0" dirty="0">
                <a:solidFill>
                  <a:sysClr val="windowText" lastClr="000000"/>
                </a:solidFill>
                <a:latin typeface="Calibri"/>
              </a:rPr>
              <a:t>Crucial Conversations</a:t>
            </a:r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A1613B2C-1B3F-4517-A52E-0C990F55A980}"/>
              </a:ext>
            </a:extLst>
          </p:cNvPr>
          <p:cNvSpPr/>
          <p:nvPr/>
        </p:nvSpPr>
        <p:spPr>
          <a:xfrm>
            <a:off x="8026344" y="1537529"/>
            <a:ext cx="799080" cy="150099"/>
          </a:xfrm>
          <a:prstGeom prst="rect">
            <a:avLst/>
          </a:prstGeom>
          <a:solidFill>
            <a:srgbClr val="8064A2">
              <a:lumMod val="20000"/>
              <a:lumOff val="80000"/>
            </a:srgbClr>
          </a:solidFill>
          <a:ln w="3175" cap="flat" cmpd="sng" algn="ctr">
            <a:solidFill>
              <a:srgbClr val="8064A2">
                <a:lumMod val="50000"/>
              </a:srgbClr>
            </a:solidFill>
            <a:prstDash val="sysDash"/>
          </a:ln>
          <a:effectLst/>
        </p:spPr>
        <p:txBody>
          <a:bodyPr lIns="0" rIns="0" rtlCol="0" anchor="ctr"/>
          <a:lstStyle/>
          <a:p>
            <a:pPr algn="ctr" defTabSz="685766">
              <a:lnSpc>
                <a:spcPct val="90000"/>
              </a:lnSpc>
              <a:defRPr/>
            </a:pPr>
            <a:r>
              <a:rPr lang="en-US" sz="450" kern="0" dirty="0">
                <a:solidFill>
                  <a:sysClr val="windowText" lastClr="000000"/>
                </a:solidFill>
                <a:latin typeface="Calibri"/>
              </a:rPr>
              <a:t>Value Quantification</a:t>
            </a:r>
          </a:p>
          <a:p>
            <a:pPr algn="ctr" defTabSz="685766">
              <a:lnSpc>
                <a:spcPct val="90000"/>
              </a:lnSpc>
              <a:defRPr/>
            </a:pPr>
            <a:r>
              <a:rPr lang="en-US" sz="353" kern="0" dirty="0">
                <a:solidFill>
                  <a:sysClr val="windowText" lastClr="000000"/>
                </a:solidFill>
                <a:latin typeface="Calibri"/>
              </a:rPr>
              <a:t>Understanding Customer Financials</a:t>
            </a:r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A1613B2C-1B3F-4517-A52E-0C990F55A980}"/>
              </a:ext>
            </a:extLst>
          </p:cNvPr>
          <p:cNvSpPr/>
          <p:nvPr/>
        </p:nvSpPr>
        <p:spPr>
          <a:xfrm>
            <a:off x="8032247" y="2282406"/>
            <a:ext cx="785370" cy="150099"/>
          </a:xfrm>
          <a:prstGeom prst="rect">
            <a:avLst/>
          </a:prstGeom>
          <a:solidFill>
            <a:srgbClr val="8064A2">
              <a:lumMod val="20000"/>
              <a:lumOff val="80000"/>
            </a:srgbClr>
          </a:solidFill>
          <a:ln w="3175" cap="flat" cmpd="sng" algn="ctr">
            <a:solidFill>
              <a:srgbClr val="8064A2">
                <a:lumMod val="50000"/>
              </a:srgbClr>
            </a:solidFill>
            <a:prstDash val="sysDash"/>
          </a:ln>
          <a:effectLst/>
        </p:spPr>
        <p:txBody>
          <a:bodyPr lIns="68580" rtlCol="0" anchor="ctr"/>
          <a:lstStyle/>
          <a:p>
            <a:pPr algn="ctr" defTabSz="685766">
              <a:lnSpc>
                <a:spcPct val="90000"/>
              </a:lnSpc>
              <a:defRPr/>
            </a:pPr>
            <a:r>
              <a:rPr lang="en-US" sz="450" kern="0" dirty="0">
                <a:solidFill>
                  <a:sysClr val="windowText" lastClr="000000"/>
                </a:solidFill>
                <a:latin typeface="Calibri"/>
              </a:rPr>
              <a:t>SAM Masters</a:t>
            </a:r>
            <a:endParaRPr lang="en-US" sz="375" kern="0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A1613B2C-1B3F-4517-A52E-0C990F55A980}"/>
              </a:ext>
            </a:extLst>
          </p:cNvPr>
          <p:cNvSpPr/>
          <p:nvPr/>
        </p:nvSpPr>
        <p:spPr>
          <a:xfrm>
            <a:off x="1834602" y="1742249"/>
            <a:ext cx="909828" cy="388336"/>
          </a:xfrm>
          <a:prstGeom prst="rect">
            <a:avLst/>
          </a:prstGeom>
          <a:solidFill>
            <a:srgbClr val="68ABFB">
              <a:alpha val="40000"/>
            </a:srgbClr>
          </a:solidFill>
          <a:ln w="3175" cap="flat" cmpd="sng" algn="ctr">
            <a:solidFill>
              <a:srgbClr val="68ABFB"/>
            </a:solidFill>
            <a:prstDash val="sysDash"/>
          </a:ln>
          <a:effectLst/>
        </p:spPr>
        <p:txBody>
          <a:bodyPr lIns="34290" rIns="34290" rtlCol="0" anchor="t"/>
          <a:lstStyle/>
          <a:p>
            <a:pPr defTabSz="685800">
              <a:spcAft>
                <a:spcPts val="75"/>
              </a:spcAft>
              <a:defRPr/>
            </a:pPr>
            <a:r>
              <a:rPr lang="en-US" sz="450" b="1" kern="0" dirty="0">
                <a:solidFill>
                  <a:sysClr val="windowText" lastClr="000000"/>
                </a:solidFill>
              </a:rPr>
              <a:t>Distinguishing Customer Engagement </a:t>
            </a:r>
            <a:r>
              <a:rPr lang="mr-IN" sz="450" b="1" kern="0" dirty="0">
                <a:solidFill>
                  <a:sysClr val="windowText" lastClr="000000"/>
                </a:solidFill>
                <a:latin typeface="Mangal"/>
              </a:rPr>
              <a:t>–</a:t>
            </a:r>
            <a:r>
              <a:rPr lang="en-US" sz="450" b="1" kern="0" dirty="0">
                <a:solidFill>
                  <a:sysClr val="windowText" lastClr="000000"/>
                </a:solidFill>
              </a:rPr>
              <a:t> I </a:t>
            </a:r>
            <a:r>
              <a:rPr lang="en-US" sz="375" kern="0" dirty="0">
                <a:solidFill>
                  <a:sysClr val="windowText" lastClr="000000"/>
                </a:solidFill>
              </a:rPr>
              <a:t>(SCG Nat Meet / 3 hr.)</a:t>
            </a:r>
          </a:p>
          <a:p>
            <a:pPr marL="44054" indent="-44054" defTabSz="685800">
              <a:lnSpc>
                <a:spcPct val="80000"/>
              </a:lnSpc>
              <a:spcBef>
                <a:spcPts val="75"/>
              </a:spcBef>
              <a:spcAft>
                <a:spcPts val="75"/>
              </a:spcAft>
              <a:buFont typeface="Arial" panose="020B0604020202020204" pitchFamily="34" charset="0"/>
              <a:buChar char="•"/>
              <a:defRPr/>
            </a:pPr>
            <a:r>
              <a:rPr lang="en-US" sz="450" kern="0" dirty="0">
                <a:solidFill>
                  <a:sysClr val="windowText" lastClr="000000"/>
                </a:solidFill>
              </a:rPr>
              <a:t>Discover Deep Dive</a:t>
            </a:r>
          </a:p>
          <a:p>
            <a:pPr marL="44054" indent="-44054" defTabSz="685800">
              <a:lnSpc>
                <a:spcPct val="80000"/>
              </a:lnSpc>
              <a:spcBef>
                <a:spcPts val="75"/>
              </a:spcBef>
              <a:spcAft>
                <a:spcPts val="75"/>
              </a:spcAft>
              <a:buFont typeface="Arial" panose="020B0604020202020204" pitchFamily="34" charset="0"/>
              <a:buChar char="•"/>
              <a:defRPr/>
            </a:pPr>
            <a:r>
              <a:rPr lang="en-US" sz="450" kern="0" dirty="0">
                <a:solidFill>
                  <a:sysClr val="windowText" lastClr="000000"/>
                </a:solidFill>
              </a:rPr>
              <a:t>What Matters Next?</a:t>
            </a:r>
          </a:p>
        </p:txBody>
      </p:sp>
      <p:sp>
        <p:nvSpPr>
          <p:cNvPr id="174" name="Rectangle 173">
            <a:extLst>
              <a:ext uri="{FF2B5EF4-FFF2-40B4-BE49-F238E27FC236}">
                <a16:creationId xmlns:a16="http://schemas.microsoft.com/office/drawing/2014/main" id="{A1613B2C-1B3F-4517-A52E-0C990F55A980}"/>
              </a:ext>
            </a:extLst>
          </p:cNvPr>
          <p:cNvSpPr/>
          <p:nvPr/>
        </p:nvSpPr>
        <p:spPr>
          <a:xfrm>
            <a:off x="1835895" y="1349592"/>
            <a:ext cx="909828" cy="354295"/>
          </a:xfrm>
          <a:prstGeom prst="rect">
            <a:avLst/>
          </a:prstGeom>
          <a:solidFill>
            <a:srgbClr val="68ABFB">
              <a:alpha val="40000"/>
            </a:srgbClr>
          </a:solidFill>
          <a:ln w="3175" cap="flat" cmpd="sng" algn="ctr">
            <a:solidFill>
              <a:srgbClr val="68ABFB"/>
            </a:solidFill>
            <a:prstDash val="sysDash"/>
          </a:ln>
          <a:effectLst/>
        </p:spPr>
        <p:txBody>
          <a:bodyPr lIns="34290" rIns="34290" rtlCol="0" anchor="t"/>
          <a:lstStyle/>
          <a:p>
            <a:pPr defTabSz="685800">
              <a:spcBef>
                <a:spcPts val="75"/>
              </a:spcBef>
              <a:spcAft>
                <a:spcPts val="75"/>
              </a:spcAft>
              <a:defRPr/>
            </a:pPr>
            <a:r>
              <a:rPr lang="en-US" sz="450" b="1" kern="0" dirty="0">
                <a:solidFill>
                  <a:sysClr val="windowText" lastClr="000000"/>
                </a:solidFill>
              </a:rPr>
              <a:t>Distinguishing Customer Engagement </a:t>
            </a:r>
            <a:r>
              <a:rPr lang="mr-IN" sz="450" b="1" kern="0" dirty="0">
                <a:solidFill>
                  <a:sysClr val="windowText" lastClr="000000"/>
                </a:solidFill>
                <a:latin typeface="Mangal"/>
              </a:rPr>
              <a:t>–</a:t>
            </a:r>
            <a:r>
              <a:rPr lang="en-US" sz="450" b="1" kern="0" dirty="0">
                <a:solidFill>
                  <a:sysClr val="windowText" lastClr="000000"/>
                </a:solidFill>
              </a:rPr>
              <a:t> I </a:t>
            </a:r>
            <a:r>
              <a:rPr lang="en-US" sz="375" kern="0" dirty="0">
                <a:solidFill>
                  <a:sysClr val="windowText" lastClr="000000"/>
                </a:solidFill>
              </a:rPr>
              <a:t>(Virtual) / 90 min.)</a:t>
            </a:r>
            <a:endParaRPr lang="en-US" sz="450" kern="0" dirty="0">
              <a:solidFill>
                <a:sysClr val="windowText" lastClr="000000"/>
              </a:solidFill>
            </a:endParaRPr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A1613B2C-1B3F-4517-A52E-0C990F55A980}"/>
              </a:ext>
            </a:extLst>
          </p:cNvPr>
          <p:cNvSpPr/>
          <p:nvPr/>
        </p:nvSpPr>
        <p:spPr>
          <a:xfrm>
            <a:off x="1834602" y="2181885"/>
            <a:ext cx="909828" cy="240911"/>
          </a:xfrm>
          <a:prstGeom prst="rect">
            <a:avLst/>
          </a:prstGeom>
          <a:solidFill>
            <a:srgbClr val="68ABFB">
              <a:alpha val="40000"/>
            </a:srgbClr>
          </a:solidFill>
          <a:ln w="3175" cap="flat" cmpd="sng" algn="ctr">
            <a:solidFill>
              <a:srgbClr val="68ABFB"/>
            </a:solidFill>
            <a:prstDash val="sysDash"/>
          </a:ln>
          <a:effectLst/>
        </p:spPr>
        <p:txBody>
          <a:bodyPr lIns="34290" rIns="34290" rtlCol="0" anchor="t"/>
          <a:lstStyle/>
          <a:p>
            <a:pPr defTabSz="685800">
              <a:spcAft>
                <a:spcPts val="75"/>
              </a:spcAft>
              <a:defRPr/>
            </a:pPr>
            <a:r>
              <a:rPr lang="en-US" sz="450" b="1" kern="0" dirty="0">
                <a:solidFill>
                  <a:sysClr val="windowText" lastClr="000000"/>
                </a:solidFill>
              </a:rPr>
              <a:t>Apply, Review &amp; Coach: Discover / Deepen Insights </a:t>
            </a:r>
            <a:r>
              <a:rPr lang="en-US" sz="375" kern="0" dirty="0">
                <a:solidFill>
                  <a:sysClr val="windowText" lastClr="000000"/>
                </a:solidFill>
              </a:rPr>
              <a:t>(Virtual / 90 min.)</a:t>
            </a:r>
            <a:endParaRPr lang="en-US" sz="450" kern="0" dirty="0">
              <a:solidFill>
                <a:sysClr val="windowText" lastClr="000000"/>
              </a:solidFill>
            </a:endParaRPr>
          </a:p>
          <a:p>
            <a:pPr defTabSz="685800">
              <a:spcAft>
                <a:spcPts val="75"/>
              </a:spcAft>
              <a:defRPr/>
            </a:pPr>
            <a:endParaRPr lang="en-US" sz="450" kern="0" dirty="0">
              <a:solidFill>
                <a:sysClr val="windowText" lastClr="000000"/>
              </a:solidFill>
            </a:endParaRPr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A1613B2C-1B3F-4517-A52E-0C990F55A980}"/>
              </a:ext>
            </a:extLst>
          </p:cNvPr>
          <p:cNvSpPr/>
          <p:nvPr/>
        </p:nvSpPr>
        <p:spPr>
          <a:xfrm>
            <a:off x="3007057" y="1999593"/>
            <a:ext cx="777510" cy="423203"/>
          </a:xfrm>
          <a:prstGeom prst="rect">
            <a:avLst/>
          </a:prstGeom>
          <a:solidFill>
            <a:srgbClr val="68ABFB">
              <a:alpha val="40000"/>
            </a:srgbClr>
          </a:solidFill>
          <a:ln w="3175" cap="flat" cmpd="sng" algn="ctr">
            <a:solidFill>
              <a:srgbClr val="68ABFB"/>
            </a:solidFill>
            <a:prstDash val="sysDash"/>
          </a:ln>
          <a:effectLst/>
        </p:spPr>
        <p:txBody>
          <a:bodyPr lIns="34290" rIns="34290" rtlCol="0" anchor="t"/>
          <a:lstStyle/>
          <a:p>
            <a:pPr defTabSz="685800">
              <a:spcBef>
                <a:spcPts val="75"/>
              </a:spcBef>
              <a:spcAft>
                <a:spcPts val="75"/>
              </a:spcAft>
            </a:pPr>
            <a:r>
              <a:rPr lang="en-US" sz="450" b="1" kern="0" dirty="0">
                <a:solidFill>
                  <a:sysClr val="windowText" lastClr="000000"/>
                </a:solidFill>
              </a:rPr>
              <a:t>Distinguishing Customer Engagement </a:t>
            </a:r>
            <a:r>
              <a:rPr lang="mr-IN" sz="450" b="1" kern="0" dirty="0">
                <a:solidFill>
                  <a:sysClr val="windowText" lastClr="000000"/>
                </a:solidFill>
                <a:latin typeface="Mangal"/>
              </a:rPr>
              <a:t>–</a:t>
            </a:r>
            <a:r>
              <a:rPr lang="en-US" sz="450" b="1" kern="0" dirty="0">
                <a:solidFill>
                  <a:sysClr val="windowText" lastClr="000000"/>
                </a:solidFill>
              </a:rPr>
              <a:t> II </a:t>
            </a:r>
            <a:r>
              <a:rPr lang="en-US" sz="375" kern="0" dirty="0">
                <a:solidFill>
                  <a:sysClr val="windowText" lastClr="000000"/>
                </a:solidFill>
              </a:rPr>
              <a:t>(Virtual and/or live / 90 </a:t>
            </a:r>
            <a:r>
              <a:rPr lang="mr-IN" sz="375" kern="0" dirty="0">
                <a:solidFill>
                  <a:sysClr val="windowText" lastClr="000000"/>
                </a:solidFill>
              </a:rPr>
              <a:t>–</a:t>
            </a:r>
            <a:r>
              <a:rPr lang="en-US" sz="375" kern="0" dirty="0">
                <a:solidFill>
                  <a:sysClr val="windowText" lastClr="000000"/>
                </a:solidFill>
              </a:rPr>
              <a:t> 120 min.)</a:t>
            </a:r>
            <a:endParaRPr lang="en-US" sz="450" b="1" kern="0" dirty="0">
              <a:solidFill>
                <a:sysClr val="windowText" lastClr="000000"/>
              </a:solidFill>
            </a:endParaRPr>
          </a:p>
          <a:p>
            <a:pPr marL="44054" indent="-44054" defTabSz="685800">
              <a:lnSpc>
                <a:spcPct val="80000"/>
              </a:lnSpc>
              <a:spcBef>
                <a:spcPts val="75"/>
              </a:spcBef>
              <a:spcAft>
                <a:spcPts val="75"/>
              </a:spcAft>
              <a:buFont typeface="Arial" panose="020B0604020202020204" pitchFamily="34" charset="0"/>
              <a:buChar char="•"/>
              <a:defRPr/>
            </a:pPr>
            <a:r>
              <a:rPr lang="en-US" sz="450" kern="0" dirty="0">
                <a:solidFill>
                  <a:sysClr val="windowText" lastClr="000000"/>
                </a:solidFill>
              </a:rPr>
              <a:t>Align &amp; Prioritize Opportunities</a:t>
            </a:r>
          </a:p>
          <a:p>
            <a:pPr defTabSz="685800">
              <a:spcBef>
                <a:spcPts val="75"/>
              </a:spcBef>
              <a:spcAft>
                <a:spcPts val="75"/>
              </a:spcAft>
            </a:pPr>
            <a:endParaRPr lang="en-US" sz="450" b="1" kern="0" dirty="0">
              <a:solidFill>
                <a:sysClr val="windowText" lastClr="000000"/>
              </a:solidFill>
            </a:endParaRP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187627B2-FECD-4457-8EA5-A283D4FA24FA}"/>
              </a:ext>
            </a:extLst>
          </p:cNvPr>
          <p:cNvSpPr/>
          <p:nvPr/>
        </p:nvSpPr>
        <p:spPr>
          <a:xfrm>
            <a:off x="5885756" y="854443"/>
            <a:ext cx="995859" cy="422060"/>
          </a:xfrm>
          <a:prstGeom prst="rect">
            <a:avLst/>
          </a:prstGeom>
          <a:solidFill>
            <a:srgbClr val="459FB7"/>
          </a:solidFill>
          <a:ln w="25400" cap="flat" cmpd="sng" algn="ctr">
            <a:noFill/>
            <a:prstDash val="solid"/>
          </a:ln>
          <a:effectLst/>
        </p:spPr>
        <p:txBody>
          <a:bodyPr rtlCol="0" anchor="t"/>
          <a:lstStyle/>
          <a:p>
            <a:pPr algn="ctr" defTabSz="685800">
              <a:spcBef>
                <a:spcPts val="150"/>
              </a:spcBef>
              <a:spcAft>
                <a:spcPts val="75"/>
              </a:spcAft>
              <a:defRPr/>
            </a:pPr>
            <a:r>
              <a:rPr lang="en-US" sz="675" b="1" kern="0" dirty="0">
                <a:solidFill>
                  <a:sysClr val="window" lastClr="FFFFFF"/>
                </a:solidFill>
                <a:latin typeface="Calibri"/>
              </a:rPr>
              <a:t>5. Elevate Customer Engagement </a:t>
            </a:r>
            <a:r>
              <a:rPr lang="en-US" sz="675" b="1" i="1" kern="0" dirty="0">
                <a:solidFill>
                  <a:sysClr val="window" lastClr="FFFFFF"/>
                </a:solidFill>
                <a:latin typeface="Calibri"/>
              </a:rPr>
              <a:t>- Live</a:t>
            </a:r>
          </a:p>
          <a:p>
            <a:pPr algn="ctr" defTabSz="685800">
              <a:spcBef>
                <a:spcPts val="150"/>
              </a:spcBef>
              <a:spcAft>
                <a:spcPts val="150"/>
              </a:spcAft>
              <a:defRPr/>
            </a:pPr>
            <a:r>
              <a:rPr lang="en-US" sz="450" kern="0" dirty="0">
                <a:solidFill>
                  <a:sysClr val="window" lastClr="FFFFFF"/>
                </a:solidFill>
                <a:latin typeface="Calibri"/>
              </a:rPr>
              <a:t>Strategic Account Plan / 1 day</a:t>
            </a: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1801175" y="854443"/>
            <a:ext cx="995859" cy="422060"/>
          </a:xfrm>
          <a:prstGeom prst="rect">
            <a:avLst/>
          </a:prstGeom>
          <a:solidFill>
            <a:schemeClr val="tx2">
              <a:alpha val="80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lIns="0" rIns="0" rtlCol="0" anchor="t"/>
          <a:lstStyle/>
          <a:p>
            <a:pPr algn="ctr" defTabSz="685800">
              <a:lnSpc>
                <a:spcPts val="713"/>
              </a:lnSpc>
              <a:spcBef>
                <a:spcPts val="75"/>
              </a:spcBef>
              <a:spcAft>
                <a:spcPts val="75"/>
              </a:spcAft>
              <a:defRPr/>
            </a:pPr>
            <a:r>
              <a:rPr lang="en-US" sz="675" b="1" kern="0" dirty="0">
                <a:solidFill>
                  <a:sysClr val="window" lastClr="FFFFFF"/>
                </a:solidFill>
                <a:latin typeface="Calibri"/>
              </a:rPr>
              <a:t>1. Distinguishing Customer Engagement I </a:t>
            </a:r>
            <a:r>
              <a:rPr lang="mr-IN" sz="675" b="1" kern="0" dirty="0">
                <a:solidFill>
                  <a:sysClr val="window" lastClr="FFFFFF"/>
                </a:solidFill>
                <a:latin typeface="Calibri"/>
              </a:rPr>
              <a:t>–</a:t>
            </a:r>
            <a:r>
              <a:rPr lang="en-US" sz="675" b="1" kern="0" dirty="0">
                <a:solidFill>
                  <a:sysClr val="window" lastClr="FFFFFF"/>
                </a:solidFill>
                <a:latin typeface="Calibri"/>
              </a:rPr>
              <a:t> </a:t>
            </a:r>
            <a:r>
              <a:rPr lang="en-US" sz="600" b="1" i="1" kern="0" dirty="0">
                <a:solidFill>
                  <a:sysClr val="window" lastClr="FFFFFF"/>
                </a:solidFill>
                <a:latin typeface="Calibri"/>
              </a:rPr>
              <a:t>Discover</a:t>
            </a:r>
          </a:p>
          <a:p>
            <a:pPr algn="ctr">
              <a:spcBef>
                <a:spcPts val="75"/>
              </a:spcBef>
              <a:spcAft>
                <a:spcPts val="75"/>
              </a:spcAft>
              <a:defRPr/>
            </a:pPr>
            <a:r>
              <a:rPr lang="en-US" sz="450" kern="0" dirty="0">
                <a:solidFill>
                  <a:sysClr val="window" lastClr="FFFFFF"/>
                </a:solidFill>
              </a:rPr>
              <a:t>Virtual / SCG National Meeting 0.5 + 0.5 Days</a:t>
            </a:r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33BCF5EC-A6B0-47FE-B98E-B0066F1D6FD7}"/>
              </a:ext>
            </a:extLst>
          </p:cNvPr>
          <p:cNvSpPr/>
          <p:nvPr/>
        </p:nvSpPr>
        <p:spPr>
          <a:xfrm>
            <a:off x="3843465" y="854443"/>
            <a:ext cx="995859" cy="422060"/>
          </a:xfrm>
          <a:prstGeom prst="rect">
            <a:avLst/>
          </a:prstGeom>
          <a:solidFill>
            <a:srgbClr val="1F497D"/>
          </a:solidFill>
          <a:ln w="25400" cap="flat" cmpd="sng" algn="ctr">
            <a:noFill/>
            <a:prstDash val="solid"/>
          </a:ln>
          <a:effectLst/>
        </p:spPr>
        <p:txBody>
          <a:bodyPr lIns="0" rIns="0" rtlCol="0" anchor="t"/>
          <a:lstStyle/>
          <a:p>
            <a:pPr algn="ctr" defTabSz="685800">
              <a:spcBef>
                <a:spcPts val="150"/>
              </a:spcBef>
              <a:spcAft>
                <a:spcPts val="150"/>
              </a:spcAft>
              <a:defRPr/>
            </a:pPr>
            <a:r>
              <a:rPr lang="en-US" sz="675" b="1" kern="0" dirty="0">
                <a:solidFill>
                  <a:sysClr val="window" lastClr="FFFFFF"/>
                </a:solidFill>
                <a:latin typeface="Calibri"/>
              </a:rPr>
              <a:t>3. Customer Engagement Strategies &amp; Tactics III</a:t>
            </a:r>
          </a:p>
          <a:p>
            <a:pPr algn="ctr" defTabSz="685800">
              <a:spcBef>
                <a:spcPts val="150"/>
              </a:spcBef>
              <a:spcAft>
                <a:spcPts val="150"/>
              </a:spcAft>
              <a:defRPr/>
            </a:pPr>
            <a:r>
              <a:rPr lang="en-US" sz="450" kern="0" dirty="0">
                <a:solidFill>
                  <a:sysClr val="window" lastClr="FFFFFF"/>
                </a:solidFill>
                <a:latin typeface="Calibri"/>
              </a:rPr>
              <a:t>Business Simulation / Real Plays / 1.5 Days Live</a:t>
            </a:r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4866319" y="854443"/>
            <a:ext cx="995859" cy="422060"/>
          </a:xfrm>
          <a:prstGeom prst="rect">
            <a:avLst/>
          </a:prstGeom>
          <a:solidFill>
            <a:schemeClr val="tx2">
              <a:alpha val="80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lIns="0" rIns="0" rtlCol="0" anchor="t"/>
          <a:lstStyle/>
          <a:p>
            <a:pPr algn="ctr" defTabSz="685800">
              <a:lnSpc>
                <a:spcPts val="713"/>
              </a:lnSpc>
            </a:pPr>
            <a:r>
              <a:rPr lang="en-US" sz="675" b="1" kern="0" dirty="0">
                <a:solidFill>
                  <a:sysClr val="window" lastClr="FFFFFF"/>
                </a:solidFill>
                <a:latin typeface="Calibri"/>
              </a:rPr>
              <a:t>4. Distinguishing Customer Engagement IV </a:t>
            </a:r>
            <a:r>
              <a:rPr lang="mr-IN" sz="675" b="1" kern="0" dirty="0">
                <a:solidFill>
                  <a:sysClr val="window" lastClr="FFFFFF"/>
                </a:solidFill>
                <a:latin typeface="Calibri"/>
              </a:rPr>
              <a:t>–</a:t>
            </a:r>
            <a:r>
              <a:rPr lang="en-US" sz="675" b="1" kern="0" dirty="0">
                <a:solidFill>
                  <a:sysClr val="window" lastClr="FFFFFF"/>
                </a:solidFill>
                <a:latin typeface="Calibri"/>
              </a:rPr>
              <a:t> </a:t>
            </a:r>
            <a:r>
              <a:rPr lang="en-US" sz="563" b="1" i="1" kern="0" dirty="0">
                <a:solidFill>
                  <a:sysClr val="window" lastClr="FFFFFF"/>
                </a:solidFill>
                <a:latin typeface="Calibri"/>
              </a:rPr>
              <a:t>Develop/Refine/Execute/Expand</a:t>
            </a:r>
          </a:p>
          <a:p>
            <a:pPr algn="ctr" defTabSz="685800">
              <a:lnSpc>
                <a:spcPts val="713"/>
              </a:lnSpc>
            </a:pPr>
            <a:r>
              <a:rPr lang="en-US" sz="450" kern="0" dirty="0">
                <a:solidFill>
                  <a:sysClr val="window" lastClr="FFFFFF"/>
                </a:solidFill>
              </a:rPr>
              <a:t>Virtual and/or 1 Day Live</a:t>
            </a: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DE2910E3-2BB9-4B87-B164-8D849CC66CE2}"/>
              </a:ext>
            </a:extLst>
          </p:cNvPr>
          <p:cNvSpPr/>
          <p:nvPr/>
        </p:nvSpPr>
        <p:spPr>
          <a:xfrm>
            <a:off x="6906901" y="854443"/>
            <a:ext cx="995859" cy="422060"/>
          </a:xfrm>
          <a:prstGeom prst="rect">
            <a:avLst/>
          </a:prstGeom>
          <a:solidFill>
            <a:srgbClr val="459FB7"/>
          </a:solidFill>
          <a:ln w="25400" cap="flat" cmpd="sng" algn="ctr">
            <a:noFill/>
            <a:prstDash val="solid"/>
          </a:ln>
          <a:effectLst/>
        </p:spPr>
        <p:txBody>
          <a:bodyPr lIns="20574" rIns="20574" rtlCol="0" anchor="t"/>
          <a:lstStyle/>
          <a:p>
            <a:pPr algn="ctr" defTabSz="685800">
              <a:lnSpc>
                <a:spcPts val="713"/>
              </a:lnSpc>
              <a:spcAft>
                <a:spcPts val="150"/>
              </a:spcAft>
              <a:defRPr/>
            </a:pPr>
            <a:r>
              <a:rPr lang="en-US" sz="675" b="1" kern="0" dirty="0">
                <a:solidFill>
                  <a:sysClr val="window" lastClr="FFFFFF"/>
                </a:solidFill>
                <a:latin typeface="Calibri"/>
              </a:rPr>
              <a:t>6.  Collaborative Business Alignment &amp; Joint Planning</a:t>
            </a:r>
          </a:p>
          <a:p>
            <a:pPr algn="ctr" defTabSz="685800">
              <a:lnSpc>
                <a:spcPts val="600"/>
              </a:lnSpc>
              <a:defRPr/>
            </a:pPr>
            <a:r>
              <a:rPr lang="en-US" sz="450" kern="0" dirty="0">
                <a:solidFill>
                  <a:sysClr val="window" lastClr="FFFFFF"/>
                </a:solidFill>
                <a:latin typeface="Calibri"/>
              </a:rPr>
              <a:t>Live 0.5 Day / Customer &amp; Account Team</a:t>
            </a:r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0C6EC44D-1CD9-43ED-AD48-D83A6C36E99D}"/>
              </a:ext>
            </a:extLst>
          </p:cNvPr>
          <p:cNvSpPr/>
          <p:nvPr/>
        </p:nvSpPr>
        <p:spPr>
          <a:xfrm>
            <a:off x="7928046" y="854443"/>
            <a:ext cx="995859" cy="422060"/>
          </a:xfrm>
          <a:prstGeom prst="rect">
            <a:avLst/>
          </a:prstGeom>
          <a:solidFill>
            <a:srgbClr val="7030A0"/>
          </a:solidFill>
          <a:ln w="25400" cap="flat" cmpd="sng" algn="ctr">
            <a:noFill/>
            <a:prstDash val="solid"/>
          </a:ln>
          <a:effectLst/>
        </p:spPr>
        <p:txBody>
          <a:bodyPr rtlCol="0" anchor="t"/>
          <a:lstStyle/>
          <a:p>
            <a:pPr algn="ctr" defTabSz="685800">
              <a:spcBef>
                <a:spcPts val="150"/>
              </a:spcBef>
              <a:spcAft>
                <a:spcPts val="150"/>
              </a:spcAft>
              <a:defRPr/>
            </a:pPr>
            <a:r>
              <a:rPr lang="en-US" sz="675" b="1" kern="0" dirty="0">
                <a:solidFill>
                  <a:sysClr val="window" lastClr="FFFFFF"/>
                </a:solidFill>
                <a:latin typeface="Calibri"/>
              </a:rPr>
              <a:t>7. SAM Masters</a:t>
            </a:r>
          </a:p>
          <a:p>
            <a:pPr algn="ctr" defTabSz="685800">
              <a:spcBef>
                <a:spcPts val="150"/>
              </a:spcBef>
              <a:spcAft>
                <a:spcPts val="150"/>
              </a:spcAft>
              <a:defRPr/>
            </a:pPr>
            <a:r>
              <a:rPr lang="en-US" sz="450" kern="0" dirty="0">
                <a:solidFill>
                  <a:sysClr val="window" lastClr="FFFFFF"/>
                </a:solidFill>
              </a:rPr>
              <a:t>Virtual and/or Live</a:t>
            </a:r>
          </a:p>
          <a:p>
            <a:pPr algn="ctr" defTabSz="685800">
              <a:spcBef>
                <a:spcPts val="150"/>
              </a:spcBef>
              <a:spcAft>
                <a:spcPts val="150"/>
              </a:spcAft>
              <a:defRPr/>
            </a:pPr>
            <a:r>
              <a:rPr lang="en-US" sz="450" kern="0" dirty="0">
                <a:solidFill>
                  <a:sysClr val="window" lastClr="FFFFFF"/>
                </a:solidFill>
              </a:rPr>
              <a:t>0.5 </a:t>
            </a:r>
            <a:r>
              <a:rPr lang="mr-IN" sz="450" kern="0" dirty="0">
                <a:solidFill>
                  <a:sysClr val="window" lastClr="FFFFFF"/>
                </a:solidFill>
              </a:rPr>
              <a:t>–</a:t>
            </a:r>
            <a:r>
              <a:rPr lang="en-US" sz="450" kern="0" dirty="0">
                <a:solidFill>
                  <a:sysClr val="window" lastClr="FFFFFF"/>
                </a:solidFill>
              </a:rPr>
              <a:t> 2 Days</a:t>
            </a:r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2821001" y="854443"/>
            <a:ext cx="995859" cy="422060"/>
          </a:xfrm>
          <a:prstGeom prst="rect">
            <a:avLst/>
          </a:prstGeom>
          <a:solidFill>
            <a:schemeClr val="tx2">
              <a:alpha val="80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lIns="0" rIns="0" rtlCol="0" anchor="t"/>
          <a:lstStyle/>
          <a:p>
            <a:pPr algn="ctr" defTabSz="685800">
              <a:lnSpc>
                <a:spcPts val="713"/>
              </a:lnSpc>
              <a:spcBef>
                <a:spcPts val="75"/>
              </a:spcBef>
              <a:spcAft>
                <a:spcPts val="75"/>
              </a:spcAft>
              <a:defRPr/>
            </a:pPr>
            <a:r>
              <a:rPr lang="en-US" sz="675" b="1" kern="0" dirty="0">
                <a:solidFill>
                  <a:sysClr val="window" lastClr="FFFFFF"/>
                </a:solidFill>
                <a:latin typeface="Calibri"/>
              </a:rPr>
              <a:t>2. Distinguishing Customer Engagement II</a:t>
            </a:r>
          </a:p>
          <a:p>
            <a:pPr algn="ctr" defTabSz="685800">
              <a:lnSpc>
                <a:spcPts val="713"/>
              </a:lnSpc>
              <a:defRPr/>
            </a:pPr>
            <a:r>
              <a:rPr lang="en-US" sz="600" b="1" i="1" kern="0" dirty="0">
                <a:solidFill>
                  <a:sysClr val="window" lastClr="FFFFFF"/>
                </a:solidFill>
                <a:latin typeface="Calibri"/>
              </a:rPr>
              <a:t>Discover / Define</a:t>
            </a:r>
          </a:p>
          <a:p>
            <a:pPr algn="ctr">
              <a:defRPr/>
            </a:pPr>
            <a:r>
              <a:rPr lang="en-US" sz="450" kern="0" dirty="0">
                <a:solidFill>
                  <a:sysClr val="window" lastClr="FFFFFF"/>
                </a:solidFill>
              </a:rPr>
              <a:t>Virtual and/or 0.5 Day  Live</a:t>
            </a:r>
          </a:p>
        </p:txBody>
      </p:sp>
    </p:spTree>
    <p:extLst>
      <p:ext uri="{BB962C8B-B14F-4D97-AF65-F5344CB8AC3E}">
        <p14:creationId xmlns:p14="http://schemas.microsoft.com/office/powerpoint/2010/main" val="20004722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94157" y="237743"/>
            <a:ext cx="519074" cy="210311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" name="object 3"/>
          <p:cNvSpPr/>
          <p:nvPr/>
        </p:nvSpPr>
        <p:spPr>
          <a:xfrm>
            <a:off x="6096" y="517071"/>
            <a:ext cx="9144000" cy="4683579"/>
          </a:xfrm>
          <a:prstGeom prst="rect">
            <a:avLst/>
          </a:prstGeo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219200" y="121042"/>
            <a:ext cx="7848600" cy="3359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715000">
              <a:lnSpc>
                <a:spcPct val="100000"/>
              </a:lnSpc>
              <a:spcBef>
                <a:spcPts val="100"/>
              </a:spcBef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Thank you</a:t>
            </a:r>
            <a:endParaRPr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B13CE9-19D8-E445-88A5-5693927D9EB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5409FC017C7BF40961EF880411E08B5" ma:contentTypeVersion="12" ma:contentTypeDescription="Create a new document." ma:contentTypeScope="" ma:versionID="315ad12d6b81cebeaa223d9f11ebdfe3">
  <xsd:schema xmlns:xsd="http://www.w3.org/2001/XMLSchema" xmlns:xs="http://www.w3.org/2001/XMLSchema" xmlns:p="http://schemas.microsoft.com/office/2006/metadata/properties" xmlns:ns2="5f895480-74b7-4295-beb1-000abdb77711" xmlns:ns3="f9f3b592-2a1e-4fc9-8218-81ad9cd05aa6" targetNamespace="http://schemas.microsoft.com/office/2006/metadata/properties" ma:root="true" ma:fieldsID="14f41900450122de98b785351060c2e7" ns2:_="" ns3:_="">
    <xsd:import namespace="5f895480-74b7-4295-beb1-000abdb77711"/>
    <xsd:import namespace="f9f3b592-2a1e-4fc9-8218-81ad9cd05aa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AutoKeyPoints" minOccurs="0"/>
                <xsd:element ref="ns2:MediaServiceKeyPoint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f895480-74b7-4295-beb1-000abdb7771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AutoKeyPoints" ma:index="11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2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f3b592-2a1e-4fc9-8218-81ad9cd05aa6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51D86CF-82C4-4427-9102-D0E1C5AC3672}">
  <ds:schemaRefs>
    <ds:schemaRef ds:uri="5f895480-74b7-4295-beb1-000abdb77711"/>
    <ds:schemaRef ds:uri="f9f3b592-2a1e-4fc9-8218-81ad9cd05aa6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0/xmlns/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C432CE7E-5CD2-4240-956B-6479B9CC1ACD}">
  <ds:schemaRefs>
    <ds:schemaRef ds:uri="http://schemas.microsoft.com/office/2006/metadata/properties"/>
    <ds:schemaRef ds:uri="http://schemas.microsoft.com/office/infopath/2007/PartnerControls"/>
    <ds:schemaRef ds:uri="http://schemas.microsoft.com/office/2006/documentManagement/types"/>
    <ds:schemaRef ds:uri="5f895480-74b7-4295-beb1-000abdb77711"/>
    <ds:schemaRef ds:uri="http://www.w3.org/XML/1998/namespace"/>
    <ds:schemaRef ds:uri="http://schemas.openxmlformats.org/package/2006/metadata/core-properties"/>
    <ds:schemaRef ds:uri="http://purl.org/dc/terms/"/>
    <ds:schemaRef ds:uri="http://purl.org/dc/dcmitype/"/>
    <ds:schemaRef ds:uri="http://purl.org/dc/elements/1.1/"/>
    <ds:schemaRef ds:uri="f9f3b592-2a1e-4fc9-8218-81ad9cd05aa6"/>
  </ds:schemaRefs>
</ds:datastoreItem>
</file>

<file path=customXml/itemProps3.xml><?xml version="1.0" encoding="utf-8"?>
<ds:datastoreItem xmlns:ds="http://schemas.openxmlformats.org/officeDocument/2006/customXml" ds:itemID="{78D6310D-F839-4AE3-A449-6E9FFE90854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4830</TotalTime>
  <Words>1991</Words>
  <Application>Microsoft Macintosh PowerPoint</Application>
  <PresentationFormat>On-screen Show (16:9)</PresentationFormat>
  <Paragraphs>415</Paragraphs>
  <Slides>18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Arial</vt:lpstr>
      <vt:lpstr>Calibri</vt:lpstr>
      <vt:lpstr>Courier New</vt:lpstr>
      <vt:lpstr>Franklin Gothic Book</vt:lpstr>
      <vt:lpstr>Lato Light</vt:lpstr>
      <vt:lpstr>Mangal</vt:lpstr>
      <vt:lpstr>Verdana</vt:lpstr>
      <vt:lpstr>Office Theme</vt:lpstr>
      <vt:lpstr>PowerPoint Presentation</vt:lpstr>
      <vt:lpstr>We create impact</vt:lpstr>
      <vt:lpstr>We take the noise, disruption, frustration and complexity of the new economy and bring you a clear, concise and simple path for you to get results.</vt:lpstr>
      <vt:lpstr>PowerPoint Presentation</vt:lpstr>
      <vt:lpstr>PowerPoint Presentation</vt:lpstr>
      <vt:lpstr>Current State- Discovery and Analysis</vt:lpstr>
      <vt:lpstr>Building the Future State  </vt:lpstr>
      <vt:lpstr>Install, Enhance, and Elevate</vt:lpstr>
      <vt:lpstr>Time Zones and Logistics</vt:lpstr>
      <vt:lpstr>&amp;Who we are</vt:lpstr>
      <vt:lpstr>Experience is at the core</vt:lpstr>
      <vt:lpstr>&amp;In good company</vt:lpstr>
      <vt:lpstr>PowerPoint Presentation</vt:lpstr>
      <vt:lpstr>Where we serve    </vt:lpstr>
      <vt:lpstr>Appendices</vt:lpstr>
      <vt:lpstr>Customer Engagement Learning Roadmap Learning Journey Draft for Review</vt:lpstr>
      <vt:lpstr>Customer Engagement Competence Heatmap Competence Heatmap – Draft for Review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Kate Burda</cp:lastModifiedBy>
  <cp:revision>4</cp:revision>
  <cp:lastPrinted>2022-08-03T18:07:25Z</cp:lastPrinted>
  <dcterms:created xsi:type="dcterms:W3CDTF">2020-01-22T01:07:57Z</dcterms:created>
  <dcterms:modified xsi:type="dcterms:W3CDTF">2022-08-08T13:32:10Z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2019-11-03T00:00:00Z</vt:filetime>
  </property>
  <property fmtid="{D5CDD505-2E9C-101B-9397-08002B2CF9AE}" pid="3" name="LastSaved">
    <vt:filetime>2020-01-22T00:00:00Z</vt:filetime>
  </property>
  <property fmtid="{D5CDD505-2E9C-101B-9397-08002B2CF9AE}" pid="4" name="ContentTypeId">
    <vt:lpwstr>0x01010075409FC017C7BF40961EF880411E08B5</vt:lpwstr>
  </property>
</Properties>
</file>