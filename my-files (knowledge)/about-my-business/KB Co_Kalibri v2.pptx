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9"/>
  </p:notesMasterIdLst>
  <p:sldIdLst>
    <p:sldId id="4068" r:id="rId5"/>
    <p:sldId id="399" r:id="rId6"/>
    <p:sldId id="4135" r:id="rId7"/>
    <p:sldId id="258" r:id="rId8"/>
    <p:sldId id="4134" r:id="rId9"/>
    <p:sldId id="4148" r:id="rId10"/>
    <p:sldId id="4152" r:id="rId11"/>
    <p:sldId id="4154" r:id="rId12"/>
    <p:sldId id="269" r:id="rId13"/>
    <p:sldId id="2182" r:id="rId14"/>
    <p:sldId id="2184" r:id="rId15"/>
    <p:sldId id="4151" r:id="rId16"/>
    <p:sldId id="4150" r:id="rId17"/>
    <p:sldId id="275" r:id="rId18"/>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stan Carty" initials="TC" lastIdx="15" clrIdx="0">
    <p:extLst>
      <p:ext uri="{19B8F6BF-5375-455C-9EA6-DF929625EA0E}">
        <p15:presenceInfo xmlns:p15="http://schemas.microsoft.com/office/powerpoint/2012/main" userId="Tristan Carty" providerId="None"/>
      </p:ext>
    </p:extLst>
  </p:cmAuthor>
  <p:cmAuthor id="2" name="Kate Burda" initials="KB" lastIdx="5" clrIdx="1">
    <p:extLst>
      <p:ext uri="{19B8F6BF-5375-455C-9EA6-DF929625EA0E}">
        <p15:presenceInfo xmlns:p15="http://schemas.microsoft.com/office/powerpoint/2012/main" userId="S::kate@kateburda.com::44c1ea53-84f5-4c7e-8f48-bfeb434f1f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52372"/>
    <a:srgbClr val="D510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C84F0E-1539-FC4A-9674-2A5059A53580}" v="196" dt="2023-01-16T13:51:56.64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22"/>
    <p:restoredTop sz="94694"/>
  </p:normalViewPr>
  <p:slideViewPr>
    <p:cSldViewPr snapToGrid="0" snapToObjects="1">
      <p:cViewPr varScale="1">
        <p:scale>
          <a:sx n="156" d="100"/>
          <a:sy n="156" d="100"/>
        </p:scale>
        <p:origin x="848" y="16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Burda" userId="44c1ea53-84f5-4c7e-8f48-bfeb434f1f02" providerId="ADAL" clId="{1FC84F0E-1539-FC4A-9674-2A5059A53580}"/>
    <pc:docChg chg="custSel modSld">
      <pc:chgData name="Kate Burda" userId="44c1ea53-84f5-4c7e-8f48-bfeb434f1f02" providerId="ADAL" clId="{1FC84F0E-1539-FC4A-9674-2A5059A53580}" dt="2023-01-16T13:51:56.641" v="332" actId="20577"/>
      <pc:docMkLst>
        <pc:docMk/>
      </pc:docMkLst>
      <pc:sldChg chg="modSp mod">
        <pc:chgData name="Kate Burda" userId="44c1ea53-84f5-4c7e-8f48-bfeb434f1f02" providerId="ADAL" clId="{1FC84F0E-1539-FC4A-9674-2A5059A53580}" dt="2023-01-16T13:51:56.641" v="332" actId="20577"/>
        <pc:sldMkLst>
          <pc:docMk/>
          <pc:sldMk cId="2592066562" sldId="4134"/>
        </pc:sldMkLst>
        <pc:spChg chg="mod">
          <ac:chgData name="Kate Burda" userId="44c1ea53-84f5-4c7e-8f48-bfeb434f1f02" providerId="ADAL" clId="{1FC84F0E-1539-FC4A-9674-2A5059A53580}" dt="2023-01-16T13:51:14.003" v="197" actId="113"/>
          <ac:spMkLst>
            <pc:docMk/>
            <pc:sldMk cId="2592066562" sldId="4134"/>
            <ac:spMk id="2" creationId="{857A9D67-CD43-0B47-8040-F95CCC8496BC}"/>
          </ac:spMkLst>
        </pc:spChg>
        <pc:spChg chg="mod">
          <ac:chgData name="Kate Burda" userId="44c1ea53-84f5-4c7e-8f48-bfeb434f1f02" providerId="ADAL" clId="{1FC84F0E-1539-FC4A-9674-2A5059A53580}" dt="2023-01-16T13:36:42.270" v="35" actId="20577"/>
          <ac:spMkLst>
            <pc:docMk/>
            <pc:sldMk cId="2592066562" sldId="4134"/>
            <ac:spMk id="20" creationId="{470ACC24-D91E-EC40-A611-1223B9CD21DD}"/>
          </ac:spMkLst>
        </pc:spChg>
        <pc:spChg chg="mod">
          <ac:chgData name="Kate Burda" userId="44c1ea53-84f5-4c7e-8f48-bfeb434f1f02" providerId="ADAL" clId="{1FC84F0E-1539-FC4A-9674-2A5059A53580}" dt="2023-01-16T13:51:56.641" v="332" actId="20577"/>
          <ac:spMkLst>
            <pc:docMk/>
            <pc:sldMk cId="2592066562" sldId="4134"/>
            <ac:spMk id="43" creationId="{E33F8457-9D45-6142-80AF-9ABB79C73947}"/>
          </ac:spMkLst>
        </pc:spChg>
        <pc:spChg chg="mod">
          <ac:chgData name="Kate Burda" userId="44c1ea53-84f5-4c7e-8f48-bfeb434f1f02" providerId="ADAL" clId="{1FC84F0E-1539-FC4A-9674-2A5059A53580}" dt="2023-01-16T13:38:30.772" v="60" actId="20577"/>
          <ac:spMkLst>
            <pc:docMk/>
            <pc:sldMk cId="2592066562" sldId="4134"/>
            <ac:spMk id="44" creationId="{5AE94EE5-6BBF-1946-8C3C-5F56412DF390}"/>
          </ac:spMkLst>
        </pc:spChg>
      </pc:sldChg>
    </pc:docChg>
  </pc:docChgLst>
  <pc:docChgLst>
    <pc:chgData name="Kate Burda" userId="44c1ea53-84f5-4c7e-8f48-bfeb434f1f02" providerId="ADAL" clId="{4100F4C5-0CCB-C949-AB7B-75B46B806C70}"/>
    <pc:docChg chg="modSld">
      <pc:chgData name="Kate Burda" userId="44c1ea53-84f5-4c7e-8f48-bfeb434f1f02" providerId="ADAL" clId="{4100F4C5-0CCB-C949-AB7B-75B46B806C70}" dt="2022-02-23T02:59:01.465" v="76" actId="20577"/>
      <pc:docMkLst>
        <pc:docMk/>
      </pc:docMkLst>
      <pc:sldChg chg="modSp mod">
        <pc:chgData name="Kate Burda" userId="44c1ea53-84f5-4c7e-8f48-bfeb434f1f02" providerId="ADAL" clId="{4100F4C5-0CCB-C949-AB7B-75B46B806C70}" dt="2022-02-23T02:59:01.465" v="76" actId="20577"/>
        <pc:sldMkLst>
          <pc:docMk/>
          <pc:sldMk cId="4118561297" sldId="2182"/>
        </pc:sldMkLst>
        <pc:spChg chg="mod">
          <ac:chgData name="Kate Burda" userId="44c1ea53-84f5-4c7e-8f48-bfeb434f1f02" providerId="ADAL" clId="{4100F4C5-0CCB-C949-AB7B-75B46B806C70}" dt="2022-02-23T02:59:01.465" v="76" actId="20577"/>
          <ac:spMkLst>
            <pc:docMk/>
            <pc:sldMk cId="4118561297" sldId="2182"/>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427FBD31-D430-3F4A-8B46-78DCED41C9B6}" type="datetimeFigureOut">
              <a:rPr lang="en-US" smtClean="0"/>
              <a:t>1/16/23</a:t>
            </a:fld>
            <a:endParaRPr lang="en-US" dirty="0"/>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45B48C49-7632-A24D-A577-D5A024C91C99}" type="slidenum">
              <a:rPr lang="en-US" smtClean="0"/>
              <a:t>‹#›</a:t>
            </a:fld>
            <a:endParaRPr lang="en-US" dirty="0"/>
          </a:p>
        </p:txBody>
      </p:sp>
    </p:spTree>
    <p:extLst>
      <p:ext uri="{BB962C8B-B14F-4D97-AF65-F5344CB8AC3E}">
        <p14:creationId xmlns:p14="http://schemas.microsoft.com/office/powerpoint/2010/main" val="1763346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C204A1-840D-CA41-9990-2FBF1DA0CC27}" type="slidenum">
              <a:rPr lang="en-US" smtClean="0"/>
              <a:t>2</a:t>
            </a:fld>
            <a:endParaRPr lang="en-US" dirty="0"/>
          </a:p>
        </p:txBody>
      </p:sp>
    </p:spTree>
    <p:extLst>
      <p:ext uri="{BB962C8B-B14F-4D97-AF65-F5344CB8AC3E}">
        <p14:creationId xmlns:p14="http://schemas.microsoft.com/office/powerpoint/2010/main" val="4234337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B48C49-7632-A24D-A577-D5A024C91C99}" type="slidenum">
              <a:rPr lang="en-US" smtClean="0"/>
              <a:t>3</a:t>
            </a:fld>
            <a:endParaRPr lang="en-US" dirty="0"/>
          </a:p>
        </p:txBody>
      </p:sp>
    </p:spTree>
    <p:extLst>
      <p:ext uri="{BB962C8B-B14F-4D97-AF65-F5344CB8AC3E}">
        <p14:creationId xmlns:p14="http://schemas.microsoft.com/office/powerpoint/2010/main" val="1936936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B48C49-7632-A24D-A577-D5A024C91C99}" type="slidenum">
              <a:rPr lang="en-US" smtClean="0"/>
              <a:t>5</a:t>
            </a:fld>
            <a:endParaRPr lang="en-US" dirty="0"/>
          </a:p>
        </p:txBody>
      </p:sp>
    </p:spTree>
    <p:extLst>
      <p:ext uri="{BB962C8B-B14F-4D97-AF65-F5344CB8AC3E}">
        <p14:creationId xmlns:p14="http://schemas.microsoft.com/office/powerpoint/2010/main" val="24475329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4528576" y="4784278"/>
            <a:ext cx="438931" cy="218760"/>
          </a:xfrm>
          <a:prstGeom prst="rect">
            <a:avLst/>
          </a:prstGeom>
          <a:blipFill>
            <a:blip r:embed="rId2" cstate="print">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2" name="Holder 2"/>
          <p:cNvSpPr>
            <a:spLocks noGrp="1"/>
          </p:cNvSpPr>
          <p:nvPr>
            <p:ph type="ctrTitle"/>
          </p:nvPr>
        </p:nvSpPr>
        <p:spPr>
          <a:xfrm>
            <a:off x="3263030" y="491744"/>
            <a:ext cx="2617939" cy="675005"/>
          </a:xfrm>
          <a:prstGeom prst="rect">
            <a:avLst/>
          </a:prstGeom>
        </p:spPr>
        <p:txBody>
          <a:bodyPr wrap="square" lIns="0" tIns="0" rIns="0" bIns="0">
            <a:spAutoFit/>
          </a:bodyPr>
          <a:lstStyle>
            <a:lvl1pPr>
              <a:defRPr sz="2100" b="0" i="0">
                <a:solidFill>
                  <a:schemeClr val="bg1"/>
                </a:solidFill>
                <a:latin typeface="Arial"/>
                <a:cs typeface="Aria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1/16/23</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0" i="0">
                <a:solidFill>
                  <a:srgbClr val="8A8C8C"/>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4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1/16/23</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0" i="0">
                <a:solidFill>
                  <a:srgbClr val="8A8C8C"/>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1/16/23</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4528576" y="4784278"/>
            <a:ext cx="438931" cy="218760"/>
          </a:xfrm>
          <a:prstGeom prst="rect">
            <a:avLst/>
          </a:prstGeom>
          <a:blipFill>
            <a:blip r:embed="rId2" cstate="print">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2" name="Holder 2"/>
          <p:cNvSpPr>
            <a:spLocks noGrp="1"/>
          </p:cNvSpPr>
          <p:nvPr>
            <p:ph type="title"/>
          </p:nvPr>
        </p:nvSpPr>
        <p:spPr/>
        <p:txBody>
          <a:bodyPr lIns="0" tIns="0" rIns="0" bIns="0"/>
          <a:lstStyle>
            <a:lvl1pPr>
              <a:defRPr sz="2100" b="0" i="0">
                <a:solidFill>
                  <a:srgbClr val="8A8C8C"/>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1/16/23</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4528576" y="4784278"/>
            <a:ext cx="438931" cy="218760"/>
          </a:xfrm>
          <a:prstGeom prst="rect">
            <a:avLst/>
          </a:prstGeom>
          <a:blipFill>
            <a:blip r:embed="rId2" cstate="print">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1/16/23</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
        <p:nvSpPr>
          <p:cNvPr id="5" name="Rectangle 4">
            <a:extLst>
              <a:ext uri="{FF2B5EF4-FFF2-40B4-BE49-F238E27FC236}">
                <a16:creationId xmlns:a16="http://schemas.microsoft.com/office/drawing/2014/main" id="{7F5ED4CF-792E-3945-926D-4FAABFB91DAC}"/>
              </a:ext>
            </a:extLst>
          </p:cNvPr>
          <p:cNvSpPr/>
          <p:nvPr userDrawn="1"/>
        </p:nvSpPr>
        <p:spPr>
          <a:xfrm>
            <a:off x="0" y="0"/>
            <a:ext cx="9144000" cy="446049"/>
          </a:xfrm>
          <a:prstGeom prst="rect">
            <a:avLst/>
          </a:prstGeom>
          <a:pattFill prst="pct50">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Holder 2">
            <a:extLst>
              <a:ext uri="{FF2B5EF4-FFF2-40B4-BE49-F238E27FC236}">
                <a16:creationId xmlns:a16="http://schemas.microsoft.com/office/drawing/2014/main" id="{4FADDF76-B979-194B-8CB4-21933D95AE2B}"/>
              </a:ext>
            </a:extLst>
          </p:cNvPr>
          <p:cNvSpPr>
            <a:spLocks noGrp="1"/>
          </p:cNvSpPr>
          <p:nvPr>
            <p:ph type="title"/>
          </p:nvPr>
        </p:nvSpPr>
        <p:spPr>
          <a:xfrm>
            <a:off x="215584" y="50304"/>
            <a:ext cx="8712831" cy="323165"/>
          </a:xfrm>
        </p:spPr>
        <p:txBody>
          <a:bodyPr lIns="0" tIns="0" rIns="0" bIns="0"/>
          <a:lstStyle>
            <a:lvl1pPr algn="ctr">
              <a:defRPr sz="2100" b="0" i="0">
                <a:solidFill>
                  <a:srgbClr val="8A8C8C"/>
                </a:solidFill>
                <a:latin typeface="Franklin Gothic Book" panose="020B0503020102020204" pitchFamily="34" charset="0"/>
                <a:cs typeface="Arial"/>
              </a:defRPr>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Kate Burda &amp; Co. - Title 3">
    <p:spTree>
      <p:nvGrpSpPr>
        <p:cNvPr id="1" name=""/>
        <p:cNvGrpSpPr/>
        <p:nvPr/>
      </p:nvGrpSpPr>
      <p:grpSpPr>
        <a:xfrm>
          <a:off x="0" y="0"/>
          <a:ext cx="0" cy="0"/>
          <a:chOff x="0" y="0"/>
          <a:chExt cx="0" cy="0"/>
        </a:xfrm>
      </p:grpSpPr>
      <p:sp>
        <p:nvSpPr>
          <p:cNvPr id="8" name="Rectangle 7"/>
          <p:cNvSpPr/>
          <p:nvPr userDrawn="1"/>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685800"/>
            <a:ext cx="9144000" cy="44577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rgbClr val="CAC8C8"/>
              </a:solidFill>
            </a:endParaRPr>
          </a:p>
        </p:txBody>
      </p:sp>
      <p:sp>
        <p:nvSpPr>
          <p:cNvPr id="15" name="Picture Placeholder 14"/>
          <p:cNvSpPr>
            <a:spLocks noGrp="1"/>
          </p:cNvSpPr>
          <p:nvPr>
            <p:ph type="pic" sz="quarter" idx="10"/>
          </p:nvPr>
        </p:nvSpPr>
        <p:spPr>
          <a:xfrm>
            <a:off x="0" y="685800"/>
            <a:ext cx="9144000" cy="4457700"/>
          </a:xfrm>
        </p:spPr>
        <p:txBody>
          <a:bodyPr/>
          <a:lstStyle/>
          <a:p>
            <a:endParaRPr lang="en-US" dirty="0"/>
          </a:p>
        </p:txBody>
      </p:sp>
      <p:sp>
        <p:nvSpPr>
          <p:cNvPr id="11" name="Title 1"/>
          <p:cNvSpPr>
            <a:spLocks noGrp="1"/>
          </p:cNvSpPr>
          <p:nvPr>
            <p:ph type="ctrTitle" hasCustomPrompt="1"/>
          </p:nvPr>
        </p:nvSpPr>
        <p:spPr>
          <a:xfrm>
            <a:off x="1143000" y="171450"/>
            <a:ext cx="7772400" cy="323165"/>
          </a:xfrm>
        </p:spPr>
        <p:txBody>
          <a:bodyPr/>
          <a:lstStyle>
            <a:lvl1pPr algn="r">
              <a:defRPr sz="2100" b="1" baseline="0">
                <a:solidFill>
                  <a:srgbClr val="8A8C8C"/>
                </a:solidFill>
                <a:latin typeface="Franklin Gothic Book" panose="020B0503020102020204" pitchFamily="34" charset="0"/>
              </a:defRPr>
            </a:lvl1pPr>
          </a:lstStyle>
          <a:p>
            <a:r>
              <a:rPr lang="en-US"/>
              <a:t>Click to Insert Title Here</a:t>
            </a:r>
          </a:p>
        </p:txBody>
      </p:sp>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145" y="-537260"/>
            <a:ext cx="1295522" cy="1817468"/>
          </a:xfrm>
          <a:prstGeom prst="rect">
            <a:avLst/>
          </a:prstGeom>
        </p:spPr>
      </p:pic>
      <p:sp>
        <p:nvSpPr>
          <p:cNvPr id="7" name="Holder 4">
            <a:extLst>
              <a:ext uri="{FF2B5EF4-FFF2-40B4-BE49-F238E27FC236}">
                <a16:creationId xmlns:a16="http://schemas.microsoft.com/office/drawing/2014/main" id="{9581F233-BCDC-1D47-8FFD-154F2846ECEA}"/>
              </a:ext>
            </a:extLst>
          </p:cNvPr>
          <p:cNvSpPr>
            <a:spLocks noGrp="1"/>
          </p:cNvSpPr>
          <p:nvPr>
            <p:ph type="sldNum" sz="quarter" idx="7"/>
          </p:nvPr>
        </p:nvSpPr>
        <p:spPr>
          <a:xfrm>
            <a:off x="8382000" y="4783455"/>
            <a:ext cx="304800" cy="184666"/>
          </a:xfrm>
        </p:spPr>
        <p:txBody>
          <a:bodyPr lIns="0" tIns="0" rIns="0" bIns="0"/>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21151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0349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cSld name="1_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4352534" y="4783455"/>
            <a:ext cx="438931" cy="218760"/>
          </a:xfrm>
          <a:prstGeom prst="rect">
            <a:avLst/>
          </a:prstGeom>
          <a:blipFill>
            <a:blip r:embed="rId2" cstate="screen">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F04BA4BD-261B-294C-8FFE-5F808C6609ED}" type="datetime1">
              <a:rPr lang="en-US" smtClean="0"/>
              <a:t>1/16/23</a:t>
            </a:fld>
            <a:endParaRPr lang="en-US" dirty="0"/>
          </a:p>
        </p:txBody>
      </p:sp>
      <p:sp>
        <p:nvSpPr>
          <p:cNvPr id="4" name="Holder 4"/>
          <p:cNvSpPr>
            <a:spLocks noGrp="1"/>
          </p:cNvSpPr>
          <p:nvPr>
            <p:ph type="sldNum" sz="quarter" idx="7"/>
          </p:nvPr>
        </p:nvSpPr>
        <p:spPr>
          <a:xfrm>
            <a:off x="6583680" y="4783455"/>
            <a:ext cx="2103120" cy="184666"/>
          </a:xfrm>
        </p:spPr>
        <p:txBody>
          <a:bodyPr lIns="0" tIns="0" rIns="0" bIns="0"/>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21942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15584" y="147319"/>
            <a:ext cx="8712831" cy="345440"/>
          </a:xfrm>
          <a:prstGeom prst="rect">
            <a:avLst/>
          </a:prstGeom>
        </p:spPr>
        <p:txBody>
          <a:bodyPr wrap="square" lIns="0" tIns="0" rIns="0" bIns="0">
            <a:spAutoFit/>
          </a:bodyPr>
          <a:lstStyle>
            <a:lvl1pPr>
              <a:defRPr sz="2100" b="0" i="0">
                <a:solidFill>
                  <a:srgbClr val="8A8C8C"/>
                </a:solidFill>
                <a:latin typeface="Arial"/>
                <a:cs typeface="Arial"/>
              </a:defRPr>
            </a:lvl1pPr>
          </a:lstStyle>
          <a:p>
            <a:endParaRPr/>
          </a:p>
        </p:txBody>
      </p:sp>
      <p:sp>
        <p:nvSpPr>
          <p:cNvPr id="3" name="Holder 3"/>
          <p:cNvSpPr>
            <a:spLocks noGrp="1"/>
          </p:cNvSpPr>
          <p:nvPr>
            <p:ph type="body" idx="1"/>
          </p:nvPr>
        </p:nvSpPr>
        <p:spPr>
          <a:xfrm>
            <a:off x="1431029" y="1031747"/>
            <a:ext cx="6281940" cy="3465829"/>
          </a:xfrm>
          <a:prstGeom prst="rect">
            <a:avLst/>
          </a:prstGeom>
        </p:spPr>
        <p:txBody>
          <a:bodyPr wrap="square" lIns="0" tIns="0" rIns="0" bIns="0">
            <a:spAutoFit/>
          </a:bodyPr>
          <a:lstStyle>
            <a:lvl1pPr>
              <a:defRPr sz="14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1/16/23</a:t>
            </a:fld>
            <a:endParaRPr lang="en-US" dirty="0"/>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 id="2147483668" r:id="rId7"/>
    <p:sldLayoutId id="2147483669" r:id="rId8"/>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9.emf"/><Relationship Id="rId4" Type="http://schemas.openxmlformats.org/officeDocument/2006/relationships/image" Target="../media/image8.emf"/></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jpg"/><Relationship Id="rId18" Type="http://schemas.openxmlformats.org/officeDocument/2006/relationships/image" Target="../media/image36.png"/><Relationship Id="rId3" Type="http://schemas.openxmlformats.org/officeDocument/2006/relationships/image" Target="../media/image21.jpg"/><Relationship Id="rId21" Type="http://schemas.openxmlformats.org/officeDocument/2006/relationships/image" Target="../media/image39.png"/><Relationship Id="rId7" Type="http://schemas.openxmlformats.org/officeDocument/2006/relationships/image" Target="../media/image25.png"/><Relationship Id="rId12" Type="http://schemas.openxmlformats.org/officeDocument/2006/relationships/image" Target="../media/image30.jpg"/><Relationship Id="rId17" Type="http://schemas.openxmlformats.org/officeDocument/2006/relationships/image" Target="../media/image35.png"/><Relationship Id="rId2" Type="http://schemas.openxmlformats.org/officeDocument/2006/relationships/image" Target="../media/image20.png"/><Relationship Id="rId16" Type="http://schemas.openxmlformats.org/officeDocument/2006/relationships/image" Target="../media/image34.jpg"/><Relationship Id="rId20" Type="http://schemas.openxmlformats.org/officeDocument/2006/relationships/image" Target="../media/image38.jpeg"/><Relationship Id="rId1" Type="http://schemas.openxmlformats.org/officeDocument/2006/relationships/slideLayout" Target="../slideLayouts/slideLayout1.xml"/><Relationship Id="rId6" Type="http://schemas.openxmlformats.org/officeDocument/2006/relationships/image" Target="../media/image24.jpg"/><Relationship Id="rId11" Type="http://schemas.openxmlformats.org/officeDocument/2006/relationships/image" Target="../media/image29.jpg"/><Relationship Id="rId5" Type="http://schemas.openxmlformats.org/officeDocument/2006/relationships/image" Target="../media/image23.jpg"/><Relationship Id="rId15" Type="http://schemas.openxmlformats.org/officeDocument/2006/relationships/image" Target="../media/image33.jpg"/><Relationship Id="rId23" Type="http://schemas.openxmlformats.org/officeDocument/2006/relationships/image" Target="../media/image41.png"/><Relationship Id="rId10" Type="http://schemas.openxmlformats.org/officeDocument/2006/relationships/image" Target="../media/image28.jp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jpg"/><Relationship Id="rId22"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4.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168448"/>
            <a:ext cx="9144000" cy="975051"/>
          </a:xfrm>
          <a:custGeom>
            <a:avLst/>
            <a:gdLst/>
            <a:ahLst/>
            <a:cxnLst/>
            <a:rect l="l" t="t" r="r" b="b"/>
            <a:pathLst>
              <a:path w="9144000" h="895985">
                <a:moveTo>
                  <a:pt x="0" y="0"/>
                </a:moveTo>
                <a:lnTo>
                  <a:pt x="9143998" y="0"/>
                </a:lnTo>
                <a:lnTo>
                  <a:pt x="9143998" y="895986"/>
                </a:lnTo>
                <a:lnTo>
                  <a:pt x="0" y="895986"/>
                </a:lnTo>
                <a:lnTo>
                  <a:pt x="0" y="0"/>
                </a:lnTo>
                <a:close/>
              </a:path>
            </a:pathLst>
          </a:custGeom>
          <a:solidFill>
            <a:srgbClr val="BFBFBF"/>
          </a:solidFill>
        </p:spPr>
        <p:txBody>
          <a:bodyPr wrap="square" lIns="0" tIns="0" rIns="0" bIns="0" rtlCol="0"/>
          <a:lstStyle/>
          <a:p>
            <a:pPr lvl="1"/>
            <a:endParaRPr lang="en-US" dirty="0"/>
          </a:p>
          <a:p>
            <a:r>
              <a:rPr lang="en-US" dirty="0">
                <a:latin typeface="Franklin Gothic Book" panose="020B0503020102020204" pitchFamily="34" charset="0"/>
              </a:rPr>
              <a:t>   </a:t>
            </a:r>
            <a:r>
              <a:rPr lang="en-US" dirty="0">
                <a:solidFill>
                  <a:schemeClr val="tx1">
                    <a:lumMod val="75000"/>
                    <a:lumOff val="25000"/>
                  </a:schemeClr>
                </a:solidFill>
                <a:latin typeface="Franklin Gothic Book" panose="020B0503020102020204" pitchFamily="34" charset="0"/>
              </a:rPr>
              <a:t>Prepared for:  Tim Hart , Jennifer Hill</a:t>
            </a:r>
          </a:p>
          <a:p>
            <a:endParaRPr lang="en-US" dirty="0">
              <a:solidFill>
                <a:schemeClr val="tx1">
                  <a:lumMod val="75000"/>
                  <a:lumOff val="25000"/>
                </a:schemeClr>
              </a:solidFill>
              <a:latin typeface="Franklin Gothic Book" panose="020B0503020102020204" pitchFamily="34" charset="0"/>
            </a:endParaRPr>
          </a:p>
          <a:p>
            <a:endParaRPr lang="en-US" dirty="0">
              <a:solidFill>
                <a:schemeClr val="tx1">
                  <a:lumMod val="75000"/>
                  <a:lumOff val="25000"/>
                </a:schemeClr>
              </a:solidFill>
              <a:latin typeface="Franklin Gothic Book" panose="020B0503020102020204" pitchFamily="34" charset="0"/>
            </a:endParaRPr>
          </a:p>
          <a:p>
            <a:endParaRPr dirty="0">
              <a:solidFill>
                <a:schemeClr val="tx1">
                  <a:lumMod val="75000"/>
                  <a:lumOff val="25000"/>
                </a:schemeClr>
              </a:solidFill>
              <a:latin typeface="Franklin Gothic Book" panose="020B0503020102020204" pitchFamily="34" charset="0"/>
            </a:endParaRPr>
          </a:p>
        </p:txBody>
      </p:sp>
      <p:sp>
        <p:nvSpPr>
          <p:cNvPr id="3" name="object 3"/>
          <p:cNvSpPr/>
          <p:nvPr/>
        </p:nvSpPr>
        <p:spPr>
          <a:xfrm>
            <a:off x="1" y="0"/>
            <a:ext cx="9143999" cy="405384"/>
          </a:xfrm>
          <a:prstGeom prst="rect">
            <a:avLst/>
          </a:prstGeom>
          <a:blipFill>
            <a:blip r:embed="rId2" cstate="print">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4" name="object 4"/>
          <p:cNvSpPr/>
          <p:nvPr/>
        </p:nvSpPr>
        <p:spPr>
          <a:xfrm>
            <a:off x="11660" y="9859"/>
            <a:ext cx="9138285" cy="380335"/>
          </a:xfrm>
          <a:custGeom>
            <a:avLst/>
            <a:gdLst/>
            <a:ahLst/>
            <a:cxnLst/>
            <a:rect l="l" t="t" r="r" b="b"/>
            <a:pathLst>
              <a:path w="9138285" h="336550">
                <a:moveTo>
                  <a:pt x="0" y="0"/>
                </a:moveTo>
                <a:lnTo>
                  <a:pt x="9138053" y="0"/>
                </a:lnTo>
                <a:lnTo>
                  <a:pt x="9138053" y="336378"/>
                </a:lnTo>
                <a:lnTo>
                  <a:pt x="0" y="336378"/>
                </a:lnTo>
                <a:lnTo>
                  <a:pt x="0" y="0"/>
                </a:lnTo>
                <a:close/>
              </a:path>
            </a:pathLst>
          </a:custGeom>
          <a:solidFill>
            <a:srgbClr val="A0155E"/>
          </a:solidFill>
        </p:spPr>
        <p:txBody>
          <a:bodyPr wrap="square" lIns="0" tIns="0" rIns="0" bIns="0" rtlCol="0"/>
          <a:lstStyle/>
          <a:p>
            <a:endParaRPr dirty="0"/>
          </a:p>
        </p:txBody>
      </p:sp>
      <p:sp>
        <p:nvSpPr>
          <p:cNvPr id="5" name="object 5"/>
          <p:cNvSpPr/>
          <p:nvPr/>
        </p:nvSpPr>
        <p:spPr>
          <a:xfrm>
            <a:off x="5947" y="0"/>
            <a:ext cx="9138285" cy="336550"/>
          </a:xfrm>
          <a:custGeom>
            <a:avLst/>
            <a:gdLst/>
            <a:ahLst/>
            <a:cxnLst/>
            <a:rect l="l" t="t" r="r" b="b"/>
            <a:pathLst>
              <a:path w="9138285" h="336550">
                <a:moveTo>
                  <a:pt x="0" y="0"/>
                </a:moveTo>
                <a:lnTo>
                  <a:pt x="9138053" y="0"/>
                </a:lnTo>
                <a:lnTo>
                  <a:pt x="9138053" y="336378"/>
                </a:lnTo>
                <a:lnTo>
                  <a:pt x="0" y="336378"/>
                </a:lnTo>
                <a:lnTo>
                  <a:pt x="0" y="0"/>
                </a:lnTo>
                <a:close/>
              </a:path>
            </a:pathLst>
          </a:custGeom>
          <a:ln w="9525">
            <a:solidFill>
              <a:srgbClr val="4A7EBB"/>
            </a:solidFill>
          </a:ln>
        </p:spPr>
        <p:txBody>
          <a:bodyPr wrap="square" lIns="0" tIns="0" rIns="0" bIns="0" rtlCol="0"/>
          <a:lstStyle/>
          <a:p>
            <a:endParaRPr dirty="0"/>
          </a:p>
        </p:txBody>
      </p:sp>
      <p:sp>
        <p:nvSpPr>
          <p:cNvPr id="6" name="object 6"/>
          <p:cNvSpPr/>
          <p:nvPr/>
        </p:nvSpPr>
        <p:spPr>
          <a:xfrm>
            <a:off x="5946" y="338989"/>
            <a:ext cx="9138052" cy="3950983"/>
          </a:xfrm>
          <a:prstGeom prst="rect">
            <a:avLst/>
          </a:prstGeom>
          <a:blipFill>
            <a:blip r:embed="rId3" cstate="print">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7" name="object 7"/>
          <p:cNvSpPr/>
          <p:nvPr/>
        </p:nvSpPr>
        <p:spPr>
          <a:xfrm>
            <a:off x="5947" y="2732684"/>
            <a:ext cx="9138285" cy="632460"/>
          </a:xfrm>
          <a:custGeom>
            <a:avLst/>
            <a:gdLst/>
            <a:ahLst/>
            <a:cxnLst/>
            <a:rect l="l" t="t" r="r" b="b"/>
            <a:pathLst>
              <a:path w="9138285" h="632460">
                <a:moveTo>
                  <a:pt x="0" y="0"/>
                </a:moveTo>
                <a:lnTo>
                  <a:pt x="9138053" y="0"/>
                </a:lnTo>
                <a:lnTo>
                  <a:pt x="9138053" y="632460"/>
                </a:lnTo>
                <a:lnTo>
                  <a:pt x="0" y="632460"/>
                </a:lnTo>
                <a:lnTo>
                  <a:pt x="0" y="0"/>
                </a:lnTo>
                <a:close/>
              </a:path>
            </a:pathLst>
          </a:custGeom>
          <a:solidFill>
            <a:srgbClr val="000000">
              <a:alpha val="70199"/>
            </a:srgbClr>
          </a:solidFill>
        </p:spPr>
        <p:txBody>
          <a:bodyPr wrap="square" lIns="0" tIns="0" rIns="0" bIns="0" rtlCol="0"/>
          <a:lstStyle/>
          <a:p>
            <a:endParaRPr dirty="0"/>
          </a:p>
        </p:txBody>
      </p:sp>
      <p:sp>
        <p:nvSpPr>
          <p:cNvPr id="8" name="object 8"/>
          <p:cNvSpPr txBox="1"/>
          <p:nvPr/>
        </p:nvSpPr>
        <p:spPr>
          <a:xfrm>
            <a:off x="221846" y="2786328"/>
            <a:ext cx="5493153" cy="443711"/>
          </a:xfrm>
          <a:prstGeom prst="rect">
            <a:avLst/>
          </a:prstGeom>
        </p:spPr>
        <p:txBody>
          <a:bodyPr vert="horz" wrap="square" lIns="0" tIns="12700" rIns="0" bIns="0" rtlCol="0">
            <a:spAutoFit/>
          </a:bodyPr>
          <a:lstStyle/>
          <a:p>
            <a:pPr marL="12700">
              <a:spcBef>
                <a:spcPts val="100"/>
              </a:spcBef>
            </a:pPr>
            <a:r>
              <a:rPr sz="2800" dirty="0">
                <a:solidFill>
                  <a:srgbClr val="FFFFFF"/>
                </a:solidFill>
                <a:latin typeface="Franklin Gothic Book" panose="020B0503020102020204" pitchFamily="34" charset="0"/>
                <a:cs typeface="Arial"/>
              </a:rPr>
              <a:t>A Conversation of Possibility</a:t>
            </a:r>
            <a:endParaRPr sz="2800" dirty="0">
              <a:latin typeface="Franklin Gothic Book" panose="020B0503020102020204" pitchFamily="34" charset="0"/>
              <a:cs typeface="Arial"/>
            </a:endParaRPr>
          </a:p>
        </p:txBody>
      </p:sp>
      <p:sp>
        <p:nvSpPr>
          <p:cNvPr id="9" name="object 9"/>
          <p:cNvSpPr txBox="1"/>
          <p:nvPr/>
        </p:nvSpPr>
        <p:spPr>
          <a:xfrm>
            <a:off x="152400" y="4790286"/>
            <a:ext cx="5734050" cy="192360"/>
          </a:xfrm>
          <a:prstGeom prst="rect">
            <a:avLst/>
          </a:prstGeom>
        </p:spPr>
        <p:txBody>
          <a:bodyPr vert="horz" wrap="square" lIns="0" tIns="12700" rIns="0" bIns="0" rtlCol="0">
            <a:spAutoFit/>
          </a:bodyPr>
          <a:lstStyle/>
          <a:p>
            <a:pPr marL="12700" marR="5080">
              <a:lnSpc>
                <a:spcPts val="700"/>
              </a:lnSpc>
              <a:spcBef>
                <a:spcPts val="1365"/>
              </a:spcBef>
            </a:pPr>
            <a:r>
              <a:rPr sz="700" spc="-25" dirty="0">
                <a:solidFill>
                  <a:srgbClr val="7F7F7F"/>
                </a:solidFill>
                <a:latin typeface="Franklin Gothic Book" panose="020B0503020102020204" pitchFamily="34" charset="0"/>
                <a:cs typeface="Arial"/>
              </a:rPr>
              <a:t>All </a:t>
            </a:r>
            <a:r>
              <a:rPr sz="700" spc="-10" dirty="0">
                <a:solidFill>
                  <a:srgbClr val="7F7F7F"/>
                </a:solidFill>
                <a:latin typeface="Franklin Gothic Book" panose="020B0503020102020204" pitchFamily="34" charset="0"/>
                <a:cs typeface="Arial"/>
              </a:rPr>
              <a:t>materials </a:t>
            </a:r>
            <a:r>
              <a:rPr sz="700" spc="-20" dirty="0">
                <a:solidFill>
                  <a:srgbClr val="7F7F7F"/>
                </a:solidFill>
                <a:latin typeface="Franklin Gothic Book" panose="020B0503020102020204" pitchFamily="34" charset="0"/>
                <a:cs typeface="Arial"/>
              </a:rPr>
              <a:t>and </a:t>
            </a:r>
            <a:r>
              <a:rPr sz="700" spc="-15" dirty="0">
                <a:solidFill>
                  <a:srgbClr val="7F7F7F"/>
                </a:solidFill>
                <a:latin typeface="Franklin Gothic Book" panose="020B0503020102020204" pitchFamily="34" charset="0"/>
                <a:cs typeface="Arial"/>
              </a:rPr>
              <a:t>methodologies are </a:t>
            </a:r>
            <a:r>
              <a:rPr sz="600" spc="-25" dirty="0">
                <a:solidFill>
                  <a:srgbClr val="7F7F7F"/>
                </a:solidFill>
                <a:latin typeface="Franklin Gothic Book" panose="020B0503020102020204" pitchFamily="34" charset="0"/>
                <a:cs typeface="Arial"/>
              </a:rPr>
              <a:t>copy </a:t>
            </a:r>
            <a:r>
              <a:rPr sz="700" spc="-5" dirty="0">
                <a:solidFill>
                  <a:srgbClr val="7F7F7F"/>
                </a:solidFill>
                <a:latin typeface="Franklin Gothic Book" panose="020B0503020102020204" pitchFamily="34" charset="0"/>
                <a:cs typeface="Arial"/>
              </a:rPr>
              <a:t>written </a:t>
            </a:r>
            <a:r>
              <a:rPr sz="700" spc="-20" dirty="0">
                <a:solidFill>
                  <a:srgbClr val="7F7F7F"/>
                </a:solidFill>
                <a:latin typeface="Franklin Gothic Book" panose="020B0503020102020204" pitchFamily="34" charset="0"/>
                <a:cs typeface="Arial"/>
              </a:rPr>
              <a:t>and </a:t>
            </a:r>
            <a:r>
              <a:rPr sz="700" spc="-10" dirty="0">
                <a:solidFill>
                  <a:srgbClr val="7F7F7F"/>
                </a:solidFill>
                <a:latin typeface="Franklin Gothic Book" panose="020B0503020102020204" pitchFamily="34" charset="0"/>
                <a:cs typeface="Arial"/>
              </a:rPr>
              <a:t>protected Intellectual </a:t>
            </a:r>
            <a:r>
              <a:rPr sz="700" spc="-20" dirty="0">
                <a:solidFill>
                  <a:srgbClr val="7F7F7F"/>
                </a:solidFill>
                <a:latin typeface="Franklin Gothic Book" panose="020B0503020102020204" pitchFamily="34" charset="0"/>
                <a:cs typeface="Arial"/>
              </a:rPr>
              <a:t>Property </a:t>
            </a:r>
            <a:r>
              <a:rPr sz="700" spc="-5" dirty="0">
                <a:solidFill>
                  <a:srgbClr val="7F7F7F"/>
                </a:solidFill>
                <a:latin typeface="Franklin Gothic Book" panose="020B0503020102020204" pitchFamily="34" charset="0"/>
                <a:cs typeface="Arial"/>
              </a:rPr>
              <a:t>of </a:t>
            </a:r>
            <a:r>
              <a:rPr sz="700" spc="-15" dirty="0">
                <a:solidFill>
                  <a:srgbClr val="7F7F7F"/>
                </a:solidFill>
                <a:latin typeface="Franklin Gothic Book" panose="020B0503020102020204" pitchFamily="34" charset="0"/>
                <a:cs typeface="Arial"/>
              </a:rPr>
              <a:t>Kate </a:t>
            </a:r>
            <a:r>
              <a:rPr sz="700" spc="-20" dirty="0">
                <a:solidFill>
                  <a:srgbClr val="7F7F7F"/>
                </a:solidFill>
                <a:latin typeface="Franklin Gothic Book" panose="020B0503020102020204" pitchFamily="34" charset="0"/>
                <a:cs typeface="Arial"/>
              </a:rPr>
              <a:t>Burda </a:t>
            </a:r>
            <a:r>
              <a:rPr sz="700" spc="-5" dirty="0">
                <a:solidFill>
                  <a:srgbClr val="7F7F7F"/>
                </a:solidFill>
                <a:latin typeface="Franklin Gothic Book" panose="020B0503020102020204" pitchFamily="34" charset="0"/>
                <a:cs typeface="Arial"/>
              </a:rPr>
              <a:t>&amp; </a:t>
            </a:r>
            <a:r>
              <a:rPr sz="700" spc="-35" dirty="0">
                <a:solidFill>
                  <a:srgbClr val="7F7F7F"/>
                </a:solidFill>
                <a:latin typeface="Franklin Gothic Book" panose="020B0503020102020204" pitchFamily="34" charset="0"/>
                <a:cs typeface="Arial"/>
              </a:rPr>
              <a:t>Company </a:t>
            </a:r>
            <a:r>
              <a:rPr sz="700" spc="-20" dirty="0">
                <a:solidFill>
                  <a:srgbClr val="7F7F7F"/>
                </a:solidFill>
                <a:latin typeface="Franklin Gothic Book" panose="020B0503020102020204" pitchFamily="34" charset="0"/>
                <a:cs typeface="Arial"/>
              </a:rPr>
              <a:t>and </a:t>
            </a:r>
            <a:r>
              <a:rPr sz="700" spc="-10" dirty="0">
                <a:solidFill>
                  <a:srgbClr val="7F7F7F"/>
                </a:solidFill>
                <a:latin typeface="Franklin Gothic Book" panose="020B0503020102020204" pitchFamily="34" charset="0"/>
                <a:cs typeface="Arial"/>
              </a:rPr>
              <a:t>for </a:t>
            </a:r>
            <a:r>
              <a:rPr sz="700" spc="-5" dirty="0">
                <a:solidFill>
                  <a:srgbClr val="7F7F7F"/>
                </a:solidFill>
                <a:latin typeface="Franklin Gothic Book" panose="020B0503020102020204" pitchFamily="34" charset="0"/>
                <a:cs typeface="Arial"/>
              </a:rPr>
              <a:t>the </a:t>
            </a:r>
            <a:r>
              <a:rPr sz="700" spc="-25" dirty="0">
                <a:solidFill>
                  <a:srgbClr val="7F7F7F"/>
                </a:solidFill>
                <a:latin typeface="Franklin Gothic Book" panose="020B0503020102020204" pitchFamily="34" charset="0"/>
                <a:cs typeface="Arial"/>
              </a:rPr>
              <a:t>express </a:t>
            </a:r>
            <a:r>
              <a:rPr sz="700" spc="-20" dirty="0">
                <a:solidFill>
                  <a:srgbClr val="7F7F7F"/>
                </a:solidFill>
                <a:latin typeface="Franklin Gothic Book" panose="020B0503020102020204" pitchFamily="34" charset="0"/>
                <a:cs typeface="Arial"/>
              </a:rPr>
              <a:t>purpose </a:t>
            </a:r>
            <a:r>
              <a:rPr lang="en-US" sz="700" spc="-10" dirty="0">
                <a:solidFill>
                  <a:srgbClr val="7F7F7F"/>
                </a:solidFill>
                <a:latin typeface="Franklin Gothic Book" panose="020B0503020102020204" pitchFamily="34" charset="0"/>
                <a:cs typeface="Arial"/>
              </a:rPr>
              <a:t>for Kalibri Labs</a:t>
            </a:r>
            <a:r>
              <a:rPr sz="700" spc="-15" dirty="0">
                <a:solidFill>
                  <a:srgbClr val="7F7F7F"/>
                </a:solidFill>
                <a:latin typeface="Franklin Gothic Book" panose="020B0503020102020204" pitchFamily="34" charset="0"/>
                <a:cs typeface="Arial"/>
              </a:rPr>
              <a:t>, </a:t>
            </a:r>
            <a:r>
              <a:rPr sz="700" spc="-25" dirty="0">
                <a:solidFill>
                  <a:srgbClr val="7F7F7F"/>
                </a:solidFill>
                <a:latin typeface="Franklin Gothic Book" panose="020B0503020102020204" pitchFamily="34" charset="0"/>
                <a:cs typeface="Arial"/>
              </a:rPr>
              <a:t>systems,  </a:t>
            </a:r>
            <a:r>
              <a:rPr sz="700" spc="-20" dirty="0">
                <a:solidFill>
                  <a:srgbClr val="7F7F7F"/>
                </a:solidFill>
                <a:latin typeface="Franklin Gothic Book" panose="020B0503020102020204" pitchFamily="34" charset="0"/>
                <a:cs typeface="Arial"/>
              </a:rPr>
              <a:t>and </a:t>
            </a:r>
            <a:r>
              <a:rPr sz="700" spc="-15" dirty="0">
                <a:solidFill>
                  <a:srgbClr val="7F7F7F"/>
                </a:solidFill>
                <a:latin typeface="Franklin Gothic Book" panose="020B0503020102020204" pitchFamily="34" charset="0"/>
                <a:cs typeface="Arial"/>
              </a:rPr>
              <a:t>constructs are </a:t>
            </a:r>
            <a:r>
              <a:rPr sz="700" spc="-10" dirty="0">
                <a:solidFill>
                  <a:srgbClr val="7F7F7F"/>
                </a:solidFill>
                <a:latin typeface="Franklin Gothic Book" panose="020B0503020102020204" pitchFamily="34" charset="0"/>
                <a:cs typeface="Arial"/>
              </a:rPr>
              <a:t>not for </a:t>
            </a:r>
            <a:r>
              <a:rPr sz="700" spc="-15" dirty="0">
                <a:solidFill>
                  <a:srgbClr val="7F7F7F"/>
                </a:solidFill>
                <a:latin typeface="Franklin Gothic Book" panose="020B0503020102020204" pitchFamily="34" charset="0"/>
                <a:cs typeface="Arial"/>
              </a:rPr>
              <a:t>external </a:t>
            </a:r>
            <a:r>
              <a:rPr sz="700" spc="-5" dirty="0">
                <a:solidFill>
                  <a:srgbClr val="7F7F7F"/>
                </a:solidFill>
                <a:latin typeface="Franklin Gothic Book" panose="020B0503020102020204" pitchFamily="34" charset="0"/>
                <a:cs typeface="Arial"/>
              </a:rPr>
              <a:t>distribution </a:t>
            </a:r>
            <a:r>
              <a:rPr sz="700" spc="-20" dirty="0">
                <a:solidFill>
                  <a:srgbClr val="7F7F7F"/>
                </a:solidFill>
                <a:latin typeface="Franklin Gothic Book" panose="020B0503020102020204" pitchFamily="34" charset="0"/>
                <a:cs typeface="Arial"/>
              </a:rPr>
              <a:t>and </a:t>
            </a:r>
            <a:r>
              <a:rPr sz="700" spc="-15" dirty="0">
                <a:solidFill>
                  <a:srgbClr val="7F7F7F"/>
                </a:solidFill>
                <a:latin typeface="Franklin Gothic Book" panose="020B0503020102020204" pitchFamily="34" charset="0"/>
                <a:cs typeface="Arial"/>
              </a:rPr>
              <a:t>are</a:t>
            </a:r>
            <a:r>
              <a:rPr sz="700" spc="-55" dirty="0">
                <a:solidFill>
                  <a:srgbClr val="7F7F7F"/>
                </a:solidFill>
                <a:latin typeface="Franklin Gothic Book" panose="020B0503020102020204" pitchFamily="34" charset="0"/>
                <a:cs typeface="Arial"/>
              </a:rPr>
              <a:t> </a:t>
            </a:r>
            <a:r>
              <a:rPr sz="700" spc="-10" dirty="0">
                <a:solidFill>
                  <a:srgbClr val="7F7F7F"/>
                </a:solidFill>
                <a:latin typeface="Franklin Gothic Book" panose="020B0503020102020204" pitchFamily="34" charset="0"/>
                <a:cs typeface="Arial"/>
              </a:rPr>
              <a:t>protected.</a:t>
            </a:r>
            <a:endParaRPr sz="700" dirty="0">
              <a:latin typeface="Franklin Gothic Book" panose="020B0503020102020204" pitchFamily="34" charset="0"/>
              <a:cs typeface="Arial"/>
            </a:endParaRPr>
          </a:p>
        </p:txBody>
      </p:sp>
      <p:pic>
        <p:nvPicPr>
          <p:cNvPr id="11" name="Picture 10">
            <a:extLst>
              <a:ext uri="{FF2B5EF4-FFF2-40B4-BE49-F238E27FC236}">
                <a16:creationId xmlns:a16="http://schemas.microsoft.com/office/drawing/2014/main" id="{783FA7C5-5E86-8046-89BB-AF3BE37009E7}"/>
              </a:ext>
            </a:extLst>
          </p:cNvPr>
          <p:cNvPicPr>
            <a:picLocks noChangeAspect="1"/>
          </p:cNvPicPr>
          <p:nvPr/>
        </p:nvPicPr>
        <p:blipFill>
          <a:blip r:embed="rId4"/>
          <a:stretch>
            <a:fillRect/>
          </a:stretch>
        </p:blipFill>
        <p:spPr>
          <a:xfrm>
            <a:off x="7435272" y="4296313"/>
            <a:ext cx="1702781" cy="867659"/>
          </a:xfrm>
          <a:prstGeom prst="rect">
            <a:avLst/>
          </a:prstGeom>
        </p:spPr>
      </p:pic>
    </p:spTree>
    <p:extLst>
      <p:ext uri="{BB962C8B-B14F-4D97-AF65-F5344CB8AC3E}">
        <p14:creationId xmlns:p14="http://schemas.microsoft.com/office/powerpoint/2010/main" val="16547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 Diagonal Corner Rectangle 10"/>
          <p:cNvSpPr/>
          <p:nvPr/>
        </p:nvSpPr>
        <p:spPr>
          <a:xfrm>
            <a:off x="3267796" y="1129056"/>
            <a:ext cx="2854709" cy="3871878"/>
          </a:xfrm>
          <a:prstGeom prst="round2DiagRect">
            <a:avLst/>
          </a:prstGeom>
          <a:solidFill>
            <a:schemeClr val="bg1">
              <a:lumMod val="9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ound Diagonal Corner Rectangle 13"/>
          <p:cNvSpPr/>
          <p:nvPr/>
        </p:nvSpPr>
        <p:spPr>
          <a:xfrm>
            <a:off x="6320921" y="1129055"/>
            <a:ext cx="2620719" cy="3871878"/>
          </a:xfrm>
          <a:prstGeom prst="round2DiagRect">
            <a:avLst/>
          </a:prstGeom>
          <a:solidFill>
            <a:schemeClr val="bg1">
              <a:lumMod val="9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Chevron 12"/>
          <p:cNvSpPr/>
          <p:nvPr/>
        </p:nvSpPr>
        <p:spPr>
          <a:xfrm>
            <a:off x="6198802" y="793131"/>
            <a:ext cx="2911384" cy="345337"/>
          </a:xfrm>
          <a:prstGeom prst="chevron">
            <a:avLst/>
          </a:prstGeom>
          <a:solidFill>
            <a:srgbClr val="BA3967"/>
          </a:solidFill>
          <a:ln>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FFFF"/>
              </a:solidFill>
            </a:endParaRPr>
          </a:p>
        </p:txBody>
      </p:sp>
      <p:sp>
        <p:nvSpPr>
          <p:cNvPr id="12" name="Chevron 11"/>
          <p:cNvSpPr/>
          <p:nvPr/>
        </p:nvSpPr>
        <p:spPr>
          <a:xfrm>
            <a:off x="3211402" y="793131"/>
            <a:ext cx="3089641" cy="345337"/>
          </a:xfrm>
          <a:prstGeom prst="chevron">
            <a:avLst/>
          </a:prstGeom>
          <a:solidFill>
            <a:srgbClr val="BA3967"/>
          </a:solidFill>
          <a:ln>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FFFF"/>
              </a:solidFill>
            </a:endParaRPr>
          </a:p>
        </p:txBody>
      </p:sp>
      <p:sp>
        <p:nvSpPr>
          <p:cNvPr id="10" name="Round Diagonal Corner Rectangle 9"/>
          <p:cNvSpPr/>
          <p:nvPr/>
        </p:nvSpPr>
        <p:spPr>
          <a:xfrm>
            <a:off x="112510" y="1129055"/>
            <a:ext cx="3052642" cy="3871879"/>
          </a:xfrm>
          <a:prstGeom prst="round2DiagRect">
            <a:avLst/>
          </a:prstGeom>
          <a:solidFill>
            <a:schemeClr val="bg1">
              <a:lumMod val="9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Pentagon 5"/>
          <p:cNvSpPr/>
          <p:nvPr/>
        </p:nvSpPr>
        <p:spPr>
          <a:xfrm>
            <a:off x="0" y="793131"/>
            <a:ext cx="3331168" cy="335925"/>
          </a:xfrm>
          <a:prstGeom prst="homePlate">
            <a:avLst/>
          </a:prstGeom>
          <a:solidFill>
            <a:srgbClr val="BA3967"/>
          </a:solidFill>
          <a:ln>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FFFF"/>
              </a:solidFill>
            </a:endParaRPr>
          </a:p>
        </p:txBody>
      </p:sp>
      <p:sp>
        <p:nvSpPr>
          <p:cNvPr id="3" name="Title 2"/>
          <p:cNvSpPr>
            <a:spLocks noGrp="1"/>
          </p:cNvSpPr>
          <p:nvPr>
            <p:ph type="ctrTitle"/>
          </p:nvPr>
        </p:nvSpPr>
        <p:spPr/>
        <p:txBody>
          <a:bodyPr>
            <a:normAutofit fontScale="90000"/>
          </a:bodyPr>
          <a:lstStyle/>
          <a:p>
            <a:r>
              <a:rPr lang="en-US" sz="2800" dirty="0">
                <a:solidFill>
                  <a:schemeClr val="tx1">
                    <a:lumMod val="50000"/>
                    <a:lumOff val="50000"/>
                  </a:schemeClr>
                </a:solidFill>
                <a:latin typeface="Franklin Gothic Book"/>
                <a:cs typeface="Franklin Gothic Book"/>
              </a:rPr>
              <a:t>We create impact</a:t>
            </a:r>
          </a:p>
        </p:txBody>
      </p:sp>
      <p:sp>
        <p:nvSpPr>
          <p:cNvPr id="4" name="Rectangle 3"/>
          <p:cNvSpPr/>
          <p:nvPr/>
        </p:nvSpPr>
        <p:spPr>
          <a:xfrm>
            <a:off x="124272" y="810012"/>
            <a:ext cx="3068413" cy="4539704"/>
          </a:xfrm>
          <a:prstGeom prst="rect">
            <a:avLst/>
          </a:prstGeom>
        </p:spPr>
        <p:txBody>
          <a:bodyPr wrap="square" lIns="91440" tIns="45720" rIns="91440" bIns="45720" anchor="t">
            <a:spAutoFit/>
          </a:bodyPr>
          <a:lstStyle/>
          <a:p>
            <a:r>
              <a:rPr lang="en-US" sz="1600" b="1" dirty="0">
                <a:solidFill>
                  <a:srgbClr val="FFFFFF"/>
                </a:solidFill>
                <a:latin typeface="Franklin Gothic Book"/>
                <a:cs typeface="Franklin Gothic Book"/>
              </a:rPr>
              <a:t>WHAT YOU CARE ABOUT…</a:t>
            </a:r>
          </a:p>
          <a:p>
            <a:endParaRPr lang="en-US" sz="1400" dirty="0">
              <a:latin typeface="Franklin Gothic Book" panose="020B0503020102020204" pitchFamily="34" charset="0"/>
              <a:cs typeface="Franklin Gothic Book"/>
            </a:endParaRPr>
          </a:p>
          <a:p>
            <a:pPr marL="171450" indent="-171450">
              <a:buFont typeface="Arial" panose="020B0604020202020204" pitchFamily="34" charset="0"/>
              <a:buChar char="•"/>
            </a:pPr>
            <a:r>
              <a:rPr lang="en-US" sz="1400" b="1" dirty="0">
                <a:latin typeface="Franklin Gothic Book"/>
              </a:rPr>
              <a:t>Building out the ”Revenue Trifecta” Marketing is the last of the piece of the commercial puzzle. </a:t>
            </a:r>
            <a:endParaRPr lang="en-US" sz="1400" b="1" dirty="0">
              <a:latin typeface="Franklin Gothic Book" panose="020B0503020102020204" pitchFamily="34" charset="0"/>
            </a:endParaRPr>
          </a:p>
          <a:p>
            <a:pPr marL="171450" indent="-171450">
              <a:buFont typeface="Arial" panose="020B0604020202020204" pitchFamily="34" charset="0"/>
              <a:buChar char="•"/>
            </a:pPr>
            <a:endParaRPr lang="en-US" sz="1100" b="1" dirty="0">
              <a:latin typeface="Franklin Gothic Book"/>
            </a:endParaRPr>
          </a:p>
          <a:p>
            <a:pPr marL="171450" indent="-171450">
              <a:buFont typeface="Arial" panose="020B0604020202020204" pitchFamily="34" charset="0"/>
              <a:buChar char="•"/>
            </a:pPr>
            <a:r>
              <a:rPr lang="en-US" sz="1400" b="1" dirty="0">
                <a:latin typeface="Franklin Gothic Book" panose="020B0503020102020204" pitchFamily="34" charset="0"/>
              </a:rPr>
              <a:t>Marketing structure that starts at the foundational level and builds to a more evolved state (Crawl, Walk, Run).</a:t>
            </a:r>
          </a:p>
          <a:p>
            <a:pPr marL="171450" indent="-171450">
              <a:buFont typeface="Arial" panose="020B0604020202020204" pitchFamily="34" charset="0"/>
              <a:buChar char="•"/>
            </a:pPr>
            <a:endParaRPr lang="en-US" sz="800" b="1" dirty="0">
              <a:latin typeface="Franklin Gothic Book" panose="020B0503020102020204" pitchFamily="34" charset="0"/>
            </a:endParaRPr>
          </a:p>
          <a:p>
            <a:pPr marL="171450" indent="-171450">
              <a:buFont typeface="Arial" panose="020B0604020202020204" pitchFamily="34" charset="0"/>
              <a:buChar char="•"/>
            </a:pPr>
            <a:r>
              <a:rPr lang="en-US" sz="1400" b="1" dirty="0">
                <a:latin typeface="Franklin Gothic Book" panose="020B0503020102020204" pitchFamily="34" charset="0"/>
              </a:rPr>
              <a:t>Get things done, while we are building the structure.  (Build the plane in flight).</a:t>
            </a:r>
          </a:p>
          <a:p>
            <a:pPr marL="171450" indent="-171450">
              <a:buFont typeface="Arial" panose="020B0604020202020204" pitchFamily="34" charset="0"/>
              <a:buChar char="•"/>
            </a:pPr>
            <a:endParaRPr lang="en-US" sz="600" b="1" dirty="0">
              <a:latin typeface="Franklin Gothic Book" panose="020B0503020102020204" pitchFamily="34" charset="0"/>
            </a:endParaRPr>
          </a:p>
          <a:p>
            <a:pPr marL="171450" indent="-171450">
              <a:buFont typeface="Arial" panose="020B0604020202020204" pitchFamily="34" charset="0"/>
              <a:buChar char="•"/>
            </a:pPr>
            <a:r>
              <a:rPr lang="en-US" sz="1400" b="1" dirty="0">
                <a:latin typeface="Franklin Gothic Book" panose="020B0503020102020204" pitchFamily="34" charset="0"/>
              </a:rPr>
              <a:t>Leveraging what Kalibri already has within thought-leadership, brand, and core areas to a programmatic way to enable sales and client services.</a:t>
            </a:r>
          </a:p>
          <a:p>
            <a:endParaRPr lang="en-US" sz="700" b="1" dirty="0">
              <a:latin typeface="Franklin Gothic Book" panose="020B0503020102020204" pitchFamily="34" charset="0"/>
            </a:endParaRPr>
          </a:p>
          <a:p>
            <a:endParaRPr lang="en-US" sz="1400" b="1" dirty="0">
              <a:latin typeface="Franklin Gothic Book" panose="020B0503020102020204" pitchFamily="34" charset="0"/>
              <a:cs typeface="Franklin Gothic Book"/>
            </a:endParaRPr>
          </a:p>
        </p:txBody>
      </p:sp>
      <p:sp>
        <p:nvSpPr>
          <p:cNvPr id="2" name="TextBox 1"/>
          <p:cNvSpPr txBox="1"/>
          <p:nvPr/>
        </p:nvSpPr>
        <p:spPr>
          <a:xfrm>
            <a:off x="3301186" y="793131"/>
            <a:ext cx="2837162" cy="4339650"/>
          </a:xfrm>
          <a:prstGeom prst="rect">
            <a:avLst/>
          </a:prstGeom>
          <a:noFill/>
        </p:spPr>
        <p:txBody>
          <a:bodyPr wrap="square" rtlCol="0">
            <a:spAutoFit/>
          </a:bodyPr>
          <a:lstStyle/>
          <a:p>
            <a:r>
              <a:rPr lang="en-US" sz="1600" b="1" dirty="0">
                <a:solidFill>
                  <a:srgbClr val="FFFFFF"/>
                </a:solidFill>
                <a:latin typeface="Franklin Gothic Book" charset="0"/>
                <a:ea typeface="Franklin Gothic Book" charset="0"/>
                <a:cs typeface="Franklin Gothic Book" charset="0"/>
              </a:rPr>
              <a:t>WHAT YOU GET…	</a:t>
            </a:r>
          </a:p>
          <a:p>
            <a:endParaRPr lang="en-US" sz="400" dirty="0">
              <a:latin typeface="Franklin Gothic Book" charset="0"/>
              <a:ea typeface="Franklin Gothic Book" charset="0"/>
              <a:cs typeface="Franklin Gothic Book" charset="0"/>
            </a:endParaRPr>
          </a:p>
          <a:p>
            <a:endParaRPr lang="en-US" sz="400" dirty="0">
              <a:latin typeface="Franklin Gothic Book" charset="0"/>
              <a:ea typeface="Franklin Gothic Book" charset="0"/>
              <a:cs typeface="Franklin Gothic Book" charset="0"/>
            </a:endParaRPr>
          </a:p>
          <a:p>
            <a:pPr marL="285750" indent="-285750">
              <a:buFont typeface="Arial" panose="020B0604020202020204" pitchFamily="34" charset="0"/>
              <a:buChar char="•"/>
            </a:pPr>
            <a:endParaRPr lang="en-US" sz="1400" b="1" i="1" dirty="0">
              <a:latin typeface="Franklin Gothic Book" charset="0"/>
              <a:ea typeface="Franklin Gothic Book" charset="0"/>
              <a:cs typeface="Franklin Gothic Book" charset="0"/>
            </a:endParaRPr>
          </a:p>
          <a:p>
            <a:pPr marL="285750" indent="-285750">
              <a:buFont typeface="Arial" panose="020B0604020202020204" pitchFamily="34" charset="0"/>
              <a:buChar char="•"/>
            </a:pPr>
            <a:r>
              <a:rPr lang="en-US" sz="1400" b="1" i="1" dirty="0">
                <a:latin typeface="Franklin Gothic Book" charset="0"/>
                <a:ea typeface="Franklin Gothic Book" charset="0"/>
                <a:cs typeface="Franklin Gothic Book" charset="0"/>
              </a:rPr>
              <a:t>‘Vision-to-Value’ roadmap focused on revenue outcomes attached to marketing strategy.</a:t>
            </a:r>
          </a:p>
          <a:p>
            <a:endParaRPr lang="en-US" sz="800" b="1" i="1" dirty="0">
              <a:latin typeface="Franklin Gothic Book" charset="0"/>
              <a:ea typeface="Franklin Gothic Book" charset="0"/>
              <a:cs typeface="Franklin Gothic Book" charset="0"/>
            </a:endParaRPr>
          </a:p>
          <a:p>
            <a:pPr marL="285750" indent="-285750">
              <a:buFont typeface="Arial" panose="020B0604020202020204" pitchFamily="34" charset="0"/>
              <a:buChar char="•"/>
            </a:pPr>
            <a:r>
              <a:rPr lang="en-US" sz="1400" b="1" i="1" dirty="0">
                <a:latin typeface="Franklin Gothic Book" charset="0"/>
                <a:ea typeface="Franklin Gothic Book" charset="0"/>
                <a:cs typeface="Franklin Gothic Book" charset="0"/>
              </a:rPr>
              <a:t>Proven and Pragmatic Approach in a go-to-market strategy.</a:t>
            </a:r>
          </a:p>
          <a:p>
            <a:pPr marL="285750" indent="-285750">
              <a:buFont typeface="Arial" panose="020B0604020202020204" pitchFamily="34" charset="0"/>
              <a:buChar char="•"/>
            </a:pPr>
            <a:endParaRPr lang="en-US" sz="1400" b="1" i="1" dirty="0">
              <a:latin typeface="Franklin Gothic Book" charset="0"/>
              <a:ea typeface="Franklin Gothic Book" charset="0"/>
              <a:cs typeface="Franklin Gothic Book" charset="0"/>
            </a:endParaRPr>
          </a:p>
          <a:p>
            <a:pPr marL="285750" indent="-285750">
              <a:buFont typeface="Arial" panose="020B0604020202020204" pitchFamily="34" charset="0"/>
              <a:buChar char="•"/>
            </a:pPr>
            <a:r>
              <a:rPr lang="en-US" sz="1400" b="1" i="1" dirty="0">
                <a:latin typeface="Franklin Gothic Book" charset="0"/>
                <a:ea typeface="Franklin Gothic Book" charset="0"/>
                <a:cs typeface="Franklin Gothic Book" charset="0"/>
              </a:rPr>
              <a:t>Build the foundation and beyond, “Know me, Show me, Grow me”</a:t>
            </a:r>
          </a:p>
          <a:p>
            <a:pPr marL="285750" indent="-285750">
              <a:buFont typeface="Arial" panose="020B0604020202020204" pitchFamily="34" charset="0"/>
              <a:buChar char="•"/>
            </a:pPr>
            <a:endParaRPr lang="en-US" sz="1400" b="1" i="1" dirty="0">
              <a:latin typeface="Franklin Gothic Book" charset="0"/>
              <a:ea typeface="Franklin Gothic Book" charset="0"/>
              <a:cs typeface="Franklin Gothic Book" charset="0"/>
            </a:endParaRPr>
          </a:p>
          <a:p>
            <a:pPr marL="285750" indent="-285750">
              <a:buFont typeface="Arial" panose="020B0604020202020204" pitchFamily="34" charset="0"/>
              <a:buChar char="•"/>
            </a:pPr>
            <a:r>
              <a:rPr lang="en-US" sz="1400" b="1" i="1" dirty="0">
                <a:latin typeface="Franklin Gothic Book" charset="0"/>
                <a:ea typeface="Franklin Gothic Book" charset="0"/>
                <a:cs typeface="Franklin Gothic Book" charset="0"/>
              </a:rPr>
              <a:t>Depth and Expertise in the core areas of marketing:</a:t>
            </a:r>
          </a:p>
          <a:p>
            <a:pPr marL="742950" lvl="1" indent="-285750">
              <a:buFont typeface="Arial" panose="020B0604020202020204" pitchFamily="34" charset="0"/>
              <a:buChar char="•"/>
            </a:pPr>
            <a:r>
              <a:rPr lang="en-US" sz="1400" b="1" i="1" dirty="0">
                <a:latin typeface="Franklin Gothic Book" charset="0"/>
                <a:ea typeface="Franklin Gothic Book" charset="0"/>
                <a:cs typeface="Franklin Gothic Book" charset="0"/>
              </a:rPr>
              <a:t>Brand</a:t>
            </a:r>
          </a:p>
          <a:p>
            <a:pPr marL="742950" lvl="1" indent="-285750">
              <a:buFont typeface="Arial" panose="020B0604020202020204" pitchFamily="34" charset="0"/>
              <a:buChar char="•"/>
            </a:pPr>
            <a:r>
              <a:rPr lang="en-US" sz="1400" b="1" i="1" dirty="0">
                <a:latin typeface="Franklin Gothic Book" charset="0"/>
                <a:ea typeface="Franklin Gothic Book" charset="0"/>
                <a:cs typeface="Franklin Gothic Book" charset="0"/>
              </a:rPr>
              <a:t>Awareness</a:t>
            </a:r>
          </a:p>
          <a:p>
            <a:pPr marL="742950" lvl="1" indent="-285750">
              <a:buFont typeface="Arial" panose="020B0604020202020204" pitchFamily="34" charset="0"/>
              <a:buChar char="•"/>
            </a:pPr>
            <a:r>
              <a:rPr lang="en-US" sz="1400" b="1" i="1" dirty="0">
                <a:latin typeface="Franklin Gothic Book" charset="0"/>
                <a:ea typeface="Franklin Gothic Book" charset="0"/>
                <a:cs typeface="Franklin Gothic Book" charset="0"/>
              </a:rPr>
              <a:t>Targeted</a:t>
            </a:r>
            <a:endParaRPr lang="en-US" sz="900" b="1" i="1" dirty="0">
              <a:latin typeface="Franklin Gothic Book" charset="0"/>
              <a:ea typeface="Franklin Gothic Book" charset="0"/>
              <a:cs typeface="Franklin Gothic Book" charset="0"/>
            </a:endParaRPr>
          </a:p>
          <a:p>
            <a:endParaRPr lang="en-US" sz="600" b="1" i="1" dirty="0">
              <a:latin typeface="Franklin Gothic Book" charset="0"/>
              <a:ea typeface="Franklin Gothic Book" charset="0"/>
              <a:cs typeface="Franklin Gothic Book" charset="0"/>
            </a:endParaRPr>
          </a:p>
        </p:txBody>
      </p:sp>
      <p:sp>
        <p:nvSpPr>
          <p:cNvPr id="5" name="TextBox 4"/>
          <p:cNvSpPr txBox="1"/>
          <p:nvPr/>
        </p:nvSpPr>
        <p:spPr>
          <a:xfrm>
            <a:off x="6349705" y="803070"/>
            <a:ext cx="2430674" cy="3785652"/>
          </a:xfrm>
          <a:prstGeom prst="rect">
            <a:avLst/>
          </a:prstGeom>
          <a:noFill/>
        </p:spPr>
        <p:txBody>
          <a:bodyPr wrap="square" lIns="91440" tIns="45720" rIns="91440" bIns="45720" rtlCol="0" anchor="t">
            <a:spAutoFit/>
          </a:bodyPr>
          <a:lstStyle/>
          <a:p>
            <a:r>
              <a:rPr lang="en-US" sz="1600" b="1" dirty="0">
                <a:solidFill>
                  <a:srgbClr val="FFFFFF"/>
                </a:solidFill>
                <a:latin typeface="Franklin Gothic Book"/>
                <a:ea typeface="Franklin Gothic Book" charset="0"/>
                <a:cs typeface="Franklin Gothic Book" charset="0"/>
              </a:rPr>
              <a:t>SO YOU CAN…</a:t>
            </a:r>
          </a:p>
          <a:p>
            <a:endParaRPr lang="en-US" sz="1400" b="1" dirty="0">
              <a:latin typeface="Franklin Gothic Book" charset="0"/>
              <a:ea typeface="Franklin Gothic Book" charset="0"/>
              <a:cs typeface="Franklin Gothic Book" charset="0"/>
            </a:endParaRPr>
          </a:p>
          <a:p>
            <a:pPr marL="285750" indent="-285750">
              <a:buFont typeface="Arial" panose="020B0604020202020204" pitchFamily="34" charset="0"/>
              <a:buChar char="•"/>
            </a:pPr>
            <a:endParaRPr lang="en-US" sz="1400" b="1" dirty="0">
              <a:latin typeface="Franklin Gothic Book"/>
              <a:ea typeface="Franklin Gothic Book" charset="0"/>
              <a:cs typeface="Franklin Gothic Book" charset="0"/>
            </a:endParaRPr>
          </a:p>
          <a:p>
            <a:pPr marL="285750" indent="-285750">
              <a:buFont typeface="Arial" panose="020B0604020202020204" pitchFamily="34" charset="0"/>
              <a:buChar char="•"/>
            </a:pPr>
            <a:endParaRPr lang="en-US" sz="1400" b="1" dirty="0">
              <a:latin typeface="Franklin Gothic Book"/>
              <a:ea typeface="Franklin Gothic Book" charset="0"/>
              <a:cs typeface="Franklin Gothic Book" charset="0"/>
            </a:endParaRPr>
          </a:p>
          <a:p>
            <a:pPr marL="285750" indent="-285750">
              <a:buFont typeface="Arial" panose="020B0604020202020204" pitchFamily="34" charset="0"/>
              <a:buChar char="•"/>
            </a:pPr>
            <a:r>
              <a:rPr lang="en-US" sz="1400" b="1" dirty="0">
                <a:latin typeface="Franklin Gothic Book"/>
                <a:ea typeface="Franklin Gothic Book" charset="0"/>
                <a:cs typeface="Franklin Gothic Book" charset="0"/>
              </a:rPr>
              <a:t>Sales enablement </a:t>
            </a:r>
            <a:endParaRPr lang="en-US" dirty="0">
              <a:cs typeface="Calibri"/>
            </a:endParaRPr>
          </a:p>
          <a:p>
            <a:endParaRPr lang="en-US" sz="1400" b="1" dirty="0">
              <a:latin typeface="Franklin Gothic Book" charset="0"/>
              <a:ea typeface="Franklin Gothic Book" charset="0"/>
              <a:cs typeface="Franklin Gothic Book" charset="0"/>
            </a:endParaRPr>
          </a:p>
          <a:p>
            <a:pPr marL="285750" indent="-285750">
              <a:buFont typeface="Arial" panose="020B0604020202020204" pitchFamily="34" charset="0"/>
              <a:buChar char="•"/>
            </a:pPr>
            <a:r>
              <a:rPr lang="en-US" sz="1400" b="1" dirty="0">
                <a:latin typeface="Franklin Gothic Book" charset="0"/>
                <a:ea typeface="Franklin Gothic Book" charset="0"/>
                <a:cs typeface="Franklin Gothic Book" charset="0"/>
              </a:rPr>
              <a:t>Reduce churn</a:t>
            </a:r>
          </a:p>
          <a:p>
            <a:pPr marL="285750" indent="-285750">
              <a:buFont typeface="Arial" panose="020B0604020202020204" pitchFamily="34" charset="0"/>
              <a:buChar char="•"/>
            </a:pPr>
            <a:endParaRPr lang="en-US" sz="1400" b="1" dirty="0">
              <a:latin typeface="Franklin Gothic Book" charset="0"/>
              <a:ea typeface="Franklin Gothic Book" charset="0"/>
              <a:cs typeface="Franklin Gothic Book" charset="0"/>
            </a:endParaRPr>
          </a:p>
          <a:p>
            <a:pPr marL="285750" indent="-285750">
              <a:buFont typeface="Arial" panose="020B0604020202020204" pitchFamily="34" charset="0"/>
              <a:buChar char="•"/>
            </a:pPr>
            <a:r>
              <a:rPr lang="en-US" sz="1400" b="1" dirty="0">
                <a:latin typeface="Franklin Gothic Book" charset="0"/>
                <a:ea typeface="Franklin Gothic Book" charset="0"/>
                <a:cs typeface="Franklin Gothic Book" charset="0"/>
              </a:rPr>
              <a:t>Have a marketing roadmap that is aligned to your strategic plan, vision, and principles. </a:t>
            </a:r>
          </a:p>
          <a:p>
            <a:pPr marL="285750" indent="-285750">
              <a:buFont typeface="Arial" panose="020B0604020202020204" pitchFamily="34" charset="0"/>
              <a:buChar char="•"/>
            </a:pPr>
            <a:endParaRPr lang="en-US" sz="1400" b="1" dirty="0">
              <a:latin typeface="Franklin Gothic Book" charset="0"/>
              <a:ea typeface="Franklin Gothic Book" charset="0"/>
              <a:cs typeface="Franklin Gothic Book" charset="0"/>
            </a:endParaRPr>
          </a:p>
          <a:p>
            <a:pPr marL="285750" indent="-285750">
              <a:buFont typeface="Arial" panose="020B0604020202020204" pitchFamily="34" charset="0"/>
              <a:buChar char="•"/>
            </a:pPr>
            <a:r>
              <a:rPr lang="en-US" sz="1400" b="1" dirty="0">
                <a:latin typeface="Franklin Gothic Book" charset="0"/>
                <a:ea typeface="Franklin Gothic Book" charset="0"/>
                <a:cs typeface="Franklin Gothic Book" charset="0"/>
              </a:rPr>
              <a:t>Build the foundation, yet get rolling on initiatives quickly.</a:t>
            </a:r>
          </a:p>
          <a:p>
            <a:endParaRPr lang="en-US" sz="1400" b="1" dirty="0">
              <a:latin typeface="Franklin Gothic Book" charset="0"/>
              <a:ea typeface="Franklin Gothic Book" charset="0"/>
              <a:cs typeface="Franklin Gothic Book" charset="0"/>
            </a:endParaRPr>
          </a:p>
        </p:txBody>
      </p:sp>
      <p:sp>
        <p:nvSpPr>
          <p:cNvPr id="7" name="Slide Number Placeholder 6">
            <a:extLst>
              <a:ext uri="{FF2B5EF4-FFF2-40B4-BE49-F238E27FC236}">
                <a16:creationId xmlns:a16="http://schemas.microsoft.com/office/drawing/2014/main" id="{492D249B-843D-A64A-931B-1CE488C5C8F4}"/>
              </a:ext>
            </a:extLst>
          </p:cNvPr>
          <p:cNvSpPr>
            <a:spLocks noGrp="1"/>
          </p:cNvSpPr>
          <p:nvPr>
            <p:ph type="sldNum" sz="quarter" idx="7"/>
          </p:nvPr>
        </p:nvSpPr>
        <p:spPr>
          <a:xfrm>
            <a:off x="8626901" y="4836025"/>
            <a:ext cx="304800" cy="184666"/>
          </a:xfrm>
        </p:spPr>
        <p:txBody>
          <a:bodyPr/>
          <a:lstStyle/>
          <a:p>
            <a:fld id="{B6F15528-21DE-4FAA-801E-634DDDAF4B2B}" type="slidenum">
              <a:rPr lang="en-US" smtClean="0"/>
              <a:pPr/>
              <a:t>2</a:t>
            </a:fld>
            <a:endParaRPr lang="en-US" dirty="0"/>
          </a:p>
        </p:txBody>
      </p:sp>
    </p:spTree>
    <p:extLst>
      <p:ext uri="{BB962C8B-B14F-4D97-AF65-F5344CB8AC3E}">
        <p14:creationId xmlns:p14="http://schemas.microsoft.com/office/powerpoint/2010/main" val="492905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anim calcmode="lin" valueType="num">
                                      <p:cBhvr additive="base">
                                        <p:cTn id="1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anim calcmode="lin" valueType="num">
                                      <p:cBhvr additive="base">
                                        <p:cTn id="1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anim calcmode="lin" valueType="num">
                                      <p:cBhvr additive="base">
                                        <p:cTn id="1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 calcmode="lin" valueType="num">
                                      <p:cBhvr additive="base">
                                        <p:cTn id="2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 calcmode="lin" valueType="num">
                                      <p:cBhvr additive="base">
                                        <p:cTn id="33"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 calcmode="lin" valueType="num">
                                      <p:cBhvr additive="base">
                                        <p:cTn id="37"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
                                            <p:txEl>
                                              <p:pRg st="11" end="11"/>
                                            </p:txEl>
                                          </p:spTgt>
                                        </p:tgtEl>
                                        <p:attrNameLst>
                                          <p:attrName>style.visibility</p:attrName>
                                        </p:attrNameLst>
                                      </p:cBhvr>
                                      <p:to>
                                        <p:strVal val="visible"/>
                                      </p:to>
                                    </p:set>
                                    <p:anim calcmode="lin" valueType="num">
                                      <p:cBhvr additive="base">
                                        <p:cTn id="41"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
                                            <p:txEl>
                                              <p:pRg st="11" end="1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
                                            <p:txEl>
                                              <p:pRg st="12" end="12"/>
                                            </p:txEl>
                                          </p:spTgt>
                                        </p:tgtEl>
                                        <p:attrNameLst>
                                          <p:attrName>style.visibility</p:attrName>
                                        </p:attrNameLst>
                                      </p:cBhvr>
                                      <p:to>
                                        <p:strVal val="visible"/>
                                      </p:to>
                                    </p:set>
                                    <p:anim calcmode="lin" valueType="num">
                                      <p:cBhvr additive="base">
                                        <p:cTn id="45"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
                                            <p:txEl>
                                              <p:pRg st="12" end="12"/>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2">
                                            <p:txEl>
                                              <p:pRg st="13" end="13"/>
                                            </p:txEl>
                                          </p:spTgt>
                                        </p:tgtEl>
                                        <p:attrNameLst>
                                          <p:attrName>style.visibility</p:attrName>
                                        </p:attrNameLst>
                                      </p:cBhvr>
                                      <p:to>
                                        <p:strVal val="visible"/>
                                      </p:to>
                                    </p:set>
                                    <p:anim calcmode="lin" valueType="num">
                                      <p:cBhvr additive="base">
                                        <p:cTn id="49" dur="500" fill="hold"/>
                                        <p:tgtEl>
                                          <p:spTgt spid="2">
                                            <p:txEl>
                                              <p:pRg st="13" end="1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4" end="4"/>
                                            </p:txEl>
                                          </p:spTgt>
                                        </p:tgtEl>
                                        <p:attrNameLst>
                                          <p:attrName>style.visibility</p:attrName>
                                        </p:attrNameLst>
                                      </p:cBhvr>
                                      <p:to>
                                        <p:strVal val="visible"/>
                                      </p:to>
                                    </p:set>
                                    <p:anim calcmode="lin" valueType="num">
                                      <p:cBhvr additive="base">
                                        <p:cTn id="5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5">
                                            <p:txEl>
                                              <p:pRg st="6" end="6"/>
                                            </p:txEl>
                                          </p:spTgt>
                                        </p:tgtEl>
                                        <p:attrNameLst>
                                          <p:attrName>style.visibility</p:attrName>
                                        </p:attrNameLst>
                                      </p:cBhvr>
                                      <p:to>
                                        <p:strVal val="visible"/>
                                      </p:to>
                                    </p:set>
                                    <p:anim calcmode="lin" valueType="num">
                                      <p:cBhvr additive="base">
                                        <p:cTn id="5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
                                            <p:txEl>
                                              <p:pRg st="6" end="6"/>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5">
                                            <p:txEl>
                                              <p:pRg st="8" end="8"/>
                                            </p:txEl>
                                          </p:spTgt>
                                        </p:tgtEl>
                                        <p:attrNameLst>
                                          <p:attrName>style.visibility</p:attrName>
                                        </p:attrNameLst>
                                      </p:cBhvr>
                                      <p:to>
                                        <p:strVal val="visible"/>
                                      </p:to>
                                    </p:set>
                                    <p:anim calcmode="lin" valueType="num">
                                      <p:cBhvr additive="base">
                                        <p:cTn id="6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5">
                                            <p:txEl>
                                              <p:pRg st="8" end="8"/>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 calcmode="lin" valueType="num">
                                      <p:cBhvr additive="base">
                                        <p:cTn id="6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7">
            <a:extLst>
              <a:ext uri="{FF2B5EF4-FFF2-40B4-BE49-F238E27FC236}">
                <a16:creationId xmlns:a16="http://schemas.microsoft.com/office/drawing/2014/main" id="{F694FC33-D648-F743-A2DF-FDD77585E728}"/>
              </a:ext>
            </a:extLst>
          </p:cNvPr>
          <p:cNvSpPr>
            <a:spLocks noChangeArrowheads="1"/>
          </p:cNvSpPr>
          <p:nvPr/>
        </p:nvSpPr>
        <p:spPr bwMode="auto">
          <a:xfrm>
            <a:off x="897138" y="2015526"/>
            <a:ext cx="4483102" cy="1233315"/>
          </a:xfrm>
          <a:custGeom>
            <a:avLst/>
            <a:gdLst>
              <a:gd name="T0" fmla="*/ 533 w 8894"/>
              <a:gd name="T1" fmla="*/ 715 h 1571"/>
              <a:gd name="T2" fmla="*/ 55 w 8894"/>
              <a:gd name="T3" fmla="*/ 155 h 1571"/>
              <a:gd name="T4" fmla="*/ 55 w 8894"/>
              <a:gd name="T5" fmla="*/ 155 h 1571"/>
              <a:gd name="T6" fmla="*/ 126 w 8894"/>
              <a:gd name="T7" fmla="*/ 0 h 1571"/>
              <a:gd name="T8" fmla="*/ 8249 w 8894"/>
              <a:gd name="T9" fmla="*/ 0 h 1571"/>
              <a:gd name="T10" fmla="*/ 8249 w 8894"/>
              <a:gd name="T11" fmla="*/ 0 h 1571"/>
              <a:gd name="T12" fmla="*/ 8322 w 8894"/>
              <a:gd name="T13" fmla="*/ 36 h 1571"/>
              <a:gd name="T14" fmla="*/ 8866 w 8894"/>
              <a:gd name="T15" fmla="*/ 717 h 1571"/>
              <a:gd name="T16" fmla="*/ 8866 w 8894"/>
              <a:gd name="T17" fmla="*/ 717 h 1571"/>
              <a:gd name="T18" fmla="*/ 8867 w 8894"/>
              <a:gd name="T19" fmla="*/ 833 h 1571"/>
              <a:gd name="T20" fmla="*/ 8322 w 8894"/>
              <a:gd name="T21" fmla="*/ 1534 h 1571"/>
              <a:gd name="T22" fmla="*/ 8322 w 8894"/>
              <a:gd name="T23" fmla="*/ 1534 h 1571"/>
              <a:gd name="T24" fmla="*/ 8248 w 8894"/>
              <a:gd name="T25" fmla="*/ 1570 h 1571"/>
              <a:gd name="T26" fmla="*/ 122 w 8894"/>
              <a:gd name="T27" fmla="*/ 1570 h 1571"/>
              <a:gd name="T28" fmla="*/ 122 w 8894"/>
              <a:gd name="T29" fmla="*/ 1570 h 1571"/>
              <a:gd name="T30" fmla="*/ 51 w 8894"/>
              <a:gd name="T31" fmla="*/ 1417 h 1571"/>
              <a:gd name="T32" fmla="*/ 534 w 8894"/>
              <a:gd name="T33" fmla="*/ 835 h 1571"/>
              <a:gd name="T34" fmla="*/ 534 w 8894"/>
              <a:gd name="T35" fmla="*/ 835 h 1571"/>
              <a:gd name="T36" fmla="*/ 533 w 8894"/>
              <a:gd name="T37" fmla="*/ 715 h 1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894" h="1571">
                <a:moveTo>
                  <a:pt x="533" y="715"/>
                </a:moveTo>
                <a:lnTo>
                  <a:pt x="55" y="155"/>
                </a:lnTo>
                <a:lnTo>
                  <a:pt x="55" y="155"/>
                </a:lnTo>
                <a:cubicBezTo>
                  <a:pt x="3" y="94"/>
                  <a:pt x="46" y="0"/>
                  <a:pt x="126" y="0"/>
                </a:cubicBezTo>
                <a:lnTo>
                  <a:pt x="8249" y="0"/>
                </a:lnTo>
                <a:lnTo>
                  <a:pt x="8249" y="0"/>
                </a:lnTo>
                <a:cubicBezTo>
                  <a:pt x="8277" y="0"/>
                  <a:pt x="8304" y="13"/>
                  <a:pt x="8322" y="36"/>
                </a:cubicBezTo>
                <a:lnTo>
                  <a:pt x="8866" y="717"/>
                </a:lnTo>
                <a:lnTo>
                  <a:pt x="8866" y="717"/>
                </a:lnTo>
                <a:cubicBezTo>
                  <a:pt x="8893" y="751"/>
                  <a:pt x="8893" y="799"/>
                  <a:pt x="8867" y="833"/>
                </a:cubicBezTo>
                <a:lnTo>
                  <a:pt x="8322" y="1534"/>
                </a:lnTo>
                <a:lnTo>
                  <a:pt x="8322" y="1534"/>
                </a:lnTo>
                <a:cubicBezTo>
                  <a:pt x="8304" y="1557"/>
                  <a:pt x="8277" y="1570"/>
                  <a:pt x="8248" y="1570"/>
                </a:cubicBezTo>
                <a:lnTo>
                  <a:pt x="122" y="1570"/>
                </a:lnTo>
                <a:lnTo>
                  <a:pt x="122" y="1570"/>
                </a:lnTo>
                <a:cubicBezTo>
                  <a:pt x="43" y="1570"/>
                  <a:pt x="0" y="1478"/>
                  <a:pt x="51" y="1417"/>
                </a:cubicBezTo>
                <a:lnTo>
                  <a:pt x="534" y="835"/>
                </a:lnTo>
                <a:lnTo>
                  <a:pt x="534" y="835"/>
                </a:lnTo>
                <a:cubicBezTo>
                  <a:pt x="563" y="800"/>
                  <a:pt x="563" y="749"/>
                  <a:pt x="533" y="715"/>
                </a:cubicBezTo>
              </a:path>
            </a:pathLst>
          </a:custGeom>
          <a:solidFill>
            <a:schemeClr val="bg1">
              <a:lumMod val="50000"/>
            </a:schemeClr>
          </a:solidFill>
          <a:ln>
            <a:noFill/>
          </a:ln>
          <a:effectLst/>
        </p:spPr>
        <p:txBody>
          <a:bodyPr wrap="none" anchor="ctr"/>
          <a:lstStyle/>
          <a:p>
            <a:endParaRPr lang="en-US" sz="2449" dirty="0"/>
          </a:p>
        </p:txBody>
      </p:sp>
      <p:sp>
        <p:nvSpPr>
          <p:cNvPr id="5" name="TextBox 4">
            <a:extLst>
              <a:ext uri="{FF2B5EF4-FFF2-40B4-BE49-F238E27FC236}">
                <a16:creationId xmlns:a16="http://schemas.microsoft.com/office/drawing/2014/main" id="{94E9B74D-6F0C-3A47-8498-68C5A049D95E}"/>
              </a:ext>
            </a:extLst>
          </p:cNvPr>
          <p:cNvSpPr txBox="1"/>
          <p:nvPr/>
        </p:nvSpPr>
        <p:spPr>
          <a:xfrm>
            <a:off x="2013858" y="0"/>
            <a:ext cx="4958442" cy="461665"/>
          </a:xfrm>
          <a:prstGeom prst="rect">
            <a:avLst/>
          </a:prstGeom>
          <a:noFill/>
        </p:spPr>
        <p:txBody>
          <a:bodyPr wrap="square" rtlCol="0">
            <a:spAutoFit/>
          </a:bodyPr>
          <a:lstStyle/>
          <a:p>
            <a:pPr algn="ctr"/>
            <a:r>
              <a:rPr lang="en-US" sz="2400" dirty="0">
                <a:latin typeface="Franklin Gothic Book" panose="020B0503020102020204" pitchFamily="34" charset="0"/>
              </a:rPr>
              <a:t>The Marketing Workstreams</a:t>
            </a:r>
          </a:p>
        </p:txBody>
      </p:sp>
      <p:sp>
        <p:nvSpPr>
          <p:cNvPr id="6" name="Freeform 3">
            <a:extLst>
              <a:ext uri="{FF2B5EF4-FFF2-40B4-BE49-F238E27FC236}">
                <a16:creationId xmlns:a16="http://schemas.microsoft.com/office/drawing/2014/main" id="{7DDA7417-D885-AA4D-A15B-5BA843BDCA7C}"/>
              </a:ext>
            </a:extLst>
          </p:cNvPr>
          <p:cNvSpPr>
            <a:spLocks noChangeArrowheads="1"/>
          </p:cNvSpPr>
          <p:nvPr/>
        </p:nvSpPr>
        <p:spPr bwMode="auto">
          <a:xfrm>
            <a:off x="897138" y="689357"/>
            <a:ext cx="4483102" cy="1233315"/>
          </a:xfrm>
          <a:custGeom>
            <a:avLst/>
            <a:gdLst>
              <a:gd name="T0" fmla="*/ 533 w 8894"/>
              <a:gd name="T1" fmla="*/ 714 h 1571"/>
              <a:gd name="T2" fmla="*/ 55 w 8894"/>
              <a:gd name="T3" fmla="*/ 154 h 1571"/>
              <a:gd name="T4" fmla="*/ 55 w 8894"/>
              <a:gd name="T5" fmla="*/ 154 h 1571"/>
              <a:gd name="T6" fmla="*/ 126 w 8894"/>
              <a:gd name="T7" fmla="*/ 0 h 1571"/>
              <a:gd name="T8" fmla="*/ 8249 w 8894"/>
              <a:gd name="T9" fmla="*/ 0 h 1571"/>
              <a:gd name="T10" fmla="*/ 8249 w 8894"/>
              <a:gd name="T11" fmla="*/ 0 h 1571"/>
              <a:gd name="T12" fmla="*/ 8322 w 8894"/>
              <a:gd name="T13" fmla="*/ 35 h 1571"/>
              <a:gd name="T14" fmla="*/ 8866 w 8894"/>
              <a:gd name="T15" fmla="*/ 717 h 1571"/>
              <a:gd name="T16" fmla="*/ 8866 w 8894"/>
              <a:gd name="T17" fmla="*/ 717 h 1571"/>
              <a:gd name="T18" fmla="*/ 8867 w 8894"/>
              <a:gd name="T19" fmla="*/ 832 h 1571"/>
              <a:gd name="T20" fmla="*/ 8322 w 8894"/>
              <a:gd name="T21" fmla="*/ 1534 h 1571"/>
              <a:gd name="T22" fmla="*/ 8322 w 8894"/>
              <a:gd name="T23" fmla="*/ 1534 h 1571"/>
              <a:gd name="T24" fmla="*/ 8248 w 8894"/>
              <a:gd name="T25" fmla="*/ 1570 h 1571"/>
              <a:gd name="T26" fmla="*/ 122 w 8894"/>
              <a:gd name="T27" fmla="*/ 1570 h 1571"/>
              <a:gd name="T28" fmla="*/ 122 w 8894"/>
              <a:gd name="T29" fmla="*/ 1570 h 1571"/>
              <a:gd name="T30" fmla="*/ 51 w 8894"/>
              <a:gd name="T31" fmla="*/ 1417 h 1571"/>
              <a:gd name="T32" fmla="*/ 534 w 8894"/>
              <a:gd name="T33" fmla="*/ 835 h 1571"/>
              <a:gd name="T34" fmla="*/ 534 w 8894"/>
              <a:gd name="T35" fmla="*/ 835 h 1571"/>
              <a:gd name="T36" fmla="*/ 533 w 8894"/>
              <a:gd name="T37" fmla="*/ 714 h 1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894" h="1571">
                <a:moveTo>
                  <a:pt x="533" y="714"/>
                </a:moveTo>
                <a:lnTo>
                  <a:pt x="55" y="154"/>
                </a:lnTo>
                <a:lnTo>
                  <a:pt x="55" y="154"/>
                </a:lnTo>
                <a:cubicBezTo>
                  <a:pt x="3" y="94"/>
                  <a:pt x="46" y="0"/>
                  <a:pt x="126" y="0"/>
                </a:cubicBezTo>
                <a:lnTo>
                  <a:pt x="8249" y="0"/>
                </a:lnTo>
                <a:lnTo>
                  <a:pt x="8249" y="0"/>
                </a:lnTo>
                <a:cubicBezTo>
                  <a:pt x="8277" y="0"/>
                  <a:pt x="8304" y="13"/>
                  <a:pt x="8322" y="35"/>
                </a:cubicBezTo>
                <a:lnTo>
                  <a:pt x="8866" y="717"/>
                </a:lnTo>
                <a:lnTo>
                  <a:pt x="8866" y="717"/>
                </a:lnTo>
                <a:cubicBezTo>
                  <a:pt x="8893" y="750"/>
                  <a:pt x="8893" y="798"/>
                  <a:pt x="8867" y="832"/>
                </a:cubicBezTo>
                <a:lnTo>
                  <a:pt x="8322" y="1534"/>
                </a:lnTo>
                <a:lnTo>
                  <a:pt x="8322" y="1534"/>
                </a:lnTo>
                <a:cubicBezTo>
                  <a:pt x="8304" y="1556"/>
                  <a:pt x="8277" y="1570"/>
                  <a:pt x="8248" y="1570"/>
                </a:cubicBezTo>
                <a:lnTo>
                  <a:pt x="122" y="1570"/>
                </a:lnTo>
                <a:lnTo>
                  <a:pt x="122" y="1570"/>
                </a:lnTo>
                <a:cubicBezTo>
                  <a:pt x="43" y="1570"/>
                  <a:pt x="0" y="1478"/>
                  <a:pt x="51" y="1417"/>
                </a:cubicBezTo>
                <a:lnTo>
                  <a:pt x="534" y="835"/>
                </a:lnTo>
                <a:lnTo>
                  <a:pt x="534" y="835"/>
                </a:lnTo>
                <a:cubicBezTo>
                  <a:pt x="563" y="800"/>
                  <a:pt x="563" y="749"/>
                  <a:pt x="533" y="714"/>
                </a:cubicBezTo>
              </a:path>
            </a:pathLst>
          </a:custGeom>
          <a:solidFill>
            <a:srgbClr val="B52372"/>
          </a:solidFill>
          <a:ln>
            <a:noFill/>
          </a:ln>
          <a:effectLst/>
        </p:spPr>
        <p:txBody>
          <a:bodyPr wrap="none" anchor="ctr"/>
          <a:lstStyle/>
          <a:p>
            <a:endParaRPr lang="en-US" sz="2449" dirty="0"/>
          </a:p>
        </p:txBody>
      </p:sp>
      <p:sp>
        <p:nvSpPr>
          <p:cNvPr id="7" name="Freeform 11">
            <a:extLst>
              <a:ext uri="{FF2B5EF4-FFF2-40B4-BE49-F238E27FC236}">
                <a16:creationId xmlns:a16="http://schemas.microsoft.com/office/drawing/2014/main" id="{0CD05BB1-38EB-8442-8015-4AC5D2F7DB2F}"/>
              </a:ext>
            </a:extLst>
          </p:cNvPr>
          <p:cNvSpPr>
            <a:spLocks noChangeArrowheads="1"/>
          </p:cNvSpPr>
          <p:nvPr/>
        </p:nvSpPr>
        <p:spPr bwMode="auto">
          <a:xfrm>
            <a:off x="906108" y="3341695"/>
            <a:ext cx="4483102" cy="1233315"/>
          </a:xfrm>
          <a:custGeom>
            <a:avLst/>
            <a:gdLst>
              <a:gd name="T0" fmla="*/ 533 w 8894"/>
              <a:gd name="T1" fmla="*/ 714 h 1570"/>
              <a:gd name="T2" fmla="*/ 55 w 8894"/>
              <a:gd name="T3" fmla="*/ 154 h 1570"/>
              <a:gd name="T4" fmla="*/ 55 w 8894"/>
              <a:gd name="T5" fmla="*/ 154 h 1570"/>
              <a:gd name="T6" fmla="*/ 126 w 8894"/>
              <a:gd name="T7" fmla="*/ 0 h 1570"/>
              <a:gd name="T8" fmla="*/ 8249 w 8894"/>
              <a:gd name="T9" fmla="*/ 0 h 1570"/>
              <a:gd name="T10" fmla="*/ 8249 w 8894"/>
              <a:gd name="T11" fmla="*/ 0 h 1570"/>
              <a:gd name="T12" fmla="*/ 8322 w 8894"/>
              <a:gd name="T13" fmla="*/ 35 h 1570"/>
              <a:gd name="T14" fmla="*/ 8866 w 8894"/>
              <a:gd name="T15" fmla="*/ 717 h 1570"/>
              <a:gd name="T16" fmla="*/ 8866 w 8894"/>
              <a:gd name="T17" fmla="*/ 717 h 1570"/>
              <a:gd name="T18" fmla="*/ 8867 w 8894"/>
              <a:gd name="T19" fmla="*/ 832 h 1570"/>
              <a:gd name="T20" fmla="*/ 8322 w 8894"/>
              <a:gd name="T21" fmla="*/ 1533 h 1570"/>
              <a:gd name="T22" fmla="*/ 8322 w 8894"/>
              <a:gd name="T23" fmla="*/ 1533 h 1570"/>
              <a:gd name="T24" fmla="*/ 8248 w 8894"/>
              <a:gd name="T25" fmla="*/ 1569 h 1570"/>
              <a:gd name="T26" fmla="*/ 122 w 8894"/>
              <a:gd name="T27" fmla="*/ 1569 h 1570"/>
              <a:gd name="T28" fmla="*/ 122 w 8894"/>
              <a:gd name="T29" fmla="*/ 1569 h 1570"/>
              <a:gd name="T30" fmla="*/ 51 w 8894"/>
              <a:gd name="T31" fmla="*/ 1416 h 1570"/>
              <a:gd name="T32" fmla="*/ 534 w 8894"/>
              <a:gd name="T33" fmla="*/ 834 h 1570"/>
              <a:gd name="T34" fmla="*/ 534 w 8894"/>
              <a:gd name="T35" fmla="*/ 834 h 1570"/>
              <a:gd name="T36" fmla="*/ 533 w 8894"/>
              <a:gd name="T37" fmla="*/ 714 h 1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894" h="1570">
                <a:moveTo>
                  <a:pt x="533" y="714"/>
                </a:moveTo>
                <a:lnTo>
                  <a:pt x="55" y="154"/>
                </a:lnTo>
                <a:lnTo>
                  <a:pt x="55" y="154"/>
                </a:lnTo>
                <a:cubicBezTo>
                  <a:pt x="3" y="93"/>
                  <a:pt x="46" y="0"/>
                  <a:pt x="126" y="0"/>
                </a:cubicBezTo>
                <a:lnTo>
                  <a:pt x="8249" y="0"/>
                </a:lnTo>
                <a:lnTo>
                  <a:pt x="8249" y="0"/>
                </a:lnTo>
                <a:cubicBezTo>
                  <a:pt x="8277" y="0"/>
                  <a:pt x="8304" y="13"/>
                  <a:pt x="8322" y="35"/>
                </a:cubicBezTo>
                <a:lnTo>
                  <a:pt x="8866" y="717"/>
                </a:lnTo>
                <a:lnTo>
                  <a:pt x="8866" y="717"/>
                </a:lnTo>
                <a:cubicBezTo>
                  <a:pt x="8893" y="750"/>
                  <a:pt x="8893" y="798"/>
                  <a:pt x="8867" y="832"/>
                </a:cubicBezTo>
                <a:lnTo>
                  <a:pt x="8322" y="1533"/>
                </a:lnTo>
                <a:lnTo>
                  <a:pt x="8322" y="1533"/>
                </a:lnTo>
                <a:cubicBezTo>
                  <a:pt x="8304" y="1557"/>
                  <a:pt x="8277" y="1569"/>
                  <a:pt x="8248" y="1569"/>
                </a:cubicBezTo>
                <a:lnTo>
                  <a:pt x="122" y="1569"/>
                </a:lnTo>
                <a:lnTo>
                  <a:pt x="122" y="1569"/>
                </a:lnTo>
                <a:cubicBezTo>
                  <a:pt x="43" y="1569"/>
                  <a:pt x="0" y="1478"/>
                  <a:pt x="51" y="1416"/>
                </a:cubicBezTo>
                <a:lnTo>
                  <a:pt x="534" y="834"/>
                </a:lnTo>
                <a:lnTo>
                  <a:pt x="534" y="834"/>
                </a:lnTo>
                <a:cubicBezTo>
                  <a:pt x="563" y="799"/>
                  <a:pt x="563" y="749"/>
                  <a:pt x="533" y="714"/>
                </a:cubicBezTo>
              </a:path>
            </a:pathLst>
          </a:custGeom>
          <a:solidFill>
            <a:srgbClr val="D51067"/>
          </a:solidFill>
          <a:ln>
            <a:noFill/>
          </a:ln>
          <a:effectLst/>
        </p:spPr>
        <p:txBody>
          <a:bodyPr wrap="none" anchor="ctr"/>
          <a:lstStyle/>
          <a:p>
            <a:endParaRPr lang="en-US" sz="2449" dirty="0"/>
          </a:p>
        </p:txBody>
      </p:sp>
      <p:sp>
        <p:nvSpPr>
          <p:cNvPr id="9" name="Subtitle 2">
            <a:extLst>
              <a:ext uri="{FF2B5EF4-FFF2-40B4-BE49-F238E27FC236}">
                <a16:creationId xmlns:a16="http://schemas.microsoft.com/office/drawing/2014/main" id="{0A919852-36D8-F247-AFE9-4C8078289DAF}"/>
              </a:ext>
            </a:extLst>
          </p:cNvPr>
          <p:cNvSpPr txBox="1">
            <a:spLocks/>
          </p:cNvSpPr>
          <p:nvPr/>
        </p:nvSpPr>
        <p:spPr>
          <a:xfrm>
            <a:off x="1189795" y="1163200"/>
            <a:ext cx="3897788" cy="519629"/>
          </a:xfrm>
          <a:prstGeom prst="rect">
            <a:avLst/>
          </a:prstGeom>
        </p:spPr>
        <p:txBody>
          <a:bodyPr vert="horz" wrap="square" lIns="34290" tIns="17145" rIns="34290" bIns="171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1313"/>
              </a:lnSpc>
            </a:pPr>
            <a:r>
              <a:rPr lang="en-US" sz="900" dirty="0">
                <a:solidFill>
                  <a:schemeClr val="bg1"/>
                </a:solidFill>
                <a:latin typeface="Franklin Gothic Book" panose="020B0503020102020204" pitchFamily="34" charset="0"/>
                <a:ea typeface="Lato Light" panose="020F0502020204030203" pitchFamily="34" charset="0"/>
                <a:cs typeface="Mukta ExtraLight" panose="020B0000000000000000" pitchFamily="34" charset="77"/>
              </a:rPr>
              <a:t>Takes a look at your brand, how it is positioned, the competitive landscape, and the white space.  We look at voice of customer, Kalibri’s differentiator and overall tone of marketing communications.</a:t>
            </a:r>
          </a:p>
        </p:txBody>
      </p:sp>
      <p:sp>
        <p:nvSpPr>
          <p:cNvPr id="10" name="TextBox 9">
            <a:extLst>
              <a:ext uri="{FF2B5EF4-FFF2-40B4-BE49-F238E27FC236}">
                <a16:creationId xmlns:a16="http://schemas.microsoft.com/office/drawing/2014/main" id="{878A298F-A4EF-204B-833F-114E4DF2D333}"/>
              </a:ext>
            </a:extLst>
          </p:cNvPr>
          <p:cNvSpPr txBox="1"/>
          <p:nvPr/>
        </p:nvSpPr>
        <p:spPr>
          <a:xfrm>
            <a:off x="4113374" y="822271"/>
            <a:ext cx="649537" cy="276999"/>
          </a:xfrm>
          <a:prstGeom prst="rect">
            <a:avLst/>
          </a:prstGeom>
          <a:noFill/>
        </p:spPr>
        <p:txBody>
          <a:bodyPr wrap="none" rtlCol="0" anchor="b" anchorCtr="0">
            <a:spAutoFit/>
          </a:bodyPr>
          <a:lstStyle/>
          <a:p>
            <a:pPr algn="r"/>
            <a:r>
              <a:rPr lang="en-US" sz="1200" b="1" dirty="0">
                <a:solidFill>
                  <a:schemeClr val="bg1"/>
                </a:solidFill>
                <a:latin typeface="Franklin Gothic Book" panose="020B0503020102020204" pitchFamily="34" charset="0"/>
                <a:ea typeface="League Spartan" charset="0"/>
                <a:cs typeface="Poppins" pitchFamily="2" charset="77"/>
              </a:rPr>
              <a:t>BRAND</a:t>
            </a:r>
          </a:p>
        </p:txBody>
      </p:sp>
      <p:sp>
        <p:nvSpPr>
          <p:cNvPr id="12" name="Subtitle 2">
            <a:extLst>
              <a:ext uri="{FF2B5EF4-FFF2-40B4-BE49-F238E27FC236}">
                <a16:creationId xmlns:a16="http://schemas.microsoft.com/office/drawing/2014/main" id="{FF387CFA-B1A0-0C43-9B61-1AD91B66FD9C}"/>
              </a:ext>
            </a:extLst>
          </p:cNvPr>
          <p:cNvSpPr txBox="1">
            <a:spLocks/>
          </p:cNvSpPr>
          <p:nvPr/>
        </p:nvSpPr>
        <p:spPr>
          <a:xfrm>
            <a:off x="1165870" y="2445009"/>
            <a:ext cx="3837917" cy="519629"/>
          </a:xfrm>
          <a:prstGeom prst="rect">
            <a:avLst/>
          </a:prstGeom>
        </p:spPr>
        <p:txBody>
          <a:bodyPr vert="horz" wrap="square" lIns="34290" tIns="17145" rIns="34290" bIns="171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1313"/>
              </a:lnSpc>
            </a:pPr>
            <a:r>
              <a:rPr lang="en-US" sz="900" dirty="0">
                <a:solidFill>
                  <a:schemeClr val="bg1"/>
                </a:solidFill>
                <a:latin typeface="Franklin Gothic Book" panose="020B0503020102020204" pitchFamily="34" charset="0"/>
                <a:ea typeface="Lato Light" panose="020F0502020204030203" pitchFamily="34" charset="0"/>
                <a:cs typeface="Mukta ExtraLight" panose="020B0000000000000000" pitchFamily="34" charset="77"/>
              </a:rPr>
              <a:t>Creating overall brand awareness through multiple channels focusing on how do we create awareness with the customers that mean the most to us given our strategic plan</a:t>
            </a:r>
          </a:p>
        </p:txBody>
      </p:sp>
      <p:sp>
        <p:nvSpPr>
          <p:cNvPr id="13" name="TextBox 12">
            <a:extLst>
              <a:ext uri="{FF2B5EF4-FFF2-40B4-BE49-F238E27FC236}">
                <a16:creationId xmlns:a16="http://schemas.microsoft.com/office/drawing/2014/main" id="{1E715462-189D-7D4A-8A9F-C5AAFEC98E86}"/>
              </a:ext>
            </a:extLst>
          </p:cNvPr>
          <p:cNvSpPr txBox="1"/>
          <p:nvPr/>
        </p:nvSpPr>
        <p:spPr>
          <a:xfrm>
            <a:off x="3756225" y="2043095"/>
            <a:ext cx="1006686" cy="276999"/>
          </a:xfrm>
          <a:prstGeom prst="rect">
            <a:avLst/>
          </a:prstGeom>
          <a:noFill/>
        </p:spPr>
        <p:txBody>
          <a:bodyPr wrap="none" rtlCol="0" anchor="b" anchorCtr="0">
            <a:spAutoFit/>
          </a:bodyPr>
          <a:lstStyle/>
          <a:p>
            <a:pPr algn="r"/>
            <a:r>
              <a:rPr lang="en-US" sz="1200" b="1" dirty="0">
                <a:solidFill>
                  <a:schemeClr val="bg1"/>
                </a:solidFill>
                <a:latin typeface="Franklin Gothic Book" panose="020B0503020102020204" pitchFamily="34" charset="0"/>
                <a:ea typeface="League Spartan" charset="0"/>
                <a:cs typeface="Poppins" pitchFamily="2" charset="77"/>
              </a:rPr>
              <a:t>AWARENESS</a:t>
            </a:r>
          </a:p>
        </p:txBody>
      </p:sp>
      <p:sp>
        <p:nvSpPr>
          <p:cNvPr id="15" name="Subtitle 2">
            <a:extLst>
              <a:ext uri="{FF2B5EF4-FFF2-40B4-BE49-F238E27FC236}">
                <a16:creationId xmlns:a16="http://schemas.microsoft.com/office/drawing/2014/main" id="{31E8A81D-3B13-CF41-921F-05DD08904E42}"/>
              </a:ext>
            </a:extLst>
          </p:cNvPr>
          <p:cNvSpPr txBox="1">
            <a:spLocks/>
          </p:cNvSpPr>
          <p:nvPr/>
        </p:nvSpPr>
        <p:spPr>
          <a:xfrm>
            <a:off x="1174840" y="3641871"/>
            <a:ext cx="3897788" cy="519629"/>
          </a:xfrm>
          <a:prstGeom prst="rect">
            <a:avLst/>
          </a:prstGeom>
        </p:spPr>
        <p:txBody>
          <a:bodyPr vert="horz" wrap="square" lIns="34290" tIns="17145" rIns="34290" bIns="171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1313"/>
              </a:lnSpc>
            </a:pPr>
            <a:r>
              <a:rPr lang="en-US" sz="900" dirty="0">
                <a:solidFill>
                  <a:schemeClr val="bg1"/>
                </a:solidFill>
                <a:latin typeface="Franklin Gothic Book" panose="020B0503020102020204" pitchFamily="34" charset="0"/>
                <a:ea typeface="Lato Light" panose="020F0502020204030203" pitchFamily="34" charset="0"/>
                <a:cs typeface="Mukta ExtraLight" panose="020B0000000000000000" pitchFamily="34" charset="77"/>
              </a:rPr>
              <a:t>Segmenting and understanding your business to have targeted and effective communications.  Adopting customer buying journey information to look at how Kalibri connects to those that mean the most to your business.</a:t>
            </a:r>
          </a:p>
        </p:txBody>
      </p:sp>
      <p:sp>
        <p:nvSpPr>
          <p:cNvPr id="16" name="TextBox 15">
            <a:extLst>
              <a:ext uri="{FF2B5EF4-FFF2-40B4-BE49-F238E27FC236}">
                <a16:creationId xmlns:a16="http://schemas.microsoft.com/office/drawing/2014/main" id="{028F557D-F6DA-FB41-8E43-FF50AA6EF4E3}"/>
              </a:ext>
            </a:extLst>
          </p:cNvPr>
          <p:cNvSpPr txBox="1"/>
          <p:nvPr/>
        </p:nvSpPr>
        <p:spPr>
          <a:xfrm>
            <a:off x="3902924" y="3329796"/>
            <a:ext cx="868957" cy="276999"/>
          </a:xfrm>
          <a:prstGeom prst="rect">
            <a:avLst/>
          </a:prstGeom>
          <a:noFill/>
        </p:spPr>
        <p:txBody>
          <a:bodyPr wrap="none" rtlCol="0" anchor="b" anchorCtr="0">
            <a:spAutoFit/>
          </a:bodyPr>
          <a:lstStyle/>
          <a:p>
            <a:pPr algn="r"/>
            <a:r>
              <a:rPr lang="en-US" sz="1200" b="1" dirty="0">
                <a:solidFill>
                  <a:schemeClr val="bg1"/>
                </a:solidFill>
                <a:latin typeface="Franklin Gothic Book" panose="020B0503020102020204" pitchFamily="34" charset="0"/>
                <a:ea typeface="League Spartan" charset="0"/>
                <a:cs typeface="Poppins" pitchFamily="2" charset="77"/>
              </a:rPr>
              <a:t>TARGETED</a:t>
            </a:r>
          </a:p>
        </p:txBody>
      </p:sp>
      <p:pic>
        <p:nvPicPr>
          <p:cNvPr id="18" name="Picture 17">
            <a:extLst>
              <a:ext uri="{FF2B5EF4-FFF2-40B4-BE49-F238E27FC236}">
                <a16:creationId xmlns:a16="http://schemas.microsoft.com/office/drawing/2014/main" id="{9C6CC5FC-A2F5-C645-8918-DBC864C16F60}"/>
              </a:ext>
            </a:extLst>
          </p:cNvPr>
          <p:cNvPicPr>
            <a:picLocks noChangeAspect="1"/>
          </p:cNvPicPr>
          <p:nvPr/>
        </p:nvPicPr>
        <p:blipFill>
          <a:blip r:embed="rId3"/>
          <a:stretch>
            <a:fillRect/>
          </a:stretch>
        </p:blipFill>
        <p:spPr>
          <a:xfrm>
            <a:off x="5671941" y="926428"/>
            <a:ext cx="1245740" cy="753596"/>
          </a:xfrm>
          <a:prstGeom prst="rect">
            <a:avLst/>
          </a:prstGeom>
        </p:spPr>
      </p:pic>
      <p:pic>
        <p:nvPicPr>
          <p:cNvPr id="19" name="Picture 18">
            <a:extLst>
              <a:ext uri="{FF2B5EF4-FFF2-40B4-BE49-F238E27FC236}">
                <a16:creationId xmlns:a16="http://schemas.microsoft.com/office/drawing/2014/main" id="{8688C4D8-3E08-A544-B7BC-7FDD9E642723}"/>
              </a:ext>
            </a:extLst>
          </p:cNvPr>
          <p:cNvPicPr>
            <a:picLocks noChangeAspect="1"/>
          </p:cNvPicPr>
          <p:nvPr/>
        </p:nvPicPr>
        <p:blipFill>
          <a:blip r:embed="rId4"/>
          <a:stretch>
            <a:fillRect/>
          </a:stretch>
        </p:blipFill>
        <p:spPr>
          <a:xfrm>
            <a:off x="5657942" y="3372999"/>
            <a:ext cx="1121846" cy="1057372"/>
          </a:xfrm>
          <a:prstGeom prst="rect">
            <a:avLst/>
          </a:prstGeom>
        </p:spPr>
      </p:pic>
      <p:pic>
        <p:nvPicPr>
          <p:cNvPr id="20" name="Picture 19">
            <a:extLst>
              <a:ext uri="{FF2B5EF4-FFF2-40B4-BE49-F238E27FC236}">
                <a16:creationId xmlns:a16="http://schemas.microsoft.com/office/drawing/2014/main" id="{A70EFAB4-FF46-EE4B-B632-D6F660EFFD75}"/>
              </a:ext>
            </a:extLst>
          </p:cNvPr>
          <p:cNvPicPr>
            <a:picLocks noChangeAspect="1"/>
          </p:cNvPicPr>
          <p:nvPr/>
        </p:nvPicPr>
        <p:blipFill>
          <a:blip r:embed="rId5"/>
          <a:stretch>
            <a:fillRect/>
          </a:stretch>
        </p:blipFill>
        <p:spPr>
          <a:xfrm rot="2996351">
            <a:off x="5824653" y="2006142"/>
            <a:ext cx="940319" cy="1341337"/>
          </a:xfrm>
          <a:prstGeom prst="rect">
            <a:avLst/>
          </a:prstGeom>
        </p:spPr>
      </p:pic>
      <p:sp>
        <p:nvSpPr>
          <p:cNvPr id="21" name="Right Arrow 20">
            <a:extLst>
              <a:ext uri="{FF2B5EF4-FFF2-40B4-BE49-F238E27FC236}">
                <a16:creationId xmlns:a16="http://schemas.microsoft.com/office/drawing/2014/main" id="{19654C4E-1B1B-5B42-A7DE-42BB4F2D6FB7}"/>
              </a:ext>
            </a:extLst>
          </p:cNvPr>
          <p:cNvSpPr/>
          <p:nvPr/>
        </p:nvSpPr>
        <p:spPr>
          <a:xfrm>
            <a:off x="7092300" y="1657331"/>
            <a:ext cx="485487" cy="2064624"/>
          </a:xfrm>
          <a:prstGeom prst="rightArrow">
            <a:avLst/>
          </a:prstGeom>
          <a:solidFill>
            <a:schemeClr val="bg1">
              <a:lumMod val="85000"/>
            </a:schemeClr>
          </a:solidFill>
          <a:ln>
            <a:solidFill>
              <a:srgbClr val="B5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0" name="TextBox 29">
            <a:extLst>
              <a:ext uri="{FF2B5EF4-FFF2-40B4-BE49-F238E27FC236}">
                <a16:creationId xmlns:a16="http://schemas.microsoft.com/office/drawing/2014/main" id="{D52483BD-E381-1E4B-AD0F-E1769D265439}"/>
              </a:ext>
            </a:extLst>
          </p:cNvPr>
          <p:cNvSpPr txBox="1"/>
          <p:nvPr/>
        </p:nvSpPr>
        <p:spPr>
          <a:xfrm>
            <a:off x="7683415" y="2325511"/>
            <a:ext cx="1336026" cy="923330"/>
          </a:xfrm>
          <a:prstGeom prst="rect">
            <a:avLst/>
          </a:prstGeom>
          <a:noFill/>
        </p:spPr>
        <p:txBody>
          <a:bodyPr wrap="square" rtlCol="0">
            <a:spAutoFit/>
          </a:bodyPr>
          <a:lstStyle/>
          <a:p>
            <a:pPr algn="ctr"/>
            <a:r>
              <a:rPr lang="en-US" dirty="0"/>
              <a:t>Vision-to-Value </a:t>
            </a:r>
          </a:p>
          <a:p>
            <a:pPr algn="ctr"/>
            <a:r>
              <a:rPr lang="en-US" dirty="0"/>
              <a:t>Roadmap</a:t>
            </a:r>
          </a:p>
        </p:txBody>
      </p:sp>
      <p:sp>
        <p:nvSpPr>
          <p:cNvPr id="2" name="TextBox 1">
            <a:extLst>
              <a:ext uri="{FF2B5EF4-FFF2-40B4-BE49-F238E27FC236}">
                <a16:creationId xmlns:a16="http://schemas.microsoft.com/office/drawing/2014/main" id="{52F69401-39F0-BC4B-AACD-84AD1BB08F9C}"/>
              </a:ext>
            </a:extLst>
          </p:cNvPr>
          <p:cNvSpPr txBox="1"/>
          <p:nvPr/>
        </p:nvSpPr>
        <p:spPr>
          <a:xfrm rot="16200000">
            <a:off x="-1530149" y="2519655"/>
            <a:ext cx="4029931" cy="369332"/>
          </a:xfrm>
          <a:prstGeom prst="rect">
            <a:avLst/>
          </a:prstGeom>
          <a:noFill/>
        </p:spPr>
        <p:txBody>
          <a:bodyPr wrap="square" rtlCol="0">
            <a:spAutoFit/>
          </a:bodyPr>
          <a:lstStyle/>
          <a:p>
            <a:pPr algn="ctr"/>
            <a:r>
              <a:rPr lang="en-US" dirty="0"/>
              <a:t>Looking both internally and externally at:</a:t>
            </a:r>
          </a:p>
        </p:txBody>
      </p:sp>
    </p:spTree>
    <p:extLst>
      <p:ext uri="{BB962C8B-B14F-4D97-AF65-F5344CB8AC3E}">
        <p14:creationId xmlns:p14="http://schemas.microsoft.com/office/powerpoint/2010/main" val="2900319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ppt_x"/>
                                          </p:val>
                                        </p:tav>
                                        <p:tav tm="100000">
                                          <p:val>
                                            <p:strVal val="#ppt_x"/>
                                          </p:val>
                                        </p:tav>
                                      </p:tavLst>
                                    </p:anim>
                                    <p:anim calcmode="lin" valueType="num">
                                      <p:cBhvr additive="base">
                                        <p:cTn id="5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additive="base">
                                        <p:cTn id="65" dur="500" fill="hold"/>
                                        <p:tgtEl>
                                          <p:spTgt spid="30"/>
                                        </p:tgtEl>
                                        <p:attrNameLst>
                                          <p:attrName>ppt_x</p:attrName>
                                        </p:attrNameLst>
                                      </p:cBhvr>
                                      <p:tavLst>
                                        <p:tav tm="0">
                                          <p:val>
                                            <p:strVal val="#ppt_x"/>
                                          </p:val>
                                        </p:tav>
                                        <p:tav tm="100000">
                                          <p:val>
                                            <p:strVal val="#ppt_x"/>
                                          </p:val>
                                        </p:tav>
                                      </p:tavLst>
                                    </p:anim>
                                    <p:anim calcmode="lin" valueType="num">
                                      <p:cBhvr additive="base">
                                        <p:cTn id="6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6" grpId="0" animBg="1"/>
      <p:bldP spid="7" grpId="0" animBg="1"/>
      <p:bldP spid="9" grpId="0"/>
      <p:bldP spid="10" grpId="0"/>
      <p:bldP spid="12" grpId="0"/>
      <p:bldP spid="13" grpId="0"/>
      <p:bldP spid="15" grpId="0"/>
      <p:bldP spid="16" grpId="0"/>
      <p:bldP spid="21" grpId="0" animBg="1"/>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499"/>
          </a:xfrm>
          <a:prstGeom prst="rect">
            <a:avLst/>
          </a:prstGeom>
          <a:blipFill>
            <a:blip r:embed="rId2" cstate="print">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3" name="object 3"/>
          <p:cNvSpPr txBox="1">
            <a:spLocks noGrp="1"/>
          </p:cNvSpPr>
          <p:nvPr>
            <p:ph type="title"/>
          </p:nvPr>
        </p:nvSpPr>
        <p:spPr>
          <a:xfrm>
            <a:off x="307340" y="365251"/>
            <a:ext cx="4478020" cy="1125855"/>
          </a:xfrm>
          <a:prstGeom prst="rect">
            <a:avLst/>
          </a:prstGeom>
        </p:spPr>
        <p:txBody>
          <a:bodyPr vert="horz" wrap="square" lIns="0" tIns="11430" rIns="0" bIns="0" rtlCol="0">
            <a:spAutoFit/>
          </a:bodyPr>
          <a:lstStyle/>
          <a:p>
            <a:pPr marL="12700" marR="5080">
              <a:lnSpc>
                <a:spcPct val="100400"/>
              </a:lnSpc>
              <a:spcBef>
                <a:spcPts val="90"/>
              </a:spcBef>
            </a:pPr>
            <a:r>
              <a:rPr sz="1800" dirty="0">
                <a:solidFill>
                  <a:srgbClr val="FFFFFF"/>
                </a:solidFill>
                <a:latin typeface="Franklin Gothic Book" panose="020B0503020102020204" pitchFamily="34" charset="0"/>
              </a:rPr>
              <a:t>We take the noise, disruption, frustration</a:t>
            </a:r>
            <a:r>
              <a:rPr lang="en-US" sz="1800" dirty="0">
                <a:solidFill>
                  <a:srgbClr val="FFFFFF"/>
                </a:solidFill>
                <a:latin typeface="Franklin Gothic Book" panose="020B0503020102020204" pitchFamily="34" charset="0"/>
              </a:rPr>
              <a:t> </a:t>
            </a:r>
            <a:r>
              <a:rPr sz="1800" dirty="0">
                <a:solidFill>
                  <a:srgbClr val="FFFFFF"/>
                </a:solidFill>
                <a:latin typeface="Franklin Gothic Book" panose="020B0503020102020204" pitchFamily="34" charset="0"/>
              </a:rPr>
              <a:t>and complexity of the new economy and bring you a clear, concise and simple path for </a:t>
            </a:r>
            <a:r>
              <a:rPr lang="en-US" sz="1800" dirty="0">
                <a:solidFill>
                  <a:srgbClr val="FFFFFF"/>
                </a:solidFill>
                <a:latin typeface="Franklin Gothic Book" panose="020B0503020102020204" pitchFamily="34" charset="0"/>
              </a:rPr>
              <a:t>you </a:t>
            </a:r>
            <a:r>
              <a:rPr sz="1800" dirty="0">
                <a:solidFill>
                  <a:srgbClr val="FFFFFF"/>
                </a:solidFill>
                <a:latin typeface="Franklin Gothic Book" panose="020B0503020102020204" pitchFamily="34" charset="0"/>
              </a:rPr>
              <a:t>to get results.</a:t>
            </a:r>
            <a:endParaRPr sz="1800" dirty="0">
              <a:latin typeface="Franklin Gothic Book" panose="020B0503020102020204" pitchFamily="34" charset="0"/>
            </a:endParaRPr>
          </a:p>
        </p:txBody>
      </p:sp>
      <p:sp>
        <p:nvSpPr>
          <p:cNvPr id="4" name="object 4"/>
          <p:cNvSpPr txBox="1"/>
          <p:nvPr/>
        </p:nvSpPr>
        <p:spPr>
          <a:xfrm>
            <a:off x="6860540" y="3812540"/>
            <a:ext cx="1837689" cy="1266757"/>
          </a:xfrm>
          <a:prstGeom prst="rect">
            <a:avLst/>
          </a:prstGeom>
        </p:spPr>
        <p:txBody>
          <a:bodyPr vert="horz" wrap="square" lIns="0" tIns="9525" rIns="0" bIns="0" rtlCol="0">
            <a:spAutoFit/>
          </a:bodyPr>
          <a:lstStyle/>
          <a:p>
            <a:pPr marL="12700" marR="36830">
              <a:lnSpc>
                <a:spcPct val="101099"/>
              </a:lnSpc>
              <a:spcBef>
                <a:spcPts val="75"/>
              </a:spcBef>
            </a:pPr>
            <a:r>
              <a:rPr sz="1800" i="1" dirty="0">
                <a:solidFill>
                  <a:srgbClr val="FFFF00"/>
                </a:solidFill>
                <a:latin typeface="Franklin Gothic Book" panose="020B0503020102020204" pitchFamily="34" charset="0"/>
                <a:cs typeface="Arial"/>
              </a:rPr>
              <a:t>Bringing Simplicity  to</a:t>
            </a:r>
            <a:r>
              <a:rPr lang="en-US" sz="1800" i="1" dirty="0">
                <a:solidFill>
                  <a:srgbClr val="FFFF00"/>
                </a:solidFill>
                <a:latin typeface="Franklin Gothic Book" panose="020B0503020102020204" pitchFamily="34" charset="0"/>
                <a:cs typeface="Arial"/>
              </a:rPr>
              <a:t> Your </a:t>
            </a:r>
            <a:r>
              <a:rPr sz="1800" i="1" dirty="0">
                <a:solidFill>
                  <a:srgbClr val="FFFF00"/>
                </a:solidFill>
                <a:latin typeface="Franklin Gothic Book" panose="020B0503020102020204" pitchFamily="34" charset="0"/>
                <a:cs typeface="Arial"/>
              </a:rPr>
              <a:t>Complexity</a:t>
            </a:r>
            <a:endParaRPr sz="1800" dirty="0">
              <a:latin typeface="Franklin Gothic Book" panose="020B0503020102020204" pitchFamily="34" charset="0"/>
              <a:cs typeface="Arial"/>
            </a:endParaRPr>
          </a:p>
          <a:p>
            <a:pPr>
              <a:lnSpc>
                <a:spcPct val="100000"/>
              </a:lnSpc>
              <a:spcBef>
                <a:spcPts val="50"/>
              </a:spcBef>
            </a:pPr>
            <a:endParaRPr sz="2650" dirty="0">
              <a:latin typeface="Franklin Gothic Book" panose="020B0503020102020204" pitchFamily="34" charset="0"/>
              <a:cs typeface="Arial"/>
            </a:endParaRPr>
          </a:p>
          <a:p>
            <a:pPr marR="5080" algn="r">
              <a:lnSpc>
                <a:spcPct val="100000"/>
              </a:lnSpc>
            </a:pPr>
            <a:r>
              <a:rPr sz="1800" dirty="0">
                <a:solidFill>
                  <a:srgbClr val="898989"/>
                </a:solidFill>
                <a:latin typeface="Franklin Gothic Book" panose="020B0503020102020204" pitchFamily="34" charset="0"/>
                <a:cs typeface="Arial"/>
              </a:rPr>
              <a:t>3</a:t>
            </a:r>
            <a:endParaRPr sz="1800" dirty="0">
              <a:latin typeface="Franklin Gothic Book" panose="020B0503020102020204" pitchFamily="34" charset="0"/>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1">
            <a:extLst>
              <a:ext uri="{FF2B5EF4-FFF2-40B4-BE49-F238E27FC236}">
                <a16:creationId xmlns:a16="http://schemas.microsoft.com/office/drawing/2014/main" id="{6661786B-1E03-6044-9258-2D384ED78A7B}"/>
              </a:ext>
            </a:extLst>
          </p:cNvPr>
          <p:cNvSpPr>
            <a:spLocks noChangeArrowheads="1"/>
          </p:cNvSpPr>
          <p:nvPr/>
        </p:nvSpPr>
        <p:spPr bwMode="auto">
          <a:xfrm>
            <a:off x="76200" y="2856765"/>
            <a:ext cx="8991600" cy="150136"/>
          </a:xfrm>
          <a:prstGeom prst="roundRect">
            <a:avLst>
              <a:gd name="adj" fmla="val 50000"/>
            </a:avLst>
          </a:prstGeom>
          <a:solidFill>
            <a:schemeClr val="bg1">
              <a:lumMod val="85000"/>
            </a:schemeClr>
          </a:solidFill>
          <a:ln>
            <a:noFill/>
          </a:ln>
          <a:effectLst/>
        </p:spPr>
        <p:txBody>
          <a:bodyPr wrap="none" anchor="ctr"/>
          <a:lstStyle/>
          <a:p>
            <a:endParaRPr lang="en-US" sz="2449" dirty="0">
              <a:latin typeface="Lato Light" panose="020F0502020204030203" pitchFamily="34" charset="0"/>
            </a:endParaRPr>
          </a:p>
        </p:txBody>
      </p:sp>
      <p:sp>
        <p:nvSpPr>
          <p:cNvPr id="4" name="Freeform 2">
            <a:extLst>
              <a:ext uri="{FF2B5EF4-FFF2-40B4-BE49-F238E27FC236}">
                <a16:creationId xmlns:a16="http://schemas.microsoft.com/office/drawing/2014/main" id="{95252E18-2FFA-1545-83AF-546F436696FF}"/>
              </a:ext>
            </a:extLst>
          </p:cNvPr>
          <p:cNvSpPr>
            <a:spLocks noChangeArrowheads="1"/>
          </p:cNvSpPr>
          <p:nvPr/>
        </p:nvSpPr>
        <p:spPr bwMode="auto">
          <a:xfrm>
            <a:off x="810405" y="2289465"/>
            <a:ext cx="1284736" cy="1284736"/>
          </a:xfrm>
          <a:custGeom>
            <a:avLst/>
            <a:gdLst>
              <a:gd name="T0" fmla="*/ 1377 w 2753"/>
              <a:gd name="T1" fmla="*/ 0 h 2752"/>
              <a:gd name="T2" fmla="*/ 1377 w 2753"/>
              <a:gd name="T3" fmla="*/ 0 h 2752"/>
              <a:gd name="T4" fmla="*/ 2752 w 2753"/>
              <a:gd name="T5" fmla="*/ 1376 h 2752"/>
              <a:gd name="T6" fmla="*/ 2752 w 2753"/>
              <a:gd name="T7" fmla="*/ 1376 h 2752"/>
              <a:gd name="T8" fmla="*/ 1377 w 2753"/>
              <a:gd name="T9" fmla="*/ 2751 h 2752"/>
              <a:gd name="T10" fmla="*/ 1377 w 2753"/>
              <a:gd name="T11" fmla="*/ 2751 h 2752"/>
              <a:gd name="T12" fmla="*/ 0 w 2753"/>
              <a:gd name="T13" fmla="*/ 1376 h 2752"/>
              <a:gd name="T14" fmla="*/ 0 w 2753"/>
              <a:gd name="T15" fmla="*/ 1376 h 2752"/>
              <a:gd name="T16" fmla="*/ 1377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7" y="0"/>
                </a:moveTo>
                <a:lnTo>
                  <a:pt x="1377" y="0"/>
                </a:lnTo>
                <a:cubicBezTo>
                  <a:pt x="2137" y="0"/>
                  <a:pt x="2752" y="616"/>
                  <a:pt x="2752" y="1376"/>
                </a:cubicBezTo>
                <a:lnTo>
                  <a:pt x="2752" y="1376"/>
                </a:lnTo>
                <a:cubicBezTo>
                  <a:pt x="2752" y="2135"/>
                  <a:pt x="2137" y="2751"/>
                  <a:pt x="1377" y="2751"/>
                </a:cubicBezTo>
                <a:lnTo>
                  <a:pt x="1377" y="2751"/>
                </a:lnTo>
                <a:cubicBezTo>
                  <a:pt x="616" y="2751"/>
                  <a:pt x="0" y="2135"/>
                  <a:pt x="0" y="1376"/>
                </a:cubicBezTo>
                <a:lnTo>
                  <a:pt x="0" y="1376"/>
                </a:lnTo>
                <a:cubicBezTo>
                  <a:pt x="0" y="616"/>
                  <a:pt x="616" y="0"/>
                  <a:pt x="1377" y="0"/>
                </a:cubicBezTo>
              </a:path>
            </a:pathLst>
          </a:custGeom>
          <a:solidFill>
            <a:schemeClr val="bg1"/>
          </a:solidFill>
          <a:ln w="76200">
            <a:solidFill>
              <a:srgbClr val="B52372"/>
            </a:solidFill>
          </a:ln>
          <a:effectLst/>
        </p:spPr>
        <p:txBody>
          <a:bodyPr wrap="none" anchor="ctr"/>
          <a:lstStyle/>
          <a:p>
            <a:endParaRPr lang="en-US" sz="2449" dirty="0"/>
          </a:p>
        </p:txBody>
      </p:sp>
      <p:sp>
        <p:nvSpPr>
          <p:cNvPr id="2" name="TextBox 1">
            <a:extLst>
              <a:ext uri="{FF2B5EF4-FFF2-40B4-BE49-F238E27FC236}">
                <a16:creationId xmlns:a16="http://schemas.microsoft.com/office/drawing/2014/main" id="{857A9D67-CD43-0B47-8040-F95CCC8496BC}"/>
              </a:ext>
            </a:extLst>
          </p:cNvPr>
          <p:cNvSpPr txBox="1"/>
          <p:nvPr/>
        </p:nvSpPr>
        <p:spPr>
          <a:xfrm>
            <a:off x="2627387" y="229640"/>
            <a:ext cx="3889270" cy="784830"/>
          </a:xfrm>
          <a:prstGeom prst="rect">
            <a:avLst/>
          </a:prstGeom>
          <a:noFill/>
        </p:spPr>
        <p:txBody>
          <a:bodyPr wrap="none" rtlCol="0">
            <a:spAutoFit/>
          </a:bodyPr>
          <a:lstStyle/>
          <a:p>
            <a:pPr algn="ctr"/>
            <a:r>
              <a:rPr lang="en-US" sz="2250" b="1" dirty="0">
                <a:solidFill>
                  <a:schemeClr val="tx2"/>
                </a:solidFill>
                <a:latin typeface="Franklin Gothic Book" panose="020B0503020102020204" pitchFamily="34" charset="0"/>
                <a:cs typeface="Poppins" pitchFamily="2" charset="77"/>
              </a:rPr>
              <a:t>5 Step Rapid Return Roadmap</a:t>
            </a:r>
          </a:p>
          <a:p>
            <a:pPr algn="ctr"/>
            <a:r>
              <a:rPr lang="en-US" sz="2250" i="1" dirty="0">
                <a:solidFill>
                  <a:schemeClr val="tx2"/>
                </a:solidFill>
                <a:latin typeface="Franklin Gothic Book" panose="020B0503020102020204" pitchFamily="34" charset="0"/>
                <a:cs typeface="Poppins" pitchFamily="2" charset="77"/>
              </a:rPr>
              <a:t>From Insight to Impact</a:t>
            </a:r>
          </a:p>
        </p:txBody>
      </p:sp>
      <p:sp>
        <p:nvSpPr>
          <p:cNvPr id="7" name="Freeform 5">
            <a:extLst>
              <a:ext uri="{FF2B5EF4-FFF2-40B4-BE49-F238E27FC236}">
                <a16:creationId xmlns:a16="http://schemas.microsoft.com/office/drawing/2014/main" id="{DECB0E47-80BF-9B46-95D3-E7B7306564EF}"/>
              </a:ext>
            </a:extLst>
          </p:cNvPr>
          <p:cNvSpPr>
            <a:spLocks noChangeArrowheads="1"/>
          </p:cNvSpPr>
          <p:nvPr/>
        </p:nvSpPr>
        <p:spPr bwMode="auto">
          <a:xfrm>
            <a:off x="2370018" y="2289465"/>
            <a:ext cx="1284736" cy="1284736"/>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7" y="0"/>
                  <a:pt x="2752" y="616"/>
                  <a:pt x="2752" y="1376"/>
                </a:cubicBezTo>
                <a:lnTo>
                  <a:pt x="2752" y="1376"/>
                </a:lnTo>
                <a:cubicBezTo>
                  <a:pt x="2752" y="2135"/>
                  <a:pt x="2137"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chemeClr val="tx1">
                <a:lumMod val="65000"/>
                <a:lumOff val="35000"/>
              </a:schemeClr>
            </a:solidFill>
          </a:ln>
          <a:effectLst/>
        </p:spPr>
        <p:txBody>
          <a:bodyPr wrap="none" anchor="ctr"/>
          <a:lstStyle/>
          <a:p>
            <a:endParaRPr lang="en-US" sz="2449" dirty="0"/>
          </a:p>
        </p:txBody>
      </p:sp>
      <p:sp>
        <p:nvSpPr>
          <p:cNvPr id="10" name="Freeform 8">
            <a:extLst>
              <a:ext uri="{FF2B5EF4-FFF2-40B4-BE49-F238E27FC236}">
                <a16:creationId xmlns:a16="http://schemas.microsoft.com/office/drawing/2014/main" id="{123A7FA7-121E-9042-8277-B581CAF1ECDE}"/>
              </a:ext>
            </a:extLst>
          </p:cNvPr>
          <p:cNvSpPr>
            <a:spLocks noChangeArrowheads="1"/>
          </p:cNvSpPr>
          <p:nvPr/>
        </p:nvSpPr>
        <p:spPr bwMode="auto">
          <a:xfrm>
            <a:off x="3937104" y="2289465"/>
            <a:ext cx="1284736" cy="1284736"/>
          </a:xfrm>
          <a:custGeom>
            <a:avLst/>
            <a:gdLst>
              <a:gd name="T0" fmla="*/ 1376 w 2752"/>
              <a:gd name="T1" fmla="*/ 0 h 2752"/>
              <a:gd name="T2" fmla="*/ 1376 w 2752"/>
              <a:gd name="T3" fmla="*/ 0 h 2752"/>
              <a:gd name="T4" fmla="*/ 2751 w 2752"/>
              <a:gd name="T5" fmla="*/ 1376 h 2752"/>
              <a:gd name="T6" fmla="*/ 2751 w 2752"/>
              <a:gd name="T7" fmla="*/ 1376 h 2752"/>
              <a:gd name="T8" fmla="*/ 1376 w 2752"/>
              <a:gd name="T9" fmla="*/ 2751 h 2752"/>
              <a:gd name="T10" fmla="*/ 1376 w 2752"/>
              <a:gd name="T11" fmla="*/ 2751 h 2752"/>
              <a:gd name="T12" fmla="*/ 0 w 2752"/>
              <a:gd name="T13" fmla="*/ 1376 h 2752"/>
              <a:gd name="T14" fmla="*/ 0 w 2752"/>
              <a:gd name="T15" fmla="*/ 1376 h 2752"/>
              <a:gd name="T16" fmla="*/ 1376 w 2752"/>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2" h="2752">
                <a:moveTo>
                  <a:pt x="1376" y="0"/>
                </a:moveTo>
                <a:lnTo>
                  <a:pt x="1376" y="0"/>
                </a:lnTo>
                <a:cubicBezTo>
                  <a:pt x="2135" y="0"/>
                  <a:pt x="2751" y="616"/>
                  <a:pt x="2751" y="1376"/>
                </a:cubicBezTo>
                <a:lnTo>
                  <a:pt x="2751" y="1376"/>
                </a:lnTo>
                <a:cubicBezTo>
                  <a:pt x="2751" y="2135"/>
                  <a:pt x="2135"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rgbClr val="B52372"/>
            </a:solidFill>
          </a:ln>
          <a:effectLst/>
        </p:spPr>
        <p:txBody>
          <a:bodyPr wrap="none" anchor="ctr"/>
          <a:lstStyle/>
          <a:p>
            <a:endParaRPr lang="en-US" sz="2449" dirty="0"/>
          </a:p>
        </p:txBody>
      </p:sp>
      <p:sp>
        <p:nvSpPr>
          <p:cNvPr id="13" name="Freeform 11">
            <a:extLst>
              <a:ext uri="{FF2B5EF4-FFF2-40B4-BE49-F238E27FC236}">
                <a16:creationId xmlns:a16="http://schemas.microsoft.com/office/drawing/2014/main" id="{D4D8D2FC-2F50-514B-A51A-8DD75EB18747}"/>
              </a:ext>
            </a:extLst>
          </p:cNvPr>
          <p:cNvSpPr>
            <a:spLocks noChangeArrowheads="1"/>
          </p:cNvSpPr>
          <p:nvPr/>
        </p:nvSpPr>
        <p:spPr bwMode="auto">
          <a:xfrm>
            <a:off x="5489247" y="2289465"/>
            <a:ext cx="1284736" cy="1284736"/>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6" y="0"/>
                  <a:pt x="2752" y="616"/>
                  <a:pt x="2752" y="1376"/>
                </a:cubicBezTo>
                <a:lnTo>
                  <a:pt x="2752" y="1376"/>
                </a:lnTo>
                <a:cubicBezTo>
                  <a:pt x="2752" y="2135"/>
                  <a:pt x="2136"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chemeClr val="tx1">
                <a:lumMod val="65000"/>
                <a:lumOff val="35000"/>
              </a:schemeClr>
            </a:solidFill>
          </a:ln>
          <a:effectLst/>
        </p:spPr>
        <p:txBody>
          <a:bodyPr wrap="none" anchor="ctr"/>
          <a:lstStyle/>
          <a:p>
            <a:endParaRPr lang="en-US" sz="2449" dirty="0"/>
          </a:p>
        </p:txBody>
      </p:sp>
      <p:sp>
        <p:nvSpPr>
          <p:cNvPr id="16" name="Freeform 14">
            <a:extLst>
              <a:ext uri="{FF2B5EF4-FFF2-40B4-BE49-F238E27FC236}">
                <a16:creationId xmlns:a16="http://schemas.microsoft.com/office/drawing/2014/main" id="{8F81EE76-86C6-3B4C-A8C2-828BA4B8120D}"/>
              </a:ext>
            </a:extLst>
          </p:cNvPr>
          <p:cNvSpPr>
            <a:spLocks noChangeArrowheads="1"/>
          </p:cNvSpPr>
          <p:nvPr/>
        </p:nvSpPr>
        <p:spPr bwMode="auto">
          <a:xfrm>
            <a:off x="7048860" y="2289465"/>
            <a:ext cx="1284736" cy="1284736"/>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6" y="0"/>
                  <a:pt x="2752" y="616"/>
                  <a:pt x="2752" y="1376"/>
                </a:cubicBezTo>
                <a:lnTo>
                  <a:pt x="2752" y="1376"/>
                </a:lnTo>
                <a:cubicBezTo>
                  <a:pt x="2752" y="2135"/>
                  <a:pt x="2136"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rgbClr val="B52372"/>
            </a:solidFill>
          </a:ln>
          <a:effectLst/>
        </p:spPr>
        <p:txBody>
          <a:bodyPr wrap="none" anchor="ctr"/>
          <a:lstStyle/>
          <a:p>
            <a:endParaRPr lang="en-US" sz="2449" dirty="0"/>
          </a:p>
        </p:txBody>
      </p:sp>
      <p:sp>
        <p:nvSpPr>
          <p:cNvPr id="37" name="Subtitle 2">
            <a:extLst>
              <a:ext uri="{FF2B5EF4-FFF2-40B4-BE49-F238E27FC236}">
                <a16:creationId xmlns:a16="http://schemas.microsoft.com/office/drawing/2014/main" id="{B5E234F5-E01F-8748-97B5-C537826DB6AD}"/>
              </a:ext>
            </a:extLst>
          </p:cNvPr>
          <p:cNvSpPr txBox="1">
            <a:spLocks/>
          </p:cNvSpPr>
          <p:nvPr/>
        </p:nvSpPr>
        <p:spPr>
          <a:xfrm>
            <a:off x="3690729" y="4162578"/>
            <a:ext cx="1762544" cy="186205"/>
          </a:xfrm>
          <a:prstGeom prst="rect">
            <a:avLst/>
          </a:prstGeom>
        </p:spPr>
        <p:txBody>
          <a:bodyPr vert="horz" wrap="square" lIns="34290" tIns="17145" rIns="34290" bIns="171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13"/>
              </a:lnSpc>
            </a:pPr>
            <a:endParaRPr lang="en-US" sz="9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endParaRPr>
          </a:p>
        </p:txBody>
      </p:sp>
      <p:sp>
        <p:nvSpPr>
          <p:cNvPr id="38" name="TextBox 37">
            <a:extLst>
              <a:ext uri="{FF2B5EF4-FFF2-40B4-BE49-F238E27FC236}">
                <a16:creationId xmlns:a16="http://schemas.microsoft.com/office/drawing/2014/main" id="{D23304DA-A9E9-694B-A21D-04CFF68CB580}"/>
              </a:ext>
            </a:extLst>
          </p:cNvPr>
          <p:cNvSpPr txBox="1"/>
          <p:nvPr/>
        </p:nvSpPr>
        <p:spPr>
          <a:xfrm>
            <a:off x="3753512" y="3640424"/>
            <a:ext cx="1636987" cy="523220"/>
          </a:xfrm>
          <a:prstGeom prst="rect">
            <a:avLst/>
          </a:prstGeom>
          <a:noFill/>
        </p:spPr>
        <p:txBody>
          <a:bodyPr wrap="none" rtlCol="0" anchor="b" anchorCtr="0">
            <a:spAutoFit/>
          </a:bodyPr>
          <a:lstStyle/>
          <a:p>
            <a:pPr algn="ctr"/>
            <a:r>
              <a:rPr lang="en-US" sz="1400" b="1" dirty="0">
                <a:solidFill>
                  <a:schemeClr val="tx2"/>
                </a:solidFill>
                <a:latin typeface="Franklin Gothic Book" panose="020B0503020102020204" pitchFamily="34" charset="0"/>
                <a:ea typeface="League Spartan" charset="0"/>
                <a:cs typeface="Poppins" pitchFamily="2" charset="77"/>
              </a:rPr>
              <a:t>3- Install, Enhance </a:t>
            </a:r>
          </a:p>
          <a:p>
            <a:pPr algn="ctr"/>
            <a:r>
              <a:rPr lang="en-US" sz="1400" b="1" dirty="0">
                <a:solidFill>
                  <a:schemeClr val="tx2"/>
                </a:solidFill>
                <a:latin typeface="Franklin Gothic Book" panose="020B0503020102020204" pitchFamily="34" charset="0"/>
                <a:ea typeface="League Spartan" charset="0"/>
                <a:cs typeface="Poppins" pitchFamily="2" charset="77"/>
              </a:rPr>
              <a:t>&amp; Elevate</a:t>
            </a:r>
          </a:p>
        </p:txBody>
      </p:sp>
      <p:sp>
        <p:nvSpPr>
          <p:cNvPr id="40" name="Subtitle 2">
            <a:extLst>
              <a:ext uri="{FF2B5EF4-FFF2-40B4-BE49-F238E27FC236}">
                <a16:creationId xmlns:a16="http://schemas.microsoft.com/office/drawing/2014/main" id="{075DD1CF-DF07-BD4B-B87E-5D39B904B89D}"/>
              </a:ext>
            </a:extLst>
          </p:cNvPr>
          <p:cNvSpPr txBox="1">
            <a:spLocks/>
          </p:cNvSpPr>
          <p:nvPr/>
        </p:nvSpPr>
        <p:spPr>
          <a:xfrm>
            <a:off x="6809956" y="3951718"/>
            <a:ext cx="1762544" cy="519629"/>
          </a:xfrm>
          <a:prstGeom prst="rect">
            <a:avLst/>
          </a:prstGeom>
        </p:spPr>
        <p:txBody>
          <a:bodyPr vert="horz" wrap="square" lIns="34290" tIns="17145" rIns="34290" bIns="171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13"/>
              </a:lnSpc>
            </a:pPr>
            <a:r>
              <a:rPr lang="en-US" sz="9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Measurement of results, KPI’s,  readjusting and moving to the next level</a:t>
            </a:r>
          </a:p>
        </p:txBody>
      </p:sp>
      <p:sp>
        <p:nvSpPr>
          <p:cNvPr id="41" name="TextBox 40">
            <a:extLst>
              <a:ext uri="{FF2B5EF4-FFF2-40B4-BE49-F238E27FC236}">
                <a16:creationId xmlns:a16="http://schemas.microsoft.com/office/drawing/2014/main" id="{99C40761-40DB-E84E-A3EF-63A2CA78643E}"/>
              </a:ext>
            </a:extLst>
          </p:cNvPr>
          <p:cNvSpPr txBox="1"/>
          <p:nvPr/>
        </p:nvSpPr>
        <p:spPr>
          <a:xfrm>
            <a:off x="6848758" y="3645006"/>
            <a:ext cx="1684949" cy="307777"/>
          </a:xfrm>
          <a:prstGeom prst="rect">
            <a:avLst/>
          </a:prstGeom>
          <a:noFill/>
        </p:spPr>
        <p:txBody>
          <a:bodyPr wrap="none" rtlCol="0" anchor="b" anchorCtr="0">
            <a:spAutoFit/>
          </a:bodyPr>
          <a:lstStyle/>
          <a:p>
            <a:pPr algn="ctr"/>
            <a:r>
              <a:rPr lang="en-US" sz="1400" b="1" dirty="0">
                <a:solidFill>
                  <a:schemeClr val="tx2"/>
                </a:solidFill>
                <a:latin typeface="Franklin Gothic Book" panose="020B0503020102020204" pitchFamily="34" charset="0"/>
                <a:ea typeface="League Spartan" charset="0"/>
                <a:cs typeface="Poppins" pitchFamily="2" charset="77"/>
              </a:rPr>
              <a:t>5- Measure &amp; Equip</a:t>
            </a:r>
          </a:p>
        </p:txBody>
      </p:sp>
      <p:sp>
        <p:nvSpPr>
          <p:cNvPr id="19" name="Subtitle 2">
            <a:extLst>
              <a:ext uri="{FF2B5EF4-FFF2-40B4-BE49-F238E27FC236}">
                <a16:creationId xmlns:a16="http://schemas.microsoft.com/office/drawing/2014/main" id="{354159BB-7EAF-4B4B-91AA-5A5230AD11FD}"/>
              </a:ext>
            </a:extLst>
          </p:cNvPr>
          <p:cNvSpPr txBox="1">
            <a:spLocks/>
          </p:cNvSpPr>
          <p:nvPr/>
        </p:nvSpPr>
        <p:spPr>
          <a:xfrm>
            <a:off x="571501" y="4180821"/>
            <a:ext cx="1762544" cy="886718"/>
          </a:xfrm>
          <a:prstGeom prst="rect">
            <a:avLst/>
          </a:prstGeom>
        </p:spPr>
        <p:txBody>
          <a:bodyPr vert="horz" wrap="square" lIns="34290" tIns="17145" rIns="34290" bIns="171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13"/>
              </a:lnSpc>
            </a:pPr>
            <a:r>
              <a:rPr lang="en-US" sz="10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A deep dive into the current state that looks at;</a:t>
            </a:r>
          </a:p>
          <a:p>
            <a:pPr>
              <a:lnSpc>
                <a:spcPts val="1313"/>
              </a:lnSpc>
            </a:pPr>
            <a:r>
              <a:rPr lang="en-US" sz="10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 what is working, what needs to be left behind, and what needs to be built</a:t>
            </a:r>
          </a:p>
        </p:txBody>
      </p:sp>
      <p:sp>
        <p:nvSpPr>
          <p:cNvPr id="20" name="TextBox 19">
            <a:extLst>
              <a:ext uri="{FF2B5EF4-FFF2-40B4-BE49-F238E27FC236}">
                <a16:creationId xmlns:a16="http://schemas.microsoft.com/office/drawing/2014/main" id="{470ACC24-D91E-EC40-A611-1223B9CD21DD}"/>
              </a:ext>
            </a:extLst>
          </p:cNvPr>
          <p:cNvSpPr txBox="1"/>
          <p:nvPr/>
        </p:nvSpPr>
        <p:spPr>
          <a:xfrm>
            <a:off x="295993" y="3874110"/>
            <a:ext cx="2313582" cy="307777"/>
          </a:xfrm>
          <a:prstGeom prst="rect">
            <a:avLst/>
          </a:prstGeom>
          <a:noFill/>
        </p:spPr>
        <p:txBody>
          <a:bodyPr wrap="none" rtlCol="0" anchor="b" anchorCtr="0">
            <a:spAutoFit/>
          </a:bodyPr>
          <a:lstStyle/>
          <a:p>
            <a:pPr algn="ctr"/>
            <a:r>
              <a:rPr lang="en-US" sz="1400" b="1" dirty="0">
                <a:solidFill>
                  <a:schemeClr val="tx2"/>
                </a:solidFill>
                <a:latin typeface="Franklin Gothic Book" panose="020B0503020102020204" pitchFamily="34" charset="0"/>
                <a:ea typeface="League Spartan" charset="0"/>
                <a:cs typeface="Poppins" pitchFamily="2" charset="77"/>
              </a:rPr>
              <a:t>1- Differentiation Diagnostic</a:t>
            </a:r>
          </a:p>
        </p:txBody>
      </p:sp>
      <p:sp>
        <p:nvSpPr>
          <p:cNvPr id="43" name="Subtitle 2">
            <a:extLst>
              <a:ext uri="{FF2B5EF4-FFF2-40B4-BE49-F238E27FC236}">
                <a16:creationId xmlns:a16="http://schemas.microsoft.com/office/drawing/2014/main" id="{E33F8457-9D45-6142-80AF-9ABB79C73947}"/>
              </a:ext>
            </a:extLst>
          </p:cNvPr>
          <p:cNvSpPr txBox="1">
            <a:spLocks/>
          </p:cNvSpPr>
          <p:nvPr/>
        </p:nvSpPr>
        <p:spPr>
          <a:xfrm>
            <a:off x="1605442" y="1447592"/>
            <a:ext cx="2791067" cy="380617"/>
          </a:xfrm>
          <a:prstGeom prst="rect">
            <a:avLst/>
          </a:prstGeom>
        </p:spPr>
        <p:txBody>
          <a:bodyPr vert="horz" wrap="square" lIns="34290" tIns="17145" rIns="34290" bIns="171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13"/>
              </a:lnSpc>
            </a:pPr>
            <a:r>
              <a:rPr lang="en-US" sz="9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Bringing you the insight to get you where you</a:t>
            </a:r>
          </a:p>
          <a:p>
            <a:pPr>
              <a:lnSpc>
                <a:spcPts val="1313"/>
              </a:lnSpc>
            </a:pPr>
            <a:r>
              <a:rPr lang="en-US" sz="90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need to go</a:t>
            </a:r>
            <a:endParaRPr lang="en-US" sz="9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endParaRPr>
          </a:p>
        </p:txBody>
      </p:sp>
      <p:sp>
        <p:nvSpPr>
          <p:cNvPr id="44" name="TextBox 43">
            <a:extLst>
              <a:ext uri="{FF2B5EF4-FFF2-40B4-BE49-F238E27FC236}">
                <a16:creationId xmlns:a16="http://schemas.microsoft.com/office/drawing/2014/main" id="{5AE94EE5-6BBF-1946-8C3C-5F56412DF390}"/>
              </a:ext>
            </a:extLst>
          </p:cNvPr>
          <p:cNvSpPr txBox="1"/>
          <p:nvPr/>
        </p:nvSpPr>
        <p:spPr>
          <a:xfrm>
            <a:off x="2088042" y="1140882"/>
            <a:ext cx="1848712" cy="307777"/>
          </a:xfrm>
          <a:prstGeom prst="rect">
            <a:avLst/>
          </a:prstGeom>
          <a:noFill/>
        </p:spPr>
        <p:txBody>
          <a:bodyPr wrap="none" rtlCol="0" anchor="b" anchorCtr="0">
            <a:spAutoFit/>
          </a:bodyPr>
          <a:lstStyle/>
          <a:p>
            <a:pPr algn="ctr"/>
            <a:r>
              <a:rPr lang="en-US" sz="1400" b="1" dirty="0">
                <a:solidFill>
                  <a:schemeClr val="tx2"/>
                </a:solidFill>
                <a:latin typeface="Franklin Gothic Book" panose="020B0503020102020204" pitchFamily="34" charset="0"/>
                <a:ea typeface="League Spartan" charset="0"/>
                <a:cs typeface="Poppins" pitchFamily="2" charset="77"/>
              </a:rPr>
              <a:t>2- Insight Intelligence </a:t>
            </a:r>
          </a:p>
        </p:txBody>
      </p:sp>
      <p:sp>
        <p:nvSpPr>
          <p:cNvPr id="46" name="Subtitle 2">
            <a:extLst>
              <a:ext uri="{FF2B5EF4-FFF2-40B4-BE49-F238E27FC236}">
                <a16:creationId xmlns:a16="http://schemas.microsoft.com/office/drawing/2014/main" id="{AFDB8E0E-8409-BF44-9307-2E1BE903DF89}"/>
              </a:ext>
            </a:extLst>
          </p:cNvPr>
          <p:cNvSpPr txBox="1">
            <a:spLocks/>
          </p:cNvSpPr>
          <p:nvPr/>
        </p:nvSpPr>
        <p:spPr>
          <a:xfrm>
            <a:off x="5198301" y="1446525"/>
            <a:ext cx="1762544" cy="519629"/>
          </a:xfrm>
          <a:prstGeom prst="rect">
            <a:avLst/>
          </a:prstGeom>
        </p:spPr>
        <p:txBody>
          <a:bodyPr vert="horz" wrap="square" lIns="34290" tIns="17145" rIns="34290" bIns="171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13"/>
              </a:lnSpc>
            </a:pPr>
            <a:r>
              <a:rPr lang="en-US" sz="9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Sustainability and future planning, elimination of churn and other SaaS variables</a:t>
            </a:r>
          </a:p>
        </p:txBody>
      </p:sp>
      <p:sp>
        <p:nvSpPr>
          <p:cNvPr id="47" name="TextBox 46">
            <a:extLst>
              <a:ext uri="{FF2B5EF4-FFF2-40B4-BE49-F238E27FC236}">
                <a16:creationId xmlns:a16="http://schemas.microsoft.com/office/drawing/2014/main" id="{2E90F1A5-9095-4247-9D9A-6C986097B2E5}"/>
              </a:ext>
            </a:extLst>
          </p:cNvPr>
          <p:cNvSpPr txBox="1"/>
          <p:nvPr/>
        </p:nvSpPr>
        <p:spPr>
          <a:xfrm>
            <a:off x="5303312" y="1139814"/>
            <a:ext cx="1552541" cy="307777"/>
          </a:xfrm>
          <a:prstGeom prst="rect">
            <a:avLst/>
          </a:prstGeom>
          <a:noFill/>
        </p:spPr>
        <p:txBody>
          <a:bodyPr wrap="none" rtlCol="0" anchor="b" anchorCtr="0">
            <a:spAutoFit/>
          </a:bodyPr>
          <a:lstStyle/>
          <a:p>
            <a:pPr algn="ctr"/>
            <a:r>
              <a:rPr lang="en-US" sz="1400" b="1" dirty="0">
                <a:solidFill>
                  <a:schemeClr val="tx2"/>
                </a:solidFill>
                <a:latin typeface="Franklin Gothic Book" panose="020B0503020102020204" pitchFamily="34" charset="0"/>
                <a:ea typeface="League Spartan" charset="0"/>
                <a:cs typeface="Poppins" pitchFamily="2" charset="77"/>
              </a:rPr>
              <a:t>4- Drive &amp; Sustain</a:t>
            </a:r>
          </a:p>
        </p:txBody>
      </p:sp>
      <p:pic>
        <p:nvPicPr>
          <p:cNvPr id="18" name="Picture 17">
            <a:extLst>
              <a:ext uri="{FF2B5EF4-FFF2-40B4-BE49-F238E27FC236}">
                <a16:creationId xmlns:a16="http://schemas.microsoft.com/office/drawing/2014/main" id="{F350CE52-93A5-C747-8206-246B7817FB01}"/>
              </a:ext>
            </a:extLst>
          </p:cNvPr>
          <p:cNvPicPr>
            <a:picLocks noChangeAspect="1"/>
          </p:cNvPicPr>
          <p:nvPr/>
        </p:nvPicPr>
        <p:blipFill>
          <a:blip r:embed="rId3"/>
          <a:stretch>
            <a:fillRect/>
          </a:stretch>
        </p:blipFill>
        <p:spPr>
          <a:xfrm rot="19943948">
            <a:off x="1141452" y="2526922"/>
            <a:ext cx="548306" cy="888255"/>
          </a:xfrm>
          <a:prstGeom prst="rect">
            <a:avLst/>
          </a:prstGeom>
        </p:spPr>
      </p:pic>
      <p:pic>
        <p:nvPicPr>
          <p:cNvPr id="21" name="Picture 20">
            <a:extLst>
              <a:ext uri="{FF2B5EF4-FFF2-40B4-BE49-F238E27FC236}">
                <a16:creationId xmlns:a16="http://schemas.microsoft.com/office/drawing/2014/main" id="{34A481E3-6DC4-634C-BA0D-82B7E8461CB6}"/>
              </a:ext>
            </a:extLst>
          </p:cNvPr>
          <p:cNvPicPr>
            <a:picLocks noChangeAspect="1"/>
          </p:cNvPicPr>
          <p:nvPr/>
        </p:nvPicPr>
        <p:blipFill>
          <a:blip r:embed="rId4"/>
          <a:stretch>
            <a:fillRect/>
          </a:stretch>
        </p:blipFill>
        <p:spPr>
          <a:xfrm>
            <a:off x="7315201" y="2495551"/>
            <a:ext cx="797720" cy="672236"/>
          </a:xfrm>
          <a:prstGeom prst="rect">
            <a:avLst/>
          </a:prstGeom>
        </p:spPr>
      </p:pic>
      <p:pic>
        <p:nvPicPr>
          <p:cNvPr id="23" name="Picture 22">
            <a:extLst>
              <a:ext uri="{FF2B5EF4-FFF2-40B4-BE49-F238E27FC236}">
                <a16:creationId xmlns:a16="http://schemas.microsoft.com/office/drawing/2014/main" id="{D02CB5E4-9672-8B48-985C-E1CE527C578A}"/>
              </a:ext>
            </a:extLst>
          </p:cNvPr>
          <p:cNvPicPr>
            <a:picLocks noChangeAspect="1"/>
          </p:cNvPicPr>
          <p:nvPr/>
        </p:nvPicPr>
        <p:blipFill>
          <a:blip r:embed="rId5" cstate="print">
            <a:biLevel thresh="50000"/>
            <a:extLst>
              <a:ext uri="{28A0092B-C50C-407E-A947-70E740481C1C}">
                <a14:useLocalDpi xmlns:a14="http://schemas.microsoft.com/office/drawing/2010/main"/>
              </a:ext>
            </a:extLst>
          </a:blip>
          <a:stretch>
            <a:fillRect/>
          </a:stretch>
        </p:blipFill>
        <p:spPr>
          <a:xfrm>
            <a:off x="2595323" y="2563447"/>
            <a:ext cx="848248" cy="662413"/>
          </a:xfrm>
          <a:prstGeom prst="rect">
            <a:avLst/>
          </a:prstGeom>
        </p:spPr>
      </p:pic>
      <p:pic>
        <p:nvPicPr>
          <p:cNvPr id="24" name="Picture 23">
            <a:extLst>
              <a:ext uri="{FF2B5EF4-FFF2-40B4-BE49-F238E27FC236}">
                <a16:creationId xmlns:a16="http://schemas.microsoft.com/office/drawing/2014/main" id="{56EB0B2B-97E2-7F4C-9B30-B61CB921392D}"/>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rot="2795595">
            <a:off x="5878640" y="2461617"/>
            <a:ext cx="657497" cy="937900"/>
          </a:xfrm>
          <a:prstGeom prst="rect">
            <a:avLst/>
          </a:prstGeom>
        </p:spPr>
      </p:pic>
      <p:pic>
        <p:nvPicPr>
          <p:cNvPr id="25" name="Picture 24">
            <a:extLst>
              <a:ext uri="{FF2B5EF4-FFF2-40B4-BE49-F238E27FC236}">
                <a16:creationId xmlns:a16="http://schemas.microsoft.com/office/drawing/2014/main" id="{0A6E0855-D429-1C4B-B85E-DA8D8939F3F3}"/>
              </a:ext>
            </a:extLst>
          </p:cNvPr>
          <p:cNvPicPr>
            <a:picLocks noChangeAspect="1"/>
          </p:cNvPicPr>
          <p:nvPr/>
        </p:nvPicPr>
        <p:blipFill>
          <a:blip r:embed="rId7"/>
          <a:stretch>
            <a:fillRect/>
          </a:stretch>
        </p:blipFill>
        <p:spPr>
          <a:xfrm>
            <a:off x="4196063" y="2508230"/>
            <a:ext cx="726490" cy="717630"/>
          </a:xfrm>
          <a:prstGeom prst="rect">
            <a:avLst/>
          </a:prstGeom>
        </p:spPr>
      </p:pic>
      <p:sp>
        <p:nvSpPr>
          <p:cNvPr id="26" name="Subtitle 2">
            <a:extLst>
              <a:ext uri="{FF2B5EF4-FFF2-40B4-BE49-F238E27FC236}">
                <a16:creationId xmlns:a16="http://schemas.microsoft.com/office/drawing/2014/main" id="{C8CCE1EB-2C49-374D-88E4-651A42A7F963}"/>
              </a:ext>
            </a:extLst>
          </p:cNvPr>
          <p:cNvSpPr txBox="1">
            <a:spLocks/>
          </p:cNvSpPr>
          <p:nvPr/>
        </p:nvSpPr>
        <p:spPr>
          <a:xfrm>
            <a:off x="3726703" y="4229867"/>
            <a:ext cx="1762544" cy="186205"/>
          </a:xfrm>
          <a:prstGeom prst="rect">
            <a:avLst/>
          </a:prstGeom>
        </p:spPr>
        <p:txBody>
          <a:bodyPr vert="horz" wrap="square" lIns="34290" tIns="17145" rIns="34290" bIns="171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313"/>
              </a:lnSpc>
            </a:pPr>
            <a:r>
              <a:rPr lang="en-US" sz="900" dirty="0">
                <a:solidFill>
                  <a:schemeClr val="tx1"/>
                </a:solidFill>
                <a:latin typeface="Franklin Gothic Book" panose="020B0503020102020204" pitchFamily="34" charset="0"/>
                <a:ea typeface="Lato Light" panose="020F0502020204030203" pitchFamily="34" charset="0"/>
                <a:cs typeface="Mukta ExtraLight" panose="020B0000000000000000" pitchFamily="34" charset="77"/>
              </a:rPr>
              <a:t>Let’s go to work!</a:t>
            </a:r>
          </a:p>
        </p:txBody>
      </p:sp>
    </p:spTree>
    <p:extLst>
      <p:ext uri="{BB962C8B-B14F-4D97-AF65-F5344CB8AC3E}">
        <p14:creationId xmlns:p14="http://schemas.microsoft.com/office/powerpoint/2010/main" val="259206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anim calcmode="lin" valueType="num">
                                      <p:cBhvr additive="base">
                                        <p:cTn id="33" dur="500" fill="hold"/>
                                        <p:tgtEl>
                                          <p:spTgt spid="43"/>
                                        </p:tgtEl>
                                        <p:attrNameLst>
                                          <p:attrName>ppt_x</p:attrName>
                                        </p:attrNameLst>
                                      </p:cBhvr>
                                      <p:tavLst>
                                        <p:tav tm="0">
                                          <p:val>
                                            <p:strVal val="#ppt_x"/>
                                          </p:val>
                                        </p:tav>
                                        <p:tav tm="100000">
                                          <p:val>
                                            <p:strVal val="#ppt_x"/>
                                          </p:val>
                                        </p:tav>
                                      </p:tavLst>
                                    </p:anim>
                                    <p:anim calcmode="lin" valueType="num">
                                      <p:cBhvr additive="base">
                                        <p:cTn id="34" dur="500" fill="hold"/>
                                        <p:tgtEl>
                                          <p:spTgt spid="4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additive="base">
                                        <p:cTn id="37" dur="500" fill="hold"/>
                                        <p:tgtEl>
                                          <p:spTgt spid="44"/>
                                        </p:tgtEl>
                                        <p:attrNameLst>
                                          <p:attrName>ppt_x</p:attrName>
                                        </p:attrNameLst>
                                      </p:cBhvr>
                                      <p:tavLst>
                                        <p:tav tm="0">
                                          <p:val>
                                            <p:strVal val="#ppt_x"/>
                                          </p:val>
                                        </p:tav>
                                        <p:tav tm="100000">
                                          <p:val>
                                            <p:strVal val="#ppt_x"/>
                                          </p:val>
                                        </p:tav>
                                      </p:tavLst>
                                    </p:anim>
                                    <p:anim calcmode="lin" valueType="num">
                                      <p:cBhvr additive="base">
                                        <p:cTn id="3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ppt_x"/>
                                          </p:val>
                                        </p:tav>
                                        <p:tav tm="100000">
                                          <p:val>
                                            <p:strVal val="#ppt_x"/>
                                          </p:val>
                                        </p:tav>
                                      </p:tavLst>
                                    </p:anim>
                                    <p:anim calcmode="lin" valueType="num">
                                      <p:cBhvr additive="base">
                                        <p:cTn id="44" dur="500" fill="hold"/>
                                        <p:tgtEl>
                                          <p:spTgt spid="2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additive="base">
                                        <p:cTn id="51" dur="500" fill="hold"/>
                                        <p:tgtEl>
                                          <p:spTgt spid="38"/>
                                        </p:tgtEl>
                                        <p:attrNameLst>
                                          <p:attrName>ppt_x</p:attrName>
                                        </p:attrNameLst>
                                      </p:cBhvr>
                                      <p:tavLst>
                                        <p:tav tm="0">
                                          <p:val>
                                            <p:strVal val="#ppt_x"/>
                                          </p:val>
                                        </p:tav>
                                        <p:tav tm="100000">
                                          <p:val>
                                            <p:strVal val="#ppt_x"/>
                                          </p:val>
                                        </p:tav>
                                      </p:tavLst>
                                    </p:anim>
                                    <p:anim calcmode="lin" valueType="num">
                                      <p:cBhvr additive="base">
                                        <p:cTn id="52" dur="500" fill="hold"/>
                                        <p:tgtEl>
                                          <p:spTgt spid="3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6"/>
                                        </p:tgtEl>
                                        <p:attrNameLst>
                                          <p:attrName>style.visibility</p:attrName>
                                        </p:attrNameLst>
                                      </p:cBhvr>
                                      <p:to>
                                        <p:strVal val="visible"/>
                                      </p:to>
                                    </p:set>
                                    <p:anim calcmode="lin" valueType="num">
                                      <p:cBhvr additive="base">
                                        <p:cTn id="61" dur="500" fill="hold"/>
                                        <p:tgtEl>
                                          <p:spTgt spid="46"/>
                                        </p:tgtEl>
                                        <p:attrNameLst>
                                          <p:attrName>ppt_x</p:attrName>
                                        </p:attrNameLst>
                                      </p:cBhvr>
                                      <p:tavLst>
                                        <p:tav tm="0">
                                          <p:val>
                                            <p:strVal val="#ppt_x"/>
                                          </p:val>
                                        </p:tav>
                                        <p:tav tm="100000">
                                          <p:val>
                                            <p:strVal val="#ppt_x"/>
                                          </p:val>
                                        </p:tav>
                                      </p:tavLst>
                                    </p:anim>
                                    <p:anim calcmode="lin" valueType="num">
                                      <p:cBhvr additive="base">
                                        <p:cTn id="62" dur="500" fill="hold"/>
                                        <p:tgtEl>
                                          <p:spTgt spid="46"/>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 calcmode="lin" valueType="num">
                                      <p:cBhvr additive="base">
                                        <p:cTn id="65" dur="500" fill="hold"/>
                                        <p:tgtEl>
                                          <p:spTgt spid="47"/>
                                        </p:tgtEl>
                                        <p:attrNameLst>
                                          <p:attrName>ppt_x</p:attrName>
                                        </p:attrNameLst>
                                      </p:cBhvr>
                                      <p:tavLst>
                                        <p:tav tm="0">
                                          <p:val>
                                            <p:strVal val="#ppt_x"/>
                                          </p:val>
                                        </p:tav>
                                        <p:tav tm="100000">
                                          <p:val>
                                            <p:strVal val="#ppt_x"/>
                                          </p:val>
                                        </p:tav>
                                      </p:tavLst>
                                    </p:anim>
                                    <p:anim calcmode="lin" valueType="num">
                                      <p:cBhvr additive="base">
                                        <p:cTn id="66" dur="500" fill="hold"/>
                                        <p:tgtEl>
                                          <p:spTgt spid="4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 calcmode="lin" valueType="num">
                                      <p:cBhvr additive="base">
                                        <p:cTn id="69" dur="500" fill="hold"/>
                                        <p:tgtEl>
                                          <p:spTgt spid="13"/>
                                        </p:tgtEl>
                                        <p:attrNameLst>
                                          <p:attrName>ppt_x</p:attrName>
                                        </p:attrNameLst>
                                      </p:cBhvr>
                                      <p:tavLst>
                                        <p:tav tm="0">
                                          <p:val>
                                            <p:strVal val="#ppt_x"/>
                                          </p:val>
                                        </p:tav>
                                        <p:tav tm="100000">
                                          <p:val>
                                            <p:strVal val="#ppt_x"/>
                                          </p:val>
                                        </p:tav>
                                      </p:tavLst>
                                    </p:anim>
                                    <p:anim calcmode="lin" valueType="num">
                                      <p:cBhvr additive="base">
                                        <p:cTn id="70" dur="500" fill="hold"/>
                                        <p:tgtEl>
                                          <p:spTgt spid="13"/>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ppt_x</p:attrName>
                                        </p:attrNameLst>
                                      </p:cBhvr>
                                      <p:tavLst>
                                        <p:tav tm="0">
                                          <p:val>
                                            <p:strVal val="#ppt_x"/>
                                          </p:val>
                                        </p:tav>
                                        <p:tav tm="100000">
                                          <p:val>
                                            <p:strVal val="#ppt_x"/>
                                          </p:val>
                                        </p:tav>
                                      </p:tavLst>
                                    </p:anim>
                                    <p:anim calcmode="lin" valueType="num">
                                      <p:cBhvr additive="base">
                                        <p:cTn id="80" dur="500" fill="hold"/>
                                        <p:tgtEl>
                                          <p:spTgt spid="2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anim calcmode="lin" valueType="num">
                                      <p:cBhvr additive="base">
                                        <p:cTn id="83" dur="500" fill="hold"/>
                                        <p:tgtEl>
                                          <p:spTgt spid="16"/>
                                        </p:tgtEl>
                                        <p:attrNameLst>
                                          <p:attrName>ppt_x</p:attrName>
                                        </p:attrNameLst>
                                      </p:cBhvr>
                                      <p:tavLst>
                                        <p:tav tm="0">
                                          <p:val>
                                            <p:strVal val="#ppt_x"/>
                                          </p:val>
                                        </p:tav>
                                        <p:tav tm="100000">
                                          <p:val>
                                            <p:strVal val="#ppt_x"/>
                                          </p:val>
                                        </p:tav>
                                      </p:tavLst>
                                    </p:anim>
                                    <p:anim calcmode="lin" valueType="num">
                                      <p:cBhvr additive="base">
                                        <p:cTn id="84" dur="500" fill="hold"/>
                                        <p:tgtEl>
                                          <p:spTgt spid="1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anim calcmode="lin" valueType="num">
                                      <p:cBhvr additive="base">
                                        <p:cTn id="87" dur="500" fill="hold"/>
                                        <p:tgtEl>
                                          <p:spTgt spid="41"/>
                                        </p:tgtEl>
                                        <p:attrNameLst>
                                          <p:attrName>ppt_x</p:attrName>
                                        </p:attrNameLst>
                                      </p:cBhvr>
                                      <p:tavLst>
                                        <p:tav tm="0">
                                          <p:val>
                                            <p:strVal val="#ppt_x"/>
                                          </p:val>
                                        </p:tav>
                                        <p:tav tm="100000">
                                          <p:val>
                                            <p:strVal val="#ppt_x"/>
                                          </p:val>
                                        </p:tav>
                                      </p:tavLst>
                                    </p:anim>
                                    <p:anim calcmode="lin" valueType="num">
                                      <p:cBhvr additive="base">
                                        <p:cTn id="88" dur="500" fill="hold"/>
                                        <p:tgtEl>
                                          <p:spTgt spid="41"/>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40"/>
                                        </p:tgtEl>
                                        <p:attrNameLst>
                                          <p:attrName>style.visibility</p:attrName>
                                        </p:attrNameLst>
                                      </p:cBhvr>
                                      <p:to>
                                        <p:strVal val="visible"/>
                                      </p:to>
                                    </p:set>
                                    <p:anim calcmode="lin" valueType="num">
                                      <p:cBhvr additive="base">
                                        <p:cTn id="91" dur="500" fill="hold"/>
                                        <p:tgtEl>
                                          <p:spTgt spid="40"/>
                                        </p:tgtEl>
                                        <p:attrNameLst>
                                          <p:attrName>ppt_x</p:attrName>
                                        </p:attrNameLst>
                                      </p:cBhvr>
                                      <p:tavLst>
                                        <p:tav tm="0">
                                          <p:val>
                                            <p:strVal val="#ppt_x"/>
                                          </p:val>
                                        </p:tav>
                                        <p:tav tm="100000">
                                          <p:val>
                                            <p:strVal val="#ppt_x"/>
                                          </p:val>
                                        </p:tav>
                                      </p:tavLst>
                                    </p:anim>
                                    <p:anim calcmode="lin" valueType="num">
                                      <p:cBhvr additive="base">
                                        <p:cTn id="9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P spid="13" grpId="0" animBg="1"/>
      <p:bldP spid="16" grpId="0" animBg="1"/>
      <p:bldP spid="38" grpId="0"/>
      <p:bldP spid="40" grpId="0"/>
      <p:bldP spid="41" grpId="0"/>
      <p:bldP spid="19" grpId="0"/>
      <p:bldP spid="20" grpId="0"/>
      <p:bldP spid="43" grpId="0"/>
      <p:bldP spid="44" grpId="0"/>
      <p:bldP spid="46" grpId="0"/>
      <p:bldP spid="47"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1">
            <a:extLst>
              <a:ext uri="{FF2B5EF4-FFF2-40B4-BE49-F238E27FC236}">
                <a16:creationId xmlns:a16="http://schemas.microsoft.com/office/drawing/2014/main" id="{6661786B-1E03-6044-9258-2D384ED78A7B}"/>
              </a:ext>
            </a:extLst>
          </p:cNvPr>
          <p:cNvSpPr>
            <a:spLocks noChangeArrowheads="1"/>
          </p:cNvSpPr>
          <p:nvPr/>
        </p:nvSpPr>
        <p:spPr bwMode="auto">
          <a:xfrm>
            <a:off x="0" y="1527070"/>
            <a:ext cx="8991600" cy="150136"/>
          </a:xfrm>
          <a:prstGeom prst="roundRect">
            <a:avLst>
              <a:gd name="adj" fmla="val 50000"/>
            </a:avLst>
          </a:prstGeom>
          <a:solidFill>
            <a:schemeClr val="bg1">
              <a:lumMod val="85000"/>
            </a:schemeClr>
          </a:solidFill>
          <a:ln>
            <a:noFill/>
          </a:ln>
          <a:effectLst/>
        </p:spPr>
        <p:txBody>
          <a:bodyPr wrap="none" anchor="ctr"/>
          <a:lstStyle/>
          <a:p>
            <a:endParaRPr lang="en-US" sz="2449" dirty="0">
              <a:latin typeface="Lato Light" panose="020F0502020204030203" pitchFamily="34" charset="0"/>
            </a:endParaRPr>
          </a:p>
        </p:txBody>
      </p:sp>
      <p:sp>
        <p:nvSpPr>
          <p:cNvPr id="4" name="Freeform 2">
            <a:extLst>
              <a:ext uri="{FF2B5EF4-FFF2-40B4-BE49-F238E27FC236}">
                <a16:creationId xmlns:a16="http://schemas.microsoft.com/office/drawing/2014/main" id="{95252E18-2FFA-1545-83AF-546F436696FF}"/>
              </a:ext>
            </a:extLst>
          </p:cNvPr>
          <p:cNvSpPr>
            <a:spLocks noChangeArrowheads="1"/>
          </p:cNvSpPr>
          <p:nvPr/>
        </p:nvSpPr>
        <p:spPr bwMode="auto">
          <a:xfrm>
            <a:off x="722390" y="949490"/>
            <a:ext cx="1284736" cy="1284736"/>
          </a:xfrm>
          <a:custGeom>
            <a:avLst/>
            <a:gdLst>
              <a:gd name="T0" fmla="*/ 1377 w 2753"/>
              <a:gd name="T1" fmla="*/ 0 h 2752"/>
              <a:gd name="T2" fmla="*/ 1377 w 2753"/>
              <a:gd name="T3" fmla="*/ 0 h 2752"/>
              <a:gd name="T4" fmla="*/ 2752 w 2753"/>
              <a:gd name="T5" fmla="*/ 1376 h 2752"/>
              <a:gd name="T6" fmla="*/ 2752 w 2753"/>
              <a:gd name="T7" fmla="*/ 1376 h 2752"/>
              <a:gd name="T8" fmla="*/ 1377 w 2753"/>
              <a:gd name="T9" fmla="*/ 2751 h 2752"/>
              <a:gd name="T10" fmla="*/ 1377 w 2753"/>
              <a:gd name="T11" fmla="*/ 2751 h 2752"/>
              <a:gd name="T12" fmla="*/ 0 w 2753"/>
              <a:gd name="T13" fmla="*/ 1376 h 2752"/>
              <a:gd name="T14" fmla="*/ 0 w 2753"/>
              <a:gd name="T15" fmla="*/ 1376 h 2752"/>
              <a:gd name="T16" fmla="*/ 1377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7" y="0"/>
                </a:moveTo>
                <a:lnTo>
                  <a:pt x="1377" y="0"/>
                </a:lnTo>
                <a:cubicBezTo>
                  <a:pt x="2137" y="0"/>
                  <a:pt x="2752" y="616"/>
                  <a:pt x="2752" y="1376"/>
                </a:cubicBezTo>
                <a:lnTo>
                  <a:pt x="2752" y="1376"/>
                </a:lnTo>
                <a:cubicBezTo>
                  <a:pt x="2752" y="2135"/>
                  <a:pt x="2137" y="2751"/>
                  <a:pt x="1377" y="2751"/>
                </a:cubicBezTo>
                <a:lnTo>
                  <a:pt x="1377" y="2751"/>
                </a:lnTo>
                <a:cubicBezTo>
                  <a:pt x="616" y="2751"/>
                  <a:pt x="0" y="2135"/>
                  <a:pt x="0" y="1376"/>
                </a:cubicBezTo>
                <a:lnTo>
                  <a:pt x="0" y="1376"/>
                </a:lnTo>
                <a:cubicBezTo>
                  <a:pt x="0" y="616"/>
                  <a:pt x="616" y="0"/>
                  <a:pt x="1377" y="0"/>
                </a:cubicBezTo>
              </a:path>
            </a:pathLst>
          </a:custGeom>
          <a:solidFill>
            <a:schemeClr val="bg1"/>
          </a:solidFill>
          <a:ln w="76200">
            <a:solidFill>
              <a:srgbClr val="B52372"/>
            </a:solidFill>
          </a:ln>
          <a:effectLst/>
        </p:spPr>
        <p:txBody>
          <a:bodyPr wrap="none" anchor="ctr"/>
          <a:lstStyle/>
          <a:p>
            <a:endParaRPr lang="en-US" sz="2449" dirty="0"/>
          </a:p>
        </p:txBody>
      </p:sp>
      <p:sp>
        <p:nvSpPr>
          <p:cNvPr id="2" name="TextBox 1">
            <a:extLst>
              <a:ext uri="{FF2B5EF4-FFF2-40B4-BE49-F238E27FC236}">
                <a16:creationId xmlns:a16="http://schemas.microsoft.com/office/drawing/2014/main" id="{857A9D67-CD43-0B47-8040-F95CCC8496BC}"/>
              </a:ext>
            </a:extLst>
          </p:cNvPr>
          <p:cNvSpPr txBox="1"/>
          <p:nvPr/>
        </p:nvSpPr>
        <p:spPr>
          <a:xfrm>
            <a:off x="2351537" y="229640"/>
            <a:ext cx="4440960" cy="438582"/>
          </a:xfrm>
          <a:prstGeom prst="rect">
            <a:avLst/>
          </a:prstGeom>
          <a:noFill/>
        </p:spPr>
        <p:txBody>
          <a:bodyPr wrap="none" rtlCol="0">
            <a:spAutoFit/>
          </a:bodyPr>
          <a:lstStyle/>
          <a:p>
            <a:pPr algn="ctr"/>
            <a:r>
              <a:rPr lang="en-US" sz="2250" b="1" dirty="0">
                <a:solidFill>
                  <a:schemeClr val="tx2"/>
                </a:solidFill>
                <a:latin typeface="Franklin Gothic Book" panose="020B0503020102020204" pitchFamily="34" charset="0"/>
                <a:cs typeface="Poppins" pitchFamily="2" charset="77"/>
              </a:rPr>
              <a:t>Strategic Engagement Deliverables</a:t>
            </a:r>
          </a:p>
        </p:txBody>
      </p:sp>
      <p:sp>
        <p:nvSpPr>
          <p:cNvPr id="7" name="Freeform 5">
            <a:extLst>
              <a:ext uri="{FF2B5EF4-FFF2-40B4-BE49-F238E27FC236}">
                <a16:creationId xmlns:a16="http://schemas.microsoft.com/office/drawing/2014/main" id="{DECB0E47-80BF-9B46-95D3-E7B7306564EF}"/>
              </a:ext>
            </a:extLst>
          </p:cNvPr>
          <p:cNvSpPr>
            <a:spLocks noChangeArrowheads="1"/>
          </p:cNvSpPr>
          <p:nvPr/>
        </p:nvSpPr>
        <p:spPr bwMode="auto">
          <a:xfrm>
            <a:off x="2282003" y="949490"/>
            <a:ext cx="1284736" cy="1284736"/>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7" y="0"/>
                  <a:pt x="2752" y="616"/>
                  <a:pt x="2752" y="1376"/>
                </a:cubicBezTo>
                <a:lnTo>
                  <a:pt x="2752" y="1376"/>
                </a:lnTo>
                <a:cubicBezTo>
                  <a:pt x="2752" y="2135"/>
                  <a:pt x="2137"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chemeClr val="tx1">
                <a:lumMod val="65000"/>
                <a:lumOff val="35000"/>
              </a:schemeClr>
            </a:solidFill>
          </a:ln>
          <a:effectLst/>
        </p:spPr>
        <p:txBody>
          <a:bodyPr wrap="none" anchor="ctr"/>
          <a:lstStyle/>
          <a:p>
            <a:endParaRPr lang="en-US" sz="2449" dirty="0"/>
          </a:p>
        </p:txBody>
      </p:sp>
      <p:sp>
        <p:nvSpPr>
          <p:cNvPr id="10" name="Freeform 8">
            <a:extLst>
              <a:ext uri="{FF2B5EF4-FFF2-40B4-BE49-F238E27FC236}">
                <a16:creationId xmlns:a16="http://schemas.microsoft.com/office/drawing/2014/main" id="{123A7FA7-121E-9042-8277-B581CAF1ECDE}"/>
              </a:ext>
            </a:extLst>
          </p:cNvPr>
          <p:cNvSpPr>
            <a:spLocks noChangeArrowheads="1"/>
          </p:cNvSpPr>
          <p:nvPr/>
        </p:nvSpPr>
        <p:spPr bwMode="auto">
          <a:xfrm>
            <a:off x="4002296" y="918524"/>
            <a:ext cx="1284736" cy="1284736"/>
          </a:xfrm>
          <a:custGeom>
            <a:avLst/>
            <a:gdLst>
              <a:gd name="T0" fmla="*/ 1376 w 2752"/>
              <a:gd name="T1" fmla="*/ 0 h 2752"/>
              <a:gd name="T2" fmla="*/ 1376 w 2752"/>
              <a:gd name="T3" fmla="*/ 0 h 2752"/>
              <a:gd name="T4" fmla="*/ 2751 w 2752"/>
              <a:gd name="T5" fmla="*/ 1376 h 2752"/>
              <a:gd name="T6" fmla="*/ 2751 w 2752"/>
              <a:gd name="T7" fmla="*/ 1376 h 2752"/>
              <a:gd name="T8" fmla="*/ 1376 w 2752"/>
              <a:gd name="T9" fmla="*/ 2751 h 2752"/>
              <a:gd name="T10" fmla="*/ 1376 w 2752"/>
              <a:gd name="T11" fmla="*/ 2751 h 2752"/>
              <a:gd name="T12" fmla="*/ 0 w 2752"/>
              <a:gd name="T13" fmla="*/ 1376 h 2752"/>
              <a:gd name="T14" fmla="*/ 0 w 2752"/>
              <a:gd name="T15" fmla="*/ 1376 h 2752"/>
              <a:gd name="T16" fmla="*/ 1376 w 2752"/>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2" h="2752">
                <a:moveTo>
                  <a:pt x="1376" y="0"/>
                </a:moveTo>
                <a:lnTo>
                  <a:pt x="1376" y="0"/>
                </a:lnTo>
                <a:cubicBezTo>
                  <a:pt x="2135" y="0"/>
                  <a:pt x="2751" y="616"/>
                  <a:pt x="2751" y="1376"/>
                </a:cubicBezTo>
                <a:lnTo>
                  <a:pt x="2751" y="1376"/>
                </a:lnTo>
                <a:cubicBezTo>
                  <a:pt x="2751" y="2135"/>
                  <a:pt x="2135"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rgbClr val="B52372"/>
            </a:solidFill>
          </a:ln>
          <a:effectLst/>
        </p:spPr>
        <p:txBody>
          <a:bodyPr wrap="none" anchor="ctr"/>
          <a:lstStyle/>
          <a:p>
            <a:endParaRPr lang="en-US" sz="2449" dirty="0"/>
          </a:p>
        </p:txBody>
      </p:sp>
      <p:sp>
        <p:nvSpPr>
          <p:cNvPr id="13" name="Freeform 11">
            <a:extLst>
              <a:ext uri="{FF2B5EF4-FFF2-40B4-BE49-F238E27FC236}">
                <a16:creationId xmlns:a16="http://schemas.microsoft.com/office/drawing/2014/main" id="{D4D8D2FC-2F50-514B-A51A-8DD75EB18747}"/>
              </a:ext>
            </a:extLst>
          </p:cNvPr>
          <p:cNvSpPr>
            <a:spLocks noChangeArrowheads="1"/>
          </p:cNvSpPr>
          <p:nvPr/>
        </p:nvSpPr>
        <p:spPr bwMode="auto">
          <a:xfrm>
            <a:off x="5591187" y="918524"/>
            <a:ext cx="1284736" cy="1284736"/>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6" y="0"/>
                  <a:pt x="2752" y="616"/>
                  <a:pt x="2752" y="1376"/>
                </a:cubicBezTo>
                <a:lnTo>
                  <a:pt x="2752" y="1376"/>
                </a:lnTo>
                <a:cubicBezTo>
                  <a:pt x="2752" y="2135"/>
                  <a:pt x="2136"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chemeClr val="tx1">
                <a:lumMod val="65000"/>
                <a:lumOff val="35000"/>
              </a:schemeClr>
            </a:solidFill>
          </a:ln>
          <a:effectLst/>
        </p:spPr>
        <p:txBody>
          <a:bodyPr wrap="none" anchor="ctr"/>
          <a:lstStyle/>
          <a:p>
            <a:endParaRPr lang="en-US" sz="2449" dirty="0"/>
          </a:p>
        </p:txBody>
      </p:sp>
      <p:sp>
        <p:nvSpPr>
          <p:cNvPr id="16" name="Freeform 14">
            <a:extLst>
              <a:ext uri="{FF2B5EF4-FFF2-40B4-BE49-F238E27FC236}">
                <a16:creationId xmlns:a16="http://schemas.microsoft.com/office/drawing/2014/main" id="{8F81EE76-86C6-3B4C-A8C2-828BA4B8120D}"/>
              </a:ext>
            </a:extLst>
          </p:cNvPr>
          <p:cNvSpPr>
            <a:spLocks noChangeArrowheads="1"/>
          </p:cNvSpPr>
          <p:nvPr/>
        </p:nvSpPr>
        <p:spPr bwMode="auto">
          <a:xfrm>
            <a:off x="7158273" y="948224"/>
            <a:ext cx="1284736" cy="1284736"/>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6" y="0"/>
                  <a:pt x="2752" y="616"/>
                  <a:pt x="2752" y="1376"/>
                </a:cubicBezTo>
                <a:lnTo>
                  <a:pt x="2752" y="1376"/>
                </a:lnTo>
                <a:cubicBezTo>
                  <a:pt x="2752" y="2135"/>
                  <a:pt x="2136"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rgbClr val="B52372"/>
            </a:solidFill>
          </a:ln>
          <a:effectLst/>
        </p:spPr>
        <p:txBody>
          <a:bodyPr wrap="none" anchor="ctr"/>
          <a:lstStyle/>
          <a:p>
            <a:endParaRPr lang="en-US" sz="2449" dirty="0"/>
          </a:p>
        </p:txBody>
      </p:sp>
      <p:sp>
        <p:nvSpPr>
          <p:cNvPr id="38" name="TextBox 37">
            <a:extLst>
              <a:ext uri="{FF2B5EF4-FFF2-40B4-BE49-F238E27FC236}">
                <a16:creationId xmlns:a16="http://schemas.microsoft.com/office/drawing/2014/main" id="{D23304DA-A9E9-694B-A21D-04CFF68CB580}"/>
              </a:ext>
            </a:extLst>
          </p:cNvPr>
          <p:cNvSpPr txBox="1"/>
          <p:nvPr/>
        </p:nvSpPr>
        <p:spPr>
          <a:xfrm>
            <a:off x="3824519" y="2539916"/>
            <a:ext cx="1681872" cy="523220"/>
          </a:xfrm>
          <a:prstGeom prst="rect">
            <a:avLst/>
          </a:prstGeom>
          <a:noFill/>
        </p:spPr>
        <p:txBody>
          <a:bodyPr wrap="none" rtlCol="0" anchor="b" anchorCtr="0">
            <a:spAutoFit/>
          </a:bodyPr>
          <a:lstStyle/>
          <a:p>
            <a:pPr algn="ctr"/>
            <a:r>
              <a:rPr lang="en-US" sz="1400" b="1" dirty="0">
                <a:solidFill>
                  <a:srgbClr val="B52372"/>
                </a:solidFill>
                <a:latin typeface="Franklin Gothic Book" panose="020B0503020102020204" pitchFamily="34" charset="0"/>
                <a:ea typeface="League Spartan" charset="0"/>
                <a:cs typeface="Poppins" pitchFamily="2" charset="77"/>
              </a:rPr>
              <a:t>3- Install, Enhance, </a:t>
            </a:r>
          </a:p>
          <a:p>
            <a:pPr algn="ctr"/>
            <a:r>
              <a:rPr lang="en-US" sz="1400" b="1" dirty="0">
                <a:solidFill>
                  <a:srgbClr val="B52372"/>
                </a:solidFill>
                <a:latin typeface="Franklin Gothic Book" panose="020B0503020102020204" pitchFamily="34" charset="0"/>
                <a:ea typeface="League Spartan" charset="0"/>
                <a:cs typeface="Poppins" pitchFamily="2" charset="77"/>
              </a:rPr>
              <a:t>&amp; Elevate</a:t>
            </a:r>
          </a:p>
        </p:txBody>
      </p:sp>
      <p:sp>
        <p:nvSpPr>
          <p:cNvPr id="41" name="TextBox 40">
            <a:extLst>
              <a:ext uri="{FF2B5EF4-FFF2-40B4-BE49-F238E27FC236}">
                <a16:creationId xmlns:a16="http://schemas.microsoft.com/office/drawing/2014/main" id="{99C40761-40DB-E84E-A3EF-63A2CA78643E}"/>
              </a:ext>
            </a:extLst>
          </p:cNvPr>
          <p:cNvSpPr txBox="1"/>
          <p:nvPr/>
        </p:nvSpPr>
        <p:spPr>
          <a:xfrm>
            <a:off x="7173380" y="2649602"/>
            <a:ext cx="1684949" cy="307777"/>
          </a:xfrm>
          <a:prstGeom prst="rect">
            <a:avLst/>
          </a:prstGeom>
          <a:noFill/>
        </p:spPr>
        <p:txBody>
          <a:bodyPr wrap="none" rtlCol="0" anchor="b" anchorCtr="0">
            <a:spAutoFit/>
          </a:bodyPr>
          <a:lstStyle/>
          <a:p>
            <a:pPr algn="ctr"/>
            <a:r>
              <a:rPr lang="en-US" sz="1400" b="1" dirty="0">
                <a:solidFill>
                  <a:srgbClr val="B52372"/>
                </a:solidFill>
                <a:latin typeface="Franklin Gothic Book" panose="020B0503020102020204" pitchFamily="34" charset="0"/>
                <a:ea typeface="League Spartan" charset="0"/>
                <a:cs typeface="Poppins" pitchFamily="2" charset="77"/>
              </a:rPr>
              <a:t>5- Measure &amp; Equip</a:t>
            </a:r>
          </a:p>
        </p:txBody>
      </p:sp>
      <p:sp>
        <p:nvSpPr>
          <p:cNvPr id="20" name="TextBox 19">
            <a:extLst>
              <a:ext uri="{FF2B5EF4-FFF2-40B4-BE49-F238E27FC236}">
                <a16:creationId xmlns:a16="http://schemas.microsoft.com/office/drawing/2014/main" id="{470ACC24-D91E-EC40-A611-1223B9CD21DD}"/>
              </a:ext>
            </a:extLst>
          </p:cNvPr>
          <p:cNvSpPr txBox="1"/>
          <p:nvPr/>
        </p:nvSpPr>
        <p:spPr>
          <a:xfrm>
            <a:off x="497597" y="2539916"/>
            <a:ext cx="1734321" cy="523220"/>
          </a:xfrm>
          <a:prstGeom prst="rect">
            <a:avLst/>
          </a:prstGeom>
          <a:noFill/>
        </p:spPr>
        <p:txBody>
          <a:bodyPr wrap="none" rtlCol="0" anchor="b" anchorCtr="0">
            <a:spAutoFit/>
          </a:bodyPr>
          <a:lstStyle/>
          <a:p>
            <a:pPr algn="ctr"/>
            <a:r>
              <a:rPr lang="en-US" sz="1400" b="1" dirty="0">
                <a:solidFill>
                  <a:srgbClr val="B52372"/>
                </a:solidFill>
                <a:latin typeface="Franklin Gothic Book" panose="020B0503020102020204" pitchFamily="34" charset="0"/>
                <a:ea typeface="League Spartan" charset="0"/>
                <a:cs typeface="Poppins" pitchFamily="2" charset="77"/>
              </a:rPr>
              <a:t>1- Current State – </a:t>
            </a:r>
          </a:p>
          <a:p>
            <a:pPr algn="ctr"/>
            <a:r>
              <a:rPr lang="en-US" sz="1400" b="1" dirty="0">
                <a:solidFill>
                  <a:srgbClr val="B52372"/>
                </a:solidFill>
                <a:latin typeface="Franklin Gothic Book" panose="020B0503020102020204" pitchFamily="34" charset="0"/>
                <a:ea typeface="League Spartan" charset="0"/>
                <a:cs typeface="Poppins" pitchFamily="2" charset="77"/>
              </a:rPr>
              <a:t>Discovery &amp; Analysis</a:t>
            </a:r>
          </a:p>
        </p:txBody>
      </p:sp>
      <p:sp>
        <p:nvSpPr>
          <p:cNvPr id="44" name="TextBox 43">
            <a:extLst>
              <a:ext uri="{FF2B5EF4-FFF2-40B4-BE49-F238E27FC236}">
                <a16:creationId xmlns:a16="http://schemas.microsoft.com/office/drawing/2014/main" id="{5AE94EE5-6BBF-1946-8C3C-5F56412DF390}"/>
              </a:ext>
            </a:extLst>
          </p:cNvPr>
          <p:cNvSpPr txBox="1"/>
          <p:nvPr/>
        </p:nvSpPr>
        <p:spPr>
          <a:xfrm>
            <a:off x="1820495" y="2545121"/>
            <a:ext cx="2414688" cy="523220"/>
          </a:xfrm>
          <a:prstGeom prst="rect">
            <a:avLst/>
          </a:prstGeom>
          <a:noFill/>
        </p:spPr>
        <p:txBody>
          <a:bodyPr wrap="square" rtlCol="0" anchor="b" anchorCtr="0">
            <a:spAutoFit/>
          </a:bodyPr>
          <a:lstStyle/>
          <a:p>
            <a:pPr algn="ctr"/>
            <a:r>
              <a:rPr lang="en-US" sz="1400" b="1" dirty="0">
                <a:solidFill>
                  <a:schemeClr val="tx1">
                    <a:lumMod val="65000"/>
                    <a:lumOff val="35000"/>
                  </a:schemeClr>
                </a:solidFill>
                <a:latin typeface="Franklin Gothic Book" panose="020B0503020102020204" pitchFamily="34" charset="0"/>
                <a:ea typeface="League Spartan" charset="0"/>
                <a:cs typeface="Poppins" pitchFamily="2" charset="77"/>
              </a:rPr>
              <a:t>2- Building the </a:t>
            </a:r>
          </a:p>
          <a:p>
            <a:pPr algn="ctr"/>
            <a:r>
              <a:rPr lang="en-US" sz="1400" b="1" dirty="0">
                <a:solidFill>
                  <a:schemeClr val="tx1">
                    <a:lumMod val="65000"/>
                    <a:lumOff val="35000"/>
                  </a:schemeClr>
                </a:solidFill>
                <a:latin typeface="Franklin Gothic Book" panose="020B0503020102020204" pitchFamily="34" charset="0"/>
                <a:ea typeface="League Spartan" charset="0"/>
                <a:cs typeface="Poppins" pitchFamily="2" charset="77"/>
              </a:rPr>
              <a:t>Future State</a:t>
            </a:r>
          </a:p>
        </p:txBody>
      </p:sp>
      <p:sp>
        <p:nvSpPr>
          <p:cNvPr id="47" name="TextBox 46">
            <a:extLst>
              <a:ext uri="{FF2B5EF4-FFF2-40B4-BE49-F238E27FC236}">
                <a16:creationId xmlns:a16="http://schemas.microsoft.com/office/drawing/2014/main" id="{2E90F1A5-9095-4247-9D9A-6C986097B2E5}"/>
              </a:ext>
            </a:extLst>
          </p:cNvPr>
          <p:cNvSpPr txBox="1"/>
          <p:nvPr/>
        </p:nvSpPr>
        <p:spPr>
          <a:xfrm>
            <a:off x="5119447" y="2647554"/>
            <a:ext cx="2414688" cy="307777"/>
          </a:xfrm>
          <a:prstGeom prst="rect">
            <a:avLst/>
          </a:prstGeom>
          <a:noFill/>
        </p:spPr>
        <p:txBody>
          <a:bodyPr wrap="square" rtlCol="0" anchor="b" anchorCtr="0">
            <a:spAutoFit/>
          </a:bodyPr>
          <a:lstStyle/>
          <a:p>
            <a:pPr algn="ctr"/>
            <a:r>
              <a:rPr lang="en-US" sz="1400" b="1" dirty="0">
                <a:solidFill>
                  <a:schemeClr val="tx1">
                    <a:lumMod val="65000"/>
                    <a:lumOff val="35000"/>
                  </a:schemeClr>
                </a:solidFill>
                <a:latin typeface="Franklin Gothic Book" panose="020B0503020102020204" pitchFamily="34" charset="0"/>
                <a:ea typeface="League Spartan" charset="0"/>
                <a:cs typeface="Poppins" pitchFamily="2" charset="77"/>
              </a:rPr>
              <a:t>4- Drive &amp; Sustain</a:t>
            </a:r>
          </a:p>
        </p:txBody>
      </p:sp>
      <p:pic>
        <p:nvPicPr>
          <p:cNvPr id="18" name="Picture 17">
            <a:extLst>
              <a:ext uri="{FF2B5EF4-FFF2-40B4-BE49-F238E27FC236}">
                <a16:creationId xmlns:a16="http://schemas.microsoft.com/office/drawing/2014/main" id="{F350CE52-93A5-C747-8206-246B7817FB01}"/>
              </a:ext>
            </a:extLst>
          </p:cNvPr>
          <p:cNvPicPr>
            <a:picLocks noChangeAspect="1"/>
          </p:cNvPicPr>
          <p:nvPr/>
        </p:nvPicPr>
        <p:blipFill>
          <a:blip r:embed="rId2"/>
          <a:stretch>
            <a:fillRect/>
          </a:stretch>
        </p:blipFill>
        <p:spPr>
          <a:xfrm rot="19943948">
            <a:off x="1053437" y="1186947"/>
            <a:ext cx="548306" cy="888255"/>
          </a:xfrm>
          <a:prstGeom prst="rect">
            <a:avLst/>
          </a:prstGeom>
        </p:spPr>
      </p:pic>
      <p:pic>
        <p:nvPicPr>
          <p:cNvPr id="21" name="Picture 20">
            <a:extLst>
              <a:ext uri="{FF2B5EF4-FFF2-40B4-BE49-F238E27FC236}">
                <a16:creationId xmlns:a16="http://schemas.microsoft.com/office/drawing/2014/main" id="{34A481E3-6DC4-634C-BA0D-82B7E8461CB6}"/>
              </a:ext>
            </a:extLst>
          </p:cNvPr>
          <p:cNvPicPr>
            <a:picLocks noChangeAspect="1"/>
          </p:cNvPicPr>
          <p:nvPr/>
        </p:nvPicPr>
        <p:blipFill>
          <a:blip r:embed="rId3"/>
          <a:stretch>
            <a:fillRect/>
          </a:stretch>
        </p:blipFill>
        <p:spPr>
          <a:xfrm>
            <a:off x="7401317" y="1148928"/>
            <a:ext cx="797720" cy="672236"/>
          </a:xfrm>
          <a:prstGeom prst="rect">
            <a:avLst/>
          </a:prstGeom>
        </p:spPr>
      </p:pic>
      <p:pic>
        <p:nvPicPr>
          <p:cNvPr id="23" name="Picture 22">
            <a:extLst>
              <a:ext uri="{FF2B5EF4-FFF2-40B4-BE49-F238E27FC236}">
                <a16:creationId xmlns:a16="http://schemas.microsoft.com/office/drawing/2014/main" id="{D02CB5E4-9672-8B48-985C-E1CE527C578A}"/>
              </a:ext>
            </a:extLst>
          </p:cNvPr>
          <p:cNvPicPr>
            <a:picLocks noChangeAspect="1"/>
          </p:cNvPicPr>
          <p:nvPr/>
        </p:nvPicPr>
        <p:blipFill>
          <a:blip r:embed="rId4" cstate="print">
            <a:biLevel thresh="50000"/>
            <a:extLst>
              <a:ext uri="{28A0092B-C50C-407E-A947-70E740481C1C}">
                <a14:useLocalDpi xmlns:a14="http://schemas.microsoft.com/office/drawing/2010/main"/>
              </a:ext>
            </a:extLst>
          </a:blip>
          <a:stretch>
            <a:fillRect/>
          </a:stretch>
        </p:blipFill>
        <p:spPr>
          <a:xfrm>
            <a:off x="2507308" y="1223472"/>
            <a:ext cx="848248" cy="662413"/>
          </a:xfrm>
          <a:prstGeom prst="rect">
            <a:avLst/>
          </a:prstGeom>
        </p:spPr>
      </p:pic>
      <p:pic>
        <p:nvPicPr>
          <p:cNvPr id="24" name="Picture 23">
            <a:extLst>
              <a:ext uri="{FF2B5EF4-FFF2-40B4-BE49-F238E27FC236}">
                <a16:creationId xmlns:a16="http://schemas.microsoft.com/office/drawing/2014/main" id="{56EB0B2B-97E2-7F4C-9B30-B61CB921392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2795595">
            <a:off x="5904807" y="1100635"/>
            <a:ext cx="657497" cy="937900"/>
          </a:xfrm>
          <a:prstGeom prst="rect">
            <a:avLst/>
          </a:prstGeom>
        </p:spPr>
      </p:pic>
      <p:pic>
        <p:nvPicPr>
          <p:cNvPr id="25" name="Picture 24">
            <a:extLst>
              <a:ext uri="{FF2B5EF4-FFF2-40B4-BE49-F238E27FC236}">
                <a16:creationId xmlns:a16="http://schemas.microsoft.com/office/drawing/2014/main" id="{0A6E0855-D429-1C4B-B85E-DA8D8939F3F3}"/>
              </a:ext>
            </a:extLst>
          </p:cNvPr>
          <p:cNvPicPr>
            <a:picLocks noChangeAspect="1"/>
          </p:cNvPicPr>
          <p:nvPr/>
        </p:nvPicPr>
        <p:blipFill>
          <a:blip r:embed="rId6"/>
          <a:stretch>
            <a:fillRect/>
          </a:stretch>
        </p:blipFill>
        <p:spPr>
          <a:xfrm>
            <a:off x="4235183" y="1165392"/>
            <a:ext cx="726490" cy="717630"/>
          </a:xfrm>
          <a:prstGeom prst="rect">
            <a:avLst/>
          </a:prstGeom>
        </p:spPr>
      </p:pic>
      <p:sp>
        <p:nvSpPr>
          <p:cNvPr id="3" name="Rectangle 2">
            <a:extLst>
              <a:ext uri="{FF2B5EF4-FFF2-40B4-BE49-F238E27FC236}">
                <a16:creationId xmlns:a16="http://schemas.microsoft.com/office/drawing/2014/main" id="{9494F4BA-8963-D247-9A43-767DAD47D912}"/>
              </a:ext>
            </a:extLst>
          </p:cNvPr>
          <p:cNvSpPr/>
          <p:nvPr/>
        </p:nvSpPr>
        <p:spPr>
          <a:xfrm>
            <a:off x="497597" y="3181350"/>
            <a:ext cx="8341603" cy="1676400"/>
          </a:xfrm>
          <a:prstGeom prst="rect">
            <a:avLst/>
          </a:prstGeom>
          <a:solidFill>
            <a:schemeClr val="bg1">
              <a:lumMod val="95000"/>
            </a:schemeClr>
          </a:solidFill>
          <a:ln>
            <a:solidFill>
              <a:srgbClr val="B5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E097CD5-0E15-5449-BB44-2EBC721B2894}"/>
              </a:ext>
            </a:extLst>
          </p:cNvPr>
          <p:cNvSpPr txBox="1"/>
          <p:nvPr/>
        </p:nvSpPr>
        <p:spPr>
          <a:xfrm rot="16200000">
            <a:off x="-653709" y="3834884"/>
            <a:ext cx="1905000" cy="369332"/>
          </a:xfrm>
          <a:prstGeom prst="rect">
            <a:avLst/>
          </a:prstGeom>
          <a:noFill/>
        </p:spPr>
        <p:txBody>
          <a:bodyPr wrap="square" rtlCol="0">
            <a:spAutoFit/>
          </a:bodyPr>
          <a:lstStyle/>
          <a:p>
            <a:pPr algn="ctr"/>
            <a:r>
              <a:rPr lang="en-US" dirty="0"/>
              <a:t>Deliverables</a:t>
            </a:r>
          </a:p>
        </p:txBody>
      </p:sp>
      <p:sp>
        <p:nvSpPr>
          <p:cNvPr id="6" name="TextBox 5">
            <a:extLst>
              <a:ext uri="{FF2B5EF4-FFF2-40B4-BE49-F238E27FC236}">
                <a16:creationId xmlns:a16="http://schemas.microsoft.com/office/drawing/2014/main" id="{1106AE9D-8B26-DC40-A121-71C5525A7BE8}"/>
              </a:ext>
            </a:extLst>
          </p:cNvPr>
          <p:cNvSpPr txBox="1"/>
          <p:nvPr/>
        </p:nvSpPr>
        <p:spPr>
          <a:xfrm>
            <a:off x="636776" y="3747275"/>
            <a:ext cx="1604018" cy="461665"/>
          </a:xfrm>
          <a:prstGeom prst="rect">
            <a:avLst/>
          </a:prstGeom>
          <a:noFill/>
        </p:spPr>
        <p:txBody>
          <a:bodyPr wrap="square" rtlCol="0">
            <a:spAutoFit/>
          </a:bodyPr>
          <a:lstStyle/>
          <a:p>
            <a:pPr algn="ctr"/>
            <a:r>
              <a:rPr lang="en-US" sz="1200" dirty="0"/>
              <a:t>Insights, Findings and Recommendations</a:t>
            </a:r>
          </a:p>
        </p:txBody>
      </p:sp>
      <p:sp>
        <p:nvSpPr>
          <p:cNvPr id="27" name="TextBox 26">
            <a:extLst>
              <a:ext uri="{FF2B5EF4-FFF2-40B4-BE49-F238E27FC236}">
                <a16:creationId xmlns:a16="http://schemas.microsoft.com/office/drawing/2014/main" id="{D61D17F9-0D7F-8E45-B5CA-42B904023E27}"/>
              </a:ext>
            </a:extLst>
          </p:cNvPr>
          <p:cNvSpPr txBox="1"/>
          <p:nvPr/>
        </p:nvSpPr>
        <p:spPr>
          <a:xfrm>
            <a:off x="3920246" y="3715194"/>
            <a:ext cx="1604018" cy="830997"/>
          </a:xfrm>
          <a:prstGeom prst="rect">
            <a:avLst/>
          </a:prstGeom>
          <a:noFill/>
        </p:spPr>
        <p:txBody>
          <a:bodyPr wrap="square" rtlCol="0">
            <a:spAutoFit/>
          </a:bodyPr>
          <a:lstStyle/>
          <a:p>
            <a:pPr algn="ctr"/>
            <a:r>
              <a:rPr lang="en-US" sz="1200" dirty="0"/>
              <a:t>Implementation and work output, resource allocation, and time commitments</a:t>
            </a:r>
          </a:p>
        </p:txBody>
      </p:sp>
      <p:sp>
        <p:nvSpPr>
          <p:cNvPr id="28" name="TextBox 27">
            <a:extLst>
              <a:ext uri="{FF2B5EF4-FFF2-40B4-BE49-F238E27FC236}">
                <a16:creationId xmlns:a16="http://schemas.microsoft.com/office/drawing/2014/main" id="{6C68DD71-3188-BA47-AEB7-42E34C61CC0F}"/>
              </a:ext>
            </a:extLst>
          </p:cNvPr>
          <p:cNvSpPr txBox="1"/>
          <p:nvPr/>
        </p:nvSpPr>
        <p:spPr>
          <a:xfrm>
            <a:off x="2215858" y="3747275"/>
            <a:ext cx="1604018" cy="461665"/>
          </a:xfrm>
          <a:prstGeom prst="rect">
            <a:avLst/>
          </a:prstGeom>
          <a:noFill/>
        </p:spPr>
        <p:txBody>
          <a:bodyPr wrap="square" rtlCol="0">
            <a:spAutoFit/>
          </a:bodyPr>
          <a:lstStyle/>
          <a:p>
            <a:pPr algn="ctr"/>
            <a:r>
              <a:rPr lang="en-US" sz="1200" dirty="0"/>
              <a:t>Vision-to-Value Roadmap</a:t>
            </a:r>
          </a:p>
        </p:txBody>
      </p:sp>
      <p:sp>
        <p:nvSpPr>
          <p:cNvPr id="29" name="TextBox 28">
            <a:extLst>
              <a:ext uri="{FF2B5EF4-FFF2-40B4-BE49-F238E27FC236}">
                <a16:creationId xmlns:a16="http://schemas.microsoft.com/office/drawing/2014/main" id="{B1DB7FCF-5DE1-044A-8566-B28D6A001A91}"/>
              </a:ext>
            </a:extLst>
          </p:cNvPr>
          <p:cNvSpPr txBox="1"/>
          <p:nvPr/>
        </p:nvSpPr>
        <p:spPr>
          <a:xfrm>
            <a:off x="7213846" y="3747275"/>
            <a:ext cx="1604018" cy="461665"/>
          </a:xfrm>
          <a:prstGeom prst="rect">
            <a:avLst/>
          </a:prstGeom>
          <a:noFill/>
        </p:spPr>
        <p:txBody>
          <a:bodyPr wrap="square" rtlCol="0">
            <a:spAutoFit/>
          </a:bodyPr>
          <a:lstStyle/>
          <a:p>
            <a:pPr algn="ctr"/>
            <a:r>
              <a:rPr lang="en-US" sz="1200" dirty="0"/>
              <a:t>Benchmark Scorecard, KPIs </a:t>
            </a:r>
          </a:p>
        </p:txBody>
      </p:sp>
      <p:sp>
        <p:nvSpPr>
          <p:cNvPr id="30" name="TextBox 29">
            <a:extLst>
              <a:ext uri="{FF2B5EF4-FFF2-40B4-BE49-F238E27FC236}">
                <a16:creationId xmlns:a16="http://schemas.microsoft.com/office/drawing/2014/main" id="{20BD9024-4ABF-9341-B027-34B48CDD958F}"/>
              </a:ext>
            </a:extLst>
          </p:cNvPr>
          <p:cNvSpPr txBox="1"/>
          <p:nvPr/>
        </p:nvSpPr>
        <p:spPr>
          <a:xfrm>
            <a:off x="5524782" y="3707404"/>
            <a:ext cx="1604018" cy="461665"/>
          </a:xfrm>
          <a:prstGeom prst="rect">
            <a:avLst/>
          </a:prstGeom>
          <a:noFill/>
        </p:spPr>
        <p:txBody>
          <a:bodyPr wrap="square" rtlCol="0">
            <a:spAutoFit/>
          </a:bodyPr>
          <a:lstStyle/>
          <a:p>
            <a:pPr algn="ctr"/>
            <a:r>
              <a:rPr lang="en-US" sz="1200" dirty="0"/>
              <a:t>Sustainability Program, Maturation Modeling</a:t>
            </a:r>
          </a:p>
        </p:txBody>
      </p:sp>
      <p:cxnSp>
        <p:nvCxnSpPr>
          <p:cNvPr id="9" name="Straight Connector 8">
            <a:extLst>
              <a:ext uri="{FF2B5EF4-FFF2-40B4-BE49-F238E27FC236}">
                <a16:creationId xmlns:a16="http://schemas.microsoft.com/office/drawing/2014/main" id="{7C31E920-CB3E-F448-863E-42074B6331BE}"/>
              </a:ext>
            </a:extLst>
          </p:cNvPr>
          <p:cNvCxnSpPr>
            <a:cxnSpLocks/>
          </p:cNvCxnSpPr>
          <p:nvPr/>
        </p:nvCxnSpPr>
        <p:spPr>
          <a:xfrm>
            <a:off x="2236897" y="3455072"/>
            <a:ext cx="0" cy="1143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D111472-8064-0A44-A784-213154FD1613}"/>
              </a:ext>
            </a:extLst>
          </p:cNvPr>
          <p:cNvCxnSpPr>
            <a:cxnSpLocks/>
          </p:cNvCxnSpPr>
          <p:nvPr/>
        </p:nvCxnSpPr>
        <p:spPr>
          <a:xfrm>
            <a:off x="5555555" y="3451757"/>
            <a:ext cx="0" cy="1143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623B14B-58BD-4F4B-B98B-13FFCD7F39B7}"/>
              </a:ext>
            </a:extLst>
          </p:cNvPr>
          <p:cNvCxnSpPr>
            <a:cxnSpLocks/>
          </p:cNvCxnSpPr>
          <p:nvPr/>
        </p:nvCxnSpPr>
        <p:spPr>
          <a:xfrm>
            <a:off x="3896226" y="3451757"/>
            <a:ext cx="0" cy="1143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6DB2DEF-8348-B04A-AB3D-EBAD9E3FF155}"/>
              </a:ext>
            </a:extLst>
          </p:cNvPr>
          <p:cNvCxnSpPr>
            <a:cxnSpLocks/>
          </p:cNvCxnSpPr>
          <p:nvPr/>
        </p:nvCxnSpPr>
        <p:spPr>
          <a:xfrm>
            <a:off x="7214883" y="3451757"/>
            <a:ext cx="0" cy="1143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3287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66391" y="286052"/>
            <a:ext cx="1650235" cy="2506881"/>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6391EB03-A319-C44B-935B-E88E78529EF6}"/>
              </a:ext>
            </a:extLst>
          </p:cNvPr>
          <p:cNvSpPr>
            <a:spLocks noGrp="1"/>
          </p:cNvSpPr>
          <p:nvPr>
            <p:ph type="title" idx="4294967295"/>
          </p:nvPr>
        </p:nvSpPr>
        <p:spPr>
          <a:xfrm>
            <a:off x="725214" y="903081"/>
            <a:ext cx="2002054" cy="1335881"/>
          </a:xfrm>
        </p:spPr>
        <p:txBody>
          <a:bodyPr vert="horz" lIns="91440" tIns="45720" rIns="91440" bIns="45720" rtlCol="0" anchor="ctr">
            <a:normAutofit/>
          </a:bodyPr>
          <a:lstStyle/>
          <a:p>
            <a:pPr algn="l" rtl="0">
              <a:lnSpc>
                <a:spcPct val="90000"/>
              </a:lnSpc>
              <a:spcBef>
                <a:spcPct val="0"/>
              </a:spcBef>
            </a:pPr>
            <a:r>
              <a:rPr lang="en-US" sz="2400" kern="1200" dirty="0">
                <a:solidFill>
                  <a:srgbClr val="FFFFFF"/>
                </a:solidFill>
                <a:latin typeface="Franklin Gothic Book" panose="020B0503020102020204" pitchFamily="34" charset="0"/>
                <a:cs typeface="+mj-cs"/>
              </a:rPr>
              <a:t>Investment for </a:t>
            </a:r>
            <a:br>
              <a:rPr lang="en-US" sz="2400" kern="1200" dirty="0">
                <a:solidFill>
                  <a:srgbClr val="FFFFFF"/>
                </a:solidFill>
                <a:latin typeface="Franklin Gothic Book" panose="020B0503020102020204" pitchFamily="34" charset="0"/>
                <a:cs typeface="+mj-cs"/>
              </a:rPr>
            </a:br>
            <a:r>
              <a:rPr lang="en-US" sz="2400" kern="1200" dirty="0">
                <a:solidFill>
                  <a:srgbClr val="FFFFFF"/>
                </a:solidFill>
                <a:latin typeface="Franklin Gothic Book" panose="020B0503020102020204" pitchFamily="34" charset="0"/>
                <a:cs typeface="+mj-cs"/>
              </a:rPr>
              <a:t>Performance</a:t>
            </a:r>
          </a:p>
        </p:txBody>
      </p:sp>
      <p:sp>
        <p:nvSpPr>
          <p:cNvPr id="9" name="TextBox 8">
            <a:extLst>
              <a:ext uri="{FF2B5EF4-FFF2-40B4-BE49-F238E27FC236}">
                <a16:creationId xmlns:a16="http://schemas.microsoft.com/office/drawing/2014/main" id="{C809FF60-35AB-A646-95E5-E9E0F8F09537}"/>
              </a:ext>
            </a:extLst>
          </p:cNvPr>
          <p:cNvSpPr txBox="1"/>
          <p:nvPr/>
        </p:nvSpPr>
        <p:spPr>
          <a:xfrm>
            <a:off x="220387" y="2516347"/>
            <a:ext cx="3049286" cy="2221908"/>
          </a:xfrm>
          <a:prstGeom prst="rect">
            <a:avLst/>
          </a:prstGeom>
        </p:spPr>
        <p:txBody>
          <a:bodyPr vert="horz" lIns="91440" tIns="45720" rIns="91440" bIns="45720" rtlCol="0">
            <a:normAutofit lnSpcReduction="10000"/>
          </a:bodyPr>
          <a:lstStyle/>
          <a:p>
            <a:pPr marL="285750" indent="-228600">
              <a:lnSpc>
                <a:spcPct val="90000"/>
              </a:lnSpc>
              <a:spcAft>
                <a:spcPts val="600"/>
              </a:spcAft>
              <a:buFont typeface="Arial" panose="020B0604020202020204" pitchFamily="34" charset="0"/>
              <a:buChar char="•"/>
            </a:pPr>
            <a:r>
              <a:rPr lang="en-US" sz="1400" dirty="0">
                <a:latin typeface="Franklin Gothic Book" panose="020B0503020102020204" pitchFamily="34" charset="0"/>
              </a:rPr>
              <a:t>The table represents the work that is being done, the deliverables, timeframe, and the investment for the first phase of “Current State”. </a:t>
            </a:r>
          </a:p>
          <a:p>
            <a:pPr marL="285750" indent="-228600">
              <a:lnSpc>
                <a:spcPct val="90000"/>
              </a:lnSpc>
              <a:spcAft>
                <a:spcPts val="600"/>
              </a:spcAft>
              <a:buFont typeface="Arial" panose="020B0604020202020204" pitchFamily="34" charset="0"/>
              <a:buChar char="•"/>
            </a:pPr>
            <a:endParaRPr lang="en-US" sz="1400" dirty="0">
              <a:latin typeface="Franklin Gothic Book" panose="020B0503020102020204" pitchFamily="34" charset="0"/>
            </a:endParaRPr>
          </a:p>
          <a:p>
            <a:pPr marL="285750" indent="-228600">
              <a:lnSpc>
                <a:spcPct val="90000"/>
              </a:lnSpc>
              <a:spcAft>
                <a:spcPts val="600"/>
              </a:spcAft>
              <a:buFont typeface="Arial" panose="020B0604020202020204" pitchFamily="34" charset="0"/>
              <a:buChar char="•"/>
            </a:pPr>
            <a:r>
              <a:rPr lang="en-US" sz="1400" dirty="0">
                <a:latin typeface="Franklin Gothic Book" panose="020B0503020102020204" pitchFamily="34" charset="0"/>
              </a:rPr>
              <a:t>This provides an example of work done in similar projects will be adjusted and modified for Kalibri and will be outlined specifically within the scope of work.   </a:t>
            </a:r>
          </a:p>
          <a:p>
            <a:pPr marL="285750" indent="-228600">
              <a:lnSpc>
                <a:spcPct val="90000"/>
              </a:lnSpc>
              <a:spcAft>
                <a:spcPts val="600"/>
              </a:spcAft>
              <a:buFont typeface="Arial" panose="020B0604020202020204" pitchFamily="34" charset="0"/>
              <a:buChar char="•"/>
            </a:pPr>
            <a:endParaRPr lang="en-US" sz="1000" dirty="0">
              <a:latin typeface="Franklin Gothic Book" panose="020B0503020102020204" pitchFamily="34" charset="0"/>
            </a:endParaRPr>
          </a:p>
          <a:p>
            <a:pPr marL="285750" indent="-228600">
              <a:lnSpc>
                <a:spcPct val="90000"/>
              </a:lnSpc>
              <a:spcAft>
                <a:spcPts val="600"/>
              </a:spcAft>
              <a:buFont typeface="Arial" panose="020B0604020202020204" pitchFamily="34" charset="0"/>
              <a:buChar char="•"/>
            </a:pPr>
            <a:endParaRPr lang="en-US" sz="1000" dirty="0">
              <a:latin typeface="Franklin Gothic Book" panose="020B0503020102020204" pitchFamily="34" charset="0"/>
            </a:endParaRPr>
          </a:p>
        </p:txBody>
      </p:sp>
      <p:pic>
        <p:nvPicPr>
          <p:cNvPr id="4" name="Picture 3">
            <a:extLst>
              <a:ext uri="{FF2B5EF4-FFF2-40B4-BE49-F238E27FC236}">
                <a16:creationId xmlns:a16="http://schemas.microsoft.com/office/drawing/2014/main" id="{CFBF0D40-1367-9F4A-B009-316E1E3BBCAE}"/>
              </a:ext>
            </a:extLst>
          </p:cNvPr>
          <p:cNvPicPr>
            <a:picLocks noChangeAspect="1"/>
          </p:cNvPicPr>
          <p:nvPr/>
        </p:nvPicPr>
        <p:blipFill>
          <a:blip r:embed="rId2"/>
          <a:stretch>
            <a:fillRect/>
          </a:stretch>
        </p:blipFill>
        <p:spPr>
          <a:xfrm>
            <a:off x="3453214" y="248119"/>
            <a:ext cx="5619666" cy="4979771"/>
          </a:xfrm>
          <a:prstGeom prst="rect">
            <a:avLst/>
          </a:prstGeom>
        </p:spPr>
      </p:pic>
      <p:pic>
        <p:nvPicPr>
          <p:cNvPr id="7" name="Picture 6" descr="Logo, company name&#10;&#10;Description automatically generated">
            <a:extLst>
              <a:ext uri="{FF2B5EF4-FFF2-40B4-BE49-F238E27FC236}">
                <a16:creationId xmlns:a16="http://schemas.microsoft.com/office/drawing/2014/main" id="{2C8DD963-C3D0-2D48-BBAD-2D978EAE19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4349" y="4240419"/>
            <a:ext cx="934317" cy="1209116"/>
          </a:xfrm>
          <a:prstGeom prst="rect">
            <a:avLst/>
          </a:prstGeom>
        </p:spPr>
      </p:pic>
    </p:spTree>
    <p:extLst>
      <p:ext uri="{BB962C8B-B14F-4D97-AF65-F5344CB8AC3E}">
        <p14:creationId xmlns:p14="http://schemas.microsoft.com/office/powerpoint/2010/main" val="162809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66391" y="286052"/>
            <a:ext cx="1650235" cy="2506881"/>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6391EB03-A319-C44B-935B-E88E78529EF6}"/>
              </a:ext>
            </a:extLst>
          </p:cNvPr>
          <p:cNvSpPr>
            <a:spLocks noGrp="1"/>
          </p:cNvSpPr>
          <p:nvPr>
            <p:ph type="title" idx="4294967295"/>
          </p:nvPr>
        </p:nvSpPr>
        <p:spPr>
          <a:xfrm>
            <a:off x="725214" y="903081"/>
            <a:ext cx="2002054" cy="1335881"/>
          </a:xfrm>
        </p:spPr>
        <p:txBody>
          <a:bodyPr vert="horz" lIns="91440" tIns="45720" rIns="91440" bIns="45720" rtlCol="0" anchor="ctr">
            <a:normAutofit/>
          </a:bodyPr>
          <a:lstStyle/>
          <a:p>
            <a:pPr algn="l" rtl="0">
              <a:lnSpc>
                <a:spcPct val="90000"/>
              </a:lnSpc>
              <a:spcBef>
                <a:spcPct val="0"/>
              </a:spcBef>
            </a:pPr>
            <a:r>
              <a:rPr lang="en-US" sz="2400" kern="1200" dirty="0">
                <a:solidFill>
                  <a:srgbClr val="FFFFFF"/>
                </a:solidFill>
                <a:latin typeface="Franklin Gothic Book" panose="020B0503020102020204" pitchFamily="34" charset="0"/>
                <a:cs typeface="+mj-cs"/>
              </a:rPr>
              <a:t>Investment for </a:t>
            </a:r>
            <a:br>
              <a:rPr lang="en-US" sz="2400" kern="1200" dirty="0">
                <a:solidFill>
                  <a:srgbClr val="FFFFFF"/>
                </a:solidFill>
                <a:latin typeface="Franklin Gothic Book" panose="020B0503020102020204" pitchFamily="34" charset="0"/>
                <a:cs typeface="+mj-cs"/>
              </a:rPr>
            </a:br>
            <a:r>
              <a:rPr lang="en-US" sz="2400" kern="1200" dirty="0">
                <a:solidFill>
                  <a:srgbClr val="FFFFFF"/>
                </a:solidFill>
                <a:latin typeface="Franklin Gothic Book" panose="020B0503020102020204" pitchFamily="34" charset="0"/>
                <a:cs typeface="+mj-cs"/>
              </a:rPr>
              <a:t>Performance </a:t>
            </a:r>
            <a:br>
              <a:rPr lang="en-US" sz="2400" kern="1200" dirty="0">
                <a:solidFill>
                  <a:srgbClr val="FFFFFF"/>
                </a:solidFill>
                <a:latin typeface="Franklin Gothic Book" panose="020B0503020102020204" pitchFamily="34" charset="0"/>
                <a:cs typeface="+mj-cs"/>
              </a:rPr>
            </a:br>
            <a:r>
              <a:rPr lang="en-US" sz="1800" kern="1200" dirty="0">
                <a:solidFill>
                  <a:srgbClr val="FFFFFF"/>
                </a:solidFill>
                <a:latin typeface="Franklin Gothic Book" panose="020B0503020102020204" pitchFamily="34" charset="0"/>
                <a:cs typeface="+mj-cs"/>
              </a:rPr>
              <a:t>(cont.)</a:t>
            </a:r>
            <a:endParaRPr lang="en-US" sz="2400" kern="1200" dirty="0">
              <a:solidFill>
                <a:srgbClr val="FFFFFF"/>
              </a:solidFill>
              <a:latin typeface="Franklin Gothic Book" panose="020B0503020102020204" pitchFamily="34" charset="0"/>
              <a:cs typeface="+mj-cs"/>
            </a:endParaRPr>
          </a:p>
        </p:txBody>
      </p:sp>
      <p:sp>
        <p:nvSpPr>
          <p:cNvPr id="9" name="TextBox 8">
            <a:extLst>
              <a:ext uri="{FF2B5EF4-FFF2-40B4-BE49-F238E27FC236}">
                <a16:creationId xmlns:a16="http://schemas.microsoft.com/office/drawing/2014/main" id="{C809FF60-35AB-A646-95E5-E9E0F8F09537}"/>
              </a:ext>
            </a:extLst>
          </p:cNvPr>
          <p:cNvSpPr txBox="1"/>
          <p:nvPr/>
        </p:nvSpPr>
        <p:spPr>
          <a:xfrm>
            <a:off x="341746" y="2778891"/>
            <a:ext cx="3269671" cy="2305035"/>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600" dirty="0">
                <a:latin typeface="Franklin Gothic Book" panose="020B0503020102020204" pitchFamily="34" charset="0"/>
              </a:rPr>
              <a:t>The corresponding table represents the the cost of ‘Building the Future State” /  Vision-to-Value roadmap</a:t>
            </a:r>
          </a:p>
          <a:p>
            <a:pPr marL="285750" indent="-228600">
              <a:lnSpc>
                <a:spcPct val="90000"/>
              </a:lnSpc>
              <a:spcAft>
                <a:spcPts val="600"/>
              </a:spcAft>
              <a:buFont typeface="Arial" panose="020B0604020202020204" pitchFamily="34" charset="0"/>
              <a:buChar char="•"/>
            </a:pPr>
            <a:r>
              <a:rPr lang="en-US" sz="1600" dirty="0">
                <a:latin typeface="Franklin Gothic Book" panose="020B0503020102020204" pitchFamily="34" charset="0"/>
              </a:rPr>
              <a:t>This cost can shift depending on the scope of work.   This cost is representative of the illustrative on the preceding page.</a:t>
            </a:r>
            <a:endParaRPr lang="en-US" sz="1200" dirty="0">
              <a:latin typeface="Franklin Gothic Book" panose="020B0503020102020204" pitchFamily="34" charset="0"/>
            </a:endParaRPr>
          </a:p>
          <a:p>
            <a:pPr marL="285750" indent="-228600">
              <a:lnSpc>
                <a:spcPct val="90000"/>
              </a:lnSpc>
              <a:spcAft>
                <a:spcPts val="600"/>
              </a:spcAft>
              <a:buFont typeface="Arial" panose="020B0604020202020204" pitchFamily="34" charset="0"/>
              <a:buChar char="•"/>
            </a:pPr>
            <a:endParaRPr lang="en-US" sz="1000" dirty="0"/>
          </a:p>
        </p:txBody>
      </p:sp>
      <p:pic>
        <p:nvPicPr>
          <p:cNvPr id="10" name="Picture 9">
            <a:extLst>
              <a:ext uri="{FF2B5EF4-FFF2-40B4-BE49-F238E27FC236}">
                <a16:creationId xmlns:a16="http://schemas.microsoft.com/office/drawing/2014/main" id="{D6EA5E9D-20BE-C340-B270-20F486B5AE94}"/>
              </a:ext>
            </a:extLst>
          </p:cNvPr>
          <p:cNvPicPr>
            <a:picLocks noChangeAspect="1"/>
          </p:cNvPicPr>
          <p:nvPr/>
        </p:nvPicPr>
        <p:blipFill>
          <a:blip r:embed="rId2"/>
          <a:stretch>
            <a:fillRect/>
          </a:stretch>
        </p:blipFill>
        <p:spPr>
          <a:xfrm>
            <a:off x="3216598" y="853514"/>
            <a:ext cx="5764910" cy="1511095"/>
          </a:xfrm>
          <a:prstGeom prst="rect">
            <a:avLst/>
          </a:prstGeom>
        </p:spPr>
      </p:pic>
      <p:sp>
        <p:nvSpPr>
          <p:cNvPr id="5" name="TextBox 4">
            <a:extLst>
              <a:ext uri="{FF2B5EF4-FFF2-40B4-BE49-F238E27FC236}">
                <a16:creationId xmlns:a16="http://schemas.microsoft.com/office/drawing/2014/main" id="{92F25EC9-9A97-254F-9B89-718E7725C02C}"/>
              </a:ext>
            </a:extLst>
          </p:cNvPr>
          <p:cNvSpPr txBox="1"/>
          <p:nvPr/>
        </p:nvSpPr>
        <p:spPr>
          <a:xfrm>
            <a:off x="4572000" y="3362960"/>
            <a:ext cx="4074160" cy="923330"/>
          </a:xfrm>
          <a:prstGeom prst="rect">
            <a:avLst/>
          </a:prstGeom>
          <a:noFill/>
        </p:spPr>
        <p:txBody>
          <a:bodyPr wrap="square" rtlCol="0">
            <a:spAutoFit/>
          </a:bodyPr>
          <a:lstStyle/>
          <a:p>
            <a:r>
              <a:rPr lang="en-US" i="1" dirty="0">
                <a:latin typeface="Franklin Gothic Book" panose="020B0503020102020204" pitchFamily="34" charset="0"/>
              </a:rPr>
              <a:t>If Kalibri moves forward with Kate &amp; Co for the remainder of engagement a 10% of the initial investment will be applied.</a:t>
            </a:r>
          </a:p>
        </p:txBody>
      </p:sp>
      <p:pic>
        <p:nvPicPr>
          <p:cNvPr id="12" name="Picture 11" descr="Logo, company name&#10;&#10;Description automatically generated">
            <a:extLst>
              <a:ext uri="{FF2B5EF4-FFF2-40B4-BE49-F238E27FC236}">
                <a16:creationId xmlns:a16="http://schemas.microsoft.com/office/drawing/2014/main" id="{B496480F-A1BC-3846-9C80-4460E6755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4841" y="4286290"/>
            <a:ext cx="934317" cy="1209116"/>
          </a:xfrm>
          <a:prstGeom prst="rect">
            <a:avLst/>
          </a:prstGeom>
        </p:spPr>
      </p:pic>
    </p:spTree>
    <p:extLst>
      <p:ext uri="{BB962C8B-B14F-4D97-AF65-F5344CB8AC3E}">
        <p14:creationId xmlns:p14="http://schemas.microsoft.com/office/powerpoint/2010/main" val="1385646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90600" y="2190750"/>
            <a:ext cx="2827338" cy="2082800"/>
          </a:xfrm>
          <a:prstGeom prst="rect">
            <a:avLst/>
          </a:prstGeom>
        </p:spPr>
        <p:txBody>
          <a:bodyPr vert="horz" wrap="square" lIns="0" tIns="12700" rIns="0" bIns="0" rtlCol="0">
            <a:spAutoFit/>
          </a:bodyPr>
          <a:lstStyle/>
          <a:p>
            <a:pPr marL="38100">
              <a:lnSpc>
                <a:spcPct val="100000"/>
              </a:lnSpc>
              <a:spcBef>
                <a:spcPts val="100"/>
              </a:spcBef>
            </a:pPr>
            <a:r>
              <a:rPr sz="20250" spc="-6134" baseline="-11728" dirty="0">
                <a:solidFill>
                  <a:srgbClr val="D9D9D9"/>
                </a:solidFill>
              </a:rPr>
              <a:t>&amp;</a:t>
            </a:r>
            <a:r>
              <a:rPr sz="3200" dirty="0">
                <a:solidFill>
                  <a:srgbClr val="000000"/>
                </a:solidFill>
                <a:latin typeface="Franklin Gothic Book" panose="020B0503020102020204" pitchFamily="34" charset="0"/>
              </a:rPr>
              <a:t>Who we are</a:t>
            </a:r>
            <a:endParaRPr sz="3200" dirty="0">
              <a:latin typeface="Franklin Gothic Book" panose="020B0503020102020204" pitchFamily="34" charset="0"/>
            </a:endParaRPr>
          </a:p>
        </p:txBody>
      </p:sp>
      <p:sp>
        <p:nvSpPr>
          <p:cNvPr id="3" name="Slide Number Placeholder 2">
            <a:extLst>
              <a:ext uri="{FF2B5EF4-FFF2-40B4-BE49-F238E27FC236}">
                <a16:creationId xmlns:a16="http://schemas.microsoft.com/office/drawing/2014/main" id="{188D3389-671F-C040-A885-F9CA1AF70569}"/>
              </a:ext>
            </a:extLst>
          </p:cNvPr>
          <p:cNvSpPr>
            <a:spLocks noGrp="1"/>
          </p:cNvSpPr>
          <p:nvPr>
            <p:ph type="sldNum" sz="quarter" idx="4294967295"/>
          </p:nvPr>
        </p:nvSpPr>
        <p:spPr>
          <a:xfrm>
            <a:off x="6553200" y="4781550"/>
            <a:ext cx="2103437" cy="185737"/>
          </a:xfrm>
        </p:spPr>
        <p:txBody>
          <a:bodyPr/>
          <a:lstStyle/>
          <a:p>
            <a:fld id="{B6F15528-21DE-4FAA-801E-634DDDAF4B2B}" type="slidenum">
              <a:rPr lang="en-US" smtClean="0"/>
              <a:pPr/>
              <a:t>9</a:t>
            </a:fld>
            <a:endParaRPr lang="en-US" dirty="0"/>
          </a:p>
        </p:txBody>
      </p:sp>
    </p:spTree>
    <p:extLst>
      <p:ext uri="{BB962C8B-B14F-4D97-AF65-F5344CB8AC3E}">
        <p14:creationId xmlns:p14="http://schemas.microsoft.com/office/powerpoint/2010/main" val="1436512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4150" y="-195004"/>
            <a:ext cx="1155700" cy="1732280"/>
          </a:xfrm>
          <a:prstGeom prst="rect">
            <a:avLst/>
          </a:prstGeom>
        </p:spPr>
        <p:txBody>
          <a:bodyPr vert="horz" wrap="square" lIns="0" tIns="12700" rIns="0" bIns="0" rtlCol="0">
            <a:spAutoFit/>
          </a:bodyPr>
          <a:lstStyle/>
          <a:p>
            <a:pPr marL="12700">
              <a:lnSpc>
                <a:spcPct val="100000"/>
              </a:lnSpc>
              <a:spcBef>
                <a:spcPts val="100"/>
              </a:spcBef>
            </a:pPr>
            <a:r>
              <a:rPr sz="11200" dirty="0">
                <a:solidFill>
                  <a:srgbClr val="D9D9D9"/>
                </a:solidFill>
                <a:latin typeface="Arial"/>
                <a:cs typeface="Arial"/>
              </a:rPr>
              <a:t>&amp;</a:t>
            </a:r>
            <a:endParaRPr sz="11200" dirty="0">
              <a:latin typeface="Arial"/>
              <a:cs typeface="Arial"/>
            </a:endParaRPr>
          </a:p>
        </p:txBody>
      </p:sp>
      <p:sp>
        <p:nvSpPr>
          <p:cNvPr id="3" name="object 3"/>
          <p:cNvSpPr/>
          <p:nvPr/>
        </p:nvSpPr>
        <p:spPr>
          <a:xfrm>
            <a:off x="6400800" y="3529501"/>
            <a:ext cx="2563133" cy="1447798"/>
          </a:xfrm>
          <a:prstGeom prst="rect">
            <a:avLst/>
          </a:prstGeom>
          <a:blipFill>
            <a:blip r:embed="rId2" cstate="print"/>
            <a:stretch>
              <a:fillRect/>
            </a:stretch>
          </a:blipFill>
        </p:spPr>
        <p:txBody>
          <a:bodyPr wrap="square" lIns="0" tIns="0" rIns="0" bIns="0" rtlCol="0"/>
          <a:lstStyle/>
          <a:p>
            <a:endParaRPr dirty="0"/>
          </a:p>
        </p:txBody>
      </p:sp>
      <p:sp>
        <p:nvSpPr>
          <p:cNvPr id="8" name="Slide Number Placeholder 7">
            <a:extLst>
              <a:ext uri="{FF2B5EF4-FFF2-40B4-BE49-F238E27FC236}">
                <a16:creationId xmlns:a16="http://schemas.microsoft.com/office/drawing/2014/main" id="{FD1B37BB-87DB-4531-8149-019B9178965D}"/>
              </a:ext>
            </a:extLst>
          </p:cNvPr>
          <p:cNvSpPr>
            <a:spLocks noGrp="1"/>
          </p:cNvSpPr>
          <p:nvPr>
            <p:ph type="sldNum" sz="quarter" idx="7"/>
          </p:nvPr>
        </p:nvSpPr>
        <p:spPr>
          <a:xfrm>
            <a:off x="304800" y="4783455"/>
            <a:ext cx="2103120" cy="276999"/>
          </a:xfrm>
        </p:spPr>
        <p:txBody>
          <a:bodyPr/>
          <a:lstStyle/>
          <a:p>
            <a:pPr algn="l"/>
            <a:fld id="{B6F15528-21DE-4FAA-801E-634DDDAF4B2B}" type="slidenum">
              <a:rPr lang="en-US" smtClean="0">
                <a:solidFill>
                  <a:schemeClr val="bg1">
                    <a:lumMod val="50000"/>
                  </a:schemeClr>
                </a:solidFill>
              </a:rPr>
              <a:pPr algn="l"/>
              <a:t>10</a:t>
            </a:fld>
            <a:endParaRPr lang="en-US" dirty="0">
              <a:solidFill>
                <a:schemeClr val="bg1">
                  <a:lumMod val="50000"/>
                </a:schemeClr>
              </a:solidFill>
            </a:endParaRPr>
          </a:p>
        </p:txBody>
      </p:sp>
      <p:sp>
        <p:nvSpPr>
          <p:cNvPr id="4" name="object 4"/>
          <p:cNvSpPr txBox="1">
            <a:spLocks noGrp="1"/>
          </p:cNvSpPr>
          <p:nvPr>
            <p:ph type="title" idx="4294967295"/>
          </p:nvPr>
        </p:nvSpPr>
        <p:spPr>
          <a:xfrm>
            <a:off x="775355" y="366865"/>
            <a:ext cx="5254625" cy="506413"/>
          </a:xfrm>
          <a:prstGeom prst="rect">
            <a:avLst/>
          </a:prstGeom>
        </p:spPr>
        <p:txBody>
          <a:bodyPr vert="horz" wrap="square" lIns="0" tIns="12700" rIns="0" bIns="0" rtlCol="0">
            <a:spAutoFit/>
          </a:bodyPr>
          <a:lstStyle/>
          <a:p>
            <a:pPr marL="12700">
              <a:lnSpc>
                <a:spcPct val="100000"/>
              </a:lnSpc>
              <a:spcBef>
                <a:spcPts val="100"/>
              </a:spcBef>
            </a:pPr>
            <a:r>
              <a:rPr dirty="0">
                <a:latin typeface="Franklin Gothic Book" panose="020B0503020102020204" pitchFamily="34" charset="0"/>
              </a:rPr>
              <a:t>Experience is at the core</a:t>
            </a:r>
          </a:p>
        </p:txBody>
      </p:sp>
      <p:sp>
        <p:nvSpPr>
          <p:cNvPr id="5" name="object 5"/>
          <p:cNvSpPr txBox="1"/>
          <p:nvPr/>
        </p:nvSpPr>
        <p:spPr>
          <a:xfrm>
            <a:off x="685800" y="786269"/>
            <a:ext cx="8287405" cy="4088299"/>
          </a:xfrm>
          <a:prstGeom prst="rect">
            <a:avLst/>
          </a:prstGeom>
        </p:spPr>
        <p:txBody>
          <a:bodyPr vert="horz" wrap="square" lIns="0" tIns="22860" rIns="0" bIns="0" rtlCol="0">
            <a:spAutoFit/>
          </a:bodyPr>
          <a:lstStyle/>
          <a:p>
            <a:pPr marL="12700" marR="188595">
              <a:lnSpc>
                <a:spcPct val="95000"/>
              </a:lnSpc>
              <a:spcBef>
                <a:spcPts val="180"/>
              </a:spcBef>
            </a:pPr>
            <a:r>
              <a:rPr sz="1400" dirty="0">
                <a:latin typeface="Franklin Gothic Book" panose="020B0503020102020204" pitchFamily="34" charset="0"/>
                <a:cs typeface="Arial"/>
              </a:rPr>
              <a:t>Kate brings 28+ years’ experience leading </a:t>
            </a:r>
            <a:r>
              <a:rPr lang="en-US" sz="1400" dirty="0">
                <a:latin typeface="Franklin Gothic Book" panose="020B0503020102020204" pitchFamily="34" charset="0"/>
                <a:cs typeface="Arial"/>
              </a:rPr>
              <a:t> and transforming commercial </a:t>
            </a:r>
            <a:r>
              <a:rPr sz="1400" dirty="0">
                <a:latin typeface="Franklin Gothic Book" panose="020B0503020102020204" pitchFamily="34" charset="0"/>
                <a:cs typeface="Arial"/>
              </a:rPr>
              <a:t>teams </a:t>
            </a:r>
            <a:r>
              <a:rPr lang="en-US" sz="1400" dirty="0">
                <a:latin typeface="Franklin Gothic Book" panose="020B0503020102020204" pitchFamily="34" charset="0"/>
                <a:cs typeface="Arial"/>
              </a:rPr>
              <a:t>within </a:t>
            </a:r>
            <a:r>
              <a:rPr sz="1400" dirty="0">
                <a:latin typeface="Franklin Gothic Book" panose="020B0503020102020204" pitchFamily="34" charset="0"/>
                <a:cs typeface="Arial"/>
              </a:rPr>
              <a:t>national and multi-national companies</a:t>
            </a:r>
            <a:r>
              <a:rPr lang="en-US" sz="1400" dirty="0">
                <a:latin typeface="Franklin Gothic Book" panose="020B0503020102020204" pitchFamily="34" charset="0"/>
                <a:cs typeface="Arial"/>
              </a:rPr>
              <a:t>. </a:t>
            </a:r>
            <a:r>
              <a:rPr sz="1400" dirty="0">
                <a:latin typeface="Franklin Gothic Book" panose="020B0503020102020204" pitchFamily="34" charset="0"/>
                <a:cs typeface="Arial"/>
              </a:rPr>
              <a:t>Notable accomplishments:</a:t>
            </a:r>
            <a:endParaRPr lang="en-US" sz="1400" dirty="0">
              <a:latin typeface="Franklin Gothic Book" panose="020B0503020102020204" pitchFamily="34" charset="0"/>
              <a:cs typeface="Arial"/>
            </a:endParaRPr>
          </a:p>
          <a:p>
            <a:pPr marL="12700" marR="188595">
              <a:lnSpc>
                <a:spcPct val="95000"/>
              </a:lnSpc>
              <a:spcBef>
                <a:spcPts val="180"/>
              </a:spcBef>
            </a:pPr>
            <a:endParaRPr sz="200" dirty="0">
              <a:latin typeface="Franklin Gothic Book" panose="020B0503020102020204" pitchFamily="34" charset="0"/>
              <a:cs typeface="Arial"/>
            </a:endParaRPr>
          </a:p>
          <a:p>
            <a:pPr marL="317500" marR="100330" indent="-213995">
              <a:lnSpc>
                <a:spcPts val="1300"/>
              </a:lnSpc>
              <a:spcBef>
                <a:spcPts val="385"/>
              </a:spcBef>
              <a:buChar char="-"/>
              <a:tabLst>
                <a:tab pos="317500" algn="l"/>
                <a:tab pos="318135" algn="l"/>
              </a:tabLst>
            </a:pPr>
            <a:r>
              <a:rPr sz="1200" dirty="0">
                <a:latin typeface="Franklin Gothic Book" panose="020B0503020102020204" pitchFamily="34" charset="0"/>
                <a:cs typeface="Arial"/>
              </a:rPr>
              <a:t>Experience leading transformation, design, and delivery </a:t>
            </a:r>
            <a:r>
              <a:rPr lang="en-US" sz="1200" dirty="0">
                <a:latin typeface="Franklin Gothic Book" panose="020B0503020102020204" pitchFamily="34" charset="0"/>
                <a:cs typeface="Arial"/>
              </a:rPr>
              <a:t>from branding, to revenue performance. </a:t>
            </a:r>
            <a:endParaRPr sz="1200" dirty="0">
              <a:latin typeface="Franklin Gothic Book" panose="020B0503020102020204" pitchFamily="34" charset="0"/>
              <a:cs typeface="Arial"/>
            </a:endParaRPr>
          </a:p>
          <a:p>
            <a:pPr marL="317500" marR="190500" indent="-213995">
              <a:lnSpc>
                <a:spcPts val="1300"/>
              </a:lnSpc>
              <a:spcBef>
                <a:spcPts val="595"/>
              </a:spcBef>
              <a:buChar char="-"/>
              <a:tabLst>
                <a:tab pos="317500" algn="l"/>
                <a:tab pos="318135" algn="l"/>
              </a:tabLst>
            </a:pPr>
            <a:r>
              <a:rPr sz="1200" dirty="0">
                <a:latin typeface="Franklin Gothic Book" panose="020B0503020102020204" pitchFamily="34" charset="0"/>
                <a:cs typeface="Arial"/>
              </a:rPr>
              <a:t>Increased revenue for Full-Service, Select, Extended Stay, Brand and Franchise hotel properties including</a:t>
            </a:r>
            <a:r>
              <a:rPr lang="en-US" sz="1200" dirty="0">
                <a:latin typeface="Franklin Gothic Book" panose="020B0503020102020204" pitchFamily="34" charset="0"/>
                <a:cs typeface="Arial"/>
              </a:rPr>
              <a:t>:</a:t>
            </a:r>
            <a:r>
              <a:rPr sz="1200" dirty="0">
                <a:latin typeface="Franklin Gothic Book" panose="020B0503020102020204" pitchFamily="34" charset="0"/>
                <a:cs typeface="Arial"/>
              </a:rPr>
              <a:t>  Marriott, Loew’s, Independent Hotels, IHG, Hyatt and Starwood, CSM, American Residential Properties and more.</a:t>
            </a:r>
            <a:endParaRPr lang="en-US" sz="1200" dirty="0">
              <a:latin typeface="Franklin Gothic Book" panose="020B0503020102020204" pitchFamily="34" charset="0"/>
              <a:cs typeface="Arial"/>
            </a:endParaRPr>
          </a:p>
          <a:p>
            <a:pPr marL="317500" marR="190500" indent="-213995">
              <a:lnSpc>
                <a:spcPts val="1300"/>
              </a:lnSpc>
              <a:spcBef>
                <a:spcPts val="595"/>
              </a:spcBef>
              <a:buChar char="-"/>
              <a:tabLst>
                <a:tab pos="317500" algn="l"/>
                <a:tab pos="318135" algn="l"/>
              </a:tabLst>
            </a:pPr>
            <a:r>
              <a:rPr lang="en-US" sz="1200" dirty="0">
                <a:latin typeface="Franklin Gothic Book" panose="020B0503020102020204" pitchFamily="34" charset="0"/>
                <a:cs typeface="Arial"/>
              </a:rPr>
              <a:t>Lead revenue transformation within B2B companies, such as; Ricoh, Boehringer Ingelheim, Medtronic, Johnson &amp; Johnson, and Indeed.</a:t>
            </a:r>
            <a:endParaRPr sz="1200" dirty="0">
              <a:latin typeface="Franklin Gothic Book" panose="020B0503020102020204" pitchFamily="34" charset="0"/>
              <a:cs typeface="Arial"/>
            </a:endParaRPr>
          </a:p>
          <a:p>
            <a:pPr marL="318135" indent="-214629">
              <a:lnSpc>
                <a:spcPct val="100000"/>
              </a:lnSpc>
              <a:spcBef>
                <a:spcPts val="450"/>
              </a:spcBef>
              <a:buChar char="-"/>
              <a:tabLst>
                <a:tab pos="317500" algn="l"/>
                <a:tab pos="318135" algn="l"/>
              </a:tabLst>
            </a:pPr>
            <a:r>
              <a:rPr sz="1200" dirty="0">
                <a:latin typeface="Franklin Gothic Book" panose="020B0503020102020204" pitchFamily="34" charset="0"/>
                <a:cs typeface="Arial"/>
              </a:rPr>
              <a:t>Headed long-running strategies with start-ups, growth acquisition, market shifts, downturns and disposition</a:t>
            </a:r>
            <a:r>
              <a:rPr lang="en-US" sz="1200" dirty="0">
                <a:latin typeface="Franklin Gothic Book" panose="020B0503020102020204" pitchFamily="34" charset="0"/>
                <a:cs typeface="Arial"/>
              </a:rPr>
              <a:t>.</a:t>
            </a:r>
            <a:endParaRPr sz="1200" dirty="0">
              <a:latin typeface="Franklin Gothic Book" panose="020B0503020102020204" pitchFamily="34" charset="0"/>
              <a:cs typeface="Arial"/>
            </a:endParaRPr>
          </a:p>
          <a:p>
            <a:pPr marL="318135" indent="-214629">
              <a:lnSpc>
                <a:spcPct val="100000"/>
              </a:lnSpc>
              <a:spcBef>
                <a:spcPts val="555"/>
              </a:spcBef>
              <a:buChar char="-"/>
              <a:tabLst>
                <a:tab pos="317500" algn="l"/>
                <a:tab pos="318135" algn="l"/>
              </a:tabLst>
            </a:pPr>
            <a:r>
              <a:rPr sz="1200" dirty="0">
                <a:latin typeface="Franklin Gothic Book" panose="020B0503020102020204" pitchFamily="34" charset="0"/>
                <a:cs typeface="Arial"/>
              </a:rPr>
              <a:t>Developed marketing programs to infuse emerging markets and media into sales opportunities</a:t>
            </a:r>
            <a:r>
              <a:rPr lang="en-US" sz="1200" dirty="0">
                <a:latin typeface="Franklin Gothic Book" panose="020B0503020102020204" pitchFamily="34" charset="0"/>
                <a:cs typeface="Arial"/>
              </a:rPr>
              <a:t>.</a:t>
            </a:r>
            <a:endParaRPr sz="1200" dirty="0">
              <a:latin typeface="Franklin Gothic Book" panose="020B0503020102020204" pitchFamily="34" charset="0"/>
              <a:cs typeface="Arial"/>
            </a:endParaRPr>
          </a:p>
          <a:p>
            <a:pPr marL="318135" indent="-214629">
              <a:lnSpc>
                <a:spcPct val="100000"/>
              </a:lnSpc>
              <a:spcBef>
                <a:spcPts val="455"/>
              </a:spcBef>
              <a:buChar char="-"/>
              <a:tabLst>
                <a:tab pos="317500" algn="l"/>
                <a:tab pos="318135" algn="l"/>
              </a:tabLst>
            </a:pPr>
            <a:r>
              <a:rPr sz="1200" dirty="0">
                <a:latin typeface="Franklin Gothic Book" panose="020B0503020102020204" pitchFamily="34" charset="0"/>
                <a:cs typeface="Arial"/>
              </a:rPr>
              <a:t>Led acquisitions revenue through the full lifecycle: due diligence to exit</a:t>
            </a:r>
            <a:r>
              <a:rPr lang="en-US" sz="1200" dirty="0">
                <a:latin typeface="Franklin Gothic Book" panose="020B0503020102020204" pitchFamily="34" charset="0"/>
                <a:cs typeface="Arial"/>
              </a:rPr>
              <a:t> strategy.</a:t>
            </a:r>
            <a:endParaRPr sz="1200" dirty="0">
              <a:latin typeface="Franklin Gothic Book" panose="020B0503020102020204" pitchFamily="34" charset="0"/>
              <a:cs typeface="Arial"/>
            </a:endParaRPr>
          </a:p>
          <a:p>
            <a:pPr marL="317500" marR="3100705" indent="-213995">
              <a:lnSpc>
                <a:spcPts val="1300"/>
              </a:lnSpc>
              <a:spcBef>
                <a:spcPts val="830"/>
              </a:spcBef>
              <a:buChar char="-"/>
              <a:tabLst>
                <a:tab pos="317500" algn="l"/>
                <a:tab pos="318135" algn="l"/>
              </a:tabLst>
            </a:pPr>
            <a:r>
              <a:rPr sz="1200" dirty="0">
                <a:latin typeface="Franklin Gothic Book" panose="020B0503020102020204" pitchFamily="34" charset="0"/>
                <a:cs typeface="Arial"/>
              </a:rPr>
              <a:t>Professor at </a:t>
            </a:r>
            <a:r>
              <a:rPr lang="en-US" sz="1200" dirty="0">
                <a:latin typeface="Franklin Gothic Book" panose="020B0503020102020204" pitchFamily="34" charset="0"/>
                <a:cs typeface="Arial"/>
              </a:rPr>
              <a:t>Fairleigh Dickenson </a:t>
            </a:r>
            <a:r>
              <a:rPr sz="1200" dirty="0">
                <a:latin typeface="Franklin Gothic Book" panose="020B0503020102020204" pitchFamily="34" charset="0"/>
                <a:cs typeface="Arial"/>
              </a:rPr>
              <a:t>for Revenue Management and Distribution</a:t>
            </a:r>
            <a:r>
              <a:rPr lang="en-US" sz="1200" dirty="0">
                <a:latin typeface="Franklin Gothic Book" panose="020B0503020102020204" pitchFamily="34" charset="0"/>
                <a:cs typeface="Arial"/>
              </a:rPr>
              <a:t> </a:t>
            </a:r>
            <a:r>
              <a:rPr sz="1200" dirty="0">
                <a:latin typeface="Franklin Gothic Book" panose="020B0503020102020204" pitchFamily="34" charset="0"/>
                <a:cs typeface="Arial"/>
              </a:rPr>
              <a:t>Systems</a:t>
            </a:r>
            <a:r>
              <a:rPr lang="en-US" sz="1200" dirty="0">
                <a:latin typeface="Franklin Gothic Book" panose="020B0503020102020204" pitchFamily="34" charset="0"/>
                <a:cs typeface="Arial"/>
              </a:rPr>
              <a:t>, Global Marketing, and Digital Marketing.</a:t>
            </a:r>
            <a:endParaRPr sz="1200" dirty="0">
              <a:latin typeface="Franklin Gothic Book" panose="020B0503020102020204" pitchFamily="34" charset="0"/>
              <a:cs typeface="Arial"/>
            </a:endParaRPr>
          </a:p>
          <a:p>
            <a:pPr marL="318135" indent="-214629">
              <a:lnSpc>
                <a:spcPct val="100000"/>
              </a:lnSpc>
              <a:spcBef>
                <a:spcPts val="530"/>
              </a:spcBef>
              <a:buChar char="-"/>
              <a:tabLst>
                <a:tab pos="317500" algn="l"/>
                <a:tab pos="318135" algn="l"/>
              </a:tabLst>
            </a:pPr>
            <a:r>
              <a:rPr lang="en-US" sz="1200" dirty="0">
                <a:latin typeface="Franklin Gothic Book" panose="020B0503020102020204" pitchFamily="34" charset="0"/>
                <a:cs typeface="Arial"/>
              </a:rPr>
              <a:t>Board member at Boutique and Lifestyle Lodging Association (BLLA),                                                                                   Member and Vendor with Strategic Account Management Association (SAMA)</a:t>
            </a:r>
          </a:p>
          <a:p>
            <a:pPr marL="318135" indent="-214629">
              <a:lnSpc>
                <a:spcPct val="100000"/>
              </a:lnSpc>
              <a:spcBef>
                <a:spcPts val="550"/>
              </a:spcBef>
              <a:buChar char="-"/>
              <a:tabLst>
                <a:tab pos="317500" algn="l"/>
                <a:tab pos="318135" algn="l"/>
              </a:tabLst>
            </a:pPr>
            <a:r>
              <a:rPr sz="1200" dirty="0">
                <a:latin typeface="Franklin Gothic Book" panose="020B0503020102020204" pitchFamily="34" charset="0"/>
                <a:cs typeface="Arial"/>
              </a:rPr>
              <a:t>An active member of Women Owned Businesses (WBENC)</a:t>
            </a:r>
            <a:r>
              <a:rPr lang="en-US" sz="1200" dirty="0">
                <a:latin typeface="Franklin Gothic Book" panose="020B0503020102020204" pitchFamily="34" charset="0"/>
                <a:cs typeface="Arial"/>
              </a:rPr>
              <a:t>.</a:t>
            </a:r>
          </a:p>
          <a:p>
            <a:pPr marL="318135" indent="-214629">
              <a:lnSpc>
                <a:spcPct val="100000"/>
              </a:lnSpc>
              <a:spcBef>
                <a:spcPts val="550"/>
              </a:spcBef>
              <a:buChar char="-"/>
              <a:tabLst>
                <a:tab pos="317500" algn="l"/>
                <a:tab pos="318135" algn="l"/>
              </a:tabLst>
            </a:pPr>
            <a:r>
              <a:rPr lang="en-US" sz="1200" dirty="0">
                <a:latin typeface="Franklin Gothic Book" panose="020B0503020102020204" pitchFamily="34" charset="0"/>
                <a:cs typeface="Arial"/>
              </a:rPr>
              <a:t>Active member at ISHC, Marketing Committee Member</a:t>
            </a:r>
            <a:endParaRPr sz="1200" dirty="0">
              <a:latin typeface="Franklin Gothic Book" panose="020B0503020102020204" pitchFamily="34" charset="0"/>
              <a:cs typeface="Arial"/>
            </a:endParaRPr>
          </a:p>
          <a:p>
            <a:pPr marL="317500" marR="2568575" indent="-213995">
              <a:lnSpc>
                <a:spcPts val="1300"/>
              </a:lnSpc>
              <a:spcBef>
                <a:spcPts val="640"/>
              </a:spcBef>
              <a:buChar char="-"/>
              <a:tabLst>
                <a:tab pos="317500" algn="l"/>
                <a:tab pos="318135" algn="l"/>
              </a:tabLst>
            </a:pPr>
            <a:r>
              <a:rPr sz="1200" dirty="0">
                <a:latin typeface="Franklin Gothic Book" panose="020B0503020102020204" pitchFamily="34" charset="0"/>
                <a:cs typeface="Arial"/>
              </a:rPr>
              <a:t>Is </a:t>
            </a:r>
            <a:r>
              <a:rPr lang="en-US" sz="1200" dirty="0">
                <a:latin typeface="Franklin Gothic Book" panose="020B0503020102020204" pitchFamily="34" charset="0"/>
                <a:cs typeface="Arial"/>
              </a:rPr>
              <a:t>fanatical</a:t>
            </a:r>
            <a:r>
              <a:rPr sz="1200" dirty="0">
                <a:latin typeface="Franklin Gothic Book" panose="020B0503020102020204" pitchFamily="34" charset="0"/>
                <a:cs typeface="Arial"/>
              </a:rPr>
              <a:t> about bringing clarity</a:t>
            </a:r>
            <a:r>
              <a:rPr lang="en-US" sz="1200" dirty="0">
                <a:latin typeface="Franklin Gothic Book" panose="020B0503020102020204" pitchFamily="34" charset="0"/>
                <a:cs typeface="Arial"/>
              </a:rPr>
              <a:t> to build their future</a:t>
            </a:r>
            <a:r>
              <a:rPr sz="1200" dirty="0">
                <a:latin typeface="Franklin Gothic Book" panose="020B0503020102020204" pitchFamily="34" charset="0"/>
                <a:cs typeface="Arial"/>
              </a:rPr>
              <a:t> and </a:t>
            </a:r>
            <a:r>
              <a:rPr lang="en-US" sz="1200" dirty="0">
                <a:latin typeface="Franklin Gothic Book" panose="020B0503020102020204" pitchFamily="34" charset="0"/>
                <a:cs typeface="Arial"/>
              </a:rPr>
              <a:t>build </a:t>
            </a:r>
            <a:r>
              <a:rPr sz="1200" dirty="0">
                <a:latin typeface="Franklin Gothic Book" panose="020B0503020102020204" pitchFamily="34" charset="0"/>
                <a:cs typeface="Arial"/>
              </a:rPr>
              <a:t>connection to  </a:t>
            </a:r>
            <a:r>
              <a:rPr lang="en-US" sz="1200" dirty="0">
                <a:latin typeface="Franklin Gothic Book" panose="020B0503020102020204" pitchFamily="34" charset="0"/>
                <a:cs typeface="Arial"/>
              </a:rPr>
              <a:t>customers</a:t>
            </a:r>
            <a:r>
              <a:rPr sz="1200" dirty="0">
                <a:latin typeface="Franklin Gothic Book" panose="020B0503020102020204" pitchFamily="34" charset="0"/>
                <a:cs typeface="Arial"/>
              </a:rPr>
              <a:t> to be better than they were before.</a:t>
            </a:r>
            <a:endParaRPr sz="1400" dirty="0">
              <a:latin typeface="Franklin Gothic Book" panose="020B0503020102020204" pitchFamily="34" charset="0"/>
              <a:cs typeface="Arial"/>
            </a:endParaRPr>
          </a:p>
        </p:txBody>
      </p:sp>
    </p:spTree>
    <p:extLst>
      <p:ext uri="{BB962C8B-B14F-4D97-AF65-F5344CB8AC3E}">
        <p14:creationId xmlns:p14="http://schemas.microsoft.com/office/powerpoint/2010/main" val="4118561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609600" y="1962150"/>
            <a:ext cx="4102100" cy="2090737"/>
          </a:xfrm>
          <a:prstGeom prst="rect">
            <a:avLst/>
          </a:prstGeom>
        </p:spPr>
        <p:txBody>
          <a:bodyPr vert="horz" wrap="square" lIns="0" tIns="12700" rIns="0" bIns="0" rtlCol="0">
            <a:spAutoFit/>
          </a:bodyPr>
          <a:lstStyle/>
          <a:p>
            <a:pPr marL="12700">
              <a:lnSpc>
                <a:spcPct val="100000"/>
              </a:lnSpc>
              <a:spcBef>
                <a:spcPts val="100"/>
              </a:spcBef>
            </a:pPr>
            <a:r>
              <a:rPr sz="20250" spc="-7050" baseline="-5349" dirty="0">
                <a:solidFill>
                  <a:srgbClr val="D9D9D9"/>
                </a:solidFill>
                <a:latin typeface="Franklin Gothic Book" panose="020B0503020102020204" pitchFamily="34" charset="0"/>
              </a:rPr>
              <a:t>&amp;</a:t>
            </a:r>
            <a:r>
              <a:rPr sz="3200" dirty="0">
                <a:solidFill>
                  <a:schemeClr val="tx1"/>
                </a:solidFill>
                <a:latin typeface="Franklin Gothic Book" panose="020B0503020102020204" pitchFamily="34" charset="0"/>
              </a:rPr>
              <a:t>In good company</a:t>
            </a:r>
          </a:p>
        </p:txBody>
      </p:sp>
    </p:spTree>
    <p:extLst>
      <p:ext uri="{BB962C8B-B14F-4D97-AF65-F5344CB8AC3E}">
        <p14:creationId xmlns:p14="http://schemas.microsoft.com/office/powerpoint/2010/main" val="1407055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descr="A screenshot of a cell phone&#10;&#10;Description automatically generated">
            <a:extLst>
              <a:ext uri="{FF2B5EF4-FFF2-40B4-BE49-F238E27FC236}">
                <a16:creationId xmlns:a16="http://schemas.microsoft.com/office/drawing/2014/main" id="{0E16D0EB-242A-FB45-B280-CA22B0CF2C5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211931" y="2198722"/>
            <a:ext cx="987374" cy="987374"/>
          </a:xfrm>
          <a:prstGeom prst="rect">
            <a:avLst/>
          </a:prstGeom>
        </p:spPr>
      </p:pic>
      <p:sp>
        <p:nvSpPr>
          <p:cNvPr id="2" name="object 2"/>
          <p:cNvSpPr/>
          <p:nvPr/>
        </p:nvSpPr>
        <p:spPr>
          <a:xfrm>
            <a:off x="0" y="1"/>
            <a:ext cx="9143997" cy="495297"/>
          </a:xfrm>
          <a:prstGeom prst="rect">
            <a:avLst/>
          </a:prstGeom>
          <a:blipFill>
            <a:blip r:embed="rId3" cstate="print"/>
            <a:stretch>
              <a:fillRect/>
            </a:stretch>
          </a:blipFill>
        </p:spPr>
        <p:txBody>
          <a:bodyPr wrap="square" lIns="0" tIns="0" rIns="0" bIns="0" rtlCol="0"/>
          <a:lstStyle/>
          <a:p>
            <a:endParaRPr dirty="0"/>
          </a:p>
        </p:txBody>
      </p:sp>
      <p:sp>
        <p:nvSpPr>
          <p:cNvPr id="3" name="object 3"/>
          <p:cNvSpPr txBox="1"/>
          <p:nvPr/>
        </p:nvSpPr>
        <p:spPr>
          <a:xfrm>
            <a:off x="1520667" y="45238"/>
            <a:ext cx="6102662" cy="382156"/>
          </a:xfrm>
          <a:prstGeom prst="rect">
            <a:avLst/>
          </a:prstGeom>
        </p:spPr>
        <p:txBody>
          <a:bodyPr vert="horz" wrap="square" lIns="0" tIns="12700" rIns="0" bIns="0" rtlCol="0">
            <a:spAutoFit/>
          </a:bodyPr>
          <a:lstStyle/>
          <a:p>
            <a:pPr marL="12700" algn="ctr">
              <a:lnSpc>
                <a:spcPct val="100000"/>
              </a:lnSpc>
              <a:spcBef>
                <a:spcPts val="100"/>
              </a:spcBef>
            </a:pPr>
            <a:r>
              <a:rPr sz="2400" dirty="0">
                <a:latin typeface="Franklin Gothic Book" panose="020B0503020102020204" pitchFamily="34" charset="0"/>
                <a:cs typeface="Arial"/>
              </a:rPr>
              <a:t>Companies that have taken this journey...</a:t>
            </a:r>
          </a:p>
        </p:txBody>
      </p:sp>
      <p:sp>
        <p:nvSpPr>
          <p:cNvPr id="4" name="object 4"/>
          <p:cNvSpPr/>
          <p:nvPr/>
        </p:nvSpPr>
        <p:spPr>
          <a:xfrm>
            <a:off x="4211931" y="1788726"/>
            <a:ext cx="987374" cy="526182"/>
          </a:xfrm>
          <a:prstGeom prst="rect">
            <a:avLst/>
          </a:prstGeom>
          <a:blipFill>
            <a:blip r:embed="rId4" cstate="print"/>
            <a:stretch>
              <a:fillRect/>
            </a:stretch>
          </a:blipFill>
        </p:spPr>
        <p:txBody>
          <a:bodyPr wrap="square" lIns="0" tIns="0" rIns="0" bIns="0" rtlCol="0"/>
          <a:lstStyle/>
          <a:p>
            <a:endParaRPr dirty="0"/>
          </a:p>
        </p:txBody>
      </p:sp>
      <p:sp>
        <p:nvSpPr>
          <p:cNvPr id="6" name="object 6"/>
          <p:cNvSpPr/>
          <p:nvPr/>
        </p:nvSpPr>
        <p:spPr>
          <a:xfrm>
            <a:off x="4271580" y="3781369"/>
            <a:ext cx="868076" cy="346079"/>
          </a:xfrm>
          <a:prstGeom prst="rect">
            <a:avLst/>
          </a:prstGeom>
          <a:blipFill>
            <a:blip r:embed="rId5" cstate="print"/>
            <a:stretch>
              <a:fillRect/>
            </a:stretch>
          </a:blipFill>
        </p:spPr>
        <p:txBody>
          <a:bodyPr wrap="square" lIns="0" tIns="0" rIns="0" bIns="0" rtlCol="0"/>
          <a:lstStyle/>
          <a:p>
            <a:endParaRPr dirty="0"/>
          </a:p>
        </p:txBody>
      </p:sp>
      <p:sp>
        <p:nvSpPr>
          <p:cNvPr id="7" name="object 7"/>
          <p:cNvSpPr/>
          <p:nvPr/>
        </p:nvSpPr>
        <p:spPr>
          <a:xfrm>
            <a:off x="7840084" y="3103716"/>
            <a:ext cx="884568" cy="189694"/>
          </a:xfrm>
          <a:prstGeom prst="rect">
            <a:avLst/>
          </a:prstGeom>
          <a:blipFill>
            <a:blip r:embed="rId6" cstate="print"/>
            <a:stretch>
              <a:fillRect/>
            </a:stretch>
          </a:blipFill>
        </p:spPr>
        <p:txBody>
          <a:bodyPr wrap="square" lIns="0" tIns="0" rIns="0" bIns="0" rtlCol="0"/>
          <a:lstStyle/>
          <a:p>
            <a:endParaRPr dirty="0"/>
          </a:p>
        </p:txBody>
      </p:sp>
      <p:sp>
        <p:nvSpPr>
          <p:cNvPr id="9" name="object 9"/>
          <p:cNvSpPr/>
          <p:nvPr/>
        </p:nvSpPr>
        <p:spPr>
          <a:xfrm>
            <a:off x="6117131" y="2690368"/>
            <a:ext cx="922100" cy="355691"/>
          </a:xfrm>
          <a:prstGeom prst="rect">
            <a:avLst/>
          </a:prstGeom>
          <a:blipFill>
            <a:blip r:embed="rId7" cstate="print"/>
            <a:stretch>
              <a:fillRect/>
            </a:stretch>
          </a:blipFill>
        </p:spPr>
        <p:txBody>
          <a:bodyPr wrap="square" lIns="0" tIns="0" rIns="0" bIns="0" rtlCol="0"/>
          <a:lstStyle/>
          <a:p>
            <a:endParaRPr dirty="0"/>
          </a:p>
        </p:txBody>
      </p:sp>
      <p:sp>
        <p:nvSpPr>
          <p:cNvPr id="10" name="object 10"/>
          <p:cNvSpPr/>
          <p:nvPr/>
        </p:nvSpPr>
        <p:spPr>
          <a:xfrm>
            <a:off x="5921033" y="1544456"/>
            <a:ext cx="1278271" cy="522444"/>
          </a:xfrm>
          <a:prstGeom prst="rect">
            <a:avLst/>
          </a:prstGeom>
          <a:blipFill>
            <a:blip r:embed="rId8" cstate="print"/>
            <a:stretch>
              <a:fillRect/>
            </a:stretch>
          </a:blipFill>
        </p:spPr>
        <p:txBody>
          <a:bodyPr wrap="square" lIns="0" tIns="0" rIns="0" bIns="0" rtlCol="0"/>
          <a:lstStyle/>
          <a:p>
            <a:endParaRPr dirty="0"/>
          </a:p>
        </p:txBody>
      </p:sp>
      <p:sp>
        <p:nvSpPr>
          <p:cNvPr id="11" name="object 11"/>
          <p:cNvSpPr/>
          <p:nvPr/>
        </p:nvSpPr>
        <p:spPr>
          <a:xfrm>
            <a:off x="2499723" y="1560775"/>
            <a:ext cx="978720" cy="302882"/>
          </a:xfrm>
          <a:prstGeom prst="rect">
            <a:avLst/>
          </a:prstGeom>
          <a:blipFill>
            <a:blip r:embed="rId9" cstate="print"/>
            <a:stretch>
              <a:fillRect/>
            </a:stretch>
          </a:blipFill>
        </p:spPr>
        <p:txBody>
          <a:bodyPr wrap="square" lIns="0" tIns="0" rIns="0" bIns="0" rtlCol="0"/>
          <a:lstStyle/>
          <a:p>
            <a:endParaRPr dirty="0"/>
          </a:p>
        </p:txBody>
      </p:sp>
      <p:sp>
        <p:nvSpPr>
          <p:cNvPr id="12" name="object 12"/>
          <p:cNvSpPr/>
          <p:nvPr/>
        </p:nvSpPr>
        <p:spPr>
          <a:xfrm>
            <a:off x="7782964" y="1485736"/>
            <a:ext cx="1056114" cy="341587"/>
          </a:xfrm>
          <a:prstGeom prst="rect">
            <a:avLst/>
          </a:prstGeom>
          <a:blipFill>
            <a:blip r:embed="rId10" cstate="print"/>
            <a:stretch>
              <a:fillRect/>
            </a:stretch>
          </a:blipFill>
        </p:spPr>
        <p:txBody>
          <a:bodyPr wrap="square" lIns="0" tIns="0" rIns="0" bIns="0" rtlCol="0"/>
          <a:lstStyle/>
          <a:p>
            <a:endParaRPr dirty="0"/>
          </a:p>
        </p:txBody>
      </p:sp>
      <p:sp>
        <p:nvSpPr>
          <p:cNvPr id="13" name="object 13"/>
          <p:cNvSpPr/>
          <p:nvPr/>
        </p:nvSpPr>
        <p:spPr>
          <a:xfrm>
            <a:off x="7840084" y="2181785"/>
            <a:ext cx="941873" cy="379619"/>
          </a:xfrm>
          <a:prstGeom prst="rect">
            <a:avLst/>
          </a:prstGeom>
          <a:blipFill>
            <a:blip r:embed="rId11" cstate="print"/>
            <a:stretch>
              <a:fillRect/>
            </a:stretch>
          </a:blipFill>
        </p:spPr>
        <p:txBody>
          <a:bodyPr wrap="square" lIns="0" tIns="0" rIns="0" bIns="0" rtlCol="0"/>
          <a:lstStyle/>
          <a:p>
            <a:endParaRPr dirty="0"/>
          </a:p>
        </p:txBody>
      </p:sp>
      <p:sp>
        <p:nvSpPr>
          <p:cNvPr id="14" name="object 14"/>
          <p:cNvSpPr/>
          <p:nvPr/>
        </p:nvSpPr>
        <p:spPr>
          <a:xfrm>
            <a:off x="4221703" y="1241764"/>
            <a:ext cx="967830" cy="308429"/>
          </a:xfrm>
          <a:prstGeom prst="rect">
            <a:avLst/>
          </a:prstGeom>
          <a:blipFill>
            <a:blip r:embed="rId12" cstate="print"/>
            <a:stretch>
              <a:fillRect/>
            </a:stretch>
          </a:blipFill>
        </p:spPr>
        <p:txBody>
          <a:bodyPr wrap="square" lIns="0" tIns="0" rIns="0" bIns="0" rtlCol="0"/>
          <a:lstStyle/>
          <a:p>
            <a:endParaRPr dirty="0"/>
          </a:p>
        </p:txBody>
      </p:sp>
      <p:sp>
        <p:nvSpPr>
          <p:cNvPr id="15" name="object 15"/>
          <p:cNvSpPr/>
          <p:nvPr/>
        </p:nvSpPr>
        <p:spPr>
          <a:xfrm>
            <a:off x="688351" y="1114729"/>
            <a:ext cx="928935" cy="925437"/>
          </a:xfrm>
          <a:prstGeom prst="rect">
            <a:avLst/>
          </a:prstGeom>
          <a:blipFill>
            <a:blip r:embed="rId13" cstate="print"/>
            <a:stretch>
              <a:fillRect/>
            </a:stretch>
          </a:blipFill>
        </p:spPr>
        <p:txBody>
          <a:bodyPr wrap="square" lIns="0" tIns="0" rIns="0" bIns="0" rtlCol="0"/>
          <a:lstStyle/>
          <a:p>
            <a:endParaRPr dirty="0"/>
          </a:p>
        </p:txBody>
      </p:sp>
      <p:sp>
        <p:nvSpPr>
          <p:cNvPr id="16" name="object 16"/>
          <p:cNvSpPr txBox="1"/>
          <p:nvPr/>
        </p:nvSpPr>
        <p:spPr>
          <a:xfrm>
            <a:off x="4286642" y="550322"/>
            <a:ext cx="771525" cy="358140"/>
          </a:xfrm>
          <a:prstGeom prst="rect">
            <a:avLst/>
          </a:prstGeom>
        </p:spPr>
        <p:txBody>
          <a:bodyPr vert="horz" wrap="square" lIns="0" tIns="20320" rIns="0" bIns="0" rtlCol="0">
            <a:spAutoFit/>
          </a:bodyPr>
          <a:lstStyle/>
          <a:p>
            <a:pPr marL="141605" marR="5080" indent="-129539" algn="ctr">
              <a:lnSpc>
                <a:spcPts val="1300"/>
              </a:lnSpc>
              <a:spcBef>
                <a:spcPts val="160"/>
              </a:spcBef>
            </a:pPr>
            <a:r>
              <a:rPr sz="1100" spc="-25" dirty="0">
                <a:latin typeface="Franklin Gothic Book" panose="020B0503020102020204" pitchFamily="34" charset="0"/>
                <a:cs typeface="Arial"/>
              </a:rPr>
              <a:t>Hospitality</a:t>
            </a:r>
            <a:r>
              <a:rPr sz="1100" spc="-85" dirty="0">
                <a:latin typeface="Franklin Gothic Book" panose="020B0503020102020204" pitchFamily="34" charset="0"/>
                <a:cs typeface="Arial"/>
              </a:rPr>
              <a:t> </a:t>
            </a:r>
            <a:r>
              <a:rPr sz="1100" spc="-5" dirty="0">
                <a:latin typeface="Franklin Gothic Book" panose="020B0503020102020204" pitchFamily="34" charset="0"/>
                <a:cs typeface="Arial"/>
              </a:rPr>
              <a:t>&amp;  </a:t>
            </a:r>
            <a:r>
              <a:rPr sz="1100" spc="-40" dirty="0">
                <a:latin typeface="Franklin Gothic Book" panose="020B0503020102020204" pitchFamily="34" charset="0"/>
                <a:cs typeface="Arial"/>
              </a:rPr>
              <a:t>Tourism</a:t>
            </a:r>
            <a:endParaRPr sz="1100" dirty="0">
              <a:latin typeface="Franklin Gothic Book" panose="020B0503020102020204" pitchFamily="34" charset="0"/>
              <a:cs typeface="Arial"/>
            </a:endParaRPr>
          </a:p>
        </p:txBody>
      </p:sp>
      <p:sp>
        <p:nvSpPr>
          <p:cNvPr id="17" name="object 17"/>
          <p:cNvSpPr txBox="1"/>
          <p:nvPr/>
        </p:nvSpPr>
        <p:spPr>
          <a:xfrm>
            <a:off x="5862120" y="539008"/>
            <a:ext cx="1231141" cy="702756"/>
          </a:xfrm>
          <a:prstGeom prst="rect">
            <a:avLst/>
          </a:prstGeom>
        </p:spPr>
        <p:txBody>
          <a:bodyPr vert="horz" wrap="square" lIns="0" tIns="12700" rIns="0" bIns="0" rtlCol="0">
            <a:spAutoFit/>
          </a:bodyPr>
          <a:lstStyle/>
          <a:p>
            <a:pPr marL="12700" algn="ctr">
              <a:lnSpc>
                <a:spcPct val="100000"/>
              </a:lnSpc>
              <a:spcBef>
                <a:spcPts val="100"/>
              </a:spcBef>
            </a:pPr>
            <a:r>
              <a:rPr lang="en-US" sz="1100" spc="-20" dirty="0">
                <a:latin typeface="Franklin Gothic Book" panose="020B0503020102020204" pitchFamily="34" charset="0"/>
                <a:cs typeface="Arial"/>
              </a:rPr>
              <a:t>Commercial, Real Estate, Single Family / Multi Family</a:t>
            </a:r>
            <a:endParaRPr lang="en-US" sz="1100" spc="-5" dirty="0">
              <a:latin typeface="Franklin Gothic Book" panose="020B0503020102020204" pitchFamily="34" charset="0"/>
              <a:cs typeface="Arial"/>
            </a:endParaRPr>
          </a:p>
          <a:p>
            <a:pPr marL="12700">
              <a:lnSpc>
                <a:spcPct val="100000"/>
              </a:lnSpc>
              <a:spcBef>
                <a:spcPts val="100"/>
              </a:spcBef>
            </a:pPr>
            <a:endParaRPr sz="1100" dirty="0">
              <a:latin typeface="Franklin Gothic Book" panose="020B0503020102020204" pitchFamily="34" charset="0"/>
              <a:cs typeface="Arial"/>
            </a:endParaRPr>
          </a:p>
        </p:txBody>
      </p:sp>
      <p:sp>
        <p:nvSpPr>
          <p:cNvPr id="19" name="object 19"/>
          <p:cNvSpPr txBox="1"/>
          <p:nvPr/>
        </p:nvSpPr>
        <p:spPr>
          <a:xfrm>
            <a:off x="333668" y="550322"/>
            <a:ext cx="1420613" cy="520655"/>
          </a:xfrm>
          <a:prstGeom prst="rect">
            <a:avLst/>
          </a:prstGeom>
        </p:spPr>
        <p:txBody>
          <a:bodyPr vert="horz" wrap="square" lIns="0" tIns="20320" rIns="0" bIns="0" rtlCol="0">
            <a:spAutoFit/>
          </a:bodyPr>
          <a:lstStyle/>
          <a:p>
            <a:pPr marL="36830" marR="5080" indent="-24765" algn="ctr">
              <a:lnSpc>
                <a:spcPts val="1300"/>
              </a:lnSpc>
              <a:spcBef>
                <a:spcPts val="160"/>
              </a:spcBef>
            </a:pPr>
            <a:r>
              <a:rPr sz="1100" dirty="0">
                <a:latin typeface="Franklin Gothic Book" panose="020B0503020102020204" pitchFamily="34" charset="0"/>
                <a:cs typeface="Arial"/>
              </a:rPr>
              <a:t>Financial Services &amp;  Asset Management</a:t>
            </a:r>
            <a:r>
              <a:rPr lang="en-US" sz="1100" dirty="0">
                <a:latin typeface="Franklin Gothic Book" panose="020B0503020102020204" pitchFamily="34" charset="0"/>
                <a:cs typeface="Arial"/>
              </a:rPr>
              <a:t>- Hospitality Investment</a:t>
            </a:r>
            <a:endParaRPr sz="1100" dirty="0">
              <a:latin typeface="Franklin Gothic Book" panose="020B0503020102020204" pitchFamily="34" charset="0"/>
              <a:cs typeface="Arial"/>
            </a:endParaRPr>
          </a:p>
        </p:txBody>
      </p:sp>
      <p:sp>
        <p:nvSpPr>
          <p:cNvPr id="20" name="object 20"/>
          <p:cNvSpPr txBox="1"/>
          <p:nvPr/>
        </p:nvSpPr>
        <p:spPr>
          <a:xfrm>
            <a:off x="2618189" y="550322"/>
            <a:ext cx="804545" cy="358140"/>
          </a:xfrm>
          <a:prstGeom prst="rect">
            <a:avLst/>
          </a:prstGeom>
        </p:spPr>
        <p:txBody>
          <a:bodyPr vert="horz" wrap="square" lIns="0" tIns="20320" rIns="0" bIns="0" rtlCol="0">
            <a:spAutoFit/>
          </a:bodyPr>
          <a:lstStyle/>
          <a:p>
            <a:pPr marL="12700" marR="5080" indent="3175">
              <a:lnSpc>
                <a:spcPts val="1300"/>
              </a:lnSpc>
              <a:spcBef>
                <a:spcPts val="160"/>
              </a:spcBef>
            </a:pPr>
            <a:r>
              <a:rPr sz="1100" spc="-25" dirty="0">
                <a:latin typeface="Franklin Gothic Book" panose="020B0503020102020204" pitchFamily="34" charset="0"/>
                <a:cs typeface="Arial"/>
              </a:rPr>
              <a:t>Healthcare</a:t>
            </a:r>
            <a:r>
              <a:rPr sz="1100" spc="-110" dirty="0">
                <a:latin typeface="Franklin Gothic Book" panose="020B0503020102020204" pitchFamily="34" charset="0"/>
                <a:cs typeface="Arial"/>
              </a:rPr>
              <a:t> </a:t>
            </a:r>
            <a:r>
              <a:rPr sz="1100" spc="-5" dirty="0">
                <a:latin typeface="Franklin Gothic Book" panose="020B0503020102020204" pitchFamily="34" charset="0"/>
                <a:cs typeface="Arial"/>
              </a:rPr>
              <a:t>&amp;  </a:t>
            </a:r>
            <a:r>
              <a:rPr sz="1100" spc="-25" dirty="0">
                <a:latin typeface="Franklin Gothic Book" panose="020B0503020102020204" pitchFamily="34" charset="0"/>
                <a:cs typeface="Arial"/>
              </a:rPr>
              <a:t>Life</a:t>
            </a:r>
            <a:r>
              <a:rPr sz="1100" spc="-110" dirty="0">
                <a:latin typeface="Franklin Gothic Book" panose="020B0503020102020204" pitchFamily="34" charset="0"/>
                <a:cs typeface="Arial"/>
              </a:rPr>
              <a:t> </a:t>
            </a:r>
            <a:r>
              <a:rPr sz="1100" spc="-40" dirty="0">
                <a:latin typeface="Franklin Gothic Book" panose="020B0503020102020204" pitchFamily="34" charset="0"/>
                <a:cs typeface="Arial"/>
              </a:rPr>
              <a:t>Sciences</a:t>
            </a:r>
            <a:endParaRPr sz="1100" dirty="0">
              <a:latin typeface="Franklin Gothic Book" panose="020B0503020102020204" pitchFamily="34" charset="0"/>
              <a:cs typeface="Arial"/>
            </a:endParaRPr>
          </a:p>
        </p:txBody>
      </p:sp>
      <p:sp>
        <p:nvSpPr>
          <p:cNvPr id="21" name="object 21"/>
          <p:cNvSpPr txBox="1"/>
          <p:nvPr/>
        </p:nvSpPr>
        <p:spPr>
          <a:xfrm>
            <a:off x="7876999" y="550322"/>
            <a:ext cx="888365" cy="512961"/>
          </a:xfrm>
          <a:prstGeom prst="rect">
            <a:avLst/>
          </a:prstGeom>
        </p:spPr>
        <p:txBody>
          <a:bodyPr vert="horz" wrap="square" lIns="0" tIns="12700" rIns="0" bIns="0" rtlCol="0">
            <a:spAutoFit/>
          </a:bodyPr>
          <a:lstStyle/>
          <a:p>
            <a:pPr algn="ctr">
              <a:lnSpc>
                <a:spcPts val="1310"/>
              </a:lnSpc>
              <a:spcBef>
                <a:spcPts val="100"/>
              </a:spcBef>
            </a:pPr>
            <a:r>
              <a:rPr sz="1100" dirty="0">
                <a:latin typeface="Franklin Gothic Book" panose="020B0503020102020204" pitchFamily="34" charset="0"/>
                <a:cs typeface="Arial"/>
              </a:rPr>
              <a:t>CPG</a:t>
            </a:r>
            <a:r>
              <a:rPr lang="en-US" sz="1100" dirty="0">
                <a:latin typeface="Franklin Gothic Book" panose="020B0503020102020204" pitchFamily="34" charset="0"/>
                <a:cs typeface="Arial"/>
              </a:rPr>
              <a:t>,</a:t>
            </a:r>
            <a:endParaRPr sz="1100" dirty="0">
              <a:latin typeface="Franklin Gothic Book" panose="020B0503020102020204" pitchFamily="34" charset="0"/>
              <a:cs typeface="Arial"/>
            </a:endParaRPr>
          </a:p>
          <a:p>
            <a:pPr algn="ctr">
              <a:lnSpc>
                <a:spcPts val="1310"/>
              </a:lnSpc>
            </a:pPr>
            <a:r>
              <a:rPr sz="1100" dirty="0">
                <a:latin typeface="Franklin Gothic Book" panose="020B0503020102020204" pitchFamily="34" charset="0"/>
                <a:cs typeface="Arial"/>
              </a:rPr>
              <a:t>Manufacturi</a:t>
            </a:r>
            <a:r>
              <a:rPr lang="en-US" sz="1100" dirty="0">
                <a:latin typeface="Franklin Gothic Book" panose="020B0503020102020204" pitchFamily="34" charset="0"/>
                <a:cs typeface="Arial"/>
              </a:rPr>
              <a:t>n</a:t>
            </a:r>
            <a:r>
              <a:rPr sz="1100" dirty="0">
                <a:latin typeface="Franklin Gothic Book" panose="020B0503020102020204" pitchFamily="34" charset="0"/>
                <a:cs typeface="Arial"/>
              </a:rPr>
              <a:t>g</a:t>
            </a:r>
            <a:r>
              <a:rPr lang="en-US" sz="1100" dirty="0">
                <a:latin typeface="Franklin Gothic Book" panose="020B0503020102020204" pitchFamily="34" charset="0"/>
                <a:cs typeface="Arial"/>
              </a:rPr>
              <a:t>, </a:t>
            </a:r>
            <a:endParaRPr sz="1100" dirty="0">
              <a:latin typeface="Franklin Gothic Book" panose="020B0503020102020204" pitchFamily="34" charset="0"/>
              <a:cs typeface="Arial"/>
            </a:endParaRPr>
          </a:p>
        </p:txBody>
      </p:sp>
      <p:sp>
        <p:nvSpPr>
          <p:cNvPr id="23" name="object 23"/>
          <p:cNvSpPr/>
          <p:nvPr/>
        </p:nvSpPr>
        <p:spPr>
          <a:xfrm>
            <a:off x="4219889" y="1121662"/>
            <a:ext cx="969644" cy="0"/>
          </a:xfrm>
          <a:custGeom>
            <a:avLst/>
            <a:gdLst/>
            <a:ahLst/>
            <a:cxnLst/>
            <a:rect l="l" t="t" r="r" b="b"/>
            <a:pathLst>
              <a:path w="969644">
                <a:moveTo>
                  <a:pt x="0" y="0"/>
                </a:moveTo>
                <a:lnTo>
                  <a:pt x="969627" y="1"/>
                </a:lnTo>
              </a:path>
            </a:pathLst>
          </a:custGeom>
          <a:ln w="25400">
            <a:solidFill>
              <a:srgbClr val="A5335D"/>
            </a:solidFill>
          </a:ln>
        </p:spPr>
        <p:txBody>
          <a:bodyPr wrap="square" lIns="0" tIns="0" rIns="0" bIns="0" rtlCol="0"/>
          <a:lstStyle/>
          <a:p>
            <a:endParaRPr dirty="0"/>
          </a:p>
        </p:txBody>
      </p:sp>
      <p:sp>
        <p:nvSpPr>
          <p:cNvPr id="25" name="object 25"/>
          <p:cNvSpPr/>
          <p:nvPr/>
        </p:nvSpPr>
        <p:spPr>
          <a:xfrm>
            <a:off x="7885075" y="1121662"/>
            <a:ext cx="969644" cy="0"/>
          </a:xfrm>
          <a:custGeom>
            <a:avLst/>
            <a:gdLst/>
            <a:ahLst/>
            <a:cxnLst/>
            <a:rect l="l" t="t" r="r" b="b"/>
            <a:pathLst>
              <a:path w="969645">
                <a:moveTo>
                  <a:pt x="0" y="0"/>
                </a:moveTo>
                <a:lnTo>
                  <a:pt x="969626" y="1"/>
                </a:lnTo>
              </a:path>
            </a:pathLst>
          </a:custGeom>
          <a:ln w="25400">
            <a:solidFill>
              <a:srgbClr val="A5335D"/>
            </a:solidFill>
          </a:ln>
        </p:spPr>
        <p:txBody>
          <a:bodyPr wrap="square" lIns="0" tIns="0" rIns="0" bIns="0" rtlCol="0"/>
          <a:lstStyle/>
          <a:p>
            <a:endParaRPr dirty="0"/>
          </a:p>
        </p:txBody>
      </p:sp>
      <p:sp>
        <p:nvSpPr>
          <p:cNvPr id="27" name="object 27"/>
          <p:cNvSpPr/>
          <p:nvPr/>
        </p:nvSpPr>
        <p:spPr>
          <a:xfrm>
            <a:off x="6027041" y="1109597"/>
            <a:ext cx="1012190" cy="12065"/>
          </a:xfrm>
          <a:custGeom>
            <a:avLst/>
            <a:gdLst/>
            <a:ahLst/>
            <a:cxnLst/>
            <a:rect l="l" t="t" r="r" b="b"/>
            <a:pathLst>
              <a:path w="1012190" h="12065">
                <a:moveTo>
                  <a:pt x="0" y="11572"/>
                </a:moveTo>
                <a:lnTo>
                  <a:pt x="1011961" y="0"/>
                </a:lnTo>
              </a:path>
            </a:pathLst>
          </a:custGeom>
          <a:ln w="25400">
            <a:solidFill>
              <a:srgbClr val="A5335D"/>
            </a:solidFill>
          </a:ln>
        </p:spPr>
        <p:txBody>
          <a:bodyPr wrap="square" lIns="0" tIns="0" rIns="0" bIns="0" rtlCol="0"/>
          <a:lstStyle/>
          <a:p>
            <a:endParaRPr dirty="0"/>
          </a:p>
        </p:txBody>
      </p:sp>
      <p:sp>
        <p:nvSpPr>
          <p:cNvPr id="29" name="object 29"/>
          <p:cNvSpPr/>
          <p:nvPr/>
        </p:nvSpPr>
        <p:spPr>
          <a:xfrm>
            <a:off x="2499723" y="1121662"/>
            <a:ext cx="969644" cy="0"/>
          </a:xfrm>
          <a:custGeom>
            <a:avLst/>
            <a:gdLst/>
            <a:ahLst/>
            <a:cxnLst/>
            <a:rect l="l" t="t" r="r" b="b"/>
            <a:pathLst>
              <a:path w="969644">
                <a:moveTo>
                  <a:pt x="0" y="0"/>
                </a:moveTo>
                <a:lnTo>
                  <a:pt x="969627" y="1"/>
                </a:lnTo>
              </a:path>
            </a:pathLst>
          </a:custGeom>
          <a:ln w="25400">
            <a:solidFill>
              <a:srgbClr val="A5335D"/>
            </a:solidFill>
          </a:ln>
        </p:spPr>
        <p:txBody>
          <a:bodyPr wrap="square" lIns="0" tIns="0" rIns="0" bIns="0" rtlCol="0"/>
          <a:lstStyle/>
          <a:p>
            <a:endParaRPr dirty="0"/>
          </a:p>
        </p:txBody>
      </p:sp>
      <p:sp>
        <p:nvSpPr>
          <p:cNvPr id="31" name="object 31"/>
          <p:cNvSpPr/>
          <p:nvPr/>
        </p:nvSpPr>
        <p:spPr>
          <a:xfrm>
            <a:off x="361594" y="1075943"/>
            <a:ext cx="1420613" cy="45719"/>
          </a:xfrm>
          <a:custGeom>
            <a:avLst/>
            <a:gdLst/>
            <a:ahLst/>
            <a:cxnLst/>
            <a:rect l="l" t="t" r="r" b="b"/>
            <a:pathLst>
              <a:path w="1273175">
                <a:moveTo>
                  <a:pt x="0" y="0"/>
                </a:moveTo>
                <a:lnTo>
                  <a:pt x="1273041" y="1"/>
                </a:lnTo>
              </a:path>
            </a:pathLst>
          </a:custGeom>
          <a:ln w="25400">
            <a:solidFill>
              <a:srgbClr val="A5335D"/>
            </a:solidFill>
          </a:ln>
        </p:spPr>
        <p:txBody>
          <a:bodyPr wrap="square" lIns="0" tIns="0" rIns="0" bIns="0" rtlCol="0"/>
          <a:lstStyle/>
          <a:p>
            <a:endParaRPr dirty="0"/>
          </a:p>
        </p:txBody>
      </p:sp>
      <p:sp>
        <p:nvSpPr>
          <p:cNvPr id="33" name="object 33"/>
          <p:cNvSpPr/>
          <p:nvPr/>
        </p:nvSpPr>
        <p:spPr>
          <a:xfrm>
            <a:off x="580881" y="2328216"/>
            <a:ext cx="1143875" cy="270916"/>
          </a:xfrm>
          <a:prstGeom prst="rect">
            <a:avLst/>
          </a:prstGeom>
          <a:blipFill>
            <a:blip r:embed="rId14" cstate="print"/>
            <a:stretch>
              <a:fillRect/>
            </a:stretch>
          </a:blipFill>
        </p:spPr>
        <p:txBody>
          <a:bodyPr wrap="square" lIns="0" tIns="0" rIns="0" bIns="0" rtlCol="0"/>
          <a:lstStyle/>
          <a:p>
            <a:endParaRPr dirty="0"/>
          </a:p>
        </p:txBody>
      </p:sp>
      <p:sp>
        <p:nvSpPr>
          <p:cNvPr id="35" name="object 35"/>
          <p:cNvSpPr/>
          <p:nvPr/>
        </p:nvSpPr>
        <p:spPr>
          <a:xfrm>
            <a:off x="2539254" y="2051817"/>
            <a:ext cx="1065363" cy="928755"/>
          </a:xfrm>
          <a:prstGeom prst="rect">
            <a:avLst/>
          </a:prstGeom>
          <a:blipFill>
            <a:blip r:embed="rId15" cstate="print"/>
            <a:stretch>
              <a:fillRect/>
            </a:stretch>
          </a:blipFill>
        </p:spPr>
        <p:txBody>
          <a:bodyPr wrap="square" lIns="0" tIns="0" rIns="0" bIns="0" rtlCol="0"/>
          <a:lstStyle/>
          <a:p>
            <a:endParaRPr dirty="0"/>
          </a:p>
        </p:txBody>
      </p:sp>
      <p:sp>
        <p:nvSpPr>
          <p:cNvPr id="37" name="object 37"/>
          <p:cNvSpPr/>
          <p:nvPr/>
        </p:nvSpPr>
        <p:spPr>
          <a:xfrm>
            <a:off x="2401380" y="3073535"/>
            <a:ext cx="1060418" cy="799966"/>
          </a:xfrm>
          <a:prstGeom prst="rect">
            <a:avLst/>
          </a:prstGeom>
          <a:blipFill>
            <a:blip r:embed="rId16" cstate="print"/>
            <a:stretch>
              <a:fillRect/>
            </a:stretch>
          </a:blipFill>
        </p:spPr>
        <p:txBody>
          <a:bodyPr wrap="square" lIns="0" tIns="0" rIns="0" bIns="0" rtlCol="0"/>
          <a:lstStyle/>
          <a:p>
            <a:endParaRPr dirty="0"/>
          </a:p>
        </p:txBody>
      </p:sp>
      <p:pic>
        <p:nvPicPr>
          <p:cNvPr id="45" name="Picture 44">
            <a:extLst>
              <a:ext uri="{FF2B5EF4-FFF2-40B4-BE49-F238E27FC236}">
                <a16:creationId xmlns:a16="http://schemas.microsoft.com/office/drawing/2014/main" id="{D021C6BF-F540-0E47-B44C-4560351E52AD}"/>
              </a:ext>
            </a:extLst>
          </p:cNvPr>
          <p:cNvPicPr>
            <a:picLocks noChangeAspect="1"/>
          </p:cNvPicPr>
          <p:nvPr/>
        </p:nvPicPr>
        <p:blipFill>
          <a:blip r:embed="rId17"/>
          <a:stretch>
            <a:fillRect/>
          </a:stretch>
        </p:blipFill>
        <p:spPr>
          <a:xfrm>
            <a:off x="643792" y="3073535"/>
            <a:ext cx="986373" cy="655182"/>
          </a:xfrm>
          <a:prstGeom prst="rect">
            <a:avLst/>
          </a:prstGeom>
        </p:spPr>
      </p:pic>
      <p:pic>
        <p:nvPicPr>
          <p:cNvPr id="8" name="Picture 7" descr="A close up of a logo&#10;&#10;Description automatically generated">
            <a:extLst>
              <a:ext uri="{FF2B5EF4-FFF2-40B4-BE49-F238E27FC236}">
                <a16:creationId xmlns:a16="http://schemas.microsoft.com/office/drawing/2014/main" id="{7D6265F1-49EC-AC4E-A18C-F088C10E7FE5}"/>
              </a:ext>
            </a:extLst>
          </p:cNvPr>
          <p:cNvPicPr>
            <a:picLocks noChangeAspect="1"/>
          </p:cNvPicPr>
          <p:nvPr/>
        </p:nvPicPr>
        <p:blipFill>
          <a:blip r:embed="rId18">
            <a:extLst>
              <a:ext uri="{28A0092B-C50C-407E-A947-70E740481C1C}">
                <a14:useLocalDpi xmlns:a14="http://schemas.microsoft.com/office/drawing/2010/main"/>
              </a:ext>
            </a:extLst>
          </a:blip>
          <a:stretch>
            <a:fillRect/>
          </a:stretch>
        </p:blipFill>
        <p:spPr>
          <a:xfrm>
            <a:off x="4191631" y="4370366"/>
            <a:ext cx="1027975" cy="268644"/>
          </a:xfrm>
          <a:prstGeom prst="rect">
            <a:avLst/>
          </a:prstGeom>
        </p:spPr>
      </p:pic>
      <p:sp>
        <p:nvSpPr>
          <p:cNvPr id="18" name="Slide Number Placeholder 12">
            <a:extLst>
              <a:ext uri="{FF2B5EF4-FFF2-40B4-BE49-F238E27FC236}">
                <a16:creationId xmlns:a16="http://schemas.microsoft.com/office/drawing/2014/main" id="{FFFB407B-855F-4C3F-9BE9-59E9C7761731}"/>
              </a:ext>
            </a:extLst>
          </p:cNvPr>
          <p:cNvSpPr>
            <a:spLocks noGrp="1"/>
          </p:cNvSpPr>
          <p:nvPr>
            <p:ph type="sldNum" sz="quarter" idx="7"/>
          </p:nvPr>
        </p:nvSpPr>
        <p:spPr>
          <a:xfrm>
            <a:off x="6592824" y="4733151"/>
            <a:ext cx="2103120" cy="276999"/>
          </a:xfrm>
        </p:spPr>
        <p:txBody>
          <a:bodyPr/>
          <a:lstStyle/>
          <a:p>
            <a:fld id="{B6F15528-21DE-4FAA-801E-634DDDAF4B2B}" type="slidenum">
              <a:rPr lang="en-US" smtClean="0">
                <a:solidFill>
                  <a:schemeClr val="bg1">
                    <a:lumMod val="50000"/>
                  </a:schemeClr>
                </a:solidFill>
              </a:rPr>
              <a:pPr/>
              <a:t>12</a:t>
            </a:fld>
            <a:endParaRPr lang="en-US" dirty="0">
              <a:solidFill>
                <a:schemeClr val="bg1">
                  <a:lumMod val="50000"/>
                </a:schemeClr>
              </a:solidFill>
            </a:endParaRPr>
          </a:p>
        </p:txBody>
      </p:sp>
      <p:pic>
        <p:nvPicPr>
          <p:cNvPr id="5" name="Picture 4">
            <a:extLst>
              <a:ext uri="{FF2B5EF4-FFF2-40B4-BE49-F238E27FC236}">
                <a16:creationId xmlns:a16="http://schemas.microsoft.com/office/drawing/2014/main" id="{63564E1A-D212-7D45-85A7-9E1B47C8E85C}"/>
              </a:ext>
            </a:extLst>
          </p:cNvPr>
          <p:cNvPicPr>
            <a:picLocks noChangeAspect="1"/>
          </p:cNvPicPr>
          <p:nvPr/>
        </p:nvPicPr>
        <p:blipFill>
          <a:blip r:embed="rId19"/>
          <a:stretch>
            <a:fillRect/>
          </a:stretch>
        </p:blipFill>
        <p:spPr>
          <a:xfrm>
            <a:off x="4229368" y="3047095"/>
            <a:ext cx="952500" cy="527050"/>
          </a:xfrm>
          <a:prstGeom prst="rect">
            <a:avLst/>
          </a:prstGeom>
        </p:spPr>
      </p:pic>
      <p:pic>
        <p:nvPicPr>
          <p:cNvPr id="22" name="Picture 21">
            <a:extLst>
              <a:ext uri="{FF2B5EF4-FFF2-40B4-BE49-F238E27FC236}">
                <a16:creationId xmlns:a16="http://schemas.microsoft.com/office/drawing/2014/main" id="{4482E45E-2BAC-8E40-A3BD-4A079316C99E}"/>
              </a:ext>
            </a:extLst>
          </p:cNvPr>
          <p:cNvPicPr>
            <a:picLocks noChangeAspect="1"/>
          </p:cNvPicPr>
          <p:nvPr/>
        </p:nvPicPr>
        <p:blipFill>
          <a:blip r:embed="rId20"/>
          <a:stretch>
            <a:fillRect/>
          </a:stretch>
        </p:blipFill>
        <p:spPr>
          <a:xfrm>
            <a:off x="6069007" y="3401126"/>
            <a:ext cx="1143000" cy="1143000"/>
          </a:xfrm>
          <a:prstGeom prst="rect">
            <a:avLst/>
          </a:prstGeom>
        </p:spPr>
      </p:pic>
      <p:pic>
        <p:nvPicPr>
          <p:cNvPr id="26" name="Picture 25">
            <a:extLst>
              <a:ext uri="{FF2B5EF4-FFF2-40B4-BE49-F238E27FC236}">
                <a16:creationId xmlns:a16="http://schemas.microsoft.com/office/drawing/2014/main" id="{BF10A30F-A654-AB4B-AE42-2B597F65BBAC}"/>
              </a:ext>
            </a:extLst>
          </p:cNvPr>
          <p:cNvPicPr>
            <a:picLocks noChangeAspect="1"/>
          </p:cNvPicPr>
          <p:nvPr/>
        </p:nvPicPr>
        <p:blipFill>
          <a:blip r:embed="rId21"/>
          <a:stretch>
            <a:fillRect/>
          </a:stretch>
        </p:blipFill>
        <p:spPr>
          <a:xfrm>
            <a:off x="333668" y="3830414"/>
            <a:ext cx="1638300" cy="1231900"/>
          </a:xfrm>
          <a:prstGeom prst="rect">
            <a:avLst/>
          </a:prstGeom>
        </p:spPr>
      </p:pic>
      <p:pic>
        <p:nvPicPr>
          <p:cNvPr id="24" name="Picture 23">
            <a:extLst>
              <a:ext uri="{FF2B5EF4-FFF2-40B4-BE49-F238E27FC236}">
                <a16:creationId xmlns:a16="http://schemas.microsoft.com/office/drawing/2014/main" id="{AE76186A-43CE-7340-ACC9-C6EB27A1E8FB}"/>
              </a:ext>
            </a:extLst>
          </p:cNvPr>
          <p:cNvPicPr>
            <a:picLocks noChangeAspect="1"/>
          </p:cNvPicPr>
          <p:nvPr/>
        </p:nvPicPr>
        <p:blipFill>
          <a:blip r:embed="rId22"/>
          <a:stretch>
            <a:fillRect/>
          </a:stretch>
        </p:blipFill>
        <p:spPr>
          <a:xfrm>
            <a:off x="7998224" y="3768353"/>
            <a:ext cx="697720" cy="904188"/>
          </a:xfrm>
          <a:prstGeom prst="rect">
            <a:avLst/>
          </a:prstGeom>
        </p:spPr>
      </p:pic>
      <p:pic>
        <p:nvPicPr>
          <p:cNvPr id="32" name="Picture 31">
            <a:extLst>
              <a:ext uri="{FF2B5EF4-FFF2-40B4-BE49-F238E27FC236}">
                <a16:creationId xmlns:a16="http://schemas.microsoft.com/office/drawing/2014/main" id="{D44CD02B-E3DC-9A45-B598-E17486CD648B}"/>
              </a:ext>
            </a:extLst>
          </p:cNvPr>
          <p:cNvPicPr>
            <a:picLocks noChangeAspect="1"/>
          </p:cNvPicPr>
          <p:nvPr/>
        </p:nvPicPr>
        <p:blipFill>
          <a:blip r:embed="rId23"/>
          <a:stretch>
            <a:fillRect/>
          </a:stretch>
        </p:blipFill>
        <p:spPr>
          <a:xfrm>
            <a:off x="2328898" y="3781369"/>
            <a:ext cx="1270000" cy="1270000"/>
          </a:xfrm>
          <a:prstGeom prst="rect">
            <a:avLst/>
          </a:prstGeom>
        </p:spPr>
      </p:pic>
    </p:spTree>
    <p:extLst>
      <p:ext uri="{BB962C8B-B14F-4D97-AF65-F5344CB8AC3E}">
        <p14:creationId xmlns:p14="http://schemas.microsoft.com/office/powerpoint/2010/main" val="2075257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C7CC3-E8E8-4C45-AF12-E869FADFF8BA}"/>
              </a:ext>
            </a:extLst>
          </p:cNvPr>
          <p:cNvSpPr>
            <a:spLocks noGrp="1"/>
          </p:cNvSpPr>
          <p:nvPr>
            <p:ph type="title"/>
          </p:nvPr>
        </p:nvSpPr>
        <p:spPr>
          <a:xfrm>
            <a:off x="0" y="2"/>
            <a:ext cx="9144000" cy="492443"/>
          </a:xfrm>
          <a:pattFill prst="pct20">
            <a:fgClr>
              <a:schemeClr val="bg2">
                <a:lumMod val="75000"/>
              </a:schemeClr>
            </a:fgClr>
            <a:bgClr>
              <a:schemeClr val="bg1"/>
            </a:bgClr>
          </a:pattFill>
        </p:spPr>
        <p:txBody>
          <a:bodyPr>
            <a:normAutofit/>
          </a:bodyPr>
          <a:lstStyle/>
          <a:p>
            <a:pPr algn="ctr"/>
            <a:r>
              <a:rPr lang="en-US" sz="3200" dirty="0">
                <a:solidFill>
                  <a:schemeClr val="tx1">
                    <a:lumMod val="75000"/>
                    <a:lumOff val="25000"/>
                  </a:schemeClr>
                </a:solidFill>
                <a:latin typeface="Franklin Gothic Book" panose="020B0503020102020204" pitchFamily="34" charset="0"/>
              </a:rPr>
              <a:t>Where we serve    </a:t>
            </a:r>
          </a:p>
        </p:txBody>
      </p:sp>
      <p:pic>
        <p:nvPicPr>
          <p:cNvPr id="4" name="Picture 3" descr="Text&#10;&#10;Description automatically generated">
            <a:extLst>
              <a:ext uri="{FF2B5EF4-FFF2-40B4-BE49-F238E27FC236}">
                <a16:creationId xmlns:a16="http://schemas.microsoft.com/office/drawing/2014/main" id="{5BE494FD-0782-D145-A578-ED810C05AB5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192287" y="1557069"/>
            <a:ext cx="2759426" cy="1195751"/>
          </a:xfrm>
          <a:prstGeom prst="rect">
            <a:avLst/>
          </a:prstGeom>
        </p:spPr>
      </p:pic>
      <p:pic>
        <p:nvPicPr>
          <p:cNvPr id="6" name="Picture 5">
            <a:extLst>
              <a:ext uri="{FF2B5EF4-FFF2-40B4-BE49-F238E27FC236}">
                <a16:creationId xmlns:a16="http://schemas.microsoft.com/office/drawing/2014/main" id="{8CEBE929-38CA-E14B-B744-0A8F40771374}"/>
              </a:ext>
            </a:extLst>
          </p:cNvPr>
          <p:cNvPicPr>
            <a:picLocks noChangeAspect="1"/>
          </p:cNvPicPr>
          <p:nvPr/>
        </p:nvPicPr>
        <p:blipFill>
          <a:blip r:embed="rId3"/>
          <a:stretch>
            <a:fillRect/>
          </a:stretch>
        </p:blipFill>
        <p:spPr>
          <a:xfrm>
            <a:off x="445613" y="2571750"/>
            <a:ext cx="2508512" cy="1543700"/>
          </a:xfrm>
          <a:prstGeom prst="rect">
            <a:avLst/>
          </a:prstGeom>
        </p:spPr>
      </p:pic>
      <p:pic>
        <p:nvPicPr>
          <p:cNvPr id="7" name="Picture 6">
            <a:extLst>
              <a:ext uri="{FF2B5EF4-FFF2-40B4-BE49-F238E27FC236}">
                <a16:creationId xmlns:a16="http://schemas.microsoft.com/office/drawing/2014/main" id="{02D14088-C8BB-F84A-A05E-302BB9F17B2A}"/>
              </a:ext>
            </a:extLst>
          </p:cNvPr>
          <p:cNvPicPr>
            <a:picLocks noChangeAspect="1"/>
          </p:cNvPicPr>
          <p:nvPr/>
        </p:nvPicPr>
        <p:blipFill>
          <a:blip r:embed="rId4"/>
          <a:stretch>
            <a:fillRect/>
          </a:stretch>
        </p:blipFill>
        <p:spPr>
          <a:xfrm>
            <a:off x="6798362" y="2595125"/>
            <a:ext cx="1554666" cy="1320800"/>
          </a:xfrm>
          <a:prstGeom prst="rect">
            <a:avLst/>
          </a:prstGeom>
        </p:spPr>
      </p:pic>
      <p:sp>
        <p:nvSpPr>
          <p:cNvPr id="8" name="TextBox 7">
            <a:extLst>
              <a:ext uri="{FF2B5EF4-FFF2-40B4-BE49-F238E27FC236}">
                <a16:creationId xmlns:a16="http://schemas.microsoft.com/office/drawing/2014/main" id="{2F5CBD83-4AFE-E943-99C3-A99AF4A07773}"/>
              </a:ext>
            </a:extLst>
          </p:cNvPr>
          <p:cNvSpPr txBox="1"/>
          <p:nvPr/>
        </p:nvSpPr>
        <p:spPr>
          <a:xfrm>
            <a:off x="6477145" y="3915925"/>
            <a:ext cx="2440141" cy="230832"/>
          </a:xfrm>
          <a:prstGeom prst="rect">
            <a:avLst/>
          </a:prstGeom>
          <a:noFill/>
        </p:spPr>
        <p:txBody>
          <a:bodyPr wrap="square" rtlCol="0">
            <a:spAutoFit/>
          </a:bodyPr>
          <a:lstStyle/>
          <a:p>
            <a:r>
              <a:rPr lang="en-US" sz="900" dirty="0"/>
              <a:t>Strategic Account Management Association</a:t>
            </a:r>
          </a:p>
        </p:txBody>
      </p:sp>
      <p:pic>
        <p:nvPicPr>
          <p:cNvPr id="9" name="Picture 8">
            <a:extLst>
              <a:ext uri="{FF2B5EF4-FFF2-40B4-BE49-F238E27FC236}">
                <a16:creationId xmlns:a16="http://schemas.microsoft.com/office/drawing/2014/main" id="{8D40A999-516B-5440-B7A3-6E1E4D81FD83}"/>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23212" r="24852"/>
          <a:stretch/>
        </p:blipFill>
        <p:spPr>
          <a:xfrm>
            <a:off x="753719" y="472910"/>
            <a:ext cx="1892300" cy="1084159"/>
          </a:xfrm>
          <a:prstGeom prst="rect">
            <a:avLst/>
          </a:prstGeom>
        </p:spPr>
      </p:pic>
      <p:pic>
        <p:nvPicPr>
          <p:cNvPr id="11" name="Picture 10">
            <a:extLst>
              <a:ext uri="{FF2B5EF4-FFF2-40B4-BE49-F238E27FC236}">
                <a16:creationId xmlns:a16="http://schemas.microsoft.com/office/drawing/2014/main" id="{8035B46C-D515-854F-987F-98A3C20BF880}"/>
              </a:ext>
            </a:extLst>
          </p:cNvPr>
          <p:cNvPicPr>
            <a:picLocks noChangeAspect="1"/>
          </p:cNvPicPr>
          <p:nvPr/>
        </p:nvPicPr>
        <p:blipFill>
          <a:blip r:embed="rId6"/>
          <a:stretch>
            <a:fillRect/>
          </a:stretch>
        </p:blipFill>
        <p:spPr>
          <a:xfrm>
            <a:off x="3595486" y="3446025"/>
            <a:ext cx="2133600" cy="939800"/>
          </a:xfrm>
          <a:prstGeom prst="rect">
            <a:avLst/>
          </a:prstGeom>
        </p:spPr>
      </p:pic>
      <p:pic>
        <p:nvPicPr>
          <p:cNvPr id="14" name="Picture 13">
            <a:extLst>
              <a:ext uri="{FF2B5EF4-FFF2-40B4-BE49-F238E27FC236}">
                <a16:creationId xmlns:a16="http://schemas.microsoft.com/office/drawing/2014/main" id="{F40D115F-9DD5-814F-B7E8-9FEE67CAFBE0}"/>
              </a:ext>
            </a:extLst>
          </p:cNvPr>
          <p:cNvPicPr>
            <a:picLocks noChangeAspect="1"/>
          </p:cNvPicPr>
          <p:nvPr/>
        </p:nvPicPr>
        <p:blipFill>
          <a:blip r:embed="rId7"/>
          <a:stretch>
            <a:fillRect/>
          </a:stretch>
        </p:blipFill>
        <p:spPr>
          <a:xfrm>
            <a:off x="6477145" y="757675"/>
            <a:ext cx="2197100" cy="927100"/>
          </a:xfrm>
          <a:prstGeom prst="rect">
            <a:avLst/>
          </a:prstGeom>
        </p:spPr>
      </p:pic>
    </p:spTree>
    <p:extLst>
      <p:ext uri="{BB962C8B-B14F-4D97-AF65-F5344CB8AC3E}">
        <p14:creationId xmlns:p14="http://schemas.microsoft.com/office/powerpoint/2010/main" val="2840813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4157" y="237743"/>
            <a:ext cx="519074" cy="210311"/>
          </a:xfrm>
          <a:prstGeom prst="rect">
            <a:avLst/>
          </a:prstGeom>
          <a:blipFill>
            <a:blip r:embed="rId2" cstate="screen">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3" name="object 3"/>
          <p:cNvSpPr/>
          <p:nvPr/>
        </p:nvSpPr>
        <p:spPr>
          <a:xfrm>
            <a:off x="6096" y="517071"/>
            <a:ext cx="9144000" cy="4683579"/>
          </a:xfrm>
          <a:prstGeom prst="rect">
            <a:avLst/>
          </a:prstGeom>
          <a:blipFill>
            <a:blip r:embed="rId3" cstate="screen">
              <a:extLst>
                <a:ext uri="{28A0092B-C50C-407E-A947-70E740481C1C}">
                  <a14:useLocalDpi xmlns:a14="http://schemas.microsoft.com/office/drawing/2010/main"/>
                </a:ext>
              </a:extLst>
            </a:blip>
            <a:stretch>
              <a:fillRect/>
            </a:stretch>
          </a:blipFill>
        </p:spPr>
        <p:txBody>
          <a:bodyPr wrap="square" lIns="0" tIns="0" rIns="0" bIns="0" rtlCol="0"/>
          <a:lstStyle/>
          <a:p>
            <a:endParaRPr dirty="0"/>
          </a:p>
        </p:txBody>
      </p:sp>
      <p:sp>
        <p:nvSpPr>
          <p:cNvPr id="4" name="object 4"/>
          <p:cNvSpPr txBox="1">
            <a:spLocks noGrp="1"/>
          </p:cNvSpPr>
          <p:nvPr>
            <p:ph type="title"/>
          </p:nvPr>
        </p:nvSpPr>
        <p:spPr>
          <a:xfrm>
            <a:off x="1219200" y="121042"/>
            <a:ext cx="7848600" cy="335989"/>
          </a:xfrm>
          <a:prstGeom prst="rect">
            <a:avLst/>
          </a:prstGeom>
        </p:spPr>
        <p:txBody>
          <a:bodyPr vert="horz" wrap="square" lIns="0" tIns="12700" rIns="0" bIns="0" rtlCol="0">
            <a:spAutoFit/>
          </a:bodyPr>
          <a:lstStyle/>
          <a:p>
            <a:pPr marL="5715000">
              <a:lnSpc>
                <a:spcPct val="100000"/>
              </a:lnSpc>
              <a:spcBef>
                <a:spcPts val="100"/>
              </a:spcBef>
            </a:pPr>
            <a:r>
              <a:rPr lang="en-US" dirty="0">
                <a:solidFill>
                  <a:schemeClr val="tx1">
                    <a:lumMod val="65000"/>
                    <a:lumOff val="35000"/>
                  </a:schemeClr>
                </a:solidFill>
              </a:rPr>
              <a:t>Thank you</a:t>
            </a:r>
            <a:endParaRPr dirty="0">
              <a:solidFill>
                <a:schemeClr val="tx1">
                  <a:lumMod val="65000"/>
                  <a:lumOff val="35000"/>
                </a:schemeClr>
              </a:solidFill>
            </a:endParaRPr>
          </a:p>
        </p:txBody>
      </p:sp>
      <p:sp>
        <p:nvSpPr>
          <p:cNvPr id="5" name="Slide Number Placeholder 4">
            <a:extLst>
              <a:ext uri="{FF2B5EF4-FFF2-40B4-BE49-F238E27FC236}">
                <a16:creationId xmlns:a16="http://schemas.microsoft.com/office/drawing/2014/main" id="{F6B13CE9-19D8-E445-88A5-5693927D9EB1}"/>
              </a:ext>
            </a:extLst>
          </p:cNvPr>
          <p:cNvSpPr>
            <a:spLocks noGrp="1"/>
          </p:cNvSpPr>
          <p:nvPr>
            <p:ph type="sldNum" sz="quarter" idx="7"/>
          </p:nvPr>
        </p:nvSpPr>
        <p:spPr/>
        <p:txBody>
          <a:bodyPr/>
          <a:lstStyle/>
          <a:p>
            <a:fld id="{B6F15528-21DE-4FAA-801E-634DDDAF4B2B}" type="slidenum">
              <a:rPr lang="en-US" smtClean="0"/>
              <a:pPr/>
              <a:t>14</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409FC017C7BF40961EF880411E08B5" ma:contentTypeVersion="12" ma:contentTypeDescription="Create a new document." ma:contentTypeScope="" ma:versionID="315ad12d6b81cebeaa223d9f11ebdfe3">
  <xsd:schema xmlns:xsd="http://www.w3.org/2001/XMLSchema" xmlns:xs="http://www.w3.org/2001/XMLSchema" xmlns:p="http://schemas.microsoft.com/office/2006/metadata/properties" xmlns:ns2="5f895480-74b7-4295-beb1-000abdb77711" xmlns:ns3="f9f3b592-2a1e-4fc9-8218-81ad9cd05aa6" targetNamespace="http://schemas.microsoft.com/office/2006/metadata/properties" ma:root="true" ma:fieldsID="14f41900450122de98b785351060c2e7" ns2:_="" ns3:_="">
    <xsd:import namespace="5f895480-74b7-4295-beb1-000abdb77711"/>
    <xsd:import namespace="f9f3b592-2a1e-4fc9-8218-81ad9cd05a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95480-74b7-4295-beb1-000abdb77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f3b592-2a1e-4fc9-8218-81ad9cd05a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51D86CF-82C4-4427-9102-D0E1C5AC3672}">
  <ds:schemaRefs>
    <ds:schemaRef ds:uri="5f895480-74b7-4295-beb1-000abdb77711"/>
    <ds:schemaRef ds:uri="f9f3b592-2a1e-4fc9-8218-81ad9cd05a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78D6310D-F839-4AE3-A449-6E9FFE908541}">
  <ds:schemaRefs>
    <ds:schemaRef ds:uri="http://schemas.microsoft.com/sharepoint/v3/contenttype/forms"/>
  </ds:schemaRefs>
</ds:datastoreItem>
</file>

<file path=customXml/itemProps3.xml><?xml version="1.0" encoding="utf-8"?>
<ds:datastoreItem xmlns:ds="http://schemas.openxmlformats.org/officeDocument/2006/customXml" ds:itemID="{C432CE7E-5CD2-4240-956B-6479B9CC1ACD}">
  <ds:schemaRefs>
    <ds:schemaRef ds:uri="http://schemas.openxmlformats.org/package/2006/metadata/core-properties"/>
    <ds:schemaRef ds:uri="5f895480-74b7-4295-beb1-000abdb77711"/>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purl.org/dc/elements/1.1/"/>
    <ds:schemaRef ds:uri="http://purl.org/dc/dcmitype/"/>
    <ds:schemaRef ds:uri="f9f3b592-2a1e-4fc9-8218-81ad9cd05aa6"/>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61</TotalTime>
  <Words>962</Words>
  <Application>Microsoft Macintosh PowerPoint</Application>
  <PresentationFormat>On-screen Show (16:9)</PresentationFormat>
  <Paragraphs>127</Paragraphs>
  <Slides>14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Franklin Gothic Book</vt:lpstr>
      <vt:lpstr>Lato Light</vt:lpstr>
      <vt:lpstr>Office Theme</vt:lpstr>
      <vt:lpstr>PowerPoint Presentation</vt:lpstr>
      <vt:lpstr>We create impact</vt:lpstr>
      <vt:lpstr>PowerPoint Presentation</vt:lpstr>
      <vt:lpstr>We take the noise, disruption, frustration and complexity of the new economy and bring you a clear, concise and simple path for you to get results.</vt:lpstr>
      <vt:lpstr>PowerPoint Presentation</vt:lpstr>
      <vt:lpstr>PowerPoint Presentation</vt:lpstr>
      <vt:lpstr>Investment for  Performance</vt:lpstr>
      <vt:lpstr>Investment for  Performance  (cont.)</vt:lpstr>
      <vt:lpstr>&amp;Who we are</vt:lpstr>
      <vt:lpstr>Experience is at the core</vt:lpstr>
      <vt:lpstr>&amp;In good company</vt:lpstr>
      <vt:lpstr>PowerPoint Presentation</vt:lpstr>
      <vt:lpstr>Where we serve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Kate Burda</cp:lastModifiedBy>
  <cp:revision>7</cp:revision>
  <cp:lastPrinted>2021-01-20T18:11:30Z</cp:lastPrinted>
  <dcterms:created xsi:type="dcterms:W3CDTF">2020-01-22T01:07:57Z</dcterms:created>
  <dcterms:modified xsi:type="dcterms:W3CDTF">2023-01-16T13:51:57Z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2019-11-03T00:00:00Z</vt:filetime>
  </property>
  <property fmtid="{D5CDD505-2E9C-101B-9397-08002B2CF9AE}" pid="3" name="LastSaved">
    <vt:filetime>2020-01-22T00:00:00Z</vt:filetime>
  </property>
  <property fmtid="{D5CDD505-2E9C-101B-9397-08002B2CF9AE}" pid="4" name="ContentTypeId">
    <vt:lpwstr>0x01010075409FC017C7BF40961EF880411E08B5</vt:lpwstr>
  </property>
</Properties>
</file>