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sldIdLst>
    <p:sldId id="256" r:id="rId5"/>
    <p:sldId id="258" r:id="rId6"/>
    <p:sldId id="276" r:id="rId7"/>
    <p:sldId id="277" r:id="rId8"/>
    <p:sldId id="278" r:id="rId9"/>
    <p:sldId id="279" r:id="rId10"/>
    <p:sldId id="280" r:id="rId11"/>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E96313-A860-9545-BBE4-27ACDD01C99D}" v="330" dt="2024-11-26T05:15:58.43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BBEE9F7C-6D1A-2949-969D-7B462F7CCD63}"/>
    <pc:docChg chg="custSel delSld modSld">
      <pc:chgData name="Kate Burda" userId="44c1ea53-84f5-4c7e-8f48-bfeb434f1f02" providerId="ADAL" clId="{BBEE9F7C-6D1A-2949-969D-7B462F7CCD63}" dt="2024-11-26T04:44:20.840" v="947" actId="20577"/>
      <pc:docMkLst>
        <pc:docMk/>
      </pc:docMkLst>
      <pc:sldChg chg="del">
        <pc:chgData name="Kate Burda" userId="44c1ea53-84f5-4c7e-8f48-bfeb434f1f02" providerId="ADAL" clId="{BBEE9F7C-6D1A-2949-969D-7B462F7CCD63}" dt="2024-11-26T04:34:18.520" v="0" actId="2696"/>
        <pc:sldMkLst>
          <pc:docMk/>
          <pc:sldMk cId="0" sldId="260"/>
        </pc:sldMkLst>
      </pc:sldChg>
      <pc:sldChg chg="del">
        <pc:chgData name="Kate Burda" userId="44c1ea53-84f5-4c7e-8f48-bfeb434f1f02" providerId="ADAL" clId="{BBEE9F7C-6D1A-2949-969D-7B462F7CCD63}" dt="2024-11-26T04:34:18.543" v="1" actId="2696"/>
        <pc:sldMkLst>
          <pc:docMk/>
          <pc:sldMk cId="0" sldId="261"/>
        </pc:sldMkLst>
      </pc:sldChg>
      <pc:sldChg chg="del">
        <pc:chgData name="Kate Burda" userId="44c1ea53-84f5-4c7e-8f48-bfeb434f1f02" providerId="ADAL" clId="{BBEE9F7C-6D1A-2949-969D-7B462F7CCD63}" dt="2024-11-26T04:34:18.594" v="2" actId="2696"/>
        <pc:sldMkLst>
          <pc:docMk/>
          <pc:sldMk cId="0" sldId="262"/>
        </pc:sldMkLst>
      </pc:sldChg>
      <pc:sldChg chg="del">
        <pc:chgData name="Kate Burda" userId="44c1ea53-84f5-4c7e-8f48-bfeb434f1f02" providerId="ADAL" clId="{BBEE9F7C-6D1A-2949-969D-7B462F7CCD63}" dt="2024-11-26T04:34:18.633" v="3" actId="2696"/>
        <pc:sldMkLst>
          <pc:docMk/>
          <pc:sldMk cId="0" sldId="263"/>
        </pc:sldMkLst>
      </pc:sldChg>
      <pc:sldChg chg="del">
        <pc:chgData name="Kate Burda" userId="44c1ea53-84f5-4c7e-8f48-bfeb434f1f02" providerId="ADAL" clId="{BBEE9F7C-6D1A-2949-969D-7B462F7CCD63}" dt="2024-11-26T04:34:18.650" v="4" actId="2696"/>
        <pc:sldMkLst>
          <pc:docMk/>
          <pc:sldMk cId="0" sldId="264"/>
        </pc:sldMkLst>
      </pc:sldChg>
      <pc:sldChg chg="del">
        <pc:chgData name="Kate Burda" userId="44c1ea53-84f5-4c7e-8f48-bfeb434f1f02" providerId="ADAL" clId="{BBEE9F7C-6D1A-2949-969D-7B462F7CCD63}" dt="2024-11-26T04:34:18.674" v="5" actId="2696"/>
        <pc:sldMkLst>
          <pc:docMk/>
          <pc:sldMk cId="0" sldId="265"/>
        </pc:sldMkLst>
      </pc:sldChg>
      <pc:sldChg chg="del">
        <pc:chgData name="Kate Burda" userId="44c1ea53-84f5-4c7e-8f48-bfeb434f1f02" providerId="ADAL" clId="{BBEE9F7C-6D1A-2949-969D-7B462F7CCD63}" dt="2024-11-26T04:34:18.695" v="6" actId="2696"/>
        <pc:sldMkLst>
          <pc:docMk/>
          <pc:sldMk cId="0" sldId="266"/>
        </pc:sldMkLst>
      </pc:sldChg>
      <pc:sldChg chg="del">
        <pc:chgData name="Kate Burda" userId="44c1ea53-84f5-4c7e-8f48-bfeb434f1f02" providerId="ADAL" clId="{BBEE9F7C-6D1A-2949-969D-7B462F7CCD63}" dt="2024-11-26T04:34:18.710" v="7" actId="2696"/>
        <pc:sldMkLst>
          <pc:docMk/>
          <pc:sldMk cId="0" sldId="267"/>
        </pc:sldMkLst>
      </pc:sldChg>
      <pc:sldChg chg="del">
        <pc:chgData name="Kate Burda" userId="44c1ea53-84f5-4c7e-8f48-bfeb434f1f02" providerId="ADAL" clId="{BBEE9F7C-6D1A-2949-969D-7B462F7CCD63}" dt="2024-11-26T04:34:18.755" v="8" actId="2696"/>
        <pc:sldMkLst>
          <pc:docMk/>
          <pc:sldMk cId="0" sldId="268"/>
        </pc:sldMkLst>
      </pc:sldChg>
      <pc:sldChg chg="del">
        <pc:chgData name="Kate Burda" userId="44c1ea53-84f5-4c7e-8f48-bfeb434f1f02" providerId="ADAL" clId="{BBEE9F7C-6D1A-2949-969D-7B462F7CCD63}" dt="2024-11-26T04:34:18.789" v="9" actId="2696"/>
        <pc:sldMkLst>
          <pc:docMk/>
          <pc:sldMk cId="0" sldId="269"/>
        </pc:sldMkLst>
      </pc:sldChg>
      <pc:sldChg chg="del">
        <pc:chgData name="Kate Burda" userId="44c1ea53-84f5-4c7e-8f48-bfeb434f1f02" providerId="ADAL" clId="{BBEE9F7C-6D1A-2949-969D-7B462F7CCD63}" dt="2024-11-26T04:34:18.801" v="10" actId="2696"/>
        <pc:sldMkLst>
          <pc:docMk/>
          <pc:sldMk cId="0" sldId="270"/>
        </pc:sldMkLst>
      </pc:sldChg>
      <pc:sldChg chg="del">
        <pc:chgData name="Kate Burda" userId="44c1ea53-84f5-4c7e-8f48-bfeb434f1f02" providerId="ADAL" clId="{BBEE9F7C-6D1A-2949-969D-7B462F7CCD63}" dt="2024-11-26T04:34:18.830" v="11" actId="2696"/>
        <pc:sldMkLst>
          <pc:docMk/>
          <pc:sldMk cId="0" sldId="271"/>
        </pc:sldMkLst>
      </pc:sldChg>
      <pc:sldChg chg="del">
        <pc:chgData name="Kate Burda" userId="44c1ea53-84f5-4c7e-8f48-bfeb434f1f02" providerId="ADAL" clId="{BBEE9F7C-6D1A-2949-969D-7B462F7CCD63}" dt="2024-11-26T04:34:18.856" v="12" actId="2696"/>
        <pc:sldMkLst>
          <pc:docMk/>
          <pc:sldMk cId="0" sldId="272"/>
        </pc:sldMkLst>
      </pc:sldChg>
      <pc:sldChg chg="del">
        <pc:chgData name="Kate Burda" userId="44c1ea53-84f5-4c7e-8f48-bfeb434f1f02" providerId="ADAL" clId="{BBEE9F7C-6D1A-2949-969D-7B462F7CCD63}" dt="2024-11-26T04:34:20.417" v="13" actId="2696"/>
        <pc:sldMkLst>
          <pc:docMk/>
          <pc:sldMk cId="0" sldId="273"/>
        </pc:sldMkLst>
      </pc:sldChg>
      <pc:sldChg chg="modSp del mod">
        <pc:chgData name="Kate Burda" userId="44c1ea53-84f5-4c7e-8f48-bfeb434f1f02" providerId="ADAL" clId="{BBEE9F7C-6D1A-2949-969D-7B462F7CCD63}" dt="2024-11-26T04:36:30.626" v="205" actId="2696"/>
        <pc:sldMkLst>
          <pc:docMk/>
          <pc:sldMk cId="0" sldId="274"/>
        </pc:sldMkLst>
        <pc:spChg chg="mod">
          <ac:chgData name="Kate Burda" userId="44c1ea53-84f5-4c7e-8f48-bfeb434f1f02" providerId="ADAL" clId="{BBEE9F7C-6D1A-2949-969D-7B462F7CCD63}" dt="2024-11-26T04:34:53.767" v="18" actId="1076"/>
          <ac:spMkLst>
            <pc:docMk/>
            <pc:sldMk cId="0" sldId="274"/>
            <ac:spMk id="2" creationId="{00000000-0000-0000-0000-000000000000}"/>
          </ac:spMkLst>
        </pc:spChg>
        <pc:spChg chg="mod">
          <ac:chgData name="Kate Burda" userId="44c1ea53-84f5-4c7e-8f48-bfeb434f1f02" providerId="ADAL" clId="{BBEE9F7C-6D1A-2949-969D-7B462F7CCD63}" dt="2024-11-26T04:34:31.896" v="14" actId="207"/>
          <ac:spMkLst>
            <pc:docMk/>
            <pc:sldMk cId="0" sldId="274"/>
            <ac:spMk id="6" creationId="{00000000-0000-0000-0000-000000000000}"/>
          </ac:spMkLst>
        </pc:spChg>
        <pc:spChg chg="mod">
          <ac:chgData name="Kate Burda" userId="44c1ea53-84f5-4c7e-8f48-bfeb434f1f02" providerId="ADAL" clId="{BBEE9F7C-6D1A-2949-969D-7B462F7CCD63}" dt="2024-11-26T04:34:53.199" v="17" actId="207"/>
          <ac:spMkLst>
            <pc:docMk/>
            <pc:sldMk cId="0" sldId="274"/>
            <ac:spMk id="7" creationId="{00000000-0000-0000-0000-000000000000}"/>
          </ac:spMkLst>
        </pc:spChg>
        <pc:spChg chg="mod">
          <ac:chgData name="Kate Burda" userId="44c1ea53-84f5-4c7e-8f48-bfeb434f1f02" providerId="ADAL" clId="{BBEE9F7C-6D1A-2949-969D-7B462F7CCD63}" dt="2024-11-26T04:36:24.219" v="204" actId="20577"/>
          <ac:spMkLst>
            <pc:docMk/>
            <pc:sldMk cId="0" sldId="274"/>
            <ac:spMk id="8" creationId="{00000000-0000-0000-0000-000000000000}"/>
          </ac:spMkLst>
        </pc:spChg>
      </pc:sldChg>
      <pc:sldChg chg="del">
        <pc:chgData name="Kate Burda" userId="44c1ea53-84f5-4c7e-8f48-bfeb434f1f02" providerId="ADAL" clId="{BBEE9F7C-6D1A-2949-969D-7B462F7CCD63}" dt="2024-11-26T04:36:42.057" v="206" actId="2696"/>
        <pc:sldMkLst>
          <pc:docMk/>
          <pc:sldMk cId="3026047434" sldId="275"/>
        </pc:sldMkLst>
      </pc:sldChg>
      <pc:sldChg chg="modSp mod">
        <pc:chgData name="Kate Burda" userId="44c1ea53-84f5-4c7e-8f48-bfeb434f1f02" providerId="ADAL" clId="{BBEE9F7C-6D1A-2949-969D-7B462F7CCD63}" dt="2024-11-26T04:37:04.761" v="207" actId="313"/>
        <pc:sldMkLst>
          <pc:docMk/>
          <pc:sldMk cId="1148210647" sldId="276"/>
        </pc:sldMkLst>
        <pc:spChg chg="mod">
          <ac:chgData name="Kate Burda" userId="44c1ea53-84f5-4c7e-8f48-bfeb434f1f02" providerId="ADAL" clId="{BBEE9F7C-6D1A-2949-969D-7B462F7CCD63}" dt="2024-11-26T04:37:04.761" v="207" actId="313"/>
          <ac:spMkLst>
            <pc:docMk/>
            <pc:sldMk cId="1148210647" sldId="276"/>
            <ac:spMk id="3" creationId="{78B77CA0-B7FF-F04F-83B9-54EDF057D99F}"/>
          </ac:spMkLst>
        </pc:spChg>
      </pc:sldChg>
      <pc:sldChg chg="modSp mod">
        <pc:chgData name="Kate Burda" userId="44c1ea53-84f5-4c7e-8f48-bfeb434f1f02" providerId="ADAL" clId="{BBEE9F7C-6D1A-2949-969D-7B462F7CCD63}" dt="2024-11-26T04:44:20.840" v="947" actId="20577"/>
        <pc:sldMkLst>
          <pc:docMk/>
          <pc:sldMk cId="1278593811" sldId="280"/>
        </pc:sldMkLst>
        <pc:spChg chg="mod">
          <ac:chgData name="Kate Burda" userId="44c1ea53-84f5-4c7e-8f48-bfeb434f1f02" providerId="ADAL" clId="{BBEE9F7C-6D1A-2949-969D-7B462F7CCD63}" dt="2024-11-26T04:44:20.840" v="947" actId="20577"/>
          <ac:spMkLst>
            <pc:docMk/>
            <pc:sldMk cId="1278593811" sldId="280"/>
            <ac:spMk id="3" creationId="{C46660F2-A9CA-DE1B-ECAB-D7C6803FF753}"/>
          </ac:spMkLst>
        </pc:spChg>
      </pc:sldChg>
    </pc:docChg>
  </pc:docChgLst>
  <pc:docChgLst>
    <pc:chgData name="Kate Burda" userId="44c1ea53-84f5-4c7e-8f48-bfeb434f1f02" providerId="ADAL" clId="{FCE96313-A860-9545-BBE4-27ACDD01C99D}"/>
    <pc:docChg chg="custSel modSld">
      <pc:chgData name="Kate Burda" userId="44c1ea53-84f5-4c7e-8f48-bfeb434f1f02" providerId="ADAL" clId="{FCE96313-A860-9545-BBE4-27ACDD01C99D}" dt="2024-11-26T05:15:58.434" v="329" actId="20577"/>
      <pc:docMkLst>
        <pc:docMk/>
      </pc:docMkLst>
      <pc:sldChg chg="modSp mod">
        <pc:chgData name="Kate Burda" userId="44c1ea53-84f5-4c7e-8f48-bfeb434f1f02" providerId="ADAL" clId="{FCE96313-A860-9545-BBE4-27ACDD01C99D}" dt="2024-11-26T05:15:58.434" v="329" actId="20577"/>
        <pc:sldMkLst>
          <pc:docMk/>
          <pc:sldMk cId="1278593811" sldId="280"/>
        </pc:sldMkLst>
        <pc:spChg chg="mod">
          <ac:chgData name="Kate Burda" userId="44c1ea53-84f5-4c7e-8f48-bfeb434f1f02" providerId="ADAL" clId="{FCE96313-A860-9545-BBE4-27ACDD01C99D}" dt="2024-11-26T05:15:58.434" v="329" actId="20577"/>
          <ac:spMkLst>
            <pc:docMk/>
            <pc:sldMk cId="1278593811" sldId="280"/>
            <ac:spMk id="3" creationId="{C46660F2-A9CA-DE1B-ECAB-D7C6803FF7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D7DCE-F10C-9045-9A37-DA84CC60E0EF}" type="datetimeFigureOut">
              <a:rPr lang="en-US" smtClean="0"/>
              <a:t>11/25/2024</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9400B-44DD-C84E-9985-3E3D56A0A77C}" type="slidenum">
              <a:rPr lang="en-US" smtClean="0"/>
              <a:t>‹#›</a:t>
            </a:fld>
            <a:endParaRPr lang="en-US"/>
          </a:p>
        </p:txBody>
      </p:sp>
    </p:spTree>
    <p:extLst>
      <p:ext uri="{BB962C8B-B14F-4D97-AF65-F5344CB8AC3E}">
        <p14:creationId xmlns:p14="http://schemas.microsoft.com/office/powerpoint/2010/main" val="84193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09400B-44DD-C84E-9985-3E3D56A0A77C}" type="slidenum">
              <a:rPr lang="en-US" smtClean="0"/>
              <a:t>7</a:t>
            </a:fld>
            <a:endParaRPr lang="en-US"/>
          </a:p>
        </p:txBody>
      </p:sp>
    </p:spTree>
    <p:extLst>
      <p:ext uri="{BB962C8B-B14F-4D97-AF65-F5344CB8AC3E}">
        <p14:creationId xmlns:p14="http://schemas.microsoft.com/office/powerpoint/2010/main" val="3579769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762000" y="315467"/>
            <a:ext cx="5963320" cy="615553"/>
          </a:xfrm>
        </p:spPr>
        <p:txBody>
          <a:bodyPr lIns="0" tIns="0" rIns="0" bIns="0"/>
          <a:lstStyle>
            <a:lvl1pPr algn="ctr">
              <a:defRPr sz="4000" b="0" i="0">
                <a:solidFill>
                  <a:schemeClr val="tx1">
                    <a:lumMod val="75000"/>
                    <a:lumOff val="25000"/>
                  </a:schemeClr>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6" name="bk object 17">
            <a:extLst>
              <a:ext uri="{FF2B5EF4-FFF2-40B4-BE49-F238E27FC236}">
                <a16:creationId xmlns:a16="http://schemas.microsoft.com/office/drawing/2014/main" id="{19B7A283-F89B-9D5C-9743-85FB86AC1836}"/>
              </a:ext>
            </a:extLst>
          </p:cNvPr>
          <p:cNvSpPr/>
          <p:nvPr userDrawn="1"/>
        </p:nvSpPr>
        <p:spPr>
          <a:xfrm>
            <a:off x="13739" y="381000"/>
            <a:ext cx="6765570" cy="8763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a:p>
        </p:txBody>
      </p:sp>
      <p:sp>
        <p:nvSpPr>
          <p:cNvPr id="7" name="bk object 18">
            <a:extLst>
              <a:ext uri="{FF2B5EF4-FFF2-40B4-BE49-F238E27FC236}">
                <a16:creationId xmlns:a16="http://schemas.microsoft.com/office/drawing/2014/main" id="{8B07A104-ABCB-254C-6608-BD9C5ED08A3A}"/>
              </a:ext>
            </a:extLst>
          </p:cNvPr>
          <p:cNvSpPr/>
          <p:nvPr userDrawn="1"/>
        </p:nvSpPr>
        <p:spPr>
          <a:xfrm>
            <a:off x="3626619"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8" name="object 4">
            <a:extLst>
              <a:ext uri="{FF2B5EF4-FFF2-40B4-BE49-F238E27FC236}">
                <a16:creationId xmlns:a16="http://schemas.microsoft.com/office/drawing/2014/main" id="{4151CBCA-7238-96C7-0388-0C620CD163AF}"/>
              </a:ext>
            </a:extLst>
          </p:cNvPr>
          <p:cNvSpPr/>
          <p:nvPr userDrawn="1"/>
        </p:nvSpPr>
        <p:spPr>
          <a:xfrm>
            <a:off x="4348061" y="7497667"/>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7" name="object 2">
            <a:extLst>
              <a:ext uri="{FF2B5EF4-FFF2-40B4-BE49-F238E27FC236}">
                <a16:creationId xmlns:a16="http://schemas.microsoft.com/office/drawing/2014/main" id="{29C46EF0-41CB-016F-D624-A4CC2CBFADF3}"/>
              </a:ext>
            </a:extLst>
          </p:cNvPr>
          <p:cNvSpPr/>
          <p:nvPr userDrawn="1"/>
        </p:nvSpPr>
        <p:spPr>
          <a:xfrm>
            <a:off x="3175"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8" name="object 4">
            <a:extLst>
              <a:ext uri="{FF2B5EF4-FFF2-40B4-BE49-F238E27FC236}">
                <a16:creationId xmlns:a16="http://schemas.microsoft.com/office/drawing/2014/main" id="{6A8D0545-0C4B-D7CF-B7C8-C905BD60EE5D}"/>
              </a:ext>
            </a:extLst>
          </p:cNvPr>
          <p:cNvSpPr/>
          <p:nvPr userDrawn="1"/>
        </p:nvSpPr>
        <p:spPr>
          <a:xfrm>
            <a:off x="152664" y="8305800"/>
            <a:ext cx="1295135" cy="802848"/>
          </a:xfrm>
          <a:prstGeom prst="rect">
            <a:avLst/>
          </a:prstGeom>
          <a:blipFill>
            <a:blip r:embed="rId2" cstate="print"/>
            <a:stretch>
              <a:fillRect t="-65128" b="-43570"/>
            </a:stretch>
          </a:blipFill>
        </p:spPr>
        <p:txBody>
          <a:bodyPr wrap="square" lIns="0" tIns="0" rIns="0" bIns="0" rtlCol="0"/>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49340"/>
            <a:ext cx="5829300" cy="276999"/>
          </a:xfrm>
          <a:prstGeom prst="rect">
            <a:avLst/>
          </a:prstGeom>
        </p:spPr>
        <p:txBody>
          <a:bodyPr wrap="square" lIns="0" tIns="0" rIns="0" bIns="0">
            <a:spAutoFit/>
          </a:bodyPr>
          <a:lstStyle>
            <a:lvl1pPr>
              <a:defRPr sz="1800">
                <a:latin typeface="Franklin Gothic Book" panose="020B0503020102020204" pitchFamily="34" charset="0"/>
              </a:defRPr>
            </a:lvl1pPr>
          </a:lstStyle>
          <a:p>
            <a:endParaRPr/>
          </a:p>
        </p:txBody>
      </p:sp>
      <p:sp>
        <p:nvSpPr>
          <p:cNvPr id="3" name="Holder 3"/>
          <p:cNvSpPr>
            <a:spLocks noGrp="1"/>
          </p:cNvSpPr>
          <p:nvPr>
            <p:ph type="subTitle" idx="4"/>
          </p:nvPr>
        </p:nvSpPr>
        <p:spPr>
          <a:xfrm>
            <a:off x="1028700" y="838200"/>
            <a:ext cx="4800600" cy="184666"/>
          </a:xfrm>
          <a:prstGeom prst="rect">
            <a:avLst/>
          </a:prstGeom>
        </p:spPr>
        <p:txBody>
          <a:bodyPr wrap="square" lIns="0" tIns="0" rIns="0" bIns="0">
            <a:spAutoFit/>
          </a:bodyPr>
          <a:lstStyle>
            <a:lvl1pPr>
              <a:defRPr sz="1200">
                <a:latin typeface="Franklin Gothic Book" panose="020B0503020102020204" pitchFamily="34" charset="0"/>
              </a:defRPr>
            </a:lvl1pPr>
          </a:lstStyle>
          <a:p>
            <a:endParaRPr/>
          </a:p>
        </p:txBody>
      </p:sp>
      <p:sp>
        <p:nvSpPr>
          <p:cNvPr id="4" name="Holder 4"/>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99DCEB93-266C-B4AF-517B-92647B74F9E4}"/>
              </a:ext>
            </a:extLst>
          </p:cNvPr>
          <p:cNvCxnSpPr>
            <a:cxnSpLocks/>
          </p:cNvCxnSpPr>
          <p:nvPr userDrawn="1"/>
        </p:nvCxnSpPr>
        <p:spPr>
          <a:xfrm>
            <a:off x="381000" y="655070"/>
            <a:ext cx="6134100" cy="0"/>
          </a:xfrm>
          <a:prstGeom prst="line">
            <a:avLst/>
          </a:prstGeom>
          <a:ln w="28575">
            <a:solidFill>
              <a:srgbClr val="B5237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2678" y="315467"/>
            <a:ext cx="6592642" cy="307777"/>
          </a:xfrm>
        </p:spPr>
        <p:txBody>
          <a:bodyPr lIns="0" tIns="0" rIns="0" bIns="0"/>
          <a:lstStyle>
            <a:lvl1pPr>
              <a:defRPr sz="2000" b="0" i="0">
                <a:solidFill>
                  <a:schemeClr val="tx1"/>
                </a:solidFill>
                <a:latin typeface="Franklin Gothic Book" panose="020B0503020102020204" pitchFamily="34" charset="0"/>
                <a:cs typeface="Franklin Gothic Book" panose="020B0503020102020204" pitchFamily="34" charset="0"/>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7" name="Holder 7"/>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4" name="Holder 4"/>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2678" y="315467"/>
            <a:ext cx="6592642" cy="307777"/>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57890" y="914400"/>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276999"/>
          </a:xfrm>
          <a:prstGeom prst="rect">
            <a:avLst/>
          </a:prstGeom>
        </p:spPr>
        <p:txBody>
          <a:bodyPr wrap="square" lIns="0" tIns="0" rIns="0" bIns="0">
            <a:spAutoFit/>
          </a:bodyPr>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a:prstGeom prst="rect">
            <a:avLst/>
          </a:prstGeom>
        </p:spPr>
        <p:txBody>
          <a:bodyPr wrap="square" lIns="0" tIns="0" rIns="0" bIns="0">
            <a:spAutoFit/>
          </a:bodyPr>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2" r:id="rId2"/>
    <p:sldLayoutId id="2147483661" r:id="rId3"/>
    <p:sldLayoutId id="2147483663" r:id="rId4"/>
    <p:sldLayoutId id="2147483665" r:id="rId5"/>
  </p:sldLayoutIdLst>
  <p:txStyles>
    <p:titleStyle>
      <a:lvl1pPr>
        <a:defRPr>
          <a:latin typeface="Franklin Gothic Book" panose="020B0503020102020204" pitchFamily="34" charset="0"/>
          <a:ea typeface="+mj-ea"/>
          <a:cs typeface="+mj-cs"/>
        </a:defRPr>
      </a:lvl1pPr>
    </p:titleStyle>
    <p:bodyStyle>
      <a:lvl1pPr marL="0">
        <a:defRPr>
          <a:latin typeface="Franklin Gothic Book" panose="020B0503020102020204" pitchFamily="34"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chess board&#10;&#10;Description automatically generated">
            <a:extLst>
              <a:ext uri="{FF2B5EF4-FFF2-40B4-BE49-F238E27FC236}">
                <a16:creationId xmlns:a16="http://schemas.microsoft.com/office/drawing/2014/main" id="{C8B8C4F0-8E20-7CA0-687E-12041816E86C}"/>
              </a:ext>
            </a:extLst>
          </p:cNvPr>
          <p:cNvPicPr>
            <a:picLocks noChangeAspect="1"/>
          </p:cNvPicPr>
          <p:nvPr/>
        </p:nvPicPr>
        <p:blipFill>
          <a:blip r:embed="rId2">
            <a:alphaModFix amt="70000"/>
          </a:blip>
          <a:stretch>
            <a:fillRect/>
          </a:stretch>
        </p:blipFill>
        <p:spPr>
          <a:xfrm>
            <a:off x="680277" y="2062359"/>
            <a:ext cx="6177723" cy="3905867"/>
          </a:xfrm>
          <a:prstGeom prst="rect">
            <a:avLst/>
          </a:prstGeom>
        </p:spPr>
      </p:pic>
      <p:sp>
        <p:nvSpPr>
          <p:cNvPr id="2" name="object 2"/>
          <p:cNvSpPr txBox="1">
            <a:spLocks noGrp="1"/>
          </p:cNvSpPr>
          <p:nvPr>
            <p:ph type="title"/>
          </p:nvPr>
        </p:nvSpPr>
        <p:spPr>
          <a:xfrm>
            <a:off x="1083945" y="-152400"/>
            <a:ext cx="5545455" cy="1983748"/>
          </a:xfrm>
          <a:prstGeom prst="rect">
            <a:avLst/>
          </a:prstGeom>
        </p:spPr>
        <p:txBody>
          <a:bodyPr vert="horz" wrap="square" lIns="0" tIns="71755" rIns="0" bIns="0" rtlCol="0">
            <a:spAutoFit/>
          </a:bodyPr>
          <a:lstStyle/>
          <a:p>
            <a:pPr marL="12065" marR="5080" indent="-635" algn="ctr">
              <a:lnSpc>
                <a:spcPct val="90300"/>
              </a:lnSpc>
              <a:spcBef>
                <a:spcPts val="565"/>
              </a:spcBef>
            </a:pPr>
            <a:br>
              <a:rPr lang="en-US" sz="4000" spc="-5">
                <a:solidFill>
                  <a:srgbClr val="595959"/>
                </a:solidFill>
                <a:latin typeface="Franklin Gothic Medium"/>
                <a:cs typeface="Franklin Gothic Medium"/>
              </a:rPr>
            </a:br>
            <a:r>
              <a:rPr lang="en-US" sz="4000" spc="-5">
                <a:solidFill>
                  <a:srgbClr val="595959"/>
                </a:solidFill>
                <a:latin typeface="Franklin Gothic Medium"/>
                <a:cs typeface="Franklin Gothic Medium"/>
              </a:rPr>
              <a:t>What Good Looks Like: </a:t>
            </a:r>
            <a:br>
              <a:rPr lang="en-US" sz="4000" spc="-5">
                <a:solidFill>
                  <a:srgbClr val="595959"/>
                </a:solidFill>
                <a:latin typeface="Franklin Gothic Medium"/>
                <a:cs typeface="Franklin Gothic Medium"/>
              </a:rPr>
            </a:br>
            <a:r>
              <a:rPr lang="en-US" sz="1800" spc="-5">
                <a:solidFill>
                  <a:srgbClr val="595959"/>
                </a:solidFill>
                <a:latin typeface="Franklin Gothic Medium"/>
                <a:cs typeface="Franklin Gothic Medium"/>
              </a:rPr>
              <a:t>  </a:t>
            </a:r>
            <a:br>
              <a:rPr lang="en-US" sz="1800" spc="-5">
                <a:solidFill>
                  <a:srgbClr val="595959"/>
                </a:solidFill>
                <a:latin typeface="Franklin Gothic Medium"/>
                <a:cs typeface="Franklin Gothic Medium"/>
              </a:rPr>
            </a:br>
            <a:r>
              <a:rPr lang="en-US" sz="4000" spc="-5">
                <a:solidFill>
                  <a:srgbClr val="B52372"/>
                </a:solidFill>
                <a:latin typeface="Franklin Gothic Medium"/>
                <a:cs typeface="Franklin Gothic Medium"/>
              </a:rPr>
              <a:t>Revenue Strategy</a:t>
            </a:r>
            <a:endParaRPr sz="4000">
              <a:latin typeface="Franklin Gothic Medium"/>
              <a:cs typeface="Franklin Gothic Medium"/>
            </a:endParaRPr>
          </a:p>
        </p:txBody>
      </p:sp>
      <p:sp>
        <p:nvSpPr>
          <p:cNvPr id="3" name="bk object 17">
            <a:extLst>
              <a:ext uri="{FF2B5EF4-FFF2-40B4-BE49-F238E27FC236}">
                <a16:creationId xmlns:a16="http://schemas.microsoft.com/office/drawing/2014/main" id="{6064F050-792B-0458-9FFD-96521676A0C1}"/>
              </a:ext>
            </a:extLst>
          </p:cNvPr>
          <p:cNvSpPr/>
          <p:nvPr/>
        </p:nvSpPr>
        <p:spPr>
          <a:xfrm>
            <a:off x="0" y="0"/>
            <a:ext cx="6803274" cy="9144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a:ln>
            <a:solidFill>
              <a:srgbClr val="B52372"/>
            </a:solidFill>
          </a:ln>
        </p:spPr>
        <p:txBody>
          <a:bodyPr wrap="square" lIns="0" tIns="0" rIns="0" bIns="0" rtlCol="0"/>
          <a:lstStyle/>
          <a:p>
            <a:endParaRPr/>
          </a:p>
        </p:txBody>
      </p:sp>
      <p:sp>
        <p:nvSpPr>
          <p:cNvPr id="5" name="bk object 18">
            <a:extLst>
              <a:ext uri="{FF2B5EF4-FFF2-40B4-BE49-F238E27FC236}">
                <a16:creationId xmlns:a16="http://schemas.microsoft.com/office/drawing/2014/main" id="{7918F084-BE7C-57B5-5323-17059EE7C525}"/>
              </a:ext>
            </a:extLst>
          </p:cNvPr>
          <p:cNvSpPr/>
          <p:nvPr/>
        </p:nvSpPr>
        <p:spPr>
          <a:xfrm>
            <a:off x="3566298"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6" name="TextBox 5">
            <a:extLst>
              <a:ext uri="{FF2B5EF4-FFF2-40B4-BE49-F238E27FC236}">
                <a16:creationId xmlns:a16="http://schemas.microsoft.com/office/drawing/2014/main" id="{094014A2-0020-17FB-DAF3-7E5B94E7F235}"/>
              </a:ext>
            </a:extLst>
          </p:cNvPr>
          <p:cNvSpPr txBox="1"/>
          <p:nvPr/>
        </p:nvSpPr>
        <p:spPr>
          <a:xfrm>
            <a:off x="3749566" y="6326686"/>
            <a:ext cx="3124200" cy="1815882"/>
          </a:xfrm>
          <a:prstGeom prst="rect">
            <a:avLst/>
          </a:prstGeom>
          <a:noFill/>
        </p:spPr>
        <p:txBody>
          <a:bodyPr wrap="square" rtlCol="0">
            <a:spAutoFit/>
          </a:bodyPr>
          <a:lstStyle/>
          <a:p>
            <a:endParaRPr lang="en-US" sz="2800">
              <a:latin typeface="Franklin Gothic Book" panose="020B0503020102020204" pitchFamily="34" charset="0"/>
            </a:endParaRPr>
          </a:p>
          <a:p>
            <a:r>
              <a:rPr lang="en-US" sz="2800">
                <a:latin typeface="Franklin Gothic Book" panose="020B0503020102020204" pitchFamily="34" charset="0"/>
              </a:rPr>
              <a:t>Do Less.</a:t>
            </a:r>
          </a:p>
          <a:p>
            <a:r>
              <a:rPr lang="en-US" sz="2800">
                <a:latin typeface="Franklin Gothic Book" panose="020B0503020102020204" pitchFamily="34" charset="0"/>
              </a:rPr>
              <a:t>Make it mean more</a:t>
            </a:r>
            <a:r>
              <a:rPr lang="en-US" sz="2000">
                <a:latin typeface="Franklin Gothic Book" panose="020B0503020102020204" pitchFamily="34" charset="0"/>
              </a:rPr>
              <a:t>.</a:t>
            </a:r>
          </a:p>
        </p:txBody>
      </p:sp>
      <p:sp>
        <p:nvSpPr>
          <p:cNvPr id="4" name="object 4"/>
          <p:cNvSpPr/>
          <p:nvPr/>
        </p:nvSpPr>
        <p:spPr>
          <a:xfrm>
            <a:off x="4343400" y="7568184"/>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142558" y="-2667000"/>
            <a:ext cx="6408420" cy="13086080"/>
          </a:xfrm>
          <a:prstGeom prst="rect">
            <a:avLst/>
          </a:prstGeom>
        </p:spPr>
        <p:txBody>
          <a:bodyPr vert="horz" wrap="square" lIns="0" tIns="12700" rIns="0" bIns="0" rtlCol="0">
            <a:spAutoFit/>
          </a:bodyPr>
          <a:lstStyle/>
          <a:p>
            <a:pPr marL="12700">
              <a:lnSpc>
                <a:spcPct val="100000"/>
              </a:lnSpc>
              <a:spcBef>
                <a:spcPts val="100"/>
              </a:spcBef>
            </a:pPr>
            <a:r>
              <a:rPr lang="en-US" sz="85700">
                <a:solidFill>
                  <a:srgbClr val="D51067"/>
                </a:solidFill>
                <a:latin typeface="Franklin Gothic Medium"/>
                <a:cs typeface="Franklin Gothic Medium"/>
              </a:rPr>
              <a:t>1</a:t>
            </a:r>
            <a:endParaRPr sz="85700">
              <a:latin typeface="Franklin Gothic Medium"/>
              <a:cs typeface="Franklin Gothic Medium"/>
            </a:endParaRPr>
          </a:p>
        </p:txBody>
      </p:sp>
      <p:sp>
        <p:nvSpPr>
          <p:cNvPr id="7" name="object 7"/>
          <p:cNvSpPr txBox="1"/>
          <p:nvPr/>
        </p:nvSpPr>
        <p:spPr>
          <a:xfrm>
            <a:off x="3403767" y="5592113"/>
            <a:ext cx="3117853" cy="1736373"/>
          </a:xfrm>
          <a:prstGeom prst="rect">
            <a:avLst/>
          </a:prstGeom>
        </p:spPr>
        <p:txBody>
          <a:bodyPr vert="horz" wrap="square" lIns="0" tIns="12700" rIns="0" bIns="0" rtlCol="0">
            <a:spAutoFit/>
          </a:bodyPr>
          <a:lstStyle/>
          <a:p>
            <a:pPr marL="12700">
              <a:lnSpc>
                <a:spcPct val="100000"/>
              </a:lnSpc>
              <a:spcBef>
                <a:spcPts val="100"/>
              </a:spcBef>
            </a:pPr>
            <a:r>
              <a:rPr lang="en-US" sz="2800">
                <a:solidFill>
                  <a:schemeClr val="bg1">
                    <a:lumMod val="95000"/>
                  </a:schemeClr>
                </a:solidFill>
                <a:latin typeface="Franklin Gothic Book" panose="020B0503020102020204" pitchFamily="34" charset="0"/>
                <a:cs typeface="Franklin Gothic Book Italic"/>
              </a:rPr>
              <a:t>Unlocking the Power of Aligning Financial and Commercial Strategy</a:t>
            </a:r>
            <a:endParaRPr lang="en-US" sz="2800">
              <a:solidFill>
                <a:schemeClr val="bg1">
                  <a:lumMod val="95000"/>
                </a:schemeClr>
              </a:solidFill>
              <a:latin typeface="Franklin Gothic Book Italic"/>
              <a:cs typeface="Franklin Gothic Book Italic"/>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FFFFFF"/>
                </a:solidFill>
                <a:latin typeface="Calibri"/>
                <a:cs typeface="Calibri"/>
              </a:rPr>
              <a:t>3</a:t>
            </a:r>
            <a:endParaRPr sz="900">
              <a:latin typeface="Calibri"/>
              <a:cs typeface="Calibri"/>
            </a:endParaRPr>
          </a:p>
        </p:txBody>
      </p:sp>
      <p:sp>
        <p:nvSpPr>
          <p:cNvPr id="11" name="object 8">
            <a:extLst>
              <a:ext uri="{FF2B5EF4-FFF2-40B4-BE49-F238E27FC236}">
                <a16:creationId xmlns:a16="http://schemas.microsoft.com/office/drawing/2014/main" id="{64B30A3D-6792-D2AD-D7DE-1AD6544EE309}"/>
              </a:ext>
            </a:extLst>
          </p:cNvPr>
          <p:cNvSpPr txBox="1"/>
          <p:nvPr/>
        </p:nvSpPr>
        <p:spPr>
          <a:xfrm>
            <a:off x="2131219" y="8710705"/>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lang="en-US" sz="900">
              <a:solidFill>
                <a:schemeClr val="bg1"/>
              </a:solidFill>
              <a:latin typeface="Franklin Gothic Book"/>
              <a:cs typeface="Franklin Gothic Boo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736F-3BB4-F064-1536-8973D144A45A}"/>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78B77CA0-B7FF-F04F-83B9-54EDF057D99F}"/>
              </a:ext>
            </a:extLst>
          </p:cNvPr>
          <p:cNvSpPr>
            <a:spLocks noGrp="1"/>
          </p:cNvSpPr>
          <p:nvPr>
            <p:ph type="subTitle" idx="4"/>
          </p:nvPr>
        </p:nvSpPr>
        <p:spPr>
          <a:xfrm>
            <a:off x="581526" y="576055"/>
            <a:ext cx="5971674" cy="5201424"/>
          </a:xfrm>
        </p:spPr>
        <p:txBody>
          <a:bodyPr/>
          <a:lstStyle/>
          <a:p>
            <a:pPr marL="0" marR="0"/>
            <a:endParaRPr lang="en-US" sz="1600" kern="100">
              <a:effectLst/>
              <a:ea typeface="Aptos" panose="020B0004020202020204" pitchFamily="34" charset="0"/>
              <a:cs typeface="Arial" panose="020B0604020202020204" pitchFamily="34" charset="0"/>
            </a:endParaRPr>
          </a:p>
          <a:p>
            <a:pPr marR="0"/>
            <a:r>
              <a:rPr lang="en-US" sz="1400" b="1" kern="100">
                <a:ea typeface="Aptos" panose="020B0004020202020204" pitchFamily="34" charset="0"/>
                <a:cs typeface="Arial" panose="020B0604020202020204" pitchFamily="34" charset="0"/>
              </a:rPr>
              <a:t>C</a:t>
            </a:r>
            <a:r>
              <a:rPr lang="en-US" sz="1400" kern="100">
                <a:effectLst/>
                <a:ea typeface="Aptos" panose="020B0004020202020204" pitchFamily="34" charset="0"/>
                <a:cs typeface="Arial" panose="020B0604020202020204" pitchFamily="34" charset="0"/>
              </a:rPr>
              <a:t>ompanies leav</a:t>
            </a:r>
            <a:r>
              <a:rPr lang="en-US" sz="1400" kern="100">
                <a:ea typeface="Aptos" panose="020B0004020202020204" pitchFamily="34" charset="0"/>
                <a:cs typeface="Arial" panose="020B0604020202020204" pitchFamily="34" charset="0"/>
              </a:rPr>
              <a:t>e </a:t>
            </a:r>
            <a:r>
              <a:rPr lang="en-US" sz="1400" kern="100">
                <a:effectLst/>
                <a:ea typeface="Aptos" panose="020B0004020202020204" pitchFamily="34" charset="0"/>
                <a:cs typeface="Arial" panose="020B0604020202020204" pitchFamily="34" charset="0"/>
              </a:rPr>
              <a:t>money on the table every day </a:t>
            </a:r>
            <a:r>
              <a:rPr lang="en-US" sz="1400" kern="100">
                <a:ea typeface="Aptos" panose="020B0004020202020204" pitchFamily="34" charset="0"/>
                <a:cs typeface="Arial" panose="020B0604020202020204" pitchFamily="34" charset="0"/>
              </a:rPr>
              <a:t>due to the m</a:t>
            </a:r>
            <a:r>
              <a:rPr lang="en-US" sz="1400" kern="100">
                <a:effectLst/>
                <a:ea typeface="Aptos" panose="020B0004020202020204" pitchFamily="34" charset="0"/>
                <a:cs typeface="Arial" panose="020B0604020202020204" pitchFamily="34" charset="0"/>
              </a:rPr>
              <a:t>isalignment between financial strategy and sales and marketing execution.  And it is draining profits and energy. This hidden yet significant issue can quietly undermine your business's growth and profitability. </a:t>
            </a:r>
          </a:p>
          <a:p>
            <a:pPr marL="0" marR="0"/>
            <a:r>
              <a:rPr lang="en-US" sz="1400" kern="100">
                <a:effectLst/>
                <a:ea typeface="Aptos" panose="020B0004020202020204" pitchFamily="34" charset="0"/>
                <a:cs typeface="Arial" panose="020B0604020202020204" pitchFamily="34" charset="0"/>
              </a:rPr>
              <a:t> </a:t>
            </a:r>
          </a:p>
          <a:p>
            <a:pPr marL="0" marR="0"/>
            <a:r>
              <a:rPr lang="en-US" sz="1400" kern="100">
                <a:effectLst/>
                <a:ea typeface="Aptos" panose="020B0004020202020204" pitchFamily="34" charset="0"/>
                <a:cs typeface="Arial" panose="020B0604020202020204" pitchFamily="34" charset="0"/>
              </a:rPr>
              <a:t>Misalignment isn’t just a minor hiccup—it’s a chronic ailment that can cost U.S. businesses over $1 trillion annually. With only 8% of companies claiming strong alignment between their sales and marketing teams, the issue is more prevalent than you might think. Without alignment, operational efficiencies suffer, revenue opportunities slip through the cracks, and your company’s full potential remains untapped.</a:t>
            </a:r>
          </a:p>
          <a:p>
            <a:pPr marL="0" marR="0"/>
            <a:r>
              <a:rPr lang="en-US" sz="1400" kern="100">
                <a:effectLst/>
                <a:ea typeface="Aptos" panose="020B0004020202020204" pitchFamily="34" charset="0"/>
                <a:cs typeface="Arial" panose="020B0604020202020204" pitchFamily="34" charset="0"/>
              </a:rPr>
              <a:t> </a:t>
            </a:r>
          </a:p>
          <a:p>
            <a:pPr marL="0" marR="0"/>
            <a:r>
              <a:rPr lang="en-US" sz="1400" kern="100">
                <a:effectLst/>
                <a:ea typeface="Aptos" panose="020B0004020202020204" pitchFamily="34" charset="0"/>
                <a:cs typeface="Arial" panose="020B0604020202020204" pitchFamily="34" charset="0"/>
              </a:rPr>
              <a:t>The headstones within th</a:t>
            </a:r>
            <a:r>
              <a:rPr lang="en-US" sz="1400" kern="100">
                <a:ea typeface="Aptos" panose="020B0004020202020204" pitchFamily="34" charset="0"/>
                <a:cs typeface="Arial" panose="020B0604020202020204" pitchFamily="34" charset="0"/>
              </a:rPr>
              <a:t>is cemetery are so well known.   From Blockbuster to Kodak.  Borders Book Store to JCPenney, all have fallen victim to this mission-critical relationship between financial vision to commercial teams effectively carrying it out.  Only 23.2% of sales professionals say their organizations are aligned in strategies from financial vision to strategies and processes. </a:t>
            </a:r>
          </a:p>
          <a:p>
            <a:pPr marL="0" marR="0"/>
            <a:endParaRPr lang="en-US" sz="1400" kern="100">
              <a:ea typeface="Aptos" panose="020B0004020202020204" pitchFamily="34" charset="0"/>
              <a:cs typeface="Arial" panose="020B0604020202020204" pitchFamily="34" charset="0"/>
            </a:endParaRPr>
          </a:p>
          <a:p>
            <a:pPr marL="0" marR="0"/>
            <a:r>
              <a:rPr lang="en-US" sz="1400" b="1" kern="100">
                <a:effectLst/>
                <a:ea typeface="Aptos" panose="020B0004020202020204" pitchFamily="34" charset="0"/>
                <a:cs typeface="Arial" panose="020B0604020202020204" pitchFamily="34" charset="0"/>
              </a:rPr>
              <a:t>Identifying Signs of Misalignment</a:t>
            </a:r>
            <a:endParaRPr lang="en-US" sz="1400" kern="100">
              <a:effectLst/>
              <a:ea typeface="Aptos" panose="020B0004020202020204" pitchFamily="34" charset="0"/>
              <a:cs typeface="Arial" panose="020B0604020202020204" pitchFamily="34" charset="0"/>
            </a:endParaRPr>
          </a:p>
          <a:p>
            <a:pPr marL="0" marR="0"/>
            <a:r>
              <a:rPr lang="en-US" sz="1400" kern="100">
                <a:effectLst/>
                <a:ea typeface="Aptos" panose="020B0004020202020204" pitchFamily="34" charset="0"/>
                <a:cs typeface="Arial" panose="020B0604020202020204" pitchFamily="34" charset="0"/>
              </a:rPr>
              <a:t>Misalignment often lurks beneath the surface, silently sabotaging your organization's success. Identifying the telltale signs is the first step toward rectifying this costly issue. Are your financial and marketing teams speaking the same language?   79% chance they don’t.</a:t>
            </a:r>
            <a:endParaRPr lang="en-US" sz="1600" kern="100">
              <a:effectLst/>
              <a:ea typeface="Aptos" panose="020B00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0FB76AB1-B5E5-F045-AA08-189A861E3184}"/>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pic>
        <p:nvPicPr>
          <p:cNvPr id="6" name="Picture 5" descr="A stack of rocks on a wooden surface&#10;&#10;Description automatically generated">
            <a:extLst>
              <a:ext uri="{FF2B5EF4-FFF2-40B4-BE49-F238E27FC236}">
                <a16:creationId xmlns:a16="http://schemas.microsoft.com/office/drawing/2014/main" id="{710B88C8-9560-CA85-74DE-71B3D7337412}"/>
              </a:ext>
            </a:extLst>
          </p:cNvPr>
          <p:cNvPicPr>
            <a:picLocks noChangeAspect="1"/>
          </p:cNvPicPr>
          <p:nvPr/>
        </p:nvPicPr>
        <p:blipFill>
          <a:blip r:embed="rId2">
            <a:extLst>
              <a:ext uri="{28A0092B-C50C-407E-A947-70E740481C1C}">
                <a14:useLocalDpi xmlns:a14="http://schemas.microsoft.com/office/drawing/2010/main" val="0"/>
              </a:ext>
            </a:extLst>
          </a:blip>
          <a:srcRect l="7542" t="18145" r="4802" b="21223"/>
          <a:stretch/>
        </p:blipFill>
        <p:spPr>
          <a:xfrm>
            <a:off x="475488" y="5861304"/>
            <a:ext cx="6077712" cy="2500098"/>
          </a:xfrm>
          <a:prstGeom prst="rect">
            <a:avLst/>
          </a:prstGeom>
        </p:spPr>
      </p:pic>
    </p:spTree>
    <p:extLst>
      <p:ext uri="{BB962C8B-B14F-4D97-AF65-F5344CB8AC3E}">
        <p14:creationId xmlns:p14="http://schemas.microsoft.com/office/powerpoint/2010/main" val="1148210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6EDC-8C73-5C52-278E-9DDA5071C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23922-8572-52B3-AF2E-EB58A8C22067}"/>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8F0906E9-5B51-1BB5-E30E-DED1A306227E}"/>
              </a:ext>
            </a:extLst>
          </p:cNvPr>
          <p:cNvSpPr>
            <a:spLocks noGrp="1"/>
          </p:cNvSpPr>
          <p:nvPr>
            <p:ph type="subTitle" idx="4"/>
          </p:nvPr>
        </p:nvSpPr>
        <p:spPr>
          <a:xfrm>
            <a:off x="581526" y="782598"/>
            <a:ext cx="5971674" cy="276999"/>
          </a:xfrm>
        </p:spPr>
        <p:txBody>
          <a:bodyPr/>
          <a:lstStyle/>
          <a:p>
            <a:pPr marL="0" marR="0"/>
            <a:r>
              <a:rPr lang="en-US" sz="1800" kern="10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03968F7D-0BEB-DBC6-366E-B02DB986F41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73F906B6-4CC3-F3FF-B40B-2F850812E933}"/>
              </a:ext>
            </a:extLst>
          </p:cNvPr>
          <p:cNvSpPr txBox="1"/>
          <p:nvPr/>
        </p:nvSpPr>
        <p:spPr>
          <a:xfrm>
            <a:off x="443163" y="728543"/>
            <a:ext cx="5971674" cy="7417415"/>
          </a:xfrm>
          <a:prstGeom prst="rect">
            <a:avLst/>
          </a:prstGeom>
          <a:noFill/>
        </p:spPr>
        <p:txBody>
          <a:bodyPr wrap="square" rtlCol="0">
            <a:spAutoFit/>
          </a:bodyPr>
          <a:lstStyle/>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Typical areas of concern include misaligned metrics, where financial teams focus on revenue growth, and sales teams chase new customer acquisition. This divide can lead to neglected upselling opportunities and stunted growth. Inconsistent messaging further compounds the problem, where marketing positions a company as low-cost while finance pushes for higher-margin deals, confusing potential customers and hindering larger contracts. Resource allocation often suffers, too, with financial conservatism stifling marketing's ability to reach new market segments.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By identifying these signs, you can proactively address misalignment and lay the foundation for a more cohesive strategy.</a:t>
            </a: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Misalignment also hampers productivity, with 40% of companies reporting sales and marketing teams measured by different metrics—a significant hindrance to collaboration. This disconnect translates into inefficiencies, wasted resources, and suboptimal decision-making. Furthermore, a lack of alignment can erode customer trust, leading to higher churn rates and missed opportunities to build lasting relationships.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Addressing misalignment is not merely about optimizing processes; it's about unlocking your company's full potential and driving sustainable growth.</a:t>
            </a:r>
          </a:p>
        </p:txBody>
      </p:sp>
      <p:pic>
        <p:nvPicPr>
          <p:cNvPr id="10" name="Picture 9" descr="A person standing in front of a large chalkboard&#10;&#10;Description automatically generated">
            <a:extLst>
              <a:ext uri="{FF2B5EF4-FFF2-40B4-BE49-F238E27FC236}">
                <a16:creationId xmlns:a16="http://schemas.microsoft.com/office/drawing/2014/main" id="{CE4FD083-8897-3215-5425-A9B54A7EF8E0}"/>
              </a:ext>
            </a:extLst>
          </p:cNvPr>
          <p:cNvPicPr>
            <a:picLocks noChangeAspect="1"/>
          </p:cNvPicPr>
          <p:nvPr/>
        </p:nvPicPr>
        <p:blipFill>
          <a:blip r:embed="rId2"/>
          <a:stretch>
            <a:fillRect/>
          </a:stretch>
        </p:blipFill>
        <p:spPr>
          <a:xfrm>
            <a:off x="3726126" y="3322172"/>
            <a:ext cx="3010334" cy="2230156"/>
          </a:xfrm>
          <a:prstGeom prst="rect">
            <a:avLst/>
          </a:prstGeom>
        </p:spPr>
      </p:pic>
      <p:sp>
        <p:nvSpPr>
          <p:cNvPr id="12" name="TextBox 11">
            <a:extLst>
              <a:ext uri="{FF2B5EF4-FFF2-40B4-BE49-F238E27FC236}">
                <a16:creationId xmlns:a16="http://schemas.microsoft.com/office/drawing/2014/main" id="{0F82D82A-9076-23D8-13B9-0A275FD76880}"/>
              </a:ext>
            </a:extLst>
          </p:cNvPr>
          <p:cNvSpPr txBox="1"/>
          <p:nvPr/>
        </p:nvSpPr>
        <p:spPr>
          <a:xfrm>
            <a:off x="443163" y="3237184"/>
            <a:ext cx="3324740" cy="3016210"/>
          </a:xfrm>
          <a:prstGeom prst="rect">
            <a:avLst/>
          </a:prstGeom>
          <a:noFill/>
        </p:spPr>
        <p:txBody>
          <a:bodyPr wrap="square" rtlCol="0">
            <a:spAutoFit/>
          </a:bodyPr>
          <a:lstStyle/>
          <a:p>
            <a:pPr marL="0" marR="0"/>
            <a:r>
              <a:rPr lang="en-US" sz="1400" b="1" kern="100">
                <a:effectLst/>
                <a:latin typeface="Franklin Gothic Book" panose="020B0503020102020204" pitchFamily="34" charset="0"/>
                <a:ea typeface="Aptos" panose="020B0004020202020204" pitchFamily="34" charset="0"/>
                <a:cs typeface="Arial" panose="020B0604020202020204" pitchFamily="34" charset="0"/>
              </a:rPr>
              <a:t>The Negative Impacts of Misalignment</a:t>
            </a:r>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The consequences of misalignment can be dire. Operational inefficiencies, lost revenue opportunities, and diminished customer satisfaction are just the tip of the iceberg. Businesses with poor alignment experience a 4% revenue decline, while those with solid alignment enjoy a 20% annual growth rate. The gap is substantial, underscoring the critical importance of addressing misalignment.</a:t>
            </a:r>
          </a:p>
          <a:p>
            <a:endParaRPr lang="en-US"/>
          </a:p>
          <a:p>
            <a:endParaRPr lang="en-US"/>
          </a:p>
        </p:txBody>
      </p:sp>
    </p:spTree>
    <p:extLst>
      <p:ext uri="{BB962C8B-B14F-4D97-AF65-F5344CB8AC3E}">
        <p14:creationId xmlns:p14="http://schemas.microsoft.com/office/powerpoint/2010/main" val="1520893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B7372-503A-BFD6-1870-5417250B5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94330-C691-5B3B-13B5-DD63B0FAD5FE}"/>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429E892A-4295-994A-155C-148BE8E9B6E6}"/>
              </a:ext>
            </a:extLst>
          </p:cNvPr>
          <p:cNvSpPr>
            <a:spLocks noGrp="1"/>
          </p:cNvSpPr>
          <p:nvPr>
            <p:ph type="subTitle" idx="4"/>
          </p:nvPr>
        </p:nvSpPr>
        <p:spPr>
          <a:xfrm>
            <a:off x="581526" y="782598"/>
            <a:ext cx="5971674" cy="276999"/>
          </a:xfrm>
        </p:spPr>
        <p:txBody>
          <a:bodyPr/>
          <a:lstStyle/>
          <a:p>
            <a:pPr marL="0" marR="0"/>
            <a:r>
              <a:rPr lang="en-US" sz="1800" kern="10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ABEA2D62-E3AC-B4CA-85BC-27172369DFFF}"/>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B09BFC9D-D235-279F-2253-7A0885ED3471}"/>
              </a:ext>
            </a:extLst>
          </p:cNvPr>
          <p:cNvSpPr txBox="1"/>
          <p:nvPr/>
        </p:nvSpPr>
        <p:spPr>
          <a:xfrm>
            <a:off x="443162" y="570097"/>
            <a:ext cx="5971674" cy="4616648"/>
          </a:xfrm>
          <a:prstGeom prst="rect">
            <a:avLst/>
          </a:prstGeom>
          <a:noFill/>
        </p:spPr>
        <p:txBody>
          <a:bodyPr wrap="square" rtlCol="0">
            <a:spAutoFit/>
          </a:bodyPr>
          <a:lstStyle/>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b="1" kern="100">
                <a:effectLst/>
                <a:latin typeface="Franklin Gothic Book" panose="020B0503020102020204" pitchFamily="34" charset="0"/>
                <a:ea typeface="Aptos" panose="020B0004020202020204" pitchFamily="34" charset="0"/>
                <a:cs typeface="Arial" panose="020B0604020202020204" pitchFamily="34" charset="0"/>
              </a:rPr>
              <a:t>Case Study 1: TechInnovate's Misaligned Growth Strategy</a:t>
            </a:r>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TechInnovate, a mid-sized software company, set an ambitious goal to double its revenue within three years. However, the misalignment between their financial and marketing strategies led to significant challenges. Their finance team focused solely on revenue growth, while the sales team's compensation structure prioritized new customer acquisition over expanding existing accounts. This misalignment resulted in neglected upselling opportunities and stunted growth.</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Adding to the complexity, the marketing team continued positioning TechInnovate as a low-cost provider, contradicting the finance team's push for higher-margin enterprise deals. This inconsistency confused potential customers, making it challenging to close larger contracts. Furthermore, a conservative approach to marketing spend limited their ability to reach new market segments and generate qualified leads.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After 18 months, TechInnovate achieved only a 15% revenue increase, falling far short of their goal. By realigning sales compensation, marketing messaging, and resource allocation to support their financial vision, they ultimately achieved a 75% revenue increase by the end of the third year.</a:t>
            </a:r>
          </a:p>
        </p:txBody>
      </p:sp>
      <p:pic>
        <p:nvPicPr>
          <p:cNvPr id="5" name="Picture 4">
            <a:extLst>
              <a:ext uri="{FF2B5EF4-FFF2-40B4-BE49-F238E27FC236}">
                <a16:creationId xmlns:a16="http://schemas.microsoft.com/office/drawing/2014/main" id="{6EC2DCFB-3285-B054-761D-75DDB6D86BB0}"/>
              </a:ext>
            </a:extLst>
          </p:cNvPr>
          <p:cNvPicPr>
            <a:picLocks noChangeAspect="1"/>
          </p:cNvPicPr>
          <p:nvPr/>
        </p:nvPicPr>
        <p:blipFill>
          <a:blip r:embed="rId2"/>
          <a:stretch>
            <a:fillRect/>
          </a:stretch>
        </p:blipFill>
        <p:spPr>
          <a:xfrm>
            <a:off x="1113756" y="5244904"/>
            <a:ext cx="4630487" cy="3207310"/>
          </a:xfrm>
          <a:prstGeom prst="rect">
            <a:avLst/>
          </a:prstGeom>
        </p:spPr>
      </p:pic>
    </p:spTree>
    <p:extLst>
      <p:ext uri="{BB962C8B-B14F-4D97-AF65-F5344CB8AC3E}">
        <p14:creationId xmlns:p14="http://schemas.microsoft.com/office/powerpoint/2010/main" val="779608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6252B-D0BC-21EF-003B-FD92B57A8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C6605-2C37-A624-5A3D-B7A74AAA3C47}"/>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47EEF09E-8B39-B6B1-2838-689030C2BCEE}"/>
              </a:ext>
            </a:extLst>
          </p:cNvPr>
          <p:cNvSpPr>
            <a:spLocks noGrp="1"/>
          </p:cNvSpPr>
          <p:nvPr>
            <p:ph type="subTitle" idx="4"/>
          </p:nvPr>
        </p:nvSpPr>
        <p:spPr>
          <a:xfrm>
            <a:off x="581526" y="782598"/>
            <a:ext cx="5971674" cy="276999"/>
          </a:xfrm>
        </p:spPr>
        <p:txBody>
          <a:bodyPr/>
          <a:lstStyle/>
          <a:p>
            <a:pPr marL="0" marR="0"/>
            <a:r>
              <a:rPr lang="en-US" sz="1800" kern="10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C5C7D4D6-BC5E-1C9C-F04E-6E3C274E3D1B}"/>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A7E4E357-4555-5B4F-4D6C-6F2632EBBF1E}"/>
              </a:ext>
            </a:extLst>
          </p:cNvPr>
          <p:cNvSpPr txBox="1"/>
          <p:nvPr/>
        </p:nvSpPr>
        <p:spPr>
          <a:xfrm>
            <a:off x="443163" y="728543"/>
            <a:ext cx="5971674" cy="7632859"/>
          </a:xfrm>
          <a:prstGeom prst="rect">
            <a:avLst/>
          </a:prstGeom>
          <a:noFill/>
        </p:spPr>
        <p:txBody>
          <a:bodyPr wrap="square" rtlCol="0">
            <a:spAutoFit/>
          </a:bodyPr>
          <a:lstStyle/>
          <a:p>
            <a:pPr marL="0" marR="0"/>
            <a:r>
              <a:rPr lang="en-US" sz="1400" b="1" kern="100">
                <a:effectLst/>
                <a:latin typeface="Franklin Gothic Book" panose="020B0503020102020204" pitchFamily="34" charset="0"/>
                <a:ea typeface="Aptos" panose="020B0004020202020204" pitchFamily="34" charset="0"/>
                <a:cs typeface="Arial" panose="020B0604020202020204" pitchFamily="34" charset="0"/>
              </a:rPr>
              <a:t>Case Study 2: RetailGiant's Omnichannel Disconnect</a:t>
            </a:r>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RetailGiant, a large brick-and-mortar retailer, recognized the need to invest heavily in e-commerce to remain competitive. However, their financial strategy, sales, and marketing execution failed to support this digital transformation. Channel conflict arose as the in-store sales team viewed e-commerce as threatening their commissions discouraging customers from using online services. This disjointed experience hindered the adoption of new digital channels.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Despite the significant investment in e-commerce infrastructure, the marketing team allocated 80% of their budget to traditional advertising, neglecting digital channels crucial for driving online sales. Furthermore, siloed customer data prevented a unified view of customer behavior, impeding personalized marketing efforts.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RetailGiant's e-commerce sales grew at only 5% year-over-year, compared to the industry average of 15%. Realigning sales incentives, marketing focus, and data systems to support their omnichannel vision accelerated e-commerce growth to 25% within 18 months.</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b="1" kern="100">
                <a:effectLst/>
                <a:latin typeface="Franklin Gothic Book" panose="020B0503020102020204" pitchFamily="34" charset="0"/>
                <a:ea typeface="Aptos" panose="020B0004020202020204" pitchFamily="34" charset="0"/>
                <a:cs typeface="Arial" panose="020B0604020202020204" pitchFamily="34" charset="0"/>
              </a:rPr>
              <a:t>Expert Perspectives on Alignment</a:t>
            </a:r>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Industry experts emphasize the importance of alignment in driving business success. Phil Fernandez, CEO of Marketo, asserts, "When sales and marketing teams unite around a single revenue cycle, they dramatically improve marketing return on investment, sales productivity, and, most importantly, top-line growth."</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Lori Wizdo, Principal Analyst at Forrester Research, underscores the significance of shared definitions, stating, "The best-in-class companies are those that have a clear definition of a qualified lead agreed upon by both sales and marketing."</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a:effectLst/>
                <a:latin typeface="Franklin Gothic Book" panose="020B0503020102020204" pitchFamily="34" charset="0"/>
                <a:ea typeface="Aptos" panose="020B0004020202020204" pitchFamily="34" charset="0"/>
                <a:cs typeface="Arial" panose="020B0604020202020204" pitchFamily="34" charset="0"/>
              </a:rPr>
              <a:t>These insights highlight the need for shared goals, open communication, and collaborative strategies to achieve alignment and drive growth.</a:t>
            </a:r>
          </a:p>
          <a:p>
            <a:pPr marL="0" marR="0"/>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68973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1558A-D0CA-6E86-B6A1-E48AC284D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52A0D-8684-0E48-3757-7BDEA55A233F}"/>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C46660F2-A9CA-DE1B-ECAB-D7C6803FF753}"/>
              </a:ext>
            </a:extLst>
          </p:cNvPr>
          <p:cNvSpPr>
            <a:spLocks noGrp="1"/>
          </p:cNvSpPr>
          <p:nvPr>
            <p:ph type="subTitle" idx="4"/>
          </p:nvPr>
        </p:nvSpPr>
        <p:spPr>
          <a:xfrm>
            <a:off x="443163" y="938046"/>
            <a:ext cx="5971674" cy="7386638"/>
          </a:xfrm>
        </p:spPr>
        <p:txBody>
          <a:bodyPr/>
          <a:lstStyle/>
          <a:p>
            <a:pPr marL="0" marR="0"/>
            <a:r>
              <a:rPr lang="en-US" sz="1400" b="1" kern="100">
                <a:effectLst/>
                <a:ea typeface="Aptos" panose="020B0004020202020204" pitchFamily="34" charset="0"/>
                <a:cs typeface="Arial" panose="020B0604020202020204" pitchFamily="34" charset="0"/>
              </a:rPr>
              <a:t>Actionable Steps for Achieving Alignment</a:t>
            </a:r>
            <a:endParaRPr lang="en-US" sz="1400" kern="100">
              <a:effectLst/>
              <a:ea typeface="Aptos" panose="020B0004020202020204" pitchFamily="34" charset="0"/>
              <a:cs typeface="Arial" panose="020B0604020202020204" pitchFamily="34" charset="0"/>
            </a:endParaRPr>
          </a:p>
          <a:p>
            <a:pPr marL="0" marR="0"/>
            <a:r>
              <a:rPr lang="en-US" sz="1400" kern="100">
                <a:effectLst/>
                <a:ea typeface="Aptos" panose="020B0004020202020204" pitchFamily="34" charset="0"/>
                <a:cs typeface="Arial" panose="020B0604020202020204" pitchFamily="34" charset="0"/>
              </a:rPr>
              <a:t>To address misalignment and unlock your company's full potential, consider the following actionable steps:</a:t>
            </a:r>
          </a:p>
          <a:p>
            <a:pPr marL="0" marR="0"/>
            <a:r>
              <a:rPr lang="en-US" sz="1400" kern="100">
                <a:effectLst/>
                <a:ea typeface="Aptos" panose="020B0004020202020204" pitchFamily="34" charset="0"/>
                <a:cs typeface="Arial" panose="020B0604020202020204" pitchFamily="34" charset="0"/>
              </a:rPr>
              <a:t>  </a:t>
            </a:r>
          </a:p>
          <a:p>
            <a:pPr marL="285750" marR="0" lvl="0" indent="-285750">
              <a:buFont typeface="Wingdings" pitchFamily="2" charset="2"/>
              <a:buChar char="F"/>
              <a:tabLst>
                <a:tab pos="457200" algn="l"/>
              </a:tabLst>
            </a:pPr>
            <a:r>
              <a:rPr lang="en-US" sz="1400" kern="100">
                <a:effectLst/>
                <a:ea typeface="Aptos" panose="020B0004020202020204" pitchFamily="34" charset="0"/>
                <a:cs typeface="Arial" panose="020B0604020202020204" pitchFamily="34" charset="0"/>
              </a:rPr>
              <a:t>Initiate a comprehensive review of current financial and commercial strategies to identify areas of misalignment. This assessment will serve as the foundation for alignment efforts.  </a:t>
            </a:r>
          </a:p>
          <a:p>
            <a:pPr marR="0" lvl="0">
              <a:tabLst>
                <a:tab pos="457200" algn="l"/>
              </a:tabLst>
            </a:pP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a:effectLst/>
                <a:ea typeface="Aptos" panose="020B0004020202020204" pitchFamily="34" charset="0"/>
                <a:cs typeface="Arial" panose="020B0604020202020204" pitchFamily="34" charset="0"/>
              </a:rPr>
              <a:t>Apply rigor to the not just the math of </a:t>
            </a:r>
            <a:r>
              <a:rPr lang="en-US" sz="1400" kern="100">
                <a:ea typeface="Aptos" panose="020B0004020202020204" pitchFamily="34" charset="0"/>
                <a:cs typeface="Arial" panose="020B0604020202020204" pitchFamily="34" charset="0"/>
              </a:rPr>
              <a:t>financial growth, but the financial validity of supporting strategies and tactics are feasible and align.</a:t>
            </a: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a:effectLst/>
                <a:ea typeface="Aptos" panose="020B0004020202020204" pitchFamily="34" charset="0"/>
                <a:cs typeface="Arial" panose="020B0604020202020204" pitchFamily="34" charset="0"/>
              </a:rPr>
              <a:t>Develop shared KPIs and metrics that reflect alignment objectives. This collaborative approach enables both teams to measure success collectively.</a:t>
            </a:r>
          </a:p>
          <a:p>
            <a:pPr marR="0" lvl="0">
              <a:tabLst>
                <a:tab pos="457200" algn="l"/>
              </a:tabLst>
            </a:pP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a:effectLst/>
                <a:ea typeface="Aptos" panose="020B0004020202020204" pitchFamily="34" charset="0"/>
                <a:cs typeface="Arial" panose="020B0604020202020204" pitchFamily="34" charset="0"/>
              </a:rPr>
              <a:t>Invest in technology and tools that facilitate collaboration and transparency. Shared CRM systems and integrated analytics platforms can bridge departmental gaps. </a:t>
            </a:r>
            <a:r>
              <a:rPr lang="en-US" sz="1400" kern="100">
                <a:ea typeface="Aptos" panose="020B0004020202020204" pitchFamily="34" charset="0"/>
                <a:cs typeface="Arial" panose="020B0604020202020204" pitchFamily="34" charset="0"/>
              </a:rPr>
              <a:t> We have developed Ignite to be able to do create a revenue roadmap with supporting strategies.</a:t>
            </a: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endParaRPr lang="en-US" sz="1400" kern="10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a:solidFill>
                  <a:srgbClr val="404040"/>
                </a:solidFill>
                <a:cs typeface="Wingdings"/>
              </a:rPr>
              <a:t>Raucously apply rigor in critical thinking and challenge is this something that we have always done or is there a better way to get to the result.  Kill the status quo thinking will win the day.</a:t>
            </a:r>
            <a:endParaRPr lang="en-US" sz="1400">
              <a:solidFill>
                <a:srgbClr val="404040"/>
              </a:solidFill>
              <a:cs typeface="Wingdings"/>
            </a:endParaRPr>
          </a:p>
          <a:p>
            <a:pPr marL="285750" marR="0" lvl="0" indent="-285750">
              <a:buFont typeface="Wingdings" pitchFamily="2" charset="2"/>
              <a:buChar char="F"/>
              <a:tabLst>
                <a:tab pos="457200" algn="l"/>
              </a:tabLst>
            </a:pPr>
            <a:endParaRPr lang="en-US" sz="1400">
              <a:solidFill>
                <a:srgbClr val="404040"/>
              </a:solidFill>
              <a:latin typeface="Wingdings"/>
              <a:cs typeface="Wingdings"/>
            </a:endParaRPr>
          </a:p>
          <a:p>
            <a:pPr marL="285750" marR="0" lvl="0" indent="-285750">
              <a:buFont typeface="Wingdings" pitchFamily="2" charset="2"/>
              <a:buChar char="F"/>
              <a:tabLst>
                <a:tab pos="457200" algn="l"/>
              </a:tabLst>
            </a:pPr>
            <a:r>
              <a:rPr lang="en-US" sz="1400" kern="100">
                <a:latin typeface="Franklin Gothic Book" panose="020B0503020102020204" pitchFamily="34" charset="0"/>
                <a:ea typeface="Aptos" panose="020B0004020202020204" pitchFamily="34" charset="0"/>
                <a:cs typeface="Arial" panose="020B0604020202020204" pitchFamily="34" charset="0"/>
              </a:rPr>
              <a:t>Bring in outside in thinking.   Not only bring it in but give it a seat at the table.   We will be unpacking this </a:t>
            </a:r>
            <a:r>
              <a:rPr lang="en-US" sz="1400" kern="100">
                <a:ea typeface="Aptos" panose="020B0004020202020204" pitchFamily="34" charset="0"/>
                <a:cs typeface="Arial" panose="020B0604020202020204" pitchFamily="34" charset="0"/>
              </a:rPr>
              <a:t>in the next few days of how differentiated thinking wins the day. </a:t>
            </a:r>
            <a:endParaRPr lang="en-US" sz="1400" kern="10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a:effectLst/>
              <a:ea typeface="Aptos" panose="020B0004020202020204" pitchFamily="34" charset="0"/>
              <a:cs typeface="Arial" panose="020B0604020202020204" pitchFamily="34" charset="0"/>
            </a:endParaRPr>
          </a:p>
          <a:p>
            <a:pPr marL="0" marR="0"/>
            <a:r>
              <a:rPr lang="en-US" sz="1400" b="1" kern="100">
                <a:effectLst/>
                <a:ea typeface="Aptos" panose="020B0004020202020204" pitchFamily="34" charset="0"/>
                <a:cs typeface="Arial" panose="020B0604020202020204" pitchFamily="34" charset="0"/>
              </a:rPr>
              <a:t> </a:t>
            </a:r>
            <a:endParaRPr lang="en-US" sz="1400" kern="100">
              <a:effectLst/>
              <a:ea typeface="Aptos" panose="020B0004020202020204" pitchFamily="34" charset="0"/>
              <a:cs typeface="Arial" panose="020B0604020202020204" pitchFamily="34" charset="0"/>
            </a:endParaRPr>
          </a:p>
          <a:p>
            <a:pPr marL="0" marR="0"/>
            <a:r>
              <a:rPr lang="en-US" sz="1400" kern="100">
                <a:effectLst/>
                <a:ea typeface="Aptos" panose="020B0004020202020204" pitchFamily="34" charset="0"/>
                <a:cs typeface="Arial" panose="020B0604020202020204" pitchFamily="34" charset="0"/>
              </a:rPr>
              <a:t>Misalignment between financial strategies and sales/marketing execution can significantly impact a company's performance. Businesses can achieve and maintain alignment by proactively identifying signs of misalignment, implementing open communication, shared metrics, and a culture of collaboration.</a:t>
            </a:r>
          </a:p>
          <a:p>
            <a:pPr marL="0" marR="0"/>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E4AE0C55-A40F-CBBF-4404-C8CD93B9311E}"/>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extLst>
      <p:ext uri="{BB962C8B-B14F-4D97-AF65-F5344CB8AC3E}">
        <p14:creationId xmlns:p14="http://schemas.microsoft.com/office/powerpoint/2010/main" val="1278593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Props1.xml><?xml version="1.0" encoding="utf-8"?>
<ds:datastoreItem xmlns:ds="http://schemas.openxmlformats.org/officeDocument/2006/customXml" ds:itemID="{793DCF2C-866A-458C-8FAB-23D6E27E5401}">
  <ds:schemaRefs>
    <ds:schemaRef ds:uri="http://schemas.microsoft.com/sharepoint/v3/contenttype/forms"/>
  </ds:schemaRefs>
</ds:datastoreItem>
</file>

<file path=customXml/itemProps2.xml><?xml version="1.0" encoding="utf-8"?>
<ds:datastoreItem xmlns:ds="http://schemas.openxmlformats.org/officeDocument/2006/customXml" ds:itemID="{0A36494B-EEBC-48CE-8EBC-31E674DEB2D9}">
  <ds:schemaRefs>
    <ds:schemaRef ds:uri="5f895480-74b7-4295-beb1-000abdb77711"/>
    <ds:schemaRef ds:uri="f9f3b592-2a1e-4fc9-8218-81ad9cd05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191DDA7-2966-4E48-962B-F47B9F55551A}">
  <ds:schemaRefs>
    <ds:schemaRef ds:uri="5f895480-74b7-4295-beb1-000abdb77711"/>
    <ds:schemaRef ds:uri="f9f3b592-2a1e-4fc9-8218-81ad9cd05a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7</Slides>
  <Notes>1</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 What Good Looks Like:     Revenue Strategy</vt:lpstr>
      <vt:lpstr>PowerPoint Presentation</vt:lpstr>
      <vt:lpstr>Unlocking the Power of Aligning Financial and Commercial Strategy</vt:lpstr>
      <vt:lpstr>Unlocking the Power of Aligning Financial and Commercial Strategy</vt:lpstr>
      <vt:lpstr>Unlocking the Power of Aligning Financial and Commercial Strategy</vt:lpstr>
      <vt:lpstr>Unlocking the Power of Aligning Financial and Commercial Strategy</vt:lpstr>
      <vt:lpstr>Unlocking the Power of Aligning Financial and Commercial Strategy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revision>1</cp:revision>
  <dcterms:created xsi:type="dcterms:W3CDTF">2020-10-14T13:18:19Z</dcterms:created>
  <dcterms:modified xsi:type="dcterms:W3CDTF">2024-11-26T05:16:04Z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