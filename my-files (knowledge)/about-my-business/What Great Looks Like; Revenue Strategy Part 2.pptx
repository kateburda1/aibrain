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sldIdLst>
    <p:sldId id="256" r:id="rId5"/>
    <p:sldId id="261" r:id="rId6"/>
    <p:sldId id="276" r:id="rId7"/>
    <p:sldId id="262" r:id="rId8"/>
    <p:sldId id="263" r:id="rId9"/>
    <p:sldId id="264" r:id="rId10"/>
    <p:sldId id="274" r:id="rId11"/>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5" clrIdx="0">
    <p:extLst>
      <p:ext uri="{19B8F6BF-5375-455C-9EA6-DF929625EA0E}">
        <p15:presenceInfo xmlns:p15="http://schemas.microsoft.com/office/powerpoint/2012/main" userId="a6303d31203f19ed" providerId="Windows Live"/>
      </p:ext>
    </p:extLst>
  </p:cmAuthor>
  <p:cmAuthor id="2" name="Kate Burda" initials="KB" lastIdx="1"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6CB64D-03AF-0B49-B79C-8DA440BFBCAE}" v="32" dt="2024-12-11T22:53:58.65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41"/>
  </p:normalViewPr>
  <p:slideViewPr>
    <p:cSldViewPr snapToGrid="0">
      <p:cViewPr>
        <p:scale>
          <a:sx n="90" d="100"/>
          <a:sy n="90" d="100"/>
        </p:scale>
        <p:origin x="2824" y="-29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466CB64D-03AF-0B49-B79C-8DA440BFBCAE}"/>
    <pc:docChg chg="undo custSel delSld modSld">
      <pc:chgData name="Kate Burda" userId="44c1ea53-84f5-4c7e-8f48-bfeb434f1f02" providerId="ADAL" clId="{466CB64D-03AF-0B49-B79C-8DA440BFBCAE}" dt="2024-12-11T23:00:50.333" v="1125" actId="1076"/>
      <pc:docMkLst>
        <pc:docMk/>
      </pc:docMkLst>
      <pc:sldChg chg="addSp delSp modSp mod">
        <pc:chgData name="Kate Burda" userId="44c1ea53-84f5-4c7e-8f48-bfeb434f1f02" providerId="ADAL" clId="{466CB64D-03AF-0B49-B79C-8DA440BFBCAE}" dt="2024-12-11T23:00:50.333" v="1125" actId="1076"/>
        <pc:sldMkLst>
          <pc:docMk/>
          <pc:sldMk cId="0" sldId="256"/>
        </pc:sldMkLst>
        <pc:spChg chg="mod">
          <ac:chgData name="Kate Burda" userId="44c1ea53-84f5-4c7e-8f48-bfeb434f1f02" providerId="ADAL" clId="{466CB64D-03AF-0B49-B79C-8DA440BFBCAE}" dt="2024-12-11T21:28:06.461" v="281" actId="1076"/>
          <ac:spMkLst>
            <pc:docMk/>
            <pc:sldMk cId="0" sldId="256"/>
            <ac:spMk id="2" creationId="{00000000-0000-0000-0000-000000000000}"/>
          </ac:spMkLst>
        </pc:spChg>
        <pc:spChg chg="del">
          <ac:chgData name="Kate Burda" userId="44c1ea53-84f5-4c7e-8f48-bfeb434f1f02" providerId="ADAL" clId="{466CB64D-03AF-0B49-B79C-8DA440BFBCAE}" dt="2024-12-11T22:01:47.304" v="307" actId="478"/>
          <ac:spMkLst>
            <pc:docMk/>
            <pc:sldMk cId="0" sldId="256"/>
            <ac:spMk id="3" creationId="{6064F050-792B-0458-9FFD-96521676A0C1}"/>
          </ac:spMkLst>
        </pc:spChg>
        <pc:spChg chg="add mod">
          <ac:chgData name="Kate Burda" userId="44c1ea53-84f5-4c7e-8f48-bfeb434f1f02" providerId="ADAL" clId="{466CB64D-03AF-0B49-B79C-8DA440BFBCAE}" dt="2024-12-11T23:00:50.333" v="1125" actId="1076"/>
          <ac:spMkLst>
            <pc:docMk/>
            <pc:sldMk cId="0" sldId="256"/>
            <ac:spMk id="9" creationId="{3174505B-C8D9-B96B-5264-F5F8433A57DA}"/>
          </ac:spMkLst>
        </pc:spChg>
        <pc:picChg chg="del">
          <ac:chgData name="Kate Burda" userId="44c1ea53-84f5-4c7e-8f48-bfeb434f1f02" providerId="ADAL" clId="{466CB64D-03AF-0B49-B79C-8DA440BFBCAE}" dt="2024-12-11T21:28:08.370" v="282" actId="478"/>
          <ac:picMkLst>
            <pc:docMk/>
            <pc:sldMk cId="0" sldId="256"/>
            <ac:picMk id="7" creationId="{C8B8C4F0-8E20-7CA0-687E-12041816E86C}"/>
          </ac:picMkLst>
        </pc:picChg>
        <pc:picChg chg="add mod">
          <ac:chgData name="Kate Burda" userId="44c1ea53-84f5-4c7e-8f48-bfeb434f1f02" providerId="ADAL" clId="{466CB64D-03AF-0B49-B79C-8DA440BFBCAE}" dt="2024-12-11T22:02:24.560" v="312" actId="1076"/>
          <ac:picMkLst>
            <pc:docMk/>
            <pc:sldMk cId="0" sldId="256"/>
            <ac:picMk id="10" creationId="{BCB65568-7D16-BB88-5813-CA4E0779BE77}"/>
          </ac:picMkLst>
        </pc:picChg>
      </pc:sldChg>
      <pc:sldChg chg="modSp del mod">
        <pc:chgData name="Kate Burda" userId="44c1ea53-84f5-4c7e-8f48-bfeb434f1f02" providerId="ADAL" clId="{466CB64D-03AF-0B49-B79C-8DA440BFBCAE}" dt="2024-12-11T22:02:26.514" v="313" actId="2696"/>
        <pc:sldMkLst>
          <pc:docMk/>
          <pc:sldMk cId="0" sldId="260"/>
        </pc:sldMkLst>
        <pc:spChg chg="mod">
          <ac:chgData name="Kate Burda" userId="44c1ea53-84f5-4c7e-8f48-bfeb434f1f02" providerId="ADAL" clId="{466CB64D-03AF-0B49-B79C-8DA440BFBCAE}" dt="2024-12-11T21:21:53.451" v="276" actId="1076"/>
          <ac:spMkLst>
            <pc:docMk/>
            <pc:sldMk cId="0" sldId="260"/>
            <ac:spMk id="6" creationId="{00000000-0000-0000-0000-000000000000}"/>
          </ac:spMkLst>
        </pc:spChg>
      </pc:sldChg>
      <pc:sldChg chg="addSp delSp modSp mod">
        <pc:chgData name="Kate Burda" userId="44c1ea53-84f5-4c7e-8f48-bfeb434f1f02" providerId="ADAL" clId="{466CB64D-03AF-0B49-B79C-8DA440BFBCAE}" dt="2024-12-11T22:44:00.202" v="831" actId="1076"/>
        <pc:sldMkLst>
          <pc:docMk/>
          <pc:sldMk cId="0" sldId="261"/>
        </pc:sldMkLst>
        <pc:spChg chg="mod">
          <ac:chgData name="Kate Burda" userId="44c1ea53-84f5-4c7e-8f48-bfeb434f1f02" providerId="ADAL" clId="{466CB64D-03AF-0B49-B79C-8DA440BFBCAE}" dt="2024-12-11T22:03:07.374" v="359" actId="20577"/>
          <ac:spMkLst>
            <pc:docMk/>
            <pc:sldMk cId="0" sldId="261"/>
            <ac:spMk id="2" creationId="{00000000-0000-0000-0000-000000000000}"/>
          </ac:spMkLst>
        </pc:spChg>
        <pc:spChg chg="mod">
          <ac:chgData name="Kate Burda" userId="44c1ea53-84f5-4c7e-8f48-bfeb434f1f02" providerId="ADAL" clId="{466CB64D-03AF-0B49-B79C-8DA440BFBCAE}" dt="2024-12-11T22:43:51.891" v="830" actId="20577"/>
          <ac:spMkLst>
            <pc:docMk/>
            <pc:sldMk cId="0" sldId="261"/>
            <ac:spMk id="6" creationId="{00000000-0000-0000-0000-000000000000}"/>
          </ac:spMkLst>
        </pc:spChg>
        <pc:spChg chg="add del mod">
          <ac:chgData name="Kate Burda" userId="44c1ea53-84f5-4c7e-8f48-bfeb434f1f02" providerId="ADAL" clId="{466CB64D-03AF-0B49-B79C-8DA440BFBCAE}" dt="2024-12-11T22:39:34.902" v="783" actId="478"/>
          <ac:spMkLst>
            <pc:docMk/>
            <pc:sldMk cId="0" sldId="261"/>
            <ac:spMk id="7" creationId="{00000000-0000-0000-0000-000000000000}"/>
          </ac:spMkLst>
        </pc:spChg>
        <pc:spChg chg="add mod">
          <ac:chgData name="Kate Burda" userId="44c1ea53-84f5-4c7e-8f48-bfeb434f1f02" providerId="ADAL" clId="{466CB64D-03AF-0B49-B79C-8DA440BFBCAE}" dt="2024-12-11T22:44:00.202" v="831" actId="1076"/>
          <ac:spMkLst>
            <pc:docMk/>
            <pc:sldMk cId="0" sldId="261"/>
            <ac:spMk id="8" creationId="{C375207C-F387-4B01-3DB2-D2411EDC35D9}"/>
          </ac:spMkLst>
        </pc:spChg>
      </pc:sldChg>
      <pc:sldChg chg="addSp delSp modSp mod">
        <pc:chgData name="Kate Burda" userId="44c1ea53-84f5-4c7e-8f48-bfeb434f1f02" providerId="ADAL" clId="{466CB64D-03AF-0B49-B79C-8DA440BFBCAE}" dt="2024-12-11T22:44:38.437" v="833" actId="1076"/>
        <pc:sldMkLst>
          <pc:docMk/>
          <pc:sldMk cId="0" sldId="262"/>
        </pc:sldMkLst>
        <pc:spChg chg="mod">
          <ac:chgData name="Kate Burda" userId="44c1ea53-84f5-4c7e-8f48-bfeb434f1f02" providerId="ADAL" clId="{466CB64D-03AF-0B49-B79C-8DA440BFBCAE}" dt="2024-12-11T22:44:24.417" v="832" actId="14100"/>
          <ac:spMkLst>
            <pc:docMk/>
            <pc:sldMk cId="0" sldId="262"/>
            <ac:spMk id="4" creationId="{00000000-0000-0000-0000-000000000000}"/>
          </ac:spMkLst>
        </pc:spChg>
        <pc:spChg chg="del">
          <ac:chgData name="Kate Burda" userId="44c1ea53-84f5-4c7e-8f48-bfeb434f1f02" providerId="ADAL" clId="{466CB64D-03AF-0B49-B79C-8DA440BFBCAE}" dt="2024-12-11T22:17:35.683" v="572" actId="478"/>
          <ac:spMkLst>
            <pc:docMk/>
            <pc:sldMk cId="0" sldId="262"/>
            <ac:spMk id="5" creationId="{00000000-0000-0000-0000-000000000000}"/>
          </ac:spMkLst>
        </pc:spChg>
        <pc:spChg chg="add mod">
          <ac:chgData name="Kate Burda" userId="44c1ea53-84f5-4c7e-8f48-bfeb434f1f02" providerId="ADAL" clId="{466CB64D-03AF-0B49-B79C-8DA440BFBCAE}" dt="2024-12-11T22:44:38.437" v="833" actId="1076"/>
          <ac:spMkLst>
            <pc:docMk/>
            <pc:sldMk cId="0" sldId="262"/>
            <ac:spMk id="6" creationId="{EA684409-C582-18B1-C237-572F01930FA2}"/>
          </ac:spMkLst>
        </pc:spChg>
        <pc:spChg chg="del mod">
          <ac:chgData name="Kate Burda" userId="44c1ea53-84f5-4c7e-8f48-bfeb434f1f02" providerId="ADAL" clId="{466CB64D-03AF-0B49-B79C-8DA440BFBCAE}" dt="2024-12-11T22:10:45.883" v="472" actId="478"/>
          <ac:spMkLst>
            <pc:docMk/>
            <pc:sldMk cId="0" sldId="262"/>
            <ac:spMk id="7" creationId="{00000000-0000-0000-0000-000000000000}"/>
          </ac:spMkLst>
        </pc:spChg>
        <pc:spChg chg="del">
          <ac:chgData name="Kate Burda" userId="44c1ea53-84f5-4c7e-8f48-bfeb434f1f02" providerId="ADAL" clId="{466CB64D-03AF-0B49-B79C-8DA440BFBCAE}" dt="2024-12-11T22:17:39.353" v="573" actId="478"/>
          <ac:spMkLst>
            <pc:docMk/>
            <pc:sldMk cId="0" sldId="262"/>
            <ac:spMk id="8" creationId="{00000000-0000-0000-0000-000000000000}"/>
          </ac:spMkLst>
        </pc:spChg>
        <pc:spChg chg="del mod">
          <ac:chgData name="Kate Burda" userId="44c1ea53-84f5-4c7e-8f48-bfeb434f1f02" providerId="ADAL" clId="{466CB64D-03AF-0B49-B79C-8DA440BFBCAE}" dt="2024-12-11T22:10:56.378" v="475"/>
          <ac:spMkLst>
            <pc:docMk/>
            <pc:sldMk cId="0" sldId="262"/>
            <ac:spMk id="9" creationId="{F7520F9E-A56B-D188-545A-AB2A8C978FA2}"/>
          </ac:spMkLst>
        </pc:spChg>
        <pc:spChg chg="add del">
          <ac:chgData name="Kate Burda" userId="44c1ea53-84f5-4c7e-8f48-bfeb434f1f02" providerId="ADAL" clId="{466CB64D-03AF-0B49-B79C-8DA440BFBCAE}" dt="2024-12-11T22:19:34.896" v="584" actId="478"/>
          <ac:spMkLst>
            <pc:docMk/>
            <pc:sldMk cId="0" sldId="262"/>
            <ac:spMk id="12" creationId="{DA2BDFDF-66DC-C258-F37B-641D4C0126F5}"/>
          </ac:spMkLst>
        </pc:spChg>
        <pc:spChg chg="add del mod">
          <ac:chgData name="Kate Burda" userId="44c1ea53-84f5-4c7e-8f48-bfeb434f1f02" providerId="ADAL" clId="{466CB64D-03AF-0B49-B79C-8DA440BFBCAE}" dt="2024-12-11T22:37:58.622" v="761" actId="478"/>
          <ac:spMkLst>
            <pc:docMk/>
            <pc:sldMk cId="0" sldId="262"/>
            <ac:spMk id="13" creationId="{B226433D-77D3-4C34-3C7A-F6764AD89397}"/>
          </ac:spMkLst>
        </pc:spChg>
        <pc:spChg chg="add del mod">
          <ac:chgData name="Kate Burda" userId="44c1ea53-84f5-4c7e-8f48-bfeb434f1f02" providerId="ADAL" clId="{466CB64D-03AF-0B49-B79C-8DA440BFBCAE}" dt="2024-12-11T22:25:18.446" v="637" actId="21"/>
          <ac:spMkLst>
            <pc:docMk/>
            <pc:sldMk cId="0" sldId="262"/>
            <ac:spMk id="14" creationId="{5A6D6F15-FD46-FD7D-AF64-818E6353B464}"/>
          </ac:spMkLst>
        </pc:spChg>
        <pc:spChg chg="add mod">
          <ac:chgData name="Kate Burda" userId="44c1ea53-84f5-4c7e-8f48-bfeb434f1f02" providerId="ADAL" clId="{466CB64D-03AF-0B49-B79C-8DA440BFBCAE}" dt="2024-12-11T22:38:51.205" v="773" actId="1076"/>
          <ac:spMkLst>
            <pc:docMk/>
            <pc:sldMk cId="0" sldId="262"/>
            <ac:spMk id="17" creationId="{A1261154-5C59-EA0D-E73F-D8610A91C373}"/>
          </ac:spMkLst>
        </pc:spChg>
        <pc:spChg chg="add mod">
          <ac:chgData name="Kate Burda" userId="44c1ea53-84f5-4c7e-8f48-bfeb434f1f02" providerId="ADAL" clId="{466CB64D-03AF-0B49-B79C-8DA440BFBCAE}" dt="2024-12-11T22:39:06.355" v="776" actId="1076"/>
          <ac:spMkLst>
            <pc:docMk/>
            <pc:sldMk cId="0" sldId="262"/>
            <ac:spMk id="18" creationId="{F7CADA8A-66B4-2C47-3B0E-ECE35532F125}"/>
          </ac:spMkLst>
        </pc:spChg>
        <pc:picChg chg="add mod modCrop">
          <ac:chgData name="Kate Burda" userId="44c1ea53-84f5-4c7e-8f48-bfeb434f1f02" providerId="ADAL" clId="{466CB64D-03AF-0B49-B79C-8DA440BFBCAE}" dt="2024-12-11T22:39:01.308" v="775" actId="14100"/>
          <ac:picMkLst>
            <pc:docMk/>
            <pc:sldMk cId="0" sldId="262"/>
            <ac:picMk id="16" creationId="{01B7E315-5D44-3226-30DD-2F138924669D}"/>
          </ac:picMkLst>
        </pc:picChg>
      </pc:sldChg>
      <pc:sldChg chg="addSp delSp modSp mod">
        <pc:chgData name="Kate Burda" userId="44c1ea53-84f5-4c7e-8f48-bfeb434f1f02" providerId="ADAL" clId="{466CB64D-03AF-0B49-B79C-8DA440BFBCAE}" dt="2024-12-11T22:44:48.400" v="835" actId="20577"/>
        <pc:sldMkLst>
          <pc:docMk/>
          <pc:sldMk cId="0" sldId="263"/>
        </pc:sldMkLst>
        <pc:spChg chg="mod">
          <ac:chgData name="Kate Burda" userId="44c1ea53-84f5-4c7e-8f48-bfeb434f1f02" providerId="ADAL" clId="{466CB64D-03AF-0B49-B79C-8DA440BFBCAE}" dt="2024-12-11T22:44:48.400" v="835" actId="20577"/>
          <ac:spMkLst>
            <pc:docMk/>
            <pc:sldMk cId="0" sldId="263"/>
            <ac:spMk id="3" creationId="{00000000-0000-0000-0000-000000000000}"/>
          </ac:spMkLst>
        </pc:spChg>
        <pc:spChg chg="del mod">
          <ac:chgData name="Kate Burda" userId="44c1ea53-84f5-4c7e-8f48-bfeb434f1f02" providerId="ADAL" clId="{466CB64D-03AF-0B49-B79C-8DA440BFBCAE}" dt="2024-12-11T22:21:46.324" v="608" actId="478"/>
          <ac:spMkLst>
            <pc:docMk/>
            <pc:sldMk cId="0" sldId="263"/>
            <ac:spMk id="4" creationId="{00000000-0000-0000-0000-000000000000}"/>
          </ac:spMkLst>
        </pc:spChg>
        <pc:spChg chg="add mod">
          <ac:chgData name="Kate Burda" userId="44c1ea53-84f5-4c7e-8f48-bfeb434f1f02" providerId="ADAL" clId="{466CB64D-03AF-0B49-B79C-8DA440BFBCAE}" dt="2024-12-11T22:29:58.183" v="690" actId="14100"/>
          <ac:spMkLst>
            <pc:docMk/>
            <pc:sldMk cId="0" sldId="263"/>
            <ac:spMk id="5" creationId="{2D407133-561A-6A9F-FBA4-6C4A886577CF}"/>
          </ac:spMkLst>
        </pc:spChg>
        <pc:spChg chg="mod">
          <ac:chgData name="Kate Burda" userId="44c1ea53-84f5-4c7e-8f48-bfeb434f1f02" providerId="ADAL" clId="{466CB64D-03AF-0B49-B79C-8DA440BFBCAE}" dt="2024-12-11T22:37:53.129" v="760" actId="1076"/>
          <ac:spMkLst>
            <pc:docMk/>
            <pc:sldMk cId="0" sldId="263"/>
            <ac:spMk id="6" creationId="{00000000-0000-0000-0000-000000000000}"/>
          </ac:spMkLst>
        </pc:spChg>
        <pc:spChg chg="del">
          <ac:chgData name="Kate Burda" userId="44c1ea53-84f5-4c7e-8f48-bfeb434f1f02" providerId="ADAL" clId="{466CB64D-03AF-0B49-B79C-8DA440BFBCAE}" dt="2024-12-11T22:20:59.724" v="599" actId="478"/>
          <ac:spMkLst>
            <pc:docMk/>
            <pc:sldMk cId="0" sldId="263"/>
            <ac:spMk id="7" creationId="{00000000-0000-0000-0000-000000000000}"/>
          </ac:spMkLst>
        </pc:spChg>
        <pc:spChg chg="del">
          <ac:chgData name="Kate Burda" userId="44c1ea53-84f5-4c7e-8f48-bfeb434f1f02" providerId="ADAL" clId="{466CB64D-03AF-0B49-B79C-8DA440BFBCAE}" dt="2024-12-11T22:20:50.469" v="596" actId="478"/>
          <ac:spMkLst>
            <pc:docMk/>
            <pc:sldMk cId="0" sldId="263"/>
            <ac:spMk id="8" creationId="{D985B8DC-64E3-CE35-683C-B7B582E9117F}"/>
          </ac:spMkLst>
        </pc:spChg>
        <pc:spChg chg="add del mod">
          <ac:chgData name="Kate Burda" userId="44c1ea53-84f5-4c7e-8f48-bfeb434f1f02" providerId="ADAL" clId="{466CB64D-03AF-0B49-B79C-8DA440BFBCAE}" dt="2024-12-11T22:35:33.339" v="731" actId="478"/>
          <ac:spMkLst>
            <pc:docMk/>
            <pc:sldMk cId="0" sldId="263"/>
            <ac:spMk id="10" creationId="{7FC4569C-97D9-21F9-9808-A381B0C4CC1B}"/>
          </ac:spMkLst>
        </pc:spChg>
        <pc:spChg chg="add del mod">
          <ac:chgData name="Kate Burda" userId="44c1ea53-84f5-4c7e-8f48-bfeb434f1f02" providerId="ADAL" clId="{466CB64D-03AF-0B49-B79C-8DA440BFBCAE}" dt="2024-12-11T22:35:25.271" v="728" actId="478"/>
          <ac:spMkLst>
            <pc:docMk/>
            <pc:sldMk cId="0" sldId="263"/>
            <ac:spMk id="11" creationId="{93DAE357-9B64-2459-6110-811AD3F88160}"/>
          </ac:spMkLst>
        </pc:spChg>
        <pc:spChg chg="add mod">
          <ac:chgData name="Kate Burda" userId="44c1ea53-84f5-4c7e-8f48-bfeb434f1f02" providerId="ADAL" clId="{466CB64D-03AF-0B49-B79C-8DA440BFBCAE}" dt="2024-12-11T22:37:49.245" v="759" actId="1076"/>
          <ac:spMkLst>
            <pc:docMk/>
            <pc:sldMk cId="0" sldId="263"/>
            <ac:spMk id="12" creationId="{51CFD117-D70D-C7B5-1472-B680CD3A7BD2}"/>
          </ac:spMkLst>
        </pc:spChg>
        <pc:spChg chg="add mod">
          <ac:chgData name="Kate Burda" userId="44c1ea53-84f5-4c7e-8f48-bfeb434f1f02" providerId="ADAL" clId="{466CB64D-03AF-0B49-B79C-8DA440BFBCAE}" dt="2024-12-11T22:37:29.637" v="756" actId="167"/>
          <ac:spMkLst>
            <pc:docMk/>
            <pc:sldMk cId="0" sldId="263"/>
            <ac:spMk id="13" creationId="{5BA2FB0B-C559-9E5D-2FF3-B9EFF5BE7C74}"/>
          </ac:spMkLst>
        </pc:spChg>
      </pc:sldChg>
      <pc:sldChg chg="addSp delSp modSp mod">
        <pc:chgData name="Kate Burda" userId="44c1ea53-84f5-4c7e-8f48-bfeb434f1f02" providerId="ADAL" clId="{466CB64D-03AF-0B49-B79C-8DA440BFBCAE}" dt="2024-12-11T22:57:55.159" v="1124" actId="1076"/>
        <pc:sldMkLst>
          <pc:docMk/>
          <pc:sldMk cId="0" sldId="264"/>
        </pc:sldMkLst>
        <pc:spChg chg="add mod">
          <ac:chgData name="Kate Burda" userId="44c1ea53-84f5-4c7e-8f48-bfeb434f1f02" providerId="ADAL" clId="{466CB64D-03AF-0B49-B79C-8DA440BFBCAE}" dt="2024-12-11T22:30:02.825" v="691"/>
          <ac:spMkLst>
            <pc:docMk/>
            <pc:sldMk cId="0" sldId="264"/>
            <ac:spMk id="4" creationId="{DAA322CF-FD32-173B-B743-4BF04C7FF640}"/>
          </ac:spMkLst>
        </pc:spChg>
        <pc:spChg chg="mod">
          <ac:chgData name="Kate Burda" userId="44c1ea53-84f5-4c7e-8f48-bfeb434f1f02" providerId="ADAL" clId="{466CB64D-03AF-0B49-B79C-8DA440BFBCAE}" dt="2024-12-11T22:57:55.159" v="1124" actId="1076"/>
          <ac:spMkLst>
            <pc:docMk/>
            <pc:sldMk cId="0" sldId="264"/>
            <ac:spMk id="5" creationId="{00000000-0000-0000-0000-000000000000}"/>
          </ac:spMkLst>
        </pc:spChg>
        <pc:spChg chg="del mod">
          <ac:chgData name="Kate Burda" userId="44c1ea53-84f5-4c7e-8f48-bfeb434f1f02" providerId="ADAL" clId="{466CB64D-03AF-0B49-B79C-8DA440BFBCAE}" dt="2024-12-11T22:29:40.136" v="687" actId="478"/>
          <ac:spMkLst>
            <pc:docMk/>
            <pc:sldMk cId="0" sldId="264"/>
            <ac:spMk id="6" creationId="{00000000-0000-0000-0000-000000000000}"/>
          </ac:spMkLst>
        </pc:spChg>
        <pc:spChg chg="del">
          <ac:chgData name="Kate Burda" userId="44c1ea53-84f5-4c7e-8f48-bfeb434f1f02" providerId="ADAL" clId="{466CB64D-03AF-0B49-B79C-8DA440BFBCAE}" dt="2024-12-11T22:29:42.794" v="688" actId="478"/>
          <ac:spMkLst>
            <pc:docMk/>
            <pc:sldMk cId="0" sldId="264"/>
            <ac:spMk id="7" creationId="{00000000-0000-0000-0000-000000000000}"/>
          </ac:spMkLst>
        </pc:spChg>
        <pc:spChg chg="del mod">
          <ac:chgData name="Kate Burda" userId="44c1ea53-84f5-4c7e-8f48-bfeb434f1f02" providerId="ADAL" clId="{466CB64D-03AF-0B49-B79C-8DA440BFBCAE}" dt="2024-12-11T22:30:13.070" v="693"/>
          <ac:spMkLst>
            <pc:docMk/>
            <pc:sldMk cId="0" sldId="264"/>
            <ac:spMk id="8" creationId="{C14898EE-8AF1-0667-54B2-602401EF1E63}"/>
          </ac:spMkLst>
        </pc:spChg>
        <pc:spChg chg="add mod">
          <ac:chgData name="Kate Burda" userId="44c1ea53-84f5-4c7e-8f48-bfeb434f1f02" providerId="ADAL" clId="{466CB64D-03AF-0B49-B79C-8DA440BFBCAE}" dt="2024-12-11T22:57:45.729" v="1122" actId="20577"/>
          <ac:spMkLst>
            <pc:docMk/>
            <pc:sldMk cId="0" sldId="264"/>
            <ac:spMk id="10" creationId="{88A7D0CC-F0DA-C813-3C45-07A9B72BFE4D}"/>
          </ac:spMkLst>
        </pc:spChg>
        <pc:picChg chg="add del mod">
          <ac:chgData name="Kate Burda" userId="44c1ea53-84f5-4c7e-8f48-bfeb434f1f02" providerId="ADAL" clId="{466CB64D-03AF-0B49-B79C-8DA440BFBCAE}" dt="2024-12-11T22:46:59.214" v="844" actId="478"/>
          <ac:picMkLst>
            <pc:docMk/>
            <pc:sldMk cId="0" sldId="264"/>
            <ac:picMk id="12" creationId="{AFE01741-A02D-9BC5-8413-1327621B4355}"/>
          </ac:picMkLst>
        </pc:picChg>
        <pc:picChg chg="add del mod">
          <ac:chgData name="Kate Burda" userId="44c1ea53-84f5-4c7e-8f48-bfeb434f1f02" providerId="ADAL" clId="{466CB64D-03AF-0B49-B79C-8DA440BFBCAE}" dt="2024-12-11T22:51:44.105" v="849" actId="478"/>
          <ac:picMkLst>
            <pc:docMk/>
            <pc:sldMk cId="0" sldId="264"/>
            <ac:picMk id="14" creationId="{50241D1D-C10F-3FE5-69CD-7CAD6647AC3E}"/>
          </ac:picMkLst>
        </pc:picChg>
        <pc:picChg chg="add mod modCrop">
          <ac:chgData name="Kate Burda" userId="44c1ea53-84f5-4c7e-8f48-bfeb434f1f02" providerId="ADAL" clId="{466CB64D-03AF-0B49-B79C-8DA440BFBCAE}" dt="2024-12-11T22:57:49.994" v="1123" actId="1076"/>
          <ac:picMkLst>
            <pc:docMk/>
            <pc:sldMk cId="0" sldId="264"/>
            <ac:picMk id="16" creationId="{D48A0CB3-5ED5-8F21-CBC8-03F4381102A0}"/>
          </ac:picMkLst>
        </pc:picChg>
      </pc:sldChg>
      <pc:sldChg chg="modSp del mod">
        <pc:chgData name="Kate Burda" userId="44c1ea53-84f5-4c7e-8f48-bfeb434f1f02" providerId="ADAL" clId="{466CB64D-03AF-0B49-B79C-8DA440BFBCAE}" dt="2024-12-11T21:20:56.861" v="171" actId="2696"/>
        <pc:sldMkLst>
          <pc:docMk/>
          <pc:sldMk cId="3026047434" sldId="275"/>
        </pc:sldMkLst>
        <pc:spChg chg="mod">
          <ac:chgData name="Kate Burda" userId="44c1ea53-84f5-4c7e-8f48-bfeb434f1f02" providerId="ADAL" clId="{466CB64D-03AF-0B49-B79C-8DA440BFBCAE}" dt="2024-12-11T21:20:31.124" v="170" actId="20577"/>
          <ac:spMkLst>
            <pc:docMk/>
            <pc:sldMk cId="3026047434" sldId="275"/>
            <ac:spMk id="11" creationId="{131CEDC2-582B-F34C-89E0-4879822A143F}"/>
          </ac:spMkLst>
        </pc:spChg>
      </pc:sldChg>
      <pc:sldChg chg="addSp delSp modSp mod">
        <pc:chgData name="Kate Burda" userId="44c1ea53-84f5-4c7e-8f48-bfeb434f1f02" providerId="ADAL" clId="{466CB64D-03AF-0B49-B79C-8DA440BFBCAE}" dt="2024-12-11T22:42:20.569" v="821" actId="1076"/>
        <pc:sldMkLst>
          <pc:docMk/>
          <pc:sldMk cId="1734470453" sldId="276"/>
        </pc:sldMkLst>
        <pc:spChg chg="mod">
          <ac:chgData name="Kate Burda" userId="44c1ea53-84f5-4c7e-8f48-bfeb434f1f02" providerId="ADAL" clId="{466CB64D-03AF-0B49-B79C-8DA440BFBCAE}" dt="2024-12-11T22:07:01.986" v="396"/>
          <ac:spMkLst>
            <pc:docMk/>
            <pc:sldMk cId="1734470453" sldId="276"/>
            <ac:spMk id="2" creationId="{BFB48109-9308-9822-0CF7-C59DB56262B4}"/>
          </ac:spMkLst>
        </pc:spChg>
        <pc:spChg chg="mod">
          <ac:chgData name="Kate Burda" userId="44c1ea53-84f5-4c7e-8f48-bfeb434f1f02" providerId="ADAL" clId="{466CB64D-03AF-0B49-B79C-8DA440BFBCAE}" dt="2024-12-11T22:16:42.456" v="556" actId="20577"/>
          <ac:spMkLst>
            <pc:docMk/>
            <pc:sldMk cId="1734470453" sldId="276"/>
            <ac:spMk id="6" creationId="{A431383D-8BB0-E549-DA7A-AAF5C7A116F8}"/>
          </ac:spMkLst>
        </pc:spChg>
        <pc:spChg chg="del">
          <ac:chgData name="Kate Burda" userId="44c1ea53-84f5-4c7e-8f48-bfeb434f1f02" providerId="ADAL" clId="{466CB64D-03AF-0B49-B79C-8DA440BFBCAE}" dt="2024-12-11T22:07:51.771" v="399" actId="478"/>
          <ac:spMkLst>
            <pc:docMk/>
            <pc:sldMk cId="1734470453" sldId="276"/>
            <ac:spMk id="7" creationId="{CB005BE7-DA35-4D8C-38CC-9CAC6C169AB1}"/>
          </ac:spMkLst>
        </pc:spChg>
        <pc:spChg chg="add mod">
          <ac:chgData name="Kate Burda" userId="44c1ea53-84f5-4c7e-8f48-bfeb434f1f02" providerId="ADAL" clId="{466CB64D-03AF-0B49-B79C-8DA440BFBCAE}" dt="2024-12-11T22:42:20.569" v="821" actId="1076"/>
          <ac:spMkLst>
            <pc:docMk/>
            <pc:sldMk cId="1734470453" sldId="276"/>
            <ac:spMk id="10" creationId="{B8D7FC53-4081-2E9B-40CD-4FEFC3F185F0}"/>
          </ac:spMkLst>
        </pc:spChg>
        <pc:spChg chg="add del mod">
          <ac:chgData name="Kate Burda" userId="44c1ea53-84f5-4c7e-8f48-bfeb434f1f02" providerId="ADAL" clId="{466CB64D-03AF-0B49-B79C-8DA440BFBCAE}" dt="2024-12-11T22:41:45.790" v="816" actId="478"/>
          <ac:spMkLst>
            <pc:docMk/>
            <pc:sldMk cId="1734470453" sldId="276"/>
            <ac:spMk id="11" creationId="{C6507A26-A186-D9D2-F145-8CE95E3F2FBA}"/>
          </ac:spMkLst>
        </pc:spChg>
        <pc:spChg chg="add mod">
          <ac:chgData name="Kate Burda" userId="44c1ea53-84f5-4c7e-8f48-bfeb434f1f02" providerId="ADAL" clId="{466CB64D-03AF-0B49-B79C-8DA440BFBCAE}" dt="2024-12-11T22:42:01.846" v="820" actId="14100"/>
          <ac:spMkLst>
            <pc:docMk/>
            <pc:sldMk cId="1734470453" sldId="276"/>
            <ac:spMk id="12" creationId="{B1C5FDF4-183B-4736-B93F-B5A28183F406}"/>
          </ac:spMkLst>
        </pc:spChg>
        <pc:picChg chg="add mod">
          <ac:chgData name="Kate Burda" userId="44c1ea53-84f5-4c7e-8f48-bfeb434f1f02" providerId="ADAL" clId="{466CB64D-03AF-0B49-B79C-8DA440BFBCAE}" dt="2024-12-11T22:15:03.585" v="520" actId="1076"/>
          <ac:picMkLst>
            <pc:docMk/>
            <pc:sldMk cId="1734470453" sldId="276"/>
            <ac:picMk id="9" creationId="{17A79C1E-64C5-3E8B-F3FC-24BA7CA14E8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BE469-6945-3749-8E13-99D742080493}" type="datetimeFigureOut">
              <a:rPr lang="en-US" smtClean="0"/>
              <a:t>12/11/24</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B672F-1691-0F4F-BF34-B3F22D1CA420}" type="slidenum">
              <a:rPr lang="en-US" smtClean="0"/>
              <a:t>‹#›</a:t>
            </a:fld>
            <a:endParaRPr lang="en-US"/>
          </a:p>
        </p:txBody>
      </p:sp>
    </p:spTree>
    <p:extLst>
      <p:ext uri="{BB962C8B-B14F-4D97-AF65-F5344CB8AC3E}">
        <p14:creationId xmlns:p14="http://schemas.microsoft.com/office/powerpoint/2010/main" val="275073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BB672F-1691-0F4F-BF34-B3F22D1CA420}" type="slidenum">
              <a:rPr lang="en-US" smtClean="0"/>
              <a:t>6</a:t>
            </a:fld>
            <a:endParaRPr lang="en-US"/>
          </a:p>
        </p:txBody>
      </p:sp>
    </p:spTree>
    <p:extLst>
      <p:ext uri="{BB962C8B-B14F-4D97-AF65-F5344CB8AC3E}">
        <p14:creationId xmlns:p14="http://schemas.microsoft.com/office/powerpoint/2010/main" val="36018315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a:xfrm>
            <a:off x="762000" y="315467"/>
            <a:ext cx="5963320" cy="615553"/>
          </a:xfrm>
        </p:spPr>
        <p:txBody>
          <a:bodyPr lIns="0" tIns="0" rIns="0" bIns="0"/>
          <a:lstStyle>
            <a:lvl1pPr algn="ctr">
              <a:defRPr sz="4000" b="0" i="0">
                <a:solidFill>
                  <a:schemeClr val="tx1">
                    <a:lumMod val="75000"/>
                    <a:lumOff val="25000"/>
                  </a:schemeClr>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6" name="bk object 17">
            <a:extLst>
              <a:ext uri="{FF2B5EF4-FFF2-40B4-BE49-F238E27FC236}">
                <a16:creationId xmlns:a16="http://schemas.microsoft.com/office/drawing/2014/main" id="{19B7A283-F89B-9D5C-9743-85FB86AC1836}"/>
              </a:ext>
            </a:extLst>
          </p:cNvPr>
          <p:cNvSpPr/>
          <p:nvPr userDrawn="1"/>
        </p:nvSpPr>
        <p:spPr>
          <a:xfrm>
            <a:off x="13739" y="381000"/>
            <a:ext cx="6765570" cy="876300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p:spPr>
        <p:txBody>
          <a:bodyPr wrap="square" lIns="0" tIns="0" rIns="0" bIns="0" rtlCol="0"/>
          <a:lstStyle/>
          <a:p>
            <a:endParaRPr/>
          </a:p>
        </p:txBody>
      </p:sp>
      <p:sp>
        <p:nvSpPr>
          <p:cNvPr id="7" name="bk object 18">
            <a:extLst>
              <a:ext uri="{FF2B5EF4-FFF2-40B4-BE49-F238E27FC236}">
                <a16:creationId xmlns:a16="http://schemas.microsoft.com/office/drawing/2014/main" id="{8B07A104-ABCB-254C-6608-BD9C5ED08A3A}"/>
              </a:ext>
            </a:extLst>
          </p:cNvPr>
          <p:cNvSpPr/>
          <p:nvPr userDrawn="1"/>
        </p:nvSpPr>
        <p:spPr>
          <a:xfrm>
            <a:off x="3626619"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8" name="object 4">
            <a:extLst>
              <a:ext uri="{FF2B5EF4-FFF2-40B4-BE49-F238E27FC236}">
                <a16:creationId xmlns:a16="http://schemas.microsoft.com/office/drawing/2014/main" id="{4151CBCA-7238-96C7-0388-0C620CD163AF}"/>
              </a:ext>
            </a:extLst>
          </p:cNvPr>
          <p:cNvSpPr/>
          <p:nvPr userDrawn="1"/>
        </p:nvSpPr>
        <p:spPr>
          <a:xfrm>
            <a:off x="4348061" y="7497667"/>
            <a:ext cx="1757992" cy="157581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12/11/24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7" name="object 2">
            <a:extLst>
              <a:ext uri="{FF2B5EF4-FFF2-40B4-BE49-F238E27FC236}">
                <a16:creationId xmlns:a16="http://schemas.microsoft.com/office/drawing/2014/main" id="{29C46EF0-41CB-016F-D624-A4CC2CBFADF3}"/>
              </a:ext>
            </a:extLst>
          </p:cNvPr>
          <p:cNvSpPr/>
          <p:nvPr userDrawn="1"/>
        </p:nvSpPr>
        <p:spPr>
          <a:xfrm>
            <a:off x="3175"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8" name="object 4">
            <a:extLst>
              <a:ext uri="{FF2B5EF4-FFF2-40B4-BE49-F238E27FC236}">
                <a16:creationId xmlns:a16="http://schemas.microsoft.com/office/drawing/2014/main" id="{6A8D0545-0C4B-D7CF-B7C8-C905BD60EE5D}"/>
              </a:ext>
            </a:extLst>
          </p:cNvPr>
          <p:cNvSpPr/>
          <p:nvPr userDrawn="1"/>
        </p:nvSpPr>
        <p:spPr>
          <a:xfrm>
            <a:off x="152664" y="8305800"/>
            <a:ext cx="1295135" cy="802848"/>
          </a:xfrm>
          <a:prstGeom prst="rect">
            <a:avLst/>
          </a:prstGeom>
          <a:blipFill>
            <a:blip r:embed="rId2" cstate="print"/>
            <a:stretch>
              <a:fillRect t="-65128" b="-43570"/>
            </a:stretch>
          </a:blipFill>
        </p:spPr>
        <p:txBody>
          <a:bodyPr wrap="square" lIns="0" tIns="0" rIns="0" bIns="0" rtlCol="0"/>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49340"/>
            <a:ext cx="5829300" cy="276999"/>
          </a:xfrm>
          <a:prstGeom prst="rect">
            <a:avLst/>
          </a:prstGeom>
        </p:spPr>
        <p:txBody>
          <a:bodyPr wrap="square" lIns="0" tIns="0" rIns="0" bIns="0">
            <a:spAutoFit/>
          </a:bodyPr>
          <a:lstStyle>
            <a:lvl1pPr>
              <a:defRPr sz="1800">
                <a:latin typeface="Franklin Gothic Book" panose="020B0503020102020204" pitchFamily="34" charset="0"/>
              </a:defRPr>
            </a:lvl1pPr>
          </a:lstStyle>
          <a:p>
            <a:endParaRPr/>
          </a:p>
        </p:txBody>
      </p:sp>
      <p:sp>
        <p:nvSpPr>
          <p:cNvPr id="3" name="Holder 3"/>
          <p:cNvSpPr>
            <a:spLocks noGrp="1"/>
          </p:cNvSpPr>
          <p:nvPr>
            <p:ph type="subTitle" idx="4"/>
          </p:nvPr>
        </p:nvSpPr>
        <p:spPr>
          <a:xfrm>
            <a:off x="1028700" y="838200"/>
            <a:ext cx="4800600" cy="184666"/>
          </a:xfrm>
          <a:prstGeom prst="rect">
            <a:avLst/>
          </a:prstGeom>
        </p:spPr>
        <p:txBody>
          <a:bodyPr wrap="square" lIns="0" tIns="0" rIns="0" bIns="0">
            <a:spAutoFit/>
          </a:bodyPr>
          <a:lstStyle>
            <a:lvl1pPr>
              <a:defRPr sz="1200">
                <a:latin typeface="Franklin Gothic Book" panose="020B0503020102020204" pitchFamily="34" charset="0"/>
              </a:defRPr>
            </a:lvl1pPr>
          </a:lstStyle>
          <a:p>
            <a:endParaRPr/>
          </a:p>
        </p:txBody>
      </p:sp>
      <p:sp>
        <p:nvSpPr>
          <p:cNvPr id="4" name="Holder 4"/>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99DCEB93-266C-B4AF-517B-92647B74F9E4}"/>
              </a:ext>
            </a:extLst>
          </p:cNvPr>
          <p:cNvCxnSpPr>
            <a:cxnSpLocks/>
          </p:cNvCxnSpPr>
          <p:nvPr userDrawn="1"/>
        </p:nvCxnSpPr>
        <p:spPr>
          <a:xfrm>
            <a:off x="381000" y="655070"/>
            <a:ext cx="6134100" cy="0"/>
          </a:xfrm>
          <a:prstGeom prst="line">
            <a:avLst/>
          </a:prstGeom>
          <a:ln w="28575">
            <a:solidFill>
              <a:srgbClr val="B5237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2678" y="315467"/>
            <a:ext cx="6592642" cy="307777"/>
          </a:xfrm>
        </p:spPr>
        <p:txBody>
          <a:bodyPr lIns="0" tIns="0" rIns="0" bIns="0"/>
          <a:lstStyle>
            <a:lvl1pPr>
              <a:defRPr sz="2000" b="0" i="0">
                <a:solidFill>
                  <a:schemeClr val="tx1"/>
                </a:solidFill>
                <a:latin typeface="Franklin Gothic Book" panose="020B0503020102020204" pitchFamily="34" charset="0"/>
                <a:cs typeface="Franklin Gothic Book" panose="020B0503020102020204" pitchFamily="34" charset="0"/>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7" name="Holder 7"/>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4" name="Holder 4"/>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2678" y="315467"/>
            <a:ext cx="6592642" cy="307777"/>
          </a:xfrm>
          <a:prstGeom prst="rect">
            <a:avLst/>
          </a:prstGeom>
        </p:spPr>
        <p:txBody>
          <a:bodyPr wrap="square" lIns="0" tIns="0" rIns="0" bIns="0">
            <a:spAutoFit/>
          </a:bodyPr>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357890" y="914400"/>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276999"/>
          </a:xfrm>
          <a:prstGeom prst="rect">
            <a:avLst/>
          </a:prstGeom>
        </p:spPr>
        <p:txBody>
          <a:bodyPr wrap="square" lIns="0" tIns="0" rIns="0" bIns="0">
            <a:spAutoFit/>
          </a:bodyPr>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a:prstGeom prst="rect">
            <a:avLst/>
          </a:prstGeom>
        </p:spPr>
        <p:txBody>
          <a:bodyPr wrap="square" lIns="0" tIns="0" rIns="0" bIns="0">
            <a:spAutoFit/>
          </a:bodyPr>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2" r:id="rId2"/>
    <p:sldLayoutId id="2147483661" r:id="rId3"/>
    <p:sldLayoutId id="2147483663" r:id="rId4"/>
    <p:sldLayoutId id="2147483665" r:id="rId5"/>
  </p:sldLayoutIdLst>
  <p:txStyles>
    <p:titleStyle>
      <a:lvl1pPr>
        <a:defRPr>
          <a:latin typeface="Franklin Gothic Book" panose="020B0503020102020204" pitchFamily="34" charset="0"/>
          <a:ea typeface="+mj-ea"/>
          <a:cs typeface="+mj-cs"/>
        </a:defRPr>
      </a:lvl1pPr>
    </p:titleStyle>
    <p:bodyStyle>
      <a:lvl1pPr marL="0">
        <a:defRPr>
          <a:latin typeface="Franklin Gothic Book" panose="020B0503020102020204" pitchFamily="34"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hyperlink" Target="mailto:kate@kateburda.com"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726" y="151596"/>
            <a:ext cx="6574674" cy="1180451"/>
          </a:xfrm>
          <a:prstGeom prst="rect">
            <a:avLst/>
          </a:prstGeom>
        </p:spPr>
        <p:txBody>
          <a:bodyPr vert="horz" wrap="square" lIns="0" tIns="71755" rIns="0" bIns="0" rtlCol="0">
            <a:spAutoFit/>
          </a:bodyPr>
          <a:lstStyle/>
          <a:p>
            <a:pPr marL="12065" marR="5080" indent="-635" algn="ctr">
              <a:lnSpc>
                <a:spcPct val="90300"/>
              </a:lnSpc>
              <a:spcBef>
                <a:spcPts val="565"/>
              </a:spcBef>
            </a:pPr>
            <a:r>
              <a:rPr lang="en-US" sz="4000" spc="-5" dirty="0">
                <a:solidFill>
                  <a:srgbClr val="595959"/>
                </a:solidFill>
                <a:latin typeface="Franklin Gothic Medium"/>
                <a:cs typeface="Franklin Gothic Medium"/>
              </a:rPr>
              <a:t>What Good Looks Like: </a:t>
            </a:r>
            <a:br>
              <a:rPr lang="en-US" sz="4000" spc="-5" dirty="0">
                <a:solidFill>
                  <a:srgbClr val="595959"/>
                </a:solidFill>
                <a:latin typeface="Franklin Gothic Medium"/>
                <a:cs typeface="Franklin Gothic Medium"/>
              </a:rPr>
            </a:br>
            <a:r>
              <a:rPr lang="en-US" sz="1800" spc="-5" dirty="0">
                <a:solidFill>
                  <a:srgbClr val="595959"/>
                </a:solidFill>
                <a:latin typeface="Franklin Gothic Medium"/>
                <a:cs typeface="Franklin Gothic Medium"/>
              </a:rPr>
              <a:t> </a:t>
            </a:r>
            <a:r>
              <a:rPr lang="en-US" sz="4000" spc="-5" dirty="0">
                <a:solidFill>
                  <a:srgbClr val="B52372"/>
                </a:solidFill>
                <a:latin typeface="Franklin Gothic Medium"/>
                <a:cs typeface="Franklin Gothic Medium"/>
              </a:rPr>
              <a:t>Revenue Strategy</a:t>
            </a:r>
            <a:endParaRPr sz="4000" dirty="0">
              <a:latin typeface="Franklin Gothic Medium"/>
              <a:cs typeface="Franklin Gothic Medium"/>
            </a:endParaRPr>
          </a:p>
        </p:txBody>
      </p:sp>
      <p:sp>
        <p:nvSpPr>
          <p:cNvPr id="5" name="bk object 18">
            <a:extLst>
              <a:ext uri="{FF2B5EF4-FFF2-40B4-BE49-F238E27FC236}">
                <a16:creationId xmlns:a16="http://schemas.microsoft.com/office/drawing/2014/main" id="{7918F084-BE7C-57B5-5323-17059EE7C525}"/>
              </a:ext>
            </a:extLst>
          </p:cNvPr>
          <p:cNvSpPr/>
          <p:nvPr/>
        </p:nvSpPr>
        <p:spPr>
          <a:xfrm>
            <a:off x="3566298"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6" name="TextBox 5">
            <a:extLst>
              <a:ext uri="{FF2B5EF4-FFF2-40B4-BE49-F238E27FC236}">
                <a16:creationId xmlns:a16="http://schemas.microsoft.com/office/drawing/2014/main" id="{094014A2-0020-17FB-DAF3-7E5B94E7F235}"/>
              </a:ext>
            </a:extLst>
          </p:cNvPr>
          <p:cNvSpPr txBox="1"/>
          <p:nvPr/>
        </p:nvSpPr>
        <p:spPr>
          <a:xfrm>
            <a:off x="3749566" y="6326686"/>
            <a:ext cx="3124200" cy="1815882"/>
          </a:xfrm>
          <a:prstGeom prst="rect">
            <a:avLst/>
          </a:prstGeom>
          <a:noFill/>
        </p:spPr>
        <p:txBody>
          <a:bodyPr wrap="square" rtlCol="0">
            <a:spAutoFit/>
          </a:bodyPr>
          <a:lstStyle/>
          <a:p>
            <a:endParaRPr lang="en-US" sz="2800">
              <a:latin typeface="Franklin Gothic Book" panose="020B0503020102020204" pitchFamily="34" charset="0"/>
            </a:endParaRPr>
          </a:p>
          <a:p>
            <a:r>
              <a:rPr lang="en-US" sz="2800">
                <a:latin typeface="Franklin Gothic Book" panose="020B0503020102020204" pitchFamily="34" charset="0"/>
              </a:rPr>
              <a:t>Do Less.</a:t>
            </a:r>
          </a:p>
          <a:p>
            <a:r>
              <a:rPr lang="en-US" sz="2800">
                <a:latin typeface="Franklin Gothic Book" panose="020B0503020102020204" pitchFamily="34" charset="0"/>
              </a:rPr>
              <a:t>Make it mean more</a:t>
            </a:r>
            <a:r>
              <a:rPr lang="en-US" sz="2000">
                <a:latin typeface="Franklin Gothic Book" panose="020B0503020102020204" pitchFamily="34" charset="0"/>
              </a:rPr>
              <a:t>.</a:t>
            </a:r>
          </a:p>
        </p:txBody>
      </p:sp>
      <p:sp>
        <p:nvSpPr>
          <p:cNvPr id="4" name="object 4"/>
          <p:cNvSpPr/>
          <p:nvPr/>
        </p:nvSpPr>
        <p:spPr>
          <a:xfrm>
            <a:off x="4343400" y="7568184"/>
            <a:ext cx="1757992" cy="1575816"/>
          </a:xfrm>
          <a:prstGeom prst="rect">
            <a:avLst/>
          </a:prstGeom>
          <a:blipFill>
            <a:blip r:embed="rId2" cstate="print"/>
            <a:stretch>
              <a:fillRect/>
            </a:stretch>
          </a:blipFill>
        </p:spPr>
        <p:txBody>
          <a:bodyPr wrap="square" lIns="0" tIns="0" rIns="0" bIns="0" rtlCol="0"/>
          <a:lstStyle/>
          <a:p>
            <a:endParaRPr/>
          </a:p>
        </p:txBody>
      </p:sp>
      <p:sp>
        <p:nvSpPr>
          <p:cNvPr id="9" name="TextBox 8">
            <a:extLst>
              <a:ext uri="{FF2B5EF4-FFF2-40B4-BE49-F238E27FC236}">
                <a16:creationId xmlns:a16="http://schemas.microsoft.com/office/drawing/2014/main" id="{3174505B-C8D9-B96B-5264-F5F8433A57DA}"/>
              </a:ext>
            </a:extLst>
          </p:cNvPr>
          <p:cNvSpPr txBox="1"/>
          <p:nvPr/>
        </p:nvSpPr>
        <p:spPr>
          <a:xfrm>
            <a:off x="2145375" y="1665604"/>
            <a:ext cx="4633934" cy="1815882"/>
          </a:xfrm>
          <a:prstGeom prst="rect">
            <a:avLst/>
          </a:prstGeom>
          <a:noFill/>
        </p:spPr>
        <p:txBody>
          <a:bodyPr wrap="square">
            <a:spAutoFit/>
          </a:bodyPr>
          <a:lstStyle/>
          <a:p>
            <a:pPr marL="12700">
              <a:lnSpc>
                <a:spcPct val="100000"/>
              </a:lnSpc>
              <a:spcBef>
                <a:spcPts val="100"/>
              </a:spcBef>
            </a:pPr>
            <a:r>
              <a:rPr lang="en-US" sz="2800" b="1" i="1" spc="300" dirty="0">
                <a:latin typeface="Franklin Gothic Book Italic"/>
                <a:cs typeface="Franklin Gothic Book Italic"/>
              </a:rPr>
              <a:t>From Vision to Action: Bridging Strategy and Execution within your Commercial Teams</a:t>
            </a:r>
            <a:endParaRPr lang="en-US" sz="2800" b="1" spc="300" dirty="0">
              <a:latin typeface="Franklin Gothic Book Italic"/>
              <a:cs typeface="Franklin Gothic Book Italic"/>
            </a:endParaRPr>
          </a:p>
        </p:txBody>
      </p:sp>
      <p:pic>
        <p:nvPicPr>
          <p:cNvPr id="10" name="Picture 9">
            <a:extLst>
              <a:ext uri="{FF2B5EF4-FFF2-40B4-BE49-F238E27FC236}">
                <a16:creationId xmlns:a16="http://schemas.microsoft.com/office/drawing/2014/main" id="{BCB65568-7D16-BB88-5813-CA4E0779BE77}"/>
              </a:ext>
            </a:extLst>
          </p:cNvPr>
          <p:cNvPicPr>
            <a:picLocks noChangeAspect="1"/>
          </p:cNvPicPr>
          <p:nvPr/>
        </p:nvPicPr>
        <p:blipFill>
          <a:blip r:embed="rId3"/>
          <a:stretch>
            <a:fillRect/>
          </a:stretch>
        </p:blipFill>
        <p:spPr>
          <a:xfrm>
            <a:off x="3073619" y="4586787"/>
            <a:ext cx="3555781" cy="355578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79375"/>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From Vision to Action: Strategy to Execution</a:t>
            </a:r>
            <a:endParaRPr sz="2400" dirty="0"/>
          </a:p>
        </p:txBody>
      </p:sp>
      <p:sp>
        <p:nvSpPr>
          <p:cNvPr id="4" name="object 4"/>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6</a:t>
            </a:r>
            <a:endParaRPr sz="900">
              <a:latin typeface="Calibri"/>
              <a:cs typeface="Calibri"/>
            </a:endParaRPr>
          </a:p>
        </p:txBody>
      </p:sp>
      <p:sp>
        <p:nvSpPr>
          <p:cNvPr id="5" name="object 5"/>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68965" y="615820"/>
            <a:ext cx="6348670" cy="5675913"/>
          </a:xfrm>
          <a:prstGeom prst="rect">
            <a:avLst/>
          </a:prstGeom>
        </p:spPr>
        <p:txBody>
          <a:bodyPr vert="horz" wrap="square" lIns="0" tIns="12700" rIns="0" bIns="0" rtlCol="0">
            <a:spAutoFit/>
          </a:bodyPr>
          <a:lstStyle/>
          <a:p>
            <a:pPr marL="0" marR="0"/>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How the gap is the silent saboteur to revenue growth.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The scene is typical. The inflection point between strategy and execution starts when we are methodically laying out revenue projections. We are in the ‘War Room’ for months to design, vet, and discuss revenue projections.  We look at how to increase volume and price, decrease the cost of sale, and look at market changes to get us to the answer.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Then, commercial teams start crafting action plans to get there.  It makes sense.  And it is an approach that most people take.   Then why do most teams fail in this gap from strategy to execution?</a:t>
            </a:r>
          </a:p>
          <a:p>
            <a:pPr marL="0" marR="0"/>
            <a:r>
              <a:rPr lang="en-US" sz="1600" kern="100" dirty="0">
                <a:effectLst/>
                <a:latin typeface="Aptos" panose="020B0004020202020204" pitchFamily="34" charset="0"/>
                <a:ea typeface="Aptos" panose="020B0004020202020204" pitchFamily="34" charset="0"/>
                <a:cs typeface="Arial" panose="020B0604020202020204" pitchFamily="34"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The Gap</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The divide acts as a silent saboteur. You may have crafted an inspiring roadmap, but without proper design and execution, it's just an artful document. Companies often find themselves in limbo where brilliant strategies fail to materialize due to ineffective execution.</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It has cost organizations over 1 trillion dollars in overlooked revenue and productivity loss.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Yet, these organizations walked away from that War Room, thinking they nailed it</a:t>
            </a:r>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3" name="object 8">
            <a:extLst>
              <a:ext uri="{FF2B5EF4-FFF2-40B4-BE49-F238E27FC236}">
                <a16:creationId xmlns:a16="http://schemas.microsoft.com/office/drawing/2014/main" id="{A4E5FE23-DCCB-363A-06BD-8C5E38954CE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2024</a:t>
            </a:r>
            <a:endParaRPr sz="900" dirty="0">
              <a:solidFill>
                <a:schemeClr val="tx1">
                  <a:lumMod val="75000"/>
                  <a:lumOff val="25000"/>
                </a:schemeClr>
              </a:solidFill>
              <a:latin typeface="Franklin Gothic Book"/>
              <a:cs typeface="Franklin Gothic Book"/>
            </a:endParaRPr>
          </a:p>
        </p:txBody>
      </p:sp>
      <p:sp>
        <p:nvSpPr>
          <p:cNvPr id="8" name="object 5">
            <a:extLst>
              <a:ext uri="{FF2B5EF4-FFF2-40B4-BE49-F238E27FC236}">
                <a16:creationId xmlns:a16="http://schemas.microsoft.com/office/drawing/2014/main" id="{C375207C-F387-4B01-3DB2-D2411EDC35D9}"/>
              </a:ext>
            </a:extLst>
          </p:cNvPr>
          <p:cNvSpPr/>
          <p:nvPr/>
        </p:nvSpPr>
        <p:spPr>
          <a:xfrm>
            <a:off x="252684" y="6398770"/>
            <a:ext cx="6348670" cy="2134471"/>
          </a:xfrm>
          <a:prstGeom prst="rect">
            <a:avLst/>
          </a:prstGeom>
          <a:blipFill>
            <a:blip r:embed="rId2" cstate="print"/>
            <a:stretch>
              <a:fillRect/>
            </a:stretch>
          </a:blipFill>
        </p:spPr>
        <p:txBody>
          <a:bodyPr wrap="square" lIns="0" tIns="0" rIns="0" bIns="0" rtlCol="0"/>
          <a:lstStyle/>
          <a:p>
            <a:pPr marL="285750" marR="0" lvl="0" indent="-285750" rtl="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rtl="0">
              <a:buFont typeface="Wingdings" pitchFamily="2" charset="2"/>
              <a:buChar char="Ø"/>
            </a:pPr>
            <a:r>
              <a:rPr lang="en-US" sz="1400" kern="100" dirty="0">
                <a:effectLst/>
                <a:latin typeface="Franklin Gothic Book" panose="020B0503020102020204" pitchFamily="34" charset="0"/>
                <a:ea typeface="Aptos" panose="020B0004020202020204" pitchFamily="34" charset="0"/>
                <a:cs typeface="Arial" panose="020B0604020202020204" pitchFamily="34" charset="0"/>
              </a:rPr>
              <a:t>Only 8</a:t>
            </a: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 of marketing strategies were focused on the most valuable customer or segment.</a:t>
            </a:r>
          </a:p>
          <a:p>
            <a:pPr marL="171450" marR="0" lvl="0" indent="-171450" rtl="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a:buFont typeface="Wingdings" pitchFamily="2" charset="2"/>
              <a:buChar char="Ø"/>
            </a:pP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78% of tactics or actions didn't have an overall connection revenue. </a:t>
            </a:r>
          </a:p>
          <a:p>
            <a:pPr marL="171450" marR="0" lvl="0" indent="-17145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a:buFont typeface="Wingdings" pitchFamily="2" charset="2"/>
              <a:buChar char="Ø"/>
            </a:pP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6% of tactics focused on customers and end users, leaving 94% on internal processes.</a:t>
            </a:r>
          </a:p>
          <a:p>
            <a:pPr marL="171450" marR="0" lvl="0" indent="-17145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285750" marR="0" lvl="0" indent="-285750">
              <a:buFont typeface="Wingdings" pitchFamily="2" charset="2"/>
              <a:buChar char="Ø"/>
            </a:pPr>
            <a:r>
              <a:rPr lang="en-US" sz="1400" i="1" kern="100" dirty="0">
                <a:effectLst/>
                <a:latin typeface="Franklin Gothic Book" panose="020B0503020102020204" pitchFamily="34" charset="0"/>
                <a:ea typeface="Aptos" panose="020B0004020202020204" pitchFamily="34" charset="0"/>
                <a:cs typeface="Arial" panose="020B0604020202020204" pitchFamily="34" charset="0"/>
              </a:rPr>
              <a:t>50% of mid-management teams couldn't recall a single strategy illustrating a disconnect from the vision</a:t>
            </a:r>
            <a:endParaRPr lang="en-US" sz="1400" kern="100" dirty="0">
              <a:effectLst/>
              <a:latin typeface="Franklin Gothic Book" panose="020B05030201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0D0E-7A38-CB5A-1877-9A6E816D552E}"/>
            </a:ext>
          </a:extLst>
        </p:cNvPr>
        <p:cNvGrpSpPr/>
        <p:nvPr/>
      </p:nvGrpSpPr>
      <p:grpSpPr>
        <a:xfrm>
          <a:off x="0" y="0"/>
          <a:ext cx="0" cy="0"/>
          <a:chOff x="0" y="0"/>
          <a:chExt cx="0" cy="0"/>
        </a:xfrm>
      </p:grpSpPr>
      <p:sp>
        <p:nvSpPr>
          <p:cNvPr id="12" name="object 5">
            <a:extLst>
              <a:ext uri="{FF2B5EF4-FFF2-40B4-BE49-F238E27FC236}">
                <a16:creationId xmlns:a16="http://schemas.microsoft.com/office/drawing/2014/main" id="{B1C5FDF4-183B-4736-B93F-B5A28183F406}"/>
              </a:ext>
            </a:extLst>
          </p:cNvPr>
          <p:cNvSpPr/>
          <p:nvPr/>
        </p:nvSpPr>
        <p:spPr>
          <a:xfrm>
            <a:off x="252683" y="6579615"/>
            <a:ext cx="6476729" cy="1948565"/>
          </a:xfrm>
          <a:prstGeom prst="rect">
            <a:avLst/>
          </a:prstGeom>
          <a:blipFill>
            <a:blip r:embed="rId2" cstate="print"/>
            <a:stretch>
              <a:fillRect/>
            </a:stretch>
          </a:blipFill>
        </p:spPr>
        <p:txBody>
          <a:bodyPr wrap="square" lIns="0" tIns="0" rIns="0" bIns="0" rtlCol="0"/>
          <a:lstStyle/>
          <a:p>
            <a:endParaRPr/>
          </a:p>
        </p:txBody>
      </p:sp>
      <p:sp>
        <p:nvSpPr>
          <p:cNvPr id="2" name="object 2">
            <a:extLst>
              <a:ext uri="{FF2B5EF4-FFF2-40B4-BE49-F238E27FC236}">
                <a16:creationId xmlns:a16="http://schemas.microsoft.com/office/drawing/2014/main" id="{BFB48109-9308-9822-0CF7-C59DB56262B4}"/>
              </a:ext>
            </a:extLst>
          </p:cNvPr>
          <p:cNvSpPr txBox="1">
            <a:spLocks noGrp="1"/>
          </p:cNvSpPr>
          <p:nvPr>
            <p:ph type="title" idx="4294967295"/>
          </p:nvPr>
        </p:nvSpPr>
        <p:spPr>
          <a:xfrm>
            <a:off x="0" y="79375"/>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From Vision to Action: Strategy to Execution</a:t>
            </a:r>
            <a:endParaRPr sz="2400" dirty="0"/>
          </a:p>
        </p:txBody>
      </p:sp>
      <p:sp>
        <p:nvSpPr>
          <p:cNvPr id="4" name="object 4">
            <a:extLst>
              <a:ext uri="{FF2B5EF4-FFF2-40B4-BE49-F238E27FC236}">
                <a16:creationId xmlns:a16="http://schemas.microsoft.com/office/drawing/2014/main" id="{5CD64AD5-82CC-333C-F19D-99C2D56BA903}"/>
              </a:ext>
            </a:extLst>
          </p:cNvPr>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6</a:t>
            </a:r>
            <a:endParaRPr sz="900">
              <a:latin typeface="Calibri"/>
              <a:cs typeface="Calibri"/>
            </a:endParaRPr>
          </a:p>
        </p:txBody>
      </p:sp>
      <p:sp>
        <p:nvSpPr>
          <p:cNvPr id="5" name="object 5">
            <a:extLst>
              <a:ext uri="{FF2B5EF4-FFF2-40B4-BE49-F238E27FC236}">
                <a16:creationId xmlns:a16="http://schemas.microsoft.com/office/drawing/2014/main" id="{F344483B-25E9-5D64-3D8F-D69ACF4CB8FA}"/>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a:extLst>
              <a:ext uri="{FF2B5EF4-FFF2-40B4-BE49-F238E27FC236}">
                <a16:creationId xmlns:a16="http://schemas.microsoft.com/office/drawing/2014/main" id="{A431383D-8BB0-E549-DA7A-AAF5C7A116F8}"/>
              </a:ext>
            </a:extLst>
          </p:cNvPr>
          <p:cNvSpPr txBox="1"/>
          <p:nvPr/>
        </p:nvSpPr>
        <p:spPr>
          <a:xfrm>
            <a:off x="331424" y="784352"/>
            <a:ext cx="6195151" cy="7922682"/>
          </a:xfrm>
          <a:prstGeom prst="rect">
            <a:avLst/>
          </a:prstGeom>
        </p:spPr>
        <p:txBody>
          <a:bodyPr vert="horz" wrap="square" lIns="0" tIns="12700" rIns="0" bIns="0" rtlCol="0">
            <a:spAutoFit/>
          </a:bodyPr>
          <a:lstStyle/>
          <a:p>
            <a:pPr marL="0" marR="0" algn="thaiDist"/>
            <a:r>
              <a:rPr lang="en-US" sz="1800" kern="100" dirty="0">
                <a:effectLst/>
                <a:latin typeface="Franklin Gothic Book" panose="020B0503020102020204" pitchFamily="34" charset="0"/>
                <a:ea typeface="Aptos" panose="020B0004020202020204" pitchFamily="34" charset="0"/>
                <a:cs typeface="Arial" panose="020B0604020202020204" pitchFamily="34" charset="0"/>
              </a:rPr>
              <a:t>Bridging the gap between strategic planning and effective </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execution in sales and commercial strategies can be elusive. Enterprises struggle to realize their ambitions as they grapple with aligning their workforce and resources to support their vision and plans. Addressing this critical missing link is essential to thrive and achieve their objectives.</a:t>
            </a:r>
            <a:endParaRPr lang="en-US" sz="18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800" b="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8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Strategy to Execution Blockers and What the Best Do Differently</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Several hurdles contribute to this disconnect:</a:t>
            </a: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latin typeface="Franklin Gothic Book" panose="020B0503020102020204" pitchFamily="34" charset="0"/>
              <a:ea typeface="Aptos" panose="020B0004020202020204" pitchFamily="34" charset="0"/>
              <a:cs typeface="Arial" panose="020B0604020202020204" pitchFamily="34" charset="0"/>
            </a:endParaRPr>
          </a:p>
          <a:p>
            <a:pPr marL="0" marR="0"/>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a:lnSpc>
                <a:spcPct val="100000"/>
              </a:lnSpc>
              <a:spcBef>
                <a:spcPts val="35"/>
              </a:spcBef>
            </a:pPr>
            <a:endParaRPr sz="1400" dirty="0">
              <a:latin typeface="Franklin Gothic Book"/>
              <a:cs typeface="Franklin Gothic Book"/>
            </a:endParaRPr>
          </a:p>
          <a:p>
            <a:pPr marL="6985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A team was charged to increase price by 7 percent, yet it was far above their aspirational competitor that had more awareness and defined themselves as customer service and undeniable quality. The teams put up supporting tactics that were feel-good moments to a strategy that felt good but lacked viability.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6985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69850" marR="0" algn="thaiDist"/>
            <a:r>
              <a:rPr lang="en-US" sz="1600" u="sng" kern="100" dirty="0">
                <a:effectLst/>
                <a:latin typeface="Franklin Gothic Book" panose="020B0503020102020204" pitchFamily="34" charset="0"/>
                <a:ea typeface="Aptos" panose="020B0004020202020204" pitchFamily="34" charset="0"/>
                <a:cs typeface="Arial" panose="020B0604020202020204" pitchFamily="34" charset="0"/>
              </a:rPr>
              <a:t>What the best do differently: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Articulate clearly the overall vision of how you will drive the revenue goal. Ensure that it mathematically works. Pressure test if the strategy defined gets you to that vision. Test if it achieves all parts of the revenue goal. Does it increase the volume and the price that you desire? Does it support or conflict with other business goals, such as cost of sale or carrying costs? Having the correct overall strategy that directly cascades off the financial or</a:t>
            </a:r>
          </a:p>
        </p:txBody>
      </p:sp>
      <p:sp>
        <p:nvSpPr>
          <p:cNvPr id="3" name="object 8">
            <a:extLst>
              <a:ext uri="{FF2B5EF4-FFF2-40B4-BE49-F238E27FC236}">
                <a16:creationId xmlns:a16="http://schemas.microsoft.com/office/drawing/2014/main" id="{4C52D593-EEAF-FFB1-CAE9-58FC20602031}"/>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pic>
        <p:nvPicPr>
          <p:cNvPr id="9" name="Picture 8" descr="A person standing in front of a large chalkboard&#10;&#10;Description automatically generated">
            <a:extLst>
              <a:ext uri="{FF2B5EF4-FFF2-40B4-BE49-F238E27FC236}">
                <a16:creationId xmlns:a16="http://schemas.microsoft.com/office/drawing/2014/main" id="{17A79C1E-64C5-3E8B-F3FC-24BA7CA14E80}"/>
              </a:ext>
            </a:extLst>
          </p:cNvPr>
          <p:cNvPicPr>
            <a:picLocks noChangeAspect="1"/>
          </p:cNvPicPr>
          <p:nvPr/>
        </p:nvPicPr>
        <p:blipFill>
          <a:blip r:embed="rId3"/>
          <a:stretch>
            <a:fillRect/>
          </a:stretch>
        </p:blipFill>
        <p:spPr>
          <a:xfrm>
            <a:off x="3427019" y="3081009"/>
            <a:ext cx="3139647" cy="2092301"/>
          </a:xfrm>
          <a:prstGeom prst="rect">
            <a:avLst/>
          </a:prstGeom>
        </p:spPr>
      </p:pic>
      <p:sp>
        <p:nvSpPr>
          <p:cNvPr id="10" name="TextBox 9">
            <a:extLst>
              <a:ext uri="{FF2B5EF4-FFF2-40B4-BE49-F238E27FC236}">
                <a16:creationId xmlns:a16="http://schemas.microsoft.com/office/drawing/2014/main" id="{B8D7FC53-4081-2E9B-40CD-4FEFC3F185F0}"/>
              </a:ext>
            </a:extLst>
          </p:cNvPr>
          <p:cNvSpPr txBox="1"/>
          <p:nvPr/>
        </p:nvSpPr>
        <p:spPr>
          <a:xfrm>
            <a:off x="252683" y="3219218"/>
            <a:ext cx="3043796" cy="1815882"/>
          </a:xfrm>
          <a:prstGeom prst="rect">
            <a:avLst/>
          </a:prstGeom>
          <a:noFill/>
        </p:spPr>
        <p:txBody>
          <a:bodyPr wrap="square" rtlCol="0">
            <a:spAutoFit/>
          </a:bodyPr>
          <a:lstStyle/>
          <a:p>
            <a:pPr marR="0" lvl="0" algn="thaiDist">
              <a:buSzPts val="1000"/>
              <a:tabLst>
                <a:tab pos="457200" algn="l"/>
              </a:tabLst>
            </a:pPr>
            <a:r>
              <a:rPr lang="en-US" sz="1600" dirty="0">
                <a:solidFill>
                  <a:srgbClr val="404040"/>
                </a:solidFill>
                <a:latin typeface="Wingdings"/>
                <a:cs typeface="Wingdings"/>
              </a:rPr>
              <a:t></a:t>
            </a:r>
            <a:r>
              <a:rPr lang="en-US" sz="1600" dirty="0">
                <a:solidFill>
                  <a:srgbClr val="404040"/>
                </a:solidFill>
                <a:latin typeface="Times New Roman"/>
                <a:cs typeface="Times New Roman"/>
              </a:rPr>
              <a:t> </a:t>
            </a:r>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The need for due diligence in strategy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Strategies often stumble when broad concepts must be transformed into actionable steps, highlighting the gap between high-level vision and ground-level operations.  </a:t>
            </a:r>
          </a:p>
        </p:txBody>
      </p:sp>
    </p:spTree>
    <p:extLst>
      <p:ext uri="{BB962C8B-B14F-4D97-AF65-F5344CB8AC3E}">
        <p14:creationId xmlns:p14="http://schemas.microsoft.com/office/powerpoint/2010/main" val="1734470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F7CADA8A-66B4-2C47-3B0E-ECE35532F125}"/>
              </a:ext>
            </a:extLst>
          </p:cNvPr>
          <p:cNvSpPr/>
          <p:nvPr/>
        </p:nvSpPr>
        <p:spPr>
          <a:xfrm>
            <a:off x="368965" y="714894"/>
            <a:ext cx="6348670" cy="95184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7</a:t>
            </a:r>
            <a:endParaRPr sz="900">
              <a:latin typeface="Calibri"/>
              <a:cs typeface="Calibri"/>
            </a:endParaRPr>
          </a:p>
        </p:txBody>
      </p:sp>
      <p:sp>
        <p:nvSpPr>
          <p:cNvPr id="4" name="object 4"/>
          <p:cNvSpPr txBox="1"/>
          <p:nvPr/>
        </p:nvSpPr>
        <p:spPr>
          <a:xfrm>
            <a:off x="368965" y="737928"/>
            <a:ext cx="6058503" cy="6137578"/>
          </a:xfrm>
          <a:prstGeom prst="rect">
            <a:avLst/>
          </a:prstGeom>
        </p:spPr>
        <p:txBody>
          <a:bodyPr vert="horz" wrap="square" lIns="0" tIns="12700" rIns="0" bIns="0" rtlCol="0">
            <a:spAutoFit/>
          </a:bodyPr>
          <a:lstStyle/>
          <a:p>
            <a:pPr marL="69850" algn="thaiDist">
              <a:lnSpc>
                <a:spcPct val="100000"/>
              </a:lnSpc>
            </a:pP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revenue goal is mission-critical and sets the tone for your team's effectiveness and efficacy. Leave behind strategies that are inspirational but lack the reality needed.</a:t>
            </a:r>
            <a:endParaRPr lang="en-US" sz="1600" spc="-15" dirty="0">
              <a:solidFill>
                <a:srgbClr val="B52372"/>
              </a:solidFill>
              <a:latin typeface="Franklin Gothic Book" panose="020B0503020102020204" pitchFamily="34" charset="0"/>
              <a:cs typeface="Franklin Gothic Medium"/>
            </a:endParaRPr>
          </a:p>
          <a:p>
            <a:pPr marL="69850">
              <a:lnSpc>
                <a:spcPct val="100000"/>
              </a:lnSpc>
            </a:pPr>
            <a:endParaRPr lang="en-US" sz="1400" dirty="0">
              <a:latin typeface="Franklin Gothic Book"/>
              <a:cs typeface="Franklin Gothic Book"/>
            </a:endParaRPr>
          </a:p>
          <a:p>
            <a:pPr marL="69850">
              <a:lnSpc>
                <a:spcPct val="100000"/>
              </a:lnSpc>
            </a:pPr>
            <a:endParaRPr sz="1400" dirty="0">
              <a:latin typeface="Franklin Gothic Book"/>
              <a:cs typeface="Franklin Gothic Book"/>
            </a:endParaRPr>
          </a:p>
          <a:p>
            <a:pPr marL="0" marR="0"/>
            <a:r>
              <a:rPr sz="1400" dirty="0">
                <a:solidFill>
                  <a:srgbClr val="404040"/>
                </a:solidFill>
                <a:latin typeface="Wingdings"/>
                <a:cs typeface="Wingdings"/>
              </a:rPr>
              <a:t></a:t>
            </a:r>
            <a:r>
              <a:rPr sz="1400" dirty="0">
                <a:solidFill>
                  <a:srgbClr val="404040"/>
                </a:solidFill>
                <a:latin typeface="Times New Roman"/>
                <a:cs typeface="Times New Roman"/>
              </a:rPr>
              <a:t> </a:t>
            </a:r>
            <a:r>
              <a:rPr lang="en-US" sz="1800" kern="100" dirty="0">
                <a:effectLst/>
                <a:latin typeface="Aptos" panose="020B0004020202020204" pitchFamily="34" charset="0"/>
                <a:ea typeface="Aptos" panose="020B0004020202020204" pitchFamily="34" charset="0"/>
                <a:cs typeface="Arial" panose="020B0604020202020204" pitchFamily="34" charset="0"/>
              </a:rPr>
              <a:t> </a:t>
            </a:r>
            <a:r>
              <a:rPr lang="en-US" sz="1600" b="1" dirty="0">
                <a:effectLst/>
                <a:latin typeface="Franklin Gothic Book" panose="020B0503020102020204" pitchFamily="34" charset="0"/>
                <a:ea typeface="Aptos" panose="020B0004020202020204" pitchFamily="34" charset="0"/>
                <a:cs typeface="Arial" panose="020B0604020202020204" pitchFamily="34" charset="0"/>
              </a:rPr>
              <a:t>Our toxic love affair with activity over impact—a false sense of productivity:</a:t>
            </a:r>
          </a:p>
          <a:p>
            <a:pPr marL="0" marR="0"/>
            <a:endParaRPr lang="en-US" sz="1600" b="1" dirty="0">
              <a:effectLst/>
              <a:latin typeface="Franklin Gothic Book" panose="020B0503020102020204" pitchFamily="34" charset="0"/>
              <a:ea typeface="Aptos" panose="020B0004020202020204" pitchFamily="34" charset="0"/>
              <a:cs typeface="Arial" panose="020B0604020202020204" pitchFamily="34" charset="0"/>
            </a:endParaRPr>
          </a:p>
          <a:p>
            <a:pPr marR="0" lvl="0" algn="thaiDist">
              <a:buSzPts val="1000"/>
              <a:tabLst>
                <a:tab pos="457200" algn="l"/>
              </a:tabLst>
            </a:pP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Yesterday's operational mindset of looking at output has debilitated us from moving to an impact mindset of value creation. Leaders tend to value how much work teams have done instead of the work's results.</a:t>
            </a:r>
          </a:p>
          <a:p>
            <a:pPr marR="0" lvl="0" algn="thaiDist">
              <a:buSzPts val="1000"/>
              <a:tabLst>
                <a:tab pos="457200" algn="l"/>
              </a:tabLst>
            </a:pPr>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R="0" lvl="0" algn="thaiDist">
              <a:buSzPts val="1000"/>
              <a:tabLst>
                <a:tab pos="457200" algn="l"/>
              </a:tabLst>
            </a:pPr>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Another team got further down the path than most. They had translated their financial revenue vision into their strategy. And then it took a turn. In the excitement, they missed the step designed to crystalize how to make that vision happen, which was missed entirely. There was no bridge between how they would achieve that goal and their actions. They went directly to what they were going to do. What was the result? They did a lot. They reported everything they did and put it on PowerPoint presentations. But the work was scattered, and they didn’t achieve what they set out to do.</a:t>
            </a:r>
          </a:p>
          <a:p>
            <a:pPr marR="0" lvl="0">
              <a:buSzPts val="1000"/>
              <a:tabLst>
                <a:tab pos="457200" algn="l"/>
              </a:tabLst>
            </a:pP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R="0" lvl="0">
              <a:buSzPts val="1000"/>
              <a:tabLst>
                <a:tab pos="457200" algn="l"/>
              </a:tabLst>
            </a:pPr>
            <a:endParaRPr lang="en-US" sz="1600" kern="100" dirty="0">
              <a:latin typeface="Aptos" panose="020B0004020202020204" pitchFamily="34" charset="0"/>
              <a:ea typeface="Aptos" panose="020B0004020202020204" pitchFamily="34" charset="0"/>
              <a:cs typeface="Arial" panose="020B0604020202020204" pitchFamily="34" charset="0"/>
            </a:endParaRPr>
          </a:p>
          <a:p>
            <a:pPr marR="0" lvl="0">
              <a:buSzPts val="1000"/>
              <a:tabLst>
                <a:tab pos="457200" algn="l"/>
              </a:tabLst>
            </a:pP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R="0" lvl="0">
              <a:buSzPts val="1000"/>
              <a:tabLst>
                <a:tab pos="457200" algn="l"/>
              </a:tabLst>
            </a:pPr>
            <a:endParaRPr lang="en-US" sz="16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2" name="object 8">
            <a:extLst>
              <a:ext uri="{FF2B5EF4-FFF2-40B4-BE49-F238E27FC236}">
                <a16:creationId xmlns:a16="http://schemas.microsoft.com/office/drawing/2014/main" id="{517CF32E-2CDA-3098-1D26-CA4E88E3BE25}"/>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10" name="object 5">
            <a:extLst>
              <a:ext uri="{FF2B5EF4-FFF2-40B4-BE49-F238E27FC236}">
                <a16:creationId xmlns:a16="http://schemas.microsoft.com/office/drawing/2014/main" id="{93489651-1156-5B3F-C041-53B02DE0062D}"/>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2">
            <a:extLst>
              <a:ext uri="{FF2B5EF4-FFF2-40B4-BE49-F238E27FC236}">
                <a16:creationId xmlns:a16="http://schemas.microsoft.com/office/drawing/2014/main" id="{EA684409-C582-18B1-C237-572F01930FA2}"/>
              </a:ext>
            </a:extLst>
          </p:cNvPr>
          <p:cNvSpPr txBox="1">
            <a:spLocks/>
          </p:cNvSpPr>
          <p:nvPr/>
        </p:nvSpPr>
        <p:spPr>
          <a:xfrm>
            <a:off x="114300" y="169423"/>
            <a:ext cx="68580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From Vision to Action: Strategy to Execution</a:t>
            </a:r>
          </a:p>
        </p:txBody>
      </p:sp>
      <p:pic>
        <p:nvPicPr>
          <p:cNvPr id="16" name="Picture 15" descr="A red ball in a row of balls&#10;&#10;Description automatically generated">
            <a:extLst>
              <a:ext uri="{FF2B5EF4-FFF2-40B4-BE49-F238E27FC236}">
                <a16:creationId xmlns:a16="http://schemas.microsoft.com/office/drawing/2014/main" id="{01B7E315-5D44-3226-30DD-2F138924669D}"/>
              </a:ext>
            </a:extLst>
          </p:cNvPr>
          <p:cNvPicPr>
            <a:picLocks noChangeAspect="1"/>
          </p:cNvPicPr>
          <p:nvPr/>
        </p:nvPicPr>
        <p:blipFill>
          <a:blip r:embed="rId3">
            <a:extLst>
              <a:ext uri="{28A0092B-C50C-407E-A947-70E740481C1C}">
                <a14:useLocalDpi xmlns:a14="http://schemas.microsoft.com/office/drawing/2010/main" val="0"/>
              </a:ext>
            </a:extLst>
          </a:blip>
          <a:srcRect t="9299" b="14978"/>
          <a:stretch/>
        </p:blipFill>
        <p:spPr>
          <a:xfrm>
            <a:off x="0" y="6281327"/>
            <a:ext cx="6858000" cy="2120915"/>
          </a:xfrm>
          <a:prstGeom prst="rect">
            <a:avLst/>
          </a:prstGeom>
        </p:spPr>
      </p:pic>
      <p:sp>
        <p:nvSpPr>
          <p:cNvPr id="17" name="object 6">
            <a:extLst>
              <a:ext uri="{FF2B5EF4-FFF2-40B4-BE49-F238E27FC236}">
                <a16:creationId xmlns:a16="http://schemas.microsoft.com/office/drawing/2014/main" id="{A1261154-5C59-EA0D-E73F-D8610A91C373}"/>
              </a:ext>
            </a:extLst>
          </p:cNvPr>
          <p:cNvSpPr/>
          <p:nvPr/>
        </p:nvSpPr>
        <p:spPr>
          <a:xfrm>
            <a:off x="683819" y="1735679"/>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5">
            <a:extLst>
              <a:ext uri="{FF2B5EF4-FFF2-40B4-BE49-F238E27FC236}">
                <a16:creationId xmlns:a16="http://schemas.microsoft.com/office/drawing/2014/main" id="{51CFD117-D70D-C7B5-1472-B680CD3A7BD2}"/>
              </a:ext>
            </a:extLst>
          </p:cNvPr>
          <p:cNvSpPr/>
          <p:nvPr/>
        </p:nvSpPr>
        <p:spPr>
          <a:xfrm>
            <a:off x="186734" y="6603532"/>
            <a:ext cx="6448954" cy="1780032"/>
          </a:xfrm>
          <a:prstGeom prst="rect">
            <a:avLst/>
          </a:prstGeom>
          <a:blipFill>
            <a:blip r:embed="rId2" cstate="print"/>
            <a:stretch>
              <a:fillRect/>
            </a:stretch>
          </a:blipFill>
        </p:spPr>
        <p:txBody>
          <a:bodyPr wrap="square" lIns="0" tIns="0" rIns="0" bIns="0" rtlCol="0"/>
          <a:lstStyle/>
          <a:p>
            <a:endParaRPr/>
          </a:p>
        </p:txBody>
      </p:sp>
      <p:sp>
        <p:nvSpPr>
          <p:cNvPr id="13" name="object 5">
            <a:extLst>
              <a:ext uri="{FF2B5EF4-FFF2-40B4-BE49-F238E27FC236}">
                <a16:creationId xmlns:a16="http://schemas.microsoft.com/office/drawing/2014/main" id="{5BA2FB0B-C559-9E5D-2FF3-B9EFF5BE7C74}"/>
              </a:ext>
            </a:extLst>
          </p:cNvPr>
          <p:cNvSpPr/>
          <p:nvPr/>
        </p:nvSpPr>
        <p:spPr>
          <a:xfrm>
            <a:off x="186734" y="880511"/>
            <a:ext cx="6414620" cy="1780032"/>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252684" y="734451"/>
            <a:ext cx="6165850" cy="8120172"/>
          </a:xfrm>
          <a:prstGeom prst="rect">
            <a:avLst/>
          </a:prstGeom>
        </p:spPr>
        <p:txBody>
          <a:bodyPr vert="horz" wrap="square" lIns="0" tIns="12700" rIns="0" bIns="0" rtlCol="0">
            <a:spAutoFit/>
          </a:bodyPr>
          <a:lstStyle/>
          <a:p>
            <a:pPr marL="457200" marR="0"/>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algn="thaiDist"/>
            <a:r>
              <a:rPr lang="en-US" sz="1600" u="sng" dirty="0">
                <a:effectLst/>
                <a:latin typeface="Franklin Gothic Book" panose="020B0503020102020204" pitchFamily="34" charset="0"/>
                <a:ea typeface="Aptos" panose="020B0004020202020204" pitchFamily="34" charset="0"/>
                <a:cs typeface="Arial" panose="020B0604020202020204" pitchFamily="34" charset="0"/>
              </a:rPr>
              <a:t>What the best do differently?</a:t>
            </a:r>
            <a:r>
              <a:rPr lang="en-US" sz="1600" dirty="0">
                <a:effectLst/>
                <a:latin typeface="Franklin Gothic Book" panose="020B0503020102020204" pitchFamily="34" charset="0"/>
                <a:ea typeface="Aptos" panose="020B0004020202020204" pitchFamily="34" charset="0"/>
                <a:cs typeface="Arial" panose="020B0604020202020204" pitchFamily="34" charset="0"/>
              </a:rPr>
              <a:t>  Embrace the </a:t>
            </a:r>
            <a:r>
              <a:rPr lang="en-US" sz="1600" i="1" dirty="0">
                <a:effectLst/>
                <a:latin typeface="Franklin Gothic Book" panose="020B0503020102020204" pitchFamily="34" charset="0"/>
                <a:ea typeface="Aptos" panose="020B0004020202020204" pitchFamily="34" charset="0"/>
                <a:cs typeface="Arial" panose="020B0604020202020204" pitchFamily="34" charset="0"/>
              </a:rPr>
              <a:t>Do Less, Make it Mean More</a:t>
            </a:r>
            <a:r>
              <a:rPr lang="en-US" sz="1600" dirty="0">
                <a:effectLst/>
                <a:latin typeface="Franklin Gothic Book" panose="020B0503020102020204" pitchFamily="34" charset="0"/>
                <a:ea typeface="Aptos" panose="020B0004020202020204" pitchFamily="34" charset="0"/>
                <a:cs typeface="Arial" panose="020B0604020202020204" pitchFamily="34" charset="0"/>
              </a:rPr>
              <a:t> mentality.   A maniacal focus on "Straight-Line Effectiveness" looks at where we should put our time to get the greatest impact. Have a zealous approach to challenge and debunk what you have always done and question if the supporting tactics or actions do indeed move you in the desired direction.</a:t>
            </a:r>
            <a:endParaRPr lang="en-US" sz="1600" dirty="0">
              <a:solidFill>
                <a:srgbClr val="404040"/>
              </a:solidFill>
              <a:latin typeface="Franklin Gothic Book" panose="020B0503020102020204" pitchFamily="34" charset="0"/>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r>
              <a:rPr sz="1600" dirty="0">
                <a:solidFill>
                  <a:srgbClr val="404040"/>
                </a:solidFill>
                <a:latin typeface="Wingdings"/>
                <a:cs typeface="Wingdings"/>
              </a:rPr>
              <a:t></a:t>
            </a:r>
            <a:r>
              <a:rPr lang="en-US" sz="1600" dirty="0">
                <a:solidFill>
                  <a:srgbClr val="404040"/>
                </a:solidFill>
                <a:latin typeface="Wingdings"/>
                <a:cs typeface="Wingdings"/>
              </a:rPr>
              <a:t> </a:t>
            </a:r>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Lack of clarity of which tactics or actions get us closer to the goal:</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This is related to the two prior points. When there is a need for more clarity within the strategy, and the tactics or actions are focused on activity vs. impact, then, inevitably, there is a void of metrics that call out what is effective in getting closer to the desired result.</a:t>
            </a:r>
          </a:p>
          <a:p>
            <a:pPr marR="0" lvl="0" algn="thaiDist">
              <a:buSzPts val="1000"/>
              <a:tabLst>
                <a:tab pos="457200" algn="l"/>
              </a:tabLst>
            </a:pPr>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R="0" lvl="0" algn="thaiDist">
              <a:buSzPts val="1000"/>
              <a:tabLst>
                <a:tab pos="457200" algn="l"/>
              </a:tabLst>
            </a:pPr>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Going back to the above example, the team didn't have a clear strategy; they only had the revenue goal they wanted to hit and tactics they had continually used. The only metric left was the outcome of either hitting their target or not and the completion of results; they needed to know whether what they were doing was working as well as it could be. Did they increase revenue?  Well, sure, but much opportunity was left on the table, and it took far longer than needed.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457200" marR="0"/>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endParaRPr lang="en-US" sz="1600" i="1" u="sng" kern="100" dirty="0">
              <a:latin typeface="Franklin Gothic Book" panose="020B0503020102020204" pitchFamily="34" charset="0"/>
              <a:ea typeface="Aptos" panose="020B0004020202020204" pitchFamily="34" charset="0"/>
              <a:cs typeface="Arial" panose="020B0604020202020204" pitchFamily="34" charset="0"/>
            </a:endParaRPr>
          </a:p>
          <a:p>
            <a:pPr marL="457200" marR="0"/>
            <a:endParaRPr lang="en-US" sz="1600" u="sng"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r>
              <a:rPr lang="en-US" sz="1600" u="sng" kern="100" dirty="0">
                <a:effectLst/>
                <a:latin typeface="Franklin Gothic Book" panose="020B0503020102020204" pitchFamily="34" charset="0"/>
                <a:ea typeface="Aptos" panose="020B0004020202020204" pitchFamily="34" charset="0"/>
                <a:cs typeface="Arial" panose="020B0604020202020204" pitchFamily="34" charset="0"/>
              </a:rPr>
              <a:t>What is the best way to do something differently?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Orchestrating micro-metrics of the supporting tactics or actions related to the strategy is a game changer. Teams can quickly see how those actions are connected to the plan and the larger revenue goal. These micro-metrics illustrate the agility to evaluate, and shift focus to a different path. Teams can embrace an iterative mindset rather than burning time and energy. </a:t>
            </a:r>
          </a:p>
          <a:p>
            <a:pPr marL="268605">
              <a:lnSpc>
                <a:spcPct val="100000"/>
              </a:lnSpc>
              <a:spcBef>
                <a:spcPts val="1865"/>
              </a:spcBef>
            </a:pPr>
            <a:endParaRPr sz="1500" dirty="0">
              <a:latin typeface="Franklin Gothic Book"/>
              <a:cs typeface="Franklin Gothic Book"/>
            </a:endParaRPr>
          </a:p>
        </p:txBody>
      </p:sp>
      <p:sp>
        <p:nvSpPr>
          <p:cNvPr id="6" name="object 6"/>
          <p:cNvSpPr/>
          <p:nvPr/>
        </p:nvSpPr>
        <p:spPr>
          <a:xfrm>
            <a:off x="592409" y="2950116"/>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a:p>
        </p:txBody>
      </p:sp>
      <p:sp>
        <p:nvSpPr>
          <p:cNvPr id="2" name="object 8">
            <a:extLst>
              <a:ext uri="{FF2B5EF4-FFF2-40B4-BE49-F238E27FC236}">
                <a16:creationId xmlns:a16="http://schemas.microsoft.com/office/drawing/2014/main" id="{B32D8DAF-3A6E-50D8-7EF7-EA84F532119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50000"/>
                    <a:lumOff val="50000"/>
                  </a:schemeClr>
                </a:solidFill>
                <a:latin typeface="Franklin Gothic Book"/>
                <a:cs typeface="Franklin Gothic Book"/>
              </a:rPr>
              <a:t>What Good Looks Like:  Revenue Strategy I 2024</a:t>
            </a:r>
            <a:endParaRPr sz="900">
              <a:solidFill>
                <a:schemeClr val="tx1">
                  <a:lumMod val="50000"/>
                  <a:lumOff val="50000"/>
                </a:schemeClr>
              </a:solidFill>
              <a:latin typeface="Franklin Gothic Book"/>
              <a:cs typeface="Franklin Gothic Book"/>
            </a:endParaRPr>
          </a:p>
        </p:txBody>
      </p:sp>
      <p:sp>
        <p:nvSpPr>
          <p:cNvPr id="9" name="object 5">
            <a:extLst>
              <a:ext uri="{FF2B5EF4-FFF2-40B4-BE49-F238E27FC236}">
                <a16:creationId xmlns:a16="http://schemas.microsoft.com/office/drawing/2014/main" id="{5A11BC2A-F51C-D3D7-8AB3-74088C0D7F2C}"/>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5" name="object 2">
            <a:extLst>
              <a:ext uri="{FF2B5EF4-FFF2-40B4-BE49-F238E27FC236}">
                <a16:creationId xmlns:a16="http://schemas.microsoft.com/office/drawing/2014/main" id="{2D407133-561A-6A9F-FBA4-6C4A886577CF}"/>
              </a:ext>
            </a:extLst>
          </p:cNvPr>
          <p:cNvSpPr txBox="1">
            <a:spLocks/>
          </p:cNvSpPr>
          <p:nvPr/>
        </p:nvSpPr>
        <p:spPr>
          <a:xfrm>
            <a:off x="152400" y="231775"/>
            <a:ext cx="67056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From Vision to Action: Strategy to Execution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43648" y="8730488"/>
            <a:ext cx="83820" cy="162560"/>
          </a:xfrm>
          <a:prstGeom prst="rect">
            <a:avLst/>
          </a:prstGeom>
        </p:spPr>
        <p:txBody>
          <a:bodyPr vert="horz" wrap="square" lIns="0" tIns="12700" rIns="0" bIns="0" rtlCol="0">
            <a:spAutoFit/>
          </a:bodyPr>
          <a:lstStyle/>
          <a:p>
            <a:pPr marL="12700">
              <a:lnSpc>
                <a:spcPct val="100000"/>
              </a:lnSpc>
              <a:spcBef>
                <a:spcPts val="100"/>
              </a:spcBef>
            </a:pPr>
            <a:r>
              <a:rPr sz="900">
                <a:solidFill>
                  <a:srgbClr val="898989"/>
                </a:solidFill>
                <a:latin typeface="Calibri"/>
                <a:cs typeface="Calibri"/>
              </a:rPr>
              <a:t>9</a:t>
            </a:r>
            <a:endParaRPr sz="900">
              <a:latin typeface="Calibri"/>
              <a:cs typeface="Calibri"/>
            </a:endParaRPr>
          </a:p>
        </p:txBody>
      </p:sp>
      <p:sp>
        <p:nvSpPr>
          <p:cNvPr id="5" name="object 5"/>
          <p:cNvSpPr/>
          <p:nvPr/>
        </p:nvSpPr>
        <p:spPr>
          <a:xfrm>
            <a:off x="145656" y="6508262"/>
            <a:ext cx="6562725" cy="1942824"/>
          </a:xfrm>
          <a:prstGeom prst="rect">
            <a:avLst/>
          </a:prstGeom>
          <a:blipFill>
            <a:blip r:embed="rId3" cstate="print"/>
            <a:stretch>
              <a:fillRect/>
            </a:stretch>
          </a:blipFill>
        </p:spPr>
        <p:txBody>
          <a:bodyPr wrap="square" lIns="0" tIns="0" rIns="0" bIns="0" rtlCol="0"/>
          <a:lstStyle/>
          <a:p>
            <a:endParaRPr dirty="0"/>
          </a:p>
        </p:txBody>
      </p:sp>
      <p:sp>
        <p:nvSpPr>
          <p:cNvPr id="2" name="object 8">
            <a:extLst>
              <a:ext uri="{FF2B5EF4-FFF2-40B4-BE49-F238E27FC236}">
                <a16:creationId xmlns:a16="http://schemas.microsoft.com/office/drawing/2014/main" id="{5F25EE71-D4E8-6ABC-BF10-6797C1B59690}"/>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9" name="object 5">
            <a:extLst>
              <a:ext uri="{FF2B5EF4-FFF2-40B4-BE49-F238E27FC236}">
                <a16:creationId xmlns:a16="http://schemas.microsoft.com/office/drawing/2014/main" id="{3EDB2991-344C-296F-E726-BF2C9F622D7A}"/>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4" name="object 2">
            <a:extLst>
              <a:ext uri="{FF2B5EF4-FFF2-40B4-BE49-F238E27FC236}">
                <a16:creationId xmlns:a16="http://schemas.microsoft.com/office/drawing/2014/main" id="{DAA322CF-FD32-173B-B743-4BF04C7FF640}"/>
              </a:ext>
            </a:extLst>
          </p:cNvPr>
          <p:cNvSpPr txBox="1">
            <a:spLocks/>
          </p:cNvSpPr>
          <p:nvPr/>
        </p:nvSpPr>
        <p:spPr>
          <a:xfrm>
            <a:off x="152400" y="231775"/>
            <a:ext cx="67056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From Vision to Action: Strategy to Execution</a:t>
            </a:r>
          </a:p>
        </p:txBody>
      </p:sp>
      <p:sp>
        <p:nvSpPr>
          <p:cNvPr id="10" name="TextBox 9">
            <a:extLst>
              <a:ext uri="{FF2B5EF4-FFF2-40B4-BE49-F238E27FC236}">
                <a16:creationId xmlns:a16="http://schemas.microsoft.com/office/drawing/2014/main" id="{88A7D0CC-F0DA-C813-3C45-07A9B72BFE4D}"/>
              </a:ext>
            </a:extLst>
          </p:cNvPr>
          <p:cNvSpPr txBox="1"/>
          <p:nvPr/>
        </p:nvSpPr>
        <p:spPr>
          <a:xfrm>
            <a:off x="252684" y="692914"/>
            <a:ext cx="6174784" cy="8279190"/>
          </a:xfrm>
          <a:prstGeom prst="rect">
            <a:avLst/>
          </a:prstGeom>
          <a:noFill/>
        </p:spPr>
        <p:txBody>
          <a:bodyPr wrap="square" rtlCol="0">
            <a:spAutoFit/>
          </a:bodyPr>
          <a:lstStyle/>
          <a:p>
            <a:pPr marR="0" lvl="0" algn="thaiDist">
              <a:buSzPts val="1000"/>
              <a:tabLst>
                <a:tab pos="457200" algn="l"/>
              </a:tabLst>
            </a:pPr>
            <a:r>
              <a:rPr lang="en-US" sz="1600" dirty="0">
                <a:solidFill>
                  <a:srgbClr val="404040"/>
                </a:solidFill>
                <a:latin typeface="Wingdings"/>
                <a:cs typeface="Wingdings"/>
              </a:rPr>
              <a:t> </a:t>
            </a:r>
            <a:r>
              <a:rPr lang="en-US" sz="1600" b="1" kern="100" dirty="0">
                <a:effectLst/>
                <a:latin typeface="Franklin Gothic Book" panose="020B0503020102020204" pitchFamily="34" charset="0"/>
                <a:ea typeface="Aptos" panose="020B0004020202020204" pitchFamily="34" charset="0"/>
                <a:cs typeface="Arial" panose="020B0604020202020204" pitchFamily="34" charset="0"/>
              </a:rPr>
              <a:t>Absence of Accountability on the right things</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Some believe that if we hold people accountable, we are masters at execution. Best-of-class leaders understand what to hold their teams responsible for.  There was more rigor of holding teams accountable solely to the actions, rather than the accountability of the choice of the right actions.</a:t>
            </a:r>
          </a:p>
          <a:p>
            <a:pPr marL="0" marR="0" algn="thaiDist"/>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a:t>
            </a:r>
          </a:p>
          <a:p>
            <a:pPr marL="1270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In real life: both teams' leaders had one-on-one calls and team meetings, during which they asked for updates on their actions. However, they rarely discussed which tactics were impacting the vision. Only once did a leader ask, "Are we doing the right things to get us there?"</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a:p>
            <a:pPr marL="12700" marR="0" algn="thaiDist"/>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12700" marR="0" algn="thaiDist"/>
            <a:r>
              <a:rPr lang="en-US" sz="1600" u="sng" kern="100" dirty="0">
                <a:effectLst/>
                <a:latin typeface="Franklin Gothic Book" panose="020B0503020102020204" pitchFamily="34" charset="0"/>
                <a:ea typeface="Aptos" panose="020B0004020202020204" pitchFamily="34" charset="0"/>
                <a:cs typeface="Arial" panose="020B0604020202020204" pitchFamily="34" charset="0"/>
              </a:rPr>
              <a:t>What the best do differently:</a:t>
            </a:r>
            <a:r>
              <a:rPr lang="en-US" sz="1600" kern="100" dirty="0">
                <a:effectLst/>
                <a:latin typeface="Franklin Gothic Book" panose="020B0503020102020204" pitchFamily="34" charset="0"/>
                <a:ea typeface="Aptos" panose="020B0004020202020204" pitchFamily="34" charset="0"/>
                <a:cs typeface="Arial" panose="020B0604020202020204" pitchFamily="34" charset="0"/>
              </a:rPr>
              <a:t> Best-of-class leaders focus on four things:  1- Remember that the revenue target or financial goal is an outcome of the right strategy, not the strategy itself.  2- Maniacally focusing on the strategy rather than completing tasks?  3- a "Straight-Shot" tactical approach to strategy achievement.  4- What will the micro metrics of tactics/actions tell us if we are getting you to strategy?</a:t>
            </a:r>
          </a:p>
          <a:p>
            <a:pPr marL="12700" marR="0" algn="thaiDist"/>
            <a:r>
              <a:rPr lang="en-US" sz="1800" i="1" kern="100" dirty="0">
                <a:effectLst/>
                <a:latin typeface="Aptos" panose="020B0004020202020204" pitchFamily="34" charset="0"/>
                <a:ea typeface="Aptos" panose="020B0004020202020204" pitchFamily="34" charset="0"/>
                <a:cs typeface="Arial" panose="020B0604020202020204" pitchFamily="34" charset="0"/>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endParaRPr lang="en-US" dirty="0">
              <a:latin typeface="Franklin Gothic Book" panose="020B0503020102020204" pitchFamily="34" charset="0"/>
            </a:endParaRPr>
          </a:p>
        </p:txBody>
      </p:sp>
      <p:pic>
        <p:nvPicPr>
          <p:cNvPr id="16" name="Picture 15" descr="A hand touching a wooden chess piece&#10;&#10;Description automatically generated">
            <a:extLst>
              <a:ext uri="{FF2B5EF4-FFF2-40B4-BE49-F238E27FC236}">
                <a16:creationId xmlns:a16="http://schemas.microsoft.com/office/drawing/2014/main" id="{D48A0CB3-5ED5-8F21-CBC8-03F4381102A0}"/>
              </a:ext>
            </a:extLst>
          </p:cNvPr>
          <p:cNvPicPr>
            <a:picLocks noChangeAspect="1"/>
          </p:cNvPicPr>
          <p:nvPr/>
        </p:nvPicPr>
        <p:blipFill>
          <a:blip r:embed="rId4"/>
          <a:srcRect b="13712"/>
          <a:stretch/>
        </p:blipFill>
        <p:spPr>
          <a:xfrm>
            <a:off x="0" y="3877948"/>
            <a:ext cx="6858000" cy="23919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6858000" cy="9144000"/>
          </a:xfrm>
          <a:custGeom>
            <a:avLst/>
            <a:gdLst/>
            <a:ahLst/>
            <a:cxnLst/>
            <a:rect l="l" t="t" r="r" b="b"/>
            <a:pathLst>
              <a:path w="6858000" h="9144000">
                <a:moveTo>
                  <a:pt x="0" y="0"/>
                </a:moveTo>
                <a:lnTo>
                  <a:pt x="6858000" y="0"/>
                </a:lnTo>
                <a:lnTo>
                  <a:pt x="6858000" y="9143998"/>
                </a:lnTo>
                <a:lnTo>
                  <a:pt x="0" y="9143998"/>
                </a:lnTo>
                <a:lnTo>
                  <a:pt x="0" y="0"/>
                </a:lnTo>
                <a:close/>
              </a:path>
            </a:pathLst>
          </a:custGeom>
          <a:solidFill>
            <a:srgbClr val="262626"/>
          </a:solidFill>
        </p:spPr>
        <p:txBody>
          <a:bodyPr wrap="square" lIns="0" tIns="0" rIns="0" bIns="0" rtlCol="0"/>
          <a:lstStyle/>
          <a:p>
            <a:endParaRPr/>
          </a:p>
        </p:txBody>
      </p:sp>
      <p:sp>
        <p:nvSpPr>
          <p:cNvPr id="3" name="object 3"/>
          <p:cNvSpPr/>
          <p:nvPr/>
        </p:nvSpPr>
        <p:spPr>
          <a:xfrm>
            <a:off x="0" y="1"/>
            <a:ext cx="6858000" cy="9144000"/>
          </a:xfrm>
          <a:custGeom>
            <a:avLst/>
            <a:gdLst/>
            <a:ahLst/>
            <a:cxnLst/>
            <a:rect l="l" t="t" r="r" b="b"/>
            <a:pathLst>
              <a:path w="6858000" h="9144000">
                <a:moveTo>
                  <a:pt x="0" y="0"/>
                </a:moveTo>
                <a:lnTo>
                  <a:pt x="6858000" y="0"/>
                </a:lnTo>
                <a:lnTo>
                  <a:pt x="6858000" y="9143998"/>
                </a:lnTo>
              </a:path>
            </a:pathLst>
          </a:custGeom>
          <a:ln w="12700">
            <a:solidFill>
              <a:srgbClr val="3C3E8F"/>
            </a:solidFill>
          </a:ln>
        </p:spPr>
        <p:txBody>
          <a:bodyPr wrap="square" lIns="0" tIns="0" rIns="0" bIns="0" rtlCol="0"/>
          <a:lstStyle/>
          <a:p>
            <a:endParaRPr/>
          </a:p>
        </p:txBody>
      </p:sp>
      <p:sp>
        <p:nvSpPr>
          <p:cNvPr id="4" name="object 4"/>
          <p:cNvSpPr/>
          <p:nvPr/>
        </p:nvSpPr>
        <p:spPr>
          <a:xfrm>
            <a:off x="0" y="1"/>
            <a:ext cx="0" cy="9144000"/>
          </a:xfrm>
          <a:custGeom>
            <a:avLst/>
            <a:gdLst/>
            <a:ahLst/>
            <a:cxnLst/>
            <a:rect l="l" t="t" r="r" b="b"/>
            <a:pathLst>
              <a:path h="9144000">
                <a:moveTo>
                  <a:pt x="0" y="9143998"/>
                </a:moveTo>
                <a:lnTo>
                  <a:pt x="0" y="0"/>
                </a:lnTo>
              </a:path>
            </a:pathLst>
          </a:custGeom>
          <a:ln w="12700">
            <a:solidFill>
              <a:srgbClr val="3C3E8F"/>
            </a:solidFill>
          </a:ln>
        </p:spPr>
        <p:txBody>
          <a:bodyPr wrap="square" lIns="0" tIns="0" rIns="0" bIns="0" rtlCol="0"/>
          <a:lstStyle/>
          <a:p>
            <a:endParaRPr/>
          </a:p>
        </p:txBody>
      </p:sp>
      <p:sp>
        <p:nvSpPr>
          <p:cNvPr id="5" name="object 5"/>
          <p:cNvSpPr/>
          <p:nvPr/>
        </p:nvSpPr>
        <p:spPr>
          <a:xfrm>
            <a:off x="0" y="2472856"/>
            <a:ext cx="6857998" cy="4444777"/>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title"/>
          </p:nvPr>
        </p:nvSpPr>
        <p:spPr>
          <a:xfrm>
            <a:off x="262884" y="429259"/>
            <a:ext cx="4666615" cy="1854200"/>
          </a:xfrm>
          <a:prstGeom prst="rect">
            <a:avLst/>
          </a:prstGeom>
        </p:spPr>
        <p:txBody>
          <a:bodyPr vert="horz" wrap="square" lIns="0" tIns="12700" rIns="0" bIns="0" rtlCol="0">
            <a:spAutoFit/>
          </a:bodyPr>
          <a:lstStyle/>
          <a:p>
            <a:pPr marL="12700" marR="5080">
              <a:lnSpc>
                <a:spcPct val="100000"/>
              </a:lnSpc>
              <a:spcBef>
                <a:spcPts val="100"/>
              </a:spcBef>
            </a:pPr>
            <a:r>
              <a:rPr sz="2400" spc="-85">
                <a:solidFill>
                  <a:srgbClr val="FFFF00"/>
                </a:solidFill>
              </a:rPr>
              <a:t>We </a:t>
            </a:r>
            <a:r>
              <a:rPr sz="2400" spc="-25">
                <a:solidFill>
                  <a:srgbClr val="FFFF00"/>
                </a:solidFill>
              </a:rPr>
              <a:t>take </a:t>
            </a:r>
            <a:r>
              <a:rPr sz="2400" spc="-10">
                <a:solidFill>
                  <a:srgbClr val="FFFF00"/>
                </a:solidFill>
              </a:rPr>
              <a:t>all the </a:t>
            </a:r>
            <a:r>
              <a:rPr sz="2400" spc="-30">
                <a:solidFill>
                  <a:srgbClr val="FFFF00"/>
                </a:solidFill>
              </a:rPr>
              <a:t>noise, </a:t>
            </a:r>
            <a:r>
              <a:rPr sz="2400" spc="-20">
                <a:solidFill>
                  <a:srgbClr val="FFFF00"/>
                </a:solidFill>
              </a:rPr>
              <a:t>disruption,  </a:t>
            </a:r>
            <a:r>
              <a:rPr sz="2400" spc="-15">
                <a:solidFill>
                  <a:srgbClr val="FFFF00"/>
                </a:solidFill>
              </a:rPr>
              <a:t>frustration </a:t>
            </a:r>
            <a:r>
              <a:rPr sz="2400" spc="-20">
                <a:solidFill>
                  <a:srgbClr val="FFFF00"/>
                </a:solidFill>
              </a:rPr>
              <a:t>and </a:t>
            </a:r>
            <a:r>
              <a:rPr sz="2400" spc="-50">
                <a:solidFill>
                  <a:srgbClr val="FFFF00"/>
                </a:solidFill>
              </a:rPr>
              <a:t>complexity </a:t>
            </a:r>
            <a:r>
              <a:rPr sz="2400" spc="-5">
                <a:solidFill>
                  <a:srgbClr val="FFFF00"/>
                </a:solidFill>
              </a:rPr>
              <a:t>of </a:t>
            </a:r>
            <a:r>
              <a:rPr sz="2400" spc="-10">
                <a:solidFill>
                  <a:srgbClr val="FFFF00"/>
                </a:solidFill>
              </a:rPr>
              <a:t>the</a:t>
            </a:r>
            <a:r>
              <a:rPr sz="2400" spc="-150">
                <a:solidFill>
                  <a:srgbClr val="FFFF00"/>
                </a:solidFill>
              </a:rPr>
              <a:t> </a:t>
            </a:r>
            <a:r>
              <a:rPr sz="2400" spc="-50">
                <a:solidFill>
                  <a:srgbClr val="FFFF00"/>
                </a:solidFill>
              </a:rPr>
              <a:t>new  </a:t>
            </a:r>
            <a:r>
              <a:rPr sz="2400" spc="-55">
                <a:solidFill>
                  <a:srgbClr val="FFFF00"/>
                </a:solidFill>
              </a:rPr>
              <a:t>economy </a:t>
            </a:r>
            <a:r>
              <a:rPr sz="2400" spc="-20">
                <a:solidFill>
                  <a:srgbClr val="FFFF00"/>
                </a:solidFill>
              </a:rPr>
              <a:t>and </a:t>
            </a:r>
            <a:r>
              <a:rPr sz="2400" spc="-30">
                <a:solidFill>
                  <a:srgbClr val="FFFF00"/>
                </a:solidFill>
              </a:rPr>
              <a:t>bring </a:t>
            </a:r>
            <a:r>
              <a:rPr sz="2400" spc="-55">
                <a:solidFill>
                  <a:srgbClr val="FFFF00"/>
                </a:solidFill>
              </a:rPr>
              <a:t>you </a:t>
            </a:r>
            <a:r>
              <a:rPr sz="2400">
                <a:solidFill>
                  <a:srgbClr val="FFFF00"/>
                </a:solidFill>
              </a:rPr>
              <a:t>a </a:t>
            </a:r>
            <a:r>
              <a:rPr sz="2400" spc="-55">
                <a:solidFill>
                  <a:srgbClr val="FFFF00"/>
                </a:solidFill>
              </a:rPr>
              <a:t>clear,  </a:t>
            </a:r>
            <a:r>
              <a:rPr sz="2400" spc="-40">
                <a:solidFill>
                  <a:srgbClr val="FFFF00"/>
                </a:solidFill>
              </a:rPr>
              <a:t>concise </a:t>
            </a:r>
            <a:r>
              <a:rPr sz="2400" spc="-20">
                <a:solidFill>
                  <a:srgbClr val="FFFF00"/>
                </a:solidFill>
              </a:rPr>
              <a:t>and </a:t>
            </a:r>
            <a:r>
              <a:rPr sz="2400" spc="-30">
                <a:solidFill>
                  <a:srgbClr val="FFFF00"/>
                </a:solidFill>
              </a:rPr>
              <a:t>simple </a:t>
            </a:r>
            <a:r>
              <a:rPr sz="2400" spc="-10">
                <a:solidFill>
                  <a:srgbClr val="FFFF00"/>
                </a:solidFill>
              </a:rPr>
              <a:t>path </a:t>
            </a:r>
            <a:r>
              <a:rPr sz="2400" spc="-25">
                <a:solidFill>
                  <a:srgbClr val="FFFF00"/>
                </a:solidFill>
              </a:rPr>
              <a:t>for </a:t>
            </a:r>
            <a:r>
              <a:rPr sz="2400" spc="-45">
                <a:solidFill>
                  <a:srgbClr val="FFFF00"/>
                </a:solidFill>
              </a:rPr>
              <a:t>your  </a:t>
            </a:r>
            <a:r>
              <a:rPr sz="2400" spc="-30">
                <a:solidFill>
                  <a:srgbClr val="FFFF00"/>
                </a:solidFill>
              </a:rPr>
              <a:t>team </a:t>
            </a:r>
            <a:r>
              <a:rPr sz="2400" spc="-25">
                <a:solidFill>
                  <a:srgbClr val="FFFF00"/>
                </a:solidFill>
              </a:rPr>
              <a:t>to </a:t>
            </a:r>
            <a:r>
              <a:rPr sz="2400" spc="-30">
                <a:solidFill>
                  <a:srgbClr val="FFFF00"/>
                </a:solidFill>
              </a:rPr>
              <a:t>get</a:t>
            </a:r>
            <a:r>
              <a:rPr sz="2400" spc="-204">
                <a:solidFill>
                  <a:srgbClr val="FFFF00"/>
                </a:solidFill>
              </a:rPr>
              <a:t> </a:t>
            </a:r>
            <a:r>
              <a:rPr sz="2400" spc="-25">
                <a:solidFill>
                  <a:srgbClr val="FFFF00"/>
                </a:solidFill>
              </a:rPr>
              <a:t>results.</a:t>
            </a:r>
            <a:endParaRPr sz="2400"/>
          </a:p>
        </p:txBody>
      </p:sp>
      <p:sp>
        <p:nvSpPr>
          <p:cNvPr id="7" name="object 7"/>
          <p:cNvSpPr txBox="1"/>
          <p:nvPr/>
        </p:nvSpPr>
        <p:spPr>
          <a:xfrm>
            <a:off x="5167678" y="5299964"/>
            <a:ext cx="1593850" cy="1129030"/>
          </a:xfrm>
          <a:prstGeom prst="rect">
            <a:avLst/>
          </a:prstGeom>
        </p:spPr>
        <p:txBody>
          <a:bodyPr vert="horz" wrap="square" lIns="0" tIns="9525" rIns="0" bIns="0" rtlCol="0">
            <a:spAutoFit/>
          </a:bodyPr>
          <a:lstStyle/>
          <a:p>
            <a:pPr marL="12700" marR="5080">
              <a:lnSpc>
                <a:spcPct val="100800"/>
              </a:lnSpc>
              <a:spcBef>
                <a:spcPts val="75"/>
              </a:spcBef>
              <a:tabLst>
                <a:tab pos="1350010" algn="l"/>
              </a:tabLst>
            </a:pPr>
            <a:r>
              <a:rPr sz="2400" i="1" spc="-30">
                <a:solidFill>
                  <a:srgbClr val="FFFF00"/>
                </a:solidFill>
                <a:latin typeface="Franklin Gothic Book Italic"/>
                <a:cs typeface="Franklin Gothic Book Italic"/>
              </a:rPr>
              <a:t>Bringing  Si</a:t>
            </a:r>
            <a:r>
              <a:rPr sz="2400" i="1" spc="-60">
                <a:solidFill>
                  <a:srgbClr val="FFFF00"/>
                </a:solidFill>
                <a:latin typeface="Franklin Gothic Book Italic"/>
                <a:cs typeface="Franklin Gothic Book Italic"/>
              </a:rPr>
              <a:t>m</a:t>
            </a:r>
            <a:r>
              <a:rPr sz="2400" i="1" spc="-30">
                <a:solidFill>
                  <a:srgbClr val="FFFF00"/>
                </a:solidFill>
                <a:latin typeface="Franklin Gothic Book Italic"/>
                <a:cs typeface="Franklin Gothic Book Italic"/>
              </a:rPr>
              <a:t>pl</a:t>
            </a:r>
            <a:r>
              <a:rPr sz="2400" i="1" spc="-35">
                <a:solidFill>
                  <a:srgbClr val="FFFF00"/>
                </a:solidFill>
                <a:latin typeface="Franklin Gothic Book Italic"/>
                <a:cs typeface="Franklin Gothic Book Italic"/>
              </a:rPr>
              <a:t>ici</a:t>
            </a:r>
            <a:r>
              <a:rPr sz="2400" i="1" spc="-30">
                <a:solidFill>
                  <a:srgbClr val="FFFF00"/>
                </a:solidFill>
                <a:latin typeface="Franklin Gothic Book Italic"/>
                <a:cs typeface="Franklin Gothic Book Italic"/>
              </a:rPr>
              <a:t>t</a:t>
            </a:r>
            <a:r>
              <a:rPr sz="2400" i="1">
                <a:solidFill>
                  <a:srgbClr val="FFFF00"/>
                </a:solidFill>
                <a:latin typeface="Franklin Gothic Book Italic"/>
                <a:cs typeface="Franklin Gothic Book Italic"/>
              </a:rPr>
              <a:t>y	</a:t>
            </a:r>
            <a:r>
              <a:rPr sz="2400" i="1" spc="-85">
                <a:solidFill>
                  <a:srgbClr val="FFFF00"/>
                </a:solidFill>
                <a:latin typeface="Franklin Gothic Book Italic"/>
                <a:cs typeface="Franklin Gothic Book Italic"/>
              </a:rPr>
              <a:t>to  </a:t>
            </a:r>
            <a:r>
              <a:rPr sz="2400" i="1" spc="-55">
                <a:solidFill>
                  <a:srgbClr val="FFFF00"/>
                </a:solidFill>
                <a:latin typeface="Franklin Gothic Book Italic"/>
                <a:cs typeface="Franklin Gothic Book Italic"/>
              </a:rPr>
              <a:t>Complexity</a:t>
            </a:r>
            <a:endParaRPr sz="2400">
              <a:latin typeface="Franklin Gothic Book Italic"/>
              <a:cs typeface="Franklin Gothic Book Italic"/>
            </a:endParaRPr>
          </a:p>
        </p:txBody>
      </p:sp>
      <p:sp>
        <p:nvSpPr>
          <p:cNvPr id="8" name="object 8"/>
          <p:cNvSpPr txBox="1"/>
          <p:nvPr/>
        </p:nvSpPr>
        <p:spPr>
          <a:xfrm>
            <a:off x="972810" y="7125716"/>
            <a:ext cx="5031740" cy="970280"/>
          </a:xfrm>
          <a:prstGeom prst="rect">
            <a:avLst/>
          </a:prstGeom>
        </p:spPr>
        <p:txBody>
          <a:bodyPr vert="horz" wrap="square" lIns="0" tIns="12700" rIns="0" bIns="0" rtlCol="0">
            <a:spAutoFit/>
          </a:bodyPr>
          <a:lstStyle/>
          <a:p>
            <a:pPr marL="102870" algn="ctr">
              <a:lnSpc>
                <a:spcPct val="100000"/>
              </a:lnSpc>
              <a:spcBef>
                <a:spcPts val="100"/>
              </a:spcBef>
            </a:pPr>
            <a:r>
              <a:rPr lang="en-US" sz="1800" u="sng" spc="-20" dirty="0">
                <a:solidFill>
                  <a:srgbClr val="FFFFFF"/>
                </a:solidFill>
                <a:uFill>
                  <a:solidFill>
                    <a:srgbClr val="FFFFFF"/>
                  </a:solidFill>
                </a:uFill>
                <a:latin typeface="Calibri"/>
                <a:cs typeface="Calibri"/>
              </a:rPr>
              <a:t>What Great Looks </a:t>
            </a:r>
            <a:r>
              <a:rPr lang="en-US" sz="1800" u="sng" spc="-20" dirty="0" err="1">
                <a:solidFill>
                  <a:srgbClr val="FFFFFF"/>
                </a:solidFill>
                <a:uFill>
                  <a:solidFill>
                    <a:srgbClr val="FFFFFF"/>
                  </a:solidFill>
                </a:uFill>
                <a:latin typeface="Calibri"/>
                <a:cs typeface="Calibri"/>
              </a:rPr>
              <a:t>LIke</a:t>
            </a:r>
            <a:endParaRPr sz="1800" dirty="0">
              <a:latin typeface="Calibri"/>
              <a:cs typeface="Calibri"/>
            </a:endParaRPr>
          </a:p>
          <a:p>
            <a:pPr>
              <a:lnSpc>
                <a:spcPct val="100000"/>
              </a:lnSpc>
              <a:spcBef>
                <a:spcPts val="5"/>
              </a:spcBef>
            </a:pPr>
            <a:endParaRPr sz="2550" dirty="0">
              <a:latin typeface="Calibri"/>
              <a:cs typeface="Calibri"/>
            </a:endParaRPr>
          </a:p>
          <a:p>
            <a:pPr marL="12700">
              <a:lnSpc>
                <a:spcPct val="100000"/>
              </a:lnSpc>
              <a:tabLst>
                <a:tab pos="3020695" algn="l"/>
              </a:tabLst>
            </a:pPr>
            <a:r>
              <a:rPr sz="1800" spc="-10" dirty="0">
                <a:solidFill>
                  <a:srgbClr val="FFFFFF"/>
                </a:solidFill>
                <a:latin typeface="Calibri"/>
                <a:cs typeface="Calibri"/>
              </a:rPr>
              <a:t>Contact </a:t>
            </a:r>
            <a:r>
              <a:rPr sz="1800" dirty="0">
                <a:solidFill>
                  <a:srgbClr val="FFFFFF"/>
                </a:solidFill>
                <a:latin typeface="Calibri"/>
                <a:cs typeface="Calibri"/>
              </a:rPr>
              <a:t>us </a:t>
            </a:r>
            <a:r>
              <a:rPr sz="1800" spc="-15" dirty="0">
                <a:solidFill>
                  <a:srgbClr val="FFFFFF"/>
                </a:solidFill>
                <a:latin typeface="Calibri"/>
                <a:cs typeface="Calibri"/>
              </a:rPr>
              <a:t>for </a:t>
            </a:r>
            <a:r>
              <a:rPr sz="1800" dirty="0">
                <a:solidFill>
                  <a:srgbClr val="FFFFFF"/>
                </a:solidFill>
                <a:latin typeface="Calibri"/>
                <a:cs typeface="Calibri"/>
              </a:rPr>
              <a:t>help</a:t>
            </a:r>
            <a:r>
              <a:rPr sz="1800" spc="60" dirty="0">
                <a:solidFill>
                  <a:srgbClr val="FFFFFF"/>
                </a:solidFill>
                <a:latin typeface="Calibri"/>
                <a:cs typeface="Calibri"/>
              </a:rPr>
              <a:t> </a:t>
            </a:r>
            <a:r>
              <a:rPr sz="1800" dirty="0">
                <a:solidFill>
                  <a:srgbClr val="FFFFFF"/>
                </a:solidFill>
                <a:latin typeface="Calibri"/>
                <a:cs typeface="Calibri"/>
              </a:rPr>
              <a:t>or</a:t>
            </a:r>
            <a:r>
              <a:rPr sz="1800" spc="5" dirty="0">
                <a:solidFill>
                  <a:srgbClr val="FFFFFF"/>
                </a:solidFill>
                <a:latin typeface="Calibri"/>
                <a:cs typeface="Calibri"/>
              </a:rPr>
              <a:t> </a:t>
            </a:r>
            <a:r>
              <a:rPr sz="1800" spc="-5" dirty="0">
                <a:solidFill>
                  <a:srgbClr val="FFFFFF"/>
                </a:solidFill>
                <a:latin typeface="Calibri"/>
                <a:cs typeface="Calibri"/>
              </a:rPr>
              <a:t>support:	</a:t>
            </a:r>
            <a:r>
              <a:rPr sz="1800" u="sng" spc="-15" dirty="0">
                <a:solidFill>
                  <a:srgbClr val="FFFFFF"/>
                </a:solidFill>
                <a:uFill>
                  <a:solidFill>
                    <a:srgbClr val="FFFFFF"/>
                  </a:solidFill>
                </a:uFill>
                <a:latin typeface="Calibri"/>
                <a:cs typeface="Calibri"/>
                <a:hlinkClick r:id="rId3"/>
              </a:rPr>
              <a:t>kate@kateburda.com</a:t>
            </a:r>
            <a:endParaRPr sz="18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5f895480-74b7-4295-beb1-000abdb777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3DCF2C-866A-458C-8FAB-23D6E27E5401}">
  <ds:schemaRefs>
    <ds:schemaRef ds:uri="http://schemas.microsoft.com/sharepoint/v3/contenttype/forms"/>
  </ds:schemaRefs>
</ds:datastoreItem>
</file>

<file path=customXml/itemProps2.xml><?xml version="1.0" encoding="utf-8"?>
<ds:datastoreItem xmlns:ds="http://schemas.openxmlformats.org/officeDocument/2006/customXml" ds:itemID="{C191DDA7-2966-4E48-962B-F47B9F55551A}">
  <ds:schemaRefs>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f9f3b592-2a1e-4fc9-8218-81ad9cd05aa6"/>
    <ds:schemaRef ds:uri="5f895480-74b7-4295-beb1-000abdb77711"/>
    <ds:schemaRef ds:uri="http://schemas.microsoft.com/office/infopath/2007/PartnerControls"/>
    <ds:schemaRef ds:uri="http://purl.org/dc/dcmitype/"/>
    <ds:schemaRef ds:uri="http://purl.org/dc/terms/"/>
  </ds:schemaRefs>
</ds:datastoreItem>
</file>

<file path=customXml/itemProps3.xml><?xml version="1.0" encoding="utf-8"?>
<ds:datastoreItem xmlns:ds="http://schemas.openxmlformats.org/officeDocument/2006/customXml" ds:itemID="{0A36494B-EEBC-48CE-8EBC-31E674DEB2D9}">
  <ds:schemaRefs>
    <ds:schemaRef ds:uri="5f895480-74b7-4295-beb1-000abdb77711"/>
    <ds:schemaRef ds:uri="f9f3b592-2a1e-4fc9-8218-81ad9cd05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114</TotalTime>
  <Words>1410</Words>
  <Application>Microsoft Macintosh PowerPoint</Application>
  <PresentationFormat>On-screen Show (4:3)</PresentationFormat>
  <Paragraphs>100</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Franklin Gothic Book Italic</vt:lpstr>
      <vt:lpstr>Aptos</vt:lpstr>
      <vt:lpstr>Calibri</vt:lpstr>
      <vt:lpstr>Franklin Gothic Book</vt:lpstr>
      <vt:lpstr>Franklin Gothic Medium</vt:lpstr>
      <vt:lpstr>Times New Roman</vt:lpstr>
      <vt:lpstr>Wingdings</vt:lpstr>
      <vt:lpstr>Office Theme</vt:lpstr>
      <vt:lpstr>What Good Looks Like:   Revenue Strategy</vt:lpstr>
      <vt:lpstr>From Vision to Action: Strategy to Execution</vt:lpstr>
      <vt:lpstr>From Vision to Action: Strategy to Execution</vt:lpstr>
      <vt:lpstr>PowerPoint Presentation</vt:lpstr>
      <vt:lpstr>PowerPoint Presentation</vt:lpstr>
      <vt:lpstr>PowerPoint Presentation</vt:lpstr>
      <vt:lpstr>We take all the noise, disruption,  frustration and complexity of the new  economy and bring you a clear,  concise and simple path for your  team to get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Budget  Planning for Top-Line  Revenue Growth in Times  of Disruption</dc:title>
  <cp:lastModifiedBy>Kate Burda</cp:lastModifiedBy>
  <cp:revision>2</cp:revision>
  <dcterms:created xsi:type="dcterms:W3CDTF">2020-10-14T13:18:19Z</dcterms:created>
  <dcterms:modified xsi:type="dcterms:W3CDTF">2024-12-11T23:01:00Z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LastSaved">
    <vt:filetime>2020-10-14T00:00:00Z</vt:filetime>
  </property>
  <property fmtid="{D5CDD505-2E9C-101B-9397-08002B2CF9AE}" pid="4" name="ContentTypeId">
    <vt:lpwstr>0x01010075409FC017C7BF40961EF880411E08B5</vt:lpwstr>
  </property>
  <property fmtid="{D5CDD505-2E9C-101B-9397-08002B2CF9AE}" pid="5" name="Order">
    <vt:r8>3345400</vt:r8>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ies>
</file>