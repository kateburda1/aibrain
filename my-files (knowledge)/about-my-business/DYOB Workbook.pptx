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2"/>
  </p:notesMasterIdLst>
  <p:handoutMasterIdLst>
    <p:handoutMasterId r:id="rId13"/>
  </p:handoutMasterIdLst>
  <p:sldIdLst>
    <p:sldId id="256" r:id="rId2"/>
    <p:sldId id="1336" r:id="rId3"/>
    <p:sldId id="1078" r:id="rId4"/>
    <p:sldId id="1082" r:id="rId5"/>
    <p:sldId id="1089" r:id="rId6"/>
    <p:sldId id="1504" r:id="rId7"/>
    <p:sldId id="1093" r:id="rId8"/>
    <p:sldId id="1155" r:id="rId9"/>
    <p:sldId id="1271" r:id="rId10"/>
    <p:sldId id="27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91357"/>
    <a:srgbClr val="BA3967"/>
    <a:srgbClr val="B6367F"/>
    <a:srgbClr val="A5335D"/>
    <a:srgbClr val="FF2F92"/>
    <a:srgbClr val="89204A"/>
    <a:srgbClr val="9C3F6D"/>
    <a:srgbClr val="7A1A7F"/>
    <a:srgbClr val="771F4C"/>
    <a:srgbClr val="B53A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9561"/>
    <p:restoredTop sz="93197" autoAdjust="0"/>
  </p:normalViewPr>
  <p:slideViewPr>
    <p:cSldViewPr snapToGrid="0" snapToObjects="1">
      <p:cViewPr varScale="1">
        <p:scale>
          <a:sx n="119" d="100"/>
          <a:sy n="119" d="100"/>
        </p:scale>
        <p:origin x="17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61179867-3058-1043-88D9-C29392A9B351}"/>
    <pc:docChg chg="custSel modSld sldOrd">
      <pc:chgData name="Kate Burda" userId="44c1ea53-84f5-4c7e-8f48-bfeb434f1f02" providerId="ADAL" clId="{61179867-3058-1043-88D9-C29392A9B351}" dt="2022-01-20T14:37:54.624" v="2" actId="20578"/>
      <pc:docMkLst>
        <pc:docMk/>
      </pc:docMkLst>
      <pc:sldChg chg="delSp mod">
        <pc:chgData name="Kate Burda" userId="44c1ea53-84f5-4c7e-8f48-bfeb434f1f02" providerId="ADAL" clId="{61179867-3058-1043-88D9-C29392A9B351}" dt="2022-01-20T14:37:04.945" v="0" actId="478"/>
        <pc:sldMkLst>
          <pc:docMk/>
          <pc:sldMk cId="83128154" sldId="256"/>
        </pc:sldMkLst>
        <pc:picChg chg="del">
          <ac:chgData name="Kate Burda" userId="44c1ea53-84f5-4c7e-8f48-bfeb434f1f02" providerId="ADAL" clId="{61179867-3058-1043-88D9-C29392A9B351}" dt="2022-01-20T14:37:04.945" v="0" actId="478"/>
          <ac:picMkLst>
            <pc:docMk/>
            <pc:sldMk cId="83128154" sldId="256"/>
            <ac:picMk id="7" creationId="{9AE2A62F-3DE9-0F45-A2A2-F4B996D570F8}"/>
          </ac:picMkLst>
        </pc:picChg>
      </pc:sldChg>
      <pc:sldChg chg="ord">
        <pc:chgData name="Kate Burda" userId="44c1ea53-84f5-4c7e-8f48-bfeb434f1f02" providerId="ADAL" clId="{61179867-3058-1043-88D9-C29392A9B351}" dt="2022-01-20T14:37:54.624" v="2" actId="20578"/>
        <pc:sldMkLst>
          <pc:docMk/>
          <pc:sldMk cId="2541531189" sldId="1078"/>
        </pc:sldMkLst>
      </pc:sldChg>
    </pc:docChg>
  </pc:docChgLst>
  <pc:docChgLst>
    <pc:chgData name="Kate Burda" userId="44c1ea53-84f5-4c7e-8f48-bfeb434f1f02" providerId="ADAL" clId="{B8C20F24-F94C-6640-8DAD-C7DEFF96FA54}"/>
    <pc:docChg chg="addSld delSld modSld">
      <pc:chgData name="Kate Burda" userId="44c1ea53-84f5-4c7e-8f48-bfeb434f1f02" providerId="ADAL" clId="{B8C20F24-F94C-6640-8DAD-C7DEFF96FA54}" dt="2021-07-27T14:53:14.486" v="25" actId="20577"/>
      <pc:docMkLst>
        <pc:docMk/>
      </pc:docMkLst>
      <pc:sldChg chg="modSp add mod">
        <pc:chgData name="Kate Burda" userId="44c1ea53-84f5-4c7e-8f48-bfeb434f1f02" providerId="ADAL" clId="{B8C20F24-F94C-6640-8DAD-C7DEFF96FA54}" dt="2021-07-27T14:52:55.514" v="12" actId="1076"/>
        <pc:sldMkLst>
          <pc:docMk/>
          <pc:sldMk cId="0" sldId="275"/>
        </pc:sldMkLst>
        <pc:spChg chg="mod">
          <ac:chgData name="Kate Burda" userId="44c1ea53-84f5-4c7e-8f48-bfeb434f1f02" providerId="ADAL" clId="{B8C20F24-F94C-6640-8DAD-C7DEFF96FA54}" dt="2021-07-27T14:52:47.930" v="11" actId="14100"/>
          <ac:spMkLst>
            <pc:docMk/>
            <pc:sldMk cId="0" sldId="275"/>
            <ac:spMk id="2" creationId="{00000000-0000-0000-0000-000000000000}"/>
          </ac:spMkLst>
        </pc:spChg>
        <pc:spChg chg="mod">
          <ac:chgData name="Kate Burda" userId="44c1ea53-84f5-4c7e-8f48-bfeb434f1f02" providerId="ADAL" clId="{B8C20F24-F94C-6640-8DAD-C7DEFF96FA54}" dt="2021-07-27T14:52:40.535" v="9" actId="14100"/>
          <ac:spMkLst>
            <pc:docMk/>
            <pc:sldMk cId="0" sldId="275"/>
            <ac:spMk id="3" creationId="{00000000-0000-0000-0000-000000000000}"/>
          </ac:spMkLst>
        </pc:spChg>
        <pc:spChg chg="mod">
          <ac:chgData name="Kate Burda" userId="44c1ea53-84f5-4c7e-8f48-bfeb434f1f02" providerId="ADAL" clId="{B8C20F24-F94C-6640-8DAD-C7DEFF96FA54}" dt="2021-07-27T14:52:55.514" v="12" actId="1076"/>
          <ac:spMkLst>
            <pc:docMk/>
            <pc:sldMk cId="0" sldId="275"/>
            <ac:spMk id="4" creationId="{00000000-0000-0000-0000-000000000000}"/>
          </ac:spMkLst>
        </pc:spChg>
      </pc:sldChg>
      <pc:sldChg chg="del">
        <pc:chgData name="Kate Burda" userId="44c1ea53-84f5-4c7e-8f48-bfeb434f1f02" providerId="ADAL" clId="{B8C20F24-F94C-6640-8DAD-C7DEFF96FA54}" dt="2021-07-27T14:53:00.875" v="13" actId="2696"/>
        <pc:sldMkLst>
          <pc:docMk/>
          <pc:sldMk cId="1784982992" sldId="360"/>
        </pc:sldMkLst>
      </pc:sldChg>
      <pc:sldChg chg="modSp mod">
        <pc:chgData name="Kate Burda" userId="44c1ea53-84f5-4c7e-8f48-bfeb434f1f02" providerId="ADAL" clId="{B8C20F24-F94C-6640-8DAD-C7DEFF96FA54}" dt="2021-07-27T14:53:14.486" v="25" actId="20577"/>
        <pc:sldMkLst>
          <pc:docMk/>
          <pc:sldMk cId="4261313194" sldId="1271"/>
        </pc:sldMkLst>
        <pc:spChg chg="mod">
          <ac:chgData name="Kate Burda" userId="44c1ea53-84f5-4c7e-8f48-bfeb434f1f02" providerId="ADAL" clId="{B8C20F24-F94C-6640-8DAD-C7DEFF96FA54}" dt="2021-07-27T14:53:14.486" v="25" actId="20577"/>
          <ac:spMkLst>
            <pc:docMk/>
            <pc:sldMk cId="4261313194" sldId="1271"/>
            <ac:spMk id="5" creationId="{00000000-0000-0000-0000-000000000000}"/>
          </ac:spMkLst>
        </pc:spChg>
      </pc:sldChg>
      <pc:sldMasterChg chg="delSldLayout">
        <pc:chgData name="Kate Burda" userId="44c1ea53-84f5-4c7e-8f48-bfeb434f1f02" providerId="ADAL" clId="{B8C20F24-F94C-6640-8DAD-C7DEFF96FA54}" dt="2021-07-27T14:53:00.875" v="13" actId="2696"/>
        <pc:sldMasterMkLst>
          <pc:docMk/>
          <pc:sldMasterMk cId="3291073576" sldId="2147483774"/>
        </pc:sldMasterMkLst>
        <pc:sldLayoutChg chg="del">
          <pc:chgData name="Kate Burda" userId="44c1ea53-84f5-4c7e-8f48-bfeb434f1f02" providerId="ADAL" clId="{B8C20F24-F94C-6640-8DAD-C7DEFF96FA54}" dt="2021-07-27T14:53:00.875" v="13" actId="2696"/>
          <pc:sldLayoutMkLst>
            <pc:docMk/>
            <pc:sldMasterMk cId="3291073576" sldId="2147483774"/>
            <pc:sldLayoutMk cId="1311058916" sldId="214748378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B8B00-F935-184D-80CA-7895733B20D0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1FA2C-0F2F-1A40-9FC7-4D3BE3EF0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402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70DCC-EECA-5045-A891-3C7ED29B474E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204A1-840D-CA41-9990-2FBF1DA0CC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580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407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venir Medium"/>
            </a:endParaRPr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C3FC3A2-EB46-804B-9773-0F13306EA261}" type="slidenum">
              <a:rPr lang="en-US" sz="1200">
                <a:latin typeface="Avenir Medium"/>
              </a:rPr>
              <a:pPr eaLnBrk="1" hangingPunct="1"/>
              <a:t>3</a:t>
            </a:fld>
            <a:endParaRPr lang="en-US" sz="1200">
              <a:latin typeface="Aveni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82153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Avenir Medium"/>
              </a:rPr>
              <a:t>The customer compass has five dimensions:</a:t>
            </a:r>
          </a:p>
          <a:p>
            <a:pPr eaLnBrk="1" hangingPunct="1">
              <a:spcBef>
                <a:spcPct val="0"/>
              </a:spcBef>
            </a:pPr>
            <a:endParaRPr lang="en-US">
              <a:latin typeface="Avenir Medium"/>
            </a:endParaRP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>
                <a:latin typeface="Avenir Medium"/>
              </a:rPr>
              <a:t> At the center is the compass – which represents the customer</a:t>
            </a:r>
            <a:r>
              <a:rPr lang="ja-JP" altLang="en-US">
                <a:latin typeface="Avenir Medium"/>
              </a:rPr>
              <a:t>’</a:t>
            </a:r>
            <a:r>
              <a:rPr lang="en-US" altLang="ja-JP">
                <a:latin typeface="Avenir Medium"/>
              </a:rPr>
              <a:t>s Vision &amp; Strategy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>
                <a:latin typeface="Avenir Medium"/>
              </a:rPr>
              <a:t> The four dimensions represent the capabilities &amp; initiatives the company must develop &amp; implement to achieve their vision &amp; strategy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>
              <a:latin typeface="Avenir Medium"/>
            </a:endParaRP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>
              <a:latin typeface="Avenir Medium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661457A-2B0C-9C42-90B9-F1195E8A8221}" type="slidenum">
              <a:rPr lang="en-US" sz="1200">
                <a:latin typeface="Avenir Medium"/>
              </a:rPr>
              <a:pPr eaLnBrk="1" hangingPunct="1"/>
              <a:t>4</a:t>
            </a:fld>
            <a:endParaRPr lang="en-US" sz="1200">
              <a:latin typeface="Aveni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68350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>
              <a:latin typeface="Avenir Medium"/>
            </a:endParaRPr>
          </a:p>
          <a:p>
            <a:pPr eaLnBrk="1" hangingPunct="1"/>
            <a:r>
              <a:rPr lang="en-US" dirty="0">
                <a:latin typeface="Avenir Medium"/>
              </a:rPr>
              <a:t>3rd Box Thinking is one of these core value-creation principles – let</a:t>
            </a:r>
            <a:r>
              <a:rPr lang="ja-JP" altLang="en-US">
                <a:latin typeface="Avenir Medium"/>
              </a:rPr>
              <a:t>’</a:t>
            </a:r>
            <a:r>
              <a:rPr lang="en-US" dirty="0">
                <a:latin typeface="Avenir Medium"/>
              </a:rPr>
              <a:t>s discuss how this can work across different levels in your go-to-market approach </a:t>
            </a:r>
          </a:p>
        </p:txBody>
      </p:sp>
      <p:sp>
        <p:nvSpPr>
          <p:cNvPr id="110596" name="Slide Number Placeholder 3"/>
          <p:cNvSpPr txBox="1">
            <a:spLocks noGrp="1"/>
          </p:cNvSpPr>
          <p:nvPr/>
        </p:nvSpPr>
        <p:spPr bwMode="auto">
          <a:xfrm>
            <a:off x="5800725" y="8537575"/>
            <a:ext cx="79533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467" tIns="0" rIns="18467" bIns="0" anchor="b"/>
          <a:lstStyle>
            <a:lvl1pPr defTabSz="8858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8858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B345C218-99B5-844C-8B20-8295D88F81D4}" type="slidenum">
              <a:rPr lang="en-US" sz="800">
                <a:latin typeface="Avenir Medium"/>
              </a:rPr>
              <a:pPr algn="r" eaLnBrk="1" hangingPunct="1"/>
              <a:t>5</a:t>
            </a:fld>
            <a:endParaRPr lang="en-US" sz="800">
              <a:latin typeface="Aveni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56617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>
              <a:latin typeface="Avenir Medium"/>
            </a:endParaRPr>
          </a:p>
          <a:p>
            <a:pPr eaLnBrk="1" hangingPunct="1"/>
            <a:r>
              <a:rPr lang="en-US" dirty="0">
                <a:latin typeface="Avenir Medium"/>
              </a:rPr>
              <a:t>3rd Box Thinking is one of these core value-creation principles – let</a:t>
            </a:r>
            <a:r>
              <a:rPr lang="ja-JP" altLang="en-US">
                <a:latin typeface="Avenir Medium"/>
              </a:rPr>
              <a:t>’</a:t>
            </a:r>
            <a:r>
              <a:rPr lang="en-US" dirty="0">
                <a:latin typeface="Avenir Medium"/>
              </a:rPr>
              <a:t>s discuss how this can work across different levels in your go-to-market approach </a:t>
            </a:r>
          </a:p>
        </p:txBody>
      </p:sp>
      <p:sp>
        <p:nvSpPr>
          <p:cNvPr id="110596" name="Slide Number Placeholder 3"/>
          <p:cNvSpPr txBox="1">
            <a:spLocks noGrp="1"/>
          </p:cNvSpPr>
          <p:nvPr/>
        </p:nvSpPr>
        <p:spPr bwMode="auto">
          <a:xfrm>
            <a:off x="5800725" y="8537575"/>
            <a:ext cx="79533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467" tIns="0" rIns="18467" bIns="0" anchor="b"/>
          <a:lstStyle>
            <a:lvl1pPr defTabSz="8858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8858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B345C218-99B5-844C-8B20-8295D88F81D4}" type="slidenum">
              <a:rPr lang="en-US" sz="800">
                <a:latin typeface="Avenir Medium"/>
              </a:rPr>
              <a:pPr algn="r" eaLnBrk="1" hangingPunct="1"/>
              <a:t>6</a:t>
            </a:fld>
            <a:endParaRPr lang="en-US" sz="800">
              <a:latin typeface="Aveni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66292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62719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6696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7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5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44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89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0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1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02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4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885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itle 32pt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112838" y="338793"/>
            <a:ext cx="6142037" cy="64166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 baseline="0">
                <a:solidFill>
                  <a:srgbClr val="000000"/>
                </a:solidFill>
                <a:latin typeface="Arial" pitchFamily="34" charset="0"/>
              </a:defRPr>
            </a:lvl1pPr>
            <a:lvl2pPr marL="0" indent="0">
              <a:buNone/>
              <a:defRPr sz="3200" b="1" i="0" baseline="0">
                <a:latin typeface="Arial" pitchFamily="34" charset="0"/>
              </a:defRPr>
            </a:lvl2pPr>
            <a:lvl3pPr marL="0" indent="0">
              <a:buNone/>
              <a:defRPr sz="3200" b="1" i="0" baseline="0">
                <a:latin typeface="Arial" pitchFamily="34" charset="0"/>
              </a:defRPr>
            </a:lvl3pPr>
            <a:lvl4pPr marL="0" indent="0">
              <a:buNone/>
              <a:defRPr sz="3200" b="1" i="0" baseline="0">
                <a:latin typeface="Arial" pitchFamily="34" charset="0"/>
              </a:defRPr>
            </a:lvl4pPr>
            <a:lvl5pPr marL="0" indent="0">
              <a:buNone/>
              <a:defRPr sz="3200" b="1" i="0" baseline="0">
                <a:latin typeface="Arial" pitchFamily="34" charset="0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</p:txBody>
      </p:sp>
      <p:sp>
        <p:nvSpPr>
          <p:cNvPr id="4" name="Content Placeholder 8"/>
          <p:cNvSpPr>
            <a:spLocks noGrp="1"/>
          </p:cNvSpPr>
          <p:nvPr>
            <p:ph sz="quarter" idx="16"/>
          </p:nvPr>
        </p:nvSpPr>
        <p:spPr>
          <a:xfrm>
            <a:off x="504825" y="1477963"/>
            <a:ext cx="8243888" cy="483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  <a:lvl2pPr>
              <a:spcAft>
                <a:spcPts val="600"/>
              </a:spcAft>
              <a:defRPr sz="20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48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4/18/2016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7680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(1)</a:t>
            </a:r>
          </a:p>
        </p:txBody>
      </p:sp>
      <p:pic>
        <p:nvPicPr>
          <p:cNvPr id="7" name="Picture 6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401" y="6397270"/>
            <a:ext cx="589198" cy="324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107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Kate@kateburd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865" y="4983892"/>
            <a:ext cx="8400535" cy="1340879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1400" dirty="0">
                <a:latin typeface="Franklin Gothic Book"/>
                <a:cs typeface="Franklin Gothic Book"/>
              </a:rPr>
              <a:t>			</a:t>
            </a:r>
            <a:endParaRPr lang="is-IS" dirty="0"/>
          </a:p>
        </p:txBody>
      </p:sp>
      <p:sp>
        <p:nvSpPr>
          <p:cNvPr id="6" name="Rectangle 5"/>
          <p:cNvSpPr/>
          <p:nvPr/>
        </p:nvSpPr>
        <p:spPr>
          <a:xfrm>
            <a:off x="514865" y="260865"/>
            <a:ext cx="8400535" cy="336378"/>
          </a:xfrm>
          <a:prstGeom prst="rect">
            <a:avLst/>
          </a:prstGeom>
          <a:solidFill>
            <a:srgbClr val="A01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2754"/>
              </a:solidFill>
            </a:endParaRPr>
          </a:p>
        </p:txBody>
      </p:sp>
      <p:pic>
        <p:nvPicPr>
          <p:cNvPr id="9" name="Picture 8" descr="shutterstock_42161080.jpg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39"/>
                    </a14:imgEffect>
                    <a14:imgEffect>
                      <a14:saturation sat="1740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64" y="597243"/>
            <a:ext cx="8400535" cy="4386647"/>
          </a:xfrm>
          <a:prstGeom prst="rect">
            <a:avLst/>
          </a:prstGeom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14864" y="3536648"/>
            <a:ext cx="8400535" cy="63246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228600" tIns="45720" rIns="914400" bIns="45720" anchor="ctr" anchorCtr="0" upright="1">
            <a:noAutofit/>
          </a:bodyPr>
          <a:lstStyle/>
          <a:p>
            <a:pPr marL="0" marR="0"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solidFill>
                  <a:schemeClr val="bg1"/>
                </a:solidFill>
                <a:latin typeface="Franklin Gothic Book"/>
                <a:ea typeface="ＭＳ 明朝"/>
                <a:cs typeface="Franklin Gothic Book"/>
              </a:rPr>
              <a:t>Driving Your Own Business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8649" y="5190687"/>
            <a:ext cx="567165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  <a:cs typeface="Franklin Gothic Book"/>
              </a:rPr>
              <a:t>Prepared for: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  <a:cs typeface="Franklin Gothic Book"/>
              </a:rPr>
              <a:t> </a:t>
            </a:r>
          </a:p>
          <a:p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  <a:cs typeface="Franklin Gothic Book"/>
              </a:rPr>
              <a:t>YOU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/>
              <a:cs typeface="Franklin Gothic Book"/>
            </a:endParaRPr>
          </a:p>
          <a:p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83128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685800" y="7266357"/>
            <a:ext cx="1498433" cy="222484"/>
          </a:xfrm>
          <a:prstGeom prst="rect">
            <a:avLst/>
          </a:prstGeom>
          <a:noFill/>
        </p:spPr>
        <p:txBody>
          <a:bodyPr wrap="none" lIns="98413" tIns="49206" rIns="98413" bIns="49206" rtlCol="0">
            <a:spAutoFit/>
          </a:bodyPr>
          <a:lstStyle/>
          <a:p>
            <a:pPr defTabSz="984124"/>
            <a:r>
              <a:rPr lang="en-US" sz="800">
                <a:solidFill>
                  <a:prstClr val="white">
                    <a:lumMod val="65000"/>
                  </a:prstClr>
                </a:solidFill>
                <a:latin typeface="Century Gothic" charset="0"/>
                <a:ea typeface="Century Gothic" charset="0"/>
                <a:cs typeface="Century Gothic" charset="0"/>
              </a:rPr>
              <a:t>© 2016, The Summit Group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98900" y="1211867"/>
            <a:ext cx="2057400" cy="27432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00800" y="2073926"/>
            <a:ext cx="2189364" cy="96658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44292" y="3940896"/>
            <a:ext cx="1828800" cy="640080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1284881" y="3902738"/>
            <a:ext cx="2003425" cy="990600"/>
            <a:chOff x="511175" y="5188075"/>
            <a:chExt cx="2359024" cy="1125538"/>
          </a:xfrm>
          <a:effectLst/>
        </p:grpSpPr>
        <p:grpSp>
          <p:nvGrpSpPr>
            <p:cNvPr id="35" name="Group 63"/>
            <p:cNvGrpSpPr>
              <a:grpSpLocks/>
            </p:cNvGrpSpPr>
            <p:nvPr/>
          </p:nvGrpSpPr>
          <p:grpSpPr bwMode="auto">
            <a:xfrm>
              <a:off x="511175" y="5188075"/>
              <a:ext cx="2359024" cy="1125538"/>
              <a:chOff x="2351619" y="1732006"/>
              <a:chExt cx="7526453" cy="3592512"/>
            </a:xfrm>
          </p:grpSpPr>
          <p:sp>
            <p:nvSpPr>
              <p:cNvPr id="38" name="Oval 37"/>
              <p:cNvSpPr/>
              <p:nvPr/>
            </p:nvSpPr>
            <p:spPr bwMode="auto">
              <a:xfrm>
                <a:off x="4291424" y="1732006"/>
                <a:ext cx="3591019" cy="3592512"/>
              </a:xfrm>
              <a:prstGeom prst="ellipse">
                <a:avLst/>
              </a:prstGeom>
              <a:solidFill>
                <a:srgbClr val="A91719"/>
              </a:solidFill>
              <a:ln w="57150" cmpd="sng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200">
                  <a:solidFill>
                    <a:srgbClr val="FFFFFF"/>
                  </a:solidFill>
                  <a:latin typeface="Arial Narrow Regular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 bwMode="auto">
              <a:xfrm>
                <a:off x="2351619" y="3211573"/>
                <a:ext cx="2258950" cy="9627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274320" anchor="ctr"/>
              <a:lstStyle/>
              <a:p>
                <a:pPr algn="ctr">
                  <a:defRPr/>
                </a:pPr>
                <a:endParaRPr lang="en-US" sz="1400">
                  <a:solidFill>
                    <a:srgbClr val="000000"/>
                  </a:solidFill>
                  <a:latin typeface="Arial Narrow Regular" charset="0"/>
                  <a:ea typeface="ＭＳ Ｐゴシック" charset="0"/>
                  <a:cs typeface="Avenir Medium" charset="0"/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 bwMode="auto">
              <a:xfrm>
                <a:off x="7603929" y="3201439"/>
                <a:ext cx="2274143" cy="9627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274320" anchor="ctr"/>
              <a:lstStyle/>
              <a:p>
                <a:pPr algn="ctr">
                  <a:defRPr/>
                </a:pPr>
                <a:endParaRPr lang="en-US" sz="1400">
                  <a:solidFill>
                    <a:srgbClr val="000000"/>
                  </a:solidFill>
                  <a:latin typeface="Arial Narrow Regular" charset="0"/>
                  <a:ea typeface="ＭＳ Ｐゴシック" charset="0"/>
                  <a:cs typeface="Avenir Medium" charset="0"/>
                </a:endParaRPr>
              </a:p>
            </p:txBody>
          </p:sp>
          <p:sp>
            <p:nvSpPr>
              <p:cNvPr id="41" name="Circular Arrow 40"/>
              <p:cNvSpPr/>
              <p:nvPr/>
            </p:nvSpPr>
            <p:spPr>
              <a:xfrm>
                <a:off x="6135051" y="2025893"/>
                <a:ext cx="2177911" cy="2219351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5964374"/>
                  <a:gd name="adj5" fmla="val 12500"/>
                </a:avLst>
              </a:prstGeom>
              <a:solidFill>
                <a:srgbClr val="FF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000000"/>
                  </a:solidFill>
                  <a:latin typeface="Arial Narrow Regular" charset="0"/>
                </a:endParaRPr>
              </a:p>
            </p:txBody>
          </p:sp>
          <p:sp>
            <p:nvSpPr>
              <p:cNvPr id="42" name="Circular Arrow 41"/>
              <p:cNvSpPr/>
              <p:nvPr/>
            </p:nvSpPr>
            <p:spPr>
              <a:xfrm flipH="1">
                <a:off x="3891295" y="2051229"/>
                <a:ext cx="2005704" cy="2214282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5964374"/>
                  <a:gd name="adj5" fmla="val 12500"/>
                </a:avLst>
              </a:prstGeom>
              <a:solidFill>
                <a:srgbClr val="FF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000000"/>
                  </a:solidFill>
                  <a:latin typeface="Arial Narrow Regular" charset="0"/>
                </a:endParaRPr>
              </a:p>
            </p:txBody>
          </p:sp>
        </p:grpSp>
        <p:sp>
          <p:nvSpPr>
            <p:cNvPr id="36" name="Oval 35"/>
            <p:cNvSpPr/>
            <p:nvPr/>
          </p:nvSpPr>
          <p:spPr bwMode="auto">
            <a:xfrm>
              <a:off x="1329265" y="5435598"/>
              <a:ext cx="708007" cy="66333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571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">
                <a:solidFill>
                  <a:srgbClr val="FF0000"/>
                </a:solidFill>
                <a:latin typeface="Arial Narrow Regular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1455721" y="5534314"/>
              <a:ext cx="471486" cy="4714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">
                <a:solidFill>
                  <a:srgbClr val="FF0000"/>
                </a:solidFill>
                <a:latin typeface="Arial Narrow Regular" charset="0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-75177"/>
            <a:ext cx="9144000" cy="775204"/>
          </a:xfrm>
        </p:spPr>
        <p:txBody>
          <a:bodyPr>
            <a:normAutofit/>
          </a:bodyPr>
          <a:lstStyle/>
          <a:p>
            <a:r>
              <a:rPr lang="en-US" sz="3600" b="0">
                <a:solidFill>
                  <a:schemeClr val="tx1"/>
                </a:solidFill>
                <a:latin typeface="Franklin Gothic Book" panose="020B0503020102020204" pitchFamily="34" charset="0"/>
              </a:rPr>
              <a:t>Framework Works!</a:t>
            </a:r>
          </a:p>
        </p:txBody>
      </p:sp>
      <p:sp>
        <p:nvSpPr>
          <p:cNvPr id="3" name="TextBox 2"/>
          <p:cNvSpPr txBox="1"/>
          <p:nvPr/>
        </p:nvSpPr>
        <p:spPr bwMode="auto">
          <a:xfrm>
            <a:off x="3886200" y="914400"/>
            <a:ext cx="2018501" cy="27699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91440" tIns="45720" rIns="91440" bIns="45720" numCol="1" rtlCol="0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charset="0"/>
                <a:ea typeface="+mj-ea"/>
                <a:cs typeface="ＭＳ Ｐゴシック" charset="0"/>
              </a:rPr>
              <a:t>Value Creation Framework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6781800" y="1692926"/>
            <a:ext cx="1544413" cy="27699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91440" tIns="45720" rIns="91440" bIns="45720" numCol="1" rtlCol="0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charset="0"/>
                <a:ea typeface="+mj-ea"/>
                <a:cs typeface="ＭＳ Ｐゴシック" charset="0"/>
              </a:rPr>
              <a:t>Customer Compass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6411084" y="3657010"/>
            <a:ext cx="1464839" cy="27699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91440" tIns="45720" rIns="91440" bIns="45720" numCol="1" rtlCol="0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charset="0"/>
                <a:ea typeface="+mj-ea"/>
                <a:cs typeface="ＭＳ Ｐゴシック" charset="0"/>
              </a:rPr>
              <a:t>Third Box Thinking</a:t>
            </a:r>
          </a:p>
        </p:txBody>
      </p:sp>
      <p:sp>
        <p:nvSpPr>
          <p:cNvPr id="30" name="Rectangle 68"/>
          <p:cNvSpPr>
            <a:spLocks noChangeArrowheads="1"/>
          </p:cNvSpPr>
          <p:nvPr/>
        </p:nvSpPr>
        <p:spPr bwMode="auto">
          <a:xfrm>
            <a:off x="961925" y="3515196"/>
            <a:ext cx="2717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3M Circular TT Book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3M Circular TT Book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3M Circular TT Book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3M Circular TT Book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3M Circular TT Book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9pPr>
          </a:lstStyle>
          <a:p>
            <a:pPr algn="ctr"/>
            <a:r>
              <a:rPr lang="en-US" altLang="en-US" sz="1200" dirty="0">
                <a:solidFill>
                  <a:srgbClr val="595959"/>
                </a:solidFill>
                <a:latin typeface="Arial Narrow Regular" charset="0"/>
                <a:ea typeface="Arial Narrow Regular" charset="0"/>
                <a:cs typeface="Arial Narrow Regular" charset="0"/>
              </a:rPr>
              <a:t>Value-Enabled™ Solutions</a:t>
            </a:r>
          </a:p>
        </p:txBody>
      </p:sp>
      <p:sp>
        <p:nvSpPr>
          <p:cNvPr id="72" name="TextBox 19"/>
          <p:cNvSpPr txBox="1">
            <a:spLocks noChangeArrowheads="1"/>
          </p:cNvSpPr>
          <p:nvPr/>
        </p:nvSpPr>
        <p:spPr bwMode="auto">
          <a:xfrm>
            <a:off x="4503750" y="4724400"/>
            <a:ext cx="1134122" cy="27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>
              <a:defRPr>
                <a:solidFill>
                  <a:schemeClr val="tx1"/>
                </a:solidFill>
                <a:latin typeface="3M Circular TT Book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3M Circular TT Book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3M Circular TT Book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3M Circular TT Book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3M Circular TT Book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 Regular" charset="0"/>
                <a:ea typeface="Arial Narrow Regular" charset="0"/>
                <a:cs typeface="Arial Narrow Regular" charset="0"/>
              </a:rPr>
              <a:t>Careabouts™</a:t>
            </a:r>
          </a:p>
        </p:txBody>
      </p:sp>
      <p:grpSp>
        <p:nvGrpSpPr>
          <p:cNvPr id="73" name="Group 59"/>
          <p:cNvGrpSpPr>
            <a:grpSpLocks/>
          </p:cNvGrpSpPr>
          <p:nvPr/>
        </p:nvGrpSpPr>
        <p:grpSpPr bwMode="auto">
          <a:xfrm>
            <a:off x="3886200" y="5076515"/>
            <a:ext cx="2319337" cy="855663"/>
            <a:chOff x="913381" y="2696852"/>
            <a:chExt cx="9290203" cy="6227330"/>
          </a:xfrm>
        </p:grpSpPr>
        <p:grpSp>
          <p:nvGrpSpPr>
            <p:cNvPr id="74" name="Group 60"/>
            <p:cNvGrpSpPr>
              <a:grpSpLocks/>
            </p:cNvGrpSpPr>
            <p:nvPr/>
          </p:nvGrpSpPr>
          <p:grpSpPr bwMode="auto">
            <a:xfrm>
              <a:off x="913381" y="2696852"/>
              <a:ext cx="9290203" cy="914400"/>
              <a:chOff x="1964732" y="2713827"/>
              <a:chExt cx="5988747" cy="914400"/>
            </a:xfrm>
          </p:grpSpPr>
          <p:sp>
            <p:nvSpPr>
              <p:cNvPr id="79" name="Rectangle 78"/>
              <p:cNvSpPr/>
              <p:nvPr/>
            </p:nvSpPr>
            <p:spPr>
              <a:xfrm>
                <a:off x="1964732" y="2713827"/>
                <a:ext cx="1422378" cy="912726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 algn="ctr"/>
                <a:endParaRPr lang="en-US" altLang="en-US" sz="1600">
                  <a:solidFill>
                    <a:srgbClr val="FFFFFF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485487" y="2713827"/>
                <a:ext cx="1418280" cy="912726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 algn="ctr"/>
                <a:endParaRPr lang="en-US" altLang="en-US" sz="1600">
                  <a:solidFill>
                    <a:srgbClr val="FFFFFF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5006246" y="2713827"/>
                <a:ext cx="1422378" cy="912726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 algn="ctr"/>
                <a:endParaRPr lang="en-US" altLang="en-US" sz="1200">
                  <a:solidFill>
                    <a:srgbClr val="FFFFFF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6531101" y="2713827"/>
                <a:ext cx="1422378" cy="912726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 algn="ctr"/>
                <a:endParaRPr lang="en-US" altLang="en-US" sz="1600">
                  <a:solidFill>
                    <a:srgbClr val="FFFFFF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</p:grpSp>
        <p:sp>
          <p:nvSpPr>
            <p:cNvPr id="75" name="Rectangle 74"/>
            <p:cNvSpPr/>
            <p:nvPr/>
          </p:nvSpPr>
          <p:spPr>
            <a:xfrm>
              <a:off x="913381" y="3609581"/>
              <a:ext cx="2206501" cy="5314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285750" indent="-285750">
                <a:defRPr>
                  <a:solidFill>
                    <a:schemeClr val="tx1"/>
                  </a:solidFill>
                  <a:latin typeface="3M Circular TT Book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3M Circular TT Book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9pPr>
            </a:lstStyle>
            <a:p>
              <a:pPr>
                <a:buFont typeface="Arial" charset="0"/>
                <a:buChar char="•"/>
              </a:pPr>
              <a:endParaRPr lang="en-US" altLang="en-US" sz="1200">
                <a:solidFill>
                  <a:srgbClr val="000000"/>
                </a:solidFill>
                <a:latin typeface="Arial Narrow Regular" charset="0"/>
                <a:ea typeface="Arial Narrow Regular" charset="0"/>
                <a:cs typeface="Arial Narrow Regular" charset="0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272493" y="3609581"/>
              <a:ext cx="2200144" cy="5314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285750" indent="-285750">
                <a:defRPr>
                  <a:solidFill>
                    <a:schemeClr val="tx1"/>
                  </a:solidFill>
                  <a:latin typeface="3M Circular TT Book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3M Circular TT Book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9pPr>
            </a:lstStyle>
            <a:p>
              <a:pPr>
                <a:buFont typeface="Arial" charset="0"/>
                <a:buChar char="•"/>
              </a:pPr>
              <a:endParaRPr lang="en-US" altLang="en-US" sz="1200">
                <a:solidFill>
                  <a:srgbClr val="000000"/>
                </a:solidFill>
                <a:latin typeface="Arial Narrow Regular" charset="0"/>
                <a:ea typeface="Arial Narrow Regular" charset="0"/>
                <a:cs typeface="Arial Narrow Regular" charset="0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631610" y="3609581"/>
              <a:ext cx="2206501" cy="5314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171450" indent="-171450">
                <a:defRPr>
                  <a:solidFill>
                    <a:schemeClr val="tx1"/>
                  </a:solidFill>
                  <a:latin typeface="3M Circular TT Book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3M Circular TT Book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9pPr>
            </a:lstStyle>
            <a:p>
              <a:pPr>
                <a:buFont typeface="Arial" charset="0"/>
                <a:buChar char="•"/>
              </a:pPr>
              <a:endParaRPr lang="en-US" altLang="en-US" sz="1200">
                <a:solidFill>
                  <a:srgbClr val="000000"/>
                </a:solidFill>
                <a:latin typeface="Arial Narrow Regular" charset="0"/>
                <a:ea typeface="Arial Narrow Regular" charset="0"/>
                <a:cs typeface="Arial Narrow Regular" charset="0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997083" y="3609581"/>
              <a:ext cx="2206501" cy="5314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285750" indent="-285750">
                <a:defRPr>
                  <a:solidFill>
                    <a:schemeClr val="tx1"/>
                  </a:solidFill>
                  <a:latin typeface="3M Circular TT Book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3M Circular TT Book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3M Circular TT Book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3M Circular TT Book" charset="0"/>
                </a:defRPr>
              </a:lvl9pPr>
            </a:lstStyle>
            <a:p>
              <a:pPr>
                <a:buFont typeface="Arial" charset="0"/>
                <a:buChar char="•"/>
              </a:pPr>
              <a:endParaRPr lang="en-US" altLang="en-US" sz="1200">
                <a:solidFill>
                  <a:srgbClr val="000000"/>
                </a:solidFill>
                <a:latin typeface="Arial Narrow Regular" charset="0"/>
                <a:ea typeface="Arial Narrow Regular" charset="0"/>
                <a:cs typeface="Arial Narrow Regular" charset="0"/>
              </a:endParaRPr>
            </a:p>
          </p:txBody>
        </p:sp>
      </p:grpSp>
      <p:sp>
        <p:nvSpPr>
          <p:cNvPr id="83" name="Rectangle 68"/>
          <p:cNvSpPr>
            <a:spLocks noChangeArrowheads="1"/>
          </p:cNvSpPr>
          <p:nvPr/>
        </p:nvSpPr>
        <p:spPr bwMode="auto">
          <a:xfrm>
            <a:off x="1711288" y="1318684"/>
            <a:ext cx="1166066" cy="46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>
              <a:defRPr>
                <a:solidFill>
                  <a:schemeClr val="tx1"/>
                </a:solidFill>
                <a:latin typeface="3M Circular TT Book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3M Circular TT Book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3M Circular TT Book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3M Circular TT Book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3M Circular TT Book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3M Circular TT Book" charset="0"/>
              </a:defRPr>
            </a:lvl9pPr>
          </a:lstStyle>
          <a:p>
            <a:pPr algn="ctr"/>
            <a:br>
              <a:rPr lang="en-US" altLang="en-US" sz="1200" dirty="0">
                <a:solidFill>
                  <a:srgbClr val="595959"/>
                </a:solidFill>
                <a:latin typeface="Arial Narrow Regular" charset="0"/>
                <a:ea typeface="Arial Narrow Regular" charset="0"/>
                <a:cs typeface="Arial Narrow Regular" charset="0"/>
              </a:rPr>
            </a:br>
            <a:r>
              <a:rPr lang="en-US" altLang="en-US" sz="1200" dirty="0">
                <a:solidFill>
                  <a:srgbClr val="595959"/>
                </a:solidFill>
                <a:latin typeface="Arial Narrow Regular" charset="0"/>
                <a:ea typeface="Arial Narrow Regular" charset="0"/>
                <a:cs typeface="Arial Narrow Regular" charset="0"/>
              </a:rPr>
              <a:t>Value Proposition</a:t>
            </a:r>
          </a:p>
        </p:txBody>
      </p:sp>
      <p:grpSp>
        <p:nvGrpSpPr>
          <p:cNvPr id="84" name="Group 95"/>
          <p:cNvGrpSpPr>
            <a:grpSpLocks/>
          </p:cNvGrpSpPr>
          <p:nvPr/>
        </p:nvGrpSpPr>
        <p:grpSpPr bwMode="auto">
          <a:xfrm>
            <a:off x="1315937" y="1901936"/>
            <a:ext cx="1978025" cy="1000125"/>
            <a:chOff x="5426212" y="5221570"/>
            <a:chExt cx="1435151" cy="725561"/>
          </a:xfrm>
        </p:grpSpPr>
        <p:grpSp>
          <p:nvGrpSpPr>
            <p:cNvPr id="85" name="Group 96"/>
            <p:cNvGrpSpPr>
              <a:grpSpLocks/>
            </p:cNvGrpSpPr>
            <p:nvPr/>
          </p:nvGrpSpPr>
          <p:grpSpPr bwMode="auto">
            <a:xfrm>
              <a:off x="5426212" y="5417590"/>
              <a:ext cx="1435151" cy="529541"/>
              <a:chOff x="913381" y="2696852"/>
              <a:chExt cx="9290203" cy="6227330"/>
            </a:xfrm>
          </p:grpSpPr>
          <p:grpSp>
            <p:nvGrpSpPr>
              <p:cNvPr id="91" name="Group 102"/>
              <p:cNvGrpSpPr>
                <a:grpSpLocks/>
              </p:cNvGrpSpPr>
              <p:nvPr/>
            </p:nvGrpSpPr>
            <p:grpSpPr bwMode="auto">
              <a:xfrm>
                <a:off x="913381" y="2696852"/>
                <a:ext cx="9290203" cy="914400"/>
                <a:chOff x="1964732" y="2713827"/>
                <a:chExt cx="5988747" cy="914400"/>
              </a:xfrm>
            </p:grpSpPr>
            <p:sp>
              <p:nvSpPr>
                <p:cNvPr id="96" name="Rectangle 95"/>
                <p:cNvSpPr/>
                <p:nvPr/>
              </p:nvSpPr>
              <p:spPr>
                <a:xfrm>
                  <a:off x="1964732" y="2711080"/>
                  <a:ext cx="1422688" cy="92096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9pPr>
                </a:lstStyle>
                <a:p>
                  <a:pPr algn="ctr"/>
                  <a:endParaRPr lang="en-US" altLang="en-US" sz="1600">
                    <a:solidFill>
                      <a:srgbClr val="FFFFFF"/>
                    </a:solidFill>
                    <a:latin typeface="Arial Narrow Regular" charset="0"/>
                    <a:ea typeface="Arial Narrow Regular" charset="0"/>
                    <a:cs typeface="Arial Narrow Regular" charset="0"/>
                  </a:endParaRPr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3483547" y="2711080"/>
                  <a:ext cx="1422688" cy="92096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9pPr>
                </a:lstStyle>
                <a:p>
                  <a:pPr algn="ctr"/>
                  <a:endParaRPr lang="en-US" altLang="en-US" sz="1600">
                    <a:solidFill>
                      <a:srgbClr val="FFFFFF"/>
                    </a:solidFill>
                    <a:latin typeface="Arial Narrow Regular" charset="0"/>
                    <a:ea typeface="Arial Narrow Regular" charset="0"/>
                    <a:cs typeface="Arial Narrow Regular" charset="0"/>
                  </a:endParaRPr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5007171" y="2711080"/>
                  <a:ext cx="1422688" cy="92096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9pPr>
                </a:lstStyle>
                <a:p>
                  <a:pPr algn="ctr"/>
                  <a:endParaRPr lang="en-US" altLang="en-US" sz="1200">
                    <a:solidFill>
                      <a:srgbClr val="FFFFFF"/>
                    </a:solidFill>
                    <a:latin typeface="Arial Narrow Regular" charset="0"/>
                    <a:ea typeface="Arial Narrow Regular" charset="0"/>
                    <a:cs typeface="Arial Narrow Regular" charset="0"/>
                  </a:endParaRPr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6530791" y="2711080"/>
                  <a:ext cx="1422688" cy="92096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3M Circular TT Book" charset="0"/>
                    </a:defRPr>
                  </a:lvl9pPr>
                </a:lstStyle>
                <a:p>
                  <a:pPr algn="ctr"/>
                  <a:endParaRPr lang="en-US" altLang="en-US" sz="1600">
                    <a:solidFill>
                      <a:srgbClr val="FFFFFF"/>
                    </a:solidFill>
                    <a:latin typeface="Arial Narrow Regular" charset="0"/>
                    <a:ea typeface="Arial Narrow Regular" charset="0"/>
                    <a:cs typeface="Arial Narrow Regular" charset="0"/>
                  </a:endParaRPr>
                </a:p>
              </p:txBody>
            </p:sp>
          </p:grpSp>
          <p:sp>
            <p:nvSpPr>
              <p:cNvPr id="92" name="Rectangle 91"/>
              <p:cNvSpPr/>
              <p:nvPr/>
            </p:nvSpPr>
            <p:spPr>
              <a:xfrm>
                <a:off x="913381" y="3615073"/>
                <a:ext cx="2206982" cy="530910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>
                <a:lvl1pPr marL="2857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>
                  <a:buFont typeface="Arial" charset="0"/>
                  <a:buChar char="•"/>
                </a:pPr>
                <a:endParaRPr lang="en-US" altLang="en-US" sz="1200">
                  <a:solidFill>
                    <a:srgbClr val="000000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3269484" y="3615073"/>
                <a:ext cx="2206982" cy="530910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>
                <a:lvl1pPr marL="2857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>
                  <a:buFont typeface="Arial" charset="0"/>
                  <a:buChar char="•"/>
                </a:pPr>
                <a:endParaRPr lang="en-US" altLang="en-US" sz="1200">
                  <a:solidFill>
                    <a:srgbClr val="000000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633045" y="3615073"/>
                <a:ext cx="2206982" cy="530910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>
                <a:lvl1pPr marL="171450" indent="-171450"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>
                  <a:buFont typeface="Arial" charset="0"/>
                  <a:buChar char="•"/>
                </a:pPr>
                <a:endParaRPr lang="en-US" altLang="en-US" sz="1200">
                  <a:solidFill>
                    <a:srgbClr val="000000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7996602" y="3615073"/>
                <a:ext cx="2206982" cy="530910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>
                <a:lvl1pPr marL="2857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>
                  <a:buFont typeface="Arial" charset="0"/>
                  <a:buChar char="•"/>
                </a:pPr>
                <a:endParaRPr lang="en-US" altLang="en-US" sz="1200">
                  <a:solidFill>
                    <a:srgbClr val="000000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</p:grpSp>
        <p:grpSp>
          <p:nvGrpSpPr>
            <p:cNvPr id="86" name="Group 97"/>
            <p:cNvGrpSpPr>
              <a:grpSpLocks/>
            </p:cNvGrpSpPr>
            <p:nvPr/>
          </p:nvGrpSpPr>
          <p:grpSpPr bwMode="auto">
            <a:xfrm>
              <a:off x="5432043" y="5221570"/>
              <a:ext cx="1429320" cy="155352"/>
              <a:chOff x="429759" y="827589"/>
              <a:chExt cx="9175025" cy="998538"/>
            </a:xfrm>
          </p:grpSpPr>
          <p:sp>
            <p:nvSpPr>
              <p:cNvPr id="87" name="Pentagon 86"/>
              <p:cNvSpPr/>
              <p:nvPr/>
            </p:nvSpPr>
            <p:spPr bwMode="auto">
              <a:xfrm>
                <a:off x="429759" y="827589"/>
                <a:ext cx="2190742" cy="998538"/>
              </a:xfrm>
              <a:prstGeom prst="homePlate">
                <a:avLst>
                  <a:gd name="adj" fmla="val 38889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/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 algn="ctr"/>
                <a:endParaRPr lang="en-US" altLang="en-US" sz="1600">
                  <a:solidFill>
                    <a:prstClr val="white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88" name="Chevron 87"/>
              <p:cNvSpPr/>
              <p:nvPr/>
            </p:nvSpPr>
            <p:spPr bwMode="auto">
              <a:xfrm>
                <a:off x="2587353" y="827589"/>
                <a:ext cx="2365998" cy="998538"/>
              </a:xfrm>
              <a:prstGeom prst="chevron">
                <a:avLst>
                  <a:gd name="adj" fmla="val 37179"/>
                </a:avLst>
              </a:prstGeom>
              <a:solidFill>
                <a:schemeClr val="accent3">
                  <a:lumMod val="75000"/>
                </a:schemeClr>
              </a:solidFill>
              <a:ln/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 algn="ctr"/>
                <a:endParaRPr lang="en-US" altLang="en-US" sz="1600">
                  <a:solidFill>
                    <a:prstClr val="white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89" name="Chevron 88"/>
              <p:cNvSpPr/>
              <p:nvPr/>
            </p:nvSpPr>
            <p:spPr bwMode="auto">
              <a:xfrm>
                <a:off x="4913068" y="836052"/>
                <a:ext cx="2365999" cy="990075"/>
              </a:xfrm>
              <a:prstGeom prst="chevron">
                <a:avLst>
                  <a:gd name="adj" fmla="val 37179"/>
                </a:avLst>
              </a:prstGeom>
              <a:solidFill>
                <a:srgbClr val="9B0F20"/>
              </a:solidFill>
              <a:ln/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 algn="ctr"/>
                <a:endParaRPr lang="en-US" altLang="en-US" sz="1600">
                  <a:solidFill>
                    <a:prstClr val="white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  <p:sp>
            <p:nvSpPr>
              <p:cNvPr id="90" name="Chevron 89"/>
              <p:cNvSpPr/>
              <p:nvPr/>
            </p:nvSpPr>
            <p:spPr bwMode="auto">
              <a:xfrm>
                <a:off x="7238786" y="827589"/>
                <a:ext cx="2365998" cy="998538"/>
              </a:xfrm>
              <a:prstGeom prst="chevron">
                <a:avLst>
                  <a:gd name="adj" fmla="val 37179"/>
                </a:avLst>
              </a:prstGeom>
              <a:solidFill>
                <a:srgbClr val="9B0F20"/>
              </a:solidFill>
              <a:ln/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182880" rIns="0" anchor="ctr"/>
              <a:lstStyle>
                <a:lvl1pPr>
                  <a:defRPr>
                    <a:solidFill>
                      <a:schemeClr val="tx1"/>
                    </a:solidFill>
                    <a:latin typeface="3M Circular TT Book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3M Circular TT Book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3M Circular TT Book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3M Circular TT Book" charset="0"/>
                  </a:defRPr>
                </a:lvl9pPr>
              </a:lstStyle>
              <a:p>
                <a:pPr algn="ctr"/>
                <a:endParaRPr lang="en-US" altLang="en-US" sz="1600">
                  <a:solidFill>
                    <a:prstClr val="white"/>
                  </a:solidFill>
                  <a:latin typeface="Arial Narrow Regular" charset="0"/>
                  <a:ea typeface="Arial Narrow Regular" charset="0"/>
                  <a:cs typeface="Arial Narrow Regular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619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2192" y="0"/>
            <a:ext cx="9131808" cy="794067"/>
          </a:xfrm>
        </p:spPr>
        <p:txBody>
          <a:bodyPr>
            <a:normAutofit/>
          </a:bodyPr>
          <a:lstStyle/>
          <a:p>
            <a:r>
              <a:rPr lang="en-US" sz="3200" b="0">
                <a:latin typeface="Franklin Gothic Book" panose="020B0503020102020204" pitchFamily="34" charset="0"/>
              </a:rPr>
              <a:t>Principle 1 – Value Creation Thought Framework</a:t>
            </a:r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390672" y="2441551"/>
            <a:ext cx="1960562" cy="4081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buClr>
                <a:srgbClr val="D0132B"/>
              </a:buClr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What do your customers care about?</a:t>
            </a:r>
          </a:p>
          <a:p>
            <a:pPr marL="285750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endParaRPr lang="en-US" sz="1600">
              <a:latin typeface="+mj-lt"/>
              <a:ea typeface="Avenir Book" charset="0"/>
              <a:cs typeface="Avenir Book" charset="0"/>
            </a:endParaRPr>
          </a:p>
          <a:p>
            <a:pPr marL="285750" lvl="1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What are their critical business issues?</a:t>
            </a:r>
          </a:p>
          <a:p>
            <a:pPr marL="285750" lvl="1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What will be important to them?</a:t>
            </a:r>
          </a:p>
          <a:p>
            <a:pPr marL="285750" lvl="1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What value do they rely on to win business with their customers?</a:t>
            </a:r>
          </a:p>
          <a:p>
            <a:pPr marL="285750" lvl="1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What do their customers seek?</a:t>
            </a:r>
          </a:p>
        </p:txBody>
      </p:sp>
      <p:sp>
        <p:nvSpPr>
          <p:cNvPr id="67589" name="Rectangle 13"/>
          <p:cNvSpPr>
            <a:spLocks noChangeArrowheads="1"/>
          </p:cNvSpPr>
          <p:nvPr/>
        </p:nvSpPr>
        <p:spPr bwMode="auto">
          <a:xfrm>
            <a:off x="2419930" y="2306836"/>
            <a:ext cx="1828800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buClr>
                <a:srgbClr val="D0132B"/>
              </a:buClr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What do you have?</a:t>
            </a:r>
          </a:p>
          <a:p>
            <a:pPr marL="285750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endParaRPr lang="en-US" sz="1600">
              <a:latin typeface="+mj-lt"/>
              <a:ea typeface="Avenir Book" charset="0"/>
              <a:cs typeface="Avenir Book" charset="0"/>
            </a:endParaRPr>
          </a:p>
          <a:p>
            <a:pPr marL="285750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endParaRPr lang="en-US" sz="1600">
              <a:latin typeface="+mj-lt"/>
              <a:ea typeface="Avenir Book" charset="0"/>
              <a:cs typeface="Avenir Book" charset="0"/>
            </a:endParaRPr>
          </a:p>
          <a:p>
            <a:pPr marL="285750" lvl="1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Products</a:t>
            </a:r>
          </a:p>
          <a:p>
            <a:pPr marL="285750" lvl="1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Services</a:t>
            </a:r>
          </a:p>
          <a:p>
            <a:pPr marL="285750" lvl="1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Solutions</a:t>
            </a:r>
          </a:p>
          <a:p>
            <a:pPr marL="285750" lvl="1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Value Enablers</a:t>
            </a:r>
          </a:p>
        </p:txBody>
      </p:sp>
      <p:sp>
        <p:nvSpPr>
          <p:cNvPr id="67590" name="Rectangle 14"/>
          <p:cNvSpPr>
            <a:spLocks noChangeArrowheads="1"/>
          </p:cNvSpPr>
          <p:nvPr/>
        </p:nvSpPr>
        <p:spPr bwMode="auto">
          <a:xfrm>
            <a:off x="4521057" y="2441554"/>
            <a:ext cx="1960562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How does what you have IMPACT what they care about?</a:t>
            </a:r>
          </a:p>
        </p:txBody>
      </p:sp>
      <p:sp>
        <p:nvSpPr>
          <p:cNvPr id="67591" name="Rectangle 15"/>
          <p:cNvSpPr>
            <a:spLocks noChangeArrowheads="1"/>
          </p:cNvSpPr>
          <p:nvPr/>
        </p:nvSpPr>
        <p:spPr bwMode="auto">
          <a:xfrm>
            <a:off x="6620024" y="2441554"/>
            <a:ext cx="1960562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buClr>
                <a:srgbClr val="D0132B"/>
              </a:buClr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How do you articulate this value and validate based on relevant examples?</a:t>
            </a:r>
          </a:p>
          <a:p>
            <a:pPr marL="285750" indent="-285750" algn="ctr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endParaRPr lang="en-US" sz="1600">
              <a:latin typeface="+mj-lt"/>
              <a:ea typeface="Avenir Book" charset="0"/>
              <a:cs typeface="Avenir Book" charset="0"/>
            </a:endParaRPr>
          </a:p>
          <a:p>
            <a:pPr marL="285750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Prove It!!!</a:t>
            </a:r>
          </a:p>
          <a:p>
            <a:pPr marL="285750" indent="-285750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r>
              <a:rPr lang="en-US" sz="1600">
                <a:latin typeface="+mj-lt"/>
                <a:ea typeface="Avenir Book" charset="0"/>
                <a:cs typeface="Avenir Book" charset="0"/>
              </a:rPr>
              <a:t>What Matters NEXT???</a:t>
            </a:r>
          </a:p>
          <a:p>
            <a:pPr marL="285750" indent="-285750" algn="ctr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endParaRPr lang="en-US" sz="1600">
              <a:latin typeface="+mj-lt"/>
              <a:ea typeface="Avenir Book" charset="0"/>
              <a:cs typeface="Avenir Book" charset="0"/>
            </a:endParaRPr>
          </a:p>
          <a:p>
            <a:pPr marL="285750" lvl="1" indent="-285750" algn="ctr" eaLnBrk="0" hangingPunct="0">
              <a:lnSpc>
                <a:spcPct val="90000"/>
              </a:lnSpc>
              <a:buClr>
                <a:srgbClr val="D0132B"/>
              </a:buClr>
              <a:buFont typeface="Wingdings" charset="2"/>
              <a:buChar char="§"/>
            </a:pPr>
            <a:endParaRPr lang="en-US" sz="1600">
              <a:latin typeface="+mj-lt"/>
              <a:ea typeface="Avenir Book" charset="0"/>
              <a:cs typeface="Avenir Book" charset="0"/>
            </a:endParaRPr>
          </a:p>
        </p:txBody>
      </p:sp>
      <p:sp>
        <p:nvSpPr>
          <p:cNvPr id="18" name="Pentagon 17"/>
          <p:cNvSpPr/>
          <p:nvPr/>
        </p:nvSpPr>
        <p:spPr>
          <a:xfrm>
            <a:off x="421891" y="1316236"/>
            <a:ext cx="1985847" cy="990600"/>
          </a:xfrm>
          <a:prstGeom prst="homePlate">
            <a:avLst>
              <a:gd name="adj" fmla="val 38889"/>
            </a:avLst>
          </a:prstGeom>
          <a:solidFill>
            <a:srgbClr val="9A0052"/>
          </a:solidFill>
          <a:ln/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  <a:latin typeface="+mj-lt"/>
                <a:ea typeface="Avenir Book" charset="0"/>
                <a:cs typeface="Avenir Book" charset="0"/>
              </a:rPr>
              <a:t>THEM</a:t>
            </a:r>
          </a:p>
        </p:txBody>
      </p:sp>
      <p:sp>
        <p:nvSpPr>
          <p:cNvPr id="19" name="Chevron 18"/>
          <p:cNvSpPr/>
          <p:nvPr/>
        </p:nvSpPr>
        <p:spPr>
          <a:xfrm>
            <a:off x="2377691" y="1316236"/>
            <a:ext cx="2144715" cy="990600"/>
          </a:xfrm>
          <a:prstGeom prst="chevron">
            <a:avLst>
              <a:gd name="adj" fmla="val 37179"/>
            </a:avLst>
          </a:prstGeom>
          <a:solidFill>
            <a:srgbClr val="9A0052"/>
          </a:solidFill>
          <a:ln/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  <a:latin typeface="+mj-lt"/>
                <a:ea typeface="Avenir Book" charset="0"/>
                <a:cs typeface="Avenir Book" charset="0"/>
              </a:rPr>
              <a:t>US</a:t>
            </a:r>
          </a:p>
        </p:txBody>
      </p:sp>
      <p:sp>
        <p:nvSpPr>
          <p:cNvPr id="20" name="Chevron 19"/>
          <p:cNvSpPr/>
          <p:nvPr/>
        </p:nvSpPr>
        <p:spPr>
          <a:xfrm>
            <a:off x="4485891" y="1324703"/>
            <a:ext cx="2144715" cy="990600"/>
          </a:xfrm>
          <a:prstGeom prst="chevron">
            <a:avLst>
              <a:gd name="adj" fmla="val 37179"/>
            </a:avLst>
          </a:prstGeom>
          <a:solidFill>
            <a:srgbClr val="9A0052"/>
          </a:solidFill>
          <a:ln/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  <a:latin typeface="+mj-lt"/>
                <a:ea typeface="Avenir Book" charset="0"/>
                <a:cs typeface="Avenir Book" charset="0"/>
              </a:rPr>
              <a:t>FIT</a:t>
            </a:r>
          </a:p>
        </p:txBody>
      </p:sp>
      <p:sp>
        <p:nvSpPr>
          <p:cNvPr id="21" name="Chevron 20"/>
          <p:cNvSpPr/>
          <p:nvPr/>
        </p:nvSpPr>
        <p:spPr>
          <a:xfrm>
            <a:off x="6594091" y="1316236"/>
            <a:ext cx="2144715" cy="990600"/>
          </a:xfrm>
          <a:prstGeom prst="chevron">
            <a:avLst>
              <a:gd name="adj" fmla="val 37179"/>
            </a:avLst>
          </a:prstGeom>
          <a:solidFill>
            <a:srgbClr val="9A0052"/>
          </a:solidFill>
          <a:ln/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182880" rIns="0" anchor="ctr"/>
          <a:lstStyle/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  <a:latin typeface="+mj-lt"/>
                <a:ea typeface="Avenir Book" charset="0"/>
                <a:cs typeface="Avenir Book" charset="0"/>
              </a:rPr>
              <a:t>PROOF</a:t>
            </a:r>
          </a:p>
        </p:txBody>
      </p:sp>
    </p:spTree>
    <p:extLst>
      <p:ext uri="{BB962C8B-B14F-4D97-AF65-F5344CB8AC3E}">
        <p14:creationId xmlns:p14="http://schemas.microsoft.com/office/powerpoint/2010/main" val="254153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25943" y="12794"/>
            <a:ext cx="8941857" cy="641667"/>
          </a:xfrm>
        </p:spPr>
        <p:txBody>
          <a:bodyPr>
            <a:normAutofit/>
          </a:bodyPr>
          <a:lstStyle/>
          <a:p>
            <a:r>
              <a:rPr lang="en-US" sz="3600" b="0" dirty="0">
                <a:latin typeface="Franklin Gothic Book" panose="020B0503020102020204" pitchFamily="34" charset="0"/>
              </a:rPr>
              <a:t>Principle 2-</a:t>
            </a:r>
            <a:r>
              <a:rPr lang="en-US" sz="3600" dirty="0">
                <a:latin typeface="Franklin Gothic Book" panose="020B0503020102020204" pitchFamily="34" charset="0"/>
              </a:rPr>
              <a:t> </a:t>
            </a:r>
            <a:r>
              <a:rPr lang="en-US" sz="3600" b="0" dirty="0">
                <a:latin typeface="Franklin Gothic Book" panose="020B0503020102020204" pitchFamily="34" charset="0"/>
              </a:rPr>
              <a:t>Customer Business Compass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5374574" y="3396988"/>
            <a:ext cx="3483430" cy="138717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ffectLst/>
          <a:scene3d>
            <a:camera prst="orthographicFront"/>
            <a:lightRig rig="threePt" dir="t"/>
          </a:scene3d>
          <a:sp3d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lang="en-US" sz="1050" b="1">
                <a:solidFill>
                  <a:srgbClr val="000000"/>
                </a:solidFill>
                <a:latin typeface="+mj-lt"/>
                <a:ea typeface="Avenir Medium"/>
                <a:cs typeface="Avenir Bold"/>
              </a:rPr>
              <a:t>Organization &amp; People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  <a:r>
              <a:rPr lang="en-US" sz="1050" b="1">
                <a:solidFill>
                  <a:srgbClr val="000000"/>
                </a:solidFill>
                <a:latin typeface="+mj-lt"/>
                <a:ea typeface="Avenir Medium"/>
                <a:cs typeface="Avenir Bold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21516" y="3412632"/>
            <a:ext cx="3483430" cy="1389888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  <a:effectLst/>
          <a:scene3d>
            <a:camera prst="orthographicFront"/>
            <a:lightRig rig="threePt" dir="t"/>
          </a:scene3d>
          <a:sp3d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lang="en-US" sz="1050" b="1">
                <a:solidFill>
                  <a:srgbClr val="000000"/>
                </a:solidFill>
                <a:latin typeface="+mj-lt"/>
                <a:ea typeface="Avenir Medium"/>
                <a:cs typeface="Avenir Bold"/>
              </a:rPr>
              <a:t>Operational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2808934" y="1639240"/>
            <a:ext cx="3483430" cy="144799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ffectLst/>
          <a:scene3d>
            <a:camera prst="orthographicFront"/>
            <a:lightRig rig="threePt" dir="t"/>
          </a:scene3d>
          <a:sp3d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defRPr/>
            </a:pPr>
            <a:r>
              <a:rPr lang="en-US" sz="1050" b="1">
                <a:solidFill>
                  <a:srgbClr val="000000"/>
                </a:solidFill>
                <a:latin typeface="+mj-lt"/>
                <a:ea typeface="Avenir Medium"/>
                <a:cs typeface="Avenir Bold"/>
              </a:rPr>
              <a:t>Market / Customer / Competition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808934" y="5056790"/>
            <a:ext cx="3483430" cy="1402830"/>
          </a:xfrm>
          <a:prstGeom prst="rect">
            <a:avLst/>
          </a:prstGeom>
          <a:noFill/>
          <a:ln w="38100">
            <a:solidFill>
              <a:srgbClr val="D0132B"/>
            </a:solidFill>
          </a:ln>
          <a:effectLst/>
          <a:scene3d>
            <a:camera prst="orthographicFront"/>
            <a:lightRig rig="threePt" dir="t"/>
          </a:scene3d>
          <a:sp3d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lang="en-US" sz="1050" b="1">
                <a:solidFill>
                  <a:srgbClr val="000000"/>
                </a:solidFill>
                <a:latin typeface="+mj-lt"/>
                <a:ea typeface="Avenir Medium"/>
                <a:cs typeface="Avenir Bold"/>
              </a:rPr>
              <a:t>Financial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050">
                <a:solidFill>
                  <a:srgbClr val="000000"/>
                </a:solidFill>
                <a:latin typeface="+mj-lt"/>
                <a:ea typeface="ＭＳ Ｐゴシック" pitchFamily="-102" charset="-128"/>
                <a:cs typeface="Avenir Medium"/>
              </a:rPr>
              <a:t> </a:t>
            </a:r>
            <a:r>
              <a:rPr lang="en-US" sz="1050" b="1">
                <a:solidFill>
                  <a:srgbClr val="000000"/>
                </a:solidFill>
                <a:latin typeface="+mj-lt"/>
                <a:ea typeface="Avenir Medium"/>
                <a:cs typeface="Avenir Bold"/>
              </a:rPr>
              <a:t> </a:t>
            </a:r>
          </a:p>
        </p:txBody>
      </p:sp>
      <p:sp>
        <p:nvSpPr>
          <p:cNvPr id="20" name="4-Point Star 19"/>
          <p:cNvSpPr/>
          <p:nvPr/>
        </p:nvSpPr>
        <p:spPr>
          <a:xfrm rot="2700000">
            <a:off x="4026096" y="3517118"/>
            <a:ext cx="1109786" cy="1109786"/>
          </a:xfrm>
          <a:prstGeom prst="star4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Book" charset="0"/>
              <a:ea typeface="Avenir Book" charset="0"/>
              <a:cs typeface="Avenir Book" charset="0"/>
            </a:endParaRPr>
          </a:p>
        </p:txBody>
      </p:sp>
      <p:sp>
        <p:nvSpPr>
          <p:cNvPr id="25" name="4-Point Star 24"/>
          <p:cNvSpPr/>
          <p:nvPr/>
        </p:nvSpPr>
        <p:spPr>
          <a:xfrm>
            <a:off x="3931015" y="3412633"/>
            <a:ext cx="1299948" cy="1299948"/>
          </a:xfrm>
          <a:prstGeom prst="star4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Book" charset="0"/>
              <a:ea typeface="Avenir Book" charset="0"/>
              <a:cs typeface="Avenir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83695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56980"/>
            <a:ext cx="8991600" cy="641667"/>
          </a:xfrm>
        </p:spPr>
        <p:txBody>
          <a:bodyPr>
            <a:normAutofit/>
          </a:bodyPr>
          <a:lstStyle/>
          <a:p>
            <a:r>
              <a:rPr lang="en-US" sz="3600" b="0" dirty="0">
                <a:latin typeface="Franklin Gothic Book" panose="020B0503020102020204" pitchFamily="34" charset="0"/>
              </a:rPr>
              <a:t>Principle 3- Third Box Thinking™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2631" y="1238538"/>
            <a:ext cx="1492519" cy="14925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  <a:ea typeface="Avenir Book" charset="0"/>
                <a:cs typeface="Avenir Book" charset="0"/>
              </a:rPr>
              <a:t>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908884" y="1238538"/>
            <a:ext cx="1492519" cy="14925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Avenir Book" charset="0"/>
                <a:cs typeface="Avenir Book" charset="0"/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0295" y="1238538"/>
            <a:ext cx="1492519" cy="14925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Avenir Book" charset="0"/>
                <a:cs typeface="Avenir Book" charset="0"/>
              </a:rPr>
              <a:t>Customer’s</a:t>
            </a:r>
          </a:p>
          <a:p>
            <a:pPr algn="ctr">
              <a:defRPr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Avenir Book" charset="0"/>
                <a:cs typeface="Avenir Book" charset="0"/>
              </a:rPr>
              <a:t>Customer</a:t>
            </a:r>
          </a:p>
        </p:txBody>
      </p:sp>
      <p:sp>
        <p:nvSpPr>
          <p:cNvPr id="9" name="Isosceles Triangle 8"/>
          <p:cNvSpPr/>
          <p:nvPr/>
        </p:nvSpPr>
        <p:spPr>
          <a:xfrm rot="16200000">
            <a:off x="3348419" y="1786693"/>
            <a:ext cx="332732" cy="445985"/>
          </a:xfrm>
          <a:prstGeom prst="triangle">
            <a:avLst/>
          </a:prstGeom>
          <a:solidFill>
            <a:srgbClr val="C91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+mj-lt"/>
              <a:ea typeface="Avenir Book" charset="0"/>
              <a:cs typeface="Avenir Book" charset="0"/>
            </a:endParaRPr>
          </a:p>
        </p:txBody>
      </p:sp>
      <p:sp>
        <p:nvSpPr>
          <p:cNvPr id="10" name="Isosceles Triangle 9"/>
          <p:cNvSpPr/>
          <p:nvPr/>
        </p:nvSpPr>
        <p:spPr>
          <a:xfrm rot="16200000">
            <a:off x="5503000" y="1786694"/>
            <a:ext cx="332732" cy="445985"/>
          </a:xfrm>
          <a:prstGeom prst="triangle">
            <a:avLst/>
          </a:prstGeom>
          <a:solidFill>
            <a:srgbClr val="C91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+mj-lt"/>
              <a:ea typeface="Avenir Book" charset="0"/>
              <a:cs typeface="Avenir Book" charset="0"/>
            </a:endParaRPr>
          </a:p>
        </p:txBody>
      </p:sp>
      <p:sp>
        <p:nvSpPr>
          <p:cNvPr id="109591" name="TextBox 19"/>
          <p:cNvSpPr txBox="1">
            <a:spLocks noChangeArrowheads="1"/>
          </p:cNvSpPr>
          <p:nvPr/>
        </p:nvSpPr>
        <p:spPr bwMode="auto">
          <a:xfrm>
            <a:off x="1610128" y="2825587"/>
            <a:ext cx="18335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 b="1">
                <a:latin typeface="+mj-lt"/>
                <a:ea typeface="Avenir Book" charset="0"/>
                <a:cs typeface="Avenir Book" charset="0"/>
              </a:rPr>
              <a:t>Bring?</a:t>
            </a:r>
          </a:p>
        </p:txBody>
      </p:sp>
      <p:sp>
        <p:nvSpPr>
          <p:cNvPr id="109592" name="TextBox 20"/>
          <p:cNvSpPr txBox="1">
            <a:spLocks noChangeArrowheads="1"/>
          </p:cNvSpPr>
          <p:nvPr/>
        </p:nvSpPr>
        <p:spPr bwMode="auto">
          <a:xfrm>
            <a:off x="3735791" y="2928618"/>
            <a:ext cx="183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 b="1">
                <a:latin typeface="+mj-lt"/>
                <a:ea typeface="Avenir Book" charset="0"/>
                <a:cs typeface="Avenir Book" charset="0"/>
              </a:rPr>
              <a:t>Care About?</a:t>
            </a:r>
          </a:p>
        </p:txBody>
      </p:sp>
      <p:sp>
        <p:nvSpPr>
          <p:cNvPr id="109594" name="TextBox 20"/>
          <p:cNvSpPr txBox="1">
            <a:spLocks noChangeArrowheads="1"/>
          </p:cNvSpPr>
          <p:nvPr/>
        </p:nvSpPr>
        <p:spPr bwMode="auto">
          <a:xfrm>
            <a:off x="5958291" y="2928618"/>
            <a:ext cx="183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 b="1" dirty="0">
                <a:latin typeface="+mj-lt"/>
                <a:ea typeface="Avenir Book" charset="0"/>
                <a:cs typeface="Avenir Book" charset="0"/>
              </a:rPr>
              <a:t>Seek?</a:t>
            </a:r>
          </a:p>
        </p:txBody>
      </p:sp>
      <p:sp>
        <p:nvSpPr>
          <p:cNvPr id="109598" name="TextBox 2"/>
          <p:cNvSpPr txBox="1">
            <a:spLocks noChangeArrowheads="1"/>
          </p:cNvSpPr>
          <p:nvPr/>
        </p:nvSpPr>
        <p:spPr bwMode="auto">
          <a:xfrm>
            <a:off x="3735791" y="3328666"/>
            <a:ext cx="1933575" cy="313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</p:txBody>
      </p:sp>
      <p:sp>
        <p:nvSpPr>
          <p:cNvPr id="109599" name="TextBox 18"/>
          <p:cNvSpPr txBox="1">
            <a:spLocks noChangeArrowheads="1"/>
          </p:cNvSpPr>
          <p:nvPr/>
        </p:nvSpPr>
        <p:spPr bwMode="auto">
          <a:xfrm>
            <a:off x="5905903" y="3336606"/>
            <a:ext cx="1935163" cy="313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42957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56980"/>
            <a:ext cx="8991600" cy="641667"/>
          </a:xfrm>
        </p:spPr>
        <p:txBody>
          <a:bodyPr>
            <a:normAutofit/>
          </a:bodyPr>
          <a:lstStyle/>
          <a:p>
            <a:r>
              <a:rPr lang="en-US" sz="3600" b="0" dirty="0">
                <a:latin typeface="Franklin Gothic Book" panose="020B0503020102020204" pitchFamily="34" charset="0"/>
              </a:rPr>
              <a:t>Principle 3- Third Box Thinking™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653" y="1315812"/>
            <a:ext cx="1492519" cy="14925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  <a:ea typeface="Avenir Book" charset="0"/>
                <a:cs typeface="Avenir Book" charset="0"/>
              </a:rPr>
              <a:t>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906" y="1315812"/>
            <a:ext cx="1492519" cy="14925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Avenir Book" charset="0"/>
                <a:cs typeface="Avenir Book" charset="0"/>
              </a:rPr>
              <a:t>Customer’s Legal Dept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8317" y="1315812"/>
            <a:ext cx="1492519" cy="14925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Avenir Book" charset="0"/>
                <a:cs typeface="Avenir Book" charset="0"/>
              </a:rPr>
              <a:t>Customer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8117" y="1315812"/>
            <a:ext cx="1492519" cy="14925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>
                <a:solidFill>
                  <a:schemeClr val="tx1"/>
                </a:solidFill>
                <a:latin typeface="+mj-lt"/>
                <a:ea typeface="Avenir Book" charset="0"/>
                <a:cs typeface="Avenir Book" charset="0"/>
              </a:rPr>
              <a:t>Customer’s Customer</a:t>
            </a:r>
          </a:p>
        </p:txBody>
      </p:sp>
      <p:sp>
        <p:nvSpPr>
          <p:cNvPr id="9" name="Isosceles Triangle 8"/>
          <p:cNvSpPr/>
          <p:nvPr/>
        </p:nvSpPr>
        <p:spPr>
          <a:xfrm rot="16200000">
            <a:off x="2190762" y="1847589"/>
            <a:ext cx="332732" cy="445985"/>
          </a:xfrm>
          <a:prstGeom prst="triangle">
            <a:avLst/>
          </a:prstGeom>
          <a:solidFill>
            <a:srgbClr val="C91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+mj-lt"/>
              <a:ea typeface="Avenir Book" charset="0"/>
              <a:cs typeface="Avenir Book" charset="0"/>
            </a:endParaRPr>
          </a:p>
        </p:txBody>
      </p:sp>
      <p:sp>
        <p:nvSpPr>
          <p:cNvPr id="10" name="Isosceles Triangle 9"/>
          <p:cNvSpPr/>
          <p:nvPr/>
        </p:nvSpPr>
        <p:spPr>
          <a:xfrm rot="16200000">
            <a:off x="4345343" y="1847590"/>
            <a:ext cx="332732" cy="445985"/>
          </a:xfrm>
          <a:prstGeom prst="triangle">
            <a:avLst/>
          </a:prstGeom>
          <a:solidFill>
            <a:srgbClr val="C91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+mj-lt"/>
              <a:ea typeface="Avenir Book" charset="0"/>
              <a:cs typeface="Avenir Book" charset="0"/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6555143" y="1847590"/>
            <a:ext cx="332732" cy="445985"/>
          </a:xfrm>
          <a:prstGeom prst="triangle">
            <a:avLst/>
          </a:prstGeom>
          <a:solidFill>
            <a:srgbClr val="C91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+mj-lt"/>
              <a:ea typeface="Avenir Book" charset="0"/>
              <a:cs typeface="Avenir Book" charset="0"/>
            </a:endParaRPr>
          </a:p>
        </p:txBody>
      </p:sp>
      <p:sp>
        <p:nvSpPr>
          <p:cNvPr id="109591" name="TextBox 19"/>
          <p:cNvSpPr txBox="1">
            <a:spLocks noChangeArrowheads="1"/>
          </p:cNvSpPr>
          <p:nvPr/>
        </p:nvSpPr>
        <p:spPr bwMode="auto">
          <a:xfrm>
            <a:off x="438150" y="3005892"/>
            <a:ext cx="18335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 b="1">
                <a:latin typeface="+mj-lt"/>
                <a:ea typeface="Avenir Book" charset="0"/>
                <a:cs typeface="Avenir Book" charset="0"/>
              </a:rPr>
              <a:t>Bring?</a:t>
            </a:r>
          </a:p>
        </p:txBody>
      </p:sp>
      <p:sp>
        <p:nvSpPr>
          <p:cNvPr id="109592" name="TextBox 20"/>
          <p:cNvSpPr txBox="1">
            <a:spLocks noChangeArrowheads="1"/>
          </p:cNvSpPr>
          <p:nvPr/>
        </p:nvSpPr>
        <p:spPr bwMode="auto">
          <a:xfrm>
            <a:off x="2563813" y="3005892"/>
            <a:ext cx="183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 b="1">
                <a:latin typeface="+mj-lt"/>
                <a:ea typeface="Avenir Book" charset="0"/>
                <a:cs typeface="Avenir Book" charset="0"/>
              </a:rPr>
              <a:t>Care About?</a:t>
            </a:r>
          </a:p>
        </p:txBody>
      </p:sp>
      <p:sp>
        <p:nvSpPr>
          <p:cNvPr id="109593" name="TextBox 21"/>
          <p:cNvSpPr txBox="1">
            <a:spLocks noChangeArrowheads="1"/>
          </p:cNvSpPr>
          <p:nvPr/>
        </p:nvSpPr>
        <p:spPr bwMode="auto">
          <a:xfrm>
            <a:off x="7038975" y="3005892"/>
            <a:ext cx="18335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 b="1">
                <a:latin typeface="+mj-lt"/>
                <a:ea typeface="Avenir Book" charset="0"/>
                <a:cs typeface="Avenir Book" charset="0"/>
              </a:rPr>
              <a:t>Seek?</a:t>
            </a:r>
          </a:p>
        </p:txBody>
      </p:sp>
      <p:sp>
        <p:nvSpPr>
          <p:cNvPr id="109594" name="TextBox 20"/>
          <p:cNvSpPr txBox="1">
            <a:spLocks noChangeArrowheads="1"/>
          </p:cNvSpPr>
          <p:nvPr/>
        </p:nvSpPr>
        <p:spPr bwMode="auto">
          <a:xfrm>
            <a:off x="4786313" y="3005892"/>
            <a:ext cx="183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 b="1">
                <a:latin typeface="+mj-lt"/>
                <a:ea typeface="Avenir Book" charset="0"/>
                <a:cs typeface="Avenir Book" charset="0"/>
              </a:rPr>
              <a:t>Care About?</a:t>
            </a:r>
          </a:p>
        </p:txBody>
      </p:sp>
      <p:sp>
        <p:nvSpPr>
          <p:cNvPr id="109598" name="TextBox 2"/>
          <p:cNvSpPr txBox="1">
            <a:spLocks noChangeArrowheads="1"/>
          </p:cNvSpPr>
          <p:nvPr/>
        </p:nvSpPr>
        <p:spPr bwMode="auto">
          <a:xfrm>
            <a:off x="2563813" y="3405940"/>
            <a:ext cx="1933575" cy="313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</p:txBody>
      </p:sp>
      <p:sp>
        <p:nvSpPr>
          <p:cNvPr id="109599" name="TextBox 18"/>
          <p:cNvSpPr txBox="1">
            <a:spLocks noChangeArrowheads="1"/>
          </p:cNvSpPr>
          <p:nvPr/>
        </p:nvSpPr>
        <p:spPr bwMode="auto">
          <a:xfrm>
            <a:off x="4733925" y="3413880"/>
            <a:ext cx="1935163" cy="313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</p:txBody>
      </p:sp>
      <p:sp>
        <p:nvSpPr>
          <p:cNvPr id="109600" name="TextBox 19"/>
          <p:cNvSpPr txBox="1">
            <a:spLocks noChangeArrowheads="1"/>
          </p:cNvSpPr>
          <p:nvPr/>
        </p:nvSpPr>
        <p:spPr bwMode="auto">
          <a:xfrm>
            <a:off x="6934200" y="3405942"/>
            <a:ext cx="1933575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</p:txBody>
      </p:sp>
      <p:sp>
        <p:nvSpPr>
          <p:cNvPr id="20" name="TextBox 2"/>
          <p:cNvSpPr txBox="1">
            <a:spLocks noChangeArrowheads="1"/>
          </p:cNvSpPr>
          <p:nvPr/>
        </p:nvSpPr>
        <p:spPr bwMode="auto">
          <a:xfrm>
            <a:off x="438150" y="3413880"/>
            <a:ext cx="1933575" cy="313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Avenir Book" charset="0"/>
                <a:cs typeface="Avenir Book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853281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76200"/>
            <a:ext cx="6142037" cy="641667"/>
          </a:xfrm>
        </p:spPr>
        <p:txBody>
          <a:bodyPr>
            <a:normAutofit/>
          </a:bodyPr>
          <a:lstStyle/>
          <a:p>
            <a:r>
              <a:rPr lang="en-US" sz="3600" b="0" dirty="0">
                <a:latin typeface="Franklin Gothic Book" panose="020B0503020102020204" pitchFamily="34" charset="0"/>
              </a:rPr>
              <a:t>Principle 4- Careabouts</a:t>
            </a:r>
          </a:p>
        </p:txBody>
      </p:sp>
      <p:graphicFrame>
        <p:nvGraphicFramePr>
          <p:cNvPr id="6" name="Group 36"/>
          <p:cNvGraphicFramePr>
            <a:graphicFrameLocks noGrp="1"/>
          </p:cNvGraphicFramePr>
          <p:nvPr/>
        </p:nvGraphicFramePr>
        <p:xfrm>
          <a:off x="293810" y="1295400"/>
          <a:ext cx="8577264" cy="4890484"/>
        </p:xfrm>
        <a:graphic>
          <a:graphicData uri="http://schemas.openxmlformats.org/drawingml/2006/table">
            <a:tbl>
              <a:tblPr firstRow="1">
                <a:effectLst/>
                <a:tableStyleId>{775DCB02-9BB8-47FD-8907-85C794F793BA}</a:tableStyleId>
              </a:tblPr>
              <a:tblGrid>
                <a:gridCol w="2144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4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01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venir Medium"/>
                        </a:rPr>
                        <a:t>Customer Careabouts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venir Medium"/>
                        </a:rPr>
                        <a:t>WHAT?</a:t>
                      </a:r>
                      <a:endParaRPr kumimoji="0" 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n-ea"/>
                        <a:cs typeface="Avenir Medium"/>
                      </a:endParaRPr>
                    </a:p>
                  </a:txBody>
                  <a:tcPr marL="77498" marR="77498" marT="38749" marB="38749" anchor="ctr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0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venir Medium"/>
                        </a:rPr>
                        <a:t>WHY Is This a Problem/Priority?</a:t>
                      </a:r>
                      <a:endParaRPr kumimoji="0" 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n-ea"/>
                        <a:cs typeface="Avenir Medium"/>
                      </a:endParaRPr>
                    </a:p>
                  </a:txBody>
                  <a:tcPr marL="77498" marR="77498" marT="38749" marB="38749" anchor="ctr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0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venir Medium"/>
                        </a:rPr>
                        <a:t>What Are They DOING About This Issue?</a:t>
                      </a:r>
                      <a:endParaRPr kumimoji="0" 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n-ea"/>
                        <a:cs typeface="Avenir Medium"/>
                      </a:endParaRPr>
                    </a:p>
                  </a:txBody>
                  <a:tcPr marL="77498" marR="77498" marT="38749" marB="38749" anchor="ctr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0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venir Medium"/>
                        </a:rPr>
                        <a:t>WHO Has Responsibility for It?</a:t>
                      </a:r>
                      <a:endParaRPr kumimoji="0" 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n-ea"/>
                        <a:cs typeface="Avenir Medium"/>
                      </a:endParaRPr>
                    </a:p>
                  </a:txBody>
                  <a:tcPr marL="77498" marR="77498" marT="38749" marB="38749" anchor="ctr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0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4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4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4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203293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8100"/>
            <a:ext cx="9144000" cy="641667"/>
          </a:xfrm>
        </p:spPr>
        <p:txBody>
          <a:bodyPr>
            <a:noAutofit/>
          </a:bodyPr>
          <a:lstStyle/>
          <a:p>
            <a:r>
              <a:rPr lang="en-US" sz="3600" b="0" dirty="0">
                <a:latin typeface="Franklin Gothic Book"/>
                <a:cs typeface="Franklin Gothic Book"/>
              </a:rPr>
              <a:t>Principle 5- Value Hypothesis</a:t>
            </a:r>
          </a:p>
        </p:txBody>
      </p:sp>
      <p:graphicFrame>
        <p:nvGraphicFramePr>
          <p:cNvPr id="5" name="Group 36"/>
          <p:cNvGraphicFramePr>
            <a:graphicFrameLocks noGrp="1"/>
          </p:cNvGraphicFramePr>
          <p:nvPr/>
        </p:nvGraphicFramePr>
        <p:xfrm>
          <a:off x="293814" y="1411740"/>
          <a:ext cx="8518888" cy="3084059"/>
        </p:xfrm>
        <a:graphic>
          <a:graphicData uri="http://schemas.openxmlformats.org/drawingml/2006/table">
            <a:tbl>
              <a:tblPr firstRow="1">
                <a:effectLst/>
                <a:tableStyleId>{775DCB02-9BB8-47FD-8907-85C794F793BA}</a:tableStyleId>
              </a:tblPr>
              <a:tblGrid>
                <a:gridCol w="2129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9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9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7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Wingdings" pitchFamily="-65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What do they care</a:t>
                      </a:r>
                      <a:b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</a:b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about?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Wingdings" pitchFamily="-65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THEM</a:t>
                      </a:r>
                    </a:p>
                  </a:txBody>
                  <a:tcPr marL="168813" marR="168813" anchor="ctr" anchorCtr="1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0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Wingdings" pitchFamily="-65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What do you have? </a:t>
                      </a:r>
                      <a:b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</a:b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How are you different?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Wingdings" pitchFamily="-65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US</a:t>
                      </a:r>
                    </a:p>
                  </a:txBody>
                  <a:tcPr marL="168813" marR="168813" anchor="ctr" anchorCtr="1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0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Wingdings" pitchFamily="-65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Impact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Wingdings" pitchFamily="-65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FIT</a:t>
                      </a:r>
                    </a:p>
                  </a:txBody>
                  <a:tcPr marL="168813" marR="168813" anchor="ctr" anchorCtr="1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0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Wingdings" pitchFamily="-65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Where have you done this before?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Wingdings" pitchFamily="-65" charset="2"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-65" charset="-128"/>
                          <a:cs typeface="Avenir Book"/>
                        </a:rPr>
                        <a:t>PROOF</a:t>
                      </a:r>
                    </a:p>
                  </a:txBody>
                  <a:tcPr marL="168813" marR="168813" anchor="ctr" anchorCtr="1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0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09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09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0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7498" marR="77498" marT="38749" marB="38749" horzOverflow="overflow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93814" y="4686777"/>
            <a:ext cx="8518887" cy="121628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t">
            <a:prstTxWarp prst="textNoShape">
              <a:avLst/>
            </a:prstTxWarp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0132B"/>
              </a:buClr>
              <a:buFont typeface="Wingdings" charset="2"/>
              <a:buChar char="§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venir Book"/>
              </a:rPr>
              <a:t>Identify customer issues</a:t>
            </a:r>
          </a:p>
          <a:p>
            <a:pPr>
              <a:buClr>
                <a:srgbClr val="D0132B"/>
              </a:buClr>
              <a:buFont typeface="Wingdings" charset="2"/>
              <a:buChar char="§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venir Book"/>
              </a:rPr>
              <a:t>What could you potentially offer?</a:t>
            </a:r>
          </a:p>
          <a:p>
            <a:pPr>
              <a:buClr>
                <a:srgbClr val="D0132B"/>
              </a:buClr>
              <a:buFont typeface="Wingdings" charset="2"/>
              <a:buChar char="§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venir Book"/>
              </a:rPr>
              <a:t>Describe impact in 1-3 word phrases</a:t>
            </a:r>
          </a:p>
          <a:p>
            <a:pPr>
              <a:buClr>
                <a:srgbClr val="D0132B"/>
              </a:buClr>
              <a:buFont typeface="Wingdings" charset="2"/>
              <a:buChar char="§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venir Book"/>
              </a:rPr>
              <a:t>Prioritize and order the impact phrases</a:t>
            </a:r>
          </a:p>
        </p:txBody>
      </p:sp>
    </p:spTree>
    <p:extLst>
      <p:ext uri="{BB962C8B-B14F-4D97-AF65-F5344CB8AC3E}">
        <p14:creationId xmlns:p14="http://schemas.microsoft.com/office/powerpoint/2010/main" val="3542553704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0" y="76200"/>
            <a:ext cx="9144000" cy="641667"/>
          </a:xfrm>
        </p:spPr>
        <p:txBody>
          <a:bodyPr>
            <a:normAutofit/>
          </a:bodyPr>
          <a:lstStyle/>
          <a:p>
            <a:r>
              <a:rPr lang="en-US" sz="3600" b="0">
                <a:latin typeface="Franklin Gothic Book"/>
                <a:cs typeface="Franklin Gothic Book"/>
              </a:rPr>
              <a:t>Crafting Your Value Hypothesis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US" sz="2000" dirty="0"/>
              <a:t>Knowing your focus on…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US" sz="2000" dirty="0"/>
              <a:t>We can help you with…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US" sz="2000"/>
              <a:t>So you can…</a:t>
            </a:r>
            <a:endParaRPr lang="en-US" sz="2000" dirty="0"/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US" sz="2000" dirty="0"/>
              <a:t>We have done this for…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1313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104" y="203988"/>
            <a:ext cx="657613" cy="322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64088"/>
            <a:ext cx="9144000" cy="51568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334519" y="143184"/>
            <a:ext cx="9309415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7545070">
              <a:spcBef>
                <a:spcPts val="100"/>
              </a:spcBef>
            </a:pPr>
            <a:r>
              <a:rPr sz="2800" dirty="0">
                <a:latin typeface="Franklin Gothic Book" panose="020B0503020102020204" pitchFamily="34" charset="0"/>
              </a:rPr>
              <a:t>Thank</a:t>
            </a:r>
            <a:r>
              <a:rPr sz="2800" dirty="0"/>
              <a:t>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69B33-3891-FC47-A737-D4534EAB137E}"/>
              </a:ext>
            </a:extLst>
          </p:cNvPr>
          <p:cNvSpPr txBox="1"/>
          <p:nvPr/>
        </p:nvSpPr>
        <p:spPr>
          <a:xfrm>
            <a:off x="3733800" y="1752600"/>
            <a:ext cx="266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Kate@kateburda.com</a:t>
            </a:r>
            <a:endParaRPr lang="en-US" dirty="0"/>
          </a:p>
          <a:p>
            <a:r>
              <a:rPr lang="en-US" dirty="0"/>
              <a:t>972.567.7792</a:t>
            </a:r>
          </a:p>
          <a:p>
            <a:r>
              <a:rPr lang="en-US" dirty="0" err="1"/>
              <a:t>Kateburda.com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7971</TotalTime>
  <Words>511</Words>
  <Application>Microsoft Macintosh PowerPoint</Application>
  <PresentationFormat>On-screen Show (4:3)</PresentationFormat>
  <Paragraphs>204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 Narrow Regular</vt:lpstr>
      <vt:lpstr>Avenir Book</vt:lpstr>
      <vt:lpstr>Avenir Medium</vt:lpstr>
      <vt:lpstr>Calibri</vt:lpstr>
      <vt:lpstr>Century Gothic</vt:lpstr>
      <vt:lpstr>Franklin Gothic Book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395</cp:revision>
  <cp:lastPrinted>2018-01-07T23:29:14Z</cp:lastPrinted>
  <dcterms:created xsi:type="dcterms:W3CDTF">2015-12-09T20:56:52Z</dcterms:created>
  <dcterms:modified xsi:type="dcterms:W3CDTF">2022-01-20T14:38:01Z</dcterms:modified>
</cp:coreProperties>
</file>