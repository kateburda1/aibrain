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30"/>
  </p:notesMasterIdLst>
  <p:sldIdLst>
    <p:sldId id="256" r:id="rId5"/>
    <p:sldId id="281" r:id="rId6"/>
    <p:sldId id="258" r:id="rId7"/>
    <p:sldId id="276" r:id="rId8"/>
    <p:sldId id="277" r:id="rId9"/>
    <p:sldId id="278" r:id="rId10"/>
    <p:sldId id="279" r:id="rId11"/>
    <p:sldId id="280" r:id="rId12"/>
    <p:sldId id="261" r:id="rId13"/>
    <p:sldId id="260" r:id="rId14"/>
    <p:sldId id="282" r:id="rId15"/>
    <p:sldId id="283"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stan Carty" initials="TC" lastIdx="5" clrIdx="0">
    <p:extLst>
      <p:ext uri="{19B8F6BF-5375-455C-9EA6-DF929625EA0E}">
        <p15:presenceInfo xmlns:p15="http://schemas.microsoft.com/office/powerpoint/2012/main" userId="a6303d31203f19ed" providerId="Windows Live"/>
      </p:ext>
    </p:extLst>
  </p:cmAuthor>
  <p:cmAuthor id="2" name="Kate Burda" initials="KB" lastIdx="1" clrIdx="1">
    <p:extLst>
      <p:ext uri="{19B8F6BF-5375-455C-9EA6-DF929625EA0E}">
        <p15:presenceInfo xmlns:p15="http://schemas.microsoft.com/office/powerpoint/2012/main" userId="S::kate@kateburda.com::44c1ea53-84f5-4c7e-8f48-bfeb434f1f0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2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87" d="100"/>
          <a:sy n="87" d="100"/>
        </p:scale>
        <p:origin x="3432" y="20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e Burda" userId="44c1ea53-84f5-4c7e-8f48-bfeb434f1f02" providerId="ADAL" clId="{DC1BB02F-065E-344A-B940-F53044D00616}"/>
    <pc:docChg chg="modSld">
      <pc:chgData name="Kate Burda" userId="44c1ea53-84f5-4c7e-8f48-bfeb434f1f02" providerId="ADAL" clId="{DC1BB02F-065E-344A-B940-F53044D00616}" dt="2025-02-12T01:22:07.017" v="1" actId="1076"/>
      <pc:docMkLst>
        <pc:docMk/>
      </pc:docMkLst>
      <pc:sldChg chg="modSp mod">
        <pc:chgData name="Kate Burda" userId="44c1ea53-84f5-4c7e-8f48-bfeb434f1f02" providerId="ADAL" clId="{DC1BB02F-065E-344A-B940-F53044D00616}" dt="2025-02-12T01:22:07.017" v="1" actId="1076"/>
        <pc:sldMkLst>
          <pc:docMk/>
          <pc:sldMk cId="1228849696" sldId="281"/>
        </pc:sldMkLst>
        <pc:picChg chg="mod">
          <ac:chgData name="Kate Burda" userId="44c1ea53-84f5-4c7e-8f48-bfeb434f1f02" providerId="ADAL" clId="{DC1BB02F-065E-344A-B940-F53044D00616}" dt="2025-02-12T01:22:07.017" v="1" actId="1076"/>
          <ac:picMkLst>
            <pc:docMk/>
            <pc:sldMk cId="1228849696" sldId="281"/>
            <ac:picMk id="5" creationId="{E8A2A959-0EA0-CA6B-EFDC-AFFFA476D638}"/>
          </ac:picMkLst>
        </pc:picChg>
        <pc:picChg chg="mod">
          <ac:chgData name="Kate Burda" userId="44c1ea53-84f5-4c7e-8f48-bfeb434f1f02" providerId="ADAL" clId="{DC1BB02F-065E-344A-B940-F53044D00616}" dt="2025-02-12T01:22:07.017" v="1" actId="1076"/>
          <ac:picMkLst>
            <pc:docMk/>
            <pc:sldMk cId="1228849696" sldId="281"/>
            <ac:picMk id="6" creationId="{8B09665C-E8D7-5A45-2E08-0CC6B72699EB}"/>
          </ac:picMkLst>
        </pc:picChg>
        <pc:picChg chg="mod">
          <ac:chgData name="Kate Burda" userId="44c1ea53-84f5-4c7e-8f48-bfeb434f1f02" providerId="ADAL" clId="{DC1BB02F-065E-344A-B940-F53044D00616}" dt="2025-02-12T01:22:07.017" v="1" actId="1076"/>
          <ac:picMkLst>
            <pc:docMk/>
            <pc:sldMk cId="1228849696" sldId="281"/>
            <ac:picMk id="8" creationId="{E90239A3-FE73-F709-0ECA-1AC4FDB831E2}"/>
          </ac:picMkLst>
        </pc:picChg>
        <pc:picChg chg="mod">
          <ac:chgData name="Kate Burda" userId="44c1ea53-84f5-4c7e-8f48-bfeb434f1f02" providerId="ADAL" clId="{DC1BB02F-065E-344A-B940-F53044D00616}" dt="2025-02-12T01:22:07.017" v="1" actId="1076"/>
          <ac:picMkLst>
            <pc:docMk/>
            <pc:sldMk cId="1228849696" sldId="281"/>
            <ac:picMk id="10" creationId="{2A339A11-CAAC-7954-819B-D1F03172440D}"/>
          </ac:picMkLst>
        </pc:picChg>
        <pc:picChg chg="mod">
          <ac:chgData name="Kate Burda" userId="44c1ea53-84f5-4c7e-8f48-bfeb434f1f02" providerId="ADAL" clId="{DC1BB02F-065E-344A-B940-F53044D00616}" dt="2025-02-12T01:22:07.017" v="1" actId="1076"/>
          <ac:picMkLst>
            <pc:docMk/>
            <pc:sldMk cId="1228849696" sldId="281"/>
            <ac:picMk id="17" creationId="{EA357A95-B8F9-1D49-993C-E3A0B4AAF16B}"/>
          </ac:picMkLst>
        </pc:pic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0-12-07T09:04:15.013" idx="4">
    <p:pos x="3867" y="2304"/>
    <p:text>Clarity here, what do you mean by the last question?</p:text>
    <p:extLst>
      <p:ext uri="{C676402C-5697-4E1C-873F-D02D1690AC5C}">
        <p15:threadingInfo xmlns:p15="http://schemas.microsoft.com/office/powerpoint/2012/main" timeZoneBias="30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0-12-07T09:22:27.330" idx="5">
    <p:pos x="4032" y="2678"/>
    <p:text>CBJ?</p:text>
    <p:extLst>
      <p:ext uri="{C676402C-5697-4E1C-873F-D02D1690AC5C}">
        <p15:threadingInfo xmlns:p15="http://schemas.microsoft.com/office/powerpoint/2012/main" timeZoneBias="30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865AA5-60AD-A640-87A8-FD5FC13BF155}" type="datetimeFigureOut">
              <a:rPr lang="en-US" smtClean="0"/>
              <a:t>2/11/25</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94B95F-E984-124C-AF29-E3901110B95B}" type="slidenum">
              <a:rPr lang="en-US" smtClean="0"/>
              <a:t>‹#›</a:t>
            </a:fld>
            <a:endParaRPr lang="en-US"/>
          </a:p>
        </p:txBody>
      </p:sp>
    </p:spTree>
    <p:extLst>
      <p:ext uri="{BB962C8B-B14F-4D97-AF65-F5344CB8AC3E}">
        <p14:creationId xmlns:p14="http://schemas.microsoft.com/office/powerpoint/2010/main" val="1838738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BB672F-1691-0F4F-BF34-B3F22D1CA420}" type="slidenum">
              <a:rPr lang="en-US" smtClean="0"/>
              <a:t>15</a:t>
            </a:fld>
            <a:endParaRPr lang="en-US"/>
          </a:p>
        </p:txBody>
      </p:sp>
    </p:spTree>
    <p:extLst>
      <p:ext uri="{BB962C8B-B14F-4D97-AF65-F5344CB8AC3E}">
        <p14:creationId xmlns:p14="http://schemas.microsoft.com/office/powerpoint/2010/main" val="36018315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21313" y="7814310"/>
            <a:ext cx="1382365" cy="1329689"/>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a:xfrm>
            <a:off x="762000" y="315467"/>
            <a:ext cx="5963320" cy="615553"/>
          </a:xfrm>
        </p:spPr>
        <p:txBody>
          <a:bodyPr lIns="0" tIns="0" rIns="0" bIns="0"/>
          <a:lstStyle>
            <a:lvl1pPr algn="ctr">
              <a:defRPr sz="4000" b="0" i="0">
                <a:solidFill>
                  <a:schemeClr val="tx1">
                    <a:lumMod val="75000"/>
                    <a:lumOff val="25000"/>
                  </a:schemeClr>
                </a:solidFill>
                <a:latin typeface="Franklin Gothic Book"/>
                <a:cs typeface="Franklin Gothic Boo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342900" y="8503920"/>
            <a:ext cx="1577340" cy="4572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2/11/25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
        <p:nvSpPr>
          <p:cNvPr id="6" name="bk object 17">
            <a:extLst>
              <a:ext uri="{FF2B5EF4-FFF2-40B4-BE49-F238E27FC236}">
                <a16:creationId xmlns:a16="http://schemas.microsoft.com/office/drawing/2014/main" id="{19B7A283-F89B-9D5C-9743-85FB86AC1836}"/>
              </a:ext>
            </a:extLst>
          </p:cNvPr>
          <p:cNvSpPr/>
          <p:nvPr userDrawn="1"/>
        </p:nvSpPr>
        <p:spPr>
          <a:xfrm>
            <a:off x="13739" y="381000"/>
            <a:ext cx="6765570" cy="8763000"/>
          </a:xfrm>
          <a:custGeom>
            <a:avLst/>
            <a:gdLst/>
            <a:ahLst/>
            <a:cxnLst/>
            <a:rect l="l" t="t" r="r" b="b"/>
            <a:pathLst>
              <a:path w="6817359" h="8126730">
                <a:moveTo>
                  <a:pt x="0" y="0"/>
                </a:moveTo>
                <a:lnTo>
                  <a:pt x="0" y="8126601"/>
                </a:lnTo>
                <a:lnTo>
                  <a:pt x="6817266" y="8126601"/>
                </a:lnTo>
                <a:lnTo>
                  <a:pt x="0" y="0"/>
                </a:lnTo>
                <a:close/>
              </a:path>
            </a:pathLst>
          </a:custGeom>
          <a:solidFill>
            <a:srgbClr val="595959"/>
          </a:solidFill>
        </p:spPr>
        <p:txBody>
          <a:bodyPr wrap="square" lIns="0" tIns="0" rIns="0" bIns="0" rtlCol="0"/>
          <a:lstStyle/>
          <a:p>
            <a:endParaRPr/>
          </a:p>
        </p:txBody>
      </p:sp>
      <p:sp>
        <p:nvSpPr>
          <p:cNvPr id="7" name="bk object 18">
            <a:extLst>
              <a:ext uri="{FF2B5EF4-FFF2-40B4-BE49-F238E27FC236}">
                <a16:creationId xmlns:a16="http://schemas.microsoft.com/office/drawing/2014/main" id="{8B07A104-ABCB-254C-6608-BD9C5ED08A3A}"/>
              </a:ext>
            </a:extLst>
          </p:cNvPr>
          <p:cNvSpPr/>
          <p:nvPr userDrawn="1"/>
        </p:nvSpPr>
        <p:spPr>
          <a:xfrm>
            <a:off x="3626619" y="6248400"/>
            <a:ext cx="3213011" cy="2895600"/>
          </a:xfrm>
          <a:custGeom>
            <a:avLst/>
            <a:gdLst/>
            <a:ahLst/>
            <a:cxnLst/>
            <a:rect l="l" t="t" r="r" b="b"/>
            <a:pathLst>
              <a:path w="3215640" h="2891790">
                <a:moveTo>
                  <a:pt x="0" y="0"/>
                </a:moveTo>
                <a:lnTo>
                  <a:pt x="3215500" y="0"/>
                </a:lnTo>
                <a:lnTo>
                  <a:pt x="3215500" y="2891442"/>
                </a:lnTo>
                <a:lnTo>
                  <a:pt x="0" y="2891442"/>
                </a:lnTo>
                <a:lnTo>
                  <a:pt x="0" y="0"/>
                </a:lnTo>
                <a:close/>
              </a:path>
            </a:pathLst>
          </a:custGeom>
          <a:solidFill>
            <a:srgbClr val="FFFFFF"/>
          </a:solidFill>
        </p:spPr>
        <p:txBody>
          <a:bodyPr wrap="square" lIns="0" tIns="0" rIns="0" bIns="0" rtlCol="0"/>
          <a:lstStyle/>
          <a:p>
            <a:endParaRPr/>
          </a:p>
        </p:txBody>
      </p:sp>
      <p:sp>
        <p:nvSpPr>
          <p:cNvPr id="8" name="object 4">
            <a:extLst>
              <a:ext uri="{FF2B5EF4-FFF2-40B4-BE49-F238E27FC236}">
                <a16:creationId xmlns:a16="http://schemas.microsoft.com/office/drawing/2014/main" id="{4151CBCA-7238-96C7-0388-0C620CD163AF}"/>
              </a:ext>
            </a:extLst>
          </p:cNvPr>
          <p:cNvSpPr/>
          <p:nvPr userDrawn="1"/>
        </p:nvSpPr>
        <p:spPr>
          <a:xfrm>
            <a:off x="4348061" y="7497667"/>
            <a:ext cx="1757992" cy="1575816"/>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tx1"/>
                </a:solidFill>
                <a:latin typeface="Franklin Gothic Book"/>
                <a:cs typeface="Franklin Gothic Book"/>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42900" y="8503920"/>
            <a:ext cx="1577340" cy="4572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2/11/25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
        <p:nvSpPr>
          <p:cNvPr id="7" name="object 2">
            <a:extLst>
              <a:ext uri="{FF2B5EF4-FFF2-40B4-BE49-F238E27FC236}">
                <a16:creationId xmlns:a16="http://schemas.microsoft.com/office/drawing/2014/main" id="{29C46EF0-41CB-016F-D624-A4CC2CBFADF3}"/>
              </a:ext>
            </a:extLst>
          </p:cNvPr>
          <p:cNvSpPr/>
          <p:nvPr userDrawn="1"/>
        </p:nvSpPr>
        <p:spPr>
          <a:xfrm>
            <a:off x="3175" y="0"/>
            <a:ext cx="6854825" cy="9144000"/>
          </a:xfrm>
          <a:custGeom>
            <a:avLst/>
            <a:gdLst/>
            <a:ahLst/>
            <a:cxnLst/>
            <a:rect l="l" t="t" r="r" b="b"/>
            <a:pathLst>
              <a:path w="6854825" h="9144000">
                <a:moveTo>
                  <a:pt x="0" y="9144000"/>
                </a:moveTo>
                <a:lnTo>
                  <a:pt x="0" y="0"/>
                </a:lnTo>
                <a:lnTo>
                  <a:pt x="6854426" y="0"/>
                </a:lnTo>
                <a:lnTo>
                  <a:pt x="6854426" y="9143999"/>
                </a:lnTo>
                <a:lnTo>
                  <a:pt x="0" y="9144000"/>
                </a:lnTo>
                <a:close/>
              </a:path>
            </a:pathLst>
          </a:custGeom>
          <a:solidFill>
            <a:srgbClr val="555759"/>
          </a:solidFill>
        </p:spPr>
        <p:txBody>
          <a:bodyPr wrap="square" lIns="0" tIns="0" rIns="0" bIns="0" rtlCol="0"/>
          <a:lstStyle/>
          <a:p>
            <a:endParaRPr/>
          </a:p>
        </p:txBody>
      </p:sp>
      <p:sp>
        <p:nvSpPr>
          <p:cNvPr id="8" name="object 4">
            <a:extLst>
              <a:ext uri="{FF2B5EF4-FFF2-40B4-BE49-F238E27FC236}">
                <a16:creationId xmlns:a16="http://schemas.microsoft.com/office/drawing/2014/main" id="{6A8D0545-0C4B-D7CF-B7C8-C905BD60EE5D}"/>
              </a:ext>
            </a:extLst>
          </p:cNvPr>
          <p:cNvSpPr/>
          <p:nvPr userDrawn="1"/>
        </p:nvSpPr>
        <p:spPr>
          <a:xfrm>
            <a:off x="152664" y="8305800"/>
            <a:ext cx="1295135" cy="802848"/>
          </a:xfrm>
          <a:prstGeom prst="rect">
            <a:avLst/>
          </a:prstGeom>
          <a:blipFill>
            <a:blip r:embed="rId2" cstate="print"/>
            <a:stretch>
              <a:fillRect t="-65128" b="-43570"/>
            </a:stretch>
          </a:blipFill>
        </p:spPr>
        <p:txBody>
          <a:bodyPr wrap="square" lIns="0" tIns="0" rIns="0" bIns="0" rtlCol="0"/>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4350" y="349340"/>
            <a:ext cx="5829300" cy="276999"/>
          </a:xfrm>
          <a:prstGeom prst="rect">
            <a:avLst/>
          </a:prstGeom>
        </p:spPr>
        <p:txBody>
          <a:bodyPr wrap="square" lIns="0" tIns="0" rIns="0" bIns="0">
            <a:spAutoFit/>
          </a:bodyPr>
          <a:lstStyle>
            <a:lvl1pPr>
              <a:defRPr sz="1800">
                <a:latin typeface="Franklin Gothic Book" panose="020B0503020102020204" pitchFamily="34" charset="0"/>
              </a:defRPr>
            </a:lvl1pPr>
          </a:lstStyle>
          <a:p>
            <a:endParaRPr/>
          </a:p>
        </p:txBody>
      </p:sp>
      <p:sp>
        <p:nvSpPr>
          <p:cNvPr id="3" name="Holder 3"/>
          <p:cNvSpPr>
            <a:spLocks noGrp="1"/>
          </p:cNvSpPr>
          <p:nvPr>
            <p:ph type="subTitle" idx="4"/>
          </p:nvPr>
        </p:nvSpPr>
        <p:spPr>
          <a:xfrm>
            <a:off x="1028700" y="838200"/>
            <a:ext cx="4800600" cy="184666"/>
          </a:xfrm>
          <a:prstGeom prst="rect">
            <a:avLst/>
          </a:prstGeom>
        </p:spPr>
        <p:txBody>
          <a:bodyPr wrap="square" lIns="0" tIns="0" rIns="0" bIns="0">
            <a:spAutoFit/>
          </a:bodyPr>
          <a:lstStyle>
            <a:lvl1pPr>
              <a:defRPr sz="1200">
                <a:latin typeface="Franklin Gothic Book" panose="020B0503020102020204" pitchFamily="34" charset="0"/>
              </a:defRPr>
            </a:lvl1pPr>
          </a:lstStyle>
          <a:p>
            <a:endParaRPr/>
          </a:p>
        </p:txBody>
      </p:sp>
      <p:sp>
        <p:nvSpPr>
          <p:cNvPr id="4" name="Holder 4"/>
          <p:cNvSpPr>
            <a:spLocks noGrp="1"/>
          </p:cNvSpPr>
          <p:nvPr>
            <p:ph type="ftr" sz="quarter" idx="5"/>
          </p:nvPr>
        </p:nvSpPr>
        <p:spPr>
          <a:xfrm>
            <a:off x="2331720" y="8503920"/>
            <a:ext cx="2194560" cy="276999"/>
          </a:xfrm>
        </p:spPr>
        <p:txBody>
          <a:bodyPr lIns="0" tIns="0" rIns="0" bIns="0"/>
          <a:lstStyle>
            <a:lvl1pPr algn="ctr">
              <a:defRPr>
                <a:solidFill>
                  <a:schemeClr val="tx1">
                    <a:tint val="75000"/>
                  </a:schemeClr>
                </a:solidFill>
                <a:latin typeface="Franklin Gothic Book" panose="020B0503020102020204" pitchFamily="34" charset="0"/>
              </a:defRPr>
            </a:lvl1pPr>
          </a:lstStyle>
          <a:p>
            <a:endParaRPr lang="en-US"/>
          </a:p>
        </p:txBody>
      </p:sp>
      <p:sp>
        <p:nvSpPr>
          <p:cNvPr id="6" name="Holder 6"/>
          <p:cNvSpPr>
            <a:spLocks noGrp="1"/>
          </p:cNvSpPr>
          <p:nvPr>
            <p:ph type="sldNum" sz="quarter" idx="7"/>
          </p:nvPr>
        </p:nvSpPr>
        <p:spPr>
          <a:xfrm>
            <a:off x="4937760" y="8503920"/>
            <a:ext cx="1577340" cy="276999"/>
          </a:xfrm>
        </p:spPr>
        <p:txBody>
          <a:bodyPr lIns="0" tIns="0" rIns="0" bIns="0"/>
          <a:lstStyle>
            <a:lvl1pPr algn="r">
              <a:defRPr>
                <a:solidFill>
                  <a:schemeClr val="tx1">
                    <a:tint val="75000"/>
                  </a:schemeClr>
                </a:solidFill>
                <a:latin typeface="Franklin Gothic Book" panose="020B0503020102020204" pitchFamily="34" charset="0"/>
              </a:defRPr>
            </a:lvl1pPr>
          </a:lstStyle>
          <a:p>
            <a:fld id="{B6F15528-21DE-4FAA-801E-634DDDAF4B2B}" type="slidenum">
              <a:rPr lang="en-US" smtClean="0"/>
              <a:pPr/>
              <a:t>‹#›</a:t>
            </a:fld>
            <a:endParaRPr lang="en-US"/>
          </a:p>
        </p:txBody>
      </p:sp>
      <p:cxnSp>
        <p:nvCxnSpPr>
          <p:cNvPr id="8" name="Straight Connector 7">
            <a:extLst>
              <a:ext uri="{FF2B5EF4-FFF2-40B4-BE49-F238E27FC236}">
                <a16:creationId xmlns:a16="http://schemas.microsoft.com/office/drawing/2014/main" id="{99DCEB93-266C-B4AF-517B-92647B74F9E4}"/>
              </a:ext>
            </a:extLst>
          </p:cNvPr>
          <p:cNvCxnSpPr>
            <a:cxnSpLocks/>
          </p:cNvCxnSpPr>
          <p:nvPr userDrawn="1"/>
        </p:nvCxnSpPr>
        <p:spPr>
          <a:xfrm>
            <a:off x="381000" y="655070"/>
            <a:ext cx="6134100" cy="0"/>
          </a:xfrm>
          <a:prstGeom prst="line">
            <a:avLst/>
          </a:prstGeom>
          <a:ln w="28575">
            <a:solidFill>
              <a:srgbClr val="B5237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32678" y="315467"/>
            <a:ext cx="6592642" cy="307777"/>
          </a:xfrm>
        </p:spPr>
        <p:txBody>
          <a:bodyPr lIns="0" tIns="0" rIns="0" bIns="0"/>
          <a:lstStyle>
            <a:lvl1pPr>
              <a:defRPr sz="2000" b="0" i="0">
                <a:solidFill>
                  <a:schemeClr val="tx1"/>
                </a:solidFill>
                <a:latin typeface="Franklin Gothic Book" panose="020B0503020102020204" pitchFamily="34" charset="0"/>
                <a:cs typeface="Franklin Gothic Book" panose="020B0503020102020204" pitchFamily="34" charset="0"/>
              </a:defRPr>
            </a:lvl1pPr>
          </a:lstStyle>
          <a:p>
            <a:endParaRPr/>
          </a:p>
        </p:txBody>
      </p:sp>
      <p:sp>
        <p:nvSpPr>
          <p:cNvPr id="3" name="Holder 3"/>
          <p:cNvSpPr>
            <a:spLocks noGrp="1"/>
          </p:cNvSpPr>
          <p:nvPr>
            <p:ph sz="half" idx="2"/>
          </p:nvPr>
        </p:nvSpPr>
        <p:spPr>
          <a:xfrm>
            <a:off x="342900" y="2103120"/>
            <a:ext cx="298323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531870" y="2103120"/>
            <a:ext cx="2983230" cy="603504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2331720" y="8503920"/>
            <a:ext cx="2194560" cy="276999"/>
          </a:xfrm>
        </p:spPr>
        <p:txBody>
          <a:bodyPr lIns="0" tIns="0" rIns="0" bIns="0"/>
          <a:lstStyle>
            <a:lvl1pPr algn="ctr">
              <a:defRPr>
                <a:solidFill>
                  <a:schemeClr val="tx1">
                    <a:tint val="75000"/>
                  </a:schemeClr>
                </a:solidFill>
                <a:latin typeface="Franklin Gothic Book" panose="020B0503020102020204" pitchFamily="34" charset="0"/>
              </a:defRPr>
            </a:lvl1pPr>
          </a:lstStyle>
          <a:p>
            <a:endParaRPr lang="en-US"/>
          </a:p>
        </p:txBody>
      </p:sp>
      <p:sp>
        <p:nvSpPr>
          <p:cNvPr id="7" name="Holder 7"/>
          <p:cNvSpPr>
            <a:spLocks noGrp="1"/>
          </p:cNvSpPr>
          <p:nvPr>
            <p:ph type="sldNum" sz="quarter" idx="7"/>
          </p:nvPr>
        </p:nvSpPr>
        <p:spPr>
          <a:xfrm>
            <a:off x="4937760" y="8503920"/>
            <a:ext cx="1577340" cy="276999"/>
          </a:xfrm>
        </p:spPr>
        <p:txBody>
          <a:bodyPr lIns="0" tIns="0" rIns="0" bIns="0"/>
          <a:lstStyle>
            <a:lvl1pPr algn="r">
              <a:defRPr>
                <a:solidFill>
                  <a:schemeClr val="tx1">
                    <a:tint val="75000"/>
                  </a:schemeClr>
                </a:solidFill>
                <a:latin typeface="Franklin Gothic Book" panose="020B0503020102020204" pitchFamily="34" charset="0"/>
              </a:defRPr>
            </a:lvl1p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2331720" y="8503920"/>
            <a:ext cx="2194560" cy="276999"/>
          </a:xfrm>
        </p:spPr>
        <p:txBody>
          <a:bodyPr lIns="0" tIns="0" rIns="0" bIns="0"/>
          <a:lstStyle>
            <a:lvl1pPr algn="ctr">
              <a:defRPr>
                <a:solidFill>
                  <a:schemeClr val="tx1">
                    <a:tint val="75000"/>
                  </a:schemeClr>
                </a:solidFill>
                <a:latin typeface="Franklin Gothic Book" panose="020B0503020102020204" pitchFamily="34" charset="0"/>
              </a:defRPr>
            </a:lvl1pPr>
          </a:lstStyle>
          <a:p>
            <a:endParaRPr lang="en-US"/>
          </a:p>
        </p:txBody>
      </p:sp>
      <p:sp>
        <p:nvSpPr>
          <p:cNvPr id="4" name="Holder 4"/>
          <p:cNvSpPr>
            <a:spLocks noGrp="1"/>
          </p:cNvSpPr>
          <p:nvPr>
            <p:ph type="sldNum" sz="quarter" idx="7"/>
          </p:nvPr>
        </p:nvSpPr>
        <p:spPr>
          <a:xfrm>
            <a:off x="4937760" y="8503920"/>
            <a:ext cx="1577340" cy="276999"/>
          </a:xfrm>
        </p:spPr>
        <p:txBody>
          <a:bodyPr lIns="0" tIns="0" rIns="0" bIns="0"/>
          <a:lstStyle>
            <a:lvl1pPr algn="r">
              <a:defRPr>
                <a:solidFill>
                  <a:schemeClr val="tx1">
                    <a:tint val="75000"/>
                  </a:schemeClr>
                </a:solidFill>
                <a:latin typeface="Franklin Gothic Book" panose="020B0503020102020204" pitchFamily="34" charset="0"/>
              </a:defRPr>
            </a:lvl1p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21313" y="7814310"/>
            <a:ext cx="1382365" cy="13296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132678" y="315467"/>
            <a:ext cx="6592642" cy="307777"/>
          </a:xfrm>
          <a:prstGeom prst="rect">
            <a:avLst/>
          </a:prstGeom>
        </p:spPr>
        <p:txBody>
          <a:bodyPr wrap="square" lIns="0" tIns="0" rIns="0" bIns="0">
            <a:spAutoFit/>
          </a:bodyPr>
          <a:lstStyle>
            <a:lvl1pPr>
              <a:defRPr sz="2000" b="0" i="0">
                <a:solidFill>
                  <a:schemeClr val="tx1"/>
                </a:solidFill>
                <a:latin typeface="Franklin Gothic Book"/>
                <a:cs typeface="Franklin Gothic Book"/>
              </a:defRPr>
            </a:lvl1pPr>
          </a:lstStyle>
          <a:p>
            <a:endParaRPr/>
          </a:p>
        </p:txBody>
      </p:sp>
      <p:sp>
        <p:nvSpPr>
          <p:cNvPr id="3" name="Holder 3"/>
          <p:cNvSpPr>
            <a:spLocks noGrp="1"/>
          </p:cNvSpPr>
          <p:nvPr>
            <p:ph type="body" idx="1"/>
          </p:nvPr>
        </p:nvSpPr>
        <p:spPr>
          <a:xfrm>
            <a:off x="357890" y="914400"/>
            <a:ext cx="61722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331720" y="8503920"/>
            <a:ext cx="2194560" cy="276999"/>
          </a:xfrm>
          <a:prstGeom prst="rect">
            <a:avLst/>
          </a:prstGeom>
        </p:spPr>
        <p:txBody>
          <a:bodyPr wrap="square" lIns="0" tIns="0" rIns="0" bIns="0">
            <a:spAutoFit/>
          </a:bodyPr>
          <a:lstStyle>
            <a:lvl1pPr algn="ctr">
              <a:defRPr>
                <a:solidFill>
                  <a:schemeClr val="tx1">
                    <a:tint val="75000"/>
                  </a:schemeClr>
                </a:solidFill>
                <a:latin typeface="Franklin Gothic Book" panose="020B0503020102020204" pitchFamily="34" charset="0"/>
              </a:defRPr>
            </a:lvl1pPr>
          </a:lstStyle>
          <a:p>
            <a:endParaRPr lang="en-US"/>
          </a:p>
        </p:txBody>
      </p:sp>
      <p:sp>
        <p:nvSpPr>
          <p:cNvPr id="6" name="Holder 6"/>
          <p:cNvSpPr>
            <a:spLocks noGrp="1"/>
          </p:cNvSpPr>
          <p:nvPr>
            <p:ph type="sldNum" sz="quarter" idx="7"/>
          </p:nvPr>
        </p:nvSpPr>
        <p:spPr>
          <a:xfrm>
            <a:off x="4937760" y="8503920"/>
            <a:ext cx="1577340" cy="276999"/>
          </a:xfrm>
          <a:prstGeom prst="rect">
            <a:avLst/>
          </a:prstGeom>
        </p:spPr>
        <p:txBody>
          <a:bodyPr wrap="square" lIns="0" tIns="0" rIns="0" bIns="0">
            <a:spAutoFit/>
          </a:bodyPr>
          <a:lstStyle>
            <a:lvl1pPr algn="r">
              <a:defRPr>
                <a:solidFill>
                  <a:schemeClr val="tx1">
                    <a:tint val="75000"/>
                  </a:schemeClr>
                </a:solidFill>
                <a:latin typeface="Franklin Gothic Book" panose="020B0503020102020204" pitchFamily="34"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4" r:id="rId1"/>
    <p:sldLayoutId id="2147483662" r:id="rId2"/>
    <p:sldLayoutId id="2147483661" r:id="rId3"/>
    <p:sldLayoutId id="2147483663" r:id="rId4"/>
    <p:sldLayoutId id="2147483665" r:id="rId5"/>
  </p:sldLayoutIdLst>
  <p:txStyles>
    <p:titleStyle>
      <a:lvl1pPr>
        <a:defRPr>
          <a:latin typeface="Franklin Gothic Book" panose="020B0503020102020204" pitchFamily="34" charset="0"/>
          <a:ea typeface="+mj-ea"/>
          <a:cs typeface="+mj-cs"/>
        </a:defRPr>
      </a:lvl1pPr>
    </p:titleStyle>
    <p:bodyStyle>
      <a:lvl1pPr marL="0">
        <a:defRPr>
          <a:latin typeface="Franklin Gothic Book" panose="020B0503020102020204" pitchFamily="34"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emf"/><Relationship Id="rId2" Type="http://schemas.openxmlformats.org/officeDocument/2006/relationships/image" Target="../media/image5.emf"/><Relationship Id="rId1" Type="http://schemas.openxmlformats.org/officeDocument/2006/relationships/slideLayout" Target="../slideLayouts/slideLayout5.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7.emf"/></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16.jpeg"/></Relationships>
</file>

<file path=ppt/slides/_rels/slide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21.jp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hyperlink" Target="mailto:kate@kateburda.com" TargetMode="External"/><Relationship Id="rId2" Type="http://schemas.openxmlformats.org/officeDocument/2006/relationships/image" Target="../media/image2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lose-up of a chess board&#10;&#10;Description automatically generated">
            <a:extLst>
              <a:ext uri="{FF2B5EF4-FFF2-40B4-BE49-F238E27FC236}">
                <a16:creationId xmlns:a16="http://schemas.microsoft.com/office/drawing/2014/main" id="{C8B8C4F0-8E20-7CA0-687E-12041816E86C}"/>
              </a:ext>
            </a:extLst>
          </p:cNvPr>
          <p:cNvPicPr>
            <a:picLocks noChangeAspect="1"/>
          </p:cNvPicPr>
          <p:nvPr/>
        </p:nvPicPr>
        <p:blipFill>
          <a:blip r:embed="rId2">
            <a:alphaModFix amt="70000"/>
          </a:blip>
          <a:stretch>
            <a:fillRect/>
          </a:stretch>
        </p:blipFill>
        <p:spPr>
          <a:xfrm>
            <a:off x="680277" y="2062359"/>
            <a:ext cx="6177723" cy="3905867"/>
          </a:xfrm>
          <a:prstGeom prst="rect">
            <a:avLst/>
          </a:prstGeom>
        </p:spPr>
      </p:pic>
      <p:sp>
        <p:nvSpPr>
          <p:cNvPr id="2" name="object 2"/>
          <p:cNvSpPr txBox="1">
            <a:spLocks noGrp="1"/>
          </p:cNvSpPr>
          <p:nvPr>
            <p:ph type="title"/>
          </p:nvPr>
        </p:nvSpPr>
        <p:spPr>
          <a:xfrm>
            <a:off x="1083945" y="-152400"/>
            <a:ext cx="5545455" cy="1983748"/>
          </a:xfrm>
          <a:prstGeom prst="rect">
            <a:avLst/>
          </a:prstGeom>
        </p:spPr>
        <p:txBody>
          <a:bodyPr vert="horz" wrap="square" lIns="0" tIns="71755" rIns="0" bIns="0" rtlCol="0">
            <a:spAutoFit/>
          </a:bodyPr>
          <a:lstStyle/>
          <a:p>
            <a:pPr marL="12065" marR="5080" indent="-635" algn="ctr">
              <a:lnSpc>
                <a:spcPct val="90300"/>
              </a:lnSpc>
              <a:spcBef>
                <a:spcPts val="565"/>
              </a:spcBef>
            </a:pPr>
            <a:br>
              <a:rPr lang="en-US" sz="4000" spc="-5">
                <a:solidFill>
                  <a:srgbClr val="595959"/>
                </a:solidFill>
                <a:latin typeface="Franklin Gothic Medium"/>
                <a:cs typeface="Franklin Gothic Medium"/>
              </a:rPr>
            </a:br>
            <a:r>
              <a:rPr lang="en-US" sz="4000" spc="-5">
                <a:solidFill>
                  <a:srgbClr val="595959"/>
                </a:solidFill>
                <a:latin typeface="Franklin Gothic Medium"/>
                <a:cs typeface="Franklin Gothic Medium"/>
              </a:rPr>
              <a:t>What Good Looks Like: </a:t>
            </a:r>
            <a:br>
              <a:rPr lang="en-US" sz="4000" spc="-5">
                <a:solidFill>
                  <a:srgbClr val="595959"/>
                </a:solidFill>
                <a:latin typeface="Franklin Gothic Medium"/>
                <a:cs typeface="Franklin Gothic Medium"/>
              </a:rPr>
            </a:br>
            <a:r>
              <a:rPr lang="en-US" sz="1800" spc="-5">
                <a:solidFill>
                  <a:srgbClr val="595959"/>
                </a:solidFill>
                <a:latin typeface="Franklin Gothic Medium"/>
                <a:cs typeface="Franklin Gothic Medium"/>
              </a:rPr>
              <a:t>  </a:t>
            </a:r>
            <a:br>
              <a:rPr lang="en-US" sz="1800" spc="-5">
                <a:solidFill>
                  <a:srgbClr val="595959"/>
                </a:solidFill>
                <a:latin typeface="Franklin Gothic Medium"/>
                <a:cs typeface="Franklin Gothic Medium"/>
              </a:rPr>
            </a:br>
            <a:r>
              <a:rPr lang="en-US" sz="4000" spc="-5">
                <a:solidFill>
                  <a:srgbClr val="B52372"/>
                </a:solidFill>
                <a:latin typeface="Franklin Gothic Medium"/>
                <a:cs typeface="Franklin Gothic Medium"/>
              </a:rPr>
              <a:t>Revenue Strategy</a:t>
            </a:r>
            <a:endParaRPr sz="4000">
              <a:latin typeface="Franklin Gothic Medium"/>
              <a:cs typeface="Franklin Gothic Medium"/>
            </a:endParaRPr>
          </a:p>
        </p:txBody>
      </p:sp>
      <p:sp>
        <p:nvSpPr>
          <p:cNvPr id="3" name="bk object 17">
            <a:extLst>
              <a:ext uri="{FF2B5EF4-FFF2-40B4-BE49-F238E27FC236}">
                <a16:creationId xmlns:a16="http://schemas.microsoft.com/office/drawing/2014/main" id="{6064F050-792B-0458-9FFD-96521676A0C1}"/>
              </a:ext>
            </a:extLst>
          </p:cNvPr>
          <p:cNvSpPr/>
          <p:nvPr/>
        </p:nvSpPr>
        <p:spPr>
          <a:xfrm>
            <a:off x="0" y="0"/>
            <a:ext cx="6803274" cy="9144000"/>
          </a:xfrm>
          <a:custGeom>
            <a:avLst/>
            <a:gdLst/>
            <a:ahLst/>
            <a:cxnLst/>
            <a:rect l="l" t="t" r="r" b="b"/>
            <a:pathLst>
              <a:path w="6817359" h="8126730">
                <a:moveTo>
                  <a:pt x="0" y="0"/>
                </a:moveTo>
                <a:lnTo>
                  <a:pt x="0" y="8126601"/>
                </a:lnTo>
                <a:lnTo>
                  <a:pt x="6817266" y="8126601"/>
                </a:lnTo>
                <a:lnTo>
                  <a:pt x="0" y="0"/>
                </a:lnTo>
                <a:close/>
              </a:path>
            </a:pathLst>
          </a:custGeom>
          <a:solidFill>
            <a:srgbClr val="595959"/>
          </a:solidFill>
          <a:ln>
            <a:solidFill>
              <a:srgbClr val="B52372"/>
            </a:solidFill>
          </a:ln>
        </p:spPr>
        <p:txBody>
          <a:bodyPr wrap="square" lIns="0" tIns="0" rIns="0" bIns="0" rtlCol="0"/>
          <a:lstStyle/>
          <a:p>
            <a:endParaRPr/>
          </a:p>
        </p:txBody>
      </p:sp>
      <p:sp>
        <p:nvSpPr>
          <p:cNvPr id="5" name="bk object 18">
            <a:extLst>
              <a:ext uri="{FF2B5EF4-FFF2-40B4-BE49-F238E27FC236}">
                <a16:creationId xmlns:a16="http://schemas.microsoft.com/office/drawing/2014/main" id="{7918F084-BE7C-57B5-5323-17059EE7C525}"/>
              </a:ext>
            </a:extLst>
          </p:cNvPr>
          <p:cNvSpPr/>
          <p:nvPr/>
        </p:nvSpPr>
        <p:spPr>
          <a:xfrm>
            <a:off x="3566298" y="6248400"/>
            <a:ext cx="3213011" cy="2895600"/>
          </a:xfrm>
          <a:custGeom>
            <a:avLst/>
            <a:gdLst/>
            <a:ahLst/>
            <a:cxnLst/>
            <a:rect l="l" t="t" r="r" b="b"/>
            <a:pathLst>
              <a:path w="3215640" h="2891790">
                <a:moveTo>
                  <a:pt x="0" y="0"/>
                </a:moveTo>
                <a:lnTo>
                  <a:pt x="3215500" y="0"/>
                </a:lnTo>
                <a:lnTo>
                  <a:pt x="3215500" y="2891442"/>
                </a:lnTo>
                <a:lnTo>
                  <a:pt x="0" y="2891442"/>
                </a:lnTo>
                <a:lnTo>
                  <a:pt x="0" y="0"/>
                </a:lnTo>
                <a:close/>
              </a:path>
            </a:pathLst>
          </a:custGeom>
          <a:solidFill>
            <a:srgbClr val="FFFFFF"/>
          </a:solidFill>
        </p:spPr>
        <p:txBody>
          <a:bodyPr wrap="square" lIns="0" tIns="0" rIns="0" bIns="0" rtlCol="0"/>
          <a:lstStyle/>
          <a:p>
            <a:endParaRPr/>
          </a:p>
        </p:txBody>
      </p:sp>
      <p:sp>
        <p:nvSpPr>
          <p:cNvPr id="6" name="TextBox 5">
            <a:extLst>
              <a:ext uri="{FF2B5EF4-FFF2-40B4-BE49-F238E27FC236}">
                <a16:creationId xmlns:a16="http://schemas.microsoft.com/office/drawing/2014/main" id="{094014A2-0020-17FB-DAF3-7E5B94E7F235}"/>
              </a:ext>
            </a:extLst>
          </p:cNvPr>
          <p:cNvSpPr txBox="1"/>
          <p:nvPr/>
        </p:nvSpPr>
        <p:spPr>
          <a:xfrm>
            <a:off x="3749566" y="6326686"/>
            <a:ext cx="3124200" cy="1815882"/>
          </a:xfrm>
          <a:prstGeom prst="rect">
            <a:avLst/>
          </a:prstGeom>
          <a:noFill/>
        </p:spPr>
        <p:txBody>
          <a:bodyPr wrap="square" rtlCol="0">
            <a:spAutoFit/>
          </a:bodyPr>
          <a:lstStyle/>
          <a:p>
            <a:endParaRPr lang="en-US" sz="2800">
              <a:latin typeface="Franklin Gothic Book" panose="020B0503020102020204" pitchFamily="34" charset="0"/>
            </a:endParaRPr>
          </a:p>
          <a:p>
            <a:r>
              <a:rPr lang="en-US" sz="2800">
                <a:latin typeface="Franklin Gothic Book" panose="020B0503020102020204" pitchFamily="34" charset="0"/>
              </a:rPr>
              <a:t>Do Less.</a:t>
            </a:r>
          </a:p>
          <a:p>
            <a:r>
              <a:rPr lang="en-US" sz="2800">
                <a:latin typeface="Franklin Gothic Book" panose="020B0503020102020204" pitchFamily="34" charset="0"/>
              </a:rPr>
              <a:t>Make it mean more</a:t>
            </a:r>
            <a:r>
              <a:rPr lang="en-US" sz="2000">
                <a:latin typeface="Franklin Gothic Book" panose="020B0503020102020204" pitchFamily="34" charset="0"/>
              </a:rPr>
              <a:t>.</a:t>
            </a:r>
          </a:p>
        </p:txBody>
      </p:sp>
      <p:sp>
        <p:nvSpPr>
          <p:cNvPr id="4" name="object 4"/>
          <p:cNvSpPr/>
          <p:nvPr/>
        </p:nvSpPr>
        <p:spPr>
          <a:xfrm>
            <a:off x="4343400" y="7568184"/>
            <a:ext cx="1757992" cy="1575816"/>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9CF32B-716C-BA49-AEC0-47FCFA361D3E}"/>
              </a:ext>
            </a:extLst>
          </p:cNvPr>
          <p:cNvSpPr>
            <a:spLocks noGrp="1"/>
          </p:cNvSpPr>
          <p:nvPr>
            <p:ph type="sldNum" sz="quarter" idx="12"/>
          </p:nvPr>
        </p:nvSpPr>
        <p:spPr>
          <a:xfrm>
            <a:off x="4843463" y="8475136"/>
            <a:ext cx="1543050" cy="486833"/>
          </a:xfrm>
          <a:prstGeom prst="rect">
            <a:avLst/>
          </a:prstGeom>
        </p:spPr>
        <p:txBody>
          <a:bodyPr vert="horz" lIns="91440" tIns="45720" rIns="91440" bIns="45720" rtlCol="0" anchor="ctr">
            <a:normAutofit/>
          </a:bodyP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1219170">
              <a:spcAft>
                <a:spcPts val="800"/>
              </a:spcAft>
            </a:pPr>
            <a:fld id="{32775EE9-40D8-B543-B7C1-B0B1AB060621}" type="slidenum">
              <a:rPr lang="en-US" smtClean="0"/>
              <a:pPr defTabSz="1219170">
                <a:spcAft>
                  <a:spcPts val="800"/>
                </a:spcAft>
              </a:pPr>
              <a:t>2</a:t>
            </a:fld>
            <a:endParaRPr lang="en-US" sz="1333">
              <a:solidFill>
                <a:srgbClr val="898989"/>
              </a:solidFill>
            </a:endParaRPr>
          </a:p>
        </p:txBody>
      </p:sp>
      <p:sp>
        <p:nvSpPr>
          <p:cNvPr id="9" name="TextBox 8">
            <a:extLst>
              <a:ext uri="{FF2B5EF4-FFF2-40B4-BE49-F238E27FC236}">
                <a16:creationId xmlns:a16="http://schemas.microsoft.com/office/drawing/2014/main" id="{D339E3B2-6289-7F44-B059-CE8EEAD024E9}"/>
              </a:ext>
            </a:extLst>
          </p:cNvPr>
          <p:cNvSpPr txBox="1"/>
          <p:nvPr/>
        </p:nvSpPr>
        <p:spPr>
          <a:xfrm>
            <a:off x="3736098" y="643994"/>
            <a:ext cx="3054535" cy="1631216"/>
          </a:xfrm>
          <a:prstGeom prst="rect">
            <a:avLst/>
          </a:prstGeom>
          <a:noFill/>
        </p:spPr>
        <p:txBody>
          <a:bodyPr wrap="square" rtlCol="0">
            <a:spAutoFit/>
          </a:bodyPr>
          <a:lstStyle/>
          <a:p>
            <a:r>
              <a:rPr lang="en-US" sz="2000">
                <a:latin typeface="Franklin Gothic Book" panose="020B0503020102020204" pitchFamily="34" charset="0"/>
              </a:rPr>
              <a:t>1. Unlocking the Power of Aligning Financial and Commercial Strategies</a:t>
            </a:r>
          </a:p>
          <a:p>
            <a:r>
              <a:rPr lang="en-US" sz="2000">
                <a:latin typeface="Franklin Gothic Book" panose="020B0503020102020204" pitchFamily="34" charset="0"/>
              </a:rPr>
              <a:t>					</a:t>
            </a:r>
            <a:r>
              <a:rPr lang="en-US" sz="2000">
                <a:solidFill>
                  <a:srgbClr val="B52372"/>
                </a:solidFill>
                <a:latin typeface="Franklin Gothic Book" panose="020B0503020102020204" pitchFamily="34" charset="0"/>
              </a:rPr>
              <a:t> </a:t>
            </a:r>
          </a:p>
        </p:txBody>
      </p:sp>
      <p:sp>
        <p:nvSpPr>
          <p:cNvPr id="11" name="TextBox 10">
            <a:extLst>
              <a:ext uri="{FF2B5EF4-FFF2-40B4-BE49-F238E27FC236}">
                <a16:creationId xmlns:a16="http://schemas.microsoft.com/office/drawing/2014/main" id="{131CEDC2-582B-F34C-89E0-4879822A143F}"/>
              </a:ext>
            </a:extLst>
          </p:cNvPr>
          <p:cNvSpPr txBox="1"/>
          <p:nvPr/>
        </p:nvSpPr>
        <p:spPr>
          <a:xfrm>
            <a:off x="3736098" y="2298263"/>
            <a:ext cx="3054534" cy="1631216"/>
          </a:xfrm>
          <a:prstGeom prst="rect">
            <a:avLst/>
          </a:prstGeom>
          <a:noFill/>
        </p:spPr>
        <p:txBody>
          <a:bodyPr wrap="square" rtlCol="0">
            <a:spAutoFit/>
          </a:bodyPr>
          <a:lstStyle/>
          <a:p>
            <a:r>
              <a:rPr lang="en-US" sz="2000" dirty="0">
                <a:latin typeface="Franklin Gothic Book" panose="020B0503020102020204" pitchFamily="34" charset="0"/>
              </a:rPr>
              <a:t>2. From Vision to Action: Bridging Strategy and Execution in Sales and Commercial Enablement		</a:t>
            </a:r>
          </a:p>
        </p:txBody>
      </p:sp>
      <p:sp>
        <p:nvSpPr>
          <p:cNvPr id="12" name="TextBox 11">
            <a:extLst>
              <a:ext uri="{FF2B5EF4-FFF2-40B4-BE49-F238E27FC236}">
                <a16:creationId xmlns:a16="http://schemas.microsoft.com/office/drawing/2014/main" id="{6A2FC1AF-EF3B-344B-B18D-F5DFC4357EEB}"/>
              </a:ext>
            </a:extLst>
          </p:cNvPr>
          <p:cNvSpPr txBox="1"/>
          <p:nvPr/>
        </p:nvSpPr>
        <p:spPr>
          <a:xfrm>
            <a:off x="3736098" y="3951088"/>
            <a:ext cx="2879581" cy="1015663"/>
          </a:xfrm>
          <a:prstGeom prst="rect">
            <a:avLst/>
          </a:prstGeom>
          <a:noFill/>
        </p:spPr>
        <p:txBody>
          <a:bodyPr wrap="square" rtlCol="0">
            <a:spAutoFit/>
          </a:bodyPr>
          <a:lstStyle/>
          <a:p>
            <a:r>
              <a:rPr lang="en-US" sz="2000">
                <a:latin typeface="Franklin Gothic Book" panose="020B0503020102020204" pitchFamily="34" charset="0"/>
              </a:rPr>
              <a:t>3. Revenue Optimization and Outside In Thinking		</a:t>
            </a:r>
          </a:p>
        </p:txBody>
      </p:sp>
      <p:sp>
        <p:nvSpPr>
          <p:cNvPr id="14" name="TextBox 13">
            <a:extLst>
              <a:ext uri="{FF2B5EF4-FFF2-40B4-BE49-F238E27FC236}">
                <a16:creationId xmlns:a16="http://schemas.microsoft.com/office/drawing/2014/main" id="{C31B348D-26C5-1B40-8507-25647BA5DFDD}"/>
              </a:ext>
            </a:extLst>
          </p:cNvPr>
          <p:cNvSpPr txBox="1"/>
          <p:nvPr/>
        </p:nvSpPr>
        <p:spPr>
          <a:xfrm>
            <a:off x="3736098" y="5055831"/>
            <a:ext cx="2879581" cy="1938992"/>
          </a:xfrm>
          <a:prstGeom prst="rect">
            <a:avLst/>
          </a:prstGeom>
          <a:noFill/>
        </p:spPr>
        <p:txBody>
          <a:bodyPr wrap="square" rtlCol="0">
            <a:spAutoFit/>
          </a:bodyPr>
          <a:lstStyle/>
          <a:p>
            <a:endParaRPr lang="en-US" sz="2000">
              <a:latin typeface="Franklin Gothic Book" panose="020B0503020102020204" pitchFamily="34" charset="0"/>
            </a:endParaRPr>
          </a:p>
          <a:p>
            <a:endParaRPr lang="en-US" sz="2000">
              <a:latin typeface="Franklin Gothic Book" panose="020B0503020102020204" pitchFamily="34" charset="0"/>
            </a:endParaRPr>
          </a:p>
          <a:p>
            <a:r>
              <a:rPr lang="en-US" sz="2000">
                <a:latin typeface="Franklin Gothic Book" panose="020B0503020102020204" pitchFamily="34" charset="0"/>
              </a:rPr>
              <a:t>4.Market Expansion and the Ultimate Share Shift			</a:t>
            </a:r>
          </a:p>
        </p:txBody>
      </p:sp>
      <p:sp>
        <p:nvSpPr>
          <p:cNvPr id="16" name="TextBox 15">
            <a:extLst>
              <a:ext uri="{FF2B5EF4-FFF2-40B4-BE49-F238E27FC236}">
                <a16:creationId xmlns:a16="http://schemas.microsoft.com/office/drawing/2014/main" id="{A12B5BCF-FB94-F146-8A1F-CD8A4FDD103A}"/>
              </a:ext>
            </a:extLst>
          </p:cNvPr>
          <p:cNvSpPr txBox="1"/>
          <p:nvPr/>
        </p:nvSpPr>
        <p:spPr>
          <a:xfrm>
            <a:off x="3736098" y="6713509"/>
            <a:ext cx="2879581" cy="1538883"/>
          </a:xfrm>
          <a:prstGeom prst="rect">
            <a:avLst/>
          </a:prstGeom>
          <a:noFill/>
        </p:spPr>
        <p:txBody>
          <a:bodyPr wrap="square" rtlCol="0">
            <a:spAutoFit/>
          </a:bodyPr>
          <a:lstStyle/>
          <a:p>
            <a:endParaRPr lang="en-US">
              <a:latin typeface="Franklin Gothic Book" panose="020B0503020102020204" pitchFamily="34" charset="0"/>
            </a:endParaRPr>
          </a:p>
          <a:p>
            <a:endParaRPr lang="en-US">
              <a:latin typeface="Franklin Gothic Book" panose="020B0503020102020204" pitchFamily="34" charset="0"/>
            </a:endParaRPr>
          </a:p>
          <a:p>
            <a:r>
              <a:rPr lang="en-US" sz="2000">
                <a:latin typeface="Franklin Gothic Book" panose="020B0503020102020204" pitchFamily="34" charset="0"/>
              </a:rPr>
              <a:t>5. Today’s Look at Performance</a:t>
            </a:r>
            <a:r>
              <a:rPr lang="en-US">
                <a:latin typeface="Franklin Gothic Book" panose="020B0503020102020204" pitchFamily="34" charset="0"/>
              </a:rPr>
              <a:t>			</a:t>
            </a:r>
          </a:p>
        </p:txBody>
      </p:sp>
      <p:pic>
        <p:nvPicPr>
          <p:cNvPr id="17" name="Picture 16">
            <a:extLst>
              <a:ext uri="{FF2B5EF4-FFF2-40B4-BE49-F238E27FC236}">
                <a16:creationId xmlns:a16="http://schemas.microsoft.com/office/drawing/2014/main" id="{EA357A95-B8F9-1D49-993C-E3A0B4AAF16B}"/>
              </a:ext>
            </a:extLst>
          </p:cNvPr>
          <p:cNvPicPr>
            <a:picLocks noChangeAspect="1"/>
          </p:cNvPicPr>
          <p:nvPr/>
        </p:nvPicPr>
        <p:blipFill>
          <a:blip r:embed="rId2"/>
          <a:stretch>
            <a:fillRect/>
          </a:stretch>
        </p:blipFill>
        <p:spPr>
          <a:xfrm>
            <a:off x="2600864" y="3989522"/>
            <a:ext cx="835984" cy="1144463"/>
          </a:xfrm>
          <a:prstGeom prst="rect">
            <a:avLst/>
          </a:prstGeom>
        </p:spPr>
      </p:pic>
      <p:sp>
        <p:nvSpPr>
          <p:cNvPr id="2" name="object 8">
            <a:extLst>
              <a:ext uri="{FF2B5EF4-FFF2-40B4-BE49-F238E27FC236}">
                <a16:creationId xmlns:a16="http://schemas.microsoft.com/office/drawing/2014/main" id="{BEC76800-E631-A8F6-A35E-3589CF86FC2C}"/>
              </a:ext>
            </a:extLst>
          </p:cNvPr>
          <p:cNvSpPr txBox="1"/>
          <p:nvPr/>
        </p:nvSpPr>
        <p:spPr>
          <a:xfrm>
            <a:off x="2137268" y="8636000"/>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rgbClr val="898989"/>
                </a:solidFill>
                <a:latin typeface="Franklin Gothic Book"/>
                <a:cs typeface="Franklin Gothic Book"/>
              </a:rPr>
              <a:t>What good looks like in revenue strategy I 2024</a:t>
            </a:r>
            <a:endParaRPr sz="900">
              <a:latin typeface="Franklin Gothic Book"/>
              <a:cs typeface="Franklin Gothic Book"/>
            </a:endParaRPr>
          </a:p>
        </p:txBody>
      </p:sp>
      <p:sp>
        <p:nvSpPr>
          <p:cNvPr id="3" name="Rectangle 2">
            <a:extLst>
              <a:ext uri="{FF2B5EF4-FFF2-40B4-BE49-F238E27FC236}">
                <a16:creationId xmlns:a16="http://schemas.microsoft.com/office/drawing/2014/main" id="{1666D6A3-4656-D70F-EF6B-BAD71DB2D3BD}"/>
              </a:ext>
            </a:extLst>
          </p:cNvPr>
          <p:cNvSpPr/>
          <p:nvPr/>
        </p:nvSpPr>
        <p:spPr>
          <a:xfrm>
            <a:off x="17638" y="-24094"/>
            <a:ext cx="2258371" cy="9192188"/>
          </a:xfrm>
          <a:prstGeom prst="rect">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Franklin Gothic Medium" panose="020B0603020102020204" pitchFamily="34" charset="0"/>
            </a:endParaRPr>
          </a:p>
          <a:p>
            <a:pPr algn="ctr"/>
            <a:r>
              <a:rPr lang="en-US" sz="4000">
                <a:solidFill>
                  <a:schemeClr val="bg1"/>
                </a:solidFill>
                <a:latin typeface="Franklin Gothic Medium" panose="020B0603020102020204" pitchFamily="34" charset="0"/>
              </a:rPr>
              <a:t>Table </a:t>
            </a:r>
          </a:p>
          <a:p>
            <a:pPr algn="ctr"/>
            <a:r>
              <a:rPr lang="en-US" sz="4000">
                <a:solidFill>
                  <a:schemeClr val="bg1"/>
                </a:solidFill>
                <a:latin typeface="Franklin Gothic Medium" panose="020B0603020102020204" pitchFamily="34" charset="0"/>
              </a:rPr>
              <a:t>of </a:t>
            </a:r>
          </a:p>
          <a:p>
            <a:pPr algn="ctr"/>
            <a:r>
              <a:rPr lang="en-US" sz="4000">
                <a:solidFill>
                  <a:schemeClr val="bg1"/>
                </a:solidFill>
                <a:latin typeface="Franklin Gothic Medium" panose="020B0603020102020204" pitchFamily="34" charset="0"/>
              </a:rPr>
              <a:t>Contents</a:t>
            </a:r>
            <a:endParaRPr lang="en-US" sz="1600">
              <a:solidFill>
                <a:schemeClr val="bg1"/>
              </a:solidFill>
              <a:latin typeface="Franklin Gothic Medium" panose="020B0603020102020204" pitchFamily="34" charset="0"/>
            </a:endParaRPr>
          </a:p>
        </p:txBody>
      </p:sp>
      <p:pic>
        <p:nvPicPr>
          <p:cNvPr id="7" name="Picture 6" descr="A grey and white logo&#10;&#10;Description automatically generated">
            <a:extLst>
              <a:ext uri="{FF2B5EF4-FFF2-40B4-BE49-F238E27FC236}">
                <a16:creationId xmlns:a16="http://schemas.microsoft.com/office/drawing/2014/main" id="{478C511B-0126-D4ED-CB5C-337BAF37585E}"/>
              </a:ext>
            </a:extLst>
          </p:cNvPr>
          <p:cNvPicPr>
            <a:picLocks noChangeAspect="1"/>
          </p:cNvPicPr>
          <p:nvPr/>
        </p:nvPicPr>
        <p:blipFill>
          <a:blip r:embed="rId3">
            <a:extLst>
              <a:ext uri="{28A0092B-C50C-407E-A947-70E740481C1C}">
                <a14:useLocalDpi xmlns:a14="http://schemas.microsoft.com/office/drawing/2010/main" val="0"/>
              </a:ext>
            </a:extLst>
          </a:blip>
          <a:srcRect l="21836" t="25371" r="25996" b="30142"/>
          <a:stretch/>
        </p:blipFill>
        <p:spPr>
          <a:xfrm>
            <a:off x="553278" y="7469426"/>
            <a:ext cx="1207071" cy="1192789"/>
          </a:xfrm>
          <a:prstGeom prst="rect">
            <a:avLst/>
          </a:prstGeom>
        </p:spPr>
      </p:pic>
      <p:pic>
        <p:nvPicPr>
          <p:cNvPr id="5" name="Picture 4">
            <a:extLst>
              <a:ext uri="{FF2B5EF4-FFF2-40B4-BE49-F238E27FC236}">
                <a16:creationId xmlns:a16="http://schemas.microsoft.com/office/drawing/2014/main" id="{E8A2A959-0EA0-CA6B-EFDC-AFFFA476D638}"/>
              </a:ext>
            </a:extLst>
          </p:cNvPr>
          <p:cNvPicPr>
            <a:picLocks noChangeAspect="1"/>
          </p:cNvPicPr>
          <p:nvPr/>
        </p:nvPicPr>
        <p:blipFill>
          <a:blip r:embed="rId4"/>
          <a:stretch>
            <a:fillRect/>
          </a:stretch>
        </p:blipFill>
        <p:spPr>
          <a:xfrm>
            <a:off x="2452107" y="879280"/>
            <a:ext cx="1021528" cy="797730"/>
          </a:xfrm>
          <a:prstGeom prst="rect">
            <a:avLst/>
          </a:prstGeom>
        </p:spPr>
      </p:pic>
      <p:pic>
        <p:nvPicPr>
          <p:cNvPr id="6" name="Picture 5">
            <a:extLst>
              <a:ext uri="{FF2B5EF4-FFF2-40B4-BE49-F238E27FC236}">
                <a16:creationId xmlns:a16="http://schemas.microsoft.com/office/drawing/2014/main" id="{8B09665C-E8D7-5A45-2E08-0CC6B72699EB}"/>
              </a:ext>
            </a:extLst>
          </p:cNvPr>
          <p:cNvPicPr>
            <a:picLocks noChangeAspect="1"/>
          </p:cNvPicPr>
          <p:nvPr/>
        </p:nvPicPr>
        <p:blipFill>
          <a:blip r:embed="rId5"/>
          <a:stretch>
            <a:fillRect/>
          </a:stretch>
        </p:blipFill>
        <p:spPr>
          <a:xfrm>
            <a:off x="2585013" y="2465496"/>
            <a:ext cx="1060824" cy="875601"/>
          </a:xfrm>
          <a:prstGeom prst="rect">
            <a:avLst/>
          </a:prstGeom>
        </p:spPr>
      </p:pic>
      <p:pic>
        <p:nvPicPr>
          <p:cNvPr id="8" name="Picture 7">
            <a:extLst>
              <a:ext uri="{FF2B5EF4-FFF2-40B4-BE49-F238E27FC236}">
                <a16:creationId xmlns:a16="http://schemas.microsoft.com/office/drawing/2014/main" id="{E90239A3-FE73-F709-0ECA-1AC4FDB831E2}"/>
              </a:ext>
            </a:extLst>
          </p:cNvPr>
          <p:cNvPicPr>
            <a:picLocks noChangeAspect="1"/>
          </p:cNvPicPr>
          <p:nvPr/>
        </p:nvPicPr>
        <p:blipFill>
          <a:blip r:embed="rId6"/>
          <a:stretch>
            <a:fillRect/>
          </a:stretch>
        </p:blipFill>
        <p:spPr>
          <a:xfrm>
            <a:off x="2485250" y="7409552"/>
            <a:ext cx="1159523" cy="842840"/>
          </a:xfrm>
          <a:prstGeom prst="rect">
            <a:avLst/>
          </a:prstGeom>
        </p:spPr>
      </p:pic>
      <p:pic>
        <p:nvPicPr>
          <p:cNvPr id="10" name="Picture 9">
            <a:extLst>
              <a:ext uri="{FF2B5EF4-FFF2-40B4-BE49-F238E27FC236}">
                <a16:creationId xmlns:a16="http://schemas.microsoft.com/office/drawing/2014/main" id="{2A339A11-CAAC-7954-819B-D1F03172440D}"/>
              </a:ext>
            </a:extLst>
          </p:cNvPr>
          <p:cNvPicPr>
            <a:picLocks noChangeAspect="1"/>
          </p:cNvPicPr>
          <p:nvPr/>
        </p:nvPicPr>
        <p:blipFill>
          <a:blip r:embed="rId7"/>
          <a:stretch>
            <a:fillRect/>
          </a:stretch>
        </p:blipFill>
        <p:spPr>
          <a:xfrm>
            <a:off x="2632591" y="5745465"/>
            <a:ext cx="965668" cy="1006760"/>
          </a:xfrm>
          <a:prstGeom prst="rect">
            <a:avLst/>
          </a:prstGeom>
        </p:spPr>
      </p:pic>
    </p:spTree>
    <p:extLst>
      <p:ext uri="{BB962C8B-B14F-4D97-AF65-F5344CB8AC3E}">
        <p14:creationId xmlns:p14="http://schemas.microsoft.com/office/powerpoint/2010/main" val="1228849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854825" cy="9144000"/>
          </a:xfrm>
          <a:custGeom>
            <a:avLst/>
            <a:gdLst/>
            <a:ahLst/>
            <a:cxnLst/>
            <a:rect l="l" t="t" r="r" b="b"/>
            <a:pathLst>
              <a:path w="6854825" h="9144000">
                <a:moveTo>
                  <a:pt x="0" y="9144000"/>
                </a:moveTo>
                <a:lnTo>
                  <a:pt x="0" y="0"/>
                </a:lnTo>
                <a:lnTo>
                  <a:pt x="6854426" y="0"/>
                </a:lnTo>
                <a:lnTo>
                  <a:pt x="6854426" y="9143999"/>
                </a:lnTo>
                <a:lnTo>
                  <a:pt x="0" y="9144000"/>
                </a:lnTo>
                <a:close/>
              </a:path>
            </a:pathLst>
          </a:custGeom>
          <a:solidFill>
            <a:srgbClr val="555759"/>
          </a:solidFill>
        </p:spPr>
        <p:txBody>
          <a:bodyPr wrap="square" lIns="0" tIns="0" rIns="0" bIns="0" rtlCol="0"/>
          <a:lstStyle/>
          <a:p>
            <a:endParaRPr/>
          </a:p>
        </p:txBody>
      </p:sp>
      <p:sp>
        <p:nvSpPr>
          <p:cNvPr id="3" name="object 3"/>
          <p:cNvSpPr/>
          <p:nvPr/>
        </p:nvSpPr>
        <p:spPr>
          <a:xfrm>
            <a:off x="0" y="0"/>
            <a:ext cx="6854825" cy="9144000"/>
          </a:xfrm>
          <a:custGeom>
            <a:avLst/>
            <a:gdLst/>
            <a:ahLst/>
            <a:cxnLst/>
            <a:rect l="l" t="t" r="r" b="b"/>
            <a:pathLst>
              <a:path w="6854825" h="9144000">
                <a:moveTo>
                  <a:pt x="0" y="0"/>
                </a:moveTo>
                <a:lnTo>
                  <a:pt x="6854426" y="0"/>
                </a:lnTo>
                <a:lnTo>
                  <a:pt x="6854426" y="9143999"/>
                </a:lnTo>
              </a:path>
            </a:pathLst>
          </a:custGeom>
          <a:ln w="12700">
            <a:solidFill>
              <a:srgbClr val="3C3E8F"/>
            </a:solidFill>
          </a:ln>
        </p:spPr>
        <p:txBody>
          <a:bodyPr wrap="square" lIns="0" tIns="0" rIns="0" bIns="0" rtlCol="0"/>
          <a:lstStyle/>
          <a:p>
            <a:endParaRPr/>
          </a:p>
        </p:txBody>
      </p:sp>
      <p:sp>
        <p:nvSpPr>
          <p:cNvPr id="4" name="object 4"/>
          <p:cNvSpPr/>
          <p:nvPr/>
        </p:nvSpPr>
        <p:spPr>
          <a:xfrm>
            <a:off x="334209" y="7574061"/>
            <a:ext cx="1219200" cy="1569938"/>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142558" y="-2667000"/>
            <a:ext cx="6408420" cy="13086080"/>
          </a:xfrm>
          <a:prstGeom prst="rect">
            <a:avLst/>
          </a:prstGeom>
        </p:spPr>
        <p:txBody>
          <a:bodyPr vert="horz" wrap="square" lIns="0" tIns="12700" rIns="0" bIns="0" rtlCol="0">
            <a:spAutoFit/>
          </a:bodyPr>
          <a:lstStyle/>
          <a:p>
            <a:pPr marL="12700">
              <a:lnSpc>
                <a:spcPct val="100000"/>
              </a:lnSpc>
              <a:spcBef>
                <a:spcPts val="100"/>
              </a:spcBef>
            </a:pPr>
            <a:r>
              <a:rPr lang="en-US" sz="85700">
                <a:solidFill>
                  <a:srgbClr val="D51067"/>
                </a:solidFill>
                <a:latin typeface="Franklin Gothic Medium"/>
                <a:cs typeface="Franklin Gothic Medium"/>
              </a:rPr>
              <a:t>1</a:t>
            </a:r>
            <a:endParaRPr sz="85700">
              <a:latin typeface="Franklin Gothic Medium"/>
              <a:cs typeface="Franklin Gothic Medium"/>
            </a:endParaRPr>
          </a:p>
        </p:txBody>
      </p:sp>
      <p:sp>
        <p:nvSpPr>
          <p:cNvPr id="7" name="object 7"/>
          <p:cNvSpPr txBox="1"/>
          <p:nvPr/>
        </p:nvSpPr>
        <p:spPr>
          <a:xfrm>
            <a:off x="3403767" y="5592113"/>
            <a:ext cx="3117853" cy="1736373"/>
          </a:xfrm>
          <a:prstGeom prst="rect">
            <a:avLst/>
          </a:prstGeom>
        </p:spPr>
        <p:txBody>
          <a:bodyPr vert="horz" wrap="square" lIns="0" tIns="12700" rIns="0" bIns="0" rtlCol="0">
            <a:spAutoFit/>
          </a:bodyPr>
          <a:lstStyle/>
          <a:p>
            <a:pPr marL="12700">
              <a:lnSpc>
                <a:spcPct val="100000"/>
              </a:lnSpc>
              <a:spcBef>
                <a:spcPts val="100"/>
              </a:spcBef>
            </a:pPr>
            <a:r>
              <a:rPr lang="en-US" sz="2800">
                <a:solidFill>
                  <a:schemeClr val="bg1">
                    <a:lumMod val="95000"/>
                  </a:schemeClr>
                </a:solidFill>
                <a:latin typeface="Franklin Gothic Book" panose="020B0503020102020204" pitchFamily="34" charset="0"/>
                <a:cs typeface="Franklin Gothic Book Italic"/>
              </a:rPr>
              <a:t>Unlocking the Power of Aligning Financial and Commercial Strategy</a:t>
            </a:r>
            <a:endParaRPr lang="en-US" sz="2800">
              <a:solidFill>
                <a:schemeClr val="bg1">
                  <a:lumMod val="95000"/>
                </a:schemeClr>
              </a:solidFill>
              <a:latin typeface="Franklin Gothic Book Italic"/>
              <a:cs typeface="Franklin Gothic Book Italic"/>
            </a:endParaRPr>
          </a:p>
        </p:txBody>
      </p:sp>
      <p:sp>
        <p:nvSpPr>
          <p:cNvPr id="10" name="object 10"/>
          <p:cNvSpPr txBox="1"/>
          <p:nvPr/>
        </p:nvSpPr>
        <p:spPr>
          <a:xfrm>
            <a:off x="6223952" y="8623807"/>
            <a:ext cx="83820" cy="162560"/>
          </a:xfrm>
          <a:prstGeom prst="rect">
            <a:avLst/>
          </a:prstGeom>
        </p:spPr>
        <p:txBody>
          <a:bodyPr vert="horz" wrap="square" lIns="0" tIns="12700" rIns="0" bIns="0" rtlCol="0">
            <a:spAutoFit/>
          </a:bodyPr>
          <a:lstStyle/>
          <a:p>
            <a:pPr marL="12700">
              <a:lnSpc>
                <a:spcPct val="100000"/>
              </a:lnSpc>
              <a:spcBef>
                <a:spcPts val="100"/>
              </a:spcBef>
            </a:pPr>
            <a:r>
              <a:rPr sz="900">
                <a:solidFill>
                  <a:srgbClr val="FFFFFF"/>
                </a:solidFill>
                <a:latin typeface="Calibri"/>
                <a:cs typeface="Calibri"/>
              </a:rPr>
              <a:t>3</a:t>
            </a:r>
            <a:endParaRPr sz="900">
              <a:latin typeface="Calibri"/>
              <a:cs typeface="Calibri"/>
            </a:endParaRPr>
          </a:p>
        </p:txBody>
      </p:sp>
      <p:sp>
        <p:nvSpPr>
          <p:cNvPr id="11" name="object 8">
            <a:extLst>
              <a:ext uri="{FF2B5EF4-FFF2-40B4-BE49-F238E27FC236}">
                <a16:creationId xmlns:a16="http://schemas.microsoft.com/office/drawing/2014/main" id="{64B30A3D-6792-D2AD-D7DE-1AD6544EE309}"/>
              </a:ext>
            </a:extLst>
          </p:cNvPr>
          <p:cNvSpPr txBox="1"/>
          <p:nvPr/>
        </p:nvSpPr>
        <p:spPr>
          <a:xfrm>
            <a:off x="2131219" y="8710705"/>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bg1"/>
                </a:solidFill>
                <a:latin typeface="Franklin Gothic Book"/>
                <a:cs typeface="Franklin Gothic Book"/>
              </a:rPr>
              <a:t>What Good Looks Like:  Revenue Strategy I 2024</a:t>
            </a:r>
            <a:endParaRPr lang="en-US" sz="900">
              <a:solidFill>
                <a:schemeClr val="bg1"/>
              </a:solidFill>
              <a:latin typeface="Franklin Gothic Book"/>
              <a:cs typeface="Franklin Gothic Book"/>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8736F-3BB4-F064-1536-8973D144A45A}"/>
              </a:ext>
            </a:extLst>
          </p:cNvPr>
          <p:cNvSpPr>
            <a:spLocks noGrp="1"/>
          </p:cNvSpPr>
          <p:nvPr>
            <p:ph type="ctrTitle"/>
          </p:nvPr>
        </p:nvSpPr>
        <p:spPr>
          <a:xfrm>
            <a:off x="304800" y="228600"/>
            <a:ext cx="6477000" cy="553998"/>
          </a:xfrm>
        </p:spPr>
        <p:txBody>
          <a:bodyPr/>
          <a:lstStyle/>
          <a:p>
            <a:r>
              <a:rPr lang="en-US"/>
              <a:t>Unlocking the Power of Aligning Financial and Commercial Strategy</a:t>
            </a:r>
          </a:p>
        </p:txBody>
      </p:sp>
      <p:sp>
        <p:nvSpPr>
          <p:cNvPr id="3" name="Subtitle 2">
            <a:extLst>
              <a:ext uri="{FF2B5EF4-FFF2-40B4-BE49-F238E27FC236}">
                <a16:creationId xmlns:a16="http://schemas.microsoft.com/office/drawing/2014/main" id="{78B77CA0-B7FF-F04F-83B9-54EDF057D99F}"/>
              </a:ext>
            </a:extLst>
          </p:cNvPr>
          <p:cNvSpPr>
            <a:spLocks noGrp="1"/>
          </p:cNvSpPr>
          <p:nvPr>
            <p:ph type="subTitle" idx="4"/>
          </p:nvPr>
        </p:nvSpPr>
        <p:spPr>
          <a:xfrm>
            <a:off x="581526" y="576055"/>
            <a:ext cx="5971674" cy="5201424"/>
          </a:xfrm>
        </p:spPr>
        <p:txBody>
          <a:bodyPr/>
          <a:lstStyle/>
          <a:p>
            <a:pPr marL="0" marR="0"/>
            <a:endParaRPr lang="en-US" sz="1600" kern="100" dirty="0">
              <a:effectLst/>
              <a:ea typeface="Aptos" panose="020B0004020202020204" pitchFamily="34" charset="0"/>
              <a:cs typeface="Arial" panose="020B0604020202020204" pitchFamily="34" charset="0"/>
            </a:endParaRPr>
          </a:p>
          <a:p>
            <a:pPr marR="0"/>
            <a:r>
              <a:rPr lang="en-US" sz="1400" b="1" kern="100" dirty="0">
                <a:ea typeface="Aptos" panose="020B0004020202020204" pitchFamily="34" charset="0"/>
                <a:cs typeface="Arial" panose="020B0604020202020204" pitchFamily="34" charset="0"/>
              </a:rPr>
              <a:t>C</a:t>
            </a:r>
            <a:r>
              <a:rPr lang="en-US" sz="1400" kern="100" dirty="0">
                <a:effectLst/>
                <a:ea typeface="Aptos" panose="020B0004020202020204" pitchFamily="34" charset="0"/>
                <a:cs typeface="Arial" panose="020B0604020202020204" pitchFamily="34" charset="0"/>
              </a:rPr>
              <a:t>ompanies leav</a:t>
            </a:r>
            <a:r>
              <a:rPr lang="en-US" sz="1400" kern="100" dirty="0">
                <a:ea typeface="Aptos" panose="020B0004020202020204" pitchFamily="34" charset="0"/>
                <a:cs typeface="Arial" panose="020B0604020202020204" pitchFamily="34" charset="0"/>
              </a:rPr>
              <a:t>e </a:t>
            </a:r>
            <a:r>
              <a:rPr lang="en-US" sz="1400" kern="100" dirty="0">
                <a:effectLst/>
                <a:ea typeface="Aptos" panose="020B0004020202020204" pitchFamily="34" charset="0"/>
                <a:cs typeface="Arial" panose="020B0604020202020204" pitchFamily="34" charset="0"/>
              </a:rPr>
              <a:t>money on the table every day </a:t>
            </a:r>
            <a:r>
              <a:rPr lang="en-US" sz="1400" kern="100" dirty="0">
                <a:ea typeface="Aptos" panose="020B0004020202020204" pitchFamily="34" charset="0"/>
                <a:cs typeface="Arial" panose="020B0604020202020204" pitchFamily="34" charset="0"/>
              </a:rPr>
              <a:t>due to the m</a:t>
            </a:r>
            <a:r>
              <a:rPr lang="en-US" sz="1400" kern="100" dirty="0">
                <a:effectLst/>
                <a:ea typeface="Aptos" panose="020B0004020202020204" pitchFamily="34" charset="0"/>
                <a:cs typeface="Arial" panose="020B0604020202020204" pitchFamily="34" charset="0"/>
              </a:rPr>
              <a:t>isalignment between financial strategy and sales and marketing execution.  And it is draining profits and energy. This hidden yet significant issue can quietly undermine your business's growth and profitability. </a:t>
            </a:r>
          </a:p>
          <a:p>
            <a:pPr marL="0" marR="0"/>
            <a:r>
              <a:rPr lang="en-US" sz="1400" kern="100" dirty="0">
                <a:effectLst/>
                <a:ea typeface="Aptos" panose="020B0004020202020204" pitchFamily="34" charset="0"/>
                <a:cs typeface="Arial" panose="020B0604020202020204" pitchFamily="34" charset="0"/>
              </a:rPr>
              <a:t> </a:t>
            </a:r>
          </a:p>
          <a:p>
            <a:pPr marL="0" marR="0"/>
            <a:r>
              <a:rPr lang="en-US" sz="1400" kern="100" dirty="0">
                <a:effectLst/>
                <a:ea typeface="Aptos" panose="020B0004020202020204" pitchFamily="34" charset="0"/>
                <a:cs typeface="Arial" panose="020B0604020202020204" pitchFamily="34" charset="0"/>
              </a:rPr>
              <a:t>Misalignment isn’t just a minor hiccup—it’s a chronic ailment that can cost U.S. businesses over $1 trillion annually. With only 8% of companies claiming strong alignment between their sales and marketing teams, the issue is more prevalent than you might think. Without alignment, operational efficiencies suffer, revenue opportunities slip through the cracks, and your company’s full potential remains untapped.</a:t>
            </a:r>
          </a:p>
          <a:p>
            <a:pPr marL="0" marR="0"/>
            <a:r>
              <a:rPr lang="en-US" sz="1400" kern="100" dirty="0">
                <a:effectLst/>
                <a:ea typeface="Aptos" panose="020B0004020202020204" pitchFamily="34" charset="0"/>
                <a:cs typeface="Arial" panose="020B0604020202020204" pitchFamily="34" charset="0"/>
              </a:rPr>
              <a:t> </a:t>
            </a:r>
          </a:p>
          <a:p>
            <a:pPr marL="0" marR="0"/>
            <a:r>
              <a:rPr lang="en-US" sz="1400" kern="100" dirty="0">
                <a:effectLst/>
                <a:ea typeface="Aptos" panose="020B0004020202020204" pitchFamily="34" charset="0"/>
                <a:cs typeface="Arial" panose="020B0604020202020204" pitchFamily="34" charset="0"/>
              </a:rPr>
              <a:t>The headstones within th</a:t>
            </a:r>
            <a:r>
              <a:rPr lang="en-US" sz="1400" kern="100" dirty="0">
                <a:ea typeface="Aptos" panose="020B0004020202020204" pitchFamily="34" charset="0"/>
                <a:cs typeface="Arial" panose="020B0604020202020204" pitchFamily="34" charset="0"/>
              </a:rPr>
              <a:t>is cemetery are so well known.   From Blockbuster to Kodak.  Borders Book Store to </a:t>
            </a:r>
            <a:r>
              <a:rPr lang="en-US" sz="1400" kern="100" dirty="0" err="1">
                <a:ea typeface="Aptos" panose="020B0004020202020204" pitchFamily="34" charset="0"/>
                <a:cs typeface="Arial" panose="020B0604020202020204" pitchFamily="34" charset="0"/>
              </a:rPr>
              <a:t>JCPenny</a:t>
            </a:r>
            <a:r>
              <a:rPr lang="en-US" sz="1400" kern="100" dirty="0">
                <a:ea typeface="Aptos" panose="020B0004020202020204" pitchFamily="34" charset="0"/>
                <a:cs typeface="Arial" panose="020B0604020202020204" pitchFamily="34" charset="0"/>
              </a:rPr>
              <a:t>, all have fallen victim to this mission-critical relationship between financial vision to commercial teams effectively carrying it out.  Only 23.2% of sales professionals say their organizations are aligned in strategies from financial vision to strategies and processes. </a:t>
            </a:r>
          </a:p>
          <a:p>
            <a:pPr marL="0" marR="0"/>
            <a:endParaRPr lang="en-US" sz="1400" kern="100" dirty="0">
              <a:ea typeface="Aptos" panose="020B0004020202020204" pitchFamily="34" charset="0"/>
              <a:cs typeface="Arial" panose="020B0604020202020204" pitchFamily="34" charset="0"/>
            </a:endParaRPr>
          </a:p>
          <a:p>
            <a:pPr marL="0" marR="0"/>
            <a:r>
              <a:rPr lang="en-US" sz="1400" b="1" kern="100" dirty="0">
                <a:effectLst/>
                <a:ea typeface="Aptos" panose="020B0004020202020204" pitchFamily="34" charset="0"/>
                <a:cs typeface="Arial" panose="020B0604020202020204" pitchFamily="34" charset="0"/>
              </a:rPr>
              <a:t>Identifying Signs of Misalignment</a:t>
            </a:r>
            <a:endParaRPr lang="en-US" sz="1400" kern="100" dirty="0">
              <a:effectLst/>
              <a:ea typeface="Aptos" panose="020B0004020202020204" pitchFamily="34" charset="0"/>
              <a:cs typeface="Arial" panose="020B0604020202020204" pitchFamily="34" charset="0"/>
            </a:endParaRPr>
          </a:p>
          <a:p>
            <a:pPr marL="0" marR="0"/>
            <a:r>
              <a:rPr lang="en-US" sz="1400" kern="100" dirty="0">
                <a:effectLst/>
                <a:ea typeface="Aptos" panose="020B0004020202020204" pitchFamily="34" charset="0"/>
                <a:cs typeface="Arial" panose="020B0604020202020204" pitchFamily="34" charset="0"/>
              </a:rPr>
              <a:t>Misalignment often lurks beneath the surface, silently sabotaging your organization's success. Identifying the telltale signs is the first step toward rectifying this costly issue. Are your financial and marketing teams speaking the same language?   79% chance they don’t.</a:t>
            </a:r>
            <a:endParaRPr lang="en-US" sz="1600" kern="100" dirty="0">
              <a:effectLst/>
              <a:ea typeface="Aptos" panose="020B0004020202020204" pitchFamily="34" charset="0"/>
              <a:cs typeface="Arial" panose="020B0604020202020204" pitchFamily="34" charset="0"/>
            </a:endParaRPr>
          </a:p>
        </p:txBody>
      </p:sp>
      <p:sp>
        <p:nvSpPr>
          <p:cNvPr id="4" name="object 8">
            <a:extLst>
              <a:ext uri="{FF2B5EF4-FFF2-40B4-BE49-F238E27FC236}">
                <a16:creationId xmlns:a16="http://schemas.microsoft.com/office/drawing/2014/main" id="{0FB76AB1-B5E5-F045-AA08-189A861E3184}"/>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tx1">
                    <a:lumMod val="75000"/>
                    <a:lumOff val="25000"/>
                  </a:schemeClr>
                </a:solidFill>
                <a:latin typeface="Franklin Gothic Book"/>
                <a:cs typeface="Franklin Gothic Book"/>
              </a:rPr>
              <a:t>What Good Looks Like:  Revenue Strategy I 2024</a:t>
            </a:r>
            <a:endParaRPr sz="900">
              <a:solidFill>
                <a:schemeClr val="tx1">
                  <a:lumMod val="75000"/>
                  <a:lumOff val="25000"/>
                </a:schemeClr>
              </a:solidFill>
              <a:latin typeface="Franklin Gothic Book"/>
              <a:cs typeface="Franklin Gothic Book"/>
            </a:endParaRPr>
          </a:p>
        </p:txBody>
      </p:sp>
      <p:pic>
        <p:nvPicPr>
          <p:cNvPr id="6" name="Picture 5" descr="A stack of rocks on a wooden surface&#10;&#10;Description automatically generated">
            <a:extLst>
              <a:ext uri="{FF2B5EF4-FFF2-40B4-BE49-F238E27FC236}">
                <a16:creationId xmlns:a16="http://schemas.microsoft.com/office/drawing/2014/main" id="{710B88C8-9560-CA85-74DE-71B3D7337412}"/>
              </a:ext>
            </a:extLst>
          </p:cNvPr>
          <p:cNvPicPr>
            <a:picLocks noChangeAspect="1"/>
          </p:cNvPicPr>
          <p:nvPr/>
        </p:nvPicPr>
        <p:blipFill>
          <a:blip r:embed="rId2">
            <a:extLst>
              <a:ext uri="{28A0092B-C50C-407E-A947-70E740481C1C}">
                <a14:useLocalDpi xmlns:a14="http://schemas.microsoft.com/office/drawing/2010/main" val="0"/>
              </a:ext>
            </a:extLst>
          </a:blip>
          <a:srcRect l="7542" t="18145" r="4802" b="21223"/>
          <a:stretch/>
        </p:blipFill>
        <p:spPr>
          <a:xfrm>
            <a:off x="475488" y="5861304"/>
            <a:ext cx="6077712" cy="2500098"/>
          </a:xfrm>
          <a:prstGeom prst="rect">
            <a:avLst/>
          </a:prstGeom>
        </p:spPr>
      </p:pic>
    </p:spTree>
    <p:extLst>
      <p:ext uri="{BB962C8B-B14F-4D97-AF65-F5344CB8AC3E}">
        <p14:creationId xmlns:p14="http://schemas.microsoft.com/office/powerpoint/2010/main" val="1148210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E6EDC-8C73-5C52-278E-9DDA5071C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423922-8572-52B3-AF2E-EB58A8C22067}"/>
              </a:ext>
            </a:extLst>
          </p:cNvPr>
          <p:cNvSpPr>
            <a:spLocks noGrp="1"/>
          </p:cNvSpPr>
          <p:nvPr>
            <p:ph type="ctrTitle"/>
          </p:nvPr>
        </p:nvSpPr>
        <p:spPr>
          <a:xfrm>
            <a:off x="304800" y="228600"/>
            <a:ext cx="6477000" cy="553998"/>
          </a:xfrm>
        </p:spPr>
        <p:txBody>
          <a:bodyPr/>
          <a:lstStyle/>
          <a:p>
            <a:r>
              <a:rPr lang="en-US" dirty="0"/>
              <a:t>Unlocking the Power of Aligning Financial and Commercial Strategy</a:t>
            </a:r>
          </a:p>
        </p:txBody>
      </p:sp>
      <p:sp>
        <p:nvSpPr>
          <p:cNvPr id="3" name="Subtitle 2">
            <a:extLst>
              <a:ext uri="{FF2B5EF4-FFF2-40B4-BE49-F238E27FC236}">
                <a16:creationId xmlns:a16="http://schemas.microsoft.com/office/drawing/2014/main" id="{8F0906E9-5B51-1BB5-E30E-DED1A306227E}"/>
              </a:ext>
            </a:extLst>
          </p:cNvPr>
          <p:cNvSpPr>
            <a:spLocks noGrp="1"/>
          </p:cNvSpPr>
          <p:nvPr>
            <p:ph type="subTitle" idx="4"/>
          </p:nvPr>
        </p:nvSpPr>
        <p:spPr>
          <a:xfrm>
            <a:off x="581526" y="782598"/>
            <a:ext cx="5971674" cy="276999"/>
          </a:xfrm>
        </p:spPr>
        <p:txBody>
          <a:bodyPr/>
          <a:lstStyle/>
          <a:p>
            <a:pPr marL="0" marR="0"/>
            <a:r>
              <a:rPr lang="en-US" sz="1800" kern="100" dirty="0">
                <a:effectLst/>
                <a:latin typeface="Aptos" panose="020B0004020202020204" pitchFamily="34" charset="0"/>
                <a:ea typeface="Aptos" panose="020B0004020202020204" pitchFamily="34" charset="0"/>
                <a:cs typeface="Arial" panose="020B0604020202020204" pitchFamily="34" charset="0"/>
              </a:rPr>
              <a:t> </a:t>
            </a:r>
          </a:p>
        </p:txBody>
      </p:sp>
      <p:sp>
        <p:nvSpPr>
          <p:cNvPr id="4" name="object 8">
            <a:extLst>
              <a:ext uri="{FF2B5EF4-FFF2-40B4-BE49-F238E27FC236}">
                <a16:creationId xmlns:a16="http://schemas.microsoft.com/office/drawing/2014/main" id="{03968F7D-0BEB-DBC6-366E-B02DB986F419}"/>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chemeClr val="tx1">
                    <a:lumMod val="75000"/>
                    <a:lumOff val="25000"/>
                  </a:schemeClr>
                </a:solidFill>
                <a:latin typeface="Franklin Gothic Book"/>
                <a:cs typeface="Franklin Gothic Book"/>
              </a:rPr>
              <a:t>What Good Looks Like:  Revenue Strategy I 2024</a:t>
            </a:r>
            <a:endParaRPr sz="900" dirty="0">
              <a:solidFill>
                <a:schemeClr val="tx1">
                  <a:lumMod val="75000"/>
                  <a:lumOff val="25000"/>
                </a:schemeClr>
              </a:solidFill>
              <a:latin typeface="Franklin Gothic Book"/>
              <a:cs typeface="Franklin Gothic Book"/>
            </a:endParaRPr>
          </a:p>
        </p:txBody>
      </p:sp>
      <p:sp>
        <p:nvSpPr>
          <p:cNvPr id="6" name="TextBox 5">
            <a:extLst>
              <a:ext uri="{FF2B5EF4-FFF2-40B4-BE49-F238E27FC236}">
                <a16:creationId xmlns:a16="http://schemas.microsoft.com/office/drawing/2014/main" id="{73F906B6-4CC3-F3FF-B40B-2F850812E933}"/>
              </a:ext>
            </a:extLst>
          </p:cNvPr>
          <p:cNvSpPr txBox="1"/>
          <p:nvPr/>
        </p:nvSpPr>
        <p:spPr>
          <a:xfrm>
            <a:off x="443163" y="728543"/>
            <a:ext cx="5971674" cy="7417415"/>
          </a:xfrm>
          <a:prstGeom prst="rect">
            <a:avLst/>
          </a:prstGeom>
          <a:noFill/>
        </p:spPr>
        <p:txBody>
          <a:bodyPr wrap="square" rtlCol="0">
            <a:spAutoFit/>
          </a:bodyPr>
          <a:lstStyle/>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Typical areas of concern include misaligned metrics, where financial teams focus on revenue growth, and sales teams chase new customer acquisition. This divide can lead to neglected upselling opportunities and stunted growth. Inconsistent messaging further compounds the problem, where marketing positions a company as low-cost while finance pushes for higher-margin deals, confusing potential customers and hindering larger contracts. Resource allocation often suffers, too, with financial conservatism stifling marketing's ability to reach new market segments.</a:t>
            </a: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By identifying these signs, you can proactively address misalignment and lay the foundation for a more cohesive strategy.</a:t>
            </a:r>
          </a:p>
          <a:p>
            <a:pPr marL="0" marR="0"/>
            <a:endParaRPr lang="en-US" sz="1400" kern="100" dirty="0">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4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 </a:t>
            </a:r>
          </a:p>
          <a:p>
            <a:pPr marL="0" marR="0"/>
            <a:endParaRPr lang="en-US" sz="14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400" kern="100" dirty="0">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4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400" kern="100" dirty="0">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400" kern="100" dirty="0">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400" kern="100" dirty="0">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400" kern="100" dirty="0">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4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 </a:t>
            </a:r>
          </a:p>
          <a:p>
            <a:pPr marL="0" marR="0"/>
            <a:endParaRPr lang="en-US" sz="14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Misalignment also hampers productivity, with 40% of companies reporting sales and marketing teams measured by different metrics—a significant hindrance to collaboration. This disconnect translates into inefficiencies, wasted resources, and suboptimal decision-making. Furthermore, a lack of alignment can erode customer trust, leading to higher churn rates and missed opportunities to build lasting relationships.</a:t>
            </a: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Addressing misalignment is not merely about optimizing processes; it's about unlocking your company's full potential and driving sustainable growth.</a:t>
            </a:r>
          </a:p>
        </p:txBody>
      </p:sp>
      <p:pic>
        <p:nvPicPr>
          <p:cNvPr id="10" name="Picture 9" descr="A person standing in front of a large chalkboard&#10;&#10;Description automatically generated">
            <a:extLst>
              <a:ext uri="{FF2B5EF4-FFF2-40B4-BE49-F238E27FC236}">
                <a16:creationId xmlns:a16="http://schemas.microsoft.com/office/drawing/2014/main" id="{CE4FD083-8897-3215-5425-A9B54A7EF8E0}"/>
              </a:ext>
            </a:extLst>
          </p:cNvPr>
          <p:cNvPicPr>
            <a:picLocks noChangeAspect="1"/>
          </p:cNvPicPr>
          <p:nvPr/>
        </p:nvPicPr>
        <p:blipFill>
          <a:blip r:embed="rId2"/>
          <a:stretch>
            <a:fillRect/>
          </a:stretch>
        </p:blipFill>
        <p:spPr>
          <a:xfrm>
            <a:off x="3726126" y="3322172"/>
            <a:ext cx="3010334" cy="2230156"/>
          </a:xfrm>
          <a:prstGeom prst="rect">
            <a:avLst/>
          </a:prstGeom>
        </p:spPr>
      </p:pic>
      <p:sp>
        <p:nvSpPr>
          <p:cNvPr id="12" name="TextBox 11">
            <a:extLst>
              <a:ext uri="{FF2B5EF4-FFF2-40B4-BE49-F238E27FC236}">
                <a16:creationId xmlns:a16="http://schemas.microsoft.com/office/drawing/2014/main" id="{0F82D82A-9076-23D8-13B9-0A275FD76880}"/>
              </a:ext>
            </a:extLst>
          </p:cNvPr>
          <p:cNvSpPr txBox="1"/>
          <p:nvPr/>
        </p:nvSpPr>
        <p:spPr>
          <a:xfrm>
            <a:off x="443163" y="3237184"/>
            <a:ext cx="3324740" cy="3016210"/>
          </a:xfrm>
          <a:prstGeom prst="rect">
            <a:avLst/>
          </a:prstGeom>
          <a:noFill/>
        </p:spPr>
        <p:txBody>
          <a:bodyPr wrap="square" rtlCol="0">
            <a:spAutoFit/>
          </a:bodyPr>
          <a:lstStyle/>
          <a:p>
            <a:pPr marL="0" marR="0"/>
            <a:r>
              <a:rPr lang="en-US" sz="1400" b="1" kern="100" dirty="0">
                <a:effectLst/>
                <a:latin typeface="Franklin Gothic Book" panose="020B0503020102020204" pitchFamily="34" charset="0"/>
                <a:ea typeface="Aptos" panose="020B0004020202020204" pitchFamily="34" charset="0"/>
                <a:cs typeface="Arial" panose="020B0604020202020204" pitchFamily="34" charset="0"/>
              </a:rPr>
              <a:t>The Negative Impacts of Misalignment</a:t>
            </a:r>
            <a:endParaRPr lang="en-US" sz="14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The consequences of misalignment can be dire. Operational inefficiencies, lost revenue opportunities, and diminished customer satisfaction are just the tip of the iceberg. Businesses with poor alignment experience a 4% revenue decline, while those with solid alignment enjoy a 20% annual growth rate. The gap is substantial, underscoring the critical importance of addressing misalignment.</a:t>
            </a:r>
          </a:p>
          <a:p>
            <a:endParaRPr lang="en-US" dirty="0"/>
          </a:p>
          <a:p>
            <a:endParaRPr lang="en-US" dirty="0"/>
          </a:p>
        </p:txBody>
      </p:sp>
    </p:spTree>
    <p:extLst>
      <p:ext uri="{BB962C8B-B14F-4D97-AF65-F5344CB8AC3E}">
        <p14:creationId xmlns:p14="http://schemas.microsoft.com/office/powerpoint/2010/main" val="1520893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B7372-503A-BFD6-1870-5417250B5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594330-C691-5B3B-13B5-DD63B0FAD5FE}"/>
              </a:ext>
            </a:extLst>
          </p:cNvPr>
          <p:cNvSpPr>
            <a:spLocks noGrp="1"/>
          </p:cNvSpPr>
          <p:nvPr>
            <p:ph type="ctrTitle"/>
          </p:nvPr>
        </p:nvSpPr>
        <p:spPr>
          <a:xfrm>
            <a:off x="304800" y="228600"/>
            <a:ext cx="6477000" cy="553998"/>
          </a:xfrm>
        </p:spPr>
        <p:txBody>
          <a:bodyPr/>
          <a:lstStyle/>
          <a:p>
            <a:r>
              <a:rPr lang="en-US" dirty="0"/>
              <a:t>Unlocking the Power of Aligning Financial and Commercial Strategy</a:t>
            </a:r>
          </a:p>
        </p:txBody>
      </p:sp>
      <p:sp>
        <p:nvSpPr>
          <p:cNvPr id="3" name="Subtitle 2">
            <a:extLst>
              <a:ext uri="{FF2B5EF4-FFF2-40B4-BE49-F238E27FC236}">
                <a16:creationId xmlns:a16="http://schemas.microsoft.com/office/drawing/2014/main" id="{429E892A-4295-994A-155C-148BE8E9B6E6}"/>
              </a:ext>
            </a:extLst>
          </p:cNvPr>
          <p:cNvSpPr>
            <a:spLocks noGrp="1"/>
          </p:cNvSpPr>
          <p:nvPr>
            <p:ph type="subTitle" idx="4"/>
          </p:nvPr>
        </p:nvSpPr>
        <p:spPr>
          <a:xfrm>
            <a:off x="581526" y="782598"/>
            <a:ext cx="5971674" cy="276999"/>
          </a:xfrm>
        </p:spPr>
        <p:txBody>
          <a:bodyPr/>
          <a:lstStyle/>
          <a:p>
            <a:pPr marL="0" marR="0"/>
            <a:r>
              <a:rPr lang="en-US" sz="1800" kern="100" dirty="0">
                <a:effectLst/>
                <a:latin typeface="Aptos" panose="020B0004020202020204" pitchFamily="34" charset="0"/>
                <a:ea typeface="Aptos" panose="020B0004020202020204" pitchFamily="34" charset="0"/>
                <a:cs typeface="Arial" panose="020B0604020202020204" pitchFamily="34" charset="0"/>
              </a:rPr>
              <a:t> </a:t>
            </a:r>
          </a:p>
        </p:txBody>
      </p:sp>
      <p:sp>
        <p:nvSpPr>
          <p:cNvPr id="4" name="object 8">
            <a:extLst>
              <a:ext uri="{FF2B5EF4-FFF2-40B4-BE49-F238E27FC236}">
                <a16:creationId xmlns:a16="http://schemas.microsoft.com/office/drawing/2014/main" id="{ABEA2D62-E3AC-B4CA-85BC-27172369DFFF}"/>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chemeClr val="tx1">
                    <a:lumMod val="75000"/>
                    <a:lumOff val="25000"/>
                  </a:schemeClr>
                </a:solidFill>
                <a:latin typeface="Franklin Gothic Book"/>
                <a:cs typeface="Franklin Gothic Book"/>
              </a:rPr>
              <a:t>What Good Looks Like:  Revenue Strategy I 2024</a:t>
            </a:r>
            <a:endParaRPr sz="900" dirty="0">
              <a:solidFill>
                <a:schemeClr val="tx1">
                  <a:lumMod val="75000"/>
                  <a:lumOff val="25000"/>
                </a:schemeClr>
              </a:solidFill>
              <a:latin typeface="Franklin Gothic Book"/>
              <a:cs typeface="Franklin Gothic Book"/>
            </a:endParaRPr>
          </a:p>
        </p:txBody>
      </p:sp>
      <p:sp>
        <p:nvSpPr>
          <p:cNvPr id="6" name="TextBox 5">
            <a:extLst>
              <a:ext uri="{FF2B5EF4-FFF2-40B4-BE49-F238E27FC236}">
                <a16:creationId xmlns:a16="http://schemas.microsoft.com/office/drawing/2014/main" id="{B09BFC9D-D235-279F-2253-7A0885ED3471}"/>
              </a:ext>
            </a:extLst>
          </p:cNvPr>
          <p:cNvSpPr txBox="1"/>
          <p:nvPr/>
        </p:nvSpPr>
        <p:spPr>
          <a:xfrm>
            <a:off x="443162" y="570097"/>
            <a:ext cx="5971674" cy="4616648"/>
          </a:xfrm>
          <a:prstGeom prst="rect">
            <a:avLst/>
          </a:prstGeom>
          <a:noFill/>
        </p:spPr>
        <p:txBody>
          <a:bodyPr wrap="square" rtlCol="0">
            <a:spAutoFit/>
          </a:bodyPr>
          <a:lstStyle/>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400" b="1" kern="100" dirty="0">
                <a:effectLst/>
                <a:latin typeface="Franklin Gothic Book" panose="020B0503020102020204" pitchFamily="34" charset="0"/>
                <a:ea typeface="Aptos" panose="020B0004020202020204" pitchFamily="34" charset="0"/>
                <a:cs typeface="Arial" panose="020B0604020202020204" pitchFamily="34" charset="0"/>
              </a:rPr>
              <a:t>Case Study 1: TechInnovate's Misaligned Growth Strategy</a:t>
            </a:r>
            <a:endParaRPr lang="en-US" sz="14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TechInnovate, a mid-sized software company, set an ambitious goal to double its revenue within three years. However, the misalignment between their financial and marketing strategies led to significant challenges. Their finance team focused solely on revenue growth, while the sales team's compensation structure prioritized new customer acquisition over expanding existing accounts. This misalignment resulted in neglected upselling opportunities and stunted growth.</a:t>
            </a: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Adding to the complexity, the marketing team continued positioning TechInnovate as a low-cost provider, contradicting the finance team's push for higher-margin enterprise deals. This inconsistency confused potential customers, making it challenging to close larger contracts. Furthermore, a conservative approach to marketing spend limited their ability to reach new market segments and generate qualified leads.</a:t>
            </a: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After 18 months, TechInnovate achieved only a 15% revenue increase, falling far short of their goal. By realigning sales compensation, marketing messaging, and resource allocation to support their financial vision, they ultimately achieved a 75% revenue increase by the end of the third year.</a:t>
            </a:r>
          </a:p>
        </p:txBody>
      </p:sp>
      <p:pic>
        <p:nvPicPr>
          <p:cNvPr id="5" name="Picture 4">
            <a:extLst>
              <a:ext uri="{FF2B5EF4-FFF2-40B4-BE49-F238E27FC236}">
                <a16:creationId xmlns:a16="http://schemas.microsoft.com/office/drawing/2014/main" id="{6EC2DCFB-3285-B054-761D-75DDB6D86BB0}"/>
              </a:ext>
            </a:extLst>
          </p:cNvPr>
          <p:cNvPicPr>
            <a:picLocks noChangeAspect="1"/>
          </p:cNvPicPr>
          <p:nvPr/>
        </p:nvPicPr>
        <p:blipFill>
          <a:blip r:embed="rId2"/>
          <a:stretch>
            <a:fillRect/>
          </a:stretch>
        </p:blipFill>
        <p:spPr>
          <a:xfrm>
            <a:off x="1113756" y="5244904"/>
            <a:ext cx="4630487" cy="3207310"/>
          </a:xfrm>
          <a:prstGeom prst="rect">
            <a:avLst/>
          </a:prstGeom>
        </p:spPr>
      </p:pic>
    </p:spTree>
    <p:extLst>
      <p:ext uri="{BB962C8B-B14F-4D97-AF65-F5344CB8AC3E}">
        <p14:creationId xmlns:p14="http://schemas.microsoft.com/office/powerpoint/2010/main" val="779608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6252B-D0BC-21EF-003B-FD92B57A8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DC6605-2C37-A624-5A3D-B7A74AAA3C47}"/>
              </a:ext>
            </a:extLst>
          </p:cNvPr>
          <p:cNvSpPr>
            <a:spLocks noGrp="1"/>
          </p:cNvSpPr>
          <p:nvPr>
            <p:ph type="ctrTitle"/>
          </p:nvPr>
        </p:nvSpPr>
        <p:spPr>
          <a:xfrm>
            <a:off x="304800" y="228600"/>
            <a:ext cx="6477000" cy="553998"/>
          </a:xfrm>
        </p:spPr>
        <p:txBody>
          <a:bodyPr/>
          <a:lstStyle/>
          <a:p>
            <a:r>
              <a:rPr lang="en-US" dirty="0"/>
              <a:t>Unlocking the Power of Aligning Financial and Commercial Strategy</a:t>
            </a:r>
          </a:p>
        </p:txBody>
      </p:sp>
      <p:sp>
        <p:nvSpPr>
          <p:cNvPr id="3" name="Subtitle 2">
            <a:extLst>
              <a:ext uri="{FF2B5EF4-FFF2-40B4-BE49-F238E27FC236}">
                <a16:creationId xmlns:a16="http://schemas.microsoft.com/office/drawing/2014/main" id="{47EEF09E-8B39-B6B1-2838-689030C2BCEE}"/>
              </a:ext>
            </a:extLst>
          </p:cNvPr>
          <p:cNvSpPr>
            <a:spLocks noGrp="1"/>
          </p:cNvSpPr>
          <p:nvPr>
            <p:ph type="subTitle" idx="4"/>
          </p:nvPr>
        </p:nvSpPr>
        <p:spPr>
          <a:xfrm>
            <a:off x="581526" y="782598"/>
            <a:ext cx="5971674" cy="276999"/>
          </a:xfrm>
        </p:spPr>
        <p:txBody>
          <a:bodyPr/>
          <a:lstStyle/>
          <a:p>
            <a:pPr marL="0" marR="0"/>
            <a:r>
              <a:rPr lang="en-US" sz="1800" kern="100" dirty="0">
                <a:effectLst/>
                <a:latin typeface="Aptos" panose="020B0004020202020204" pitchFamily="34" charset="0"/>
                <a:ea typeface="Aptos" panose="020B0004020202020204" pitchFamily="34" charset="0"/>
                <a:cs typeface="Arial" panose="020B0604020202020204" pitchFamily="34" charset="0"/>
              </a:rPr>
              <a:t> </a:t>
            </a:r>
          </a:p>
        </p:txBody>
      </p:sp>
      <p:sp>
        <p:nvSpPr>
          <p:cNvPr id="4" name="object 8">
            <a:extLst>
              <a:ext uri="{FF2B5EF4-FFF2-40B4-BE49-F238E27FC236}">
                <a16:creationId xmlns:a16="http://schemas.microsoft.com/office/drawing/2014/main" id="{C5C7D4D6-BC5E-1C9C-F04E-6E3C274E3D1B}"/>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chemeClr val="tx1">
                    <a:lumMod val="75000"/>
                    <a:lumOff val="25000"/>
                  </a:schemeClr>
                </a:solidFill>
                <a:latin typeface="Franklin Gothic Book"/>
                <a:cs typeface="Franklin Gothic Book"/>
              </a:rPr>
              <a:t>What Good Looks Like:  Revenue Strategy I 2024</a:t>
            </a:r>
            <a:endParaRPr sz="900" dirty="0">
              <a:solidFill>
                <a:schemeClr val="tx1">
                  <a:lumMod val="75000"/>
                  <a:lumOff val="25000"/>
                </a:schemeClr>
              </a:solidFill>
              <a:latin typeface="Franklin Gothic Book"/>
              <a:cs typeface="Franklin Gothic Book"/>
            </a:endParaRPr>
          </a:p>
        </p:txBody>
      </p:sp>
      <p:sp>
        <p:nvSpPr>
          <p:cNvPr id="6" name="TextBox 5">
            <a:extLst>
              <a:ext uri="{FF2B5EF4-FFF2-40B4-BE49-F238E27FC236}">
                <a16:creationId xmlns:a16="http://schemas.microsoft.com/office/drawing/2014/main" id="{A7E4E357-4555-5B4F-4D6C-6F2632EBBF1E}"/>
              </a:ext>
            </a:extLst>
          </p:cNvPr>
          <p:cNvSpPr txBox="1"/>
          <p:nvPr/>
        </p:nvSpPr>
        <p:spPr>
          <a:xfrm>
            <a:off x="443163" y="728543"/>
            <a:ext cx="5971674" cy="7632859"/>
          </a:xfrm>
          <a:prstGeom prst="rect">
            <a:avLst/>
          </a:prstGeom>
          <a:noFill/>
        </p:spPr>
        <p:txBody>
          <a:bodyPr wrap="square" rtlCol="0">
            <a:spAutoFit/>
          </a:bodyPr>
          <a:lstStyle/>
          <a:p>
            <a:pPr marL="0" marR="0"/>
            <a:r>
              <a:rPr lang="en-US" sz="1400" b="1" kern="100" dirty="0">
                <a:effectLst/>
                <a:latin typeface="Franklin Gothic Book" panose="020B0503020102020204" pitchFamily="34" charset="0"/>
                <a:ea typeface="Aptos" panose="020B0004020202020204" pitchFamily="34" charset="0"/>
                <a:cs typeface="Arial" panose="020B0604020202020204" pitchFamily="34" charset="0"/>
              </a:rPr>
              <a:t>Case Study 2: RetailGiant's Omnichannel Disconnect</a:t>
            </a:r>
            <a:endParaRPr lang="en-US" sz="14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RetailGiant, a large brick-and-mortar retailer, recognized the need to invest heavily in e-commerce to remain competitive. However, their financial strategy, sales, and marketing execution failed to support this digital transformation. Channel conflict arose as the in-store sales team viewed e-commerce as threatening their commissions discouraging customers from using online services. This disjointed experience hindered the adoption of new digital channels.</a:t>
            </a: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Despite the significant investment in e-commerce infrastructure, the marketing team allocated 80% of their budget to traditional advertising, neglecting digital channels crucial for driving online sales. Furthermore, siloed customer data prevented a unified view of customer behavior, impeding personalized marketing efforts.</a:t>
            </a: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RetailGiant's e-commerce sales grew at only 5% year-over-year, compared to the industry average of 15%. Realigning sales incentives, marketing focus, and data systems to support their omnichannel vision accelerated e-commerce growth to 25% within 18 months.</a:t>
            </a: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400" b="1" kern="100" dirty="0">
                <a:effectLst/>
                <a:latin typeface="Franklin Gothic Book" panose="020B0503020102020204" pitchFamily="34" charset="0"/>
                <a:ea typeface="Aptos" panose="020B0004020202020204" pitchFamily="34" charset="0"/>
                <a:cs typeface="Arial" panose="020B0604020202020204" pitchFamily="34" charset="0"/>
              </a:rPr>
              <a:t>Expert Perspectives on Alignment</a:t>
            </a:r>
            <a:endParaRPr lang="en-US" sz="14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Industry experts emphasize the importance of alignment in driving business success. Phil Fernandez, CEO of Marketo, asserts, "When sales and marketing teams unite around a single revenue cycle, they dramatically improve marketing return on investment, sales productivity, and, most importantly, top-line growth."</a:t>
            </a: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Lori Wizdo, Principal Analyst at Forrester Research, underscores the significance of shared definitions, stating, "The best-in-class companies are those that have a clear definition of a qualified lead agreed upon by both sales and marketing."</a:t>
            </a: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These insights highlight the need for shared goals, open communication, and collaborative strategies to achieve alignment and drive growth.</a:t>
            </a:r>
          </a:p>
          <a:p>
            <a:pPr marL="0" marR="0"/>
            <a:endParaRPr lang="en-US" sz="1400" kern="100" dirty="0">
              <a:effectLst/>
              <a:latin typeface="Franklin Gothic Book" panose="020B05030201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689739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1558A-D0CA-6E86-B6A1-E48AC284D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252A0D-8684-0E48-3757-7BDEA55A233F}"/>
              </a:ext>
            </a:extLst>
          </p:cNvPr>
          <p:cNvSpPr>
            <a:spLocks noGrp="1"/>
          </p:cNvSpPr>
          <p:nvPr>
            <p:ph type="ctrTitle"/>
          </p:nvPr>
        </p:nvSpPr>
        <p:spPr>
          <a:xfrm>
            <a:off x="304800" y="228600"/>
            <a:ext cx="6477000" cy="553998"/>
          </a:xfrm>
        </p:spPr>
        <p:txBody>
          <a:bodyPr/>
          <a:lstStyle/>
          <a:p>
            <a:r>
              <a:rPr lang="en-US" dirty="0"/>
              <a:t>Unlocking the Power of Aligning Financial and Commercial Strategy</a:t>
            </a:r>
          </a:p>
        </p:txBody>
      </p:sp>
      <p:sp>
        <p:nvSpPr>
          <p:cNvPr id="3" name="Subtitle 2">
            <a:extLst>
              <a:ext uri="{FF2B5EF4-FFF2-40B4-BE49-F238E27FC236}">
                <a16:creationId xmlns:a16="http://schemas.microsoft.com/office/drawing/2014/main" id="{C46660F2-A9CA-DE1B-ECAB-D7C6803FF753}"/>
              </a:ext>
            </a:extLst>
          </p:cNvPr>
          <p:cNvSpPr>
            <a:spLocks noGrp="1"/>
          </p:cNvSpPr>
          <p:nvPr>
            <p:ph type="subTitle" idx="4"/>
          </p:nvPr>
        </p:nvSpPr>
        <p:spPr>
          <a:xfrm>
            <a:off x="443163" y="938046"/>
            <a:ext cx="5971674" cy="7571303"/>
          </a:xfrm>
        </p:spPr>
        <p:txBody>
          <a:bodyPr/>
          <a:lstStyle/>
          <a:p>
            <a:pPr marL="0" marR="0"/>
            <a:r>
              <a:rPr lang="en-US" sz="1400" b="1" kern="100" dirty="0">
                <a:effectLst/>
                <a:ea typeface="Aptos" panose="020B0004020202020204" pitchFamily="34" charset="0"/>
                <a:cs typeface="Arial" panose="020B0604020202020204" pitchFamily="34" charset="0"/>
              </a:rPr>
              <a:t>Actionable Steps for Achieving Alignment</a:t>
            </a:r>
            <a:endParaRPr lang="en-US" sz="1400" kern="100" dirty="0">
              <a:effectLst/>
              <a:ea typeface="Aptos" panose="020B0004020202020204" pitchFamily="34" charset="0"/>
              <a:cs typeface="Arial" panose="020B0604020202020204" pitchFamily="34" charset="0"/>
            </a:endParaRPr>
          </a:p>
          <a:p>
            <a:pPr marL="0" marR="0"/>
            <a:r>
              <a:rPr lang="en-US" sz="1400" kern="100" dirty="0">
                <a:effectLst/>
                <a:ea typeface="Aptos" panose="020B0004020202020204" pitchFamily="34" charset="0"/>
                <a:cs typeface="Arial" panose="020B0604020202020204" pitchFamily="34" charset="0"/>
              </a:rPr>
              <a:t>To address misalignment and unlock your company's full potential, consider the following actionable steps:</a:t>
            </a:r>
          </a:p>
          <a:p>
            <a:pPr marL="0" marR="0"/>
            <a:r>
              <a:rPr lang="en-US" sz="1400" kern="100" dirty="0">
                <a:effectLst/>
                <a:ea typeface="Aptos" panose="020B0004020202020204" pitchFamily="34" charset="0"/>
                <a:cs typeface="Arial" panose="020B0604020202020204" pitchFamily="34" charset="0"/>
              </a:rPr>
              <a:t>  </a:t>
            </a:r>
          </a:p>
          <a:p>
            <a:pPr marL="285750" marR="0" lvl="0" indent="-285750">
              <a:buFont typeface="Wingdings" pitchFamily="2" charset="2"/>
              <a:buChar char="F"/>
              <a:tabLst>
                <a:tab pos="457200" algn="l"/>
              </a:tabLst>
            </a:pPr>
            <a:r>
              <a:rPr lang="en-US" sz="1400" kern="100" dirty="0">
                <a:effectLst/>
                <a:ea typeface="Aptos" panose="020B0004020202020204" pitchFamily="34" charset="0"/>
                <a:cs typeface="Arial" panose="020B0604020202020204" pitchFamily="34" charset="0"/>
              </a:rPr>
              <a:t>Initiate a comprehensive review of current financial and marketing strategies to identify areas of misalignment. This assessment will serve as the foundation for alignment efforts.</a:t>
            </a:r>
          </a:p>
          <a:p>
            <a:pPr marR="0" lvl="0">
              <a:tabLst>
                <a:tab pos="457200" algn="l"/>
              </a:tabLst>
            </a:pPr>
            <a:endParaRPr lang="en-US" sz="1400" kern="100" dirty="0">
              <a:effectLst/>
              <a:ea typeface="Aptos" panose="020B0004020202020204" pitchFamily="34" charset="0"/>
              <a:cs typeface="Arial" panose="020B0604020202020204" pitchFamily="34" charset="0"/>
            </a:endParaRPr>
          </a:p>
          <a:p>
            <a:pPr marL="285750" marR="0" lvl="0" indent="-285750">
              <a:buFont typeface="Wingdings" pitchFamily="2" charset="2"/>
              <a:buChar char="F"/>
              <a:tabLst>
                <a:tab pos="457200" algn="l"/>
              </a:tabLst>
            </a:pPr>
            <a:r>
              <a:rPr lang="en-US" sz="1400" kern="100" dirty="0">
                <a:effectLst/>
                <a:ea typeface="Aptos" panose="020B0004020202020204" pitchFamily="34" charset="0"/>
                <a:cs typeface="Arial" panose="020B0604020202020204" pitchFamily="34" charset="0"/>
              </a:rPr>
              <a:t>Foster open communication and collaboration between finance and marketing teams. Regular meetings and strategy sessions can help ensure a shared understanding of goals and strategies.</a:t>
            </a:r>
          </a:p>
          <a:p>
            <a:pPr marL="285750" marR="0" lvl="0" indent="-285750">
              <a:buFont typeface="Wingdings" pitchFamily="2" charset="2"/>
              <a:buChar char="F"/>
              <a:tabLst>
                <a:tab pos="457200" algn="l"/>
              </a:tabLst>
            </a:pPr>
            <a:endParaRPr lang="en-US" sz="1400" kern="100" dirty="0">
              <a:effectLst/>
              <a:ea typeface="Aptos" panose="020B0004020202020204" pitchFamily="34" charset="0"/>
              <a:cs typeface="Arial" panose="020B0604020202020204" pitchFamily="34" charset="0"/>
            </a:endParaRPr>
          </a:p>
          <a:p>
            <a:pPr marL="285750" marR="0" lvl="0" indent="-285750">
              <a:buFont typeface="Wingdings" pitchFamily="2" charset="2"/>
              <a:buChar char="F"/>
              <a:tabLst>
                <a:tab pos="457200" algn="l"/>
              </a:tabLst>
            </a:pPr>
            <a:r>
              <a:rPr lang="en-US" sz="1400" kern="100" dirty="0">
                <a:effectLst/>
                <a:ea typeface="Aptos" panose="020B0004020202020204" pitchFamily="34" charset="0"/>
                <a:cs typeface="Arial" panose="020B0604020202020204" pitchFamily="34" charset="0"/>
              </a:rPr>
              <a:t>Develop shared KPIs and metrics that reflect alignment objectives. This collaborative approach enables both teams to measure success collectively.</a:t>
            </a:r>
          </a:p>
          <a:p>
            <a:pPr marR="0" lvl="0">
              <a:tabLst>
                <a:tab pos="457200" algn="l"/>
              </a:tabLst>
            </a:pPr>
            <a:endParaRPr lang="en-US" sz="1400" kern="100" dirty="0">
              <a:effectLst/>
              <a:ea typeface="Aptos" panose="020B0004020202020204" pitchFamily="34" charset="0"/>
              <a:cs typeface="Arial" panose="020B0604020202020204" pitchFamily="34" charset="0"/>
            </a:endParaRPr>
          </a:p>
          <a:p>
            <a:pPr marL="285750" marR="0" lvl="0" indent="-285750">
              <a:buFont typeface="Wingdings" pitchFamily="2" charset="2"/>
              <a:buChar char="F"/>
              <a:tabLst>
                <a:tab pos="457200" algn="l"/>
              </a:tabLst>
            </a:pPr>
            <a:r>
              <a:rPr lang="en-US" sz="1400" kern="100" dirty="0">
                <a:effectLst/>
                <a:ea typeface="Aptos" panose="020B0004020202020204" pitchFamily="34" charset="0"/>
                <a:cs typeface="Arial" panose="020B0604020202020204" pitchFamily="34" charset="0"/>
              </a:rPr>
              <a:t>Invest in technology and tools that facilitate collaboration and transparency. Shared CRM systems and integrated analytics platforms can bridge departmental gaps.</a:t>
            </a:r>
          </a:p>
          <a:p>
            <a:pPr marL="285750" marR="0" lvl="0" indent="-285750">
              <a:buFont typeface="Wingdings" pitchFamily="2" charset="2"/>
              <a:buChar char="F"/>
              <a:tabLst>
                <a:tab pos="457200" algn="l"/>
              </a:tabLst>
            </a:pPr>
            <a:endParaRPr lang="en-US" sz="1400" kern="100" dirty="0">
              <a:effectLst/>
              <a:ea typeface="Aptos" panose="020B0004020202020204" pitchFamily="34" charset="0"/>
              <a:cs typeface="Arial" panose="020B0604020202020204" pitchFamily="34" charset="0"/>
            </a:endParaRPr>
          </a:p>
          <a:p>
            <a:pPr marL="285750" marR="0" lvl="0" indent="-285750">
              <a:buFont typeface="Wingdings" pitchFamily="2" charset="2"/>
              <a:buChar char="F"/>
              <a:tabLst>
                <a:tab pos="457200" algn="l"/>
              </a:tabLst>
            </a:pPr>
            <a:r>
              <a:rPr lang="en-US" sz="1400" kern="100" dirty="0">
                <a:effectLst/>
                <a:ea typeface="Aptos" panose="020B0004020202020204" pitchFamily="34" charset="0"/>
                <a:cs typeface="Arial" panose="020B0604020202020204" pitchFamily="34" charset="0"/>
              </a:rPr>
              <a:t>Cultivate a culture that values cross-departmental collaboration. Encourage  understanding each other's roles and challenges to foster a unified approach.</a:t>
            </a:r>
            <a:r>
              <a:rPr lang="en-US" sz="1400" dirty="0">
                <a:solidFill>
                  <a:srgbClr val="404040"/>
                </a:solidFill>
                <a:latin typeface="Wingdings"/>
                <a:cs typeface="Wingdings"/>
              </a:rPr>
              <a:t> </a:t>
            </a:r>
          </a:p>
          <a:p>
            <a:pPr marL="285750" marR="0" lvl="0" indent="-285750">
              <a:buFont typeface="Wingdings" pitchFamily="2" charset="2"/>
              <a:buChar char="F"/>
              <a:tabLst>
                <a:tab pos="457200" algn="l"/>
              </a:tabLst>
            </a:pPr>
            <a:endParaRPr lang="en-US" sz="1400" dirty="0">
              <a:solidFill>
                <a:srgbClr val="404040"/>
              </a:solidFill>
              <a:latin typeface="Wingdings"/>
              <a:cs typeface="Wingdings"/>
            </a:endParaRPr>
          </a:p>
          <a:p>
            <a:pPr marL="285750" marR="0" lvl="0" indent="-285750">
              <a:buFont typeface="Wingdings" pitchFamily="2" charset="2"/>
              <a:buChar char="F"/>
              <a:tabLst>
                <a:tab pos="457200" algn="l"/>
              </a:tabLst>
            </a:pPr>
            <a:r>
              <a:rPr lang="en-US" sz="1400" kern="100" dirty="0">
                <a:effectLst/>
                <a:ea typeface="Aptos" panose="020B0004020202020204" pitchFamily="34" charset="0"/>
                <a:cs typeface="Arial" panose="020B0604020202020204" pitchFamily="34" charset="0"/>
              </a:rPr>
              <a:t>Continuously monitor and adjust strategies based on performance metrics </a:t>
            </a:r>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and feedback. Adaptability is crucial in maintaining alignment in a dynamic business environment.</a:t>
            </a:r>
          </a:p>
          <a:p>
            <a:pPr marL="0" marR="0"/>
            <a:endParaRPr lang="en-US" sz="1400" kern="100" dirty="0">
              <a:effectLst/>
              <a:ea typeface="Aptos" panose="020B0004020202020204" pitchFamily="34" charset="0"/>
              <a:cs typeface="Arial" panose="020B0604020202020204" pitchFamily="34" charset="0"/>
            </a:endParaRPr>
          </a:p>
          <a:p>
            <a:pPr marL="0" marR="0"/>
            <a:r>
              <a:rPr lang="en-US" sz="1400" b="1" kern="100" dirty="0">
                <a:effectLst/>
                <a:ea typeface="Aptos" panose="020B0004020202020204" pitchFamily="34" charset="0"/>
                <a:cs typeface="Arial" panose="020B0604020202020204" pitchFamily="34" charset="0"/>
              </a:rPr>
              <a:t> </a:t>
            </a:r>
            <a:endParaRPr lang="en-US" sz="1400" kern="100" dirty="0">
              <a:effectLst/>
              <a:ea typeface="Aptos" panose="020B0004020202020204" pitchFamily="34" charset="0"/>
              <a:cs typeface="Arial" panose="020B0604020202020204" pitchFamily="34" charset="0"/>
            </a:endParaRPr>
          </a:p>
          <a:p>
            <a:pPr marL="0" marR="0"/>
            <a:r>
              <a:rPr lang="en-US" sz="1400" kern="100" dirty="0">
                <a:effectLst/>
                <a:ea typeface="Aptos" panose="020B0004020202020204" pitchFamily="34" charset="0"/>
                <a:cs typeface="Arial" panose="020B0604020202020204" pitchFamily="34" charset="0"/>
              </a:rPr>
              <a:t>Misalignment between financial strategies and sales/marketing execution can significantly impact a company's performance. Businesses can achieve and maintain alignment by proactively identifying signs of misalignment, implementing open communication, shared metrics, and a culture of collaboration.</a:t>
            </a:r>
          </a:p>
          <a:p>
            <a:pPr marL="0" marR="0"/>
            <a:endParaRPr lang="en-US" sz="18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4" name="object 8">
            <a:extLst>
              <a:ext uri="{FF2B5EF4-FFF2-40B4-BE49-F238E27FC236}">
                <a16:creationId xmlns:a16="http://schemas.microsoft.com/office/drawing/2014/main" id="{E4AE0C55-A40F-CBBF-4404-C8CD93B9311E}"/>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chemeClr val="tx1">
                    <a:lumMod val="75000"/>
                    <a:lumOff val="25000"/>
                  </a:schemeClr>
                </a:solidFill>
                <a:latin typeface="Franklin Gothic Book"/>
                <a:cs typeface="Franklin Gothic Book"/>
              </a:rPr>
              <a:t>What Good Looks Like:  Revenue Strategy I 2024</a:t>
            </a:r>
            <a:endParaRPr sz="900" dirty="0">
              <a:solidFill>
                <a:schemeClr val="tx1">
                  <a:lumMod val="75000"/>
                  <a:lumOff val="25000"/>
                </a:schemeClr>
              </a:solidFill>
              <a:latin typeface="Franklin Gothic Book"/>
              <a:cs typeface="Franklin Gothic Book"/>
            </a:endParaRPr>
          </a:p>
        </p:txBody>
      </p:sp>
    </p:spTree>
    <p:extLst>
      <p:ext uri="{BB962C8B-B14F-4D97-AF65-F5344CB8AC3E}">
        <p14:creationId xmlns:p14="http://schemas.microsoft.com/office/powerpoint/2010/main" val="1278593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79375"/>
            <a:ext cx="6858000" cy="382156"/>
          </a:xfrm>
          <a:prstGeom prst="rect">
            <a:avLst/>
          </a:prstGeom>
        </p:spPr>
        <p:txBody>
          <a:bodyPr vert="horz" wrap="square" lIns="0" tIns="12700" rIns="0" bIns="0" rtlCol="0">
            <a:spAutoFit/>
          </a:bodyPr>
          <a:lstStyle/>
          <a:p>
            <a:pPr marL="12700" algn="ctr">
              <a:lnSpc>
                <a:spcPct val="100000"/>
              </a:lnSpc>
              <a:spcBef>
                <a:spcPts val="100"/>
              </a:spcBef>
            </a:pPr>
            <a:r>
              <a:rPr lang="en-US" sz="2400" dirty="0"/>
              <a:t>Alignment from Top-Line Vision to Tactical Output</a:t>
            </a:r>
            <a:endParaRPr sz="2400" dirty="0"/>
          </a:p>
        </p:txBody>
      </p:sp>
      <p:sp>
        <p:nvSpPr>
          <p:cNvPr id="4" name="object 4"/>
          <p:cNvSpPr txBox="1"/>
          <p:nvPr/>
        </p:nvSpPr>
        <p:spPr>
          <a:xfrm>
            <a:off x="6343648" y="8730488"/>
            <a:ext cx="83820" cy="162560"/>
          </a:xfrm>
          <a:prstGeom prst="rect">
            <a:avLst/>
          </a:prstGeom>
        </p:spPr>
        <p:txBody>
          <a:bodyPr vert="horz" wrap="square" lIns="0" tIns="12700" rIns="0" bIns="0" rtlCol="0">
            <a:spAutoFit/>
          </a:bodyPr>
          <a:lstStyle/>
          <a:p>
            <a:pPr marL="12700">
              <a:lnSpc>
                <a:spcPct val="100000"/>
              </a:lnSpc>
              <a:spcBef>
                <a:spcPts val="100"/>
              </a:spcBef>
            </a:pPr>
            <a:r>
              <a:rPr sz="900">
                <a:solidFill>
                  <a:srgbClr val="898989"/>
                </a:solidFill>
                <a:latin typeface="Calibri"/>
                <a:cs typeface="Calibri"/>
              </a:rPr>
              <a:t>6</a:t>
            </a:r>
            <a:endParaRPr sz="900">
              <a:latin typeface="Calibri"/>
              <a:cs typeface="Calibri"/>
            </a:endParaRPr>
          </a:p>
        </p:txBody>
      </p:sp>
      <p:sp>
        <p:nvSpPr>
          <p:cNvPr id="5" name="object 5"/>
          <p:cNvSpPr/>
          <p:nvPr/>
        </p:nvSpPr>
        <p:spPr>
          <a:xfrm flipV="1">
            <a:off x="252684" y="551579"/>
            <a:ext cx="6348670" cy="64241"/>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6"/>
          <p:cNvSpPr txBox="1"/>
          <p:nvPr/>
        </p:nvSpPr>
        <p:spPr>
          <a:xfrm>
            <a:off x="331424" y="784352"/>
            <a:ext cx="6089015" cy="4545475"/>
          </a:xfrm>
          <a:prstGeom prst="rect">
            <a:avLst/>
          </a:prstGeom>
        </p:spPr>
        <p:txBody>
          <a:bodyPr vert="horz" wrap="square" lIns="0" tIns="12700" rIns="0" bIns="0" rtlCol="0">
            <a:spAutoFit/>
          </a:bodyPr>
          <a:lstStyle/>
          <a:p>
            <a:pPr marL="12700" marR="144145">
              <a:lnSpc>
                <a:spcPct val="100000"/>
              </a:lnSpc>
              <a:spcBef>
                <a:spcPts val="100"/>
              </a:spcBef>
            </a:pPr>
            <a:r>
              <a:rPr sz="1400" dirty="0">
                <a:latin typeface="Franklin Gothic Book"/>
                <a:cs typeface="Franklin Gothic Book"/>
              </a:rPr>
              <a:t>Teams that create revenue attainment and stabilization have shown these key attributes:</a:t>
            </a:r>
          </a:p>
          <a:p>
            <a:pPr>
              <a:lnSpc>
                <a:spcPct val="100000"/>
              </a:lnSpc>
              <a:spcBef>
                <a:spcPts val="35"/>
              </a:spcBef>
            </a:pPr>
            <a:endParaRPr sz="1400" dirty="0">
              <a:latin typeface="Franklin Gothic Book"/>
              <a:cs typeface="Franklin Gothic Book"/>
            </a:endParaRPr>
          </a:p>
          <a:p>
            <a:pPr marL="12700">
              <a:lnSpc>
                <a:spcPts val="1910"/>
              </a:lnSpc>
            </a:pPr>
            <a:r>
              <a:rPr sz="1400" dirty="0">
                <a:solidFill>
                  <a:srgbClr val="404040"/>
                </a:solidFill>
                <a:latin typeface="Wingdings"/>
                <a:cs typeface="Wingdings"/>
              </a:rPr>
              <a:t></a:t>
            </a:r>
            <a:r>
              <a:rPr sz="1400" dirty="0">
                <a:solidFill>
                  <a:srgbClr val="404040"/>
                </a:solidFill>
                <a:latin typeface="Times New Roman"/>
                <a:cs typeface="Times New Roman"/>
              </a:rPr>
              <a:t> </a:t>
            </a:r>
            <a:r>
              <a:rPr sz="1400" dirty="0">
                <a:solidFill>
                  <a:srgbClr val="404040"/>
                </a:solidFill>
                <a:latin typeface="Franklin Gothic Medium"/>
                <a:cs typeface="Franklin Gothic Medium"/>
              </a:rPr>
              <a:t>Focused on the Most Profitable Customers</a:t>
            </a:r>
            <a:endParaRPr sz="1400" dirty="0">
              <a:latin typeface="Franklin Gothic Medium"/>
              <a:cs typeface="Franklin Gothic Medium"/>
            </a:endParaRPr>
          </a:p>
          <a:p>
            <a:pPr marL="469900" marR="5080">
              <a:lnSpc>
                <a:spcPct val="99200"/>
              </a:lnSpc>
              <a:spcBef>
                <a:spcPts val="5"/>
              </a:spcBef>
            </a:pPr>
            <a:r>
              <a:rPr sz="1400" dirty="0">
                <a:solidFill>
                  <a:srgbClr val="404040"/>
                </a:solidFill>
                <a:latin typeface="Franklin Gothic Book"/>
                <a:cs typeface="Franklin Gothic Book"/>
              </a:rPr>
              <a:t>Best of class revenue teams understand the most profitable segments, accounts, and customers. Teams understand the types of travelers in every segment. Gone are the days of Transient and Group conversations, but rather the Most Profitable</a:t>
            </a:r>
            <a:r>
              <a:rPr lang="en-US" sz="1400" dirty="0">
                <a:latin typeface="Franklin Gothic Book"/>
                <a:cs typeface="Franklin Gothic Book"/>
              </a:rPr>
              <a:t> </a:t>
            </a:r>
            <a:r>
              <a:rPr sz="1400" dirty="0">
                <a:solidFill>
                  <a:srgbClr val="404040"/>
                </a:solidFill>
                <a:latin typeface="Franklin Gothic Book"/>
                <a:cs typeface="Franklin Gothic Book"/>
              </a:rPr>
              <a:t>Customers (MPC) and how we integrate Sales, Marketing, and Revenue Management to optimize the most profitable  segments, customers and accounts.</a:t>
            </a:r>
            <a:endParaRPr sz="1400" dirty="0">
              <a:latin typeface="Franklin Gothic Book"/>
              <a:cs typeface="Franklin Gothic Book"/>
            </a:endParaRPr>
          </a:p>
          <a:p>
            <a:pPr marL="12700">
              <a:lnSpc>
                <a:spcPct val="100000"/>
              </a:lnSpc>
              <a:spcBef>
                <a:spcPts val="1614"/>
              </a:spcBef>
            </a:pPr>
            <a:r>
              <a:rPr sz="1400" dirty="0">
                <a:solidFill>
                  <a:srgbClr val="404040"/>
                </a:solidFill>
                <a:latin typeface="Wingdings"/>
                <a:cs typeface="Wingdings"/>
              </a:rPr>
              <a:t></a:t>
            </a:r>
            <a:r>
              <a:rPr sz="1400" dirty="0">
                <a:solidFill>
                  <a:srgbClr val="404040"/>
                </a:solidFill>
                <a:latin typeface="Times New Roman"/>
                <a:cs typeface="Times New Roman"/>
              </a:rPr>
              <a:t> </a:t>
            </a:r>
            <a:r>
              <a:rPr sz="1400" dirty="0">
                <a:solidFill>
                  <a:srgbClr val="404040"/>
                </a:solidFill>
                <a:latin typeface="Franklin Gothic Medium"/>
                <a:cs typeface="Franklin Gothic Medium"/>
              </a:rPr>
              <a:t>Focused on the customer…period</a:t>
            </a:r>
            <a:endParaRPr sz="1400" dirty="0">
              <a:latin typeface="Franklin Gothic Medium"/>
              <a:cs typeface="Franklin Gothic Medium"/>
            </a:endParaRPr>
          </a:p>
          <a:p>
            <a:pPr marL="469900" marR="189230">
              <a:lnSpc>
                <a:spcPts val="1900"/>
              </a:lnSpc>
              <a:spcBef>
                <a:spcPts val="80"/>
              </a:spcBef>
            </a:pPr>
            <a:r>
              <a:rPr sz="1400" dirty="0">
                <a:solidFill>
                  <a:srgbClr val="404040"/>
                </a:solidFill>
                <a:latin typeface="Franklin Gothic Book"/>
                <a:cs typeface="Franklin Gothic Book"/>
              </a:rPr>
              <a:t>Sales teams have become focused on transactional selling.  There is a prevailing belief that their customers are in fact third-party</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intermediaries, meeting planners, procurement, RFPs,</a:t>
            </a:r>
            <a:r>
              <a:rPr lang="en-US" sz="1400" dirty="0">
                <a:solidFill>
                  <a:srgbClr val="404040"/>
                </a:solidFill>
                <a:latin typeface="Franklin Gothic Book"/>
                <a:cs typeface="Franklin Gothic Book"/>
              </a:rPr>
              <a:t> or</a:t>
            </a:r>
            <a:r>
              <a:rPr sz="1400" dirty="0">
                <a:solidFill>
                  <a:srgbClr val="404040"/>
                </a:solidFill>
                <a:latin typeface="Franklin Gothic Book"/>
                <a:cs typeface="Franklin Gothic Book"/>
              </a:rPr>
              <a:t> response</a:t>
            </a:r>
            <a:r>
              <a:rPr lang="en-US" sz="1400" dirty="0">
                <a:solidFill>
                  <a:srgbClr val="404040"/>
                </a:solidFill>
                <a:latin typeface="Franklin Gothic Book"/>
                <a:cs typeface="Franklin Gothic Book"/>
              </a:rPr>
              <a:t>s</a:t>
            </a:r>
            <a:r>
              <a:rPr sz="1400" dirty="0">
                <a:solidFill>
                  <a:srgbClr val="404040"/>
                </a:solidFill>
                <a:latin typeface="Franklin Gothic Book"/>
                <a:cs typeface="Franklin Gothic Book"/>
              </a:rPr>
              <a:t> to leads from other organizations. Sales teams need to have reinforcement and understanding that the focus should be on the ‘point of inspiration’ or at the ‘recognition of  impact’ vs. on the ‘point of sale’, where it become a price</a:t>
            </a:r>
            <a:r>
              <a:rPr lang="en-US" sz="1400" dirty="0">
                <a:solidFill>
                  <a:srgbClr val="404040"/>
                </a:solidFill>
                <a:latin typeface="Franklin Gothic Book"/>
                <a:cs typeface="Franklin Gothic Book"/>
              </a:rPr>
              <a:t>-</a:t>
            </a:r>
            <a:r>
              <a:rPr sz="1400" dirty="0">
                <a:solidFill>
                  <a:srgbClr val="404040"/>
                </a:solidFill>
                <a:latin typeface="Franklin Gothic Book"/>
                <a:cs typeface="Franklin Gothic Book"/>
              </a:rPr>
              <a:t>driven</a:t>
            </a:r>
            <a:r>
              <a:rPr lang="en-US" sz="1400" dirty="0">
                <a:solidFill>
                  <a:srgbClr val="404040"/>
                </a:solidFill>
                <a:latin typeface="Franklin Gothic Book"/>
                <a:cs typeface="Franklin Gothic Book"/>
              </a:rPr>
              <a:t> product</a:t>
            </a:r>
            <a:r>
              <a:rPr sz="1400" dirty="0">
                <a:solidFill>
                  <a:srgbClr val="404040"/>
                </a:solidFill>
                <a:latin typeface="Franklin Gothic Book"/>
                <a:cs typeface="Franklin Gothic Book"/>
              </a:rPr>
              <a:t> sale.</a:t>
            </a:r>
            <a:r>
              <a:rPr lang="en-US" sz="1400" dirty="0">
                <a:solidFill>
                  <a:srgbClr val="404040"/>
                </a:solidFill>
                <a:latin typeface="Franklin Gothic Book"/>
                <a:cs typeface="Franklin Gothic Book"/>
              </a:rPr>
              <a:t>   An article in Velocity magazine explores this further, </a:t>
            </a:r>
            <a:endParaRPr sz="1400" dirty="0">
              <a:latin typeface="Franklin Gothic Book"/>
              <a:cs typeface="Franklin Gothic Book"/>
            </a:endParaRPr>
          </a:p>
        </p:txBody>
      </p:sp>
      <p:sp>
        <p:nvSpPr>
          <p:cNvPr id="7" name="object 7"/>
          <p:cNvSpPr txBox="1"/>
          <p:nvPr/>
        </p:nvSpPr>
        <p:spPr>
          <a:xfrm>
            <a:off x="347239" y="5562600"/>
            <a:ext cx="6254115" cy="2743443"/>
          </a:xfrm>
          <a:prstGeom prst="rect">
            <a:avLst/>
          </a:prstGeom>
          <a:solidFill>
            <a:srgbClr val="AAAAAA"/>
          </a:solidFill>
          <a:ln w="12700">
            <a:solidFill>
              <a:srgbClr val="B52372"/>
            </a:solidFill>
          </a:ln>
        </p:spPr>
        <p:txBody>
          <a:bodyPr vert="horz" wrap="square" lIns="0" tIns="1270" rIns="0" bIns="0" rtlCol="0">
            <a:spAutoFit/>
          </a:bodyPr>
          <a:lstStyle/>
          <a:p>
            <a:pPr>
              <a:lnSpc>
                <a:spcPct val="100000"/>
              </a:lnSpc>
              <a:spcBef>
                <a:spcPts val="10"/>
              </a:spcBef>
            </a:pPr>
            <a:endParaRPr sz="1600">
              <a:latin typeface="Times New Roman"/>
              <a:cs typeface="Times New Roman"/>
            </a:endParaRPr>
          </a:p>
          <a:p>
            <a:pPr marL="91440" marR="83820" indent="-635" algn="ctr">
              <a:lnSpc>
                <a:spcPct val="100000"/>
              </a:lnSpc>
            </a:pPr>
            <a:r>
              <a:rPr sz="1800">
                <a:solidFill>
                  <a:srgbClr val="404040"/>
                </a:solidFill>
                <a:latin typeface="Times New Roman"/>
                <a:cs typeface="Times New Roman"/>
              </a:rPr>
              <a:t>In a </a:t>
            </a:r>
            <a:r>
              <a:rPr sz="1800" spc="-5">
                <a:solidFill>
                  <a:srgbClr val="404040"/>
                </a:solidFill>
                <a:latin typeface="Times New Roman"/>
                <a:cs typeface="Times New Roman"/>
              </a:rPr>
              <a:t>survey </a:t>
            </a:r>
            <a:r>
              <a:rPr sz="1800">
                <a:solidFill>
                  <a:srgbClr val="404040"/>
                </a:solidFill>
                <a:latin typeface="Times New Roman"/>
                <a:cs typeface="Times New Roman"/>
              </a:rPr>
              <a:t>of 100 </a:t>
            </a:r>
            <a:r>
              <a:rPr sz="1800" spc="-5">
                <a:solidFill>
                  <a:srgbClr val="404040"/>
                </a:solidFill>
                <a:latin typeface="Times New Roman"/>
                <a:cs typeface="Times New Roman"/>
              </a:rPr>
              <a:t>salespeople</a:t>
            </a:r>
            <a:r>
              <a:rPr lang="en-US" sz="1800" spc="-5">
                <a:solidFill>
                  <a:srgbClr val="404040"/>
                </a:solidFill>
                <a:latin typeface="Times New Roman"/>
                <a:cs typeface="Times New Roman"/>
              </a:rPr>
              <a:t>,</a:t>
            </a:r>
            <a:r>
              <a:rPr sz="1800" spc="-5">
                <a:solidFill>
                  <a:srgbClr val="404040"/>
                </a:solidFill>
                <a:latin typeface="Times New Roman"/>
                <a:cs typeface="Times New Roman"/>
              </a:rPr>
              <a:t> </a:t>
            </a:r>
            <a:r>
              <a:rPr sz="1800">
                <a:solidFill>
                  <a:srgbClr val="404040"/>
                </a:solidFill>
                <a:latin typeface="Times New Roman"/>
                <a:cs typeface="Times New Roman"/>
              </a:rPr>
              <a:t>when </a:t>
            </a:r>
            <a:r>
              <a:rPr sz="1800" spc="-5">
                <a:solidFill>
                  <a:srgbClr val="404040"/>
                </a:solidFill>
                <a:latin typeface="Times New Roman"/>
                <a:cs typeface="Times New Roman"/>
              </a:rPr>
              <a:t>asked if </a:t>
            </a:r>
            <a:r>
              <a:rPr sz="1800">
                <a:solidFill>
                  <a:srgbClr val="404040"/>
                </a:solidFill>
                <a:latin typeface="Times New Roman"/>
                <a:cs typeface="Times New Roman"/>
              </a:rPr>
              <a:t>a </a:t>
            </a:r>
            <a:r>
              <a:rPr sz="1800" spc="-5">
                <a:solidFill>
                  <a:srgbClr val="404040"/>
                </a:solidFill>
                <a:latin typeface="Times New Roman"/>
                <a:cs typeface="Times New Roman"/>
              </a:rPr>
              <a:t>lead source </a:t>
            </a:r>
            <a:r>
              <a:rPr sz="1800">
                <a:solidFill>
                  <a:srgbClr val="404040"/>
                </a:solidFill>
                <a:latin typeface="Times New Roman"/>
                <a:cs typeface="Times New Roman"/>
              </a:rPr>
              <a:t>from a  </a:t>
            </a:r>
            <a:r>
              <a:rPr sz="1800" spc="-5">
                <a:solidFill>
                  <a:srgbClr val="404040"/>
                </a:solidFill>
                <a:latin typeface="Times New Roman"/>
                <a:cs typeface="Times New Roman"/>
              </a:rPr>
              <a:t>third-party </a:t>
            </a:r>
            <a:r>
              <a:rPr sz="1800">
                <a:solidFill>
                  <a:srgbClr val="404040"/>
                </a:solidFill>
                <a:latin typeface="Times New Roman"/>
                <a:cs typeface="Times New Roman"/>
              </a:rPr>
              <a:t>was </a:t>
            </a:r>
            <a:r>
              <a:rPr sz="1800" spc="-5">
                <a:solidFill>
                  <a:srgbClr val="404040"/>
                </a:solidFill>
                <a:latin typeface="Times New Roman"/>
                <a:cs typeface="Times New Roman"/>
              </a:rPr>
              <a:t>taken </a:t>
            </a:r>
            <a:r>
              <a:rPr sz="1800">
                <a:solidFill>
                  <a:srgbClr val="404040"/>
                </a:solidFill>
                <a:latin typeface="Times New Roman"/>
                <a:cs typeface="Times New Roman"/>
              </a:rPr>
              <a:t>away </a:t>
            </a:r>
            <a:r>
              <a:rPr sz="1800" spc="-5">
                <a:solidFill>
                  <a:srgbClr val="404040"/>
                </a:solidFill>
                <a:latin typeface="Times New Roman"/>
                <a:cs typeface="Times New Roman"/>
              </a:rPr>
              <a:t>to find </a:t>
            </a:r>
            <a:r>
              <a:rPr sz="1800">
                <a:solidFill>
                  <a:srgbClr val="404040"/>
                </a:solidFill>
                <a:latin typeface="Times New Roman"/>
                <a:cs typeface="Times New Roman"/>
              </a:rPr>
              <a:t>new </a:t>
            </a:r>
            <a:r>
              <a:rPr sz="1800" spc="-5">
                <a:solidFill>
                  <a:srgbClr val="404040"/>
                </a:solidFill>
                <a:latin typeface="Times New Roman"/>
                <a:cs typeface="Times New Roman"/>
              </a:rPr>
              <a:t>business </a:t>
            </a:r>
            <a:r>
              <a:rPr sz="1800">
                <a:solidFill>
                  <a:srgbClr val="404040"/>
                </a:solidFill>
                <a:latin typeface="Times New Roman"/>
                <a:cs typeface="Times New Roman"/>
              </a:rPr>
              <a:t>89%</a:t>
            </a:r>
            <a:r>
              <a:rPr lang="en-US" sz="1800">
                <a:solidFill>
                  <a:srgbClr val="404040"/>
                </a:solidFill>
                <a:latin typeface="Times New Roman"/>
                <a:cs typeface="Times New Roman"/>
              </a:rPr>
              <a:t> said they</a:t>
            </a:r>
            <a:r>
              <a:rPr sz="1800">
                <a:solidFill>
                  <a:srgbClr val="404040"/>
                </a:solidFill>
                <a:latin typeface="Times New Roman"/>
                <a:cs typeface="Times New Roman"/>
              </a:rPr>
              <a:t> </a:t>
            </a:r>
            <a:r>
              <a:rPr sz="1800" spc="-5">
                <a:solidFill>
                  <a:srgbClr val="404040"/>
                </a:solidFill>
                <a:latin typeface="Times New Roman"/>
                <a:cs typeface="Times New Roman"/>
              </a:rPr>
              <a:t>would look in past guests, rather than expanding their knowledge within </a:t>
            </a:r>
            <a:r>
              <a:rPr sz="1800">
                <a:solidFill>
                  <a:srgbClr val="404040"/>
                </a:solidFill>
                <a:latin typeface="Times New Roman"/>
                <a:cs typeface="Times New Roman"/>
              </a:rPr>
              <a:t>focus </a:t>
            </a:r>
            <a:r>
              <a:rPr sz="1800" spc="-5">
                <a:solidFill>
                  <a:srgbClr val="404040"/>
                </a:solidFill>
                <a:latin typeface="Times New Roman"/>
                <a:cs typeface="Times New Roman"/>
              </a:rPr>
              <a:t>companies </a:t>
            </a:r>
            <a:r>
              <a:rPr sz="1800">
                <a:solidFill>
                  <a:srgbClr val="404040"/>
                </a:solidFill>
                <a:latin typeface="Times New Roman"/>
                <a:cs typeface="Times New Roman"/>
              </a:rPr>
              <a:t>or</a:t>
            </a:r>
            <a:r>
              <a:rPr sz="1800" spc="-5">
                <a:solidFill>
                  <a:srgbClr val="404040"/>
                </a:solidFill>
                <a:latin typeface="Times New Roman"/>
                <a:cs typeface="Times New Roman"/>
              </a:rPr>
              <a:t> organizations.</a:t>
            </a:r>
            <a:endParaRPr sz="1800">
              <a:latin typeface="Times New Roman"/>
              <a:cs typeface="Times New Roman"/>
            </a:endParaRPr>
          </a:p>
          <a:p>
            <a:pPr>
              <a:lnSpc>
                <a:spcPct val="100000"/>
              </a:lnSpc>
              <a:spcBef>
                <a:spcPts val="5"/>
              </a:spcBef>
            </a:pPr>
            <a:endParaRPr sz="1850">
              <a:latin typeface="Times New Roman"/>
              <a:cs typeface="Times New Roman"/>
            </a:endParaRPr>
          </a:p>
          <a:p>
            <a:pPr marL="102235" marR="94615" algn="ctr">
              <a:lnSpc>
                <a:spcPct val="101099"/>
              </a:lnSpc>
              <a:spcBef>
                <a:spcPts val="5"/>
              </a:spcBef>
            </a:pPr>
            <a:r>
              <a:rPr sz="1800" spc="-15">
                <a:solidFill>
                  <a:srgbClr val="404040"/>
                </a:solidFill>
                <a:latin typeface="Times New Roman"/>
                <a:cs typeface="Times New Roman"/>
              </a:rPr>
              <a:t>Within </a:t>
            </a:r>
            <a:r>
              <a:rPr sz="1800" spc="-5">
                <a:solidFill>
                  <a:srgbClr val="404040"/>
                </a:solidFill>
                <a:latin typeface="Times New Roman"/>
                <a:cs typeface="Times New Roman"/>
              </a:rPr>
              <a:t>that </a:t>
            </a:r>
            <a:r>
              <a:rPr sz="1800">
                <a:solidFill>
                  <a:srgbClr val="404040"/>
                </a:solidFill>
                <a:latin typeface="Times New Roman"/>
                <a:cs typeface="Times New Roman"/>
              </a:rPr>
              <a:t>89%</a:t>
            </a:r>
            <a:r>
              <a:rPr lang="en-US" sz="1800">
                <a:solidFill>
                  <a:srgbClr val="404040"/>
                </a:solidFill>
                <a:latin typeface="Times New Roman"/>
                <a:cs typeface="Times New Roman"/>
              </a:rPr>
              <a:t>,</a:t>
            </a:r>
            <a:r>
              <a:rPr sz="1800">
                <a:solidFill>
                  <a:srgbClr val="404040"/>
                </a:solidFill>
                <a:latin typeface="Times New Roman"/>
                <a:cs typeface="Times New Roman"/>
              </a:rPr>
              <a:t> </a:t>
            </a:r>
            <a:r>
              <a:rPr sz="1800" spc="-5">
                <a:solidFill>
                  <a:srgbClr val="404040"/>
                </a:solidFill>
                <a:latin typeface="Times New Roman"/>
                <a:cs typeface="Times New Roman"/>
              </a:rPr>
              <a:t>the respondents </a:t>
            </a:r>
            <a:r>
              <a:rPr sz="1800">
                <a:solidFill>
                  <a:srgbClr val="404040"/>
                </a:solidFill>
                <a:latin typeface="Times New Roman"/>
                <a:cs typeface="Times New Roman"/>
              </a:rPr>
              <a:t>were </a:t>
            </a:r>
            <a:r>
              <a:rPr sz="1800" spc="-5">
                <a:solidFill>
                  <a:srgbClr val="404040"/>
                </a:solidFill>
                <a:latin typeface="Times New Roman"/>
                <a:cs typeface="Times New Roman"/>
              </a:rPr>
              <a:t>asked if they </a:t>
            </a:r>
            <a:r>
              <a:rPr sz="1800">
                <a:solidFill>
                  <a:srgbClr val="404040"/>
                </a:solidFill>
                <a:latin typeface="Times New Roman"/>
                <a:cs typeface="Times New Roman"/>
              </a:rPr>
              <a:t>have a </a:t>
            </a:r>
            <a:r>
              <a:rPr sz="1800" spc="-5">
                <a:solidFill>
                  <a:srgbClr val="404040"/>
                </a:solidFill>
                <a:latin typeface="Times New Roman"/>
                <a:cs typeface="Times New Roman"/>
              </a:rPr>
              <a:t>plan to  saturate accounts </a:t>
            </a:r>
            <a:r>
              <a:rPr sz="1800">
                <a:solidFill>
                  <a:srgbClr val="404040"/>
                </a:solidFill>
                <a:latin typeface="Times New Roman"/>
                <a:cs typeface="Times New Roman"/>
              </a:rPr>
              <a:t>and </a:t>
            </a:r>
            <a:r>
              <a:rPr sz="1800" spc="-5">
                <a:solidFill>
                  <a:srgbClr val="404040"/>
                </a:solidFill>
                <a:latin typeface="Times New Roman"/>
                <a:cs typeface="Times New Roman"/>
              </a:rPr>
              <a:t>organizations they responded</a:t>
            </a:r>
            <a:r>
              <a:rPr sz="1800" spc="20">
                <a:solidFill>
                  <a:srgbClr val="404040"/>
                </a:solidFill>
                <a:latin typeface="Times New Roman"/>
                <a:cs typeface="Times New Roman"/>
              </a:rPr>
              <a:t> </a:t>
            </a:r>
            <a:r>
              <a:rPr sz="1800">
                <a:solidFill>
                  <a:srgbClr val="404040"/>
                </a:solidFill>
                <a:latin typeface="Times New Roman"/>
                <a:cs typeface="Times New Roman"/>
              </a:rPr>
              <a:t>“No”.</a:t>
            </a:r>
            <a:endParaRPr lang="en-US" sz="1800">
              <a:solidFill>
                <a:srgbClr val="404040"/>
              </a:solidFill>
              <a:latin typeface="Times New Roman"/>
              <a:cs typeface="Times New Roman"/>
            </a:endParaRPr>
          </a:p>
          <a:p>
            <a:pPr marL="102235" marR="94615" algn="ctr">
              <a:lnSpc>
                <a:spcPct val="101099"/>
              </a:lnSpc>
              <a:spcBef>
                <a:spcPts val="5"/>
              </a:spcBef>
            </a:pPr>
            <a:endParaRPr lang="en-US">
              <a:solidFill>
                <a:srgbClr val="404040"/>
              </a:solidFill>
              <a:latin typeface="Times New Roman"/>
              <a:cs typeface="Times New Roman"/>
            </a:endParaRPr>
          </a:p>
          <a:p>
            <a:pPr marL="102235" marR="94615" algn="ctr">
              <a:lnSpc>
                <a:spcPct val="101099"/>
              </a:lnSpc>
              <a:spcBef>
                <a:spcPts val="5"/>
              </a:spcBef>
            </a:pPr>
            <a:r>
              <a:rPr lang="en-US" sz="1800">
                <a:solidFill>
                  <a:srgbClr val="404040"/>
                </a:solidFill>
                <a:latin typeface="Times New Roman"/>
                <a:cs typeface="Times New Roman"/>
              </a:rPr>
              <a:t>-done in collaboration with the London School of Business</a:t>
            </a:r>
            <a:endParaRPr sz="1800">
              <a:latin typeface="Times New Roman"/>
              <a:cs typeface="Times New Roman"/>
            </a:endParaRPr>
          </a:p>
        </p:txBody>
      </p:sp>
      <p:sp>
        <p:nvSpPr>
          <p:cNvPr id="3" name="object 8">
            <a:extLst>
              <a:ext uri="{FF2B5EF4-FFF2-40B4-BE49-F238E27FC236}">
                <a16:creationId xmlns:a16="http://schemas.microsoft.com/office/drawing/2014/main" id="{A4E5FE23-DCCB-363A-06BD-8C5E38954CE9}"/>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tx1">
                    <a:lumMod val="75000"/>
                    <a:lumOff val="25000"/>
                  </a:schemeClr>
                </a:solidFill>
                <a:latin typeface="Franklin Gothic Book"/>
                <a:cs typeface="Franklin Gothic Book"/>
              </a:rPr>
              <a:t>What Good Looks Like:  Revenue Strategy I 2024</a:t>
            </a:r>
            <a:endParaRPr sz="900">
              <a:solidFill>
                <a:schemeClr val="tx1">
                  <a:lumMod val="75000"/>
                  <a:lumOff val="25000"/>
                </a:schemeClr>
              </a:solidFill>
              <a:latin typeface="Franklin Gothic Book"/>
              <a:cs typeface="Franklin Gothic Book"/>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854825" cy="9144000"/>
          </a:xfrm>
          <a:custGeom>
            <a:avLst/>
            <a:gdLst/>
            <a:ahLst/>
            <a:cxnLst/>
            <a:rect l="l" t="t" r="r" b="b"/>
            <a:pathLst>
              <a:path w="6854825" h="9144000">
                <a:moveTo>
                  <a:pt x="0" y="9144000"/>
                </a:moveTo>
                <a:lnTo>
                  <a:pt x="0" y="0"/>
                </a:lnTo>
                <a:lnTo>
                  <a:pt x="6854426" y="0"/>
                </a:lnTo>
                <a:lnTo>
                  <a:pt x="6854426" y="9143999"/>
                </a:lnTo>
                <a:lnTo>
                  <a:pt x="0" y="9144000"/>
                </a:lnTo>
                <a:close/>
              </a:path>
            </a:pathLst>
          </a:custGeom>
          <a:solidFill>
            <a:srgbClr val="555759"/>
          </a:solidFill>
        </p:spPr>
        <p:txBody>
          <a:bodyPr wrap="square" lIns="0" tIns="0" rIns="0" bIns="0" rtlCol="0"/>
          <a:lstStyle/>
          <a:p>
            <a:endParaRPr/>
          </a:p>
        </p:txBody>
      </p:sp>
      <p:sp>
        <p:nvSpPr>
          <p:cNvPr id="3" name="object 3"/>
          <p:cNvSpPr/>
          <p:nvPr/>
        </p:nvSpPr>
        <p:spPr>
          <a:xfrm>
            <a:off x="0" y="0"/>
            <a:ext cx="6854825" cy="9144000"/>
          </a:xfrm>
          <a:custGeom>
            <a:avLst/>
            <a:gdLst/>
            <a:ahLst/>
            <a:cxnLst/>
            <a:rect l="l" t="t" r="r" b="b"/>
            <a:pathLst>
              <a:path w="6854825" h="9144000">
                <a:moveTo>
                  <a:pt x="0" y="0"/>
                </a:moveTo>
                <a:lnTo>
                  <a:pt x="6854426" y="0"/>
                </a:lnTo>
                <a:lnTo>
                  <a:pt x="6854426" y="9143999"/>
                </a:lnTo>
              </a:path>
            </a:pathLst>
          </a:custGeom>
          <a:ln w="12700">
            <a:solidFill>
              <a:srgbClr val="3C3E8F"/>
            </a:solidFill>
          </a:ln>
        </p:spPr>
        <p:txBody>
          <a:bodyPr wrap="square" lIns="0" tIns="0" rIns="0" bIns="0" rtlCol="0"/>
          <a:lstStyle/>
          <a:p>
            <a:endParaRPr/>
          </a:p>
        </p:txBody>
      </p:sp>
      <p:sp>
        <p:nvSpPr>
          <p:cNvPr id="4" name="object 4"/>
          <p:cNvSpPr/>
          <p:nvPr/>
        </p:nvSpPr>
        <p:spPr>
          <a:xfrm>
            <a:off x="334209" y="7574061"/>
            <a:ext cx="1219200" cy="1569938"/>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223202" y="-2971800"/>
            <a:ext cx="6408420" cy="13086080"/>
          </a:xfrm>
          <a:prstGeom prst="rect">
            <a:avLst/>
          </a:prstGeom>
        </p:spPr>
        <p:txBody>
          <a:bodyPr vert="horz" wrap="square" lIns="0" tIns="12700" rIns="0" bIns="0" rtlCol="0">
            <a:spAutoFit/>
          </a:bodyPr>
          <a:lstStyle/>
          <a:p>
            <a:pPr marL="12700">
              <a:lnSpc>
                <a:spcPct val="100000"/>
              </a:lnSpc>
              <a:spcBef>
                <a:spcPts val="100"/>
              </a:spcBef>
            </a:pPr>
            <a:r>
              <a:rPr sz="85700" dirty="0">
                <a:solidFill>
                  <a:srgbClr val="D51067"/>
                </a:solidFill>
                <a:latin typeface="Franklin Gothic Medium"/>
                <a:cs typeface="Franklin Gothic Medium"/>
              </a:rPr>
              <a:t>2</a:t>
            </a:r>
            <a:endParaRPr sz="85700" dirty="0">
              <a:latin typeface="Franklin Gothic Medium"/>
              <a:cs typeface="Franklin Gothic Medium"/>
            </a:endParaRPr>
          </a:p>
        </p:txBody>
      </p:sp>
      <p:sp>
        <p:nvSpPr>
          <p:cNvPr id="6" name="object 6"/>
          <p:cNvSpPr txBox="1"/>
          <p:nvPr/>
        </p:nvSpPr>
        <p:spPr>
          <a:xfrm>
            <a:off x="3984307" y="5026787"/>
            <a:ext cx="2647315" cy="3459922"/>
          </a:xfrm>
          <a:prstGeom prst="rect">
            <a:avLst/>
          </a:prstGeom>
        </p:spPr>
        <p:txBody>
          <a:bodyPr vert="horz" wrap="square" lIns="0" tIns="12700" rIns="0" bIns="0" rtlCol="0">
            <a:spAutoFit/>
          </a:bodyPr>
          <a:lstStyle/>
          <a:p>
            <a:pPr marL="12700">
              <a:lnSpc>
                <a:spcPct val="100000"/>
              </a:lnSpc>
              <a:spcBef>
                <a:spcPts val="100"/>
              </a:spcBef>
            </a:pPr>
            <a:r>
              <a:rPr lang="en-US" sz="2800" i="1" spc="300" dirty="0">
                <a:solidFill>
                  <a:srgbClr val="FFFFFF"/>
                </a:solidFill>
                <a:latin typeface="Franklin Gothic Book Italic"/>
                <a:cs typeface="Franklin Gothic Book Italic"/>
              </a:rPr>
              <a:t>From Vision to Action: Bridging Strategy and Execution in Sales and Commercial Teams</a:t>
            </a:r>
            <a:endParaRPr sz="2800" spc="300" dirty="0">
              <a:latin typeface="Franklin Gothic Book Italic"/>
              <a:cs typeface="Franklin Gothic Book Italic"/>
            </a:endParaRPr>
          </a:p>
        </p:txBody>
      </p:sp>
      <p:sp>
        <p:nvSpPr>
          <p:cNvPr id="10" name="object 10"/>
          <p:cNvSpPr txBox="1"/>
          <p:nvPr/>
        </p:nvSpPr>
        <p:spPr>
          <a:xfrm>
            <a:off x="6223952" y="8623807"/>
            <a:ext cx="83820" cy="162560"/>
          </a:xfrm>
          <a:prstGeom prst="rect">
            <a:avLst/>
          </a:prstGeom>
        </p:spPr>
        <p:txBody>
          <a:bodyPr vert="horz" wrap="square" lIns="0" tIns="12700" rIns="0" bIns="0" rtlCol="0">
            <a:spAutoFit/>
          </a:bodyPr>
          <a:lstStyle/>
          <a:p>
            <a:pPr marL="12700">
              <a:lnSpc>
                <a:spcPct val="100000"/>
              </a:lnSpc>
              <a:spcBef>
                <a:spcPts val="100"/>
              </a:spcBef>
            </a:pPr>
            <a:r>
              <a:rPr sz="900">
                <a:solidFill>
                  <a:srgbClr val="FFFFFF"/>
                </a:solidFill>
                <a:latin typeface="Calibri"/>
                <a:cs typeface="Calibri"/>
              </a:rPr>
              <a:t>5</a:t>
            </a:r>
            <a:endParaRPr sz="900">
              <a:latin typeface="Calibri"/>
              <a:cs typeface="Calibri"/>
            </a:endParaRPr>
          </a:p>
        </p:txBody>
      </p:sp>
      <p:sp>
        <p:nvSpPr>
          <p:cNvPr id="7" name="object 8">
            <a:extLst>
              <a:ext uri="{FF2B5EF4-FFF2-40B4-BE49-F238E27FC236}">
                <a16:creationId xmlns:a16="http://schemas.microsoft.com/office/drawing/2014/main" id="{5D74F713-5114-1841-5BA7-8E0DEC11223C}"/>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bg1"/>
                </a:solidFill>
                <a:latin typeface="Franklin Gothic Book"/>
                <a:cs typeface="Franklin Gothic Book"/>
              </a:rPr>
              <a:t>What Good Looks Like:  Revenue Strategy I 2024</a:t>
            </a:r>
            <a:endParaRPr sz="900">
              <a:solidFill>
                <a:schemeClr val="bg1"/>
              </a:solidFill>
              <a:latin typeface="Franklin Gothic Book"/>
              <a:cs typeface="Franklin Gothic Book"/>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79375"/>
            <a:ext cx="6858000" cy="382156"/>
          </a:xfrm>
          <a:prstGeom prst="rect">
            <a:avLst/>
          </a:prstGeom>
        </p:spPr>
        <p:txBody>
          <a:bodyPr vert="horz" wrap="square" lIns="0" tIns="12700" rIns="0" bIns="0" rtlCol="0">
            <a:spAutoFit/>
          </a:bodyPr>
          <a:lstStyle/>
          <a:p>
            <a:pPr marL="12700" algn="ctr">
              <a:lnSpc>
                <a:spcPct val="100000"/>
              </a:lnSpc>
              <a:spcBef>
                <a:spcPts val="100"/>
              </a:spcBef>
            </a:pPr>
            <a:r>
              <a:rPr lang="en-US" sz="2400" dirty="0"/>
              <a:t>From Vision to Action: Strategy to Execution</a:t>
            </a:r>
            <a:endParaRPr sz="2400" dirty="0"/>
          </a:p>
        </p:txBody>
      </p:sp>
      <p:sp>
        <p:nvSpPr>
          <p:cNvPr id="4" name="object 4"/>
          <p:cNvSpPr txBox="1"/>
          <p:nvPr/>
        </p:nvSpPr>
        <p:spPr>
          <a:xfrm>
            <a:off x="6343648" y="8730488"/>
            <a:ext cx="83820" cy="162560"/>
          </a:xfrm>
          <a:prstGeom prst="rect">
            <a:avLst/>
          </a:prstGeom>
        </p:spPr>
        <p:txBody>
          <a:bodyPr vert="horz" wrap="square" lIns="0" tIns="12700" rIns="0" bIns="0" rtlCol="0">
            <a:spAutoFit/>
          </a:bodyPr>
          <a:lstStyle/>
          <a:p>
            <a:pPr marL="12700">
              <a:lnSpc>
                <a:spcPct val="100000"/>
              </a:lnSpc>
              <a:spcBef>
                <a:spcPts val="100"/>
              </a:spcBef>
            </a:pPr>
            <a:r>
              <a:rPr sz="900">
                <a:solidFill>
                  <a:srgbClr val="898989"/>
                </a:solidFill>
                <a:latin typeface="Calibri"/>
                <a:cs typeface="Calibri"/>
              </a:rPr>
              <a:t>6</a:t>
            </a:r>
            <a:endParaRPr sz="900">
              <a:latin typeface="Calibri"/>
              <a:cs typeface="Calibri"/>
            </a:endParaRPr>
          </a:p>
        </p:txBody>
      </p:sp>
      <p:sp>
        <p:nvSpPr>
          <p:cNvPr id="5" name="object 5"/>
          <p:cNvSpPr/>
          <p:nvPr/>
        </p:nvSpPr>
        <p:spPr>
          <a:xfrm flipV="1">
            <a:off x="252684" y="551579"/>
            <a:ext cx="6348670" cy="64241"/>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6"/>
          <p:cNvSpPr txBox="1"/>
          <p:nvPr/>
        </p:nvSpPr>
        <p:spPr>
          <a:xfrm>
            <a:off x="368965" y="615820"/>
            <a:ext cx="6348670" cy="5675913"/>
          </a:xfrm>
          <a:prstGeom prst="rect">
            <a:avLst/>
          </a:prstGeom>
        </p:spPr>
        <p:txBody>
          <a:bodyPr vert="horz" wrap="square" lIns="0" tIns="12700" rIns="0" bIns="0" rtlCol="0">
            <a:spAutoFit/>
          </a:bodyPr>
          <a:lstStyle/>
          <a:p>
            <a:pPr marL="0" marR="0"/>
            <a:r>
              <a:rPr lang="en-US" sz="1600" b="1" kern="100" dirty="0">
                <a:effectLst/>
                <a:latin typeface="Franklin Gothic Book" panose="020B0503020102020204" pitchFamily="34" charset="0"/>
                <a:ea typeface="Aptos" panose="020B0004020202020204" pitchFamily="34" charset="0"/>
                <a:cs typeface="Arial" panose="020B0604020202020204" pitchFamily="34" charset="0"/>
              </a:rPr>
              <a:t>How the gap is the silent saboteur to revenue growth. </a:t>
            </a:r>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The scene is typical. The inflection point between strategy and execution starts when we are methodically laying out revenue projections. We are in the ‘War Room’ for months to design, vet, and discuss revenue projections.  We look at how to increase volume and price, decrease the cost of sale, and look at market changes to get us to the answer. </a:t>
            </a:r>
          </a:p>
          <a:p>
            <a:pPr marL="0" marR="0"/>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Then, commercial teams start crafting action plans to get there.  It makes sense.  And it is an approach that most people take.   Then why do most teams fail in this gap from strategy to execution?</a:t>
            </a:r>
          </a:p>
          <a:p>
            <a:pPr marL="0" marR="0"/>
            <a:r>
              <a:rPr lang="en-US" sz="1600" kern="100" dirty="0">
                <a:effectLst/>
                <a:latin typeface="Aptos" panose="020B0004020202020204" pitchFamily="34" charset="0"/>
                <a:ea typeface="Aptos" panose="020B0004020202020204" pitchFamily="34" charset="0"/>
                <a:cs typeface="Arial" panose="020B0604020202020204" pitchFamily="34" charset="0"/>
              </a:rPr>
              <a:t> </a:t>
            </a:r>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600" b="1" kern="100" dirty="0">
                <a:effectLst/>
                <a:latin typeface="Franklin Gothic Book" panose="020B0503020102020204" pitchFamily="34" charset="0"/>
                <a:ea typeface="Aptos" panose="020B0004020202020204" pitchFamily="34" charset="0"/>
                <a:cs typeface="Arial" panose="020B0604020202020204" pitchFamily="34" charset="0"/>
              </a:rPr>
              <a:t>The Gap</a:t>
            </a:r>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The divide acts as a silent saboteur. You may have crafted an inspiring roadmap, but without proper design and execution, it's just an artful document. Companies often find themselves in limbo where brilliant strategies fail to materialize due to ineffective execution.</a:t>
            </a:r>
          </a:p>
          <a:p>
            <a:pPr marL="0" marR="0"/>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It has cost organizations over 1 trillion dollars in overlooked revenue and productivity loss.   </a:t>
            </a:r>
          </a:p>
          <a:p>
            <a:pPr marL="0" marR="0"/>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Yet, these organizations walked away from that War Room, thinking they nailed it</a:t>
            </a:r>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  </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3" name="object 8">
            <a:extLst>
              <a:ext uri="{FF2B5EF4-FFF2-40B4-BE49-F238E27FC236}">
                <a16:creationId xmlns:a16="http://schemas.microsoft.com/office/drawing/2014/main" id="{A4E5FE23-DCCB-363A-06BD-8C5E38954CE9}"/>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chemeClr val="tx1">
                    <a:lumMod val="75000"/>
                    <a:lumOff val="25000"/>
                  </a:schemeClr>
                </a:solidFill>
                <a:latin typeface="Franklin Gothic Book"/>
                <a:cs typeface="Franklin Gothic Book"/>
              </a:rPr>
              <a:t>What Good Looks Like:  Revenue Strategy I 2024</a:t>
            </a:r>
            <a:endParaRPr sz="900" dirty="0">
              <a:solidFill>
                <a:schemeClr val="tx1">
                  <a:lumMod val="75000"/>
                  <a:lumOff val="25000"/>
                </a:schemeClr>
              </a:solidFill>
              <a:latin typeface="Franklin Gothic Book"/>
              <a:cs typeface="Franklin Gothic Book"/>
            </a:endParaRPr>
          </a:p>
        </p:txBody>
      </p:sp>
      <p:sp>
        <p:nvSpPr>
          <p:cNvPr id="8" name="object 5">
            <a:extLst>
              <a:ext uri="{FF2B5EF4-FFF2-40B4-BE49-F238E27FC236}">
                <a16:creationId xmlns:a16="http://schemas.microsoft.com/office/drawing/2014/main" id="{C375207C-F387-4B01-3DB2-D2411EDC35D9}"/>
              </a:ext>
            </a:extLst>
          </p:cNvPr>
          <p:cNvSpPr/>
          <p:nvPr/>
        </p:nvSpPr>
        <p:spPr>
          <a:xfrm>
            <a:off x="252684" y="6398770"/>
            <a:ext cx="6348670" cy="2134471"/>
          </a:xfrm>
          <a:prstGeom prst="rect">
            <a:avLst/>
          </a:prstGeom>
          <a:blipFill>
            <a:blip r:embed="rId2" cstate="print"/>
            <a:stretch>
              <a:fillRect/>
            </a:stretch>
          </a:blipFill>
        </p:spPr>
        <p:txBody>
          <a:bodyPr wrap="square" lIns="0" tIns="0" rIns="0" bIns="0" rtlCol="0"/>
          <a:lstStyle/>
          <a:p>
            <a:pPr marL="285750" marR="0" lvl="0" indent="-285750" rtl="0">
              <a:buFont typeface="Wingdings" pitchFamily="2" charset="2"/>
              <a:buChar char="Ø"/>
            </a:pPr>
            <a:endParaRPr lang="en-US" sz="800" kern="100" dirty="0">
              <a:effectLst/>
              <a:latin typeface="Franklin Gothic Book" panose="020B0503020102020204" pitchFamily="34" charset="0"/>
              <a:ea typeface="Aptos" panose="020B0004020202020204" pitchFamily="34" charset="0"/>
              <a:cs typeface="Arial" panose="020B0604020202020204" pitchFamily="34" charset="0"/>
            </a:endParaRPr>
          </a:p>
          <a:p>
            <a:pPr marL="285750" marR="0" lvl="0" indent="-285750" rtl="0">
              <a:buFont typeface="Wingdings" pitchFamily="2" charset="2"/>
              <a:buChar char="Ø"/>
            </a:pPr>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Only 8</a:t>
            </a:r>
            <a:r>
              <a:rPr lang="en-US" sz="1400" i="1" kern="100" dirty="0">
                <a:effectLst/>
                <a:latin typeface="Franklin Gothic Book" panose="020B0503020102020204" pitchFamily="34" charset="0"/>
                <a:ea typeface="Aptos" panose="020B0004020202020204" pitchFamily="34" charset="0"/>
                <a:cs typeface="Arial" panose="020B0604020202020204" pitchFamily="34" charset="0"/>
              </a:rPr>
              <a:t>% of marketing strategies were focused on the most valuable customer or segment.</a:t>
            </a:r>
          </a:p>
          <a:p>
            <a:pPr marL="171450" marR="0" lvl="0" indent="-171450" rtl="0">
              <a:buFont typeface="Wingdings" pitchFamily="2" charset="2"/>
              <a:buChar char="Ø"/>
            </a:pPr>
            <a:endParaRPr lang="en-US" sz="800" kern="100" dirty="0">
              <a:effectLst/>
              <a:latin typeface="Franklin Gothic Book" panose="020B0503020102020204" pitchFamily="34" charset="0"/>
              <a:ea typeface="Aptos" panose="020B0004020202020204" pitchFamily="34" charset="0"/>
              <a:cs typeface="Arial" panose="020B0604020202020204" pitchFamily="34" charset="0"/>
            </a:endParaRPr>
          </a:p>
          <a:p>
            <a:pPr marL="285750" marR="0" lvl="0" indent="-285750">
              <a:buFont typeface="Wingdings" pitchFamily="2" charset="2"/>
              <a:buChar char="Ø"/>
            </a:pPr>
            <a:r>
              <a:rPr lang="en-US" sz="1400" i="1" kern="100" dirty="0">
                <a:effectLst/>
                <a:latin typeface="Franklin Gothic Book" panose="020B0503020102020204" pitchFamily="34" charset="0"/>
                <a:ea typeface="Aptos" panose="020B0004020202020204" pitchFamily="34" charset="0"/>
                <a:cs typeface="Arial" panose="020B0604020202020204" pitchFamily="34" charset="0"/>
              </a:rPr>
              <a:t>78% of tactics or actions didn't have an overall connection revenue. </a:t>
            </a:r>
          </a:p>
          <a:p>
            <a:pPr marL="171450" marR="0" lvl="0" indent="-171450">
              <a:buFont typeface="Wingdings" pitchFamily="2" charset="2"/>
              <a:buChar char="Ø"/>
            </a:pPr>
            <a:endParaRPr lang="en-US" sz="800" kern="100" dirty="0">
              <a:effectLst/>
              <a:latin typeface="Franklin Gothic Book" panose="020B0503020102020204" pitchFamily="34" charset="0"/>
              <a:ea typeface="Aptos" panose="020B0004020202020204" pitchFamily="34" charset="0"/>
              <a:cs typeface="Arial" panose="020B0604020202020204" pitchFamily="34" charset="0"/>
            </a:endParaRPr>
          </a:p>
          <a:p>
            <a:pPr marL="285750" marR="0" lvl="0" indent="-285750">
              <a:buFont typeface="Wingdings" pitchFamily="2" charset="2"/>
              <a:buChar char="Ø"/>
            </a:pPr>
            <a:r>
              <a:rPr lang="en-US" sz="1400" i="1" kern="100" dirty="0">
                <a:effectLst/>
                <a:latin typeface="Franklin Gothic Book" panose="020B0503020102020204" pitchFamily="34" charset="0"/>
                <a:ea typeface="Aptos" panose="020B0004020202020204" pitchFamily="34" charset="0"/>
                <a:cs typeface="Arial" panose="020B0604020202020204" pitchFamily="34" charset="0"/>
              </a:rPr>
              <a:t>6% of tactics focused on customers and end users, leaving 94% on internal processes.</a:t>
            </a:r>
          </a:p>
          <a:p>
            <a:pPr marL="171450" marR="0" lvl="0" indent="-171450">
              <a:buFont typeface="Wingdings" pitchFamily="2" charset="2"/>
              <a:buChar char="Ø"/>
            </a:pPr>
            <a:endParaRPr lang="en-US" sz="800" kern="100" dirty="0">
              <a:effectLst/>
              <a:latin typeface="Franklin Gothic Book" panose="020B0503020102020204" pitchFamily="34" charset="0"/>
              <a:ea typeface="Aptos" panose="020B0004020202020204" pitchFamily="34" charset="0"/>
              <a:cs typeface="Arial" panose="020B0604020202020204" pitchFamily="34" charset="0"/>
            </a:endParaRPr>
          </a:p>
          <a:p>
            <a:pPr marL="285750" marR="0" lvl="0" indent="-285750">
              <a:buFont typeface="Wingdings" pitchFamily="2" charset="2"/>
              <a:buChar char="Ø"/>
            </a:pPr>
            <a:r>
              <a:rPr lang="en-US" sz="1400" i="1" kern="100" dirty="0">
                <a:effectLst/>
                <a:latin typeface="Franklin Gothic Book" panose="020B0503020102020204" pitchFamily="34" charset="0"/>
                <a:ea typeface="Aptos" panose="020B0004020202020204" pitchFamily="34" charset="0"/>
                <a:cs typeface="Arial" panose="020B0604020202020204" pitchFamily="34" charset="0"/>
              </a:rPr>
              <a:t>50% of mid-management teams couldn't recall a single strategy illustrating a disconnect from the vision</a:t>
            </a:r>
            <a:endParaRPr lang="en-US" sz="1400" kern="100" dirty="0">
              <a:effectLst/>
              <a:latin typeface="Franklin Gothic Book" panose="020B0503020102020204" pitchFamily="34" charset="0"/>
              <a:ea typeface="Aptos" panose="020B00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10D0E-7A38-CB5A-1877-9A6E816D552E}"/>
            </a:ext>
          </a:extLst>
        </p:cNvPr>
        <p:cNvGrpSpPr/>
        <p:nvPr/>
      </p:nvGrpSpPr>
      <p:grpSpPr>
        <a:xfrm>
          <a:off x="0" y="0"/>
          <a:ext cx="0" cy="0"/>
          <a:chOff x="0" y="0"/>
          <a:chExt cx="0" cy="0"/>
        </a:xfrm>
      </p:grpSpPr>
      <p:sp>
        <p:nvSpPr>
          <p:cNvPr id="12" name="object 5">
            <a:extLst>
              <a:ext uri="{FF2B5EF4-FFF2-40B4-BE49-F238E27FC236}">
                <a16:creationId xmlns:a16="http://schemas.microsoft.com/office/drawing/2014/main" id="{B1C5FDF4-183B-4736-B93F-B5A28183F406}"/>
              </a:ext>
            </a:extLst>
          </p:cNvPr>
          <p:cNvSpPr/>
          <p:nvPr/>
        </p:nvSpPr>
        <p:spPr>
          <a:xfrm>
            <a:off x="252683" y="6579615"/>
            <a:ext cx="6476729" cy="1948565"/>
          </a:xfrm>
          <a:prstGeom prst="rect">
            <a:avLst/>
          </a:prstGeom>
          <a:blipFill>
            <a:blip r:embed="rId2" cstate="print"/>
            <a:stretch>
              <a:fillRect/>
            </a:stretch>
          </a:blipFill>
        </p:spPr>
        <p:txBody>
          <a:bodyPr wrap="square" lIns="0" tIns="0" rIns="0" bIns="0" rtlCol="0"/>
          <a:lstStyle/>
          <a:p>
            <a:endParaRPr/>
          </a:p>
        </p:txBody>
      </p:sp>
      <p:sp>
        <p:nvSpPr>
          <p:cNvPr id="2" name="object 2">
            <a:extLst>
              <a:ext uri="{FF2B5EF4-FFF2-40B4-BE49-F238E27FC236}">
                <a16:creationId xmlns:a16="http://schemas.microsoft.com/office/drawing/2014/main" id="{BFB48109-9308-9822-0CF7-C59DB56262B4}"/>
              </a:ext>
            </a:extLst>
          </p:cNvPr>
          <p:cNvSpPr txBox="1">
            <a:spLocks noGrp="1"/>
          </p:cNvSpPr>
          <p:nvPr>
            <p:ph type="title" idx="4294967295"/>
          </p:nvPr>
        </p:nvSpPr>
        <p:spPr>
          <a:xfrm>
            <a:off x="0" y="79375"/>
            <a:ext cx="6858000" cy="382156"/>
          </a:xfrm>
          <a:prstGeom prst="rect">
            <a:avLst/>
          </a:prstGeom>
        </p:spPr>
        <p:txBody>
          <a:bodyPr vert="horz" wrap="square" lIns="0" tIns="12700" rIns="0" bIns="0" rtlCol="0">
            <a:spAutoFit/>
          </a:bodyPr>
          <a:lstStyle/>
          <a:p>
            <a:pPr marL="12700" algn="ctr">
              <a:lnSpc>
                <a:spcPct val="100000"/>
              </a:lnSpc>
              <a:spcBef>
                <a:spcPts val="100"/>
              </a:spcBef>
            </a:pPr>
            <a:r>
              <a:rPr lang="en-US" sz="2400" dirty="0"/>
              <a:t>From Vision to Action: Strategy to Execution</a:t>
            </a:r>
            <a:endParaRPr sz="2400" dirty="0"/>
          </a:p>
        </p:txBody>
      </p:sp>
      <p:sp>
        <p:nvSpPr>
          <p:cNvPr id="4" name="object 4">
            <a:extLst>
              <a:ext uri="{FF2B5EF4-FFF2-40B4-BE49-F238E27FC236}">
                <a16:creationId xmlns:a16="http://schemas.microsoft.com/office/drawing/2014/main" id="{5CD64AD5-82CC-333C-F19D-99C2D56BA903}"/>
              </a:ext>
            </a:extLst>
          </p:cNvPr>
          <p:cNvSpPr txBox="1"/>
          <p:nvPr/>
        </p:nvSpPr>
        <p:spPr>
          <a:xfrm>
            <a:off x="6343648" y="8730488"/>
            <a:ext cx="83820" cy="162560"/>
          </a:xfrm>
          <a:prstGeom prst="rect">
            <a:avLst/>
          </a:prstGeom>
        </p:spPr>
        <p:txBody>
          <a:bodyPr vert="horz" wrap="square" lIns="0" tIns="12700" rIns="0" bIns="0" rtlCol="0">
            <a:spAutoFit/>
          </a:bodyPr>
          <a:lstStyle/>
          <a:p>
            <a:pPr marL="12700">
              <a:lnSpc>
                <a:spcPct val="100000"/>
              </a:lnSpc>
              <a:spcBef>
                <a:spcPts val="100"/>
              </a:spcBef>
            </a:pPr>
            <a:r>
              <a:rPr sz="900">
                <a:solidFill>
                  <a:srgbClr val="898989"/>
                </a:solidFill>
                <a:latin typeface="Calibri"/>
                <a:cs typeface="Calibri"/>
              </a:rPr>
              <a:t>6</a:t>
            </a:r>
            <a:endParaRPr sz="900">
              <a:latin typeface="Calibri"/>
              <a:cs typeface="Calibri"/>
            </a:endParaRPr>
          </a:p>
        </p:txBody>
      </p:sp>
      <p:sp>
        <p:nvSpPr>
          <p:cNvPr id="5" name="object 5">
            <a:extLst>
              <a:ext uri="{FF2B5EF4-FFF2-40B4-BE49-F238E27FC236}">
                <a16:creationId xmlns:a16="http://schemas.microsoft.com/office/drawing/2014/main" id="{F344483B-25E9-5D64-3D8F-D69ACF4CB8FA}"/>
              </a:ext>
            </a:extLst>
          </p:cNvPr>
          <p:cNvSpPr/>
          <p:nvPr/>
        </p:nvSpPr>
        <p:spPr>
          <a:xfrm flipV="1">
            <a:off x="252684" y="551579"/>
            <a:ext cx="6348670" cy="64241"/>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6">
            <a:extLst>
              <a:ext uri="{FF2B5EF4-FFF2-40B4-BE49-F238E27FC236}">
                <a16:creationId xmlns:a16="http://schemas.microsoft.com/office/drawing/2014/main" id="{A431383D-8BB0-E549-DA7A-AAF5C7A116F8}"/>
              </a:ext>
            </a:extLst>
          </p:cNvPr>
          <p:cNvSpPr txBox="1"/>
          <p:nvPr/>
        </p:nvSpPr>
        <p:spPr>
          <a:xfrm>
            <a:off x="331424" y="784352"/>
            <a:ext cx="6195151" cy="7922682"/>
          </a:xfrm>
          <a:prstGeom prst="rect">
            <a:avLst/>
          </a:prstGeom>
        </p:spPr>
        <p:txBody>
          <a:bodyPr vert="horz" wrap="square" lIns="0" tIns="12700" rIns="0" bIns="0" rtlCol="0">
            <a:spAutoFit/>
          </a:bodyPr>
          <a:lstStyle/>
          <a:p>
            <a:pPr marL="0" marR="0" algn="thaiDist"/>
            <a:r>
              <a:rPr lang="en-US" sz="1800" kern="100" dirty="0">
                <a:effectLst/>
                <a:latin typeface="Franklin Gothic Book" panose="020B0503020102020204" pitchFamily="34" charset="0"/>
                <a:ea typeface="Aptos" panose="020B0004020202020204" pitchFamily="34" charset="0"/>
                <a:cs typeface="Arial" panose="020B0604020202020204" pitchFamily="34" charset="0"/>
              </a:rPr>
              <a:t>Bridging the gap between strategic planning and effective </a:t>
            </a:r>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execution in sales and commercial strategies can be elusive. Enterprises struggle to realize their ambitions as they grapple with aligning their workforce and resources to support their vision and plans. Addressing this critical missing link is essential to thrive and achieve their objectives.</a:t>
            </a:r>
            <a:endParaRPr lang="en-US" sz="18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800" b="1" kern="100" dirty="0">
                <a:effectLst/>
                <a:latin typeface="Franklin Gothic Book" panose="020B0503020102020204" pitchFamily="34" charset="0"/>
                <a:ea typeface="Aptos" panose="020B0004020202020204" pitchFamily="34" charset="0"/>
                <a:cs typeface="Arial" panose="020B0604020202020204" pitchFamily="34" charset="0"/>
              </a:rPr>
              <a:t> </a:t>
            </a:r>
            <a:endParaRPr lang="en-US" sz="18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600" b="1" kern="100" dirty="0">
                <a:effectLst/>
                <a:latin typeface="Franklin Gothic Book" panose="020B0503020102020204" pitchFamily="34" charset="0"/>
                <a:ea typeface="Aptos" panose="020B0004020202020204" pitchFamily="34" charset="0"/>
                <a:cs typeface="Arial" panose="020B0604020202020204" pitchFamily="34" charset="0"/>
              </a:rPr>
              <a:t>Strategy to Execution Blockers and What the Best Do Differently</a:t>
            </a:r>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Several hurdles contribute to this disconnect:</a:t>
            </a:r>
          </a:p>
          <a:p>
            <a:pPr marL="0" marR="0"/>
            <a:endParaRPr lang="en-US" sz="1600" kern="100" dirty="0">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600" kern="100" dirty="0">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600" kern="100" dirty="0">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600" kern="100" dirty="0">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a:lnSpc>
                <a:spcPct val="100000"/>
              </a:lnSpc>
              <a:spcBef>
                <a:spcPts val="35"/>
              </a:spcBef>
            </a:pPr>
            <a:endParaRPr sz="1400" dirty="0">
              <a:latin typeface="Franklin Gothic Book"/>
              <a:cs typeface="Franklin Gothic Book"/>
            </a:endParaRPr>
          </a:p>
          <a:p>
            <a:pPr marL="69850" marR="0" algn="thaiDist"/>
            <a:r>
              <a:rPr lang="en-US" sz="1600" i="1" kern="100" dirty="0">
                <a:effectLst/>
                <a:latin typeface="Franklin Gothic Book" panose="020B0503020102020204" pitchFamily="34" charset="0"/>
                <a:ea typeface="Aptos" panose="020B0004020202020204" pitchFamily="34" charset="0"/>
                <a:cs typeface="Arial" panose="020B0604020202020204" pitchFamily="34" charset="0"/>
              </a:rPr>
              <a:t>In real life: A team was charged to increase price by 7 percent, yet it was far above their aspirational competitor that had more awareness and defined themselves as customer service and undeniable quality. The teams put up supporting tactics that were feel-good moments to a strategy that felt good but lacked viability.  </a:t>
            </a:r>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69850" marR="0" algn="thaiDist"/>
            <a:r>
              <a:rPr lang="en-US" sz="1600" i="1" kern="100" dirty="0">
                <a:effectLst/>
                <a:latin typeface="Franklin Gothic Book" panose="020B0503020102020204" pitchFamily="34" charset="0"/>
                <a:ea typeface="Aptos" panose="020B0004020202020204" pitchFamily="34" charset="0"/>
                <a:cs typeface="Arial" panose="020B0604020202020204" pitchFamily="34" charset="0"/>
              </a:rPr>
              <a:t> </a:t>
            </a:r>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69850" marR="0" algn="thaiDist"/>
            <a:r>
              <a:rPr lang="en-US" sz="1600" u="sng" kern="100" dirty="0">
                <a:effectLst/>
                <a:latin typeface="Franklin Gothic Book" panose="020B0503020102020204" pitchFamily="34" charset="0"/>
                <a:ea typeface="Aptos" panose="020B0004020202020204" pitchFamily="34" charset="0"/>
                <a:cs typeface="Arial" panose="020B0604020202020204" pitchFamily="34" charset="0"/>
              </a:rPr>
              <a:t>What the best do differently:</a:t>
            </a:r>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  Articulate clearly the overall vision of how you will drive the revenue goal. Ensure that it mathematically works. Pressure test if the strategy defined gets you to that vision. Test if it achieves all parts of the revenue goal. Does it increase the volume and the price that you desire? Does it support or conflict with other business goals, such as cost of sale or carrying costs? Having the correct overall strategy that directly cascades off the financial or</a:t>
            </a:r>
          </a:p>
        </p:txBody>
      </p:sp>
      <p:sp>
        <p:nvSpPr>
          <p:cNvPr id="3" name="object 8">
            <a:extLst>
              <a:ext uri="{FF2B5EF4-FFF2-40B4-BE49-F238E27FC236}">
                <a16:creationId xmlns:a16="http://schemas.microsoft.com/office/drawing/2014/main" id="{4C52D593-EEAF-FFB1-CAE9-58FC20602031}"/>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tx1">
                    <a:lumMod val="75000"/>
                    <a:lumOff val="25000"/>
                  </a:schemeClr>
                </a:solidFill>
                <a:latin typeface="Franklin Gothic Book"/>
                <a:cs typeface="Franklin Gothic Book"/>
              </a:rPr>
              <a:t>What Good Looks Like:  Revenue Strategy I 2024</a:t>
            </a:r>
            <a:endParaRPr sz="900">
              <a:solidFill>
                <a:schemeClr val="tx1">
                  <a:lumMod val="75000"/>
                  <a:lumOff val="25000"/>
                </a:schemeClr>
              </a:solidFill>
              <a:latin typeface="Franklin Gothic Book"/>
              <a:cs typeface="Franklin Gothic Book"/>
            </a:endParaRPr>
          </a:p>
        </p:txBody>
      </p:sp>
      <p:pic>
        <p:nvPicPr>
          <p:cNvPr id="9" name="Picture 8" descr="A person standing in front of a large chalkboard&#10;&#10;Description automatically generated">
            <a:extLst>
              <a:ext uri="{FF2B5EF4-FFF2-40B4-BE49-F238E27FC236}">
                <a16:creationId xmlns:a16="http://schemas.microsoft.com/office/drawing/2014/main" id="{17A79C1E-64C5-3E8B-F3FC-24BA7CA14E80}"/>
              </a:ext>
            </a:extLst>
          </p:cNvPr>
          <p:cNvPicPr>
            <a:picLocks noChangeAspect="1"/>
          </p:cNvPicPr>
          <p:nvPr/>
        </p:nvPicPr>
        <p:blipFill>
          <a:blip r:embed="rId3"/>
          <a:stretch>
            <a:fillRect/>
          </a:stretch>
        </p:blipFill>
        <p:spPr>
          <a:xfrm>
            <a:off x="3427019" y="3081009"/>
            <a:ext cx="3139647" cy="2092301"/>
          </a:xfrm>
          <a:prstGeom prst="rect">
            <a:avLst/>
          </a:prstGeom>
        </p:spPr>
      </p:pic>
      <p:sp>
        <p:nvSpPr>
          <p:cNvPr id="10" name="TextBox 9">
            <a:extLst>
              <a:ext uri="{FF2B5EF4-FFF2-40B4-BE49-F238E27FC236}">
                <a16:creationId xmlns:a16="http://schemas.microsoft.com/office/drawing/2014/main" id="{B8D7FC53-4081-2E9B-40CD-4FEFC3F185F0}"/>
              </a:ext>
            </a:extLst>
          </p:cNvPr>
          <p:cNvSpPr txBox="1"/>
          <p:nvPr/>
        </p:nvSpPr>
        <p:spPr>
          <a:xfrm>
            <a:off x="252683" y="3219218"/>
            <a:ext cx="3043796" cy="1815882"/>
          </a:xfrm>
          <a:prstGeom prst="rect">
            <a:avLst/>
          </a:prstGeom>
          <a:noFill/>
        </p:spPr>
        <p:txBody>
          <a:bodyPr wrap="square" rtlCol="0">
            <a:spAutoFit/>
          </a:bodyPr>
          <a:lstStyle/>
          <a:p>
            <a:pPr marR="0" lvl="0" algn="thaiDist">
              <a:buSzPts val="1000"/>
              <a:tabLst>
                <a:tab pos="457200" algn="l"/>
              </a:tabLst>
            </a:pPr>
            <a:r>
              <a:rPr lang="en-US" sz="1600" dirty="0">
                <a:solidFill>
                  <a:srgbClr val="404040"/>
                </a:solidFill>
                <a:latin typeface="Wingdings"/>
                <a:cs typeface="Wingdings"/>
              </a:rPr>
              <a:t></a:t>
            </a:r>
            <a:r>
              <a:rPr lang="en-US" sz="1600" dirty="0">
                <a:solidFill>
                  <a:srgbClr val="404040"/>
                </a:solidFill>
                <a:latin typeface="Times New Roman"/>
                <a:cs typeface="Times New Roman"/>
              </a:rPr>
              <a:t> </a:t>
            </a:r>
            <a:r>
              <a:rPr lang="en-US" sz="1600" b="1" kern="100" dirty="0">
                <a:effectLst/>
                <a:latin typeface="Franklin Gothic Book" panose="020B0503020102020204" pitchFamily="34" charset="0"/>
                <a:ea typeface="Aptos" panose="020B0004020202020204" pitchFamily="34" charset="0"/>
                <a:cs typeface="Arial" panose="020B0604020202020204" pitchFamily="34" charset="0"/>
              </a:rPr>
              <a:t>The need for due diligence in strategy</a:t>
            </a:r>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 Strategies often stumble when broad concepts must be transformed into actionable steps, highlighting the gap between high-level vision and ground-level operations.  </a:t>
            </a:r>
          </a:p>
        </p:txBody>
      </p:sp>
    </p:spTree>
    <p:extLst>
      <p:ext uri="{BB962C8B-B14F-4D97-AF65-F5344CB8AC3E}">
        <p14:creationId xmlns:p14="http://schemas.microsoft.com/office/powerpoint/2010/main" val="1734470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F7CADA8A-66B4-2C47-3B0E-ECE35532F125}"/>
              </a:ext>
            </a:extLst>
          </p:cNvPr>
          <p:cNvSpPr/>
          <p:nvPr/>
        </p:nvSpPr>
        <p:spPr>
          <a:xfrm>
            <a:off x="368965" y="714894"/>
            <a:ext cx="6348670" cy="951842"/>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6343648" y="8730488"/>
            <a:ext cx="83820" cy="162560"/>
          </a:xfrm>
          <a:prstGeom prst="rect">
            <a:avLst/>
          </a:prstGeom>
        </p:spPr>
        <p:txBody>
          <a:bodyPr vert="horz" wrap="square" lIns="0" tIns="12700" rIns="0" bIns="0" rtlCol="0">
            <a:spAutoFit/>
          </a:bodyPr>
          <a:lstStyle/>
          <a:p>
            <a:pPr marL="12700">
              <a:lnSpc>
                <a:spcPct val="100000"/>
              </a:lnSpc>
              <a:spcBef>
                <a:spcPts val="100"/>
              </a:spcBef>
            </a:pPr>
            <a:r>
              <a:rPr sz="900">
                <a:solidFill>
                  <a:srgbClr val="898989"/>
                </a:solidFill>
                <a:latin typeface="Calibri"/>
                <a:cs typeface="Calibri"/>
              </a:rPr>
              <a:t>7</a:t>
            </a:r>
            <a:endParaRPr sz="900">
              <a:latin typeface="Calibri"/>
              <a:cs typeface="Calibri"/>
            </a:endParaRPr>
          </a:p>
        </p:txBody>
      </p:sp>
      <p:sp>
        <p:nvSpPr>
          <p:cNvPr id="4" name="object 4"/>
          <p:cNvSpPr txBox="1"/>
          <p:nvPr/>
        </p:nvSpPr>
        <p:spPr>
          <a:xfrm>
            <a:off x="368965" y="737928"/>
            <a:ext cx="6058503" cy="6137578"/>
          </a:xfrm>
          <a:prstGeom prst="rect">
            <a:avLst/>
          </a:prstGeom>
        </p:spPr>
        <p:txBody>
          <a:bodyPr vert="horz" wrap="square" lIns="0" tIns="12700" rIns="0" bIns="0" rtlCol="0">
            <a:spAutoFit/>
          </a:bodyPr>
          <a:lstStyle/>
          <a:p>
            <a:pPr marL="69850" algn="thaiDist">
              <a:lnSpc>
                <a:spcPct val="100000"/>
              </a:lnSpc>
            </a:pPr>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revenue goal is mission-critical and sets the tone for your team's effectiveness and efficacy. Leave behind strategies that are inspirational but lack the reality needed.</a:t>
            </a:r>
            <a:endParaRPr lang="en-US" sz="1600" spc="-15" dirty="0">
              <a:solidFill>
                <a:srgbClr val="B52372"/>
              </a:solidFill>
              <a:latin typeface="Franklin Gothic Book" panose="020B0503020102020204" pitchFamily="34" charset="0"/>
              <a:cs typeface="Franklin Gothic Medium"/>
            </a:endParaRPr>
          </a:p>
          <a:p>
            <a:pPr marL="69850">
              <a:lnSpc>
                <a:spcPct val="100000"/>
              </a:lnSpc>
            </a:pPr>
            <a:endParaRPr lang="en-US" sz="1400" dirty="0">
              <a:latin typeface="Franklin Gothic Book"/>
              <a:cs typeface="Franklin Gothic Book"/>
            </a:endParaRPr>
          </a:p>
          <a:p>
            <a:pPr marL="69850">
              <a:lnSpc>
                <a:spcPct val="100000"/>
              </a:lnSpc>
            </a:pPr>
            <a:endParaRPr sz="1400" dirty="0">
              <a:latin typeface="Franklin Gothic Book"/>
              <a:cs typeface="Franklin Gothic Book"/>
            </a:endParaRPr>
          </a:p>
          <a:p>
            <a:pPr marL="0" marR="0"/>
            <a:r>
              <a:rPr sz="1400" dirty="0">
                <a:solidFill>
                  <a:srgbClr val="404040"/>
                </a:solidFill>
                <a:latin typeface="Wingdings"/>
                <a:cs typeface="Wingdings"/>
              </a:rPr>
              <a:t></a:t>
            </a:r>
            <a:r>
              <a:rPr sz="1400" dirty="0">
                <a:solidFill>
                  <a:srgbClr val="404040"/>
                </a:solidFill>
                <a:latin typeface="Times New Roman"/>
                <a:cs typeface="Times New Roman"/>
              </a:rPr>
              <a:t> </a:t>
            </a:r>
            <a:r>
              <a:rPr lang="en-US" sz="1800" kern="100" dirty="0">
                <a:effectLst/>
                <a:latin typeface="Aptos" panose="020B0004020202020204" pitchFamily="34" charset="0"/>
                <a:ea typeface="Aptos" panose="020B0004020202020204" pitchFamily="34" charset="0"/>
                <a:cs typeface="Arial" panose="020B0604020202020204" pitchFamily="34" charset="0"/>
              </a:rPr>
              <a:t> </a:t>
            </a:r>
            <a:r>
              <a:rPr lang="en-US" sz="1600" b="1" dirty="0">
                <a:effectLst/>
                <a:latin typeface="Franklin Gothic Book" panose="020B0503020102020204" pitchFamily="34" charset="0"/>
                <a:ea typeface="Aptos" panose="020B0004020202020204" pitchFamily="34" charset="0"/>
                <a:cs typeface="Arial" panose="020B0604020202020204" pitchFamily="34" charset="0"/>
              </a:rPr>
              <a:t>Our toxic love affair with activity over impact—a false sense of productivity:</a:t>
            </a:r>
          </a:p>
          <a:p>
            <a:pPr marL="0" marR="0"/>
            <a:endParaRPr lang="en-US" sz="1600" b="1" dirty="0">
              <a:effectLst/>
              <a:latin typeface="Franklin Gothic Book" panose="020B0503020102020204" pitchFamily="34" charset="0"/>
              <a:ea typeface="Aptos" panose="020B0004020202020204" pitchFamily="34" charset="0"/>
              <a:cs typeface="Arial" panose="020B0604020202020204" pitchFamily="34" charset="0"/>
            </a:endParaRPr>
          </a:p>
          <a:p>
            <a:pPr marR="0" lvl="0" algn="thaiDist">
              <a:buSzPts val="1000"/>
              <a:tabLst>
                <a:tab pos="457200" algn="l"/>
              </a:tabLst>
            </a:pPr>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Yesterday's operational mindset of looking at output has debilitated us from moving to an impact mindset of value creation. Leaders tend to value how much work teams have done instead of the work's results.</a:t>
            </a:r>
          </a:p>
          <a:p>
            <a:pPr marR="0" lvl="0" algn="thaiDist">
              <a:buSzPts val="1000"/>
              <a:tabLst>
                <a:tab pos="457200" algn="l"/>
              </a:tabLst>
            </a:pPr>
            <a:endParaRPr lang="en-US" sz="1600" i="1" kern="100" dirty="0">
              <a:latin typeface="Franklin Gothic Book" panose="020B0503020102020204" pitchFamily="34" charset="0"/>
              <a:ea typeface="Aptos" panose="020B0004020202020204" pitchFamily="34" charset="0"/>
              <a:cs typeface="Arial" panose="020B0604020202020204" pitchFamily="34" charset="0"/>
            </a:endParaRPr>
          </a:p>
          <a:p>
            <a:pPr marR="0" lvl="0" algn="thaiDist">
              <a:buSzPts val="1000"/>
              <a:tabLst>
                <a:tab pos="457200" algn="l"/>
              </a:tabLst>
            </a:pPr>
            <a:r>
              <a:rPr lang="en-US" sz="1600" i="1" kern="100" dirty="0">
                <a:effectLst/>
                <a:latin typeface="Franklin Gothic Book" panose="020B0503020102020204" pitchFamily="34" charset="0"/>
                <a:ea typeface="Aptos" panose="020B0004020202020204" pitchFamily="34" charset="0"/>
                <a:cs typeface="Arial" panose="020B0604020202020204" pitchFamily="34" charset="0"/>
              </a:rPr>
              <a:t>In real life: Another team got further down the path than most. They had translated their financial revenue vision into their strategy. And then it took a turn. In the excitement, they missed the step designed to crystalize how to make that vision happen, which was missed entirely. There was no bridge between how they would achieve that goal and their actions. They went directly to what they were going to do. What was the result? They did a lot. They reported everything they did and put it on PowerPoint presentations. But the work was scattered, and they didn’t achieve what they set out to do.</a:t>
            </a:r>
          </a:p>
          <a:p>
            <a:pPr marR="0" lvl="0">
              <a:buSzPts val="1000"/>
              <a:tabLst>
                <a:tab pos="457200" algn="l"/>
              </a:tabLst>
            </a:pPr>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R="0" lvl="0">
              <a:buSzPts val="1000"/>
              <a:tabLst>
                <a:tab pos="457200" algn="l"/>
              </a:tabLst>
            </a:pPr>
            <a:endParaRPr lang="en-US" sz="1600" kern="100" dirty="0">
              <a:latin typeface="Aptos" panose="020B0004020202020204" pitchFamily="34" charset="0"/>
              <a:ea typeface="Aptos" panose="020B0004020202020204" pitchFamily="34" charset="0"/>
              <a:cs typeface="Arial" panose="020B0604020202020204" pitchFamily="34" charset="0"/>
            </a:endParaRPr>
          </a:p>
          <a:p>
            <a:pPr marR="0" lvl="0">
              <a:buSzPts val="1000"/>
              <a:tabLst>
                <a:tab pos="457200" algn="l"/>
              </a:tabLst>
            </a:pPr>
            <a:endParaRPr lang="en-US" sz="1600" kern="100" dirty="0">
              <a:effectLst/>
              <a:latin typeface="Aptos" panose="020B0004020202020204" pitchFamily="34" charset="0"/>
              <a:ea typeface="Aptos" panose="020B0004020202020204" pitchFamily="34" charset="0"/>
              <a:cs typeface="Arial" panose="020B0604020202020204" pitchFamily="34" charset="0"/>
            </a:endParaRPr>
          </a:p>
          <a:p>
            <a:pPr marR="0" lvl="0">
              <a:buSzPts val="1000"/>
              <a:tabLst>
                <a:tab pos="457200" algn="l"/>
              </a:tabLst>
            </a:pPr>
            <a:endParaRPr lang="en-US" sz="16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2" name="object 8">
            <a:extLst>
              <a:ext uri="{FF2B5EF4-FFF2-40B4-BE49-F238E27FC236}">
                <a16:creationId xmlns:a16="http://schemas.microsoft.com/office/drawing/2014/main" id="{517CF32E-2CDA-3098-1D26-CA4E88E3BE25}"/>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tx1">
                    <a:lumMod val="75000"/>
                    <a:lumOff val="25000"/>
                  </a:schemeClr>
                </a:solidFill>
                <a:latin typeface="Franklin Gothic Book"/>
                <a:cs typeface="Franklin Gothic Book"/>
              </a:rPr>
              <a:t>What Good Looks Like:  Revenue Strategy I 2024</a:t>
            </a:r>
            <a:endParaRPr sz="900">
              <a:solidFill>
                <a:schemeClr val="tx1">
                  <a:lumMod val="75000"/>
                  <a:lumOff val="25000"/>
                </a:schemeClr>
              </a:solidFill>
              <a:latin typeface="Franklin Gothic Book"/>
              <a:cs typeface="Franklin Gothic Book"/>
            </a:endParaRPr>
          </a:p>
        </p:txBody>
      </p:sp>
      <p:sp>
        <p:nvSpPr>
          <p:cNvPr id="10" name="object 5">
            <a:extLst>
              <a:ext uri="{FF2B5EF4-FFF2-40B4-BE49-F238E27FC236}">
                <a16:creationId xmlns:a16="http://schemas.microsoft.com/office/drawing/2014/main" id="{93489651-1156-5B3F-C041-53B02DE0062D}"/>
              </a:ext>
            </a:extLst>
          </p:cNvPr>
          <p:cNvSpPr/>
          <p:nvPr/>
        </p:nvSpPr>
        <p:spPr>
          <a:xfrm flipV="1">
            <a:off x="252684" y="551579"/>
            <a:ext cx="6348670" cy="64241"/>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2">
            <a:extLst>
              <a:ext uri="{FF2B5EF4-FFF2-40B4-BE49-F238E27FC236}">
                <a16:creationId xmlns:a16="http://schemas.microsoft.com/office/drawing/2014/main" id="{EA684409-C582-18B1-C237-572F01930FA2}"/>
              </a:ext>
            </a:extLst>
          </p:cNvPr>
          <p:cNvSpPr txBox="1">
            <a:spLocks/>
          </p:cNvSpPr>
          <p:nvPr/>
        </p:nvSpPr>
        <p:spPr>
          <a:xfrm>
            <a:off x="114300" y="169423"/>
            <a:ext cx="6858000" cy="382156"/>
          </a:xfrm>
          <a:prstGeom prst="rect">
            <a:avLst/>
          </a:prstGeom>
        </p:spPr>
        <p:txBody>
          <a:bodyPr vert="horz" wrap="square" lIns="0" tIns="12700" rIns="0" bIns="0" rtlCol="0">
            <a:spAutoFit/>
          </a:bodyPr>
          <a:lstStyle>
            <a:lvl1pPr>
              <a:defRPr sz="2000" b="0" i="0">
                <a:solidFill>
                  <a:schemeClr val="tx1"/>
                </a:solidFill>
                <a:latin typeface="Franklin Gothic Book"/>
                <a:ea typeface="+mj-ea"/>
                <a:cs typeface="Franklin Gothic Book"/>
              </a:defRPr>
            </a:lvl1pPr>
          </a:lstStyle>
          <a:p>
            <a:pPr marL="12700" algn="ctr">
              <a:spcBef>
                <a:spcPts val="100"/>
              </a:spcBef>
            </a:pPr>
            <a:r>
              <a:rPr lang="en-US" sz="2400" kern="0" dirty="0"/>
              <a:t>From Vision to Action: Strategy to Execution</a:t>
            </a:r>
          </a:p>
        </p:txBody>
      </p:sp>
      <p:pic>
        <p:nvPicPr>
          <p:cNvPr id="16" name="Picture 15" descr="A red ball in a row of balls&#10;&#10;Description automatically generated">
            <a:extLst>
              <a:ext uri="{FF2B5EF4-FFF2-40B4-BE49-F238E27FC236}">
                <a16:creationId xmlns:a16="http://schemas.microsoft.com/office/drawing/2014/main" id="{01B7E315-5D44-3226-30DD-2F138924669D}"/>
              </a:ext>
            </a:extLst>
          </p:cNvPr>
          <p:cNvPicPr>
            <a:picLocks noChangeAspect="1"/>
          </p:cNvPicPr>
          <p:nvPr/>
        </p:nvPicPr>
        <p:blipFill>
          <a:blip r:embed="rId3">
            <a:extLst>
              <a:ext uri="{28A0092B-C50C-407E-A947-70E740481C1C}">
                <a14:useLocalDpi xmlns:a14="http://schemas.microsoft.com/office/drawing/2010/main" val="0"/>
              </a:ext>
            </a:extLst>
          </a:blip>
          <a:srcRect t="9299" b="14978"/>
          <a:stretch/>
        </p:blipFill>
        <p:spPr>
          <a:xfrm>
            <a:off x="0" y="6281327"/>
            <a:ext cx="6858000" cy="2120915"/>
          </a:xfrm>
          <a:prstGeom prst="rect">
            <a:avLst/>
          </a:prstGeom>
        </p:spPr>
      </p:pic>
      <p:sp>
        <p:nvSpPr>
          <p:cNvPr id="17" name="object 6">
            <a:extLst>
              <a:ext uri="{FF2B5EF4-FFF2-40B4-BE49-F238E27FC236}">
                <a16:creationId xmlns:a16="http://schemas.microsoft.com/office/drawing/2014/main" id="{A1261154-5C59-EA0D-E73F-D8610A91C373}"/>
              </a:ext>
            </a:extLst>
          </p:cNvPr>
          <p:cNvSpPr/>
          <p:nvPr/>
        </p:nvSpPr>
        <p:spPr>
          <a:xfrm>
            <a:off x="683819" y="1735679"/>
            <a:ext cx="5486400" cy="0"/>
          </a:xfrm>
          <a:custGeom>
            <a:avLst/>
            <a:gdLst/>
            <a:ahLst/>
            <a:cxnLst/>
            <a:rect l="l" t="t" r="r" b="b"/>
            <a:pathLst>
              <a:path w="5486400">
                <a:moveTo>
                  <a:pt x="0" y="0"/>
                </a:moveTo>
                <a:lnTo>
                  <a:pt x="5486400" y="1"/>
                </a:lnTo>
              </a:path>
            </a:pathLst>
          </a:custGeom>
          <a:ln w="28575">
            <a:solidFill>
              <a:srgbClr val="000000"/>
            </a:solidFill>
          </a:ln>
        </p:spPr>
        <p:txBody>
          <a:bodyPr wrap="square" lIns="0" tIns="0" rIns="0" bIns="0" rtlCol="0"/>
          <a:lstStyle/>
          <a:p>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5">
            <a:extLst>
              <a:ext uri="{FF2B5EF4-FFF2-40B4-BE49-F238E27FC236}">
                <a16:creationId xmlns:a16="http://schemas.microsoft.com/office/drawing/2014/main" id="{51CFD117-D70D-C7B5-1472-B680CD3A7BD2}"/>
              </a:ext>
            </a:extLst>
          </p:cNvPr>
          <p:cNvSpPr/>
          <p:nvPr/>
        </p:nvSpPr>
        <p:spPr>
          <a:xfrm>
            <a:off x="186734" y="6603532"/>
            <a:ext cx="6448954" cy="1780032"/>
          </a:xfrm>
          <a:prstGeom prst="rect">
            <a:avLst/>
          </a:prstGeom>
          <a:blipFill>
            <a:blip r:embed="rId2" cstate="print"/>
            <a:stretch>
              <a:fillRect/>
            </a:stretch>
          </a:blipFill>
        </p:spPr>
        <p:txBody>
          <a:bodyPr wrap="square" lIns="0" tIns="0" rIns="0" bIns="0" rtlCol="0"/>
          <a:lstStyle/>
          <a:p>
            <a:endParaRPr/>
          </a:p>
        </p:txBody>
      </p:sp>
      <p:sp>
        <p:nvSpPr>
          <p:cNvPr id="13" name="object 5">
            <a:extLst>
              <a:ext uri="{FF2B5EF4-FFF2-40B4-BE49-F238E27FC236}">
                <a16:creationId xmlns:a16="http://schemas.microsoft.com/office/drawing/2014/main" id="{5BA2FB0B-C559-9E5D-2FF3-B9EFF5BE7C74}"/>
              </a:ext>
            </a:extLst>
          </p:cNvPr>
          <p:cNvSpPr/>
          <p:nvPr/>
        </p:nvSpPr>
        <p:spPr>
          <a:xfrm>
            <a:off x="186734" y="880511"/>
            <a:ext cx="6414620" cy="1780032"/>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252684" y="734451"/>
            <a:ext cx="6165850" cy="8120172"/>
          </a:xfrm>
          <a:prstGeom prst="rect">
            <a:avLst/>
          </a:prstGeom>
        </p:spPr>
        <p:txBody>
          <a:bodyPr vert="horz" wrap="square" lIns="0" tIns="12700" rIns="0" bIns="0" rtlCol="0">
            <a:spAutoFit/>
          </a:bodyPr>
          <a:lstStyle/>
          <a:p>
            <a:pPr marL="457200" marR="0"/>
            <a:r>
              <a:rPr lang="en-US" sz="1600" i="1" kern="100" dirty="0">
                <a:effectLst/>
                <a:latin typeface="Franklin Gothic Book" panose="020B0503020102020204" pitchFamily="34" charset="0"/>
                <a:ea typeface="Aptos" panose="020B0004020202020204" pitchFamily="34" charset="0"/>
                <a:cs typeface="Arial" panose="020B0604020202020204" pitchFamily="34" charset="0"/>
              </a:rPr>
              <a:t> </a:t>
            </a:r>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algn="thaiDist"/>
            <a:r>
              <a:rPr lang="en-US" sz="1600" u="sng" dirty="0">
                <a:effectLst/>
                <a:latin typeface="Franklin Gothic Book" panose="020B0503020102020204" pitchFamily="34" charset="0"/>
                <a:ea typeface="Aptos" panose="020B0004020202020204" pitchFamily="34" charset="0"/>
                <a:cs typeface="Arial" panose="020B0604020202020204" pitchFamily="34" charset="0"/>
              </a:rPr>
              <a:t>What the best do differently?</a:t>
            </a:r>
            <a:r>
              <a:rPr lang="en-US" sz="1600" dirty="0">
                <a:effectLst/>
                <a:latin typeface="Franklin Gothic Book" panose="020B0503020102020204" pitchFamily="34" charset="0"/>
                <a:ea typeface="Aptos" panose="020B0004020202020204" pitchFamily="34" charset="0"/>
                <a:cs typeface="Arial" panose="020B0604020202020204" pitchFamily="34" charset="0"/>
              </a:rPr>
              <a:t>  Embrace the </a:t>
            </a:r>
            <a:r>
              <a:rPr lang="en-US" sz="1600" i="1" dirty="0">
                <a:effectLst/>
                <a:latin typeface="Franklin Gothic Book" panose="020B0503020102020204" pitchFamily="34" charset="0"/>
                <a:ea typeface="Aptos" panose="020B0004020202020204" pitchFamily="34" charset="0"/>
                <a:cs typeface="Arial" panose="020B0604020202020204" pitchFamily="34" charset="0"/>
              </a:rPr>
              <a:t>Do Less, Make it Mean More</a:t>
            </a:r>
            <a:r>
              <a:rPr lang="en-US" sz="1600" dirty="0">
                <a:effectLst/>
                <a:latin typeface="Franklin Gothic Book" panose="020B0503020102020204" pitchFamily="34" charset="0"/>
                <a:ea typeface="Aptos" panose="020B0004020202020204" pitchFamily="34" charset="0"/>
                <a:cs typeface="Arial" panose="020B0604020202020204" pitchFamily="34" charset="0"/>
              </a:rPr>
              <a:t> mentality.   A maniacal focus on "Straight-Line Effectiveness" looks at where we should put our time to get the greatest impact. Have a zealous approach to challenge and debunk what you have always done and question if the supporting tactics or actions do indeed move you in the desired direction.</a:t>
            </a:r>
            <a:endParaRPr lang="en-US" sz="1600" dirty="0">
              <a:solidFill>
                <a:srgbClr val="404040"/>
              </a:solidFill>
              <a:latin typeface="Franklin Gothic Book" panose="020B0503020102020204" pitchFamily="34" charset="0"/>
              <a:cs typeface="Wingdings"/>
            </a:endParaRPr>
          </a:p>
          <a:p>
            <a:pPr marR="0" lvl="0" algn="thaiDist">
              <a:buSzPts val="1000"/>
              <a:tabLst>
                <a:tab pos="457200" algn="l"/>
              </a:tabLst>
            </a:pPr>
            <a:endParaRPr lang="en-US" sz="1600" dirty="0">
              <a:solidFill>
                <a:srgbClr val="404040"/>
              </a:solidFill>
              <a:latin typeface="Wingdings"/>
              <a:cs typeface="Wingdings"/>
            </a:endParaRPr>
          </a:p>
          <a:p>
            <a:pPr marR="0" lvl="0" algn="thaiDist">
              <a:buSzPts val="1000"/>
              <a:tabLst>
                <a:tab pos="457200" algn="l"/>
              </a:tabLst>
            </a:pPr>
            <a:endParaRPr lang="en-US" sz="1600" dirty="0">
              <a:solidFill>
                <a:srgbClr val="404040"/>
              </a:solidFill>
              <a:latin typeface="Wingdings"/>
              <a:cs typeface="Wingdings"/>
            </a:endParaRPr>
          </a:p>
          <a:p>
            <a:pPr marR="0" lvl="0" algn="thaiDist">
              <a:buSzPts val="1000"/>
              <a:tabLst>
                <a:tab pos="457200" algn="l"/>
              </a:tabLst>
            </a:pPr>
            <a:endParaRPr lang="en-US" sz="1600" dirty="0">
              <a:solidFill>
                <a:srgbClr val="404040"/>
              </a:solidFill>
              <a:latin typeface="Wingdings"/>
              <a:cs typeface="Wingdings"/>
            </a:endParaRPr>
          </a:p>
          <a:p>
            <a:pPr marR="0" lvl="0" algn="thaiDist">
              <a:buSzPts val="1000"/>
              <a:tabLst>
                <a:tab pos="457200" algn="l"/>
              </a:tabLst>
            </a:pPr>
            <a:r>
              <a:rPr sz="1600" dirty="0">
                <a:solidFill>
                  <a:srgbClr val="404040"/>
                </a:solidFill>
                <a:latin typeface="Wingdings"/>
                <a:cs typeface="Wingdings"/>
              </a:rPr>
              <a:t></a:t>
            </a:r>
            <a:r>
              <a:rPr lang="en-US" sz="1600" dirty="0">
                <a:solidFill>
                  <a:srgbClr val="404040"/>
                </a:solidFill>
                <a:latin typeface="Wingdings"/>
                <a:cs typeface="Wingdings"/>
              </a:rPr>
              <a:t> </a:t>
            </a:r>
            <a:r>
              <a:rPr lang="en-US" sz="1600" b="1" kern="100" dirty="0">
                <a:effectLst/>
                <a:latin typeface="Franklin Gothic Book" panose="020B0503020102020204" pitchFamily="34" charset="0"/>
                <a:ea typeface="Aptos" panose="020B0004020202020204" pitchFamily="34" charset="0"/>
                <a:cs typeface="Arial" panose="020B0604020202020204" pitchFamily="34" charset="0"/>
              </a:rPr>
              <a:t>Lack of clarity of which tactics or actions get us closer to the goal:</a:t>
            </a:r>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 This is related to the two prior points. When there is a need for more clarity within the strategy, and the tactics or actions are focused on activity vs. impact, then, inevitably, there is a void of metrics that call out what is effective in getting closer to the desired result.</a:t>
            </a:r>
          </a:p>
          <a:p>
            <a:pPr marR="0" lvl="0" algn="thaiDist">
              <a:buSzPts val="1000"/>
              <a:tabLst>
                <a:tab pos="457200" algn="l"/>
              </a:tabLst>
            </a:pPr>
            <a:endParaRPr lang="en-US" sz="1600" i="1" kern="100" dirty="0">
              <a:latin typeface="Franklin Gothic Book" panose="020B0503020102020204" pitchFamily="34" charset="0"/>
              <a:ea typeface="Aptos" panose="020B0004020202020204" pitchFamily="34" charset="0"/>
              <a:cs typeface="Arial" panose="020B0604020202020204" pitchFamily="34" charset="0"/>
            </a:endParaRPr>
          </a:p>
          <a:p>
            <a:pPr marR="0" lvl="0" algn="thaiDist">
              <a:buSzPts val="1000"/>
              <a:tabLst>
                <a:tab pos="457200" algn="l"/>
              </a:tabLst>
            </a:pPr>
            <a:r>
              <a:rPr lang="en-US" sz="1600" i="1" kern="100" dirty="0">
                <a:effectLst/>
                <a:latin typeface="Franklin Gothic Book" panose="020B0503020102020204" pitchFamily="34" charset="0"/>
                <a:ea typeface="Aptos" panose="020B0004020202020204" pitchFamily="34" charset="0"/>
                <a:cs typeface="Arial" panose="020B0604020202020204" pitchFamily="34" charset="0"/>
              </a:rPr>
              <a:t>In real life:  Going back to the above example, the team didn't have a clear strategy; they only had the revenue goal they wanted to hit and tactics they had continually used. The only metric left was the outcome of either hitting their target or not and the completion of results; they needed to know whether what they were doing was working as well as it could be. Did they increase revenue?  Well, sure, but much opportunity was left on the table, and it took far longer than needed. </a:t>
            </a:r>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457200" marR="0"/>
            <a:r>
              <a:rPr lang="en-US" sz="1600" i="1" kern="100" dirty="0">
                <a:effectLst/>
                <a:latin typeface="Franklin Gothic Book" panose="020B0503020102020204" pitchFamily="34" charset="0"/>
                <a:ea typeface="Aptos" panose="020B0004020202020204" pitchFamily="34" charset="0"/>
                <a:cs typeface="Arial" panose="020B0604020202020204" pitchFamily="34" charset="0"/>
              </a:rPr>
              <a:t> </a:t>
            </a:r>
            <a:endParaRPr lang="en-US" sz="1600" i="1" u="sng" kern="100" dirty="0">
              <a:latin typeface="Franklin Gothic Book" panose="020B0503020102020204" pitchFamily="34" charset="0"/>
              <a:ea typeface="Aptos" panose="020B0004020202020204" pitchFamily="34" charset="0"/>
              <a:cs typeface="Arial" panose="020B0604020202020204" pitchFamily="34" charset="0"/>
            </a:endParaRPr>
          </a:p>
          <a:p>
            <a:pPr marL="457200" marR="0"/>
            <a:endParaRPr lang="en-US" sz="1600" u="sng" kern="100" dirty="0">
              <a:effectLst/>
              <a:latin typeface="Franklin Gothic Book" panose="020B0503020102020204" pitchFamily="34" charset="0"/>
              <a:ea typeface="Aptos" panose="020B0004020202020204" pitchFamily="34" charset="0"/>
              <a:cs typeface="Arial" panose="020B0604020202020204" pitchFamily="34" charset="0"/>
            </a:endParaRPr>
          </a:p>
          <a:p>
            <a:pPr marL="12700" marR="0" algn="thaiDist"/>
            <a:r>
              <a:rPr lang="en-US" sz="1600" u="sng" kern="100" dirty="0">
                <a:effectLst/>
                <a:latin typeface="Franklin Gothic Book" panose="020B0503020102020204" pitchFamily="34" charset="0"/>
                <a:ea typeface="Aptos" panose="020B0004020202020204" pitchFamily="34" charset="0"/>
                <a:cs typeface="Arial" panose="020B0604020202020204" pitchFamily="34" charset="0"/>
              </a:rPr>
              <a:t>What is the best way to do something differently?</a:t>
            </a:r>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   Orchestrating micro-metrics of the supporting tactics or actions related to the strategy is a game changer. Teams can quickly see how those actions are connected to the plan and the larger revenue goal. These micro-metrics illustrate the agility to evaluate, and shift focus to a different path. Teams can embrace an iterative mindset rather than burning time and energy. </a:t>
            </a:r>
          </a:p>
          <a:p>
            <a:pPr marL="268605">
              <a:lnSpc>
                <a:spcPct val="100000"/>
              </a:lnSpc>
              <a:spcBef>
                <a:spcPts val="1865"/>
              </a:spcBef>
            </a:pPr>
            <a:endParaRPr sz="1500" dirty="0">
              <a:latin typeface="Franklin Gothic Book"/>
              <a:cs typeface="Franklin Gothic Book"/>
            </a:endParaRPr>
          </a:p>
        </p:txBody>
      </p:sp>
      <p:sp>
        <p:nvSpPr>
          <p:cNvPr id="6" name="object 6"/>
          <p:cNvSpPr/>
          <p:nvPr/>
        </p:nvSpPr>
        <p:spPr>
          <a:xfrm>
            <a:off x="592409" y="2950116"/>
            <a:ext cx="5486400" cy="0"/>
          </a:xfrm>
          <a:custGeom>
            <a:avLst/>
            <a:gdLst/>
            <a:ahLst/>
            <a:cxnLst/>
            <a:rect l="l" t="t" r="r" b="b"/>
            <a:pathLst>
              <a:path w="5486400">
                <a:moveTo>
                  <a:pt x="0" y="0"/>
                </a:moveTo>
                <a:lnTo>
                  <a:pt x="5486400" y="1"/>
                </a:lnTo>
              </a:path>
            </a:pathLst>
          </a:custGeom>
          <a:ln w="28575">
            <a:solidFill>
              <a:srgbClr val="000000"/>
            </a:solidFill>
          </a:ln>
        </p:spPr>
        <p:txBody>
          <a:bodyPr wrap="square" lIns="0" tIns="0" rIns="0" bIns="0" rtlCol="0"/>
          <a:lstStyle/>
          <a:p>
            <a:endParaRPr/>
          </a:p>
        </p:txBody>
      </p:sp>
      <p:sp>
        <p:nvSpPr>
          <p:cNvPr id="2" name="object 8">
            <a:extLst>
              <a:ext uri="{FF2B5EF4-FFF2-40B4-BE49-F238E27FC236}">
                <a16:creationId xmlns:a16="http://schemas.microsoft.com/office/drawing/2014/main" id="{B32D8DAF-3A6E-50D8-7EF7-EA84F5321199}"/>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tx1">
                    <a:lumMod val="50000"/>
                    <a:lumOff val="50000"/>
                  </a:schemeClr>
                </a:solidFill>
                <a:latin typeface="Franklin Gothic Book"/>
                <a:cs typeface="Franklin Gothic Book"/>
              </a:rPr>
              <a:t>What Good Looks Like:  Revenue Strategy I 2024</a:t>
            </a:r>
            <a:endParaRPr sz="900">
              <a:solidFill>
                <a:schemeClr val="tx1">
                  <a:lumMod val="50000"/>
                  <a:lumOff val="50000"/>
                </a:schemeClr>
              </a:solidFill>
              <a:latin typeface="Franklin Gothic Book"/>
              <a:cs typeface="Franklin Gothic Book"/>
            </a:endParaRPr>
          </a:p>
        </p:txBody>
      </p:sp>
      <p:sp>
        <p:nvSpPr>
          <p:cNvPr id="9" name="object 5">
            <a:extLst>
              <a:ext uri="{FF2B5EF4-FFF2-40B4-BE49-F238E27FC236}">
                <a16:creationId xmlns:a16="http://schemas.microsoft.com/office/drawing/2014/main" id="{5A11BC2A-F51C-D3D7-8AB3-74088C0D7F2C}"/>
              </a:ext>
            </a:extLst>
          </p:cNvPr>
          <p:cNvSpPr/>
          <p:nvPr/>
        </p:nvSpPr>
        <p:spPr>
          <a:xfrm flipV="1">
            <a:off x="252684" y="551579"/>
            <a:ext cx="6348670" cy="64241"/>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5" name="object 2">
            <a:extLst>
              <a:ext uri="{FF2B5EF4-FFF2-40B4-BE49-F238E27FC236}">
                <a16:creationId xmlns:a16="http://schemas.microsoft.com/office/drawing/2014/main" id="{2D407133-561A-6A9F-FBA4-6C4A886577CF}"/>
              </a:ext>
            </a:extLst>
          </p:cNvPr>
          <p:cNvSpPr txBox="1">
            <a:spLocks/>
          </p:cNvSpPr>
          <p:nvPr/>
        </p:nvSpPr>
        <p:spPr>
          <a:xfrm>
            <a:off x="152400" y="231775"/>
            <a:ext cx="6705600" cy="382156"/>
          </a:xfrm>
          <a:prstGeom prst="rect">
            <a:avLst/>
          </a:prstGeom>
        </p:spPr>
        <p:txBody>
          <a:bodyPr vert="horz" wrap="square" lIns="0" tIns="12700" rIns="0" bIns="0" rtlCol="0">
            <a:spAutoFit/>
          </a:bodyPr>
          <a:lstStyle>
            <a:lvl1pPr>
              <a:defRPr sz="2000" b="0" i="0">
                <a:solidFill>
                  <a:schemeClr val="tx1"/>
                </a:solidFill>
                <a:latin typeface="Franklin Gothic Book"/>
                <a:ea typeface="+mj-ea"/>
                <a:cs typeface="Franklin Gothic Book"/>
              </a:defRPr>
            </a:lvl1pPr>
          </a:lstStyle>
          <a:p>
            <a:pPr marL="12700" algn="ctr">
              <a:spcBef>
                <a:spcPts val="100"/>
              </a:spcBef>
            </a:pPr>
            <a:r>
              <a:rPr lang="en-US" sz="2400" kern="0" dirty="0"/>
              <a:t>From Vision to Action: Strategy to Execution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343648" y="8730488"/>
            <a:ext cx="83820" cy="162560"/>
          </a:xfrm>
          <a:prstGeom prst="rect">
            <a:avLst/>
          </a:prstGeom>
        </p:spPr>
        <p:txBody>
          <a:bodyPr vert="horz" wrap="square" lIns="0" tIns="12700" rIns="0" bIns="0" rtlCol="0">
            <a:spAutoFit/>
          </a:bodyPr>
          <a:lstStyle/>
          <a:p>
            <a:pPr marL="12700">
              <a:lnSpc>
                <a:spcPct val="100000"/>
              </a:lnSpc>
              <a:spcBef>
                <a:spcPts val="100"/>
              </a:spcBef>
            </a:pPr>
            <a:r>
              <a:rPr sz="900">
                <a:solidFill>
                  <a:srgbClr val="898989"/>
                </a:solidFill>
                <a:latin typeface="Calibri"/>
                <a:cs typeface="Calibri"/>
              </a:rPr>
              <a:t>9</a:t>
            </a:r>
            <a:endParaRPr sz="900">
              <a:latin typeface="Calibri"/>
              <a:cs typeface="Calibri"/>
            </a:endParaRPr>
          </a:p>
        </p:txBody>
      </p:sp>
      <p:sp>
        <p:nvSpPr>
          <p:cNvPr id="5" name="object 5"/>
          <p:cNvSpPr/>
          <p:nvPr/>
        </p:nvSpPr>
        <p:spPr>
          <a:xfrm>
            <a:off x="145656" y="6508262"/>
            <a:ext cx="6562725" cy="1942824"/>
          </a:xfrm>
          <a:prstGeom prst="rect">
            <a:avLst/>
          </a:prstGeom>
          <a:blipFill>
            <a:blip r:embed="rId3" cstate="print"/>
            <a:stretch>
              <a:fillRect/>
            </a:stretch>
          </a:blipFill>
        </p:spPr>
        <p:txBody>
          <a:bodyPr wrap="square" lIns="0" tIns="0" rIns="0" bIns="0" rtlCol="0"/>
          <a:lstStyle/>
          <a:p>
            <a:endParaRPr dirty="0"/>
          </a:p>
        </p:txBody>
      </p:sp>
      <p:sp>
        <p:nvSpPr>
          <p:cNvPr id="2" name="object 8">
            <a:extLst>
              <a:ext uri="{FF2B5EF4-FFF2-40B4-BE49-F238E27FC236}">
                <a16:creationId xmlns:a16="http://schemas.microsoft.com/office/drawing/2014/main" id="{5F25EE71-D4E8-6ABC-BF10-6797C1B59690}"/>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tx1">
                    <a:lumMod val="75000"/>
                    <a:lumOff val="25000"/>
                  </a:schemeClr>
                </a:solidFill>
                <a:latin typeface="Franklin Gothic Book"/>
                <a:cs typeface="Franklin Gothic Book"/>
              </a:rPr>
              <a:t>What Good Looks Like:  Revenue Strategy I 2024</a:t>
            </a:r>
            <a:endParaRPr sz="900">
              <a:solidFill>
                <a:schemeClr val="tx1">
                  <a:lumMod val="75000"/>
                  <a:lumOff val="25000"/>
                </a:schemeClr>
              </a:solidFill>
              <a:latin typeface="Franklin Gothic Book"/>
              <a:cs typeface="Franklin Gothic Book"/>
            </a:endParaRPr>
          </a:p>
        </p:txBody>
      </p:sp>
      <p:sp>
        <p:nvSpPr>
          <p:cNvPr id="9" name="object 5">
            <a:extLst>
              <a:ext uri="{FF2B5EF4-FFF2-40B4-BE49-F238E27FC236}">
                <a16:creationId xmlns:a16="http://schemas.microsoft.com/office/drawing/2014/main" id="{3EDB2991-344C-296F-E726-BF2C9F622D7A}"/>
              </a:ext>
            </a:extLst>
          </p:cNvPr>
          <p:cNvSpPr/>
          <p:nvPr/>
        </p:nvSpPr>
        <p:spPr>
          <a:xfrm flipV="1">
            <a:off x="252684" y="551579"/>
            <a:ext cx="6348670" cy="64241"/>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4" name="object 2">
            <a:extLst>
              <a:ext uri="{FF2B5EF4-FFF2-40B4-BE49-F238E27FC236}">
                <a16:creationId xmlns:a16="http://schemas.microsoft.com/office/drawing/2014/main" id="{DAA322CF-FD32-173B-B743-4BF04C7FF640}"/>
              </a:ext>
            </a:extLst>
          </p:cNvPr>
          <p:cNvSpPr txBox="1">
            <a:spLocks/>
          </p:cNvSpPr>
          <p:nvPr/>
        </p:nvSpPr>
        <p:spPr>
          <a:xfrm>
            <a:off x="152400" y="231775"/>
            <a:ext cx="6705600" cy="382156"/>
          </a:xfrm>
          <a:prstGeom prst="rect">
            <a:avLst/>
          </a:prstGeom>
        </p:spPr>
        <p:txBody>
          <a:bodyPr vert="horz" wrap="square" lIns="0" tIns="12700" rIns="0" bIns="0" rtlCol="0">
            <a:spAutoFit/>
          </a:bodyPr>
          <a:lstStyle>
            <a:lvl1pPr>
              <a:defRPr sz="2000" b="0" i="0">
                <a:solidFill>
                  <a:schemeClr val="tx1"/>
                </a:solidFill>
                <a:latin typeface="Franklin Gothic Book"/>
                <a:ea typeface="+mj-ea"/>
                <a:cs typeface="Franklin Gothic Book"/>
              </a:defRPr>
            </a:lvl1pPr>
          </a:lstStyle>
          <a:p>
            <a:pPr marL="12700" algn="ctr">
              <a:spcBef>
                <a:spcPts val="100"/>
              </a:spcBef>
            </a:pPr>
            <a:r>
              <a:rPr lang="en-US" sz="2400" kern="0" dirty="0"/>
              <a:t>From Vision to Action: Strategy to Execution</a:t>
            </a:r>
          </a:p>
        </p:txBody>
      </p:sp>
      <p:sp>
        <p:nvSpPr>
          <p:cNvPr id="10" name="TextBox 9">
            <a:extLst>
              <a:ext uri="{FF2B5EF4-FFF2-40B4-BE49-F238E27FC236}">
                <a16:creationId xmlns:a16="http://schemas.microsoft.com/office/drawing/2014/main" id="{88A7D0CC-F0DA-C813-3C45-07A9B72BFE4D}"/>
              </a:ext>
            </a:extLst>
          </p:cNvPr>
          <p:cNvSpPr txBox="1"/>
          <p:nvPr/>
        </p:nvSpPr>
        <p:spPr>
          <a:xfrm>
            <a:off x="252684" y="692914"/>
            <a:ext cx="6174784" cy="8279190"/>
          </a:xfrm>
          <a:prstGeom prst="rect">
            <a:avLst/>
          </a:prstGeom>
          <a:noFill/>
        </p:spPr>
        <p:txBody>
          <a:bodyPr wrap="square" rtlCol="0">
            <a:spAutoFit/>
          </a:bodyPr>
          <a:lstStyle/>
          <a:p>
            <a:pPr marR="0" lvl="0" algn="thaiDist">
              <a:buSzPts val="1000"/>
              <a:tabLst>
                <a:tab pos="457200" algn="l"/>
              </a:tabLst>
            </a:pPr>
            <a:r>
              <a:rPr lang="en-US" sz="1600" dirty="0">
                <a:solidFill>
                  <a:srgbClr val="404040"/>
                </a:solidFill>
                <a:latin typeface="Wingdings"/>
                <a:cs typeface="Wingdings"/>
              </a:rPr>
              <a:t> </a:t>
            </a:r>
            <a:r>
              <a:rPr lang="en-US" sz="1600" b="1" kern="100" dirty="0">
                <a:effectLst/>
                <a:latin typeface="Franklin Gothic Book" panose="020B0503020102020204" pitchFamily="34" charset="0"/>
                <a:ea typeface="Aptos" panose="020B0004020202020204" pitchFamily="34" charset="0"/>
                <a:cs typeface="Arial" panose="020B0604020202020204" pitchFamily="34" charset="0"/>
              </a:rPr>
              <a:t>Absence of Accountability on the right things</a:t>
            </a:r>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 Some believe that if we hold people accountable, we are masters at execution. Best-of-class leaders understand what to hold their teams responsible for.  There was more rigor of holding teams accountable solely to the actions, rather than the accountability of the choice of the right actions.</a:t>
            </a:r>
          </a:p>
          <a:p>
            <a:pPr marL="0" marR="0" algn="thaiDist"/>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 </a:t>
            </a:r>
          </a:p>
          <a:p>
            <a:pPr marL="12700" marR="0" algn="thaiDist"/>
            <a:r>
              <a:rPr lang="en-US" sz="1600" i="1" kern="100" dirty="0">
                <a:effectLst/>
                <a:latin typeface="Franklin Gothic Book" panose="020B0503020102020204" pitchFamily="34" charset="0"/>
                <a:ea typeface="Aptos" panose="020B0004020202020204" pitchFamily="34" charset="0"/>
                <a:cs typeface="Arial" panose="020B0604020202020204" pitchFamily="34" charset="0"/>
              </a:rPr>
              <a:t>In real life: both teams' leaders had one-on-one calls and team meetings, during which they asked for updates on their actions. However, they rarely discussed which tactics were impacting the vision. Only once did a leader ask, "Are we doing the right things to get us there?"</a:t>
            </a:r>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12700" marR="0" algn="thaiDist"/>
            <a:r>
              <a:rPr lang="en-US" sz="1600" i="1" kern="100" dirty="0">
                <a:effectLst/>
                <a:latin typeface="Franklin Gothic Book" panose="020B0503020102020204" pitchFamily="34" charset="0"/>
                <a:ea typeface="Aptos" panose="020B0004020202020204" pitchFamily="34" charset="0"/>
                <a:cs typeface="Arial" panose="020B0604020202020204" pitchFamily="34" charset="0"/>
              </a:rPr>
              <a:t> </a:t>
            </a:r>
          </a:p>
          <a:p>
            <a:pPr marL="12700" marR="0" algn="thaiDist"/>
            <a:endParaRPr lang="en-US" sz="1600" i="1" kern="100" dirty="0">
              <a:latin typeface="Franklin Gothic Book" panose="020B0503020102020204" pitchFamily="34" charset="0"/>
              <a:ea typeface="Aptos" panose="020B0004020202020204" pitchFamily="34" charset="0"/>
              <a:cs typeface="Arial" panose="020B0604020202020204" pitchFamily="34" charset="0"/>
            </a:endParaRPr>
          </a:p>
          <a:p>
            <a:pPr marL="12700" marR="0" algn="thaiDist"/>
            <a:endParaRPr lang="en-US" sz="1600" i="1" kern="100" dirty="0">
              <a:effectLst/>
              <a:latin typeface="Franklin Gothic Book" panose="020B0503020102020204" pitchFamily="34" charset="0"/>
              <a:ea typeface="Aptos" panose="020B0004020202020204" pitchFamily="34" charset="0"/>
              <a:cs typeface="Arial" panose="020B0604020202020204" pitchFamily="34" charset="0"/>
            </a:endParaRPr>
          </a:p>
          <a:p>
            <a:pPr marL="12700" marR="0" algn="thaiDist"/>
            <a:endParaRPr lang="en-US" sz="1600" i="1" kern="100" dirty="0">
              <a:latin typeface="Franklin Gothic Book" panose="020B0503020102020204" pitchFamily="34" charset="0"/>
              <a:ea typeface="Aptos" panose="020B0004020202020204" pitchFamily="34" charset="0"/>
              <a:cs typeface="Arial" panose="020B0604020202020204" pitchFamily="34" charset="0"/>
            </a:endParaRPr>
          </a:p>
          <a:p>
            <a:pPr marL="12700" marR="0" algn="thaiDist"/>
            <a:endParaRPr lang="en-US" sz="1600" i="1" kern="100" dirty="0">
              <a:effectLst/>
              <a:latin typeface="Franklin Gothic Book" panose="020B0503020102020204" pitchFamily="34" charset="0"/>
              <a:ea typeface="Aptos" panose="020B0004020202020204" pitchFamily="34" charset="0"/>
              <a:cs typeface="Arial" panose="020B0604020202020204" pitchFamily="34" charset="0"/>
            </a:endParaRPr>
          </a:p>
          <a:p>
            <a:pPr marL="12700" marR="0" algn="thaiDist"/>
            <a:endParaRPr lang="en-US" sz="1600" i="1" kern="100" dirty="0">
              <a:latin typeface="Franklin Gothic Book" panose="020B0503020102020204" pitchFamily="34" charset="0"/>
              <a:ea typeface="Aptos" panose="020B0004020202020204" pitchFamily="34" charset="0"/>
              <a:cs typeface="Arial" panose="020B0604020202020204" pitchFamily="34" charset="0"/>
            </a:endParaRPr>
          </a:p>
          <a:p>
            <a:pPr marL="12700" marR="0" algn="thaiDist"/>
            <a:endParaRPr lang="en-US" sz="1600" i="1" kern="100" dirty="0">
              <a:latin typeface="Franklin Gothic Book" panose="020B0503020102020204" pitchFamily="34" charset="0"/>
              <a:ea typeface="Aptos" panose="020B0004020202020204" pitchFamily="34" charset="0"/>
              <a:cs typeface="Arial" panose="020B0604020202020204" pitchFamily="34" charset="0"/>
            </a:endParaRPr>
          </a:p>
          <a:p>
            <a:pPr marL="12700" marR="0" algn="thaiDist"/>
            <a:endParaRPr lang="en-US" sz="1600" i="1" kern="100" dirty="0">
              <a:latin typeface="Franklin Gothic Book" panose="020B0503020102020204" pitchFamily="34" charset="0"/>
              <a:ea typeface="Aptos" panose="020B0004020202020204" pitchFamily="34" charset="0"/>
              <a:cs typeface="Arial" panose="020B0604020202020204" pitchFamily="34" charset="0"/>
            </a:endParaRPr>
          </a:p>
          <a:p>
            <a:pPr marL="12700" marR="0" algn="thaiDist"/>
            <a:endParaRPr lang="en-US" sz="1600" i="1" kern="100" dirty="0">
              <a:latin typeface="Franklin Gothic Book" panose="020B0503020102020204" pitchFamily="34" charset="0"/>
              <a:ea typeface="Aptos" panose="020B0004020202020204" pitchFamily="34" charset="0"/>
              <a:cs typeface="Arial" panose="020B0604020202020204" pitchFamily="34" charset="0"/>
            </a:endParaRPr>
          </a:p>
          <a:p>
            <a:pPr marL="12700" marR="0" algn="thaiDist"/>
            <a:endParaRPr lang="en-US" sz="1600" i="1" kern="100" dirty="0">
              <a:latin typeface="Franklin Gothic Book" panose="020B0503020102020204" pitchFamily="34" charset="0"/>
              <a:ea typeface="Aptos" panose="020B0004020202020204" pitchFamily="34" charset="0"/>
              <a:cs typeface="Arial" panose="020B0604020202020204" pitchFamily="34" charset="0"/>
            </a:endParaRPr>
          </a:p>
          <a:p>
            <a:pPr marL="12700" marR="0" algn="thaiDist"/>
            <a:endParaRPr lang="en-US" sz="1600" i="1" kern="100" dirty="0">
              <a:latin typeface="Franklin Gothic Book" panose="020B0503020102020204" pitchFamily="34" charset="0"/>
              <a:ea typeface="Aptos" panose="020B0004020202020204" pitchFamily="34" charset="0"/>
              <a:cs typeface="Arial" panose="020B0604020202020204" pitchFamily="34" charset="0"/>
            </a:endParaRPr>
          </a:p>
          <a:p>
            <a:pPr marL="12700" marR="0" algn="thaiDist"/>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12700" marR="0" algn="thaiDist"/>
            <a:r>
              <a:rPr lang="en-US" sz="1600" u="sng" kern="100" dirty="0">
                <a:effectLst/>
                <a:latin typeface="Franklin Gothic Book" panose="020B0503020102020204" pitchFamily="34" charset="0"/>
                <a:ea typeface="Aptos" panose="020B0004020202020204" pitchFamily="34" charset="0"/>
                <a:cs typeface="Arial" panose="020B0604020202020204" pitchFamily="34" charset="0"/>
              </a:rPr>
              <a:t>What the best do differently:</a:t>
            </a:r>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 Best-of-class leaders focus on four things:  1- Remember that the revenue target or financial goal is an outcome of the right strategy, not the strategy itself.  2- Maniacally focusing on the strategy rather than completing tasks?  3- a "Straight-Shot" tactical approach to strategy achievement.  4- What will the micro metrics of tactics/actions tell us if we are getting you to strategy?</a:t>
            </a:r>
          </a:p>
          <a:p>
            <a:pPr marL="12700" marR="0" algn="thaiDist"/>
            <a:r>
              <a:rPr lang="en-US" sz="1800" i="1" kern="100" dirty="0">
                <a:effectLst/>
                <a:latin typeface="Aptos" panose="020B0004020202020204" pitchFamily="34" charset="0"/>
                <a:ea typeface="Aptos" panose="020B0004020202020204" pitchFamily="34" charset="0"/>
                <a:cs typeface="Arial" panose="020B0604020202020204" pitchFamily="34" charset="0"/>
              </a:rPr>
              <a:t> </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endParaRPr lang="en-US" dirty="0">
              <a:latin typeface="Franklin Gothic Book" panose="020B0503020102020204" pitchFamily="34" charset="0"/>
            </a:endParaRPr>
          </a:p>
        </p:txBody>
      </p:sp>
      <p:pic>
        <p:nvPicPr>
          <p:cNvPr id="16" name="Picture 15" descr="A hand touching a wooden chess piece&#10;&#10;Description automatically generated">
            <a:extLst>
              <a:ext uri="{FF2B5EF4-FFF2-40B4-BE49-F238E27FC236}">
                <a16:creationId xmlns:a16="http://schemas.microsoft.com/office/drawing/2014/main" id="{D48A0CB3-5ED5-8F21-CBC8-03F4381102A0}"/>
              </a:ext>
            </a:extLst>
          </p:cNvPr>
          <p:cNvPicPr>
            <a:picLocks noChangeAspect="1"/>
          </p:cNvPicPr>
          <p:nvPr/>
        </p:nvPicPr>
        <p:blipFill>
          <a:blip r:embed="rId4"/>
          <a:srcRect b="13712"/>
          <a:stretch/>
        </p:blipFill>
        <p:spPr>
          <a:xfrm>
            <a:off x="0" y="3877948"/>
            <a:ext cx="6858000" cy="239196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854825" cy="9144000"/>
          </a:xfrm>
          <a:custGeom>
            <a:avLst/>
            <a:gdLst/>
            <a:ahLst/>
            <a:cxnLst/>
            <a:rect l="l" t="t" r="r" b="b"/>
            <a:pathLst>
              <a:path w="6854825" h="9144000">
                <a:moveTo>
                  <a:pt x="0" y="9144000"/>
                </a:moveTo>
                <a:lnTo>
                  <a:pt x="0" y="0"/>
                </a:lnTo>
                <a:lnTo>
                  <a:pt x="6854426" y="0"/>
                </a:lnTo>
                <a:lnTo>
                  <a:pt x="6854426" y="9143999"/>
                </a:lnTo>
                <a:lnTo>
                  <a:pt x="0" y="9144000"/>
                </a:lnTo>
                <a:close/>
              </a:path>
            </a:pathLst>
          </a:custGeom>
          <a:solidFill>
            <a:srgbClr val="555759"/>
          </a:solidFill>
        </p:spPr>
        <p:txBody>
          <a:bodyPr wrap="square" lIns="0" tIns="0" rIns="0" bIns="0" rtlCol="0"/>
          <a:lstStyle/>
          <a:p>
            <a:endParaRPr/>
          </a:p>
        </p:txBody>
      </p:sp>
      <p:sp>
        <p:nvSpPr>
          <p:cNvPr id="3" name="object 3"/>
          <p:cNvSpPr/>
          <p:nvPr/>
        </p:nvSpPr>
        <p:spPr>
          <a:xfrm>
            <a:off x="0" y="0"/>
            <a:ext cx="6854825" cy="9144000"/>
          </a:xfrm>
          <a:custGeom>
            <a:avLst/>
            <a:gdLst/>
            <a:ahLst/>
            <a:cxnLst/>
            <a:rect l="l" t="t" r="r" b="b"/>
            <a:pathLst>
              <a:path w="6854825" h="9144000">
                <a:moveTo>
                  <a:pt x="0" y="0"/>
                </a:moveTo>
                <a:lnTo>
                  <a:pt x="6854426" y="0"/>
                </a:lnTo>
                <a:lnTo>
                  <a:pt x="6854426" y="9143999"/>
                </a:lnTo>
              </a:path>
            </a:pathLst>
          </a:custGeom>
          <a:ln w="12700">
            <a:solidFill>
              <a:srgbClr val="3C3E8F"/>
            </a:solidFill>
          </a:ln>
        </p:spPr>
        <p:txBody>
          <a:bodyPr wrap="square" lIns="0" tIns="0" rIns="0" bIns="0" rtlCol="0"/>
          <a:lstStyle/>
          <a:p>
            <a:endParaRPr/>
          </a:p>
        </p:txBody>
      </p:sp>
      <p:sp>
        <p:nvSpPr>
          <p:cNvPr id="4" name="object 4"/>
          <p:cNvSpPr/>
          <p:nvPr/>
        </p:nvSpPr>
        <p:spPr>
          <a:xfrm>
            <a:off x="334209" y="7574061"/>
            <a:ext cx="1219200" cy="1569938"/>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90783" y="-2209800"/>
            <a:ext cx="6408420" cy="13086080"/>
          </a:xfrm>
          <a:prstGeom prst="rect">
            <a:avLst/>
          </a:prstGeom>
        </p:spPr>
        <p:txBody>
          <a:bodyPr vert="horz" wrap="square" lIns="0" tIns="12700" rIns="0" bIns="0" rtlCol="0">
            <a:spAutoFit/>
          </a:bodyPr>
          <a:lstStyle/>
          <a:p>
            <a:pPr marL="12700">
              <a:lnSpc>
                <a:spcPct val="100000"/>
              </a:lnSpc>
              <a:spcBef>
                <a:spcPts val="100"/>
              </a:spcBef>
            </a:pPr>
            <a:r>
              <a:rPr sz="85700">
                <a:solidFill>
                  <a:srgbClr val="D51067"/>
                </a:solidFill>
                <a:latin typeface="Franklin Gothic Medium"/>
                <a:cs typeface="Franklin Gothic Medium"/>
              </a:rPr>
              <a:t>3</a:t>
            </a:r>
            <a:endParaRPr sz="85700">
              <a:latin typeface="Franklin Gothic Medium"/>
              <a:cs typeface="Franklin Gothic Medium"/>
            </a:endParaRPr>
          </a:p>
        </p:txBody>
      </p:sp>
      <p:sp>
        <p:nvSpPr>
          <p:cNvPr id="6" name="object 6"/>
          <p:cNvSpPr txBox="1"/>
          <p:nvPr/>
        </p:nvSpPr>
        <p:spPr>
          <a:xfrm>
            <a:off x="4040572" y="5462523"/>
            <a:ext cx="2506980" cy="452120"/>
          </a:xfrm>
          <a:prstGeom prst="rect">
            <a:avLst/>
          </a:prstGeom>
        </p:spPr>
        <p:txBody>
          <a:bodyPr vert="horz" wrap="square" lIns="0" tIns="12700" rIns="0" bIns="0" rtlCol="0">
            <a:spAutoFit/>
          </a:bodyPr>
          <a:lstStyle/>
          <a:p>
            <a:pPr marL="12700">
              <a:lnSpc>
                <a:spcPct val="100000"/>
              </a:lnSpc>
              <a:spcBef>
                <a:spcPts val="100"/>
              </a:spcBef>
            </a:pPr>
            <a:r>
              <a:rPr sz="2800" i="1" spc="-5">
                <a:solidFill>
                  <a:srgbClr val="FFFFFF"/>
                </a:solidFill>
                <a:latin typeface="Franklin Gothic Book Italic"/>
                <a:cs typeface="Franklin Gothic Book Italic"/>
              </a:rPr>
              <a:t>The Critical</a:t>
            </a:r>
            <a:r>
              <a:rPr sz="2800" i="1" spc="-60">
                <a:solidFill>
                  <a:srgbClr val="FFFFFF"/>
                </a:solidFill>
                <a:latin typeface="Franklin Gothic Book Italic"/>
                <a:cs typeface="Franklin Gothic Book Italic"/>
              </a:rPr>
              <a:t> </a:t>
            </a:r>
            <a:r>
              <a:rPr sz="2800" i="1" spc="-235">
                <a:solidFill>
                  <a:srgbClr val="FFFFFF"/>
                </a:solidFill>
                <a:latin typeface="Franklin Gothic Book Italic"/>
                <a:cs typeface="Franklin Gothic Book Italic"/>
              </a:rPr>
              <a:t>Link-</a:t>
            </a:r>
            <a:endParaRPr sz="2800">
              <a:latin typeface="Franklin Gothic Book Italic"/>
              <a:cs typeface="Franklin Gothic Book Italic"/>
            </a:endParaRPr>
          </a:p>
        </p:txBody>
      </p:sp>
      <p:sp>
        <p:nvSpPr>
          <p:cNvPr id="7" name="object 7"/>
          <p:cNvSpPr txBox="1"/>
          <p:nvPr/>
        </p:nvSpPr>
        <p:spPr>
          <a:xfrm>
            <a:off x="2728281" y="5843523"/>
            <a:ext cx="3819525" cy="452120"/>
          </a:xfrm>
          <a:prstGeom prst="rect">
            <a:avLst/>
          </a:prstGeom>
        </p:spPr>
        <p:txBody>
          <a:bodyPr vert="horz" wrap="square" lIns="0" tIns="12700" rIns="0" bIns="0" rtlCol="0">
            <a:spAutoFit/>
          </a:bodyPr>
          <a:lstStyle/>
          <a:p>
            <a:pPr marL="12700">
              <a:lnSpc>
                <a:spcPct val="100000"/>
              </a:lnSpc>
              <a:spcBef>
                <a:spcPts val="100"/>
              </a:spcBef>
            </a:pPr>
            <a:r>
              <a:rPr sz="2800" i="1">
                <a:solidFill>
                  <a:srgbClr val="FFFFFF"/>
                </a:solidFill>
                <a:latin typeface="Franklin Gothic Book Italic"/>
                <a:cs typeface="Franklin Gothic Book Italic"/>
              </a:rPr>
              <a:t>Financial Goals, Strategy,</a:t>
            </a:r>
            <a:endParaRPr sz="2800">
              <a:latin typeface="Franklin Gothic Book Italic"/>
              <a:cs typeface="Franklin Gothic Book Italic"/>
            </a:endParaRPr>
          </a:p>
        </p:txBody>
      </p:sp>
      <p:sp>
        <p:nvSpPr>
          <p:cNvPr id="8" name="object 8"/>
          <p:cNvSpPr txBox="1"/>
          <p:nvPr/>
        </p:nvSpPr>
        <p:spPr>
          <a:xfrm>
            <a:off x="4826765" y="6224523"/>
            <a:ext cx="1721485" cy="452120"/>
          </a:xfrm>
          <a:prstGeom prst="rect">
            <a:avLst/>
          </a:prstGeom>
        </p:spPr>
        <p:txBody>
          <a:bodyPr vert="horz" wrap="square" lIns="0" tIns="12700" rIns="0" bIns="0" rtlCol="0">
            <a:spAutoFit/>
          </a:bodyPr>
          <a:lstStyle/>
          <a:p>
            <a:pPr marL="12700">
              <a:lnSpc>
                <a:spcPct val="100000"/>
              </a:lnSpc>
              <a:spcBef>
                <a:spcPts val="100"/>
              </a:spcBef>
            </a:pPr>
            <a:r>
              <a:rPr sz="2800" i="1">
                <a:solidFill>
                  <a:srgbClr val="FFFFFF"/>
                </a:solidFill>
                <a:latin typeface="Franklin Gothic Book Italic"/>
                <a:cs typeface="Franklin Gothic Book Italic"/>
              </a:rPr>
              <a:t>and Tactics</a:t>
            </a:r>
            <a:endParaRPr sz="2800">
              <a:latin typeface="Franklin Gothic Book Italic"/>
              <a:cs typeface="Franklin Gothic Book Italic"/>
            </a:endParaRPr>
          </a:p>
        </p:txBody>
      </p:sp>
      <p:sp>
        <p:nvSpPr>
          <p:cNvPr id="11" name="object 11"/>
          <p:cNvSpPr txBox="1"/>
          <p:nvPr/>
        </p:nvSpPr>
        <p:spPr>
          <a:xfrm>
            <a:off x="6166802" y="8623807"/>
            <a:ext cx="139700" cy="162560"/>
          </a:xfrm>
          <a:prstGeom prst="rect">
            <a:avLst/>
          </a:prstGeom>
        </p:spPr>
        <p:txBody>
          <a:bodyPr vert="horz" wrap="square" lIns="0" tIns="12700" rIns="0" bIns="0" rtlCol="0">
            <a:spAutoFit/>
          </a:bodyPr>
          <a:lstStyle/>
          <a:p>
            <a:pPr marL="12700">
              <a:lnSpc>
                <a:spcPct val="100000"/>
              </a:lnSpc>
              <a:spcBef>
                <a:spcPts val="100"/>
              </a:spcBef>
            </a:pPr>
            <a:r>
              <a:rPr sz="900" spc="-10">
                <a:solidFill>
                  <a:srgbClr val="FFFFFF"/>
                </a:solidFill>
                <a:latin typeface="Calibri"/>
                <a:cs typeface="Calibri"/>
              </a:rPr>
              <a:t>10</a:t>
            </a:r>
            <a:endParaRPr sz="900">
              <a:latin typeface="Calibri"/>
              <a:cs typeface="Calibri"/>
            </a:endParaRPr>
          </a:p>
        </p:txBody>
      </p:sp>
      <p:sp>
        <p:nvSpPr>
          <p:cNvPr id="9" name="object 8">
            <a:extLst>
              <a:ext uri="{FF2B5EF4-FFF2-40B4-BE49-F238E27FC236}">
                <a16:creationId xmlns:a16="http://schemas.microsoft.com/office/drawing/2014/main" id="{8C3843A7-6DE3-EB1E-9350-705B279A0461}"/>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bg1"/>
                </a:solidFill>
                <a:latin typeface="Franklin Gothic Book"/>
                <a:cs typeface="Franklin Gothic Book"/>
              </a:rPr>
              <a:t>What Good Looks Like:  Revenue Strategy I 2024</a:t>
            </a:r>
            <a:endParaRPr sz="900">
              <a:solidFill>
                <a:schemeClr val="bg1"/>
              </a:solidFill>
              <a:latin typeface="Franklin Gothic Book"/>
              <a:cs typeface="Franklin Gothic Book"/>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286498" y="8730488"/>
            <a:ext cx="139700" cy="162560"/>
          </a:xfrm>
          <a:prstGeom prst="rect">
            <a:avLst/>
          </a:prstGeom>
        </p:spPr>
        <p:txBody>
          <a:bodyPr vert="horz" wrap="square" lIns="0" tIns="12700" rIns="0" bIns="0" rtlCol="0">
            <a:spAutoFit/>
          </a:bodyPr>
          <a:lstStyle/>
          <a:p>
            <a:pPr marL="12700">
              <a:lnSpc>
                <a:spcPct val="100000"/>
              </a:lnSpc>
              <a:spcBef>
                <a:spcPts val="100"/>
              </a:spcBef>
            </a:pPr>
            <a:r>
              <a:rPr sz="900" spc="-10">
                <a:solidFill>
                  <a:srgbClr val="898989"/>
                </a:solidFill>
                <a:latin typeface="Calibri"/>
                <a:cs typeface="Calibri"/>
              </a:rPr>
              <a:t>11</a:t>
            </a:r>
            <a:endParaRPr sz="900">
              <a:latin typeface="Calibri"/>
              <a:cs typeface="Calibri"/>
            </a:endParaRPr>
          </a:p>
        </p:txBody>
      </p:sp>
      <p:sp>
        <p:nvSpPr>
          <p:cNvPr id="4" name="object 4"/>
          <p:cNvSpPr/>
          <p:nvPr/>
        </p:nvSpPr>
        <p:spPr>
          <a:xfrm>
            <a:off x="1459991" y="2700527"/>
            <a:ext cx="3368040" cy="3364992"/>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3130295" y="3041904"/>
            <a:ext cx="2194560" cy="81686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3130295" y="3928871"/>
            <a:ext cx="2194560" cy="816863"/>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3130295" y="4815840"/>
            <a:ext cx="2194560" cy="816863"/>
          </a:xfrm>
          <a:prstGeom prst="rect">
            <a:avLst/>
          </a:prstGeom>
          <a:blipFill>
            <a:blip r:embed="rId4" cstate="print"/>
            <a:stretch>
              <a:fillRect/>
            </a:stretch>
          </a:blipFill>
        </p:spPr>
        <p:txBody>
          <a:bodyPr wrap="square" lIns="0" tIns="0" rIns="0" bIns="0" rtlCol="0"/>
          <a:lstStyle/>
          <a:p>
            <a:endParaRPr/>
          </a:p>
        </p:txBody>
      </p:sp>
      <p:sp>
        <p:nvSpPr>
          <p:cNvPr id="8" name="object 8"/>
          <p:cNvSpPr txBox="1"/>
          <p:nvPr/>
        </p:nvSpPr>
        <p:spPr>
          <a:xfrm>
            <a:off x="3250283" y="3241040"/>
            <a:ext cx="1929764" cy="1973617"/>
          </a:xfrm>
          <a:prstGeom prst="rect">
            <a:avLst/>
          </a:prstGeom>
        </p:spPr>
        <p:txBody>
          <a:bodyPr vert="horz" wrap="square" lIns="0" tIns="12700" rIns="0" bIns="0" rtlCol="0">
            <a:spAutoFit/>
          </a:bodyPr>
          <a:lstStyle/>
          <a:p>
            <a:pPr marL="12700">
              <a:lnSpc>
                <a:spcPct val="100000"/>
              </a:lnSpc>
              <a:spcBef>
                <a:spcPts val="100"/>
              </a:spcBef>
            </a:pPr>
            <a:r>
              <a:rPr sz="2100">
                <a:latin typeface="Calibri"/>
                <a:cs typeface="Calibri"/>
              </a:rPr>
              <a:t>Financial</a:t>
            </a:r>
            <a:r>
              <a:rPr sz="2100" spc="-20">
                <a:latin typeface="Calibri"/>
                <a:cs typeface="Calibri"/>
              </a:rPr>
              <a:t> </a:t>
            </a:r>
            <a:r>
              <a:rPr sz="2100">
                <a:latin typeface="Calibri"/>
                <a:cs typeface="Calibri"/>
              </a:rPr>
              <a:t>Goals</a:t>
            </a:r>
          </a:p>
          <a:p>
            <a:pPr marL="12700" marR="5080">
              <a:lnSpc>
                <a:spcPct val="277100"/>
              </a:lnSpc>
            </a:pPr>
            <a:r>
              <a:rPr sz="2100" spc="-5">
                <a:latin typeface="Calibri"/>
                <a:cs typeface="Calibri"/>
              </a:rPr>
              <a:t>Segment</a:t>
            </a:r>
            <a:r>
              <a:rPr sz="2100" spc="-60">
                <a:latin typeface="Calibri"/>
                <a:cs typeface="Calibri"/>
              </a:rPr>
              <a:t> </a:t>
            </a:r>
            <a:r>
              <a:rPr sz="2100" spc="-15">
                <a:latin typeface="Calibri"/>
                <a:cs typeface="Calibri"/>
              </a:rPr>
              <a:t>Strategy  </a:t>
            </a:r>
            <a:r>
              <a:rPr sz="2100" spc="-25">
                <a:latin typeface="Calibri"/>
                <a:cs typeface="Calibri"/>
              </a:rPr>
              <a:t>Tactics </a:t>
            </a:r>
            <a:r>
              <a:rPr sz="2100" spc="-15">
                <a:latin typeface="Calibri"/>
                <a:cs typeface="Calibri"/>
              </a:rPr>
              <a:t>to</a:t>
            </a:r>
            <a:r>
              <a:rPr sz="2100" spc="-35">
                <a:latin typeface="Calibri"/>
                <a:cs typeface="Calibri"/>
              </a:rPr>
              <a:t> </a:t>
            </a:r>
            <a:r>
              <a:rPr lang="en-US" sz="2100" spc="-10">
                <a:latin typeface="Calibri"/>
                <a:cs typeface="Calibri"/>
              </a:rPr>
              <a:t>A</a:t>
            </a:r>
            <a:r>
              <a:rPr sz="2100" spc="-10">
                <a:latin typeface="Calibri"/>
                <a:cs typeface="Calibri"/>
              </a:rPr>
              <a:t>chieve</a:t>
            </a:r>
            <a:endParaRPr sz="2100">
              <a:latin typeface="Calibri"/>
              <a:cs typeface="Calibri"/>
            </a:endParaRPr>
          </a:p>
        </p:txBody>
      </p:sp>
      <p:sp>
        <p:nvSpPr>
          <p:cNvPr id="9" name="object 9"/>
          <p:cNvSpPr/>
          <p:nvPr/>
        </p:nvSpPr>
        <p:spPr>
          <a:xfrm>
            <a:off x="209654" y="593551"/>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10" name="object 10"/>
          <p:cNvSpPr txBox="1"/>
          <p:nvPr/>
        </p:nvSpPr>
        <p:spPr>
          <a:xfrm>
            <a:off x="148090" y="120395"/>
            <a:ext cx="6101080" cy="2531462"/>
          </a:xfrm>
          <a:prstGeom prst="rect">
            <a:avLst/>
          </a:prstGeom>
        </p:spPr>
        <p:txBody>
          <a:bodyPr vert="horz" wrap="square" lIns="0" tIns="12700" rIns="0" bIns="0" rtlCol="0">
            <a:spAutoFit/>
          </a:bodyPr>
          <a:lstStyle/>
          <a:p>
            <a:pPr marL="12700">
              <a:lnSpc>
                <a:spcPct val="100000"/>
              </a:lnSpc>
              <a:spcBef>
                <a:spcPts val="100"/>
              </a:spcBef>
            </a:pPr>
            <a:r>
              <a:rPr sz="2000" spc="-5">
                <a:latin typeface="Franklin Gothic Book"/>
                <a:cs typeface="Franklin Gothic Book"/>
              </a:rPr>
              <a:t>Linking </a:t>
            </a:r>
            <a:r>
              <a:rPr sz="2000" spc="-10">
                <a:latin typeface="Franklin Gothic Book"/>
                <a:cs typeface="Franklin Gothic Book"/>
              </a:rPr>
              <a:t>Strategy </a:t>
            </a:r>
            <a:r>
              <a:rPr sz="2000" spc="-20">
                <a:latin typeface="Franklin Gothic Book"/>
                <a:cs typeface="Franklin Gothic Book"/>
              </a:rPr>
              <a:t>to </a:t>
            </a:r>
            <a:r>
              <a:rPr sz="2000">
                <a:latin typeface="Franklin Gothic Book"/>
                <a:cs typeface="Franklin Gothic Book"/>
              </a:rPr>
              <a:t>Financial</a:t>
            </a:r>
            <a:r>
              <a:rPr sz="2000" spc="20">
                <a:latin typeface="Franklin Gothic Book"/>
                <a:cs typeface="Franklin Gothic Book"/>
              </a:rPr>
              <a:t> </a:t>
            </a:r>
            <a:r>
              <a:rPr sz="2000" spc="-5">
                <a:latin typeface="Franklin Gothic Book"/>
                <a:cs typeface="Franklin Gothic Book"/>
              </a:rPr>
              <a:t>Outcomes</a:t>
            </a:r>
            <a:endParaRPr sz="2000">
              <a:latin typeface="Franklin Gothic Book"/>
              <a:cs typeface="Franklin Gothic Book"/>
            </a:endParaRPr>
          </a:p>
          <a:p>
            <a:pPr>
              <a:lnSpc>
                <a:spcPct val="100000"/>
              </a:lnSpc>
              <a:spcBef>
                <a:spcPts val="15"/>
              </a:spcBef>
            </a:pPr>
            <a:endParaRPr sz="1600">
              <a:latin typeface="Franklin Gothic Book"/>
              <a:cs typeface="Franklin Gothic Book"/>
            </a:endParaRPr>
          </a:p>
          <a:p>
            <a:pPr marL="704215" marR="50800">
              <a:lnSpc>
                <a:spcPts val="1900"/>
              </a:lnSpc>
            </a:pPr>
            <a:r>
              <a:rPr sz="1600" spc="-5">
                <a:solidFill>
                  <a:srgbClr val="404040"/>
                </a:solidFill>
                <a:latin typeface="Franklin Gothic Book"/>
                <a:cs typeface="Franklin Gothic Book"/>
              </a:rPr>
              <a:t>Here are </a:t>
            </a:r>
            <a:r>
              <a:rPr sz="1600" spc="-15">
                <a:solidFill>
                  <a:srgbClr val="404040"/>
                </a:solidFill>
                <a:latin typeface="Franklin Gothic Book"/>
                <a:cs typeface="Franklin Gothic Book"/>
              </a:rPr>
              <a:t>four </a:t>
            </a:r>
            <a:r>
              <a:rPr sz="1600" spc="-25">
                <a:solidFill>
                  <a:srgbClr val="404040"/>
                </a:solidFill>
                <a:latin typeface="Franklin Gothic Book"/>
                <a:cs typeface="Franklin Gothic Book"/>
              </a:rPr>
              <a:t>key </a:t>
            </a:r>
            <a:r>
              <a:rPr sz="1600" spc="-5">
                <a:solidFill>
                  <a:srgbClr val="404040"/>
                </a:solidFill>
                <a:latin typeface="Franklin Gothic Book"/>
                <a:cs typeface="Franklin Gothic Book"/>
              </a:rPr>
              <a:t>causations between </a:t>
            </a:r>
            <a:r>
              <a:rPr sz="1600" spc="-10">
                <a:solidFill>
                  <a:srgbClr val="404040"/>
                </a:solidFill>
                <a:latin typeface="Franklin Gothic Book"/>
                <a:cs typeface="Franklin Gothic Book"/>
              </a:rPr>
              <a:t>revenue </a:t>
            </a:r>
            <a:r>
              <a:rPr sz="1600">
                <a:solidFill>
                  <a:srgbClr val="404040"/>
                </a:solidFill>
                <a:latin typeface="Franklin Gothic Book"/>
                <a:cs typeface="Franklin Gothic Book"/>
              </a:rPr>
              <a:t>performance  and strategy:</a:t>
            </a:r>
            <a:endParaRPr sz="1600">
              <a:latin typeface="Franklin Gothic Book"/>
              <a:cs typeface="Franklin Gothic Book"/>
            </a:endParaRPr>
          </a:p>
          <a:p>
            <a:pPr>
              <a:lnSpc>
                <a:spcPct val="100000"/>
              </a:lnSpc>
              <a:spcBef>
                <a:spcPts val="10"/>
              </a:spcBef>
            </a:pPr>
            <a:endParaRPr sz="1400">
              <a:latin typeface="Franklin Gothic Book"/>
              <a:cs typeface="Franklin Gothic Book"/>
            </a:endParaRPr>
          </a:p>
          <a:p>
            <a:pPr marL="1104265" marR="5080" indent="-400050">
              <a:lnSpc>
                <a:spcPct val="100400"/>
              </a:lnSpc>
              <a:buFont typeface="Arial"/>
              <a:buChar char="•"/>
              <a:tabLst>
                <a:tab pos="1104265" algn="l"/>
                <a:tab pos="1104900" algn="l"/>
              </a:tabLst>
            </a:pPr>
            <a:r>
              <a:rPr sz="1600" spc="-10">
                <a:solidFill>
                  <a:srgbClr val="404040"/>
                </a:solidFill>
                <a:latin typeface="Franklin Gothic Book"/>
                <a:cs typeface="Franklin Gothic Book"/>
              </a:rPr>
              <a:t>Strategy </a:t>
            </a:r>
            <a:r>
              <a:rPr lang="en-US" sz="1600" spc="-5">
                <a:solidFill>
                  <a:srgbClr val="404040"/>
                </a:solidFill>
                <a:latin typeface="Franklin Gothic Book"/>
                <a:cs typeface="Franklin Gothic Book"/>
              </a:rPr>
              <a:t>needs to be</a:t>
            </a:r>
            <a:r>
              <a:rPr sz="1600" spc="-5">
                <a:solidFill>
                  <a:srgbClr val="404040"/>
                </a:solidFill>
                <a:latin typeface="Franklin Gothic Book"/>
                <a:cs typeface="Franklin Gothic Book"/>
              </a:rPr>
              <a:t> apparent and </a:t>
            </a:r>
            <a:r>
              <a:rPr sz="1600" spc="-10">
                <a:solidFill>
                  <a:srgbClr val="404040"/>
                </a:solidFill>
                <a:latin typeface="Franklin Gothic Book"/>
                <a:cs typeface="Franklin Gothic Book"/>
              </a:rPr>
              <a:t>formulaic</a:t>
            </a:r>
            <a:r>
              <a:rPr lang="en-US" sz="1600" spc="-10">
                <a:solidFill>
                  <a:srgbClr val="404040"/>
                </a:solidFill>
                <a:latin typeface="Franklin Gothic Book"/>
                <a:cs typeface="Franklin Gothic Book"/>
              </a:rPr>
              <a:t> in order</a:t>
            </a:r>
            <a:r>
              <a:rPr sz="1600" spc="-10">
                <a:solidFill>
                  <a:srgbClr val="404040"/>
                </a:solidFill>
                <a:latin typeface="Franklin Gothic Book"/>
                <a:cs typeface="Franklin Gothic Book"/>
              </a:rPr>
              <a:t> </a:t>
            </a:r>
            <a:r>
              <a:rPr sz="1600" spc="-15">
                <a:solidFill>
                  <a:srgbClr val="404040"/>
                </a:solidFill>
                <a:latin typeface="Franklin Gothic Book"/>
                <a:cs typeface="Franklin Gothic Book"/>
              </a:rPr>
              <a:t>to </a:t>
            </a:r>
            <a:r>
              <a:rPr sz="1600" spc="-5">
                <a:solidFill>
                  <a:srgbClr val="404040"/>
                </a:solidFill>
                <a:latin typeface="Franklin Gothic Book"/>
                <a:cs typeface="Franklin Gothic Book"/>
              </a:rPr>
              <a:t>obtain the financial goal. </a:t>
            </a:r>
            <a:endParaRPr lang="en-US" sz="1600" spc="-5">
              <a:solidFill>
                <a:srgbClr val="404040"/>
              </a:solidFill>
              <a:latin typeface="Franklin Gothic Book"/>
              <a:cs typeface="Franklin Gothic Book"/>
            </a:endParaRPr>
          </a:p>
          <a:p>
            <a:pPr marL="1104265" marR="5080" indent="-400050">
              <a:lnSpc>
                <a:spcPct val="100400"/>
              </a:lnSpc>
              <a:buFont typeface="Arial"/>
              <a:buChar char="•"/>
              <a:tabLst>
                <a:tab pos="1104265" algn="l"/>
                <a:tab pos="1104900" algn="l"/>
              </a:tabLst>
            </a:pPr>
            <a:r>
              <a:rPr sz="1600" spc="-10">
                <a:solidFill>
                  <a:srgbClr val="404040"/>
                </a:solidFill>
                <a:latin typeface="Franklin Gothic Book"/>
                <a:cs typeface="Franklin Gothic Book"/>
              </a:rPr>
              <a:t>Strategy </a:t>
            </a:r>
            <a:r>
              <a:rPr sz="1600" spc="-5">
                <a:solidFill>
                  <a:srgbClr val="404040"/>
                </a:solidFill>
                <a:latin typeface="Franklin Gothic Book"/>
                <a:cs typeface="Franklin Gothic Book"/>
              </a:rPr>
              <a:t>is not the </a:t>
            </a:r>
            <a:r>
              <a:rPr sz="1600">
                <a:solidFill>
                  <a:srgbClr val="404040"/>
                </a:solidFill>
                <a:latin typeface="Franklin Gothic Book"/>
                <a:cs typeface="Franklin Gothic Book"/>
              </a:rPr>
              <a:t>story or history of </a:t>
            </a:r>
            <a:r>
              <a:rPr sz="1600" spc="-5">
                <a:solidFill>
                  <a:srgbClr val="404040"/>
                </a:solidFill>
                <a:latin typeface="Franklin Gothic Book"/>
                <a:cs typeface="Franklin Gothic Book"/>
              </a:rPr>
              <a:t>the segment </a:t>
            </a:r>
            <a:r>
              <a:rPr sz="1600">
                <a:solidFill>
                  <a:srgbClr val="404040"/>
                </a:solidFill>
                <a:latin typeface="Franklin Gothic Book"/>
                <a:cs typeface="Franklin Gothic Book"/>
              </a:rPr>
              <a:t>or </a:t>
            </a:r>
            <a:r>
              <a:rPr lang="en-US" sz="1600" spc="-5">
                <a:solidFill>
                  <a:srgbClr val="404040"/>
                </a:solidFill>
                <a:latin typeface="Franklin Gothic Book"/>
                <a:cs typeface="Franklin Gothic Book"/>
              </a:rPr>
              <a:t>account but rather it</a:t>
            </a:r>
            <a:r>
              <a:rPr sz="1600" spc="-5">
                <a:solidFill>
                  <a:srgbClr val="404040"/>
                </a:solidFill>
                <a:latin typeface="Franklin Gothic Book"/>
                <a:cs typeface="Franklin Gothic Book"/>
              </a:rPr>
              <a:t> is the construct </a:t>
            </a:r>
            <a:r>
              <a:rPr sz="1600">
                <a:solidFill>
                  <a:srgbClr val="404040"/>
                </a:solidFill>
                <a:latin typeface="Franklin Gothic Book"/>
                <a:cs typeface="Franklin Gothic Book"/>
              </a:rPr>
              <a:t>of </a:t>
            </a:r>
            <a:r>
              <a:rPr sz="1600" spc="-10">
                <a:solidFill>
                  <a:srgbClr val="404040"/>
                </a:solidFill>
                <a:latin typeface="Franklin Gothic Book"/>
                <a:cs typeface="Franklin Gothic Book"/>
              </a:rPr>
              <a:t>how </a:t>
            </a:r>
            <a:r>
              <a:rPr sz="1600" spc="-5">
                <a:solidFill>
                  <a:srgbClr val="404040"/>
                </a:solidFill>
                <a:latin typeface="Franklin Gothic Book"/>
                <a:cs typeface="Franklin Gothic Book"/>
              </a:rPr>
              <a:t>the </a:t>
            </a:r>
            <a:r>
              <a:rPr sz="1600" spc="-10">
                <a:solidFill>
                  <a:srgbClr val="404040"/>
                </a:solidFill>
                <a:latin typeface="Franklin Gothic Book"/>
                <a:cs typeface="Franklin Gothic Book"/>
              </a:rPr>
              <a:t>teams expect achieve </a:t>
            </a:r>
            <a:r>
              <a:rPr sz="1600" spc="-5">
                <a:solidFill>
                  <a:srgbClr val="404040"/>
                </a:solidFill>
                <a:latin typeface="Franklin Gothic Book"/>
                <a:cs typeface="Franklin Gothic Book"/>
              </a:rPr>
              <a:t>the</a:t>
            </a:r>
            <a:r>
              <a:rPr sz="1600" spc="10">
                <a:solidFill>
                  <a:srgbClr val="404040"/>
                </a:solidFill>
                <a:latin typeface="Franklin Gothic Book"/>
                <a:cs typeface="Franklin Gothic Book"/>
              </a:rPr>
              <a:t> </a:t>
            </a:r>
            <a:r>
              <a:rPr sz="1600" spc="-5">
                <a:solidFill>
                  <a:srgbClr val="404040"/>
                </a:solidFill>
                <a:latin typeface="Franklin Gothic Book"/>
                <a:cs typeface="Franklin Gothic Book"/>
              </a:rPr>
              <a:t>goal.</a:t>
            </a:r>
            <a:endParaRPr sz="1600">
              <a:latin typeface="Franklin Gothic Book"/>
              <a:cs typeface="Franklin Gothic Book"/>
            </a:endParaRPr>
          </a:p>
        </p:txBody>
      </p:sp>
      <p:sp>
        <p:nvSpPr>
          <p:cNvPr id="11" name="object 11"/>
          <p:cNvSpPr txBox="1"/>
          <p:nvPr/>
        </p:nvSpPr>
        <p:spPr>
          <a:xfrm>
            <a:off x="839681" y="6343396"/>
            <a:ext cx="5522595" cy="1488440"/>
          </a:xfrm>
          <a:prstGeom prst="rect">
            <a:avLst/>
          </a:prstGeom>
        </p:spPr>
        <p:txBody>
          <a:bodyPr vert="horz" wrap="square" lIns="0" tIns="12700" rIns="0" bIns="0" rtlCol="0">
            <a:spAutoFit/>
          </a:bodyPr>
          <a:lstStyle/>
          <a:p>
            <a:pPr marL="412750" marR="5080" indent="-400050">
              <a:lnSpc>
                <a:spcPct val="100000"/>
              </a:lnSpc>
              <a:spcBef>
                <a:spcPts val="100"/>
              </a:spcBef>
              <a:buFont typeface="Arial"/>
              <a:buChar char="•"/>
              <a:tabLst>
                <a:tab pos="412115" algn="l"/>
                <a:tab pos="412750" algn="l"/>
                <a:tab pos="3952875" algn="l"/>
              </a:tabLst>
            </a:pPr>
            <a:r>
              <a:rPr sz="1600">
                <a:solidFill>
                  <a:srgbClr val="404040"/>
                </a:solidFill>
                <a:latin typeface="Franklin Gothic Book"/>
                <a:cs typeface="Franklin Gothic Book"/>
              </a:rPr>
              <a:t>Tactics are only an activity, not the goal</a:t>
            </a:r>
            <a:r>
              <a:rPr lang="en-US" sz="1600">
                <a:solidFill>
                  <a:srgbClr val="404040"/>
                </a:solidFill>
                <a:latin typeface="Franklin Gothic Book"/>
                <a:cs typeface="Franklin Gothic Book"/>
              </a:rPr>
              <a:t>. </a:t>
            </a:r>
            <a:r>
              <a:rPr sz="1600">
                <a:solidFill>
                  <a:srgbClr val="404040"/>
                </a:solidFill>
                <a:latin typeface="Franklin Gothic Book"/>
                <a:cs typeface="Franklin Gothic Book"/>
              </a:rPr>
              <a:t>If teams complete  the tactics and there is no change in the financial  performance, then the chosen tactics didn’t work.  Completion of tactics or activities is not performance.  Revenue outcomes </a:t>
            </a:r>
            <a:r>
              <a:rPr sz="1600" b="1" u="sng">
                <a:solidFill>
                  <a:srgbClr val="404040"/>
                </a:solidFill>
                <a:latin typeface="Franklin Gothic Book"/>
                <a:cs typeface="Franklin Gothic Book"/>
              </a:rPr>
              <a:t>as a result of strategy</a:t>
            </a:r>
            <a:r>
              <a:rPr sz="1600">
                <a:solidFill>
                  <a:srgbClr val="404040"/>
                </a:solidFill>
                <a:latin typeface="Franklin Gothic Book"/>
                <a:cs typeface="Franklin Gothic Book"/>
              </a:rPr>
              <a:t> indicates revenue  performance.</a:t>
            </a:r>
            <a:r>
              <a:rPr lang="en-US" sz="1600">
                <a:solidFill>
                  <a:srgbClr val="404040"/>
                </a:solidFill>
                <a:latin typeface="Franklin Gothic Book"/>
                <a:cs typeface="Franklin Gothic Book"/>
              </a:rPr>
              <a:t> </a:t>
            </a:r>
            <a:endParaRPr sz="1600">
              <a:latin typeface="Franklin Gothic Book"/>
              <a:cs typeface="Franklin Gothic Book"/>
            </a:endParaRPr>
          </a:p>
        </p:txBody>
      </p:sp>
      <p:sp>
        <p:nvSpPr>
          <p:cNvPr id="2" name="object 8">
            <a:extLst>
              <a:ext uri="{FF2B5EF4-FFF2-40B4-BE49-F238E27FC236}">
                <a16:creationId xmlns:a16="http://schemas.microsoft.com/office/drawing/2014/main" id="{7959B6E0-FD8A-A371-0D4A-2546D50BD5BE}"/>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tx1">
                    <a:lumMod val="75000"/>
                    <a:lumOff val="25000"/>
                  </a:schemeClr>
                </a:solidFill>
                <a:latin typeface="Franklin Gothic Book"/>
                <a:cs typeface="Franklin Gothic Book"/>
              </a:rPr>
              <a:t>What Good Looks Like:  Revenue Strategy I 2024</a:t>
            </a:r>
            <a:endParaRPr sz="900">
              <a:solidFill>
                <a:schemeClr val="tx1">
                  <a:lumMod val="75000"/>
                  <a:lumOff val="25000"/>
                </a:schemeClr>
              </a:solidFill>
              <a:latin typeface="Franklin Gothic Book"/>
              <a:cs typeface="Franklin Gothic Book"/>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120650"/>
            <a:ext cx="4186238" cy="330200"/>
          </a:xfrm>
          <a:prstGeom prst="rect">
            <a:avLst/>
          </a:prstGeom>
        </p:spPr>
        <p:txBody>
          <a:bodyPr vert="horz" wrap="square" lIns="0" tIns="12700" rIns="0" bIns="0" rtlCol="0">
            <a:spAutoFit/>
          </a:bodyPr>
          <a:lstStyle/>
          <a:p>
            <a:pPr marL="12700">
              <a:lnSpc>
                <a:spcPct val="100000"/>
              </a:lnSpc>
              <a:spcBef>
                <a:spcPts val="100"/>
              </a:spcBef>
            </a:pPr>
            <a:r>
              <a:t>Linking Strategy to Financial Outcomes</a:t>
            </a:r>
          </a:p>
        </p:txBody>
      </p:sp>
      <p:sp>
        <p:nvSpPr>
          <p:cNvPr id="4" name="object 4"/>
          <p:cNvSpPr txBox="1"/>
          <p:nvPr/>
        </p:nvSpPr>
        <p:spPr>
          <a:xfrm>
            <a:off x="6286498" y="8730488"/>
            <a:ext cx="139700" cy="162560"/>
          </a:xfrm>
          <a:prstGeom prst="rect">
            <a:avLst/>
          </a:prstGeom>
        </p:spPr>
        <p:txBody>
          <a:bodyPr vert="horz" wrap="square" lIns="0" tIns="12700" rIns="0" bIns="0" rtlCol="0">
            <a:spAutoFit/>
          </a:bodyPr>
          <a:lstStyle/>
          <a:p>
            <a:pPr marL="12700">
              <a:lnSpc>
                <a:spcPct val="100000"/>
              </a:lnSpc>
              <a:spcBef>
                <a:spcPts val="100"/>
              </a:spcBef>
            </a:pPr>
            <a:r>
              <a:rPr sz="900" spc="-10">
                <a:solidFill>
                  <a:srgbClr val="898989"/>
                </a:solidFill>
                <a:latin typeface="Calibri"/>
                <a:cs typeface="Calibri"/>
              </a:rPr>
              <a:t>12</a:t>
            </a:r>
            <a:endParaRPr sz="900">
              <a:latin typeface="Calibri"/>
              <a:cs typeface="Calibri"/>
            </a:endParaRPr>
          </a:p>
        </p:txBody>
      </p:sp>
      <p:sp>
        <p:nvSpPr>
          <p:cNvPr id="5" name="object 5"/>
          <p:cNvSpPr/>
          <p:nvPr/>
        </p:nvSpPr>
        <p:spPr>
          <a:xfrm>
            <a:off x="209654" y="593551"/>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6"/>
          <p:cNvSpPr txBox="1"/>
          <p:nvPr/>
        </p:nvSpPr>
        <p:spPr>
          <a:xfrm>
            <a:off x="455774" y="738123"/>
            <a:ext cx="6249826" cy="2900794"/>
          </a:xfrm>
          <a:prstGeom prst="rect">
            <a:avLst/>
          </a:prstGeom>
        </p:spPr>
        <p:txBody>
          <a:bodyPr vert="horz" wrap="square" lIns="0" tIns="12700" rIns="0" bIns="0" rtlCol="0">
            <a:spAutoFit/>
          </a:bodyPr>
          <a:lstStyle/>
          <a:p>
            <a:pPr marL="298450" indent="-285750">
              <a:lnSpc>
                <a:spcPct val="100000"/>
              </a:lnSpc>
              <a:spcBef>
                <a:spcPts val="100"/>
              </a:spcBef>
              <a:buFont typeface="Arial"/>
              <a:buChar char="•"/>
              <a:tabLst>
                <a:tab pos="297815" algn="l"/>
                <a:tab pos="298450" algn="l"/>
              </a:tabLst>
            </a:pPr>
            <a:r>
              <a:rPr sz="1600" spc="-5">
                <a:solidFill>
                  <a:srgbClr val="404040"/>
                </a:solidFill>
                <a:latin typeface="Franklin Gothic Book"/>
                <a:cs typeface="Franklin Gothic Book"/>
              </a:rPr>
              <a:t>Alignment vs. </a:t>
            </a:r>
            <a:r>
              <a:rPr sz="1600" spc="-20">
                <a:solidFill>
                  <a:srgbClr val="404040"/>
                </a:solidFill>
                <a:latin typeface="Franklin Gothic Book"/>
                <a:cs typeface="Franklin Gothic Book"/>
              </a:rPr>
              <a:t>SMART. </a:t>
            </a:r>
            <a:r>
              <a:rPr lang="en-US" sz="1600" spc="-20">
                <a:solidFill>
                  <a:srgbClr val="404040"/>
                </a:solidFill>
                <a:latin typeface="Franklin Gothic Book"/>
                <a:cs typeface="Franklin Gothic Book"/>
              </a:rPr>
              <a:t> </a:t>
            </a:r>
            <a:r>
              <a:rPr lang="en-US" sz="1600" spc="-5">
                <a:solidFill>
                  <a:srgbClr val="404040"/>
                </a:solidFill>
                <a:latin typeface="Franklin Gothic Book"/>
                <a:cs typeface="Franklin Gothic Book"/>
              </a:rPr>
              <a:t>Impact vs. Activity.</a:t>
            </a:r>
            <a:endParaRPr sz="1600">
              <a:latin typeface="Franklin Gothic Book"/>
              <a:cs typeface="Franklin Gothic Book"/>
            </a:endParaRPr>
          </a:p>
          <a:p>
            <a:pPr marL="12700" marR="24130">
              <a:lnSpc>
                <a:spcPct val="99600"/>
              </a:lnSpc>
              <a:spcBef>
                <a:spcPts val="1285"/>
              </a:spcBef>
              <a:tabLst>
                <a:tab pos="1499870" algn="l"/>
              </a:tabLst>
            </a:pPr>
            <a:r>
              <a:rPr sz="1500">
                <a:solidFill>
                  <a:srgbClr val="404040"/>
                </a:solidFill>
                <a:latin typeface="Franklin Gothic Book"/>
                <a:cs typeface="Franklin Gothic Book"/>
              </a:rPr>
              <a:t>SMART goals came into the business vernacular of planning in 1981 and </a:t>
            </a:r>
            <a:r>
              <a:rPr lang="en-US" sz="1500">
                <a:solidFill>
                  <a:srgbClr val="404040"/>
                </a:solidFill>
                <a:latin typeface="Franklin Gothic Book"/>
                <a:cs typeface="Franklin Gothic Book"/>
              </a:rPr>
              <a:t>are </a:t>
            </a:r>
            <a:r>
              <a:rPr sz="1500">
                <a:solidFill>
                  <a:srgbClr val="404040"/>
                </a:solidFill>
                <a:latin typeface="Franklin Gothic Book"/>
                <a:cs typeface="Franklin Gothic Book"/>
              </a:rPr>
              <a:t>still widely used today.</a:t>
            </a:r>
            <a:r>
              <a:rPr lang="en-US" sz="1500">
                <a:solidFill>
                  <a:srgbClr val="404040"/>
                </a:solidFill>
                <a:latin typeface="Franklin Gothic Book"/>
                <a:cs typeface="Franklin Gothic Book"/>
              </a:rPr>
              <a:t> </a:t>
            </a:r>
            <a:r>
              <a:rPr sz="1500">
                <a:solidFill>
                  <a:srgbClr val="404040"/>
                </a:solidFill>
                <a:latin typeface="Franklin Gothic Book"/>
                <a:cs typeface="Franklin Gothic Book"/>
              </a:rPr>
              <a:t>In more recent </a:t>
            </a:r>
            <a:r>
              <a:rPr lang="en-US" sz="1500">
                <a:solidFill>
                  <a:srgbClr val="404040"/>
                </a:solidFill>
                <a:latin typeface="Franklin Gothic Book"/>
                <a:cs typeface="Franklin Gothic Book"/>
              </a:rPr>
              <a:t>studies</a:t>
            </a:r>
            <a:r>
              <a:rPr sz="1500">
                <a:solidFill>
                  <a:srgbClr val="404040"/>
                </a:solidFill>
                <a:latin typeface="Franklin Gothic Book"/>
                <a:cs typeface="Franklin Gothic Book"/>
              </a:rPr>
              <a:t>, SMART goals don’t garner the  financial performance that many once thought they would. Many goals have  been tirelessly built on a smart platform</a:t>
            </a:r>
            <a:r>
              <a:rPr lang="en-US" sz="1500">
                <a:solidFill>
                  <a:srgbClr val="404040"/>
                </a:solidFill>
                <a:latin typeface="Franklin Gothic Book"/>
                <a:cs typeface="Franklin Gothic Book"/>
              </a:rPr>
              <a:t>,</a:t>
            </a:r>
            <a:r>
              <a:rPr sz="1500">
                <a:solidFill>
                  <a:srgbClr val="404040"/>
                </a:solidFill>
                <a:latin typeface="Franklin Gothic Book"/>
                <a:cs typeface="Franklin Gothic Book"/>
              </a:rPr>
              <a:t> </a:t>
            </a:r>
            <a:r>
              <a:rPr lang="en-US" sz="1500">
                <a:solidFill>
                  <a:srgbClr val="404040"/>
                </a:solidFill>
                <a:latin typeface="Franklin Gothic Book"/>
                <a:cs typeface="Franklin Gothic Book"/>
              </a:rPr>
              <a:t>y</a:t>
            </a:r>
            <a:r>
              <a:rPr sz="1500">
                <a:solidFill>
                  <a:srgbClr val="404040"/>
                </a:solidFill>
                <a:latin typeface="Franklin Gothic Book"/>
                <a:cs typeface="Franklin Gothic Book"/>
              </a:rPr>
              <a:t>et they were not aligned to  revenue achievement or even performance outcomes.</a:t>
            </a:r>
            <a:endParaRPr sz="1500">
              <a:latin typeface="Franklin Gothic Book"/>
              <a:cs typeface="Franklin Gothic Book"/>
            </a:endParaRPr>
          </a:p>
          <a:p>
            <a:pPr marL="12700" marR="5080">
              <a:lnSpc>
                <a:spcPct val="100000"/>
              </a:lnSpc>
              <a:spcBef>
                <a:spcPts val="1320"/>
              </a:spcBef>
            </a:pPr>
            <a:r>
              <a:rPr sz="1500">
                <a:solidFill>
                  <a:srgbClr val="404040"/>
                </a:solidFill>
                <a:latin typeface="Franklin Gothic Book"/>
                <a:cs typeface="Franklin Gothic Book"/>
              </a:rPr>
              <a:t>Teams have felt safe guarded by planning using the SMART format. All too often if goals aren’t aligned to the overall financial vision of performance, they can be very quickly become an exercise of operational structure. Instead</a:t>
            </a:r>
            <a:r>
              <a:rPr lang="en-US" sz="1500">
                <a:solidFill>
                  <a:srgbClr val="404040"/>
                </a:solidFill>
                <a:latin typeface="Franklin Gothic Book"/>
                <a:cs typeface="Franklin Gothic Book"/>
              </a:rPr>
              <a:t>,</a:t>
            </a:r>
            <a:r>
              <a:rPr sz="1500">
                <a:solidFill>
                  <a:srgbClr val="404040"/>
                </a:solidFill>
                <a:latin typeface="Franklin Gothic Book"/>
                <a:cs typeface="Franklin Gothic Book"/>
              </a:rPr>
              <a:t>  teams should be building a formulaic strategy supported by tactics that are  focused on a true financial outcome.</a:t>
            </a:r>
            <a:endParaRPr sz="1500">
              <a:latin typeface="Franklin Gothic Book"/>
              <a:cs typeface="Franklin Gothic Book"/>
            </a:endParaRPr>
          </a:p>
        </p:txBody>
      </p:sp>
      <p:sp>
        <p:nvSpPr>
          <p:cNvPr id="7" name="object 7"/>
          <p:cNvSpPr txBox="1"/>
          <p:nvPr/>
        </p:nvSpPr>
        <p:spPr>
          <a:xfrm>
            <a:off x="455774" y="7024116"/>
            <a:ext cx="5806440" cy="694934"/>
          </a:xfrm>
          <a:prstGeom prst="rect">
            <a:avLst/>
          </a:prstGeom>
        </p:spPr>
        <p:txBody>
          <a:bodyPr vert="horz" wrap="square" lIns="0" tIns="9525" rIns="0" bIns="0" rtlCol="0">
            <a:spAutoFit/>
          </a:bodyPr>
          <a:lstStyle/>
          <a:p>
            <a:pPr marL="12700" marR="5080">
              <a:lnSpc>
                <a:spcPct val="101400"/>
              </a:lnSpc>
              <a:spcBef>
                <a:spcPts val="75"/>
              </a:spcBef>
            </a:pPr>
            <a:r>
              <a:rPr sz="1500">
                <a:solidFill>
                  <a:srgbClr val="404040"/>
                </a:solidFill>
                <a:latin typeface="Franklin Gothic Book"/>
                <a:cs typeface="Franklin Gothic Book"/>
              </a:rPr>
              <a:t>What is also disconcerting is that strategies are many times completely </a:t>
            </a:r>
            <a:r>
              <a:rPr lang="en-US" sz="1500">
                <a:solidFill>
                  <a:srgbClr val="404040"/>
                </a:solidFill>
                <a:latin typeface="Franklin Gothic Book"/>
                <a:cs typeface="Franklin Gothic Book"/>
              </a:rPr>
              <a:t>disregarded</a:t>
            </a:r>
            <a:r>
              <a:rPr sz="1500">
                <a:solidFill>
                  <a:srgbClr val="404040"/>
                </a:solidFill>
                <a:latin typeface="Franklin Gothic Book"/>
                <a:cs typeface="Franklin Gothic Book"/>
              </a:rPr>
              <a:t>, as leaders are overly focused on activity vs. the impact of the work that</a:t>
            </a:r>
            <a:r>
              <a:rPr lang="en-US" sz="1500">
                <a:solidFill>
                  <a:srgbClr val="404040"/>
                </a:solidFill>
                <a:latin typeface="Franklin Gothic Book"/>
                <a:cs typeface="Franklin Gothic Book"/>
              </a:rPr>
              <a:t> </a:t>
            </a:r>
            <a:r>
              <a:rPr sz="1500">
                <a:solidFill>
                  <a:srgbClr val="404040"/>
                </a:solidFill>
                <a:latin typeface="Franklin Gothic Book"/>
                <a:cs typeface="Franklin Gothic Book"/>
              </a:rPr>
              <a:t>is being done.</a:t>
            </a:r>
            <a:endParaRPr sz="1500">
              <a:latin typeface="Franklin Gothic Book"/>
              <a:cs typeface="Franklin Gothic Book"/>
            </a:endParaRPr>
          </a:p>
        </p:txBody>
      </p:sp>
      <p:sp>
        <p:nvSpPr>
          <p:cNvPr id="8" name="object 8"/>
          <p:cNvSpPr/>
          <p:nvPr/>
        </p:nvSpPr>
        <p:spPr>
          <a:xfrm>
            <a:off x="0" y="3978183"/>
            <a:ext cx="6857997" cy="2701780"/>
          </a:xfrm>
          <a:prstGeom prst="rect">
            <a:avLst/>
          </a:prstGeom>
          <a:blipFill>
            <a:blip r:embed="rId2" cstate="print"/>
            <a:stretch>
              <a:fillRect/>
            </a:stretch>
          </a:blipFill>
        </p:spPr>
        <p:txBody>
          <a:bodyPr wrap="square" lIns="0" tIns="0" rIns="0" bIns="0" rtlCol="0"/>
          <a:lstStyle/>
          <a:p>
            <a:endParaRPr/>
          </a:p>
        </p:txBody>
      </p:sp>
      <p:sp>
        <p:nvSpPr>
          <p:cNvPr id="3" name="object 8">
            <a:extLst>
              <a:ext uri="{FF2B5EF4-FFF2-40B4-BE49-F238E27FC236}">
                <a16:creationId xmlns:a16="http://schemas.microsoft.com/office/drawing/2014/main" id="{CA9DCD73-193E-8A45-CAE0-DF0A3FA61BF5}"/>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tx1">
                    <a:lumMod val="75000"/>
                    <a:lumOff val="25000"/>
                  </a:schemeClr>
                </a:solidFill>
                <a:latin typeface="Franklin Gothic Book"/>
                <a:cs typeface="Franklin Gothic Book"/>
              </a:rPr>
              <a:t>What Good Looks Like:  Revenue Strategy I 2024</a:t>
            </a:r>
            <a:endParaRPr sz="900">
              <a:solidFill>
                <a:schemeClr val="tx1">
                  <a:lumMod val="75000"/>
                  <a:lumOff val="25000"/>
                </a:schemeClr>
              </a:solidFill>
              <a:latin typeface="Franklin Gothic Book"/>
              <a:cs typeface="Franklin Gothic Book"/>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7404" y="-1"/>
            <a:ext cx="6854825" cy="9144000"/>
          </a:xfrm>
          <a:custGeom>
            <a:avLst/>
            <a:gdLst/>
            <a:ahLst/>
            <a:cxnLst/>
            <a:rect l="l" t="t" r="r" b="b"/>
            <a:pathLst>
              <a:path w="6854825" h="9144000">
                <a:moveTo>
                  <a:pt x="0" y="9144000"/>
                </a:moveTo>
                <a:lnTo>
                  <a:pt x="0" y="0"/>
                </a:lnTo>
                <a:lnTo>
                  <a:pt x="6854426" y="0"/>
                </a:lnTo>
                <a:lnTo>
                  <a:pt x="6854426" y="9143999"/>
                </a:lnTo>
                <a:lnTo>
                  <a:pt x="0" y="9144000"/>
                </a:lnTo>
                <a:close/>
              </a:path>
            </a:pathLst>
          </a:custGeom>
          <a:solidFill>
            <a:srgbClr val="555759"/>
          </a:solidFill>
        </p:spPr>
        <p:txBody>
          <a:bodyPr wrap="square" lIns="0" tIns="0" rIns="0" bIns="0" rtlCol="0"/>
          <a:lstStyle/>
          <a:p>
            <a:endParaRPr/>
          </a:p>
        </p:txBody>
      </p:sp>
      <p:sp>
        <p:nvSpPr>
          <p:cNvPr id="3" name="object 3"/>
          <p:cNvSpPr/>
          <p:nvPr/>
        </p:nvSpPr>
        <p:spPr>
          <a:xfrm>
            <a:off x="0" y="0"/>
            <a:ext cx="6854825" cy="9144000"/>
          </a:xfrm>
          <a:custGeom>
            <a:avLst/>
            <a:gdLst/>
            <a:ahLst/>
            <a:cxnLst/>
            <a:rect l="l" t="t" r="r" b="b"/>
            <a:pathLst>
              <a:path w="6854825" h="9144000">
                <a:moveTo>
                  <a:pt x="0" y="0"/>
                </a:moveTo>
                <a:lnTo>
                  <a:pt x="6854426" y="0"/>
                </a:lnTo>
                <a:lnTo>
                  <a:pt x="6854426" y="9143999"/>
                </a:lnTo>
              </a:path>
            </a:pathLst>
          </a:custGeom>
          <a:ln w="12700">
            <a:solidFill>
              <a:srgbClr val="3C3E8F"/>
            </a:solidFill>
          </a:ln>
        </p:spPr>
        <p:txBody>
          <a:bodyPr wrap="square" lIns="0" tIns="0" rIns="0" bIns="0" rtlCol="0"/>
          <a:lstStyle/>
          <a:p>
            <a:endParaRPr/>
          </a:p>
        </p:txBody>
      </p:sp>
      <p:sp>
        <p:nvSpPr>
          <p:cNvPr id="4" name="object 4"/>
          <p:cNvSpPr/>
          <p:nvPr/>
        </p:nvSpPr>
        <p:spPr>
          <a:xfrm>
            <a:off x="334209" y="7574061"/>
            <a:ext cx="1219200" cy="1569938"/>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300606" y="-2743200"/>
            <a:ext cx="6408420" cy="13086080"/>
          </a:xfrm>
          <a:prstGeom prst="rect">
            <a:avLst/>
          </a:prstGeom>
        </p:spPr>
        <p:txBody>
          <a:bodyPr vert="horz" wrap="square" lIns="0" tIns="12700" rIns="0" bIns="0" rtlCol="0">
            <a:spAutoFit/>
          </a:bodyPr>
          <a:lstStyle/>
          <a:p>
            <a:pPr marL="12700">
              <a:lnSpc>
                <a:spcPct val="100000"/>
              </a:lnSpc>
              <a:spcBef>
                <a:spcPts val="100"/>
              </a:spcBef>
            </a:pPr>
            <a:r>
              <a:rPr sz="85700">
                <a:solidFill>
                  <a:srgbClr val="D51067"/>
                </a:solidFill>
                <a:latin typeface="Franklin Gothic Medium"/>
                <a:cs typeface="Franklin Gothic Medium"/>
              </a:rPr>
              <a:t>4</a:t>
            </a:r>
            <a:endParaRPr sz="85700">
              <a:latin typeface="Franklin Gothic Medium"/>
              <a:cs typeface="Franklin Gothic Medium"/>
            </a:endParaRPr>
          </a:p>
        </p:txBody>
      </p:sp>
      <p:sp>
        <p:nvSpPr>
          <p:cNvPr id="8" name="object 8"/>
          <p:cNvSpPr txBox="1"/>
          <p:nvPr/>
        </p:nvSpPr>
        <p:spPr>
          <a:xfrm>
            <a:off x="6166802" y="8623807"/>
            <a:ext cx="139700" cy="162560"/>
          </a:xfrm>
          <a:prstGeom prst="rect">
            <a:avLst/>
          </a:prstGeom>
        </p:spPr>
        <p:txBody>
          <a:bodyPr vert="horz" wrap="square" lIns="0" tIns="12700" rIns="0" bIns="0" rtlCol="0">
            <a:spAutoFit/>
          </a:bodyPr>
          <a:lstStyle/>
          <a:p>
            <a:pPr marL="12700">
              <a:lnSpc>
                <a:spcPct val="100000"/>
              </a:lnSpc>
              <a:spcBef>
                <a:spcPts val="100"/>
              </a:spcBef>
            </a:pPr>
            <a:r>
              <a:rPr sz="900" spc="-10">
                <a:solidFill>
                  <a:srgbClr val="FFFFFF"/>
                </a:solidFill>
                <a:latin typeface="Calibri"/>
                <a:cs typeface="Calibri"/>
              </a:rPr>
              <a:t>13</a:t>
            </a:r>
            <a:endParaRPr sz="900">
              <a:latin typeface="Calibri"/>
              <a:cs typeface="Calibri"/>
            </a:endParaRPr>
          </a:p>
        </p:txBody>
      </p:sp>
      <p:sp>
        <p:nvSpPr>
          <p:cNvPr id="9" name="object 9"/>
          <p:cNvSpPr txBox="1"/>
          <p:nvPr/>
        </p:nvSpPr>
        <p:spPr>
          <a:xfrm>
            <a:off x="3670557" y="5462523"/>
            <a:ext cx="2876550" cy="1736373"/>
          </a:xfrm>
          <a:prstGeom prst="rect">
            <a:avLst/>
          </a:prstGeom>
        </p:spPr>
        <p:txBody>
          <a:bodyPr vert="horz" wrap="square" lIns="0" tIns="12700" rIns="0" bIns="0" rtlCol="0">
            <a:spAutoFit/>
          </a:bodyPr>
          <a:lstStyle/>
          <a:p>
            <a:pPr marL="12700">
              <a:lnSpc>
                <a:spcPct val="100000"/>
              </a:lnSpc>
              <a:spcBef>
                <a:spcPts val="100"/>
              </a:spcBef>
            </a:pPr>
            <a:r>
              <a:rPr sz="2800" i="1">
                <a:solidFill>
                  <a:srgbClr val="FFFFFF"/>
                </a:solidFill>
                <a:latin typeface="Franklin Gothic Book Italic"/>
                <a:cs typeface="Franklin Gothic Book Italic"/>
              </a:rPr>
              <a:t>10 Critical Areas  to</a:t>
            </a:r>
            <a:r>
              <a:rPr lang="en-US" sz="2800" i="1">
                <a:solidFill>
                  <a:srgbClr val="FFFFFF"/>
                </a:solidFill>
                <a:latin typeface="Franklin Gothic Book Italic"/>
                <a:cs typeface="Franklin Gothic Book Italic"/>
              </a:rPr>
              <a:t> Successful Top-Line Revenue Budgeting</a:t>
            </a:r>
            <a:endParaRPr sz="2800">
              <a:latin typeface="Franklin Gothic Book Italic"/>
              <a:cs typeface="Franklin Gothic Book Italic"/>
            </a:endParaRPr>
          </a:p>
        </p:txBody>
      </p:sp>
      <p:sp>
        <p:nvSpPr>
          <p:cNvPr id="10" name="object 8">
            <a:extLst>
              <a:ext uri="{FF2B5EF4-FFF2-40B4-BE49-F238E27FC236}">
                <a16:creationId xmlns:a16="http://schemas.microsoft.com/office/drawing/2014/main" id="{00CAF1D3-BCAB-0D9B-29A8-DDACDF687751}"/>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bg1"/>
                </a:solidFill>
                <a:latin typeface="Franklin Gothic Book"/>
                <a:cs typeface="Franklin Gothic Book"/>
              </a:rPr>
              <a:t>What Good Looks Like:  Revenue Strategy I 2024</a:t>
            </a:r>
            <a:endParaRPr sz="900">
              <a:solidFill>
                <a:schemeClr val="bg1"/>
              </a:solidFill>
              <a:latin typeface="Franklin Gothic Book"/>
              <a:cs typeface="Franklin Gothic Book"/>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286498" y="8730488"/>
            <a:ext cx="139700" cy="162560"/>
          </a:xfrm>
          <a:prstGeom prst="rect">
            <a:avLst/>
          </a:prstGeom>
        </p:spPr>
        <p:txBody>
          <a:bodyPr vert="horz" wrap="square" lIns="0" tIns="12700" rIns="0" bIns="0" rtlCol="0">
            <a:spAutoFit/>
          </a:bodyPr>
          <a:lstStyle/>
          <a:p>
            <a:pPr marL="12700">
              <a:lnSpc>
                <a:spcPct val="100000"/>
              </a:lnSpc>
              <a:spcBef>
                <a:spcPts val="100"/>
              </a:spcBef>
            </a:pPr>
            <a:r>
              <a:rPr sz="900" spc="-10">
                <a:solidFill>
                  <a:srgbClr val="898989"/>
                </a:solidFill>
                <a:latin typeface="Calibri"/>
                <a:cs typeface="Calibri"/>
              </a:rPr>
              <a:t>14</a:t>
            </a:r>
            <a:endParaRPr sz="900">
              <a:latin typeface="Calibri"/>
              <a:cs typeface="Calibri"/>
            </a:endParaRPr>
          </a:p>
        </p:txBody>
      </p:sp>
      <p:sp>
        <p:nvSpPr>
          <p:cNvPr id="4" name="object 4"/>
          <p:cNvSpPr txBox="1">
            <a:spLocks noGrp="1"/>
          </p:cNvSpPr>
          <p:nvPr>
            <p:ph type="title" idx="4294967295"/>
          </p:nvPr>
        </p:nvSpPr>
        <p:spPr>
          <a:xfrm>
            <a:off x="174625" y="41275"/>
            <a:ext cx="6683375" cy="320675"/>
          </a:xfrm>
          <a:prstGeom prst="rect">
            <a:avLst/>
          </a:prstGeom>
        </p:spPr>
        <p:txBody>
          <a:bodyPr vert="horz" wrap="square" lIns="0" tIns="12700" rIns="0" bIns="0" rtlCol="0">
            <a:spAutoFit/>
          </a:bodyPr>
          <a:lstStyle/>
          <a:p>
            <a:pPr marL="12700">
              <a:lnSpc>
                <a:spcPct val="100000"/>
              </a:lnSpc>
              <a:spcBef>
                <a:spcPts val="100"/>
              </a:spcBef>
            </a:pPr>
            <a:r>
              <a:t>10 Critical Areas to a Successful Top-Line Revenue Budget</a:t>
            </a:r>
          </a:p>
        </p:txBody>
      </p:sp>
      <p:sp>
        <p:nvSpPr>
          <p:cNvPr id="5" name="object 5"/>
          <p:cNvSpPr/>
          <p:nvPr/>
        </p:nvSpPr>
        <p:spPr>
          <a:xfrm>
            <a:off x="175258" y="533400"/>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6"/>
          <p:cNvSpPr txBox="1"/>
          <p:nvPr/>
        </p:nvSpPr>
        <p:spPr>
          <a:xfrm>
            <a:off x="303530" y="665011"/>
            <a:ext cx="6250939" cy="7847982"/>
          </a:xfrm>
          <a:prstGeom prst="rect">
            <a:avLst/>
          </a:prstGeom>
        </p:spPr>
        <p:txBody>
          <a:bodyPr vert="horz" wrap="square" lIns="0" tIns="12700" rIns="0" bIns="0" rtlCol="0">
            <a:spAutoFit/>
          </a:bodyPr>
          <a:lstStyle/>
          <a:p>
            <a:pPr marL="12700">
              <a:lnSpc>
                <a:spcPct val="100000"/>
              </a:lnSpc>
              <a:spcBef>
                <a:spcPts val="100"/>
              </a:spcBef>
            </a:pPr>
            <a:r>
              <a:rPr sz="1400" i="1" spc="-5">
                <a:solidFill>
                  <a:srgbClr val="404040"/>
                </a:solidFill>
                <a:latin typeface="Franklin Gothic Book Italic"/>
                <a:cs typeface="Franklin Gothic Book Italic"/>
              </a:rPr>
              <a:t>Overall look </a:t>
            </a:r>
            <a:r>
              <a:rPr sz="1400" i="1">
                <a:solidFill>
                  <a:srgbClr val="404040"/>
                </a:solidFill>
                <a:latin typeface="Franklin Gothic Book Italic"/>
                <a:cs typeface="Franklin Gothic Book Italic"/>
              </a:rPr>
              <a:t>at </a:t>
            </a:r>
            <a:r>
              <a:rPr sz="1400" i="1" spc="-10">
                <a:solidFill>
                  <a:srgbClr val="404040"/>
                </a:solidFill>
                <a:latin typeface="Franklin Gothic Book Italic"/>
                <a:cs typeface="Franklin Gothic Book Italic"/>
              </a:rPr>
              <a:t>top-line</a:t>
            </a:r>
            <a:r>
              <a:rPr sz="1400" i="1" spc="-5">
                <a:solidFill>
                  <a:srgbClr val="404040"/>
                </a:solidFill>
                <a:latin typeface="Franklin Gothic Book Italic"/>
                <a:cs typeface="Franklin Gothic Book Italic"/>
              </a:rPr>
              <a:t> </a:t>
            </a:r>
            <a:r>
              <a:rPr sz="1400" i="1" spc="-10">
                <a:solidFill>
                  <a:srgbClr val="404040"/>
                </a:solidFill>
                <a:latin typeface="Franklin Gothic Book Italic"/>
                <a:cs typeface="Franklin Gothic Book Italic"/>
              </a:rPr>
              <a:t>revenue:</a:t>
            </a:r>
            <a:endParaRPr sz="1400">
              <a:latin typeface="Franklin Gothic Book Italic"/>
              <a:cs typeface="Franklin Gothic Book Italic"/>
            </a:endParaRPr>
          </a:p>
          <a:p>
            <a:pPr marL="354965" marR="251460" indent="-342900">
              <a:lnSpc>
                <a:spcPct val="98600"/>
              </a:lnSpc>
              <a:spcBef>
                <a:spcPts val="1440"/>
              </a:spcBef>
              <a:buAutoNum type="arabicPeriod"/>
              <a:tabLst>
                <a:tab pos="354965" algn="l"/>
                <a:tab pos="355600" algn="l"/>
              </a:tabLst>
            </a:pPr>
            <a:r>
              <a:rPr sz="1400">
                <a:solidFill>
                  <a:srgbClr val="404040"/>
                </a:solidFill>
                <a:latin typeface="Franklin Gothic Book"/>
                <a:cs typeface="Franklin Gothic Book"/>
              </a:rPr>
              <a:t>In </a:t>
            </a:r>
            <a:r>
              <a:rPr sz="1400" spc="-25">
                <a:solidFill>
                  <a:srgbClr val="404040"/>
                </a:solidFill>
                <a:latin typeface="Franklin Gothic Book"/>
                <a:cs typeface="Franklin Gothic Book"/>
              </a:rPr>
              <a:t>key </a:t>
            </a:r>
            <a:r>
              <a:rPr sz="1400" spc="-5">
                <a:solidFill>
                  <a:srgbClr val="404040"/>
                </a:solidFill>
                <a:latin typeface="Franklin Gothic Book"/>
                <a:cs typeface="Franklin Gothic Book"/>
              </a:rPr>
              <a:t>segments</a:t>
            </a:r>
            <a:r>
              <a:rPr lang="en-US" sz="1400" spc="-5">
                <a:solidFill>
                  <a:srgbClr val="404040"/>
                </a:solidFill>
                <a:latin typeface="Franklin Gothic Book"/>
                <a:cs typeface="Franklin Gothic Book"/>
              </a:rPr>
              <a:t>,</a:t>
            </a:r>
            <a:r>
              <a:rPr sz="1400" spc="-5">
                <a:solidFill>
                  <a:srgbClr val="404040"/>
                </a:solidFill>
                <a:latin typeface="Franklin Gothic Book"/>
                <a:cs typeface="Franklin Gothic Book"/>
              </a:rPr>
              <a:t> ask </a:t>
            </a:r>
            <a:r>
              <a:rPr sz="1400" spc="-15">
                <a:solidFill>
                  <a:srgbClr val="404040"/>
                </a:solidFill>
                <a:latin typeface="Franklin Gothic Book"/>
                <a:cs typeface="Franklin Gothic Book"/>
              </a:rPr>
              <a:t>for </a:t>
            </a:r>
            <a:r>
              <a:rPr sz="1400" spc="-5">
                <a:solidFill>
                  <a:srgbClr val="404040"/>
                </a:solidFill>
                <a:latin typeface="Franklin Gothic Book"/>
                <a:cs typeface="Franklin Gothic Book"/>
              </a:rPr>
              <a:t>their </a:t>
            </a:r>
            <a:r>
              <a:rPr sz="1400">
                <a:solidFill>
                  <a:srgbClr val="404040"/>
                </a:solidFill>
                <a:latin typeface="Franklin Gothic Book"/>
                <a:cs typeface="Franklin Gothic Book"/>
              </a:rPr>
              <a:t>supporting </a:t>
            </a:r>
            <a:r>
              <a:rPr sz="1400" spc="-10">
                <a:solidFill>
                  <a:srgbClr val="404040"/>
                </a:solidFill>
                <a:latin typeface="Franklin Gothic Book"/>
                <a:cs typeface="Franklin Gothic Book"/>
              </a:rPr>
              <a:t>strategies </a:t>
            </a:r>
            <a:r>
              <a:rPr sz="1400" spc="-5">
                <a:solidFill>
                  <a:srgbClr val="404040"/>
                </a:solidFill>
                <a:latin typeface="Franklin Gothic Book"/>
                <a:cs typeface="Franklin Gothic Book"/>
              </a:rPr>
              <a:t>and tactics. </a:t>
            </a:r>
            <a:r>
              <a:rPr sz="1400" spc="-15">
                <a:solidFill>
                  <a:srgbClr val="404040"/>
                </a:solidFill>
                <a:latin typeface="Franklin Gothic Book"/>
                <a:cs typeface="Franklin Gothic Book"/>
              </a:rPr>
              <a:t>They </a:t>
            </a:r>
            <a:r>
              <a:rPr sz="1400" spc="-5">
                <a:solidFill>
                  <a:srgbClr val="404040"/>
                </a:solidFill>
                <a:latin typeface="Franklin Gothic Book"/>
                <a:cs typeface="Franklin Gothic Book"/>
              </a:rPr>
              <a:t>should </a:t>
            </a:r>
            <a:r>
              <a:rPr sz="1400" spc="-20">
                <a:solidFill>
                  <a:srgbClr val="404040"/>
                </a:solidFill>
                <a:latin typeface="Franklin Gothic Book"/>
                <a:cs typeface="Franklin Gothic Book"/>
              </a:rPr>
              <a:t>have </a:t>
            </a:r>
            <a:r>
              <a:rPr sz="1400" spc="-5">
                <a:solidFill>
                  <a:srgbClr val="B52372"/>
                </a:solidFill>
                <a:latin typeface="Franklin Gothic Book"/>
                <a:cs typeface="Franklin Gothic Book"/>
              </a:rPr>
              <a:t>aligned </a:t>
            </a:r>
            <a:r>
              <a:rPr sz="1400" spc="-10">
                <a:solidFill>
                  <a:srgbClr val="B52372"/>
                </a:solidFill>
                <a:latin typeface="Franklin Gothic Book"/>
                <a:cs typeface="Franklin Gothic Book"/>
              </a:rPr>
              <a:t>strategies </a:t>
            </a:r>
            <a:r>
              <a:rPr sz="1400" spc="-10">
                <a:solidFill>
                  <a:srgbClr val="404040"/>
                </a:solidFill>
                <a:latin typeface="Franklin Gothic Book"/>
                <a:cs typeface="Franklin Gothic Book"/>
              </a:rPr>
              <a:t>that </a:t>
            </a:r>
            <a:r>
              <a:rPr sz="1400" spc="-5">
                <a:solidFill>
                  <a:srgbClr val="404040"/>
                </a:solidFill>
                <a:latin typeface="Franklin Gothic Book"/>
                <a:cs typeface="Franklin Gothic Book"/>
              </a:rPr>
              <a:t>can </a:t>
            </a:r>
            <a:r>
              <a:rPr sz="1400" spc="-10">
                <a:solidFill>
                  <a:srgbClr val="404040"/>
                </a:solidFill>
                <a:latin typeface="Franklin Gothic Book"/>
                <a:cs typeface="Franklin Gothic Book"/>
              </a:rPr>
              <a:t>answer </a:t>
            </a:r>
            <a:r>
              <a:rPr sz="1400" spc="-15">
                <a:solidFill>
                  <a:srgbClr val="404040"/>
                </a:solidFill>
                <a:latin typeface="Franklin Gothic Book"/>
                <a:cs typeface="Franklin Gothic Book"/>
              </a:rPr>
              <a:t>how they </a:t>
            </a:r>
            <a:r>
              <a:rPr sz="1400" spc="-5">
                <a:solidFill>
                  <a:srgbClr val="404040"/>
                </a:solidFill>
                <a:latin typeface="Franklin Gothic Book"/>
                <a:cs typeface="Franklin Gothic Book"/>
              </a:rPr>
              <a:t>plan </a:t>
            </a:r>
            <a:r>
              <a:rPr sz="1400" spc="-15">
                <a:solidFill>
                  <a:srgbClr val="404040"/>
                </a:solidFill>
                <a:latin typeface="Franklin Gothic Book"/>
                <a:cs typeface="Franklin Gothic Book"/>
              </a:rPr>
              <a:t>to </a:t>
            </a:r>
            <a:r>
              <a:rPr sz="1400" spc="-10">
                <a:solidFill>
                  <a:srgbClr val="404040"/>
                </a:solidFill>
                <a:latin typeface="Franklin Gothic Book"/>
                <a:cs typeface="Franklin Gothic Book"/>
              </a:rPr>
              <a:t>get </a:t>
            </a:r>
            <a:r>
              <a:rPr lang="en-US" sz="1400" spc="-10">
                <a:solidFill>
                  <a:srgbClr val="404040"/>
                </a:solidFill>
                <a:latin typeface="Franklin Gothic Book"/>
                <a:cs typeface="Franklin Gothic Book"/>
              </a:rPr>
              <a:t>the</a:t>
            </a:r>
            <a:r>
              <a:rPr sz="1400" spc="-10">
                <a:solidFill>
                  <a:srgbClr val="404040"/>
                </a:solidFill>
                <a:latin typeface="Franklin Gothic Book"/>
                <a:cs typeface="Franklin Gothic Book"/>
              </a:rPr>
              <a:t> overall</a:t>
            </a:r>
            <a:r>
              <a:rPr sz="1400">
                <a:solidFill>
                  <a:srgbClr val="404040"/>
                </a:solidFill>
                <a:latin typeface="Franklin Gothic Book"/>
                <a:cs typeface="Franklin Gothic Book"/>
              </a:rPr>
              <a:t> </a:t>
            </a:r>
            <a:r>
              <a:rPr sz="1400" spc="-5">
                <a:solidFill>
                  <a:srgbClr val="404040"/>
                </a:solidFill>
                <a:latin typeface="Franklin Gothic Book"/>
                <a:cs typeface="Franklin Gothic Book"/>
              </a:rPr>
              <a:t>goal.</a:t>
            </a:r>
            <a:endParaRPr sz="1400">
              <a:latin typeface="Franklin Gothic Book"/>
              <a:cs typeface="Franklin Gothic Book"/>
            </a:endParaRPr>
          </a:p>
          <a:p>
            <a:pPr marL="354965" marR="229235" indent="-342900">
              <a:lnSpc>
                <a:spcPts val="1700"/>
              </a:lnSpc>
              <a:spcBef>
                <a:spcPts val="40"/>
              </a:spcBef>
              <a:buAutoNum type="arabicPeriod"/>
              <a:tabLst>
                <a:tab pos="354965" algn="l"/>
                <a:tab pos="355600" algn="l"/>
              </a:tabLst>
            </a:pPr>
            <a:r>
              <a:rPr sz="1400">
                <a:solidFill>
                  <a:srgbClr val="404040"/>
                </a:solidFill>
                <a:latin typeface="Franklin Gothic Book"/>
                <a:cs typeface="Franklin Gothic Book"/>
              </a:rPr>
              <a:t>Disregard conversations that are focused on meta-segments. Redirect  them to the most profitable segments and how they plan grow those  segments.</a:t>
            </a:r>
            <a:endParaRPr sz="1400">
              <a:latin typeface="Franklin Gothic Book"/>
              <a:cs typeface="Franklin Gothic Book"/>
            </a:endParaRPr>
          </a:p>
          <a:p>
            <a:pPr marL="354965" marR="5080" indent="-342900">
              <a:lnSpc>
                <a:spcPct val="97900"/>
              </a:lnSpc>
              <a:spcBef>
                <a:spcPts val="5"/>
              </a:spcBef>
              <a:buAutoNum type="arabicPeriod"/>
              <a:tabLst>
                <a:tab pos="354965" algn="l"/>
                <a:tab pos="355600" algn="l"/>
              </a:tabLst>
            </a:pPr>
            <a:r>
              <a:rPr sz="1400">
                <a:solidFill>
                  <a:srgbClr val="404040"/>
                </a:solidFill>
                <a:latin typeface="Franklin Gothic Book"/>
                <a:cs typeface="Franklin Gothic Book"/>
              </a:rPr>
              <a:t>Review how they are planning to re-mix their business given the economic outlook. Ask for the strategies and the supporting tactics and make sure they are aligned to the overall financial goal.</a:t>
            </a:r>
            <a:endParaRPr sz="1400">
              <a:latin typeface="Franklin Gothic Book"/>
              <a:cs typeface="Franklin Gothic Book"/>
            </a:endParaRPr>
          </a:p>
          <a:p>
            <a:pPr marL="12700">
              <a:lnSpc>
                <a:spcPct val="100000"/>
              </a:lnSpc>
              <a:spcBef>
                <a:spcPts val="1320"/>
              </a:spcBef>
            </a:pPr>
            <a:r>
              <a:rPr sz="1400" i="1">
                <a:solidFill>
                  <a:srgbClr val="404040"/>
                </a:solidFill>
                <a:latin typeface="Franklin Gothic Book Italic"/>
                <a:cs typeface="Franklin Gothic Book Italic"/>
              </a:rPr>
              <a:t>Sales:</a:t>
            </a:r>
            <a:endParaRPr sz="1400">
              <a:latin typeface="Franklin Gothic Book Italic"/>
              <a:cs typeface="Franklin Gothic Book Italic"/>
            </a:endParaRPr>
          </a:p>
          <a:p>
            <a:pPr marL="354965" marR="63500" indent="-342900">
              <a:lnSpc>
                <a:spcPct val="100000"/>
              </a:lnSpc>
              <a:spcBef>
                <a:spcPts val="1320"/>
              </a:spcBef>
              <a:buAutoNum type="arabicPeriod" startAt="4"/>
              <a:tabLst>
                <a:tab pos="354965" algn="l"/>
                <a:tab pos="355600" algn="l"/>
              </a:tabLst>
            </a:pPr>
            <a:r>
              <a:rPr sz="1400">
                <a:solidFill>
                  <a:srgbClr val="404040"/>
                </a:solidFill>
                <a:latin typeface="Franklin Gothic Book"/>
                <a:cs typeface="Franklin Gothic Book"/>
              </a:rPr>
              <a:t>Understand the depth of the accounts they are focusing on. If the customers are predominately at the “purchase phase” ask how they plan to have stronger relationships beyond procurement or the price</a:t>
            </a:r>
            <a:r>
              <a:rPr lang="en-US" sz="1400">
                <a:solidFill>
                  <a:srgbClr val="404040"/>
                </a:solidFill>
                <a:latin typeface="Franklin Gothic Book"/>
                <a:cs typeface="Franklin Gothic Book"/>
              </a:rPr>
              <a:t>-</a:t>
            </a:r>
            <a:r>
              <a:rPr sz="1400">
                <a:solidFill>
                  <a:srgbClr val="404040"/>
                </a:solidFill>
                <a:latin typeface="Franklin Gothic Book"/>
                <a:cs typeface="Franklin Gothic Book"/>
              </a:rPr>
              <a:t>driven sale. How many clients do they have in an account that are in different parts of the organization</a:t>
            </a:r>
            <a:r>
              <a:rPr lang="en-US" sz="1400">
                <a:solidFill>
                  <a:srgbClr val="404040"/>
                </a:solidFill>
                <a:latin typeface="Franklin Gothic Book"/>
                <a:cs typeface="Franklin Gothic Book"/>
              </a:rPr>
              <a:t>, such as finance, engineering, etc.</a:t>
            </a:r>
            <a:r>
              <a:rPr sz="1400">
                <a:solidFill>
                  <a:srgbClr val="404040"/>
                </a:solidFill>
                <a:latin typeface="Franklin Gothic Book"/>
                <a:cs typeface="Franklin Gothic Book"/>
              </a:rPr>
              <a:t>?</a:t>
            </a:r>
            <a:r>
              <a:rPr lang="en-US" sz="1400">
                <a:solidFill>
                  <a:srgbClr val="404040"/>
                </a:solidFill>
                <a:latin typeface="Franklin Gothic Book"/>
                <a:cs typeface="Franklin Gothic Book"/>
              </a:rPr>
              <a:t> </a:t>
            </a:r>
            <a:endParaRPr sz="1400">
              <a:latin typeface="Franklin Gothic Book"/>
              <a:cs typeface="Franklin Gothic Book"/>
            </a:endParaRPr>
          </a:p>
          <a:p>
            <a:pPr marL="354965" marR="16510" indent="-342900">
              <a:lnSpc>
                <a:spcPct val="100000"/>
              </a:lnSpc>
              <a:spcBef>
                <a:spcPts val="1320"/>
              </a:spcBef>
              <a:buAutoNum type="arabicPeriod" startAt="4"/>
              <a:tabLst>
                <a:tab pos="354965" algn="l"/>
                <a:tab pos="355600" algn="l"/>
              </a:tabLst>
            </a:pPr>
            <a:r>
              <a:rPr sz="1400">
                <a:solidFill>
                  <a:srgbClr val="404040"/>
                </a:solidFill>
                <a:latin typeface="Franklin Gothic Book"/>
                <a:cs typeface="Franklin Gothic Book"/>
              </a:rPr>
              <a:t>Do they have development plans in areas within the parts of the economy that are experiencing growth?</a:t>
            </a:r>
            <a:endParaRPr sz="1400">
              <a:latin typeface="Franklin Gothic Book"/>
              <a:cs typeface="Franklin Gothic Book"/>
            </a:endParaRPr>
          </a:p>
          <a:p>
            <a:pPr marL="12700">
              <a:lnSpc>
                <a:spcPct val="100000"/>
              </a:lnSpc>
              <a:spcBef>
                <a:spcPts val="1320"/>
              </a:spcBef>
            </a:pPr>
            <a:r>
              <a:rPr sz="1400" i="1">
                <a:solidFill>
                  <a:srgbClr val="404040"/>
                </a:solidFill>
                <a:latin typeface="Franklin Gothic Book Italic"/>
                <a:cs typeface="Franklin Gothic Book Italic"/>
              </a:rPr>
              <a:t>Digital Marketing:</a:t>
            </a:r>
            <a:endParaRPr sz="1400">
              <a:latin typeface="Franklin Gothic Book Italic"/>
              <a:cs typeface="Franklin Gothic Book Italic"/>
            </a:endParaRPr>
          </a:p>
          <a:p>
            <a:pPr marL="474980" marR="91440" indent="-462280">
              <a:lnSpc>
                <a:spcPct val="100000"/>
              </a:lnSpc>
              <a:spcBef>
                <a:spcPts val="1320"/>
              </a:spcBef>
              <a:buAutoNum type="arabicPeriod" startAt="6"/>
              <a:tabLst>
                <a:tab pos="474345" algn="l"/>
                <a:tab pos="474980" algn="l"/>
                <a:tab pos="2108835" algn="l"/>
              </a:tabLst>
            </a:pPr>
            <a:r>
              <a:rPr sz="1400" b="1">
                <a:solidFill>
                  <a:srgbClr val="404040"/>
                </a:solidFill>
                <a:latin typeface="Franklin Gothic Book"/>
                <a:cs typeface="Franklin Gothic Book"/>
              </a:rPr>
              <a:t>ROI and the MPC Segments- </a:t>
            </a:r>
            <a:r>
              <a:rPr sz="1400">
                <a:solidFill>
                  <a:srgbClr val="404040"/>
                </a:solidFill>
                <a:latin typeface="Franklin Gothic Book"/>
                <a:cs typeface="Franklin Gothic Book"/>
              </a:rPr>
              <a:t>Look at what type of marketing is being done for what segments. If they are segments that have </a:t>
            </a:r>
            <a:r>
              <a:rPr lang="en-US" sz="1400">
                <a:solidFill>
                  <a:srgbClr val="404040"/>
                </a:solidFill>
                <a:latin typeface="Franklin Gothic Book"/>
                <a:cs typeface="Franklin Gothic Book"/>
              </a:rPr>
              <a:t>a </a:t>
            </a:r>
            <a:r>
              <a:rPr sz="1400">
                <a:solidFill>
                  <a:srgbClr val="404040"/>
                </a:solidFill>
                <a:latin typeface="Franklin Gothic Book"/>
                <a:cs typeface="Franklin Gothic Book"/>
              </a:rPr>
              <a:t>high cost of acquisition, understand the logic. Many are lulled into a high return on investment, i.e. the ROI could be 13:1, but it is on a segment customer base that </a:t>
            </a:r>
            <a:r>
              <a:rPr lang="en-US" sz="1400">
                <a:solidFill>
                  <a:srgbClr val="404040"/>
                </a:solidFill>
                <a:latin typeface="Franklin Gothic Book"/>
                <a:cs typeface="Franklin Gothic Book"/>
              </a:rPr>
              <a:t>is</a:t>
            </a:r>
            <a:r>
              <a:rPr sz="1400">
                <a:solidFill>
                  <a:srgbClr val="404040"/>
                </a:solidFill>
                <a:latin typeface="Franklin Gothic Book"/>
                <a:cs typeface="Franklin Gothic Book"/>
              </a:rPr>
              <a:t> costly.</a:t>
            </a:r>
            <a:r>
              <a:rPr lang="en-US" sz="1400">
                <a:solidFill>
                  <a:srgbClr val="404040"/>
                </a:solidFill>
                <a:latin typeface="Franklin Gothic Book"/>
                <a:cs typeface="Franklin Gothic Book"/>
              </a:rPr>
              <a:t> </a:t>
            </a:r>
            <a:r>
              <a:rPr sz="1400">
                <a:solidFill>
                  <a:srgbClr val="404040"/>
                </a:solidFill>
                <a:latin typeface="Franklin Gothic Book"/>
                <a:cs typeface="Franklin Gothic Book"/>
              </a:rPr>
              <a:t>Moreover, your marketing dollars </a:t>
            </a:r>
            <a:r>
              <a:rPr lang="en-US" sz="1400">
                <a:solidFill>
                  <a:srgbClr val="404040"/>
                </a:solidFill>
                <a:latin typeface="Franklin Gothic Book"/>
                <a:cs typeface="Franklin Gothic Book"/>
              </a:rPr>
              <a:t>are</a:t>
            </a:r>
            <a:r>
              <a:rPr sz="1400">
                <a:solidFill>
                  <a:srgbClr val="404040"/>
                </a:solidFill>
                <a:latin typeface="Franklin Gothic Book"/>
                <a:cs typeface="Franklin Gothic Book"/>
              </a:rPr>
              <a:t> building customer loyalty for a third-party rather than your own business.</a:t>
            </a:r>
            <a:endParaRPr sz="1400">
              <a:latin typeface="Franklin Gothic Book"/>
              <a:cs typeface="Franklin Gothic Book"/>
            </a:endParaRPr>
          </a:p>
          <a:p>
            <a:pPr marL="474980" marR="74295" indent="-462280">
              <a:lnSpc>
                <a:spcPts val="1610"/>
              </a:lnSpc>
              <a:spcBef>
                <a:spcPts val="1430"/>
              </a:spcBef>
              <a:buAutoNum type="arabicPeriod" startAt="6"/>
              <a:tabLst>
                <a:tab pos="474345" algn="l"/>
                <a:tab pos="474980" algn="l"/>
              </a:tabLst>
            </a:pPr>
            <a:r>
              <a:rPr sz="1400" b="1">
                <a:solidFill>
                  <a:srgbClr val="404040"/>
                </a:solidFill>
                <a:latin typeface="Franklin Gothic Book"/>
                <a:cs typeface="Franklin Gothic Book"/>
              </a:rPr>
              <a:t>Marketing </a:t>
            </a:r>
            <a:r>
              <a:rPr lang="en-US" sz="1400" b="1">
                <a:solidFill>
                  <a:srgbClr val="404040"/>
                </a:solidFill>
                <a:latin typeface="Franklin Gothic Book"/>
                <a:cs typeface="Franklin Gothic Book"/>
              </a:rPr>
              <a:t>D</a:t>
            </a:r>
            <a:r>
              <a:rPr sz="1400" b="1">
                <a:solidFill>
                  <a:srgbClr val="404040"/>
                </a:solidFill>
                <a:latin typeface="Franklin Gothic Book"/>
                <a:cs typeface="Franklin Gothic Book"/>
              </a:rPr>
              <a:t>ollars </a:t>
            </a:r>
            <a:r>
              <a:rPr lang="en-US" sz="1400" b="1">
                <a:solidFill>
                  <a:srgbClr val="404040"/>
                </a:solidFill>
                <a:latin typeface="Franklin Gothic Book"/>
                <a:cs typeface="Franklin Gothic Book"/>
              </a:rPr>
              <a:t>S</a:t>
            </a:r>
            <a:r>
              <a:rPr sz="1400" b="1">
                <a:solidFill>
                  <a:srgbClr val="404040"/>
                </a:solidFill>
                <a:latin typeface="Franklin Gothic Book"/>
                <a:cs typeface="Franklin Gothic Book"/>
              </a:rPr>
              <a:t>pend- </a:t>
            </a:r>
            <a:r>
              <a:rPr sz="1400">
                <a:solidFill>
                  <a:srgbClr val="404040"/>
                </a:solidFill>
                <a:latin typeface="Franklin Gothic Book"/>
                <a:cs typeface="Franklin Gothic Book"/>
              </a:rPr>
              <a:t>Breakdown if the marketing dollars are being  spent within;</a:t>
            </a:r>
            <a:endParaRPr sz="1400">
              <a:latin typeface="Franklin Gothic Book"/>
              <a:cs typeface="Franklin Gothic Book"/>
            </a:endParaRPr>
          </a:p>
          <a:p>
            <a:pPr marL="755650" lvl="1" indent="-286385">
              <a:lnSpc>
                <a:spcPts val="1660"/>
              </a:lnSpc>
              <a:buFont typeface="Arial"/>
              <a:buChar char="•"/>
              <a:tabLst>
                <a:tab pos="755015" algn="l"/>
                <a:tab pos="755650" algn="l"/>
              </a:tabLst>
            </a:pPr>
            <a:r>
              <a:rPr sz="1400">
                <a:solidFill>
                  <a:srgbClr val="404040"/>
                </a:solidFill>
                <a:latin typeface="Franklin Gothic Book"/>
                <a:cs typeface="Franklin Gothic Book"/>
              </a:rPr>
              <a:t>Brand Marketing</a:t>
            </a:r>
            <a:endParaRPr sz="1400">
              <a:latin typeface="Franklin Gothic Book"/>
              <a:cs typeface="Franklin Gothic Book"/>
            </a:endParaRPr>
          </a:p>
          <a:p>
            <a:pPr marL="926465" marR="338455">
              <a:lnSpc>
                <a:spcPct val="100699"/>
              </a:lnSpc>
              <a:spcBef>
                <a:spcPts val="15"/>
              </a:spcBef>
            </a:pPr>
            <a:r>
              <a:rPr sz="1400">
                <a:solidFill>
                  <a:srgbClr val="404040"/>
                </a:solidFill>
                <a:latin typeface="Franklin Gothic Book"/>
                <a:cs typeface="Franklin Gothic Book"/>
              </a:rPr>
              <a:t>Learning: brand marketing has been scaled back significantly  within large brands. In some cases they are down to sparse  services for an important discipline that creates demand</a:t>
            </a:r>
            <a:r>
              <a:rPr sz="1400" spc="-5">
                <a:solidFill>
                  <a:srgbClr val="404040"/>
                </a:solidFill>
                <a:latin typeface="Franklin Gothic Book"/>
                <a:cs typeface="Franklin Gothic Book"/>
              </a:rPr>
              <a:t>.</a:t>
            </a:r>
            <a:endParaRPr sz="1400">
              <a:latin typeface="Franklin Gothic Book"/>
              <a:cs typeface="Franklin Gothic Book"/>
            </a:endParaRPr>
          </a:p>
        </p:txBody>
      </p:sp>
      <p:sp>
        <p:nvSpPr>
          <p:cNvPr id="7" name="object 8">
            <a:extLst>
              <a:ext uri="{FF2B5EF4-FFF2-40B4-BE49-F238E27FC236}">
                <a16:creationId xmlns:a16="http://schemas.microsoft.com/office/drawing/2014/main" id="{3018B7F3-D288-8B55-B28A-5CD158023C0C}"/>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tx1">
                    <a:lumMod val="75000"/>
                    <a:lumOff val="25000"/>
                  </a:schemeClr>
                </a:solidFill>
                <a:latin typeface="Franklin Gothic Book"/>
                <a:cs typeface="Franklin Gothic Book"/>
              </a:rPr>
              <a:t>What Good Looks Like:  Revenue Strategy I 2024</a:t>
            </a:r>
            <a:endParaRPr sz="900">
              <a:solidFill>
                <a:schemeClr val="tx1">
                  <a:lumMod val="75000"/>
                  <a:lumOff val="25000"/>
                </a:schemeClr>
              </a:solidFill>
              <a:latin typeface="Franklin Gothic Book"/>
              <a:cs typeface="Franklin Gothic Book"/>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286498" y="8730488"/>
            <a:ext cx="139700" cy="162560"/>
          </a:xfrm>
          <a:prstGeom prst="rect">
            <a:avLst/>
          </a:prstGeom>
        </p:spPr>
        <p:txBody>
          <a:bodyPr vert="horz" wrap="square" lIns="0" tIns="12700" rIns="0" bIns="0" rtlCol="0">
            <a:spAutoFit/>
          </a:bodyPr>
          <a:lstStyle/>
          <a:p>
            <a:pPr marL="12700">
              <a:lnSpc>
                <a:spcPct val="100000"/>
              </a:lnSpc>
              <a:spcBef>
                <a:spcPts val="100"/>
              </a:spcBef>
            </a:pPr>
            <a:r>
              <a:rPr sz="900" spc="-10">
                <a:solidFill>
                  <a:srgbClr val="898989"/>
                </a:solidFill>
                <a:latin typeface="Calibri"/>
                <a:cs typeface="Calibri"/>
              </a:rPr>
              <a:t>15</a:t>
            </a:r>
            <a:endParaRPr sz="900">
              <a:latin typeface="Calibri"/>
              <a:cs typeface="Calibri"/>
            </a:endParaRPr>
          </a:p>
        </p:txBody>
      </p:sp>
      <p:sp>
        <p:nvSpPr>
          <p:cNvPr id="4" name="object 4"/>
          <p:cNvSpPr txBox="1">
            <a:spLocks noGrp="1"/>
          </p:cNvSpPr>
          <p:nvPr>
            <p:ph type="title" idx="4294967295"/>
          </p:nvPr>
        </p:nvSpPr>
        <p:spPr>
          <a:xfrm>
            <a:off x="0" y="315913"/>
            <a:ext cx="6591300" cy="307975"/>
          </a:xfrm>
          <a:prstGeom prst="rect">
            <a:avLst/>
          </a:prstGeom>
        </p:spPr>
        <p:txBody>
          <a:bodyPr vert="horz" wrap="square" lIns="0" tIns="12700" rIns="0" bIns="0" rtlCol="0">
            <a:spAutoFit/>
          </a:bodyPr>
          <a:lstStyle/>
          <a:p>
            <a:pPr marL="12700">
              <a:lnSpc>
                <a:spcPct val="100000"/>
              </a:lnSpc>
              <a:spcBef>
                <a:spcPts val="100"/>
              </a:spcBef>
            </a:pPr>
            <a:r>
              <a:t>10 Critical Areas to </a:t>
            </a:r>
            <a:r>
              <a:rPr lang="en-US"/>
              <a:t>a </a:t>
            </a:r>
            <a:r>
              <a:t>Successful Top-Line Revenue Budget</a:t>
            </a:r>
          </a:p>
        </p:txBody>
      </p:sp>
      <p:sp>
        <p:nvSpPr>
          <p:cNvPr id="5" name="object 5"/>
          <p:cNvSpPr/>
          <p:nvPr/>
        </p:nvSpPr>
        <p:spPr>
          <a:xfrm>
            <a:off x="228600" y="838200"/>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6"/>
          <p:cNvSpPr txBox="1"/>
          <p:nvPr/>
        </p:nvSpPr>
        <p:spPr>
          <a:xfrm>
            <a:off x="316228" y="1024049"/>
            <a:ext cx="6109970" cy="7496924"/>
          </a:xfrm>
          <a:prstGeom prst="rect">
            <a:avLst/>
          </a:prstGeom>
        </p:spPr>
        <p:txBody>
          <a:bodyPr vert="horz" wrap="square" lIns="0" tIns="12700" rIns="0" bIns="0" rtlCol="0">
            <a:spAutoFit/>
          </a:bodyPr>
          <a:lstStyle/>
          <a:p>
            <a:pPr marL="755650" indent="-285750">
              <a:lnSpc>
                <a:spcPts val="1645"/>
              </a:lnSpc>
              <a:spcBef>
                <a:spcPts val="100"/>
              </a:spcBef>
              <a:buFont typeface="Arial"/>
              <a:buChar char="•"/>
              <a:tabLst>
                <a:tab pos="755015" algn="l"/>
                <a:tab pos="755650" algn="l"/>
              </a:tabLst>
            </a:pPr>
            <a:r>
              <a:rPr sz="1400">
                <a:solidFill>
                  <a:srgbClr val="404040"/>
                </a:solidFill>
                <a:latin typeface="Franklin Gothic Book"/>
                <a:cs typeface="Franklin Gothic Book"/>
              </a:rPr>
              <a:t>Enterprise Marketing</a:t>
            </a:r>
            <a:endParaRPr sz="1400">
              <a:latin typeface="Franklin Gothic Book"/>
              <a:cs typeface="Franklin Gothic Book"/>
            </a:endParaRPr>
          </a:p>
          <a:p>
            <a:pPr marL="927100" marR="40005">
              <a:lnSpc>
                <a:spcPts val="1700"/>
              </a:lnSpc>
              <a:spcBef>
                <a:spcPts val="5"/>
              </a:spcBef>
              <a:tabLst>
                <a:tab pos="4904105" algn="l"/>
              </a:tabLst>
            </a:pPr>
            <a:r>
              <a:rPr sz="1400">
                <a:solidFill>
                  <a:srgbClr val="404040"/>
                </a:solidFill>
                <a:latin typeface="Franklin Gothic Book"/>
                <a:cs typeface="Franklin Gothic Book"/>
              </a:rPr>
              <a:t>Learning: enterprise marketing focuses on the product and has very  low return, the metric that is used with enterprise marketing is a type  of marketing that drives awareness and evoked set.</a:t>
            </a:r>
            <a:r>
              <a:rPr lang="en-US" sz="1400">
                <a:solidFill>
                  <a:srgbClr val="404040"/>
                </a:solidFill>
                <a:latin typeface="Franklin Gothic Book"/>
                <a:cs typeface="Franklin Gothic Book"/>
              </a:rPr>
              <a:t> </a:t>
            </a:r>
            <a:r>
              <a:rPr sz="1400">
                <a:solidFill>
                  <a:srgbClr val="404040"/>
                </a:solidFill>
                <a:latin typeface="Franklin Gothic Book"/>
                <a:cs typeface="Franklin Gothic Book"/>
              </a:rPr>
              <a:t>It is the most  difficult to get a return.</a:t>
            </a:r>
            <a:endParaRPr sz="1400">
              <a:latin typeface="Franklin Gothic Book"/>
              <a:cs typeface="Franklin Gothic Book"/>
            </a:endParaRPr>
          </a:p>
          <a:p>
            <a:pPr marL="755650" indent="-285750">
              <a:lnSpc>
                <a:spcPct val="100000"/>
              </a:lnSpc>
              <a:spcBef>
                <a:spcPts val="1365"/>
              </a:spcBef>
              <a:buFont typeface="Arial"/>
              <a:buChar char="•"/>
              <a:tabLst>
                <a:tab pos="755015" algn="l"/>
                <a:tab pos="755650" algn="l"/>
              </a:tabLst>
            </a:pPr>
            <a:r>
              <a:rPr sz="1400">
                <a:solidFill>
                  <a:srgbClr val="404040"/>
                </a:solidFill>
                <a:latin typeface="Franklin Gothic Book"/>
                <a:cs typeface="Franklin Gothic Book"/>
              </a:rPr>
              <a:t>Targeted Marketing</a:t>
            </a:r>
            <a:endParaRPr sz="1400">
              <a:latin typeface="Franklin Gothic Book"/>
              <a:cs typeface="Franklin Gothic Book"/>
            </a:endParaRPr>
          </a:p>
          <a:p>
            <a:pPr marL="927100" marR="123825">
              <a:lnSpc>
                <a:spcPct val="100000"/>
              </a:lnSpc>
              <a:spcBef>
                <a:spcPts val="25"/>
              </a:spcBef>
            </a:pPr>
            <a:r>
              <a:rPr sz="1400">
                <a:solidFill>
                  <a:srgbClr val="404040"/>
                </a:solidFill>
                <a:latin typeface="Franklin Gothic Book"/>
                <a:cs typeface="Franklin Gothic Book"/>
              </a:rPr>
              <a:t>Learning: is the most effective and needs to be directed to the  Most Profitable Customer (MPC) with a targeted approach.</a:t>
            </a:r>
            <a:endParaRPr sz="1400">
              <a:latin typeface="Franklin Gothic Book"/>
              <a:cs typeface="Franklin Gothic Book"/>
            </a:endParaRPr>
          </a:p>
          <a:p>
            <a:pPr>
              <a:lnSpc>
                <a:spcPct val="100000"/>
              </a:lnSpc>
              <a:spcBef>
                <a:spcPts val="20"/>
              </a:spcBef>
            </a:pPr>
            <a:endParaRPr sz="1100">
              <a:latin typeface="Franklin Gothic Book"/>
              <a:cs typeface="Franklin Gothic Book"/>
            </a:endParaRPr>
          </a:p>
          <a:p>
            <a:pPr marL="469900" marR="5080">
              <a:lnSpc>
                <a:spcPct val="100000"/>
              </a:lnSpc>
              <a:tabLst>
                <a:tab pos="1052195" algn="l"/>
                <a:tab pos="2178050" algn="l"/>
              </a:tabLst>
            </a:pPr>
            <a:r>
              <a:rPr sz="1400">
                <a:solidFill>
                  <a:srgbClr val="404040"/>
                </a:solidFill>
                <a:latin typeface="Franklin Gothic Book"/>
                <a:cs typeface="Franklin Gothic Book"/>
              </a:rPr>
              <a:t>Seek to understand what segments the marketing dollars are looking to  impact and the Return On Ad Spend (ROAS) or what</a:t>
            </a:r>
            <a:r>
              <a:rPr lang="en-US" sz="1400">
                <a:solidFill>
                  <a:srgbClr val="404040"/>
                </a:solidFill>
                <a:latin typeface="Franklin Gothic Book"/>
                <a:cs typeface="Franklin Gothic Book"/>
              </a:rPr>
              <a:t>ever</a:t>
            </a:r>
            <a:r>
              <a:rPr sz="1400">
                <a:solidFill>
                  <a:srgbClr val="404040"/>
                </a:solidFill>
                <a:latin typeface="Franklin Gothic Book"/>
                <a:cs typeface="Franklin Gothic Book"/>
              </a:rPr>
              <a:t> other metric  they are using.</a:t>
            </a:r>
            <a:r>
              <a:rPr lang="en-US" sz="1400">
                <a:solidFill>
                  <a:srgbClr val="404040"/>
                </a:solidFill>
                <a:latin typeface="Franklin Gothic Book"/>
                <a:cs typeface="Franklin Gothic Book"/>
              </a:rPr>
              <a:t> </a:t>
            </a:r>
            <a:r>
              <a:rPr sz="1400">
                <a:solidFill>
                  <a:srgbClr val="404040"/>
                </a:solidFill>
                <a:latin typeface="Franklin Gothic Book"/>
                <a:cs typeface="Franklin Gothic Book"/>
              </a:rPr>
              <a:t>Remember that although there may be a high return, look to ensure that the focus is on the segment that you need to capitalize upon, rather </a:t>
            </a:r>
            <a:r>
              <a:rPr lang="en-US" sz="1400">
                <a:solidFill>
                  <a:srgbClr val="404040"/>
                </a:solidFill>
                <a:latin typeface="Franklin Gothic Book"/>
                <a:cs typeface="Franklin Gothic Book"/>
              </a:rPr>
              <a:t>than </a:t>
            </a:r>
            <a:r>
              <a:rPr sz="1400">
                <a:solidFill>
                  <a:srgbClr val="404040"/>
                </a:solidFill>
                <a:latin typeface="Franklin Gothic Book"/>
                <a:cs typeface="Franklin Gothic Book"/>
              </a:rPr>
              <a:t>what is easiest to do</a:t>
            </a:r>
            <a:r>
              <a:rPr lang="en-US" sz="1400">
                <a:solidFill>
                  <a:srgbClr val="404040"/>
                </a:solidFill>
                <a:latin typeface="Franklin Gothic Book"/>
                <a:cs typeface="Franklin Gothic Book"/>
              </a:rPr>
              <a:t>. </a:t>
            </a:r>
            <a:r>
              <a:rPr sz="1400">
                <a:solidFill>
                  <a:srgbClr val="404040"/>
                </a:solidFill>
                <a:latin typeface="Franklin Gothic Book"/>
                <a:cs typeface="Franklin Gothic Book"/>
              </a:rPr>
              <a:t>There is a reason why OTA’s are making advertising so customer friendly.</a:t>
            </a:r>
            <a:endParaRPr sz="1400">
              <a:latin typeface="Franklin Gothic Book"/>
              <a:cs typeface="Franklin Gothic Book"/>
            </a:endParaRPr>
          </a:p>
          <a:p>
            <a:pPr marL="12700">
              <a:lnSpc>
                <a:spcPct val="100000"/>
              </a:lnSpc>
              <a:spcBef>
                <a:spcPts val="1320"/>
              </a:spcBef>
            </a:pPr>
            <a:r>
              <a:rPr sz="1400" i="1">
                <a:solidFill>
                  <a:srgbClr val="404040"/>
                </a:solidFill>
                <a:latin typeface="Franklin Gothic Book Italic"/>
                <a:cs typeface="Franklin Gothic Book Italic"/>
              </a:rPr>
              <a:t>Revenue Management:</a:t>
            </a:r>
            <a:endParaRPr sz="1400">
              <a:latin typeface="Franklin Gothic Book Italic"/>
              <a:cs typeface="Franklin Gothic Book Italic"/>
            </a:endParaRPr>
          </a:p>
          <a:p>
            <a:pPr>
              <a:lnSpc>
                <a:spcPct val="100000"/>
              </a:lnSpc>
            </a:pPr>
            <a:endParaRPr sz="1100">
              <a:latin typeface="Franklin Gothic Book Italic"/>
              <a:cs typeface="Franklin Gothic Book Italic"/>
            </a:endParaRPr>
          </a:p>
          <a:p>
            <a:pPr marL="422275" marR="55880" indent="-409575">
              <a:lnSpc>
                <a:spcPct val="101400"/>
              </a:lnSpc>
              <a:buAutoNum type="arabicPeriod" startAt="8"/>
              <a:tabLst>
                <a:tab pos="421640" algn="l"/>
                <a:tab pos="422275" algn="l"/>
              </a:tabLst>
            </a:pPr>
            <a:r>
              <a:rPr sz="1400" b="1">
                <a:solidFill>
                  <a:srgbClr val="404040"/>
                </a:solidFill>
                <a:latin typeface="Franklin Gothic Book"/>
                <a:cs typeface="Franklin Gothic Book"/>
              </a:rPr>
              <a:t>Mix Modeling-</a:t>
            </a:r>
            <a:r>
              <a:rPr sz="1400">
                <a:solidFill>
                  <a:srgbClr val="404040"/>
                </a:solidFill>
                <a:latin typeface="Franklin Gothic Book"/>
                <a:cs typeface="Franklin Gothic Book"/>
              </a:rPr>
              <a:t> </a:t>
            </a:r>
            <a:r>
              <a:rPr lang="en-US" sz="1400">
                <a:solidFill>
                  <a:srgbClr val="404040"/>
                </a:solidFill>
                <a:latin typeface="Franklin Gothic Book"/>
                <a:cs typeface="Franklin Gothic Book"/>
              </a:rPr>
              <a:t> </a:t>
            </a:r>
            <a:r>
              <a:rPr sz="1400">
                <a:solidFill>
                  <a:srgbClr val="404040"/>
                </a:solidFill>
                <a:latin typeface="Franklin Gothic Book"/>
                <a:cs typeface="Franklin Gothic Book"/>
              </a:rPr>
              <a:t>Ask to see a few revenue models or assumption models that re-mix the business.</a:t>
            </a:r>
            <a:r>
              <a:rPr lang="en-US" sz="1400">
                <a:solidFill>
                  <a:srgbClr val="404040"/>
                </a:solidFill>
                <a:latin typeface="Franklin Gothic Book"/>
                <a:cs typeface="Franklin Gothic Book"/>
              </a:rPr>
              <a:t>  Ensure that they have the strategy, competencies, and capabilities to achieve that mix.  Understand shifting mix requires a change in behavior and habit.  We find that teams plan to shift mix, but often fall short as they work to execute.</a:t>
            </a:r>
            <a:endParaRPr sz="1400">
              <a:latin typeface="Franklin Gothic Book"/>
              <a:cs typeface="Franklin Gothic Book"/>
            </a:endParaRPr>
          </a:p>
          <a:p>
            <a:pPr marL="422275" marR="187325" indent="-409575">
              <a:lnSpc>
                <a:spcPct val="99600"/>
              </a:lnSpc>
              <a:spcBef>
                <a:spcPts val="1325"/>
              </a:spcBef>
              <a:buAutoNum type="arabicPeriod" startAt="8"/>
              <a:tabLst>
                <a:tab pos="421640" algn="l"/>
                <a:tab pos="422275" algn="l"/>
                <a:tab pos="5022215" algn="l"/>
              </a:tabLst>
            </a:pPr>
            <a:r>
              <a:rPr sz="1400" b="1">
                <a:solidFill>
                  <a:srgbClr val="404040"/>
                </a:solidFill>
                <a:latin typeface="Franklin Gothic Book"/>
                <a:cs typeface="Franklin Gothic Book"/>
              </a:rPr>
              <a:t>Segment Strategy- </a:t>
            </a:r>
            <a:r>
              <a:rPr sz="1400">
                <a:solidFill>
                  <a:srgbClr val="404040"/>
                </a:solidFill>
                <a:latin typeface="Franklin Gothic Book"/>
                <a:cs typeface="Franklin Gothic Book"/>
              </a:rPr>
              <a:t>Review segment strategy of those accounts that are predominately managed by the revenue management team</a:t>
            </a:r>
            <a:r>
              <a:rPr lang="en-US" sz="1400">
                <a:solidFill>
                  <a:srgbClr val="404040"/>
                </a:solidFill>
                <a:latin typeface="Franklin Gothic Book"/>
                <a:cs typeface="Franklin Gothic Book"/>
              </a:rPr>
              <a:t>. </a:t>
            </a:r>
            <a:r>
              <a:rPr sz="1400">
                <a:solidFill>
                  <a:srgbClr val="404040"/>
                </a:solidFill>
                <a:latin typeface="Franklin Gothic Book"/>
                <a:cs typeface="Franklin Gothic Book"/>
              </a:rPr>
              <a:t>They too  should have segment strategies and tactics. They should be able to  demonstrate how that strategy supports the financial goals of the specific  segment.</a:t>
            </a:r>
            <a:endParaRPr sz="1400">
              <a:latin typeface="Franklin Gothic Book"/>
              <a:cs typeface="Franklin Gothic Book"/>
            </a:endParaRPr>
          </a:p>
          <a:p>
            <a:pPr>
              <a:lnSpc>
                <a:spcPct val="100000"/>
              </a:lnSpc>
              <a:spcBef>
                <a:spcPts val="45"/>
              </a:spcBef>
              <a:buClr>
                <a:srgbClr val="404040"/>
              </a:buClr>
              <a:buFont typeface="Franklin Gothic Book"/>
              <a:buAutoNum type="arabicPeriod" startAt="8"/>
            </a:pPr>
            <a:endParaRPr sz="1100">
              <a:latin typeface="Franklin Gothic Book"/>
              <a:cs typeface="Franklin Gothic Book"/>
            </a:endParaRPr>
          </a:p>
          <a:p>
            <a:pPr marL="469900" marR="289560" indent="-457200">
              <a:lnSpc>
                <a:spcPct val="99000"/>
              </a:lnSpc>
              <a:buAutoNum type="arabicPeriod" startAt="8"/>
              <a:tabLst>
                <a:tab pos="469265" algn="l"/>
                <a:tab pos="469900" algn="l"/>
                <a:tab pos="1628139" algn="l"/>
              </a:tabLst>
            </a:pPr>
            <a:r>
              <a:rPr sz="1400" b="1">
                <a:solidFill>
                  <a:srgbClr val="404040"/>
                </a:solidFill>
                <a:latin typeface="Franklin Gothic Book"/>
                <a:cs typeface="Franklin Gothic Book"/>
              </a:rPr>
              <a:t>OTA Strategy-</a:t>
            </a:r>
            <a:r>
              <a:rPr lang="en-US" sz="1400">
                <a:solidFill>
                  <a:srgbClr val="404040"/>
                </a:solidFill>
                <a:latin typeface="Franklin Gothic Book"/>
                <a:cs typeface="Franklin Gothic Book"/>
              </a:rPr>
              <a:t>  </a:t>
            </a:r>
            <a:r>
              <a:rPr sz="1400">
                <a:solidFill>
                  <a:srgbClr val="404040"/>
                </a:solidFill>
                <a:latin typeface="Franklin Gothic Book"/>
                <a:cs typeface="Franklin Gothic Book"/>
              </a:rPr>
              <a:t>In today’s economy 30% occupancy is the new 100%. Make sure that the OTA strategy is not their strategy for recovery. The price and cost of acquisition is not the only answer. If this is their only strategy, then sales and marketing must start engaging with customers.</a:t>
            </a:r>
            <a:endParaRPr sz="1400">
              <a:latin typeface="Franklin Gothic Book"/>
              <a:cs typeface="Franklin Gothic Book"/>
            </a:endParaRPr>
          </a:p>
        </p:txBody>
      </p:sp>
      <p:sp>
        <p:nvSpPr>
          <p:cNvPr id="2" name="object 8">
            <a:extLst>
              <a:ext uri="{FF2B5EF4-FFF2-40B4-BE49-F238E27FC236}">
                <a16:creationId xmlns:a16="http://schemas.microsoft.com/office/drawing/2014/main" id="{CFF94985-CCB8-5FE4-1BF8-C7C1314449A4}"/>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tx1">
                    <a:lumMod val="75000"/>
                    <a:lumOff val="25000"/>
                  </a:schemeClr>
                </a:solidFill>
                <a:latin typeface="Franklin Gothic Book"/>
                <a:cs typeface="Franklin Gothic Book"/>
              </a:rPr>
              <a:t>What Good Looks Like:  Revenue Strategy I 2024</a:t>
            </a:r>
            <a:endParaRPr sz="900">
              <a:solidFill>
                <a:schemeClr val="tx1">
                  <a:lumMod val="75000"/>
                  <a:lumOff val="25000"/>
                </a:schemeClr>
              </a:solidFill>
              <a:latin typeface="Franklin Gothic Book"/>
              <a:cs typeface="Franklin Gothic Book"/>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854825" cy="9144000"/>
          </a:xfrm>
          <a:custGeom>
            <a:avLst/>
            <a:gdLst/>
            <a:ahLst/>
            <a:cxnLst/>
            <a:rect l="l" t="t" r="r" b="b"/>
            <a:pathLst>
              <a:path w="6854825" h="9144000">
                <a:moveTo>
                  <a:pt x="0" y="9144000"/>
                </a:moveTo>
                <a:lnTo>
                  <a:pt x="0" y="0"/>
                </a:lnTo>
                <a:lnTo>
                  <a:pt x="6854426" y="0"/>
                </a:lnTo>
                <a:lnTo>
                  <a:pt x="6854426" y="9143999"/>
                </a:lnTo>
                <a:lnTo>
                  <a:pt x="0" y="9144000"/>
                </a:lnTo>
                <a:close/>
              </a:path>
            </a:pathLst>
          </a:custGeom>
          <a:solidFill>
            <a:srgbClr val="555759"/>
          </a:solidFill>
        </p:spPr>
        <p:txBody>
          <a:bodyPr wrap="square" lIns="0" tIns="0" rIns="0" bIns="0" rtlCol="0"/>
          <a:lstStyle/>
          <a:p>
            <a:endParaRPr/>
          </a:p>
        </p:txBody>
      </p:sp>
      <p:sp>
        <p:nvSpPr>
          <p:cNvPr id="3" name="object 3"/>
          <p:cNvSpPr/>
          <p:nvPr/>
        </p:nvSpPr>
        <p:spPr>
          <a:xfrm>
            <a:off x="0" y="0"/>
            <a:ext cx="6854825" cy="9144000"/>
          </a:xfrm>
          <a:custGeom>
            <a:avLst/>
            <a:gdLst/>
            <a:ahLst/>
            <a:cxnLst/>
            <a:rect l="l" t="t" r="r" b="b"/>
            <a:pathLst>
              <a:path w="6854825" h="9144000">
                <a:moveTo>
                  <a:pt x="0" y="0"/>
                </a:moveTo>
                <a:lnTo>
                  <a:pt x="6854426" y="0"/>
                </a:lnTo>
                <a:lnTo>
                  <a:pt x="6854426" y="9143999"/>
                </a:lnTo>
              </a:path>
            </a:pathLst>
          </a:custGeom>
          <a:ln w="12700">
            <a:solidFill>
              <a:srgbClr val="3C3E8F"/>
            </a:solidFill>
          </a:ln>
        </p:spPr>
        <p:txBody>
          <a:bodyPr wrap="square" lIns="0" tIns="0" rIns="0" bIns="0" rtlCol="0"/>
          <a:lstStyle/>
          <a:p>
            <a:endParaRPr/>
          </a:p>
        </p:txBody>
      </p:sp>
      <p:sp>
        <p:nvSpPr>
          <p:cNvPr id="4" name="object 4"/>
          <p:cNvSpPr/>
          <p:nvPr/>
        </p:nvSpPr>
        <p:spPr>
          <a:xfrm>
            <a:off x="334209" y="7574061"/>
            <a:ext cx="1219200" cy="1569938"/>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303196" y="-2514600"/>
            <a:ext cx="6408420" cy="13086080"/>
          </a:xfrm>
          <a:prstGeom prst="rect">
            <a:avLst/>
          </a:prstGeom>
        </p:spPr>
        <p:txBody>
          <a:bodyPr vert="horz" wrap="square" lIns="0" tIns="12700" rIns="0" bIns="0" rtlCol="0">
            <a:spAutoFit/>
          </a:bodyPr>
          <a:lstStyle/>
          <a:p>
            <a:pPr marL="12700">
              <a:lnSpc>
                <a:spcPct val="100000"/>
              </a:lnSpc>
              <a:spcBef>
                <a:spcPts val="100"/>
              </a:spcBef>
            </a:pPr>
            <a:r>
              <a:rPr sz="85700">
                <a:solidFill>
                  <a:srgbClr val="D51067"/>
                </a:solidFill>
                <a:latin typeface="Franklin Gothic Medium"/>
                <a:cs typeface="Franklin Gothic Medium"/>
              </a:rPr>
              <a:t>5</a:t>
            </a:r>
            <a:endParaRPr sz="85700">
              <a:latin typeface="Franklin Gothic Medium"/>
              <a:cs typeface="Franklin Gothic Medium"/>
            </a:endParaRPr>
          </a:p>
        </p:txBody>
      </p:sp>
      <p:sp>
        <p:nvSpPr>
          <p:cNvPr id="8" name="object 8"/>
          <p:cNvSpPr txBox="1"/>
          <p:nvPr/>
        </p:nvSpPr>
        <p:spPr>
          <a:xfrm>
            <a:off x="6166802" y="8623807"/>
            <a:ext cx="139700" cy="162560"/>
          </a:xfrm>
          <a:prstGeom prst="rect">
            <a:avLst/>
          </a:prstGeom>
        </p:spPr>
        <p:txBody>
          <a:bodyPr vert="horz" wrap="square" lIns="0" tIns="12700" rIns="0" bIns="0" rtlCol="0">
            <a:spAutoFit/>
          </a:bodyPr>
          <a:lstStyle/>
          <a:p>
            <a:pPr marL="12700">
              <a:lnSpc>
                <a:spcPct val="100000"/>
              </a:lnSpc>
              <a:spcBef>
                <a:spcPts val="100"/>
              </a:spcBef>
            </a:pPr>
            <a:r>
              <a:rPr sz="900" spc="-10">
                <a:solidFill>
                  <a:srgbClr val="FFFFFF"/>
                </a:solidFill>
                <a:latin typeface="Calibri"/>
                <a:cs typeface="Calibri"/>
              </a:rPr>
              <a:t>16</a:t>
            </a:r>
            <a:endParaRPr sz="900">
              <a:latin typeface="Calibri"/>
              <a:cs typeface="Calibri"/>
            </a:endParaRPr>
          </a:p>
        </p:txBody>
      </p:sp>
      <p:sp>
        <p:nvSpPr>
          <p:cNvPr id="9" name="object 9"/>
          <p:cNvSpPr txBox="1"/>
          <p:nvPr/>
        </p:nvSpPr>
        <p:spPr>
          <a:xfrm>
            <a:off x="4436240" y="5462523"/>
            <a:ext cx="2111375" cy="452120"/>
          </a:xfrm>
          <a:prstGeom prst="rect">
            <a:avLst/>
          </a:prstGeom>
        </p:spPr>
        <p:txBody>
          <a:bodyPr vert="horz" wrap="square" lIns="0" tIns="12700" rIns="0" bIns="0" rtlCol="0">
            <a:spAutoFit/>
          </a:bodyPr>
          <a:lstStyle/>
          <a:p>
            <a:pPr marL="12700">
              <a:lnSpc>
                <a:spcPct val="100000"/>
              </a:lnSpc>
              <a:spcBef>
                <a:spcPts val="100"/>
              </a:spcBef>
            </a:pPr>
            <a:r>
              <a:rPr sz="2800" i="1" spc="-5">
                <a:solidFill>
                  <a:srgbClr val="FFFFFF"/>
                </a:solidFill>
                <a:latin typeface="Franklin Gothic Book Italic"/>
                <a:cs typeface="Franklin Gothic Book Italic"/>
              </a:rPr>
              <a:t>The</a:t>
            </a:r>
            <a:r>
              <a:rPr sz="2800" i="1" spc="-85">
                <a:solidFill>
                  <a:srgbClr val="FFFFFF"/>
                </a:solidFill>
                <a:latin typeface="Franklin Gothic Book Italic"/>
                <a:cs typeface="Franklin Gothic Book Italic"/>
              </a:rPr>
              <a:t> </a:t>
            </a:r>
            <a:r>
              <a:rPr sz="2800" i="1" spc="-50">
                <a:solidFill>
                  <a:srgbClr val="FFFFFF"/>
                </a:solidFill>
                <a:latin typeface="Franklin Gothic Book Italic"/>
                <a:cs typeface="Franklin Gothic Book Italic"/>
              </a:rPr>
              <a:t>Takeaway</a:t>
            </a:r>
            <a:endParaRPr sz="2800">
              <a:latin typeface="Franklin Gothic Book Italic"/>
              <a:cs typeface="Franklin Gothic Book Italic"/>
            </a:endParaRPr>
          </a:p>
        </p:txBody>
      </p:sp>
      <p:sp>
        <p:nvSpPr>
          <p:cNvPr id="6" name="object 8">
            <a:extLst>
              <a:ext uri="{FF2B5EF4-FFF2-40B4-BE49-F238E27FC236}">
                <a16:creationId xmlns:a16="http://schemas.microsoft.com/office/drawing/2014/main" id="{CD0DD243-2EC8-EEE0-EEF8-055B228E28BC}"/>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bg1"/>
                </a:solidFill>
                <a:latin typeface="Franklin Gothic Book"/>
                <a:cs typeface="Franklin Gothic Book"/>
              </a:rPr>
              <a:t>What Good Looks Like:  Revenue Strategy I 2024</a:t>
            </a:r>
            <a:endParaRPr sz="900">
              <a:solidFill>
                <a:schemeClr val="bg1"/>
              </a:solidFill>
              <a:latin typeface="Franklin Gothic Book"/>
              <a:cs typeface="Franklin Gothic Book"/>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228600"/>
            <a:ext cx="1506538" cy="330200"/>
          </a:xfrm>
          <a:prstGeom prst="rect">
            <a:avLst/>
          </a:prstGeom>
        </p:spPr>
        <p:txBody>
          <a:bodyPr vert="horz" wrap="square" lIns="0" tIns="12700" rIns="0" bIns="0" rtlCol="0">
            <a:spAutoFit/>
          </a:bodyPr>
          <a:lstStyle/>
          <a:p>
            <a:pPr marL="12700">
              <a:lnSpc>
                <a:spcPct val="100000"/>
              </a:lnSpc>
              <a:spcBef>
                <a:spcPts val="100"/>
              </a:spcBef>
            </a:pPr>
            <a:r>
              <a:rPr spc="-5"/>
              <a:t>The</a:t>
            </a:r>
            <a:r>
              <a:rPr spc="-65"/>
              <a:t> </a:t>
            </a:r>
            <a:r>
              <a:rPr spc="-40"/>
              <a:t>Takeaway</a:t>
            </a:r>
          </a:p>
        </p:txBody>
      </p:sp>
      <p:sp>
        <p:nvSpPr>
          <p:cNvPr id="4" name="object 4"/>
          <p:cNvSpPr txBox="1"/>
          <p:nvPr/>
        </p:nvSpPr>
        <p:spPr>
          <a:xfrm>
            <a:off x="6286498" y="8730488"/>
            <a:ext cx="139700" cy="162560"/>
          </a:xfrm>
          <a:prstGeom prst="rect">
            <a:avLst/>
          </a:prstGeom>
        </p:spPr>
        <p:txBody>
          <a:bodyPr vert="horz" wrap="square" lIns="0" tIns="12700" rIns="0" bIns="0" rtlCol="0">
            <a:spAutoFit/>
          </a:bodyPr>
          <a:lstStyle/>
          <a:p>
            <a:pPr marL="12700">
              <a:lnSpc>
                <a:spcPct val="100000"/>
              </a:lnSpc>
              <a:spcBef>
                <a:spcPts val="100"/>
              </a:spcBef>
            </a:pPr>
            <a:r>
              <a:rPr sz="900" spc="-10">
                <a:solidFill>
                  <a:srgbClr val="898989"/>
                </a:solidFill>
                <a:latin typeface="Calibri"/>
                <a:cs typeface="Calibri"/>
              </a:rPr>
              <a:t>17</a:t>
            </a:r>
            <a:endParaRPr sz="900">
              <a:latin typeface="Calibri"/>
              <a:cs typeface="Calibri"/>
            </a:endParaRPr>
          </a:p>
        </p:txBody>
      </p:sp>
      <p:sp>
        <p:nvSpPr>
          <p:cNvPr id="5" name="object 5"/>
          <p:cNvSpPr/>
          <p:nvPr/>
        </p:nvSpPr>
        <p:spPr>
          <a:xfrm>
            <a:off x="218325" y="755355"/>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6"/>
          <p:cNvSpPr txBox="1"/>
          <p:nvPr/>
        </p:nvSpPr>
        <p:spPr>
          <a:xfrm>
            <a:off x="533400" y="848097"/>
            <a:ext cx="6073775" cy="4152932"/>
          </a:xfrm>
          <a:prstGeom prst="rect">
            <a:avLst/>
          </a:prstGeom>
        </p:spPr>
        <p:txBody>
          <a:bodyPr vert="horz" wrap="square" lIns="0" tIns="12700" rIns="0" bIns="0" rtlCol="0">
            <a:spAutoFit/>
          </a:bodyPr>
          <a:lstStyle/>
          <a:p>
            <a:pPr marL="12700">
              <a:lnSpc>
                <a:spcPct val="100000"/>
              </a:lnSpc>
              <a:spcBef>
                <a:spcPts val="100"/>
              </a:spcBef>
            </a:pPr>
            <a:r>
              <a:rPr sz="1400">
                <a:solidFill>
                  <a:srgbClr val="404040"/>
                </a:solidFill>
                <a:latin typeface="Franklin Gothic Medium"/>
                <a:cs typeface="Franklin Gothic Medium"/>
              </a:rPr>
              <a:t>History has shown us</a:t>
            </a:r>
            <a:r>
              <a:rPr sz="1400">
                <a:solidFill>
                  <a:srgbClr val="404040"/>
                </a:solidFill>
                <a:latin typeface="Franklin Gothic Book"/>
                <a:cs typeface="Franklin Gothic Book"/>
              </a:rPr>
              <a:t>:</a:t>
            </a:r>
            <a:endParaRPr sz="1400">
              <a:latin typeface="Franklin Gothic Book"/>
              <a:cs typeface="Franklin Gothic Book"/>
            </a:endParaRPr>
          </a:p>
          <a:p>
            <a:pPr>
              <a:lnSpc>
                <a:spcPct val="100000"/>
              </a:lnSpc>
              <a:spcBef>
                <a:spcPts val="25"/>
              </a:spcBef>
            </a:pPr>
            <a:endParaRPr sz="1100">
              <a:latin typeface="Franklin Gothic Book"/>
              <a:cs typeface="Franklin Gothic Book"/>
            </a:endParaRPr>
          </a:p>
          <a:p>
            <a:pPr marL="12700" marR="228600">
              <a:lnSpc>
                <a:spcPct val="101000"/>
              </a:lnSpc>
            </a:pPr>
            <a:r>
              <a:rPr sz="1500">
                <a:solidFill>
                  <a:srgbClr val="404040"/>
                </a:solidFill>
                <a:latin typeface="Franklin Gothic Book"/>
                <a:cs typeface="Franklin Gothic Book"/>
              </a:rPr>
              <a:t>We have been able to enjoy gains from operational efficiencies, today it is how sales and marketing teams create demand and </a:t>
            </a:r>
            <a:r>
              <a:rPr lang="en-US" sz="1500">
                <a:solidFill>
                  <a:srgbClr val="404040"/>
                </a:solidFill>
                <a:latin typeface="Franklin Gothic Book"/>
                <a:cs typeface="Franklin Gothic Book"/>
              </a:rPr>
              <a:t>how </a:t>
            </a:r>
            <a:r>
              <a:rPr sz="1500">
                <a:solidFill>
                  <a:srgbClr val="404040"/>
                </a:solidFill>
                <a:latin typeface="Franklin Gothic Book"/>
                <a:cs typeface="Franklin Gothic Book"/>
              </a:rPr>
              <a:t>revenue management teams manage established demand. History has show</a:t>
            </a:r>
            <a:r>
              <a:rPr lang="en-US" sz="1500">
                <a:solidFill>
                  <a:srgbClr val="404040"/>
                </a:solidFill>
                <a:latin typeface="Franklin Gothic Book"/>
                <a:cs typeface="Franklin Gothic Book"/>
              </a:rPr>
              <a:t>n</a:t>
            </a:r>
            <a:r>
              <a:rPr sz="1500">
                <a:solidFill>
                  <a:srgbClr val="404040"/>
                </a:solidFill>
                <a:latin typeface="Franklin Gothic Book"/>
                <a:cs typeface="Franklin Gothic Book"/>
              </a:rPr>
              <a:t> that these teams have been ineffective at combating general economic downturns.</a:t>
            </a:r>
            <a:endParaRPr sz="1500">
              <a:latin typeface="Franklin Gothic Book"/>
              <a:cs typeface="Franklin Gothic Book"/>
            </a:endParaRPr>
          </a:p>
          <a:p>
            <a:pPr>
              <a:lnSpc>
                <a:spcPct val="100000"/>
              </a:lnSpc>
              <a:spcBef>
                <a:spcPts val="20"/>
              </a:spcBef>
            </a:pPr>
            <a:endParaRPr sz="1100">
              <a:latin typeface="Franklin Gothic Book"/>
              <a:cs typeface="Franklin Gothic Book"/>
            </a:endParaRPr>
          </a:p>
          <a:p>
            <a:pPr marL="12700" marR="156210">
              <a:lnSpc>
                <a:spcPct val="101400"/>
              </a:lnSpc>
              <a:spcBef>
                <a:spcPts val="5"/>
              </a:spcBef>
            </a:pPr>
            <a:r>
              <a:rPr sz="1500">
                <a:solidFill>
                  <a:srgbClr val="404040"/>
                </a:solidFill>
                <a:latin typeface="Franklin Gothic Book"/>
                <a:cs typeface="Franklin Gothic Book"/>
              </a:rPr>
              <a:t>Today we are seeing the same </a:t>
            </a:r>
            <a:r>
              <a:rPr lang="en-US" sz="1500">
                <a:solidFill>
                  <a:srgbClr val="404040"/>
                </a:solidFill>
                <a:latin typeface="Franklin Gothic Book"/>
                <a:cs typeface="Franklin Gothic Book"/>
              </a:rPr>
              <a:t>mistakes being made</a:t>
            </a:r>
            <a:r>
              <a:rPr sz="1500">
                <a:solidFill>
                  <a:srgbClr val="404040"/>
                </a:solidFill>
                <a:latin typeface="Franklin Gothic Book"/>
                <a:cs typeface="Franklin Gothic Book"/>
              </a:rPr>
              <a:t>, In fact we are repeating some of the same behaviors that will continue to erode profit margins.</a:t>
            </a:r>
            <a:endParaRPr sz="1500">
              <a:latin typeface="Franklin Gothic Book"/>
              <a:cs typeface="Franklin Gothic Book"/>
            </a:endParaRPr>
          </a:p>
          <a:p>
            <a:pPr>
              <a:lnSpc>
                <a:spcPct val="100000"/>
              </a:lnSpc>
            </a:pPr>
            <a:endParaRPr sz="1100">
              <a:latin typeface="Franklin Gothic Book"/>
              <a:cs typeface="Franklin Gothic Book"/>
            </a:endParaRPr>
          </a:p>
          <a:p>
            <a:pPr marL="12700">
              <a:lnSpc>
                <a:spcPct val="100000"/>
              </a:lnSpc>
            </a:pPr>
            <a:r>
              <a:rPr sz="1400">
                <a:solidFill>
                  <a:srgbClr val="404040"/>
                </a:solidFill>
                <a:latin typeface="Franklin Gothic Medium"/>
                <a:cs typeface="Franklin Gothic Medium"/>
              </a:rPr>
              <a:t>New Approach to the new world:</a:t>
            </a:r>
            <a:endParaRPr sz="1400">
              <a:latin typeface="Franklin Gothic Medium"/>
              <a:cs typeface="Franklin Gothic Medium"/>
            </a:endParaRPr>
          </a:p>
          <a:p>
            <a:pPr>
              <a:lnSpc>
                <a:spcPct val="100000"/>
              </a:lnSpc>
              <a:spcBef>
                <a:spcPts val="50"/>
              </a:spcBef>
            </a:pPr>
            <a:endParaRPr sz="1100">
              <a:latin typeface="Franklin Gothic Medium"/>
              <a:cs typeface="Franklin Gothic Medium"/>
            </a:endParaRPr>
          </a:p>
          <a:p>
            <a:pPr marL="12700" marR="5080">
              <a:lnSpc>
                <a:spcPct val="99600"/>
              </a:lnSpc>
            </a:pPr>
            <a:r>
              <a:rPr sz="1500">
                <a:solidFill>
                  <a:srgbClr val="404040"/>
                </a:solidFill>
                <a:latin typeface="Franklin Gothic Book"/>
                <a:cs typeface="Franklin Gothic Book"/>
              </a:rPr>
              <a:t>To be effective in the current marketplace, sales and marketing teams </a:t>
            </a:r>
            <a:r>
              <a:rPr lang="en-US" sz="1500">
                <a:solidFill>
                  <a:srgbClr val="404040"/>
                </a:solidFill>
                <a:latin typeface="Franklin Gothic Book"/>
                <a:cs typeface="Franklin Gothic Book"/>
              </a:rPr>
              <a:t>must</a:t>
            </a:r>
            <a:r>
              <a:rPr sz="1500">
                <a:solidFill>
                  <a:srgbClr val="404040"/>
                </a:solidFill>
                <a:latin typeface="Franklin Gothic Book"/>
                <a:cs typeface="Franklin Gothic Book"/>
              </a:rPr>
              <a:t> elevate their strategies and the method </a:t>
            </a:r>
            <a:r>
              <a:rPr lang="en-US" sz="1500">
                <a:solidFill>
                  <a:srgbClr val="404040"/>
                </a:solidFill>
                <a:latin typeface="Franklin Gothic Book"/>
                <a:cs typeface="Franklin Gothic Book"/>
              </a:rPr>
              <a:t>through</a:t>
            </a:r>
            <a:r>
              <a:rPr sz="1500">
                <a:solidFill>
                  <a:srgbClr val="404040"/>
                </a:solidFill>
                <a:latin typeface="Franklin Gothic Book"/>
                <a:cs typeface="Franklin Gothic Book"/>
              </a:rPr>
              <a:t> which they engage with customers. Rather than at the point of sale or purchase, both the marketing and sales teams must learn how to partner with higher order </a:t>
            </a:r>
            <a:r>
              <a:rPr lang="en-US" sz="1500">
                <a:solidFill>
                  <a:srgbClr val="404040"/>
                </a:solidFill>
                <a:latin typeface="Franklin Gothic Book"/>
                <a:cs typeface="Franklin Gothic Book"/>
              </a:rPr>
              <a:t>businesspeople</a:t>
            </a:r>
            <a:r>
              <a:rPr sz="1500">
                <a:solidFill>
                  <a:srgbClr val="404040"/>
                </a:solidFill>
                <a:latin typeface="Franklin Gothic Book"/>
                <a:cs typeface="Franklin Gothic Book"/>
              </a:rPr>
              <a:t> to create a partnership beyond a product-rate driven sale.</a:t>
            </a:r>
            <a:endParaRPr sz="1500">
              <a:latin typeface="Franklin Gothic Book"/>
              <a:cs typeface="Franklin Gothic Book"/>
            </a:endParaRPr>
          </a:p>
        </p:txBody>
      </p:sp>
      <p:sp>
        <p:nvSpPr>
          <p:cNvPr id="7" name="object 7"/>
          <p:cNvSpPr txBox="1"/>
          <p:nvPr/>
        </p:nvSpPr>
        <p:spPr>
          <a:xfrm>
            <a:off x="1673246" y="7472171"/>
            <a:ext cx="905510" cy="656590"/>
          </a:xfrm>
          <a:prstGeom prst="rect">
            <a:avLst/>
          </a:prstGeom>
        </p:spPr>
        <p:txBody>
          <a:bodyPr vert="horz" wrap="square" lIns="0" tIns="17145" rIns="0" bIns="0" rtlCol="0">
            <a:spAutoFit/>
          </a:bodyPr>
          <a:lstStyle/>
          <a:p>
            <a:pPr marL="12700" marR="5080">
              <a:lnSpc>
                <a:spcPct val="97900"/>
              </a:lnSpc>
              <a:spcBef>
                <a:spcPts val="135"/>
              </a:spcBef>
            </a:pPr>
            <a:r>
              <a:rPr sz="1400" spc="-10">
                <a:solidFill>
                  <a:srgbClr val="404040"/>
                </a:solidFill>
                <a:latin typeface="Franklin Gothic Medium"/>
                <a:cs typeface="Franklin Gothic Medium"/>
              </a:rPr>
              <a:t>Move </a:t>
            </a:r>
            <a:r>
              <a:rPr sz="1400" spc="-30">
                <a:solidFill>
                  <a:srgbClr val="404040"/>
                </a:solidFill>
                <a:latin typeface="Franklin Gothic Medium"/>
                <a:cs typeface="Franklin Gothic Medium"/>
              </a:rPr>
              <a:t>To:  </a:t>
            </a:r>
            <a:r>
              <a:rPr sz="1400" spc="-5">
                <a:solidFill>
                  <a:srgbClr val="404040"/>
                </a:solidFill>
                <a:latin typeface="Franklin Gothic Medium"/>
                <a:cs typeface="Franklin Gothic Medium"/>
              </a:rPr>
              <a:t>business  p</a:t>
            </a:r>
            <a:r>
              <a:rPr sz="1400" spc="5">
                <a:solidFill>
                  <a:srgbClr val="404040"/>
                </a:solidFill>
                <a:latin typeface="Franklin Gothic Medium"/>
                <a:cs typeface="Franklin Gothic Medium"/>
              </a:rPr>
              <a:t>a</a:t>
            </a:r>
            <a:r>
              <a:rPr sz="1400" spc="25">
                <a:solidFill>
                  <a:srgbClr val="404040"/>
                </a:solidFill>
                <a:latin typeface="Franklin Gothic Medium"/>
                <a:cs typeface="Franklin Gothic Medium"/>
              </a:rPr>
              <a:t>r</a:t>
            </a:r>
            <a:r>
              <a:rPr sz="1400" spc="-5">
                <a:solidFill>
                  <a:srgbClr val="404040"/>
                </a:solidFill>
                <a:latin typeface="Franklin Gothic Medium"/>
                <a:cs typeface="Franklin Gothic Medium"/>
              </a:rPr>
              <a:t>t</a:t>
            </a:r>
            <a:r>
              <a:rPr sz="1400">
                <a:solidFill>
                  <a:srgbClr val="404040"/>
                </a:solidFill>
                <a:latin typeface="Franklin Gothic Medium"/>
                <a:cs typeface="Franklin Gothic Medium"/>
              </a:rPr>
              <a:t>ne</a:t>
            </a:r>
            <a:r>
              <a:rPr sz="1400" spc="15">
                <a:solidFill>
                  <a:srgbClr val="404040"/>
                </a:solidFill>
                <a:latin typeface="Franklin Gothic Medium"/>
                <a:cs typeface="Franklin Gothic Medium"/>
              </a:rPr>
              <a:t>r</a:t>
            </a:r>
            <a:r>
              <a:rPr sz="1400">
                <a:solidFill>
                  <a:srgbClr val="404040"/>
                </a:solidFill>
                <a:latin typeface="Franklin Gothic Medium"/>
                <a:cs typeface="Franklin Gothic Medium"/>
              </a:rPr>
              <a:t>sh</a:t>
            </a:r>
            <a:r>
              <a:rPr sz="1400" spc="-10">
                <a:solidFill>
                  <a:srgbClr val="404040"/>
                </a:solidFill>
                <a:latin typeface="Franklin Gothic Medium"/>
                <a:cs typeface="Franklin Gothic Medium"/>
              </a:rPr>
              <a:t>i</a:t>
            </a:r>
            <a:r>
              <a:rPr sz="1400">
                <a:solidFill>
                  <a:srgbClr val="404040"/>
                </a:solidFill>
                <a:latin typeface="Franklin Gothic Medium"/>
                <a:cs typeface="Franklin Gothic Medium"/>
              </a:rPr>
              <a:t>p</a:t>
            </a:r>
            <a:endParaRPr sz="1400">
              <a:latin typeface="Franklin Gothic Medium"/>
              <a:cs typeface="Franklin Gothic Medium"/>
            </a:endParaRPr>
          </a:p>
        </p:txBody>
      </p:sp>
      <p:sp>
        <p:nvSpPr>
          <p:cNvPr id="8" name="object 8"/>
          <p:cNvSpPr txBox="1"/>
          <p:nvPr/>
        </p:nvSpPr>
        <p:spPr>
          <a:xfrm>
            <a:off x="4416446" y="7472171"/>
            <a:ext cx="906144" cy="656590"/>
          </a:xfrm>
          <a:prstGeom prst="rect">
            <a:avLst/>
          </a:prstGeom>
        </p:spPr>
        <p:txBody>
          <a:bodyPr vert="horz" wrap="square" lIns="0" tIns="17145" rIns="0" bIns="0" rtlCol="0">
            <a:spAutoFit/>
          </a:bodyPr>
          <a:lstStyle/>
          <a:p>
            <a:pPr marL="12700" marR="5080" algn="just">
              <a:lnSpc>
                <a:spcPct val="97900"/>
              </a:lnSpc>
              <a:spcBef>
                <a:spcPts val="135"/>
              </a:spcBef>
            </a:pPr>
            <a:r>
              <a:rPr sz="1400" spc="-10">
                <a:solidFill>
                  <a:srgbClr val="404040"/>
                </a:solidFill>
                <a:latin typeface="Franklin Gothic Medium"/>
                <a:cs typeface="Franklin Gothic Medium"/>
              </a:rPr>
              <a:t>Move from:  </a:t>
            </a:r>
            <a:r>
              <a:rPr sz="1400" spc="-5">
                <a:solidFill>
                  <a:srgbClr val="404040"/>
                </a:solidFill>
                <a:latin typeface="Franklin Gothic Medium"/>
                <a:cs typeface="Franklin Gothic Medium"/>
              </a:rPr>
              <a:t>pr</a:t>
            </a:r>
            <a:r>
              <a:rPr sz="1400" spc="-10">
                <a:solidFill>
                  <a:srgbClr val="404040"/>
                </a:solidFill>
                <a:latin typeface="Franklin Gothic Medium"/>
                <a:cs typeface="Franklin Gothic Medium"/>
              </a:rPr>
              <a:t>i</a:t>
            </a:r>
            <a:r>
              <a:rPr sz="1400" spc="-5">
                <a:solidFill>
                  <a:srgbClr val="404040"/>
                </a:solidFill>
                <a:latin typeface="Franklin Gothic Medium"/>
                <a:cs typeface="Franklin Gothic Medium"/>
              </a:rPr>
              <a:t>c</a:t>
            </a:r>
            <a:r>
              <a:rPr sz="1400">
                <a:solidFill>
                  <a:srgbClr val="404040"/>
                </a:solidFill>
                <a:latin typeface="Franklin Gothic Medium"/>
                <a:cs typeface="Franklin Gothic Medium"/>
              </a:rPr>
              <a:t>e-</a:t>
            </a:r>
            <a:r>
              <a:rPr sz="1400" spc="-5">
                <a:solidFill>
                  <a:srgbClr val="404040"/>
                </a:solidFill>
                <a:latin typeface="Franklin Gothic Medium"/>
                <a:cs typeface="Franklin Gothic Medium"/>
              </a:rPr>
              <a:t>dr</a:t>
            </a:r>
            <a:r>
              <a:rPr sz="1400" spc="-10">
                <a:solidFill>
                  <a:srgbClr val="404040"/>
                </a:solidFill>
                <a:latin typeface="Franklin Gothic Medium"/>
                <a:cs typeface="Franklin Gothic Medium"/>
              </a:rPr>
              <a:t>iv</a:t>
            </a:r>
            <a:r>
              <a:rPr sz="1400">
                <a:solidFill>
                  <a:srgbClr val="404040"/>
                </a:solidFill>
                <a:latin typeface="Franklin Gothic Medium"/>
                <a:cs typeface="Franklin Gothic Medium"/>
              </a:rPr>
              <a:t>en  </a:t>
            </a:r>
            <a:r>
              <a:rPr sz="1400" spc="-5">
                <a:solidFill>
                  <a:srgbClr val="404040"/>
                </a:solidFill>
                <a:latin typeface="Franklin Gothic Medium"/>
                <a:cs typeface="Franklin Gothic Medium"/>
              </a:rPr>
              <a:t>sale</a:t>
            </a:r>
            <a:endParaRPr sz="1400">
              <a:latin typeface="Franklin Gothic Medium"/>
              <a:cs typeface="Franklin Gothic Medium"/>
            </a:endParaRPr>
          </a:p>
        </p:txBody>
      </p:sp>
      <p:sp>
        <p:nvSpPr>
          <p:cNvPr id="9" name="object 9"/>
          <p:cNvSpPr/>
          <p:nvPr/>
        </p:nvSpPr>
        <p:spPr>
          <a:xfrm>
            <a:off x="1397000" y="5106131"/>
            <a:ext cx="4064000" cy="2273299"/>
          </a:xfrm>
          <a:prstGeom prst="rect">
            <a:avLst/>
          </a:prstGeom>
          <a:blipFill>
            <a:blip r:embed="rId2" cstate="print"/>
            <a:stretch>
              <a:fillRect/>
            </a:stretch>
          </a:blipFill>
        </p:spPr>
        <p:txBody>
          <a:bodyPr wrap="square" lIns="0" tIns="0" rIns="0" bIns="0" rtlCol="0"/>
          <a:lstStyle/>
          <a:p>
            <a:endParaRPr/>
          </a:p>
        </p:txBody>
      </p:sp>
      <p:sp>
        <p:nvSpPr>
          <p:cNvPr id="10" name="object 10"/>
          <p:cNvSpPr/>
          <p:nvPr/>
        </p:nvSpPr>
        <p:spPr>
          <a:xfrm>
            <a:off x="2651760" y="7719720"/>
            <a:ext cx="1554480" cy="95250"/>
          </a:xfrm>
          <a:custGeom>
            <a:avLst/>
            <a:gdLst/>
            <a:ahLst/>
            <a:cxnLst/>
            <a:rect l="l" t="t" r="r" b="b"/>
            <a:pathLst>
              <a:path w="1554479" h="95250">
                <a:moveTo>
                  <a:pt x="95250" y="0"/>
                </a:moveTo>
                <a:lnTo>
                  <a:pt x="0" y="47625"/>
                </a:lnTo>
                <a:lnTo>
                  <a:pt x="95250" y="95250"/>
                </a:lnTo>
                <a:lnTo>
                  <a:pt x="95250" y="63500"/>
                </a:lnTo>
                <a:lnTo>
                  <a:pt x="79373" y="63500"/>
                </a:lnTo>
                <a:lnTo>
                  <a:pt x="79373" y="31750"/>
                </a:lnTo>
                <a:lnTo>
                  <a:pt x="95250" y="31749"/>
                </a:lnTo>
                <a:lnTo>
                  <a:pt x="95250" y="0"/>
                </a:lnTo>
                <a:close/>
              </a:path>
              <a:path w="1554479" h="95250">
                <a:moveTo>
                  <a:pt x="95250" y="31749"/>
                </a:moveTo>
                <a:lnTo>
                  <a:pt x="79373" y="31750"/>
                </a:lnTo>
                <a:lnTo>
                  <a:pt x="79373" y="63500"/>
                </a:lnTo>
                <a:lnTo>
                  <a:pt x="95250" y="63499"/>
                </a:lnTo>
                <a:lnTo>
                  <a:pt x="95250" y="31749"/>
                </a:lnTo>
                <a:close/>
              </a:path>
              <a:path w="1554479" h="95250">
                <a:moveTo>
                  <a:pt x="95250" y="63499"/>
                </a:moveTo>
                <a:lnTo>
                  <a:pt x="79373" y="63500"/>
                </a:lnTo>
                <a:lnTo>
                  <a:pt x="95250" y="63500"/>
                </a:lnTo>
                <a:close/>
              </a:path>
              <a:path w="1554479" h="95250">
                <a:moveTo>
                  <a:pt x="1554479" y="31748"/>
                </a:moveTo>
                <a:lnTo>
                  <a:pt x="95250" y="31749"/>
                </a:lnTo>
                <a:lnTo>
                  <a:pt x="95250" y="63499"/>
                </a:lnTo>
                <a:lnTo>
                  <a:pt x="1554479" y="63498"/>
                </a:lnTo>
                <a:lnTo>
                  <a:pt x="1554479" y="31748"/>
                </a:lnTo>
                <a:close/>
              </a:path>
            </a:pathLst>
          </a:custGeom>
          <a:solidFill>
            <a:srgbClr val="5557C3"/>
          </a:solidFill>
        </p:spPr>
        <p:txBody>
          <a:bodyPr wrap="square" lIns="0" tIns="0" rIns="0" bIns="0" rtlCol="0"/>
          <a:lstStyle/>
          <a:p>
            <a:endParaRPr/>
          </a:p>
        </p:txBody>
      </p:sp>
      <p:sp>
        <p:nvSpPr>
          <p:cNvPr id="3" name="object 8">
            <a:extLst>
              <a:ext uri="{FF2B5EF4-FFF2-40B4-BE49-F238E27FC236}">
                <a16:creationId xmlns:a16="http://schemas.microsoft.com/office/drawing/2014/main" id="{5F5D7056-C126-0475-4521-2C4CCE540E53}"/>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tx1">
                    <a:lumMod val="75000"/>
                    <a:lumOff val="25000"/>
                  </a:schemeClr>
                </a:solidFill>
                <a:latin typeface="Franklin Gothic Book"/>
                <a:cs typeface="Franklin Gothic Book"/>
              </a:rPr>
              <a:t>What Good Looks Like:  Revenue Strategy I 2024</a:t>
            </a:r>
            <a:endParaRPr sz="900">
              <a:solidFill>
                <a:schemeClr val="tx1">
                  <a:lumMod val="75000"/>
                  <a:lumOff val="25000"/>
                </a:schemeClr>
              </a:solidFill>
              <a:latin typeface="Franklin Gothic Book"/>
              <a:cs typeface="Franklin Gothic Book"/>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166802" y="8623807"/>
            <a:ext cx="139700" cy="162560"/>
          </a:xfrm>
          <a:prstGeom prst="rect">
            <a:avLst/>
          </a:prstGeom>
        </p:spPr>
        <p:txBody>
          <a:bodyPr vert="horz" wrap="square" lIns="0" tIns="12700" rIns="0" bIns="0" rtlCol="0">
            <a:spAutoFit/>
          </a:bodyPr>
          <a:lstStyle/>
          <a:p>
            <a:pPr marL="12700">
              <a:lnSpc>
                <a:spcPct val="100000"/>
              </a:lnSpc>
              <a:spcBef>
                <a:spcPts val="100"/>
              </a:spcBef>
            </a:pPr>
            <a:r>
              <a:rPr sz="900" spc="-10">
                <a:solidFill>
                  <a:srgbClr val="898989"/>
                </a:solidFill>
                <a:latin typeface="Calibri"/>
                <a:cs typeface="Calibri"/>
              </a:rPr>
              <a:t>18</a:t>
            </a:r>
            <a:endParaRPr sz="900">
              <a:latin typeface="Calibri"/>
              <a:cs typeface="Calibri"/>
            </a:endParaRPr>
          </a:p>
        </p:txBody>
      </p:sp>
      <p:sp>
        <p:nvSpPr>
          <p:cNvPr id="4" name="object 4"/>
          <p:cNvSpPr txBox="1">
            <a:spLocks noGrp="1"/>
          </p:cNvSpPr>
          <p:nvPr>
            <p:ph type="title" idx="4294967295"/>
          </p:nvPr>
        </p:nvSpPr>
        <p:spPr>
          <a:xfrm>
            <a:off x="0" y="392113"/>
            <a:ext cx="1506538" cy="330200"/>
          </a:xfrm>
          <a:prstGeom prst="rect">
            <a:avLst/>
          </a:prstGeom>
        </p:spPr>
        <p:txBody>
          <a:bodyPr vert="horz" wrap="square" lIns="0" tIns="12700" rIns="0" bIns="0" rtlCol="0">
            <a:spAutoFit/>
          </a:bodyPr>
          <a:lstStyle/>
          <a:p>
            <a:pPr marL="12700">
              <a:lnSpc>
                <a:spcPct val="100000"/>
              </a:lnSpc>
              <a:spcBef>
                <a:spcPts val="100"/>
              </a:spcBef>
            </a:pPr>
            <a:r>
              <a:rPr spc="-5"/>
              <a:t>The</a:t>
            </a:r>
            <a:r>
              <a:rPr spc="-65"/>
              <a:t> </a:t>
            </a:r>
            <a:r>
              <a:rPr spc="-40"/>
              <a:t>Takeaway</a:t>
            </a:r>
          </a:p>
        </p:txBody>
      </p:sp>
      <p:sp>
        <p:nvSpPr>
          <p:cNvPr id="5" name="object 5"/>
          <p:cNvSpPr/>
          <p:nvPr/>
        </p:nvSpPr>
        <p:spPr>
          <a:xfrm>
            <a:off x="171607" y="838200"/>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6"/>
          <p:cNvSpPr txBox="1"/>
          <p:nvPr/>
        </p:nvSpPr>
        <p:spPr>
          <a:xfrm>
            <a:off x="333692" y="1066800"/>
            <a:ext cx="6189980" cy="6823150"/>
          </a:xfrm>
          <a:prstGeom prst="rect">
            <a:avLst/>
          </a:prstGeom>
        </p:spPr>
        <p:txBody>
          <a:bodyPr vert="horz" wrap="square" lIns="0" tIns="12700" rIns="0" bIns="0" rtlCol="0">
            <a:spAutoFit/>
          </a:bodyPr>
          <a:lstStyle/>
          <a:p>
            <a:pPr marL="12700">
              <a:lnSpc>
                <a:spcPct val="100000"/>
              </a:lnSpc>
              <a:spcBef>
                <a:spcPts val="100"/>
              </a:spcBef>
            </a:pPr>
            <a:r>
              <a:rPr sz="1400" spc="-10">
                <a:solidFill>
                  <a:srgbClr val="404040"/>
                </a:solidFill>
                <a:latin typeface="Franklin Gothic Medium"/>
                <a:cs typeface="Franklin Gothic Medium"/>
              </a:rPr>
              <a:t>Strategy </a:t>
            </a:r>
            <a:r>
              <a:rPr sz="1400" spc="-5">
                <a:solidFill>
                  <a:srgbClr val="404040"/>
                </a:solidFill>
                <a:latin typeface="Franklin Gothic Medium"/>
                <a:cs typeface="Franklin Gothic Medium"/>
              </a:rPr>
              <a:t>isn’t something…it is</a:t>
            </a:r>
            <a:r>
              <a:rPr sz="1400">
                <a:solidFill>
                  <a:srgbClr val="404040"/>
                </a:solidFill>
                <a:latin typeface="Franklin Gothic Medium"/>
                <a:cs typeface="Franklin Gothic Medium"/>
              </a:rPr>
              <a:t> </a:t>
            </a:r>
            <a:r>
              <a:rPr sz="1400" spc="-5">
                <a:solidFill>
                  <a:srgbClr val="404040"/>
                </a:solidFill>
                <a:latin typeface="Franklin Gothic Medium"/>
                <a:cs typeface="Franklin Gothic Medium"/>
              </a:rPr>
              <a:t>everything:</a:t>
            </a:r>
            <a:endParaRPr sz="1400">
              <a:latin typeface="Franklin Gothic Medium"/>
              <a:cs typeface="Franklin Gothic Medium"/>
            </a:endParaRPr>
          </a:p>
          <a:p>
            <a:pPr>
              <a:lnSpc>
                <a:spcPct val="100000"/>
              </a:lnSpc>
              <a:spcBef>
                <a:spcPts val="20"/>
              </a:spcBef>
            </a:pPr>
            <a:endParaRPr sz="1100">
              <a:latin typeface="Franklin Gothic Medium"/>
              <a:cs typeface="Franklin Gothic Medium"/>
            </a:endParaRPr>
          </a:p>
          <a:p>
            <a:pPr marL="12700" marR="5080">
              <a:lnSpc>
                <a:spcPct val="100000"/>
              </a:lnSpc>
              <a:tabLst>
                <a:tab pos="5256530" algn="l"/>
              </a:tabLst>
            </a:pPr>
            <a:r>
              <a:rPr sz="1400">
                <a:solidFill>
                  <a:srgbClr val="404040"/>
                </a:solidFill>
                <a:latin typeface="Franklin Gothic Book"/>
                <a:cs typeface="Franklin Gothic Book"/>
              </a:rPr>
              <a:t>To achieve to a financial the goal team must have a winning formula</a:t>
            </a:r>
            <a:r>
              <a:rPr lang="en-US" sz="1400">
                <a:solidFill>
                  <a:srgbClr val="404040"/>
                </a:solidFill>
                <a:latin typeface="Franklin Gothic Book"/>
                <a:cs typeface="Franklin Gothic Book"/>
              </a:rPr>
              <a:t>. </a:t>
            </a:r>
            <a:r>
              <a:rPr sz="1400">
                <a:solidFill>
                  <a:srgbClr val="404040"/>
                </a:solidFill>
                <a:latin typeface="Franklin Gothic Book"/>
                <a:cs typeface="Franklin Gothic Book"/>
              </a:rPr>
              <a:t>That  formula is a strategy position that cascades </a:t>
            </a:r>
            <a:r>
              <a:rPr lang="en-US" sz="1400">
                <a:solidFill>
                  <a:srgbClr val="404040"/>
                </a:solidFill>
                <a:latin typeface="Franklin Gothic Book"/>
                <a:cs typeface="Franklin Gothic Book"/>
              </a:rPr>
              <a:t>from </a:t>
            </a:r>
            <a:r>
              <a:rPr sz="1400">
                <a:solidFill>
                  <a:srgbClr val="404040"/>
                </a:solidFill>
                <a:latin typeface="Franklin Gothic Book"/>
                <a:cs typeface="Franklin Gothic Book"/>
              </a:rPr>
              <a:t>financial goals. Tactics are not the goal, revenue performance is. Our industry has rewarded </a:t>
            </a:r>
            <a:r>
              <a:rPr lang="en-US" sz="1400">
                <a:solidFill>
                  <a:srgbClr val="404040"/>
                </a:solidFill>
                <a:latin typeface="Franklin Gothic Book"/>
                <a:cs typeface="Franklin Gothic Book"/>
              </a:rPr>
              <a:t>tactics </a:t>
            </a:r>
            <a:r>
              <a:rPr sz="1400">
                <a:solidFill>
                  <a:srgbClr val="404040"/>
                </a:solidFill>
                <a:latin typeface="Franklin Gothic Book"/>
                <a:cs typeface="Franklin Gothic Book"/>
              </a:rPr>
              <a:t>regardless of their  </a:t>
            </a:r>
            <a:r>
              <a:rPr sz="1400" b="1" i="1">
                <a:solidFill>
                  <a:srgbClr val="404040"/>
                </a:solidFill>
                <a:latin typeface="Franklin Gothic Book"/>
                <a:cs typeface="Franklin Gothic Book"/>
              </a:rPr>
              <a:t>actual</a:t>
            </a:r>
            <a:r>
              <a:rPr sz="1400">
                <a:solidFill>
                  <a:srgbClr val="404040"/>
                </a:solidFill>
                <a:latin typeface="Franklin Gothic Book"/>
                <a:cs typeface="Franklin Gothic Book"/>
              </a:rPr>
              <a:t> financial impact. This mindset was born from the manufacturing era, where  management was focus</a:t>
            </a:r>
            <a:r>
              <a:rPr lang="en-US" sz="1400">
                <a:solidFill>
                  <a:srgbClr val="404040"/>
                </a:solidFill>
                <a:latin typeface="Franklin Gothic Book"/>
                <a:cs typeface="Franklin Gothic Book"/>
              </a:rPr>
              <a:t>ed</a:t>
            </a:r>
            <a:r>
              <a:rPr sz="1400">
                <a:solidFill>
                  <a:srgbClr val="404040"/>
                </a:solidFill>
                <a:latin typeface="Franklin Gothic Book"/>
                <a:cs typeface="Franklin Gothic Book"/>
              </a:rPr>
              <a:t> on productivity and outputs, rather financial impact.</a:t>
            </a:r>
            <a:endParaRPr sz="1400">
              <a:latin typeface="Franklin Gothic Book"/>
              <a:cs typeface="Franklin Gothic Book"/>
            </a:endParaRPr>
          </a:p>
          <a:p>
            <a:pPr marL="12700" marR="187325">
              <a:lnSpc>
                <a:spcPts val="1700"/>
              </a:lnSpc>
              <a:spcBef>
                <a:spcPts val="40"/>
              </a:spcBef>
            </a:pPr>
            <a:r>
              <a:rPr sz="1400">
                <a:solidFill>
                  <a:srgbClr val="404040"/>
                </a:solidFill>
                <a:latin typeface="Franklin Gothic Book"/>
                <a:cs typeface="Franklin Gothic Book"/>
              </a:rPr>
              <a:t>Organization</a:t>
            </a:r>
            <a:r>
              <a:rPr lang="en-US" sz="1400">
                <a:solidFill>
                  <a:srgbClr val="404040"/>
                </a:solidFill>
                <a:latin typeface="Franklin Gothic Book"/>
                <a:cs typeface="Franklin Gothic Book"/>
              </a:rPr>
              <a:t>s</a:t>
            </a:r>
            <a:r>
              <a:rPr sz="1400">
                <a:solidFill>
                  <a:srgbClr val="404040"/>
                </a:solidFill>
                <a:latin typeface="Franklin Gothic Book"/>
                <a:cs typeface="Franklin Gothic Book"/>
              </a:rPr>
              <a:t> must acknowledge that strategy has a causal relationship with  financial impacts, random activities that seem productive on the surface are not  adequate.</a:t>
            </a:r>
            <a:endParaRPr sz="1400">
              <a:latin typeface="Franklin Gothic Book"/>
              <a:cs typeface="Franklin Gothic Book"/>
            </a:endParaRPr>
          </a:p>
          <a:p>
            <a:pPr>
              <a:lnSpc>
                <a:spcPct val="100000"/>
              </a:lnSpc>
              <a:spcBef>
                <a:spcPts val="50"/>
              </a:spcBef>
            </a:pPr>
            <a:endParaRPr sz="1050">
              <a:latin typeface="Franklin Gothic Book"/>
              <a:cs typeface="Franklin Gothic Book"/>
            </a:endParaRPr>
          </a:p>
          <a:p>
            <a:pPr marL="12700">
              <a:lnSpc>
                <a:spcPct val="100000"/>
              </a:lnSpc>
            </a:pPr>
            <a:r>
              <a:rPr sz="1400">
                <a:solidFill>
                  <a:srgbClr val="404040"/>
                </a:solidFill>
                <a:latin typeface="Franklin Gothic Book"/>
                <a:cs typeface="Franklin Gothic Book"/>
              </a:rPr>
              <a:t>An effective strategy could look like the following:</a:t>
            </a:r>
            <a:endParaRPr sz="1400">
              <a:latin typeface="Franklin Gothic Book"/>
              <a:cs typeface="Franklin Gothic Book"/>
            </a:endParaRPr>
          </a:p>
          <a:p>
            <a:pPr>
              <a:lnSpc>
                <a:spcPct val="100000"/>
              </a:lnSpc>
              <a:spcBef>
                <a:spcPts val="10"/>
              </a:spcBef>
            </a:pPr>
            <a:endParaRPr sz="1100">
              <a:latin typeface="Franklin Gothic Book"/>
              <a:cs typeface="Franklin Gothic Book"/>
            </a:endParaRPr>
          </a:p>
          <a:p>
            <a:pPr marL="469900" marR="60960">
              <a:lnSpc>
                <a:spcPct val="99600"/>
              </a:lnSpc>
              <a:tabLst>
                <a:tab pos="1572895" algn="l"/>
                <a:tab pos="4725035" algn="l"/>
              </a:tabLst>
            </a:pPr>
            <a:r>
              <a:rPr sz="1400" i="1">
                <a:solidFill>
                  <a:srgbClr val="0070C0"/>
                </a:solidFill>
                <a:latin typeface="Franklin Gothic Book Italic"/>
                <a:cs typeface="Franklin Gothic Book Italic"/>
              </a:rPr>
              <a:t>We are looking to increase our revenue growth by 14%.To do so, there are  5 accounts that will get us to that goal, General Electric increase of 10%  from $200 to $220, Apple where we are increasing our market share from  20% to 68%.</a:t>
            </a:r>
            <a:r>
              <a:rPr lang="en-US" sz="1400" i="1">
                <a:solidFill>
                  <a:srgbClr val="0070C0"/>
                </a:solidFill>
                <a:latin typeface="Franklin Gothic Book Italic"/>
                <a:cs typeface="Franklin Gothic Book Italic"/>
              </a:rPr>
              <a:t> </a:t>
            </a:r>
            <a:r>
              <a:rPr sz="1400" i="1">
                <a:solidFill>
                  <a:srgbClr val="0070C0"/>
                </a:solidFill>
                <a:latin typeface="Franklin Gothic Book Italic"/>
                <a:cs typeface="Franklin Gothic Book Italic"/>
              </a:rPr>
              <a:t>Below are the tactics that we have outlined to achieve the above strategy and financial goals</a:t>
            </a:r>
            <a:r>
              <a:rPr lang="en-US" sz="1400" i="1">
                <a:solidFill>
                  <a:srgbClr val="0070C0"/>
                </a:solidFill>
                <a:latin typeface="Franklin Gothic Book Italic"/>
                <a:cs typeface="Franklin Gothic Book Italic"/>
              </a:rPr>
              <a:t>….</a:t>
            </a:r>
            <a:endParaRPr sz="1400">
              <a:latin typeface="Franklin Gothic Book Italic"/>
              <a:cs typeface="Franklin Gothic Book Italic"/>
            </a:endParaRPr>
          </a:p>
          <a:p>
            <a:pPr>
              <a:lnSpc>
                <a:spcPct val="100000"/>
              </a:lnSpc>
              <a:spcBef>
                <a:spcPts val="25"/>
              </a:spcBef>
            </a:pPr>
            <a:endParaRPr sz="1200">
              <a:latin typeface="Franklin Gothic Book Italic"/>
              <a:cs typeface="Franklin Gothic Book Italic"/>
            </a:endParaRPr>
          </a:p>
          <a:p>
            <a:pPr marL="12700">
              <a:lnSpc>
                <a:spcPct val="100000"/>
              </a:lnSpc>
            </a:pPr>
            <a:r>
              <a:rPr sz="1400">
                <a:solidFill>
                  <a:srgbClr val="404040"/>
                </a:solidFill>
                <a:latin typeface="Franklin Gothic Medium"/>
                <a:cs typeface="Franklin Gothic Medium"/>
              </a:rPr>
              <a:t>New Approach to the new world:</a:t>
            </a:r>
            <a:endParaRPr sz="1400">
              <a:latin typeface="Franklin Gothic Medium"/>
              <a:cs typeface="Franklin Gothic Medium"/>
            </a:endParaRPr>
          </a:p>
          <a:p>
            <a:pPr>
              <a:lnSpc>
                <a:spcPct val="100000"/>
              </a:lnSpc>
              <a:spcBef>
                <a:spcPts val="35"/>
              </a:spcBef>
            </a:pPr>
            <a:endParaRPr sz="1100">
              <a:latin typeface="Franklin Gothic Medium"/>
              <a:cs typeface="Franklin Gothic Medium"/>
            </a:endParaRPr>
          </a:p>
          <a:p>
            <a:pPr marL="12700" marR="19050">
              <a:lnSpc>
                <a:spcPct val="100699"/>
              </a:lnSpc>
            </a:pPr>
            <a:r>
              <a:rPr sz="1400">
                <a:solidFill>
                  <a:srgbClr val="404040"/>
                </a:solidFill>
                <a:latin typeface="Franklin Gothic Book"/>
                <a:cs typeface="Franklin Gothic Book"/>
              </a:rPr>
              <a:t>Teams have been taking the same approach since the 1970’s</a:t>
            </a:r>
            <a:r>
              <a:rPr lang="en-US" sz="1400">
                <a:solidFill>
                  <a:srgbClr val="404040"/>
                </a:solidFill>
                <a:latin typeface="Franklin Gothic Book"/>
                <a:cs typeface="Franklin Gothic Book"/>
              </a:rPr>
              <a:t>. Y</a:t>
            </a:r>
            <a:r>
              <a:rPr sz="1400">
                <a:solidFill>
                  <a:srgbClr val="404040"/>
                </a:solidFill>
                <a:latin typeface="Franklin Gothic Book"/>
                <a:cs typeface="Franklin Gothic Book"/>
              </a:rPr>
              <a:t>et </a:t>
            </a:r>
            <a:r>
              <a:rPr lang="en-US" sz="1400">
                <a:solidFill>
                  <a:srgbClr val="404040"/>
                </a:solidFill>
                <a:latin typeface="Franklin Gothic Book"/>
                <a:cs typeface="Franklin Gothic Book"/>
              </a:rPr>
              <a:t>they </a:t>
            </a:r>
            <a:r>
              <a:rPr sz="1400">
                <a:solidFill>
                  <a:srgbClr val="404040"/>
                </a:solidFill>
                <a:latin typeface="Franklin Gothic Book"/>
                <a:cs typeface="Franklin Gothic Book"/>
              </a:rPr>
              <a:t>are expecting them to illicit new results. Metaphorically this is </a:t>
            </a:r>
            <a:r>
              <a:rPr lang="en-US" sz="1400">
                <a:solidFill>
                  <a:srgbClr val="404040"/>
                </a:solidFill>
                <a:latin typeface="Franklin Gothic Book"/>
                <a:cs typeface="Franklin Gothic Book"/>
              </a:rPr>
              <a:t>like</a:t>
            </a:r>
            <a:r>
              <a:rPr sz="1400">
                <a:solidFill>
                  <a:srgbClr val="404040"/>
                </a:solidFill>
                <a:latin typeface="Franklin Gothic Book"/>
                <a:cs typeface="Franklin Gothic Book"/>
              </a:rPr>
              <a:t> yelling at a rotary phone for </a:t>
            </a:r>
            <a:r>
              <a:rPr lang="en-US" sz="1400">
                <a:solidFill>
                  <a:srgbClr val="404040"/>
                </a:solidFill>
                <a:latin typeface="Franklin Gothic Book"/>
                <a:cs typeface="Franklin Gothic Book"/>
              </a:rPr>
              <a:t>Siri to give </a:t>
            </a:r>
            <a:r>
              <a:rPr sz="1400">
                <a:solidFill>
                  <a:srgbClr val="404040"/>
                </a:solidFill>
                <a:latin typeface="Franklin Gothic Book"/>
                <a:cs typeface="Franklin Gothic Book"/>
              </a:rPr>
              <a:t>directions to the grocery store</a:t>
            </a:r>
            <a:r>
              <a:rPr lang="en-US" sz="1400">
                <a:solidFill>
                  <a:srgbClr val="404040"/>
                </a:solidFill>
                <a:latin typeface="Franklin Gothic Book"/>
                <a:cs typeface="Franklin Gothic Book"/>
              </a:rPr>
              <a:t>--</a:t>
            </a:r>
            <a:r>
              <a:rPr lang="en-US" sz="1400" b="1">
                <a:solidFill>
                  <a:srgbClr val="404040"/>
                </a:solidFill>
                <a:latin typeface="Franklin Gothic Book"/>
                <a:cs typeface="Franklin Gothic Book"/>
              </a:rPr>
              <a:t>i</a:t>
            </a:r>
            <a:r>
              <a:rPr sz="1400" b="1">
                <a:solidFill>
                  <a:srgbClr val="404040"/>
                </a:solidFill>
                <a:latin typeface="Franklin Gothic Book"/>
                <a:cs typeface="Franklin Gothic Book"/>
              </a:rPr>
              <a:t>t won’t work</a:t>
            </a:r>
            <a:r>
              <a:rPr sz="1400">
                <a:solidFill>
                  <a:srgbClr val="404040"/>
                </a:solidFill>
                <a:latin typeface="Franklin Gothic Book"/>
                <a:cs typeface="Franklin Gothic Book"/>
              </a:rPr>
              <a:t>.</a:t>
            </a:r>
            <a:endParaRPr sz="1400">
              <a:latin typeface="Franklin Gothic Book"/>
              <a:cs typeface="Franklin Gothic Book"/>
            </a:endParaRPr>
          </a:p>
          <a:p>
            <a:pPr>
              <a:lnSpc>
                <a:spcPct val="100000"/>
              </a:lnSpc>
              <a:spcBef>
                <a:spcPts val="5"/>
              </a:spcBef>
            </a:pPr>
            <a:endParaRPr sz="1100">
              <a:latin typeface="Franklin Gothic Book"/>
              <a:cs typeface="Franklin Gothic Book"/>
            </a:endParaRPr>
          </a:p>
          <a:p>
            <a:pPr marL="12700" marR="110489">
              <a:lnSpc>
                <a:spcPct val="97900"/>
              </a:lnSpc>
              <a:tabLst>
                <a:tab pos="1240790" algn="l"/>
                <a:tab pos="2114550" algn="l"/>
              </a:tabLst>
            </a:pPr>
            <a:r>
              <a:rPr sz="1400">
                <a:solidFill>
                  <a:srgbClr val="404040"/>
                </a:solidFill>
                <a:latin typeface="Franklin Gothic Book"/>
                <a:cs typeface="Franklin Gothic Book"/>
              </a:rPr>
              <a:t>Moreover, the leaders of sales and marketing teams have not been exposed to a new approach.</a:t>
            </a:r>
            <a:r>
              <a:rPr lang="en-US" sz="1400">
                <a:solidFill>
                  <a:srgbClr val="404040"/>
                </a:solidFill>
                <a:latin typeface="Franklin Gothic Book"/>
                <a:cs typeface="Franklin Gothic Book"/>
              </a:rPr>
              <a:t> </a:t>
            </a:r>
            <a:r>
              <a:rPr sz="1400">
                <a:solidFill>
                  <a:srgbClr val="404040"/>
                </a:solidFill>
                <a:latin typeface="Franklin Gothic Book"/>
                <a:cs typeface="Franklin Gothic Book"/>
              </a:rPr>
              <a:t>When asked to have a new approach the common refrain is,  “We are going back to basics</a:t>
            </a:r>
            <a:r>
              <a:rPr lang="en-US" sz="1400">
                <a:solidFill>
                  <a:srgbClr val="404040"/>
                </a:solidFill>
                <a:latin typeface="Franklin Gothic Book"/>
                <a:cs typeface="Franklin Gothic Book"/>
              </a:rPr>
              <a:t>.”  </a:t>
            </a:r>
            <a:r>
              <a:rPr sz="1400">
                <a:solidFill>
                  <a:srgbClr val="404040"/>
                </a:solidFill>
                <a:latin typeface="Franklin Gothic Book"/>
                <a:cs typeface="Franklin Gothic Book"/>
              </a:rPr>
              <a:t>As they are not sure themselves of where to go next.</a:t>
            </a:r>
            <a:endParaRPr sz="1400">
              <a:latin typeface="Franklin Gothic Book"/>
              <a:cs typeface="Franklin Gothic Book"/>
            </a:endParaRPr>
          </a:p>
          <a:p>
            <a:pPr>
              <a:lnSpc>
                <a:spcPct val="100000"/>
              </a:lnSpc>
              <a:spcBef>
                <a:spcPts val="50"/>
              </a:spcBef>
            </a:pPr>
            <a:endParaRPr sz="1100">
              <a:latin typeface="Franklin Gothic Book"/>
              <a:cs typeface="Franklin Gothic Book"/>
            </a:endParaRPr>
          </a:p>
          <a:p>
            <a:pPr marL="12700" marR="81915">
              <a:lnSpc>
                <a:spcPct val="98600"/>
              </a:lnSpc>
              <a:tabLst>
                <a:tab pos="1012190" algn="l"/>
              </a:tabLst>
            </a:pPr>
            <a:r>
              <a:rPr sz="1400">
                <a:solidFill>
                  <a:srgbClr val="404040"/>
                </a:solidFill>
                <a:latin typeface="Franklin Gothic Book"/>
                <a:cs typeface="Franklin Gothic Book"/>
              </a:rPr>
              <a:t>It is time for leaders to embrace outside thinking to find way to pivot in this  “brave new world</a:t>
            </a:r>
            <a:r>
              <a:rPr lang="en-US" sz="1400">
                <a:solidFill>
                  <a:srgbClr val="404040"/>
                </a:solidFill>
                <a:latin typeface="Franklin Gothic Book"/>
                <a:cs typeface="Franklin Gothic Book"/>
              </a:rPr>
              <a:t>.</a:t>
            </a:r>
            <a:r>
              <a:rPr sz="1400">
                <a:solidFill>
                  <a:srgbClr val="404040"/>
                </a:solidFill>
                <a:latin typeface="Franklin Gothic Book"/>
                <a:cs typeface="Franklin Gothic Book"/>
              </a:rPr>
              <a:t>”</a:t>
            </a:r>
            <a:r>
              <a:rPr lang="en-US" sz="1400">
                <a:solidFill>
                  <a:srgbClr val="404040"/>
                </a:solidFill>
                <a:latin typeface="Franklin Gothic Book"/>
                <a:cs typeface="Franklin Gothic Book"/>
              </a:rPr>
              <a:t>  </a:t>
            </a:r>
            <a:r>
              <a:rPr sz="1400">
                <a:solidFill>
                  <a:srgbClr val="404040"/>
                </a:solidFill>
                <a:latin typeface="Franklin Gothic Book"/>
                <a:cs typeface="Franklin Gothic Book"/>
              </a:rPr>
              <a:t>There are almost no efficiencies left to be gained via operations in order to increase profits. </a:t>
            </a:r>
            <a:r>
              <a:rPr sz="1400">
                <a:solidFill>
                  <a:srgbClr val="B52372"/>
                </a:solidFill>
                <a:latin typeface="Franklin Gothic Book"/>
                <a:cs typeface="Franklin Gothic Book"/>
              </a:rPr>
              <a:t>Status Quo is not an option.</a:t>
            </a:r>
          </a:p>
        </p:txBody>
      </p:sp>
      <p:sp>
        <p:nvSpPr>
          <p:cNvPr id="2" name="object 8">
            <a:extLst>
              <a:ext uri="{FF2B5EF4-FFF2-40B4-BE49-F238E27FC236}">
                <a16:creationId xmlns:a16="http://schemas.microsoft.com/office/drawing/2014/main" id="{7768CC8E-951A-CC70-5A0E-79B0338EA852}"/>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tx1">
                    <a:lumMod val="75000"/>
                    <a:lumOff val="25000"/>
                  </a:schemeClr>
                </a:solidFill>
                <a:latin typeface="Franklin Gothic Book"/>
                <a:cs typeface="Franklin Gothic Book"/>
              </a:rPr>
              <a:t>What Good Looks Like:  Revenue Strategy I 2024</a:t>
            </a:r>
            <a:endParaRPr sz="900">
              <a:solidFill>
                <a:schemeClr val="tx1">
                  <a:lumMod val="75000"/>
                  <a:lumOff val="25000"/>
                </a:schemeClr>
              </a:solidFill>
              <a:latin typeface="Franklin Gothic Book"/>
              <a:cs typeface="Franklin Gothic Book"/>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
            <a:ext cx="6858000" cy="9144000"/>
          </a:xfrm>
          <a:custGeom>
            <a:avLst/>
            <a:gdLst/>
            <a:ahLst/>
            <a:cxnLst/>
            <a:rect l="l" t="t" r="r" b="b"/>
            <a:pathLst>
              <a:path w="6858000" h="9144000">
                <a:moveTo>
                  <a:pt x="0" y="0"/>
                </a:moveTo>
                <a:lnTo>
                  <a:pt x="6858000" y="0"/>
                </a:lnTo>
                <a:lnTo>
                  <a:pt x="6858000" y="9143998"/>
                </a:lnTo>
                <a:lnTo>
                  <a:pt x="0" y="9143998"/>
                </a:lnTo>
                <a:lnTo>
                  <a:pt x="0" y="0"/>
                </a:lnTo>
                <a:close/>
              </a:path>
            </a:pathLst>
          </a:custGeom>
          <a:solidFill>
            <a:srgbClr val="262626"/>
          </a:solidFill>
        </p:spPr>
        <p:txBody>
          <a:bodyPr wrap="square" lIns="0" tIns="0" rIns="0" bIns="0" rtlCol="0"/>
          <a:lstStyle/>
          <a:p>
            <a:endParaRPr/>
          </a:p>
        </p:txBody>
      </p:sp>
      <p:sp>
        <p:nvSpPr>
          <p:cNvPr id="3" name="object 3"/>
          <p:cNvSpPr/>
          <p:nvPr/>
        </p:nvSpPr>
        <p:spPr>
          <a:xfrm>
            <a:off x="0" y="1"/>
            <a:ext cx="6858000" cy="9144000"/>
          </a:xfrm>
          <a:custGeom>
            <a:avLst/>
            <a:gdLst/>
            <a:ahLst/>
            <a:cxnLst/>
            <a:rect l="l" t="t" r="r" b="b"/>
            <a:pathLst>
              <a:path w="6858000" h="9144000">
                <a:moveTo>
                  <a:pt x="0" y="0"/>
                </a:moveTo>
                <a:lnTo>
                  <a:pt x="6858000" y="0"/>
                </a:lnTo>
                <a:lnTo>
                  <a:pt x="6858000" y="9143998"/>
                </a:lnTo>
              </a:path>
            </a:pathLst>
          </a:custGeom>
          <a:ln w="12700">
            <a:solidFill>
              <a:srgbClr val="3C3E8F"/>
            </a:solidFill>
          </a:ln>
        </p:spPr>
        <p:txBody>
          <a:bodyPr wrap="square" lIns="0" tIns="0" rIns="0" bIns="0" rtlCol="0"/>
          <a:lstStyle/>
          <a:p>
            <a:endParaRPr/>
          </a:p>
        </p:txBody>
      </p:sp>
      <p:sp>
        <p:nvSpPr>
          <p:cNvPr id="4" name="object 4"/>
          <p:cNvSpPr/>
          <p:nvPr/>
        </p:nvSpPr>
        <p:spPr>
          <a:xfrm>
            <a:off x="0" y="1"/>
            <a:ext cx="0" cy="9144000"/>
          </a:xfrm>
          <a:custGeom>
            <a:avLst/>
            <a:gdLst/>
            <a:ahLst/>
            <a:cxnLst/>
            <a:rect l="l" t="t" r="r" b="b"/>
            <a:pathLst>
              <a:path h="9144000">
                <a:moveTo>
                  <a:pt x="0" y="9143998"/>
                </a:moveTo>
                <a:lnTo>
                  <a:pt x="0" y="0"/>
                </a:lnTo>
              </a:path>
            </a:pathLst>
          </a:custGeom>
          <a:ln w="12700">
            <a:solidFill>
              <a:srgbClr val="3C3E8F"/>
            </a:solidFill>
          </a:ln>
        </p:spPr>
        <p:txBody>
          <a:bodyPr wrap="square" lIns="0" tIns="0" rIns="0" bIns="0" rtlCol="0"/>
          <a:lstStyle/>
          <a:p>
            <a:endParaRPr/>
          </a:p>
        </p:txBody>
      </p:sp>
      <p:sp>
        <p:nvSpPr>
          <p:cNvPr id="5" name="object 5"/>
          <p:cNvSpPr/>
          <p:nvPr/>
        </p:nvSpPr>
        <p:spPr>
          <a:xfrm>
            <a:off x="0" y="2472856"/>
            <a:ext cx="6857998" cy="4444777"/>
          </a:xfrm>
          <a:prstGeom prst="rect">
            <a:avLst/>
          </a:prstGeom>
          <a:blipFill>
            <a:blip r:embed="rId2" cstate="print"/>
            <a:stretch>
              <a:fillRect/>
            </a:stretch>
          </a:blipFill>
        </p:spPr>
        <p:txBody>
          <a:bodyPr wrap="square" lIns="0" tIns="0" rIns="0" bIns="0" rtlCol="0"/>
          <a:lstStyle/>
          <a:p>
            <a:endParaRPr/>
          </a:p>
        </p:txBody>
      </p:sp>
      <p:sp>
        <p:nvSpPr>
          <p:cNvPr id="6" name="object 6"/>
          <p:cNvSpPr txBox="1">
            <a:spLocks noGrp="1"/>
          </p:cNvSpPr>
          <p:nvPr>
            <p:ph type="title"/>
          </p:nvPr>
        </p:nvSpPr>
        <p:spPr>
          <a:xfrm>
            <a:off x="262884" y="429259"/>
            <a:ext cx="4666615" cy="1854200"/>
          </a:xfrm>
          <a:prstGeom prst="rect">
            <a:avLst/>
          </a:prstGeom>
        </p:spPr>
        <p:txBody>
          <a:bodyPr vert="horz" wrap="square" lIns="0" tIns="12700" rIns="0" bIns="0" rtlCol="0">
            <a:spAutoFit/>
          </a:bodyPr>
          <a:lstStyle/>
          <a:p>
            <a:pPr marL="12700" marR="5080">
              <a:lnSpc>
                <a:spcPct val="100000"/>
              </a:lnSpc>
              <a:spcBef>
                <a:spcPts val="100"/>
              </a:spcBef>
            </a:pPr>
            <a:r>
              <a:rPr sz="2400" spc="-85">
                <a:solidFill>
                  <a:srgbClr val="FFFF00"/>
                </a:solidFill>
              </a:rPr>
              <a:t>We </a:t>
            </a:r>
            <a:r>
              <a:rPr sz="2400" spc="-25">
                <a:solidFill>
                  <a:srgbClr val="FFFF00"/>
                </a:solidFill>
              </a:rPr>
              <a:t>take </a:t>
            </a:r>
            <a:r>
              <a:rPr sz="2400" spc="-10">
                <a:solidFill>
                  <a:srgbClr val="FFFF00"/>
                </a:solidFill>
              </a:rPr>
              <a:t>all the </a:t>
            </a:r>
            <a:r>
              <a:rPr sz="2400" spc="-30">
                <a:solidFill>
                  <a:srgbClr val="FFFF00"/>
                </a:solidFill>
              </a:rPr>
              <a:t>noise, </a:t>
            </a:r>
            <a:r>
              <a:rPr sz="2400" spc="-20">
                <a:solidFill>
                  <a:srgbClr val="FFFF00"/>
                </a:solidFill>
              </a:rPr>
              <a:t>disruption,  </a:t>
            </a:r>
            <a:r>
              <a:rPr sz="2400" spc="-15">
                <a:solidFill>
                  <a:srgbClr val="FFFF00"/>
                </a:solidFill>
              </a:rPr>
              <a:t>frustration </a:t>
            </a:r>
            <a:r>
              <a:rPr sz="2400" spc="-20">
                <a:solidFill>
                  <a:srgbClr val="FFFF00"/>
                </a:solidFill>
              </a:rPr>
              <a:t>and </a:t>
            </a:r>
            <a:r>
              <a:rPr sz="2400" spc="-50">
                <a:solidFill>
                  <a:srgbClr val="FFFF00"/>
                </a:solidFill>
              </a:rPr>
              <a:t>complexity </a:t>
            </a:r>
            <a:r>
              <a:rPr sz="2400" spc="-5">
                <a:solidFill>
                  <a:srgbClr val="FFFF00"/>
                </a:solidFill>
              </a:rPr>
              <a:t>of </a:t>
            </a:r>
            <a:r>
              <a:rPr sz="2400" spc="-10">
                <a:solidFill>
                  <a:srgbClr val="FFFF00"/>
                </a:solidFill>
              </a:rPr>
              <a:t>the</a:t>
            </a:r>
            <a:r>
              <a:rPr sz="2400" spc="-150">
                <a:solidFill>
                  <a:srgbClr val="FFFF00"/>
                </a:solidFill>
              </a:rPr>
              <a:t> </a:t>
            </a:r>
            <a:r>
              <a:rPr sz="2400" spc="-50">
                <a:solidFill>
                  <a:srgbClr val="FFFF00"/>
                </a:solidFill>
              </a:rPr>
              <a:t>new  </a:t>
            </a:r>
            <a:r>
              <a:rPr sz="2400" spc="-55">
                <a:solidFill>
                  <a:srgbClr val="FFFF00"/>
                </a:solidFill>
              </a:rPr>
              <a:t>economy </a:t>
            </a:r>
            <a:r>
              <a:rPr sz="2400" spc="-20">
                <a:solidFill>
                  <a:srgbClr val="FFFF00"/>
                </a:solidFill>
              </a:rPr>
              <a:t>and </a:t>
            </a:r>
            <a:r>
              <a:rPr sz="2400" spc="-30">
                <a:solidFill>
                  <a:srgbClr val="FFFF00"/>
                </a:solidFill>
              </a:rPr>
              <a:t>bring </a:t>
            </a:r>
            <a:r>
              <a:rPr sz="2400" spc="-55">
                <a:solidFill>
                  <a:srgbClr val="FFFF00"/>
                </a:solidFill>
              </a:rPr>
              <a:t>you </a:t>
            </a:r>
            <a:r>
              <a:rPr sz="2400">
                <a:solidFill>
                  <a:srgbClr val="FFFF00"/>
                </a:solidFill>
              </a:rPr>
              <a:t>a </a:t>
            </a:r>
            <a:r>
              <a:rPr sz="2400" spc="-55">
                <a:solidFill>
                  <a:srgbClr val="FFFF00"/>
                </a:solidFill>
              </a:rPr>
              <a:t>clear,  </a:t>
            </a:r>
            <a:r>
              <a:rPr sz="2400" spc="-40">
                <a:solidFill>
                  <a:srgbClr val="FFFF00"/>
                </a:solidFill>
              </a:rPr>
              <a:t>concise </a:t>
            </a:r>
            <a:r>
              <a:rPr sz="2400" spc="-20">
                <a:solidFill>
                  <a:srgbClr val="FFFF00"/>
                </a:solidFill>
              </a:rPr>
              <a:t>and </a:t>
            </a:r>
            <a:r>
              <a:rPr sz="2400" spc="-30">
                <a:solidFill>
                  <a:srgbClr val="FFFF00"/>
                </a:solidFill>
              </a:rPr>
              <a:t>simple </a:t>
            </a:r>
            <a:r>
              <a:rPr sz="2400" spc="-10">
                <a:solidFill>
                  <a:srgbClr val="FFFF00"/>
                </a:solidFill>
              </a:rPr>
              <a:t>path </a:t>
            </a:r>
            <a:r>
              <a:rPr sz="2400" spc="-25">
                <a:solidFill>
                  <a:srgbClr val="FFFF00"/>
                </a:solidFill>
              </a:rPr>
              <a:t>for </a:t>
            </a:r>
            <a:r>
              <a:rPr sz="2400" spc="-45">
                <a:solidFill>
                  <a:srgbClr val="FFFF00"/>
                </a:solidFill>
              </a:rPr>
              <a:t>your  </a:t>
            </a:r>
            <a:r>
              <a:rPr sz="2400" spc="-30">
                <a:solidFill>
                  <a:srgbClr val="FFFF00"/>
                </a:solidFill>
              </a:rPr>
              <a:t>team </a:t>
            </a:r>
            <a:r>
              <a:rPr sz="2400" spc="-25">
                <a:solidFill>
                  <a:srgbClr val="FFFF00"/>
                </a:solidFill>
              </a:rPr>
              <a:t>to </a:t>
            </a:r>
            <a:r>
              <a:rPr sz="2400" spc="-30">
                <a:solidFill>
                  <a:srgbClr val="FFFF00"/>
                </a:solidFill>
              </a:rPr>
              <a:t>get</a:t>
            </a:r>
            <a:r>
              <a:rPr sz="2400" spc="-204">
                <a:solidFill>
                  <a:srgbClr val="FFFF00"/>
                </a:solidFill>
              </a:rPr>
              <a:t> </a:t>
            </a:r>
            <a:r>
              <a:rPr sz="2400" spc="-25">
                <a:solidFill>
                  <a:srgbClr val="FFFF00"/>
                </a:solidFill>
              </a:rPr>
              <a:t>results.</a:t>
            </a:r>
            <a:endParaRPr sz="2400"/>
          </a:p>
        </p:txBody>
      </p:sp>
      <p:sp>
        <p:nvSpPr>
          <p:cNvPr id="7" name="object 7"/>
          <p:cNvSpPr txBox="1"/>
          <p:nvPr/>
        </p:nvSpPr>
        <p:spPr>
          <a:xfrm>
            <a:off x="5167678" y="5299964"/>
            <a:ext cx="1593850" cy="1129030"/>
          </a:xfrm>
          <a:prstGeom prst="rect">
            <a:avLst/>
          </a:prstGeom>
        </p:spPr>
        <p:txBody>
          <a:bodyPr vert="horz" wrap="square" lIns="0" tIns="9525" rIns="0" bIns="0" rtlCol="0">
            <a:spAutoFit/>
          </a:bodyPr>
          <a:lstStyle/>
          <a:p>
            <a:pPr marL="12700" marR="5080">
              <a:lnSpc>
                <a:spcPct val="100800"/>
              </a:lnSpc>
              <a:spcBef>
                <a:spcPts val="75"/>
              </a:spcBef>
              <a:tabLst>
                <a:tab pos="1350010" algn="l"/>
              </a:tabLst>
            </a:pPr>
            <a:r>
              <a:rPr sz="2400" i="1" spc="-30">
                <a:solidFill>
                  <a:srgbClr val="FFFF00"/>
                </a:solidFill>
                <a:latin typeface="Franklin Gothic Book Italic"/>
                <a:cs typeface="Franklin Gothic Book Italic"/>
              </a:rPr>
              <a:t>Bringing  Si</a:t>
            </a:r>
            <a:r>
              <a:rPr sz="2400" i="1" spc="-60">
                <a:solidFill>
                  <a:srgbClr val="FFFF00"/>
                </a:solidFill>
                <a:latin typeface="Franklin Gothic Book Italic"/>
                <a:cs typeface="Franklin Gothic Book Italic"/>
              </a:rPr>
              <a:t>m</a:t>
            </a:r>
            <a:r>
              <a:rPr sz="2400" i="1" spc="-30">
                <a:solidFill>
                  <a:srgbClr val="FFFF00"/>
                </a:solidFill>
                <a:latin typeface="Franklin Gothic Book Italic"/>
                <a:cs typeface="Franklin Gothic Book Italic"/>
              </a:rPr>
              <a:t>pl</a:t>
            </a:r>
            <a:r>
              <a:rPr sz="2400" i="1" spc="-35">
                <a:solidFill>
                  <a:srgbClr val="FFFF00"/>
                </a:solidFill>
                <a:latin typeface="Franklin Gothic Book Italic"/>
                <a:cs typeface="Franklin Gothic Book Italic"/>
              </a:rPr>
              <a:t>ici</a:t>
            </a:r>
            <a:r>
              <a:rPr sz="2400" i="1" spc="-30">
                <a:solidFill>
                  <a:srgbClr val="FFFF00"/>
                </a:solidFill>
                <a:latin typeface="Franklin Gothic Book Italic"/>
                <a:cs typeface="Franklin Gothic Book Italic"/>
              </a:rPr>
              <a:t>t</a:t>
            </a:r>
            <a:r>
              <a:rPr sz="2400" i="1">
                <a:solidFill>
                  <a:srgbClr val="FFFF00"/>
                </a:solidFill>
                <a:latin typeface="Franklin Gothic Book Italic"/>
                <a:cs typeface="Franklin Gothic Book Italic"/>
              </a:rPr>
              <a:t>y	</a:t>
            </a:r>
            <a:r>
              <a:rPr sz="2400" i="1" spc="-85">
                <a:solidFill>
                  <a:srgbClr val="FFFF00"/>
                </a:solidFill>
                <a:latin typeface="Franklin Gothic Book Italic"/>
                <a:cs typeface="Franklin Gothic Book Italic"/>
              </a:rPr>
              <a:t>to  </a:t>
            </a:r>
            <a:r>
              <a:rPr sz="2400" i="1" spc="-55">
                <a:solidFill>
                  <a:srgbClr val="FFFF00"/>
                </a:solidFill>
                <a:latin typeface="Franklin Gothic Book Italic"/>
                <a:cs typeface="Franklin Gothic Book Italic"/>
              </a:rPr>
              <a:t>Complexity</a:t>
            </a:r>
            <a:endParaRPr sz="2400">
              <a:latin typeface="Franklin Gothic Book Italic"/>
              <a:cs typeface="Franklin Gothic Book Italic"/>
            </a:endParaRPr>
          </a:p>
        </p:txBody>
      </p:sp>
      <p:sp>
        <p:nvSpPr>
          <p:cNvPr id="8" name="object 8"/>
          <p:cNvSpPr txBox="1"/>
          <p:nvPr/>
        </p:nvSpPr>
        <p:spPr>
          <a:xfrm>
            <a:off x="972810" y="7125716"/>
            <a:ext cx="5031740" cy="970280"/>
          </a:xfrm>
          <a:prstGeom prst="rect">
            <a:avLst/>
          </a:prstGeom>
        </p:spPr>
        <p:txBody>
          <a:bodyPr vert="horz" wrap="square" lIns="0" tIns="12700" rIns="0" bIns="0" rtlCol="0">
            <a:spAutoFit/>
          </a:bodyPr>
          <a:lstStyle/>
          <a:p>
            <a:pPr marL="102870" algn="ctr">
              <a:lnSpc>
                <a:spcPct val="100000"/>
              </a:lnSpc>
              <a:spcBef>
                <a:spcPts val="100"/>
              </a:spcBef>
            </a:pPr>
            <a:r>
              <a:rPr sz="1800" u="sng" spc="-20">
                <a:solidFill>
                  <a:srgbClr val="FFFFFF"/>
                </a:solidFill>
                <a:uFill>
                  <a:solidFill>
                    <a:srgbClr val="FFFFFF"/>
                  </a:solidFill>
                </a:uFill>
                <a:latin typeface="Calibri"/>
                <a:cs typeface="Calibri"/>
              </a:rPr>
              <a:t>Effective </a:t>
            </a:r>
            <a:r>
              <a:rPr sz="1800" u="sng" spc="-10">
                <a:solidFill>
                  <a:srgbClr val="FFFFFF"/>
                </a:solidFill>
                <a:uFill>
                  <a:solidFill>
                    <a:srgbClr val="FFFFFF"/>
                  </a:solidFill>
                </a:uFill>
                <a:latin typeface="Calibri"/>
                <a:cs typeface="Calibri"/>
              </a:rPr>
              <a:t>Growth </a:t>
            </a:r>
            <a:r>
              <a:rPr sz="1800" u="sng">
                <a:solidFill>
                  <a:srgbClr val="FFFFFF"/>
                </a:solidFill>
                <a:uFill>
                  <a:solidFill>
                    <a:srgbClr val="FFFFFF"/>
                  </a:solidFill>
                </a:uFill>
                <a:latin typeface="Calibri"/>
                <a:cs typeface="Calibri"/>
              </a:rPr>
              <a:t>in </a:t>
            </a:r>
            <a:r>
              <a:rPr sz="1800" u="sng" spc="-5">
                <a:solidFill>
                  <a:srgbClr val="FFFFFF"/>
                </a:solidFill>
                <a:uFill>
                  <a:solidFill>
                    <a:srgbClr val="FFFFFF"/>
                  </a:solidFill>
                </a:uFill>
                <a:latin typeface="Calibri"/>
                <a:cs typeface="Calibri"/>
              </a:rPr>
              <a:t>Times </a:t>
            </a:r>
            <a:r>
              <a:rPr sz="1800" u="sng">
                <a:solidFill>
                  <a:srgbClr val="FFFFFF"/>
                </a:solidFill>
                <a:uFill>
                  <a:solidFill>
                    <a:srgbClr val="FFFFFF"/>
                  </a:solidFill>
                </a:uFill>
                <a:latin typeface="Calibri"/>
                <a:cs typeface="Calibri"/>
              </a:rPr>
              <a:t>of</a:t>
            </a:r>
            <a:r>
              <a:rPr sz="1800" u="sng" spc="65">
                <a:solidFill>
                  <a:srgbClr val="FFFFFF"/>
                </a:solidFill>
                <a:uFill>
                  <a:solidFill>
                    <a:srgbClr val="FFFFFF"/>
                  </a:solidFill>
                </a:uFill>
                <a:latin typeface="Calibri"/>
                <a:cs typeface="Calibri"/>
              </a:rPr>
              <a:t> </a:t>
            </a:r>
            <a:r>
              <a:rPr sz="1800" u="sng" spc="-5">
                <a:solidFill>
                  <a:srgbClr val="FFFFFF"/>
                </a:solidFill>
                <a:uFill>
                  <a:solidFill>
                    <a:srgbClr val="FFFFFF"/>
                  </a:solidFill>
                </a:uFill>
                <a:latin typeface="Calibri"/>
                <a:cs typeface="Calibri"/>
              </a:rPr>
              <a:t>Disruption</a:t>
            </a:r>
            <a:endParaRPr sz="1800">
              <a:latin typeface="Calibri"/>
              <a:cs typeface="Calibri"/>
            </a:endParaRPr>
          </a:p>
          <a:p>
            <a:pPr>
              <a:lnSpc>
                <a:spcPct val="100000"/>
              </a:lnSpc>
              <a:spcBef>
                <a:spcPts val="5"/>
              </a:spcBef>
            </a:pPr>
            <a:endParaRPr sz="2550">
              <a:latin typeface="Calibri"/>
              <a:cs typeface="Calibri"/>
            </a:endParaRPr>
          </a:p>
          <a:p>
            <a:pPr marL="12700">
              <a:lnSpc>
                <a:spcPct val="100000"/>
              </a:lnSpc>
              <a:tabLst>
                <a:tab pos="3020695" algn="l"/>
              </a:tabLst>
            </a:pPr>
            <a:r>
              <a:rPr sz="1800" spc="-10">
                <a:solidFill>
                  <a:srgbClr val="FFFFFF"/>
                </a:solidFill>
                <a:latin typeface="Calibri"/>
                <a:cs typeface="Calibri"/>
              </a:rPr>
              <a:t>Contact </a:t>
            </a:r>
            <a:r>
              <a:rPr sz="1800">
                <a:solidFill>
                  <a:srgbClr val="FFFFFF"/>
                </a:solidFill>
                <a:latin typeface="Calibri"/>
                <a:cs typeface="Calibri"/>
              </a:rPr>
              <a:t>us </a:t>
            </a:r>
            <a:r>
              <a:rPr sz="1800" spc="-15">
                <a:solidFill>
                  <a:srgbClr val="FFFFFF"/>
                </a:solidFill>
                <a:latin typeface="Calibri"/>
                <a:cs typeface="Calibri"/>
              </a:rPr>
              <a:t>for </a:t>
            </a:r>
            <a:r>
              <a:rPr sz="1800">
                <a:solidFill>
                  <a:srgbClr val="FFFFFF"/>
                </a:solidFill>
                <a:latin typeface="Calibri"/>
                <a:cs typeface="Calibri"/>
              </a:rPr>
              <a:t>help</a:t>
            </a:r>
            <a:r>
              <a:rPr sz="1800" spc="60">
                <a:solidFill>
                  <a:srgbClr val="FFFFFF"/>
                </a:solidFill>
                <a:latin typeface="Calibri"/>
                <a:cs typeface="Calibri"/>
              </a:rPr>
              <a:t> </a:t>
            </a:r>
            <a:r>
              <a:rPr sz="1800">
                <a:solidFill>
                  <a:srgbClr val="FFFFFF"/>
                </a:solidFill>
                <a:latin typeface="Calibri"/>
                <a:cs typeface="Calibri"/>
              </a:rPr>
              <a:t>or</a:t>
            </a:r>
            <a:r>
              <a:rPr sz="1800" spc="5">
                <a:solidFill>
                  <a:srgbClr val="FFFFFF"/>
                </a:solidFill>
                <a:latin typeface="Calibri"/>
                <a:cs typeface="Calibri"/>
              </a:rPr>
              <a:t> </a:t>
            </a:r>
            <a:r>
              <a:rPr sz="1800" spc="-5">
                <a:solidFill>
                  <a:srgbClr val="FFFFFF"/>
                </a:solidFill>
                <a:latin typeface="Calibri"/>
                <a:cs typeface="Calibri"/>
              </a:rPr>
              <a:t>support:	</a:t>
            </a:r>
            <a:r>
              <a:rPr sz="1800" u="sng" spc="-15">
                <a:solidFill>
                  <a:srgbClr val="FFFFFF"/>
                </a:solidFill>
                <a:uFill>
                  <a:solidFill>
                    <a:srgbClr val="FFFFFF"/>
                  </a:solidFill>
                </a:uFill>
                <a:latin typeface="Calibri"/>
                <a:cs typeface="Calibri"/>
                <a:hlinkClick r:id="rId3"/>
              </a:rPr>
              <a:t>kate@kateburda.com</a:t>
            </a:r>
            <a:endParaRPr sz="18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LengthInSeconds xmlns="5f895480-74b7-4295-beb1-000abdb7771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5409FC017C7BF40961EF880411E08B5" ma:contentTypeVersion="13" ma:contentTypeDescription="Create a new document." ma:contentTypeScope="" ma:versionID="b5bca213ef9ff2908ccf7086a37359b6">
  <xsd:schema xmlns:xsd="http://www.w3.org/2001/XMLSchema" xmlns:xs="http://www.w3.org/2001/XMLSchema" xmlns:p="http://schemas.microsoft.com/office/2006/metadata/properties" xmlns:ns2="5f895480-74b7-4295-beb1-000abdb77711" xmlns:ns3="f9f3b592-2a1e-4fc9-8218-81ad9cd05aa6" targetNamespace="http://schemas.microsoft.com/office/2006/metadata/properties" ma:root="true" ma:fieldsID="dfe532681b131c6d2700ace22e453e6a" ns2:_="" ns3:_="">
    <xsd:import namespace="5f895480-74b7-4295-beb1-000abdb77711"/>
    <xsd:import namespace="f9f3b592-2a1e-4fc9-8218-81ad9cd05aa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895480-74b7-4295-beb1-000abdb777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9f3b592-2a1e-4fc9-8218-81ad9cd05aa6"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191DDA7-2966-4E48-962B-F47B9F55551A}">
  <ds:schemaRefs>
    <ds:schemaRef ds:uri="http://schemas.microsoft.com/office/2006/documentManagement/types"/>
    <ds:schemaRef ds:uri="http://schemas.openxmlformats.org/package/2006/metadata/core-properties"/>
    <ds:schemaRef ds:uri="http://www.w3.org/XML/1998/namespace"/>
    <ds:schemaRef ds:uri="f9f3b592-2a1e-4fc9-8218-81ad9cd05aa6"/>
    <ds:schemaRef ds:uri="http://purl.org/dc/elements/1.1/"/>
    <ds:schemaRef ds:uri="http://purl.org/dc/terms/"/>
    <ds:schemaRef ds:uri="http://purl.org/dc/dcmitype/"/>
    <ds:schemaRef ds:uri="http://schemas.microsoft.com/office/infopath/2007/PartnerControls"/>
    <ds:schemaRef ds:uri="5f895480-74b7-4295-beb1-000abdb77711"/>
    <ds:schemaRef ds:uri="http://schemas.microsoft.com/office/2006/metadata/properties"/>
  </ds:schemaRefs>
</ds:datastoreItem>
</file>

<file path=customXml/itemProps2.xml><?xml version="1.0" encoding="utf-8"?>
<ds:datastoreItem xmlns:ds="http://schemas.openxmlformats.org/officeDocument/2006/customXml" ds:itemID="{793DCF2C-866A-458C-8FAB-23D6E27E5401}">
  <ds:schemaRefs>
    <ds:schemaRef ds:uri="http://schemas.microsoft.com/sharepoint/v3/contenttype/forms"/>
  </ds:schemaRefs>
</ds:datastoreItem>
</file>

<file path=customXml/itemProps3.xml><?xml version="1.0" encoding="utf-8"?>
<ds:datastoreItem xmlns:ds="http://schemas.openxmlformats.org/officeDocument/2006/customXml" ds:itemID="{0A36494B-EEBC-48CE-8EBC-31E674DEB2D9}">
  <ds:schemaRefs>
    <ds:schemaRef ds:uri="5f895480-74b7-4295-beb1-000abdb77711"/>
    <ds:schemaRef ds:uri="f9f3b592-2a1e-4fc9-8218-81ad9cd05aa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1175</TotalTime>
  <Words>4626</Words>
  <Application>Microsoft Macintosh PowerPoint</Application>
  <PresentationFormat>On-screen Show (4:3)</PresentationFormat>
  <Paragraphs>313</Paragraphs>
  <Slides>25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Aptos</vt:lpstr>
      <vt:lpstr>Arial</vt:lpstr>
      <vt:lpstr>Calibri</vt:lpstr>
      <vt:lpstr>Franklin Gothic Book</vt:lpstr>
      <vt:lpstr>Franklin Gothic Book Italic</vt:lpstr>
      <vt:lpstr>Franklin Gothic Medium</vt:lpstr>
      <vt:lpstr>Times New Roman</vt:lpstr>
      <vt:lpstr>Wingdings</vt:lpstr>
      <vt:lpstr>Office Theme</vt:lpstr>
      <vt:lpstr> What Good Looks Like:     Revenue Strategy</vt:lpstr>
      <vt:lpstr>PowerPoint Presentation</vt:lpstr>
      <vt:lpstr>PowerPoint Presentation</vt:lpstr>
      <vt:lpstr>Unlocking the Power of Aligning Financial and Commercial Strategy</vt:lpstr>
      <vt:lpstr>Unlocking the Power of Aligning Financial and Commercial Strategy</vt:lpstr>
      <vt:lpstr>Unlocking the Power of Aligning Financial and Commercial Strategy</vt:lpstr>
      <vt:lpstr>Unlocking the Power of Aligning Financial and Commercial Strategy</vt:lpstr>
      <vt:lpstr>Unlocking the Power of Aligning Financial and Commercial Strategy</vt:lpstr>
      <vt:lpstr>Alignment from Top-Line Vision to Tactical Output</vt:lpstr>
      <vt:lpstr>PowerPoint Presentation</vt:lpstr>
      <vt:lpstr>From Vision to Action: Strategy to Execution</vt:lpstr>
      <vt:lpstr>From Vision to Action: Strategy to Execution</vt:lpstr>
      <vt:lpstr>PowerPoint Presentation</vt:lpstr>
      <vt:lpstr>PowerPoint Presentation</vt:lpstr>
      <vt:lpstr>PowerPoint Presentation</vt:lpstr>
      <vt:lpstr>PowerPoint Presentation</vt:lpstr>
      <vt:lpstr>PowerPoint Presentation</vt:lpstr>
      <vt:lpstr>Linking Strategy to Financial Outcomes</vt:lpstr>
      <vt:lpstr>PowerPoint Presentation</vt:lpstr>
      <vt:lpstr>10 Critical Areas to a Successful Top-Line Revenue Budget</vt:lpstr>
      <vt:lpstr>10 Critical Areas to a Successful Top-Line Revenue Budget</vt:lpstr>
      <vt:lpstr>PowerPoint Presentation</vt:lpstr>
      <vt:lpstr>The Takeaway</vt:lpstr>
      <vt:lpstr>The Takeaway</vt:lpstr>
      <vt:lpstr>We take all the noise, disruption,  frustration and complexity of the new  economy and bring you a clear,  concise and simple path for your  team to get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Effective Budget  Planning for Top-Line  Revenue Growth in Times  of Disruption</dc:title>
  <cp:lastModifiedBy>Kate Burda</cp:lastModifiedBy>
  <cp:revision>2</cp:revision>
  <dcterms:created xsi:type="dcterms:W3CDTF">2020-10-14T13:18:19Z</dcterms:created>
  <dcterms:modified xsi:type="dcterms:W3CDTF">2025-02-12T01:22:12Z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2020-10-14T00:00:00Z</vt:filetime>
  </property>
  <property fmtid="{D5CDD505-2E9C-101B-9397-08002B2CF9AE}" pid="3" name="LastSaved">
    <vt:filetime>2020-10-14T00:00:00Z</vt:filetime>
  </property>
  <property fmtid="{D5CDD505-2E9C-101B-9397-08002B2CF9AE}" pid="4" name="ContentTypeId">
    <vt:lpwstr>0x01010075409FC017C7BF40961EF880411E08B5</vt:lpwstr>
  </property>
  <property fmtid="{D5CDD505-2E9C-101B-9397-08002B2CF9AE}" pid="5" name="Order">
    <vt:r8>3345400</vt:r8>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_ExtendedDescription">
    <vt:lpwstr/>
  </property>
  <property fmtid="{D5CDD505-2E9C-101B-9397-08002B2CF9AE}" pid="10" name="TriggerFlowInfo">
    <vt:lpwstr/>
  </property>
</Properties>
</file>