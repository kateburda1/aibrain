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media/image44.jpg" ContentType="image/jp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76" r:id="rId3"/>
    <p:sldId id="1055" r:id="rId4"/>
    <p:sldId id="258" r:id="rId5"/>
    <p:sldId id="277" r:id="rId6"/>
    <p:sldId id="278" r:id="rId7"/>
    <p:sldId id="293" r:id="rId8"/>
    <p:sldId id="303" r:id="rId9"/>
    <p:sldId id="1061" r:id="rId10"/>
    <p:sldId id="1062" r:id="rId11"/>
    <p:sldId id="296" r:id="rId12"/>
    <p:sldId id="297" r:id="rId13"/>
    <p:sldId id="304" r:id="rId14"/>
    <p:sldId id="305" r:id="rId15"/>
    <p:sldId id="306" r:id="rId16"/>
    <p:sldId id="307" r:id="rId17"/>
    <p:sldId id="308" r:id="rId18"/>
    <p:sldId id="1063" r:id="rId19"/>
    <p:sldId id="262" r:id="rId20"/>
    <p:sldId id="1054" r:id="rId21"/>
    <p:sldId id="1060" r:id="rId22"/>
    <p:sldId id="1052" r:id="rId23"/>
    <p:sldId id="271" r:id="rId24"/>
    <p:sldId id="309" r:id="rId25"/>
    <p:sldId id="269" r:id="rId26"/>
    <p:sldId id="1064" r:id="rId27"/>
    <p:sldId id="1065" r:id="rId28"/>
    <p:sldId id="281" r:id="rId29"/>
    <p:sldId id="294" r:id="rId30"/>
    <p:sldId id="1066" r:id="rId31"/>
    <p:sldId id="302" r:id="rId32"/>
    <p:sldId id="273" r:id="rId33"/>
    <p:sldId id="275" r:id="rId3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5363"/>
    <a:srgbClr val="A64956"/>
    <a:srgbClr val="E6838E"/>
    <a:srgbClr val="74363E"/>
    <a:srgbClr val="DB5E71"/>
    <a:srgbClr val="262626"/>
    <a:srgbClr val="000000"/>
    <a:srgbClr val="595959"/>
    <a:srgbClr val="FF9088"/>
    <a:srgbClr val="5EDB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71EA5A-3818-5446-A202-7043914EC97D}" v="1" dt="2025-07-28T16:47:48.57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p:restoredTop sz="94521"/>
  </p:normalViewPr>
  <p:slideViewPr>
    <p:cSldViewPr>
      <p:cViewPr varScale="1">
        <p:scale>
          <a:sx n="115" d="100"/>
          <a:sy n="115" d="100"/>
        </p:scale>
        <p:origin x="1344" y="208"/>
      </p:cViewPr>
      <p:guideLst>
        <p:guide orient="horz" pos="2880"/>
        <p:guide pos="2160"/>
      </p:guideLst>
    </p:cSldViewPr>
  </p:slideViewPr>
  <p:notesTextViewPr>
    <p:cViewPr>
      <p:scale>
        <a:sx n="100" d="100"/>
        <a:sy n="100" d="100"/>
      </p:scale>
      <p:origin x="0" y="0"/>
    </p:cViewPr>
  </p:notesTextViewPr>
  <p:sorterViewPr>
    <p:cViewPr>
      <p:scale>
        <a:sx n="170" d="100"/>
        <a:sy n="17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8A71EA5A-3818-5446-A202-7043914EC97D}"/>
    <pc:docChg chg="custSel addSld modSld">
      <pc:chgData name="Kate Burda" userId="44c1ea53-84f5-4c7e-8f48-bfeb434f1f02" providerId="ADAL" clId="{8A71EA5A-3818-5446-A202-7043914EC97D}" dt="2025-07-28T16:47:49.301" v="1" actId="27636"/>
      <pc:docMkLst>
        <pc:docMk/>
      </pc:docMkLst>
      <pc:sldChg chg="modSp mod">
        <pc:chgData name="Kate Burda" userId="44c1ea53-84f5-4c7e-8f48-bfeb434f1f02" providerId="ADAL" clId="{8A71EA5A-3818-5446-A202-7043914EC97D}" dt="2025-07-28T16:47:49.301" v="1" actId="27636"/>
        <pc:sldMkLst>
          <pc:docMk/>
          <pc:sldMk cId="4262365971" sldId="309"/>
        </pc:sldMkLst>
        <pc:spChg chg="mod">
          <ac:chgData name="Kate Burda" userId="44c1ea53-84f5-4c7e-8f48-bfeb434f1f02" providerId="ADAL" clId="{8A71EA5A-3818-5446-A202-7043914EC97D}" dt="2025-07-28T16:47:49.301" v="1" actId="27636"/>
          <ac:spMkLst>
            <pc:docMk/>
            <pc:sldMk cId="4262365971" sldId="309"/>
            <ac:spMk id="25" creationId="{3AC2D386-0E44-758D-6A35-D0C5B21452FE}"/>
          </ac:spMkLst>
        </pc:spChg>
      </pc:sldChg>
      <pc:sldChg chg="add">
        <pc:chgData name="Kate Burda" userId="44c1ea53-84f5-4c7e-8f48-bfeb434f1f02" providerId="ADAL" clId="{8A71EA5A-3818-5446-A202-7043914EC97D}" dt="2025-07-28T16:47:48.534" v="0"/>
        <pc:sldMkLst>
          <pc:docMk/>
          <pc:sldMk cId="4217375909" sldId="106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avidgarrard/Downloads/Ignite%20Financial%20Architecture%20v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davidgarrard/Downloads/Ignite%20Financial%20Architecture%20v2.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latin typeface="Graphik Regular" panose="020B0503030202060203" pitchFamily="34" charset="77"/>
              </a:rPr>
              <a:t>Allocation</a:t>
            </a:r>
          </a:p>
        </c:rich>
      </c:tx>
      <c:layout>
        <c:manualLayout>
          <c:xMode val="edge"/>
          <c:yMode val="edge"/>
          <c:x val="0.32910340136698346"/>
          <c:y val="2.401773564712177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a:outerShdw blurRad="50800" dist="38100" dir="2700000" algn="tl" rotWithShape="0">
                <a:prstClr val="black">
                  <a:alpha val="40000"/>
                </a:prstClr>
              </a:outerShdw>
            </a:effectLst>
          </c:spPr>
          <c:dPt>
            <c:idx val="0"/>
            <c:bubble3D val="0"/>
            <c:explosion val="9"/>
            <c:spPr>
              <a:solidFill>
                <a:schemeClr val="accent1"/>
              </a:solidFill>
              <a:ln w="19050">
                <a:solidFill>
                  <a:schemeClr val="lt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6BAF-B34F-A49C-7BE575D50231}"/>
              </c:ext>
            </c:extLst>
          </c:dPt>
          <c:dPt>
            <c:idx val="1"/>
            <c:bubble3D val="0"/>
            <c:explosion val="9"/>
            <c:spPr>
              <a:solidFill>
                <a:schemeClr val="accent2"/>
              </a:solidFill>
              <a:ln w="19050">
                <a:solidFill>
                  <a:schemeClr val="lt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6BAF-B34F-A49C-7BE575D50231}"/>
              </c:ext>
            </c:extLst>
          </c:dPt>
          <c:dPt>
            <c:idx val="2"/>
            <c:bubble3D val="0"/>
            <c:explosion val="19"/>
            <c:spPr>
              <a:solidFill>
                <a:schemeClr val="accent3"/>
              </a:solidFill>
              <a:ln w="19050">
                <a:solidFill>
                  <a:schemeClr val="lt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6BAF-B34F-A49C-7BE575D50231}"/>
              </c:ext>
            </c:extLst>
          </c:dPt>
          <c:dPt>
            <c:idx val="3"/>
            <c:bubble3D val="0"/>
            <c:explosion val="8"/>
            <c:spPr>
              <a:solidFill>
                <a:schemeClr val="accent4"/>
              </a:solidFill>
              <a:ln w="19050">
                <a:solidFill>
                  <a:schemeClr val="lt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7-6BAF-B34F-A49C-7BE575D50231}"/>
              </c:ext>
            </c:extLst>
          </c:dPt>
          <c:cat>
            <c:strRef>
              <c:f>Sheet1!$A$2:$A$5</c:f>
              <c:strCache>
                <c:ptCount val="4"/>
                <c:pt idx="0">
                  <c:v>Dev</c:v>
                </c:pt>
                <c:pt idx="1">
                  <c:v>Marketing</c:v>
                </c:pt>
                <c:pt idx="2">
                  <c:v>Ops</c:v>
                </c:pt>
                <c:pt idx="3">
                  <c:v>Biz Dev</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BAF-B34F-A49C-7BE575D5023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DM Sans 14pt" pitchFamily="2" charset="77"/>
                <a:ea typeface="+mn-ea"/>
                <a:cs typeface="+mn-cs"/>
              </a:defRPr>
            </a:pPr>
            <a:r>
              <a:rPr lang="en-US">
                <a:latin typeface="DM Sans 14pt" pitchFamily="2" charset="77"/>
              </a:rPr>
              <a:t>Total User Projection</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DM Sans 14pt" pitchFamily="2" charset="77"/>
              <a:ea typeface="+mn-ea"/>
              <a:cs typeface="+mn-cs"/>
            </a:defRPr>
          </a:pPr>
          <a:endParaRPr lang="en-US"/>
        </a:p>
      </c:txPr>
    </c:title>
    <c:autoTitleDeleted val="0"/>
    <c:plotArea>
      <c:layout>
        <c:manualLayout>
          <c:layoutTarget val="inner"/>
          <c:xMode val="edge"/>
          <c:yMode val="edge"/>
          <c:x val="0.16691482649842271"/>
          <c:y val="8.8452611218568664E-2"/>
          <c:w val="0.81794321766561517"/>
          <c:h val="0.89762088974854937"/>
        </c:manualLayout>
      </c:layout>
      <c:barChart>
        <c:barDir val="col"/>
        <c:grouping val="clustered"/>
        <c:varyColors val="0"/>
        <c:ser>
          <c:idx val="0"/>
          <c:order val="0"/>
          <c:spPr>
            <a:solidFill>
              <a:srgbClr val="BF5363"/>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dLbl>
              <c:idx val="0"/>
              <c:layout>
                <c:manualLayout>
                  <c:x val="1.543209876543207E-2"/>
                  <c:y val="-1.62356226072395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95C-0C4B-8B74-7CDC0F40181D}"/>
                </c:ext>
              </c:extLst>
            </c:dLbl>
            <c:dLbl>
              <c:idx val="2"/>
              <c:layout>
                <c:manualLayout>
                  <c:x val="-9.259259259259316E-3"/>
                  <c:y val="1.352417443250696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95C-0C4B-8B74-7CDC0F40181D}"/>
                </c:ext>
              </c:extLst>
            </c:dLbl>
            <c:dLbl>
              <c:idx val="4"/>
              <c:layout>
                <c:manualLayout>
                  <c:x val="0"/>
                  <c:y val="6.910886201452215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95C-0C4B-8B74-7CDC0F40181D}"/>
                </c:ext>
              </c:extLst>
            </c:dLbl>
            <c:dLbl>
              <c:idx val="6"/>
              <c:layout>
                <c:manualLayout>
                  <c:x val="-6.1728395061728392E-3"/>
                  <c:y val="2.013746266356171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95C-0C4B-8B74-7CDC0F40181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Aileron" pitchFamily="2" charset="77"/>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trendline>
            <c:spPr>
              <a:ln w="19050" cap="rnd">
                <a:solidFill>
                  <a:srgbClr val="DB5E71"/>
                </a:solidFill>
              </a:ln>
              <a:effectLst/>
            </c:spPr>
            <c:trendlineType val="linear"/>
            <c:dispRSqr val="0"/>
            <c:dispEq val="0"/>
          </c:trendline>
          <c:cat>
            <c:numRef>
              <c:f>'Ratios and Glance'!$C$5:$I$5</c:f>
              <c:numCache>
                <c:formatCode>General</c:formatCode>
                <c:ptCount val="7"/>
                <c:pt idx="0">
                  <c:v>2025</c:v>
                </c:pt>
                <c:pt idx="2">
                  <c:v>2026</c:v>
                </c:pt>
                <c:pt idx="4">
                  <c:v>2027</c:v>
                </c:pt>
                <c:pt idx="6">
                  <c:v>2028</c:v>
                </c:pt>
              </c:numCache>
            </c:numRef>
          </c:cat>
          <c:val>
            <c:numRef>
              <c:f>'Ratios and Glance'!$C$26:$I$26</c:f>
              <c:numCache>
                <c:formatCode>General</c:formatCode>
                <c:ptCount val="7"/>
                <c:pt idx="0">
                  <c:v>450</c:v>
                </c:pt>
                <c:pt idx="2">
                  <c:v>1565</c:v>
                </c:pt>
                <c:pt idx="4">
                  <c:v>2390</c:v>
                </c:pt>
                <c:pt idx="6">
                  <c:v>3535</c:v>
                </c:pt>
              </c:numCache>
            </c:numRef>
          </c:val>
          <c:extLst>
            <c:ext xmlns:c16="http://schemas.microsoft.com/office/drawing/2014/chart" uri="{C3380CC4-5D6E-409C-BE32-E72D297353CC}">
              <c16:uniqueId val="{00000001-595C-0C4B-8B74-7CDC0F40181D}"/>
            </c:ext>
          </c:extLst>
        </c:ser>
        <c:dLbls>
          <c:dLblPos val="inEnd"/>
          <c:showLegendKey val="0"/>
          <c:showVal val="1"/>
          <c:showCatName val="0"/>
          <c:showSerName val="0"/>
          <c:showPercent val="0"/>
          <c:showBubbleSize val="0"/>
        </c:dLbls>
        <c:gapWidth val="100"/>
        <c:overlap val="-24"/>
        <c:axId val="220578896"/>
        <c:axId val="296934976"/>
      </c:barChart>
      <c:catAx>
        <c:axId val="22057889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DM Sans 14pt" pitchFamily="2" charset="77"/>
                <a:ea typeface="+mn-ea"/>
                <a:cs typeface="+mn-cs"/>
              </a:defRPr>
            </a:pPr>
            <a:endParaRPr lang="en-US"/>
          </a:p>
        </c:txPr>
        <c:crossAx val="296934976"/>
        <c:crosses val="autoZero"/>
        <c:auto val="1"/>
        <c:lblAlgn val="ctr"/>
        <c:lblOffset val="100"/>
        <c:noMultiLvlLbl val="0"/>
      </c:catAx>
      <c:valAx>
        <c:axId val="296934976"/>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400" b="1" i="0" u="none" strike="noStrike" kern="1200" cap="all" baseline="0">
                    <a:solidFill>
                      <a:schemeClr val="lt1">
                        <a:lumMod val="85000"/>
                      </a:schemeClr>
                    </a:solidFill>
                    <a:latin typeface="Aileron Bold" pitchFamily="2" charset="77"/>
                    <a:ea typeface="+mn-ea"/>
                    <a:cs typeface="+mn-cs"/>
                  </a:defRPr>
                </a:pPr>
                <a:r>
                  <a:rPr lang="en-US" sz="1400">
                    <a:latin typeface="Aileron" pitchFamily="2" charset="77"/>
                  </a:rPr>
                  <a:t>Users</a:t>
                </a:r>
              </a:p>
              <a:p>
                <a:pPr>
                  <a:defRPr sz="1400">
                    <a:latin typeface="Aileron Bold" pitchFamily="2" charset="77"/>
                  </a:defRPr>
                </a:pPr>
                <a:endParaRPr lang="en-US" sz="1400">
                  <a:latin typeface="Aileron" pitchFamily="2" charset="77"/>
                </a:endParaRPr>
              </a:p>
            </c:rich>
          </c:tx>
          <c:layout>
            <c:manualLayout>
              <c:xMode val="edge"/>
              <c:yMode val="edge"/>
              <c:x val="0"/>
              <c:y val="0.42901832766083303"/>
            </c:manualLayout>
          </c:layout>
          <c:overlay val="0"/>
          <c:spPr>
            <a:noFill/>
            <a:ln>
              <a:noFill/>
            </a:ln>
            <a:effectLst/>
          </c:spPr>
          <c:txPr>
            <a:bodyPr rot="-5400000" spcFirstLastPara="1" vertOverflow="ellipsis" vert="horz" wrap="square" anchor="ctr" anchorCtr="1"/>
            <a:lstStyle/>
            <a:p>
              <a:pPr>
                <a:defRPr sz="1400" b="1" i="0" u="none" strike="noStrike" kern="1200" cap="all" baseline="0">
                  <a:solidFill>
                    <a:schemeClr val="lt1">
                      <a:lumMod val="85000"/>
                    </a:schemeClr>
                  </a:solidFill>
                  <a:latin typeface="Aileron Bold"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DM Sans 14pt" pitchFamily="2" charset="77"/>
                <a:ea typeface="+mn-ea"/>
                <a:cs typeface="+mn-cs"/>
              </a:defRPr>
            </a:pPr>
            <a:endParaRPr lang="en-US"/>
          </a:p>
        </c:txPr>
        <c:crossAx val="2205788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DM Sans 14pt" pitchFamily="2" charset="77"/>
                <a:ea typeface="+mn-ea"/>
                <a:cs typeface="+mn-cs"/>
              </a:defRPr>
            </a:pPr>
            <a:r>
              <a:rPr lang="en-US">
                <a:latin typeface="DM Sans 14pt" pitchFamily="2" charset="77"/>
              </a:rPr>
              <a:t>Revenue Growth Projection</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DM Sans 14pt" pitchFamily="2" charset="77"/>
              <a:ea typeface="+mn-ea"/>
              <a:cs typeface="+mn-cs"/>
            </a:defRPr>
          </a:pPr>
          <a:endParaRPr lang="en-US"/>
        </a:p>
      </c:txPr>
    </c:title>
    <c:autoTitleDeleted val="0"/>
    <c:plotArea>
      <c:layout/>
      <c:barChart>
        <c:barDir val="col"/>
        <c:grouping val="clustered"/>
        <c:varyColors val="0"/>
        <c:ser>
          <c:idx val="0"/>
          <c:order val="0"/>
          <c:spPr>
            <a:solidFill>
              <a:srgbClr val="BF5363"/>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dLbl>
              <c:idx val="0"/>
              <c:layout>
                <c:manualLayout>
                  <c:x val="-3.4331688291289869E-17"/>
                  <c:y val="-5.178411629178045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6E4-DD4D-97D1-8ACB11B5EDCA}"/>
                </c:ext>
              </c:extLst>
            </c:dLbl>
            <c:dLbl>
              <c:idx val="2"/>
              <c:layout>
                <c:manualLayout>
                  <c:x val="1.8726591760298938E-3"/>
                  <c:y val="-6.315688616268676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6E4-DD4D-97D1-8ACB11B5EDCA}"/>
                </c:ext>
              </c:extLst>
            </c:dLbl>
            <c:dLbl>
              <c:idx val="4"/>
              <c:layout>
                <c:manualLayout>
                  <c:x val="0"/>
                  <c:y val="2.013745742045889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6E4-DD4D-97D1-8ACB11B5EDCA}"/>
                </c:ext>
              </c:extLst>
            </c:dLbl>
            <c:dLbl>
              <c:idx val="6"/>
              <c:layout>
                <c:manualLayout>
                  <c:x val="-1.3732675316515948E-16"/>
                  <c:y val="-3.009045361677775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6E4-DD4D-97D1-8ACB11B5EDCA}"/>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Aileron" pitchFamily="2" charset="77"/>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trendline>
            <c:spPr>
              <a:ln w="19050" cap="rnd">
                <a:solidFill>
                  <a:srgbClr val="DB5E71"/>
                </a:solidFill>
              </a:ln>
              <a:effectLst/>
            </c:spPr>
            <c:trendlineType val="linear"/>
            <c:dispRSqr val="0"/>
            <c:dispEq val="0"/>
          </c:trendline>
          <c:cat>
            <c:numRef>
              <c:f>'Ratios and Glance'!$C$5:$I$5</c:f>
              <c:numCache>
                <c:formatCode>General</c:formatCode>
                <c:ptCount val="7"/>
                <c:pt idx="0">
                  <c:v>2025</c:v>
                </c:pt>
                <c:pt idx="2">
                  <c:v>2026</c:v>
                </c:pt>
                <c:pt idx="4">
                  <c:v>2027</c:v>
                </c:pt>
                <c:pt idx="6">
                  <c:v>2028</c:v>
                </c:pt>
              </c:numCache>
            </c:numRef>
          </c:cat>
          <c:val>
            <c:numRef>
              <c:f>'Ratios and Glance'!$C$9:$I$9</c:f>
              <c:numCache>
                <c:formatCode>General</c:formatCode>
                <c:ptCount val="7"/>
                <c:pt idx="0" formatCode="_(&quot;$&quot;* #,##0_);_(&quot;$&quot;* \(#,##0\);_(&quot;$&quot;* &quot;-&quot;??_);_(@_)">
                  <c:v>1422678.245431839</c:v>
                </c:pt>
                <c:pt idx="2" formatCode="_(&quot;$&quot;* #,##0_);_(&quot;$&quot;* \(#,##0\);_(&quot;$&quot;* &quot;-&quot;??_);_(@_)">
                  <c:v>7140417.2105421098</c:v>
                </c:pt>
                <c:pt idx="4" formatCode="_(&quot;$&quot;* #,##0_);_(&quot;$&quot;* \(#,##0\);_(&quot;$&quot;* &quot;-&quot;??_);_(@_)">
                  <c:v>12473691.131848549</c:v>
                </c:pt>
                <c:pt idx="6" formatCode="_(&quot;$&quot;* #,##0_);_(&quot;$&quot;* \(#,##0\);_(&quot;$&quot;* &quot;-&quot;??_);_(@_)">
                  <c:v>17610397.763743021</c:v>
                </c:pt>
              </c:numCache>
            </c:numRef>
          </c:val>
          <c:extLst>
            <c:ext xmlns:c16="http://schemas.microsoft.com/office/drawing/2014/chart" uri="{C3380CC4-5D6E-409C-BE32-E72D297353CC}">
              <c16:uniqueId val="{00000001-86E4-DD4D-97D1-8ACB11B5EDCA}"/>
            </c:ext>
          </c:extLst>
        </c:ser>
        <c:dLbls>
          <c:dLblPos val="inEnd"/>
          <c:showLegendKey val="0"/>
          <c:showVal val="1"/>
          <c:showCatName val="0"/>
          <c:showSerName val="0"/>
          <c:showPercent val="0"/>
          <c:showBubbleSize val="0"/>
        </c:dLbls>
        <c:gapWidth val="100"/>
        <c:overlap val="-24"/>
        <c:axId val="220578896"/>
        <c:axId val="296934976"/>
      </c:barChart>
      <c:catAx>
        <c:axId val="22057889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DM Sans 14pt" pitchFamily="2" charset="77"/>
                <a:ea typeface="+mn-ea"/>
                <a:cs typeface="+mn-cs"/>
              </a:defRPr>
            </a:pPr>
            <a:endParaRPr lang="en-US"/>
          </a:p>
        </c:txPr>
        <c:crossAx val="296934976"/>
        <c:crosses val="autoZero"/>
        <c:auto val="1"/>
        <c:lblAlgn val="ctr"/>
        <c:lblOffset val="100"/>
        <c:noMultiLvlLbl val="0"/>
      </c:catAx>
      <c:valAx>
        <c:axId val="296934976"/>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400" b="1" i="0" u="none" strike="noStrike" kern="1200" cap="all" baseline="0">
                    <a:solidFill>
                      <a:schemeClr val="lt1">
                        <a:lumMod val="85000"/>
                      </a:schemeClr>
                    </a:solidFill>
                    <a:latin typeface="Aileron Bold" pitchFamily="2" charset="77"/>
                    <a:ea typeface="+mn-ea"/>
                    <a:cs typeface="+mn-cs"/>
                  </a:defRPr>
                </a:pPr>
                <a:r>
                  <a:rPr lang="en-US" sz="1400">
                    <a:latin typeface="Aileron" pitchFamily="2" charset="77"/>
                  </a:rPr>
                  <a:t>Revenue</a:t>
                </a:r>
              </a:p>
              <a:p>
                <a:pPr>
                  <a:defRPr sz="1400">
                    <a:latin typeface="Aileron Bold" pitchFamily="2" charset="77"/>
                  </a:defRPr>
                </a:pPr>
                <a:endParaRPr lang="en-US" sz="1400">
                  <a:latin typeface="Aileron" pitchFamily="2" charset="77"/>
                </a:endParaRPr>
              </a:p>
            </c:rich>
          </c:tx>
          <c:overlay val="0"/>
          <c:spPr>
            <a:noFill/>
            <a:ln>
              <a:noFill/>
            </a:ln>
            <a:effectLst/>
          </c:spPr>
          <c:txPr>
            <a:bodyPr rot="-5400000" spcFirstLastPara="1" vertOverflow="ellipsis" vert="horz" wrap="square" anchor="ctr" anchorCtr="1"/>
            <a:lstStyle/>
            <a:p>
              <a:pPr>
                <a:defRPr sz="1400" b="1" i="0" u="none" strike="noStrike" kern="1200" cap="all" baseline="0">
                  <a:solidFill>
                    <a:schemeClr val="lt1">
                      <a:lumMod val="85000"/>
                    </a:schemeClr>
                  </a:solidFill>
                  <a:latin typeface="Aileron Bold" pitchFamily="2" charset="77"/>
                  <a:ea typeface="+mn-ea"/>
                  <a:cs typeface="+mn-cs"/>
                </a:defRPr>
              </a:pPr>
              <a:endParaRPr lang="en-US"/>
            </a:p>
          </c:txPr>
        </c:title>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lt1">
                    <a:lumMod val="85000"/>
                  </a:schemeClr>
                </a:solidFill>
                <a:latin typeface="DM Sans 14pt" pitchFamily="2" charset="77"/>
                <a:ea typeface="+mn-ea"/>
                <a:cs typeface="+mn-cs"/>
              </a:defRPr>
            </a:pPr>
            <a:endParaRPr lang="en-US"/>
          </a:p>
        </c:txPr>
        <c:crossAx val="2205788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83D253-6997-4594-9D31-5DA48DF82075}"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AU"/>
        </a:p>
      </dgm:t>
    </dgm:pt>
    <dgm:pt modelId="{D8840A5D-A33B-41DD-ABA3-04FB3987857D}">
      <dgm:prSet phldrT="[Text]"/>
      <dgm:spPr>
        <a:solidFill>
          <a:srgbClr val="74363E"/>
        </a:solidFill>
      </dgm:spPr>
      <dgm:t>
        <a:bodyPr/>
        <a:lstStyle/>
        <a:p>
          <a:r>
            <a:rPr lang="id-ID" b="1" dirty="0">
              <a:latin typeface="DM Sans 14pt" pitchFamily="2" charset="77"/>
            </a:rPr>
            <a:t>$54.27B</a:t>
          </a:r>
          <a:endParaRPr lang="en-AU" b="1" dirty="0">
            <a:latin typeface="DM Sans 14pt" pitchFamily="2" charset="77"/>
          </a:endParaRPr>
        </a:p>
      </dgm:t>
    </dgm:pt>
    <dgm:pt modelId="{5B7BA7FD-1F17-4F70-B720-04E033889516}" type="parTrans" cxnId="{84BDFA0D-57C3-41D9-876B-39891F8E3BF7}">
      <dgm:prSet/>
      <dgm:spPr/>
      <dgm:t>
        <a:bodyPr/>
        <a:lstStyle/>
        <a:p>
          <a:endParaRPr lang="en-AU"/>
        </a:p>
      </dgm:t>
    </dgm:pt>
    <dgm:pt modelId="{5A683EF0-7424-485D-8F6F-A6D0AF5351FB}" type="sibTrans" cxnId="{84BDFA0D-57C3-41D9-876B-39891F8E3BF7}">
      <dgm:prSet/>
      <dgm:spPr/>
      <dgm:t>
        <a:bodyPr/>
        <a:lstStyle/>
        <a:p>
          <a:endParaRPr lang="en-AU"/>
        </a:p>
      </dgm:t>
    </dgm:pt>
    <dgm:pt modelId="{DB4840BE-7970-45D4-835A-F9698CCB61C3}">
      <dgm:prSet phldrT="[Text]"/>
      <dgm:spPr>
        <a:solidFill>
          <a:srgbClr val="A64956"/>
        </a:solidFill>
      </dgm:spPr>
      <dgm:t>
        <a:bodyPr/>
        <a:lstStyle/>
        <a:p>
          <a:r>
            <a:rPr lang="id-ID" b="1" dirty="0">
              <a:latin typeface="DM Sans 14pt" pitchFamily="2" charset="77"/>
            </a:rPr>
            <a:t>$36.4B</a:t>
          </a:r>
          <a:endParaRPr lang="en-AU" b="1" dirty="0">
            <a:latin typeface="DM Sans 14pt" pitchFamily="2" charset="77"/>
          </a:endParaRPr>
        </a:p>
      </dgm:t>
    </dgm:pt>
    <dgm:pt modelId="{335FA1DC-DEAD-4AF4-B23C-36B537E888A7}" type="parTrans" cxnId="{66EE37CA-BF56-43C9-9BB6-DDAC11B96DA6}">
      <dgm:prSet/>
      <dgm:spPr/>
      <dgm:t>
        <a:bodyPr/>
        <a:lstStyle/>
        <a:p>
          <a:endParaRPr lang="en-AU"/>
        </a:p>
      </dgm:t>
    </dgm:pt>
    <dgm:pt modelId="{578DB5C7-8641-46EA-AE3E-A6F0A10A225A}" type="sibTrans" cxnId="{66EE37CA-BF56-43C9-9BB6-DDAC11B96DA6}">
      <dgm:prSet/>
      <dgm:spPr/>
      <dgm:t>
        <a:bodyPr/>
        <a:lstStyle/>
        <a:p>
          <a:endParaRPr lang="en-AU"/>
        </a:p>
      </dgm:t>
    </dgm:pt>
    <dgm:pt modelId="{6D8A58FE-5D73-4961-ABD3-2410756BF23C}">
      <dgm:prSet phldrT="[Text]"/>
      <dgm:spPr>
        <a:solidFill>
          <a:srgbClr val="DB5E71"/>
        </a:solidFill>
      </dgm:spPr>
      <dgm:t>
        <a:bodyPr/>
        <a:lstStyle/>
        <a:p>
          <a:r>
            <a:rPr lang="en-AU" b="1" dirty="0">
              <a:latin typeface="DM Sans 14pt" pitchFamily="2" charset="77"/>
            </a:rPr>
            <a:t>$10.9B</a:t>
          </a:r>
        </a:p>
      </dgm:t>
    </dgm:pt>
    <dgm:pt modelId="{5F34D02D-866D-498F-AAC1-D848904E16D2}" type="parTrans" cxnId="{8DD5AFAF-4FA5-40A0-B01B-86651C926836}">
      <dgm:prSet/>
      <dgm:spPr/>
      <dgm:t>
        <a:bodyPr/>
        <a:lstStyle/>
        <a:p>
          <a:endParaRPr lang="en-AU"/>
        </a:p>
      </dgm:t>
    </dgm:pt>
    <dgm:pt modelId="{2685098E-FE98-4AB8-A50F-674157641AF1}" type="sibTrans" cxnId="{8DD5AFAF-4FA5-40A0-B01B-86651C926836}">
      <dgm:prSet/>
      <dgm:spPr/>
      <dgm:t>
        <a:bodyPr/>
        <a:lstStyle/>
        <a:p>
          <a:endParaRPr lang="en-AU"/>
        </a:p>
      </dgm:t>
    </dgm:pt>
    <dgm:pt modelId="{E6F884FC-651C-4284-8830-2167A8D466BC}">
      <dgm:prSet phldrT="[Text]"/>
      <dgm:spPr>
        <a:solidFill>
          <a:srgbClr val="E6838E"/>
        </a:solidFill>
      </dgm:spPr>
      <dgm:t>
        <a:bodyPr/>
        <a:lstStyle/>
        <a:p>
          <a:r>
            <a:rPr lang="id-ID" b="1" dirty="0">
              <a:latin typeface="DM Sans 14pt" pitchFamily="2" charset="77"/>
            </a:rPr>
            <a:t>$546M</a:t>
          </a:r>
          <a:endParaRPr lang="en-AU" b="1" dirty="0">
            <a:latin typeface="DM Sans 14pt" pitchFamily="2" charset="77"/>
          </a:endParaRPr>
        </a:p>
      </dgm:t>
    </dgm:pt>
    <dgm:pt modelId="{A11DDFF6-9387-4D38-A080-F77567A1808B}" type="parTrans" cxnId="{1C3DB5F6-37CC-4533-BD1A-8FAA14FB0738}">
      <dgm:prSet/>
      <dgm:spPr/>
      <dgm:t>
        <a:bodyPr/>
        <a:lstStyle/>
        <a:p>
          <a:endParaRPr lang="en-AU"/>
        </a:p>
      </dgm:t>
    </dgm:pt>
    <dgm:pt modelId="{6C1A6FCA-9482-4733-8155-602A7F3423E4}" type="sibTrans" cxnId="{1C3DB5F6-37CC-4533-BD1A-8FAA14FB0738}">
      <dgm:prSet/>
      <dgm:spPr/>
      <dgm:t>
        <a:bodyPr/>
        <a:lstStyle/>
        <a:p>
          <a:endParaRPr lang="en-AU"/>
        </a:p>
      </dgm:t>
    </dgm:pt>
    <dgm:pt modelId="{8EC74AC9-2E83-42E0-8332-8A9240C69FFB}" type="pres">
      <dgm:prSet presAssocID="{E683D253-6997-4594-9D31-5DA48DF82075}" presName="Name0" presStyleCnt="0">
        <dgm:presLayoutVars>
          <dgm:chMax val="7"/>
          <dgm:resizeHandles val="exact"/>
        </dgm:presLayoutVars>
      </dgm:prSet>
      <dgm:spPr/>
    </dgm:pt>
    <dgm:pt modelId="{1C5EAD4D-E478-41D6-A5F1-52F0C84BF96C}" type="pres">
      <dgm:prSet presAssocID="{E683D253-6997-4594-9D31-5DA48DF82075}" presName="comp1" presStyleCnt="0"/>
      <dgm:spPr/>
    </dgm:pt>
    <dgm:pt modelId="{767211C7-3682-4E19-9B26-DD1B5F2008ED}" type="pres">
      <dgm:prSet presAssocID="{E683D253-6997-4594-9D31-5DA48DF82075}" presName="circle1" presStyleLbl="node1" presStyleIdx="0" presStyleCnt="4"/>
      <dgm:spPr/>
    </dgm:pt>
    <dgm:pt modelId="{9758515F-8667-4FB2-BE5B-299767ECA302}" type="pres">
      <dgm:prSet presAssocID="{E683D253-6997-4594-9D31-5DA48DF82075}" presName="c1text" presStyleLbl="node1" presStyleIdx="0" presStyleCnt="4">
        <dgm:presLayoutVars>
          <dgm:bulletEnabled val="1"/>
        </dgm:presLayoutVars>
      </dgm:prSet>
      <dgm:spPr/>
    </dgm:pt>
    <dgm:pt modelId="{8BDF732F-7D28-437A-8DB6-AFFFA2DB48BF}" type="pres">
      <dgm:prSet presAssocID="{E683D253-6997-4594-9D31-5DA48DF82075}" presName="comp2" presStyleCnt="0"/>
      <dgm:spPr/>
    </dgm:pt>
    <dgm:pt modelId="{228FE1A1-2C70-4920-B86B-CF6019539739}" type="pres">
      <dgm:prSet presAssocID="{E683D253-6997-4594-9D31-5DA48DF82075}" presName="circle2" presStyleLbl="node1" presStyleIdx="1" presStyleCnt="4"/>
      <dgm:spPr/>
    </dgm:pt>
    <dgm:pt modelId="{D9EEF99D-01AC-4336-A9D8-80928B6B46FF}" type="pres">
      <dgm:prSet presAssocID="{E683D253-6997-4594-9D31-5DA48DF82075}" presName="c2text" presStyleLbl="node1" presStyleIdx="1" presStyleCnt="4">
        <dgm:presLayoutVars>
          <dgm:bulletEnabled val="1"/>
        </dgm:presLayoutVars>
      </dgm:prSet>
      <dgm:spPr/>
    </dgm:pt>
    <dgm:pt modelId="{D421A64F-DFBB-463D-9BD7-CF4445E77322}" type="pres">
      <dgm:prSet presAssocID="{E683D253-6997-4594-9D31-5DA48DF82075}" presName="comp3" presStyleCnt="0"/>
      <dgm:spPr/>
    </dgm:pt>
    <dgm:pt modelId="{5022CAB7-6FAB-4561-BC0E-5D236FB6FC75}" type="pres">
      <dgm:prSet presAssocID="{E683D253-6997-4594-9D31-5DA48DF82075}" presName="circle3" presStyleLbl="node1" presStyleIdx="2" presStyleCnt="4"/>
      <dgm:spPr/>
    </dgm:pt>
    <dgm:pt modelId="{1D92CD76-101D-47CF-8CB0-0A2AB46A35C9}" type="pres">
      <dgm:prSet presAssocID="{E683D253-6997-4594-9D31-5DA48DF82075}" presName="c3text" presStyleLbl="node1" presStyleIdx="2" presStyleCnt="4">
        <dgm:presLayoutVars>
          <dgm:bulletEnabled val="1"/>
        </dgm:presLayoutVars>
      </dgm:prSet>
      <dgm:spPr/>
    </dgm:pt>
    <dgm:pt modelId="{B3494778-74B3-4190-A910-A6B8BC5E1A9B}" type="pres">
      <dgm:prSet presAssocID="{E683D253-6997-4594-9D31-5DA48DF82075}" presName="comp4" presStyleCnt="0"/>
      <dgm:spPr/>
    </dgm:pt>
    <dgm:pt modelId="{26E7B382-33A6-4727-879E-16EB532626D8}" type="pres">
      <dgm:prSet presAssocID="{E683D253-6997-4594-9D31-5DA48DF82075}" presName="circle4" presStyleLbl="node1" presStyleIdx="3" presStyleCnt="4"/>
      <dgm:spPr/>
    </dgm:pt>
    <dgm:pt modelId="{B23465D0-90A7-4CFA-81AA-133B97A92FF6}" type="pres">
      <dgm:prSet presAssocID="{E683D253-6997-4594-9D31-5DA48DF82075}" presName="c4text" presStyleLbl="node1" presStyleIdx="3" presStyleCnt="4">
        <dgm:presLayoutVars>
          <dgm:bulletEnabled val="1"/>
        </dgm:presLayoutVars>
      </dgm:prSet>
      <dgm:spPr/>
    </dgm:pt>
  </dgm:ptLst>
  <dgm:cxnLst>
    <dgm:cxn modelId="{D20B7809-7BEA-40B3-B833-C75D5A1F1EDA}" type="presOf" srcId="{6D8A58FE-5D73-4961-ABD3-2410756BF23C}" destId="{5022CAB7-6FAB-4561-BC0E-5D236FB6FC75}" srcOrd="0" destOrd="0" presId="urn:microsoft.com/office/officeart/2005/8/layout/venn2"/>
    <dgm:cxn modelId="{84BDFA0D-57C3-41D9-876B-39891F8E3BF7}" srcId="{E683D253-6997-4594-9D31-5DA48DF82075}" destId="{D8840A5D-A33B-41DD-ABA3-04FB3987857D}" srcOrd="0" destOrd="0" parTransId="{5B7BA7FD-1F17-4F70-B720-04E033889516}" sibTransId="{5A683EF0-7424-485D-8F6F-A6D0AF5351FB}"/>
    <dgm:cxn modelId="{E7120B1C-3FEF-43DE-9C51-0F22C3E0B98A}" type="presOf" srcId="{D8840A5D-A33B-41DD-ABA3-04FB3987857D}" destId="{767211C7-3682-4E19-9B26-DD1B5F2008ED}" srcOrd="0" destOrd="0" presId="urn:microsoft.com/office/officeart/2005/8/layout/venn2"/>
    <dgm:cxn modelId="{2F5F5421-DD35-4DB7-911D-9803787CF3AF}" type="presOf" srcId="{DB4840BE-7970-45D4-835A-F9698CCB61C3}" destId="{D9EEF99D-01AC-4336-A9D8-80928B6B46FF}" srcOrd="1" destOrd="0" presId="urn:microsoft.com/office/officeart/2005/8/layout/venn2"/>
    <dgm:cxn modelId="{569EA346-28E2-40ED-B940-A8D54BBCE863}" type="presOf" srcId="{E6F884FC-651C-4284-8830-2167A8D466BC}" destId="{26E7B382-33A6-4727-879E-16EB532626D8}" srcOrd="0" destOrd="0" presId="urn:microsoft.com/office/officeart/2005/8/layout/venn2"/>
    <dgm:cxn modelId="{244AA258-E971-4094-892A-4DD3B60E0949}" type="presOf" srcId="{E6F884FC-651C-4284-8830-2167A8D466BC}" destId="{B23465D0-90A7-4CFA-81AA-133B97A92FF6}" srcOrd="1" destOrd="0" presId="urn:microsoft.com/office/officeart/2005/8/layout/venn2"/>
    <dgm:cxn modelId="{8DD5AFAF-4FA5-40A0-B01B-86651C926836}" srcId="{E683D253-6997-4594-9D31-5DA48DF82075}" destId="{6D8A58FE-5D73-4961-ABD3-2410756BF23C}" srcOrd="2" destOrd="0" parTransId="{5F34D02D-866D-498F-AAC1-D848904E16D2}" sibTransId="{2685098E-FE98-4AB8-A50F-674157641AF1}"/>
    <dgm:cxn modelId="{8A07A1C8-C4B9-4BC5-9159-66170DAA8EDE}" type="presOf" srcId="{DB4840BE-7970-45D4-835A-F9698CCB61C3}" destId="{228FE1A1-2C70-4920-B86B-CF6019539739}" srcOrd="0" destOrd="0" presId="urn:microsoft.com/office/officeart/2005/8/layout/venn2"/>
    <dgm:cxn modelId="{66EE37CA-BF56-43C9-9BB6-DDAC11B96DA6}" srcId="{E683D253-6997-4594-9D31-5DA48DF82075}" destId="{DB4840BE-7970-45D4-835A-F9698CCB61C3}" srcOrd="1" destOrd="0" parTransId="{335FA1DC-DEAD-4AF4-B23C-36B537E888A7}" sibTransId="{578DB5C7-8641-46EA-AE3E-A6F0A10A225A}"/>
    <dgm:cxn modelId="{A56D5DDE-832A-4A8D-B827-2232597A47C1}" type="presOf" srcId="{D8840A5D-A33B-41DD-ABA3-04FB3987857D}" destId="{9758515F-8667-4FB2-BE5B-299767ECA302}" srcOrd="1" destOrd="0" presId="urn:microsoft.com/office/officeart/2005/8/layout/venn2"/>
    <dgm:cxn modelId="{1EAB0FE5-B2CF-496E-8B80-062BFB06A6CA}" type="presOf" srcId="{6D8A58FE-5D73-4961-ABD3-2410756BF23C}" destId="{1D92CD76-101D-47CF-8CB0-0A2AB46A35C9}" srcOrd="1" destOrd="0" presId="urn:microsoft.com/office/officeart/2005/8/layout/venn2"/>
    <dgm:cxn modelId="{7B6469EF-0C39-447B-AB5E-1E364E488CA8}" type="presOf" srcId="{E683D253-6997-4594-9D31-5DA48DF82075}" destId="{8EC74AC9-2E83-42E0-8332-8A9240C69FFB}" srcOrd="0" destOrd="0" presId="urn:microsoft.com/office/officeart/2005/8/layout/venn2"/>
    <dgm:cxn modelId="{1C3DB5F6-37CC-4533-BD1A-8FAA14FB0738}" srcId="{E683D253-6997-4594-9D31-5DA48DF82075}" destId="{E6F884FC-651C-4284-8830-2167A8D466BC}" srcOrd="3" destOrd="0" parTransId="{A11DDFF6-9387-4D38-A080-F77567A1808B}" sibTransId="{6C1A6FCA-9482-4733-8155-602A7F3423E4}"/>
    <dgm:cxn modelId="{2E8424F1-44C1-451E-A91B-96A0F8EDE690}" type="presParOf" srcId="{8EC74AC9-2E83-42E0-8332-8A9240C69FFB}" destId="{1C5EAD4D-E478-41D6-A5F1-52F0C84BF96C}" srcOrd="0" destOrd="0" presId="urn:microsoft.com/office/officeart/2005/8/layout/venn2"/>
    <dgm:cxn modelId="{00A2437F-371D-4F41-BE48-B5A08F190897}" type="presParOf" srcId="{1C5EAD4D-E478-41D6-A5F1-52F0C84BF96C}" destId="{767211C7-3682-4E19-9B26-DD1B5F2008ED}" srcOrd="0" destOrd="0" presId="urn:microsoft.com/office/officeart/2005/8/layout/venn2"/>
    <dgm:cxn modelId="{C2EC29C5-4D6C-421D-88FC-5F4DD74F9FAC}" type="presParOf" srcId="{1C5EAD4D-E478-41D6-A5F1-52F0C84BF96C}" destId="{9758515F-8667-4FB2-BE5B-299767ECA302}" srcOrd="1" destOrd="0" presId="urn:microsoft.com/office/officeart/2005/8/layout/venn2"/>
    <dgm:cxn modelId="{4D55A575-0C51-49DE-B815-2A06E6197898}" type="presParOf" srcId="{8EC74AC9-2E83-42E0-8332-8A9240C69FFB}" destId="{8BDF732F-7D28-437A-8DB6-AFFFA2DB48BF}" srcOrd="1" destOrd="0" presId="urn:microsoft.com/office/officeart/2005/8/layout/venn2"/>
    <dgm:cxn modelId="{F8BB3B29-6C40-424D-88FD-0F8CA35BB2C9}" type="presParOf" srcId="{8BDF732F-7D28-437A-8DB6-AFFFA2DB48BF}" destId="{228FE1A1-2C70-4920-B86B-CF6019539739}" srcOrd="0" destOrd="0" presId="urn:microsoft.com/office/officeart/2005/8/layout/venn2"/>
    <dgm:cxn modelId="{446B9EAF-23EC-429C-90D6-36AECA57E54E}" type="presParOf" srcId="{8BDF732F-7D28-437A-8DB6-AFFFA2DB48BF}" destId="{D9EEF99D-01AC-4336-A9D8-80928B6B46FF}" srcOrd="1" destOrd="0" presId="urn:microsoft.com/office/officeart/2005/8/layout/venn2"/>
    <dgm:cxn modelId="{FAA4D1BB-CDDE-4E3C-A4A2-17E752A724DA}" type="presParOf" srcId="{8EC74AC9-2E83-42E0-8332-8A9240C69FFB}" destId="{D421A64F-DFBB-463D-9BD7-CF4445E77322}" srcOrd="2" destOrd="0" presId="urn:microsoft.com/office/officeart/2005/8/layout/venn2"/>
    <dgm:cxn modelId="{A3A3A760-5CB3-4F7A-B3B6-CBC50344D3EB}" type="presParOf" srcId="{D421A64F-DFBB-463D-9BD7-CF4445E77322}" destId="{5022CAB7-6FAB-4561-BC0E-5D236FB6FC75}" srcOrd="0" destOrd="0" presId="urn:microsoft.com/office/officeart/2005/8/layout/venn2"/>
    <dgm:cxn modelId="{11CDAA9A-6026-407B-B5B2-A239ED1B218C}" type="presParOf" srcId="{D421A64F-DFBB-463D-9BD7-CF4445E77322}" destId="{1D92CD76-101D-47CF-8CB0-0A2AB46A35C9}" srcOrd="1" destOrd="0" presId="urn:microsoft.com/office/officeart/2005/8/layout/venn2"/>
    <dgm:cxn modelId="{E7543831-2115-479C-8E60-E8CAB3109C7C}" type="presParOf" srcId="{8EC74AC9-2E83-42E0-8332-8A9240C69FFB}" destId="{B3494778-74B3-4190-A910-A6B8BC5E1A9B}" srcOrd="3" destOrd="0" presId="urn:microsoft.com/office/officeart/2005/8/layout/venn2"/>
    <dgm:cxn modelId="{FA443032-25AC-4ED3-B98D-8E3AE95EEEDC}" type="presParOf" srcId="{B3494778-74B3-4190-A910-A6B8BC5E1A9B}" destId="{26E7B382-33A6-4727-879E-16EB532626D8}" srcOrd="0" destOrd="0" presId="urn:microsoft.com/office/officeart/2005/8/layout/venn2"/>
    <dgm:cxn modelId="{D632A705-C69E-4B63-A7D5-00010DB5921B}" type="presParOf" srcId="{B3494778-74B3-4190-A910-A6B8BC5E1A9B}" destId="{B23465D0-90A7-4CFA-81AA-133B97A92FF6}" srcOrd="1" destOrd="0" presId="urn:microsoft.com/office/officeart/2005/8/layout/ven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211C7-3682-4E19-9B26-DD1B5F2008ED}">
      <dsp:nvSpPr>
        <dsp:cNvPr id="0" name=""/>
        <dsp:cNvSpPr/>
      </dsp:nvSpPr>
      <dsp:spPr>
        <a:xfrm>
          <a:off x="657927" y="0"/>
          <a:ext cx="4170545" cy="4170545"/>
        </a:xfrm>
        <a:prstGeom prst="ellipse">
          <a:avLst/>
        </a:prstGeom>
        <a:solidFill>
          <a:srgbClr val="74363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id-ID" sz="1800" b="1" kern="1200" dirty="0">
              <a:latin typeface="DM Sans 14pt" pitchFamily="2" charset="77"/>
            </a:rPr>
            <a:t>$54.27B</a:t>
          </a:r>
          <a:endParaRPr lang="en-AU" sz="1800" b="1" kern="1200" dirty="0">
            <a:latin typeface="DM Sans 14pt" pitchFamily="2" charset="77"/>
          </a:endParaRPr>
        </a:p>
      </dsp:txBody>
      <dsp:txXfrm>
        <a:off x="2160157" y="208527"/>
        <a:ext cx="1166084" cy="625581"/>
      </dsp:txXfrm>
    </dsp:sp>
    <dsp:sp modelId="{228FE1A1-2C70-4920-B86B-CF6019539739}">
      <dsp:nvSpPr>
        <dsp:cNvPr id="0" name=""/>
        <dsp:cNvSpPr/>
      </dsp:nvSpPr>
      <dsp:spPr>
        <a:xfrm>
          <a:off x="1074982" y="834109"/>
          <a:ext cx="3336436" cy="3336436"/>
        </a:xfrm>
        <a:prstGeom prst="ellipse">
          <a:avLst/>
        </a:prstGeom>
        <a:solidFill>
          <a:srgbClr val="A6495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id-ID" sz="1800" b="1" kern="1200" dirty="0">
              <a:latin typeface="DM Sans 14pt" pitchFamily="2" charset="77"/>
            </a:rPr>
            <a:t>$36.4B</a:t>
          </a:r>
          <a:endParaRPr lang="en-AU" sz="1800" b="1" kern="1200" dirty="0">
            <a:latin typeface="DM Sans 14pt" pitchFamily="2" charset="77"/>
          </a:endParaRPr>
        </a:p>
      </dsp:txBody>
      <dsp:txXfrm>
        <a:off x="2160157" y="1034295"/>
        <a:ext cx="1166084" cy="600558"/>
      </dsp:txXfrm>
    </dsp:sp>
    <dsp:sp modelId="{5022CAB7-6FAB-4561-BC0E-5D236FB6FC75}">
      <dsp:nvSpPr>
        <dsp:cNvPr id="0" name=""/>
        <dsp:cNvSpPr/>
      </dsp:nvSpPr>
      <dsp:spPr>
        <a:xfrm>
          <a:off x="1492036" y="1668218"/>
          <a:ext cx="2502327" cy="2502327"/>
        </a:xfrm>
        <a:prstGeom prst="ellipse">
          <a:avLst/>
        </a:prstGeom>
        <a:solidFill>
          <a:srgbClr val="DB5E7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AU" sz="1800" b="1" kern="1200" dirty="0">
              <a:latin typeface="DM Sans 14pt" pitchFamily="2" charset="77"/>
            </a:rPr>
            <a:t>$10.9B</a:t>
          </a:r>
        </a:p>
      </dsp:txBody>
      <dsp:txXfrm>
        <a:off x="2160157" y="1855892"/>
        <a:ext cx="1166084" cy="563023"/>
      </dsp:txXfrm>
    </dsp:sp>
    <dsp:sp modelId="{26E7B382-33A6-4727-879E-16EB532626D8}">
      <dsp:nvSpPr>
        <dsp:cNvPr id="0" name=""/>
        <dsp:cNvSpPr/>
      </dsp:nvSpPr>
      <dsp:spPr>
        <a:xfrm>
          <a:off x="1909091" y="2502327"/>
          <a:ext cx="1668218" cy="1668218"/>
        </a:xfrm>
        <a:prstGeom prst="ellipse">
          <a:avLst/>
        </a:prstGeom>
        <a:solidFill>
          <a:srgbClr val="E6838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id-ID" sz="1800" b="1" kern="1200" dirty="0">
              <a:latin typeface="DM Sans 14pt" pitchFamily="2" charset="77"/>
            </a:rPr>
            <a:t>$546M</a:t>
          </a:r>
          <a:endParaRPr lang="en-AU" sz="1800" b="1" kern="1200" dirty="0">
            <a:latin typeface="DM Sans 14pt" pitchFamily="2" charset="77"/>
          </a:endParaRPr>
        </a:p>
      </dsp:txBody>
      <dsp:txXfrm>
        <a:off x="2153395" y="2919381"/>
        <a:ext cx="1179608" cy="834109"/>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E5D5632-37B7-A143-BDF8-A4784E4FFF7F}" type="datetimeFigureOut">
              <a:rPr lang="en-US" smtClean="0"/>
              <a:t>7/28/25</a:t>
            </a:fld>
            <a:endParaRPr lang="en-US"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8F4A746-5C3E-F946-8AC3-EDDA9FB1FFD7}" type="slidenum">
              <a:rPr lang="en-US" smtClean="0"/>
              <a:t>‹#›</a:t>
            </a:fld>
            <a:endParaRPr lang="en-US" dirty="0"/>
          </a:p>
        </p:txBody>
      </p:sp>
    </p:spTree>
    <p:extLst>
      <p:ext uri="{BB962C8B-B14F-4D97-AF65-F5344CB8AC3E}">
        <p14:creationId xmlns:p14="http://schemas.microsoft.com/office/powerpoint/2010/main" val="3037387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DM Sans 14pt" pitchFamily="2" charset="77"/>
              </a:rPr>
              <a:t>1. **SaaS Productivity Tools Market Using AI:**</a:t>
            </a:r>
          </a:p>
          <a:p>
            <a:r>
              <a:rPr lang="en-US" sz="1200" dirty="0">
                <a:latin typeface="DM Sans 14pt" pitchFamily="2" charset="77"/>
              </a:rPr>
              <a:t>   - The global AI productivity tools market size was estimated at USD 6,948.3 million in 2023 and is projected to grow at a CAGR of 26.7% from 2024 to 2030[5].</a:t>
            </a:r>
          </a:p>
          <a:p>
            <a:endParaRPr lang="en-US" sz="1200" dirty="0">
              <a:latin typeface="DM Sans 14pt" pitchFamily="2" charset="77"/>
            </a:endParaRPr>
          </a:p>
          <a:p>
            <a:r>
              <a:rPr lang="en-US" sz="1200" dirty="0">
                <a:latin typeface="DM Sans 14pt" pitchFamily="2" charset="77"/>
              </a:rPr>
              <a:t>2. **Business Intelligence Market Size:**</a:t>
            </a:r>
          </a:p>
          <a:p>
            <a:r>
              <a:rPr lang="en-US" sz="1200" dirty="0">
                <a:latin typeface="DM Sans 14pt" pitchFamily="2" charset="77"/>
              </a:rPr>
              <a:t>   - The global Business Intelligence market size was estimated at USD 29.42 billion in 2023 and is expected to reach USD 54.27 billion by 2030, growing at a CAGR of 9.1% during the forecast period[2].</a:t>
            </a:r>
          </a:p>
          <a:p>
            <a:r>
              <a:rPr lang="en-US" sz="1200" dirty="0">
                <a:latin typeface="DM Sans 14pt" pitchFamily="2" charset="77"/>
              </a:rPr>
              <a:t>   - Another source indicates that companies will spend $59.7 billion on Business Intelligence software in 2024, highlighting a significant market size for BI solutions[4].</a:t>
            </a:r>
          </a:p>
          <a:p>
            <a:endParaRPr lang="en-US" sz="1200" dirty="0">
              <a:latin typeface="DM Sans 14pt" pitchFamily="2" charset="77"/>
            </a:endParaRPr>
          </a:p>
          <a:p>
            <a:r>
              <a:rPr lang="en-US" sz="1200" dirty="0">
                <a:latin typeface="DM Sans 14pt" pitchFamily="2" charset="77"/>
              </a:rPr>
              <a:t>3. **Expected Growth Over the Next 10 Years:**</a:t>
            </a:r>
          </a:p>
          <a:p>
            <a:r>
              <a:rPr lang="en-US" sz="1200" dirty="0">
                <a:latin typeface="DM Sans 14pt" pitchFamily="2" charset="77"/>
              </a:rPr>
              <a:t>   - The Business Intelligence market is expected to grow at a CAGR of 9.1% from 2023 to 2030, reaching USD 54.27 billion by 2030[2].</a:t>
            </a:r>
          </a:p>
          <a:p>
            <a:r>
              <a:rPr lang="en-US" sz="1200" dirty="0">
                <a:latin typeface="DM Sans 14pt" pitchFamily="2" charset="77"/>
              </a:rPr>
              <a:t>   The AI productivity tools market, which includes BI tools that leverage AI, is projected to grow at a CAGR of 26.7% from 2024 to 2030[5].</a:t>
            </a:r>
          </a:p>
          <a:p>
            <a:endParaRPr lang="en-US" sz="1200" dirty="0">
              <a:latin typeface="DM Sans 14pt" pitchFamily="2" charset="77"/>
            </a:endParaRPr>
          </a:p>
          <a:p>
            <a:r>
              <a:rPr lang="en-US" sz="1200" dirty="0">
                <a:latin typeface="DM Sans 14pt" pitchFamily="2" charset="77"/>
              </a:rPr>
              <a:t>The overall market size for SaaS productivity tools using AI is significantly smaller than the specific Business Intelligence market. However, both markets are expected to grow considerably over the next decade, with the AI productivity tools market experiencing a much higher growth rate. The Business Intelligence market, which includes tools that connect business financial strategy to sales and marketing execution, is expected to reach USD 54.27 billion by 2030, growing at a CAGR of 9.1%[2].</a:t>
            </a:r>
          </a:p>
        </p:txBody>
      </p:sp>
      <p:sp>
        <p:nvSpPr>
          <p:cNvPr id="4" name="Slide Number Placeholder 3"/>
          <p:cNvSpPr>
            <a:spLocks noGrp="1"/>
          </p:cNvSpPr>
          <p:nvPr>
            <p:ph type="sldNum" sz="quarter" idx="5"/>
          </p:nvPr>
        </p:nvSpPr>
        <p:spPr/>
        <p:txBody>
          <a:bodyPr/>
          <a:lstStyle/>
          <a:p>
            <a:fld id="{58F4A746-5C3E-F946-8AC3-EDDA9FB1FFD7}" type="slidenum">
              <a:rPr lang="en-US" smtClean="0"/>
              <a:t>24</a:t>
            </a:fld>
            <a:endParaRPr lang="en-US" dirty="0"/>
          </a:p>
        </p:txBody>
      </p:sp>
    </p:spTree>
    <p:extLst>
      <p:ext uri="{BB962C8B-B14F-4D97-AF65-F5344CB8AC3E}">
        <p14:creationId xmlns:p14="http://schemas.microsoft.com/office/powerpoint/2010/main" val="3688536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900" b="1" i="0">
                <a:solidFill>
                  <a:srgbClr val="404040"/>
                </a:solidFill>
                <a:latin typeface="Graphik Bold"/>
                <a:cs typeface="Graphik Bold"/>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900" b="1" i="0">
                <a:solidFill>
                  <a:srgbClr val="404040"/>
                </a:solidFill>
                <a:latin typeface="Graphik Bold"/>
                <a:cs typeface="Graphik Bold"/>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extLst>
      <p:ext uri="{BB962C8B-B14F-4D97-AF65-F5344CB8AC3E}">
        <p14:creationId xmlns:p14="http://schemas.microsoft.com/office/powerpoint/2010/main" val="1271715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1900" b="1" i="0">
                <a:solidFill>
                  <a:srgbClr val="404040"/>
                </a:solidFill>
                <a:latin typeface="Graphik Bold"/>
                <a:cs typeface="Graphik Bold"/>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1900" b="1" i="0">
                <a:solidFill>
                  <a:srgbClr val="404040"/>
                </a:solidFill>
                <a:latin typeface="Graphik Bold"/>
                <a:cs typeface="Graphik Bold"/>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pic>
        <p:nvPicPr>
          <p:cNvPr id="14" name="Picture 13" descr="A pink power button with a black background&#10;&#10;Description automatically generated">
            <a:extLst>
              <a:ext uri="{FF2B5EF4-FFF2-40B4-BE49-F238E27FC236}">
                <a16:creationId xmlns:a16="http://schemas.microsoft.com/office/drawing/2014/main" id="{27495A33-3647-86C3-BF7B-C021A425A1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75325" y="6216650"/>
            <a:ext cx="641350" cy="641350"/>
          </a:xfrm>
          <a:prstGeom prst="rect">
            <a:avLst/>
          </a:prstGeom>
        </p:spPr>
      </p:pic>
    </p:spTree>
    <p:extLst>
      <p:ext uri="{BB962C8B-B14F-4D97-AF65-F5344CB8AC3E}">
        <p14:creationId xmlns:p14="http://schemas.microsoft.com/office/powerpoint/2010/main" val="3970772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704113" y="390523"/>
            <a:ext cx="6097905" cy="6076950"/>
          </a:xfrm>
          <a:custGeom>
            <a:avLst/>
            <a:gdLst/>
            <a:ahLst/>
            <a:cxnLst/>
            <a:rect l="l" t="t" r="r" b="b"/>
            <a:pathLst>
              <a:path w="6097905" h="6076950">
                <a:moveTo>
                  <a:pt x="6097361" y="0"/>
                </a:moveTo>
                <a:lnTo>
                  <a:pt x="0" y="0"/>
                </a:lnTo>
                <a:lnTo>
                  <a:pt x="0" y="6076951"/>
                </a:lnTo>
                <a:lnTo>
                  <a:pt x="6097361" y="6076951"/>
                </a:lnTo>
                <a:lnTo>
                  <a:pt x="6097361" y="0"/>
                </a:lnTo>
                <a:close/>
              </a:path>
            </a:pathLst>
          </a:custGeom>
          <a:solidFill>
            <a:srgbClr val="EEEBEB"/>
          </a:solidFill>
        </p:spPr>
        <p:txBody>
          <a:bodyPr wrap="square" lIns="0" tIns="0" rIns="0" bIns="0" rtlCol="0"/>
          <a:lstStyle/>
          <a:p>
            <a:endParaRPr dirty="0"/>
          </a:p>
        </p:txBody>
      </p:sp>
      <p:sp>
        <p:nvSpPr>
          <p:cNvPr id="17" name="bg object 17"/>
          <p:cNvSpPr/>
          <p:nvPr userDrawn="1"/>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pic>
        <p:nvPicPr>
          <p:cNvPr id="6" name="Picture 5" descr="A pink power button with a black background&#10;&#10;Description automatically generated">
            <a:extLst>
              <a:ext uri="{FF2B5EF4-FFF2-40B4-BE49-F238E27FC236}">
                <a16:creationId xmlns:a16="http://schemas.microsoft.com/office/drawing/2014/main" id="{FA61A6DC-C6D9-D9CF-6C1C-9E954028EF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5829300" y="6282690"/>
            <a:ext cx="533400" cy="533400"/>
          </a:xfrm>
          <a:prstGeom prst="rect">
            <a:avLst/>
          </a:prstGeom>
        </p:spPr>
      </p:pic>
    </p:spTree>
    <p:extLst>
      <p:ext uri="{BB962C8B-B14F-4D97-AF65-F5344CB8AC3E}">
        <p14:creationId xmlns:p14="http://schemas.microsoft.com/office/powerpoint/2010/main" val="923721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404040"/>
                </a:solidFill>
                <a:latin typeface="Graphik Bold"/>
                <a:cs typeface="Graphik Bold"/>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pic>
        <p:nvPicPr>
          <p:cNvPr id="12" name="Picture 11" descr="A pink power button with a black background&#10;&#10;Description automatically generated">
            <a:extLst>
              <a:ext uri="{FF2B5EF4-FFF2-40B4-BE49-F238E27FC236}">
                <a16:creationId xmlns:a16="http://schemas.microsoft.com/office/drawing/2014/main" id="{3C1B8F06-8C47-2EA0-9513-52B32EE115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5829300" y="6282690"/>
            <a:ext cx="533400" cy="533400"/>
          </a:xfrm>
          <a:prstGeom prst="rect">
            <a:avLst/>
          </a:prstGeom>
        </p:spPr>
      </p:pic>
    </p:spTree>
    <p:extLst>
      <p:ext uri="{BB962C8B-B14F-4D97-AF65-F5344CB8AC3E}">
        <p14:creationId xmlns:p14="http://schemas.microsoft.com/office/powerpoint/2010/main" val="3903614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3986301" y="2022534"/>
            <a:ext cx="4219395" cy="281293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3_Title and Content">
    <p:spTree>
      <p:nvGrpSpPr>
        <p:cNvPr id="1" name=""/>
        <p:cNvGrpSpPr/>
        <p:nvPr/>
      </p:nvGrpSpPr>
      <p:grpSpPr>
        <a:xfrm>
          <a:off x="0" y="0"/>
          <a:ext cx="0" cy="0"/>
          <a:chOff x="0" y="0"/>
          <a:chExt cx="0" cy="0"/>
        </a:xfrm>
      </p:grpSpPr>
      <p:sp>
        <p:nvSpPr>
          <p:cNvPr id="340" name="Picture Placeholder 2"/>
          <p:cNvSpPr>
            <a:spLocks noGrp="1"/>
          </p:cNvSpPr>
          <p:nvPr>
            <p:ph type="pic" sz="quarter" idx="21"/>
          </p:nvPr>
        </p:nvSpPr>
        <p:spPr>
          <a:xfrm>
            <a:off x="8966200" y="2489200"/>
            <a:ext cx="3225800" cy="4368800"/>
          </a:xfrm>
          <a:prstGeom prst="rect">
            <a:avLst/>
          </a:prstGeom>
        </p:spPr>
        <p:txBody>
          <a:bodyPr lIns="91439" rIns="91439"/>
          <a:lstStyle/>
          <a:p>
            <a:r>
              <a:rPr lang="en-US"/>
              <a:t>Click icon to add picture</a:t>
            </a:r>
            <a:endParaRPr dirty="0"/>
          </a:p>
        </p:txBody>
      </p:sp>
      <p:sp>
        <p:nvSpPr>
          <p:cNvPr id="341" name="Slide Number"/>
          <p:cNvSpPr txBox="1">
            <a:spLocks noGrp="1"/>
          </p:cNvSpPr>
          <p:nvPr>
            <p:ph type="sldNum" sz="quarter" idx="2"/>
          </p:nvPr>
        </p:nvSpPr>
        <p:spPr>
          <a:prstGeom prst="rect">
            <a:avLst/>
          </a:prstGeom>
        </p:spPr>
        <p:txBody>
          <a:bodyPr/>
          <a:lstStyle>
            <a:lvl1pPr defTabSz="914400">
              <a:defRPr>
                <a:solidFill>
                  <a:srgbClr val="000000"/>
                </a:solidFill>
              </a:defRPr>
            </a:lvl1pPr>
          </a:lstStyle>
          <a:p>
            <a:fld id="{86CB4B4D-7CA3-9044-876B-883B54F8677D}" type="slidenum">
              <a:rPr/>
              <a:t>‹#›</a:t>
            </a:fld>
            <a:endParaRPr dirty="0"/>
          </a:p>
        </p:txBody>
      </p:sp>
    </p:spTree>
    <p:extLst>
      <p:ext uri="{BB962C8B-B14F-4D97-AF65-F5344CB8AC3E}">
        <p14:creationId xmlns:p14="http://schemas.microsoft.com/office/powerpoint/2010/main" val="35287927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17_Custom Layout">
    <p:spTree>
      <p:nvGrpSpPr>
        <p:cNvPr id="1" name=""/>
        <p:cNvGrpSpPr/>
        <p:nvPr/>
      </p:nvGrpSpPr>
      <p:grpSpPr>
        <a:xfrm>
          <a:off x="0" y="0"/>
          <a:ext cx="0" cy="0"/>
          <a:chOff x="0" y="0"/>
          <a:chExt cx="0" cy="0"/>
        </a:xfrm>
      </p:grpSpPr>
      <p:sp>
        <p:nvSpPr>
          <p:cNvPr id="149" name="Picture Placeholder 4"/>
          <p:cNvSpPr>
            <a:spLocks noGrp="1"/>
          </p:cNvSpPr>
          <p:nvPr>
            <p:ph type="pic" sz="quarter" idx="21"/>
          </p:nvPr>
        </p:nvSpPr>
        <p:spPr>
          <a:xfrm>
            <a:off x="4062548" y="1247503"/>
            <a:ext cx="1828802" cy="4362995"/>
          </a:xfrm>
          <a:prstGeom prst="rect">
            <a:avLst/>
          </a:prstGeom>
        </p:spPr>
        <p:txBody>
          <a:bodyPr lIns="91439" rIns="91439"/>
          <a:lstStyle/>
          <a:p>
            <a:r>
              <a:rPr lang="en-US"/>
              <a:t>Click icon to add picture</a:t>
            </a:r>
            <a:endParaRPr dirty="0"/>
          </a:p>
        </p:txBody>
      </p:sp>
      <p:sp>
        <p:nvSpPr>
          <p:cNvPr id="150" name="Picture Placeholder 4"/>
          <p:cNvSpPr>
            <a:spLocks noGrp="1"/>
          </p:cNvSpPr>
          <p:nvPr>
            <p:ph type="pic" sz="quarter" idx="22"/>
          </p:nvPr>
        </p:nvSpPr>
        <p:spPr>
          <a:xfrm>
            <a:off x="1227908" y="3030583"/>
            <a:ext cx="2638700" cy="2579915"/>
          </a:xfrm>
          <a:prstGeom prst="rect">
            <a:avLst/>
          </a:prstGeom>
        </p:spPr>
        <p:txBody>
          <a:bodyPr lIns="91439" rIns="91439"/>
          <a:lstStyle/>
          <a:p>
            <a:r>
              <a:rPr lang="en-US"/>
              <a:t>Click icon to add picture</a:t>
            </a:r>
            <a:endParaRPr dirty="0"/>
          </a:p>
        </p:txBody>
      </p:sp>
      <p:sp>
        <p:nvSpPr>
          <p:cNvPr id="15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extLst>
      <p:ext uri="{BB962C8B-B14F-4D97-AF65-F5344CB8AC3E}">
        <p14:creationId xmlns:p14="http://schemas.microsoft.com/office/powerpoint/2010/main" val="3670882537"/>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18_Custom Layout">
    <p:spTree>
      <p:nvGrpSpPr>
        <p:cNvPr id="1" name=""/>
        <p:cNvGrpSpPr/>
        <p:nvPr/>
      </p:nvGrpSpPr>
      <p:grpSpPr>
        <a:xfrm>
          <a:off x="0" y="0"/>
          <a:ext cx="0" cy="0"/>
          <a:chOff x="0" y="0"/>
          <a:chExt cx="0" cy="0"/>
        </a:xfrm>
      </p:grpSpPr>
      <p:sp>
        <p:nvSpPr>
          <p:cNvPr id="149" name="Picture Placeholder 4"/>
          <p:cNvSpPr>
            <a:spLocks noGrp="1"/>
          </p:cNvSpPr>
          <p:nvPr>
            <p:ph type="pic" sz="quarter" idx="21"/>
          </p:nvPr>
        </p:nvSpPr>
        <p:spPr>
          <a:xfrm>
            <a:off x="4062548" y="1247503"/>
            <a:ext cx="1828802" cy="4362995"/>
          </a:xfrm>
          <a:prstGeom prst="rect">
            <a:avLst/>
          </a:prstGeom>
        </p:spPr>
        <p:txBody>
          <a:bodyPr lIns="91439" rIns="91439"/>
          <a:lstStyle/>
          <a:p>
            <a:r>
              <a:rPr lang="en-US"/>
              <a:t>Click icon to add picture</a:t>
            </a:r>
            <a:endParaRPr dirty="0"/>
          </a:p>
        </p:txBody>
      </p:sp>
      <p:sp>
        <p:nvSpPr>
          <p:cNvPr id="150" name="Picture Placeholder 4"/>
          <p:cNvSpPr>
            <a:spLocks noGrp="1"/>
          </p:cNvSpPr>
          <p:nvPr>
            <p:ph type="pic" sz="quarter" idx="22"/>
          </p:nvPr>
        </p:nvSpPr>
        <p:spPr>
          <a:xfrm>
            <a:off x="1227908" y="3030583"/>
            <a:ext cx="2638700" cy="2579915"/>
          </a:xfrm>
          <a:prstGeom prst="rect">
            <a:avLst/>
          </a:prstGeom>
        </p:spPr>
        <p:txBody>
          <a:bodyPr lIns="91439" rIns="91439"/>
          <a:lstStyle/>
          <a:p>
            <a:r>
              <a:rPr lang="en-US"/>
              <a:t>Click icon to add picture</a:t>
            </a:r>
            <a:endParaRPr dirty="0"/>
          </a:p>
        </p:txBody>
      </p:sp>
      <p:sp>
        <p:nvSpPr>
          <p:cNvPr id="15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pic>
        <p:nvPicPr>
          <p:cNvPr id="3" name="Picture 2" descr="A pink power button with a black background&#10;&#10;Description automatically generated">
            <a:extLst>
              <a:ext uri="{FF2B5EF4-FFF2-40B4-BE49-F238E27FC236}">
                <a16:creationId xmlns:a16="http://schemas.microsoft.com/office/drawing/2014/main" id="{CD5CDD8C-57A0-F3D1-7794-DC98C3A2A0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5829300" y="6282690"/>
            <a:ext cx="533400" cy="533400"/>
          </a:xfrm>
          <a:prstGeom prst="rect">
            <a:avLst/>
          </a:prstGeom>
        </p:spPr>
      </p:pic>
    </p:spTree>
    <p:extLst>
      <p:ext uri="{BB962C8B-B14F-4D97-AF65-F5344CB8AC3E}">
        <p14:creationId xmlns:p14="http://schemas.microsoft.com/office/powerpoint/2010/main" val="416565968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44681" y="1321931"/>
            <a:ext cx="3199129" cy="1016000"/>
          </a:xfrm>
          <a:prstGeom prst="rect">
            <a:avLst/>
          </a:prstGeom>
        </p:spPr>
        <p:txBody>
          <a:bodyPr wrap="square" lIns="0" tIns="0" rIns="0" bIns="0">
            <a:spAutoFit/>
          </a:bodyPr>
          <a:lstStyle>
            <a:lvl1pPr>
              <a:defRPr sz="3500" b="1" i="0">
                <a:solidFill>
                  <a:srgbClr val="404040"/>
                </a:solidFill>
                <a:latin typeface="Graphik Bold"/>
                <a:cs typeface="Graphik Bold"/>
              </a:defRPr>
            </a:lvl1pPr>
          </a:lstStyle>
          <a:p>
            <a:endParaRPr/>
          </a:p>
        </p:txBody>
      </p:sp>
      <p:sp>
        <p:nvSpPr>
          <p:cNvPr id="3" name="Holder 3"/>
          <p:cNvSpPr>
            <a:spLocks noGrp="1"/>
          </p:cNvSpPr>
          <p:nvPr>
            <p:ph type="body" idx="1"/>
          </p:nvPr>
        </p:nvSpPr>
        <p:spPr>
          <a:xfrm>
            <a:off x="1544681" y="1987411"/>
            <a:ext cx="5401309" cy="2479040"/>
          </a:xfrm>
          <a:prstGeom prst="rect">
            <a:avLst/>
          </a:prstGeom>
        </p:spPr>
        <p:txBody>
          <a:bodyPr wrap="square" lIns="0" tIns="0" rIns="0" bIns="0">
            <a:spAutoFit/>
          </a:bodyPr>
          <a:lstStyle>
            <a:lvl1pPr>
              <a:defRPr sz="1900" b="1" i="0">
                <a:solidFill>
                  <a:srgbClr val="404040"/>
                </a:solidFill>
                <a:latin typeface="Graphik Bold"/>
                <a:cs typeface="Graphik Bold"/>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7/28/25</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71" r:id="rId2"/>
    <p:sldLayoutId id="2147483662" r:id="rId3"/>
    <p:sldLayoutId id="2147483668" r:id="rId4"/>
    <p:sldLayoutId id="2147483663" r:id="rId5"/>
    <p:sldLayoutId id="2147483664" r:id="rId6"/>
    <p:sldLayoutId id="2147483672" r:id="rId7"/>
    <p:sldLayoutId id="2147483669" r:id="rId8"/>
    <p:sldLayoutId id="2147483665" r:id="rId9"/>
    <p:sldLayoutId id="2147483666" r:id="rId10"/>
    <p:sldLayoutId id="2147483667" r:id="rId11"/>
    <p:sldLayoutId id="2147483670" r:id="rId12"/>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hyperlink" Target="https://www.grandviewresearch.com/industry-analysis/ai-productivity-tools-market-report" TargetMode="External"/><Relationship Id="rId3" Type="http://schemas.openxmlformats.org/officeDocument/2006/relationships/image" Target="../media/image1.png"/><Relationship Id="rId7" Type="http://schemas.openxmlformats.org/officeDocument/2006/relationships/diagramColors" Target="../diagrams/colors1.xml"/><Relationship Id="rId12" Type="http://schemas.openxmlformats.org/officeDocument/2006/relationships/hyperlink" Target="https://www.marketsandmarkets.com/Market-Reports/business-intelligence-analytics-software-market-247431917.html"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diagramQuickStyle" Target="../diagrams/quickStyle1.xml"/><Relationship Id="rId11" Type="http://schemas.openxmlformats.org/officeDocument/2006/relationships/hyperlink" Target="https://stewarttownsend.com/dive-deep-the-long-term-impact-of-ai-on-saas-market-expansion/" TargetMode="External"/><Relationship Id="rId5" Type="http://schemas.openxmlformats.org/officeDocument/2006/relationships/diagramLayout" Target="../diagrams/layout1.xml"/><Relationship Id="rId10" Type="http://schemas.openxmlformats.org/officeDocument/2006/relationships/hyperlink" Target="https://www.grandviewresearch.com/industry-analysis/productivity-management-software-market" TargetMode="External"/><Relationship Id="rId4" Type="http://schemas.openxmlformats.org/officeDocument/2006/relationships/diagramData" Target="../diagrams/data1.xml"/><Relationship Id="rId9" Type="http://schemas.openxmlformats.org/officeDocument/2006/relationships/hyperlink" Target="https://www.globenewswire.com/en/news-release/2023/03/06/2620841/0/en/Business-Intelligence-Market-Size-Expected-to-Reach-USD-54-27-Billion-at-a-9-1-CAGR-by-2030.html" TargetMode="Externa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hyperlink" Target="http://www.ignitenow.io/" TargetMode="External"/><Relationship Id="rId2" Type="http://schemas.openxmlformats.org/officeDocument/2006/relationships/image" Target="../media/image44.jpg"/><Relationship Id="rId1" Type="http://schemas.openxmlformats.org/officeDocument/2006/relationships/slideLayout" Target="../slideLayouts/slideLayout6.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37025" y="5023873"/>
            <a:ext cx="411797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1C1112"/>
                </a:solidFill>
                <a:latin typeface="Graphik Bold"/>
                <a:cs typeface="Graphik Bold"/>
              </a:rPr>
              <a:t>do</a:t>
            </a:r>
            <a:r>
              <a:rPr sz="2400" b="1" spc="-30" dirty="0">
                <a:solidFill>
                  <a:srgbClr val="1C1112"/>
                </a:solidFill>
                <a:latin typeface="Graphik Bold"/>
                <a:cs typeface="Graphik Bold"/>
              </a:rPr>
              <a:t> </a:t>
            </a:r>
            <a:r>
              <a:rPr sz="2400" b="1" dirty="0">
                <a:solidFill>
                  <a:srgbClr val="1C1112"/>
                </a:solidFill>
                <a:latin typeface="Graphik Bold"/>
                <a:cs typeface="Graphik Bold"/>
              </a:rPr>
              <a:t>less.</a:t>
            </a:r>
            <a:r>
              <a:rPr sz="2400" b="1" spc="-30" dirty="0">
                <a:solidFill>
                  <a:srgbClr val="1C1112"/>
                </a:solidFill>
                <a:latin typeface="Graphik Bold"/>
                <a:cs typeface="Graphik Bold"/>
              </a:rPr>
              <a:t> </a:t>
            </a:r>
            <a:r>
              <a:rPr sz="2400" b="1" spc="-10" dirty="0">
                <a:solidFill>
                  <a:srgbClr val="1C1112"/>
                </a:solidFill>
                <a:latin typeface="Graphik Bold"/>
                <a:cs typeface="Graphik Bold"/>
              </a:rPr>
              <a:t>make</a:t>
            </a:r>
            <a:r>
              <a:rPr sz="2400" b="1" spc="-30" dirty="0">
                <a:solidFill>
                  <a:srgbClr val="1C1112"/>
                </a:solidFill>
                <a:latin typeface="Graphik Bold"/>
                <a:cs typeface="Graphik Bold"/>
              </a:rPr>
              <a:t> </a:t>
            </a:r>
            <a:r>
              <a:rPr sz="2400" b="1" dirty="0">
                <a:solidFill>
                  <a:srgbClr val="1C1112"/>
                </a:solidFill>
                <a:latin typeface="Graphik Bold"/>
                <a:cs typeface="Graphik Bold"/>
              </a:rPr>
              <a:t>it</a:t>
            </a:r>
            <a:r>
              <a:rPr sz="2400" b="1" spc="-30" dirty="0">
                <a:solidFill>
                  <a:srgbClr val="1C1112"/>
                </a:solidFill>
                <a:latin typeface="Graphik Bold"/>
                <a:cs typeface="Graphik Bold"/>
              </a:rPr>
              <a:t> </a:t>
            </a:r>
            <a:r>
              <a:rPr sz="2400" b="1" dirty="0">
                <a:solidFill>
                  <a:srgbClr val="1C1112"/>
                </a:solidFill>
                <a:latin typeface="Graphik Bold"/>
                <a:cs typeface="Graphik Bold"/>
              </a:rPr>
              <a:t>mean</a:t>
            </a:r>
            <a:r>
              <a:rPr sz="2400" b="1" spc="-30" dirty="0">
                <a:solidFill>
                  <a:srgbClr val="1C1112"/>
                </a:solidFill>
                <a:latin typeface="Graphik Bold"/>
                <a:cs typeface="Graphik Bold"/>
              </a:rPr>
              <a:t> </a:t>
            </a:r>
            <a:r>
              <a:rPr sz="2400" b="1" spc="-10" dirty="0">
                <a:solidFill>
                  <a:srgbClr val="1C1112"/>
                </a:solidFill>
                <a:latin typeface="Graphik Bold"/>
                <a:cs typeface="Graphik Bold"/>
              </a:rPr>
              <a:t>more.</a:t>
            </a:r>
            <a:endParaRPr sz="2400" dirty="0">
              <a:latin typeface="Graphik Regular"/>
              <a:cs typeface="Graphik Regul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Straight Connector 35"/>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sp>
        <p:nvSpPr>
          <p:cNvPr id="429" name="TextBox 36"/>
          <p:cNvSpPr txBox="1"/>
          <p:nvPr/>
        </p:nvSpPr>
        <p:spPr>
          <a:xfrm>
            <a:off x="1546634" y="1279498"/>
            <a:ext cx="5879738" cy="1406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p>
            <a:pPr defTabSz="914400">
              <a:lnSpc>
                <a:spcPts val="3600"/>
              </a:lnSpc>
              <a:defRPr sz="3500" b="1">
                <a:solidFill>
                  <a:srgbClr val="404040"/>
                </a:solidFill>
                <a:latin typeface="Graphik Bold"/>
                <a:ea typeface="Graphik Bold"/>
                <a:cs typeface="Graphik Bold"/>
                <a:sym typeface="Graphik"/>
              </a:defRPr>
            </a:pPr>
            <a:r>
              <a:rPr dirty="0"/>
              <a:t>ignite</a:t>
            </a:r>
          </a:p>
          <a:p>
            <a:pPr defTabSz="914400">
              <a:lnSpc>
                <a:spcPts val="3600"/>
              </a:lnSpc>
              <a:defRPr sz="1900" b="1">
                <a:solidFill>
                  <a:srgbClr val="404040"/>
                </a:solidFill>
                <a:latin typeface="Graphik Bold"/>
                <a:ea typeface="Graphik Bold"/>
                <a:cs typeface="Graphik Bold"/>
                <a:sym typeface="Graphik"/>
              </a:defRPr>
            </a:pPr>
            <a:r>
              <a:rPr lang="en-US" dirty="0"/>
              <a:t>Builds the revenue roadmap and links</a:t>
            </a:r>
            <a:r>
              <a:rPr dirty="0"/>
              <a:t> commercial strategy </a:t>
            </a:r>
            <a:r>
              <a:rPr lang="en-US" dirty="0"/>
              <a:t>and</a:t>
            </a:r>
            <a:r>
              <a:rPr dirty="0"/>
              <a:t> execution</a:t>
            </a:r>
          </a:p>
        </p:txBody>
      </p:sp>
      <p:sp>
        <p:nvSpPr>
          <p:cNvPr id="430" name="Rectangle 37"/>
          <p:cNvSpPr/>
          <p:nvPr/>
        </p:nvSpPr>
        <p:spPr>
          <a:xfrm>
            <a:off x="6676570" y="921857"/>
            <a:ext cx="5515430" cy="5936143"/>
          </a:xfrm>
          <a:prstGeom prst="rect">
            <a:avLst/>
          </a:prstGeom>
          <a:solidFill>
            <a:srgbClr val="EEEBEB"/>
          </a:solidFill>
          <a:ln w="12700">
            <a:miter lim="400000"/>
          </a:ln>
        </p:spPr>
        <p:txBody>
          <a:bodyPr lIns="45719" rIns="45719" anchor="ctr"/>
          <a:lstStyle/>
          <a:p>
            <a:pPr algn="ctr" defTabSz="914400">
              <a:defRPr>
                <a:solidFill>
                  <a:srgbClr val="FFFFFF"/>
                </a:solidFill>
              </a:defRPr>
            </a:pPr>
            <a:endParaRPr dirty="0"/>
          </a:p>
        </p:txBody>
      </p:sp>
      <p:sp>
        <p:nvSpPr>
          <p:cNvPr id="431" name="TextBox 39"/>
          <p:cNvSpPr txBox="1"/>
          <p:nvPr/>
        </p:nvSpPr>
        <p:spPr>
          <a:xfrm>
            <a:off x="2695700" y="2904006"/>
            <a:ext cx="5610099" cy="19718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defTabSz="914400">
              <a:lnSpc>
                <a:spcPts val="3000"/>
              </a:lnSpc>
              <a:defRPr sz="2200">
                <a:solidFill>
                  <a:srgbClr val="262626"/>
                </a:solidFill>
                <a:latin typeface="Graphik Regular"/>
                <a:ea typeface="Graphik Regular"/>
                <a:cs typeface="Graphik Regular"/>
                <a:sym typeface="Graphik"/>
              </a:defRPr>
            </a:pPr>
            <a:r>
              <a:rPr lang="en-US" sz="2200" dirty="0">
                <a:effectLst/>
                <a:latin typeface="Graphik Regular" panose="020B0503030202060203" pitchFamily="34" charset="77"/>
                <a:ea typeface="Times New Roman" panose="02020603050405020304" pitchFamily="18" charset="0"/>
              </a:rPr>
              <a:t>Ignite is an AI-powered SaaS (Strategy as a Service) revenue enablement and analytics offering that builds and bridges the gap between strategic revenue planning to execution. </a:t>
            </a:r>
            <a:endParaRPr sz="2200" dirty="0">
              <a:latin typeface="Graphik Regular" panose="020B0503030202060203" pitchFamily="34" charset="77"/>
            </a:endParaRPr>
          </a:p>
        </p:txBody>
      </p:sp>
      <p:sp>
        <p:nvSpPr>
          <p:cNvPr id="432" name="TextBox 40"/>
          <p:cNvSpPr txBox="1"/>
          <p:nvPr/>
        </p:nvSpPr>
        <p:spPr>
          <a:xfrm>
            <a:off x="2716605" y="5279930"/>
            <a:ext cx="5159756" cy="9643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914400">
              <a:lnSpc>
                <a:spcPts val="1700"/>
              </a:lnSpc>
              <a:defRPr sz="1600">
                <a:solidFill>
                  <a:srgbClr val="595959"/>
                </a:solidFill>
                <a:latin typeface="DM Sans Regular"/>
                <a:ea typeface="DM Sans Regular"/>
                <a:cs typeface="DM Sans Regular"/>
                <a:sym typeface="DM Sans Regular"/>
              </a:defRPr>
            </a:pPr>
            <a:r>
              <a:rPr lang="en-US" dirty="0"/>
              <a:t>Ignite empowers companies of all sizes to enhance revenue effectiveness and confidently streamline commercial operations by providing customized insights and actionable roadmaps.</a:t>
            </a:r>
          </a:p>
        </p:txBody>
      </p:sp>
      <p:sp>
        <p:nvSpPr>
          <p:cNvPr id="433" name="Straight Connector 41"/>
          <p:cNvSpPr/>
          <p:nvPr/>
        </p:nvSpPr>
        <p:spPr>
          <a:xfrm>
            <a:off x="2716605" y="5077877"/>
            <a:ext cx="338139" cy="1"/>
          </a:xfrm>
          <a:prstGeom prst="line">
            <a:avLst/>
          </a:prstGeom>
          <a:ln w="12700">
            <a:solidFill>
              <a:srgbClr val="462427"/>
            </a:solidFill>
            <a:miter/>
          </a:ln>
        </p:spPr>
        <p:txBody>
          <a:bodyPr lIns="45719" rIns="45719"/>
          <a:lstStyle/>
          <a:p>
            <a:pPr defTabSz="914400">
              <a:defRPr>
                <a:solidFill>
                  <a:srgbClr val="000000"/>
                </a:solidFill>
              </a:defRPr>
            </a:pPr>
            <a:endParaRPr dirty="0"/>
          </a:p>
        </p:txBody>
      </p:sp>
      <p:pic>
        <p:nvPicPr>
          <p:cNvPr id="434" name="AdobeStock_158400218_Preview.jpeg"/>
          <p:cNvPicPr>
            <a:picLocks noGrp="1" noChangeAspect="1"/>
          </p:cNvPicPr>
          <p:nvPr>
            <p:ph type="pic" idx="21"/>
          </p:nvPr>
        </p:nvPicPr>
        <p:blipFill>
          <a:blip r:embed="rId2">
            <a:extLst>
              <a:ext uri="{28A0092B-C50C-407E-A947-70E740481C1C}">
                <a14:useLocalDpi xmlns:a14="http://schemas.microsoft.com/office/drawing/2010/main" val="0"/>
              </a:ext>
            </a:extLst>
          </a:blip>
          <a:srcRect l="531" r="531"/>
          <a:stretch/>
        </p:blipFill>
        <p:spPr>
          <a:prstGeom prst="rect">
            <a:avLst/>
          </a:prstGeom>
        </p:spPr>
      </p:pic>
      <p:pic>
        <p:nvPicPr>
          <p:cNvPr id="435" name="ignite-logo.png" descr="ignite-logo.png"/>
          <p:cNvPicPr>
            <a:picLocks noChangeAspect="1"/>
          </p:cNvPicPr>
          <p:nvPr/>
        </p:nvPicPr>
        <p:blipFill>
          <a:blip r:embed="rId3"/>
          <a:stretch>
            <a:fillRect/>
          </a:stretch>
        </p:blipFill>
        <p:spPr>
          <a:xfrm>
            <a:off x="1311564" y="264828"/>
            <a:ext cx="992188" cy="99218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1" name="AdobeStock_179304114_Preview.jpeg"/>
          <p:cNvPicPr>
            <a:picLocks noGrp="1" noChangeAspect="1"/>
          </p:cNvPicPr>
          <p:nvPr>
            <p:ph type="pic" idx="21"/>
          </p:nvPr>
        </p:nvPicPr>
        <p:blipFill>
          <a:blip r:embed="rId2">
            <a:extLst>
              <a:ext uri="{28A0092B-C50C-407E-A947-70E740481C1C}">
                <a14:useLocalDpi xmlns:a14="http://schemas.microsoft.com/office/drawing/2010/main" val="0"/>
              </a:ext>
            </a:extLst>
          </a:blip>
          <a:srcRect t="11844" b="11844"/>
          <a:stretch/>
        </p:blipFill>
        <p:spPr>
          <a:xfrm>
            <a:off x="0" y="0"/>
            <a:ext cx="4484914" cy="6858001"/>
          </a:xfrm>
          <a:prstGeom prst="rect">
            <a:avLst/>
          </a:prstGeom>
        </p:spPr>
      </p:pic>
      <p:sp>
        <p:nvSpPr>
          <p:cNvPr id="372" name="Straight Connector 10"/>
          <p:cNvSpPr/>
          <p:nvPr/>
        </p:nvSpPr>
        <p:spPr>
          <a:xfrm>
            <a:off x="3754840" y="1926863"/>
            <a:ext cx="1826811" cy="1"/>
          </a:xfrm>
          <a:prstGeom prst="line">
            <a:avLst/>
          </a:prstGeom>
          <a:ln w="31750">
            <a:solidFill>
              <a:srgbClr val="462427"/>
            </a:solidFill>
            <a:miter/>
          </a:ln>
        </p:spPr>
        <p:txBody>
          <a:bodyPr lIns="45719" rIns="45719"/>
          <a:lstStyle/>
          <a:p>
            <a:pPr defTabSz="914400">
              <a:defRPr>
                <a:solidFill>
                  <a:srgbClr val="000000"/>
                </a:solidFill>
              </a:defRPr>
            </a:pPr>
            <a:endParaRPr/>
          </a:p>
        </p:txBody>
      </p:sp>
      <p:sp>
        <p:nvSpPr>
          <p:cNvPr id="373" name="TextBox 13"/>
          <p:cNvSpPr txBox="1"/>
          <p:nvPr/>
        </p:nvSpPr>
        <p:spPr>
          <a:xfrm>
            <a:off x="6141720" y="1675230"/>
            <a:ext cx="5669280" cy="1015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p>
            <a:pPr defTabSz="914400">
              <a:lnSpc>
                <a:spcPts val="3600"/>
              </a:lnSpc>
              <a:defRPr sz="3500" b="1">
                <a:solidFill>
                  <a:srgbClr val="404040"/>
                </a:solidFill>
                <a:latin typeface="Graphik Bold"/>
                <a:ea typeface="Graphik Bold"/>
                <a:cs typeface="Graphik Bold"/>
                <a:sym typeface="Graphik"/>
              </a:defRPr>
            </a:pPr>
            <a:r>
              <a:rPr lang="en-US" dirty="0"/>
              <a:t>the challenge to achieve top revenue performance</a:t>
            </a:r>
            <a:endParaRPr dirty="0"/>
          </a:p>
        </p:txBody>
      </p:sp>
      <p:sp>
        <p:nvSpPr>
          <p:cNvPr id="374" name="Rectangle 21"/>
          <p:cNvSpPr txBox="1"/>
          <p:nvPr/>
        </p:nvSpPr>
        <p:spPr>
          <a:xfrm>
            <a:off x="6165534" y="2987471"/>
            <a:ext cx="5188266" cy="32932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l"/>
            <a:r>
              <a:rPr lang="en-US" sz="1600" b="0" i="0" u="none" strike="noStrike" dirty="0">
                <a:solidFill>
                  <a:srgbClr val="000000"/>
                </a:solidFill>
                <a:effectLst/>
                <a:latin typeface="DM Sans 14pt" pitchFamily="2" charset="77"/>
              </a:rPr>
              <a:t>Team expertise gaps create a disconnect between reports, data, and insights, making it hard to determine necessary actions.</a:t>
            </a:r>
          </a:p>
          <a:p>
            <a:pPr algn="l"/>
            <a:endParaRPr lang="en-US" sz="1600" b="0" i="0" u="none" strike="noStrike" dirty="0">
              <a:solidFill>
                <a:srgbClr val="000000"/>
              </a:solidFill>
              <a:effectLst/>
              <a:latin typeface="DM Sans 14pt" pitchFamily="2" charset="77"/>
            </a:endParaRPr>
          </a:p>
          <a:p>
            <a:pPr algn="l"/>
            <a:r>
              <a:rPr lang="en-US" sz="1600" b="0" i="0" u="none" strike="noStrike" dirty="0">
                <a:solidFill>
                  <a:srgbClr val="000000"/>
                </a:solidFill>
                <a:effectLst/>
                <a:latin typeface="DM Sans 14pt" pitchFamily="2" charset="77"/>
              </a:rPr>
              <a:t>Available insights rarely transform into actionable plans for sales and marketing teams.</a:t>
            </a:r>
          </a:p>
          <a:p>
            <a:pPr algn="l"/>
            <a:endParaRPr lang="en-US" sz="1600" b="0" i="0" u="none" strike="noStrike" dirty="0">
              <a:solidFill>
                <a:srgbClr val="000000"/>
              </a:solidFill>
              <a:effectLst/>
              <a:latin typeface="DM Sans 14pt" pitchFamily="2" charset="77"/>
            </a:endParaRPr>
          </a:p>
          <a:p>
            <a:pPr algn="l"/>
            <a:r>
              <a:rPr lang="en-US" sz="1600" b="0" i="0" u="none" strike="noStrike" dirty="0">
                <a:solidFill>
                  <a:srgbClr val="000000"/>
                </a:solidFill>
                <a:effectLst/>
                <a:latin typeface="DM Sans 14pt" pitchFamily="2" charset="77"/>
              </a:rPr>
              <a:t>Sales and marketing teams hesitate to adopt innovative strategies, relying instead on outdated methods.</a:t>
            </a:r>
          </a:p>
          <a:p>
            <a:pPr algn="l"/>
            <a:endParaRPr lang="en-US" sz="1600" b="0" i="0" u="none" strike="noStrike" dirty="0">
              <a:solidFill>
                <a:srgbClr val="000000"/>
              </a:solidFill>
              <a:effectLst/>
              <a:latin typeface="DM Sans 14pt" pitchFamily="2" charset="77"/>
            </a:endParaRPr>
          </a:p>
          <a:p>
            <a:pPr algn="l"/>
            <a:r>
              <a:rPr lang="en-US" sz="1600" b="0" i="0" u="none" strike="noStrike" dirty="0">
                <a:solidFill>
                  <a:srgbClr val="000000"/>
                </a:solidFill>
                <a:effectLst/>
                <a:latin typeface="DM Sans 14pt" pitchFamily="2" charset="77"/>
              </a:rPr>
              <a:t>Resources are wasted preparing documents for owners, investors, and internal meetings.</a:t>
            </a:r>
          </a:p>
        </p:txBody>
      </p:sp>
      <p:pic>
        <p:nvPicPr>
          <p:cNvPr id="376" name="ignite-logo.png" descr="ignite-logo.png"/>
          <p:cNvPicPr>
            <a:picLocks noChangeAspect="1"/>
          </p:cNvPicPr>
          <p:nvPr/>
        </p:nvPicPr>
        <p:blipFill>
          <a:blip r:embed="rId3"/>
          <a:stretch>
            <a:fillRect/>
          </a:stretch>
        </p:blipFill>
        <p:spPr>
          <a:xfrm>
            <a:off x="5955467" y="498360"/>
            <a:ext cx="992189" cy="992189"/>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4">
                                            <p:txEl>
                                              <p:pRg st="0" end="0"/>
                                            </p:txEl>
                                          </p:spTgt>
                                        </p:tgtEl>
                                        <p:attrNameLst>
                                          <p:attrName>style.visibility</p:attrName>
                                        </p:attrNameLst>
                                      </p:cBhvr>
                                      <p:to>
                                        <p:strVal val="visible"/>
                                      </p:to>
                                    </p:set>
                                    <p:anim calcmode="lin" valueType="num">
                                      <p:cBhvr additive="base">
                                        <p:cTn id="7" dur="500" fill="hold"/>
                                        <p:tgtEl>
                                          <p:spTgt spid="3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4">
                                            <p:txEl>
                                              <p:pRg st="2" end="2"/>
                                            </p:txEl>
                                          </p:spTgt>
                                        </p:tgtEl>
                                        <p:attrNameLst>
                                          <p:attrName>style.visibility</p:attrName>
                                        </p:attrNameLst>
                                      </p:cBhvr>
                                      <p:to>
                                        <p:strVal val="visible"/>
                                      </p:to>
                                    </p:set>
                                    <p:anim calcmode="lin" valueType="num">
                                      <p:cBhvr additive="base">
                                        <p:cTn id="13" dur="500" fill="hold"/>
                                        <p:tgtEl>
                                          <p:spTgt spid="37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4">
                                            <p:txEl>
                                              <p:pRg st="4" end="4"/>
                                            </p:txEl>
                                          </p:spTgt>
                                        </p:tgtEl>
                                        <p:attrNameLst>
                                          <p:attrName>style.visibility</p:attrName>
                                        </p:attrNameLst>
                                      </p:cBhvr>
                                      <p:to>
                                        <p:strVal val="visible"/>
                                      </p:to>
                                    </p:set>
                                    <p:anim calcmode="lin" valueType="num">
                                      <p:cBhvr additive="base">
                                        <p:cTn id="19" dur="500" fill="hold"/>
                                        <p:tgtEl>
                                          <p:spTgt spid="37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4">
                                            <p:txEl>
                                              <p:pRg st="6" end="6"/>
                                            </p:txEl>
                                          </p:spTgt>
                                        </p:tgtEl>
                                        <p:attrNameLst>
                                          <p:attrName>style.visibility</p:attrName>
                                        </p:attrNameLst>
                                      </p:cBhvr>
                                      <p:to>
                                        <p:strVal val="visible"/>
                                      </p:to>
                                    </p:set>
                                    <p:anim calcmode="lin" valueType="num">
                                      <p:cBhvr additive="base">
                                        <p:cTn id="25" dur="500" fill="hold"/>
                                        <p:tgtEl>
                                          <p:spTgt spid="37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3" name="object 3"/>
          <p:cNvSpPr txBox="1"/>
          <p:nvPr/>
        </p:nvSpPr>
        <p:spPr>
          <a:xfrm>
            <a:off x="1544682" y="2671169"/>
            <a:ext cx="4189688" cy="1015663"/>
          </a:xfrm>
          <a:prstGeom prst="rect">
            <a:avLst/>
          </a:prstGeom>
        </p:spPr>
        <p:txBody>
          <a:bodyPr vert="horz" wrap="square" lIns="0" tIns="91440" rIns="0" bIns="0" rtlCol="0">
            <a:spAutoFit/>
          </a:bodyPr>
          <a:lstStyle/>
          <a:p>
            <a:pPr marL="12700" marR="1000125">
              <a:lnSpc>
                <a:spcPts val="3600"/>
              </a:lnSpc>
              <a:spcBef>
                <a:spcPts val="720"/>
              </a:spcBef>
            </a:pPr>
            <a:r>
              <a:rPr lang="en-US" sz="3500" b="1" spc="-25" dirty="0">
                <a:solidFill>
                  <a:srgbClr val="404040"/>
                </a:solidFill>
                <a:latin typeface="Graphik Bold"/>
                <a:cs typeface="Graphik Bold"/>
              </a:rPr>
              <a:t>what does that </a:t>
            </a:r>
            <a:r>
              <a:rPr lang="en-US" sz="3500" b="1" spc="-25" dirty="0">
                <a:solidFill>
                  <a:srgbClr val="DB5E71"/>
                </a:solidFill>
                <a:latin typeface="Graphik Bold"/>
                <a:cs typeface="Graphik Bold"/>
              </a:rPr>
              <a:t>really</a:t>
            </a:r>
            <a:r>
              <a:rPr lang="en-US" sz="3500" b="1" spc="-25" dirty="0">
                <a:solidFill>
                  <a:srgbClr val="404040"/>
                </a:solidFill>
                <a:latin typeface="Graphik Bold"/>
                <a:cs typeface="Graphik Bold"/>
              </a:rPr>
              <a:t> mean?</a:t>
            </a:r>
            <a:endParaRPr sz="3500" dirty="0">
              <a:latin typeface="Graphik Regular"/>
              <a:cs typeface="Graphik Regular"/>
            </a:endParaRPr>
          </a:p>
        </p:txBody>
      </p:sp>
      <p:grpSp>
        <p:nvGrpSpPr>
          <p:cNvPr id="4" name="object 4"/>
          <p:cNvGrpSpPr/>
          <p:nvPr/>
        </p:nvGrpSpPr>
        <p:grpSpPr>
          <a:xfrm>
            <a:off x="5077082" y="118764"/>
            <a:ext cx="6593899" cy="2686712"/>
            <a:chOff x="5077082" y="118764"/>
            <a:chExt cx="6593899" cy="2686712"/>
          </a:xfrm>
        </p:grpSpPr>
        <p:pic>
          <p:nvPicPr>
            <p:cNvPr id="5" name="object 5"/>
            <p:cNvPicPr/>
            <p:nvPr/>
          </p:nvPicPr>
          <p:blipFill>
            <a:blip r:embed="rId2" cstate="print"/>
            <a:stretch>
              <a:fillRect/>
            </a:stretch>
          </p:blipFill>
          <p:spPr>
            <a:xfrm>
              <a:off x="5077082" y="1419360"/>
              <a:ext cx="1386116" cy="1386116"/>
            </a:xfrm>
            <a:prstGeom prst="rect">
              <a:avLst/>
            </a:prstGeom>
          </p:spPr>
        </p:pic>
        <p:sp>
          <p:nvSpPr>
            <p:cNvPr id="6" name="object 6"/>
            <p:cNvSpPr/>
            <p:nvPr/>
          </p:nvSpPr>
          <p:spPr>
            <a:xfrm>
              <a:off x="5278742" y="1621020"/>
              <a:ext cx="929005" cy="929005"/>
            </a:xfrm>
            <a:custGeom>
              <a:avLst/>
              <a:gdLst/>
              <a:ahLst/>
              <a:cxnLst/>
              <a:rect l="l" t="t" r="r" b="b"/>
              <a:pathLst>
                <a:path w="929004" h="929005">
                  <a:moveTo>
                    <a:pt x="464457" y="0"/>
                  </a:moveTo>
                  <a:lnTo>
                    <a:pt x="419938" y="2125"/>
                  </a:lnTo>
                  <a:lnTo>
                    <a:pt x="375749" y="8502"/>
                  </a:lnTo>
                  <a:lnTo>
                    <a:pt x="332220" y="19130"/>
                  </a:lnTo>
                  <a:lnTo>
                    <a:pt x="289682" y="34009"/>
                  </a:lnTo>
                  <a:lnTo>
                    <a:pt x="248464" y="53139"/>
                  </a:lnTo>
                  <a:lnTo>
                    <a:pt x="208897" y="76520"/>
                  </a:lnTo>
                  <a:lnTo>
                    <a:pt x="171311" y="104153"/>
                  </a:lnTo>
                  <a:lnTo>
                    <a:pt x="136037" y="136037"/>
                  </a:lnTo>
                  <a:lnTo>
                    <a:pt x="104153" y="171311"/>
                  </a:lnTo>
                  <a:lnTo>
                    <a:pt x="76520" y="208897"/>
                  </a:lnTo>
                  <a:lnTo>
                    <a:pt x="53139" y="248464"/>
                  </a:lnTo>
                  <a:lnTo>
                    <a:pt x="34009" y="289682"/>
                  </a:lnTo>
                  <a:lnTo>
                    <a:pt x="19130" y="332220"/>
                  </a:lnTo>
                  <a:lnTo>
                    <a:pt x="8502" y="375749"/>
                  </a:lnTo>
                  <a:lnTo>
                    <a:pt x="2125" y="419938"/>
                  </a:lnTo>
                  <a:lnTo>
                    <a:pt x="0" y="464457"/>
                  </a:lnTo>
                  <a:lnTo>
                    <a:pt x="2125" y="508977"/>
                  </a:lnTo>
                  <a:lnTo>
                    <a:pt x="8502" y="553166"/>
                  </a:lnTo>
                  <a:lnTo>
                    <a:pt x="19130" y="596695"/>
                  </a:lnTo>
                  <a:lnTo>
                    <a:pt x="34009" y="639234"/>
                  </a:lnTo>
                  <a:lnTo>
                    <a:pt x="53139" y="680451"/>
                  </a:lnTo>
                  <a:lnTo>
                    <a:pt x="76520" y="720018"/>
                  </a:lnTo>
                  <a:lnTo>
                    <a:pt x="104153" y="757604"/>
                  </a:lnTo>
                  <a:lnTo>
                    <a:pt x="136037" y="792879"/>
                  </a:lnTo>
                  <a:lnTo>
                    <a:pt x="171311" y="824763"/>
                  </a:lnTo>
                  <a:lnTo>
                    <a:pt x="208897" y="852395"/>
                  </a:lnTo>
                  <a:lnTo>
                    <a:pt x="248464" y="875776"/>
                  </a:lnTo>
                  <a:lnTo>
                    <a:pt x="289682" y="894906"/>
                  </a:lnTo>
                  <a:lnTo>
                    <a:pt x="332220" y="909785"/>
                  </a:lnTo>
                  <a:lnTo>
                    <a:pt x="375749" y="920413"/>
                  </a:lnTo>
                  <a:lnTo>
                    <a:pt x="419938" y="926790"/>
                  </a:lnTo>
                  <a:lnTo>
                    <a:pt x="464457" y="928915"/>
                  </a:lnTo>
                  <a:lnTo>
                    <a:pt x="508977" y="926790"/>
                  </a:lnTo>
                  <a:lnTo>
                    <a:pt x="553166" y="920413"/>
                  </a:lnTo>
                  <a:lnTo>
                    <a:pt x="596695" y="909785"/>
                  </a:lnTo>
                  <a:lnTo>
                    <a:pt x="639234" y="894906"/>
                  </a:lnTo>
                  <a:lnTo>
                    <a:pt x="680451" y="875776"/>
                  </a:lnTo>
                  <a:lnTo>
                    <a:pt x="720018" y="852395"/>
                  </a:lnTo>
                  <a:lnTo>
                    <a:pt x="757604" y="824763"/>
                  </a:lnTo>
                  <a:lnTo>
                    <a:pt x="792879" y="792879"/>
                  </a:lnTo>
                  <a:lnTo>
                    <a:pt x="824763" y="757604"/>
                  </a:lnTo>
                  <a:lnTo>
                    <a:pt x="852395" y="720018"/>
                  </a:lnTo>
                  <a:lnTo>
                    <a:pt x="875776" y="680451"/>
                  </a:lnTo>
                  <a:lnTo>
                    <a:pt x="894906" y="639234"/>
                  </a:lnTo>
                  <a:lnTo>
                    <a:pt x="909785" y="596695"/>
                  </a:lnTo>
                  <a:lnTo>
                    <a:pt x="920413" y="553166"/>
                  </a:lnTo>
                  <a:lnTo>
                    <a:pt x="926790" y="508977"/>
                  </a:lnTo>
                  <a:lnTo>
                    <a:pt x="928915" y="464457"/>
                  </a:lnTo>
                  <a:lnTo>
                    <a:pt x="926790" y="419938"/>
                  </a:lnTo>
                  <a:lnTo>
                    <a:pt x="920413" y="375749"/>
                  </a:lnTo>
                  <a:lnTo>
                    <a:pt x="909785" y="332220"/>
                  </a:lnTo>
                  <a:lnTo>
                    <a:pt x="894906" y="289682"/>
                  </a:lnTo>
                  <a:lnTo>
                    <a:pt x="875776" y="248464"/>
                  </a:lnTo>
                  <a:lnTo>
                    <a:pt x="852395" y="208897"/>
                  </a:lnTo>
                  <a:lnTo>
                    <a:pt x="824763" y="171311"/>
                  </a:lnTo>
                  <a:lnTo>
                    <a:pt x="792879" y="136037"/>
                  </a:lnTo>
                  <a:lnTo>
                    <a:pt x="757604" y="104153"/>
                  </a:lnTo>
                  <a:lnTo>
                    <a:pt x="720018" y="76520"/>
                  </a:lnTo>
                  <a:lnTo>
                    <a:pt x="680451" y="53139"/>
                  </a:lnTo>
                  <a:lnTo>
                    <a:pt x="639234" y="34009"/>
                  </a:lnTo>
                  <a:lnTo>
                    <a:pt x="596695" y="19130"/>
                  </a:lnTo>
                  <a:lnTo>
                    <a:pt x="553166" y="8502"/>
                  </a:lnTo>
                  <a:lnTo>
                    <a:pt x="508977" y="2125"/>
                  </a:lnTo>
                  <a:lnTo>
                    <a:pt x="464457" y="0"/>
                  </a:lnTo>
                  <a:close/>
                </a:path>
              </a:pathLst>
            </a:custGeom>
            <a:solidFill>
              <a:srgbClr val="D9D3D3"/>
            </a:solidFill>
          </p:spPr>
          <p:txBody>
            <a:bodyPr wrap="square" lIns="0" tIns="0" rIns="0" bIns="0" rtlCol="0"/>
            <a:lstStyle/>
            <a:p>
              <a:endParaRPr dirty="0"/>
            </a:p>
          </p:txBody>
        </p:sp>
        <p:sp>
          <p:nvSpPr>
            <p:cNvPr id="7" name="object 7"/>
            <p:cNvSpPr/>
            <p:nvPr/>
          </p:nvSpPr>
          <p:spPr>
            <a:xfrm>
              <a:off x="6457631" y="2768667"/>
              <a:ext cx="5213350" cy="0"/>
            </a:xfrm>
            <a:custGeom>
              <a:avLst/>
              <a:gdLst/>
              <a:ahLst/>
              <a:cxnLst/>
              <a:rect l="l" t="t" r="r" b="b"/>
              <a:pathLst>
                <a:path w="5213350">
                  <a:moveTo>
                    <a:pt x="0" y="0"/>
                  </a:moveTo>
                  <a:lnTo>
                    <a:pt x="5212844" y="0"/>
                  </a:lnTo>
                </a:path>
              </a:pathLst>
            </a:custGeom>
            <a:ln w="6350">
              <a:solidFill>
                <a:srgbClr val="D9D9D9"/>
              </a:solidFill>
            </a:ln>
          </p:spPr>
          <p:txBody>
            <a:bodyPr wrap="square" lIns="0" tIns="0" rIns="0" bIns="0" rtlCol="0"/>
            <a:lstStyle/>
            <a:p>
              <a:endParaRPr dirty="0"/>
            </a:p>
          </p:txBody>
        </p:sp>
        <p:pic>
          <p:nvPicPr>
            <p:cNvPr id="8" name="object 8"/>
            <p:cNvPicPr/>
            <p:nvPr/>
          </p:nvPicPr>
          <p:blipFill>
            <a:blip r:embed="rId2" cstate="print"/>
            <a:stretch>
              <a:fillRect/>
            </a:stretch>
          </p:blipFill>
          <p:spPr>
            <a:xfrm>
              <a:off x="5077082" y="118764"/>
              <a:ext cx="1386116" cy="1386116"/>
            </a:xfrm>
            <a:prstGeom prst="rect">
              <a:avLst/>
            </a:prstGeom>
          </p:spPr>
        </p:pic>
        <p:sp>
          <p:nvSpPr>
            <p:cNvPr id="9" name="object 9"/>
            <p:cNvSpPr/>
            <p:nvPr/>
          </p:nvSpPr>
          <p:spPr>
            <a:xfrm>
              <a:off x="5278742" y="320423"/>
              <a:ext cx="929005" cy="929005"/>
            </a:xfrm>
            <a:custGeom>
              <a:avLst/>
              <a:gdLst/>
              <a:ahLst/>
              <a:cxnLst/>
              <a:rect l="l" t="t" r="r" b="b"/>
              <a:pathLst>
                <a:path w="929004" h="929005">
                  <a:moveTo>
                    <a:pt x="464457" y="0"/>
                  </a:moveTo>
                  <a:lnTo>
                    <a:pt x="419938" y="2125"/>
                  </a:lnTo>
                  <a:lnTo>
                    <a:pt x="375749" y="8502"/>
                  </a:lnTo>
                  <a:lnTo>
                    <a:pt x="332220" y="19130"/>
                  </a:lnTo>
                  <a:lnTo>
                    <a:pt x="289682" y="34009"/>
                  </a:lnTo>
                  <a:lnTo>
                    <a:pt x="248464" y="53139"/>
                  </a:lnTo>
                  <a:lnTo>
                    <a:pt x="208897" y="76520"/>
                  </a:lnTo>
                  <a:lnTo>
                    <a:pt x="171311" y="104152"/>
                  </a:lnTo>
                  <a:lnTo>
                    <a:pt x="136037" y="136036"/>
                  </a:lnTo>
                  <a:lnTo>
                    <a:pt x="104153" y="171310"/>
                  </a:lnTo>
                  <a:lnTo>
                    <a:pt x="76520" y="208896"/>
                  </a:lnTo>
                  <a:lnTo>
                    <a:pt x="53139" y="248463"/>
                  </a:lnTo>
                  <a:lnTo>
                    <a:pt x="34009" y="289681"/>
                  </a:lnTo>
                  <a:lnTo>
                    <a:pt x="19130" y="332220"/>
                  </a:lnTo>
                  <a:lnTo>
                    <a:pt x="8502" y="375749"/>
                  </a:lnTo>
                  <a:lnTo>
                    <a:pt x="2125" y="419938"/>
                  </a:lnTo>
                  <a:lnTo>
                    <a:pt x="0" y="464457"/>
                  </a:lnTo>
                  <a:lnTo>
                    <a:pt x="2125" y="508977"/>
                  </a:lnTo>
                  <a:lnTo>
                    <a:pt x="8502" y="553166"/>
                  </a:lnTo>
                  <a:lnTo>
                    <a:pt x="19130" y="596695"/>
                  </a:lnTo>
                  <a:lnTo>
                    <a:pt x="34009" y="639233"/>
                  </a:lnTo>
                  <a:lnTo>
                    <a:pt x="53139" y="680451"/>
                  </a:lnTo>
                  <a:lnTo>
                    <a:pt x="76520" y="720018"/>
                  </a:lnTo>
                  <a:lnTo>
                    <a:pt x="104153" y="757604"/>
                  </a:lnTo>
                  <a:lnTo>
                    <a:pt x="136037" y="792878"/>
                  </a:lnTo>
                  <a:lnTo>
                    <a:pt x="171311" y="824762"/>
                  </a:lnTo>
                  <a:lnTo>
                    <a:pt x="208897" y="852394"/>
                  </a:lnTo>
                  <a:lnTo>
                    <a:pt x="248464" y="875776"/>
                  </a:lnTo>
                  <a:lnTo>
                    <a:pt x="289682" y="894906"/>
                  </a:lnTo>
                  <a:lnTo>
                    <a:pt x="332220" y="909785"/>
                  </a:lnTo>
                  <a:lnTo>
                    <a:pt x="375749" y="920413"/>
                  </a:lnTo>
                  <a:lnTo>
                    <a:pt x="419938" y="926790"/>
                  </a:lnTo>
                  <a:lnTo>
                    <a:pt x="464457" y="928915"/>
                  </a:lnTo>
                  <a:lnTo>
                    <a:pt x="508977" y="926790"/>
                  </a:lnTo>
                  <a:lnTo>
                    <a:pt x="553166" y="920413"/>
                  </a:lnTo>
                  <a:lnTo>
                    <a:pt x="596695" y="909785"/>
                  </a:lnTo>
                  <a:lnTo>
                    <a:pt x="639234" y="894906"/>
                  </a:lnTo>
                  <a:lnTo>
                    <a:pt x="680451" y="875776"/>
                  </a:lnTo>
                  <a:lnTo>
                    <a:pt x="720018" y="852394"/>
                  </a:lnTo>
                  <a:lnTo>
                    <a:pt x="757604" y="824762"/>
                  </a:lnTo>
                  <a:lnTo>
                    <a:pt x="792879" y="792878"/>
                  </a:lnTo>
                  <a:lnTo>
                    <a:pt x="824763" y="757604"/>
                  </a:lnTo>
                  <a:lnTo>
                    <a:pt x="852395" y="720018"/>
                  </a:lnTo>
                  <a:lnTo>
                    <a:pt x="875776" y="680451"/>
                  </a:lnTo>
                  <a:lnTo>
                    <a:pt x="894906" y="639233"/>
                  </a:lnTo>
                  <a:lnTo>
                    <a:pt x="909785" y="596695"/>
                  </a:lnTo>
                  <a:lnTo>
                    <a:pt x="920413" y="553166"/>
                  </a:lnTo>
                  <a:lnTo>
                    <a:pt x="926790" y="508977"/>
                  </a:lnTo>
                  <a:lnTo>
                    <a:pt x="928915" y="464457"/>
                  </a:lnTo>
                  <a:lnTo>
                    <a:pt x="926790" y="419938"/>
                  </a:lnTo>
                  <a:lnTo>
                    <a:pt x="920413" y="375749"/>
                  </a:lnTo>
                  <a:lnTo>
                    <a:pt x="909785" y="332220"/>
                  </a:lnTo>
                  <a:lnTo>
                    <a:pt x="894906" y="289681"/>
                  </a:lnTo>
                  <a:lnTo>
                    <a:pt x="875776" y="248463"/>
                  </a:lnTo>
                  <a:lnTo>
                    <a:pt x="852395" y="208896"/>
                  </a:lnTo>
                  <a:lnTo>
                    <a:pt x="824763" y="171310"/>
                  </a:lnTo>
                  <a:lnTo>
                    <a:pt x="792879" y="136036"/>
                  </a:lnTo>
                  <a:lnTo>
                    <a:pt x="757604" y="104152"/>
                  </a:lnTo>
                  <a:lnTo>
                    <a:pt x="720018" y="76520"/>
                  </a:lnTo>
                  <a:lnTo>
                    <a:pt x="680451" y="53139"/>
                  </a:lnTo>
                  <a:lnTo>
                    <a:pt x="639234" y="34009"/>
                  </a:lnTo>
                  <a:lnTo>
                    <a:pt x="596695" y="19130"/>
                  </a:lnTo>
                  <a:lnTo>
                    <a:pt x="553166" y="8502"/>
                  </a:lnTo>
                  <a:lnTo>
                    <a:pt x="508977" y="2125"/>
                  </a:lnTo>
                  <a:lnTo>
                    <a:pt x="464457" y="0"/>
                  </a:lnTo>
                  <a:close/>
                </a:path>
              </a:pathLst>
            </a:custGeom>
            <a:solidFill>
              <a:srgbClr val="D9D3D3"/>
            </a:solidFill>
          </p:spPr>
          <p:txBody>
            <a:bodyPr wrap="square" lIns="0" tIns="0" rIns="0" bIns="0" rtlCol="0"/>
            <a:lstStyle/>
            <a:p>
              <a:endParaRPr dirty="0"/>
            </a:p>
          </p:txBody>
        </p:sp>
      </p:grpSp>
      <p:grpSp>
        <p:nvGrpSpPr>
          <p:cNvPr id="11" name="object 11"/>
          <p:cNvGrpSpPr/>
          <p:nvPr/>
        </p:nvGrpSpPr>
        <p:grpSpPr>
          <a:xfrm>
            <a:off x="5057596" y="2769585"/>
            <a:ext cx="1386205" cy="1386205"/>
            <a:chOff x="5077082" y="4080582"/>
            <a:chExt cx="1386205" cy="1386205"/>
          </a:xfrm>
        </p:grpSpPr>
        <p:pic>
          <p:nvPicPr>
            <p:cNvPr id="12" name="object 12"/>
            <p:cNvPicPr/>
            <p:nvPr/>
          </p:nvPicPr>
          <p:blipFill>
            <a:blip r:embed="rId2" cstate="print"/>
            <a:stretch>
              <a:fillRect/>
            </a:stretch>
          </p:blipFill>
          <p:spPr>
            <a:xfrm>
              <a:off x="5077082" y="4080582"/>
              <a:ext cx="1386116" cy="1386116"/>
            </a:xfrm>
            <a:prstGeom prst="rect">
              <a:avLst/>
            </a:prstGeom>
          </p:spPr>
        </p:pic>
        <p:sp>
          <p:nvSpPr>
            <p:cNvPr id="13" name="object 13"/>
            <p:cNvSpPr/>
            <p:nvPr/>
          </p:nvSpPr>
          <p:spPr>
            <a:xfrm>
              <a:off x="5278742" y="4282240"/>
              <a:ext cx="929005" cy="929005"/>
            </a:xfrm>
            <a:custGeom>
              <a:avLst/>
              <a:gdLst/>
              <a:ahLst/>
              <a:cxnLst/>
              <a:rect l="l" t="t" r="r" b="b"/>
              <a:pathLst>
                <a:path w="929004" h="929004">
                  <a:moveTo>
                    <a:pt x="464457" y="0"/>
                  </a:moveTo>
                  <a:lnTo>
                    <a:pt x="419938" y="2125"/>
                  </a:lnTo>
                  <a:lnTo>
                    <a:pt x="375749" y="8502"/>
                  </a:lnTo>
                  <a:lnTo>
                    <a:pt x="332220" y="19130"/>
                  </a:lnTo>
                  <a:lnTo>
                    <a:pt x="289682" y="34009"/>
                  </a:lnTo>
                  <a:lnTo>
                    <a:pt x="248464" y="53139"/>
                  </a:lnTo>
                  <a:lnTo>
                    <a:pt x="208897" y="76520"/>
                  </a:lnTo>
                  <a:lnTo>
                    <a:pt x="171311" y="104153"/>
                  </a:lnTo>
                  <a:lnTo>
                    <a:pt x="136037" y="136037"/>
                  </a:lnTo>
                  <a:lnTo>
                    <a:pt x="104153" y="171311"/>
                  </a:lnTo>
                  <a:lnTo>
                    <a:pt x="76520" y="208897"/>
                  </a:lnTo>
                  <a:lnTo>
                    <a:pt x="53139" y="248464"/>
                  </a:lnTo>
                  <a:lnTo>
                    <a:pt x="34009" y="289682"/>
                  </a:lnTo>
                  <a:lnTo>
                    <a:pt x="19130" y="332220"/>
                  </a:lnTo>
                  <a:lnTo>
                    <a:pt x="8502" y="375749"/>
                  </a:lnTo>
                  <a:lnTo>
                    <a:pt x="2125" y="419939"/>
                  </a:lnTo>
                  <a:lnTo>
                    <a:pt x="0" y="464458"/>
                  </a:lnTo>
                  <a:lnTo>
                    <a:pt x="2125" y="508977"/>
                  </a:lnTo>
                  <a:lnTo>
                    <a:pt x="8502" y="553166"/>
                  </a:lnTo>
                  <a:lnTo>
                    <a:pt x="19130" y="596695"/>
                  </a:lnTo>
                  <a:lnTo>
                    <a:pt x="34009" y="639234"/>
                  </a:lnTo>
                  <a:lnTo>
                    <a:pt x="53139" y="680451"/>
                  </a:lnTo>
                  <a:lnTo>
                    <a:pt x="76520" y="720018"/>
                  </a:lnTo>
                  <a:lnTo>
                    <a:pt x="104153" y="757604"/>
                  </a:lnTo>
                  <a:lnTo>
                    <a:pt x="136037" y="792879"/>
                  </a:lnTo>
                  <a:lnTo>
                    <a:pt x="171311" y="824763"/>
                  </a:lnTo>
                  <a:lnTo>
                    <a:pt x="208897" y="852395"/>
                  </a:lnTo>
                  <a:lnTo>
                    <a:pt x="248464" y="875777"/>
                  </a:lnTo>
                  <a:lnTo>
                    <a:pt x="289682" y="894907"/>
                  </a:lnTo>
                  <a:lnTo>
                    <a:pt x="332220" y="909786"/>
                  </a:lnTo>
                  <a:lnTo>
                    <a:pt x="375749" y="920414"/>
                  </a:lnTo>
                  <a:lnTo>
                    <a:pt x="419938" y="926791"/>
                  </a:lnTo>
                  <a:lnTo>
                    <a:pt x="464457" y="928916"/>
                  </a:lnTo>
                  <a:lnTo>
                    <a:pt x="508977" y="926791"/>
                  </a:lnTo>
                  <a:lnTo>
                    <a:pt x="553166" y="920414"/>
                  </a:lnTo>
                  <a:lnTo>
                    <a:pt x="596695" y="909786"/>
                  </a:lnTo>
                  <a:lnTo>
                    <a:pt x="639234" y="894907"/>
                  </a:lnTo>
                  <a:lnTo>
                    <a:pt x="680451" y="875777"/>
                  </a:lnTo>
                  <a:lnTo>
                    <a:pt x="720018" y="852395"/>
                  </a:lnTo>
                  <a:lnTo>
                    <a:pt x="757604" y="824763"/>
                  </a:lnTo>
                  <a:lnTo>
                    <a:pt x="792879" y="792879"/>
                  </a:lnTo>
                  <a:lnTo>
                    <a:pt x="824763" y="757604"/>
                  </a:lnTo>
                  <a:lnTo>
                    <a:pt x="852395" y="720018"/>
                  </a:lnTo>
                  <a:lnTo>
                    <a:pt x="875776" y="680451"/>
                  </a:lnTo>
                  <a:lnTo>
                    <a:pt x="894906" y="639234"/>
                  </a:lnTo>
                  <a:lnTo>
                    <a:pt x="909785" y="596695"/>
                  </a:lnTo>
                  <a:lnTo>
                    <a:pt x="920413" y="553166"/>
                  </a:lnTo>
                  <a:lnTo>
                    <a:pt x="926790" y="508977"/>
                  </a:lnTo>
                  <a:lnTo>
                    <a:pt x="928915" y="464458"/>
                  </a:lnTo>
                  <a:lnTo>
                    <a:pt x="926790" y="419939"/>
                  </a:lnTo>
                  <a:lnTo>
                    <a:pt x="920413" y="375749"/>
                  </a:lnTo>
                  <a:lnTo>
                    <a:pt x="909785" y="332220"/>
                  </a:lnTo>
                  <a:lnTo>
                    <a:pt x="894906" y="289682"/>
                  </a:lnTo>
                  <a:lnTo>
                    <a:pt x="875776" y="248464"/>
                  </a:lnTo>
                  <a:lnTo>
                    <a:pt x="852395" y="208897"/>
                  </a:lnTo>
                  <a:lnTo>
                    <a:pt x="824763" y="171311"/>
                  </a:lnTo>
                  <a:lnTo>
                    <a:pt x="792879" y="136037"/>
                  </a:lnTo>
                  <a:lnTo>
                    <a:pt x="757604" y="104153"/>
                  </a:lnTo>
                  <a:lnTo>
                    <a:pt x="720018" y="76520"/>
                  </a:lnTo>
                  <a:lnTo>
                    <a:pt x="680451" y="53139"/>
                  </a:lnTo>
                  <a:lnTo>
                    <a:pt x="639234" y="34009"/>
                  </a:lnTo>
                  <a:lnTo>
                    <a:pt x="596695" y="19130"/>
                  </a:lnTo>
                  <a:lnTo>
                    <a:pt x="553166" y="8502"/>
                  </a:lnTo>
                  <a:lnTo>
                    <a:pt x="508977" y="2125"/>
                  </a:lnTo>
                  <a:lnTo>
                    <a:pt x="464457" y="0"/>
                  </a:lnTo>
                  <a:close/>
                </a:path>
              </a:pathLst>
            </a:custGeom>
            <a:solidFill>
              <a:srgbClr val="D9D3D3"/>
            </a:solidFill>
          </p:spPr>
          <p:txBody>
            <a:bodyPr wrap="square" lIns="0" tIns="0" rIns="0" bIns="0" rtlCol="0"/>
            <a:lstStyle/>
            <a:p>
              <a:endParaRPr dirty="0"/>
            </a:p>
          </p:txBody>
        </p:sp>
      </p:grpSp>
      <p:sp>
        <p:nvSpPr>
          <p:cNvPr id="14" name="object 14"/>
          <p:cNvSpPr txBox="1"/>
          <p:nvPr/>
        </p:nvSpPr>
        <p:spPr>
          <a:xfrm>
            <a:off x="6490651" y="4290453"/>
            <a:ext cx="4834255" cy="853182"/>
          </a:xfrm>
          <a:prstGeom prst="rect">
            <a:avLst/>
          </a:prstGeom>
        </p:spPr>
        <p:txBody>
          <a:bodyPr vert="horz" wrap="square" lIns="0" tIns="12700" rIns="0" bIns="0" rtlCol="0">
            <a:spAutoFit/>
          </a:bodyPr>
          <a:lstStyle/>
          <a:p>
            <a:pPr marL="12700">
              <a:lnSpc>
                <a:spcPct val="100000"/>
              </a:lnSpc>
              <a:spcBef>
                <a:spcPts val="100"/>
              </a:spcBef>
            </a:pPr>
            <a:r>
              <a:rPr lang="en-US" b="1" dirty="0">
                <a:solidFill>
                  <a:srgbClr val="262626"/>
                </a:solidFill>
                <a:latin typeface="Graphik Bold"/>
                <a:cs typeface="Graphik Bold"/>
              </a:rPr>
              <a:t>outdated strategies</a:t>
            </a:r>
            <a:endParaRPr sz="1800" dirty="0">
              <a:latin typeface="Graphik Regular"/>
              <a:cs typeface="Graphik Regular"/>
            </a:endParaRPr>
          </a:p>
          <a:p>
            <a:pPr marL="12700" marR="5080">
              <a:lnSpc>
                <a:spcPct val="125000"/>
              </a:lnSpc>
              <a:spcBef>
                <a:spcPts val="935"/>
              </a:spcBef>
            </a:pPr>
            <a:r>
              <a:rPr lang="en-US" sz="1200" dirty="0">
                <a:solidFill>
                  <a:srgbClr val="595959"/>
                </a:solidFill>
                <a:latin typeface="DM Sans 14pt" pitchFamily="2" charset="77"/>
              </a:rPr>
              <a:t>Sales teams apply obsolete playbooks from the 1970s, expecting to achieve today's desired results.</a:t>
            </a:r>
            <a:endParaRPr sz="1200" dirty="0">
              <a:solidFill>
                <a:srgbClr val="595959"/>
              </a:solidFill>
              <a:latin typeface="DM Sans 14pt" pitchFamily="2" charset="77"/>
              <a:cs typeface="Arial"/>
            </a:endParaRPr>
          </a:p>
        </p:txBody>
      </p:sp>
      <p:grpSp>
        <p:nvGrpSpPr>
          <p:cNvPr id="15" name="object 15"/>
          <p:cNvGrpSpPr/>
          <p:nvPr/>
        </p:nvGrpSpPr>
        <p:grpSpPr>
          <a:xfrm>
            <a:off x="5259208" y="4375261"/>
            <a:ext cx="929005" cy="929005"/>
            <a:chOff x="6343393" y="3066944"/>
            <a:chExt cx="929005" cy="929005"/>
          </a:xfrm>
        </p:grpSpPr>
        <p:sp>
          <p:nvSpPr>
            <p:cNvPr id="16" name="object 16"/>
            <p:cNvSpPr/>
            <p:nvPr/>
          </p:nvSpPr>
          <p:spPr>
            <a:xfrm>
              <a:off x="6343393" y="3066944"/>
              <a:ext cx="929005" cy="929005"/>
            </a:xfrm>
            <a:custGeom>
              <a:avLst/>
              <a:gdLst/>
              <a:ahLst/>
              <a:cxnLst/>
              <a:rect l="l" t="t" r="r" b="b"/>
              <a:pathLst>
                <a:path w="929004" h="929004">
                  <a:moveTo>
                    <a:pt x="464457" y="0"/>
                  </a:moveTo>
                  <a:lnTo>
                    <a:pt x="419938" y="2125"/>
                  </a:lnTo>
                  <a:lnTo>
                    <a:pt x="375749" y="8502"/>
                  </a:lnTo>
                  <a:lnTo>
                    <a:pt x="332220" y="19130"/>
                  </a:lnTo>
                  <a:lnTo>
                    <a:pt x="289682" y="34009"/>
                  </a:lnTo>
                  <a:lnTo>
                    <a:pt x="248464" y="53139"/>
                  </a:lnTo>
                  <a:lnTo>
                    <a:pt x="208897" y="76520"/>
                  </a:lnTo>
                  <a:lnTo>
                    <a:pt x="171311" y="104153"/>
                  </a:lnTo>
                  <a:lnTo>
                    <a:pt x="136037" y="136037"/>
                  </a:lnTo>
                  <a:lnTo>
                    <a:pt x="104153" y="171311"/>
                  </a:lnTo>
                  <a:lnTo>
                    <a:pt x="76520" y="208897"/>
                  </a:lnTo>
                  <a:lnTo>
                    <a:pt x="53139" y="248464"/>
                  </a:lnTo>
                  <a:lnTo>
                    <a:pt x="34009" y="289682"/>
                  </a:lnTo>
                  <a:lnTo>
                    <a:pt x="19130" y="332220"/>
                  </a:lnTo>
                  <a:lnTo>
                    <a:pt x="8502" y="375749"/>
                  </a:lnTo>
                  <a:lnTo>
                    <a:pt x="2125" y="419939"/>
                  </a:lnTo>
                  <a:lnTo>
                    <a:pt x="0" y="464458"/>
                  </a:lnTo>
                  <a:lnTo>
                    <a:pt x="2125" y="508977"/>
                  </a:lnTo>
                  <a:lnTo>
                    <a:pt x="8502" y="553166"/>
                  </a:lnTo>
                  <a:lnTo>
                    <a:pt x="19130" y="596695"/>
                  </a:lnTo>
                  <a:lnTo>
                    <a:pt x="34009" y="639234"/>
                  </a:lnTo>
                  <a:lnTo>
                    <a:pt x="53139" y="680451"/>
                  </a:lnTo>
                  <a:lnTo>
                    <a:pt x="76520" y="720018"/>
                  </a:lnTo>
                  <a:lnTo>
                    <a:pt x="104153" y="757604"/>
                  </a:lnTo>
                  <a:lnTo>
                    <a:pt x="136037" y="792879"/>
                  </a:lnTo>
                  <a:lnTo>
                    <a:pt x="171311" y="824763"/>
                  </a:lnTo>
                  <a:lnTo>
                    <a:pt x="208897" y="852395"/>
                  </a:lnTo>
                  <a:lnTo>
                    <a:pt x="248464" y="875777"/>
                  </a:lnTo>
                  <a:lnTo>
                    <a:pt x="289682" y="894907"/>
                  </a:lnTo>
                  <a:lnTo>
                    <a:pt x="332220" y="909786"/>
                  </a:lnTo>
                  <a:lnTo>
                    <a:pt x="375749" y="920414"/>
                  </a:lnTo>
                  <a:lnTo>
                    <a:pt x="419938" y="926791"/>
                  </a:lnTo>
                  <a:lnTo>
                    <a:pt x="464457" y="928916"/>
                  </a:lnTo>
                  <a:lnTo>
                    <a:pt x="508977" y="926791"/>
                  </a:lnTo>
                  <a:lnTo>
                    <a:pt x="553166" y="920414"/>
                  </a:lnTo>
                  <a:lnTo>
                    <a:pt x="596695" y="909786"/>
                  </a:lnTo>
                  <a:lnTo>
                    <a:pt x="639234" y="894907"/>
                  </a:lnTo>
                  <a:lnTo>
                    <a:pt x="680451" y="875777"/>
                  </a:lnTo>
                  <a:lnTo>
                    <a:pt x="720018" y="852395"/>
                  </a:lnTo>
                  <a:lnTo>
                    <a:pt x="757604" y="824763"/>
                  </a:lnTo>
                  <a:lnTo>
                    <a:pt x="792879" y="792879"/>
                  </a:lnTo>
                  <a:lnTo>
                    <a:pt x="824763" y="757604"/>
                  </a:lnTo>
                  <a:lnTo>
                    <a:pt x="852395" y="720018"/>
                  </a:lnTo>
                  <a:lnTo>
                    <a:pt x="875776" y="680451"/>
                  </a:lnTo>
                  <a:lnTo>
                    <a:pt x="894906" y="639234"/>
                  </a:lnTo>
                  <a:lnTo>
                    <a:pt x="909785" y="596695"/>
                  </a:lnTo>
                  <a:lnTo>
                    <a:pt x="920413" y="553166"/>
                  </a:lnTo>
                  <a:lnTo>
                    <a:pt x="926790" y="508977"/>
                  </a:lnTo>
                  <a:lnTo>
                    <a:pt x="928915" y="464458"/>
                  </a:lnTo>
                  <a:lnTo>
                    <a:pt x="926790" y="419939"/>
                  </a:lnTo>
                  <a:lnTo>
                    <a:pt x="920413" y="375749"/>
                  </a:lnTo>
                  <a:lnTo>
                    <a:pt x="909785" y="332220"/>
                  </a:lnTo>
                  <a:lnTo>
                    <a:pt x="894906" y="289682"/>
                  </a:lnTo>
                  <a:lnTo>
                    <a:pt x="875776" y="248464"/>
                  </a:lnTo>
                  <a:lnTo>
                    <a:pt x="852395" y="208897"/>
                  </a:lnTo>
                  <a:lnTo>
                    <a:pt x="824763" y="171311"/>
                  </a:lnTo>
                  <a:lnTo>
                    <a:pt x="792879" y="136037"/>
                  </a:lnTo>
                  <a:lnTo>
                    <a:pt x="757604" y="104153"/>
                  </a:lnTo>
                  <a:lnTo>
                    <a:pt x="720018" y="76520"/>
                  </a:lnTo>
                  <a:lnTo>
                    <a:pt x="680451" y="53139"/>
                  </a:lnTo>
                  <a:lnTo>
                    <a:pt x="639234" y="34009"/>
                  </a:lnTo>
                  <a:lnTo>
                    <a:pt x="596695" y="19130"/>
                  </a:lnTo>
                  <a:lnTo>
                    <a:pt x="553166" y="8502"/>
                  </a:lnTo>
                  <a:lnTo>
                    <a:pt x="508977" y="2125"/>
                  </a:lnTo>
                  <a:lnTo>
                    <a:pt x="464457" y="0"/>
                  </a:lnTo>
                  <a:close/>
                </a:path>
              </a:pathLst>
            </a:custGeom>
            <a:solidFill>
              <a:srgbClr val="D9D3D3"/>
            </a:solidFill>
          </p:spPr>
          <p:txBody>
            <a:bodyPr wrap="square" lIns="0" tIns="0" rIns="0" bIns="0" rtlCol="0"/>
            <a:lstStyle/>
            <a:p>
              <a:endParaRPr dirty="0"/>
            </a:p>
          </p:txBody>
        </p:sp>
        <p:sp>
          <p:nvSpPr>
            <p:cNvPr id="17" name="object 17"/>
            <p:cNvSpPr/>
            <p:nvPr/>
          </p:nvSpPr>
          <p:spPr>
            <a:xfrm>
              <a:off x="6622733" y="3399535"/>
              <a:ext cx="419100" cy="252095"/>
            </a:xfrm>
            <a:custGeom>
              <a:avLst/>
              <a:gdLst/>
              <a:ahLst/>
              <a:cxnLst/>
              <a:rect l="l" t="t" r="r" b="b"/>
              <a:pathLst>
                <a:path w="419100" h="252095">
                  <a:moveTo>
                    <a:pt x="29472" y="0"/>
                  </a:moveTo>
                  <a:lnTo>
                    <a:pt x="0" y="29568"/>
                  </a:lnTo>
                  <a:lnTo>
                    <a:pt x="155275" y="185342"/>
                  </a:lnTo>
                  <a:lnTo>
                    <a:pt x="238663" y="101325"/>
                  </a:lnTo>
                  <a:lnTo>
                    <a:pt x="341102" y="203733"/>
                  </a:lnTo>
                  <a:lnTo>
                    <a:pt x="292938" y="252051"/>
                  </a:lnTo>
                  <a:lnTo>
                    <a:pt x="418740" y="252051"/>
                  </a:lnTo>
                  <a:lnTo>
                    <a:pt x="418740" y="125845"/>
                  </a:lnTo>
                  <a:lnTo>
                    <a:pt x="370575" y="174163"/>
                  </a:lnTo>
                  <a:lnTo>
                    <a:pt x="238663" y="42189"/>
                  </a:lnTo>
                  <a:lnTo>
                    <a:pt x="155275" y="125845"/>
                  </a:lnTo>
                  <a:lnTo>
                    <a:pt x="29472" y="0"/>
                  </a:lnTo>
                  <a:close/>
                </a:path>
              </a:pathLst>
            </a:custGeom>
            <a:solidFill>
              <a:srgbClr val="301B1D"/>
            </a:solidFill>
          </p:spPr>
          <p:txBody>
            <a:bodyPr wrap="square" lIns="0" tIns="0" rIns="0" bIns="0" rtlCol="0"/>
            <a:lstStyle/>
            <a:p>
              <a:endParaRPr dirty="0"/>
            </a:p>
          </p:txBody>
        </p:sp>
      </p:grpSp>
      <p:sp>
        <p:nvSpPr>
          <p:cNvPr id="18" name="object 18"/>
          <p:cNvSpPr txBox="1"/>
          <p:nvPr/>
        </p:nvSpPr>
        <p:spPr>
          <a:xfrm>
            <a:off x="6490651" y="2972754"/>
            <a:ext cx="5144135" cy="622350"/>
          </a:xfrm>
          <a:prstGeom prst="rect">
            <a:avLst/>
          </a:prstGeom>
        </p:spPr>
        <p:txBody>
          <a:bodyPr vert="horz" wrap="square" lIns="0" tIns="12700" rIns="0" bIns="0" rtlCol="0">
            <a:spAutoFit/>
          </a:bodyPr>
          <a:lstStyle/>
          <a:p>
            <a:pPr marL="12700">
              <a:lnSpc>
                <a:spcPct val="100000"/>
              </a:lnSpc>
              <a:spcBef>
                <a:spcPts val="100"/>
              </a:spcBef>
            </a:pPr>
            <a:r>
              <a:rPr lang="en-US" b="1" dirty="0">
                <a:solidFill>
                  <a:srgbClr val="262626"/>
                </a:solidFill>
                <a:latin typeface="Graphik Bold"/>
                <a:cs typeface="Graphik Bold"/>
              </a:rPr>
              <a:t>o</a:t>
            </a:r>
            <a:r>
              <a:rPr lang="en-US" sz="1800" b="1" dirty="0">
                <a:solidFill>
                  <a:srgbClr val="262626"/>
                </a:solidFill>
                <a:latin typeface="Graphik Bold"/>
                <a:cs typeface="Graphik Bold"/>
              </a:rPr>
              <a:t>verlooked potential</a:t>
            </a:r>
            <a:endParaRPr sz="1800" dirty="0">
              <a:latin typeface="Graphik Regular"/>
              <a:cs typeface="Graphik Regular"/>
            </a:endParaRPr>
          </a:p>
          <a:p>
            <a:pPr marL="12700" marR="5080">
              <a:lnSpc>
                <a:spcPct val="125000"/>
              </a:lnSpc>
              <a:spcBef>
                <a:spcPts val="935"/>
              </a:spcBef>
            </a:pPr>
            <a:r>
              <a:rPr lang="en-US" sz="1200" dirty="0">
                <a:solidFill>
                  <a:srgbClr val="595959"/>
                </a:solidFill>
                <a:latin typeface="DM Sans 14pt" pitchFamily="2" charset="77"/>
              </a:rPr>
              <a:t>3-5% revenue growth / uncovered overlooked revenue opportunities. </a:t>
            </a:r>
            <a:endParaRPr sz="1200" dirty="0">
              <a:solidFill>
                <a:srgbClr val="595959"/>
              </a:solidFill>
              <a:latin typeface="DM Sans 14pt" pitchFamily="2" charset="77"/>
              <a:cs typeface="Arial"/>
            </a:endParaRPr>
          </a:p>
        </p:txBody>
      </p:sp>
      <p:grpSp>
        <p:nvGrpSpPr>
          <p:cNvPr id="19" name="object 19"/>
          <p:cNvGrpSpPr/>
          <p:nvPr/>
        </p:nvGrpSpPr>
        <p:grpSpPr>
          <a:xfrm>
            <a:off x="5077082" y="3239412"/>
            <a:ext cx="6593899" cy="3540844"/>
            <a:chOff x="5077082" y="3239412"/>
            <a:chExt cx="6593899" cy="3540844"/>
          </a:xfrm>
        </p:grpSpPr>
        <p:sp>
          <p:nvSpPr>
            <p:cNvPr id="20" name="object 20"/>
            <p:cNvSpPr/>
            <p:nvPr/>
          </p:nvSpPr>
          <p:spPr>
            <a:xfrm>
              <a:off x="6457631" y="4089027"/>
              <a:ext cx="5213350" cy="0"/>
            </a:xfrm>
            <a:custGeom>
              <a:avLst/>
              <a:gdLst/>
              <a:ahLst/>
              <a:cxnLst/>
              <a:rect l="l" t="t" r="r" b="b"/>
              <a:pathLst>
                <a:path w="5213350">
                  <a:moveTo>
                    <a:pt x="0" y="0"/>
                  </a:moveTo>
                  <a:lnTo>
                    <a:pt x="5212844" y="0"/>
                  </a:lnTo>
                </a:path>
              </a:pathLst>
            </a:custGeom>
            <a:ln w="6350">
              <a:solidFill>
                <a:srgbClr val="D9D9D9"/>
              </a:solidFill>
            </a:ln>
          </p:spPr>
          <p:txBody>
            <a:bodyPr wrap="square" lIns="0" tIns="0" rIns="0" bIns="0" rtlCol="0"/>
            <a:lstStyle/>
            <a:p>
              <a:endParaRPr dirty="0"/>
            </a:p>
          </p:txBody>
        </p:sp>
        <p:sp>
          <p:nvSpPr>
            <p:cNvPr id="21" name="object 21"/>
            <p:cNvSpPr/>
            <p:nvPr/>
          </p:nvSpPr>
          <p:spPr>
            <a:xfrm>
              <a:off x="5528449" y="3239412"/>
              <a:ext cx="390525" cy="339090"/>
            </a:xfrm>
            <a:custGeom>
              <a:avLst/>
              <a:gdLst/>
              <a:ahLst/>
              <a:cxnLst/>
              <a:rect l="l" t="t" r="r" b="b"/>
              <a:pathLst>
                <a:path w="390525" h="339089">
                  <a:moveTo>
                    <a:pt x="288312" y="0"/>
                  </a:moveTo>
                  <a:lnTo>
                    <a:pt x="248904" y="8428"/>
                  </a:lnTo>
                  <a:lnTo>
                    <a:pt x="216537" y="31142"/>
                  </a:lnTo>
                  <a:lnTo>
                    <a:pt x="194618" y="64288"/>
                  </a:lnTo>
                  <a:lnTo>
                    <a:pt x="186555" y="104010"/>
                  </a:lnTo>
                  <a:lnTo>
                    <a:pt x="194618" y="142976"/>
                  </a:lnTo>
                  <a:lnTo>
                    <a:pt x="216537" y="174459"/>
                  </a:lnTo>
                  <a:lnTo>
                    <a:pt x="248904" y="195511"/>
                  </a:lnTo>
                  <a:lnTo>
                    <a:pt x="288312" y="203183"/>
                  </a:lnTo>
                  <a:lnTo>
                    <a:pt x="328743" y="195511"/>
                  </a:lnTo>
                  <a:lnTo>
                    <a:pt x="350341" y="181414"/>
                  </a:lnTo>
                  <a:lnTo>
                    <a:pt x="288312" y="181414"/>
                  </a:lnTo>
                  <a:lnTo>
                    <a:pt x="257422" y="175102"/>
                  </a:lnTo>
                  <a:lnTo>
                    <a:pt x="231982" y="158132"/>
                  </a:lnTo>
                  <a:lnTo>
                    <a:pt x="214719" y="133452"/>
                  </a:lnTo>
                  <a:lnTo>
                    <a:pt x="208360" y="104010"/>
                  </a:lnTo>
                  <a:lnTo>
                    <a:pt x="214719" y="73170"/>
                  </a:lnTo>
                  <a:lnTo>
                    <a:pt x="231982" y="47772"/>
                  </a:lnTo>
                  <a:lnTo>
                    <a:pt x="257422" y="30537"/>
                  </a:lnTo>
                  <a:lnTo>
                    <a:pt x="288312" y="24188"/>
                  </a:lnTo>
                  <a:lnTo>
                    <a:pt x="351122" y="24188"/>
                  </a:lnTo>
                  <a:lnTo>
                    <a:pt x="328743" y="8428"/>
                  </a:lnTo>
                  <a:lnTo>
                    <a:pt x="288312" y="0"/>
                  </a:lnTo>
                  <a:close/>
                </a:path>
                <a:path w="390525" h="339089">
                  <a:moveTo>
                    <a:pt x="351122" y="24188"/>
                  </a:moveTo>
                  <a:lnTo>
                    <a:pt x="288312" y="24188"/>
                  </a:lnTo>
                  <a:lnTo>
                    <a:pt x="317802" y="30537"/>
                  </a:lnTo>
                  <a:lnTo>
                    <a:pt x="342522" y="47772"/>
                  </a:lnTo>
                  <a:lnTo>
                    <a:pt x="359520" y="73170"/>
                  </a:lnTo>
                  <a:lnTo>
                    <a:pt x="365842" y="104010"/>
                  </a:lnTo>
                  <a:lnTo>
                    <a:pt x="359520" y="133452"/>
                  </a:lnTo>
                  <a:lnTo>
                    <a:pt x="342522" y="158132"/>
                  </a:lnTo>
                  <a:lnTo>
                    <a:pt x="317802" y="175102"/>
                  </a:lnTo>
                  <a:lnTo>
                    <a:pt x="288312" y="181414"/>
                  </a:lnTo>
                  <a:lnTo>
                    <a:pt x="350341" y="181414"/>
                  </a:lnTo>
                  <a:lnTo>
                    <a:pt x="360996" y="174459"/>
                  </a:lnTo>
                  <a:lnTo>
                    <a:pt x="382347" y="142976"/>
                  </a:lnTo>
                  <a:lnTo>
                    <a:pt x="390070" y="104010"/>
                  </a:lnTo>
                  <a:lnTo>
                    <a:pt x="382347" y="64288"/>
                  </a:lnTo>
                  <a:lnTo>
                    <a:pt x="360996" y="31142"/>
                  </a:lnTo>
                  <a:lnTo>
                    <a:pt x="351122" y="24188"/>
                  </a:lnTo>
                  <a:close/>
                </a:path>
                <a:path w="390525" h="339089">
                  <a:moveTo>
                    <a:pt x="271353" y="128198"/>
                  </a:moveTo>
                  <a:lnTo>
                    <a:pt x="266506" y="128198"/>
                  </a:lnTo>
                  <a:lnTo>
                    <a:pt x="266506" y="130618"/>
                  </a:lnTo>
                  <a:lnTo>
                    <a:pt x="264085" y="135455"/>
                  </a:lnTo>
                  <a:lnTo>
                    <a:pt x="264085" y="140293"/>
                  </a:lnTo>
                  <a:lnTo>
                    <a:pt x="268930" y="142712"/>
                  </a:lnTo>
                  <a:lnTo>
                    <a:pt x="281044" y="145130"/>
                  </a:lnTo>
                  <a:lnTo>
                    <a:pt x="281044" y="154806"/>
                  </a:lnTo>
                  <a:lnTo>
                    <a:pt x="283466" y="157224"/>
                  </a:lnTo>
                  <a:lnTo>
                    <a:pt x="290734" y="157224"/>
                  </a:lnTo>
                  <a:lnTo>
                    <a:pt x="293157" y="154806"/>
                  </a:lnTo>
                  <a:lnTo>
                    <a:pt x="293157" y="142712"/>
                  </a:lnTo>
                  <a:lnTo>
                    <a:pt x="301675" y="140671"/>
                  </a:lnTo>
                  <a:lnTo>
                    <a:pt x="308603" y="135455"/>
                  </a:lnTo>
                  <a:lnTo>
                    <a:pt x="311808" y="130618"/>
                  </a:lnTo>
                  <a:lnTo>
                    <a:pt x="281044" y="130618"/>
                  </a:lnTo>
                  <a:lnTo>
                    <a:pt x="271353" y="128198"/>
                  </a:lnTo>
                  <a:close/>
                </a:path>
                <a:path w="390525" h="339089">
                  <a:moveTo>
                    <a:pt x="302849" y="62890"/>
                  </a:moveTo>
                  <a:lnTo>
                    <a:pt x="281044" y="62890"/>
                  </a:lnTo>
                  <a:lnTo>
                    <a:pt x="274306" y="65913"/>
                  </a:lnTo>
                  <a:lnTo>
                    <a:pt x="268930" y="70751"/>
                  </a:lnTo>
                  <a:lnTo>
                    <a:pt x="265372" y="76496"/>
                  </a:lnTo>
                  <a:lnTo>
                    <a:pt x="264085" y="82241"/>
                  </a:lnTo>
                  <a:lnTo>
                    <a:pt x="265788" y="91840"/>
                  </a:lnTo>
                  <a:lnTo>
                    <a:pt x="270444" y="99172"/>
                  </a:lnTo>
                  <a:lnTo>
                    <a:pt x="277371" y="104690"/>
                  </a:lnTo>
                  <a:lnTo>
                    <a:pt x="285889" y="108847"/>
                  </a:lnTo>
                  <a:lnTo>
                    <a:pt x="293157" y="113686"/>
                  </a:lnTo>
                  <a:lnTo>
                    <a:pt x="298004" y="116104"/>
                  </a:lnTo>
                  <a:lnTo>
                    <a:pt x="298004" y="128198"/>
                  </a:lnTo>
                  <a:lnTo>
                    <a:pt x="293157" y="130618"/>
                  </a:lnTo>
                  <a:lnTo>
                    <a:pt x="311808" y="130618"/>
                  </a:lnTo>
                  <a:lnTo>
                    <a:pt x="313260" y="128425"/>
                  </a:lnTo>
                  <a:lnTo>
                    <a:pt x="314963" y="120942"/>
                  </a:lnTo>
                  <a:lnTo>
                    <a:pt x="313563" y="112702"/>
                  </a:lnTo>
                  <a:lnTo>
                    <a:pt x="309209" y="105824"/>
                  </a:lnTo>
                  <a:lnTo>
                    <a:pt x="301675" y="99853"/>
                  </a:lnTo>
                  <a:lnTo>
                    <a:pt x="290734" y="94335"/>
                  </a:lnTo>
                  <a:lnTo>
                    <a:pt x="276198" y="89496"/>
                  </a:lnTo>
                  <a:lnTo>
                    <a:pt x="276198" y="79822"/>
                  </a:lnTo>
                  <a:lnTo>
                    <a:pt x="281044" y="74984"/>
                  </a:lnTo>
                  <a:lnTo>
                    <a:pt x="307695" y="74984"/>
                  </a:lnTo>
                  <a:lnTo>
                    <a:pt x="310117" y="67727"/>
                  </a:lnTo>
                  <a:lnTo>
                    <a:pt x="307695" y="65308"/>
                  </a:lnTo>
                  <a:lnTo>
                    <a:pt x="302849" y="62890"/>
                  </a:lnTo>
                  <a:close/>
                </a:path>
                <a:path w="390525" h="339089">
                  <a:moveTo>
                    <a:pt x="307695" y="74984"/>
                  </a:moveTo>
                  <a:lnTo>
                    <a:pt x="298004" y="74984"/>
                  </a:lnTo>
                  <a:lnTo>
                    <a:pt x="302849" y="77402"/>
                  </a:lnTo>
                  <a:lnTo>
                    <a:pt x="307695" y="77402"/>
                  </a:lnTo>
                  <a:lnTo>
                    <a:pt x="307695" y="74984"/>
                  </a:lnTo>
                  <a:close/>
                </a:path>
                <a:path w="390525" h="339089">
                  <a:moveTo>
                    <a:pt x="290734" y="48376"/>
                  </a:moveTo>
                  <a:lnTo>
                    <a:pt x="283466" y="48376"/>
                  </a:lnTo>
                  <a:lnTo>
                    <a:pt x="283466" y="62890"/>
                  </a:lnTo>
                  <a:lnTo>
                    <a:pt x="293157" y="62890"/>
                  </a:lnTo>
                  <a:lnTo>
                    <a:pt x="293157" y="50796"/>
                  </a:lnTo>
                  <a:lnTo>
                    <a:pt x="290734" y="48376"/>
                  </a:lnTo>
                  <a:close/>
                </a:path>
                <a:path w="390525" h="339089">
                  <a:moveTo>
                    <a:pt x="326047" y="319288"/>
                  </a:moveTo>
                  <a:lnTo>
                    <a:pt x="140521" y="319288"/>
                  </a:lnTo>
                  <a:lnTo>
                    <a:pt x="165544" y="324012"/>
                  </a:lnTo>
                  <a:lnTo>
                    <a:pt x="209874" y="331684"/>
                  </a:lnTo>
                  <a:lnTo>
                    <a:pt x="254658" y="337996"/>
                  </a:lnTo>
                  <a:lnTo>
                    <a:pt x="281044" y="338639"/>
                  </a:lnTo>
                  <a:lnTo>
                    <a:pt x="305045" y="329984"/>
                  </a:lnTo>
                  <a:lnTo>
                    <a:pt x="326047" y="319288"/>
                  </a:lnTo>
                  <a:close/>
                </a:path>
                <a:path w="390525" h="339089">
                  <a:moveTo>
                    <a:pt x="171980" y="217092"/>
                  </a:moveTo>
                  <a:lnTo>
                    <a:pt x="155966" y="218301"/>
                  </a:lnTo>
                  <a:lnTo>
                    <a:pt x="139499" y="220417"/>
                  </a:lnTo>
                  <a:lnTo>
                    <a:pt x="125985" y="222534"/>
                  </a:lnTo>
                  <a:lnTo>
                    <a:pt x="116293" y="222534"/>
                  </a:lnTo>
                  <a:lnTo>
                    <a:pt x="116268" y="230093"/>
                  </a:lnTo>
                  <a:lnTo>
                    <a:pt x="114514" y="251371"/>
                  </a:lnTo>
                  <a:lnTo>
                    <a:pt x="112962" y="277260"/>
                  </a:lnTo>
                  <a:lnTo>
                    <a:pt x="111864" y="303603"/>
                  </a:lnTo>
                  <a:lnTo>
                    <a:pt x="111563" y="320157"/>
                  </a:lnTo>
                  <a:lnTo>
                    <a:pt x="111447" y="333801"/>
                  </a:lnTo>
                  <a:lnTo>
                    <a:pt x="116293" y="331382"/>
                  </a:lnTo>
                  <a:lnTo>
                    <a:pt x="120760" y="326431"/>
                  </a:lnTo>
                  <a:lnTo>
                    <a:pt x="126590" y="322613"/>
                  </a:lnTo>
                  <a:lnTo>
                    <a:pt x="133328" y="320157"/>
                  </a:lnTo>
                  <a:lnTo>
                    <a:pt x="140521" y="319288"/>
                  </a:lnTo>
                  <a:lnTo>
                    <a:pt x="326047" y="319288"/>
                  </a:lnTo>
                  <a:lnTo>
                    <a:pt x="334951" y="314753"/>
                  </a:lnTo>
                  <a:lnTo>
                    <a:pt x="362131" y="298161"/>
                  </a:lnTo>
                  <a:lnTo>
                    <a:pt x="377955" y="285424"/>
                  </a:lnTo>
                  <a:lnTo>
                    <a:pt x="379240" y="283761"/>
                  </a:lnTo>
                  <a:lnTo>
                    <a:pt x="264955" y="283761"/>
                  </a:lnTo>
                  <a:lnTo>
                    <a:pt x="239553" y="279981"/>
                  </a:lnTo>
                  <a:lnTo>
                    <a:pt x="219149" y="273481"/>
                  </a:lnTo>
                  <a:lnTo>
                    <a:pt x="210783" y="266073"/>
                  </a:lnTo>
                  <a:lnTo>
                    <a:pt x="218013" y="265469"/>
                  </a:lnTo>
                  <a:lnTo>
                    <a:pt x="292227" y="265469"/>
                  </a:lnTo>
                  <a:lnTo>
                    <a:pt x="293082" y="265053"/>
                  </a:lnTo>
                  <a:lnTo>
                    <a:pt x="297397" y="256700"/>
                  </a:lnTo>
                  <a:lnTo>
                    <a:pt x="295353" y="248801"/>
                  </a:lnTo>
                  <a:lnTo>
                    <a:pt x="288312" y="244303"/>
                  </a:lnTo>
                  <a:lnTo>
                    <a:pt x="270671" y="239126"/>
                  </a:lnTo>
                  <a:lnTo>
                    <a:pt x="241673" y="230093"/>
                  </a:lnTo>
                  <a:lnTo>
                    <a:pt x="209950" y="221514"/>
                  </a:lnTo>
                  <a:lnTo>
                    <a:pt x="184132" y="217697"/>
                  </a:lnTo>
                  <a:lnTo>
                    <a:pt x="171980" y="217092"/>
                  </a:lnTo>
                  <a:close/>
                </a:path>
                <a:path w="390525" h="339089">
                  <a:moveTo>
                    <a:pt x="379999" y="254470"/>
                  </a:moveTo>
                  <a:lnTo>
                    <a:pt x="368264" y="256397"/>
                  </a:lnTo>
                  <a:lnTo>
                    <a:pt x="350661" y="265317"/>
                  </a:lnTo>
                  <a:lnTo>
                    <a:pt x="331014" y="273329"/>
                  </a:lnTo>
                  <a:lnTo>
                    <a:pt x="310004" y="279528"/>
                  </a:lnTo>
                  <a:lnTo>
                    <a:pt x="288312" y="283005"/>
                  </a:lnTo>
                  <a:lnTo>
                    <a:pt x="264955" y="283761"/>
                  </a:lnTo>
                  <a:lnTo>
                    <a:pt x="379240" y="283761"/>
                  </a:lnTo>
                  <a:lnTo>
                    <a:pt x="388025" y="272385"/>
                  </a:lnTo>
                  <a:lnTo>
                    <a:pt x="387647" y="260933"/>
                  </a:lnTo>
                  <a:lnTo>
                    <a:pt x="379999" y="254470"/>
                  </a:lnTo>
                  <a:close/>
                </a:path>
                <a:path w="390525" h="339089">
                  <a:moveTo>
                    <a:pt x="292227" y="265469"/>
                  </a:moveTo>
                  <a:lnTo>
                    <a:pt x="218013" y="265469"/>
                  </a:lnTo>
                  <a:lnTo>
                    <a:pt x="235919" y="268492"/>
                  </a:lnTo>
                  <a:lnTo>
                    <a:pt x="258822" y="271515"/>
                  </a:lnTo>
                  <a:lnTo>
                    <a:pt x="281044" y="270911"/>
                  </a:lnTo>
                  <a:lnTo>
                    <a:pt x="292227" y="265469"/>
                  </a:lnTo>
                  <a:close/>
                </a:path>
                <a:path w="390525" h="339089">
                  <a:moveTo>
                    <a:pt x="24227" y="220115"/>
                  </a:moveTo>
                  <a:lnTo>
                    <a:pt x="16959" y="220115"/>
                  </a:lnTo>
                  <a:lnTo>
                    <a:pt x="14536" y="222534"/>
                  </a:lnTo>
                  <a:lnTo>
                    <a:pt x="14536" y="227371"/>
                  </a:lnTo>
                  <a:lnTo>
                    <a:pt x="2421" y="324125"/>
                  </a:lnTo>
                  <a:lnTo>
                    <a:pt x="0" y="328964"/>
                  </a:lnTo>
                  <a:lnTo>
                    <a:pt x="2421" y="331382"/>
                  </a:lnTo>
                  <a:lnTo>
                    <a:pt x="79951" y="331382"/>
                  </a:lnTo>
                  <a:lnTo>
                    <a:pt x="82374" y="328964"/>
                  </a:lnTo>
                  <a:lnTo>
                    <a:pt x="82374" y="326544"/>
                  </a:lnTo>
                  <a:lnTo>
                    <a:pt x="83120" y="319288"/>
                  </a:lnTo>
                  <a:lnTo>
                    <a:pt x="38764" y="319288"/>
                  </a:lnTo>
                  <a:lnTo>
                    <a:pt x="31495" y="312031"/>
                  </a:lnTo>
                  <a:lnTo>
                    <a:pt x="31495" y="295099"/>
                  </a:lnTo>
                  <a:lnTo>
                    <a:pt x="38764" y="287842"/>
                  </a:lnTo>
                  <a:lnTo>
                    <a:pt x="86350" y="287842"/>
                  </a:lnTo>
                  <a:lnTo>
                    <a:pt x="92066" y="232209"/>
                  </a:lnTo>
                  <a:lnTo>
                    <a:pt x="92066" y="227371"/>
                  </a:lnTo>
                  <a:lnTo>
                    <a:pt x="89642" y="222534"/>
                  </a:lnTo>
                  <a:lnTo>
                    <a:pt x="82374" y="222534"/>
                  </a:lnTo>
                  <a:lnTo>
                    <a:pt x="24227" y="220115"/>
                  </a:lnTo>
                  <a:close/>
                </a:path>
                <a:path w="390525" h="339089">
                  <a:moveTo>
                    <a:pt x="86350" y="287842"/>
                  </a:moveTo>
                  <a:lnTo>
                    <a:pt x="55723" y="287842"/>
                  </a:lnTo>
                  <a:lnTo>
                    <a:pt x="65415" y="295099"/>
                  </a:lnTo>
                  <a:lnTo>
                    <a:pt x="65415" y="312031"/>
                  </a:lnTo>
                  <a:lnTo>
                    <a:pt x="55723" y="319288"/>
                  </a:lnTo>
                  <a:lnTo>
                    <a:pt x="83120" y="319288"/>
                  </a:lnTo>
                  <a:lnTo>
                    <a:pt x="86350" y="287842"/>
                  </a:lnTo>
                  <a:close/>
                </a:path>
              </a:pathLst>
            </a:custGeom>
            <a:solidFill>
              <a:srgbClr val="301B1D"/>
            </a:solidFill>
          </p:spPr>
          <p:txBody>
            <a:bodyPr wrap="square" lIns="0" tIns="0" rIns="0" bIns="0" rtlCol="0"/>
            <a:lstStyle/>
            <a:p>
              <a:endParaRPr dirty="0"/>
            </a:p>
          </p:txBody>
        </p:sp>
        <p:pic>
          <p:nvPicPr>
            <p:cNvPr id="22" name="object 22"/>
            <p:cNvPicPr/>
            <p:nvPr/>
          </p:nvPicPr>
          <p:blipFill>
            <a:blip r:embed="rId2" cstate="print"/>
            <a:stretch>
              <a:fillRect/>
            </a:stretch>
          </p:blipFill>
          <p:spPr>
            <a:xfrm>
              <a:off x="5077082" y="5394140"/>
              <a:ext cx="1386116" cy="1386116"/>
            </a:xfrm>
            <a:prstGeom prst="rect">
              <a:avLst/>
            </a:prstGeom>
          </p:spPr>
        </p:pic>
        <p:sp>
          <p:nvSpPr>
            <p:cNvPr id="23" name="object 23"/>
            <p:cNvSpPr/>
            <p:nvPr/>
          </p:nvSpPr>
          <p:spPr>
            <a:xfrm>
              <a:off x="5278742" y="5595800"/>
              <a:ext cx="929005" cy="929005"/>
            </a:xfrm>
            <a:custGeom>
              <a:avLst/>
              <a:gdLst/>
              <a:ahLst/>
              <a:cxnLst/>
              <a:rect l="l" t="t" r="r" b="b"/>
              <a:pathLst>
                <a:path w="929004" h="929004">
                  <a:moveTo>
                    <a:pt x="464457" y="0"/>
                  </a:moveTo>
                  <a:lnTo>
                    <a:pt x="419938" y="2125"/>
                  </a:lnTo>
                  <a:lnTo>
                    <a:pt x="375749" y="8502"/>
                  </a:lnTo>
                  <a:lnTo>
                    <a:pt x="332220" y="19130"/>
                  </a:lnTo>
                  <a:lnTo>
                    <a:pt x="289682" y="34009"/>
                  </a:lnTo>
                  <a:lnTo>
                    <a:pt x="248464" y="53139"/>
                  </a:lnTo>
                  <a:lnTo>
                    <a:pt x="208897" y="76520"/>
                  </a:lnTo>
                  <a:lnTo>
                    <a:pt x="171311" y="104152"/>
                  </a:lnTo>
                  <a:lnTo>
                    <a:pt x="136037" y="136036"/>
                  </a:lnTo>
                  <a:lnTo>
                    <a:pt x="104153" y="171310"/>
                  </a:lnTo>
                  <a:lnTo>
                    <a:pt x="76520" y="208896"/>
                  </a:lnTo>
                  <a:lnTo>
                    <a:pt x="53139" y="248463"/>
                  </a:lnTo>
                  <a:lnTo>
                    <a:pt x="34009" y="289681"/>
                  </a:lnTo>
                  <a:lnTo>
                    <a:pt x="19130" y="332219"/>
                  </a:lnTo>
                  <a:lnTo>
                    <a:pt x="8502" y="375748"/>
                  </a:lnTo>
                  <a:lnTo>
                    <a:pt x="2125" y="419938"/>
                  </a:lnTo>
                  <a:lnTo>
                    <a:pt x="0" y="464457"/>
                  </a:lnTo>
                  <a:lnTo>
                    <a:pt x="2125" y="508976"/>
                  </a:lnTo>
                  <a:lnTo>
                    <a:pt x="8502" y="553166"/>
                  </a:lnTo>
                  <a:lnTo>
                    <a:pt x="19130" y="596695"/>
                  </a:lnTo>
                  <a:lnTo>
                    <a:pt x="34009" y="639233"/>
                  </a:lnTo>
                  <a:lnTo>
                    <a:pt x="53139" y="680451"/>
                  </a:lnTo>
                  <a:lnTo>
                    <a:pt x="76520" y="720018"/>
                  </a:lnTo>
                  <a:lnTo>
                    <a:pt x="104153" y="757604"/>
                  </a:lnTo>
                  <a:lnTo>
                    <a:pt x="136037" y="792878"/>
                  </a:lnTo>
                  <a:lnTo>
                    <a:pt x="171311" y="824762"/>
                  </a:lnTo>
                  <a:lnTo>
                    <a:pt x="208897" y="852394"/>
                  </a:lnTo>
                  <a:lnTo>
                    <a:pt x="248464" y="875776"/>
                  </a:lnTo>
                  <a:lnTo>
                    <a:pt x="289682" y="894906"/>
                  </a:lnTo>
                  <a:lnTo>
                    <a:pt x="332220" y="909785"/>
                  </a:lnTo>
                  <a:lnTo>
                    <a:pt x="375749" y="920413"/>
                  </a:lnTo>
                  <a:lnTo>
                    <a:pt x="419938" y="926789"/>
                  </a:lnTo>
                  <a:lnTo>
                    <a:pt x="464457" y="928915"/>
                  </a:lnTo>
                  <a:lnTo>
                    <a:pt x="508977" y="926789"/>
                  </a:lnTo>
                  <a:lnTo>
                    <a:pt x="553166" y="920413"/>
                  </a:lnTo>
                  <a:lnTo>
                    <a:pt x="596695" y="909785"/>
                  </a:lnTo>
                  <a:lnTo>
                    <a:pt x="639234" y="894906"/>
                  </a:lnTo>
                  <a:lnTo>
                    <a:pt x="680451" y="875776"/>
                  </a:lnTo>
                  <a:lnTo>
                    <a:pt x="720018" y="852394"/>
                  </a:lnTo>
                  <a:lnTo>
                    <a:pt x="757604" y="824762"/>
                  </a:lnTo>
                  <a:lnTo>
                    <a:pt x="792879" y="792878"/>
                  </a:lnTo>
                  <a:lnTo>
                    <a:pt x="824763" y="757604"/>
                  </a:lnTo>
                  <a:lnTo>
                    <a:pt x="852395" y="720018"/>
                  </a:lnTo>
                  <a:lnTo>
                    <a:pt x="875776" y="680451"/>
                  </a:lnTo>
                  <a:lnTo>
                    <a:pt x="894906" y="639233"/>
                  </a:lnTo>
                  <a:lnTo>
                    <a:pt x="909785" y="596695"/>
                  </a:lnTo>
                  <a:lnTo>
                    <a:pt x="920413" y="553166"/>
                  </a:lnTo>
                  <a:lnTo>
                    <a:pt x="926790" y="508976"/>
                  </a:lnTo>
                  <a:lnTo>
                    <a:pt x="928915" y="464457"/>
                  </a:lnTo>
                  <a:lnTo>
                    <a:pt x="926790" y="419938"/>
                  </a:lnTo>
                  <a:lnTo>
                    <a:pt x="920413" y="375748"/>
                  </a:lnTo>
                  <a:lnTo>
                    <a:pt x="909785" y="332219"/>
                  </a:lnTo>
                  <a:lnTo>
                    <a:pt x="894906" y="289681"/>
                  </a:lnTo>
                  <a:lnTo>
                    <a:pt x="875776" y="248463"/>
                  </a:lnTo>
                  <a:lnTo>
                    <a:pt x="852395" y="208896"/>
                  </a:lnTo>
                  <a:lnTo>
                    <a:pt x="824763" y="171310"/>
                  </a:lnTo>
                  <a:lnTo>
                    <a:pt x="792879" y="136036"/>
                  </a:lnTo>
                  <a:lnTo>
                    <a:pt x="757604" y="104152"/>
                  </a:lnTo>
                  <a:lnTo>
                    <a:pt x="720018" y="76520"/>
                  </a:lnTo>
                  <a:lnTo>
                    <a:pt x="680451" y="53139"/>
                  </a:lnTo>
                  <a:lnTo>
                    <a:pt x="639234" y="34009"/>
                  </a:lnTo>
                  <a:lnTo>
                    <a:pt x="596695" y="19130"/>
                  </a:lnTo>
                  <a:lnTo>
                    <a:pt x="553166" y="8502"/>
                  </a:lnTo>
                  <a:lnTo>
                    <a:pt x="508977" y="2125"/>
                  </a:lnTo>
                  <a:lnTo>
                    <a:pt x="464457" y="0"/>
                  </a:lnTo>
                  <a:close/>
                </a:path>
              </a:pathLst>
            </a:custGeom>
            <a:solidFill>
              <a:srgbClr val="D9D3D3"/>
            </a:solidFill>
          </p:spPr>
          <p:txBody>
            <a:bodyPr wrap="square" lIns="0" tIns="0" rIns="0" bIns="0" rtlCol="0"/>
            <a:lstStyle/>
            <a:p>
              <a:endParaRPr dirty="0"/>
            </a:p>
          </p:txBody>
        </p:sp>
      </p:grpSp>
      <p:sp>
        <p:nvSpPr>
          <p:cNvPr id="26" name="object 26"/>
          <p:cNvSpPr/>
          <p:nvPr/>
        </p:nvSpPr>
        <p:spPr>
          <a:xfrm>
            <a:off x="6457631" y="1450968"/>
            <a:ext cx="5213350" cy="0"/>
          </a:xfrm>
          <a:custGeom>
            <a:avLst/>
            <a:gdLst/>
            <a:ahLst/>
            <a:cxnLst/>
            <a:rect l="l" t="t" r="r" b="b"/>
            <a:pathLst>
              <a:path w="5213350">
                <a:moveTo>
                  <a:pt x="0" y="0"/>
                </a:moveTo>
                <a:lnTo>
                  <a:pt x="5212844" y="0"/>
                </a:lnTo>
              </a:path>
            </a:pathLst>
          </a:custGeom>
          <a:ln w="6350">
            <a:solidFill>
              <a:srgbClr val="D9D9D9"/>
            </a:solidFill>
          </a:ln>
        </p:spPr>
        <p:txBody>
          <a:bodyPr wrap="square" lIns="0" tIns="0" rIns="0" bIns="0" rtlCol="0"/>
          <a:lstStyle/>
          <a:p>
            <a:endParaRPr dirty="0"/>
          </a:p>
        </p:txBody>
      </p:sp>
      <p:sp>
        <p:nvSpPr>
          <p:cNvPr id="28" name="object 28"/>
          <p:cNvSpPr txBox="1"/>
          <p:nvPr/>
        </p:nvSpPr>
        <p:spPr>
          <a:xfrm>
            <a:off x="6490651" y="5604011"/>
            <a:ext cx="5058410" cy="853182"/>
          </a:xfrm>
          <a:prstGeom prst="rect">
            <a:avLst/>
          </a:prstGeom>
        </p:spPr>
        <p:txBody>
          <a:bodyPr vert="horz" wrap="square" lIns="0" tIns="12700" rIns="0" bIns="0" rtlCol="0">
            <a:spAutoFit/>
          </a:bodyPr>
          <a:lstStyle/>
          <a:p>
            <a:pPr marL="12700">
              <a:lnSpc>
                <a:spcPct val="100000"/>
              </a:lnSpc>
              <a:spcBef>
                <a:spcPts val="100"/>
              </a:spcBef>
            </a:pPr>
            <a:r>
              <a:rPr lang="en-US" b="1" dirty="0">
                <a:solidFill>
                  <a:srgbClr val="262626"/>
                </a:solidFill>
                <a:latin typeface="Graphik Bold"/>
                <a:cs typeface="Graphik Bold"/>
              </a:rPr>
              <a:t>inefficient resource allocation</a:t>
            </a:r>
            <a:endParaRPr sz="1800" dirty="0">
              <a:latin typeface="Graphik Regular"/>
              <a:cs typeface="Graphik Regular"/>
            </a:endParaRPr>
          </a:p>
          <a:p>
            <a:pPr marL="12700" marR="5080">
              <a:lnSpc>
                <a:spcPct val="125000"/>
              </a:lnSpc>
              <a:spcBef>
                <a:spcPts val="935"/>
              </a:spcBef>
            </a:pPr>
            <a:r>
              <a:rPr lang="en-US" sz="1200" dirty="0">
                <a:solidFill>
                  <a:srgbClr val="595959"/>
                </a:solidFill>
                <a:latin typeface="DM Sans 14pt" pitchFamily="2" charset="77"/>
              </a:rPr>
              <a:t>Over three months spent on reporting and prep work for internal meetings.</a:t>
            </a:r>
            <a:endParaRPr sz="1200" dirty="0">
              <a:solidFill>
                <a:srgbClr val="595959"/>
              </a:solidFill>
              <a:latin typeface="DM Sans 14pt" pitchFamily="2" charset="77"/>
              <a:cs typeface="Arial"/>
            </a:endParaRPr>
          </a:p>
        </p:txBody>
      </p:sp>
      <p:grpSp>
        <p:nvGrpSpPr>
          <p:cNvPr id="29" name="object 29"/>
          <p:cNvGrpSpPr/>
          <p:nvPr/>
        </p:nvGrpSpPr>
        <p:grpSpPr>
          <a:xfrm>
            <a:off x="5531630" y="5403856"/>
            <a:ext cx="6139180" cy="850900"/>
            <a:chOff x="5531630" y="5403856"/>
            <a:chExt cx="6139180" cy="850900"/>
          </a:xfrm>
        </p:grpSpPr>
        <p:sp>
          <p:nvSpPr>
            <p:cNvPr id="30" name="object 30"/>
            <p:cNvSpPr/>
            <p:nvPr/>
          </p:nvSpPr>
          <p:spPr>
            <a:xfrm>
              <a:off x="6457631" y="5407031"/>
              <a:ext cx="5213350" cy="0"/>
            </a:xfrm>
            <a:custGeom>
              <a:avLst/>
              <a:gdLst/>
              <a:ahLst/>
              <a:cxnLst/>
              <a:rect l="l" t="t" r="r" b="b"/>
              <a:pathLst>
                <a:path w="5213350">
                  <a:moveTo>
                    <a:pt x="0" y="0"/>
                  </a:moveTo>
                  <a:lnTo>
                    <a:pt x="5212844" y="0"/>
                  </a:lnTo>
                </a:path>
              </a:pathLst>
            </a:custGeom>
            <a:ln w="6350">
              <a:solidFill>
                <a:srgbClr val="D9D9D9"/>
              </a:solidFill>
            </a:ln>
          </p:spPr>
          <p:txBody>
            <a:bodyPr wrap="square" lIns="0" tIns="0" rIns="0" bIns="0" rtlCol="0"/>
            <a:lstStyle/>
            <a:p>
              <a:endParaRPr dirty="0"/>
            </a:p>
          </p:txBody>
        </p:sp>
        <p:sp>
          <p:nvSpPr>
            <p:cNvPr id="31" name="object 31"/>
            <p:cNvSpPr/>
            <p:nvPr/>
          </p:nvSpPr>
          <p:spPr>
            <a:xfrm>
              <a:off x="5531630" y="5856519"/>
              <a:ext cx="438150" cy="398145"/>
            </a:xfrm>
            <a:custGeom>
              <a:avLst/>
              <a:gdLst/>
              <a:ahLst/>
              <a:cxnLst/>
              <a:rect l="l" t="t" r="r" b="b"/>
              <a:pathLst>
                <a:path w="438150" h="398145">
                  <a:moveTo>
                    <a:pt x="95501" y="223325"/>
                  </a:moveTo>
                  <a:lnTo>
                    <a:pt x="95501" y="356025"/>
                  </a:lnTo>
                  <a:lnTo>
                    <a:pt x="98944" y="372157"/>
                  </a:lnTo>
                  <a:lnTo>
                    <a:pt x="108216" y="385559"/>
                  </a:lnTo>
                  <a:lnTo>
                    <a:pt x="121733" y="394713"/>
                  </a:lnTo>
                  <a:lnTo>
                    <a:pt x="137912" y="398101"/>
                  </a:lnTo>
                  <a:lnTo>
                    <a:pt x="168462" y="398101"/>
                  </a:lnTo>
                  <a:lnTo>
                    <a:pt x="95501" y="223325"/>
                  </a:lnTo>
                  <a:close/>
                </a:path>
                <a:path w="438150" h="398145">
                  <a:moveTo>
                    <a:pt x="293176" y="0"/>
                  </a:moveTo>
                  <a:lnTo>
                    <a:pt x="287426" y="0"/>
                  </a:lnTo>
                  <a:lnTo>
                    <a:pt x="282395" y="1078"/>
                  </a:lnTo>
                  <a:lnTo>
                    <a:pt x="121379" y="66889"/>
                  </a:lnTo>
                  <a:lnTo>
                    <a:pt x="95501" y="104290"/>
                  </a:lnTo>
                  <a:lnTo>
                    <a:pt x="95501" y="110044"/>
                  </a:lnTo>
                  <a:lnTo>
                    <a:pt x="202606" y="372568"/>
                  </a:lnTo>
                  <a:lnTo>
                    <a:pt x="241063" y="398101"/>
                  </a:lnTo>
                  <a:lnTo>
                    <a:pt x="247172" y="398101"/>
                  </a:lnTo>
                  <a:lnTo>
                    <a:pt x="252923" y="397382"/>
                  </a:lnTo>
                  <a:lnTo>
                    <a:pt x="257955" y="395224"/>
                  </a:lnTo>
                  <a:lnTo>
                    <a:pt x="412140" y="331211"/>
                  </a:lnTo>
                  <a:lnTo>
                    <a:pt x="425989" y="322007"/>
                  </a:lnTo>
                  <a:lnTo>
                    <a:pt x="434783" y="308555"/>
                  </a:lnTo>
                  <a:lnTo>
                    <a:pt x="437917" y="292675"/>
                  </a:lnTo>
                  <a:lnTo>
                    <a:pt x="434783" y="276189"/>
                  </a:lnTo>
                  <a:lnTo>
                    <a:pt x="372276" y="125867"/>
                  </a:lnTo>
                  <a:lnTo>
                    <a:pt x="137912" y="125867"/>
                  </a:lnTo>
                  <a:lnTo>
                    <a:pt x="129707" y="124165"/>
                  </a:lnTo>
                  <a:lnTo>
                    <a:pt x="123221" y="119529"/>
                  </a:lnTo>
                  <a:lnTo>
                    <a:pt x="118959" y="112668"/>
                  </a:lnTo>
                  <a:lnTo>
                    <a:pt x="117425" y="104290"/>
                  </a:lnTo>
                  <a:lnTo>
                    <a:pt x="118959" y="96024"/>
                  </a:lnTo>
                  <a:lnTo>
                    <a:pt x="123221" y="89411"/>
                  </a:lnTo>
                  <a:lnTo>
                    <a:pt x="129707" y="85022"/>
                  </a:lnTo>
                  <a:lnTo>
                    <a:pt x="137912" y="83432"/>
                  </a:lnTo>
                  <a:lnTo>
                    <a:pt x="354630" y="83432"/>
                  </a:lnTo>
                  <a:lnTo>
                    <a:pt x="330554" y="25533"/>
                  </a:lnTo>
                  <a:lnTo>
                    <a:pt x="324057" y="14868"/>
                  </a:lnTo>
                  <a:lnTo>
                    <a:pt x="315234" y="6832"/>
                  </a:lnTo>
                  <a:lnTo>
                    <a:pt x="304727" y="1764"/>
                  </a:lnTo>
                  <a:lnTo>
                    <a:pt x="293176" y="0"/>
                  </a:lnTo>
                  <a:close/>
                </a:path>
                <a:path w="438150" h="398145">
                  <a:moveTo>
                    <a:pt x="354630" y="83432"/>
                  </a:moveTo>
                  <a:lnTo>
                    <a:pt x="137912" y="83432"/>
                  </a:lnTo>
                  <a:lnTo>
                    <a:pt x="146117" y="85022"/>
                  </a:lnTo>
                  <a:lnTo>
                    <a:pt x="152603" y="89411"/>
                  </a:lnTo>
                  <a:lnTo>
                    <a:pt x="156865" y="96024"/>
                  </a:lnTo>
                  <a:lnTo>
                    <a:pt x="158398" y="104290"/>
                  </a:lnTo>
                  <a:lnTo>
                    <a:pt x="156865" y="112668"/>
                  </a:lnTo>
                  <a:lnTo>
                    <a:pt x="152603" y="119529"/>
                  </a:lnTo>
                  <a:lnTo>
                    <a:pt x="146117" y="124165"/>
                  </a:lnTo>
                  <a:lnTo>
                    <a:pt x="137912" y="125867"/>
                  </a:lnTo>
                  <a:lnTo>
                    <a:pt x="372276" y="125867"/>
                  </a:lnTo>
                  <a:lnTo>
                    <a:pt x="354630" y="83432"/>
                  </a:lnTo>
                  <a:close/>
                </a:path>
                <a:path w="438150" h="398145">
                  <a:moveTo>
                    <a:pt x="54529" y="176933"/>
                  </a:moveTo>
                  <a:lnTo>
                    <a:pt x="3133" y="299924"/>
                  </a:lnTo>
                  <a:lnTo>
                    <a:pt x="0" y="316242"/>
                  </a:lnTo>
                  <a:lnTo>
                    <a:pt x="3133" y="331751"/>
                  </a:lnTo>
                  <a:lnTo>
                    <a:pt x="11927" y="344832"/>
                  </a:lnTo>
                  <a:lnTo>
                    <a:pt x="25776" y="353867"/>
                  </a:lnTo>
                  <a:lnTo>
                    <a:pt x="54529" y="365735"/>
                  </a:lnTo>
                  <a:lnTo>
                    <a:pt x="54529" y="176933"/>
                  </a:lnTo>
                  <a:close/>
                </a:path>
              </a:pathLst>
            </a:custGeom>
            <a:solidFill>
              <a:srgbClr val="301B1D"/>
            </a:solidFill>
          </p:spPr>
          <p:txBody>
            <a:bodyPr wrap="square" lIns="0" tIns="0" rIns="0" bIns="0" rtlCol="0"/>
            <a:lstStyle/>
            <a:p>
              <a:endParaRPr dirty="0"/>
            </a:p>
          </p:txBody>
        </p:sp>
      </p:grpSp>
      <p:pic>
        <p:nvPicPr>
          <p:cNvPr id="32" name="object 32"/>
          <p:cNvPicPr/>
          <p:nvPr/>
        </p:nvPicPr>
        <p:blipFill>
          <a:blip r:embed="rId3" cstate="print"/>
          <a:stretch>
            <a:fillRect/>
          </a:stretch>
        </p:blipFill>
        <p:spPr>
          <a:xfrm>
            <a:off x="1311564" y="1547527"/>
            <a:ext cx="992187" cy="992187"/>
          </a:xfrm>
          <a:prstGeom prst="rect">
            <a:avLst/>
          </a:prstGeom>
        </p:spPr>
      </p:pic>
      <p:sp>
        <p:nvSpPr>
          <p:cNvPr id="34" name="TextBox 33">
            <a:extLst>
              <a:ext uri="{FF2B5EF4-FFF2-40B4-BE49-F238E27FC236}">
                <a16:creationId xmlns:a16="http://schemas.microsoft.com/office/drawing/2014/main" id="{09538889-7A57-3F3F-1EF4-4A9D24F56BE2}"/>
              </a:ext>
            </a:extLst>
          </p:cNvPr>
          <p:cNvSpPr txBox="1"/>
          <p:nvPr/>
        </p:nvSpPr>
        <p:spPr>
          <a:xfrm>
            <a:off x="6457631" y="1617334"/>
            <a:ext cx="6098058" cy="932691"/>
          </a:xfrm>
          <a:prstGeom prst="rect">
            <a:avLst/>
          </a:prstGeom>
          <a:noFill/>
        </p:spPr>
        <p:txBody>
          <a:bodyPr wrap="square">
            <a:spAutoFit/>
          </a:bodyPr>
          <a:lstStyle/>
          <a:p>
            <a:pPr marL="12700">
              <a:lnSpc>
                <a:spcPct val="100000"/>
              </a:lnSpc>
              <a:spcBef>
                <a:spcPts val="5"/>
              </a:spcBef>
            </a:pPr>
            <a:r>
              <a:rPr lang="en-US" b="1" dirty="0">
                <a:solidFill>
                  <a:srgbClr val="262626"/>
                </a:solidFill>
                <a:latin typeface="Graphik Bold" panose="020B0503030202060203" pitchFamily="34" charset="77"/>
                <a:cs typeface="Graphik Bold"/>
              </a:rPr>
              <a:t>lack of actionable insights</a:t>
            </a:r>
            <a:endParaRPr lang="en-US" b="1" dirty="0">
              <a:solidFill>
                <a:srgbClr val="262626"/>
              </a:solidFill>
              <a:latin typeface="Graphik Bold" panose="020B0503030202060203" pitchFamily="34" charset="77"/>
              <a:cs typeface="Graphik Regular"/>
            </a:endParaRPr>
          </a:p>
          <a:p>
            <a:pPr marL="12700" marR="396240">
              <a:lnSpc>
                <a:spcPct val="125000"/>
              </a:lnSpc>
              <a:spcBef>
                <a:spcPts val="935"/>
              </a:spcBef>
            </a:pPr>
            <a:r>
              <a:rPr lang="en-US" sz="1200" dirty="0">
                <a:solidFill>
                  <a:srgbClr val="595959"/>
                </a:solidFill>
                <a:latin typeface="DM Sans 14pt" pitchFamily="2" charset="77"/>
              </a:rPr>
              <a:t>Less than 5% of marketing and sales tactics align with the most profitable customers or segments.</a:t>
            </a:r>
            <a:endParaRPr lang="en-US" sz="1200" dirty="0">
              <a:solidFill>
                <a:srgbClr val="595959"/>
              </a:solidFill>
              <a:latin typeface="DM Sans 14pt" pitchFamily="2" charset="77"/>
              <a:cs typeface="Arial"/>
            </a:endParaRPr>
          </a:p>
        </p:txBody>
      </p:sp>
      <p:sp>
        <p:nvSpPr>
          <p:cNvPr id="39" name="TextBox 38">
            <a:extLst>
              <a:ext uri="{FF2B5EF4-FFF2-40B4-BE49-F238E27FC236}">
                <a16:creationId xmlns:a16="http://schemas.microsoft.com/office/drawing/2014/main" id="{A24CA750-5138-36BE-1D18-F85D86A8777F}"/>
              </a:ext>
            </a:extLst>
          </p:cNvPr>
          <p:cNvSpPr txBox="1"/>
          <p:nvPr/>
        </p:nvSpPr>
        <p:spPr>
          <a:xfrm>
            <a:off x="6409407" y="311239"/>
            <a:ext cx="6098058" cy="932691"/>
          </a:xfrm>
          <a:prstGeom prst="rect">
            <a:avLst/>
          </a:prstGeom>
          <a:noFill/>
        </p:spPr>
        <p:txBody>
          <a:bodyPr wrap="square">
            <a:spAutoFit/>
          </a:bodyPr>
          <a:lstStyle/>
          <a:p>
            <a:pPr marL="12700">
              <a:lnSpc>
                <a:spcPct val="100000"/>
              </a:lnSpc>
              <a:spcBef>
                <a:spcPts val="5"/>
              </a:spcBef>
            </a:pPr>
            <a:r>
              <a:rPr lang="en-US" b="1" dirty="0">
                <a:solidFill>
                  <a:srgbClr val="262626"/>
                </a:solidFill>
                <a:latin typeface="Graphik Bold" panose="020B0503030202060203" pitchFamily="34" charset="77"/>
                <a:cs typeface="Graphik Bold"/>
              </a:rPr>
              <a:t>absence of single-source reporting</a:t>
            </a:r>
            <a:endParaRPr lang="en-US" b="1" dirty="0">
              <a:solidFill>
                <a:srgbClr val="262626"/>
              </a:solidFill>
              <a:latin typeface="Graphik Bold" panose="020B0503030202060203" pitchFamily="34" charset="77"/>
              <a:cs typeface="Graphik Regular"/>
            </a:endParaRPr>
          </a:p>
          <a:p>
            <a:pPr marL="12700" marR="396240">
              <a:lnSpc>
                <a:spcPct val="125000"/>
              </a:lnSpc>
              <a:spcBef>
                <a:spcPts val="935"/>
              </a:spcBef>
            </a:pPr>
            <a:r>
              <a:rPr lang="en-US" sz="1200" dirty="0">
                <a:solidFill>
                  <a:srgbClr val="595959"/>
                </a:solidFill>
                <a:latin typeface="DM Sans 14pt" pitchFamily="2" charset="77"/>
              </a:rPr>
              <a:t>Despite over 60 reports and seven systems, no central hub combines reports and insights.</a:t>
            </a:r>
            <a:endParaRPr lang="en-US" sz="1200" dirty="0">
              <a:solidFill>
                <a:srgbClr val="595959"/>
              </a:solidFill>
              <a:latin typeface="DM Sans 14pt" pitchFamily="2" charset="77"/>
              <a:cs typeface="Arial"/>
            </a:endParaRPr>
          </a:p>
        </p:txBody>
      </p:sp>
      <p:pic>
        <p:nvPicPr>
          <p:cNvPr id="24" name="Picture 23" descr="A black background with a black square&#10;&#10;Description automatically generated with medium confidence">
            <a:extLst>
              <a:ext uri="{FF2B5EF4-FFF2-40B4-BE49-F238E27FC236}">
                <a16:creationId xmlns:a16="http://schemas.microsoft.com/office/drawing/2014/main" id="{6F1C3429-78F1-A3A2-964B-378B1A1B86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6561" y="567004"/>
            <a:ext cx="387414" cy="442759"/>
          </a:xfrm>
          <a:prstGeom prst="rect">
            <a:avLst/>
          </a:prstGeom>
        </p:spPr>
      </p:pic>
      <p:pic>
        <p:nvPicPr>
          <p:cNvPr id="35" name="Picture 34" descr="A black background with a black square&#10;&#10;Description automatically generated with medium confidence">
            <a:extLst>
              <a:ext uri="{FF2B5EF4-FFF2-40B4-BE49-F238E27FC236}">
                <a16:creationId xmlns:a16="http://schemas.microsoft.com/office/drawing/2014/main" id="{61920A43-67C4-1686-D1EA-92A5C79EBD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0982" y="1872001"/>
            <a:ext cx="418315" cy="418315"/>
          </a:xfrm>
          <a:prstGeom prst="rect">
            <a:avLst/>
          </a:prstGeom>
        </p:spPr>
      </p:pic>
      <p:sp>
        <p:nvSpPr>
          <p:cNvPr id="27" name="Rectangle 6">
            <a:extLst>
              <a:ext uri="{FF2B5EF4-FFF2-40B4-BE49-F238E27FC236}">
                <a16:creationId xmlns:a16="http://schemas.microsoft.com/office/drawing/2014/main" id="{69DF2ED8-8AA4-1445-2EB5-D90824118567}"/>
              </a:ext>
            </a:extLst>
          </p:cNvPr>
          <p:cNvSpPr txBox="1"/>
          <p:nvPr/>
        </p:nvSpPr>
        <p:spPr>
          <a:xfrm>
            <a:off x="1511663" y="3836899"/>
            <a:ext cx="3421017" cy="7386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lang="en-US" sz="1400" b="0" i="0" u="none" strike="noStrike" dirty="0">
                <a:solidFill>
                  <a:srgbClr val="595959"/>
                </a:solidFill>
                <a:effectLst/>
                <a:latin typeface="DM Sans 14pt" pitchFamily="2" charset="77"/>
              </a:rPr>
              <a:t>These challenges lead to inefficient operations, wasted resources, and stagnant growth.</a:t>
            </a:r>
            <a:endParaRPr lang="en-US" sz="1400" dirty="0">
              <a:solidFill>
                <a:srgbClr val="595959"/>
              </a:solidFill>
              <a:latin typeface="DM Sans 14pt" pitchFamily="2" charset="77"/>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1000"/>
                                        <p:tgtEl>
                                          <p:spTgt spid="39"/>
                                        </p:tgtEl>
                                      </p:cBhvr>
                                    </p:animEffect>
                                    <p:anim calcmode="lin" valueType="num">
                                      <p:cBhvr>
                                        <p:cTn id="8" dur="1000" fill="hold"/>
                                        <p:tgtEl>
                                          <p:spTgt spid="39"/>
                                        </p:tgtEl>
                                        <p:attrNameLst>
                                          <p:attrName>ppt_x</p:attrName>
                                        </p:attrNameLst>
                                      </p:cBhvr>
                                      <p:tavLst>
                                        <p:tav tm="0">
                                          <p:val>
                                            <p:strVal val="#ppt_x"/>
                                          </p:val>
                                        </p:tav>
                                        <p:tav tm="100000">
                                          <p:val>
                                            <p:strVal val="#ppt_x"/>
                                          </p:val>
                                        </p:tav>
                                      </p:tavLst>
                                    </p:anim>
                                    <p:anim calcmode="lin" valueType="num">
                                      <p:cBhvr>
                                        <p:cTn id="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1000"/>
                                        <p:tgtEl>
                                          <p:spTgt spid="34"/>
                                        </p:tgtEl>
                                      </p:cBhvr>
                                    </p:animEffect>
                                    <p:anim calcmode="lin" valueType="num">
                                      <p:cBhvr>
                                        <p:cTn id="15" dur="1000" fill="hold"/>
                                        <p:tgtEl>
                                          <p:spTgt spid="34"/>
                                        </p:tgtEl>
                                        <p:attrNameLst>
                                          <p:attrName>ppt_x</p:attrName>
                                        </p:attrNameLst>
                                      </p:cBhvr>
                                      <p:tavLst>
                                        <p:tav tm="0">
                                          <p:val>
                                            <p:strVal val="#ppt_x"/>
                                          </p:val>
                                        </p:tav>
                                        <p:tav tm="100000">
                                          <p:val>
                                            <p:strVal val="#ppt_x"/>
                                          </p:val>
                                        </p:tav>
                                      </p:tavLst>
                                    </p:anim>
                                    <p:anim calcmode="lin" valueType="num">
                                      <p:cBhvr>
                                        <p:cTn id="1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8" grpId="0"/>
      <p:bldP spid="34" grpId="0"/>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9" name="20a.jpg"/>
          <p:cNvPicPr>
            <a:picLocks noGrp="1" noChangeAspect="1"/>
          </p:cNvPicPr>
          <p:nvPr>
            <p:ph type="pic" idx="21"/>
          </p:nvPr>
        </p:nvPicPr>
        <p:blipFill>
          <a:blip r:embed="rId2"/>
          <a:srcRect t="5556" b="5556"/>
          <a:stretch/>
        </p:blipFill>
        <p:spPr>
          <a:xfrm>
            <a:off x="381000" y="381000"/>
            <a:ext cx="11430001" cy="6096000"/>
          </a:xfrm>
          <a:prstGeom prst="rect">
            <a:avLst/>
          </a:prstGeom>
        </p:spPr>
      </p:pic>
      <p:sp>
        <p:nvSpPr>
          <p:cNvPr id="460" name="TextBox 11"/>
          <p:cNvSpPr txBox="1"/>
          <p:nvPr/>
        </p:nvSpPr>
        <p:spPr>
          <a:xfrm>
            <a:off x="1676400" y="1061609"/>
            <a:ext cx="9159911" cy="17543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r">
              <a:lnSpc>
                <a:spcPct val="90000"/>
              </a:lnSpc>
              <a:defRPr sz="6000">
                <a:solidFill>
                  <a:srgbClr val="FFFFFF"/>
                </a:solidFill>
                <a:latin typeface="Graphik-SemiboldItalic"/>
                <a:ea typeface="Graphik-SemiboldItalic"/>
                <a:cs typeface="Graphik-SemiboldItalic"/>
                <a:sym typeface="Graphik Semibold"/>
              </a:defRPr>
            </a:lvl1pPr>
          </a:lstStyle>
          <a:p>
            <a:r>
              <a:rPr lang="en-US" dirty="0"/>
              <a:t> </a:t>
            </a:r>
            <a:r>
              <a:rPr lang="en-US" b="1" dirty="0">
                <a:latin typeface="Graphik Bold" panose="020B0503030202060203" pitchFamily="34" charset="77"/>
              </a:rPr>
              <a:t>the strategy-execution</a:t>
            </a:r>
          </a:p>
          <a:p>
            <a:r>
              <a:rPr lang="en-US" b="1" dirty="0">
                <a:latin typeface="Graphik Bold" panose="020B0503030202060203" pitchFamily="34" charset="77"/>
              </a:rPr>
              <a:t>connection</a:t>
            </a:r>
            <a:endParaRPr b="1" dirty="0">
              <a:latin typeface="Graphik Bold" panose="020B0503030202060203" pitchFamily="34" charset="77"/>
            </a:endParaRPr>
          </a:p>
        </p:txBody>
      </p:sp>
      <p:sp>
        <p:nvSpPr>
          <p:cNvPr id="462" name="Straight Connector 10"/>
          <p:cNvSpPr/>
          <p:nvPr/>
        </p:nvSpPr>
        <p:spPr>
          <a:xfrm>
            <a:off x="0" y="1590145"/>
            <a:ext cx="1826811" cy="1"/>
          </a:xfrm>
          <a:prstGeom prst="line">
            <a:avLst/>
          </a:prstGeom>
          <a:ln w="31750">
            <a:solidFill>
              <a:srgbClr val="FFFFFF"/>
            </a:solidFill>
            <a:miter/>
          </a:ln>
        </p:spPr>
        <p:txBody>
          <a:bodyPr lIns="45719" rIns="45719"/>
          <a:lstStyle/>
          <a:p>
            <a:pPr defTabSz="914400">
              <a:defRPr>
                <a:solidFill>
                  <a:srgbClr val="000000"/>
                </a:solidFill>
              </a:defRPr>
            </a:pPr>
            <a:endParaRPr dirty="0"/>
          </a:p>
        </p:txBody>
      </p:sp>
      <p:sp>
        <p:nvSpPr>
          <p:cNvPr id="2" name="object 5">
            <a:extLst>
              <a:ext uri="{FF2B5EF4-FFF2-40B4-BE49-F238E27FC236}">
                <a16:creationId xmlns:a16="http://schemas.microsoft.com/office/drawing/2014/main" id="{4DC5F6BD-429C-5A3E-326A-CF5A8F740AE9}"/>
              </a:ext>
            </a:extLst>
          </p:cNvPr>
          <p:cNvSpPr txBox="1"/>
          <p:nvPr/>
        </p:nvSpPr>
        <p:spPr>
          <a:xfrm>
            <a:off x="1560148" y="3156320"/>
            <a:ext cx="5755052" cy="2746778"/>
          </a:xfrm>
          <a:prstGeom prst="rect">
            <a:avLst/>
          </a:prstGeom>
        </p:spPr>
        <p:txBody>
          <a:bodyPr vert="horz" wrap="square" lIns="0" tIns="12700" rIns="0" bIns="0" rtlCol="0">
            <a:spAutoFit/>
          </a:bodyPr>
          <a:lstStyle/>
          <a:p>
            <a:pPr marL="12700">
              <a:lnSpc>
                <a:spcPts val="1660"/>
              </a:lnSpc>
              <a:spcBef>
                <a:spcPts val="100"/>
              </a:spcBef>
            </a:pPr>
            <a:r>
              <a:rPr lang="en-US" sz="1600" spc="-10" dirty="0">
                <a:solidFill>
                  <a:srgbClr val="FFFFFF"/>
                </a:solidFill>
                <a:latin typeface="DM Sans 14pt" pitchFamily="2" charset="77"/>
                <a:cs typeface="Arial"/>
              </a:rPr>
              <a:t>There’s</a:t>
            </a:r>
            <a:r>
              <a:rPr sz="1600" spc="35" dirty="0">
                <a:solidFill>
                  <a:srgbClr val="FFFFFF"/>
                </a:solidFill>
                <a:latin typeface="DM Sans 14pt" pitchFamily="2" charset="77"/>
                <a:cs typeface="Arial"/>
              </a:rPr>
              <a:t> </a:t>
            </a:r>
            <a:r>
              <a:rPr sz="1600" dirty="0">
                <a:solidFill>
                  <a:srgbClr val="FFFFFF"/>
                </a:solidFill>
                <a:latin typeface="DM Sans 14pt" pitchFamily="2" charset="77"/>
                <a:cs typeface="Arial"/>
              </a:rPr>
              <a:t>no</a:t>
            </a:r>
            <a:r>
              <a:rPr sz="1600" spc="35" dirty="0">
                <a:solidFill>
                  <a:srgbClr val="FFFFFF"/>
                </a:solidFill>
                <a:latin typeface="DM Sans 14pt" pitchFamily="2" charset="77"/>
                <a:cs typeface="Arial"/>
              </a:rPr>
              <a:t> </a:t>
            </a:r>
            <a:r>
              <a:rPr sz="1600" dirty="0">
                <a:solidFill>
                  <a:srgbClr val="FFFFFF"/>
                </a:solidFill>
                <a:latin typeface="DM Sans 14pt" pitchFamily="2" charset="77"/>
                <a:cs typeface="Arial"/>
              </a:rPr>
              <a:t>shortage</a:t>
            </a:r>
            <a:r>
              <a:rPr sz="1600" spc="35" dirty="0">
                <a:solidFill>
                  <a:srgbClr val="FFFFFF"/>
                </a:solidFill>
                <a:latin typeface="DM Sans 14pt" pitchFamily="2" charset="77"/>
                <a:cs typeface="Arial"/>
              </a:rPr>
              <a:t> </a:t>
            </a:r>
            <a:r>
              <a:rPr sz="1600" spc="70" dirty="0">
                <a:solidFill>
                  <a:srgbClr val="FFFFFF"/>
                </a:solidFill>
                <a:latin typeface="DM Sans 14pt" pitchFamily="2" charset="77"/>
                <a:cs typeface="Arial"/>
              </a:rPr>
              <a:t>of</a:t>
            </a:r>
            <a:r>
              <a:rPr sz="1600" spc="35" dirty="0">
                <a:solidFill>
                  <a:srgbClr val="FFFFFF"/>
                </a:solidFill>
                <a:latin typeface="DM Sans 14pt" pitchFamily="2" charset="77"/>
                <a:cs typeface="Arial"/>
              </a:rPr>
              <a:t> </a:t>
            </a:r>
            <a:r>
              <a:rPr sz="1600" spc="50" dirty="0">
                <a:solidFill>
                  <a:srgbClr val="FFFFFF"/>
                </a:solidFill>
                <a:latin typeface="DM Sans 14pt" pitchFamily="2" charset="77"/>
                <a:cs typeface="Arial"/>
              </a:rPr>
              <a:t>tools</a:t>
            </a:r>
            <a:r>
              <a:rPr sz="1600" spc="35" dirty="0">
                <a:solidFill>
                  <a:srgbClr val="FFFFFF"/>
                </a:solidFill>
                <a:latin typeface="DM Sans 14pt" pitchFamily="2" charset="77"/>
                <a:cs typeface="Arial"/>
              </a:rPr>
              <a:t> </a:t>
            </a:r>
            <a:r>
              <a:rPr sz="1600" spc="100" dirty="0">
                <a:solidFill>
                  <a:srgbClr val="FFFFFF"/>
                </a:solidFill>
                <a:latin typeface="DM Sans 14pt" pitchFamily="2" charset="77"/>
                <a:cs typeface="Arial"/>
              </a:rPr>
              <a:t>to</a:t>
            </a:r>
            <a:r>
              <a:rPr sz="1600" spc="35" dirty="0">
                <a:solidFill>
                  <a:srgbClr val="FFFFFF"/>
                </a:solidFill>
                <a:latin typeface="DM Sans 14pt" pitchFamily="2" charset="77"/>
                <a:cs typeface="Arial"/>
              </a:rPr>
              <a:t> </a:t>
            </a:r>
            <a:r>
              <a:rPr sz="1600" spc="-10" dirty="0">
                <a:solidFill>
                  <a:srgbClr val="FFFFFF"/>
                </a:solidFill>
                <a:latin typeface="DM Sans 14pt" pitchFamily="2" charset="77"/>
                <a:cs typeface="Arial"/>
              </a:rPr>
              <a:t>enhance</a:t>
            </a:r>
            <a:endParaRPr sz="1600" dirty="0">
              <a:latin typeface="DM Sans 14pt" pitchFamily="2" charset="77"/>
              <a:cs typeface="Arial"/>
            </a:endParaRPr>
          </a:p>
          <a:p>
            <a:pPr marL="12700" marR="322580">
              <a:lnSpc>
                <a:spcPct val="72900"/>
              </a:lnSpc>
              <a:spcBef>
                <a:spcPts val="260"/>
              </a:spcBef>
            </a:pPr>
            <a:r>
              <a:rPr sz="1600" dirty="0">
                <a:solidFill>
                  <a:srgbClr val="FFFFFF"/>
                </a:solidFill>
                <a:latin typeface="DM Sans 14pt" pitchFamily="2" charset="77"/>
                <a:cs typeface="Arial"/>
              </a:rPr>
              <a:t>success,</a:t>
            </a:r>
            <a:r>
              <a:rPr sz="1600" spc="105" dirty="0">
                <a:solidFill>
                  <a:srgbClr val="FFFFFF"/>
                </a:solidFill>
                <a:latin typeface="DM Sans 14pt" pitchFamily="2" charset="77"/>
                <a:cs typeface="Arial"/>
              </a:rPr>
              <a:t> </a:t>
            </a:r>
            <a:r>
              <a:rPr sz="1600" spc="100" dirty="0">
                <a:solidFill>
                  <a:srgbClr val="FFFFFF"/>
                </a:solidFill>
                <a:latin typeface="DM Sans 14pt" pitchFamily="2" charset="77"/>
                <a:cs typeface="Arial"/>
              </a:rPr>
              <a:t>but</a:t>
            </a:r>
            <a:r>
              <a:rPr sz="1600" spc="105" dirty="0">
                <a:solidFill>
                  <a:srgbClr val="FFFFFF"/>
                </a:solidFill>
                <a:latin typeface="DM Sans 14pt" pitchFamily="2" charset="77"/>
                <a:cs typeface="Arial"/>
              </a:rPr>
              <a:t> </a:t>
            </a:r>
            <a:r>
              <a:rPr sz="1600" dirty="0">
                <a:solidFill>
                  <a:srgbClr val="FFFFFF"/>
                </a:solidFill>
                <a:latin typeface="DM Sans 14pt" pitchFamily="2" charset="77"/>
                <a:cs typeface="Arial"/>
              </a:rPr>
              <a:t>businesses</a:t>
            </a:r>
            <a:r>
              <a:rPr sz="1600" spc="110" dirty="0">
                <a:solidFill>
                  <a:srgbClr val="FFFFFF"/>
                </a:solidFill>
                <a:latin typeface="DM Sans 14pt" pitchFamily="2" charset="77"/>
                <a:cs typeface="Arial"/>
              </a:rPr>
              <a:t> </a:t>
            </a:r>
            <a:r>
              <a:rPr sz="1600" spc="65" dirty="0">
                <a:solidFill>
                  <a:srgbClr val="FFFFFF"/>
                </a:solidFill>
                <a:latin typeface="DM Sans 14pt" pitchFamily="2" charset="77"/>
                <a:cs typeface="Arial"/>
              </a:rPr>
              <a:t>often</a:t>
            </a:r>
            <a:r>
              <a:rPr sz="1600" spc="105" dirty="0">
                <a:solidFill>
                  <a:srgbClr val="FFFFFF"/>
                </a:solidFill>
                <a:latin typeface="DM Sans 14pt" pitchFamily="2" charset="77"/>
                <a:cs typeface="Arial"/>
              </a:rPr>
              <a:t> </a:t>
            </a:r>
            <a:r>
              <a:rPr sz="1600" dirty="0">
                <a:solidFill>
                  <a:srgbClr val="FFFFFF"/>
                </a:solidFill>
                <a:latin typeface="DM Sans 14pt" pitchFamily="2" charset="77"/>
                <a:cs typeface="Arial"/>
              </a:rPr>
              <a:t>struggle</a:t>
            </a:r>
            <a:r>
              <a:rPr sz="1600" spc="110" dirty="0">
                <a:solidFill>
                  <a:srgbClr val="FFFFFF"/>
                </a:solidFill>
                <a:latin typeface="DM Sans 14pt" pitchFamily="2" charset="77"/>
                <a:cs typeface="Arial"/>
              </a:rPr>
              <a:t> </a:t>
            </a:r>
            <a:r>
              <a:rPr sz="1600" spc="40" dirty="0">
                <a:solidFill>
                  <a:srgbClr val="FFFFFF"/>
                </a:solidFill>
                <a:latin typeface="DM Sans 14pt" pitchFamily="2" charset="77"/>
                <a:cs typeface="Arial"/>
              </a:rPr>
              <a:t>with </a:t>
            </a:r>
            <a:r>
              <a:rPr sz="1600" dirty="0">
                <a:solidFill>
                  <a:srgbClr val="FFFFFF"/>
                </a:solidFill>
                <a:latin typeface="DM Sans 14pt" pitchFamily="2" charset="77"/>
                <a:cs typeface="Arial"/>
              </a:rPr>
              <a:t>execution.</a:t>
            </a:r>
            <a:r>
              <a:rPr sz="1600" spc="114" dirty="0">
                <a:solidFill>
                  <a:srgbClr val="FFFFFF"/>
                </a:solidFill>
                <a:latin typeface="DM Sans 14pt" pitchFamily="2" charset="77"/>
                <a:cs typeface="Arial"/>
              </a:rPr>
              <a:t> </a:t>
            </a:r>
            <a:endParaRPr lang="en-US" sz="1600" spc="114" dirty="0">
              <a:solidFill>
                <a:srgbClr val="FFFFFF"/>
              </a:solidFill>
              <a:latin typeface="DM Sans 14pt" pitchFamily="2" charset="77"/>
              <a:cs typeface="Arial"/>
            </a:endParaRPr>
          </a:p>
          <a:p>
            <a:pPr marL="12700" marR="322580">
              <a:lnSpc>
                <a:spcPct val="72900"/>
              </a:lnSpc>
              <a:spcBef>
                <a:spcPts val="260"/>
              </a:spcBef>
            </a:pPr>
            <a:endParaRPr lang="en-US" sz="1600" spc="114" dirty="0">
              <a:solidFill>
                <a:srgbClr val="FFFFFF"/>
              </a:solidFill>
              <a:latin typeface="DM Sans 14pt" pitchFamily="2" charset="77"/>
              <a:cs typeface="Arial"/>
            </a:endParaRPr>
          </a:p>
          <a:p>
            <a:pPr marL="12700" marR="322580">
              <a:lnSpc>
                <a:spcPct val="72900"/>
              </a:lnSpc>
              <a:spcBef>
                <a:spcPts val="260"/>
              </a:spcBef>
            </a:pPr>
            <a:r>
              <a:rPr sz="1600" b="1" dirty="0">
                <a:solidFill>
                  <a:srgbClr val="FF9088"/>
                </a:solidFill>
                <a:latin typeface="DM Sans 14pt" pitchFamily="2" charset="77"/>
                <a:cs typeface="Arial"/>
              </a:rPr>
              <a:t>This</a:t>
            </a:r>
            <a:r>
              <a:rPr sz="1600" b="1" spc="114" dirty="0">
                <a:solidFill>
                  <a:srgbClr val="FF9088"/>
                </a:solidFill>
                <a:latin typeface="DM Sans 14pt" pitchFamily="2" charset="77"/>
                <a:cs typeface="Arial"/>
              </a:rPr>
              <a:t> </a:t>
            </a:r>
            <a:r>
              <a:rPr sz="1600" b="1" dirty="0">
                <a:solidFill>
                  <a:srgbClr val="FF9088"/>
                </a:solidFill>
                <a:latin typeface="DM Sans 14pt" pitchFamily="2" charset="77"/>
                <a:cs typeface="Arial"/>
              </a:rPr>
              <a:t>is</a:t>
            </a:r>
            <a:r>
              <a:rPr sz="1600" b="1" spc="114" dirty="0">
                <a:solidFill>
                  <a:srgbClr val="FF9088"/>
                </a:solidFill>
                <a:latin typeface="DM Sans 14pt" pitchFamily="2" charset="77"/>
                <a:cs typeface="Arial"/>
              </a:rPr>
              <a:t> </a:t>
            </a:r>
            <a:r>
              <a:rPr sz="1600" b="1" dirty="0">
                <a:solidFill>
                  <a:srgbClr val="FF9088"/>
                </a:solidFill>
                <a:latin typeface="DM Sans 14pt" pitchFamily="2" charset="77"/>
                <a:cs typeface="Arial"/>
              </a:rPr>
              <a:t>where</a:t>
            </a:r>
            <a:r>
              <a:rPr sz="1600" b="1" spc="114" dirty="0">
                <a:solidFill>
                  <a:srgbClr val="FF9088"/>
                </a:solidFill>
                <a:latin typeface="DM Sans 14pt" pitchFamily="2" charset="77"/>
                <a:cs typeface="Arial"/>
              </a:rPr>
              <a:t> </a:t>
            </a:r>
            <a:r>
              <a:rPr sz="1600" b="1" dirty="0">
                <a:solidFill>
                  <a:srgbClr val="FF9088"/>
                </a:solidFill>
                <a:latin typeface="DM Sans 14pt" pitchFamily="2" charset="77"/>
                <a:cs typeface="Arial"/>
              </a:rPr>
              <a:t>Ignite</a:t>
            </a:r>
            <a:r>
              <a:rPr sz="1600" b="1" spc="114" dirty="0">
                <a:solidFill>
                  <a:srgbClr val="FF9088"/>
                </a:solidFill>
                <a:latin typeface="DM Sans 14pt" pitchFamily="2" charset="77"/>
                <a:cs typeface="Arial"/>
              </a:rPr>
              <a:t> </a:t>
            </a:r>
            <a:r>
              <a:rPr sz="1600" b="1" dirty="0">
                <a:solidFill>
                  <a:srgbClr val="FF9088"/>
                </a:solidFill>
                <a:latin typeface="DM Sans 14pt" pitchFamily="2" charset="77"/>
                <a:cs typeface="Arial"/>
              </a:rPr>
              <a:t>steps</a:t>
            </a:r>
            <a:r>
              <a:rPr sz="1600" b="1" spc="114" dirty="0">
                <a:solidFill>
                  <a:srgbClr val="FF9088"/>
                </a:solidFill>
                <a:latin typeface="DM Sans 14pt" pitchFamily="2" charset="77"/>
                <a:cs typeface="Arial"/>
              </a:rPr>
              <a:t> </a:t>
            </a:r>
            <a:r>
              <a:rPr sz="1600" b="1" spc="-25" dirty="0">
                <a:solidFill>
                  <a:srgbClr val="FF9088"/>
                </a:solidFill>
                <a:latin typeface="DM Sans 14pt" pitchFamily="2" charset="77"/>
                <a:cs typeface="Arial"/>
              </a:rPr>
              <a:t>in.</a:t>
            </a:r>
            <a:endParaRPr lang="en-US" sz="1600" b="1" spc="-25" dirty="0">
              <a:solidFill>
                <a:srgbClr val="FF9088"/>
              </a:solidFill>
              <a:latin typeface="DM Sans 14pt" pitchFamily="2" charset="77"/>
              <a:cs typeface="Arial"/>
            </a:endParaRPr>
          </a:p>
          <a:p>
            <a:pPr marL="12700" marR="901700">
              <a:lnSpc>
                <a:spcPct val="72900"/>
              </a:lnSpc>
              <a:spcBef>
                <a:spcPts val="1400"/>
              </a:spcBef>
            </a:pPr>
            <a:r>
              <a:rPr sz="1600" dirty="0">
                <a:solidFill>
                  <a:srgbClr val="FFFFFF"/>
                </a:solidFill>
                <a:latin typeface="DM Sans 14pt" pitchFamily="2" charset="77"/>
                <a:cs typeface="Arial"/>
              </a:rPr>
              <a:t>Our</a:t>
            </a:r>
            <a:r>
              <a:rPr sz="1600" spc="195" dirty="0">
                <a:solidFill>
                  <a:srgbClr val="FFFFFF"/>
                </a:solidFill>
                <a:latin typeface="DM Sans 14pt" pitchFamily="2" charset="77"/>
                <a:cs typeface="Arial"/>
              </a:rPr>
              <a:t> </a:t>
            </a:r>
            <a:r>
              <a:rPr sz="1600" dirty="0">
                <a:solidFill>
                  <a:srgbClr val="FFFFFF"/>
                </a:solidFill>
                <a:latin typeface="DM Sans 14pt" pitchFamily="2" charset="77"/>
                <a:cs typeface="Arial"/>
              </a:rPr>
              <a:t>approach</a:t>
            </a:r>
            <a:r>
              <a:rPr sz="1600" spc="195" dirty="0">
                <a:solidFill>
                  <a:srgbClr val="FFFFFF"/>
                </a:solidFill>
                <a:latin typeface="DM Sans 14pt" pitchFamily="2" charset="77"/>
                <a:cs typeface="Arial"/>
              </a:rPr>
              <a:t> </a:t>
            </a:r>
            <a:r>
              <a:rPr sz="1600" spc="60" dirty="0">
                <a:solidFill>
                  <a:srgbClr val="FFFFFF"/>
                </a:solidFill>
                <a:latin typeface="DM Sans 14pt" pitchFamily="2" charset="77"/>
                <a:cs typeface="Arial"/>
              </a:rPr>
              <a:t>connects</a:t>
            </a:r>
            <a:r>
              <a:rPr sz="1600" spc="200" dirty="0">
                <a:solidFill>
                  <a:srgbClr val="FFFFFF"/>
                </a:solidFill>
                <a:latin typeface="DM Sans 14pt" pitchFamily="2" charset="77"/>
                <a:cs typeface="Arial"/>
              </a:rPr>
              <a:t> </a:t>
            </a:r>
            <a:r>
              <a:rPr sz="1600" dirty="0">
                <a:solidFill>
                  <a:srgbClr val="FFFFFF"/>
                </a:solidFill>
                <a:latin typeface="DM Sans 14pt" pitchFamily="2" charset="77"/>
                <a:cs typeface="Arial"/>
              </a:rPr>
              <a:t>strategy</a:t>
            </a:r>
            <a:r>
              <a:rPr sz="1600" spc="195" dirty="0">
                <a:solidFill>
                  <a:srgbClr val="FFFFFF"/>
                </a:solidFill>
                <a:latin typeface="DM Sans 14pt" pitchFamily="2" charset="77"/>
                <a:cs typeface="Arial"/>
              </a:rPr>
              <a:t> </a:t>
            </a:r>
            <a:r>
              <a:rPr sz="1600" spc="55" dirty="0">
                <a:solidFill>
                  <a:srgbClr val="FFFFFF"/>
                </a:solidFill>
                <a:latin typeface="DM Sans 14pt" pitchFamily="2" charset="77"/>
                <a:cs typeface="Arial"/>
              </a:rPr>
              <a:t>with </a:t>
            </a:r>
            <a:r>
              <a:rPr sz="1600" dirty="0">
                <a:solidFill>
                  <a:srgbClr val="FFFFFF"/>
                </a:solidFill>
                <a:latin typeface="DM Sans 14pt" pitchFamily="2" charset="77"/>
                <a:cs typeface="Arial"/>
              </a:rPr>
              <a:t>execution,</a:t>
            </a:r>
            <a:r>
              <a:rPr sz="1600" spc="85" dirty="0">
                <a:solidFill>
                  <a:srgbClr val="FFFFFF"/>
                </a:solidFill>
                <a:latin typeface="DM Sans 14pt" pitchFamily="2" charset="77"/>
                <a:cs typeface="Arial"/>
              </a:rPr>
              <a:t> </a:t>
            </a:r>
            <a:r>
              <a:rPr sz="1600" dirty="0">
                <a:solidFill>
                  <a:srgbClr val="FFFFFF"/>
                </a:solidFill>
                <a:latin typeface="DM Sans 14pt" pitchFamily="2" charset="77"/>
                <a:cs typeface="Arial"/>
              </a:rPr>
              <a:t>making</a:t>
            </a:r>
            <a:r>
              <a:rPr sz="1600" spc="90" dirty="0">
                <a:solidFill>
                  <a:srgbClr val="FFFFFF"/>
                </a:solidFill>
                <a:latin typeface="DM Sans 14pt" pitchFamily="2" charset="77"/>
                <a:cs typeface="Arial"/>
              </a:rPr>
              <a:t> </a:t>
            </a:r>
            <a:r>
              <a:rPr sz="1600" spc="100" dirty="0">
                <a:solidFill>
                  <a:srgbClr val="FFFFFF"/>
                </a:solidFill>
                <a:latin typeface="DM Sans 14pt" pitchFamily="2" charset="77"/>
                <a:cs typeface="Arial"/>
              </a:rPr>
              <a:t>it</a:t>
            </a:r>
            <a:r>
              <a:rPr sz="1600" spc="90" dirty="0">
                <a:solidFill>
                  <a:srgbClr val="FFFFFF"/>
                </a:solidFill>
                <a:latin typeface="DM Sans 14pt" pitchFamily="2" charset="77"/>
                <a:cs typeface="Arial"/>
              </a:rPr>
              <a:t> </a:t>
            </a:r>
            <a:r>
              <a:rPr sz="1600" spc="-10" dirty="0">
                <a:solidFill>
                  <a:srgbClr val="FFFFFF"/>
                </a:solidFill>
                <a:latin typeface="DM Sans 14pt" pitchFamily="2" charset="77"/>
                <a:cs typeface="Arial"/>
              </a:rPr>
              <a:t>straightforward.</a:t>
            </a:r>
            <a:endParaRPr lang="en-US" sz="1600" spc="-10" dirty="0">
              <a:solidFill>
                <a:srgbClr val="FFFFFF"/>
              </a:solidFill>
              <a:latin typeface="DM Sans 14pt" pitchFamily="2" charset="77"/>
              <a:cs typeface="Arial"/>
            </a:endParaRPr>
          </a:p>
          <a:p>
            <a:pPr marL="12700" marR="901700">
              <a:lnSpc>
                <a:spcPct val="72900"/>
              </a:lnSpc>
              <a:spcBef>
                <a:spcPts val="1400"/>
              </a:spcBef>
            </a:pPr>
            <a:endParaRPr sz="1600" dirty="0">
              <a:latin typeface="DM Sans 14pt" pitchFamily="2" charset="77"/>
              <a:cs typeface="Arial"/>
            </a:endParaRPr>
          </a:p>
          <a:p>
            <a:pPr marL="12700">
              <a:lnSpc>
                <a:spcPts val="1660"/>
              </a:lnSpc>
              <a:spcBef>
                <a:spcPts val="880"/>
              </a:spcBef>
            </a:pPr>
            <a:r>
              <a:rPr sz="1600" dirty="0">
                <a:solidFill>
                  <a:srgbClr val="FFFFFF"/>
                </a:solidFill>
                <a:latin typeface="DM Sans 14pt" pitchFamily="2" charset="77"/>
                <a:cs typeface="Arial"/>
              </a:rPr>
              <a:t>We</a:t>
            </a:r>
            <a:r>
              <a:rPr sz="1600" spc="40" dirty="0">
                <a:solidFill>
                  <a:srgbClr val="FFFFFF"/>
                </a:solidFill>
                <a:latin typeface="DM Sans 14pt" pitchFamily="2" charset="77"/>
                <a:cs typeface="Arial"/>
              </a:rPr>
              <a:t> </a:t>
            </a:r>
            <a:r>
              <a:rPr sz="1600" dirty="0">
                <a:solidFill>
                  <a:srgbClr val="FFFFFF"/>
                </a:solidFill>
                <a:latin typeface="DM Sans 14pt" pitchFamily="2" charset="77"/>
                <a:cs typeface="Arial"/>
              </a:rPr>
              <a:t>use</a:t>
            </a:r>
            <a:r>
              <a:rPr sz="1600" spc="45" dirty="0">
                <a:solidFill>
                  <a:srgbClr val="FFFFFF"/>
                </a:solidFill>
                <a:latin typeface="DM Sans 14pt" pitchFamily="2" charset="77"/>
                <a:cs typeface="Arial"/>
              </a:rPr>
              <a:t> </a:t>
            </a:r>
            <a:r>
              <a:rPr lang="en-US" sz="1600" spc="45" dirty="0">
                <a:solidFill>
                  <a:srgbClr val="FF9088"/>
                </a:solidFill>
                <a:latin typeface="DM Sans 14pt" pitchFamily="2" charset="77"/>
                <a:cs typeface="Arial"/>
              </a:rPr>
              <a:t>AI </a:t>
            </a:r>
            <a:r>
              <a:rPr sz="1600" spc="70" dirty="0">
                <a:solidFill>
                  <a:srgbClr val="FF9088"/>
                </a:solidFill>
                <a:latin typeface="DM Sans 14pt" pitchFamily="2" charset="77"/>
                <a:cs typeface="Arial"/>
              </a:rPr>
              <a:t>data-</a:t>
            </a:r>
            <a:r>
              <a:rPr sz="1600" spc="65" dirty="0">
                <a:solidFill>
                  <a:srgbClr val="FF9088"/>
                </a:solidFill>
                <a:latin typeface="DM Sans 14pt" pitchFamily="2" charset="77"/>
                <a:cs typeface="Arial"/>
              </a:rPr>
              <a:t>driven</a:t>
            </a:r>
            <a:r>
              <a:rPr sz="1600" spc="45" dirty="0">
                <a:solidFill>
                  <a:srgbClr val="FF9088"/>
                </a:solidFill>
                <a:latin typeface="DM Sans 14pt" pitchFamily="2" charset="77"/>
                <a:cs typeface="Arial"/>
              </a:rPr>
              <a:t> </a:t>
            </a:r>
            <a:r>
              <a:rPr sz="1600" dirty="0">
                <a:solidFill>
                  <a:srgbClr val="FF9088"/>
                </a:solidFill>
                <a:latin typeface="DM Sans 14pt" pitchFamily="2" charset="77"/>
                <a:cs typeface="Arial"/>
              </a:rPr>
              <a:t>insights</a:t>
            </a:r>
            <a:r>
              <a:rPr sz="1600" spc="45" dirty="0">
                <a:solidFill>
                  <a:srgbClr val="FF9088"/>
                </a:solidFill>
                <a:latin typeface="DM Sans 14pt" pitchFamily="2" charset="77"/>
                <a:cs typeface="Arial"/>
              </a:rPr>
              <a:t> </a:t>
            </a:r>
            <a:r>
              <a:rPr sz="1600" spc="100" dirty="0">
                <a:solidFill>
                  <a:srgbClr val="FFFFFF"/>
                </a:solidFill>
                <a:latin typeface="DM Sans 14pt" pitchFamily="2" charset="77"/>
                <a:cs typeface="Arial"/>
              </a:rPr>
              <a:t>to</a:t>
            </a:r>
            <a:r>
              <a:rPr sz="1600" spc="45" dirty="0">
                <a:solidFill>
                  <a:srgbClr val="FFFFFF"/>
                </a:solidFill>
                <a:latin typeface="DM Sans 14pt" pitchFamily="2" charset="77"/>
                <a:cs typeface="Arial"/>
              </a:rPr>
              <a:t> </a:t>
            </a:r>
            <a:r>
              <a:rPr sz="1600" spc="40" dirty="0">
                <a:solidFill>
                  <a:srgbClr val="FFFFFF"/>
                </a:solidFill>
                <a:latin typeface="DM Sans 14pt" pitchFamily="2" charset="77"/>
                <a:cs typeface="Arial"/>
              </a:rPr>
              <a:t>facilitate</a:t>
            </a:r>
            <a:endParaRPr sz="1600" dirty="0">
              <a:latin typeface="DM Sans 14pt" pitchFamily="2" charset="77"/>
              <a:cs typeface="Arial"/>
            </a:endParaRPr>
          </a:p>
          <a:p>
            <a:pPr marL="12700">
              <a:lnSpc>
                <a:spcPts val="1400"/>
              </a:lnSpc>
            </a:pPr>
            <a:r>
              <a:rPr sz="1600" dirty="0">
                <a:solidFill>
                  <a:srgbClr val="FFFFFF"/>
                </a:solidFill>
                <a:latin typeface="DM Sans 14pt" pitchFamily="2" charset="77"/>
                <a:cs typeface="Arial"/>
              </a:rPr>
              <a:t>decisions</a:t>
            </a:r>
            <a:r>
              <a:rPr sz="1600" spc="155" dirty="0">
                <a:solidFill>
                  <a:srgbClr val="FFFFFF"/>
                </a:solidFill>
                <a:latin typeface="DM Sans 14pt" pitchFamily="2" charset="77"/>
                <a:cs typeface="Arial"/>
              </a:rPr>
              <a:t> </a:t>
            </a:r>
            <a:r>
              <a:rPr sz="1600" dirty="0">
                <a:solidFill>
                  <a:srgbClr val="FFFFFF"/>
                </a:solidFill>
                <a:latin typeface="DM Sans 14pt" pitchFamily="2" charset="77"/>
                <a:cs typeface="Arial"/>
              </a:rPr>
              <a:t>and</a:t>
            </a:r>
            <a:r>
              <a:rPr sz="1600" spc="155" dirty="0">
                <a:solidFill>
                  <a:srgbClr val="FFFFFF"/>
                </a:solidFill>
                <a:latin typeface="DM Sans 14pt" pitchFamily="2" charset="77"/>
                <a:cs typeface="Arial"/>
              </a:rPr>
              <a:t> </a:t>
            </a:r>
            <a:r>
              <a:rPr sz="1600" spc="60" dirty="0">
                <a:solidFill>
                  <a:srgbClr val="FFFFFF"/>
                </a:solidFill>
                <a:latin typeface="DM Sans 14pt" pitchFamily="2" charset="77"/>
                <a:cs typeface="Arial"/>
              </a:rPr>
              <a:t>promote</a:t>
            </a:r>
            <a:r>
              <a:rPr sz="1600" spc="155" dirty="0">
                <a:solidFill>
                  <a:srgbClr val="FFFFFF"/>
                </a:solidFill>
                <a:latin typeface="DM Sans 14pt" pitchFamily="2" charset="77"/>
                <a:cs typeface="Arial"/>
              </a:rPr>
              <a:t> </a:t>
            </a:r>
            <a:r>
              <a:rPr sz="1600" spc="40" dirty="0">
                <a:solidFill>
                  <a:srgbClr val="FFFFFF"/>
                </a:solidFill>
                <a:latin typeface="DM Sans 14pt" pitchFamily="2" charset="77"/>
                <a:cs typeface="Arial"/>
              </a:rPr>
              <a:t>continuous</a:t>
            </a:r>
            <a:endParaRPr sz="1600" dirty="0">
              <a:latin typeface="DM Sans 14pt" pitchFamily="2" charset="77"/>
              <a:cs typeface="Arial"/>
            </a:endParaRPr>
          </a:p>
          <a:p>
            <a:pPr marL="12700" marR="5080">
              <a:lnSpc>
                <a:spcPct val="72900"/>
              </a:lnSpc>
              <a:spcBef>
                <a:spcPts val="260"/>
              </a:spcBef>
            </a:pPr>
            <a:r>
              <a:rPr sz="1600" spc="50" dirty="0">
                <a:solidFill>
                  <a:srgbClr val="FFFFFF"/>
                </a:solidFill>
                <a:latin typeface="DM Sans 14pt" pitchFamily="2" charset="77"/>
                <a:cs typeface="Arial"/>
              </a:rPr>
              <a:t>improvement</a:t>
            </a:r>
            <a:r>
              <a:rPr sz="1600" spc="85" dirty="0">
                <a:solidFill>
                  <a:srgbClr val="FFFFFF"/>
                </a:solidFill>
                <a:latin typeface="DM Sans 14pt" pitchFamily="2" charset="77"/>
                <a:cs typeface="Arial"/>
              </a:rPr>
              <a:t> </a:t>
            </a:r>
            <a:r>
              <a:rPr sz="1600" dirty="0">
                <a:solidFill>
                  <a:srgbClr val="FFFFFF"/>
                </a:solidFill>
                <a:latin typeface="DM Sans 14pt" pitchFamily="2" charset="77"/>
                <a:cs typeface="Arial"/>
              </a:rPr>
              <a:t>and</a:t>
            </a:r>
            <a:r>
              <a:rPr sz="1600" spc="90" dirty="0">
                <a:solidFill>
                  <a:srgbClr val="FFFFFF"/>
                </a:solidFill>
                <a:latin typeface="DM Sans 14pt" pitchFamily="2" charset="77"/>
                <a:cs typeface="Arial"/>
              </a:rPr>
              <a:t> </a:t>
            </a:r>
            <a:r>
              <a:rPr sz="1600" dirty="0">
                <a:solidFill>
                  <a:srgbClr val="FFFFFF"/>
                </a:solidFill>
                <a:latin typeface="DM Sans 14pt" pitchFamily="2" charset="77"/>
                <a:cs typeface="Arial"/>
              </a:rPr>
              <a:t>agility,</a:t>
            </a:r>
            <a:r>
              <a:rPr sz="1600" spc="90" dirty="0">
                <a:solidFill>
                  <a:srgbClr val="FFFFFF"/>
                </a:solidFill>
                <a:latin typeface="DM Sans 14pt" pitchFamily="2" charset="77"/>
                <a:cs typeface="Arial"/>
              </a:rPr>
              <a:t> </a:t>
            </a:r>
            <a:r>
              <a:rPr sz="1600" dirty="0">
                <a:solidFill>
                  <a:srgbClr val="FFFFFF"/>
                </a:solidFill>
                <a:latin typeface="DM Sans 14pt" pitchFamily="2" charset="77"/>
                <a:cs typeface="Arial"/>
              </a:rPr>
              <a:t>giving</a:t>
            </a:r>
            <a:r>
              <a:rPr sz="1600" spc="85" dirty="0">
                <a:solidFill>
                  <a:srgbClr val="FFFFFF"/>
                </a:solidFill>
                <a:latin typeface="DM Sans 14pt" pitchFamily="2" charset="77"/>
                <a:cs typeface="Arial"/>
              </a:rPr>
              <a:t> </a:t>
            </a:r>
            <a:r>
              <a:rPr sz="1600" dirty="0">
                <a:solidFill>
                  <a:srgbClr val="FFFFFF"/>
                </a:solidFill>
                <a:latin typeface="DM Sans 14pt" pitchFamily="2" charset="77"/>
                <a:cs typeface="Arial"/>
              </a:rPr>
              <a:t>your</a:t>
            </a:r>
            <a:r>
              <a:rPr sz="1600" spc="90" dirty="0">
                <a:solidFill>
                  <a:srgbClr val="FFFFFF"/>
                </a:solidFill>
                <a:latin typeface="DM Sans 14pt" pitchFamily="2" charset="77"/>
                <a:cs typeface="Arial"/>
              </a:rPr>
              <a:t> </a:t>
            </a:r>
            <a:r>
              <a:rPr sz="1600" dirty="0">
                <a:solidFill>
                  <a:srgbClr val="FFFFFF"/>
                </a:solidFill>
                <a:latin typeface="DM Sans 14pt" pitchFamily="2" charset="77"/>
                <a:cs typeface="Arial"/>
              </a:rPr>
              <a:t>business</a:t>
            </a:r>
            <a:r>
              <a:rPr sz="1600" spc="90" dirty="0">
                <a:solidFill>
                  <a:srgbClr val="FFFFFF"/>
                </a:solidFill>
                <a:latin typeface="DM Sans 14pt" pitchFamily="2" charset="77"/>
                <a:cs typeface="Arial"/>
              </a:rPr>
              <a:t> </a:t>
            </a:r>
            <a:endParaRPr lang="en-US" sz="1600" spc="90" dirty="0">
              <a:solidFill>
                <a:srgbClr val="FFFFFF"/>
              </a:solidFill>
              <a:latin typeface="DM Sans 14pt" pitchFamily="2" charset="77"/>
              <a:cs typeface="Arial"/>
            </a:endParaRPr>
          </a:p>
          <a:p>
            <a:pPr marL="12700" marR="5080">
              <a:lnSpc>
                <a:spcPct val="72900"/>
              </a:lnSpc>
              <a:spcBef>
                <a:spcPts val="260"/>
              </a:spcBef>
            </a:pPr>
            <a:r>
              <a:rPr sz="1600" spc="-50" dirty="0">
                <a:solidFill>
                  <a:srgbClr val="FFFFFF"/>
                </a:solidFill>
                <a:latin typeface="DM Sans 14pt" pitchFamily="2" charset="77"/>
                <a:cs typeface="Arial"/>
              </a:rPr>
              <a:t>a </a:t>
            </a:r>
            <a:r>
              <a:rPr sz="1600" spc="70" dirty="0">
                <a:solidFill>
                  <a:srgbClr val="FFFFFF"/>
                </a:solidFill>
                <a:latin typeface="DM Sans 14pt" pitchFamily="2" charset="77"/>
                <a:cs typeface="Arial"/>
              </a:rPr>
              <a:t>competitive</a:t>
            </a:r>
            <a:r>
              <a:rPr sz="1600" spc="-5" dirty="0">
                <a:solidFill>
                  <a:srgbClr val="FFFFFF"/>
                </a:solidFill>
                <a:latin typeface="DM Sans 14pt" pitchFamily="2" charset="77"/>
                <a:cs typeface="Arial"/>
              </a:rPr>
              <a:t> </a:t>
            </a:r>
            <a:r>
              <a:rPr sz="1600" spc="-10" dirty="0">
                <a:solidFill>
                  <a:srgbClr val="FFFFFF"/>
                </a:solidFill>
                <a:latin typeface="DM Sans 14pt" pitchFamily="2" charset="77"/>
                <a:cs typeface="Arial"/>
              </a:rPr>
              <a:t>edge.</a:t>
            </a:r>
            <a:endParaRPr sz="1600" dirty="0">
              <a:latin typeface="DM Sans 14pt" pitchFamily="2" charset="77"/>
              <a:cs typeface="Arial"/>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Rectangle 9"/>
          <p:cNvSpPr/>
          <p:nvPr/>
        </p:nvSpPr>
        <p:spPr>
          <a:xfrm>
            <a:off x="5704113" y="390523"/>
            <a:ext cx="6097363" cy="6076953"/>
          </a:xfrm>
          <a:prstGeom prst="rect">
            <a:avLst/>
          </a:prstGeom>
          <a:solidFill>
            <a:srgbClr val="EEEBEB"/>
          </a:solidFill>
          <a:ln w="12700">
            <a:miter lim="400000"/>
          </a:ln>
        </p:spPr>
        <p:txBody>
          <a:bodyPr lIns="45719" rIns="45719" anchor="ctr"/>
          <a:lstStyle/>
          <a:p>
            <a:pPr algn="ctr" defTabSz="914400">
              <a:defRPr>
                <a:solidFill>
                  <a:srgbClr val="FFFFFF"/>
                </a:solidFill>
              </a:defRPr>
            </a:pPr>
            <a:endParaRPr dirty="0"/>
          </a:p>
        </p:txBody>
      </p:sp>
      <p:sp>
        <p:nvSpPr>
          <p:cNvPr id="417" name="Straight Connector 4"/>
          <p:cNvSpPr/>
          <p:nvPr/>
        </p:nvSpPr>
        <p:spPr>
          <a:xfrm>
            <a:off x="0" y="2941580"/>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sp>
        <p:nvSpPr>
          <p:cNvPr id="418" name="TextBox 5"/>
          <p:cNvSpPr txBox="1"/>
          <p:nvPr/>
        </p:nvSpPr>
        <p:spPr>
          <a:xfrm>
            <a:off x="1511662" y="2677247"/>
            <a:ext cx="2480411" cy="1015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defTabSz="914400">
              <a:lnSpc>
                <a:spcPts val="3600"/>
              </a:lnSpc>
              <a:defRPr sz="3500" b="1">
                <a:solidFill>
                  <a:srgbClr val="404040"/>
                </a:solidFill>
                <a:latin typeface="Graphik Bold"/>
                <a:ea typeface="Graphik Bold"/>
                <a:cs typeface="Graphik Bold"/>
                <a:sym typeface="Graphik"/>
              </a:defRPr>
            </a:pPr>
            <a:r>
              <a:rPr lang="en-US" dirty="0"/>
              <a:t>the ignite solution</a:t>
            </a:r>
            <a:endParaRPr dirty="0"/>
          </a:p>
        </p:txBody>
      </p:sp>
      <p:sp>
        <p:nvSpPr>
          <p:cNvPr id="419" name="Rectangle 6"/>
          <p:cNvSpPr txBox="1"/>
          <p:nvPr/>
        </p:nvSpPr>
        <p:spPr>
          <a:xfrm>
            <a:off x="1511663" y="3836899"/>
            <a:ext cx="3421017" cy="16344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914400">
              <a:lnSpc>
                <a:spcPts val="1500"/>
              </a:lnSpc>
              <a:defRPr sz="1400">
                <a:solidFill>
                  <a:srgbClr val="595959"/>
                </a:solidFill>
                <a:latin typeface="DM Sans Regular"/>
                <a:ea typeface="DM Sans Regular"/>
                <a:cs typeface="DM Sans Regular"/>
                <a:sym typeface="DM Sans Regular"/>
              </a:defRPr>
            </a:pPr>
            <a:r>
              <a:rPr lang="en-US" dirty="0">
                <a:effectLst/>
              </a:rPr>
              <a:t>Ignite is a solution that transforms organizations' data management and analysis. </a:t>
            </a:r>
          </a:p>
          <a:p>
            <a:pPr defTabSz="914400">
              <a:lnSpc>
                <a:spcPts val="1500"/>
              </a:lnSpc>
              <a:defRPr sz="1400">
                <a:solidFill>
                  <a:srgbClr val="595959"/>
                </a:solidFill>
                <a:latin typeface="DM Sans Regular"/>
                <a:ea typeface="DM Sans Regular"/>
                <a:cs typeface="DM Sans Regular"/>
                <a:sym typeface="DM Sans Regular"/>
              </a:defRPr>
            </a:pPr>
            <a:endParaRPr lang="en-US" dirty="0"/>
          </a:p>
          <a:p>
            <a:pPr defTabSz="914400">
              <a:lnSpc>
                <a:spcPts val="1500"/>
              </a:lnSpc>
              <a:defRPr sz="1400">
                <a:solidFill>
                  <a:srgbClr val="595959"/>
                </a:solidFill>
                <a:latin typeface="DM Sans Regular"/>
                <a:ea typeface="DM Sans Regular"/>
                <a:cs typeface="DM Sans Regular"/>
                <a:sym typeface="DM Sans Regular"/>
              </a:defRPr>
            </a:pPr>
            <a:r>
              <a:rPr lang="en-US" dirty="0">
                <a:effectLst/>
              </a:rPr>
              <a:t>By consolidating information into one source of truth, Ignite offers teams actionable insights beyond basic analysis. </a:t>
            </a:r>
          </a:p>
        </p:txBody>
      </p:sp>
      <p:sp>
        <p:nvSpPr>
          <p:cNvPr id="420" name="Rectangle 8"/>
          <p:cNvSpPr txBox="1"/>
          <p:nvPr/>
        </p:nvSpPr>
        <p:spPr>
          <a:xfrm>
            <a:off x="7118384" y="1169669"/>
            <a:ext cx="3865259" cy="4582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914400">
              <a:lnSpc>
                <a:spcPct val="120000"/>
              </a:lnSpc>
              <a:defRPr sz="1600">
                <a:solidFill>
                  <a:srgbClr val="000000"/>
                </a:solidFill>
                <a:latin typeface="DM Sans Bold"/>
                <a:ea typeface="DM Sans Bold"/>
                <a:cs typeface="DM Sans Bold"/>
                <a:sym typeface="DM Sans Bold"/>
              </a:defRPr>
            </a:pPr>
            <a:r>
              <a:rPr lang="en-US" dirty="0"/>
              <a:t>Comprehensive BI</a:t>
            </a:r>
            <a:r>
              <a:rPr dirty="0"/>
              <a:t>:</a:t>
            </a:r>
            <a:r>
              <a:rPr dirty="0">
                <a:latin typeface="DM Sans Regular"/>
                <a:ea typeface="DM Sans Regular"/>
                <a:cs typeface="DM Sans Regular"/>
                <a:sym typeface="DM Sans Regular"/>
              </a:rPr>
              <a:t> </a:t>
            </a:r>
            <a:r>
              <a:rPr lang="en-US" dirty="0">
                <a:effectLst/>
                <a:latin typeface="DM Sans 14pt" pitchFamily="2" charset="77"/>
              </a:rPr>
              <a:t>consolidates data into a single source of truth</a:t>
            </a:r>
            <a:r>
              <a:rPr dirty="0">
                <a:latin typeface="DM Sans 14pt" pitchFamily="2" charset="77"/>
                <a:ea typeface="DM Sans Regular"/>
                <a:cs typeface="DM Sans Regular"/>
                <a:sym typeface="DM Sans Regular"/>
              </a:rPr>
              <a:t>.</a:t>
            </a:r>
          </a:p>
          <a:p>
            <a:pPr defTabSz="914400">
              <a:lnSpc>
                <a:spcPct val="120000"/>
              </a:lnSpc>
              <a:defRPr sz="1600">
                <a:solidFill>
                  <a:srgbClr val="000000"/>
                </a:solidFill>
                <a:latin typeface="DM Sans Bold"/>
                <a:ea typeface="DM Sans Bold"/>
                <a:cs typeface="DM Sans Bold"/>
                <a:sym typeface="DM Sans Bold"/>
              </a:defRPr>
            </a:pPr>
            <a:endParaRPr sz="2100" dirty="0">
              <a:latin typeface="DM Sans Regular"/>
              <a:ea typeface="DM Sans Regular"/>
              <a:cs typeface="DM Sans Regular"/>
              <a:sym typeface="DM Sans Regular"/>
            </a:endParaRPr>
          </a:p>
          <a:p>
            <a:pPr defTabSz="914400">
              <a:lnSpc>
                <a:spcPct val="120000"/>
              </a:lnSpc>
              <a:defRPr sz="1600">
                <a:solidFill>
                  <a:srgbClr val="000000"/>
                </a:solidFill>
                <a:latin typeface="DM Sans Bold"/>
                <a:ea typeface="DM Sans Bold"/>
                <a:cs typeface="DM Sans Bold"/>
                <a:sym typeface="DM Sans Bold"/>
              </a:defRPr>
            </a:pPr>
            <a:r>
              <a:rPr lang="en-US" dirty="0"/>
              <a:t>Actionable insights</a:t>
            </a:r>
            <a:r>
              <a:rPr dirty="0"/>
              <a:t>:</a:t>
            </a:r>
            <a:r>
              <a:rPr dirty="0">
                <a:latin typeface="DM Sans Regular"/>
                <a:ea typeface="DM Sans Regular"/>
                <a:cs typeface="DM Sans Regular"/>
                <a:sym typeface="DM Sans Regular"/>
              </a:rPr>
              <a:t> </a:t>
            </a:r>
            <a:r>
              <a:rPr lang="en-US" dirty="0">
                <a:effectLst/>
                <a:latin typeface="DM Sans 14pt" pitchFamily="2" charset="77"/>
              </a:rPr>
              <a:t>that exceed basic data analysis.</a:t>
            </a:r>
            <a:endParaRPr dirty="0">
              <a:latin typeface="DM Sans 14pt" pitchFamily="2" charset="77"/>
              <a:ea typeface="DM Sans Regular"/>
              <a:cs typeface="DM Sans Regular"/>
              <a:sym typeface="DM Sans Regular"/>
            </a:endParaRPr>
          </a:p>
          <a:p>
            <a:pPr defTabSz="914400">
              <a:lnSpc>
                <a:spcPct val="120000"/>
              </a:lnSpc>
              <a:defRPr sz="1600">
                <a:solidFill>
                  <a:srgbClr val="000000"/>
                </a:solidFill>
                <a:latin typeface="DM Sans Bold"/>
                <a:ea typeface="DM Sans Bold"/>
                <a:cs typeface="DM Sans Bold"/>
                <a:sym typeface="DM Sans Bold"/>
              </a:defRPr>
            </a:pPr>
            <a:endParaRPr sz="2100" dirty="0">
              <a:latin typeface="DM Sans Regular"/>
              <a:ea typeface="DM Sans Regular"/>
              <a:cs typeface="DM Sans Regular"/>
              <a:sym typeface="DM Sans Regular"/>
            </a:endParaRPr>
          </a:p>
          <a:p>
            <a:pPr defTabSz="914400">
              <a:lnSpc>
                <a:spcPct val="120000"/>
              </a:lnSpc>
              <a:defRPr sz="1600">
                <a:solidFill>
                  <a:srgbClr val="000000"/>
                </a:solidFill>
                <a:latin typeface="DM Sans Bold"/>
                <a:ea typeface="DM Sans Bold"/>
                <a:cs typeface="DM Sans Bold"/>
                <a:sym typeface="DM Sans Bold"/>
              </a:defRPr>
            </a:pPr>
            <a:r>
              <a:rPr lang="en-US" dirty="0"/>
              <a:t>Detailed playbook</a:t>
            </a:r>
            <a:r>
              <a:rPr dirty="0"/>
              <a:t>:</a:t>
            </a:r>
            <a:r>
              <a:rPr dirty="0">
                <a:latin typeface="DM Sans Regular"/>
                <a:ea typeface="DM Sans Regular"/>
                <a:cs typeface="DM Sans Regular"/>
                <a:sym typeface="DM Sans Regular"/>
              </a:rPr>
              <a:t> </a:t>
            </a:r>
            <a:r>
              <a:rPr lang="en-US" dirty="0">
                <a:latin typeface="DM Sans Regular"/>
                <a:ea typeface="DM Sans Regular"/>
                <a:cs typeface="DM Sans Regular"/>
                <a:sym typeface="DM Sans Regular"/>
              </a:rPr>
              <a:t>facilitates strategy execution and operational excellence</a:t>
            </a:r>
            <a:r>
              <a:rPr dirty="0">
                <a:latin typeface="DM Sans Regular"/>
                <a:ea typeface="DM Sans Regular"/>
                <a:cs typeface="DM Sans Regular"/>
                <a:sym typeface="DM Sans Regular"/>
              </a:rPr>
              <a:t>.</a:t>
            </a:r>
          </a:p>
          <a:p>
            <a:pPr defTabSz="914400">
              <a:lnSpc>
                <a:spcPct val="120000"/>
              </a:lnSpc>
              <a:defRPr sz="1600">
                <a:solidFill>
                  <a:srgbClr val="000000"/>
                </a:solidFill>
                <a:latin typeface="DM Sans Bold"/>
                <a:ea typeface="DM Sans Bold"/>
                <a:cs typeface="DM Sans Bold"/>
                <a:sym typeface="DM Sans Bold"/>
              </a:defRPr>
            </a:pPr>
            <a:endParaRPr sz="2100" dirty="0">
              <a:latin typeface="DM Sans Regular"/>
              <a:ea typeface="DM Sans Regular"/>
              <a:cs typeface="DM Sans Regular"/>
              <a:sym typeface="DM Sans Regular"/>
            </a:endParaRPr>
          </a:p>
          <a:p>
            <a:pPr defTabSz="914400">
              <a:lnSpc>
                <a:spcPct val="120000"/>
              </a:lnSpc>
              <a:defRPr sz="1600">
                <a:solidFill>
                  <a:srgbClr val="000000"/>
                </a:solidFill>
                <a:latin typeface="DM Sans Bold"/>
                <a:ea typeface="DM Sans Bold"/>
                <a:cs typeface="DM Sans Bold"/>
                <a:sym typeface="DM Sans Bold"/>
              </a:defRPr>
            </a:pPr>
            <a:r>
              <a:rPr lang="en-US" dirty="0"/>
              <a:t>AI &amp; predictive analytics</a:t>
            </a:r>
            <a:r>
              <a:rPr dirty="0"/>
              <a:t>:</a:t>
            </a:r>
            <a:r>
              <a:rPr dirty="0">
                <a:latin typeface="DM Sans Regular"/>
                <a:ea typeface="DM Sans Regular"/>
                <a:cs typeface="DM Sans Regular"/>
                <a:sym typeface="DM Sans Regular"/>
              </a:rPr>
              <a:t> </a:t>
            </a:r>
            <a:r>
              <a:rPr lang="en-US" dirty="0">
                <a:latin typeface="DM Sans Regular"/>
                <a:ea typeface="DM Sans Regular"/>
                <a:cs typeface="DM Sans Regular"/>
                <a:sym typeface="DM Sans Regular"/>
              </a:rPr>
              <a:t>for better-informed </a:t>
            </a:r>
            <a:r>
              <a:rPr dirty="0">
                <a:latin typeface="DM Sans Regular"/>
                <a:ea typeface="DM Sans Regular"/>
                <a:cs typeface="DM Sans Regular"/>
                <a:sym typeface="DM Sans Regular"/>
              </a:rPr>
              <a:t>decision-making.</a:t>
            </a:r>
          </a:p>
          <a:p>
            <a:pPr defTabSz="914400">
              <a:lnSpc>
                <a:spcPct val="120000"/>
              </a:lnSpc>
              <a:defRPr sz="1600">
                <a:solidFill>
                  <a:srgbClr val="000000"/>
                </a:solidFill>
                <a:latin typeface="DM Sans Bold"/>
                <a:ea typeface="DM Sans Bold"/>
                <a:cs typeface="DM Sans Bold"/>
                <a:sym typeface="DM Sans Bold"/>
              </a:defRPr>
            </a:pPr>
            <a:endParaRPr sz="2100" dirty="0">
              <a:latin typeface="DM Sans Regular"/>
              <a:ea typeface="DM Sans Regular"/>
              <a:cs typeface="DM Sans Regular"/>
              <a:sym typeface="DM Sans Regular"/>
            </a:endParaRPr>
          </a:p>
          <a:p>
            <a:pPr defTabSz="914400">
              <a:lnSpc>
                <a:spcPct val="120000"/>
              </a:lnSpc>
              <a:defRPr sz="1600">
                <a:solidFill>
                  <a:srgbClr val="000000"/>
                </a:solidFill>
                <a:latin typeface="DM Sans Bold"/>
                <a:ea typeface="DM Sans Bold"/>
                <a:cs typeface="DM Sans Bold"/>
                <a:sym typeface="DM Sans Bold"/>
              </a:defRPr>
            </a:pPr>
            <a:r>
              <a:rPr lang="en-US" dirty="0"/>
              <a:t>Targeted</a:t>
            </a:r>
            <a:r>
              <a:rPr dirty="0"/>
              <a:t>:</a:t>
            </a:r>
            <a:r>
              <a:rPr dirty="0">
                <a:latin typeface="DM Sans Regular"/>
                <a:ea typeface="DM Sans Regular"/>
                <a:cs typeface="DM Sans Regular"/>
                <a:sym typeface="DM Sans Regular"/>
              </a:rPr>
              <a:t> </a:t>
            </a:r>
            <a:r>
              <a:rPr lang="en-US" dirty="0">
                <a:latin typeface="DM Sans 14pt" pitchFamily="2" charset="77"/>
                <a:ea typeface="DM Sans Regular"/>
                <a:cs typeface="DM Sans Regular"/>
                <a:sym typeface="DM Sans Regular"/>
              </a:rPr>
              <a:t>f</a:t>
            </a:r>
            <a:r>
              <a:rPr lang="en-US" dirty="0">
                <a:effectLst/>
                <a:latin typeface="DM Sans 14pt" pitchFamily="2" charset="77"/>
              </a:rPr>
              <a:t>ocuses on valuable segments for efficient execution</a:t>
            </a:r>
            <a:r>
              <a:rPr dirty="0">
                <a:latin typeface="DM Sans 14pt" pitchFamily="2" charset="77"/>
                <a:ea typeface="DM Sans Regular"/>
                <a:cs typeface="DM Sans Regular"/>
                <a:sym typeface="DM Sans Regular"/>
              </a:rPr>
              <a:t>.</a:t>
            </a:r>
          </a:p>
        </p:txBody>
      </p:sp>
      <p:sp>
        <p:nvSpPr>
          <p:cNvPr id="421" name="Freeform 23"/>
          <p:cNvSpPr/>
          <p:nvPr/>
        </p:nvSpPr>
        <p:spPr>
          <a:xfrm>
            <a:off x="6521946" y="1374798"/>
            <a:ext cx="398104" cy="293330"/>
          </a:xfrm>
          <a:custGeom>
            <a:avLst/>
            <a:gdLst/>
            <a:ahLst/>
            <a:cxnLst>
              <a:cxn ang="0">
                <a:pos x="wd2" y="hd2"/>
              </a:cxn>
              <a:cxn ang="5400000">
                <a:pos x="wd2" y="hd2"/>
              </a:cxn>
              <a:cxn ang="10800000">
                <a:pos x="wd2" y="hd2"/>
              </a:cxn>
              <a:cxn ang="16200000">
                <a:pos x="wd2" y="hd2"/>
              </a:cxn>
            </a:cxnLst>
            <a:rect l="0" t="0" r="r" b="b"/>
            <a:pathLst>
              <a:path w="21600" h="21600" extrusionOk="0">
                <a:moveTo>
                  <a:pt x="12488" y="0"/>
                </a:moveTo>
                <a:cubicBezTo>
                  <a:pt x="13132" y="0"/>
                  <a:pt x="13659" y="663"/>
                  <a:pt x="13659" y="1537"/>
                </a:cubicBezTo>
                <a:lnTo>
                  <a:pt x="13659" y="20089"/>
                </a:lnTo>
                <a:cubicBezTo>
                  <a:pt x="13659" y="20937"/>
                  <a:pt x="13132" y="21600"/>
                  <a:pt x="12488" y="21600"/>
                </a:cubicBezTo>
                <a:lnTo>
                  <a:pt x="9073" y="21600"/>
                </a:lnTo>
                <a:cubicBezTo>
                  <a:pt x="8429" y="21600"/>
                  <a:pt x="7941" y="20937"/>
                  <a:pt x="7941" y="20089"/>
                </a:cubicBezTo>
                <a:lnTo>
                  <a:pt x="7941" y="1537"/>
                </a:lnTo>
                <a:cubicBezTo>
                  <a:pt x="7941" y="663"/>
                  <a:pt x="8429" y="0"/>
                  <a:pt x="9073" y="0"/>
                </a:cubicBezTo>
                <a:lnTo>
                  <a:pt x="12488" y="0"/>
                </a:lnTo>
                <a:close/>
                <a:moveTo>
                  <a:pt x="20488" y="0"/>
                </a:moveTo>
                <a:cubicBezTo>
                  <a:pt x="21132" y="0"/>
                  <a:pt x="21600" y="663"/>
                  <a:pt x="21600" y="1537"/>
                </a:cubicBezTo>
                <a:lnTo>
                  <a:pt x="21600" y="20089"/>
                </a:lnTo>
                <a:cubicBezTo>
                  <a:pt x="21600" y="20937"/>
                  <a:pt x="21132" y="21600"/>
                  <a:pt x="20488" y="21600"/>
                </a:cubicBezTo>
                <a:lnTo>
                  <a:pt x="17073" y="21600"/>
                </a:lnTo>
                <a:cubicBezTo>
                  <a:pt x="16429" y="21600"/>
                  <a:pt x="15902" y="20937"/>
                  <a:pt x="15902" y="20089"/>
                </a:cubicBezTo>
                <a:lnTo>
                  <a:pt x="15902" y="1537"/>
                </a:lnTo>
                <a:cubicBezTo>
                  <a:pt x="15902" y="663"/>
                  <a:pt x="16429" y="0"/>
                  <a:pt x="17073" y="0"/>
                </a:cubicBezTo>
                <a:lnTo>
                  <a:pt x="20488" y="0"/>
                </a:lnTo>
                <a:close/>
                <a:moveTo>
                  <a:pt x="4527" y="0"/>
                </a:moveTo>
                <a:cubicBezTo>
                  <a:pt x="5171" y="0"/>
                  <a:pt x="5659" y="663"/>
                  <a:pt x="5659" y="1537"/>
                </a:cubicBezTo>
                <a:lnTo>
                  <a:pt x="5659" y="20089"/>
                </a:lnTo>
                <a:cubicBezTo>
                  <a:pt x="5659" y="20937"/>
                  <a:pt x="5171" y="21600"/>
                  <a:pt x="4527" y="21600"/>
                </a:cubicBezTo>
                <a:lnTo>
                  <a:pt x="1112" y="21600"/>
                </a:lnTo>
                <a:cubicBezTo>
                  <a:pt x="488" y="21600"/>
                  <a:pt x="0" y="20937"/>
                  <a:pt x="0" y="20089"/>
                </a:cubicBezTo>
                <a:lnTo>
                  <a:pt x="0" y="1537"/>
                </a:lnTo>
                <a:cubicBezTo>
                  <a:pt x="0" y="663"/>
                  <a:pt x="488" y="0"/>
                  <a:pt x="1112" y="0"/>
                </a:cubicBezTo>
                <a:lnTo>
                  <a:pt x="4527" y="0"/>
                </a:lnTo>
                <a:close/>
              </a:path>
            </a:pathLst>
          </a:custGeom>
          <a:solidFill>
            <a:srgbClr val="462427"/>
          </a:solidFill>
          <a:ln w="12700">
            <a:miter lim="400000"/>
          </a:ln>
        </p:spPr>
        <p:txBody>
          <a:bodyPr lIns="45719" rIns="45719" anchor="ctr"/>
          <a:lstStyle/>
          <a:p>
            <a:pPr defTabSz="457200">
              <a:lnSpc>
                <a:spcPct val="93000"/>
              </a:lnSpc>
              <a:defRPr>
                <a:solidFill>
                  <a:srgbClr val="462427"/>
                </a:solidFill>
                <a:latin typeface="Arial"/>
                <a:ea typeface="Arial"/>
                <a:cs typeface="Arial"/>
                <a:sym typeface="Arial"/>
              </a:defRPr>
            </a:pPr>
            <a:endParaRPr dirty="0"/>
          </a:p>
        </p:txBody>
      </p:sp>
      <p:sp>
        <p:nvSpPr>
          <p:cNvPr id="422" name="Freeform 57"/>
          <p:cNvSpPr/>
          <p:nvPr/>
        </p:nvSpPr>
        <p:spPr>
          <a:xfrm>
            <a:off x="6509246" y="4195877"/>
            <a:ext cx="406041" cy="406040"/>
          </a:xfrm>
          <a:custGeom>
            <a:avLst/>
            <a:gdLst/>
            <a:ahLst/>
            <a:cxnLst>
              <a:cxn ang="0">
                <a:pos x="wd2" y="hd2"/>
              </a:cxn>
              <a:cxn ang="5400000">
                <a:pos x="wd2" y="hd2"/>
              </a:cxn>
              <a:cxn ang="10800000">
                <a:pos x="wd2" y="hd2"/>
              </a:cxn>
              <a:cxn ang="16200000">
                <a:pos x="wd2" y="hd2"/>
              </a:cxn>
            </a:cxnLst>
            <a:rect l="0" t="0" r="r" b="b"/>
            <a:pathLst>
              <a:path w="21600" h="21600" extrusionOk="0">
                <a:moveTo>
                  <a:pt x="15250" y="0"/>
                </a:moveTo>
                <a:lnTo>
                  <a:pt x="21600" y="6350"/>
                </a:lnTo>
                <a:lnTo>
                  <a:pt x="15250" y="12642"/>
                </a:lnTo>
                <a:lnTo>
                  <a:pt x="20142" y="12642"/>
                </a:lnTo>
                <a:lnTo>
                  <a:pt x="20142" y="21600"/>
                </a:lnTo>
                <a:lnTo>
                  <a:pt x="11164" y="21600"/>
                </a:lnTo>
                <a:lnTo>
                  <a:pt x="11164" y="12642"/>
                </a:lnTo>
                <a:lnTo>
                  <a:pt x="15250" y="12642"/>
                </a:lnTo>
                <a:lnTo>
                  <a:pt x="8958" y="6350"/>
                </a:lnTo>
                <a:lnTo>
                  <a:pt x="15250" y="0"/>
                </a:lnTo>
                <a:close/>
                <a:moveTo>
                  <a:pt x="8958" y="6350"/>
                </a:moveTo>
                <a:lnTo>
                  <a:pt x="8958" y="10436"/>
                </a:lnTo>
                <a:lnTo>
                  <a:pt x="0" y="10436"/>
                </a:lnTo>
                <a:lnTo>
                  <a:pt x="0" y="1458"/>
                </a:lnTo>
                <a:lnTo>
                  <a:pt x="8958" y="1458"/>
                </a:lnTo>
                <a:lnTo>
                  <a:pt x="8958" y="6350"/>
                </a:lnTo>
                <a:close/>
                <a:moveTo>
                  <a:pt x="0" y="21600"/>
                </a:moveTo>
                <a:lnTo>
                  <a:pt x="0" y="12642"/>
                </a:lnTo>
                <a:lnTo>
                  <a:pt x="8958" y="12642"/>
                </a:lnTo>
                <a:lnTo>
                  <a:pt x="8958" y="21600"/>
                </a:lnTo>
                <a:lnTo>
                  <a:pt x="0" y="21600"/>
                </a:lnTo>
                <a:close/>
              </a:path>
            </a:pathLst>
          </a:custGeom>
          <a:solidFill>
            <a:srgbClr val="462427"/>
          </a:solidFill>
          <a:ln w="12700">
            <a:miter lim="400000"/>
          </a:ln>
        </p:spPr>
        <p:txBody>
          <a:bodyPr lIns="45719" rIns="45719" anchor="ctr"/>
          <a:lstStyle/>
          <a:p>
            <a:pPr defTabSz="457200">
              <a:lnSpc>
                <a:spcPct val="93000"/>
              </a:lnSpc>
              <a:defRPr>
                <a:solidFill>
                  <a:srgbClr val="462427"/>
                </a:solidFill>
                <a:latin typeface="Arial"/>
                <a:ea typeface="Arial"/>
                <a:cs typeface="Arial"/>
                <a:sym typeface="Arial"/>
              </a:defRPr>
            </a:pPr>
            <a:endParaRPr dirty="0"/>
          </a:p>
        </p:txBody>
      </p:sp>
      <p:pic>
        <p:nvPicPr>
          <p:cNvPr id="426" name="ignite-logo.png" descr="ignite-logo.png"/>
          <p:cNvPicPr>
            <a:picLocks noChangeAspect="1"/>
          </p:cNvPicPr>
          <p:nvPr/>
        </p:nvPicPr>
        <p:blipFill>
          <a:blip r:embed="rId2"/>
          <a:stretch>
            <a:fillRect/>
          </a:stretch>
        </p:blipFill>
        <p:spPr>
          <a:xfrm>
            <a:off x="1311564" y="1547528"/>
            <a:ext cx="992188" cy="992188"/>
          </a:xfrm>
          <a:prstGeom prst="rect">
            <a:avLst/>
          </a:prstGeom>
          <a:ln w="12700">
            <a:miter lim="400000"/>
          </a:ln>
        </p:spPr>
      </p:pic>
      <p:pic>
        <p:nvPicPr>
          <p:cNvPr id="9" name="Picture 8" descr="A black background with a black square&#10;&#10;Description automatically generated with medium confidence">
            <a:extLst>
              <a:ext uri="{FF2B5EF4-FFF2-40B4-BE49-F238E27FC236}">
                <a16:creationId xmlns:a16="http://schemas.microsoft.com/office/drawing/2014/main" id="{4352F7A8-DF0A-2826-4609-0F3A61E0D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6206" y="5164276"/>
            <a:ext cx="418741" cy="418741"/>
          </a:xfrm>
          <a:prstGeom prst="rect">
            <a:avLst/>
          </a:prstGeom>
        </p:spPr>
      </p:pic>
      <p:pic>
        <p:nvPicPr>
          <p:cNvPr id="10" name="Picture 9" descr="A black background with a black square&#10;&#10;Description automatically generated with medium confidence">
            <a:extLst>
              <a:ext uri="{FF2B5EF4-FFF2-40B4-BE49-F238E27FC236}">
                <a16:creationId xmlns:a16="http://schemas.microsoft.com/office/drawing/2014/main" id="{B58EE8A9-0865-C3F5-018C-F723C70FAE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5913" y="3233060"/>
            <a:ext cx="418741" cy="418741"/>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B7E83A5C-6445-0ABD-06B4-88FFF7F576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7406" y="2195638"/>
            <a:ext cx="567183" cy="504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21"/>
                                        </p:tgtEl>
                                        <p:attrNameLst>
                                          <p:attrName>style.visibility</p:attrName>
                                        </p:attrNameLst>
                                      </p:cBhvr>
                                      <p:to>
                                        <p:strVal val="visible"/>
                                      </p:to>
                                    </p:set>
                                    <p:anim calcmode="lin" valueType="num">
                                      <p:cBhvr additive="base">
                                        <p:cTn id="7" dur="500" fill="hold"/>
                                        <p:tgtEl>
                                          <p:spTgt spid="421"/>
                                        </p:tgtEl>
                                        <p:attrNameLst>
                                          <p:attrName>ppt_x</p:attrName>
                                        </p:attrNameLst>
                                      </p:cBhvr>
                                      <p:tavLst>
                                        <p:tav tm="0">
                                          <p:val>
                                            <p:strVal val="#ppt_x"/>
                                          </p:val>
                                        </p:tav>
                                        <p:tav tm="100000">
                                          <p:val>
                                            <p:strVal val="#ppt_x"/>
                                          </p:val>
                                        </p:tav>
                                      </p:tavLst>
                                    </p:anim>
                                    <p:anim calcmode="lin" valueType="num">
                                      <p:cBhvr additive="base">
                                        <p:cTn id="8" dur="500" fill="hold"/>
                                        <p:tgtEl>
                                          <p:spTgt spid="42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422"/>
                                        </p:tgtEl>
                                        <p:attrNameLst>
                                          <p:attrName>style.visibility</p:attrName>
                                        </p:attrNameLst>
                                      </p:cBhvr>
                                      <p:to>
                                        <p:strVal val="visible"/>
                                      </p:to>
                                    </p:set>
                                    <p:anim calcmode="lin" valueType="num">
                                      <p:cBhvr additive="base">
                                        <p:cTn id="22" dur="500" fill="hold"/>
                                        <p:tgtEl>
                                          <p:spTgt spid="422"/>
                                        </p:tgtEl>
                                        <p:attrNameLst>
                                          <p:attrName>ppt_x</p:attrName>
                                        </p:attrNameLst>
                                      </p:cBhvr>
                                      <p:tavLst>
                                        <p:tav tm="0">
                                          <p:val>
                                            <p:strVal val="#ppt_x"/>
                                          </p:val>
                                        </p:tav>
                                        <p:tav tm="100000">
                                          <p:val>
                                            <p:strVal val="#ppt_x"/>
                                          </p:val>
                                        </p:tav>
                                      </p:tavLst>
                                    </p:anim>
                                    <p:anim calcmode="lin" valueType="num">
                                      <p:cBhvr additive="base">
                                        <p:cTn id="23" dur="500" fill="hold"/>
                                        <p:tgtEl>
                                          <p:spTgt spid="42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420"/>
                                        </p:tgtEl>
                                        <p:attrNameLst>
                                          <p:attrName>style.visibility</p:attrName>
                                        </p:attrNameLst>
                                      </p:cBhvr>
                                      <p:to>
                                        <p:strVal val="visible"/>
                                      </p:to>
                                    </p:set>
                                    <p:animEffect transition="in" filter="wipe(left)">
                                      <p:cBhvr>
                                        <p:cTn id="32" dur="500"/>
                                        <p:tgtEl>
                                          <p:spTgt spid="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 grpId="0" animBg="1"/>
      <p:bldP spid="421" grpId="0" animBg="1"/>
      <p:bldP spid="4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7495-F06D-0B3A-41FA-A5D77E2EE9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891A85F-0ED6-897A-D750-8DCB5BA58572}"/>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3" name="object 3">
            <a:extLst>
              <a:ext uri="{FF2B5EF4-FFF2-40B4-BE49-F238E27FC236}">
                <a16:creationId xmlns:a16="http://schemas.microsoft.com/office/drawing/2014/main" id="{B67EC475-6F91-91D7-E41D-E088FD20232B}"/>
              </a:ext>
            </a:extLst>
          </p:cNvPr>
          <p:cNvSpPr txBox="1"/>
          <p:nvPr/>
        </p:nvSpPr>
        <p:spPr>
          <a:xfrm>
            <a:off x="1544683" y="2612491"/>
            <a:ext cx="2951117" cy="551433"/>
          </a:xfrm>
          <a:prstGeom prst="rect">
            <a:avLst/>
          </a:prstGeom>
        </p:spPr>
        <p:txBody>
          <a:bodyPr vert="horz" wrap="square" lIns="0" tIns="12700" rIns="0" bIns="0" rtlCol="0">
            <a:spAutoFit/>
          </a:bodyPr>
          <a:lstStyle/>
          <a:p>
            <a:pPr marL="12700">
              <a:lnSpc>
                <a:spcPct val="100000"/>
              </a:lnSpc>
              <a:spcBef>
                <a:spcPts val="100"/>
              </a:spcBef>
            </a:pPr>
            <a:r>
              <a:rPr lang="en-US" sz="3500" b="1" dirty="0">
                <a:solidFill>
                  <a:srgbClr val="404040"/>
                </a:solidFill>
                <a:latin typeface="Graphik Bold"/>
                <a:cs typeface="Graphik Regular"/>
              </a:rPr>
              <a:t>ignite demo</a:t>
            </a:r>
            <a:endParaRPr sz="3500" dirty="0">
              <a:latin typeface="Graphik Regular"/>
              <a:cs typeface="Graphik Regular"/>
            </a:endParaRPr>
          </a:p>
        </p:txBody>
      </p:sp>
      <p:pic>
        <p:nvPicPr>
          <p:cNvPr id="11" name="object 11">
            <a:extLst>
              <a:ext uri="{FF2B5EF4-FFF2-40B4-BE49-F238E27FC236}">
                <a16:creationId xmlns:a16="http://schemas.microsoft.com/office/drawing/2014/main" id="{FDEF8215-2462-92C6-856C-638682C60588}"/>
              </a:ext>
            </a:extLst>
          </p:cNvPr>
          <p:cNvPicPr/>
          <p:nvPr/>
        </p:nvPicPr>
        <p:blipFill>
          <a:blip r:embed="rId2" cstate="print"/>
          <a:stretch>
            <a:fillRect/>
          </a:stretch>
        </p:blipFill>
        <p:spPr>
          <a:xfrm>
            <a:off x="1311564" y="1547527"/>
            <a:ext cx="992187" cy="992187"/>
          </a:xfrm>
          <a:prstGeom prst="rect">
            <a:avLst/>
          </a:prstGeom>
        </p:spPr>
      </p:pic>
    </p:spTree>
    <p:extLst>
      <p:ext uri="{BB962C8B-B14F-4D97-AF65-F5344CB8AC3E}">
        <p14:creationId xmlns:p14="http://schemas.microsoft.com/office/powerpoint/2010/main" val="256295633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6D15A-B348-3F5A-ED51-398AFF2803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F689A55-ABF8-4994-6B87-65AD71DF2375}"/>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6" name="object 4">
            <a:extLst>
              <a:ext uri="{FF2B5EF4-FFF2-40B4-BE49-F238E27FC236}">
                <a16:creationId xmlns:a16="http://schemas.microsoft.com/office/drawing/2014/main" id="{878072B2-F01C-6D1D-4A66-6E0045EBF62A}"/>
              </a:ext>
            </a:extLst>
          </p:cNvPr>
          <p:cNvSpPr txBox="1"/>
          <p:nvPr/>
        </p:nvSpPr>
        <p:spPr>
          <a:xfrm>
            <a:off x="7313295" y="1599984"/>
            <a:ext cx="4878705" cy="1604927"/>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The first version of Ignite</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Ignite began as an Excel spreadsheet to determine essential revenue information. </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4" name="Picture 3">
            <a:extLst>
              <a:ext uri="{FF2B5EF4-FFF2-40B4-BE49-F238E27FC236}">
                <a16:creationId xmlns:a16="http://schemas.microsoft.com/office/drawing/2014/main" id="{0ACCEC2E-CCE5-8EAF-1A00-4F79F19367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80"/>
          </a:xfrm>
          <a:prstGeom prst="rect">
            <a:avLst/>
          </a:prstGeom>
        </p:spPr>
      </p:pic>
    </p:spTree>
    <p:extLst>
      <p:ext uri="{BB962C8B-B14F-4D97-AF65-F5344CB8AC3E}">
        <p14:creationId xmlns:p14="http://schemas.microsoft.com/office/powerpoint/2010/main" val="87282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E32B5-D12B-041A-FCDF-6FFEF7F3AE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6E28FB-5BC3-0422-DC41-52D8DA234D14}"/>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6" name="object 4">
            <a:extLst>
              <a:ext uri="{FF2B5EF4-FFF2-40B4-BE49-F238E27FC236}">
                <a16:creationId xmlns:a16="http://schemas.microsoft.com/office/drawing/2014/main" id="{FA553867-5DC4-C05C-21F3-B46F1478D0C8}"/>
              </a:ext>
            </a:extLst>
          </p:cNvPr>
          <p:cNvSpPr txBox="1"/>
          <p:nvPr/>
        </p:nvSpPr>
        <p:spPr>
          <a:xfrm>
            <a:off x="7313295" y="1599984"/>
            <a:ext cx="4878705" cy="2994409"/>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The current version of Ignite</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Ignite was developed into a SaaS program with expanded functionality. This version is currently used to create revenue strategy with clients but needs further development.</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4" name="Picture 3">
            <a:extLst>
              <a:ext uri="{FF2B5EF4-FFF2-40B4-BE49-F238E27FC236}">
                <a16:creationId xmlns:a16="http://schemas.microsoft.com/office/drawing/2014/main" id="{D4BD7621-B4A6-60D5-9DCB-232C4FBA4B7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80"/>
          </a:xfrm>
          <a:prstGeom prst="rect">
            <a:avLst/>
          </a:prstGeom>
        </p:spPr>
      </p:pic>
    </p:spTree>
    <p:extLst>
      <p:ext uri="{BB962C8B-B14F-4D97-AF65-F5344CB8AC3E}">
        <p14:creationId xmlns:p14="http://schemas.microsoft.com/office/powerpoint/2010/main" val="2858688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DC2D-4ABC-DAEB-ECFB-90E6F2B4F4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014185-11AA-7FBA-4F7B-E0B75365EF52}"/>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6" name="object 4">
            <a:extLst>
              <a:ext uri="{FF2B5EF4-FFF2-40B4-BE49-F238E27FC236}">
                <a16:creationId xmlns:a16="http://schemas.microsoft.com/office/drawing/2014/main" id="{4C10F0D3-4E43-8029-19D3-4C7273E3F3B0}"/>
              </a:ext>
            </a:extLst>
          </p:cNvPr>
          <p:cNvSpPr txBox="1"/>
          <p:nvPr/>
        </p:nvSpPr>
        <p:spPr>
          <a:xfrm>
            <a:off x="7313295" y="1599984"/>
            <a:ext cx="4878705" cy="2438616"/>
          </a:xfrm>
          <a:prstGeom prst="rect">
            <a:avLst/>
          </a:prstGeom>
        </p:spPr>
        <p:txBody>
          <a:bodyPr vert="horz" wrap="square" lIns="0" tIns="0" rIns="0" bIns="0" rtlCol="0">
            <a:spAutoFit/>
          </a:bodyPr>
          <a:lstStyle/>
          <a:p>
            <a:pPr marL="1610995" marR="1052830">
              <a:lnSpc>
                <a:spcPct val="128600"/>
              </a:lnSpc>
            </a:pPr>
            <a:r>
              <a:rPr lang="en-US" sz="1400" b="1" dirty="0">
                <a:latin typeface="Graphik Bold" panose="020B0503030202060203" pitchFamily="34" charset="77"/>
                <a:cs typeface="Arial"/>
              </a:rPr>
              <a:t>Main dashboard</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Once logged in, users will be presented with a clean, simple snapshot that shows all strategies and tactics related to Revenue, Sales, and Marketing. </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4" name="Picture 3" descr="A computer screen with a white screen&#10;&#10;Description automatically generated">
            <a:extLst>
              <a:ext uri="{FF2B5EF4-FFF2-40B4-BE49-F238E27FC236}">
                <a16:creationId xmlns:a16="http://schemas.microsoft.com/office/drawing/2014/main" id="{7566E212-D3C6-0624-0872-FF5BFB7D2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79" y="990604"/>
            <a:ext cx="9669477" cy="5901780"/>
          </a:xfrm>
          <a:prstGeom prst="rect">
            <a:avLst/>
          </a:prstGeom>
        </p:spPr>
      </p:pic>
    </p:spTree>
    <p:extLst>
      <p:ext uri="{BB962C8B-B14F-4D97-AF65-F5344CB8AC3E}">
        <p14:creationId xmlns:p14="http://schemas.microsoft.com/office/powerpoint/2010/main" val="2420536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EEF8-519A-A754-F6A5-B6049F408EB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F8FD2D-557A-D06D-5198-AFD72D8313E3}"/>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421A5D0E-3E35-B4C6-3DF9-D23E49A818F9}"/>
              </a:ext>
            </a:extLst>
          </p:cNvPr>
          <p:cNvSpPr txBox="1"/>
          <p:nvPr/>
        </p:nvSpPr>
        <p:spPr>
          <a:xfrm>
            <a:off x="7313295" y="1599984"/>
            <a:ext cx="4878705" cy="2994409"/>
          </a:xfrm>
          <a:prstGeom prst="rect">
            <a:avLst/>
          </a:prstGeom>
        </p:spPr>
        <p:txBody>
          <a:bodyPr vert="horz" wrap="square" lIns="0" tIns="0" rIns="0" bIns="0" rtlCol="0">
            <a:spAutoFit/>
          </a:bodyPr>
          <a:lstStyle/>
          <a:p>
            <a:pPr marL="1610995" marR="1052830">
              <a:lnSpc>
                <a:spcPct val="128600"/>
              </a:lnSpc>
            </a:pPr>
            <a:r>
              <a:rPr lang="en-US" sz="1400" b="1" dirty="0">
                <a:latin typeface="Graphik Bold" panose="020B0503030202060203" pitchFamily="34" charset="77"/>
                <a:cs typeface="Arial"/>
              </a:rPr>
              <a:t>Main dashboard</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Strategies and Tactics are shown with a progress bar showing the movement toward completion of the final goal, the team members assigned to each Strategy and Tactic, and the status. </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307C15DB-8B94-2157-FA95-0DD71532602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80"/>
          </a:xfrm>
          <a:prstGeom prst="rect">
            <a:avLst/>
          </a:prstGeom>
        </p:spPr>
      </p:pic>
    </p:spTree>
    <p:extLst>
      <p:ext uri="{BB962C8B-B14F-4D97-AF65-F5344CB8AC3E}">
        <p14:creationId xmlns:p14="http://schemas.microsoft.com/office/powerpoint/2010/main" val="129800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032C-1C88-3BF1-9536-E31815DB12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86012E-D40A-D806-45BF-1ED2CD371837}"/>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C3D4E945-8293-6A14-233C-974E149074F0}"/>
              </a:ext>
            </a:extLst>
          </p:cNvPr>
          <p:cNvSpPr txBox="1"/>
          <p:nvPr/>
        </p:nvSpPr>
        <p:spPr>
          <a:xfrm>
            <a:off x="7313295" y="1599984"/>
            <a:ext cx="4878705" cy="3272306"/>
          </a:xfrm>
          <a:prstGeom prst="rect">
            <a:avLst/>
          </a:prstGeom>
        </p:spPr>
        <p:txBody>
          <a:bodyPr vert="horz" wrap="square" lIns="0" tIns="0" rIns="0" bIns="0" rtlCol="0">
            <a:spAutoFit/>
          </a:bodyPr>
          <a:lstStyle/>
          <a:p>
            <a:pPr marL="1610995" marR="1052830">
              <a:lnSpc>
                <a:spcPct val="128600"/>
              </a:lnSpc>
            </a:pPr>
            <a:r>
              <a:rPr lang="en-US" sz="1400" b="1" dirty="0">
                <a:latin typeface="Graphik Bold" panose="020B0503030202060203" pitchFamily="34" charset="77"/>
                <a:cs typeface="Arial"/>
              </a:rPr>
              <a:t>Main dashboard</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Each Strategy will expand to show all Tactics needed to reach the final goal of the Strategy. Each team member will be able to access the information relevant to their position to keep informed of their list of tasks to complete.</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52E5F542-354C-7654-B1AC-5D2515B4D0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spTree>
    <p:extLst>
      <p:ext uri="{BB962C8B-B14F-4D97-AF65-F5344CB8AC3E}">
        <p14:creationId xmlns:p14="http://schemas.microsoft.com/office/powerpoint/2010/main" val="149427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E4D0-B009-C1C3-9FA0-8F8D7EA8C29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943AD6D-B4A2-D1CD-4E97-710E30D2E228}"/>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0543B723-74DC-7DFE-0F75-620C7C773C88}"/>
              </a:ext>
            </a:extLst>
          </p:cNvPr>
          <p:cNvSpPr txBox="1"/>
          <p:nvPr/>
        </p:nvSpPr>
        <p:spPr>
          <a:xfrm>
            <a:off x="7313295" y="1599984"/>
            <a:ext cx="4878705" cy="1882823"/>
          </a:xfrm>
          <a:prstGeom prst="rect">
            <a:avLst/>
          </a:prstGeom>
        </p:spPr>
        <p:txBody>
          <a:bodyPr vert="horz" wrap="square" lIns="0" tIns="0" rIns="0" bIns="0" rtlCol="0">
            <a:spAutoFit/>
          </a:bodyPr>
          <a:lstStyle/>
          <a:p>
            <a:pPr marL="1610995" marR="1052830">
              <a:lnSpc>
                <a:spcPct val="128600"/>
              </a:lnSpc>
            </a:pPr>
            <a:r>
              <a:rPr lang="en-US" sz="1400" b="1" dirty="0">
                <a:latin typeface="Graphik Bold" panose="020B0503030202060203" pitchFamily="34" charset="77"/>
                <a:cs typeface="Arial"/>
              </a:rPr>
              <a:t>Main dashboard</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The dashboard can filter the strategies based on certain criteria determined by the client.</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EA4DB4A5-F2AF-DEE9-E897-B10817CE56D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spTree>
    <p:extLst>
      <p:ext uri="{BB962C8B-B14F-4D97-AF65-F5344CB8AC3E}">
        <p14:creationId xmlns:p14="http://schemas.microsoft.com/office/powerpoint/2010/main" val="3177533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47E7E-D875-8F49-F052-E4B5913B3E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7C49756-2A9F-5AAE-47BB-CEDCFBCB291C}"/>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333995B4-1DF9-66C6-2804-634BCE4827AF}"/>
              </a:ext>
            </a:extLst>
          </p:cNvPr>
          <p:cNvSpPr txBox="1"/>
          <p:nvPr/>
        </p:nvSpPr>
        <p:spPr>
          <a:xfrm>
            <a:off x="7313295" y="1599984"/>
            <a:ext cx="4878705" cy="1327030"/>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Creating a New Strategy</a:t>
            </a:r>
            <a:r>
              <a:rPr sz="1400" b="1" spc="-10" dirty="0">
                <a:latin typeface="Graphik Bold" panose="020B0503030202060203" pitchFamily="34" charset="77"/>
                <a:cs typeface="Arial"/>
              </a:rPr>
              <a:t>:</a:t>
            </a:r>
            <a:r>
              <a:rPr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Strategies can be easily created in Ignite. First, a date range is entered.</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81EABDBF-ABA2-09EB-57C3-954142C504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spTree>
    <p:extLst>
      <p:ext uri="{BB962C8B-B14F-4D97-AF65-F5344CB8AC3E}">
        <p14:creationId xmlns:p14="http://schemas.microsoft.com/office/powerpoint/2010/main" val="348404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9A5C4-EBC3-D210-7131-69003365160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F205E2A-9EB9-E7A5-ACA3-22A690BD1766}"/>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9856A419-CEE3-CBE0-C9AA-275B87FB4A62}"/>
              </a:ext>
            </a:extLst>
          </p:cNvPr>
          <p:cNvSpPr txBox="1"/>
          <p:nvPr/>
        </p:nvSpPr>
        <p:spPr>
          <a:xfrm>
            <a:off x="7313295" y="1599984"/>
            <a:ext cx="4878705" cy="2438616"/>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Creating a New Strategy:</a:t>
            </a:r>
            <a:r>
              <a:rPr lang="en-US"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Then, the appropriate category is assigned to the strategy. This could be by brand, location, division, or other based on a client’s business structure.</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D76A4AFD-FDD6-F41C-E34D-ECC27F6C25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spTree>
    <p:extLst>
      <p:ext uri="{BB962C8B-B14F-4D97-AF65-F5344CB8AC3E}">
        <p14:creationId xmlns:p14="http://schemas.microsoft.com/office/powerpoint/2010/main" val="3725270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3AF54-A343-19C3-2E21-B65D1A41F1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378CF4-9425-4B0D-B606-7AE07EFE19CF}"/>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25C46633-03DD-A570-E375-67C91E90E289}"/>
              </a:ext>
            </a:extLst>
          </p:cNvPr>
          <p:cNvSpPr txBox="1"/>
          <p:nvPr/>
        </p:nvSpPr>
        <p:spPr>
          <a:xfrm>
            <a:off x="7313295" y="1599984"/>
            <a:ext cx="4878705" cy="3272306"/>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Creating a New Strategy:</a:t>
            </a:r>
            <a:r>
              <a:rPr lang="en-US"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When creating a new strategy, the user has the option to get AI strategy recommendations. This can be easily switched to manual entry if the user has specific tactics they’d like to use.</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E705F116-660B-157D-D74A-511EC1373F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spTree>
    <p:extLst>
      <p:ext uri="{BB962C8B-B14F-4D97-AF65-F5344CB8AC3E}">
        <p14:creationId xmlns:p14="http://schemas.microsoft.com/office/powerpoint/2010/main" val="510613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605A-3E7F-97E6-B134-0861F0BB7C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7C2A70C-4BEB-825C-99CC-63A795D3770F}"/>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C2EEED2F-7693-B658-C932-052FE5C5274A}"/>
              </a:ext>
            </a:extLst>
          </p:cNvPr>
          <p:cNvSpPr txBox="1"/>
          <p:nvPr/>
        </p:nvSpPr>
        <p:spPr>
          <a:xfrm>
            <a:off x="7313295" y="1599984"/>
            <a:ext cx="4878705" cy="1604927"/>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Creating a New Strategy:</a:t>
            </a:r>
            <a:r>
              <a:rPr lang="en-US"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Appropriate tactics will be generated based on the overall goal of the strategy. </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CC73F15D-E285-707F-FC99-5464FB84BA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spTree>
    <p:extLst>
      <p:ext uri="{BB962C8B-B14F-4D97-AF65-F5344CB8AC3E}">
        <p14:creationId xmlns:p14="http://schemas.microsoft.com/office/powerpoint/2010/main" val="204913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2454-4CDE-1F15-CCA8-1C6DFF87DB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B9967A-4636-4D9B-093A-FD9A9F5D633C}"/>
              </a:ext>
            </a:extLst>
          </p:cNvPr>
          <p:cNvSpPr/>
          <p:nvPr/>
        </p:nvSpPr>
        <p:spPr>
          <a:xfrm>
            <a:off x="0" y="2941580"/>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4" name="object 4">
            <a:extLst>
              <a:ext uri="{FF2B5EF4-FFF2-40B4-BE49-F238E27FC236}">
                <a16:creationId xmlns:a16="http://schemas.microsoft.com/office/drawing/2014/main" id="{EC9440D5-FD21-BF0B-8594-2980B1D2D227}"/>
              </a:ext>
            </a:extLst>
          </p:cNvPr>
          <p:cNvSpPr txBox="1"/>
          <p:nvPr/>
        </p:nvSpPr>
        <p:spPr>
          <a:xfrm>
            <a:off x="7313295" y="1599984"/>
            <a:ext cx="4878705" cy="1327030"/>
          </a:xfrm>
          <a:prstGeom prst="rect">
            <a:avLst/>
          </a:prstGeom>
        </p:spPr>
        <p:txBody>
          <a:bodyPr vert="horz" wrap="square" lIns="0" tIns="0" rIns="0" bIns="0" rtlCol="0">
            <a:spAutoFit/>
          </a:bodyPr>
          <a:lstStyle/>
          <a:p>
            <a:pPr marL="1610995" marR="1052830">
              <a:lnSpc>
                <a:spcPct val="128600"/>
              </a:lnSpc>
            </a:pPr>
            <a:r>
              <a:rPr lang="en-US" sz="1400" b="1" spc="-10" dirty="0">
                <a:latin typeface="Graphik Bold" panose="020B0503030202060203" pitchFamily="34" charset="77"/>
                <a:cs typeface="Arial"/>
              </a:rPr>
              <a:t>Strategy within Teams:</a:t>
            </a:r>
            <a:r>
              <a:rPr lang="en-US" sz="1400" b="1" spc="50" dirty="0">
                <a:latin typeface="Graphik Bold" panose="020B0503030202060203" pitchFamily="34" charset="77"/>
                <a:cs typeface="Arial"/>
              </a:rPr>
              <a:t> </a:t>
            </a:r>
            <a:r>
              <a:rPr lang="en-US" sz="1400" b="1" spc="50" dirty="0">
                <a:latin typeface="Graphik Regular" panose="020B0503030202060203" pitchFamily="34" charset="77"/>
                <a:cs typeface="Arial"/>
              </a:rPr>
              <a:t>Ability to create cross functional integration within teams. </a:t>
            </a:r>
            <a:endParaRPr sz="1400" dirty="0">
              <a:latin typeface="Graphik Regular" panose="020B0503030202060203" pitchFamily="34" charset="77"/>
              <a:cs typeface="Arial"/>
            </a:endParaRPr>
          </a:p>
          <a:p>
            <a:pPr>
              <a:lnSpc>
                <a:spcPct val="100000"/>
              </a:lnSpc>
            </a:pPr>
            <a:endParaRPr sz="1400" dirty="0">
              <a:latin typeface="Graphik Regular" panose="020B0503030202060203" pitchFamily="34" charset="77"/>
              <a:cs typeface="Arial"/>
            </a:endParaRPr>
          </a:p>
        </p:txBody>
      </p:sp>
      <p:pic>
        <p:nvPicPr>
          <p:cNvPr id="3" name="Picture 2">
            <a:extLst>
              <a:ext uri="{FF2B5EF4-FFF2-40B4-BE49-F238E27FC236}">
                <a16:creationId xmlns:a16="http://schemas.microsoft.com/office/drawing/2014/main" id="{1D542DFF-BA7D-4C70-1ED3-F19CF8D3188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79" y="990604"/>
            <a:ext cx="9669476" cy="5901779"/>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62797A06-504B-11F6-995D-A00AB85E0D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142999"/>
            <a:ext cx="6673907" cy="3733793"/>
          </a:xfrm>
          <a:prstGeom prst="rect">
            <a:avLst/>
          </a:prstGeom>
        </p:spPr>
      </p:pic>
    </p:spTree>
    <p:extLst>
      <p:ext uri="{BB962C8B-B14F-4D97-AF65-F5344CB8AC3E}">
        <p14:creationId xmlns:p14="http://schemas.microsoft.com/office/powerpoint/2010/main" val="1005933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607549"/>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dirty="0"/>
          </a:p>
        </p:txBody>
      </p:sp>
      <p:sp>
        <p:nvSpPr>
          <p:cNvPr id="3" name="object 3"/>
          <p:cNvSpPr txBox="1">
            <a:spLocks noGrp="1"/>
          </p:cNvSpPr>
          <p:nvPr>
            <p:ph type="title"/>
          </p:nvPr>
        </p:nvSpPr>
        <p:spPr>
          <a:xfrm>
            <a:off x="1544681" y="1321931"/>
            <a:ext cx="4144663" cy="1015663"/>
          </a:xfrm>
          <a:prstGeom prst="rect">
            <a:avLst/>
          </a:prstGeom>
        </p:spPr>
        <p:txBody>
          <a:bodyPr vert="horz" wrap="square" lIns="0" tIns="91440" rIns="0" bIns="0" rtlCol="0">
            <a:spAutoFit/>
          </a:bodyPr>
          <a:lstStyle/>
          <a:p>
            <a:pPr marL="12700" marR="5080">
              <a:lnSpc>
                <a:spcPts val="3600"/>
              </a:lnSpc>
              <a:spcBef>
                <a:spcPts val="720"/>
              </a:spcBef>
            </a:pPr>
            <a:r>
              <a:rPr spc="-10" dirty="0"/>
              <a:t>ignite </a:t>
            </a:r>
            <a:r>
              <a:rPr lang="en-US" spc="-10" dirty="0"/>
              <a:t>subscription levels</a:t>
            </a:r>
            <a:endParaRPr spc="-10" dirty="0"/>
          </a:p>
        </p:txBody>
      </p:sp>
      <p:grpSp>
        <p:nvGrpSpPr>
          <p:cNvPr id="4" name="object 4"/>
          <p:cNvGrpSpPr/>
          <p:nvPr/>
        </p:nvGrpSpPr>
        <p:grpSpPr>
          <a:xfrm>
            <a:off x="6502139" y="2781453"/>
            <a:ext cx="4487545" cy="1524000"/>
            <a:chOff x="6502139" y="2781453"/>
            <a:chExt cx="4487545" cy="1524000"/>
          </a:xfrm>
        </p:grpSpPr>
        <p:sp>
          <p:nvSpPr>
            <p:cNvPr id="5" name="object 5"/>
            <p:cNvSpPr/>
            <p:nvPr/>
          </p:nvSpPr>
          <p:spPr>
            <a:xfrm>
              <a:off x="6502397" y="2781453"/>
              <a:ext cx="4486910" cy="1524000"/>
            </a:xfrm>
            <a:custGeom>
              <a:avLst/>
              <a:gdLst/>
              <a:ahLst/>
              <a:cxnLst/>
              <a:rect l="l" t="t" r="r" b="b"/>
              <a:pathLst>
                <a:path w="4486909" h="1524000">
                  <a:moveTo>
                    <a:pt x="4431930" y="0"/>
                  </a:moveTo>
                  <a:lnTo>
                    <a:pt x="54848" y="0"/>
                  </a:lnTo>
                  <a:lnTo>
                    <a:pt x="33499" y="4310"/>
                  </a:lnTo>
                  <a:lnTo>
                    <a:pt x="16064" y="16064"/>
                  </a:lnTo>
                  <a:lnTo>
                    <a:pt x="4310" y="33498"/>
                  </a:lnTo>
                  <a:lnTo>
                    <a:pt x="0" y="54848"/>
                  </a:lnTo>
                  <a:lnTo>
                    <a:pt x="0" y="1469151"/>
                  </a:lnTo>
                  <a:lnTo>
                    <a:pt x="4310" y="1490500"/>
                  </a:lnTo>
                  <a:lnTo>
                    <a:pt x="16064" y="1507935"/>
                  </a:lnTo>
                  <a:lnTo>
                    <a:pt x="33499" y="1519689"/>
                  </a:lnTo>
                  <a:lnTo>
                    <a:pt x="54848" y="1524000"/>
                  </a:lnTo>
                  <a:lnTo>
                    <a:pt x="4431930" y="1524000"/>
                  </a:lnTo>
                  <a:lnTo>
                    <a:pt x="4453280" y="1519689"/>
                  </a:lnTo>
                  <a:lnTo>
                    <a:pt x="4470714" y="1507935"/>
                  </a:lnTo>
                  <a:lnTo>
                    <a:pt x="4482468" y="1490500"/>
                  </a:lnTo>
                  <a:lnTo>
                    <a:pt x="4486779" y="1469151"/>
                  </a:lnTo>
                  <a:lnTo>
                    <a:pt x="4486779" y="54848"/>
                  </a:lnTo>
                  <a:lnTo>
                    <a:pt x="4482468" y="33498"/>
                  </a:lnTo>
                  <a:lnTo>
                    <a:pt x="4470714" y="16064"/>
                  </a:lnTo>
                  <a:lnTo>
                    <a:pt x="4453280" y="4310"/>
                  </a:lnTo>
                  <a:lnTo>
                    <a:pt x="4431930" y="0"/>
                  </a:lnTo>
                  <a:close/>
                </a:path>
              </a:pathLst>
            </a:custGeom>
            <a:solidFill>
              <a:srgbClr val="EEEBEB">
                <a:alpha val="53999"/>
              </a:srgbClr>
            </a:solidFill>
          </p:spPr>
          <p:txBody>
            <a:bodyPr wrap="square" lIns="0" tIns="0" rIns="0" bIns="0" rtlCol="0"/>
            <a:lstStyle/>
            <a:p>
              <a:endParaRPr dirty="0"/>
            </a:p>
          </p:txBody>
        </p:sp>
        <p:sp>
          <p:nvSpPr>
            <p:cNvPr id="6" name="object 6"/>
            <p:cNvSpPr/>
            <p:nvPr/>
          </p:nvSpPr>
          <p:spPr>
            <a:xfrm>
              <a:off x="6502139" y="2781453"/>
              <a:ext cx="1379220" cy="1524000"/>
            </a:xfrm>
            <a:custGeom>
              <a:avLst/>
              <a:gdLst/>
              <a:ahLst/>
              <a:cxnLst/>
              <a:rect l="l" t="t" r="r" b="b"/>
              <a:pathLst>
                <a:path w="1379220" h="1524000">
                  <a:moveTo>
                    <a:pt x="1329481" y="0"/>
                  </a:moveTo>
                  <a:lnTo>
                    <a:pt x="49634" y="0"/>
                  </a:lnTo>
                  <a:lnTo>
                    <a:pt x="30313" y="3900"/>
                  </a:lnTo>
                  <a:lnTo>
                    <a:pt x="14537" y="14537"/>
                  </a:lnTo>
                  <a:lnTo>
                    <a:pt x="3900" y="30313"/>
                  </a:lnTo>
                  <a:lnTo>
                    <a:pt x="0" y="49634"/>
                  </a:lnTo>
                  <a:lnTo>
                    <a:pt x="0" y="1474364"/>
                  </a:lnTo>
                  <a:lnTo>
                    <a:pt x="3900" y="1493684"/>
                  </a:lnTo>
                  <a:lnTo>
                    <a:pt x="14537" y="1509462"/>
                  </a:lnTo>
                  <a:lnTo>
                    <a:pt x="30313" y="1520099"/>
                  </a:lnTo>
                  <a:lnTo>
                    <a:pt x="49634" y="1524000"/>
                  </a:lnTo>
                  <a:lnTo>
                    <a:pt x="1329481" y="1524000"/>
                  </a:lnTo>
                  <a:lnTo>
                    <a:pt x="1348801" y="1520099"/>
                  </a:lnTo>
                  <a:lnTo>
                    <a:pt x="1364578" y="1509462"/>
                  </a:lnTo>
                  <a:lnTo>
                    <a:pt x="1375215" y="1493684"/>
                  </a:lnTo>
                  <a:lnTo>
                    <a:pt x="1379115" y="1474364"/>
                  </a:lnTo>
                  <a:lnTo>
                    <a:pt x="1379115" y="49634"/>
                  </a:lnTo>
                  <a:lnTo>
                    <a:pt x="1375215" y="30313"/>
                  </a:lnTo>
                  <a:lnTo>
                    <a:pt x="1364578" y="14537"/>
                  </a:lnTo>
                  <a:lnTo>
                    <a:pt x="1348801" y="3900"/>
                  </a:lnTo>
                  <a:lnTo>
                    <a:pt x="1329481" y="0"/>
                  </a:lnTo>
                  <a:close/>
                </a:path>
              </a:pathLst>
            </a:custGeom>
            <a:solidFill>
              <a:srgbClr val="A6A6A6">
                <a:alpha val="14999"/>
              </a:srgbClr>
            </a:solidFill>
          </p:spPr>
          <p:txBody>
            <a:bodyPr wrap="square" lIns="0" tIns="0" rIns="0" bIns="0" rtlCol="0"/>
            <a:lstStyle/>
            <a:p>
              <a:endParaRPr dirty="0"/>
            </a:p>
          </p:txBody>
        </p:sp>
      </p:grpSp>
      <p:sp>
        <p:nvSpPr>
          <p:cNvPr id="7" name="object 7"/>
          <p:cNvSpPr/>
          <p:nvPr/>
        </p:nvSpPr>
        <p:spPr>
          <a:xfrm>
            <a:off x="6502397" y="4543087"/>
            <a:ext cx="4486910" cy="1524000"/>
          </a:xfrm>
          <a:custGeom>
            <a:avLst/>
            <a:gdLst/>
            <a:ahLst/>
            <a:cxnLst/>
            <a:rect l="l" t="t" r="r" b="b"/>
            <a:pathLst>
              <a:path w="4486909" h="1524000">
                <a:moveTo>
                  <a:pt x="4431930" y="0"/>
                </a:moveTo>
                <a:lnTo>
                  <a:pt x="54848" y="0"/>
                </a:lnTo>
                <a:lnTo>
                  <a:pt x="33499" y="4310"/>
                </a:lnTo>
                <a:lnTo>
                  <a:pt x="16064" y="16064"/>
                </a:lnTo>
                <a:lnTo>
                  <a:pt x="4310" y="33499"/>
                </a:lnTo>
                <a:lnTo>
                  <a:pt x="0" y="54848"/>
                </a:lnTo>
                <a:lnTo>
                  <a:pt x="0" y="1469151"/>
                </a:lnTo>
                <a:lnTo>
                  <a:pt x="4310" y="1490500"/>
                </a:lnTo>
                <a:lnTo>
                  <a:pt x="16064" y="1507935"/>
                </a:lnTo>
                <a:lnTo>
                  <a:pt x="33499" y="1519689"/>
                </a:lnTo>
                <a:lnTo>
                  <a:pt x="54848" y="1523999"/>
                </a:lnTo>
                <a:lnTo>
                  <a:pt x="4431930" y="1523999"/>
                </a:lnTo>
                <a:lnTo>
                  <a:pt x="4453280" y="1519689"/>
                </a:lnTo>
                <a:lnTo>
                  <a:pt x="4470714" y="1507935"/>
                </a:lnTo>
                <a:lnTo>
                  <a:pt x="4482468" y="1490500"/>
                </a:lnTo>
                <a:lnTo>
                  <a:pt x="4486779" y="1469151"/>
                </a:lnTo>
                <a:lnTo>
                  <a:pt x="4486779" y="54848"/>
                </a:lnTo>
                <a:lnTo>
                  <a:pt x="4482468" y="33499"/>
                </a:lnTo>
                <a:lnTo>
                  <a:pt x="4470714" y="16064"/>
                </a:lnTo>
                <a:lnTo>
                  <a:pt x="4453280" y="4310"/>
                </a:lnTo>
                <a:lnTo>
                  <a:pt x="4431930" y="0"/>
                </a:lnTo>
                <a:close/>
              </a:path>
            </a:pathLst>
          </a:custGeom>
          <a:solidFill>
            <a:srgbClr val="EEEBEB">
              <a:alpha val="53999"/>
            </a:srgbClr>
          </a:solidFill>
        </p:spPr>
        <p:txBody>
          <a:bodyPr wrap="square" lIns="0" tIns="0" rIns="0" bIns="0" rtlCol="0"/>
          <a:lstStyle/>
          <a:p>
            <a:endParaRPr dirty="0"/>
          </a:p>
        </p:txBody>
      </p:sp>
      <p:sp>
        <p:nvSpPr>
          <p:cNvPr id="8" name="object 8"/>
          <p:cNvSpPr txBox="1"/>
          <p:nvPr/>
        </p:nvSpPr>
        <p:spPr>
          <a:xfrm>
            <a:off x="8353535" y="3021944"/>
            <a:ext cx="2165985" cy="989330"/>
          </a:xfrm>
          <a:prstGeom prst="rect">
            <a:avLst/>
          </a:prstGeom>
        </p:spPr>
        <p:txBody>
          <a:bodyPr vert="horz" wrap="square" lIns="0" tIns="12700" rIns="0" bIns="0" rtlCol="0">
            <a:spAutoFit/>
          </a:bodyPr>
          <a:lstStyle/>
          <a:p>
            <a:pPr marL="12700">
              <a:lnSpc>
                <a:spcPct val="100000"/>
              </a:lnSpc>
              <a:spcBef>
                <a:spcPts val="100"/>
              </a:spcBef>
            </a:pPr>
            <a:r>
              <a:rPr sz="1800" b="1" spc="300" dirty="0">
                <a:solidFill>
                  <a:srgbClr val="262626"/>
                </a:solidFill>
                <a:latin typeface="Graphik Bold"/>
                <a:cs typeface="Graphik Bold"/>
              </a:rPr>
              <a:t>spark</a:t>
            </a:r>
            <a:r>
              <a:rPr sz="1800" b="1" spc="220" dirty="0">
                <a:solidFill>
                  <a:srgbClr val="262626"/>
                </a:solidFill>
                <a:latin typeface="Graphik Bold"/>
                <a:cs typeface="Graphik Bold"/>
              </a:rPr>
              <a:t> </a:t>
            </a:r>
            <a:endParaRPr sz="1800" dirty="0">
              <a:latin typeface="Graphik Regular"/>
              <a:cs typeface="Graphik Regular"/>
            </a:endParaRPr>
          </a:p>
          <a:p>
            <a:pPr marL="12700" marR="5080">
              <a:lnSpc>
                <a:spcPct val="104200"/>
              </a:lnSpc>
              <a:spcBef>
                <a:spcPts val="925"/>
              </a:spcBef>
            </a:pPr>
            <a:r>
              <a:rPr sz="1200" dirty="0">
                <a:solidFill>
                  <a:srgbClr val="262626"/>
                </a:solidFill>
                <a:latin typeface="Graphik Regular" panose="020B0503030202060203" pitchFamily="34" charset="77"/>
                <a:cs typeface="Arial"/>
              </a:rPr>
              <a:t>A</a:t>
            </a:r>
            <a:r>
              <a:rPr sz="1200" spc="165"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tailored</a:t>
            </a:r>
            <a:r>
              <a:rPr sz="1200" spc="165"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solution</a:t>
            </a:r>
            <a:r>
              <a:rPr sz="1200" spc="165"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for</a:t>
            </a:r>
            <a:r>
              <a:rPr sz="1200" spc="165" dirty="0">
                <a:solidFill>
                  <a:srgbClr val="262626"/>
                </a:solidFill>
                <a:latin typeface="Graphik Regular" panose="020B0503030202060203" pitchFamily="34" charset="77"/>
                <a:cs typeface="Arial"/>
              </a:rPr>
              <a:t> </a:t>
            </a:r>
            <a:r>
              <a:rPr sz="1200" spc="-10" dirty="0">
                <a:solidFill>
                  <a:srgbClr val="262626"/>
                </a:solidFill>
                <a:latin typeface="Graphik Regular" panose="020B0503030202060203" pitchFamily="34" charset="77"/>
                <a:cs typeface="Arial"/>
              </a:rPr>
              <a:t>smaller </a:t>
            </a:r>
            <a:r>
              <a:rPr sz="1200" dirty="0">
                <a:solidFill>
                  <a:srgbClr val="262626"/>
                </a:solidFill>
                <a:latin typeface="Graphik Regular" panose="020B0503030202060203" pitchFamily="34" charset="77"/>
                <a:cs typeface="Arial"/>
              </a:rPr>
              <a:t>businesses</a:t>
            </a:r>
            <a:r>
              <a:rPr sz="1200" spc="204"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offering</a:t>
            </a:r>
            <a:r>
              <a:rPr sz="1200" spc="210" dirty="0">
                <a:solidFill>
                  <a:srgbClr val="262626"/>
                </a:solidFill>
                <a:latin typeface="Graphik Regular" panose="020B0503030202060203" pitchFamily="34" charset="77"/>
                <a:cs typeface="Arial"/>
              </a:rPr>
              <a:t> </a:t>
            </a:r>
            <a:r>
              <a:rPr sz="1200" spc="40" dirty="0">
                <a:solidFill>
                  <a:srgbClr val="262626"/>
                </a:solidFill>
                <a:latin typeface="Graphik Regular" panose="020B0503030202060203" pitchFamily="34" charset="77"/>
                <a:cs typeface="Arial"/>
              </a:rPr>
              <a:t>templated </a:t>
            </a:r>
            <a:r>
              <a:rPr sz="1200" spc="-10" dirty="0">
                <a:solidFill>
                  <a:srgbClr val="262626"/>
                </a:solidFill>
                <a:latin typeface="Graphik Regular" panose="020B0503030202060203" pitchFamily="34" charset="77"/>
                <a:cs typeface="Arial"/>
              </a:rPr>
              <a:t>solutions.</a:t>
            </a:r>
            <a:endParaRPr sz="1200" dirty="0">
              <a:latin typeface="Graphik Regular" panose="020B0503030202060203" pitchFamily="34" charset="77"/>
              <a:cs typeface="Arial"/>
            </a:endParaRPr>
          </a:p>
        </p:txBody>
      </p:sp>
      <p:sp>
        <p:nvSpPr>
          <p:cNvPr id="9" name="object 9"/>
          <p:cNvSpPr txBox="1"/>
          <p:nvPr/>
        </p:nvSpPr>
        <p:spPr>
          <a:xfrm>
            <a:off x="8353534" y="4783578"/>
            <a:ext cx="2466865" cy="968407"/>
          </a:xfrm>
          <a:prstGeom prst="rect">
            <a:avLst/>
          </a:prstGeom>
        </p:spPr>
        <p:txBody>
          <a:bodyPr vert="horz" wrap="square" lIns="0" tIns="12700" rIns="0" bIns="0" rtlCol="0">
            <a:spAutoFit/>
          </a:bodyPr>
          <a:lstStyle/>
          <a:p>
            <a:pPr marL="12700">
              <a:lnSpc>
                <a:spcPct val="100000"/>
              </a:lnSpc>
              <a:spcBef>
                <a:spcPts val="100"/>
              </a:spcBef>
            </a:pPr>
            <a:r>
              <a:rPr sz="1800" b="1" spc="300" dirty="0">
                <a:solidFill>
                  <a:srgbClr val="262626"/>
                </a:solidFill>
                <a:latin typeface="Graphik Bold"/>
                <a:cs typeface="Graphik Bold"/>
              </a:rPr>
              <a:t>thought  library</a:t>
            </a:r>
            <a:endParaRPr sz="1800" spc="300" dirty="0">
              <a:latin typeface="Graphik Regular"/>
              <a:cs typeface="Graphik Regular"/>
            </a:endParaRPr>
          </a:p>
          <a:p>
            <a:pPr marL="12700" marR="5080">
              <a:lnSpc>
                <a:spcPct val="104200"/>
              </a:lnSpc>
              <a:spcBef>
                <a:spcPts val="925"/>
              </a:spcBef>
            </a:pPr>
            <a:r>
              <a:rPr sz="1200" dirty="0">
                <a:solidFill>
                  <a:srgbClr val="262626"/>
                </a:solidFill>
                <a:latin typeface="Arial"/>
                <a:cs typeface="Arial"/>
              </a:rPr>
              <a:t>A</a:t>
            </a:r>
            <a:r>
              <a:rPr sz="1200" spc="85" dirty="0">
                <a:solidFill>
                  <a:srgbClr val="262626"/>
                </a:solidFill>
                <a:latin typeface="Arial"/>
                <a:cs typeface="Arial"/>
              </a:rPr>
              <a:t> </a:t>
            </a:r>
            <a:r>
              <a:rPr sz="1200" dirty="0">
                <a:solidFill>
                  <a:srgbClr val="262626"/>
                </a:solidFill>
                <a:latin typeface="Arial"/>
                <a:cs typeface="Arial"/>
              </a:rPr>
              <a:t>resource</a:t>
            </a:r>
            <a:r>
              <a:rPr sz="1200" spc="85" dirty="0">
                <a:solidFill>
                  <a:srgbClr val="262626"/>
                </a:solidFill>
                <a:latin typeface="Arial"/>
                <a:cs typeface="Arial"/>
              </a:rPr>
              <a:t> </a:t>
            </a:r>
            <a:r>
              <a:rPr sz="1200" spc="55" dirty="0">
                <a:solidFill>
                  <a:srgbClr val="262626"/>
                </a:solidFill>
                <a:latin typeface="Arial"/>
                <a:cs typeface="Arial"/>
              </a:rPr>
              <a:t>of</a:t>
            </a:r>
            <a:r>
              <a:rPr sz="1200" spc="85" dirty="0">
                <a:solidFill>
                  <a:srgbClr val="262626"/>
                </a:solidFill>
                <a:latin typeface="Arial"/>
                <a:cs typeface="Arial"/>
              </a:rPr>
              <a:t> </a:t>
            </a:r>
            <a:r>
              <a:rPr sz="1200" dirty="0">
                <a:solidFill>
                  <a:srgbClr val="262626"/>
                </a:solidFill>
                <a:latin typeface="Arial"/>
                <a:cs typeface="Arial"/>
              </a:rPr>
              <a:t>best</a:t>
            </a:r>
            <a:r>
              <a:rPr sz="1200" spc="85" dirty="0">
                <a:solidFill>
                  <a:srgbClr val="262626"/>
                </a:solidFill>
                <a:latin typeface="Arial"/>
                <a:cs typeface="Arial"/>
              </a:rPr>
              <a:t> </a:t>
            </a:r>
            <a:r>
              <a:rPr sz="1200" spc="-10" dirty="0">
                <a:solidFill>
                  <a:srgbClr val="262626"/>
                </a:solidFill>
                <a:latin typeface="Arial"/>
                <a:cs typeface="Arial"/>
              </a:rPr>
              <a:t>practices, </a:t>
            </a:r>
            <a:r>
              <a:rPr sz="1200" dirty="0">
                <a:solidFill>
                  <a:srgbClr val="262626"/>
                </a:solidFill>
                <a:latin typeface="Arial"/>
                <a:cs typeface="Arial"/>
              </a:rPr>
              <a:t>case</a:t>
            </a:r>
            <a:r>
              <a:rPr sz="1200" spc="80" dirty="0">
                <a:solidFill>
                  <a:srgbClr val="262626"/>
                </a:solidFill>
                <a:latin typeface="Arial"/>
                <a:cs typeface="Arial"/>
              </a:rPr>
              <a:t> </a:t>
            </a:r>
            <a:r>
              <a:rPr sz="1200" dirty="0">
                <a:solidFill>
                  <a:srgbClr val="262626"/>
                </a:solidFill>
                <a:latin typeface="Arial"/>
                <a:cs typeface="Arial"/>
              </a:rPr>
              <a:t>studies,</a:t>
            </a:r>
            <a:r>
              <a:rPr sz="1200" spc="80" dirty="0">
                <a:solidFill>
                  <a:srgbClr val="262626"/>
                </a:solidFill>
                <a:latin typeface="Arial"/>
                <a:cs typeface="Arial"/>
              </a:rPr>
              <a:t> </a:t>
            </a:r>
            <a:r>
              <a:rPr sz="1200" dirty="0">
                <a:solidFill>
                  <a:srgbClr val="262626"/>
                </a:solidFill>
                <a:latin typeface="Arial"/>
                <a:cs typeface="Arial"/>
              </a:rPr>
              <a:t>and</a:t>
            </a:r>
            <a:r>
              <a:rPr sz="1200" spc="80" dirty="0">
                <a:solidFill>
                  <a:srgbClr val="262626"/>
                </a:solidFill>
                <a:latin typeface="Arial"/>
                <a:cs typeface="Arial"/>
              </a:rPr>
              <a:t> </a:t>
            </a:r>
            <a:r>
              <a:rPr sz="1200" spc="-10" dirty="0">
                <a:solidFill>
                  <a:srgbClr val="262626"/>
                </a:solidFill>
                <a:latin typeface="Arial"/>
                <a:cs typeface="Arial"/>
              </a:rPr>
              <a:t>frameworks</a:t>
            </a:r>
            <a:r>
              <a:rPr sz="1200" spc="500" dirty="0">
                <a:solidFill>
                  <a:srgbClr val="262626"/>
                </a:solidFill>
                <a:latin typeface="Arial"/>
                <a:cs typeface="Arial"/>
              </a:rPr>
              <a:t> </a:t>
            </a:r>
            <a:r>
              <a:rPr sz="1200" dirty="0">
                <a:solidFill>
                  <a:srgbClr val="262626"/>
                </a:solidFill>
                <a:latin typeface="Arial"/>
                <a:cs typeface="Arial"/>
              </a:rPr>
              <a:t>for</a:t>
            </a:r>
            <a:r>
              <a:rPr sz="1200" spc="190" dirty="0">
                <a:solidFill>
                  <a:srgbClr val="262626"/>
                </a:solidFill>
                <a:latin typeface="Arial"/>
                <a:cs typeface="Arial"/>
              </a:rPr>
              <a:t> </a:t>
            </a:r>
            <a:r>
              <a:rPr sz="1200" dirty="0">
                <a:solidFill>
                  <a:srgbClr val="262626"/>
                </a:solidFill>
                <a:latin typeface="Arial"/>
                <a:cs typeface="Arial"/>
              </a:rPr>
              <a:t>optimal</a:t>
            </a:r>
            <a:r>
              <a:rPr sz="1200" spc="195" dirty="0">
                <a:solidFill>
                  <a:srgbClr val="262626"/>
                </a:solidFill>
                <a:latin typeface="Arial"/>
                <a:cs typeface="Arial"/>
              </a:rPr>
              <a:t> </a:t>
            </a:r>
            <a:r>
              <a:rPr sz="1200" dirty="0">
                <a:solidFill>
                  <a:srgbClr val="262626"/>
                </a:solidFill>
                <a:latin typeface="Arial"/>
                <a:cs typeface="Arial"/>
              </a:rPr>
              <a:t>business</a:t>
            </a:r>
            <a:r>
              <a:rPr sz="1200" spc="195" dirty="0">
                <a:solidFill>
                  <a:srgbClr val="262626"/>
                </a:solidFill>
                <a:latin typeface="Arial"/>
                <a:cs typeface="Arial"/>
              </a:rPr>
              <a:t> </a:t>
            </a:r>
            <a:r>
              <a:rPr sz="1200" spc="-10" dirty="0">
                <a:solidFill>
                  <a:srgbClr val="262626"/>
                </a:solidFill>
                <a:latin typeface="Arial"/>
                <a:cs typeface="Arial"/>
              </a:rPr>
              <a:t>operations.</a:t>
            </a:r>
            <a:endParaRPr sz="1200" dirty="0">
              <a:latin typeface="Arial"/>
              <a:cs typeface="Arial"/>
            </a:endParaRPr>
          </a:p>
        </p:txBody>
      </p:sp>
      <p:sp>
        <p:nvSpPr>
          <p:cNvPr id="10" name="object 10"/>
          <p:cNvSpPr txBox="1"/>
          <p:nvPr/>
        </p:nvSpPr>
        <p:spPr>
          <a:xfrm>
            <a:off x="2736924" y="2551384"/>
            <a:ext cx="3361054" cy="1907702"/>
          </a:xfrm>
          <a:prstGeom prst="rect">
            <a:avLst/>
          </a:prstGeom>
        </p:spPr>
        <p:txBody>
          <a:bodyPr vert="horz" wrap="square" lIns="0" tIns="12700" rIns="0" bIns="0" rtlCol="0">
            <a:spAutoFit/>
          </a:bodyPr>
          <a:lstStyle/>
          <a:p>
            <a:pPr marL="12700" marR="5080">
              <a:lnSpc>
                <a:spcPct val="113599"/>
              </a:lnSpc>
              <a:spcBef>
                <a:spcPts val="100"/>
              </a:spcBef>
            </a:pPr>
            <a:r>
              <a:rPr sz="2200" dirty="0">
                <a:solidFill>
                  <a:srgbClr val="262626"/>
                </a:solidFill>
                <a:latin typeface="Graphik Regular"/>
                <a:cs typeface="Graphik Regular"/>
              </a:rPr>
              <a:t>Ignite </a:t>
            </a:r>
            <a:r>
              <a:rPr lang="en-US" sz="2200" spc="-10" dirty="0">
                <a:solidFill>
                  <a:srgbClr val="262626"/>
                </a:solidFill>
                <a:latin typeface="Graphik Regular"/>
                <a:cs typeface="Graphik Regular"/>
              </a:rPr>
              <a:t>offers two different subscription models tailored to the needs of a diverse range of businesses.</a:t>
            </a:r>
            <a:endParaRPr sz="2200" dirty="0">
              <a:latin typeface="Graphik Regular"/>
              <a:cs typeface="Graphik Regular"/>
            </a:endParaRPr>
          </a:p>
        </p:txBody>
      </p:sp>
      <p:sp>
        <p:nvSpPr>
          <p:cNvPr id="11" name="object 11"/>
          <p:cNvSpPr txBox="1"/>
          <p:nvPr/>
        </p:nvSpPr>
        <p:spPr>
          <a:xfrm>
            <a:off x="2754367" y="4860839"/>
            <a:ext cx="3212465" cy="1110497"/>
          </a:xfrm>
          <a:prstGeom prst="rect">
            <a:avLst/>
          </a:prstGeom>
        </p:spPr>
        <p:txBody>
          <a:bodyPr vert="horz" wrap="square" lIns="0" tIns="10160" rIns="0" bIns="0" rtlCol="0">
            <a:spAutoFit/>
          </a:bodyPr>
          <a:lstStyle/>
          <a:p>
            <a:pPr marL="12700" marR="5080">
              <a:lnSpc>
                <a:spcPct val="101200"/>
              </a:lnSpc>
              <a:spcBef>
                <a:spcPts val="80"/>
              </a:spcBef>
            </a:pPr>
            <a:r>
              <a:rPr lang="en-US" sz="1400" dirty="0">
                <a:solidFill>
                  <a:srgbClr val="7F7F7F"/>
                </a:solidFill>
                <a:latin typeface="Arial"/>
                <a:cs typeface="Arial"/>
              </a:rPr>
              <a:t>Each subscription level offers </a:t>
            </a:r>
            <a:r>
              <a:rPr sz="1400" spc="55" dirty="0">
                <a:solidFill>
                  <a:srgbClr val="7F7F7F"/>
                </a:solidFill>
                <a:latin typeface="Arial"/>
                <a:cs typeface="Arial"/>
              </a:rPr>
              <a:t>efficient</a:t>
            </a:r>
            <a:r>
              <a:rPr sz="1400" spc="25" dirty="0">
                <a:solidFill>
                  <a:srgbClr val="7F7F7F"/>
                </a:solidFill>
                <a:latin typeface="Arial"/>
                <a:cs typeface="Arial"/>
              </a:rPr>
              <a:t> </a:t>
            </a:r>
            <a:r>
              <a:rPr sz="1400" spc="-10" dirty="0">
                <a:solidFill>
                  <a:srgbClr val="7F7F7F"/>
                </a:solidFill>
                <a:latin typeface="Arial"/>
                <a:cs typeface="Arial"/>
              </a:rPr>
              <a:t>execution </a:t>
            </a:r>
            <a:r>
              <a:rPr sz="1400" spc="60" dirty="0">
                <a:solidFill>
                  <a:srgbClr val="7F7F7F"/>
                </a:solidFill>
                <a:latin typeface="Arial"/>
                <a:cs typeface="Arial"/>
              </a:rPr>
              <a:t>with</a:t>
            </a:r>
            <a:r>
              <a:rPr sz="1400" spc="95" dirty="0">
                <a:solidFill>
                  <a:srgbClr val="7F7F7F"/>
                </a:solidFill>
                <a:latin typeface="Arial"/>
                <a:cs typeface="Arial"/>
              </a:rPr>
              <a:t> </a:t>
            </a:r>
            <a:r>
              <a:rPr sz="1400" spc="55" dirty="0">
                <a:solidFill>
                  <a:srgbClr val="7F7F7F"/>
                </a:solidFill>
                <a:latin typeface="Arial"/>
                <a:cs typeface="Arial"/>
              </a:rPr>
              <a:t>real-</a:t>
            </a:r>
            <a:r>
              <a:rPr sz="1400" spc="70" dirty="0">
                <a:solidFill>
                  <a:srgbClr val="7F7F7F"/>
                </a:solidFill>
                <a:latin typeface="Arial"/>
                <a:cs typeface="Arial"/>
              </a:rPr>
              <a:t>time</a:t>
            </a:r>
            <a:r>
              <a:rPr sz="1400" spc="95" dirty="0">
                <a:solidFill>
                  <a:srgbClr val="7F7F7F"/>
                </a:solidFill>
                <a:latin typeface="Arial"/>
                <a:cs typeface="Arial"/>
              </a:rPr>
              <a:t> </a:t>
            </a:r>
            <a:r>
              <a:rPr sz="1400" dirty="0">
                <a:solidFill>
                  <a:srgbClr val="7F7F7F"/>
                </a:solidFill>
                <a:latin typeface="Arial"/>
                <a:cs typeface="Arial"/>
              </a:rPr>
              <a:t>tracking,</a:t>
            </a:r>
            <a:r>
              <a:rPr sz="1400" spc="100" dirty="0">
                <a:solidFill>
                  <a:srgbClr val="7F7F7F"/>
                </a:solidFill>
                <a:latin typeface="Arial"/>
                <a:cs typeface="Arial"/>
              </a:rPr>
              <a:t> </a:t>
            </a:r>
            <a:r>
              <a:rPr sz="1400" dirty="0">
                <a:solidFill>
                  <a:srgbClr val="7F7F7F"/>
                </a:solidFill>
                <a:latin typeface="Arial"/>
                <a:cs typeface="Arial"/>
              </a:rPr>
              <a:t>analytics,</a:t>
            </a:r>
            <a:r>
              <a:rPr sz="1400" spc="95" dirty="0">
                <a:solidFill>
                  <a:srgbClr val="7F7F7F"/>
                </a:solidFill>
                <a:latin typeface="Arial"/>
                <a:cs typeface="Arial"/>
              </a:rPr>
              <a:t> </a:t>
            </a:r>
            <a:r>
              <a:rPr sz="1400" spc="-25" dirty="0">
                <a:solidFill>
                  <a:srgbClr val="7F7F7F"/>
                </a:solidFill>
                <a:latin typeface="Arial"/>
                <a:cs typeface="Arial"/>
              </a:rPr>
              <a:t>and </a:t>
            </a:r>
            <a:r>
              <a:rPr sz="1400" spc="-10" dirty="0">
                <a:solidFill>
                  <a:srgbClr val="7F7F7F"/>
                </a:solidFill>
                <a:latin typeface="Arial"/>
                <a:cs typeface="Arial"/>
              </a:rPr>
              <a:t>optimization.</a:t>
            </a:r>
            <a:endParaRPr lang="en-US" sz="1400" spc="-10" dirty="0">
              <a:solidFill>
                <a:srgbClr val="7F7F7F"/>
              </a:solidFill>
              <a:latin typeface="Arial"/>
              <a:cs typeface="Arial"/>
            </a:endParaRPr>
          </a:p>
          <a:p>
            <a:pPr marL="12700" marR="5080">
              <a:lnSpc>
                <a:spcPct val="101200"/>
              </a:lnSpc>
              <a:spcBef>
                <a:spcPts val="80"/>
              </a:spcBef>
            </a:pPr>
            <a:endParaRPr lang="en-US" sz="1400" spc="-10" dirty="0">
              <a:solidFill>
                <a:srgbClr val="7F7F7F"/>
              </a:solidFill>
              <a:latin typeface="Arial"/>
              <a:cs typeface="Arial"/>
            </a:endParaRPr>
          </a:p>
          <a:p>
            <a:pPr marL="12700" marR="5080">
              <a:lnSpc>
                <a:spcPct val="101200"/>
              </a:lnSpc>
              <a:spcBef>
                <a:spcPts val="80"/>
              </a:spcBef>
            </a:pPr>
            <a:endParaRPr lang="en-US" sz="1400" spc="-10" dirty="0">
              <a:solidFill>
                <a:srgbClr val="7F7F7F"/>
              </a:solidFill>
              <a:latin typeface="Arial"/>
              <a:cs typeface="Arial"/>
            </a:endParaRPr>
          </a:p>
        </p:txBody>
      </p:sp>
      <p:sp>
        <p:nvSpPr>
          <p:cNvPr id="12" name="object 12"/>
          <p:cNvSpPr/>
          <p:nvPr/>
        </p:nvSpPr>
        <p:spPr>
          <a:xfrm>
            <a:off x="2736924" y="4648200"/>
            <a:ext cx="338455" cy="0"/>
          </a:xfrm>
          <a:custGeom>
            <a:avLst/>
            <a:gdLst/>
            <a:ahLst/>
            <a:cxnLst/>
            <a:rect l="l" t="t" r="r" b="b"/>
            <a:pathLst>
              <a:path w="338455">
                <a:moveTo>
                  <a:pt x="0" y="0"/>
                </a:moveTo>
                <a:lnTo>
                  <a:pt x="338138" y="0"/>
                </a:lnTo>
              </a:path>
            </a:pathLst>
          </a:custGeom>
          <a:ln w="12700">
            <a:solidFill>
              <a:srgbClr val="A6A6A6"/>
            </a:solidFill>
          </a:ln>
        </p:spPr>
        <p:txBody>
          <a:bodyPr wrap="square" lIns="0" tIns="0" rIns="0" bIns="0" rtlCol="0"/>
          <a:lstStyle/>
          <a:p>
            <a:endParaRPr dirty="0"/>
          </a:p>
        </p:txBody>
      </p:sp>
      <p:grpSp>
        <p:nvGrpSpPr>
          <p:cNvPr id="13" name="object 13"/>
          <p:cNvGrpSpPr/>
          <p:nvPr/>
        </p:nvGrpSpPr>
        <p:grpSpPr>
          <a:xfrm>
            <a:off x="6502397" y="1014684"/>
            <a:ext cx="4487545" cy="1524000"/>
            <a:chOff x="6502397" y="1014684"/>
            <a:chExt cx="4487545" cy="1524000"/>
          </a:xfrm>
        </p:grpSpPr>
        <p:sp>
          <p:nvSpPr>
            <p:cNvPr id="14" name="object 14"/>
            <p:cNvSpPr/>
            <p:nvPr/>
          </p:nvSpPr>
          <p:spPr>
            <a:xfrm>
              <a:off x="6502657" y="1014684"/>
              <a:ext cx="4486910" cy="1524000"/>
            </a:xfrm>
            <a:custGeom>
              <a:avLst/>
              <a:gdLst/>
              <a:ahLst/>
              <a:cxnLst/>
              <a:rect l="l" t="t" r="r" b="b"/>
              <a:pathLst>
                <a:path w="4486909" h="1524000">
                  <a:moveTo>
                    <a:pt x="4431929" y="0"/>
                  </a:moveTo>
                  <a:lnTo>
                    <a:pt x="54848" y="0"/>
                  </a:lnTo>
                  <a:lnTo>
                    <a:pt x="33499" y="4310"/>
                  </a:lnTo>
                  <a:lnTo>
                    <a:pt x="16064" y="16064"/>
                  </a:lnTo>
                  <a:lnTo>
                    <a:pt x="4310" y="33499"/>
                  </a:lnTo>
                  <a:lnTo>
                    <a:pt x="0" y="54848"/>
                  </a:lnTo>
                  <a:lnTo>
                    <a:pt x="0" y="1469151"/>
                  </a:lnTo>
                  <a:lnTo>
                    <a:pt x="4310" y="1490500"/>
                  </a:lnTo>
                  <a:lnTo>
                    <a:pt x="16064" y="1507935"/>
                  </a:lnTo>
                  <a:lnTo>
                    <a:pt x="33499" y="1519689"/>
                  </a:lnTo>
                  <a:lnTo>
                    <a:pt x="54848" y="1524000"/>
                  </a:lnTo>
                  <a:lnTo>
                    <a:pt x="4431929" y="1524000"/>
                  </a:lnTo>
                  <a:lnTo>
                    <a:pt x="4453278" y="1519689"/>
                  </a:lnTo>
                  <a:lnTo>
                    <a:pt x="4470713" y="1507935"/>
                  </a:lnTo>
                  <a:lnTo>
                    <a:pt x="4482467" y="1490500"/>
                  </a:lnTo>
                  <a:lnTo>
                    <a:pt x="4486777" y="1469151"/>
                  </a:lnTo>
                  <a:lnTo>
                    <a:pt x="4486777" y="54848"/>
                  </a:lnTo>
                  <a:lnTo>
                    <a:pt x="4482467" y="33499"/>
                  </a:lnTo>
                  <a:lnTo>
                    <a:pt x="4470713" y="16064"/>
                  </a:lnTo>
                  <a:lnTo>
                    <a:pt x="4453278" y="4310"/>
                  </a:lnTo>
                  <a:lnTo>
                    <a:pt x="4431929" y="0"/>
                  </a:lnTo>
                  <a:close/>
                </a:path>
              </a:pathLst>
            </a:custGeom>
            <a:solidFill>
              <a:srgbClr val="EEEBEB">
                <a:alpha val="53999"/>
              </a:srgbClr>
            </a:solidFill>
          </p:spPr>
          <p:txBody>
            <a:bodyPr wrap="square" lIns="0" tIns="0" rIns="0" bIns="0" rtlCol="0"/>
            <a:lstStyle/>
            <a:p>
              <a:endParaRPr dirty="0"/>
            </a:p>
          </p:txBody>
        </p:sp>
        <p:sp>
          <p:nvSpPr>
            <p:cNvPr id="15" name="object 15"/>
            <p:cNvSpPr/>
            <p:nvPr/>
          </p:nvSpPr>
          <p:spPr>
            <a:xfrm>
              <a:off x="6502397" y="1014684"/>
              <a:ext cx="1379220" cy="1524000"/>
            </a:xfrm>
            <a:custGeom>
              <a:avLst/>
              <a:gdLst/>
              <a:ahLst/>
              <a:cxnLst/>
              <a:rect l="l" t="t" r="r" b="b"/>
              <a:pathLst>
                <a:path w="1379220" h="1524000">
                  <a:moveTo>
                    <a:pt x="1329481" y="0"/>
                  </a:moveTo>
                  <a:lnTo>
                    <a:pt x="49635" y="0"/>
                  </a:lnTo>
                  <a:lnTo>
                    <a:pt x="30315" y="3900"/>
                  </a:lnTo>
                  <a:lnTo>
                    <a:pt x="14537" y="14537"/>
                  </a:lnTo>
                  <a:lnTo>
                    <a:pt x="3900" y="30314"/>
                  </a:lnTo>
                  <a:lnTo>
                    <a:pt x="0" y="49634"/>
                  </a:lnTo>
                  <a:lnTo>
                    <a:pt x="0" y="1474365"/>
                  </a:lnTo>
                  <a:lnTo>
                    <a:pt x="3900" y="1493685"/>
                  </a:lnTo>
                  <a:lnTo>
                    <a:pt x="14537" y="1509462"/>
                  </a:lnTo>
                  <a:lnTo>
                    <a:pt x="30315" y="1520099"/>
                  </a:lnTo>
                  <a:lnTo>
                    <a:pt x="49635" y="1524000"/>
                  </a:lnTo>
                  <a:lnTo>
                    <a:pt x="1329481" y="1524000"/>
                  </a:lnTo>
                  <a:lnTo>
                    <a:pt x="1348802" y="1520099"/>
                  </a:lnTo>
                  <a:lnTo>
                    <a:pt x="1364579" y="1509462"/>
                  </a:lnTo>
                  <a:lnTo>
                    <a:pt x="1375216" y="1493685"/>
                  </a:lnTo>
                  <a:lnTo>
                    <a:pt x="1379117" y="1474365"/>
                  </a:lnTo>
                  <a:lnTo>
                    <a:pt x="1379117" y="49634"/>
                  </a:lnTo>
                  <a:lnTo>
                    <a:pt x="1375216" y="30314"/>
                  </a:lnTo>
                  <a:lnTo>
                    <a:pt x="1364579" y="14537"/>
                  </a:lnTo>
                  <a:lnTo>
                    <a:pt x="1348802" y="3900"/>
                  </a:lnTo>
                  <a:lnTo>
                    <a:pt x="1329481" y="0"/>
                  </a:lnTo>
                  <a:close/>
                </a:path>
              </a:pathLst>
            </a:custGeom>
            <a:solidFill>
              <a:srgbClr val="A6A6A6">
                <a:alpha val="14999"/>
              </a:srgbClr>
            </a:solidFill>
          </p:spPr>
          <p:txBody>
            <a:bodyPr wrap="square" lIns="0" tIns="0" rIns="0" bIns="0" rtlCol="0"/>
            <a:lstStyle/>
            <a:p>
              <a:endParaRPr dirty="0"/>
            </a:p>
          </p:txBody>
        </p:sp>
      </p:grpSp>
      <p:sp>
        <p:nvSpPr>
          <p:cNvPr id="16" name="object 16"/>
          <p:cNvSpPr txBox="1"/>
          <p:nvPr/>
        </p:nvSpPr>
        <p:spPr>
          <a:xfrm>
            <a:off x="8353536" y="1255176"/>
            <a:ext cx="2078355" cy="1158972"/>
          </a:xfrm>
          <a:prstGeom prst="rect">
            <a:avLst/>
          </a:prstGeom>
        </p:spPr>
        <p:txBody>
          <a:bodyPr vert="horz" wrap="square" lIns="0" tIns="12700" rIns="0" bIns="0" rtlCol="0">
            <a:spAutoFit/>
          </a:bodyPr>
          <a:lstStyle/>
          <a:p>
            <a:pPr marL="12700">
              <a:lnSpc>
                <a:spcPct val="100000"/>
              </a:lnSpc>
              <a:spcBef>
                <a:spcPts val="100"/>
              </a:spcBef>
            </a:pPr>
            <a:r>
              <a:rPr sz="1800" b="1" spc="300" dirty="0">
                <a:solidFill>
                  <a:srgbClr val="262626"/>
                </a:solidFill>
                <a:latin typeface="Graphik Bold"/>
                <a:cs typeface="Graphik Bold"/>
              </a:rPr>
              <a:t>blaze</a:t>
            </a:r>
            <a:endParaRPr sz="1800" spc="300" dirty="0">
              <a:latin typeface="Graphik Regular"/>
              <a:cs typeface="Graphik Regular"/>
            </a:endParaRPr>
          </a:p>
          <a:p>
            <a:pPr marL="12700" marR="5080">
              <a:lnSpc>
                <a:spcPct val="104200"/>
              </a:lnSpc>
              <a:spcBef>
                <a:spcPts val="925"/>
              </a:spcBef>
            </a:pPr>
            <a:r>
              <a:rPr sz="1200" dirty="0">
                <a:solidFill>
                  <a:srgbClr val="262626"/>
                </a:solidFill>
                <a:latin typeface="Graphik Regular" panose="020B0503030202060203" pitchFamily="34" charset="77"/>
                <a:cs typeface="Arial"/>
              </a:rPr>
              <a:t>An</a:t>
            </a:r>
            <a:r>
              <a:rPr sz="1200" spc="60"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advanced</a:t>
            </a:r>
            <a:r>
              <a:rPr sz="1200" spc="60"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AI</a:t>
            </a:r>
            <a:r>
              <a:rPr sz="1200" spc="65" dirty="0">
                <a:solidFill>
                  <a:srgbClr val="262626"/>
                </a:solidFill>
                <a:latin typeface="Graphik Regular" panose="020B0503030202060203" pitchFamily="34" charset="77"/>
                <a:cs typeface="Arial"/>
              </a:rPr>
              <a:t> </a:t>
            </a:r>
            <a:r>
              <a:rPr sz="1200" dirty="0">
                <a:solidFill>
                  <a:srgbClr val="262626"/>
                </a:solidFill>
                <a:latin typeface="Graphik Regular" panose="020B0503030202060203" pitchFamily="34" charset="77"/>
                <a:cs typeface="Arial"/>
              </a:rPr>
              <a:t>and</a:t>
            </a:r>
            <a:r>
              <a:rPr sz="1200" spc="60" dirty="0">
                <a:solidFill>
                  <a:srgbClr val="262626"/>
                </a:solidFill>
                <a:latin typeface="Graphik Regular" panose="020B0503030202060203" pitchFamily="34" charset="77"/>
                <a:cs typeface="Arial"/>
              </a:rPr>
              <a:t> </a:t>
            </a:r>
            <a:r>
              <a:rPr sz="1200" spc="-10" dirty="0">
                <a:solidFill>
                  <a:srgbClr val="262626"/>
                </a:solidFill>
                <a:latin typeface="Graphik Regular" panose="020B0503030202060203" pitchFamily="34" charset="77"/>
                <a:cs typeface="Arial"/>
              </a:rPr>
              <a:t>machine </a:t>
            </a:r>
            <a:r>
              <a:rPr sz="1200" spc="10" dirty="0">
                <a:solidFill>
                  <a:srgbClr val="262626"/>
                </a:solidFill>
                <a:latin typeface="Graphik Regular" panose="020B0503030202060203" pitchFamily="34" charset="77"/>
                <a:cs typeface="Arial"/>
              </a:rPr>
              <a:t>learning</a:t>
            </a:r>
            <a:r>
              <a:rPr sz="1200" spc="80" dirty="0">
                <a:solidFill>
                  <a:srgbClr val="262626"/>
                </a:solidFill>
                <a:latin typeface="Graphik Regular" panose="020B0503030202060203" pitchFamily="34" charset="77"/>
                <a:cs typeface="Arial"/>
              </a:rPr>
              <a:t> </a:t>
            </a:r>
            <a:r>
              <a:rPr sz="1200" spc="10" dirty="0">
                <a:solidFill>
                  <a:srgbClr val="262626"/>
                </a:solidFill>
                <a:latin typeface="Graphik Regular" panose="020B0503030202060203" pitchFamily="34" charset="77"/>
                <a:cs typeface="Arial"/>
              </a:rPr>
              <a:t>analytics</a:t>
            </a:r>
            <a:r>
              <a:rPr sz="1200" spc="80" dirty="0">
                <a:solidFill>
                  <a:srgbClr val="262626"/>
                </a:solidFill>
                <a:latin typeface="Graphik Regular" panose="020B0503030202060203" pitchFamily="34" charset="77"/>
                <a:cs typeface="Arial"/>
              </a:rPr>
              <a:t> </a:t>
            </a:r>
            <a:r>
              <a:rPr sz="1200" spc="50" dirty="0">
                <a:solidFill>
                  <a:srgbClr val="262626"/>
                </a:solidFill>
                <a:latin typeface="Graphik Regular" panose="020B0503030202060203" pitchFamily="34" charset="77"/>
                <a:cs typeface="Arial"/>
              </a:rPr>
              <a:t>tool</a:t>
            </a:r>
            <a:r>
              <a:rPr sz="1200" spc="80" dirty="0">
                <a:solidFill>
                  <a:srgbClr val="262626"/>
                </a:solidFill>
                <a:latin typeface="Graphik Regular" panose="020B0503030202060203" pitchFamily="34" charset="77"/>
                <a:cs typeface="Arial"/>
              </a:rPr>
              <a:t> </a:t>
            </a:r>
            <a:r>
              <a:rPr sz="1200" spc="-25" dirty="0">
                <a:solidFill>
                  <a:srgbClr val="262626"/>
                </a:solidFill>
                <a:latin typeface="Graphik Regular" panose="020B0503030202060203" pitchFamily="34" charset="77"/>
                <a:cs typeface="Arial"/>
              </a:rPr>
              <a:t>for </a:t>
            </a:r>
            <a:r>
              <a:rPr sz="1200" spc="10" dirty="0">
                <a:solidFill>
                  <a:srgbClr val="262626"/>
                </a:solidFill>
                <a:latin typeface="Graphik Regular" panose="020B0503030202060203" pitchFamily="34" charset="77"/>
                <a:cs typeface="Arial"/>
              </a:rPr>
              <a:t>informed</a:t>
            </a:r>
            <a:r>
              <a:rPr sz="1200" spc="459" dirty="0">
                <a:solidFill>
                  <a:srgbClr val="262626"/>
                </a:solidFill>
                <a:latin typeface="Graphik Regular" panose="020B0503030202060203" pitchFamily="34" charset="77"/>
                <a:cs typeface="Arial"/>
              </a:rPr>
              <a:t> </a:t>
            </a:r>
            <a:r>
              <a:rPr sz="1200" spc="10" dirty="0">
                <a:solidFill>
                  <a:srgbClr val="262626"/>
                </a:solidFill>
                <a:latin typeface="Graphik Regular" panose="020B0503030202060203" pitchFamily="34" charset="77"/>
                <a:cs typeface="Arial"/>
              </a:rPr>
              <a:t>decision-</a:t>
            </a:r>
            <a:r>
              <a:rPr sz="1200" spc="-10" dirty="0">
                <a:solidFill>
                  <a:srgbClr val="262626"/>
                </a:solidFill>
                <a:latin typeface="Graphik Regular" panose="020B0503030202060203" pitchFamily="34" charset="77"/>
                <a:cs typeface="Arial"/>
              </a:rPr>
              <a:t>making.</a:t>
            </a:r>
            <a:endParaRPr sz="1200" dirty="0">
              <a:latin typeface="Graphik Regular" panose="020B0503030202060203" pitchFamily="34" charset="77"/>
              <a:cs typeface="Arial"/>
            </a:endParaRPr>
          </a:p>
        </p:txBody>
      </p:sp>
      <p:pic>
        <p:nvPicPr>
          <p:cNvPr id="17" name="object 17"/>
          <p:cNvPicPr/>
          <p:nvPr/>
        </p:nvPicPr>
        <p:blipFill>
          <a:blip r:embed="rId2" cstate="print"/>
          <a:stretch>
            <a:fillRect/>
          </a:stretch>
        </p:blipFill>
        <p:spPr>
          <a:xfrm>
            <a:off x="1311564" y="264827"/>
            <a:ext cx="992187" cy="992187"/>
          </a:xfrm>
          <a:prstGeom prst="rect">
            <a:avLst/>
          </a:prstGeom>
        </p:spPr>
      </p:pic>
      <p:pic>
        <p:nvPicPr>
          <p:cNvPr id="18" name="object 18"/>
          <p:cNvPicPr/>
          <p:nvPr/>
        </p:nvPicPr>
        <p:blipFill>
          <a:blip r:embed="rId3" cstate="print"/>
          <a:stretch>
            <a:fillRect/>
          </a:stretch>
        </p:blipFill>
        <p:spPr>
          <a:xfrm>
            <a:off x="6713832" y="1331668"/>
            <a:ext cx="890033" cy="890033"/>
          </a:xfrm>
          <a:prstGeom prst="rect">
            <a:avLst/>
          </a:prstGeom>
        </p:spPr>
      </p:pic>
      <p:pic>
        <p:nvPicPr>
          <p:cNvPr id="19" name="object 19"/>
          <p:cNvPicPr/>
          <p:nvPr/>
        </p:nvPicPr>
        <p:blipFill>
          <a:blip r:embed="rId4" cstate="print"/>
          <a:stretch>
            <a:fillRect/>
          </a:stretch>
        </p:blipFill>
        <p:spPr>
          <a:xfrm>
            <a:off x="6746680" y="3114845"/>
            <a:ext cx="890033" cy="890033"/>
          </a:xfrm>
          <a:prstGeom prst="rect">
            <a:avLst/>
          </a:prstGeom>
        </p:spPr>
      </p:pic>
      <p:grpSp>
        <p:nvGrpSpPr>
          <p:cNvPr id="20" name="object 20"/>
          <p:cNvGrpSpPr/>
          <p:nvPr/>
        </p:nvGrpSpPr>
        <p:grpSpPr>
          <a:xfrm>
            <a:off x="6502139" y="4543087"/>
            <a:ext cx="1379220" cy="1524000"/>
            <a:chOff x="6502139" y="4543087"/>
            <a:chExt cx="1379220" cy="1524000"/>
          </a:xfrm>
        </p:grpSpPr>
        <p:sp>
          <p:nvSpPr>
            <p:cNvPr id="21" name="object 21"/>
            <p:cNvSpPr/>
            <p:nvPr/>
          </p:nvSpPr>
          <p:spPr>
            <a:xfrm>
              <a:off x="6502139" y="4543087"/>
              <a:ext cx="1379220" cy="1524000"/>
            </a:xfrm>
            <a:custGeom>
              <a:avLst/>
              <a:gdLst/>
              <a:ahLst/>
              <a:cxnLst/>
              <a:rect l="l" t="t" r="r" b="b"/>
              <a:pathLst>
                <a:path w="1379220" h="1524000">
                  <a:moveTo>
                    <a:pt x="1329481" y="0"/>
                  </a:moveTo>
                  <a:lnTo>
                    <a:pt x="49634" y="0"/>
                  </a:lnTo>
                  <a:lnTo>
                    <a:pt x="30313" y="3900"/>
                  </a:lnTo>
                  <a:lnTo>
                    <a:pt x="14537" y="14537"/>
                  </a:lnTo>
                  <a:lnTo>
                    <a:pt x="3900" y="30314"/>
                  </a:lnTo>
                  <a:lnTo>
                    <a:pt x="0" y="49634"/>
                  </a:lnTo>
                  <a:lnTo>
                    <a:pt x="0" y="1474365"/>
                  </a:lnTo>
                  <a:lnTo>
                    <a:pt x="3900" y="1493685"/>
                  </a:lnTo>
                  <a:lnTo>
                    <a:pt x="14537" y="1509462"/>
                  </a:lnTo>
                  <a:lnTo>
                    <a:pt x="30313" y="1520099"/>
                  </a:lnTo>
                  <a:lnTo>
                    <a:pt x="49634" y="1523999"/>
                  </a:lnTo>
                  <a:lnTo>
                    <a:pt x="1329481" y="1523999"/>
                  </a:lnTo>
                  <a:lnTo>
                    <a:pt x="1348801" y="1520099"/>
                  </a:lnTo>
                  <a:lnTo>
                    <a:pt x="1364578" y="1509462"/>
                  </a:lnTo>
                  <a:lnTo>
                    <a:pt x="1375215" y="1493685"/>
                  </a:lnTo>
                  <a:lnTo>
                    <a:pt x="1379115" y="1474365"/>
                  </a:lnTo>
                  <a:lnTo>
                    <a:pt x="1379115" y="49634"/>
                  </a:lnTo>
                  <a:lnTo>
                    <a:pt x="1375215" y="30314"/>
                  </a:lnTo>
                  <a:lnTo>
                    <a:pt x="1364578" y="14537"/>
                  </a:lnTo>
                  <a:lnTo>
                    <a:pt x="1348801" y="3900"/>
                  </a:lnTo>
                  <a:lnTo>
                    <a:pt x="1329481" y="0"/>
                  </a:lnTo>
                  <a:close/>
                </a:path>
              </a:pathLst>
            </a:custGeom>
            <a:solidFill>
              <a:srgbClr val="A6A6A6">
                <a:alpha val="14999"/>
              </a:srgbClr>
            </a:solidFill>
          </p:spPr>
          <p:txBody>
            <a:bodyPr wrap="square" lIns="0" tIns="0" rIns="0" bIns="0" rtlCol="0"/>
            <a:lstStyle/>
            <a:p>
              <a:endParaRPr dirty="0"/>
            </a:p>
          </p:txBody>
        </p:sp>
        <p:pic>
          <p:nvPicPr>
            <p:cNvPr id="22" name="object 22"/>
            <p:cNvPicPr/>
            <p:nvPr/>
          </p:nvPicPr>
          <p:blipFill>
            <a:blip r:embed="rId5" cstate="print"/>
            <a:stretch>
              <a:fillRect/>
            </a:stretch>
          </p:blipFill>
          <p:spPr>
            <a:xfrm>
              <a:off x="6746680" y="4860070"/>
              <a:ext cx="890033" cy="890033"/>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7D72B-DC89-1447-467E-351490A00B3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F09AA93-5890-52DA-6509-247BCD7E65CC}"/>
              </a:ext>
            </a:extLst>
          </p:cNvPr>
          <p:cNvSpPr/>
          <p:nvPr/>
        </p:nvSpPr>
        <p:spPr>
          <a:xfrm>
            <a:off x="0" y="1607549"/>
            <a:ext cx="951865" cy="0"/>
          </a:xfrm>
          <a:custGeom>
            <a:avLst/>
            <a:gdLst/>
            <a:ahLst/>
            <a:cxnLst/>
            <a:rect l="l" t="t" r="r" b="b"/>
            <a:pathLst>
              <a:path w="951865">
                <a:moveTo>
                  <a:pt x="0" y="0"/>
                </a:moveTo>
                <a:lnTo>
                  <a:pt x="951592" y="0"/>
                </a:lnTo>
              </a:path>
            </a:pathLst>
          </a:custGeom>
          <a:ln w="31750">
            <a:solidFill>
              <a:srgbClr val="262626"/>
            </a:solidFill>
          </a:ln>
        </p:spPr>
        <p:txBody>
          <a:bodyPr wrap="square" lIns="0" tIns="0" rIns="0" bIns="0" rtlCol="0"/>
          <a:lstStyle/>
          <a:p>
            <a:endParaRPr/>
          </a:p>
        </p:txBody>
      </p:sp>
      <p:sp>
        <p:nvSpPr>
          <p:cNvPr id="4" name="object 4">
            <a:extLst>
              <a:ext uri="{FF2B5EF4-FFF2-40B4-BE49-F238E27FC236}">
                <a16:creationId xmlns:a16="http://schemas.microsoft.com/office/drawing/2014/main" id="{C4B8117B-D818-E940-0297-35DD60D08511}"/>
              </a:ext>
            </a:extLst>
          </p:cNvPr>
          <p:cNvSpPr txBox="1">
            <a:spLocks noGrp="1"/>
          </p:cNvSpPr>
          <p:nvPr>
            <p:ph type="title"/>
          </p:nvPr>
        </p:nvSpPr>
        <p:spPr>
          <a:xfrm>
            <a:off x="1544681" y="1321931"/>
            <a:ext cx="3199129" cy="1015663"/>
          </a:xfrm>
          <a:prstGeom prst="rect">
            <a:avLst/>
          </a:prstGeom>
        </p:spPr>
        <p:txBody>
          <a:bodyPr vert="horz" wrap="square" lIns="0" tIns="91440" rIns="0" bIns="0" rtlCol="0">
            <a:spAutoFit/>
          </a:bodyPr>
          <a:lstStyle/>
          <a:p>
            <a:pPr marL="12700" marR="5080">
              <a:lnSpc>
                <a:spcPts val="3600"/>
              </a:lnSpc>
              <a:spcBef>
                <a:spcPts val="720"/>
              </a:spcBef>
            </a:pPr>
            <a:r>
              <a:rPr lang="en-US" spc="-10" dirty="0"/>
              <a:t>target audience</a:t>
            </a:r>
            <a:endParaRPr spc="-10" dirty="0"/>
          </a:p>
        </p:txBody>
      </p:sp>
      <p:pic>
        <p:nvPicPr>
          <p:cNvPr id="13" name="object 13">
            <a:extLst>
              <a:ext uri="{FF2B5EF4-FFF2-40B4-BE49-F238E27FC236}">
                <a16:creationId xmlns:a16="http://schemas.microsoft.com/office/drawing/2014/main" id="{895DE3C2-8765-A517-693E-61FB277A544F}"/>
              </a:ext>
            </a:extLst>
          </p:cNvPr>
          <p:cNvPicPr/>
          <p:nvPr/>
        </p:nvPicPr>
        <p:blipFill>
          <a:blip r:embed="rId2" cstate="print"/>
          <a:stretch>
            <a:fillRect/>
          </a:stretch>
        </p:blipFill>
        <p:spPr>
          <a:xfrm>
            <a:off x="1311564" y="264827"/>
            <a:ext cx="992187" cy="992187"/>
          </a:xfrm>
          <a:prstGeom prst="rect">
            <a:avLst/>
          </a:prstGeom>
        </p:spPr>
      </p:pic>
      <p:sp>
        <p:nvSpPr>
          <p:cNvPr id="14" name="TextBox 13">
            <a:extLst>
              <a:ext uri="{FF2B5EF4-FFF2-40B4-BE49-F238E27FC236}">
                <a16:creationId xmlns:a16="http://schemas.microsoft.com/office/drawing/2014/main" id="{8C20EE6A-5CA8-5002-ED91-8938AF7A2E96}"/>
              </a:ext>
            </a:extLst>
          </p:cNvPr>
          <p:cNvSpPr txBox="1"/>
          <p:nvPr/>
        </p:nvSpPr>
        <p:spPr>
          <a:xfrm>
            <a:off x="4769802" y="1352708"/>
            <a:ext cx="6097836" cy="954107"/>
          </a:xfrm>
          <a:prstGeom prst="rect">
            <a:avLst/>
          </a:prstGeom>
          <a:noFill/>
        </p:spPr>
        <p:txBody>
          <a:bodyPr wrap="square">
            <a:spAutoFit/>
          </a:bodyPr>
          <a:lstStyle/>
          <a:p>
            <a:r>
              <a:rPr lang="en-US" sz="1400" b="0" i="0" u="none" strike="noStrike" dirty="0">
                <a:solidFill>
                  <a:srgbClr val="595959"/>
                </a:solidFill>
                <a:effectLst/>
                <a:latin typeface="DM Sans 14pt" pitchFamily="2" charset="77"/>
              </a:rPr>
              <a:t>Ignite targets businesses recognizing the need for transformative approaches to enhance efficiency and drive growth. This audience values agility and innovation and is eager to adopt cutting-edge solutions for a competitive edge.</a:t>
            </a:r>
            <a:endParaRPr lang="en-US" sz="1400" dirty="0">
              <a:solidFill>
                <a:srgbClr val="595959"/>
              </a:solidFill>
              <a:latin typeface="DM Sans 14pt" pitchFamily="2" charset="77"/>
            </a:endParaRPr>
          </a:p>
        </p:txBody>
      </p:sp>
      <p:sp>
        <p:nvSpPr>
          <p:cNvPr id="47" name="object 9">
            <a:extLst>
              <a:ext uri="{FF2B5EF4-FFF2-40B4-BE49-F238E27FC236}">
                <a16:creationId xmlns:a16="http://schemas.microsoft.com/office/drawing/2014/main" id="{A90E1C08-3848-17F7-7D3A-25FB3388EDE2}"/>
              </a:ext>
            </a:extLst>
          </p:cNvPr>
          <p:cNvSpPr txBox="1"/>
          <p:nvPr/>
        </p:nvSpPr>
        <p:spPr>
          <a:xfrm>
            <a:off x="990600" y="3352800"/>
            <a:ext cx="2528570" cy="1526956"/>
          </a:xfrm>
          <a:prstGeom prst="rect">
            <a:avLst/>
          </a:prstGeom>
        </p:spPr>
        <p:txBody>
          <a:bodyPr vert="horz" wrap="square" lIns="0" tIns="12700" rIns="0" bIns="0" rtlCol="0">
            <a:spAutoFit/>
          </a:bodyPr>
          <a:lstStyle/>
          <a:p>
            <a:pPr algn="ctr">
              <a:lnSpc>
                <a:spcPct val="100000"/>
              </a:lnSpc>
              <a:spcBef>
                <a:spcPts val="100"/>
              </a:spcBef>
            </a:pPr>
            <a:r>
              <a:rPr lang="en-US" sz="1800" b="1" spc="-10" dirty="0">
                <a:solidFill>
                  <a:srgbClr val="262626"/>
                </a:solidFill>
                <a:latin typeface="Graphik Regular" panose="020B0503030202060203" pitchFamily="34" charset="77"/>
                <a:cs typeface="Graphik Bold"/>
              </a:rPr>
              <a:t>hospitality</a:t>
            </a:r>
            <a:endParaRPr sz="1800" dirty="0">
              <a:latin typeface="Graphik Regular" panose="020B0503030202060203" pitchFamily="34" charset="77"/>
              <a:cs typeface="Graphik Regular"/>
            </a:endParaRPr>
          </a:p>
          <a:p>
            <a:pPr>
              <a:lnSpc>
                <a:spcPct val="100000"/>
              </a:lnSpc>
              <a:spcBef>
                <a:spcPts val="50"/>
              </a:spcBef>
            </a:pPr>
            <a:endParaRPr sz="1800" dirty="0">
              <a:solidFill>
                <a:srgbClr val="262626"/>
              </a:solidFill>
              <a:latin typeface="Graphik Regular" panose="020B0503030202060203" pitchFamily="34" charset="77"/>
              <a:cs typeface="Graphik Regular"/>
            </a:endParaRPr>
          </a:p>
          <a:p>
            <a:pPr marL="12065" marR="5080" algn="ctr">
              <a:lnSpc>
                <a:spcPts val="1500"/>
              </a:lnSpc>
            </a:pPr>
            <a:r>
              <a:rPr lang="en-US" sz="1200" b="0" i="0" u="none" strike="noStrike" dirty="0" err="1">
                <a:solidFill>
                  <a:srgbClr val="262626"/>
                </a:solidFill>
                <a:effectLst/>
                <a:latin typeface="Graphik Regular" panose="020B0503030202060203" pitchFamily="34" charset="77"/>
              </a:rPr>
              <a:t>Ignite's</a:t>
            </a:r>
            <a:r>
              <a:rPr lang="en-US" sz="1200" b="0" i="0" u="none" strike="noStrike" dirty="0">
                <a:solidFill>
                  <a:srgbClr val="262626"/>
                </a:solidFill>
                <a:effectLst/>
                <a:latin typeface="Graphik Regular" panose="020B0503030202060203" pitchFamily="34" charset="77"/>
              </a:rPr>
              <a:t> solution empowers the hospitality industry by streamlining operations through automation, enhancing guest experiences, and increasing operational efficiencies.</a:t>
            </a:r>
            <a:endParaRPr lang="en-US" sz="1200" dirty="0">
              <a:solidFill>
                <a:srgbClr val="262626"/>
              </a:solidFill>
              <a:latin typeface="Graphik Regular" panose="020B0503030202060203" pitchFamily="34" charset="77"/>
              <a:cs typeface="Arial"/>
            </a:endParaRPr>
          </a:p>
        </p:txBody>
      </p:sp>
      <p:sp>
        <p:nvSpPr>
          <p:cNvPr id="48" name="object 8">
            <a:extLst>
              <a:ext uri="{FF2B5EF4-FFF2-40B4-BE49-F238E27FC236}">
                <a16:creationId xmlns:a16="http://schemas.microsoft.com/office/drawing/2014/main" id="{972EFD23-4DAF-12D1-6B75-FDD32C103323}"/>
              </a:ext>
            </a:extLst>
          </p:cNvPr>
          <p:cNvSpPr txBox="1"/>
          <p:nvPr/>
        </p:nvSpPr>
        <p:spPr>
          <a:xfrm>
            <a:off x="4191000" y="5127162"/>
            <a:ext cx="3733799" cy="1335750"/>
          </a:xfrm>
          <a:prstGeom prst="rect">
            <a:avLst/>
          </a:prstGeom>
        </p:spPr>
        <p:txBody>
          <a:bodyPr vert="horz" wrap="square" lIns="0" tIns="12700" rIns="0" bIns="0" rtlCol="0">
            <a:spAutoFit/>
          </a:bodyPr>
          <a:lstStyle/>
          <a:p>
            <a:pPr algn="ctr">
              <a:lnSpc>
                <a:spcPct val="100000"/>
              </a:lnSpc>
              <a:spcBef>
                <a:spcPts val="100"/>
              </a:spcBef>
            </a:pPr>
            <a:r>
              <a:rPr lang="en-US" sz="1800" b="1" dirty="0">
                <a:solidFill>
                  <a:srgbClr val="262626"/>
                </a:solidFill>
                <a:latin typeface="Graphik Regular" panose="020B0503030202060203" pitchFamily="34" charset="77"/>
                <a:cs typeface="Graphik Bold"/>
              </a:rPr>
              <a:t>retail</a:t>
            </a:r>
            <a:endParaRPr sz="1800" dirty="0">
              <a:latin typeface="Graphik Regular" panose="020B0503030202060203" pitchFamily="34" charset="77"/>
              <a:cs typeface="Graphik Regular"/>
            </a:endParaRPr>
          </a:p>
          <a:p>
            <a:pPr>
              <a:lnSpc>
                <a:spcPct val="100000"/>
              </a:lnSpc>
              <a:spcBef>
                <a:spcPts val="50"/>
              </a:spcBef>
            </a:pPr>
            <a:endParaRPr sz="1800" dirty="0">
              <a:latin typeface="Graphik Regular" panose="020B0503030202060203" pitchFamily="34" charset="77"/>
              <a:cs typeface="Graphik Regular"/>
            </a:endParaRPr>
          </a:p>
          <a:p>
            <a:pPr marL="12700" marR="5080" algn="ctr">
              <a:lnSpc>
                <a:spcPts val="1500"/>
              </a:lnSpc>
            </a:pPr>
            <a:r>
              <a:rPr lang="en-US" sz="1200" b="0" i="0" u="none" strike="noStrike" dirty="0">
                <a:solidFill>
                  <a:srgbClr val="000000"/>
                </a:solidFill>
                <a:effectLst/>
                <a:latin typeface="Graphik Regular" panose="020B0503030202060203" pitchFamily="34" charset="77"/>
              </a:rPr>
              <a:t>Our innovative solution improves customer engagement and marketing effectiveness in retail, driving higher sales, improved retention, and greater customer satisfaction</a:t>
            </a:r>
            <a:r>
              <a:rPr lang="en-US" sz="1200" b="0" i="0" u="none" strike="noStrike" dirty="0">
                <a:solidFill>
                  <a:srgbClr val="000000"/>
                </a:solidFill>
                <a:effectLst/>
              </a:rPr>
              <a:t>.</a:t>
            </a:r>
            <a:endParaRPr sz="1200" dirty="0">
              <a:latin typeface="Graphik Regular" panose="020B0503030202060203" pitchFamily="34" charset="77"/>
              <a:cs typeface="Arial"/>
            </a:endParaRPr>
          </a:p>
        </p:txBody>
      </p:sp>
      <p:sp>
        <p:nvSpPr>
          <p:cNvPr id="49" name="object 5">
            <a:extLst>
              <a:ext uri="{FF2B5EF4-FFF2-40B4-BE49-F238E27FC236}">
                <a16:creationId xmlns:a16="http://schemas.microsoft.com/office/drawing/2014/main" id="{34BB3AD3-4A0A-9E46-98A7-490912A31E2C}"/>
              </a:ext>
            </a:extLst>
          </p:cNvPr>
          <p:cNvSpPr txBox="1"/>
          <p:nvPr/>
        </p:nvSpPr>
        <p:spPr>
          <a:xfrm>
            <a:off x="8559160" y="3354428"/>
            <a:ext cx="2718440" cy="1719317"/>
          </a:xfrm>
          <a:prstGeom prst="rect">
            <a:avLst/>
          </a:prstGeom>
        </p:spPr>
        <p:txBody>
          <a:bodyPr vert="horz" wrap="square" lIns="0" tIns="12700" rIns="0" bIns="0" rtlCol="0">
            <a:spAutoFit/>
          </a:bodyPr>
          <a:lstStyle/>
          <a:p>
            <a:pPr marR="33655" algn="ctr">
              <a:lnSpc>
                <a:spcPct val="100000"/>
              </a:lnSpc>
              <a:spcBef>
                <a:spcPts val="100"/>
              </a:spcBef>
            </a:pPr>
            <a:r>
              <a:rPr lang="en-US" b="1" dirty="0">
                <a:solidFill>
                  <a:srgbClr val="262626"/>
                </a:solidFill>
                <a:latin typeface="Graphik Regular" panose="020B0503030202060203" pitchFamily="34" charset="77"/>
                <a:cs typeface="Graphik Bold"/>
              </a:rPr>
              <a:t>s</a:t>
            </a:r>
            <a:r>
              <a:rPr lang="en-US" sz="1800" b="1" dirty="0">
                <a:solidFill>
                  <a:srgbClr val="262626"/>
                </a:solidFill>
                <a:latin typeface="Graphik Regular" panose="020B0503030202060203" pitchFamily="34" charset="77"/>
                <a:cs typeface="Graphik Bold"/>
              </a:rPr>
              <a:t>tartups / SMEs</a:t>
            </a:r>
            <a:endParaRPr sz="1800" dirty="0">
              <a:latin typeface="Graphik Regular" panose="020B0503030202060203" pitchFamily="34" charset="77"/>
              <a:cs typeface="Graphik Regular"/>
            </a:endParaRPr>
          </a:p>
          <a:p>
            <a:pPr>
              <a:lnSpc>
                <a:spcPct val="100000"/>
              </a:lnSpc>
              <a:spcBef>
                <a:spcPts val="50"/>
              </a:spcBef>
            </a:pPr>
            <a:endParaRPr sz="1800" dirty="0">
              <a:latin typeface="Graphik Regular" panose="020B0503030202060203" pitchFamily="34" charset="77"/>
              <a:cs typeface="Graphik Regular"/>
            </a:endParaRPr>
          </a:p>
          <a:p>
            <a:pPr marL="12700" marR="5080" algn="ctr">
              <a:lnSpc>
                <a:spcPts val="1500"/>
              </a:lnSpc>
            </a:pPr>
            <a:r>
              <a:rPr lang="en-US" sz="1200" b="0" i="0" u="none" strike="noStrike" dirty="0">
                <a:solidFill>
                  <a:srgbClr val="262626"/>
                </a:solidFill>
                <a:effectLst/>
                <a:latin typeface="Graphik Regular" panose="020B0503030202060203" pitchFamily="34" charset="77"/>
              </a:rPr>
              <a:t>For startups and SMEs, </a:t>
            </a:r>
            <a:r>
              <a:rPr lang="en-US" sz="1200" b="0" i="0" u="none" strike="noStrike" dirty="0" err="1">
                <a:solidFill>
                  <a:srgbClr val="262626"/>
                </a:solidFill>
                <a:effectLst/>
                <a:latin typeface="Graphik Regular" panose="020B0503030202060203" pitchFamily="34" charset="77"/>
              </a:rPr>
              <a:t>Ignite’s</a:t>
            </a:r>
            <a:r>
              <a:rPr lang="en-US" sz="1200" b="0" i="0" u="none" strike="noStrike" dirty="0">
                <a:solidFill>
                  <a:srgbClr val="262626"/>
                </a:solidFill>
                <a:effectLst/>
                <a:latin typeface="Graphik Regular" panose="020B0503030202060203" pitchFamily="34" charset="77"/>
              </a:rPr>
              <a:t> technology provides scalable, cost-effective tools that enable rapid growth and market adaptability, ensuring these businesses stay ahead in a competitive landscape.</a:t>
            </a:r>
            <a:endParaRPr sz="1200" dirty="0">
              <a:solidFill>
                <a:srgbClr val="262626"/>
              </a:solidFill>
              <a:latin typeface="Graphik Regular" panose="020B0503030202060203" pitchFamily="34" charset="77"/>
              <a:cs typeface="Arial"/>
            </a:endParaRPr>
          </a:p>
        </p:txBody>
      </p:sp>
      <p:sp>
        <p:nvSpPr>
          <p:cNvPr id="50" name="object 12">
            <a:extLst>
              <a:ext uri="{FF2B5EF4-FFF2-40B4-BE49-F238E27FC236}">
                <a16:creationId xmlns:a16="http://schemas.microsoft.com/office/drawing/2014/main" id="{1998DE2F-FB33-3AA5-3924-52EA7524EE22}"/>
              </a:ext>
            </a:extLst>
          </p:cNvPr>
          <p:cNvSpPr/>
          <p:nvPr/>
        </p:nvSpPr>
        <p:spPr>
          <a:xfrm>
            <a:off x="4425065" y="3733383"/>
            <a:ext cx="419100" cy="293370"/>
          </a:xfrm>
          <a:custGeom>
            <a:avLst/>
            <a:gdLst/>
            <a:ahLst/>
            <a:cxnLst/>
            <a:rect l="l" t="t" r="r" b="b"/>
            <a:pathLst>
              <a:path w="419100" h="293370">
                <a:moveTo>
                  <a:pt x="209190" y="0"/>
                </a:moveTo>
                <a:lnTo>
                  <a:pt x="193217" y="3278"/>
                </a:lnTo>
                <a:lnTo>
                  <a:pt x="179805" y="12191"/>
                </a:lnTo>
                <a:lnTo>
                  <a:pt x="170572" y="25356"/>
                </a:lnTo>
                <a:lnTo>
                  <a:pt x="167135" y="41389"/>
                </a:lnTo>
                <a:lnTo>
                  <a:pt x="167135" y="47148"/>
                </a:lnTo>
                <a:lnTo>
                  <a:pt x="168934" y="53266"/>
                </a:lnTo>
                <a:lnTo>
                  <a:pt x="171090" y="57945"/>
                </a:lnTo>
                <a:lnTo>
                  <a:pt x="124682" y="74147"/>
                </a:lnTo>
                <a:lnTo>
                  <a:pt x="84590" y="101267"/>
                </a:lnTo>
                <a:lnTo>
                  <a:pt x="52640" y="137526"/>
                </a:lnTo>
                <a:lnTo>
                  <a:pt x="30663" y="181145"/>
                </a:lnTo>
                <a:lnTo>
                  <a:pt x="20487" y="230343"/>
                </a:lnTo>
                <a:lnTo>
                  <a:pt x="397893" y="230343"/>
                </a:lnTo>
                <a:lnTo>
                  <a:pt x="387892" y="181145"/>
                </a:lnTo>
                <a:lnTo>
                  <a:pt x="366021" y="137526"/>
                </a:lnTo>
                <a:lnTo>
                  <a:pt x="334126" y="101267"/>
                </a:lnTo>
                <a:lnTo>
                  <a:pt x="294054" y="74147"/>
                </a:lnTo>
                <a:lnTo>
                  <a:pt x="247650" y="57945"/>
                </a:lnTo>
                <a:lnTo>
                  <a:pt x="249806" y="53266"/>
                </a:lnTo>
                <a:lnTo>
                  <a:pt x="251603" y="47148"/>
                </a:lnTo>
                <a:lnTo>
                  <a:pt x="251603" y="41389"/>
                </a:lnTo>
                <a:lnTo>
                  <a:pt x="248160" y="25356"/>
                </a:lnTo>
                <a:lnTo>
                  <a:pt x="238888" y="12191"/>
                </a:lnTo>
                <a:lnTo>
                  <a:pt x="225370" y="3278"/>
                </a:lnTo>
                <a:lnTo>
                  <a:pt x="209190" y="0"/>
                </a:lnTo>
                <a:close/>
              </a:path>
              <a:path w="419100" h="293370">
                <a:moveTo>
                  <a:pt x="418740" y="251937"/>
                </a:moveTo>
                <a:lnTo>
                  <a:pt x="0" y="251937"/>
                </a:lnTo>
                <a:lnTo>
                  <a:pt x="0" y="293328"/>
                </a:lnTo>
                <a:lnTo>
                  <a:pt x="418740" y="293328"/>
                </a:lnTo>
                <a:lnTo>
                  <a:pt x="418740" y="251937"/>
                </a:lnTo>
                <a:close/>
              </a:path>
            </a:pathLst>
          </a:custGeom>
          <a:solidFill>
            <a:srgbClr val="462427"/>
          </a:solidFill>
        </p:spPr>
        <p:txBody>
          <a:bodyPr wrap="square" lIns="0" tIns="0" rIns="0" bIns="0" rtlCol="0"/>
          <a:lstStyle/>
          <a:p>
            <a:endParaRPr/>
          </a:p>
        </p:txBody>
      </p:sp>
      <p:pic>
        <p:nvPicPr>
          <p:cNvPr id="51" name="Picture 50" descr="A black background with a black square&#10;&#10;Description automatically generated with medium confidence">
            <a:extLst>
              <a:ext uri="{FF2B5EF4-FFF2-40B4-BE49-F238E27FC236}">
                <a16:creationId xmlns:a16="http://schemas.microsoft.com/office/drawing/2014/main" id="{7A89D6BE-CD08-0FAD-7112-D2CA23515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7157" y="3670476"/>
            <a:ext cx="356277" cy="356277"/>
          </a:xfrm>
          <a:prstGeom prst="rect">
            <a:avLst/>
          </a:prstGeom>
        </p:spPr>
      </p:pic>
      <p:sp>
        <p:nvSpPr>
          <p:cNvPr id="52" name="object 10">
            <a:extLst>
              <a:ext uri="{FF2B5EF4-FFF2-40B4-BE49-F238E27FC236}">
                <a16:creationId xmlns:a16="http://schemas.microsoft.com/office/drawing/2014/main" id="{0C46B930-A155-B871-0000-6EB28CAB3B0A}"/>
              </a:ext>
            </a:extLst>
          </p:cNvPr>
          <p:cNvSpPr/>
          <p:nvPr/>
        </p:nvSpPr>
        <p:spPr>
          <a:xfrm>
            <a:off x="7168578" y="3648928"/>
            <a:ext cx="419100" cy="377825"/>
          </a:xfrm>
          <a:custGeom>
            <a:avLst/>
            <a:gdLst/>
            <a:ahLst/>
            <a:cxnLst/>
            <a:rect l="l" t="t" r="r" b="b"/>
            <a:pathLst>
              <a:path w="419100" h="377825">
                <a:moveTo>
                  <a:pt x="377404" y="83480"/>
                </a:moveTo>
                <a:lnTo>
                  <a:pt x="41334" y="83480"/>
                </a:lnTo>
                <a:lnTo>
                  <a:pt x="25323" y="86927"/>
                </a:lnTo>
                <a:lnTo>
                  <a:pt x="12175" y="96210"/>
                </a:lnTo>
                <a:lnTo>
                  <a:pt x="3274" y="109743"/>
                </a:lnTo>
                <a:lnTo>
                  <a:pt x="0" y="125942"/>
                </a:lnTo>
                <a:lnTo>
                  <a:pt x="0" y="188912"/>
                </a:lnTo>
                <a:lnTo>
                  <a:pt x="3122" y="205358"/>
                </a:lnTo>
                <a:lnTo>
                  <a:pt x="11771" y="218733"/>
                </a:lnTo>
                <a:lnTo>
                  <a:pt x="24868" y="227723"/>
                </a:lnTo>
                <a:lnTo>
                  <a:pt x="41334" y="231012"/>
                </a:lnTo>
                <a:lnTo>
                  <a:pt x="167135" y="231012"/>
                </a:lnTo>
                <a:lnTo>
                  <a:pt x="167135" y="188912"/>
                </a:lnTo>
                <a:lnTo>
                  <a:pt x="418740" y="188912"/>
                </a:lnTo>
                <a:lnTo>
                  <a:pt x="418740" y="125942"/>
                </a:lnTo>
                <a:lnTo>
                  <a:pt x="415466" y="109743"/>
                </a:lnTo>
                <a:lnTo>
                  <a:pt x="406564" y="96210"/>
                </a:lnTo>
                <a:lnTo>
                  <a:pt x="393416" y="86927"/>
                </a:lnTo>
                <a:lnTo>
                  <a:pt x="377404" y="83480"/>
                </a:lnTo>
                <a:close/>
              </a:path>
              <a:path w="419100" h="377825">
                <a:moveTo>
                  <a:pt x="418740" y="188912"/>
                </a:moveTo>
                <a:lnTo>
                  <a:pt x="251603" y="188912"/>
                </a:lnTo>
                <a:lnTo>
                  <a:pt x="251603" y="231012"/>
                </a:lnTo>
                <a:lnTo>
                  <a:pt x="377404" y="231012"/>
                </a:lnTo>
                <a:lnTo>
                  <a:pt x="393416" y="227572"/>
                </a:lnTo>
                <a:lnTo>
                  <a:pt x="406564" y="218329"/>
                </a:lnTo>
                <a:lnTo>
                  <a:pt x="415466" y="204902"/>
                </a:lnTo>
                <a:lnTo>
                  <a:pt x="418740" y="188912"/>
                </a:lnTo>
                <a:close/>
              </a:path>
              <a:path w="419100" h="377825">
                <a:moveTo>
                  <a:pt x="250525" y="0"/>
                </a:moveTo>
                <a:lnTo>
                  <a:pt x="167135" y="0"/>
                </a:lnTo>
                <a:lnTo>
                  <a:pt x="124722" y="42459"/>
                </a:lnTo>
                <a:lnTo>
                  <a:pt x="124722" y="83480"/>
                </a:lnTo>
                <a:lnTo>
                  <a:pt x="167135" y="83480"/>
                </a:lnTo>
                <a:lnTo>
                  <a:pt x="167135" y="42459"/>
                </a:lnTo>
                <a:lnTo>
                  <a:pt x="292938" y="42459"/>
                </a:lnTo>
                <a:lnTo>
                  <a:pt x="250525" y="0"/>
                </a:lnTo>
                <a:close/>
              </a:path>
              <a:path w="419100" h="377825">
                <a:moveTo>
                  <a:pt x="292938" y="42459"/>
                </a:moveTo>
                <a:lnTo>
                  <a:pt x="251603" y="42459"/>
                </a:lnTo>
                <a:lnTo>
                  <a:pt x="251603" y="83480"/>
                </a:lnTo>
                <a:lnTo>
                  <a:pt x="292938" y="83480"/>
                </a:lnTo>
                <a:lnTo>
                  <a:pt x="292938" y="42459"/>
                </a:lnTo>
                <a:close/>
              </a:path>
              <a:path w="419100" h="377825">
                <a:moveTo>
                  <a:pt x="167135" y="251523"/>
                </a:moveTo>
                <a:lnTo>
                  <a:pt x="20487" y="251523"/>
                </a:lnTo>
                <a:lnTo>
                  <a:pt x="20487" y="335004"/>
                </a:lnTo>
                <a:lnTo>
                  <a:pt x="23778" y="351658"/>
                </a:lnTo>
                <a:lnTo>
                  <a:pt x="32798" y="365140"/>
                </a:lnTo>
                <a:lnTo>
                  <a:pt x="46265" y="374170"/>
                </a:lnTo>
                <a:lnTo>
                  <a:pt x="62900" y="377465"/>
                </a:lnTo>
                <a:lnTo>
                  <a:pt x="355838" y="377465"/>
                </a:lnTo>
                <a:lnTo>
                  <a:pt x="372266" y="374170"/>
                </a:lnTo>
                <a:lnTo>
                  <a:pt x="385627" y="365140"/>
                </a:lnTo>
                <a:lnTo>
                  <a:pt x="394606" y="351658"/>
                </a:lnTo>
                <a:lnTo>
                  <a:pt x="397892" y="335004"/>
                </a:lnTo>
                <a:lnTo>
                  <a:pt x="397892" y="272034"/>
                </a:lnTo>
                <a:lnTo>
                  <a:pt x="167135" y="272034"/>
                </a:lnTo>
                <a:lnTo>
                  <a:pt x="167135" y="251523"/>
                </a:lnTo>
                <a:close/>
              </a:path>
              <a:path w="419100" h="377825">
                <a:moveTo>
                  <a:pt x="397892" y="251523"/>
                </a:moveTo>
                <a:lnTo>
                  <a:pt x="251603" y="251523"/>
                </a:lnTo>
                <a:lnTo>
                  <a:pt x="251603" y="272034"/>
                </a:lnTo>
                <a:lnTo>
                  <a:pt x="397892" y="272034"/>
                </a:lnTo>
                <a:lnTo>
                  <a:pt x="397892" y="251523"/>
                </a:lnTo>
                <a:close/>
              </a:path>
            </a:pathLst>
          </a:custGeom>
          <a:solidFill>
            <a:srgbClr val="462427"/>
          </a:solidFill>
        </p:spPr>
        <p:txBody>
          <a:bodyPr wrap="square" lIns="0" tIns="0" rIns="0" bIns="0" rtlCol="0"/>
          <a:lstStyle/>
          <a:p>
            <a:endParaRPr/>
          </a:p>
        </p:txBody>
      </p:sp>
      <p:grpSp>
        <p:nvGrpSpPr>
          <p:cNvPr id="2" name="Group 4">
            <a:extLst>
              <a:ext uri="{FF2B5EF4-FFF2-40B4-BE49-F238E27FC236}">
                <a16:creationId xmlns:a16="http://schemas.microsoft.com/office/drawing/2014/main" id="{221DCE98-E1EF-691B-773A-E5CDFBC4A14C}"/>
              </a:ext>
            </a:extLst>
          </p:cNvPr>
          <p:cNvGrpSpPr>
            <a:grpSpLocks noChangeAspect="1"/>
          </p:cNvGrpSpPr>
          <p:nvPr/>
        </p:nvGrpSpPr>
        <p:grpSpPr bwMode="auto">
          <a:xfrm>
            <a:off x="3714297" y="2757981"/>
            <a:ext cx="4885418" cy="2553114"/>
            <a:chOff x="2070" y="1235"/>
            <a:chExt cx="3540" cy="1850"/>
          </a:xfrm>
        </p:grpSpPr>
        <p:sp>
          <p:nvSpPr>
            <p:cNvPr id="6" name="Freeform 5">
              <a:extLst>
                <a:ext uri="{FF2B5EF4-FFF2-40B4-BE49-F238E27FC236}">
                  <a16:creationId xmlns:a16="http://schemas.microsoft.com/office/drawing/2014/main" id="{CA4C28B8-6EE6-3BF1-257C-2A3435265040}"/>
                </a:ext>
              </a:extLst>
            </p:cNvPr>
            <p:cNvSpPr>
              <a:spLocks noEditPoints="1"/>
            </p:cNvSpPr>
            <p:nvPr/>
          </p:nvSpPr>
          <p:spPr bwMode="auto">
            <a:xfrm>
              <a:off x="2084" y="1378"/>
              <a:ext cx="1409" cy="1503"/>
            </a:xfrm>
            <a:custGeom>
              <a:avLst/>
              <a:gdLst>
                <a:gd name="T0" fmla="*/ 2440 w 7046"/>
                <a:gd name="T1" fmla="*/ 7277 h 7515"/>
                <a:gd name="T2" fmla="*/ 1186 w 7046"/>
                <a:gd name="T3" fmla="*/ 6494 h 7515"/>
                <a:gd name="T4" fmla="*/ 329 w 7046"/>
                <a:gd name="T5" fmla="*/ 5294 h 7515"/>
                <a:gd name="T6" fmla="*/ 0 w 7046"/>
                <a:gd name="T7" fmla="*/ 3808 h 7515"/>
                <a:gd name="T8" fmla="*/ 261 w 7046"/>
                <a:gd name="T9" fmla="*/ 2385 h 7515"/>
                <a:gd name="T10" fmla="*/ 999 w 7046"/>
                <a:gd name="T11" fmla="*/ 1213 h 7515"/>
                <a:gd name="T12" fmla="*/ 2105 w 7046"/>
                <a:gd name="T13" fmla="*/ 386 h 7515"/>
                <a:gd name="T14" fmla="*/ 3470 w 7046"/>
                <a:gd name="T15" fmla="*/ 11 h 7515"/>
                <a:gd name="T16" fmla="*/ 4034 w 7046"/>
                <a:gd name="T17" fmla="*/ 10 h 7515"/>
                <a:gd name="T18" fmla="*/ 4735 w 7046"/>
                <a:gd name="T19" fmla="*/ 127 h 7515"/>
                <a:gd name="T20" fmla="*/ 5385 w 7046"/>
                <a:gd name="T21" fmla="*/ 368 h 7515"/>
                <a:gd name="T22" fmla="*/ 5973 w 7046"/>
                <a:gd name="T23" fmla="*/ 720 h 7515"/>
                <a:gd name="T24" fmla="*/ 6136 w 7046"/>
                <a:gd name="T25" fmla="*/ 1151 h 7515"/>
                <a:gd name="T26" fmla="*/ 5770 w 7046"/>
                <a:gd name="T27" fmla="*/ 1593 h 7515"/>
                <a:gd name="T28" fmla="*/ 5566 w 7046"/>
                <a:gd name="T29" fmla="*/ 1921 h 7515"/>
                <a:gd name="T30" fmla="*/ 5507 w 7046"/>
                <a:gd name="T31" fmla="*/ 2100 h 7515"/>
                <a:gd name="T32" fmla="*/ 5494 w 7046"/>
                <a:gd name="T33" fmla="*/ 2281 h 7515"/>
                <a:gd name="T34" fmla="*/ 5521 w 7046"/>
                <a:gd name="T35" fmla="*/ 2457 h 7515"/>
                <a:gd name="T36" fmla="*/ 5443 w 7046"/>
                <a:gd name="T37" fmla="*/ 2404 h 7515"/>
                <a:gd name="T38" fmla="*/ 5070 w 7046"/>
                <a:gd name="T39" fmla="*/ 2040 h 7515"/>
                <a:gd name="T40" fmla="*/ 4619 w 7046"/>
                <a:gd name="T41" fmla="*/ 1776 h 7515"/>
                <a:gd name="T42" fmla="*/ 4105 w 7046"/>
                <a:gd name="T43" fmla="*/ 1626 h 7515"/>
                <a:gd name="T44" fmla="*/ 3667 w 7046"/>
                <a:gd name="T45" fmla="*/ 1601 h 7515"/>
                <a:gd name="T46" fmla="*/ 2949 w 7046"/>
                <a:gd name="T47" fmla="*/ 1757 h 7515"/>
                <a:gd name="T48" fmla="*/ 2292 w 7046"/>
                <a:gd name="T49" fmla="*/ 2179 h 7515"/>
                <a:gd name="T50" fmla="*/ 1825 w 7046"/>
                <a:gd name="T51" fmla="*/ 2802 h 7515"/>
                <a:gd name="T52" fmla="*/ 1608 w 7046"/>
                <a:gd name="T53" fmla="*/ 3568 h 7515"/>
                <a:gd name="T54" fmla="*/ 1710 w 7046"/>
                <a:gd name="T55" fmla="*/ 4439 h 7515"/>
                <a:gd name="T56" fmla="*/ 2134 w 7046"/>
                <a:gd name="T57" fmla="*/ 5177 h 7515"/>
                <a:gd name="T58" fmla="*/ 2805 w 7046"/>
                <a:gd name="T59" fmla="*/ 5693 h 7515"/>
                <a:gd name="T60" fmla="*/ 3647 w 7046"/>
                <a:gd name="T61" fmla="*/ 5914 h 7515"/>
                <a:gd name="T62" fmla="*/ 4259 w 7046"/>
                <a:gd name="T63" fmla="*/ 5859 h 7515"/>
                <a:gd name="T64" fmla="*/ 4776 w 7046"/>
                <a:gd name="T65" fmla="*/ 5663 h 7515"/>
                <a:gd name="T66" fmla="*/ 5220 w 7046"/>
                <a:gd name="T67" fmla="*/ 5348 h 7515"/>
                <a:gd name="T68" fmla="*/ 5572 w 7046"/>
                <a:gd name="T69" fmla="*/ 4934 h 7515"/>
                <a:gd name="T70" fmla="*/ 5720 w 7046"/>
                <a:gd name="T71" fmla="*/ 4730 h 7515"/>
                <a:gd name="T72" fmla="*/ 5881 w 7046"/>
                <a:gd name="T73" fmla="*/ 4601 h 7515"/>
                <a:gd name="T74" fmla="*/ 6068 w 7046"/>
                <a:gd name="T75" fmla="*/ 4516 h 7515"/>
                <a:gd name="T76" fmla="*/ 6272 w 7046"/>
                <a:gd name="T77" fmla="*/ 4482 h 7515"/>
                <a:gd name="T78" fmla="*/ 6030 w 7046"/>
                <a:gd name="T79" fmla="*/ 4529 h 7515"/>
                <a:gd name="T80" fmla="*/ 5695 w 7046"/>
                <a:gd name="T81" fmla="*/ 4765 h 7515"/>
                <a:gd name="T82" fmla="*/ 5520 w 7046"/>
                <a:gd name="T83" fmla="*/ 5129 h 7515"/>
                <a:gd name="T84" fmla="*/ 5550 w 7046"/>
                <a:gd name="T85" fmla="*/ 5545 h 7515"/>
                <a:gd name="T86" fmla="*/ 5780 w 7046"/>
                <a:gd name="T87" fmla="*/ 5936 h 7515"/>
                <a:gd name="T88" fmla="*/ 6136 w 7046"/>
                <a:gd name="T89" fmla="*/ 6364 h 7515"/>
                <a:gd name="T90" fmla="*/ 5973 w 7046"/>
                <a:gd name="T91" fmla="*/ 6796 h 7515"/>
                <a:gd name="T92" fmla="*/ 5385 w 7046"/>
                <a:gd name="T93" fmla="*/ 7147 h 7515"/>
                <a:gd name="T94" fmla="*/ 4735 w 7046"/>
                <a:gd name="T95" fmla="*/ 7388 h 7515"/>
                <a:gd name="T96" fmla="*/ 4034 w 7046"/>
                <a:gd name="T97" fmla="*/ 7505 h 7515"/>
                <a:gd name="T98" fmla="*/ 6391 w 7046"/>
                <a:gd name="T99" fmla="*/ 3031 h 7515"/>
                <a:gd name="T100" fmla="*/ 6589 w 7046"/>
                <a:gd name="T101" fmla="*/ 2983 h 7515"/>
                <a:gd name="T102" fmla="*/ 6767 w 7046"/>
                <a:gd name="T103" fmla="*/ 2888 h 7515"/>
                <a:gd name="T104" fmla="*/ 6916 w 7046"/>
                <a:gd name="T105" fmla="*/ 2751 h 7515"/>
                <a:gd name="T106" fmla="*/ 7032 w 7046"/>
                <a:gd name="T107" fmla="*/ 2582 h 7515"/>
                <a:gd name="T108" fmla="*/ 6947 w 7046"/>
                <a:gd name="T109" fmla="*/ 2728 h 7515"/>
                <a:gd name="T110" fmla="*/ 6788 w 7046"/>
                <a:gd name="T111" fmla="*/ 2883 h 7515"/>
                <a:gd name="T112" fmla="*/ 6588 w 7046"/>
                <a:gd name="T113" fmla="*/ 2989 h 7515"/>
                <a:gd name="T114" fmla="*/ 6353 w 7046"/>
                <a:gd name="T115" fmla="*/ 3034 h 7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6" h="7515">
                  <a:moveTo>
                    <a:pt x="3761" y="7515"/>
                  </a:moveTo>
                  <a:lnTo>
                    <a:pt x="3563" y="7510"/>
                  </a:lnTo>
                  <a:lnTo>
                    <a:pt x="3369" y="7495"/>
                  </a:lnTo>
                  <a:lnTo>
                    <a:pt x="3176" y="7470"/>
                  </a:lnTo>
                  <a:lnTo>
                    <a:pt x="2987" y="7436"/>
                  </a:lnTo>
                  <a:lnTo>
                    <a:pt x="2801" y="7391"/>
                  </a:lnTo>
                  <a:lnTo>
                    <a:pt x="2618" y="7338"/>
                  </a:lnTo>
                  <a:lnTo>
                    <a:pt x="2440" y="7277"/>
                  </a:lnTo>
                  <a:lnTo>
                    <a:pt x="2267" y="7206"/>
                  </a:lnTo>
                  <a:lnTo>
                    <a:pt x="2096" y="7127"/>
                  </a:lnTo>
                  <a:lnTo>
                    <a:pt x="1932" y="7040"/>
                  </a:lnTo>
                  <a:lnTo>
                    <a:pt x="1772" y="6945"/>
                  </a:lnTo>
                  <a:lnTo>
                    <a:pt x="1617" y="6843"/>
                  </a:lnTo>
                  <a:lnTo>
                    <a:pt x="1468" y="6734"/>
                  </a:lnTo>
                  <a:lnTo>
                    <a:pt x="1324" y="6617"/>
                  </a:lnTo>
                  <a:lnTo>
                    <a:pt x="1186" y="6494"/>
                  </a:lnTo>
                  <a:lnTo>
                    <a:pt x="1054" y="6364"/>
                  </a:lnTo>
                  <a:lnTo>
                    <a:pt x="929" y="6228"/>
                  </a:lnTo>
                  <a:lnTo>
                    <a:pt x="811" y="6086"/>
                  </a:lnTo>
                  <a:lnTo>
                    <a:pt x="699" y="5938"/>
                  </a:lnTo>
                  <a:lnTo>
                    <a:pt x="595" y="5785"/>
                  </a:lnTo>
                  <a:lnTo>
                    <a:pt x="499" y="5627"/>
                  </a:lnTo>
                  <a:lnTo>
                    <a:pt x="409" y="5462"/>
                  </a:lnTo>
                  <a:lnTo>
                    <a:pt x="329" y="5294"/>
                  </a:lnTo>
                  <a:lnTo>
                    <a:pt x="257" y="5122"/>
                  </a:lnTo>
                  <a:lnTo>
                    <a:pt x="192" y="4945"/>
                  </a:lnTo>
                  <a:lnTo>
                    <a:pt x="137" y="4763"/>
                  </a:lnTo>
                  <a:lnTo>
                    <a:pt x="91" y="4579"/>
                  </a:lnTo>
                  <a:lnTo>
                    <a:pt x="53" y="4390"/>
                  </a:lnTo>
                  <a:lnTo>
                    <a:pt x="25" y="4199"/>
                  </a:lnTo>
                  <a:lnTo>
                    <a:pt x="8" y="4004"/>
                  </a:lnTo>
                  <a:lnTo>
                    <a:pt x="0" y="3808"/>
                  </a:lnTo>
                  <a:lnTo>
                    <a:pt x="3" y="3607"/>
                  </a:lnTo>
                  <a:lnTo>
                    <a:pt x="14" y="3425"/>
                  </a:lnTo>
                  <a:lnTo>
                    <a:pt x="35" y="3244"/>
                  </a:lnTo>
                  <a:lnTo>
                    <a:pt x="64" y="3066"/>
                  </a:lnTo>
                  <a:lnTo>
                    <a:pt x="101" y="2891"/>
                  </a:lnTo>
                  <a:lnTo>
                    <a:pt x="146" y="2719"/>
                  </a:lnTo>
                  <a:lnTo>
                    <a:pt x="200" y="2550"/>
                  </a:lnTo>
                  <a:lnTo>
                    <a:pt x="261" y="2385"/>
                  </a:lnTo>
                  <a:lnTo>
                    <a:pt x="329" y="2223"/>
                  </a:lnTo>
                  <a:lnTo>
                    <a:pt x="405" y="2066"/>
                  </a:lnTo>
                  <a:lnTo>
                    <a:pt x="488" y="1912"/>
                  </a:lnTo>
                  <a:lnTo>
                    <a:pt x="576" y="1762"/>
                  </a:lnTo>
                  <a:lnTo>
                    <a:pt x="673" y="1618"/>
                  </a:lnTo>
                  <a:lnTo>
                    <a:pt x="775" y="1478"/>
                  </a:lnTo>
                  <a:lnTo>
                    <a:pt x="884" y="1343"/>
                  </a:lnTo>
                  <a:lnTo>
                    <a:pt x="999" y="1213"/>
                  </a:lnTo>
                  <a:lnTo>
                    <a:pt x="1120" y="1089"/>
                  </a:lnTo>
                  <a:lnTo>
                    <a:pt x="1246" y="970"/>
                  </a:lnTo>
                  <a:lnTo>
                    <a:pt x="1376" y="857"/>
                  </a:lnTo>
                  <a:lnTo>
                    <a:pt x="1513" y="750"/>
                  </a:lnTo>
                  <a:lnTo>
                    <a:pt x="1654" y="649"/>
                  </a:lnTo>
                  <a:lnTo>
                    <a:pt x="1800" y="554"/>
                  </a:lnTo>
                  <a:lnTo>
                    <a:pt x="1950" y="467"/>
                  </a:lnTo>
                  <a:lnTo>
                    <a:pt x="2105" y="386"/>
                  </a:lnTo>
                  <a:lnTo>
                    <a:pt x="2264" y="312"/>
                  </a:lnTo>
                  <a:lnTo>
                    <a:pt x="2427" y="246"/>
                  </a:lnTo>
                  <a:lnTo>
                    <a:pt x="2593" y="186"/>
                  </a:lnTo>
                  <a:lnTo>
                    <a:pt x="2762" y="135"/>
                  </a:lnTo>
                  <a:lnTo>
                    <a:pt x="2935" y="92"/>
                  </a:lnTo>
                  <a:lnTo>
                    <a:pt x="3111" y="57"/>
                  </a:lnTo>
                  <a:lnTo>
                    <a:pt x="3290" y="29"/>
                  </a:lnTo>
                  <a:lnTo>
                    <a:pt x="3470" y="11"/>
                  </a:lnTo>
                  <a:lnTo>
                    <a:pt x="3654" y="1"/>
                  </a:lnTo>
                  <a:lnTo>
                    <a:pt x="3680" y="1"/>
                  </a:lnTo>
                  <a:lnTo>
                    <a:pt x="3708" y="0"/>
                  </a:lnTo>
                  <a:lnTo>
                    <a:pt x="3735" y="0"/>
                  </a:lnTo>
                  <a:lnTo>
                    <a:pt x="3761" y="0"/>
                  </a:lnTo>
                  <a:lnTo>
                    <a:pt x="3853" y="1"/>
                  </a:lnTo>
                  <a:lnTo>
                    <a:pt x="3944" y="5"/>
                  </a:lnTo>
                  <a:lnTo>
                    <a:pt x="4034" y="10"/>
                  </a:lnTo>
                  <a:lnTo>
                    <a:pt x="4124" y="17"/>
                  </a:lnTo>
                  <a:lnTo>
                    <a:pt x="4214" y="27"/>
                  </a:lnTo>
                  <a:lnTo>
                    <a:pt x="4302" y="39"/>
                  </a:lnTo>
                  <a:lnTo>
                    <a:pt x="4390" y="52"/>
                  </a:lnTo>
                  <a:lnTo>
                    <a:pt x="4477" y="69"/>
                  </a:lnTo>
                  <a:lnTo>
                    <a:pt x="4563" y="87"/>
                  </a:lnTo>
                  <a:lnTo>
                    <a:pt x="4650" y="105"/>
                  </a:lnTo>
                  <a:lnTo>
                    <a:pt x="4735" y="127"/>
                  </a:lnTo>
                  <a:lnTo>
                    <a:pt x="4819" y="152"/>
                  </a:lnTo>
                  <a:lnTo>
                    <a:pt x="4903" y="177"/>
                  </a:lnTo>
                  <a:lnTo>
                    <a:pt x="4985" y="204"/>
                  </a:lnTo>
                  <a:lnTo>
                    <a:pt x="5067" y="234"/>
                  </a:lnTo>
                  <a:lnTo>
                    <a:pt x="5147" y="264"/>
                  </a:lnTo>
                  <a:lnTo>
                    <a:pt x="5228" y="298"/>
                  </a:lnTo>
                  <a:lnTo>
                    <a:pt x="5307" y="332"/>
                  </a:lnTo>
                  <a:lnTo>
                    <a:pt x="5385" y="368"/>
                  </a:lnTo>
                  <a:lnTo>
                    <a:pt x="5463" y="407"/>
                  </a:lnTo>
                  <a:lnTo>
                    <a:pt x="5538" y="447"/>
                  </a:lnTo>
                  <a:lnTo>
                    <a:pt x="5613" y="488"/>
                  </a:lnTo>
                  <a:lnTo>
                    <a:pt x="5687" y="531"/>
                  </a:lnTo>
                  <a:lnTo>
                    <a:pt x="5760" y="576"/>
                  </a:lnTo>
                  <a:lnTo>
                    <a:pt x="5832" y="623"/>
                  </a:lnTo>
                  <a:lnTo>
                    <a:pt x="5903" y="670"/>
                  </a:lnTo>
                  <a:lnTo>
                    <a:pt x="5973" y="720"/>
                  </a:lnTo>
                  <a:lnTo>
                    <a:pt x="6041" y="771"/>
                  </a:lnTo>
                  <a:lnTo>
                    <a:pt x="6109" y="823"/>
                  </a:lnTo>
                  <a:lnTo>
                    <a:pt x="6174" y="877"/>
                  </a:lnTo>
                  <a:lnTo>
                    <a:pt x="6239" y="932"/>
                  </a:lnTo>
                  <a:lnTo>
                    <a:pt x="6302" y="989"/>
                  </a:lnTo>
                  <a:lnTo>
                    <a:pt x="6246" y="1042"/>
                  </a:lnTo>
                  <a:lnTo>
                    <a:pt x="6191" y="1097"/>
                  </a:lnTo>
                  <a:lnTo>
                    <a:pt x="6136" y="1151"/>
                  </a:lnTo>
                  <a:lnTo>
                    <a:pt x="6083" y="1207"/>
                  </a:lnTo>
                  <a:lnTo>
                    <a:pt x="6031" y="1265"/>
                  </a:lnTo>
                  <a:lnTo>
                    <a:pt x="5980" y="1323"/>
                  </a:lnTo>
                  <a:lnTo>
                    <a:pt x="5931" y="1383"/>
                  </a:lnTo>
                  <a:lnTo>
                    <a:pt x="5882" y="1443"/>
                  </a:lnTo>
                  <a:lnTo>
                    <a:pt x="5844" y="1492"/>
                  </a:lnTo>
                  <a:lnTo>
                    <a:pt x="5807" y="1542"/>
                  </a:lnTo>
                  <a:lnTo>
                    <a:pt x="5770" y="1593"/>
                  </a:lnTo>
                  <a:lnTo>
                    <a:pt x="5735" y="1644"/>
                  </a:lnTo>
                  <a:lnTo>
                    <a:pt x="5701" y="1696"/>
                  </a:lnTo>
                  <a:lnTo>
                    <a:pt x="5666" y="1749"/>
                  </a:lnTo>
                  <a:lnTo>
                    <a:pt x="5633" y="1801"/>
                  </a:lnTo>
                  <a:lnTo>
                    <a:pt x="5601" y="1855"/>
                  </a:lnTo>
                  <a:lnTo>
                    <a:pt x="5589" y="1877"/>
                  </a:lnTo>
                  <a:lnTo>
                    <a:pt x="5577" y="1899"/>
                  </a:lnTo>
                  <a:lnTo>
                    <a:pt x="5566" y="1921"/>
                  </a:lnTo>
                  <a:lnTo>
                    <a:pt x="5556" y="1943"/>
                  </a:lnTo>
                  <a:lnTo>
                    <a:pt x="5547" y="1965"/>
                  </a:lnTo>
                  <a:lnTo>
                    <a:pt x="5538" y="1987"/>
                  </a:lnTo>
                  <a:lnTo>
                    <a:pt x="5530" y="2009"/>
                  </a:lnTo>
                  <a:lnTo>
                    <a:pt x="5524" y="2033"/>
                  </a:lnTo>
                  <a:lnTo>
                    <a:pt x="5517" y="2055"/>
                  </a:lnTo>
                  <a:lnTo>
                    <a:pt x="5511" y="2078"/>
                  </a:lnTo>
                  <a:lnTo>
                    <a:pt x="5507" y="2100"/>
                  </a:lnTo>
                  <a:lnTo>
                    <a:pt x="5502" y="2123"/>
                  </a:lnTo>
                  <a:lnTo>
                    <a:pt x="5499" y="2145"/>
                  </a:lnTo>
                  <a:lnTo>
                    <a:pt x="5497" y="2169"/>
                  </a:lnTo>
                  <a:lnTo>
                    <a:pt x="5495" y="2192"/>
                  </a:lnTo>
                  <a:lnTo>
                    <a:pt x="5493" y="2214"/>
                  </a:lnTo>
                  <a:lnTo>
                    <a:pt x="5493" y="2237"/>
                  </a:lnTo>
                  <a:lnTo>
                    <a:pt x="5493" y="2259"/>
                  </a:lnTo>
                  <a:lnTo>
                    <a:pt x="5494" y="2281"/>
                  </a:lnTo>
                  <a:lnTo>
                    <a:pt x="5495" y="2303"/>
                  </a:lnTo>
                  <a:lnTo>
                    <a:pt x="5497" y="2327"/>
                  </a:lnTo>
                  <a:lnTo>
                    <a:pt x="5499" y="2349"/>
                  </a:lnTo>
                  <a:lnTo>
                    <a:pt x="5502" y="2371"/>
                  </a:lnTo>
                  <a:lnTo>
                    <a:pt x="5506" y="2393"/>
                  </a:lnTo>
                  <a:lnTo>
                    <a:pt x="5511" y="2414"/>
                  </a:lnTo>
                  <a:lnTo>
                    <a:pt x="5516" y="2436"/>
                  </a:lnTo>
                  <a:lnTo>
                    <a:pt x="5521" y="2457"/>
                  </a:lnTo>
                  <a:lnTo>
                    <a:pt x="5528" y="2478"/>
                  </a:lnTo>
                  <a:lnTo>
                    <a:pt x="5535" y="2499"/>
                  </a:lnTo>
                  <a:lnTo>
                    <a:pt x="5542" y="2520"/>
                  </a:lnTo>
                  <a:lnTo>
                    <a:pt x="5551" y="2541"/>
                  </a:lnTo>
                  <a:lnTo>
                    <a:pt x="5559" y="2561"/>
                  </a:lnTo>
                  <a:lnTo>
                    <a:pt x="5522" y="2508"/>
                  </a:lnTo>
                  <a:lnTo>
                    <a:pt x="5484" y="2455"/>
                  </a:lnTo>
                  <a:lnTo>
                    <a:pt x="5443" y="2404"/>
                  </a:lnTo>
                  <a:lnTo>
                    <a:pt x="5402" y="2353"/>
                  </a:lnTo>
                  <a:lnTo>
                    <a:pt x="5359" y="2305"/>
                  </a:lnTo>
                  <a:lnTo>
                    <a:pt x="5313" y="2257"/>
                  </a:lnTo>
                  <a:lnTo>
                    <a:pt x="5268" y="2212"/>
                  </a:lnTo>
                  <a:lnTo>
                    <a:pt x="5220" y="2166"/>
                  </a:lnTo>
                  <a:lnTo>
                    <a:pt x="5172" y="2123"/>
                  </a:lnTo>
                  <a:lnTo>
                    <a:pt x="5121" y="2081"/>
                  </a:lnTo>
                  <a:lnTo>
                    <a:pt x="5070" y="2040"/>
                  </a:lnTo>
                  <a:lnTo>
                    <a:pt x="5018" y="2002"/>
                  </a:lnTo>
                  <a:lnTo>
                    <a:pt x="4964" y="1965"/>
                  </a:lnTo>
                  <a:lnTo>
                    <a:pt x="4908" y="1929"/>
                  </a:lnTo>
                  <a:lnTo>
                    <a:pt x="4853" y="1896"/>
                  </a:lnTo>
                  <a:lnTo>
                    <a:pt x="4796" y="1862"/>
                  </a:lnTo>
                  <a:lnTo>
                    <a:pt x="4738" y="1833"/>
                  </a:lnTo>
                  <a:lnTo>
                    <a:pt x="4678" y="1803"/>
                  </a:lnTo>
                  <a:lnTo>
                    <a:pt x="4619" y="1776"/>
                  </a:lnTo>
                  <a:lnTo>
                    <a:pt x="4557" y="1751"/>
                  </a:lnTo>
                  <a:lnTo>
                    <a:pt x="4495" y="1728"/>
                  </a:lnTo>
                  <a:lnTo>
                    <a:pt x="4433" y="1706"/>
                  </a:lnTo>
                  <a:lnTo>
                    <a:pt x="4369" y="1686"/>
                  </a:lnTo>
                  <a:lnTo>
                    <a:pt x="4303" y="1668"/>
                  </a:lnTo>
                  <a:lnTo>
                    <a:pt x="4238" y="1652"/>
                  </a:lnTo>
                  <a:lnTo>
                    <a:pt x="4173" y="1638"/>
                  </a:lnTo>
                  <a:lnTo>
                    <a:pt x="4105" y="1626"/>
                  </a:lnTo>
                  <a:lnTo>
                    <a:pt x="4038" y="1617"/>
                  </a:lnTo>
                  <a:lnTo>
                    <a:pt x="3969" y="1609"/>
                  </a:lnTo>
                  <a:lnTo>
                    <a:pt x="3901" y="1604"/>
                  </a:lnTo>
                  <a:lnTo>
                    <a:pt x="3831" y="1601"/>
                  </a:lnTo>
                  <a:lnTo>
                    <a:pt x="3761" y="1599"/>
                  </a:lnTo>
                  <a:lnTo>
                    <a:pt x="3730" y="1599"/>
                  </a:lnTo>
                  <a:lnTo>
                    <a:pt x="3698" y="1599"/>
                  </a:lnTo>
                  <a:lnTo>
                    <a:pt x="3667" y="1601"/>
                  </a:lnTo>
                  <a:lnTo>
                    <a:pt x="3635" y="1603"/>
                  </a:lnTo>
                  <a:lnTo>
                    <a:pt x="3532" y="1611"/>
                  </a:lnTo>
                  <a:lnTo>
                    <a:pt x="3432" y="1624"/>
                  </a:lnTo>
                  <a:lnTo>
                    <a:pt x="3332" y="1643"/>
                  </a:lnTo>
                  <a:lnTo>
                    <a:pt x="3234" y="1665"/>
                  </a:lnTo>
                  <a:lnTo>
                    <a:pt x="3137" y="1691"/>
                  </a:lnTo>
                  <a:lnTo>
                    <a:pt x="3042" y="1722"/>
                  </a:lnTo>
                  <a:lnTo>
                    <a:pt x="2949" y="1757"/>
                  </a:lnTo>
                  <a:lnTo>
                    <a:pt x="2859" y="1797"/>
                  </a:lnTo>
                  <a:lnTo>
                    <a:pt x="2770" y="1840"/>
                  </a:lnTo>
                  <a:lnTo>
                    <a:pt x="2684" y="1888"/>
                  </a:lnTo>
                  <a:lnTo>
                    <a:pt x="2601" y="1940"/>
                  </a:lnTo>
                  <a:lnTo>
                    <a:pt x="2519" y="1994"/>
                  </a:lnTo>
                  <a:lnTo>
                    <a:pt x="2440" y="2053"/>
                  </a:lnTo>
                  <a:lnTo>
                    <a:pt x="2365" y="2114"/>
                  </a:lnTo>
                  <a:lnTo>
                    <a:pt x="2292" y="2179"/>
                  </a:lnTo>
                  <a:lnTo>
                    <a:pt x="2222" y="2247"/>
                  </a:lnTo>
                  <a:lnTo>
                    <a:pt x="2155" y="2318"/>
                  </a:lnTo>
                  <a:lnTo>
                    <a:pt x="2092" y="2392"/>
                  </a:lnTo>
                  <a:lnTo>
                    <a:pt x="2031" y="2469"/>
                  </a:lnTo>
                  <a:lnTo>
                    <a:pt x="1975" y="2549"/>
                  </a:lnTo>
                  <a:lnTo>
                    <a:pt x="1920" y="2631"/>
                  </a:lnTo>
                  <a:lnTo>
                    <a:pt x="1871" y="2716"/>
                  </a:lnTo>
                  <a:lnTo>
                    <a:pt x="1825" y="2802"/>
                  </a:lnTo>
                  <a:lnTo>
                    <a:pt x="1783" y="2891"/>
                  </a:lnTo>
                  <a:lnTo>
                    <a:pt x="1746" y="2983"/>
                  </a:lnTo>
                  <a:lnTo>
                    <a:pt x="1711" y="3076"/>
                  </a:lnTo>
                  <a:lnTo>
                    <a:pt x="1683" y="3171"/>
                  </a:lnTo>
                  <a:lnTo>
                    <a:pt x="1657" y="3268"/>
                  </a:lnTo>
                  <a:lnTo>
                    <a:pt x="1636" y="3367"/>
                  </a:lnTo>
                  <a:lnTo>
                    <a:pt x="1621" y="3466"/>
                  </a:lnTo>
                  <a:lnTo>
                    <a:pt x="1608" y="3568"/>
                  </a:lnTo>
                  <a:lnTo>
                    <a:pt x="1602" y="3670"/>
                  </a:lnTo>
                  <a:lnTo>
                    <a:pt x="1601" y="3785"/>
                  </a:lnTo>
                  <a:lnTo>
                    <a:pt x="1605" y="3898"/>
                  </a:lnTo>
                  <a:lnTo>
                    <a:pt x="1615" y="4010"/>
                  </a:lnTo>
                  <a:lnTo>
                    <a:pt x="1631" y="4120"/>
                  </a:lnTo>
                  <a:lnTo>
                    <a:pt x="1653" y="4229"/>
                  </a:lnTo>
                  <a:lnTo>
                    <a:pt x="1679" y="4335"/>
                  </a:lnTo>
                  <a:lnTo>
                    <a:pt x="1710" y="4439"/>
                  </a:lnTo>
                  <a:lnTo>
                    <a:pt x="1748" y="4540"/>
                  </a:lnTo>
                  <a:lnTo>
                    <a:pt x="1789" y="4640"/>
                  </a:lnTo>
                  <a:lnTo>
                    <a:pt x="1835" y="4737"/>
                  </a:lnTo>
                  <a:lnTo>
                    <a:pt x="1887" y="4831"/>
                  </a:lnTo>
                  <a:lnTo>
                    <a:pt x="1943" y="4921"/>
                  </a:lnTo>
                  <a:lnTo>
                    <a:pt x="2002" y="5010"/>
                  </a:lnTo>
                  <a:lnTo>
                    <a:pt x="2066" y="5095"/>
                  </a:lnTo>
                  <a:lnTo>
                    <a:pt x="2134" y="5177"/>
                  </a:lnTo>
                  <a:lnTo>
                    <a:pt x="2206" y="5254"/>
                  </a:lnTo>
                  <a:lnTo>
                    <a:pt x="2281" y="5329"/>
                  </a:lnTo>
                  <a:lnTo>
                    <a:pt x="2361" y="5400"/>
                  </a:lnTo>
                  <a:lnTo>
                    <a:pt x="2444" y="5467"/>
                  </a:lnTo>
                  <a:lnTo>
                    <a:pt x="2529" y="5530"/>
                  </a:lnTo>
                  <a:lnTo>
                    <a:pt x="2618" y="5589"/>
                  </a:lnTo>
                  <a:lnTo>
                    <a:pt x="2710" y="5643"/>
                  </a:lnTo>
                  <a:lnTo>
                    <a:pt x="2805" y="5693"/>
                  </a:lnTo>
                  <a:lnTo>
                    <a:pt x="2903" y="5738"/>
                  </a:lnTo>
                  <a:lnTo>
                    <a:pt x="3002" y="5779"/>
                  </a:lnTo>
                  <a:lnTo>
                    <a:pt x="3105" y="5814"/>
                  </a:lnTo>
                  <a:lnTo>
                    <a:pt x="3209" y="5845"/>
                  </a:lnTo>
                  <a:lnTo>
                    <a:pt x="3317" y="5871"/>
                  </a:lnTo>
                  <a:lnTo>
                    <a:pt x="3425" y="5891"/>
                  </a:lnTo>
                  <a:lnTo>
                    <a:pt x="3536" y="5905"/>
                  </a:lnTo>
                  <a:lnTo>
                    <a:pt x="3647" y="5914"/>
                  </a:lnTo>
                  <a:lnTo>
                    <a:pt x="3761" y="5916"/>
                  </a:lnTo>
                  <a:lnTo>
                    <a:pt x="3834" y="5915"/>
                  </a:lnTo>
                  <a:lnTo>
                    <a:pt x="3907" y="5912"/>
                  </a:lnTo>
                  <a:lnTo>
                    <a:pt x="3979" y="5905"/>
                  </a:lnTo>
                  <a:lnTo>
                    <a:pt x="4050" y="5897"/>
                  </a:lnTo>
                  <a:lnTo>
                    <a:pt x="4120" y="5886"/>
                  </a:lnTo>
                  <a:lnTo>
                    <a:pt x="4189" y="5874"/>
                  </a:lnTo>
                  <a:lnTo>
                    <a:pt x="4259" y="5859"/>
                  </a:lnTo>
                  <a:lnTo>
                    <a:pt x="4327" y="5841"/>
                  </a:lnTo>
                  <a:lnTo>
                    <a:pt x="4394" y="5822"/>
                  </a:lnTo>
                  <a:lnTo>
                    <a:pt x="4460" y="5800"/>
                  </a:lnTo>
                  <a:lnTo>
                    <a:pt x="4526" y="5777"/>
                  </a:lnTo>
                  <a:lnTo>
                    <a:pt x="4590" y="5751"/>
                  </a:lnTo>
                  <a:lnTo>
                    <a:pt x="4653" y="5724"/>
                  </a:lnTo>
                  <a:lnTo>
                    <a:pt x="4715" y="5695"/>
                  </a:lnTo>
                  <a:lnTo>
                    <a:pt x="4776" y="5663"/>
                  </a:lnTo>
                  <a:lnTo>
                    <a:pt x="4837" y="5630"/>
                  </a:lnTo>
                  <a:lnTo>
                    <a:pt x="4895" y="5595"/>
                  </a:lnTo>
                  <a:lnTo>
                    <a:pt x="4953" y="5558"/>
                  </a:lnTo>
                  <a:lnTo>
                    <a:pt x="5009" y="5519"/>
                  </a:lnTo>
                  <a:lnTo>
                    <a:pt x="5064" y="5480"/>
                  </a:lnTo>
                  <a:lnTo>
                    <a:pt x="5118" y="5438"/>
                  </a:lnTo>
                  <a:lnTo>
                    <a:pt x="5170" y="5393"/>
                  </a:lnTo>
                  <a:lnTo>
                    <a:pt x="5220" y="5348"/>
                  </a:lnTo>
                  <a:lnTo>
                    <a:pt x="5270" y="5302"/>
                  </a:lnTo>
                  <a:lnTo>
                    <a:pt x="5318" y="5253"/>
                  </a:lnTo>
                  <a:lnTo>
                    <a:pt x="5364" y="5203"/>
                  </a:lnTo>
                  <a:lnTo>
                    <a:pt x="5410" y="5152"/>
                  </a:lnTo>
                  <a:lnTo>
                    <a:pt x="5453" y="5099"/>
                  </a:lnTo>
                  <a:lnTo>
                    <a:pt x="5495" y="5046"/>
                  </a:lnTo>
                  <a:lnTo>
                    <a:pt x="5535" y="4990"/>
                  </a:lnTo>
                  <a:lnTo>
                    <a:pt x="5572" y="4934"/>
                  </a:lnTo>
                  <a:lnTo>
                    <a:pt x="5609" y="4876"/>
                  </a:lnTo>
                  <a:lnTo>
                    <a:pt x="5623" y="4854"/>
                  </a:lnTo>
                  <a:lnTo>
                    <a:pt x="5637" y="4832"/>
                  </a:lnTo>
                  <a:lnTo>
                    <a:pt x="5653" y="4811"/>
                  </a:lnTo>
                  <a:lnTo>
                    <a:pt x="5670" y="4790"/>
                  </a:lnTo>
                  <a:lnTo>
                    <a:pt x="5686" y="4769"/>
                  </a:lnTo>
                  <a:lnTo>
                    <a:pt x="5703" y="4750"/>
                  </a:lnTo>
                  <a:lnTo>
                    <a:pt x="5720" y="4730"/>
                  </a:lnTo>
                  <a:lnTo>
                    <a:pt x="5739" y="4713"/>
                  </a:lnTo>
                  <a:lnTo>
                    <a:pt x="5758" y="4695"/>
                  </a:lnTo>
                  <a:lnTo>
                    <a:pt x="5777" y="4677"/>
                  </a:lnTo>
                  <a:lnTo>
                    <a:pt x="5797" y="4661"/>
                  </a:lnTo>
                  <a:lnTo>
                    <a:pt x="5818" y="4645"/>
                  </a:lnTo>
                  <a:lnTo>
                    <a:pt x="5838" y="4630"/>
                  </a:lnTo>
                  <a:lnTo>
                    <a:pt x="5860" y="4615"/>
                  </a:lnTo>
                  <a:lnTo>
                    <a:pt x="5881" y="4601"/>
                  </a:lnTo>
                  <a:lnTo>
                    <a:pt x="5903" y="4588"/>
                  </a:lnTo>
                  <a:lnTo>
                    <a:pt x="5925" y="4576"/>
                  </a:lnTo>
                  <a:lnTo>
                    <a:pt x="5948" y="4563"/>
                  </a:lnTo>
                  <a:lnTo>
                    <a:pt x="5972" y="4552"/>
                  </a:lnTo>
                  <a:lnTo>
                    <a:pt x="5995" y="4542"/>
                  </a:lnTo>
                  <a:lnTo>
                    <a:pt x="6019" y="4532"/>
                  </a:lnTo>
                  <a:lnTo>
                    <a:pt x="6043" y="4524"/>
                  </a:lnTo>
                  <a:lnTo>
                    <a:pt x="6068" y="4516"/>
                  </a:lnTo>
                  <a:lnTo>
                    <a:pt x="6092" y="4509"/>
                  </a:lnTo>
                  <a:lnTo>
                    <a:pt x="6118" y="4503"/>
                  </a:lnTo>
                  <a:lnTo>
                    <a:pt x="6143" y="4497"/>
                  </a:lnTo>
                  <a:lnTo>
                    <a:pt x="6168" y="4493"/>
                  </a:lnTo>
                  <a:lnTo>
                    <a:pt x="6194" y="4488"/>
                  </a:lnTo>
                  <a:lnTo>
                    <a:pt x="6220" y="4485"/>
                  </a:lnTo>
                  <a:lnTo>
                    <a:pt x="6246" y="4483"/>
                  </a:lnTo>
                  <a:lnTo>
                    <a:pt x="6272" y="4482"/>
                  </a:lnTo>
                  <a:lnTo>
                    <a:pt x="6299" y="4482"/>
                  </a:lnTo>
                  <a:lnTo>
                    <a:pt x="6301" y="4482"/>
                  </a:lnTo>
                  <a:lnTo>
                    <a:pt x="6302" y="4482"/>
                  </a:lnTo>
                  <a:lnTo>
                    <a:pt x="6245" y="4484"/>
                  </a:lnTo>
                  <a:lnTo>
                    <a:pt x="6188" y="4489"/>
                  </a:lnTo>
                  <a:lnTo>
                    <a:pt x="6134" y="4499"/>
                  </a:lnTo>
                  <a:lnTo>
                    <a:pt x="6081" y="4513"/>
                  </a:lnTo>
                  <a:lnTo>
                    <a:pt x="6030" y="4529"/>
                  </a:lnTo>
                  <a:lnTo>
                    <a:pt x="5980" y="4549"/>
                  </a:lnTo>
                  <a:lnTo>
                    <a:pt x="5934" y="4571"/>
                  </a:lnTo>
                  <a:lnTo>
                    <a:pt x="5889" y="4598"/>
                  </a:lnTo>
                  <a:lnTo>
                    <a:pt x="5844" y="4626"/>
                  </a:lnTo>
                  <a:lnTo>
                    <a:pt x="5803" y="4657"/>
                  </a:lnTo>
                  <a:lnTo>
                    <a:pt x="5765" y="4691"/>
                  </a:lnTo>
                  <a:lnTo>
                    <a:pt x="5728" y="4727"/>
                  </a:lnTo>
                  <a:lnTo>
                    <a:pt x="5695" y="4765"/>
                  </a:lnTo>
                  <a:lnTo>
                    <a:pt x="5663" y="4804"/>
                  </a:lnTo>
                  <a:lnTo>
                    <a:pt x="5634" y="4846"/>
                  </a:lnTo>
                  <a:lnTo>
                    <a:pt x="5608" y="4891"/>
                  </a:lnTo>
                  <a:lnTo>
                    <a:pt x="5584" y="4936"/>
                  </a:lnTo>
                  <a:lnTo>
                    <a:pt x="5564" y="4982"/>
                  </a:lnTo>
                  <a:lnTo>
                    <a:pt x="5547" y="5030"/>
                  </a:lnTo>
                  <a:lnTo>
                    <a:pt x="5532" y="5080"/>
                  </a:lnTo>
                  <a:lnTo>
                    <a:pt x="5520" y="5129"/>
                  </a:lnTo>
                  <a:lnTo>
                    <a:pt x="5512" y="5180"/>
                  </a:lnTo>
                  <a:lnTo>
                    <a:pt x="5507" y="5231"/>
                  </a:lnTo>
                  <a:lnTo>
                    <a:pt x="5506" y="5283"/>
                  </a:lnTo>
                  <a:lnTo>
                    <a:pt x="5507" y="5336"/>
                  </a:lnTo>
                  <a:lnTo>
                    <a:pt x="5512" y="5388"/>
                  </a:lnTo>
                  <a:lnTo>
                    <a:pt x="5521" y="5440"/>
                  </a:lnTo>
                  <a:lnTo>
                    <a:pt x="5535" y="5493"/>
                  </a:lnTo>
                  <a:lnTo>
                    <a:pt x="5550" y="5545"/>
                  </a:lnTo>
                  <a:lnTo>
                    <a:pt x="5571" y="5597"/>
                  </a:lnTo>
                  <a:lnTo>
                    <a:pt x="5595" y="5648"/>
                  </a:lnTo>
                  <a:lnTo>
                    <a:pt x="5623" y="5698"/>
                  </a:lnTo>
                  <a:lnTo>
                    <a:pt x="5653" y="5747"/>
                  </a:lnTo>
                  <a:lnTo>
                    <a:pt x="5684" y="5795"/>
                  </a:lnTo>
                  <a:lnTo>
                    <a:pt x="5715" y="5842"/>
                  </a:lnTo>
                  <a:lnTo>
                    <a:pt x="5747" y="5890"/>
                  </a:lnTo>
                  <a:lnTo>
                    <a:pt x="5780" y="5936"/>
                  </a:lnTo>
                  <a:lnTo>
                    <a:pt x="5813" y="5982"/>
                  </a:lnTo>
                  <a:lnTo>
                    <a:pt x="5848" y="6028"/>
                  </a:lnTo>
                  <a:lnTo>
                    <a:pt x="5882" y="6073"/>
                  </a:lnTo>
                  <a:lnTo>
                    <a:pt x="5931" y="6133"/>
                  </a:lnTo>
                  <a:lnTo>
                    <a:pt x="5980" y="6192"/>
                  </a:lnTo>
                  <a:lnTo>
                    <a:pt x="6031" y="6251"/>
                  </a:lnTo>
                  <a:lnTo>
                    <a:pt x="6083" y="6308"/>
                  </a:lnTo>
                  <a:lnTo>
                    <a:pt x="6136" y="6364"/>
                  </a:lnTo>
                  <a:lnTo>
                    <a:pt x="6191" y="6419"/>
                  </a:lnTo>
                  <a:lnTo>
                    <a:pt x="6246" y="6473"/>
                  </a:lnTo>
                  <a:lnTo>
                    <a:pt x="6302" y="6526"/>
                  </a:lnTo>
                  <a:lnTo>
                    <a:pt x="6239" y="6583"/>
                  </a:lnTo>
                  <a:lnTo>
                    <a:pt x="6174" y="6639"/>
                  </a:lnTo>
                  <a:lnTo>
                    <a:pt x="6109" y="6692"/>
                  </a:lnTo>
                  <a:lnTo>
                    <a:pt x="6041" y="6745"/>
                  </a:lnTo>
                  <a:lnTo>
                    <a:pt x="5973" y="6796"/>
                  </a:lnTo>
                  <a:lnTo>
                    <a:pt x="5903" y="6846"/>
                  </a:lnTo>
                  <a:lnTo>
                    <a:pt x="5832" y="6893"/>
                  </a:lnTo>
                  <a:lnTo>
                    <a:pt x="5760" y="6939"/>
                  </a:lnTo>
                  <a:lnTo>
                    <a:pt x="5687" y="6985"/>
                  </a:lnTo>
                  <a:lnTo>
                    <a:pt x="5613" y="7028"/>
                  </a:lnTo>
                  <a:lnTo>
                    <a:pt x="5539" y="7069"/>
                  </a:lnTo>
                  <a:lnTo>
                    <a:pt x="5463" y="7109"/>
                  </a:lnTo>
                  <a:lnTo>
                    <a:pt x="5385" y="7147"/>
                  </a:lnTo>
                  <a:lnTo>
                    <a:pt x="5307" y="7184"/>
                  </a:lnTo>
                  <a:lnTo>
                    <a:pt x="5228" y="7218"/>
                  </a:lnTo>
                  <a:lnTo>
                    <a:pt x="5147" y="7251"/>
                  </a:lnTo>
                  <a:lnTo>
                    <a:pt x="5067" y="7282"/>
                  </a:lnTo>
                  <a:lnTo>
                    <a:pt x="4985" y="7311"/>
                  </a:lnTo>
                  <a:lnTo>
                    <a:pt x="4903" y="7338"/>
                  </a:lnTo>
                  <a:lnTo>
                    <a:pt x="4819" y="7364"/>
                  </a:lnTo>
                  <a:lnTo>
                    <a:pt x="4735" y="7388"/>
                  </a:lnTo>
                  <a:lnTo>
                    <a:pt x="4650" y="7409"/>
                  </a:lnTo>
                  <a:lnTo>
                    <a:pt x="4563" y="7429"/>
                  </a:lnTo>
                  <a:lnTo>
                    <a:pt x="4477" y="7447"/>
                  </a:lnTo>
                  <a:lnTo>
                    <a:pt x="4390" y="7463"/>
                  </a:lnTo>
                  <a:lnTo>
                    <a:pt x="4302" y="7477"/>
                  </a:lnTo>
                  <a:lnTo>
                    <a:pt x="4214" y="7489"/>
                  </a:lnTo>
                  <a:lnTo>
                    <a:pt x="4124" y="7498"/>
                  </a:lnTo>
                  <a:lnTo>
                    <a:pt x="4034" y="7505"/>
                  </a:lnTo>
                  <a:lnTo>
                    <a:pt x="3944" y="7511"/>
                  </a:lnTo>
                  <a:lnTo>
                    <a:pt x="3853" y="7514"/>
                  </a:lnTo>
                  <a:lnTo>
                    <a:pt x="3761" y="7515"/>
                  </a:lnTo>
                  <a:close/>
                  <a:moveTo>
                    <a:pt x="6322" y="3034"/>
                  </a:moveTo>
                  <a:lnTo>
                    <a:pt x="6313" y="3034"/>
                  </a:lnTo>
                  <a:lnTo>
                    <a:pt x="6339" y="3034"/>
                  </a:lnTo>
                  <a:lnTo>
                    <a:pt x="6365" y="3033"/>
                  </a:lnTo>
                  <a:lnTo>
                    <a:pt x="6391" y="3031"/>
                  </a:lnTo>
                  <a:lnTo>
                    <a:pt x="6416" y="3027"/>
                  </a:lnTo>
                  <a:lnTo>
                    <a:pt x="6442" y="3024"/>
                  </a:lnTo>
                  <a:lnTo>
                    <a:pt x="6467" y="3018"/>
                  </a:lnTo>
                  <a:lnTo>
                    <a:pt x="6493" y="3013"/>
                  </a:lnTo>
                  <a:lnTo>
                    <a:pt x="6517" y="3007"/>
                  </a:lnTo>
                  <a:lnTo>
                    <a:pt x="6541" y="3000"/>
                  </a:lnTo>
                  <a:lnTo>
                    <a:pt x="6566" y="2992"/>
                  </a:lnTo>
                  <a:lnTo>
                    <a:pt x="6589" y="2983"/>
                  </a:lnTo>
                  <a:lnTo>
                    <a:pt x="6613" y="2974"/>
                  </a:lnTo>
                  <a:lnTo>
                    <a:pt x="6636" y="2964"/>
                  </a:lnTo>
                  <a:lnTo>
                    <a:pt x="6659" y="2953"/>
                  </a:lnTo>
                  <a:lnTo>
                    <a:pt x="6682" y="2942"/>
                  </a:lnTo>
                  <a:lnTo>
                    <a:pt x="6703" y="2929"/>
                  </a:lnTo>
                  <a:lnTo>
                    <a:pt x="6725" y="2917"/>
                  </a:lnTo>
                  <a:lnTo>
                    <a:pt x="6746" y="2902"/>
                  </a:lnTo>
                  <a:lnTo>
                    <a:pt x="6767" y="2888"/>
                  </a:lnTo>
                  <a:lnTo>
                    <a:pt x="6788" y="2874"/>
                  </a:lnTo>
                  <a:lnTo>
                    <a:pt x="6808" y="2858"/>
                  </a:lnTo>
                  <a:lnTo>
                    <a:pt x="6827" y="2842"/>
                  </a:lnTo>
                  <a:lnTo>
                    <a:pt x="6845" y="2825"/>
                  </a:lnTo>
                  <a:lnTo>
                    <a:pt x="6864" y="2807"/>
                  </a:lnTo>
                  <a:lnTo>
                    <a:pt x="6882" y="2789"/>
                  </a:lnTo>
                  <a:lnTo>
                    <a:pt x="6900" y="2770"/>
                  </a:lnTo>
                  <a:lnTo>
                    <a:pt x="6916" y="2751"/>
                  </a:lnTo>
                  <a:lnTo>
                    <a:pt x="6933" y="2731"/>
                  </a:lnTo>
                  <a:lnTo>
                    <a:pt x="6948" y="2710"/>
                  </a:lnTo>
                  <a:lnTo>
                    <a:pt x="6964" y="2689"/>
                  </a:lnTo>
                  <a:lnTo>
                    <a:pt x="6978" y="2668"/>
                  </a:lnTo>
                  <a:lnTo>
                    <a:pt x="6993" y="2646"/>
                  </a:lnTo>
                  <a:lnTo>
                    <a:pt x="7005" y="2624"/>
                  </a:lnTo>
                  <a:lnTo>
                    <a:pt x="7018" y="2603"/>
                  </a:lnTo>
                  <a:lnTo>
                    <a:pt x="7032" y="2582"/>
                  </a:lnTo>
                  <a:lnTo>
                    <a:pt x="7046" y="2561"/>
                  </a:lnTo>
                  <a:lnTo>
                    <a:pt x="7034" y="2586"/>
                  </a:lnTo>
                  <a:lnTo>
                    <a:pt x="7021" y="2611"/>
                  </a:lnTo>
                  <a:lnTo>
                    <a:pt x="7008" y="2635"/>
                  </a:lnTo>
                  <a:lnTo>
                    <a:pt x="6994" y="2659"/>
                  </a:lnTo>
                  <a:lnTo>
                    <a:pt x="6979" y="2682"/>
                  </a:lnTo>
                  <a:lnTo>
                    <a:pt x="6964" y="2706"/>
                  </a:lnTo>
                  <a:lnTo>
                    <a:pt x="6947" y="2728"/>
                  </a:lnTo>
                  <a:lnTo>
                    <a:pt x="6930" y="2749"/>
                  </a:lnTo>
                  <a:lnTo>
                    <a:pt x="6912" y="2770"/>
                  </a:lnTo>
                  <a:lnTo>
                    <a:pt x="6893" y="2791"/>
                  </a:lnTo>
                  <a:lnTo>
                    <a:pt x="6873" y="2811"/>
                  </a:lnTo>
                  <a:lnTo>
                    <a:pt x="6853" y="2829"/>
                  </a:lnTo>
                  <a:lnTo>
                    <a:pt x="6832" y="2848"/>
                  </a:lnTo>
                  <a:lnTo>
                    <a:pt x="6811" y="2866"/>
                  </a:lnTo>
                  <a:lnTo>
                    <a:pt x="6788" y="2883"/>
                  </a:lnTo>
                  <a:lnTo>
                    <a:pt x="6766" y="2899"/>
                  </a:lnTo>
                  <a:lnTo>
                    <a:pt x="6741" y="2915"/>
                  </a:lnTo>
                  <a:lnTo>
                    <a:pt x="6718" y="2929"/>
                  </a:lnTo>
                  <a:lnTo>
                    <a:pt x="6693" y="2943"/>
                  </a:lnTo>
                  <a:lnTo>
                    <a:pt x="6667" y="2955"/>
                  </a:lnTo>
                  <a:lnTo>
                    <a:pt x="6642" y="2968"/>
                  </a:lnTo>
                  <a:lnTo>
                    <a:pt x="6615" y="2979"/>
                  </a:lnTo>
                  <a:lnTo>
                    <a:pt x="6588" y="2989"/>
                  </a:lnTo>
                  <a:lnTo>
                    <a:pt x="6560" y="2999"/>
                  </a:lnTo>
                  <a:lnTo>
                    <a:pt x="6532" y="3006"/>
                  </a:lnTo>
                  <a:lnTo>
                    <a:pt x="6504" y="3014"/>
                  </a:lnTo>
                  <a:lnTo>
                    <a:pt x="6475" y="3020"/>
                  </a:lnTo>
                  <a:lnTo>
                    <a:pt x="6445" y="3025"/>
                  </a:lnTo>
                  <a:lnTo>
                    <a:pt x="6415" y="3028"/>
                  </a:lnTo>
                  <a:lnTo>
                    <a:pt x="6384" y="3032"/>
                  </a:lnTo>
                  <a:lnTo>
                    <a:pt x="6353" y="3034"/>
                  </a:lnTo>
                  <a:lnTo>
                    <a:pt x="6322" y="3034"/>
                  </a:lnTo>
                  <a:close/>
                </a:path>
              </a:pathLst>
            </a:custGeom>
            <a:solidFill>
              <a:srgbClr val="000000">
                <a:alpha val="9804"/>
              </a:srgb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F6924CF2-F2B5-A1F4-9DC2-BA4E94AB1C8A}"/>
                </a:ext>
              </a:extLst>
            </p:cNvPr>
            <p:cNvSpPr>
              <a:spLocks noEditPoints="1"/>
            </p:cNvSpPr>
            <p:nvPr/>
          </p:nvSpPr>
          <p:spPr bwMode="auto">
            <a:xfrm>
              <a:off x="3167" y="1576"/>
              <a:ext cx="323" cy="1108"/>
            </a:xfrm>
            <a:custGeom>
              <a:avLst/>
              <a:gdLst>
                <a:gd name="T0" fmla="*/ 590 w 1619"/>
                <a:gd name="T1" fmla="*/ 5319 h 5537"/>
                <a:gd name="T2" fmla="*/ 355 w 1619"/>
                <a:gd name="T3" fmla="*/ 5039 h 5537"/>
                <a:gd name="T4" fmla="*/ 191 w 1619"/>
                <a:gd name="T5" fmla="*/ 4806 h 5537"/>
                <a:gd name="T6" fmla="*/ 57 w 1619"/>
                <a:gd name="T7" fmla="*/ 4556 h 5537"/>
                <a:gd name="T8" fmla="*/ 13 w 1619"/>
                <a:gd name="T9" fmla="*/ 4294 h 5537"/>
                <a:gd name="T10" fmla="*/ 54 w 1619"/>
                <a:gd name="T11" fmla="*/ 4041 h 5537"/>
                <a:gd name="T12" fmla="*/ 170 w 1619"/>
                <a:gd name="T13" fmla="*/ 3815 h 5537"/>
                <a:gd name="T14" fmla="*/ 351 w 1619"/>
                <a:gd name="T15" fmla="*/ 3637 h 5537"/>
                <a:gd name="T16" fmla="*/ 588 w 1619"/>
                <a:gd name="T17" fmla="*/ 3524 h 5537"/>
                <a:gd name="T18" fmla="*/ 867 w 1619"/>
                <a:gd name="T19" fmla="*/ 3495 h 5537"/>
                <a:gd name="T20" fmla="*/ 1131 w 1619"/>
                <a:gd name="T21" fmla="*/ 3560 h 5537"/>
                <a:gd name="T22" fmla="*/ 1347 w 1619"/>
                <a:gd name="T23" fmla="*/ 3702 h 5537"/>
                <a:gd name="T24" fmla="*/ 1504 w 1619"/>
                <a:gd name="T25" fmla="*/ 3902 h 5537"/>
                <a:gd name="T26" fmla="*/ 1591 w 1619"/>
                <a:gd name="T27" fmla="*/ 4140 h 5537"/>
                <a:gd name="T28" fmla="*/ 1599 w 1619"/>
                <a:gd name="T29" fmla="*/ 4399 h 5537"/>
                <a:gd name="T30" fmla="*/ 1517 w 1619"/>
                <a:gd name="T31" fmla="*/ 4659 h 5537"/>
                <a:gd name="T32" fmla="*/ 1365 w 1619"/>
                <a:gd name="T33" fmla="*/ 4901 h 5537"/>
                <a:gd name="T34" fmla="*/ 1181 w 1619"/>
                <a:gd name="T35" fmla="*/ 5144 h 5537"/>
                <a:gd name="T36" fmla="*/ 921 w 1619"/>
                <a:gd name="T37" fmla="*/ 5430 h 5537"/>
                <a:gd name="T38" fmla="*/ 799 w 1619"/>
                <a:gd name="T39" fmla="*/ 2045 h 5537"/>
                <a:gd name="T40" fmla="*/ 670 w 1619"/>
                <a:gd name="T41" fmla="*/ 2034 h 5537"/>
                <a:gd name="T42" fmla="*/ 546 w 1619"/>
                <a:gd name="T43" fmla="*/ 2003 h 5537"/>
                <a:gd name="T44" fmla="*/ 431 w 1619"/>
                <a:gd name="T45" fmla="*/ 1952 h 5537"/>
                <a:gd name="T46" fmla="*/ 324 w 1619"/>
                <a:gd name="T47" fmla="*/ 1884 h 5537"/>
                <a:gd name="T48" fmla="*/ 230 w 1619"/>
                <a:gd name="T49" fmla="*/ 1798 h 5537"/>
                <a:gd name="T50" fmla="*/ 148 w 1619"/>
                <a:gd name="T51" fmla="*/ 1699 h 5537"/>
                <a:gd name="T52" fmla="*/ 80 w 1619"/>
                <a:gd name="T53" fmla="*/ 1593 h 5537"/>
                <a:gd name="T54" fmla="*/ 35 w 1619"/>
                <a:gd name="T55" fmla="*/ 1489 h 5537"/>
                <a:gd name="T56" fmla="*/ 9 w 1619"/>
                <a:gd name="T57" fmla="*/ 1382 h 5537"/>
                <a:gd name="T58" fmla="*/ 0 w 1619"/>
                <a:gd name="T59" fmla="*/ 1270 h 5537"/>
                <a:gd name="T60" fmla="*/ 6 w 1619"/>
                <a:gd name="T61" fmla="*/ 1156 h 5537"/>
                <a:gd name="T62" fmla="*/ 31 w 1619"/>
                <a:gd name="T63" fmla="*/ 1044 h 5537"/>
                <a:gd name="T64" fmla="*/ 73 w 1619"/>
                <a:gd name="T65" fmla="*/ 932 h 5537"/>
                <a:gd name="T66" fmla="*/ 173 w 1619"/>
                <a:gd name="T67" fmla="*/ 759 h 5537"/>
                <a:gd name="T68" fmla="*/ 351 w 1619"/>
                <a:gd name="T69" fmla="*/ 503 h 5537"/>
                <a:gd name="T70" fmla="*/ 590 w 1619"/>
                <a:gd name="T71" fmla="*/ 218 h 5537"/>
                <a:gd name="T72" fmla="*/ 866 w 1619"/>
                <a:gd name="T73" fmla="*/ 53 h 5537"/>
                <a:gd name="T74" fmla="*/ 1131 w 1619"/>
                <a:gd name="T75" fmla="*/ 334 h 5537"/>
                <a:gd name="T76" fmla="*/ 1341 w 1619"/>
                <a:gd name="T77" fmla="*/ 604 h 5537"/>
                <a:gd name="T78" fmla="*/ 1511 w 1619"/>
                <a:gd name="T79" fmla="*/ 866 h 5537"/>
                <a:gd name="T80" fmla="*/ 1565 w 1619"/>
                <a:gd name="T81" fmla="*/ 976 h 5537"/>
                <a:gd name="T82" fmla="*/ 1600 w 1619"/>
                <a:gd name="T83" fmla="*/ 1089 h 5537"/>
                <a:gd name="T84" fmla="*/ 1618 w 1619"/>
                <a:gd name="T85" fmla="*/ 1203 h 5537"/>
                <a:gd name="T86" fmla="*/ 1618 w 1619"/>
                <a:gd name="T87" fmla="*/ 1316 h 5537"/>
                <a:gd name="T88" fmla="*/ 1601 w 1619"/>
                <a:gd name="T89" fmla="*/ 1425 h 5537"/>
                <a:gd name="T90" fmla="*/ 1569 w 1619"/>
                <a:gd name="T91" fmla="*/ 1531 h 5537"/>
                <a:gd name="T92" fmla="*/ 1512 w 1619"/>
                <a:gd name="T93" fmla="*/ 1635 h 5537"/>
                <a:gd name="T94" fmla="*/ 1440 w 1619"/>
                <a:gd name="T95" fmla="*/ 1742 h 5537"/>
                <a:gd name="T96" fmla="*/ 1352 w 1619"/>
                <a:gd name="T97" fmla="*/ 1836 h 5537"/>
                <a:gd name="T98" fmla="*/ 1253 w 1619"/>
                <a:gd name="T99" fmla="*/ 1913 h 5537"/>
                <a:gd name="T100" fmla="*/ 1143 w 1619"/>
                <a:gd name="T101" fmla="*/ 1975 h 5537"/>
                <a:gd name="T102" fmla="*/ 1024 w 1619"/>
                <a:gd name="T103" fmla="*/ 2018 h 5537"/>
                <a:gd name="T104" fmla="*/ 898 w 1619"/>
                <a:gd name="T105" fmla="*/ 2042 h 5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9" h="5537">
                  <a:moveTo>
                    <a:pt x="809" y="5537"/>
                  </a:moveTo>
                  <a:lnTo>
                    <a:pt x="753" y="5484"/>
                  </a:lnTo>
                  <a:lnTo>
                    <a:pt x="698" y="5430"/>
                  </a:lnTo>
                  <a:lnTo>
                    <a:pt x="643" y="5375"/>
                  </a:lnTo>
                  <a:lnTo>
                    <a:pt x="590" y="5319"/>
                  </a:lnTo>
                  <a:lnTo>
                    <a:pt x="538" y="5262"/>
                  </a:lnTo>
                  <a:lnTo>
                    <a:pt x="487" y="5203"/>
                  </a:lnTo>
                  <a:lnTo>
                    <a:pt x="438" y="5144"/>
                  </a:lnTo>
                  <a:lnTo>
                    <a:pt x="389" y="5084"/>
                  </a:lnTo>
                  <a:lnTo>
                    <a:pt x="355" y="5039"/>
                  </a:lnTo>
                  <a:lnTo>
                    <a:pt x="320" y="4993"/>
                  </a:lnTo>
                  <a:lnTo>
                    <a:pt x="287" y="4947"/>
                  </a:lnTo>
                  <a:lnTo>
                    <a:pt x="254" y="4901"/>
                  </a:lnTo>
                  <a:lnTo>
                    <a:pt x="222" y="4853"/>
                  </a:lnTo>
                  <a:lnTo>
                    <a:pt x="191" y="4806"/>
                  </a:lnTo>
                  <a:lnTo>
                    <a:pt x="160" y="4758"/>
                  </a:lnTo>
                  <a:lnTo>
                    <a:pt x="130" y="4709"/>
                  </a:lnTo>
                  <a:lnTo>
                    <a:pt x="102" y="4659"/>
                  </a:lnTo>
                  <a:lnTo>
                    <a:pt x="78" y="4608"/>
                  </a:lnTo>
                  <a:lnTo>
                    <a:pt x="57" y="4556"/>
                  </a:lnTo>
                  <a:lnTo>
                    <a:pt x="42" y="4504"/>
                  </a:lnTo>
                  <a:lnTo>
                    <a:pt x="28" y="4451"/>
                  </a:lnTo>
                  <a:lnTo>
                    <a:pt x="19" y="4399"/>
                  </a:lnTo>
                  <a:lnTo>
                    <a:pt x="14" y="4347"/>
                  </a:lnTo>
                  <a:lnTo>
                    <a:pt x="13" y="4294"/>
                  </a:lnTo>
                  <a:lnTo>
                    <a:pt x="14" y="4242"/>
                  </a:lnTo>
                  <a:lnTo>
                    <a:pt x="19" y="4191"/>
                  </a:lnTo>
                  <a:lnTo>
                    <a:pt x="27" y="4140"/>
                  </a:lnTo>
                  <a:lnTo>
                    <a:pt x="39" y="4091"/>
                  </a:lnTo>
                  <a:lnTo>
                    <a:pt x="54" y="4041"/>
                  </a:lnTo>
                  <a:lnTo>
                    <a:pt x="71" y="3993"/>
                  </a:lnTo>
                  <a:lnTo>
                    <a:pt x="91" y="3947"/>
                  </a:lnTo>
                  <a:lnTo>
                    <a:pt x="115" y="3902"/>
                  </a:lnTo>
                  <a:lnTo>
                    <a:pt x="141" y="3857"/>
                  </a:lnTo>
                  <a:lnTo>
                    <a:pt x="170" y="3815"/>
                  </a:lnTo>
                  <a:lnTo>
                    <a:pt x="202" y="3776"/>
                  </a:lnTo>
                  <a:lnTo>
                    <a:pt x="235" y="3738"/>
                  </a:lnTo>
                  <a:lnTo>
                    <a:pt x="272" y="3702"/>
                  </a:lnTo>
                  <a:lnTo>
                    <a:pt x="310" y="3668"/>
                  </a:lnTo>
                  <a:lnTo>
                    <a:pt x="351" y="3637"/>
                  </a:lnTo>
                  <a:lnTo>
                    <a:pt x="396" y="3609"/>
                  </a:lnTo>
                  <a:lnTo>
                    <a:pt x="441" y="3582"/>
                  </a:lnTo>
                  <a:lnTo>
                    <a:pt x="487" y="3560"/>
                  </a:lnTo>
                  <a:lnTo>
                    <a:pt x="537" y="3540"/>
                  </a:lnTo>
                  <a:lnTo>
                    <a:pt x="588" y="3524"/>
                  </a:lnTo>
                  <a:lnTo>
                    <a:pt x="641" y="3510"/>
                  </a:lnTo>
                  <a:lnTo>
                    <a:pt x="695" y="3500"/>
                  </a:lnTo>
                  <a:lnTo>
                    <a:pt x="752" y="3495"/>
                  </a:lnTo>
                  <a:lnTo>
                    <a:pt x="809" y="3493"/>
                  </a:lnTo>
                  <a:lnTo>
                    <a:pt x="867" y="3495"/>
                  </a:lnTo>
                  <a:lnTo>
                    <a:pt x="923" y="3500"/>
                  </a:lnTo>
                  <a:lnTo>
                    <a:pt x="977" y="3510"/>
                  </a:lnTo>
                  <a:lnTo>
                    <a:pt x="1031" y="3524"/>
                  </a:lnTo>
                  <a:lnTo>
                    <a:pt x="1081" y="3540"/>
                  </a:lnTo>
                  <a:lnTo>
                    <a:pt x="1131" y="3560"/>
                  </a:lnTo>
                  <a:lnTo>
                    <a:pt x="1179" y="3582"/>
                  </a:lnTo>
                  <a:lnTo>
                    <a:pt x="1224" y="3609"/>
                  </a:lnTo>
                  <a:lnTo>
                    <a:pt x="1267" y="3637"/>
                  </a:lnTo>
                  <a:lnTo>
                    <a:pt x="1308" y="3668"/>
                  </a:lnTo>
                  <a:lnTo>
                    <a:pt x="1347" y="3702"/>
                  </a:lnTo>
                  <a:lnTo>
                    <a:pt x="1383" y="3738"/>
                  </a:lnTo>
                  <a:lnTo>
                    <a:pt x="1418" y="3776"/>
                  </a:lnTo>
                  <a:lnTo>
                    <a:pt x="1449" y="3815"/>
                  </a:lnTo>
                  <a:lnTo>
                    <a:pt x="1477" y="3857"/>
                  </a:lnTo>
                  <a:lnTo>
                    <a:pt x="1504" y="3902"/>
                  </a:lnTo>
                  <a:lnTo>
                    <a:pt x="1527" y="3947"/>
                  </a:lnTo>
                  <a:lnTo>
                    <a:pt x="1548" y="3993"/>
                  </a:lnTo>
                  <a:lnTo>
                    <a:pt x="1566" y="4041"/>
                  </a:lnTo>
                  <a:lnTo>
                    <a:pt x="1580" y="4091"/>
                  </a:lnTo>
                  <a:lnTo>
                    <a:pt x="1591" y="4140"/>
                  </a:lnTo>
                  <a:lnTo>
                    <a:pt x="1600" y="4191"/>
                  </a:lnTo>
                  <a:lnTo>
                    <a:pt x="1605" y="4242"/>
                  </a:lnTo>
                  <a:lnTo>
                    <a:pt x="1607" y="4294"/>
                  </a:lnTo>
                  <a:lnTo>
                    <a:pt x="1605" y="4347"/>
                  </a:lnTo>
                  <a:lnTo>
                    <a:pt x="1599" y="4399"/>
                  </a:lnTo>
                  <a:lnTo>
                    <a:pt x="1590" y="4451"/>
                  </a:lnTo>
                  <a:lnTo>
                    <a:pt x="1578" y="4504"/>
                  </a:lnTo>
                  <a:lnTo>
                    <a:pt x="1562" y="4556"/>
                  </a:lnTo>
                  <a:lnTo>
                    <a:pt x="1542" y="4608"/>
                  </a:lnTo>
                  <a:lnTo>
                    <a:pt x="1517" y="4659"/>
                  </a:lnTo>
                  <a:lnTo>
                    <a:pt x="1489" y="4709"/>
                  </a:lnTo>
                  <a:lnTo>
                    <a:pt x="1459" y="4758"/>
                  </a:lnTo>
                  <a:lnTo>
                    <a:pt x="1428" y="4806"/>
                  </a:lnTo>
                  <a:lnTo>
                    <a:pt x="1397" y="4853"/>
                  </a:lnTo>
                  <a:lnTo>
                    <a:pt x="1365" y="4901"/>
                  </a:lnTo>
                  <a:lnTo>
                    <a:pt x="1333" y="4947"/>
                  </a:lnTo>
                  <a:lnTo>
                    <a:pt x="1298" y="4993"/>
                  </a:lnTo>
                  <a:lnTo>
                    <a:pt x="1264" y="5039"/>
                  </a:lnTo>
                  <a:lnTo>
                    <a:pt x="1230" y="5084"/>
                  </a:lnTo>
                  <a:lnTo>
                    <a:pt x="1181" y="5144"/>
                  </a:lnTo>
                  <a:lnTo>
                    <a:pt x="1131" y="5203"/>
                  </a:lnTo>
                  <a:lnTo>
                    <a:pt x="1080" y="5262"/>
                  </a:lnTo>
                  <a:lnTo>
                    <a:pt x="1028" y="5319"/>
                  </a:lnTo>
                  <a:lnTo>
                    <a:pt x="975" y="5375"/>
                  </a:lnTo>
                  <a:lnTo>
                    <a:pt x="921" y="5430"/>
                  </a:lnTo>
                  <a:lnTo>
                    <a:pt x="866" y="5484"/>
                  </a:lnTo>
                  <a:lnTo>
                    <a:pt x="809" y="5537"/>
                  </a:lnTo>
                  <a:lnTo>
                    <a:pt x="809" y="5537"/>
                  </a:lnTo>
                  <a:close/>
                  <a:moveTo>
                    <a:pt x="820" y="2045"/>
                  </a:moveTo>
                  <a:lnTo>
                    <a:pt x="799" y="2045"/>
                  </a:lnTo>
                  <a:lnTo>
                    <a:pt x="773" y="2045"/>
                  </a:lnTo>
                  <a:lnTo>
                    <a:pt x="746" y="2044"/>
                  </a:lnTo>
                  <a:lnTo>
                    <a:pt x="721" y="2042"/>
                  </a:lnTo>
                  <a:lnTo>
                    <a:pt x="695" y="2038"/>
                  </a:lnTo>
                  <a:lnTo>
                    <a:pt x="670" y="2034"/>
                  </a:lnTo>
                  <a:lnTo>
                    <a:pt x="644" y="2029"/>
                  </a:lnTo>
                  <a:lnTo>
                    <a:pt x="620" y="2024"/>
                  </a:lnTo>
                  <a:lnTo>
                    <a:pt x="595" y="2018"/>
                  </a:lnTo>
                  <a:lnTo>
                    <a:pt x="570" y="2011"/>
                  </a:lnTo>
                  <a:lnTo>
                    <a:pt x="546" y="2003"/>
                  </a:lnTo>
                  <a:lnTo>
                    <a:pt x="523" y="1994"/>
                  </a:lnTo>
                  <a:lnTo>
                    <a:pt x="498" y="1985"/>
                  </a:lnTo>
                  <a:lnTo>
                    <a:pt x="476" y="1975"/>
                  </a:lnTo>
                  <a:lnTo>
                    <a:pt x="453" y="1964"/>
                  </a:lnTo>
                  <a:lnTo>
                    <a:pt x="431" y="1952"/>
                  </a:lnTo>
                  <a:lnTo>
                    <a:pt x="409" y="1940"/>
                  </a:lnTo>
                  <a:lnTo>
                    <a:pt x="387" y="1927"/>
                  </a:lnTo>
                  <a:lnTo>
                    <a:pt x="366" y="1913"/>
                  </a:lnTo>
                  <a:lnTo>
                    <a:pt x="345" y="1899"/>
                  </a:lnTo>
                  <a:lnTo>
                    <a:pt x="324" y="1884"/>
                  </a:lnTo>
                  <a:lnTo>
                    <a:pt x="304" y="1868"/>
                  </a:lnTo>
                  <a:lnTo>
                    <a:pt x="285" y="1852"/>
                  </a:lnTo>
                  <a:lnTo>
                    <a:pt x="265" y="1835"/>
                  </a:lnTo>
                  <a:lnTo>
                    <a:pt x="247" y="1817"/>
                  </a:lnTo>
                  <a:lnTo>
                    <a:pt x="230" y="1798"/>
                  </a:lnTo>
                  <a:lnTo>
                    <a:pt x="212" y="1780"/>
                  </a:lnTo>
                  <a:lnTo>
                    <a:pt x="194" y="1761"/>
                  </a:lnTo>
                  <a:lnTo>
                    <a:pt x="179" y="1741"/>
                  </a:lnTo>
                  <a:lnTo>
                    <a:pt x="162" y="1720"/>
                  </a:lnTo>
                  <a:lnTo>
                    <a:pt x="148" y="1699"/>
                  </a:lnTo>
                  <a:lnTo>
                    <a:pt x="133" y="1678"/>
                  </a:lnTo>
                  <a:lnTo>
                    <a:pt x="119" y="1655"/>
                  </a:lnTo>
                  <a:lnTo>
                    <a:pt x="106" y="1634"/>
                  </a:lnTo>
                  <a:lnTo>
                    <a:pt x="94" y="1614"/>
                  </a:lnTo>
                  <a:lnTo>
                    <a:pt x="80" y="1593"/>
                  </a:lnTo>
                  <a:lnTo>
                    <a:pt x="66" y="1572"/>
                  </a:lnTo>
                  <a:lnTo>
                    <a:pt x="58" y="1552"/>
                  </a:lnTo>
                  <a:lnTo>
                    <a:pt x="49" y="1531"/>
                  </a:lnTo>
                  <a:lnTo>
                    <a:pt x="42" y="1510"/>
                  </a:lnTo>
                  <a:lnTo>
                    <a:pt x="35" y="1489"/>
                  </a:lnTo>
                  <a:lnTo>
                    <a:pt x="28" y="1468"/>
                  </a:lnTo>
                  <a:lnTo>
                    <a:pt x="23" y="1447"/>
                  </a:lnTo>
                  <a:lnTo>
                    <a:pt x="18" y="1425"/>
                  </a:lnTo>
                  <a:lnTo>
                    <a:pt x="13" y="1404"/>
                  </a:lnTo>
                  <a:lnTo>
                    <a:pt x="9" y="1382"/>
                  </a:lnTo>
                  <a:lnTo>
                    <a:pt x="6" y="1360"/>
                  </a:lnTo>
                  <a:lnTo>
                    <a:pt x="4" y="1338"/>
                  </a:lnTo>
                  <a:lnTo>
                    <a:pt x="2" y="1314"/>
                  </a:lnTo>
                  <a:lnTo>
                    <a:pt x="1" y="1292"/>
                  </a:lnTo>
                  <a:lnTo>
                    <a:pt x="0" y="1270"/>
                  </a:lnTo>
                  <a:lnTo>
                    <a:pt x="0" y="1248"/>
                  </a:lnTo>
                  <a:lnTo>
                    <a:pt x="0" y="1225"/>
                  </a:lnTo>
                  <a:lnTo>
                    <a:pt x="2" y="1203"/>
                  </a:lnTo>
                  <a:lnTo>
                    <a:pt x="3" y="1180"/>
                  </a:lnTo>
                  <a:lnTo>
                    <a:pt x="6" y="1156"/>
                  </a:lnTo>
                  <a:lnTo>
                    <a:pt x="9" y="1134"/>
                  </a:lnTo>
                  <a:lnTo>
                    <a:pt x="14" y="1111"/>
                  </a:lnTo>
                  <a:lnTo>
                    <a:pt x="18" y="1089"/>
                  </a:lnTo>
                  <a:lnTo>
                    <a:pt x="24" y="1066"/>
                  </a:lnTo>
                  <a:lnTo>
                    <a:pt x="31" y="1044"/>
                  </a:lnTo>
                  <a:lnTo>
                    <a:pt x="37" y="1020"/>
                  </a:lnTo>
                  <a:lnTo>
                    <a:pt x="45" y="998"/>
                  </a:lnTo>
                  <a:lnTo>
                    <a:pt x="54" y="976"/>
                  </a:lnTo>
                  <a:lnTo>
                    <a:pt x="63" y="954"/>
                  </a:lnTo>
                  <a:lnTo>
                    <a:pt x="73" y="932"/>
                  </a:lnTo>
                  <a:lnTo>
                    <a:pt x="84" y="910"/>
                  </a:lnTo>
                  <a:lnTo>
                    <a:pt x="96" y="888"/>
                  </a:lnTo>
                  <a:lnTo>
                    <a:pt x="108" y="866"/>
                  </a:lnTo>
                  <a:lnTo>
                    <a:pt x="140" y="812"/>
                  </a:lnTo>
                  <a:lnTo>
                    <a:pt x="173" y="759"/>
                  </a:lnTo>
                  <a:lnTo>
                    <a:pt x="208" y="707"/>
                  </a:lnTo>
                  <a:lnTo>
                    <a:pt x="242" y="655"/>
                  </a:lnTo>
                  <a:lnTo>
                    <a:pt x="277" y="604"/>
                  </a:lnTo>
                  <a:lnTo>
                    <a:pt x="314" y="553"/>
                  </a:lnTo>
                  <a:lnTo>
                    <a:pt x="351" y="503"/>
                  </a:lnTo>
                  <a:lnTo>
                    <a:pt x="389" y="454"/>
                  </a:lnTo>
                  <a:lnTo>
                    <a:pt x="438" y="394"/>
                  </a:lnTo>
                  <a:lnTo>
                    <a:pt x="487" y="334"/>
                  </a:lnTo>
                  <a:lnTo>
                    <a:pt x="538" y="276"/>
                  </a:lnTo>
                  <a:lnTo>
                    <a:pt x="590" y="218"/>
                  </a:lnTo>
                  <a:lnTo>
                    <a:pt x="643" y="162"/>
                  </a:lnTo>
                  <a:lnTo>
                    <a:pt x="698" y="108"/>
                  </a:lnTo>
                  <a:lnTo>
                    <a:pt x="753" y="53"/>
                  </a:lnTo>
                  <a:lnTo>
                    <a:pt x="809" y="0"/>
                  </a:lnTo>
                  <a:lnTo>
                    <a:pt x="866" y="53"/>
                  </a:lnTo>
                  <a:lnTo>
                    <a:pt x="921" y="108"/>
                  </a:lnTo>
                  <a:lnTo>
                    <a:pt x="975" y="162"/>
                  </a:lnTo>
                  <a:lnTo>
                    <a:pt x="1028" y="218"/>
                  </a:lnTo>
                  <a:lnTo>
                    <a:pt x="1080" y="276"/>
                  </a:lnTo>
                  <a:lnTo>
                    <a:pt x="1131" y="334"/>
                  </a:lnTo>
                  <a:lnTo>
                    <a:pt x="1181" y="394"/>
                  </a:lnTo>
                  <a:lnTo>
                    <a:pt x="1230" y="454"/>
                  </a:lnTo>
                  <a:lnTo>
                    <a:pt x="1267" y="503"/>
                  </a:lnTo>
                  <a:lnTo>
                    <a:pt x="1305" y="553"/>
                  </a:lnTo>
                  <a:lnTo>
                    <a:pt x="1341" y="604"/>
                  </a:lnTo>
                  <a:lnTo>
                    <a:pt x="1377" y="655"/>
                  </a:lnTo>
                  <a:lnTo>
                    <a:pt x="1412" y="707"/>
                  </a:lnTo>
                  <a:lnTo>
                    <a:pt x="1445" y="760"/>
                  </a:lnTo>
                  <a:lnTo>
                    <a:pt x="1479" y="812"/>
                  </a:lnTo>
                  <a:lnTo>
                    <a:pt x="1511" y="866"/>
                  </a:lnTo>
                  <a:lnTo>
                    <a:pt x="1524" y="888"/>
                  </a:lnTo>
                  <a:lnTo>
                    <a:pt x="1535" y="910"/>
                  </a:lnTo>
                  <a:lnTo>
                    <a:pt x="1546" y="932"/>
                  </a:lnTo>
                  <a:lnTo>
                    <a:pt x="1556" y="954"/>
                  </a:lnTo>
                  <a:lnTo>
                    <a:pt x="1565" y="976"/>
                  </a:lnTo>
                  <a:lnTo>
                    <a:pt x="1574" y="998"/>
                  </a:lnTo>
                  <a:lnTo>
                    <a:pt x="1581" y="1020"/>
                  </a:lnTo>
                  <a:lnTo>
                    <a:pt x="1589" y="1044"/>
                  </a:lnTo>
                  <a:lnTo>
                    <a:pt x="1595" y="1066"/>
                  </a:lnTo>
                  <a:lnTo>
                    <a:pt x="1600" y="1089"/>
                  </a:lnTo>
                  <a:lnTo>
                    <a:pt x="1606" y="1111"/>
                  </a:lnTo>
                  <a:lnTo>
                    <a:pt x="1609" y="1134"/>
                  </a:lnTo>
                  <a:lnTo>
                    <a:pt x="1612" y="1157"/>
                  </a:lnTo>
                  <a:lnTo>
                    <a:pt x="1616" y="1180"/>
                  </a:lnTo>
                  <a:lnTo>
                    <a:pt x="1618" y="1203"/>
                  </a:lnTo>
                  <a:lnTo>
                    <a:pt x="1619" y="1225"/>
                  </a:lnTo>
                  <a:lnTo>
                    <a:pt x="1619" y="1248"/>
                  </a:lnTo>
                  <a:lnTo>
                    <a:pt x="1619" y="1270"/>
                  </a:lnTo>
                  <a:lnTo>
                    <a:pt x="1619" y="1292"/>
                  </a:lnTo>
                  <a:lnTo>
                    <a:pt x="1618" y="1316"/>
                  </a:lnTo>
                  <a:lnTo>
                    <a:pt x="1616" y="1338"/>
                  </a:lnTo>
                  <a:lnTo>
                    <a:pt x="1612" y="1360"/>
                  </a:lnTo>
                  <a:lnTo>
                    <a:pt x="1609" y="1382"/>
                  </a:lnTo>
                  <a:lnTo>
                    <a:pt x="1606" y="1404"/>
                  </a:lnTo>
                  <a:lnTo>
                    <a:pt x="1601" y="1425"/>
                  </a:lnTo>
                  <a:lnTo>
                    <a:pt x="1596" y="1447"/>
                  </a:lnTo>
                  <a:lnTo>
                    <a:pt x="1590" y="1468"/>
                  </a:lnTo>
                  <a:lnTo>
                    <a:pt x="1584" y="1489"/>
                  </a:lnTo>
                  <a:lnTo>
                    <a:pt x="1577" y="1510"/>
                  </a:lnTo>
                  <a:lnTo>
                    <a:pt x="1569" y="1531"/>
                  </a:lnTo>
                  <a:lnTo>
                    <a:pt x="1562" y="1552"/>
                  </a:lnTo>
                  <a:lnTo>
                    <a:pt x="1553" y="1572"/>
                  </a:lnTo>
                  <a:lnTo>
                    <a:pt x="1539" y="1593"/>
                  </a:lnTo>
                  <a:lnTo>
                    <a:pt x="1525" y="1614"/>
                  </a:lnTo>
                  <a:lnTo>
                    <a:pt x="1512" y="1635"/>
                  </a:lnTo>
                  <a:lnTo>
                    <a:pt x="1500" y="1657"/>
                  </a:lnTo>
                  <a:lnTo>
                    <a:pt x="1485" y="1679"/>
                  </a:lnTo>
                  <a:lnTo>
                    <a:pt x="1471" y="1700"/>
                  </a:lnTo>
                  <a:lnTo>
                    <a:pt x="1455" y="1721"/>
                  </a:lnTo>
                  <a:lnTo>
                    <a:pt x="1440" y="1742"/>
                  </a:lnTo>
                  <a:lnTo>
                    <a:pt x="1423" y="1762"/>
                  </a:lnTo>
                  <a:lnTo>
                    <a:pt x="1407" y="1781"/>
                  </a:lnTo>
                  <a:lnTo>
                    <a:pt x="1389" y="1800"/>
                  </a:lnTo>
                  <a:lnTo>
                    <a:pt x="1371" y="1818"/>
                  </a:lnTo>
                  <a:lnTo>
                    <a:pt x="1352" y="1836"/>
                  </a:lnTo>
                  <a:lnTo>
                    <a:pt x="1334" y="1853"/>
                  </a:lnTo>
                  <a:lnTo>
                    <a:pt x="1315" y="1869"/>
                  </a:lnTo>
                  <a:lnTo>
                    <a:pt x="1295" y="1885"/>
                  </a:lnTo>
                  <a:lnTo>
                    <a:pt x="1274" y="1899"/>
                  </a:lnTo>
                  <a:lnTo>
                    <a:pt x="1253" y="1913"/>
                  </a:lnTo>
                  <a:lnTo>
                    <a:pt x="1232" y="1928"/>
                  </a:lnTo>
                  <a:lnTo>
                    <a:pt x="1210" y="1940"/>
                  </a:lnTo>
                  <a:lnTo>
                    <a:pt x="1189" y="1953"/>
                  </a:lnTo>
                  <a:lnTo>
                    <a:pt x="1166" y="1964"/>
                  </a:lnTo>
                  <a:lnTo>
                    <a:pt x="1143" y="1975"/>
                  </a:lnTo>
                  <a:lnTo>
                    <a:pt x="1120" y="1985"/>
                  </a:lnTo>
                  <a:lnTo>
                    <a:pt x="1096" y="1994"/>
                  </a:lnTo>
                  <a:lnTo>
                    <a:pt x="1073" y="2003"/>
                  </a:lnTo>
                  <a:lnTo>
                    <a:pt x="1048" y="2011"/>
                  </a:lnTo>
                  <a:lnTo>
                    <a:pt x="1024" y="2018"/>
                  </a:lnTo>
                  <a:lnTo>
                    <a:pt x="1000" y="2024"/>
                  </a:lnTo>
                  <a:lnTo>
                    <a:pt x="974" y="2029"/>
                  </a:lnTo>
                  <a:lnTo>
                    <a:pt x="949" y="2035"/>
                  </a:lnTo>
                  <a:lnTo>
                    <a:pt x="923" y="2038"/>
                  </a:lnTo>
                  <a:lnTo>
                    <a:pt x="898" y="2042"/>
                  </a:lnTo>
                  <a:lnTo>
                    <a:pt x="872" y="2044"/>
                  </a:lnTo>
                  <a:lnTo>
                    <a:pt x="846" y="2045"/>
                  </a:lnTo>
                  <a:lnTo>
                    <a:pt x="820" y="2045"/>
                  </a:lnTo>
                  <a:close/>
                </a:path>
              </a:pathLst>
            </a:custGeom>
            <a:solidFill>
              <a:srgbClr val="000000">
                <a:alpha val="9804"/>
              </a:srgb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A765AB36-CC8E-578E-BFBD-1876A136F453}"/>
                </a:ext>
              </a:extLst>
            </p:cNvPr>
            <p:cNvSpPr>
              <a:spLocks/>
            </p:cNvSpPr>
            <p:nvPr/>
          </p:nvSpPr>
          <p:spPr bwMode="auto">
            <a:xfrm>
              <a:off x="4281" y="1369"/>
              <a:ext cx="1274" cy="1503"/>
            </a:xfrm>
            <a:custGeom>
              <a:avLst/>
              <a:gdLst>
                <a:gd name="T0" fmla="*/ 2065 w 6368"/>
                <a:gd name="T1" fmla="*/ 7476 h 7515"/>
                <a:gd name="T2" fmla="*/ 1463 w 6368"/>
                <a:gd name="T3" fmla="*/ 7337 h 7515"/>
                <a:gd name="T4" fmla="*/ 902 w 6368"/>
                <a:gd name="T5" fmla="*/ 7106 h 7515"/>
                <a:gd name="T6" fmla="*/ 390 w 6368"/>
                <a:gd name="T7" fmla="*/ 6791 h 7515"/>
                <a:gd name="T8" fmla="*/ 170 w 6368"/>
                <a:gd name="T9" fmla="*/ 6416 h 7515"/>
                <a:gd name="T10" fmla="*/ 507 w 6368"/>
                <a:gd name="T11" fmla="*/ 6029 h 7515"/>
                <a:gd name="T12" fmla="*/ 732 w 6368"/>
                <a:gd name="T13" fmla="*/ 5699 h 7515"/>
                <a:gd name="T14" fmla="*/ 848 w 6368"/>
                <a:gd name="T15" fmla="*/ 5336 h 7515"/>
                <a:gd name="T16" fmla="*/ 790 w 6368"/>
                <a:gd name="T17" fmla="*/ 4982 h 7515"/>
                <a:gd name="T18" fmla="*/ 589 w 6368"/>
                <a:gd name="T19" fmla="*/ 4690 h 7515"/>
                <a:gd name="T20" fmla="*/ 271 w 6368"/>
                <a:gd name="T21" fmla="*/ 4512 h 7515"/>
                <a:gd name="T22" fmla="*/ 13 w 6368"/>
                <a:gd name="T23" fmla="*/ 4483 h 7515"/>
                <a:gd name="T24" fmla="*/ 122 w 6368"/>
                <a:gd name="T25" fmla="*/ 4483 h 7515"/>
                <a:gd name="T26" fmla="*/ 300 w 6368"/>
                <a:gd name="T27" fmla="*/ 4516 h 7515"/>
                <a:gd name="T28" fmla="*/ 465 w 6368"/>
                <a:gd name="T29" fmla="*/ 4588 h 7515"/>
                <a:gd name="T30" fmla="*/ 610 w 6368"/>
                <a:gd name="T31" fmla="*/ 4694 h 7515"/>
                <a:gd name="T32" fmla="*/ 729 w 6368"/>
                <a:gd name="T33" fmla="*/ 4832 h 7515"/>
                <a:gd name="T34" fmla="*/ 958 w 6368"/>
                <a:gd name="T35" fmla="*/ 5152 h 7515"/>
                <a:gd name="T36" fmla="*/ 1304 w 6368"/>
                <a:gd name="T37" fmla="*/ 5478 h 7515"/>
                <a:gd name="T38" fmla="*/ 1715 w 6368"/>
                <a:gd name="T39" fmla="*/ 5724 h 7515"/>
                <a:gd name="T40" fmla="*/ 2179 w 6368"/>
                <a:gd name="T41" fmla="*/ 5874 h 7515"/>
                <a:gd name="T42" fmla="*/ 2721 w 6368"/>
                <a:gd name="T43" fmla="*/ 5913 h 7515"/>
                <a:gd name="T44" fmla="*/ 3465 w 6368"/>
                <a:gd name="T45" fmla="*/ 5738 h 7515"/>
                <a:gd name="T46" fmla="*/ 4087 w 6368"/>
                <a:gd name="T47" fmla="*/ 5329 h 7515"/>
                <a:gd name="T48" fmla="*/ 4533 w 6368"/>
                <a:gd name="T49" fmla="*/ 4737 h 7515"/>
                <a:gd name="T50" fmla="*/ 4753 w 6368"/>
                <a:gd name="T51" fmla="*/ 4011 h 7515"/>
                <a:gd name="T52" fmla="*/ 4711 w 6368"/>
                <a:gd name="T53" fmla="*/ 3268 h 7515"/>
                <a:gd name="T54" fmla="*/ 4448 w 6368"/>
                <a:gd name="T55" fmla="*/ 2630 h 7515"/>
                <a:gd name="T56" fmla="*/ 4004 w 6368"/>
                <a:gd name="T57" fmla="*/ 2114 h 7515"/>
                <a:gd name="T58" fmla="*/ 3419 w 6368"/>
                <a:gd name="T59" fmla="*/ 1757 h 7515"/>
                <a:gd name="T60" fmla="*/ 2733 w 6368"/>
                <a:gd name="T61" fmla="*/ 1603 h 7515"/>
                <a:gd name="T62" fmla="*/ 2389 w 6368"/>
                <a:gd name="T63" fmla="*/ 1609 h 7515"/>
                <a:gd name="T64" fmla="*/ 1906 w 6368"/>
                <a:gd name="T65" fmla="*/ 1715 h 7515"/>
                <a:gd name="T66" fmla="*/ 1471 w 6368"/>
                <a:gd name="T67" fmla="*/ 1922 h 7515"/>
                <a:gd name="T68" fmla="*/ 1095 w 6368"/>
                <a:gd name="T69" fmla="*/ 2217 h 7515"/>
                <a:gd name="T70" fmla="*/ 793 w 6368"/>
                <a:gd name="T71" fmla="*/ 2586 h 7515"/>
                <a:gd name="T72" fmla="*/ 721 w 6368"/>
                <a:gd name="T73" fmla="*/ 2697 h 7515"/>
                <a:gd name="T74" fmla="*/ 814 w 6368"/>
                <a:gd name="T75" fmla="*/ 2519 h 7515"/>
                <a:gd name="T76" fmla="*/ 859 w 6368"/>
                <a:gd name="T77" fmla="*/ 2323 h 7515"/>
                <a:gd name="T78" fmla="*/ 851 w 6368"/>
                <a:gd name="T79" fmla="*/ 2118 h 7515"/>
                <a:gd name="T80" fmla="*/ 785 w 6368"/>
                <a:gd name="T81" fmla="*/ 1913 h 7515"/>
                <a:gd name="T82" fmla="*/ 585 w 6368"/>
                <a:gd name="T83" fmla="*/ 1594 h 7515"/>
                <a:gd name="T84" fmla="*/ 275 w 6368"/>
                <a:gd name="T85" fmla="*/ 1211 h 7515"/>
                <a:gd name="T86" fmla="*/ 253 w 6368"/>
                <a:gd name="T87" fmla="*/ 828 h 7515"/>
                <a:gd name="T88" fmla="*/ 749 w 6368"/>
                <a:gd name="T89" fmla="*/ 491 h 7515"/>
                <a:gd name="T90" fmla="*/ 1297 w 6368"/>
                <a:gd name="T91" fmla="*/ 235 h 7515"/>
                <a:gd name="T92" fmla="*/ 1889 w 6368"/>
                <a:gd name="T93" fmla="*/ 69 h 7515"/>
                <a:gd name="T94" fmla="*/ 2515 w 6368"/>
                <a:gd name="T95" fmla="*/ 1 h 7515"/>
                <a:gd name="T96" fmla="*/ 3748 w 6368"/>
                <a:gd name="T97" fmla="*/ 177 h 7515"/>
                <a:gd name="T98" fmla="*/ 4900 w 6368"/>
                <a:gd name="T99" fmla="*/ 780 h 7515"/>
                <a:gd name="T100" fmla="*/ 5772 w 6368"/>
                <a:gd name="T101" fmla="*/ 1730 h 7515"/>
                <a:gd name="T102" fmla="*/ 6277 w 6368"/>
                <a:gd name="T103" fmla="*/ 2935 h 7515"/>
                <a:gd name="T104" fmla="*/ 6334 w 6368"/>
                <a:gd name="T105" fmla="*/ 4268 h 7515"/>
                <a:gd name="T106" fmla="*/ 5964 w 6368"/>
                <a:gd name="T107" fmla="*/ 5447 h 7515"/>
                <a:gd name="T108" fmla="*/ 5251 w 6368"/>
                <a:gd name="T109" fmla="*/ 6425 h 7515"/>
                <a:gd name="T110" fmla="*/ 4265 w 6368"/>
                <a:gd name="T111" fmla="*/ 7128 h 7515"/>
                <a:gd name="T112" fmla="*/ 3081 w 6368"/>
                <a:gd name="T113" fmla="*/ 7485 h 7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368" h="7515">
                  <a:moveTo>
                    <a:pt x="2607" y="7515"/>
                  </a:moveTo>
                  <a:lnTo>
                    <a:pt x="2515" y="7514"/>
                  </a:lnTo>
                  <a:lnTo>
                    <a:pt x="2423" y="7511"/>
                  </a:lnTo>
                  <a:lnTo>
                    <a:pt x="2334" y="7505"/>
                  </a:lnTo>
                  <a:lnTo>
                    <a:pt x="2243" y="7497"/>
                  </a:lnTo>
                  <a:lnTo>
                    <a:pt x="2153" y="7488"/>
                  </a:lnTo>
                  <a:lnTo>
                    <a:pt x="2065" y="7476"/>
                  </a:lnTo>
                  <a:lnTo>
                    <a:pt x="1976" y="7462"/>
                  </a:lnTo>
                  <a:lnTo>
                    <a:pt x="1889" y="7447"/>
                  </a:lnTo>
                  <a:lnTo>
                    <a:pt x="1803" y="7429"/>
                  </a:lnTo>
                  <a:lnTo>
                    <a:pt x="1716" y="7409"/>
                  </a:lnTo>
                  <a:lnTo>
                    <a:pt x="1631" y="7387"/>
                  </a:lnTo>
                  <a:lnTo>
                    <a:pt x="1546" y="7363"/>
                  </a:lnTo>
                  <a:lnTo>
                    <a:pt x="1463" y="7337"/>
                  </a:lnTo>
                  <a:lnTo>
                    <a:pt x="1380" y="7310"/>
                  </a:lnTo>
                  <a:lnTo>
                    <a:pt x="1298" y="7281"/>
                  </a:lnTo>
                  <a:lnTo>
                    <a:pt x="1216" y="7249"/>
                  </a:lnTo>
                  <a:lnTo>
                    <a:pt x="1137" y="7216"/>
                  </a:lnTo>
                  <a:lnTo>
                    <a:pt x="1057" y="7181"/>
                  </a:lnTo>
                  <a:lnTo>
                    <a:pt x="979" y="7145"/>
                  </a:lnTo>
                  <a:lnTo>
                    <a:pt x="902" y="7106"/>
                  </a:lnTo>
                  <a:lnTo>
                    <a:pt x="826" y="7066"/>
                  </a:lnTo>
                  <a:lnTo>
                    <a:pt x="750" y="7024"/>
                  </a:lnTo>
                  <a:lnTo>
                    <a:pt x="675" y="6981"/>
                  </a:lnTo>
                  <a:lnTo>
                    <a:pt x="602" y="6936"/>
                  </a:lnTo>
                  <a:lnTo>
                    <a:pt x="530" y="6890"/>
                  </a:lnTo>
                  <a:lnTo>
                    <a:pt x="460" y="6841"/>
                  </a:lnTo>
                  <a:lnTo>
                    <a:pt x="390" y="6791"/>
                  </a:lnTo>
                  <a:lnTo>
                    <a:pt x="321" y="6740"/>
                  </a:lnTo>
                  <a:lnTo>
                    <a:pt x="254" y="6687"/>
                  </a:lnTo>
                  <a:lnTo>
                    <a:pt x="188" y="6633"/>
                  </a:lnTo>
                  <a:lnTo>
                    <a:pt x="123" y="6578"/>
                  </a:lnTo>
                  <a:lnTo>
                    <a:pt x="60" y="6521"/>
                  </a:lnTo>
                  <a:lnTo>
                    <a:pt x="115" y="6469"/>
                  </a:lnTo>
                  <a:lnTo>
                    <a:pt x="170" y="6416"/>
                  </a:lnTo>
                  <a:lnTo>
                    <a:pt x="223" y="6361"/>
                  </a:lnTo>
                  <a:lnTo>
                    <a:pt x="275" y="6305"/>
                  </a:lnTo>
                  <a:lnTo>
                    <a:pt x="327" y="6249"/>
                  </a:lnTo>
                  <a:lnTo>
                    <a:pt x="377" y="6191"/>
                  </a:lnTo>
                  <a:lnTo>
                    <a:pt x="425" y="6133"/>
                  </a:lnTo>
                  <a:lnTo>
                    <a:pt x="473" y="6074"/>
                  </a:lnTo>
                  <a:lnTo>
                    <a:pt x="507" y="6029"/>
                  </a:lnTo>
                  <a:lnTo>
                    <a:pt x="541" y="5983"/>
                  </a:lnTo>
                  <a:lnTo>
                    <a:pt x="575" y="5937"/>
                  </a:lnTo>
                  <a:lnTo>
                    <a:pt x="608" y="5891"/>
                  </a:lnTo>
                  <a:lnTo>
                    <a:pt x="640" y="5843"/>
                  </a:lnTo>
                  <a:lnTo>
                    <a:pt x="671" y="5796"/>
                  </a:lnTo>
                  <a:lnTo>
                    <a:pt x="702" y="5748"/>
                  </a:lnTo>
                  <a:lnTo>
                    <a:pt x="732" y="5699"/>
                  </a:lnTo>
                  <a:lnTo>
                    <a:pt x="760" y="5649"/>
                  </a:lnTo>
                  <a:lnTo>
                    <a:pt x="785" y="5598"/>
                  </a:lnTo>
                  <a:lnTo>
                    <a:pt x="805" y="5546"/>
                  </a:lnTo>
                  <a:lnTo>
                    <a:pt x="821" y="5494"/>
                  </a:lnTo>
                  <a:lnTo>
                    <a:pt x="833" y="5441"/>
                  </a:lnTo>
                  <a:lnTo>
                    <a:pt x="842" y="5389"/>
                  </a:lnTo>
                  <a:lnTo>
                    <a:pt x="848" y="5336"/>
                  </a:lnTo>
                  <a:lnTo>
                    <a:pt x="850" y="5284"/>
                  </a:lnTo>
                  <a:lnTo>
                    <a:pt x="848" y="5232"/>
                  </a:lnTo>
                  <a:lnTo>
                    <a:pt x="843" y="5180"/>
                  </a:lnTo>
                  <a:lnTo>
                    <a:pt x="835" y="5129"/>
                  </a:lnTo>
                  <a:lnTo>
                    <a:pt x="822" y="5079"/>
                  </a:lnTo>
                  <a:lnTo>
                    <a:pt x="808" y="5030"/>
                  </a:lnTo>
                  <a:lnTo>
                    <a:pt x="790" y="4982"/>
                  </a:lnTo>
                  <a:lnTo>
                    <a:pt x="770" y="4936"/>
                  </a:lnTo>
                  <a:lnTo>
                    <a:pt x="746" y="4890"/>
                  </a:lnTo>
                  <a:lnTo>
                    <a:pt x="719" y="4846"/>
                  </a:lnTo>
                  <a:lnTo>
                    <a:pt x="691" y="4804"/>
                  </a:lnTo>
                  <a:lnTo>
                    <a:pt x="660" y="4764"/>
                  </a:lnTo>
                  <a:lnTo>
                    <a:pt x="625" y="4727"/>
                  </a:lnTo>
                  <a:lnTo>
                    <a:pt x="589" y="4690"/>
                  </a:lnTo>
                  <a:lnTo>
                    <a:pt x="550" y="4657"/>
                  </a:lnTo>
                  <a:lnTo>
                    <a:pt x="508" y="4625"/>
                  </a:lnTo>
                  <a:lnTo>
                    <a:pt x="465" y="4598"/>
                  </a:lnTo>
                  <a:lnTo>
                    <a:pt x="420" y="4571"/>
                  </a:lnTo>
                  <a:lnTo>
                    <a:pt x="372" y="4549"/>
                  </a:lnTo>
                  <a:lnTo>
                    <a:pt x="322" y="4529"/>
                  </a:lnTo>
                  <a:lnTo>
                    <a:pt x="271" y="4512"/>
                  </a:lnTo>
                  <a:lnTo>
                    <a:pt x="218" y="4499"/>
                  </a:lnTo>
                  <a:lnTo>
                    <a:pt x="163" y="4490"/>
                  </a:lnTo>
                  <a:lnTo>
                    <a:pt x="107" y="4484"/>
                  </a:lnTo>
                  <a:lnTo>
                    <a:pt x="49" y="4483"/>
                  </a:lnTo>
                  <a:lnTo>
                    <a:pt x="37" y="4483"/>
                  </a:lnTo>
                  <a:lnTo>
                    <a:pt x="25" y="4483"/>
                  </a:lnTo>
                  <a:lnTo>
                    <a:pt x="13" y="4483"/>
                  </a:lnTo>
                  <a:lnTo>
                    <a:pt x="0" y="4484"/>
                  </a:lnTo>
                  <a:lnTo>
                    <a:pt x="17" y="4483"/>
                  </a:lnTo>
                  <a:lnTo>
                    <a:pt x="35" y="4482"/>
                  </a:lnTo>
                  <a:lnTo>
                    <a:pt x="51" y="4482"/>
                  </a:lnTo>
                  <a:lnTo>
                    <a:pt x="69" y="4482"/>
                  </a:lnTo>
                  <a:lnTo>
                    <a:pt x="96" y="4482"/>
                  </a:lnTo>
                  <a:lnTo>
                    <a:pt x="122" y="4483"/>
                  </a:lnTo>
                  <a:lnTo>
                    <a:pt x="148" y="4485"/>
                  </a:lnTo>
                  <a:lnTo>
                    <a:pt x="174" y="4488"/>
                  </a:lnTo>
                  <a:lnTo>
                    <a:pt x="200" y="4491"/>
                  </a:lnTo>
                  <a:lnTo>
                    <a:pt x="225" y="4497"/>
                  </a:lnTo>
                  <a:lnTo>
                    <a:pt x="250" y="4503"/>
                  </a:lnTo>
                  <a:lnTo>
                    <a:pt x="276" y="4509"/>
                  </a:lnTo>
                  <a:lnTo>
                    <a:pt x="300" y="4516"/>
                  </a:lnTo>
                  <a:lnTo>
                    <a:pt x="325" y="4524"/>
                  </a:lnTo>
                  <a:lnTo>
                    <a:pt x="349" y="4532"/>
                  </a:lnTo>
                  <a:lnTo>
                    <a:pt x="373" y="4542"/>
                  </a:lnTo>
                  <a:lnTo>
                    <a:pt x="396" y="4552"/>
                  </a:lnTo>
                  <a:lnTo>
                    <a:pt x="420" y="4563"/>
                  </a:lnTo>
                  <a:lnTo>
                    <a:pt x="443" y="4575"/>
                  </a:lnTo>
                  <a:lnTo>
                    <a:pt x="465" y="4588"/>
                  </a:lnTo>
                  <a:lnTo>
                    <a:pt x="487" y="4601"/>
                  </a:lnTo>
                  <a:lnTo>
                    <a:pt x="508" y="4614"/>
                  </a:lnTo>
                  <a:lnTo>
                    <a:pt x="530" y="4630"/>
                  </a:lnTo>
                  <a:lnTo>
                    <a:pt x="550" y="4644"/>
                  </a:lnTo>
                  <a:lnTo>
                    <a:pt x="571" y="4661"/>
                  </a:lnTo>
                  <a:lnTo>
                    <a:pt x="591" y="4677"/>
                  </a:lnTo>
                  <a:lnTo>
                    <a:pt x="610" y="4694"/>
                  </a:lnTo>
                  <a:lnTo>
                    <a:pt x="629" y="4713"/>
                  </a:lnTo>
                  <a:lnTo>
                    <a:pt x="648" y="4730"/>
                  </a:lnTo>
                  <a:lnTo>
                    <a:pt x="665" y="4749"/>
                  </a:lnTo>
                  <a:lnTo>
                    <a:pt x="682" y="4769"/>
                  </a:lnTo>
                  <a:lnTo>
                    <a:pt x="698" y="4790"/>
                  </a:lnTo>
                  <a:lnTo>
                    <a:pt x="715" y="4810"/>
                  </a:lnTo>
                  <a:lnTo>
                    <a:pt x="729" y="4832"/>
                  </a:lnTo>
                  <a:lnTo>
                    <a:pt x="745" y="4854"/>
                  </a:lnTo>
                  <a:lnTo>
                    <a:pt x="759" y="4876"/>
                  </a:lnTo>
                  <a:lnTo>
                    <a:pt x="796" y="4934"/>
                  </a:lnTo>
                  <a:lnTo>
                    <a:pt x="833" y="4990"/>
                  </a:lnTo>
                  <a:lnTo>
                    <a:pt x="873" y="5045"/>
                  </a:lnTo>
                  <a:lnTo>
                    <a:pt x="915" y="5099"/>
                  </a:lnTo>
                  <a:lnTo>
                    <a:pt x="958" y="5152"/>
                  </a:lnTo>
                  <a:lnTo>
                    <a:pt x="1004" y="5203"/>
                  </a:lnTo>
                  <a:lnTo>
                    <a:pt x="1050" y="5253"/>
                  </a:lnTo>
                  <a:lnTo>
                    <a:pt x="1098" y="5302"/>
                  </a:lnTo>
                  <a:lnTo>
                    <a:pt x="1148" y="5348"/>
                  </a:lnTo>
                  <a:lnTo>
                    <a:pt x="1198" y="5393"/>
                  </a:lnTo>
                  <a:lnTo>
                    <a:pt x="1250" y="5436"/>
                  </a:lnTo>
                  <a:lnTo>
                    <a:pt x="1304" y="5478"/>
                  </a:lnTo>
                  <a:lnTo>
                    <a:pt x="1359" y="5519"/>
                  </a:lnTo>
                  <a:lnTo>
                    <a:pt x="1415" y="5558"/>
                  </a:lnTo>
                  <a:lnTo>
                    <a:pt x="1473" y="5594"/>
                  </a:lnTo>
                  <a:lnTo>
                    <a:pt x="1531" y="5630"/>
                  </a:lnTo>
                  <a:lnTo>
                    <a:pt x="1591" y="5663"/>
                  </a:lnTo>
                  <a:lnTo>
                    <a:pt x="1653" y="5694"/>
                  </a:lnTo>
                  <a:lnTo>
                    <a:pt x="1715" y="5724"/>
                  </a:lnTo>
                  <a:lnTo>
                    <a:pt x="1778" y="5751"/>
                  </a:lnTo>
                  <a:lnTo>
                    <a:pt x="1842" y="5777"/>
                  </a:lnTo>
                  <a:lnTo>
                    <a:pt x="1908" y="5800"/>
                  </a:lnTo>
                  <a:lnTo>
                    <a:pt x="1974" y="5822"/>
                  </a:lnTo>
                  <a:lnTo>
                    <a:pt x="2041" y="5841"/>
                  </a:lnTo>
                  <a:lnTo>
                    <a:pt x="2109" y="5859"/>
                  </a:lnTo>
                  <a:lnTo>
                    <a:pt x="2179" y="5874"/>
                  </a:lnTo>
                  <a:lnTo>
                    <a:pt x="2248" y="5886"/>
                  </a:lnTo>
                  <a:lnTo>
                    <a:pt x="2318" y="5897"/>
                  </a:lnTo>
                  <a:lnTo>
                    <a:pt x="2389" y="5905"/>
                  </a:lnTo>
                  <a:lnTo>
                    <a:pt x="2461" y="5912"/>
                  </a:lnTo>
                  <a:lnTo>
                    <a:pt x="2534" y="5915"/>
                  </a:lnTo>
                  <a:lnTo>
                    <a:pt x="2607" y="5916"/>
                  </a:lnTo>
                  <a:lnTo>
                    <a:pt x="2721" y="5913"/>
                  </a:lnTo>
                  <a:lnTo>
                    <a:pt x="2832" y="5905"/>
                  </a:lnTo>
                  <a:lnTo>
                    <a:pt x="2943" y="5889"/>
                  </a:lnTo>
                  <a:lnTo>
                    <a:pt x="3051" y="5870"/>
                  </a:lnTo>
                  <a:lnTo>
                    <a:pt x="3159" y="5845"/>
                  </a:lnTo>
                  <a:lnTo>
                    <a:pt x="3263" y="5814"/>
                  </a:lnTo>
                  <a:lnTo>
                    <a:pt x="3366" y="5779"/>
                  </a:lnTo>
                  <a:lnTo>
                    <a:pt x="3465" y="5738"/>
                  </a:lnTo>
                  <a:lnTo>
                    <a:pt x="3563" y="5693"/>
                  </a:lnTo>
                  <a:lnTo>
                    <a:pt x="3658" y="5643"/>
                  </a:lnTo>
                  <a:lnTo>
                    <a:pt x="3750" y="5589"/>
                  </a:lnTo>
                  <a:lnTo>
                    <a:pt x="3839" y="5530"/>
                  </a:lnTo>
                  <a:lnTo>
                    <a:pt x="3924" y="5467"/>
                  </a:lnTo>
                  <a:lnTo>
                    <a:pt x="4007" y="5400"/>
                  </a:lnTo>
                  <a:lnTo>
                    <a:pt x="4087" y="5329"/>
                  </a:lnTo>
                  <a:lnTo>
                    <a:pt x="4162" y="5254"/>
                  </a:lnTo>
                  <a:lnTo>
                    <a:pt x="4234" y="5177"/>
                  </a:lnTo>
                  <a:lnTo>
                    <a:pt x="4302" y="5095"/>
                  </a:lnTo>
                  <a:lnTo>
                    <a:pt x="4366" y="5010"/>
                  </a:lnTo>
                  <a:lnTo>
                    <a:pt x="4425" y="4921"/>
                  </a:lnTo>
                  <a:lnTo>
                    <a:pt x="4481" y="4831"/>
                  </a:lnTo>
                  <a:lnTo>
                    <a:pt x="4533" y="4737"/>
                  </a:lnTo>
                  <a:lnTo>
                    <a:pt x="4579" y="4640"/>
                  </a:lnTo>
                  <a:lnTo>
                    <a:pt x="4620" y="4540"/>
                  </a:lnTo>
                  <a:lnTo>
                    <a:pt x="4658" y="4438"/>
                  </a:lnTo>
                  <a:lnTo>
                    <a:pt x="4689" y="4335"/>
                  </a:lnTo>
                  <a:lnTo>
                    <a:pt x="4715" y="4228"/>
                  </a:lnTo>
                  <a:lnTo>
                    <a:pt x="4737" y="4120"/>
                  </a:lnTo>
                  <a:lnTo>
                    <a:pt x="4753" y="4011"/>
                  </a:lnTo>
                  <a:lnTo>
                    <a:pt x="4763" y="3898"/>
                  </a:lnTo>
                  <a:lnTo>
                    <a:pt x="4767" y="3785"/>
                  </a:lnTo>
                  <a:lnTo>
                    <a:pt x="4766" y="3670"/>
                  </a:lnTo>
                  <a:lnTo>
                    <a:pt x="4760" y="3568"/>
                  </a:lnTo>
                  <a:lnTo>
                    <a:pt x="4747" y="3467"/>
                  </a:lnTo>
                  <a:lnTo>
                    <a:pt x="4732" y="3366"/>
                  </a:lnTo>
                  <a:lnTo>
                    <a:pt x="4711" y="3268"/>
                  </a:lnTo>
                  <a:lnTo>
                    <a:pt x="4685" y="3171"/>
                  </a:lnTo>
                  <a:lnTo>
                    <a:pt x="4657" y="3076"/>
                  </a:lnTo>
                  <a:lnTo>
                    <a:pt x="4622" y="2983"/>
                  </a:lnTo>
                  <a:lnTo>
                    <a:pt x="4585" y="2891"/>
                  </a:lnTo>
                  <a:lnTo>
                    <a:pt x="4543" y="2803"/>
                  </a:lnTo>
                  <a:lnTo>
                    <a:pt x="4497" y="2716"/>
                  </a:lnTo>
                  <a:lnTo>
                    <a:pt x="4448" y="2630"/>
                  </a:lnTo>
                  <a:lnTo>
                    <a:pt x="4394" y="2549"/>
                  </a:lnTo>
                  <a:lnTo>
                    <a:pt x="4337" y="2469"/>
                  </a:lnTo>
                  <a:lnTo>
                    <a:pt x="4277" y="2392"/>
                  </a:lnTo>
                  <a:lnTo>
                    <a:pt x="4213" y="2318"/>
                  </a:lnTo>
                  <a:lnTo>
                    <a:pt x="4147" y="2247"/>
                  </a:lnTo>
                  <a:lnTo>
                    <a:pt x="4077" y="2178"/>
                  </a:lnTo>
                  <a:lnTo>
                    <a:pt x="4004" y="2114"/>
                  </a:lnTo>
                  <a:lnTo>
                    <a:pt x="3928" y="2052"/>
                  </a:lnTo>
                  <a:lnTo>
                    <a:pt x="3849" y="1994"/>
                  </a:lnTo>
                  <a:lnTo>
                    <a:pt x="3768" y="1940"/>
                  </a:lnTo>
                  <a:lnTo>
                    <a:pt x="3684" y="1888"/>
                  </a:lnTo>
                  <a:lnTo>
                    <a:pt x="3598" y="1841"/>
                  </a:lnTo>
                  <a:lnTo>
                    <a:pt x="3509" y="1797"/>
                  </a:lnTo>
                  <a:lnTo>
                    <a:pt x="3419" y="1757"/>
                  </a:lnTo>
                  <a:lnTo>
                    <a:pt x="3326" y="1722"/>
                  </a:lnTo>
                  <a:lnTo>
                    <a:pt x="3232" y="1691"/>
                  </a:lnTo>
                  <a:lnTo>
                    <a:pt x="3136" y="1665"/>
                  </a:lnTo>
                  <a:lnTo>
                    <a:pt x="3037" y="1641"/>
                  </a:lnTo>
                  <a:lnTo>
                    <a:pt x="2938" y="1624"/>
                  </a:lnTo>
                  <a:lnTo>
                    <a:pt x="2836" y="1610"/>
                  </a:lnTo>
                  <a:lnTo>
                    <a:pt x="2733" y="1603"/>
                  </a:lnTo>
                  <a:lnTo>
                    <a:pt x="2702" y="1600"/>
                  </a:lnTo>
                  <a:lnTo>
                    <a:pt x="2670" y="1599"/>
                  </a:lnTo>
                  <a:lnTo>
                    <a:pt x="2638" y="1599"/>
                  </a:lnTo>
                  <a:lnTo>
                    <a:pt x="2607" y="1599"/>
                  </a:lnTo>
                  <a:lnTo>
                    <a:pt x="2534" y="1600"/>
                  </a:lnTo>
                  <a:lnTo>
                    <a:pt x="2461" y="1604"/>
                  </a:lnTo>
                  <a:lnTo>
                    <a:pt x="2389" y="1609"/>
                  </a:lnTo>
                  <a:lnTo>
                    <a:pt x="2317" y="1618"/>
                  </a:lnTo>
                  <a:lnTo>
                    <a:pt x="2247" y="1629"/>
                  </a:lnTo>
                  <a:lnTo>
                    <a:pt x="2178" y="1641"/>
                  </a:lnTo>
                  <a:lnTo>
                    <a:pt x="2108" y="1657"/>
                  </a:lnTo>
                  <a:lnTo>
                    <a:pt x="2040" y="1674"/>
                  </a:lnTo>
                  <a:lnTo>
                    <a:pt x="1973" y="1693"/>
                  </a:lnTo>
                  <a:lnTo>
                    <a:pt x="1906" y="1715"/>
                  </a:lnTo>
                  <a:lnTo>
                    <a:pt x="1841" y="1739"/>
                  </a:lnTo>
                  <a:lnTo>
                    <a:pt x="1776" y="1764"/>
                  </a:lnTo>
                  <a:lnTo>
                    <a:pt x="1713" y="1793"/>
                  </a:lnTo>
                  <a:lnTo>
                    <a:pt x="1651" y="1821"/>
                  </a:lnTo>
                  <a:lnTo>
                    <a:pt x="1589" y="1854"/>
                  </a:lnTo>
                  <a:lnTo>
                    <a:pt x="1529" y="1887"/>
                  </a:lnTo>
                  <a:lnTo>
                    <a:pt x="1471" y="1922"/>
                  </a:lnTo>
                  <a:lnTo>
                    <a:pt x="1413" y="1959"/>
                  </a:lnTo>
                  <a:lnTo>
                    <a:pt x="1357" y="1998"/>
                  </a:lnTo>
                  <a:lnTo>
                    <a:pt x="1301" y="2038"/>
                  </a:lnTo>
                  <a:lnTo>
                    <a:pt x="1247" y="2080"/>
                  </a:lnTo>
                  <a:lnTo>
                    <a:pt x="1195" y="2124"/>
                  </a:lnTo>
                  <a:lnTo>
                    <a:pt x="1144" y="2170"/>
                  </a:lnTo>
                  <a:lnTo>
                    <a:pt x="1095" y="2217"/>
                  </a:lnTo>
                  <a:lnTo>
                    <a:pt x="1047" y="2266"/>
                  </a:lnTo>
                  <a:lnTo>
                    <a:pt x="1000" y="2315"/>
                  </a:lnTo>
                  <a:lnTo>
                    <a:pt x="955" y="2366"/>
                  </a:lnTo>
                  <a:lnTo>
                    <a:pt x="912" y="2419"/>
                  </a:lnTo>
                  <a:lnTo>
                    <a:pt x="870" y="2474"/>
                  </a:lnTo>
                  <a:lnTo>
                    <a:pt x="830" y="2529"/>
                  </a:lnTo>
                  <a:lnTo>
                    <a:pt x="793" y="2586"/>
                  </a:lnTo>
                  <a:lnTo>
                    <a:pt x="756" y="2644"/>
                  </a:lnTo>
                  <a:lnTo>
                    <a:pt x="739" y="2670"/>
                  </a:lnTo>
                  <a:lnTo>
                    <a:pt x="723" y="2695"/>
                  </a:lnTo>
                  <a:lnTo>
                    <a:pt x="704" y="2720"/>
                  </a:lnTo>
                  <a:lnTo>
                    <a:pt x="685" y="2743"/>
                  </a:lnTo>
                  <a:lnTo>
                    <a:pt x="703" y="2720"/>
                  </a:lnTo>
                  <a:lnTo>
                    <a:pt x="721" y="2697"/>
                  </a:lnTo>
                  <a:lnTo>
                    <a:pt x="736" y="2674"/>
                  </a:lnTo>
                  <a:lnTo>
                    <a:pt x="752" y="2648"/>
                  </a:lnTo>
                  <a:lnTo>
                    <a:pt x="766" y="2624"/>
                  </a:lnTo>
                  <a:lnTo>
                    <a:pt x="779" y="2598"/>
                  </a:lnTo>
                  <a:lnTo>
                    <a:pt x="791" y="2572"/>
                  </a:lnTo>
                  <a:lnTo>
                    <a:pt x="802" y="2545"/>
                  </a:lnTo>
                  <a:lnTo>
                    <a:pt x="814" y="2519"/>
                  </a:lnTo>
                  <a:lnTo>
                    <a:pt x="823" y="2492"/>
                  </a:lnTo>
                  <a:lnTo>
                    <a:pt x="831" y="2465"/>
                  </a:lnTo>
                  <a:lnTo>
                    <a:pt x="839" y="2437"/>
                  </a:lnTo>
                  <a:lnTo>
                    <a:pt x="846" y="2408"/>
                  </a:lnTo>
                  <a:lnTo>
                    <a:pt x="851" y="2380"/>
                  </a:lnTo>
                  <a:lnTo>
                    <a:pt x="856" y="2352"/>
                  </a:lnTo>
                  <a:lnTo>
                    <a:pt x="859" y="2323"/>
                  </a:lnTo>
                  <a:lnTo>
                    <a:pt x="861" y="2293"/>
                  </a:lnTo>
                  <a:lnTo>
                    <a:pt x="862" y="2265"/>
                  </a:lnTo>
                  <a:lnTo>
                    <a:pt x="862" y="2235"/>
                  </a:lnTo>
                  <a:lnTo>
                    <a:pt x="861" y="2206"/>
                  </a:lnTo>
                  <a:lnTo>
                    <a:pt x="859" y="2176"/>
                  </a:lnTo>
                  <a:lnTo>
                    <a:pt x="856" y="2146"/>
                  </a:lnTo>
                  <a:lnTo>
                    <a:pt x="851" y="2118"/>
                  </a:lnTo>
                  <a:lnTo>
                    <a:pt x="846" y="2088"/>
                  </a:lnTo>
                  <a:lnTo>
                    <a:pt x="839" y="2058"/>
                  </a:lnTo>
                  <a:lnTo>
                    <a:pt x="830" y="2029"/>
                  </a:lnTo>
                  <a:lnTo>
                    <a:pt x="821" y="1999"/>
                  </a:lnTo>
                  <a:lnTo>
                    <a:pt x="810" y="1971"/>
                  </a:lnTo>
                  <a:lnTo>
                    <a:pt x="798" y="1942"/>
                  </a:lnTo>
                  <a:lnTo>
                    <a:pt x="785" y="1913"/>
                  </a:lnTo>
                  <a:lnTo>
                    <a:pt x="770" y="1884"/>
                  </a:lnTo>
                  <a:lnTo>
                    <a:pt x="754" y="1856"/>
                  </a:lnTo>
                  <a:lnTo>
                    <a:pt x="722" y="1803"/>
                  </a:lnTo>
                  <a:lnTo>
                    <a:pt x="689" y="1750"/>
                  </a:lnTo>
                  <a:lnTo>
                    <a:pt x="655" y="1697"/>
                  </a:lnTo>
                  <a:lnTo>
                    <a:pt x="620" y="1645"/>
                  </a:lnTo>
                  <a:lnTo>
                    <a:pt x="585" y="1594"/>
                  </a:lnTo>
                  <a:lnTo>
                    <a:pt x="548" y="1543"/>
                  </a:lnTo>
                  <a:lnTo>
                    <a:pt x="510" y="1493"/>
                  </a:lnTo>
                  <a:lnTo>
                    <a:pt x="473" y="1444"/>
                  </a:lnTo>
                  <a:lnTo>
                    <a:pt x="425" y="1384"/>
                  </a:lnTo>
                  <a:lnTo>
                    <a:pt x="375" y="1325"/>
                  </a:lnTo>
                  <a:lnTo>
                    <a:pt x="326" y="1268"/>
                  </a:lnTo>
                  <a:lnTo>
                    <a:pt x="275" y="1211"/>
                  </a:lnTo>
                  <a:lnTo>
                    <a:pt x="222" y="1156"/>
                  </a:lnTo>
                  <a:lnTo>
                    <a:pt x="169" y="1101"/>
                  </a:lnTo>
                  <a:lnTo>
                    <a:pt x="114" y="1048"/>
                  </a:lnTo>
                  <a:lnTo>
                    <a:pt x="58" y="996"/>
                  </a:lnTo>
                  <a:lnTo>
                    <a:pt x="122" y="938"/>
                  </a:lnTo>
                  <a:lnTo>
                    <a:pt x="186" y="882"/>
                  </a:lnTo>
                  <a:lnTo>
                    <a:pt x="253" y="828"/>
                  </a:lnTo>
                  <a:lnTo>
                    <a:pt x="320" y="775"/>
                  </a:lnTo>
                  <a:lnTo>
                    <a:pt x="389" y="724"/>
                  </a:lnTo>
                  <a:lnTo>
                    <a:pt x="458" y="674"/>
                  </a:lnTo>
                  <a:lnTo>
                    <a:pt x="529" y="626"/>
                  </a:lnTo>
                  <a:lnTo>
                    <a:pt x="601" y="579"/>
                  </a:lnTo>
                  <a:lnTo>
                    <a:pt x="674" y="534"/>
                  </a:lnTo>
                  <a:lnTo>
                    <a:pt x="749" y="491"/>
                  </a:lnTo>
                  <a:lnTo>
                    <a:pt x="825" y="449"/>
                  </a:lnTo>
                  <a:lnTo>
                    <a:pt x="901" y="409"/>
                  </a:lnTo>
                  <a:lnTo>
                    <a:pt x="978" y="370"/>
                  </a:lnTo>
                  <a:lnTo>
                    <a:pt x="1056" y="334"/>
                  </a:lnTo>
                  <a:lnTo>
                    <a:pt x="1135" y="299"/>
                  </a:lnTo>
                  <a:lnTo>
                    <a:pt x="1216" y="267"/>
                  </a:lnTo>
                  <a:lnTo>
                    <a:pt x="1297" y="235"/>
                  </a:lnTo>
                  <a:lnTo>
                    <a:pt x="1379" y="206"/>
                  </a:lnTo>
                  <a:lnTo>
                    <a:pt x="1462" y="178"/>
                  </a:lnTo>
                  <a:lnTo>
                    <a:pt x="1546" y="152"/>
                  </a:lnTo>
                  <a:lnTo>
                    <a:pt x="1630" y="128"/>
                  </a:lnTo>
                  <a:lnTo>
                    <a:pt x="1715" y="106"/>
                  </a:lnTo>
                  <a:lnTo>
                    <a:pt x="1801" y="86"/>
                  </a:lnTo>
                  <a:lnTo>
                    <a:pt x="1889" y="69"/>
                  </a:lnTo>
                  <a:lnTo>
                    <a:pt x="1976" y="52"/>
                  </a:lnTo>
                  <a:lnTo>
                    <a:pt x="2065" y="39"/>
                  </a:lnTo>
                  <a:lnTo>
                    <a:pt x="2153" y="27"/>
                  </a:lnTo>
                  <a:lnTo>
                    <a:pt x="2243" y="17"/>
                  </a:lnTo>
                  <a:lnTo>
                    <a:pt x="2332" y="10"/>
                  </a:lnTo>
                  <a:lnTo>
                    <a:pt x="2423" y="5"/>
                  </a:lnTo>
                  <a:lnTo>
                    <a:pt x="2515" y="1"/>
                  </a:lnTo>
                  <a:lnTo>
                    <a:pt x="2607" y="0"/>
                  </a:lnTo>
                  <a:lnTo>
                    <a:pt x="2805" y="5"/>
                  </a:lnTo>
                  <a:lnTo>
                    <a:pt x="2999" y="20"/>
                  </a:lnTo>
                  <a:lnTo>
                    <a:pt x="3192" y="46"/>
                  </a:lnTo>
                  <a:lnTo>
                    <a:pt x="3381" y="80"/>
                  </a:lnTo>
                  <a:lnTo>
                    <a:pt x="3567" y="124"/>
                  </a:lnTo>
                  <a:lnTo>
                    <a:pt x="3748" y="177"/>
                  </a:lnTo>
                  <a:lnTo>
                    <a:pt x="3928" y="239"/>
                  </a:lnTo>
                  <a:lnTo>
                    <a:pt x="4101" y="310"/>
                  </a:lnTo>
                  <a:lnTo>
                    <a:pt x="4271" y="388"/>
                  </a:lnTo>
                  <a:lnTo>
                    <a:pt x="4435" y="474"/>
                  </a:lnTo>
                  <a:lnTo>
                    <a:pt x="4596" y="569"/>
                  </a:lnTo>
                  <a:lnTo>
                    <a:pt x="4751" y="671"/>
                  </a:lnTo>
                  <a:lnTo>
                    <a:pt x="4900" y="780"/>
                  </a:lnTo>
                  <a:lnTo>
                    <a:pt x="5044" y="898"/>
                  </a:lnTo>
                  <a:lnTo>
                    <a:pt x="5181" y="1020"/>
                  </a:lnTo>
                  <a:lnTo>
                    <a:pt x="5313" y="1151"/>
                  </a:lnTo>
                  <a:lnTo>
                    <a:pt x="5438" y="1287"/>
                  </a:lnTo>
                  <a:lnTo>
                    <a:pt x="5556" y="1428"/>
                  </a:lnTo>
                  <a:lnTo>
                    <a:pt x="5668" y="1576"/>
                  </a:lnTo>
                  <a:lnTo>
                    <a:pt x="5772" y="1730"/>
                  </a:lnTo>
                  <a:lnTo>
                    <a:pt x="5869" y="1888"/>
                  </a:lnTo>
                  <a:lnTo>
                    <a:pt x="5958" y="2051"/>
                  </a:lnTo>
                  <a:lnTo>
                    <a:pt x="6038" y="2219"/>
                  </a:lnTo>
                  <a:lnTo>
                    <a:pt x="6111" y="2393"/>
                  </a:lnTo>
                  <a:lnTo>
                    <a:pt x="6176" y="2570"/>
                  </a:lnTo>
                  <a:lnTo>
                    <a:pt x="6231" y="2751"/>
                  </a:lnTo>
                  <a:lnTo>
                    <a:pt x="6277" y="2935"/>
                  </a:lnTo>
                  <a:lnTo>
                    <a:pt x="6315" y="3123"/>
                  </a:lnTo>
                  <a:lnTo>
                    <a:pt x="6341" y="3315"/>
                  </a:lnTo>
                  <a:lnTo>
                    <a:pt x="6360" y="3509"/>
                  </a:lnTo>
                  <a:lnTo>
                    <a:pt x="6368" y="3706"/>
                  </a:lnTo>
                  <a:lnTo>
                    <a:pt x="6365" y="3905"/>
                  </a:lnTo>
                  <a:lnTo>
                    <a:pt x="6354" y="4088"/>
                  </a:lnTo>
                  <a:lnTo>
                    <a:pt x="6334" y="4268"/>
                  </a:lnTo>
                  <a:lnTo>
                    <a:pt x="6305" y="4447"/>
                  </a:lnTo>
                  <a:lnTo>
                    <a:pt x="6267" y="4622"/>
                  </a:lnTo>
                  <a:lnTo>
                    <a:pt x="6222" y="4794"/>
                  </a:lnTo>
                  <a:lnTo>
                    <a:pt x="6169" y="4963"/>
                  </a:lnTo>
                  <a:lnTo>
                    <a:pt x="6108" y="5128"/>
                  </a:lnTo>
                  <a:lnTo>
                    <a:pt x="6039" y="5291"/>
                  </a:lnTo>
                  <a:lnTo>
                    <a:pt x="5964" y="5447"/>
                  </a:lnTo>
                  <a:lnTo>
                    <a:pt x="5881" y="5601"/>
                  </a:lnTo>
                  <a:lnTo>
                    <a:pt x="5793" y="5750"/>
                  </a:lnTo>
                  <a:lnTo>
                    <a:pt x="5697" y="5895"/>
                  </a:lnTo>
                  <a:lnTo>
                    <a:pt x="5594" y="6035"/>
                  </a:lnTo>
                  <a:lnTo>
                    <a:pt x="5485" y="6170"/>
                  </a:lnTo>
                  <a:lnTo>
                    <a:pt x="5371" y="6301"/>
                  </a:lnTo>
                  <a:lnTo>
                    <a:pt x="5251" y="6425"/>
                  </a:lnTo>
                  <a:lnTo>
                    <a:pt x="5125" y="6544"/>
                  </a:lnTo>
                  <a:lnTo>
                    <a:pt x="4993" y="6658"/>
                  </a:lnTo>
                  <a:lnTo>
                    <a:pt x="4857" y="6765"/>
                  </a:lnTo>
                  <a:lnTo>
                    <a:pt x="4716" y="6865"/>
                  </a:lnTo>
                  <a:lnTo>
                    <a:pt x="4570" y="6959"/>
                  </a:lnTo>
                  <a:lnTo>
                    <a:pt x="4420" y="7048"/>
                  </a:lnTo>
                  <a:lnTo>
                    <a:pt x="4265" y="7128"/>
                  </a:lnTo>
                  <a:lnTo>
                    <a:pt x="4106" y="7202"/>
                  </a:lnTo>
                  <a:lnTo>
                    <a:pt x="3944" y="7269"/>
                  </a:lnTo>
                  <a:lnTo>
                    <a:pt x="3777" y="7328"/>
                  </a:lnTo>
                  <a:lnTo>
                    <a:pt x="3608" y="7379"/>
                  </a:lnTo>
                  <a:lnTo>
                    <a:pt x="3435" y="7423"/>
                  </a:lnTo>
                  <a:lnTo>
                    <a:pt x="3259" y="7459"/>
                  </a:lnTo>
                  <a:lnTo>
                    <a:pt x="3081" y="7485"/>
                  </a:lnTo>
                  <a:lnTo>
                    <a:pt x="2900" y="7504"/>
                  </a:lnTo>
                  <a:lnTo>
                    <a:pt x="2716" y="7514"/>
                  </a:lnTo>
                  <a:lnTo>
                    <a:pt x="2689" y="7514"/>
                  </a:lnTo>
                  <a:lnTo>
                    <a:pt x="2661" y="7515"/>
                  </a:lnTo>
                  <a:lnTo>
                    <a:pt x="2634" y="7515"/>
                  </a:lnTo>
                  <a:lnTo>
                    <a:pt x="2607" y="7515"/>
                  </a:lnTo>
                  <a:close/>
                </a:path>
              </a:pathLst>
            </a:custGeom>
            <a:solidFill>
              <a:srgbClr val="000000">
                <a:alpha val="9804"/>
              </a:srgb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63FBD3E1-4595-352C-3A42-68E69EF38BB5}"/>
                </a:ext>
              </a:extLst>
            </p:cNvPr>
            <p:cNvSpPr>
              <a:spLocks noEditPoints="1"/>
            </p:cNvSpPr>
            <p:nvPr/>
          </p:nvSpPr>
          <p:spPr bwMode="auto">
            <a:xfrm>
              <a:off x="4144" y="1568"/>
              <a:ext cx="321" cy="1105"/>
            </a:xfrm>
            <a:custGeom>
              <a:avLst/>
              <a:gdLst>
                <a:gd name="T0" fmla="*/ 640 w 1606"/>
                <a:gd name="T1" fmla="*/ 5364 h 5525"/>
                <a:gd name="T2" fmla="*/ 437 w 1606"/>
                <a:gd name="T3" fmla="*/ 5136 h 5525"/>
                <a:gd name="T4" fmla="*/ 286 w 1606"/>
                <a:gd name="T5" fmla="*/ 4940 h 5525"/>
                <a:gd name="T6" fmla="*/ 160 w 1606"/>
                <a:gd name="T7" fmla="*/ 4750 h 5525"/>
                <a:gd name="T8" fmla="*/ 60 w 1606"/>
                <a:gd name="T9" fmla="*/ 4554 h 5525"/>
                <a:gd name="T10" fmla="*/ 15 w 1606"/>
                <a:gd name="T11" fmla="*/ 4352 h 5525"/>
                <a:gd name="T12" fmla="*/ 24 w 1606"/>
                <a:gd name="T13" fmla="*/ 4153 h 5525"/>
                <a:gd name="T14" fmla="*/ 81 w 1606"/>
                <a:gd name="T15" fmla="*/ 3964 h 5525"/>
                <a:gd name="T16" fmla="*/ 180 w 1606"/>
                <a:gd name="T17" fmla="*/ 3795 h 5525"/>
                <a:gd name="T18" fmla="*/ 319 w 1606"/>
                <a:gd name="T19" fmla="*/ 3655 h 5525"/>
                <a:gd name="T20" fmla="*/ 490 w 1606"/>
                <a:gd name="T21" fmla="*/ 3552 h 5525"/>
                <a:gd name="T22" fmla="*/ 690 w 1606"/>
                <a:gd name="T23" fmla="*/ 3494 h 5525"/>
                <a:gd name="T24" fmla="*/ 781 w 1606"/>
                <a:gd name="T25" fmla="*/ 3487 h 5525"/>
                <a:gd name="T26" fmla="*/ 962 w 1606"/>
                <a:gd name="T27" fmla="*/ 3503 h 5525"/>
                <a:gd name="T28" fmla="*/ 1164 w 1606"/>
                <a:gd name="T29" fmla="*/ 3575 h 5525"/>
                <a:gd name="T30" fmla="*/ 1333 w 1606"/>
                <a:gd name="T31" fmla="*/ 3694 h 5525"/>
                <a:gd name="T32" fmla="*/ 1463 w 1606"/>
                <a:gd name="T33" fmla="*/ 3850 h 5525"/>
                <a:gd name="T34" fmla="*/ 1552 w 1606"/>
                <a:gd name="T35" fmla="*/ 4034 h 5525"/>
                <a:gd name="T36" fmla="*/ 1592 w 1606"/>
                <a:gd name="T37" fmla="*/ 4236 h 5525"/>
                <a:gd name="T38" fmla="*/ 1577 w 1606"/>
                <a:gd name="T39" fmla="*/ 4445 h 5525"/>
                <a:gd name="T40" fmla="*/ 1504 w 1606"/>
                <a:gd name="T41" fmla="*/ 4653 h 5525"/>
                <a:gd name="T42" fmla="*/ 1384 w 1606"/>
                <a:gd name="T43" fmla="*/ 4847 h 5525"/>
                <a:gd name="T44" fmla="*/ 1251 w 1606"/>
                <a:gd name="T45" fmla="*/ 5033 h 5525"/>
                <a:gd name="T46" fmla="*/ 1071 w 1606"/>
                <a:gd name="T47" fmla="*/ 5253 h 5525"/>
                <a:gd name="T48" fmla="*/ 859 w 1606"/>
                <a:gd name="T49" fmla="*/ 5473 h 5525"/>
                <a:gd name="T50" fmla="*/ 733 w 1606"/>
                <a:gd name="T51" fmla="*/ 2036 h 5525"/>
                <a:gd name="T52" fmla="*/ 524 w 1606"/>
                <a:gd name="T53" fmla="*/ 1993 h 5525"/>
                <a:gd name="T54" fmla="*/ 342 w 1606"/>
                <a:gd name="T55" fmla="*/ 1900 h 5525"/>
                <a:gd name="T56" fmla="*/ 192 w 1606"/>
                <a:gd name="T57" fmla="*/ 1766 h 5525"/>
                <a:gd name="T58" fmla="*/ 83 w 1606"/>
                <a:gd name="T59" fmla="*/ 1600 h 5525"/>
                <a:gd name="T60" fmla="*/ 17 w 1606"/>
                <a:gd name="T61" fmla="*/ 1412 h 5525"/>
                <a:gd name="T62" fmla="*/ 0 w 1606"/>
                <a:gd name="T63" fmla="*/ 1212 h 5525"/>
                <a:gd name="T64" fmla="*/ 39 w 1606"/>
                <a:gd name="T65" fmla="*/ 1008 h 5525"/>
                <a:gd name="T66" fmla="*/ 140 w 1606"/>
                <a:gd name="T67" fmla="*/ 804 h 5525"/>
                <a:gd name="T68" fmla="*/ 278 w 1606"/>
                <a:gd name="T69" fmla="*/ 597 h 5525"/>
                <a:gd name="T70" fmla="*/ 437 w 1606"/>
                <a:gd name="T71" fmla="*/ 387 h 5525"/>
                <a:gd name="T72" fmla="*/ 639 w 1606"/>
                <a:gd name="T73" fmla="*/ 159 h 5525"/>
                <a:gd name="T74" fmla="*/ 858 w 1606"/>
                <a:gd name="T75" fmla="*/ 52 h 5525"/>
                <a:gd name="T76" fmla="*/ 1070 w 1606"/>
                <a:gd name="T77" fmla="*/ 272 h 5525"/>
                <a:gd name="T78" fmla="*/ 1254 w 1606"/>
                <a:gd name="T79" fmla="*/ 497 h 5525"/>
                <a:gd name="T80" fmla="*/ 1399 w 1606"/>
                <a:gd name="T81" fmla="*/ 701 h 5525"/>
                <a:gd name="T82" fmla="*/ 1514 w 1606"/>
                <a:gd name="T83" fmla="*/ 888 h 5525"/>
                <a:gd name="T84" fmla="*/ 1565 w 1606"/>
                <a:gd name="T85" fmla="*/ 1003 h 5525"/>
                <a:gd name="T86" fmla="*/ 1595 w 1606"/>
                <a:gd name="T87" fmla="*/ 1122 h 5525"/>
                <a:gd name="T88" fmla="*/ 1606 w 1606"/>
                <a:gd name="T89" fmla="*/ 1239 h 5525"/>
                <a:gd name="T90" fmla="*/ 1600 w 1606"/>
                <a:gd name="T91" fmla="*/ 1356 h 5525"/>
                <a:gd name="T92" fmla="*/ 1575 w 1606"/>
                <a:gd name="T93" fmla="*/ 1469 h 5525"/>
                <a:gd name="T94" fmla="*/ 1535 w 1606"/>
                <a:gd name="T95" fmla="*/ 1576 h 5525"/>
                <a:gd name="T96" fmla="*/ 1480 w 1606"/>
                <a:gd name="T97" fmla="*/ 1678 h 5525"/>
                <a:gd name="T98" fmla="*/ 1416 w 1606"/>
                <a:gd name="T99" fmla="*/ 1764 h 5525"/>
                <a:gd name="T100" fmla="*/ 1354 w 1606"/>
                <a:gd name="T101" fmla="*/ 1827 h 5525"/>
                <a:gd name="T102" fmla="*/ 1288 w 1606"/>
                <a:gd name="T103" fmla="*/ 1882 h 5525"/>
                <a:gd name="T104" fmla="*/ 1216 w 1606"/>
                <a:gd name="T105" fmla="*/ 1930 h 5525"/>
                <a:gd name="T106" fmla="*/ 1139 w 1606"/>
                <a:gd name="T107" fmla="*/ 1969 h 5525"/>
                <a:gd name="T108" fmla="*/ 1057 w 1606"/>
                <a:gd name="T109" fmla="*/ 2000 h 5525"/>
                <a:gd name="T110" fmla="*/ 973 w 1606"/>
                <a:gd name="T111" fmla="*/ 2022 h 5525"/>
                <a:gd name="T112" fmla="*/ 887 w 1606"/>
                <a:gd name="T113" fmla="*/ 2034 h 5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06" h="5525">
                  <a:moveTo>
                    <a:pt x="804" y="5525"/>
                  </a:moveTo>
                  <a:lnTo>
                    <a:pt x="748" y="5473"/>
                  </a:lnTo>
                  <a:lnTo>
                    <a:pt x="694" y="5418"/>
                  </a:lnTo>
                  <a:lnTo>
                    <a:pt x="640" y="5364"/>
                  </a:lnTo>
                  <a:lnTo>
                    <a:pt x="587" y="5309"/>
                  </a:lnTo>
                  <a:lnTo>
                    <a:pt x="536" y="5253"/>
                  </a:lnTo>
                  <a:lnTo>
                    <a:pt x="486" y="5195"/>
                  </a:lnTo>
                  <a:lnTo>
                    <a:pt x="437" y="5136"/>
                  </a:lnTo>
                  <a:lnTo>
                    <a:pt x="389" y="5077"/>
                  </a:lnTo>
                  <a:lnTo>
                    <a:pt x="355" y="5032"/>
                  </a:lnTo>
                  <a:lnTo>
                    <a:pt x="321" y="4986"/>
                  </a:lnTo>
                  <a:lnTo>
                    <a:pt x="286" y="4940"/>
                  </a:lnTo>
                  <a:lnTo>
                    <a:pt x="254" y="4893"/>
                  </a:lnTo>
                  <a:lnTo>
                    <a:pt x="222" y="4846"/>
                  </a:lnTo>
                  <a:lnTo>
                    <a:pt x="191" y="4798"/>
                  </a:lnTo>
                  <a:lnTo>
                    <a:pt x="160" y="4750"/>
                  </a:lnTo>
                  <a:lnTo>
                    <a:pt x="130" y="4701"/>
                  </a:lnTo>
                  <a:lnTo>
                    <a:pt x="103" y="4653"/>
                  </a:lnTo>
                  <a:lnTo>
                    <a:pt x="80" y="4604"/>
                  </a:lnTo>
                  <a:lnTo>
                    <a:pt x="60" y="4554"/>
                  </a:lnTo>
                  <a:lnTo>
                    <a:pt x="43" y="4503"/>
                  </a:lnTo>
                  <a:lnTo>
                    <a:pt x="31" y="4454"/>
                  </a:lnTo>
                  <a:lnTo>
                    <a:pt x="21" y="4403"/>
                  </a:lnTo>
                  <a:lnTo>
                    <a:pt x="15" y="4352"/>
                  </a:lnTo>
                  <a:lnTo>
                    <a:pt x="12" y="4301"/>
                  </a:lnTo>
                  <a:lnTo>
                    <a:pt x="13" y="4251"/>
                  </a:lnTo>
                  <a:lnTo>
                    <a:pt x="17" y="4202"/>
                  </a:lnTo>
                  <a:lnTo>
                    <a:pt x="24" y="4153"/>
                  </a:lnTo>
                  <a:lnTo>
                    <a:pt x="33" y="4104"/>
                  </a:lnTo>
                  <a:lnTo>
                    <a:pt x="46" y="4056"/>
                  </a:lnTo>
                  <a:lnTo>
                    <a:pt x="62" y="4009"/>
                  </a:lnTo>
                  <a:lnTo>
                    <a:pt x="81" y="3964"/>
                  </a:lnTo>
                  <a:lnTo>
                    <a:pt x="102" y="3920"/>
                  </a:lnTo>
                  <a:lnTo>
                    <a:pt x="125" y="3877"/>
                  </a:lnTo>
                  <a:lnTo>
                    <a:pt x="151" y="3835"/>
                  </a:lnTo>
                  <a:lnTo>
                    <a:pt x="180" y="3795"/>
                  </a:lnTo>
                  <a:lnTo>
                    <a:pt x="211" y="3757"/>
                  </a:lnTo>
                  <a:lnTo>
                    <a:pt x="244" y="3721"/>
                  </a:lnTo>
                  <a:lnTo>
                    <a:pt x="281" y="3687"/>
                  </a:lnTo>
                  <a:lnTo>
                    <a:pt x="319" y="3655"/>
                  </a:lnTo>
                  <a:lnTo>
                    <a:pt x="358" y="3625"/>
                  </a:lnTo>
                  <a:lnTo>
                    <a:pt x="400" y="3598"/>
                  </a:lnTo>
                  <a:lnTo>
                    <a:pt x="445" y="3573"/>
                  </a:lnTo>
                  <a:lnTo>
                    <a:pt x="490" y="3552"/>
                  </a:lnTo>
                  <a:lnTo>
                    <a:pt x="538" y="3532"/>
                  </a:lnTo>
                  <a:lnTo>
                    <a:pt x="587" y="3516"/>
                  </a:lnTo>
                  <a:lnTo>
                    <a:pt x="638" y="3503"/>
                  </a:lnTo>
                  <a:lnTo>
                    <a:pt x="690" y="3494"/>
                  </a:lnTo>
                  <a:lnTo>
                    <a:pt x="744" y="3488"/>
                  </a:lnTo>
                  <a:lnTo>
                    <a:pt x="757" y="3487"/>
                  </a:lnTo>
                  <a:lnTo>
                    <a:pt x="769" y="3487"/>
                  </a:lnTo>
                  <a:lnTo>
                    <a:pt x="781" y="3487"/>
                  </a:lnTo>
                  <a:lnTo>
                    <a:pt x="793" y="3487"/>
                  </a:lnTo>
                  <a:lnTo>
                    <a:pt x="851" y="3488"/>
                  </a:lnTo>
                  <a:lnTo>
                    <a:pt x="907" y="3494"/>
                  </a:lnTo>
                  <a:lnTo>
                    <a:pt x="962" y="3503"/>
                  </a:lnTo>
                  <a:lnTo>
                    <a:pt x="1015" y="3516"/>
                  </a:lnTo>
                  <a:lnTo>
                    <a:pt x="1066" y="3533"/>
                  </a:lnTo>
                  <a:lnTo>
                    <a:pt x="1116" y="3553"/>
                  </a:lnTo>
                  <a:lnTo>
                    <a:pt x="1164" y="3575"/>
                  </a:lnTo>
                  <a:lnTo>
                    <a:pt x="1209" y="3602"/>
                  </a:lnTo>
                  <a:lnTo>
                    <a:pt x="1252" y="3629"/>
                  </a:lnTo>
                  <a:lnTo>
                    <a:pt x="1294" y="3661"/>
                  </a:lnTo>
                  <a:lnTo>
                    <a:pt x="1333" y="3694"/>
                  </a:lnTo>
                  <a:lnTo>
                    <a:pt x="1369" y="3731"/>
                  </a:lnTo>
                  <a:lnTo>
                    <a:pt x="1404" y="3768"/>
                  </a:lnTo>
                  <a:lnTo>
                    <a:pt x="1435" y="3808"/>
                  </a:lnTo>
                  <a:lnTo>
                    <a:pt x="1463" y="3850"/>
                  </a:lnTo>
                  <a:lnTo>
                    <a:pt x="1490" y="3894"/>
                  </a:lnTo>
                  <a:lnTo>
                    <a:pt x="1514" y="3940"/>
                  </a:lnTo>
                  <a:lnTo>
                    <a:pt x="1534" y="3986"/>
                  </a:lnTo>
                  <a:lnTo>
                    <a:pt x="1552" y="4034"/>
                  </a:lnTo>
                  <a:lnTo>
                    <a:pt x="1567" y="4083"/>
                  </a:lnTo>
                  <a:lnTo>
                    <a:pt x="1579" y="4133"/>
                  </a:lnTo>
                  <a:lnTo>
                    <a:pt x="1587" y="4184"/>
                  </a:lnTo>
                  <a:lnTo>
                    <a:pt x="1592" y="4236"/>
                  </a:lnTo>
                  <a:lnTo>
                    <a:pt x="1594" y="4288"/>
                  </a:lnTo>
                  <a:lnTo>
                    <a:pt x="1592" y="4340"/>
                  </a:lnTo>
                  <a:lnTo>
                    <a:pt x="1586" y="4393"/>
                  </a:lnTo>
                  <a:lnTo>
                    <a:pt x="1577" y="4445"/>
                  </a:lnTo>
                  <a:lnTo>
                    <a:pt x="1565" y="4498"/>
                  </a:lnTo>
                  <a:lnTo>
                    <a:pt x="1549" y="4550"/>
                  </a:lnTo>
                  <a:lnTo>
                    <a:pt x="1529" y="4602"/>
                  </a:lnTo>
                  <a:lnTo>
                    <a:pt x="1504" y="4653"/>
                  </a:lnTo>
                  <a:lnTo>
                    <a:pt x="1476" y="4703"/>
                  </a:lnTo>
                  <a:lnTo>
                    <a:pt x="1446" y="4752"/>
                  </a:lnTo>
                  <a:lnTo>
                    <a:pt x="1415" y="4800"/>
                  </a:lnTo>
                  <a:lnTo>
                    <a:pt x="1384" y="4847"/>
                  </a:lnTo>
                  <a:lnTo>
                    <a:pt x="1352" y="4895"/>
                  </a:lnTo>
                  <a:lnTo>
                    <a:pt x="1319" y="4941"/>
                  </a:lnTo>
                  <a:lnTo>
                    <a:pt x="1285" y="4987"/>
                  </a:lnTo>
                  <a:lnTo>
                    <a:pt x="1251" y="5033"/>
                  </a:lnTo>
                  <a:lnTo>
                    <a:pt x="1217" y="5078"/>
                  </a:lnTo>
                  <a:lnTo>
                    <a:pt x="1169" y="5137"/>
                  </a:lnTo>
                  <a:lnTo>
                    <a:pt x="1121" y="5195"/>
                  </a:lnTo>
                  <a:lnTo>
                    <a:pt x="1071" y="5253"/>
                  </a:lnTo>
                  <a:lnTo>
                    <a:pt x="1019" y="5309"/>
                  </a:lnTo>
                  <a:lnTo>
                    <a:pt x="967" y="5365"/>
                  </a:lnTo>
                  <a:lnTo>
                    <a:pt x="914" y="5420"/>
                  </a:lnTo>
                  <a:lnTo>
                    <a:pt x="859" y="5473"/>
                  </a:lnTo>
                  <a:lnTo>
                    <a:pt x="804" y="5525"/>
                  </a:lnTo>
                  <a:close/>
                  <a:moveTo>
                    <a:pt x="820" y="2038"/>
                  </a:moveTo>
                  <a:lnTo>
                    <a:pt x="790" y="2038"/>
                  </a:lnTo>
                  <a:lnTo>
                    <a:pt x="733" y="2036"/>
                  </a:lnTo>
                  <a:lnTo>
                    <a:pt x="679" y="2030"/>
                  </a:lnTo>
                  <a:lnTo>
                    <a:pt x="626" y="2021"/>
                  </a:lnTo>
                  <a:lnTo>
                    <a:pt x="574" y="2009"/>
                  </a:lnTo>
                  <a:lnTo>
                    <a:pt x="524" y="1993"/>
                  </a:lnTo>
                  <a:lnTo>
                    <a:pt x="476" y="1974"/>
                  </a:lnTo>
                  <a:lnTo>
                    <a:pt x="429" y="1952"/>
                  </a:lnTo>
                  <a:lnTo>
                    <a:pt x="384" y="1927"/>
                  </a:lnTo>
                  <a:lnTo>
                    <a:pt x="342" y="1900"/>
                  </a:lnTo>
                  <a:lnTo>
                    <a:pt x="301" y="1870"/>
                  </a:lnTo>
                  <a:lnTo>
                    <a:pt x="263" y="1837"/>
                  </a:lnTo>
                  <a:lnTo>
                    <a:pt x="227" y="1802"/>
                  </a:lnTo>
                  <a:lnTo>
                    <a:pt x="192" y="1766"/>
                  </a:lnTo>
                  <a:lnTo>
                    <a:pt x="161" y="1726"/>
                  </a:lnTo>
                  <a:lnTo>
                    <a:pt x="133" y="1686"/>
                  </a:lnTo>
                  <a:lnTo>
                    <a:pt x="106" y="1643"/>
                  </a:lnTo>
                  <a:lnTo>
                    <a:pt x="83" y="1600"/>
                  </a:lnTo>
                  <a:lnTo>
                    <a:pt x="62" y="1555"/>
                  </a:lnTo>
                  <a:lnTo>
                    <a:pt x="44" y="1508"/>
                  </a:lnTo>
                  <a:lnTo>
                    <a:pt x="29" y="1461"/>
                  </a:lnTo>
                  <a:lnTo>
                    <a:pt x="17" y="1412"/>
                  </a:lnTo>
                  <a:lnTo>
                    <a:pt x="8" y="1363"/>
                  </a:lnTo>
                  <a:lnTo>
                    <a:pt x="2" y="1313"/>
                  </a:lnTo>
                  <a:lnTo>
                    <a:pt x="0" y="1263"/>
                  </a:lnTo>
                  <a:lnTo>
                    <a:pt x="0" y="1212"/>
                  </a:lnTo>
                  <a:lnTo>
                    <a:pt x="4" y="1161"/>
                  </a:lnTo>
                  <a:lnTo>
                    <a:pt x="12" y="1109"/>
                  </a:lnTo>
                  <a:lnTo>
                    <a:pt x="24" y="1059"/>
                  </a:lnTo>
                  <a:lnTo>
                    <a:pt x="39" y="1008"/>
                  </a:lnTo>
                  <a:lnTo>
                    <a:pt x="59" y="958"/>
                  </a:lnTo>
                  <a:lnTo>
                    <a:pt x="81" y="908"/>
                  </a:lnTo>
                  <a:lnTo>
                    <a:pt x="108" y="859"/>
                  </a:lnTo>
                  <a:lnTo>
                    <a:pt x="140" y="804"/>
                  </a:lnTo>
                  <a:lnTo>
                    <a:pt x="174" y="751"/>
                  </a:lnTo>
                  <a:lnTo>
                    <a:pt x="207" y="699"/>
                  </a:lnTo>
                  <a:lnTo>
                    <a:pt x="242" y="648"/>
                  </a:lnTo>
                  <a:lnTo>
                    <a:pt x="278" y="597"/>
                  </a:lnTo>
                  <a:lnTo>
                    <a:pt x="314" y="546"/>
                  </a:lnTo>
                  <a:lnTo>
                    <a:pt x="352" y="496"/>
                  </a:lnTo>
                  <a:lnTo>
                    <a:pt x="389" y="446"/>
                  </a:lnTo>
                  <a:lnTo>
                    <a:pt x="437" y="387"/>
                  </a:lnTo>
                  <a:lnTo>
                    <a:pt x="486" y="328"/>
                  </a:lnTo>
                  <a:lnTo>
                    <a:pt x="535" y="271"/>
                  </a:lnTo>
                  <a:lnTo>
                    <a:pt x="587" y="214"/>
                  </a:lnTo>
                  <a:lnTo>
                    <a:pt x="639" y="159"/>
                  </a:lnTo>
                  <a:lnTo>
                    <a:pt x="692" y="105"/>
                  </a:lnTo>
                  <a:lnTo>
                    <a:pt x="747" y="52"/>
                  </a:lnTo>
                  <a:lnTo>
                    <a:pt x="802" y="0"/>
                  </a:lnTo>
                  <a:lnTo>
                    <a:pt x="858" y="52"/>
                  </a:lnTo>
                  <a:lnTo>
                    <a:pt x="913" y="105"/>
                  </a:lnTo>
                  <a:lnTo>
                    <a:pt x="966" y="160"/>
                  </a:lnTo>
                  <a:lnTo>
                    <a:pt x="1019" y="215"/>
                  </a:lnTo>
                  <a:lnTo>
                    <a:pt x="1070" y="272"/>
                  </a:lnTo>
                  <a:lnTo>
                    <a:pt x="1119" y="329"/>
                  </a:lnTo>
                  <a:lnTo>
                    <a:pt x="1169" y="388"/>
                  </a:lnTo>
                  <a:lnTo>
                    <a:pt x="1217" y="448"/>
                  </a:lnTo>
                  <a:lnTo>
                    <a:pt x="1254" y="497"/>
                  </a:lnTo>
                  <a:lnTo>
                    <a:pt x="1292" y="547"/>
                  </a:lnTo>
                  <a:lnTo>
                    <a:pt x="1329" y="598"/>
                  </a:lnTo>
                  <a:lnTo>
                    <a:pt x="1364" y="649"/>
                  </a:lnTo>
                  <a:lnTo>
                    <a:pt x="1399" y="701"/>
                  </a:lnTo>
                  <a:lnTo>
                    <a:pt x="1433" y="754"/>
                  </a:lnTo>
                  <a:lnTo>
                    <a:pt x="1466" y="807"/>
                  </a:lnTo>
                  <a:lnTo>
                    <a:pt x="1498" y="860"/>
                  </a:lnTo>
                  <a:lnTo>
                    <a:pt x="1514" y="888"/>
                  </a:lnTo>
                  <a:lnTo>
                    <a:pt x="1529" y="917"/>
                  </a:lnTo>
                  <a:lnTo>
                    <a:pt x="1542" y="946"/>
                  </a:lnTo>
                  <a:lnTo>
                    <a:pt x="1554" y="975"/>
                  </a:lnTo>
                  <a:lnTo>
                    <a:pt x="1565" y="1003"/>
                  </a:lnTo>
                  <a:lnTo>
                    <a:pt x="1574" y="1033"/>
                  </a:lnTo>
                  <a:lnTo>
                    <a:pt x="1583" y="1062"/>
                  </a:lnTo>
                  <a:lnTo>
                    <a:pt x="1590" y="1092"/>
                  </a:lnTo>
                  <a:lnTo>
                    <a:pt x="1595" y="1122"/>
                  </a:lnTo>
                  <a:lnTo>
                    <a:pt x="1600" y="1150"/>
                  </a:lnTo>
                  <a:lnTo>
                    <a:pt x="1603" y="1180"/>
                  </a:lnTo>
                  <a:lnTo>
                    <a:pt x="1605" y="1210"/>
                  </a:lnTo>
                  <a:lnTo>
                    <a:pt x="1606" y="1239"/>
                  </a:lnTo>
                  <a:lnTo>
                    <a:pt x="1606" y="1269"/>
                  </a:lnTo>
                  <a:lnTo>
                    <a:pt x="1605" y="1297"/>
                  </a:lnTo>
                  <a:lnTo>
                    <a:pt x="1603" y="1327"/>
                  </a:lnTo>
                  <a:lnTo>
                    <a:pt x="1600" y="1356"/>
                  </a:lnTo>
                  <a:lnTo>
                    <a:pt x="1595" y="1384"/>
                  </a:lnTo>
                  <a:lnTo>
                    <a:pt x="1590" y="1412"/>
                  </a:lnTo>
                  <a:lnTo>
                    <a:pt x="1583" y="1441"/>
                  </a:lnTo>
                  <a:lnTo>
                    <a:pt x="1575" y="1469"/>
                  </a:lnTo>
                  <a:lnTo>
                    <a:pt x="1567" y="1496"/>
                  </a:lnTo>
                  <a:lnTo>
                    <a:pt x="1558" y="1523"/>
                  </a:lnTo>
                  <a:lnTo>
                    <a:pt x="1546" y="1549"/>
                  </a:lnTo>
                  <a:lnTo>
                    <a:pt x="1535" y="1576"/>
                  </a:lnTo>
                  <a:lnTo>
                    <a:pt x="1523" y="1602"/>
                  </a:lnTo>
                  <a:lnTo>
                    <a:pt x="1510" y="1628"/>
                  </a:lnTo>
                  <a:lnTo>
                    <a:pt x="1496" y="1652"/>
                  </a:lnTo>
                  <a:lnTo>
                    <a:pt x="1480" y="1678"/>
                  </a:lnTo>
                  <a:lnTo>
                    <a:pt x="1465" y="1701"/>
                  </a:lnTo>
                  <a:lnTo>
                    <a:pt x="1447" y="1724"/>
                  </a:lnTo>
                  <a:lnTo>
                    <a:pt x="1429" y="1747"/>
                  </a:lnTo>
                  <a:lnTo>
                    <a:pt x="1416" y="1764"/>
                  </a:lnTo>
                  <a:lnTo>
                    <a:pt x="1400" y="1780"/>
                  </a:lnTo>
                  <a:lnTo>
                    <a:pt x="1386" y="1796"/>
                  </a:lnTo>
                  <a:lnTo>
                    <a:pt x="1371" y="1811"/>
                  </a:lnTo>
                  <a:lnTo>
                    <a:pt x="1354" y="1827"/>
                  </a:lnTo>
                  <a:lnTo>
                    <a:pt x="1338" y="1841"/>
                  </a:lnTo>
                  <a:lnTo>
                    <a:pt x="1322" y="1855"/>
                  </a:lnTo>
                  <a:lnTo>
                    <a:pt x="1305" y="1869"/>
                  </a:lnTo>
                  <a:lnTo>
                    <a:pt x="1288" y="1882"/>
                  </a:lnTo>
                  <a:lnTo>
                    <a:pt x="1270" y="1895"/>
                  </a:lnTo>
                  <a:lnTo>
                    <a:pt x="1252" y="1907"/>
                  </a:lnTo>
                  <a:lnTo>
                    <a:pt x="1234" y="1918"/>
                  </a:lnTo>
                  <a:lnTo>
                    <a:pt x="1216" y="1930"/>
                  </a:lnTo>
                  <a:lnTo>
                    <a:pt x="1197" y="1941"/>
                  </a:lnTo>
                  <a:lnTo>
                    <a:pt x="1178" y="1951"/>
                  </a:lnTo>
                  <a:lnTo>
                    <a:pt x="1158" y="1960"/>
                  </a:lnTo>
                  <a:lnTo>
                    <a:pt x="1139" y="1969"/>
                  </a:lnTo>
                  <a:lnTo>
                    <a:pt x="1119" y="1978"/>
                  </a:lnTo>
                  <a:lnTo>
                    <a:pt x="1098" y="1986"/>
                  </a:lnTo>
                  <a:lnTo>
                    <a:pt x="1079" y="1994"/>
                  </a:lnTo>
                  <a:lnTo>
                    <a:pt x="1057" y="2000"/>
                  </a:lnTo>
                  <a:lnTo>
                    <a:pt x="1038" y="2007"/>
                  </a:lnTo>
                  <a:lnTo>
                    <a:pt x="1017" y="2012"/>
                  </a:lnTo>
                  <a:lnTo>
                    <a:pt x="996" y="2018"/>
                  </a:lnTo>
                  <a:lnTo>
                    <a:pt x="973" y="2022"/>
                  </a:lnTo>
                  <a:lnTo>
                    <a:pt x="952" y="2027"/>
                  </a:lnTo>
                  <a:lnTo>
                    <a:pt x="930" y="2030"/>
                  </a:lnTo>
                  <a:lnTo>
                    <a:pt x="909" y="2032"/>
                  </a:lnTo>
                  <a:lnTo>
                    <a:pt x="887" y="2034"/>
                  </a:lnTo>
                  <a:lnTo>
                    <a:pt x="865" y="2037"/>
                  </a:lnTo>
                  <a:lnTo>
                    <a:pt x="843" y="2038"/>
                  </a:lnTo>
                  <a:lnTo>
                    <a:pt x="820" y="2038"/>
                  </a:lnTo>
                  <a:close/>
                </a:path>
              </a:pathLst>
            </a:custGeom>
            <a:solidFill>
              <a:srgbClr val="000000">
                <a:alpha val="9804"/>
              </a:srgb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9">
              <a:extLst>
                <a:ext uri="{FF2B5EF4-FFF2-40B4-BE49-F238E27FC236}">
                  <a16:creationId xmlns:a16="http://schemas.microsoft.com/office/drawing/2014/main" id="{F6ADF0C4-F270-938A-B8F0-671CA926D93D}"/>
                </a:ext>
              </a:extLst>
            </p:cNvPr>
            <p:cNvSpPr>
              <a:spLocks noEditPoints="1"/>
            </p:cNvSpPr>
            <p:nvPr/>
          </p:nvSpPr>
          <p:spPr bwMode="auto">
            <a:xfrm>
              <a:off x="3160" y="1378"/>
              <a:ext cx="1291" cy="1503"/>
            </a:xfrm>
            <a:custGeom>
              <a:avLst/>
              <a:gdLst>
                <a:gd name="T0" fmla="*/ 2397 w 6458"/>
                <a:gd name="T1" fmla="*/ 7409 h 7515"/>
                <a:gd name="T2" fmla="*/ 1508 w 6458"/>
                <a:gd name="T3" fmla="*/ 7069 h 7515"/>
                <a:gd name="T4" fmla="*/ 743 w 6458"/>
                <a:gd name="T5" fmla="*/ 6526 h 7515"/>
                <a:gd name="T6" fmla="*/ 1267 w 6458"/>
                <a:gd name="T7" fmla="*/ 5936 h 7515"/>
                <a:gd name="T8" fmla="*/ 1533 w 6458"/>
                <a:gd name="T9" fmla="*/ 5388 h 7515"/>
                <a:gd name="T10" fmla="*/ 1411 w 6458"/>
                <a:gd name="T11" fmla="*/ 4846 h 7515"/>
                <a:gd name="T12" fmla="*/ 965 w 6458"/>
                <a:gd name="T13" fmla="*/ 4513 h 7515"/>
                <a:gd name="T14" fmla="*/ 878 w 6458"/>
                <a:gd name="T15" fmla="*/ 4493 h 7515"/>
                <a:gd name="T16" fmla="*/ 1143 w 6458"/>
                <a:gd name="T17" fmla="*/ 4588 h 7515"/>
                <a:gd name="T18" fmla="*/ 1359 w 6458"/>
                <a:gd name="T19" fmla="*/ 4769 h 7515"/>
                <a:gd name="T20" fmla="*/ 1681 w 6458"/>
                <a:gd name="T21" fmla="*/ 5203 h 7515"/>
                <a:gd name="T22" fmla="*/ 2270 w 6458"/>
                <a:gd name="T23" fmla="*/ 5663 h 7515"/>
                <a:gd name="T24" fmla="*/ 2997 w 6458"/>
                <a:gd name="T25" fmla="*/ 5897 h 7515"/>
                <a:gd name="T26" fmla="*/ 3782 w 6458"/>
                <a:gd name="T27" fmla="*/ 5859 h 7515"/>
                <a:gd name="T28" fmla="*/ 4476 w 6458"/>
                <a:gd name="T29" fmla="*/ 5558 h 7515"/>
                <a:gd name="T30" fmla="*/ 5018 w 6458"/>
                <a:gd name="T31" fmla="*/ 5046 h 7515"/>
                <a:gd name="T32" fmla="*/ 5253 w 6458"/>
                <a:gd name="T33" fmla="*/ 4720 h 7515"/>
                <a:gd name="T34" fmla="*/ 5469 w 6458"/>
                <a:gd name="T35" fmla="*/ 4565 h 7515"/>
                <a:gd name="T36" fmla="*/ 5725 w 6458"/>
                <a:gd name="T37" fmla="*/ 4487 h 7515"/>
                <a:gd name="T38" fmla="*/ 5348 w 6458"/>
                <a:gd name="T39" fmla="*/ 4650 h 7515"/>
                <a:gd name="T40" fmla="*/ 5062 w 6458"/>
                <a:gd name="T41" fmla="*/ 5099 h 7515"/>
                <a:gd name="T42" fmla="*/ 5132 w 6458"/>
                <a:gd name="T43" fmla="*/ 5648 h 7515"/>
                <a:gd name="T44" fmla="*/ 5515 w 6458"/>
                <a:gd name="T45" fmla="*/ 6190 h 7515"/>
                <a:gd name="T46" fmla="*/ 5502 w 6458"/>
                <a:gd name="T47" fmla="*/ 6791 h 7515"/>
                <a:gd name="T48" fmla="*/ 4676 w 6458"/>
                <a:gd name="T49" fmla="*/ 7249 h 7515"/>
                <a:gd name="T50" fmla="*/ 3738 w 6458"/>
                <a:gd name="T51" fmla="*/ 7489 h 7515"/>
                <a:gd name="T52" fmla="*/ 5737 w 6458"/>
                <a:gd name="T53" fmla="*/ 3031 h 7515"/>
                <a:gd name="T54" fmla="*/ 5469 w 6458"/>
                <a:gd name="T55" fmla="*/ 2953 h 7515"/>
                <a:gd name="T56" fmla="*/ 5246 w 6458"/>
                <a:gd name="T57" fmla="*/ 2789 h 7515"/>
                <a:gd name="T58" fmla="*/ 4980 w 6458"/>
                <a:gd name="T59" fmla="*/ 2421 h 7515"/>
                <a:gd name="T60" fmla="*/ 4422 w 6458"/>
                <a:gd name="T61" fmla="*/ 1922 h 7515"/>
                <a:gd name="T62" fmla="*/ 3715 w 6458"/>
                <a:gd name="T63" fmla="*/ 1641 h 7515"/>
                <a:gd name="T64" fmla="*/ 2940 w 6458"/>
                <a:gd name="T65" fmla="*/ 1626 h 7515"/>
                <a:gd name="T66" fmla="*/ 2250 w 6458"/>
                <a:gd name="T67" fmla="*/ 1862 h 7515"/>
                <a:gd name="T68" fmla="*/ 1688 w 6458"/>
                <a:gd name="T69" fmla="*/ 2305 h 7515"/>
                <a:gd name="T70" fmla="*/ 1530 w 6458"/>
                <a:gd name="T71" fmla="*/ 2436 h 7515"/>
                <a:gd name="T72" fmla="*/ 1552 w 6458"/>
                <a:gd name="T73" fmla="*/ 2192 h 7515"/>
                <a:gd name="T74" fmla="*/ 1490 w 6458"/>
                <a:gd name="T75" fmla="*/ 1943 h 7515"/>
                <a:gd name="T76" fmla="*/ 1201 w 6458"/>
                <a:gd name="T77" fmla="*/ 1492 h 7515"/>
                <a:gd name="T78" fmla="*/ 872 w 6458"/>
                <a:gd name="T79" fmla="*/ 877 h 7515"/>
                <a:gd name="T80" fmla="*/ 1661 w 6458"/>
                <a:gd name="T81" fmla="*/ 368 h 7515"/>
                <a:gd name="T82" fmla="*/ 2569 w 6458"/>
                <a:gd name="T83" fmla="*/ 69 h 7515"/>
                <a:gd name="T84" fmla="*/ 3559 w 6458"/>
                <a:gd name="T85" fmla="*/ 10 h 7515"/>
                <a:gd name="T86" fmla="*/ 4511 w 6458"/>
                <a:gd name="T87" fmla="*/ 205 h 7515"/>
                <a:gd name="T88" fmla="*/ 5361 w 6458"/>
                <a:gd name="T89" fmla="*/ 626 h 7515"/>
                <a:gd name="T90" fmla="*/ 5616 w 6458"/>
                <a:gd name="T91" fmla="*/ 1209 h 7515"/>
                <a:gd name="T92" fmla="*/ 5169 w 6458"/>
                <a:gd name="T93" fmla="*/ 1799 h 7515"/>
                <a:gd name="T94" fmla="*/ 5037 w 6458"/>
                <a:gd name="T95" fmla="*/ 2358 h 7515"/>
                <a:gd name="T96" fmla="*/ 5292 w 6458"/>
                <a:gd name="T97" fmla="*/ 2832 h 7515"/>
                <a:gd name="T98" fmla="*/ 5819 w 6458"/>
                <a:gd name="T99" fmla="*/ 3033 h 7515"/>
                <a:gd name="T100" fmla="*/ 6067 w 6458"/>
                <a:gd name="T101" fmla="*/ 3002 h 7515"/>
                <a:gd name="T102" fmla="*/ 6281 w 6458"/>
                <a:gd name="T103" fmla="*/ 2902 h 7515"/>
                <a:gd name="T104" fmla="*/ 6458 w 6458"/>
                <a:gd name="T105" fmla="*/ 2742 h 7515"/>
                <a:gd name="T106" fmla="*/ 6288 w 6458"/>
                <a:gd name="T107" fmla="*/ 2899 h 7515"/>
                <a:gd name="T108" fmla="*/ 6072 w 6458"/>
                <a:gd name="T109" fmla="*/ 3002 h 7515"/>
                <a:gd name="T110" fmla="*/ 754 w 6458"/>
                <a:gd name="T111" fmla="*/ 3034 h 7515"/>
                <a:gd name="T112" fmla="*/ 431 w 6458"/>
                <a:gd name="T113" fmla="*/ 2979 h 7515"/>
                <a:gd name="T114" fmla="*/ 172 w 6458"/>
                <a:gd name="T115" fmla="*/ 2811 h 7515"/>
                <a:gd name="T116" fmla="*/ 0 w 6458"/>
                <a:gd name="T117" fmla="*/ 2561 h 7515"/>
                <a:gd name="T118" fmla="*/ 164 w 6458"/>
                <a:gd name="T119" fmla="*/ 2787 h 7515"/>
                <a:gd name="T120" fmla="*/ 387 w 6458"/>
                <a:gd name="T121" fmla="*/ 2953 h 7515"/>
                <a:gd name="T122" fmla="*/ 655 w 6458"/>
                <a:gd name="T123" fmla="*/ 3031 h 7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458" h="7515">
                  <a:moveTo>
                    <a:pt x="3284" y="7515"/>
                  </a:moveTo>
                  <a:lnTo>
                    <a:pt x="3193" y="7514"/>
                  </a:lnTo>
                  <a:lnTo>
                    <a:pt x="3102" y="7511"/>
                  </a:lnTo>
                  <a:lnTo>
                    <a:pt x="3012" y="7505"/>
                  </a:lnTo>
                  <a:lnTo>
                    <a:pt x="2922" y="7498"/>
                  </a:lnTo>
                  <a:lnTo>
                    <a:pt x="2833" y="7489"/>
                  </a:lnTo>
                  <a:lnTo>
                    <a:pt x="2745" y="7477"/>
                  </a:lnTo>
                  <a:lnTo>
                    <a:pt x="2656" y="7463"/>
                  </a:lnTo>
                  <a:lnTo>
                    <a:pt x="2569" y="7447"/>
                  </a:lnTo>
                  <a:lnTo>
                    <a:pt x="2482" y="7429"/>
                  </a:lnTo>
                  <a:lnTo>
                    <a:pt x="2397" y="7409"/>
                  </a:lnTo>
                  <a:lnTo>
                    <a:pt x="2312" y="7388"/>
                  </a:lnTo>
                  <a:lnTo>
                    <a:pt x="2227" y="7364"/>
                  </a:lnTo>
                  <a:lnTo>
                    <a:pt x="2144" y="7338"/>
                  </a:lnTo>
                  <a:lnTo>
                    <a:pt x="2061" y="7311"/>
                  </a:lnTo>
                  <a:lnTo>
                    <a:pt x="1979" y="7282"/>
                  </a:lnTo>
                  <a:lnTo>
                    <a:pt x="1898" y="7251"/>
                  </a:lnTo>
                  <a:lnTo>
                    <a:pt x="1819" y="7218"/>
                  </a:lnTo>
                  <a:lnTo>
                    <a:pt x="1739" y="7184"/>
                  </a:lnTo>
                  <a:lnTo>
                    <a:pt x="1661" y="7147"/>
                  </a:lnTo>
                  <a:lnTo>
                    <a:pt x="1584" y="7109"/>
                  </a:lnTo>
                  <a:lnTo>
                    <a:pt x="1508" y="7069"/>
                  </a:lnTo>
                  <a:lnTo>
                    <a:pt x="1433" y="7028"/>
                  </a:lnTo>
                  <a:lnTo>
                    <a:pt x="1358" y="6985"/>
                  </a:lnTo>
                  <a:lnTo>
                    <a:pt x="1285" y="6939"/>
                  </a:lnTo>
                  <a:lnTo>
                    <a:pt x="1213" y="6893"/>
                  </a:lnTo>
                  <a:lnTo>
                    <a:pt x="1143" y="6846"/>
                  </a:lnTo>
                  <a:lnTo>
                    <a:pt x="1073" y="6796"/>
                  </a:lnTo>
                  <a:lnTo>
                    <a:pt x="1005" y="6745"/>
                  </a:lnTo>
                  <a:lnTo>
                    <a:pt x="938" y="6692"/>
                  </a:lnTo>
                  <a:lnTo>
                    <a:pt x="872" y="6639"/>
                  </a:lnTo>
                  <a:lnTo>
                    <a:pt x="807" y="6583"/>
                  </a:lnTo>
                  <a:lnTo>
                    <a:pt x="743" y="6526"/>
                  </a:lnTo>
                  <a:lnTo>
                    <a:pt x="800" y="6473"/>
                  </a:lnTo>
                  <a:lnTo>
                    <a:pt x="855" y="6419"/>
                  </a:lnTo>
                  <a:lnTo>
                    <a:pt x="909" y="6364"/>
                  </a:lnTo>
                  <a:lnTo>
                    <a:pt x="962" y="6308"/>
                  </a:lnTo>
                  <a:lnTo>
                    <a:pt x="1014" y="6251"/>
                  </a:lnTo>
                  <a:lnTo>
                    <a:pt x="1065" y="6192"/>
                  </a:lnTo>
                  <a:lnTo>
                    <a:pt x="1115" y="6133"/>
                  </a:lnTo>
                  <a:lnTo>
                    <a:pt x="1164" y="6073"/>
                  </a:lnTo>
                  <a:lnTo>
                    <a:pt x="1198" y="6028"/>
                  </a:lnTo>
                  <a:lnTo>
                    <a:pt x="1232" y="5982"/>
                  </a:lnTo>
                  <a:lnTo>
                    <a:pt x="1267" y="5936"/>
                  </a:lnTo>
                  <a:lnTo>
                    <a:pt x="1299" y="5890"/>
                  </a:lnTo>
                  <a:lnTo>
                    <a:pt x="1331" y="5842"/>
                  </a:lnTo>
                  <a:lnTo>
                    <a:pt x="1362" y="5795"/>
                  </a:lnTo>
                  <a:lnTo>
                    <a:pt x="1393" y="5747"/>
                  </a:lnTo>
                  <a:lnTo>
                    <a:pt x="1423" y="5698"/>
                  </a:lnTo>
                  <a:lnTo>
                    <a:pt x="1451" y="5648"/>
                  </a:lnTo>
                  <a:lnTo>
                    <a:pt x="1476" y="5597"/>
                  </a:lnTo>
                  <a:lnTo>
                    <a:pt x="1496" y="5545"/>
                  </a:lnTo>
                  <a:lnTo>
                    <a:pt x="1512" y="5493"/>
                  </a:lnTo>
                  <a:lnTo>
                    <a:pt x="1524" y="5440"/>
                  </a:lnTo>
                  <a:lnTo>
                    <a:pt x="1533" y="5388"/>
                  </a:lnTo>
                  <a:lnTo>
                    <a:pt x="1539" y="5336"/>
                  </a:lnTo>
                  <a:lnTo>
                    <a:pt x="1541" y="5283"/>
                  </a:lnTo>
                  <a:lnTo>
                    <a:pt x="1539" y="5231"/>
                  </a:lnTo>
                  <a:lnTo>
                    <a:pt x="1534" y="5180"/>
                  </a:lnTo>
                  <a:lnTo>
                    <a:pt x="1525" y="5129"/>
                  </a:lnTo>
                  <a:lnTo>
                    <a:pt x="1514" y="5080"/>
                  </a:lnTo>
                  <a:lnTo>
                    <a:pt x="1500" y="5030"/>
                  </a:lnTo>
                  <a:lnTo>
                    <a:pt x="1482" y="4982"/>
                  </a:lnTo>
                  <a:lnTo>
                    <a:pt x="1461" y="4936"/>
                  </a:lnTo>
                  <a:lnTo>
                    <a:pt x="1438" y="4891"/>
                  </a:lnTo>
                  <a:lnTo>
                    <a:pt x="1411" y="4846"/>
                  </a:lnTo>
                  <a:lnTo>
                    <a:pt x="1383" y="4804"/>
                  </a:lnTo>
                  <a:lnTo>
                    <a:pt x="1352" y="4765"/>
                  </a:lnTo>
                  <a:lnTo>
                    <a:pt x="1317" y="4727"/>
                  </a:lnTo>
                  <a:lnTo>
                    <a:pt x="1281" y="4691"/>
                  </a:lnTo>
                  <a:lnTo>
                    <a:pt x="1242" y="4657"/>
                  </a:lnTo>
                  <a:lnTo>
                    <a:pt x="1201" y="4626"/>
                  </a:lnTo>
                  <a:lnTo>
                    <a:pt x="1158" y="4598"/>
                  </a:lnTo>
                  <a:lnTo>
                    <a:pt x="1113" y="4571"/>
                  </a:lnTo>
                  <a:lnTo>
                    <a:pt x="1065" y="4549"/>
                  </a:lnTo>
                  <a:lnTo>
                    <a:pt x="1015" y="4529"/>
                  </a:lnTo>
                  <a:lnTo>
                    <a:pt x="965" y="4513"/>
                  </a:lnTo>
                  <a:lnTo>
                    <a:pt x="911" y="4499"/>
                  </a:lnTo>
                  <a:lnTo>
                    <a:pt x="857" y="4489"/>
                  </a:lnTo>
                  <a:lnTo>
                    <a:pt x="801" y="4484"/>
                  </a:lnTo>
                  <a:lnTo>
                    <a:pt x="743" y="4482"/>
                  </a:lnTo>
                  <a:lnTo>
                    <a:pt x="746" y="4482"/>
                  </a:lnTo>
                  <a:lnTo>
                    <a:pt x="747" y="4482"/>
                  </a:lnTo>
                  <a:lnTo>
                    <a:pt x="773" y="4482"/>
                  </a:lnTo>
                  <a:lnTo>
                    <a:pt x="800" y="4483"/>
                  </a:lnTo>
                  <a:lnTo>
                    <a:pt x="826" y="4485"/>
                  </a:lnTo>
                  <a:lnTo>
                    <a:pt x="852" y="4488"/>
                  </a:lnTo>
                  <a:lnTo>
                    <a:pt x="878" y="4493"/>
                  </a:lnTo>
                  <a:lnTo>
                    <a:pt x="904" y="4497"/>
                  </a:lnTo>
                  <a:lnTo>
                    <a:pt x="929" y="4503"/>
                  </a:lnTo>
                  <a:lnTo>
                    <a:pt x="953" y="4509"/>
                  </a:lnTo>
                  <a:lnTo>
                    <a:pt x="979" y="4516"/>
                  </a:lnTo>
                  <a:lnTo>
                    <a:pt x="1003" y="4524"/>
                  </a:lnTo>
                  <a:lnTo>
                    <a:pt x="1028" y="4532"/>
                  </a:lnTo>
                  <a:lnTo>
                    <a:pt x="1051" y="4542"/>
                  </a:lnTo>
                  <a:lnTo>
                    <a:pt x="1074" y="4552"/>
                  </a:lnTo>
                  <a:lnTo>
                    <a:pt x="1097" y="4563"/>
                  </a:lnTo>
                  <a:lnTo>
                    <a:pt x="1121" y="4576"/>
                  </a:lnTo>
                  <a:lnTo>
                    <a:pt x="1143" y="4588"/>
                  </a:lnTo>
                  <a:lnTo>
                    <a:pt x="1165" y="4601"/>
                  </a:lnTo>
                  <a:lnTo>
                    <a:pt x="1187" y="4615"/>
                  </a:lnTo>
                  <a:lnTo>
                    <a:pt x="1208" y="4630"/>
                  </a:lnTo>
                  <a:lnTo>
                    <a:pt x="1229" y="4645"/>
                  </a:lnTo>
                  <a:lnTo>
                    <a:pt x="1249" y="4661"/>
                  </a:lnTo>
                  <a:lnTo>
                    <a:pt x="1269" y="4677"/>
                  </a:lnTo>
                  <a:lnTo>
                    <a:pt x="1288" y="4695"/>
                  </a:lnTo>
                  <a:lnTo>
                    <a:pt x="1306" y="4713"/>
                  </a:lnTo>
                  <a:lnTo>
                    <a:pt x="1325" y="4730"/>
                  </a:lnTo>
                  <a:lnTo>
                    <a:pt x="1343" y="4750"/>
                  </a:lnTo>
                  <a:lnTo>
                    <a:pt x="1359" y="4769"/>
                  </a:lnTo>
                  <a:lnTo>
                    <a:pt x="1376" y="4790"/>
                  </a:lnTo>
                  <a:lnTo>
                    <a:pt x="1393" y="4811"/>
                  </a:lnTo>
                  <a:lnTo>
                    <a:pt x="1408" y="4832"/>
                  </a:lnTo>
                  <a:lnTo>
                    <a:pt x="1423" y="4854"/>
                  </a:lnTo>
                  <a:lnTo>
                    <a:pt x="1437" y="4876"/>
                  </a:lnTo>
                  <a:lnTo>
                    <a:pt x="1473" y="4934"/>
                  </a:lnTo>
                  <a:lnTo>
                    <a:pt x="1512" y="4990"/>
                  </a:lnTo>
                  <a:lnTo>
                    <a:pt x="1552" y="5046"/>
                  </a:lnTo>
                  <a:lnTo>
                    <a:pt x="1593" y="5099"/>
                  </a:lnTo>
                  <a:lnTo>
                    <a:pt x="1636" y="5152"/>
                  </a:lnTo>
                  <a:lnTo>
                    <a:pt x="1681" y="5203"/>
                  </a:lnTo>
                  <a:lnTo>
                    <a:pt x="1728" y="5253"/>
                  </a:lnTo>
                  <a:lnTo>
                    <a:pt x="1775" y="5302"/>
                  </a:lnTo>
                  <a:lnTo>
                    <a:pt x="1825" y="5348"/>
                  </a:lnTo>
                  <a:lnTo>
                    <a:pt x="1876" y="5393"/>
                  </a:lnTo>
                  <a:lnTo>
                    <a:pt x="1928" y="5438"/>
                  </a:lnTo>
                  <a:lnTo>
                    <a:pt x="1982" y="5480"/>
                  </a:lnTo>
                  <a:lnTo>
                    <a:pt x="2038" y="5519"/>
                  </a:lnTo>
                  <a:lnTo>
                    <a:pt x="2093" y="5558"/>
                  </a:lnTo>
                  <a:lnTo>
                    <a:pt x="2152" y="5595"/>
                  </a:lnTo>
                  <a:lnTo>
                    <a:pt x="2210" y="5630"/>
                  </a:lnTo>
                  <a:lnTo>
                    <a:pt x="2270" y="5663"/>
                  </a:lnTo>
                  <a:lnTo>
                    <a:pt x="2331" y="5695"/>
                  </a:lnTo>
                  <a:lnTo>
                    <a:pt x="2393" y="5724"/>
                  </a:lnTo>
                  <a:lnTo>
                    <a:pt x="2457" y="5751"/>
                  </a:lnTo>
                  <a:lnTo>
                    <a:pt x="2521" y="5777"/>
                  </a:lnTo>
                  <a:lnTo>
                    <a:pt x="2586" y="5800"/>
                  </a:lnTo>
                  <a:lnTo>
                    <a:pt x="2653" y="5822"/>
                  </a:lnTo>
                  <a:lnTo>
                    <a:pt x="2719" y="5841"/>
                  </a:lnTo>
                  <a:lnTo>
                    <a:pt x="2788" y="5859"/>
                  </a:lnTo>
                  <a:lnTo>
                    <a:pt x="2856" y="5874"/>
                  </a:lnTo>
                  <a:lnTo>
                    <a:pt x="2926" y="5886"/>
                  </a:lnTo>
                  <a:lnTo>
                    <a:pt x="2997" y="5897"/>
                  </a:lnTo>
                  <a:lnTo>
                    <a:pt x="3068" y="5905"/>
                  </a:lnTo>
                  <a:lnTo>
                    <a:pt x="3139" y="5912"/>
                  </a:lnTo>
                  <a:lnTo>
                    <a:pt x="3211" y="5915"/>
                  </a:lnTo>
                  <a:lnTo>
                    <a:pt x="3284" y="5916"/>
                  </a:lnTo>
                  <a:lnTo>
                    <a:pt x="3357" y="5915"/>
                  </a:lnTo>
                  <a:lnTo>
                    <a:pt x="3430" y="5912"/>
                  </a:lnTo>
                  <a:lnTo>
                    <a:pt x="3501" y="5905"/>
                  </a:lnTo>
                  <a:lnTo>
                    <a:pt x="3573" y="5897"/>
                  </a:lnTo>
                  <a:lnTo>
                    <a:pt x="3643" y="5886"/>
                  </a:lnTo>
                  <a:lnTo>
                    <a:pt x="3712" y="5874"/>
                  </a:lnTo>
                  <a:lnTo>
                    <a:pt x="3782" y="5859"/>
                  </a:lnTo>
                  <a:lnTo>
                    <a:pt x="3850" y="5841"/>
                  </a:lnTo>
                  <a:lnTo>
                    <a:pt x="3917" y="5822"/>
                  </a:lnTo>
                  <a:lnTo>
                    <a:pt x="3984" y="5800"/>
                  </a:lnTo>
                  <a:lnTo>
                    <a:pt x="4049" y="5777"/>
                  </a:lnTo>
                  <a:lnTo>
                    <a:pt x="4113" y="5751"/>
                  </a:lnTo>
                  <a:lnTo>
                    <a:pt x="4176" y="5724"/>
                  </a:lnTo>
                  <a:lnTo>
                    <a:pt x="4238" y="5695"/>
                  </a:lnTo>
                  <a:lnTo>
                    <a:pt x="4299" y="5663"/>
                  </a:lnTo>
                  <a:lnTo>
                    <a:pt x="4360" y="5630"/>
                  </a:lnTo>
                  <a:lnTo>
                    <a:pt x="4418" y="5595"/>
                  </a:lnTo>
                  <a:lnTo>
                    <a:pt x="4476" y="5558"/>
                  </a:lnTo>
                  <a:lnTo>
                    <a:pt x="4532" y="5519"/>
                  </a:lnTo>
                  <a:lnTo>
                    <a:pt x="4586" y="5480"/>
                  </a:lnTo>
                  <a:lnTo>
                    <a:pt x="4641" y="5438"/>
                  </a:lnTo>
                  <a:lnTo>
                    <a:pt x="4693" y="5393"/>
                  </a:lnTo>
                  <a:lnTo>
                    <a:pt x="4744" y="5348"/>
                  </a:lnTo>
                  <a:lnTo>
                    <a:pt x="4793" y="5302"/>
                  </a:lnTo>
                  <a:lnTo>
                    <a:pt x="4841" y="5253"/>
                  </a:lnTo>
                  <a:lnTo>
                    <a:pt x="4887" y="5203"/>
                  </a:lnTo>
                  <a:lnTo>
                    <a:pt x="4933" y="5152"/>
                  </a:lnTo>
                  <a:lnTo>
                    <a:pt x="4976" y="5099"/>
                  </a:lnTo>
                  <a:lnTo>
                    <a:pt x="5018" y="5046"/>
                  </a:lnTo>
                  <a:lnTo>
                    <a:pt x="5058" y="4990"/>
                  </a:lnTo>
                  <a:lnTo>
                    <a:pt x="5095" y="4934"/>
                  </a:lnTo>
                  <a:lnTo>
                    <a:pt x="5132" y="4876"/>
                  </a:lnTo>
                  <a:lnTo>
                    <a:pt x="5145" y="4855"/>
                  </a:lnTo>
                  <a:lnTo>
                    <a:pt x="5159" y="4834"/>
                  </a:lnTo>
                  <a:lnTo>
                    <a:pt x="5174" y="4814"/>
                  </a:lnTo>
                  <a:lnTo>
                    <a:pt x="5188" y="4794"/>
                  </a:lnTo>
                  <a:lnTo>
                    <a:pt x="5204" y="4776"/>
                  </a:lnTo>
                  <a:lnTo>
                    <a:pt x="5220" y="4757"/>
                  </a:lnTo>
                  <a:lnTo>
                    <a:pt x="5237" y="4738"/>
                  </a:lnTo>
                  <a:lnTo>
                    <a:pt x="5253" y="4720"/>
                  </a:lnTo>
                  <a:lnTo>
                    <a:pt x="5271" y="4704"/>
                  </a:lnTo>
                  <a:lnTo>
                    <a:pt x="5289" y="4687"/>
                  </a:lnTo>
                  <a:lnTo>
                    <a:pt x="5308" y="4671"/>
                  </a:lnTo>
                  <a:lnTo>
                    <a:pt x="5327" y="4655"/>
                  </a:lnTo>
                  <a:lnTo>
                    <a:pt x="5345" y="4641"/>
                  </a:lnTo>
                  <a:lnTo>
                    <a:pt x="5365" y="4626"/>
                  </a:lnTo>
                  <a:lnTo>
                    <a:pt x="5385" y="4613"/>
                  </a:lnTo>
                  <a:lnTo>
                    <a:pt x="5406" y="4600"/>
                  </a:lnTo>
                  <a:lnTo>
                    <a:pt x="5426" y="4588"/>
                  </a:lnTo>
                  <a:lnTo>
                    <a:pt x="5448" y="4576"/>
                  </a:lnTo>
                  <a:lnTo>
                    <a:pt x="5469" y="4565"/>
                  </a:lnTo>
                  <a:lnTo>
                    <a:pt x="5491" y="4555"/>
                  </a:lnTo>
                  <a:lnTo>
                    <a:pt x="5513" y="4545"/>
                  </a:lnTo>
                  <a:lnTo>
                    <a:pt x="5536" y="4535"/>
                  </a:lnTo>
                  <a:lnTo>
                    <a:pt x="5559" y="4527"/>
                  </a:lnTo>
                  <a:lnTo>
                    <a:pt x="5581" y="4519"/>
                  </a:lnTo>
                  <a:lnTo>
                    <a:pt x="5604" y="4511"/>
                  </a:lnTo>
                  <a:lnTo>
                    <a:pt x="5629" y="4506"/>
                  </a:lnTo>
                  <a:lnTo>
                    <a:pt x="5652" y="4500"/>
                  </a:lnTo>
                  <a:lnTo>
                    <a:pt x="5676" y="4495"/>
                  </a:lnTo>
                  <a:lnTo>
                    <a:pt x="5700" y="4490"/>
                  </a:lnTo>
                  <a:lnTo>
                    <a:pt x="5725" y="4487"/>
                  </a:lnTo>
                  <a:lnTo>
                    <a:pt x="5749" y="4485"/>
                  </a:lnTo>
                  <a:lnTo>
                    <a:pt x="5773" y="4483"/>
                  </a:lnTo>
                  <a:lnTo>
                    <a:pt x="5719" y="4489"/>
                  </a:lnTo>
                  <a:lnTo>
                    <a:pt x="5667" y="4498"/>
                  </a:lnTo>
                  <a:lnTo>
                    <a:pt x="5616" y="4511"/>
                  </a:lnTo>
                  <a:lnTo>
                    <a:pt x="5567" y="4527"/>
                  </a:lnTo>
                  <a:lnTo>
                    <a:pt x="5519" y="4547"/>
                  </a:lnTo>
                  <a:lnTo>
                    <a:pt x="5474" y="4568"/>
                  </a:lnTo>
                  <a:lnTo>
                    <a:pt x="5429" y="4593"/>
                  </a:lnTo>
                  <a:lnTo>
                    <a:pt x="5387" y="4620"/>
                  </a:lnTo>
                  <a:lnTo>
                    <a:pt x="5348" y="4650"/>
                  </a:lnTo>
                  <a:lnTo>
                    <a:pt x="5310" y="4682"/>
                  </a:lnTo>
                  <a:lnTo>
                    <a:pt x="5273" y="4716"/>
                  </a:lnTo>
                  <a:lnTo>
                    <a:pt x="5240" y="4752"/>
                  </a:lnTo>
                  <a:lnTo>
                    <a:pt x="5209" y="4790"/>
                  </a:lnTo>
                  <a:lnTo>
                    <a:pt x="5180" y="4830"/>
                  </a:lnTo>
                  <a:lnTo>
                    <a:pt x="5154" y="4872"/>
                  </a:lnTo>
                  <a:lnTo>
                    <a:pt x="5131" y="4915"/>
                  </a:lnTo>
                  <a:lnTo>
                    <a:pt x="5110" y="4959"/>
                  </a:lnTo>
                  <a:lnTo>
                    <a:pt x="5091" y="5004"/>
                  </a:lnTo>
                  <a:lnTo>
                    <a:pt x="5075" y="5051"/>
                  </a:lnTo>
                  <a:lnTo>
                    <a:pt x="5062" y="5099"/>
                  </a:lnTo>
                  <a:lnTo>
                    <a:pt x="5053" y="5148"/>
                  </a:lnTo>
                  <a:lnTo>
                    <a:pt x="5046" y="5197"/>
                  </a:lnTo>
                  <a:lnTo>
                    <a:pt x="5042" y="5246"/>
                  </a:lnTo>
                  <a:lnTo>
                    <a:pt x="5041" y="5296"/>
                  </a:lnTo>
                  <a:lnTo>
                    <a:pt x="5044" y="5347"/>
                  </a:lnTo>
                  <a:lnTo>
                    <a:pt x="5050" y="5398"/>
                  </a:lnTo>
                  <a:lnTo>
                    <a:pt x="5060" y="5449"/>
                  </a:lnTo>
                  <a:lnTo>
                    <a:pt x="5072" y="5498"/>
                  </a:lnTo>
                  <a:lnTo>
                    <a:pt x="5089" y="5549"/>
                  </a:lnTo>
                  <a:lnTo>
                    <a:pt x="5109" y="5599"/>
                  </a:lnTo>
                  <a:lnTo>
                    <a:pt x="5132" y="5648"/>
                  </a:lnTo>
                  <a:lnTo>
                    <a:pt x="5159" y="5696"/>
                  </a:lnTo>
                  <a:lnTo>
                    <a:pt x="5189" y="5745"/>
                  </a:lnTo>
                  <a:lnTo>
                    <a:pt x="5220" y="5793"/>
                  </a:lnTo>
                  <a:lnTo>
                    <a:pt x="5251" y="5841"/>
                  </a:lnTo>
                  <a:lnTo>
                    <a:pt x="5283" y="5888"/>
                  </a:lnTo>
                  <a:lnTo>
                    <a:pt x="5315" y="5935"/>
                  </a:lnTo>
                  <a:lnTo>
                    <a:pt x="5350" y="5981"/>
                  </a:lnTo>
                  <a:lnTo>
                    <a:pt x="5384" y="6027"/>
                  </a:lnTo>
                  <a:lnTo>
                    <a:pt x="5418" y="6072"/>
                  </a:lnTo>
                  <a:lnTo>
                    <a:pt x="5466" y="6131"/>
                  </a:lnTo>
                  <a:lnTo>
                    <a:pt x="5515" y="6190"/>
                  </a:lnTo>
                  <a:lnTo>
                    <a:pt x="5565" y="6248"/>
                  </a:lnTo>
                  <a:lnTo>
                    <a:pt x="5616" y="6304"/>
                  </a:lnTo>
                  <a:lnTo>
                    <a:pt x="5669" y="6359"/>
                  </a:lnTo>
                  <a:lnTo>
                    <a:pt x="5723" y="6413"/>
                  </a:lnTo>
                  <a:lnTo>
                    <a:pt x="5777" y="6468"/>
                  </a:lnTo>
                  <a:lnTo>
                    <a:pt x="5833" y="6520"/>
                  </a:lnTo>
                  <a:lnTo>
                    <a:pt x="5769" y="6577"/>
                  </a:lnTo>
                  <a:lnTo>
                    <a:pt x="5705" y="6632"/>
                  </a:lnTo>
                  <a:lnTo>
                    <a:pt x="5638" y="6686"/>
                  </a:lnTo>
                  <a:lnTo>
                    <a:pt x="5571" y="6739"/>
                  </a:lnTo>
                  <a:lnTo>
                    <a:pt x="5502" y="6791"/>
                  </a:lnTo>
                  <a:lnTo>
                    <a:pt x="5433" y="6841"/>
                  </a:lnTo>
                  <a:lnTo>
                    <a:pt x="5362" y="6889"/>
                  </a:lnTo>
                  <a:lnTo>
                    <a:pt x="5290" y="6936"/>
                  </a:lnTo>
                  <a:lnTo>
                    <a:pt x="5217" y="6980"/>
                  </a:lnTo>
                  <a:lnTo>
                    <a:pt x="5143" y="7025"/>
                  </a:lnTo>
                  <a:lnTo>
                    <a:pt x="5068" y="7067"/>
                  </a:lnTo>
                  <a:lnTo>
                    <a:pt x="4991" y="7106"/>
                  </a:lnTo>
                  <a:lnTo>
                    <a:pt x="4914" y="7145"/>
                  </a:lnTo>
                  <a:lnTo>
                    <a:pt x="4835" y="7182"/>
                  </a:lnTo>
                  <a:lnTo>
                    <a:pt x="4756" y="7216"/>
                  </a:lnTo>
                  <a:lnTo>
                    <a:pt x="4676" y="7249"/>
                  </a:lnTo>
                  <a:lnTo>
                    <a:pt x="4594" y="7281"/>
                  </a:lnTo>
                  <a:lnTo>
                    <a:pt x="4512" y="7310"/>
                  </a:lnTo>
                  <a:lnTo>
                    <a:pt x="4429" y="7337"/>
                  </a:lnTo>
                  <a:lnTo>
                    <a:pt x="4345" y="7363"/>
                  </a:lnTo>
                  <a:lnTo>
                    <a:pt x="4261" y="7387"/>
                  </a:lnTo>
                  <a:lnTo>
                    <a:pt x="4176" y="7409"/>
                  </a:lnTo>
                  <a:lnTo>
                    <a:pt x="4090" y="7429"/>
                  </a:lnTo>
                  <a:lnTo>
                    <a:pt x="4002" y="7447"/>
                  </a:lnTo>
                  <a:lnTo>
                    <a:pt x="3915" y="7462"/>
                  </a:lnTo>
                  <a:lnTo>
                    <a:pt x="3826" y="7477"/>
                  </a:lnTo>
                  <a:lnTo>
                    <a:pt x="3738" y="7489"/>
                  </a:lnTo>
                  <a:lnTo>
                    <a:pt x="3648" y="7498"/>
                  </a:lnTo>
                  <a:lnTo>
                    <a:pt x="3559" y="7505"/>
                  </a:lnTo>
                  <a:lnTo>
                    <a:pt x="3468" y="7511"/>
                  </a:lnTo>
                  <a:lnTo>
                    <a:pt x="3376" y="7514"/>
                  </a:lnTo>
                  <a:lnTo>
                    <a:pt x="3284" y="7515"/>
                  </a:lnTo>
                  <a:lnTo>
                    <a:pt x="3284" y="7515"/>
                  </a:lnTo>
                  <a:close/>
                  <a:moveTo>
                    <a:pt x="5845" y="3034"/>
                  </a:moveTo>
                  <a:lnTo>
                    <a:pt x="5814" y="3034"/>
                  </a:lnTo>
                  <a:lnTo>
                    <a:pt x="5789" y="3034"/>
                  </a:lnTo>
                  <a:lnTo>
                    <a:pt x="5762" y="3033"/>
                  </a:lnTo>
                  <a:lnTo>
                    <a:pt x="5737" y="3031"/>
                  </a:lnTo>
                  <a:lnTo>
                    <a:pt x="5711" y="3027"/>
                  </a:lnTo>
                  <a:lnTo>
                    <a:pt x="5686" y="3024"/>
                  </a:lnTo>
                  <a:lnTo>
                    <a:pt x="5661" y="3018"/>
                  </a:lnTo>
                  <a:lnTo>
                    <a:pt x="5636" y="3013"/>
                  </a:lnTo>
                  <a:lnTo>
                    <a:pt x="5611" y="3007"/>
                  </a:lnTo>
                  <a:lnTo>
                    <a:pt x="5586" y="3000"/>
                  </a:lnTo>
                  <a:lnTo>
                    <a:pt x="5562" y="2992"/>
                  </a:lnTo>
                  <a:lnTo>
                    <a:pt x="5539" y="2983"/>
                  </a:lnTo>
                  <a:lnTo>
                    <a:pt x="5516" y="2974"/>
                  </a:lnTo>
                  <a:lnTo>
                    <a:pt x="5492" y="2964"/>
                  </a:lnTo>
                  <a:lnTo>
                    <a:pt x="5469" y="2953"/>
                  </a:lnTo>
                  <a:lnTo>
                    <a:pt x="5447" y="2942"/>
                  </a:lnTo>
                  <a:lnTo>
                    <a:pt x="5425" y="2929"/>
                  </a:lnTo>
                  <a:lnTo>
                    <a:pt x="5403" y="2917"/>
                  </a:lnTo>
                  <a:lnTo>
                    <a:pt x="5382" y="2902"/>
                  </a:lnTo>
                  <a:lnTo>
                    <a:pt x="5361" y="2888"/>
                  </a:lnTo>
                  <a:lnTo>
                    <a:pt x="5341" y="2874"/>
                  </a:lnTo>
                  <a:lnTo>
                    <a:pt x="5321" y="2858"/>
                  </a:lnTo>
                  <a:lnTo>
                    <a:pt x="5301" y="2842"/>
                  </a:lnTo>
                  <a:lnTo>
                    <a:pt x="5282" y="2825"/>
                  </a:lnTo>
                  <a:lnTo>
                    <a:pt x="5263" y="2807"/>
                  </a:lnTo>
                  <a:lnTo>
                    <a:pt x="5246" y="2789"/>
                  </a:lnTo>
                  <a:lnTo>
                    <a:pt x="5228" y="2770"/>
                  </a:lnTo>
                  <a:lnTo>
                    <a:pt x="5211" y="2751"/>
                  </a:lnTo>
                  <a:lnTo>
                    <a:pt x="5195" y="2731"/>
                  </a:lnTo>
                  <a:lnTo>
                    <a:pt x="5179" y="2710"/>
                  </a:lnTo>
                  <a:lnTo>
                    <a:pt x="5164" y="2689"/>
                  </a:lnTo>
                  <a:lnTo>
                    <a:pt x="5150" y="2668"/>
                  </a:lnTo>
                  <a:lnTo>
                    <a:pt x="5136" y="2646"/>
                  </a:lnTo>
                  <a:lnTo>
                    <a:pt x="5100" y="2587"/>
                  </a:lnTo>
                  <a:lnTo>
                    <a:pt x="5061" y="2531"/>
                  </a:lnTo>
                  <a:lnTo>
                    <a:pt x="5021" y="2475"/>
                  </a:lnTo>
                  <a:lnTo>
                    <a:pt x="4980" y="2421"/>
                  </a:lnTo>
                  <a:lnTo>
                    <a:pt x="4937" y="2368"/>
                  </a:lnTo>
                  <a:lnTo>
                    <a:pt x="4892" y="2317"/>
                  </a:lnTo>
                  <a:lnTo>
                    <a:pt x="4845" y="2266"/>
                  </a:lnTo>
                  <a:lnTo>
                    <a:pt x="4798" y="2217"/>
                  </a:lnTo>
                  <a:lnTo>
                    <a:pt x="4748" y="2171"/>
                  </a:lnTo>
                  <a:lnTo>
                    <a:pt x="4697" y="2125"/>
                  </a:lnTo>
                  <a:lnTo>
                    <a:pt x="4644" y="2081"/>
                  </a:lnTo>
                  <a:lnTo>
                    <a:pt x="4591" y="2039"/>
                  </a:lnTo>
                  <a:lnTo>
                    <a:pt x="4536" y="1998"/>
                  </a:lnTo>
                  <a:lnTo>
                    <a:pt x="4479" y="1960"/>
                  </a:lnTo>
                  <a:lnTo>
                    <a:pt x="4422" y="1922"/>
                  </a:lnTo>
                  <a:lnTo>
                    <a:pt x="4363" y="1888"/>
                  </a:lnTo>
                  <a:lnTo>
                    <a:pt x="4302" y="1854"/>
                  </a:lnTo>
                  <a:lnTo>
                    <a:pt x="4241" y="1823"/>
                  </a:lnTo>
                  <a:lnTo>
                    <a:pt x="4178" y="1793"/>
                  </a:lnTo>
                  <a:lnTo>
                    <a:pt x="4115" y="1765"/>
                  </a:lnTo>
                  <a:lnTo>
                    <a:pt x="4051" y="1740"/>
                  </a:lnTo>
                  <a:lnTo>
                    <a:pt x="3986" y="1715"/>
                  </a:lnTo>
                  <a:lnTo>
                    <a:pt x="3919" y="1694"/>
                  </a:lnTo>
                  <a:lnTo>
                    <a:pt x="3852" y="1675"/>
                  </a:lnTo>
                  <a:lnTo>
                    <a:pt x="3783" y="1657"/>
                  </a:lnTo>
                  <a:lnTo>
                    <a:pt x="3715" y="1641"/>
                  </a:lnTo>
                  <a:lnTo>
                    <a:pt x="3644" y="1629"/>
                  </a:lnTo>
                  <a:lnTo>
                    <a:pt x="3574" y="1618"/>
                  </a:lnTo>
                  <a:lnTo>
                    <a:pt x="3502" y="1611"/>
                  </a:lnTo>
                  <a:lnTo>
                    <a:pt x="3430" y="1604"/>
                  </a:lnTo>
                  <a:lnTo>
                    <a:pt x="3357" y="1601"/>
                  </a:lnTo>
                  <a:lnTo>
                    <a:pt x="3284" y="1599"/>
                  </a:lnTo>
                  <a:lnTo>
                    <a:pt x="3215" y="1601"/>
                  </a:lnTo>
                  <a:lnTo>
                    <a:pt x="3145" y="1604"/>
                  </a:lnTo>
                  <a:lnTo>
                    <a:pt x="3076" y="1609"/>
                  </a:lnTo>
                  <a:lnTo>
                    <a:pt x="3008" y="1617"/>
                  </a:lnTo>
                  <a:lnTo>
                    <a:pt x="2940" y="1626"/>
                  </a:lnTo>
                  <a:lnTo>
                    <a:pt x="2874" y="1638"/>
                  </a:lnTo>
                  <a:lnTo>
                    <a:pt x="2808" y="1652"/>
                  </a:lnTo>
                  <a:lnTo>
                    <a:pt x="2742" y="1668"/>
                  </a:lnTo>
                  <a:lnTo>
                    <a:pt x="2678" y="1686"/>
                  </a:lnTo>
                  <a:lnTo>
                    <a:pt x="2614" y="1706"/>
                  </a:lnTo>
                  <a:lnTo>
                    <a:pt x="2551" y="1728"/>
                  </a:lnTo>
                  <a:lnTo>
                    <a:pt x="2489" y="1751"/>
                  </a:lnTo>
                  <a:lnTo>
                    <a:pt x="2428" y="1776"/>
                  </a:lnTo>
                  <a:lnTo>
                    <a:pt x="2367" y="1803"/>
                  </a:lnTo>
                  <a:lnTo>
                    <a:pt x="2309" y="1833"/>
                  </a:lnTo>
                  <a:lnTo>
                    <a:pt x="2250" y="1862"/>
                  </a:lnTo>
                  <a:lnTo>
                    <a:pt x="2194" y="1896"/>
                  </a:lnTo>
                  <a:lnTo>
                    <a:pt x="2137" y="1929"/>
                  </a:lnTo>
                  <a:lnTo>
                    <a:pt x="2082" y="1965"/>
                  </a:lnTo>
                  <a:lnTo>
                    <a:pt x="2029" y="2002"/>
                  </a:lnTo>
                  <a:lnTo>
                    <a:pt x="1976" y="2042"/>
                  </a:lnTo>
                  <a:lnTo>
                    <a:pt x="1925" y="2081"/>
                  </a:lnTo>
                  <a:lnTo>
                    <a:pt x="1875" y="2123"/>
                  </a:lnTo>
                  <a:lnTo>
                    <a:pt x="1826" y="2166"/>
                  </a:lnTo>
                  <a:lnTo>
                    <a:pt x="1779" y="2212"/>
                  </a:lnTo>
                  <a:lnTo>
                    <a:pt x="1732" y="2257"/>
                  </a:lnTo>
                  <a:lnTo>
                    <a:pt x="1688" y="2305"/>
                  </a:lnTo>
                  <a:lnTo>
                    <a:pt x="1645" y="2353"/>
                  </a:lnTo>
                  <a:lnTo>
                    <a:pt x="1603" y="2404"/>
                  </a:lnTo>
                  <a:lnTo>
                    <a:pt x="1563" y="2455"/>
                  </a:lnTo>
                  <a:lnTo>
                    <a:pt x="1524" y="2508"/>
                  </a:lnTo>
                  <a:lnTo>
                    <a:pt x="1487" y="2561"/>
                  </a:lnTo>
                  <a:lnTo>
                    <a:pt x="1496" y="2541"/>
                  </a:lnTo>
                  <a:lnTo>
                    <a:pt x="1503" y="2520"/>
                  </a:lnTo>
                  <a:lnTo>
                    <a:pt x="1511" y="2499"/>
                  </a:lnTo>
                  <a:lnTo>
                    <a:pt x="1518" y="2478"/>
                  </a:lnTo>
                  <a:lnTo>
                    <a:pt x="1524" y="2457"/>
                  </a:lnTo>
                  <a:lnTo>
                    <a:pt x="1530" y="2436"/>
                  </a:lnTo>
                  <a:lnTo>
                    <a:pt x="1535" y="2414"/>
                  </a:lnTo>
                  <a:lnTo>
                    <a:pt x="1540" y="2393"/>
                  </a:lnTo>
                  <a:lnTo>
                    <a:pt x="1543" y="2371"/>
                  </a:lnTo>
                  <a:lnTo>
                    <a:pt x="1546" y="2349"/>
                  </a:lnTo>
                  <a:lnTo>
                    <a:pt x="1550" y="2327"/>
                  </a:lnTo>
                  <a:lnTo>
                    <a:pt x="1552" y="2305"/>
                  </a:lnTo>
                  <a:lnTo>
                    <a:pt x="1553" y="2281"/>
                  </a:lnTo>
                  <a:lnTo>
                    <a:pt x="1553" y="2259"/>
                  </a:lnTo>
                  <a:lnTo>
                    <a:pt x="1553" y="2237"/>
                  </a:lnTo>
                  <a:lnTo>
                    <a:pt x="1553" y="2214"/>
                  </a:lnTo>
                  <a:lnTo>
                    <a:pt x="1552" y="2192"/>
                  </a:lnTo>
                  <a:lnTo>
                    <a:pt x="1550" y="2169"/>
                  </a:lnTo>
                  <a:lnTo>
                    <a:pt x="1546" y="2146"/>
                  </a:lnTo>
                  <a:lnTo>
                    <a:pt x="1543" y="2123"/>
                  </a:lnTo>
                  <a:lnTo>
                    <a:pt x="1540" y="2100"/>
                  </a:lnTo>
                  <a:lnTo>
                    <a:pt x="1534" y="2078"/>
                  </a:lnTo>
                  <a:lnTo>
                    <a:pt x="1529" y="2055"/>
                  </a:lnTo>
                  <a:lnTo>
                    <a:pt x="1523" y="2033"/>
                  </a:lnTo>
                  <a:lnTo>
                    <a:pt x="1515" y="2009"/>
                  </a:lnTo>
                  <a:lnTo>
                    <a:pt x="1508" y="1987"/>
                  </a:lnTo>
                  <a:lnTo>
                    <a:pt x="1499" y="1965"/>
                  </a:lnTo>
                  <a:lnTo>
                    <a:pt x="1490" y="1943"/>
                  </a:lnTo>
                  <a:lnTo>
                    <a:pt x="1480" y="1921"/>
                  </a:lnTo>
                  <a:lnTo>
                    <a:pt x="1469" y="1899"/>
                  </a:lnTo>
                  <a:lnTo>
                    <a:pt x="1458" y="1877"/>
                  </a:lnTo>
                  <a:lnTo>
                    <a:pt x="1445" y="1855"/>
                  </a:lnTo>
                  <a:lnTo>
                    <a:pt x="1413" y="1801"/>
                  </a:lnTo>
                  <a:lnTo>
                    <a:pt x="1379" y="1748"/>
                  </a:lnTo>
                  <a:lnTo>
                    <a:pt x="1346" y="1696"/>
                  </a:lnTo>
                  <a:lnTo>
                    <a:pt x="1311" y="1644"/>
                  </a:lnTo>
                  <a:lnTo>
                    <a:pt x="1275" y="1593"/>
                  </a:lnTo>
                  <a:lnTo>
                    <a:pt x="1239" y="1542"/>
                  </a:lnTo>
                  <a:lnTo>
                    <a:pt x="1201" y="1492"/>
                  </a:lnTo>
                  <a:lnTo>
                    <a:pt x="1164" y="1443"/>
                  </a:lnTo>
                  <a:lnTo>
                    <a:pt x="1115" y="1383"/>
                  </a:lnTo>
                  <a:lnTo>
                    <a:pt x="1065" y="1323"/>
                  </a:lnTo>
                  <a:lnTo>
                    <a:pt x="1014" y="1265"/>
                  </a:lnTo>
                  <a:lnTo>
                    <a:pt x="962" y="1207"/>
                  </a:lnTo>
                  <a:lnTo>
                    <a:pt x="909" y="1151"/>
                  </a:lnTo>
                  <a:lnTo>
                    <a:pt x="855" y="1097"/>
                  </a:lnTo>
                  <a:lnTo>
                    <a:pt x="800" y="1042"/>
                  </a:lnTo>
                  <a:lnTo>
                    <a:pt x="743" y="989"/>
                  </a:lnTo>
                  <a:lnTo>
                    <a:pt x="807" y="932"/>
                  </a:lnTo>
                  <a:lnTo>
                    <a:pt x="872" y="877"/>
                  </a:lnTo>
                  <a:lnTo>
                    <a:pt x="938" y="823"/>
                  </a:lnTo>
                  <a:lnTo>
                    <a:pt x="1005" y="771"/>
                  </a:lnTo>
                  <a:lnTo>
                    <a:pt x="1073" y="720"/>
                  </a:lnTo>
                  <a:lnTo>
                    <a:pt x="1143" y="670"/>
                  </a:lnTo>
                  <a:lnTo>
                    <a:pt x="1213" y="623"/>
                  </a:lnTo>
                  <a:lnTo>
                    <a:pt x="1285" y="576"/>
                  </a:lnTo>
                  <a:lnTo>
                    <a:pt x="1358" y="531"/>
                  </a:lnTo>
                  <a:lnTo>
                    <a:pt x="1433" y="488"/>
                  </a:lnTo>
                  <a:lnTo>
                    <a:pt x="1508" y="447"/>
                  </a:lnTo>
                  <a:lnTo>
                    <a:pt x="1584" y="407"/>
                  </a:lnTo>
                  <a:lnTo>
                    <a:pt x="1661" y="368"/>
                  </a:lnTo>
                  <a:lnTo>
                    <a:pt x="1739" y="332"/>
                  </a:lnTo>
                  <a:lnTo>
                    <a:pt x="1819" y="298"/>
                  </a:lnTo>
                  <a:lnTo>
                    <a:pt x="1898" y="264"/>
                  </a:lnTo>
                  <a:lnTo>
                    <a:pt x="1979" y="234"/>
                  </a:lnTo>
                  <a:lnTo>
                    <a:pt x="2061" y="204"/>
                  </a:lnTo>
                  <a:lnTo>
                    <a:pt x="2144" y="177"/>
                  </a:lnTo>
                  <a:lnTo>
                    <a:pt x="2227" y="152"/>
                  </a:lnTo>
                  <a:lnTo>
                    <a:pt x="2312" y="127"/>
                  </a:lnTo>
                  <a:lnTo>
                    <a:pt x="2397" y="105"/>
                  </a:lnTo>
                  <a:lnTo>
                    <a:pt x="2482" y="87"/>
                  </a:lnTo>
                  <a:lnTo>
                    <a:pt x="2569" y="69"/>
                  </a:lnTo>
                  <a:lnTo>
                    <a:pt x="2656" y="52"/>
                  </a:lnTo>
                  <a:lnTo>
                    <a:pt x="2745" y="39"/>
                  </a:lnTo>
                  <a:lnTo>
                    <a:pt x="2833" y="27"/>
                  </a:lnTo>
                  <a:lnTo>
                    <a:pt x="2922" y="17"/>
                  </a:lnTo>
                  <a:lnTo>
                    <a:pt x="3012" y="10"/>
                  </a:lnTo>
                  <a:lnTo>
                    <a:pt x="3102" y="5"/>
                  </a:lnTo>
                  <a:lnTo>
                    <a:pt x="3193" y="1"/>
                  </a:lnTo>
                  <a:lnTo>
                    <a:pt x="3284" y="0"/>
                  </a:lnTo>
                  <a:lnTo>
                    <a:pt x="3376" y="1"/>
                  </a:lnTo>
                  <a:lnTo>
                    <a:pt x="3468" y="5"/>
                  </a:lnTo>
                  <a:lnTo>
                    <a:pt x="3559" y="10"/>
                  </a:lnTo>
                  <a:lnTo>
                    <a:pt x="3648" y="18"/>
                  </a:lnTo>
                  <a:lnTo>
                    <a:pt x="3738" y="27"/>
                  </a:lnTo>
                  <a:lnTo>
                    <a:pt x="3826" y="39"/>
                  </a:lnTo>
                  <a:lnTo>
                    <a:pt x="3915" y="53"/>
                  </a:lnTo>
                  <a:lnTo>
                    <a:pt x="4002" y="69"/>
                  </a:lnTo>
                  <a:lnTo>
                    <a:pt x="4089" y="87"/>
                  </a:lnTo>
                  <a:lnTo>
                    <a:pt x="4175" y="106"/>
                  </a:lnTo>
                  <a:lnTo>
                    <a:pt x="4260" y="129"/>
                  </a:lnTo>
                  <a:lnTo>
                    <a:pt x="4345" y="152"/>
                  </a:lnTo>
                  <a:lnTo>
                    <a:pt x="4428" y="178"/>
                  </a:lnTo>
                  <a:lnTo>
                    <a:pt x="4511" y="205"/>
                  </a:lnTo>
                  <a:lnTo>
                    <a:pt x="4593" y="235"/>
                  </a:lnTo>
                  <a:lnTo>
                    <a:pt x="4675" y="266"/>
                  </a:lnTo>
                  <a:lnTo>
                    <a:pt x="4755" y="299"/>
                  </a:lnTo>
                  <a:lnTo>
                    <a:pt x="4834" y="334"/>
                  </a:lnTo>
                  <a:lnTo>
                    <a:pt x="4913" y="371"/>
                  </a:lnTo>
                  <a:lnTo>
                    <a:pt x="4990" y="409"/>
                  </a:lnTo>
                  <a:lnTo>
                    <a:pt x="5067" y="449"/>
                  </a:lnTo>
                  <a:lnTo>
                    <a:pt x="5142" y="491"/>
                  </a:lnTo>
                  <a:lnTo>
                    <a:pt x="5216" y="534"/>
                  </a:lnTo>
                  <a:lnTo>
                    <a:pt x="5289" y="579"/>
                  </a:lnTo>
                  <a:lnTo>
                    <a:pt x="5361" y="626"/>
                  </a:lnTo>
                  <a:lnTo>
                    <a:pt x="5432" y="673"/>
                  </a:lnTo>
                  <a:lnTo>
                    <a:pt x="5501" y="723"/>
                  </a:lnTo>
                  <a:lnTo>
                    <a:pt x="5570" y="775"/>
                  </a:lnTo>
                  <a:lnTo>
                    <a:pt x="5637" y="827"/>
                  </a:lnTo>
                  <a:lnTo>
                    <a:pt x="5703" y="882"/>
                  </a:lnTo>
                  <a:lnTo>
                    <a:pt x="5768" y="937"/>
                  </a:lnTo>
                  <a:lnTo>
                    <a:pt x="5831" y="995"/>
                  </a:lnTo>
                  <a:lnTo>
                    <a:pt x="5776" y="1047"/>
                  </a:lnTo>
                  <a:lnTo>
                    <a:pt x="5721" y="1100"/>
                  </a:lnTo>
                  <a:lnTo>
                    <a:pt x="5668" y="1154"/>
                  </a:lnTo>
                  <a:lnTo>
                    <a:pt x="5616" y="1209"/>
                  </a:lnTo>
                  <a:lnTo>
                    <a:pt x="5564" y="1266"/>
                  </a:lnTo>
                  <a:lnTo>
                    <a:pt x="5515" y="1323"/>
                  </a:lnTo>
                  <a:lnTo>
                    <a:pt x="5466" y="1382"/>
                  </a:lnTo>
                  <a:lnTo>
                    <a:pt x="5418" y="1441"/>
                  </a:lnTo>
                  <a:lnTo>
                    <a:pt x="5381" y="1491"/>
                  </a:lnTo>
                  <a:lnTo>
                    <a:pt x="5343" y="1541"/>
                  </a:lnTo>
                  <a:lnTo>
                    <a:pt x="5307" y="1592"/>
                  </a:lnTo>
                  <a:lnTo>
                    <a:pt x="5271" y="1643"/>
                  </a:lnTo>
                  <a:lnTo>
                    <a:pt x="5236" y="1694"/>
                  </a:lnTo>
                  <a:lnTo>
                    <a:pt x="5203" y="1746"/>
                  </a:lnTo>
                  <a:lnTo>
                    <a:pt x="5169" y="1799"/>
                  </a:lnTo>
                  <a:lnTo>
                    <a:pt x="5137" y="1854"/>
                  </a:lnTo>
                  <a:lnTo>
                    <a:pt x="5110" y="1903"/>
                  </a:lnTo>
                  <a:lnTo>
                    <a:pt x="5088" y="1953"/>
                  </a:lnTo>
                  <a:lnTo>
                    <a:pt x="5068" y="2003"/>
                  </a:lnTo>
                  <a:lnTo>
                    <a:pt x="5053" y="2054"/>
                  </a:lnTo>
                  <a:lnTo>
                    <a:pt x="5041" y="2104"/>
                  </a:lnTo>
                  <a:lnTo>
                    <a:pt x="5033" y="2156"/>
                  </a:lnTo>
                  <a:lnTo>
                    <a:pt x="5029" y="2207"/>
                  </a:lnTo>
                  <a:lnTo>
                    <a:pt x="5029" y="2258"/>
                  </a:lnTo>
                  <a:lnTo>
                    <a:pt x="5031" y="2308"/>
                  </a:lnTo>
                  <a:lnTo>
                    <a:pt x="5037" y="2358"/>
                  </a:lnTo>
                  <a:lnTo>
                    <a:pt x="5046" y="2407"/>
                  </a:lnTo>
                  <a:lnTo>
                    <a:pt x="5058" y="2456"/>
                  </a:lnTo>
                  <a:lnTo>
                    <a:pt x="5073" y="2503"/>
                  </a:lnTo>
                  <a:lnTo>
                    <a:pt x="5091" y="2550"/>
                  </a:lnTo>
                  <a:lnTo>
                    <a:pt x="5112" y="2595"/>
                  </a:lnTo>
                  <a:lnTo>
                    <a:pt x="5135" y="2638"/>
                  </a:lnTo>
                  <a:lnTo>
                    <a:pt x="5162" y="2681"/>
                  </a:lnTo>
                  <a:lnTo>
                    <a:pt x="5190" y="2721"/>
                  </a:lnTo>
                  <a:lnTo>
                    <a:pt x="5221" y="2761"/>
                  </a:lnTo>
                  <a:lnTo>
                    <a:pt x="5256" y="2797"/>
                  </a:lnTo>
                  <a:lnTo>
                    <a:pt x="5292" y="2832"/>
                  </a:lnTo>
                  <a:lnTo>
                    <a:pt x="5330" y="2865"/>
                  </a:lnTo>
                  <a:lnTo>
                    <a:pt x="5371" y="2895"/>
                  </a:lnTo>
                  <a:lnTo>
                    <a:pt x="5413" y="2922"/>
                  </a:lnTo>
                  <a:lnTo>
                    <a:pt x="5458" y="2947"/>
                  </a:lnTo>
                  <a:lnTo>
                    <a:pt x="5505" y="2969"/>
                  </a:lnTo>
                  <a:lnTo>
                    <a:pt x="5553" y="2988"/>
                  </a:lnTo>
                  <a:lnTo>
                    <a:pt x="5603" y="3004"/>
                  </a:lnTo>
                  <a:lnTo>
                    <a:pt x="5655" y="3016"/>
                  </a:lnTo>
                  <a:lnTo>
                    <a:pt x="5708" y="3025"/>
                  </a:lnTo>
                  <a:lnTo>
                    <a:pt x="5762" y="3031"/>
                  </a:lnTo>
                  <a:lnTo>
                    <a:pt x="5819" y="3033"/>
                  </a:lnTo>
                  <a:lnTo>
                    <a:pt x="5849" y="3033"/>
                  </a:lnTo>
                  <a:lnTo>
                    <a:pt x="5872" y="3033"/>
                  </a:lnTo>
                  <a:lnTo>
                    <a:pt x="5894" y="3032"/>
                  </a:lnTo>
                  <a:lnTo>
                    <a:pt x="5916" y="3029"/>
                  </a:lnTo>
                  <a:lnTo>
                    <a:pt x="5938" y="3027"/>
                  </a:lnTo>
                  <a:lnTo>
                    <a:pt x="5959" y="3025"/>
                  </a:lnTo>
                  <a:lnTo>
                    <a:pt x="5981" y="3022"/>
                  </a:lnTo>
                  <a:lnTo>
                    <a:pt x="6002" y="3017"/>
                  </a:lnTo>
                  <a:lnTo>
                    <a:pt x="6025" y="3013"/>
                  </a:lnTo>
                  <a:lnTo>
                    <a:pt x="6046" y="3007"/>
                  </a:lnTo>
                  <a:lnTo>
                    <a:pt x="6067" y="3002"/>
                  </a:lnTo>
                  <a:lnTo>
                    <a:pt x="6086" y="2995"/>
                  </a:lnTo>
                  <a:lnTo>
                    <a:pt x="6108" y="2989"/>
                  </a:lnTo>
                  <a:lnTo>
                    <a:pt x="6127" y="2981"/>
                  </a:lnTo>
                  <a:lnTo>
                    <a:pt x="6148" y="2973"/>
                  </a:lnTo>
                  <a:lnTo>
                    <a:pt x="6168" y="2964"/>
                  </a:lnTo>
                  <a:lnTo>
                    <a:pt x="6187" y="2955"/>
                  </a:lnTo>
                  <a:lnTo>
                    <a:pt x="6207" y="2946"/>
                  </a:lnTo>
                  <a:lnTo>
                    <a:pt x="6226" y="2936"/>
                  </a:lnTo>
                  <a:lnTo>
                    <a:pt x="6245" y="2925"/>
                  </a:lnTo>
                  <a:lnTo>
                    <a:pt x="6263" y="2913"/>
                  </a:lnTo>
                  <a:lnTo>
                    <a:pt x="6281" y="2902"/>
                  </a:lnTo>
                  <a:lnTo>
                    <a:pt x="6299" y="2890"/>
                  </a:lnTo>
                  <a:lnTo>
                    <a:pt x="6317" y="2877"/>
                  </a:lnTo>
                  <a:lnTo>
                    <a:pt x="6334" y="2864"/>
                  </a:lnTo>
                  <a:lnTo>
                    <a:pt x="6351" y="2850"/>
                  </a:lnTo>
                  <a:lnTo>
                    <a:pt x="6367" y="2836"/>
                  </a:lnTo>
                  <a:lnTo>
                    <a:pt x="6383" y="2822"/>
                  </a:lnTo>
                  <a:lnTo>
                    <a:pt x="6400" y="2806"/>
                  </a:lnTo>
                  <a:lnTo>
                    <a:pt x="6415" y="2791"/>
                  </a:lnTo>
                  <a:lnTo>
                    <a:pt x="6429" y="2775"/>
                  </a:lnTo>
                  <a:lnTo>
                    <a:pt x="6445" y="2759"/>
                  </a:lnTo>
                  <a:lnTo>
                    <a:pt x="6458" y="2742"/>
                  </a:lnTo>
                  <a:lnTo>
                    <a:pt x="6445" y="2759"/>
                  </a:lnTo>
                  <a:lnTo>
                    <a:pt x="6432" y="2774"/>
                  </a:lnTo>
                  <a:lnTo>
                    <a:pt x="6417" y="2790"/>
                  </a:lnTo>
                  <a:lnTo>
                    <a:pt x="6402" y="2805"/>
                  </a:lnTo>
                  <a:lnTo>
                    <a:pt x="6387" y="2820"/>
                  </a:lnTo>
                  <a:lnTo>
                    <a:pt x="6372" y="2834"/>
                  </a:lnTo>
                  <a:lnTo>
                    <a:pt x="6355" y="2848"/>
                  </a:lnTo>
                  <a:lnTo>
                    <a:pt x="6339" y="2862"/>
                  </a:lnTo>
                  <a:lnTo>
                    <a:pt x="6322" y="2875"/>
                  </a:lnTo>
                  <a:lnTo>
                    <a:pt x="6306" y="2887"/>
                  </a:lnTo>
                  <a:lnTo>
                    <a:pt x="6288" y="2899"/>
                  </a:lnTo>
                  <a:lnTo>
                    <a:pt x="6270" y="2911"/>
                  </a:lnTo>
                  <a:lnTo>
                    <a:pt x="6251" y="2922"/>
                  </a:lnTo>
                  <a:lnTo>
                    <a:pt x="6234" y="2933"/>
                  </a:lnTo>
                  <a:lnTo>
                    <a:pt x="6214" y="2943"/>
                  </a:lnTo>
                  <a:lnTo>
                    <a:pt x="6195" y="2953"/>
                  </a:lnTo>
                  <a:lnTo>
                    <a:pt x="6175" y="2963"/>
                  </a:lnTo>
                  <a:lnTo>
                    <a:pt x="6155" y="2972"/>
                  </a:lnTo>
                  <a:lnTo>
                    <a:pt x="6135" y="2980"/>
                  </a:lnTo>
                  <a:lnTo>
                    <a:pt x="6114" y="2988"/>
                  </a:lnTo>
                  <a:lnTo>
                    <a:pt x="6093" y="2995"/>
                  </a:lnTo>
                  <a:lnTo>
                    <a:pt x="6072" y="3002"/>
                  </a:lnTo>
                  <a:lnTo>
                    <a:pt x="6051" y="3007"/>
                  </a:lnTo>
                  <a:lnTo>
                    <a:pt x="6029" y="3013"/>
                  </a:lnTo>
                  <a:lnTo>
                    <a:pt x="6007" y="3018"/>
                  </a:lnTo>
                  <a:lnTo>
                    <a:pt x="5985" y="3022"/>
                  </a:lnTo>
                  <a:lnTo>
                    <a:pt x="5963" y="3026"/>
                  </a:lnTo>
                  <a:lnTo>
                    <a:pt x="5939" y="3028"/>
                  </a:lnTo>
                  <a:lnTo>
                    <a:pt x="5916" y="3031"/>
                  </a:lnTo>
                  <a:lnTo>
                    <a:pt x="5893" y="3033"/>
                  </a:lnTo>
                  <a:lnTo>
                    <a:pt x="5870" y="3034"/>
                  </a:lnTo>
                  <a:lnTo>
                    <a:pt x="5845" y="3034"/>
                  </a:lnTo>
                  <a:close/>
                  <a:moveTo>
                    <a:pt x="754" y="3034"/>
                  </a:moveTo>
                  <a:lnTo>
                    <a:pt x="723" y="3034"/>
                  </a:lnTo>
                  <a:lnTo>
                    <a:pt x="692" y="3034"/>
                  </a:lnTo>
                  <a:lnTo>
                    <a:pt x="661" y="3032"/>
                  </a:lnTo>
                  <a:lnTo>
                    <a:pt x="632" y="3028"/>
                  </a:lnTo>
                  <a:lnTo>
                    <a:pt x="601" y="3025"/>
                  </a:lnTo>
                  <a:lnTo>
                    <a:pt x="572" y="3020"/>
                  </a:lnTo>
                  <a:lnTo>
                    <a:pt x="542" y="3014"/>
                  </a:lnTo>
                  <a:lnTo>
                    <a:pt x="513" y="3006"/>
                  </a:lnTo>
                  <a:lnTo>
                    <a:pt x="486" y="2999"/>
                  </a:lnTo>
                  <a:lnTo>
                    <a:pt x="458" y="2989"/>
                  </a:lnTo>
                  <a:lnTo>
                    <a:pt x="431" y="2979"/>
                  </a:lnTo>
                  <a:lnTo>
                    <a:pt x="405" y="2968"/>
                  </a:lnTo>
                  <a:lnTo>
                    <a:pt x="378" y="2955"/>
                  </a:lnTo>
                  <a:lnTo>
                    <a:pt x="353" y="2943"/>
                  </a:lnTo>
                  <a:lnTo>
                    <a:pt x="328" y="2929"/>
                  </a:lnTo>
                  <a:lnTo>
                    <a:pt x="304" y="2915"/>
                  </a:lnTo>
                  <a:lnTo>
                    <a:pt x="281" y="2899"/>
                  </a:lnTo>
                  <a:lnTo>
                    <a:pt x="258" y="2883"/>
                  </a:lnTo>
                  <a:lnTo>
                    <a:pt x="236" y="2866"/>
                  </a:lnTo>
                  <a:lnTo>
                    <a:pt x="213" y="2848"/>
                  </a:lnTo>
                  <a:lnTo>
                    <a:pt x="192" y="2829"/>
                  </a:lnTo>
                  <a:lnTo>
                    <a:pt x="172" y="2811"/>
                  </a:lnTo>
                  <a:lnTo>
                    <a:pt x="153" y="2791"/>
                  </a:lnTo>
                  <a:lnTo>
                    <a:pt x="134" y="2770"/>
                  </a:lnTo>
                  <a:lnTo>
                    <a:pt x="116" y="2749"/>
                  </a:lnTo>
                  <a:lnTo>
                    <a:pt x="99" y="2728"/>
                  </a:lnTo>
                  <a:lnTo>
                    <a:pt x="83" y="2706"/>
                  </a:lnTo>
                  <a:lnTo>
                    <a:pt x="66" y="2682"/>
                  </a:lnTo>
                  <a:lnTo>
                    <a:pt x="52" y="2659"/>
                  </a:lnTo>
                  <a:lnTo>
                    <a:pt x="38" y="2635"/>
                  </a:lnTo>
                  <a:lnTo>
                    <a:pt x="24" y="2611"/>
                  </a:lnTo>
                  <a:lnTo>
                    <a:pt x="12" y="2586"/>
                  </a:lnTo>
                  <a:lnTo>
                    <a:pt x="0" y="2561"/>
                  </a:lnTo>
                  <a:lnTo>
                    <a:pt x="14" y="2582"/>
                  </a:lnTo>
                  <a:lnTo>
                    <a:pt x="28" y="2603"/>
                  </a:lnTo>
                  <a:lnTo>
                    <a:pt x="40" y="2623"/>
                  </a:lnTo>
                  <a:lnTo>
                    <a:pt x="53" y="2644"/>
                  </a:lnTo>
                  <a:lnTo>
                    <a:pt x="67" y="2667"/>
                  </a:lnTo>
                  <a:lnTo>
                    <a:pt x="82" y="2688"/>
                  </a:lnTo>
                  <a:lnTo>
                    <a:pt x="96" y="2709"/>
                  </a:lnTo>
                  <a:lnTo>
                    <a:pt x="113" y="2730"/>
                  </a:lnTo>
                  <a:lnTo>
                    <a:pt x="128" y="2750"/>
                  </a:lnTo>
                  <a:lnTo>
                    <a:pt x="146" y="2769"/>
                  </a:lnTo>
                  <a:lnTo>
                    <a:pt x="164" y="2787"/>
                  </a:lnTo>
                  <a:lnTo>
                    <a:pt x="181" y="2806"/>
                  </a:lnTo>
                  <a:lnTo>
                    <a:pt x="199" y="2824"/>
                  </a:lnTo>
                  <a:lnTo>
                    <a:pt x="219" y="2841"/>
                  </a:lnTo>
                  <a:lnTo>
                    <a:pt x="238" y="2857"/>
                  </a:lnTo>
                  <a:lnTo>
                    <a:pt x="258" y="2873"/>
                  </a:lnTo>
                  <a:lnTo>
                    <a:pt x="279" y="2888"/>
                  </a:lnTo>
                  <a:lnTo>
                    <a:pt x="300" y="2902"/>
                  </a:lnTo>
                  <a:lnTo>
                    <a:pt x="321" y="2916"/>
                  </a:lnTo>
                  <a:lnTo>
                    <a:pt x="343" y="2929"/>
                  </a:lnTo>
                  <a:lnTo>
                    <a:pt x="365" y="2941"/>
                  </a:lnTo>
                  <a:lnTo>
                    <a:pt x="387" y="2953"/>
                  </a:lnTo>
                  <a:lnTo>
                    <a:pt x="410" y="2964"/>
                  </a:lnTo>
                  <a:lnTo>
                    <a:pt x="432" y="2974"/>
                  </a:lnTo>
                  <a:lnTo>
                    <a:pt x="457" y="2983"/>
                  </a:lnTo>
                  <a:lnTo>
                    <a:pt x="480" y="2992"/>
                  </a:lnTo>
                  <a:lnTo>
                    <a:pt x="504" y="3000"/>
                  </a:lnTo>
                  <a:lnTo>
                    <a:pt x="529" y="3007"/>
                  </a:lnTo>
                  <a:lnTo>
                    <a:pt x="554" y="3013"/>
                  </a:lnTo>
                  <a:lnTo>
                    <a:pt x="578" y="3018"/>
                  </a:lnTo>
                  <a:lnTo>
                    <a:pt x="604" y="3023"/>
                  </a:lnTo>
                  <a:lnTo>
                    <a:pt x="629" y="3027"/>
                  </a:lnTo>
                  <a:lnTo>
                    <a:pt x="655" y="3031"/>
                  </a:lnTo>
                  <a:lnTo>
                    <a:pt x="680" y="3033"/>
                  </a:lnTo>
                  <a:lnTo>
                    <a:pt x="707" y="3034"/>
                  </a:lnTo>
                  <a:lnTo>
                    <a:pt x="733" y="3034"/>
                  </a:lnTo>
                  <a:lnTo>
                    <a:pt x="754" y="3034"/>
                  </a:lnTo>
                  <a:close/>
                </a:path>
              </a:pathLst>
            </a:custGeom>
            <a:solidFill>
              <a:srgbClr val="000000">
                <a:alpha val="9804"/>
              </a:srgb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AutoShape 3">
              <a:extLst>
                <a:ext uri="{FF2B5EF4-FFF2-40B4-BE49-F238E27FC236}">
                  <a16:creationId xmlns:a16="http://schemas.microsoft.com/office/drawing/2014/main" id="{FC20EF8C-7232-0C99-2F4F-4BB46D868703}"/>
                </a:ext>
              </a:extLst>
            </p:cNvPr>
            <p:cNvSpPr>
              <a:spLocks noChangeAspect="1" noChangeArrowheads="1" noTextEdit="1"/>
            </p:cNvSpPr>
            <p:nvPr/>
          </p:nvSpPr>
          <p:spPr bwMode="auto">
            <a:xfrm>
              <a:off x="2070" y="1235"/>
              <a:ext cx="3540" cy="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8F6C1D07-8066-698B-C03F-4C115F5EC492}"/>
              </a:ext>
            </a:extLst>
          </p:cNvPr>
          <p:cNvGrpSpPr>
            <a:grpSpLocks noChangeAspect="1"/>
          </p:cNvGrpSpPr>
          <p:nvPr/>
        </p:nvGrpSpPr>
        <p:grpSpPr bwMode="auto">
          <a:xfrm>
            <a:off x="3561897" y="2605581"/>
            <a:ext cx="4885418" cy="2553114"/>
            <a:chOff x="2070" y="1235"/>
            <a:chExt cx="3540" cy="1850"/>
          </a:xfrm>
        </p:grpSpPr>
        <p:sp>
          <p:nvSpPr>
            <p:cNvPr id="12" name="AutoShape 3">
              <a:extLst>
                <a:ext uri="{FF2B5EF4-FFF2-40B4-BE49-F238E27FC236}">
                  <a16:creationId xmlns:a16="http://schemas.microsoft.com/office/drawing/2014/main" id="{127B7CB5-4BE6-1B2F-908E-2EA989271F74}"/>
                </a:ext>
              </a:extLst>
            </p:cNvPr>
            <p:cNvSpPr>
              <a:spLocks noChangeAspect="1" noChangeArrowheads="1" noTextEdit="1"/>
            </p:cNvSpPr>
            <p:nvPr/>
          </p:nvSpPr>
          <p:spPr bwMode="auto">
            <a:xfrm>
              <a:off x="2070" y="1235"/>
              <a:ext cx="3540" cy="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7">
              <a:extLst>
                <a:ext uri="{FF2B5EF4-FFF2-40B4-BE49-F238E27FC236}">
                  <a16:creationId xmlns:a16="http://schemas.microsoft.com/office/drawing/2014/main" id="{AD1C859A-61EB-D075-72C5-B70D9A1AC6CB}"/>
                </a:ext>
              </a:extLst>
            </p:cNvPr>
            <p:cNvSpPr>
              <a:spLocks noEditPoints="1"/>
            </p:cNvSpPr>
            <p:nvPr/>
          </p:nvSpPr>
          <p:spPr bwMode="auto">
            <a:xfrm>
              <a:off x="3189" y="1614"/>
              <a:ext cx="323" cy="1108"/>
            </a:xfrm>
            <a:custGeom>
              <a:avLst/>
              <a:gdLst>
                <a:gd name="T0" fmla="*/ 590 w 1619"/>
                <a:gd name="T1" fmla="*/ 5319 h 5537"/>
                <a:gd name="T2" fmla="*/ 355 w 1619"/>
                <a:gd name="T3" fmla="*/ 5039 h 5537"/>
                <a:gd name="T4" fmla="*/ 191 w 1619"/>
                <a:gd name="T5" fmla="*/ 4806 h 5537"/>
                <a:gd name="T6" fmla="*/ 57 w 1619"/>
                <a:gd name="T7" fmla="*/ 4556 h 5537"/>
                <a:gd name="T8" fmla="*/ 13 w 1619"/>
                <a:gd name="T9" fmla="*/ 4294 h 5537"/>
                <a:gd name="T10" fmla="*/ 54 w 1619"/>
                <a:gd name="T11" fmla="*/ 4041 h 5537"/>
                <a:gd name="T12" fmla="*/ 170 w 1619"/>
                <a:gd name="T13" fmla="*/ 3815 h 5537"/>
                <a:gd name="T14" fmla="*/ 351 w 1619"/>
                <a:gd name="T15" fmla="*/ 3637 h 5537"/>
                <a:gd name="T16" fmla="*/ 588 w 1619"/>
                <a:gd name="T17" fmla="*/ 3524 h 5537"/>
                <a:gd name="T18" fmla="*/ 867 w 1619"/>
                <a:gd name="T19" fmla="*/ 3495 h 5537"/>
                <a:gd name="T20" fmla="*/ 1131 w 1619"/>
                <a:gd name="T21" fmla="*/ 3560 h 5537"/>
                <a:gd name="T22" fmla="*/ 1347 w 1619"/>
                <a:gd name="T23" fmla="*/ 3702 h 5537"/>
                <a:gd name="T24" fmla="*/ 1504 w 1619"/>
                <a:gd name="T25" fmla="*/ 3902 h 5537"/>
                <a:gd name="T26" fmla="*/ 1591 w 1619"/>
                <a:gd name="T27" fmla="*/ 4140 h 5537"/>
                <a:gd name="T28" fmla="*/ 1599 w 1619"/>
                <a:gd name="T29" fmla="*/ 4399 h 5537"/>
                <a:gd name="T30" fmla="*/ 1517 w 1619"/>
                <a:gd name="T31" fmla="*/ 4659 h 5537"/>
                <a:gd name="T32" fmla="*/ 1365 w 1619"/>
                <a:gd name="T33" fmla="*/ 4901 h 5537"/>
                <a:gd name="T34" fmla="*/ 1181 w 1619"/>
                <a:gd name="T35" fmla="*/ 5144 h 5537"/>
                <a:gd name="T36" fmla="*/ 921 w 1619"/>
                <a:gd name="T37" fmla="*/ 5430 h 5537"/>
                <a:gd name="T38" fmla="*/ 799 w 1619"/>
                <a:gd name="T39" fmla="*/ 2045 h 5537"/>
                <a:gd name="T40" fmla="*/ 670 w 1619"/>
                <a:gd name="T41" fmla="*/ 2034 h 5537"/>
                <a:gd name="T42" fmla="*/ 546 w 1619"/>
                <a:gd name="T43" fmla="*/ 2003 h 5537"/>
                <a:gd name="T44" fmla="*/ 431 w 1619"/>
                <a:gd name="T45" fmla="*/ 1952 h 5537"/>
                <a:gd name="T46" fmla="*/ 324 w 1619"/>
                <a:gd name="T47" fmla="*/ 1884 h 5537"/>
                <a:gd name="T48" fmla="*/ 230 w 1619"/>
                <a:gd name="T49" fmla="*/ 1798 h 5537"/>
                <a:gd name="T50" fmla="*/ 148 w 1619"/>
                <a:gd name="T51" fmla="*/ 1699 h 5537"/>
                <a:gd name="T52" fmla="*/ 80 w 1619"/>
                <a:gd name="T53" fmla="*/ 1593 h 5537"/>
                <a:gd name="T54" fmla="*/ 35 w 1619"/>
                <a:gd name="T55" fmla="*/ 1489 h 5537"/>
                <a:gd name="T56" fmla="*/ 9 w 1619"/>
                <a:gd name="T57" fmla="*/ 1382 h 5537"/>
                <a:gd name="T58" fmla="*/ 0 w 1619"/>
                <a:gd name="T59" fmla="*/ 1270 h 5537"/>
                <a:gd name="T60" fmla="*/ 6 w 1619"/>
                <a:gd name="T61" fmla="*/ 1156 h 5537"/>
                <a:gd name="T62" fmla="*/ 31 w 1619"/>
                <a:gd name="T63" fmla="*/ 1044 h 5537"/>
                <a:gd name="T64" fmla="*/ 73 w 1619"/>
                <a:gd name="T65" fmla="*/ 932 h 5537"/>
                <a:gd name="T66" fmla="*/ 173 w 1619"/>
                <a:gd name="T67" fmla="*/ 759 h 5537"/>
                <a:gd name="T68" fmla="*/ 351 w 1619"/>
                <a:gd name="T69" fmla="*/ 503 h 5537"/>
                <a:gd name="T70" fmla="*/ 590 w 1619"/>
                <a:gd name="T71" fmla="*/ 218 h 5537"/>
                <a:gd name="T72" fmla="*/ 866 w 1619"/>
                <a:gd name="T73" fmla="*/ 53 h 5537"/>
                <a:gd name="T74" fmla="*/ 1131 w 1619"/>
                <a:gd name="T75" fmla="*/ 334 h 5537"/>
                <a:gd name="T76" fmla="*/ 1341 w 1619"/>
                <a:gd name="T77" fmla="*/ 604 h 5537"/>
                <a:gd name="T78" fmla="*/ 1511 w 1619"/>
                <a:gd name="T79" fmla="*/ 866 h 5537"/>
                <a:gd name="T80" fmla="*/ 1565 w 1619"/>
                <a:gd name="T81" fmla="*/ 976 h 5537"/>
                <a:gd name="T82" fmla="*/ 1600 w 1619"/>
                <a:gd name="T83" fmla="*/ 1089 h 5537"/>
                <a:gd name="T84" fmla="*/ 1618 w 1619"/>
                <a:gd name="T85" fmla="*/ 1203 h 5537"/>
                <a:gd name="T86" fmla="*/ 1618 w 1619"/>
                <a:gd name="T87" fmla="*/ 1316 h 5537"/>
                <a:gd name="T88" fmla="*/ 1601 w 1619"/>
                <a:gd name="T89" fmla="*/ 1425 h 5537"/>
                <a:gd name="T90" fmla="*/ 1569 w 1619"/>
                <a:gd name="T91" fmla="*/ 1531 h 5537"/>
                <a:gd name="T92" fmla="*/ 1512 w 1619"/>
                <a:gd name="T93" fmla="*/ 1635 h 5537"/>
                <a:gd name="T94" fmla="*/ 1440 w 1619"/>
                <a:gd name="T95" fmla="*/ 1742 h 5537"/>
                <a:gd name="T96" fmla="*/ 1352 w 1619"/>
                <a:gd name="T97" fmla="*/ 1836 h 5537"/>
                <a:gd name="T98" fmla="*/ 1253 w 1619"/>
                <a:gd name="T99" fmla="*/ 1913 h 5537"/>
                <a:gd name="T100" fmla="*/ 1143 w 1619"/>
                <a:gd name="T101" fmla="*/ 1975 h 5537"/>
                <a:gd name="T102" fmla="*/ 1024 w 1619"/>
                <a:gd name="T103" fmla="*/ 2018 h 5537"/>
                <a:gd name="T104" fmla="*/ 898 w 1619"/>
                <a:gd name="T105" fmla="*/ 2042 h 5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9" h="5537">
                  <a:moveTo>
                    <a:pt x="809" y="5537"/>
                  </a:moveTo>
                  <a:lnTo>
                    <a:pt x="753" y="5484"/>
                  </a:lnTo>
                  <a:lnTo>
                    <a:pt x="698" y="5430"/>
                  </a:lnTo>
                  <a:lnTo>
                    <a:pt x="643" y="5375"/>
                  </a:lnTo>
                  <a:lnTo>
                    <a:pt x="590" y="5319"/>
                  </a:lnTo>
                  <a:lnTo>
                    <a:pt x="538" y="5262"/>
                  </a:lnTo>
                  <a:lnTo>
                    <a:pt x="487" y="5203"/>
                  </a:lnTo>
                  <a:lnTo>
                    <a:pt x="438" y="5144"/>
                  </a:lnTo>
                  <a:lnTo>
                    <a:pt x="389" y="5084"/>
                  </a:lnTo>
                  <a:lnTo>
                    <a:pt x="355" y="5039"/>
                  </a:lnTo>
                  <a:lnTo>
                    <a:pt x="320" y="4993"/>
                  </a:lnTo>
                  <a:lnTo>
                    <a:pt x="287" y="4947"/>
                  </a:lnTo>
                  <a:lnTo>
                    <a:pt x="254" y="4901"/>
                  </a:lnTo>
                  <a:lnTo>
                    <a:pt x="222" y="4853"/>
                  </a:lnTo>
                  <a:lnTo>
                    <a:pt x="191" y="4806"/>
                  </a:lnTo>
                  <a:lnTo>
                    <a:pt x="160" y="4758"/>
                  </a:lnTo>
                  <a:lnTo>
                    <a:pt x="130" y="4709"/>
                  </a:lnTo>
                  <a:lnTo>
                    <a:pt x="102" y="4659"/>
                  </a:lnTo>
                  <a:lnTo>
                    <a:pt x="78" y="4608"/>
                  </a:lnTo>
                  <a:lnTo>
                    <a:pt x="57" y="4556"/>
                  </a:lnTo>
                  <a:lnTo>
                    <a:pt x="42" y="4504"/>
                  </a:lnTo>
                  <a:lnTo>
                    <a:pt x="28" y="4451"/>
                  </a:lnTo>
                  <a:lnTo>
                    <a:pt x="19" y="4399"/>
                  </a:lnTo>
                  <a:lnTo>
                    <a:pt x="14" y="4347"/>
                  </a:lnTo>
                  <a:lnTo>
                    <a:pt x="13" y="4294"/>
                  </a:lnTo>
                  <a:lnTo>
                    <a:pt x="14" y="4242"/>
                  </a:lnTo>
                  <a:lnTo>
                    <a:pt x="19" y="4191"/>
                  </a:lnTo>
                  <a:lnTo>
                    <a:pt x="27" y="4140"/>
                  </a:lnTo>
                  <a:lnTo>
                    <a:pt x="39" y="4091"/>
                  </a:lnTo>
                  <a:lnTo>
                    <a:pt x="54" y="4041"/>
                  </a:lnTo>
                  <a:lnTo>
                    <a:pt x="71" y="3993"/>
                  </a:lnTo>
                  <a:lnTo>
                    <a:pt x="91" y="3947"/>
                  </a:lnTo>
                  <a:lnTo>
                    <a:pt x="115" y="3902"/>
                  </a:lnTo>
                  <a:lnTo>
                    <a:pt x="141" y="3857"/>
                  </a:lnTo>
                  <a:lnTo>
                    <a:pt x="170" y="3815"/>
                  </a:lnTo>
                  <a:lnTo>
                    <a:pt x="202" y="3776"/>
                  </a:lnTo>
                  <a:lnTo>
                    <a:pt x="235" y="3738"/>
                  </a:lnTo>
                  <a:lnTo>
                    <a:pt x="272" y="3702"/>
                  </a:lnTo>
                  <a:lnTo>
                    <a:pt x="310" y="3668"/>
                  </a:lnTo>
                  <a:lnTo>
                    <a:pt x="351" y="3637"/>
                  </a:lnTo>
                  <a:lnTo>
                    <a:pt x="396" y="3609"/>
                  </a:lnTo>
                  <a:lnTo>
                    <a:pt x="441" y="3582"/>
                  </a:lnTo>
                  <a:lnTo>
                    <a:pt x="487" y="3560"/>
                  </a:lnTo>
                  <a:lnTo>
                    <a:pt x="537" y="3540"/>
                  </a:lnTo>
                  <a:lnTo>
                    <a:pt x="588" y="3524"/>
                  </a:lnTo>
                  <a:lnTo>
                    <a:pt x="641" y="3510"/>
                  </a:lnTo>
                  <a:lnTo>
                    <a:pt x="695" y="3500"/>
                  </a:lnTo>
                  <a:lnTo>
                    <a:pt x="752" y="3495"/>
                  </a:lnTo>
                  <a:lnTo>
                    <a:pt x="809" y="3493"/>
                  </a:lnTo>
                  <a:lnTo>
                    <a:pt x="867" y="3495"/>
                  </a:lnTo>
                  <a:lnTo>
                    <a:pt x="923" y="3500"/>
                  </a:lnTo>
                  <a:lnTo>
                    <a:pt x="977" y="3510"/>
                  </a:lnTo>
                  <a:lnTo>
                    <a:pt x="1031" y="3524"/>
                  </a:lnTo>
                  <a:lnTo>
                    <a:pt x="1081" y="3540"/>
                  </a:lnTo>
                  <a:lnTo>
                    <a:pt x="1131" y="3560"/>
                  </a:lnTo>
                  <a:lnTo>
                    <a:pt x="1179" y="3582"/>
                  </a:lnTo>
                  <a:lnTo>
                    <a:pt x="1224" y="3609"/>
                  </a:lnTo>
                  <a:lnTo>
                    <a:pt x="1267" y="3637"/>
                  </a:lnTo>
                  <a:lnTo>
                    <a:pt x="1308" y="3668"/>
                  </a:lnTo>
                  <a:lnTo>
                    <a:pt x="1347" y="3702"/>
                  </a:lnTo>
                  <a:lnTo>
                    <a:pt x="1383" y="3738"/>
                  </a:lnTo>
                  <a:lnTo>
                    <a:pt x="1418" y="3776"/>
                  </a:lnTo>
                  <a:lnTo>
                    <a:pt x="1449" y="3815"/>
                  </a:lnTo>
                  <a:lnTo>
                    <a:pt x="1477" y="3857"/>
                  </a:lnTo>
                  <a:lnTo>
                    <a:pt x="1504" y="3902"/>
                  </a:lnTo>
                  <a:lnTo>
                    <a:pt x="1527" y="3947"/>
                  </a:lnTo>
                  <a:lnTo>
                    <a:pt x="1548" y="3993"/>
                  </a:lnTo>
                  <a:lnTo>
                    <a:pt x="1566" y="4041"/>
                  </a:lnTo>
                  <a:lnTo>
                    <a:pt x="1580" y="4091"/>
                  </a:lnTo>
                  <a:lnTo>
                    <a:pt x="1591" y="4140"/>
                  </a:lnTo>
                  <a:lnTo>
                    <a:pt x="1600" y="4191"/>
                  </a:lnTo>
                  <a:lnTo>
                    <a:pt x="1605" y="4242"/>
                  </a:lnTo>
                  <a:lnTo>
                    <a:pt x="1607" y="4294"/>
                  </a:lnTo>
                  <a:lnTo>
                    <a:pt x="1605" y="4347"/>
                  </a:lnTo>
                  <a:lnTo>
                    <a:pt x="1599" y="4399"/>
                  </a:lnTo>
                  <a:lnTo>
                    <a:pt x="1590" y="4451"/>
                  </a:lnTo>
                  <a:lnTo>
                    <a:pt x="1578" y="4504"/>
                  </a:lnTo>
                  <a:lnTo>
                    <a:pt x="1562" y="4556"/>
                  </a:lnTo>
                  <a:lnTo>
                    <a:pt x="1542" y="4608"/>
                  </a:lnTo>
                  <a:lnTo>
                    <a:pt x="1517" y="4659"/>
                  </a:lnTo>
                  <a:lnTo>
                    <a:pt x="1489" y="4709"/>
                  </a:lnTo>
                  <a:lnTo>
                    <a:pt x="1459" y="4758"/>
                  </a:lnTo>
                  <a:lnTo>
                    <a:pt x="1428" y="4806"/>
                  </a:lnTo>
                  <a:lnTo>
                    <a:pt x="1397" y="4853"/>
                  </a:lnTo>
                  <a:lnTo>
                    <a:pt x="1365" y="4901"/>
                  </a:lnTo>
                  <a:lnTo>
                    <a:pt x="1333" y="4947"/>
                  </a:lnTo>
                  <a:lnTo>
                    <a:pt x="1298" y="4993"/>
                  </a:lnTo>
                  <a:lnTo>
                    <a:pt x="1264" y="5039"/>
                  </a:lnTo>
                  <a:lnTo>
                    <a:pt x="1230" y="5084"/>
                  </a:lnTo>
                  <a:lnTo>
                    <a:pt x="1181" y="5144"/>
                  </a:lnTo>
                  <a:lnTo>
                    <a:pt x="1131" y="5203"/>
                  </a:lnTo>
                  <a:lnTo>
                    <a:pt x="1080" y="5262"/>
                  </a:lnTo>
                  <a:lnTo>
                    <a:pt x="1028" y="5319"/>
                  </a:lnTo>
                  <a:lnTo>
                    <a:pt x="975" y="5375"/>
                  </a:lnTo>
                  <a:lnTo>
                    <a:pt x="921" y="5430"/>
                  </a:lnTo>
                  <a:lnTo>
                    <a:pt x="866" y="5484"/>
                  </a:lnTo>
                  <a:lnTo>
                    <a:pt x="809" y="5537"/>
                  </a:lnTo>
                  <a:lnTo>
                    <a:pt x="809" y="5537"/>
                  </a:lnTo>
                  <a:close/>
                  <a:moveTo>
                    <a:pt x="820" y="2045"/>
                  </a:moveTo>
                  <a:lnTo>
                    <a:pt x="799" y="2045"/>
                  </a:lnTo>
                  <a:lnTo>
                    <a:pt x="773" y="2045"/>
                  </a:lnTo>
                  <a:lnTo>
                    <a:pt x="746" y="2044"/>
                  </a:lnTo>
                  <a:lnTo>
                    <a:pt x="721" y="2042"/>
                  </a:lnTo>
                  <a:lnTo>
                    <a:pt x="695" y="2038"/>
                  </a:lnTo>
                  <a:lnTo>
                    <a:pt x="670" y="2034"/>
                  </a:lnTo>
                  <a:lnTo>
                    <a:pt x="644" y="2029"/>
                  </a:lnTo>
                  <a:lnTo>
                    <a:pt x="620" y="2024"/>
                  </a:lnTo>
                  <a:lnTo>
                    <a:pt x="595" y="2018"/>
                  </a:lnTo>
                  <a:lnTo>
                    <a:pt x="570" y="2011"/>
                  </a:lnTo>
                  <a:lnTo>
                    <a:pt x="546" y="2003"/>
                  </a:lnTo>
                  <a:lnTo>
                    <a:pt x="523" y="1994"/>
                  </a:lnTo>
                  <a:lnTo>
                    <a:pt x="498" y="1985"/>
                  </a:lnTo>
                  <a:lnTo>
                    <a:pt x="476" y="1975"/>
                  </a:lnTo>
                  <a:lnTo>
                    <a:pt x="453" y="1964"/>
                  </a:lnTo>
                  <a:lnTo>
                    <a:pt x="431" y="1952"/>
                  </a:lnTo>
                  <a:lnTo>
                    <a:pt x="409" y="1940"/>
                  </a:lnTo>
                  <a:lnTo>
                    <a:pt x="387" y="1927"/>
                  </a:lnTo>
                  <a:lnTo>
                    <a:pt x="366" y="1913"/>
                  </a:lnTo>
                  <a:lnTo>
                    <a:pt x="345" y="1899"/>
                  </a:lnTo>
                  <a:lnTo>
                    <a:pt x="324" y="1884"/>
                  </a:lnTo>
                  <a:lnTo>
                    <a:pt x="304" y="1868"/>
                  </a:lnTo>
                  <a:lnTo>
                    <a:pt x="285" y="1852"/>
                  </a:lnTo>
                  <a:lnTo>
                    <a:pt x="265" y="1835"/>
                  </a:lnTo>
                  <a:lnTo>
                    <a:pt x="247" y="1817"/>
                  </a:lnTo>
                  <a:lnTo>
                    <a:pt x="230" y="1798"/>
                  </a:lnTo>
                  <a:lnTo>
                    <a:pt x="212" y="1780"/>
                  </a:lnTo>
                  <a:lnTo>
                    <a:pt x="194" y="1761"/>
                  </a:lnTo>
                  <a:lnTo>
                    <a:pt x="179" y="1741"/>
                  </a:lnTo>
                  <a:lnTo>
                    <a:pt x="162" y="1720"/>
                  </a:lnTo>
                  <a:lnTo>
                    <a:pt x="148" y="1699"/>
                  </a:lnTo>
                  <a:lnTo>
                    <a:pt x="133" y="1678"/>
                  </a:lnTo>
                  <a:lnTo>
                    <a:pt x="119" y="1655"/>
                  </a:lnTo>
                  <a:lnTo>
                    <a:pt x="106" y="1634"/>
                  </a:lnTo>
                  <a:lnTo>
                    <a:pt x="94" y="1614"/>
                  </a:lnTo>
                  <a:lnTo>
                    <a:pt x="80" y="1593"/>
                  </a:lnTo>
                  <a:lnTo>
                    <a:pt x="66" y="1572"/>
                  </a:lnTo>
                  <a:lnTo>
                    <a:pt x="58" y="1552"/>
                  </a:lnTo>
                  <a:lnTo>
                    <a:pt x="49" y="1531"/>
                  </a:lnTo>
                  <a:lnTo>
                    <a:pt x="42" y="1510"/>
                  </a:lnTo>
                  <a:lnTo>
                    <a:pt x="35" y="1489"/>
                  </a:lnTo>
                  <a:lnTo>
                    <a:pt x="28" y="1468"/>
                  </a:lnTo>
                  <a:lnTo>
                    <a:pt x="23" y="1447"/>
                  </a:lnTo>
                  <a:lnTo>
                    <a:pt x="18" y="1425"/>
                  </a:lnTo>
                  <a:lnTo>
                    <a:pt x="13" y="1404"/>
                  </a:lnTo>
                  <a:lnTo>
                    <a:pt x="9" y="1382"/>
                  </a:lnTo>
                  <a:lnTo>
                    <a:pt x="6" y="1360"/>
                  </a:lnTo>
                  <a:lnTo>
                    <a:pt x="4" y="1338"/>
                  </a:lnTo>
                  <a:lnTo>
                    <a:pt x="2" y="1314"/>
                  </a:lnTo>
                  <a:lnTo>
                    <a:pt x="1" y="1292"/>
                  </a:lnTo>
                  <a:lnTo>
                    <a:pt x="0" y="1270"/>
                  </a:lnTo>
                  <a:lnTo>
                    <a:pt x="0" y="1248"/>
                  </a:lnTo>
                  <a:lnTo>
                    <a:pt x="0" y="1225"/>
                  </a:lnTo>
                  <a:lnTo>
                    <a:pt x="2" y="1203"/>
                  </a:lnTo>
                  <a:lnTo>
                    <a:pt x="3" y="1180"/>
                  </a:lnTo>
                  <a:lnTo>
                    <a:pt x="6" y="1156"/>
                  </a:lnTo>
                  <a:lnTo>
                    <a:pt x="9" y="1134"/>
                  </a:lnTo>
                  <a:lnTo>
                    <a:pt x="14" y="1111"/>
                  </a:lnTo>
                  <a:lnTo>
                    <a:pt x="18" y="1089"/>
                  </a:lnTo>
                  <a:lnTo>
                    <a:pt x="24" y="1066"/>
                  </a:lnTo>
                  <a:lnTo>
                    <a:pt x="31" y="1044"/>
                  </a:lnTo>
                  <a:lnTo>
                    <a:pt x="37" y="1020"/>
                  </a:lnTo>
                  <a:lnTo>
                    <a:pt x="45" y="998"/>
                  </a:lnTo>
                  <a:lnTo>
                    <a:pt x="54" y="976"/>
                  </a:lnTo>
                  <a:lnTo>
                    <a:pt x="63" y="954"/>
                  </a:lnTo>
                  <a:lnTo>
                    <a:pt x="73" y="932"/>
                  </a:lnTo>
                  <a:lnTo>
                    <a:pt x="84" y="910"/>
                  </a:lnTo>
                  <a:lnTo>
                    <a:pt x="96" y="888"/>
                  </a:lnTo>
                  <a:lnTo>
                    <a:pt x="108" y="866"/>
                  </a:lnTo>
                  <a:lnTo>
                    <a:pt x="140" y="812"/>
                  </a:lnTo>
                  <a:lnTo>
                    <a:pt x="173" y="759"/>
                  </a:lnTo>
                  <a:lnTo>
                    <a:pt x="208" y="707"/>
                  </a:lnTo>
                  <a:lnTo>
                    <a:pt x="242" y="655"/>
                  </a:lnTo>
                  <a:lnTo>
                    <a:pt x="277" y="604"/>
                  </a:lnTo>
                  <a:lnTo>
                    <a:pt x="314" y="553"/>
                  </a:lnTo>
                  <a:lnTo>
                    <a:pt x="351" y="503"/>
                  </a:lnTo>
                  <a:lnTo>
                    <a:pt x="389" y="454"/>
                  </a:lnTo>
                  <a:lnTo>
                    <a:pt x="438" y="394"/>
                  </a:lnTo>
                  <a:lnTo>
                    <a:pt x="487" y="334"/>
                  </a:lnTo>
                  <a:lnTo>
                    <a:pt x="538" y="276"/>
                  </a:lnTo>
                  <a:lnTo>
                    <a:pt x="590" y="218"/>
                  </a:lnTo>
                  <a:lnTo>
                    <a:pt x="643" y="162"/>
                  </a:lnTo>
                  <a:lnTo>
                    <a:pt x="698" y="108"/>
                  </a:lnTo>
                  <a:lnTo>
                    <a:pt x="753" y="53"/>
                  </a:lnTo>
                  <a:lnTo>
                    <a:pt x="809" y="0"/>
                  </a:lnTo>
                  <a:lnTo>
                    <a:pt x="866" y="53"/>
                  </a:lnTo>
                  <a:lnTo>
                    <a:pt x="921" y="108"/>
                  </a:lnTo>
                  <a:lnTo>
                    <a:pt x="975" y="162"/>
                  </a:lnTo>
                  <a:lnTo>
                    <a:pt x="1028" y="218"/>
                  </a:lnTo>
                  <a:lnTo>
                    <a:pt x="1080" y="276"/>
                  </a:lnTo>
                  <a:lnTo>
                    <a:pt x="1131" y="334"/>
                  </a:lnTo>
                  <a:lnTo>
                    <a:pt x="1181" y="394"/>
                  </a:lnTo>
                  <a:lnTo>
                    <a:pt x="1230" y="454"/>
                  </a:lnTo>
                  <a:lnTo>
                    <a:pt x="1267" y="503"/>
                  </a:lnTo>
                  <a:lnTo>
                    <a:pt x="1305" y="553"/>
                  </a:lnTo>
                  <a:lnTo>
                    <a:pt x="1341" y="604"/>
                  </a:lnTo>
                  <a:lnTo>
                    <a:pt x="1377" y="655"/>
                  </a:lnTo>
                  <a:lnTo>
                    <a:pt x="1412" y="707"/>
                  </a:lnTo>
                  <a:lnTo>
                    <a:pt x="1445" y="760"/>
                  </a:lnTo>
                  <a:lnTo>
                    <a:pt x="1479" y="812"/>
                  </a:lnTo>
                  <a:lnTo>
                    <a:pt x="1511" y="866"/>
                  </a:lnTo>
                  <a:lnTo>
                    <a:pt x="1524" y="888"/>
                  </a:lnTo>
                  <a:lnTo>
                    <a:pt x="1535" y="910"/>
                  </a:lnTo>
                  <a:lnTo>
                    <a:pt x="1546" y="932"/>
                  </a:lnTo>
                  <a:lnTo>
                    <a:pt x="1556" y="954"/>
                  </a:lnTo>
                  <a:lnTo>
                    <a:pt x="1565" y="976"/>
                  </a:lnTo>
                  <a:lnTo>
                    <a:pt x="1574" y="998"/>
                  </a:lnTo>
                  <a:lnTo>
                    <a:pt x="1581" y="1020"/>
                  </a:lnTo>
                  <a:lnTo>
                    <a:pt x="1589" y="1044"/>
                  </a:lnTo>
                  <a:lnTo>
                    <a:pt x="1595" y="1066"/>
                  </a:lnTo>
                  <a:lnTo>
                    <a:pt x="1600" y="1089"/>
                  </a:lnTo>
                  <a:lnTo>
                    <a:pt x="1606" y="1111"/>
                  </a:lnTo>
                  <a:lnTo>
                    <a:pt x="1609" y="1134"/>
                  </a:lnTo>
                  <a:lnTo>
                    <a:pt x="1612" y="1157"/>
                  </a:lnTo>
                  <a:lnTo>
                    <a:pt x="1616" y="1180"/>
                  </a:lnTo>
                  <a:lnTo>
                    <a:pt x="1618" y="1203"/>
                  </a:lnTo>
                  <a:lnTo>
                    <a:pt x="1619" y="1225"/>
                  </a:lnTo>
                  <a:lnTo>
                    <a:pt x="1619" y="1248"/>
                  </a:lnTo>
                  <a:lnTo>
                    <a:pt x="1619" y="1270"/>
                  </a:lnTo>
                  <a:lnTo>
                    <a:pt x="1619" y="1292"/>
                  </a:lnTo>
                  <a:lnTo>
                    <a:pt x="1618" y="1316"/>
                  </a:lnTo>
                  <a:lnTo>
                    <a:pt x="1616" y="1338"/>
                  </a:lnTo>
                  <a:lnTo>
                    <a:pt x="1612" y="1360"/>
                  </a:lnTo>
                  <a:lnTo>
                    <a:pt x="1609" y="1382"/>
                  </a:lnTo>
                  <a:lnTo>
                    <a:pt x="1606" y="1404"/>
                  </a:lnTo>
                  <a:lnTo>
                    <a:pt x="1601" y="1425"/>
                  </a:lnTo>
                  <a:lnTo>
                    <a:pt x="1596" y="1447"/>
                  </a:lnTo>
                  <a:lnTo>
                    <a:pt x="1590" y="1468"/>
                  </a:lnTo>
                  <a:lnTo>
                    <a:pt x="1584" y="1489"/>
                  </a:lnTo>
                  <a:lnTo>
                    <a:pt x="1577" y="1510"/>
                  </a:lnTo>
                  <a:lnTo>
                    <a:pt x="1569" y="1531"/>
                  </a:lnTo>
                  <a:lnTo>
                    <a:pt x="1562" y="1552"/>
                  </a:lnTo>
                  <a:lnTo>
                    <a:pt x="1553" y="1572"/>
                  </a:lnTo>
                  <a:lnTo>
                    <a:pt x="1539" y="1593"/>
                  </a:lnTo>
                  <a:lnTo>
                    <a:pt x="1525" y="1614"/>
                  </a:lnTo>
                  <a:lnTo>
                    <a:pt x="1512" y="1635"/>
                  </a:lnTo>
                  <a:lnTo>
                    <a:pt x="1500" y="1657"/>
                  </a:lnTo>
                  <a:lnTo>
                    <a:pt x="1485" y="1679"/>
                  </a:lnTo>
                  <a:lnTo>
                    <a:pt x="1471" y="1700"/>
                  </a:lnTo>
                  <a:lnTo>
                    <a:pt x="1455" y="1721"/>
                  </a:lnTo>
                  <a:lnTo>
                    <a:pt x="1440" y="1742"/>
                  </a:lnTo>
                  <a:lnTo>
                    <a:pt x="1423" y="1762"/>
                  </a:lnTo>
                  <a:lnTo>
                    <a:pt x="1407" y="1781"/>
                  </a:lnTo>
                  <a:lnTo>
                    <a:pt x="1389" y="1800"/>
                  </a:lnTo>
                  <a:lnTo>
                    <a:pt x="1371" y="1818"/>
                  </a:lnTo>
                  <a:lnTo>
                    <a:pt x="1352" y="1836"/>
                  </a:lnTo>
                  <a:lnTo>
                    <a:pt x="1334" y="1853"/>
                  </a:lnTo>
                  <a:lnTo>
                    <a:pt x="1315" y="1869"/>
                  </a:lnTo>
                  <a:lnTo>
                    <a:pt x="1295" y="1885"/>
                  </a:lnTo>
                  <a:lnTo>
                    <a:pt x="1274" y="1899"/>
                  </a:lnTo>
                  <a:lnTo>
                    <a:pt x="1253" y="1913"/>
                  </a:lnTo>
                  <a:lnTo>
                    <a:pt x="1232" y="1928"/>
                  </a:lnTo>
                  <a:lnTo>
                    <a:pt x="1210" y="1940"/>
                  </a:lnTo>
                  <a:lnTo>
                    <a:pt x="1189" y="1953"/>
                  </a:lnTo>
                  <a:lnTo>
                    <a:pt x="1166" y="1964"/>
                  </a:lnTo>
                  <a:lnTo>
                    <a:pt x="1143" y="1975"/>
                  </a:lnTo>
                  <a:lnTo>
                    <a:pt x="1120" y="1985"/>
                  </a:lnTo>
                  <a:lnTo>
                    <a:pt x="1096" y="1994"/>
                  </a:lnTo>
                  <a:lnTo>
                    <a:pt x="1073" y="2003"/>
                  </a:lnTo>
                  <a:lnTo>
                    <a:pt x="1048" y="2011"/>
                  </a:lnTo>
                  <a:lnTo>
                    <a:pt x="1024" y="2018"/>
                  </a:lnTo>
                  <a:lnTo>
                    <a:pt x="1000" y="2024"/>
                  </a:lnTo>
                  <a:lnTo>
                    <a:pt x="974" y="2029"/>
                  </a:lnTo>
                  <a:lnTo>
                    <a:pt x="949" y="2035"/>
                  </a:lnTo>
                  <a:lnTo>
                    <a:pt x="923" y="2038"/>
                  </a:lnTo>
                  <a:lnTo>
                    <a:pt x="898" y="2042"/>
                  </a:lnTo>
                  <a:lnTo>
                    <a:pt x="872" y="2044"/>
                  </a:lnTo>
                  <a:lnTo>
                    <a:pt x="846" y="2045"/>
                  </a:lnTo>
                  <a:lnTo>
                    <a:pt x="820" y="2045"/>
                  </a:lnTo>
                  <a:close/>
                </a:path>
              </a:pathLst>
            </a:custGeom>
            <a:solidFill>
              <a:srgbClr val="A649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a:extLst>
                <a:ext uri="{FF2B5EF4-FFF2-40B4-BE49-F238E27FC236}">
                  <a16:creationId xmlns:a16="http://schemas.microsoft.com/office/drawing/2014/main" id="{9AFEC9D6-4E51-D6DA-3FFE-6F90C16CF16A}"/>
                </a:ext>
              </a:extLst>
            </p:cNvPr>
            <p:cNvSpPr>
              <a:spLocks noEditPoints="1"/>
            </p:cNvSpPr>
            <p:nvPr/>
          </p:nvSpPr>
          <p:spPr bwMode="auto">
            <a:xfrm>
              <a:off x="4166" y="1606"/>
              <a:ext cx="321" cy="1105"/>
            </a:xfrm>
            <a:custGeom>
              <a:avLst/>
              <a:gdLst>
                <a:gd name="T0" fmla="*/ 640 w 1606"/>
                <a:gd name="T1" fmla="*/ 5364 h 5525"/>
                <a:gd name="T2" fmla="*/ 437 w 1606"/>
                <a:gd name="T3" fmla="*/ 5136 h 5525"/>
                <a:gd name="T4" fmla="*/ 286 w 1606"/>
                <a:gd name="T5" fmla="*/ 4940 h 5525"/>
                <a:gd name="T6" fmla="*/ 160 w 1606"/>
                <a:gd name="T7" fmla="*/ 4750 h 5525"/>
                <a:gd name="T8" fmla="*/ 60 w 1606"/>
                <a:gd name="T9" fmla="*/ 4554 h 5525"/>
                <a:gd name="T10" fmla="*/ 15 w 1606"/>
                <a:gd name="T11" fmla="*/ 4352 h 5525"/>
                <a:gd name="T12" fmla="*/ 24 w 1606"/>
                <a:gd name="T13" fmla="*/ 4153 h 5525"/>
                <a:gd name="T14" fmla="*/ 81 w 1606"/>
                <a:gd name="T15" fmla="*/ 3964 h 5525"/>
                <a:gd name="T16" fmla="*/ 180 w 1606"/>
                <a:gd name="T17" fmla="*/ 3795 h 5525"/>
                <a:gd name="T18" fmla="*/ 319 w 1606"/>
                <a:gd name="T19" fmla="*/ 3655 h 5525"/>
                <a:gd name="T20" fmla="*/ 490 w 1606"/>
                <a:gd name="T21" fmla="*/ 3552 h 5525"/>
                <a:gd name="T22" fmla="*/ 690 w 1606"/>
                <a:gd name="T23" fmla="*/ 3494 h 5525"/>
                <a:gd name="T24" fmla="*/ 781 w 1606"/>
                <a:gd name="T25" fmla="*/ 3487 h 5525"/>
                <a:gd name="T26" fmla="*/ 962 w 1606"/>
                <a:gd name="T27" fmla="*/ 3503 h 5525"/>
                <a:gd name="T28" fmla="*/ 1164 w 1606"/>
                <a:gd name="T29" fmla="*/ 3575 h 5525"/>
                <a:gd name="T30" fmla="*/ 1333 w 1606"/>
                <a:gd name="T31" fmla="*/ 3694 h 5525"/>
                <a:gd name="T32" fmla="*/ 1463 w 1606"/>
                <a:gd name="T33" fmla="*/ 3850 h 5525"/>
                <a:gd name="T34" fmla="*/ 1552 w 1606"/>
                <a:gd name="T35" fmla="*/ 4034 h 5525"/>
                <a:gd name="T36" fmla="*/ 1592 w 1606"/>
                <a:gd name="T37" fmla="*/ 4236 h 5525"/>
                <a:gd name="T38" fmla="*/ 1577 w 1606"/>
                <a:gd name="T39" fmla="*/ 4445 h 5525"/>
                <a:gd name="T40" fmla="*/ 1504 w 1606"/>
                <a:gd name="T41" fmla="*/ 4653 h 5525"/>
                <a:gd name="T42" fmla="*/ 1384 w 1606"/>
                <a:gd name="T43" fmla="*/ 4847 h 5525"/>
                <a:gd name="T44" fmla="*/ 1251 w 1606"/>
                <a:gd name="T45" fmla="*/ 5033 h 5525"/>
                <a:gd name="T46" fmla="*/ 1071 w 1606"/>
                <a:gd name="T47" fmla="*/ 5253 h 5525"/>
                <a:gd name="T48" fmla="*/ 859 w 1606"/>
                <a:gd name="T49" fmla="*/ 5473 h 5525"/>
                <a:gd name="T50" fmla="*/ 733 w 1606"/>
                <a:gd name="T51" fmla="*/ 2036 h 5525"/>
                <a:gd name="T52" fmla="*/ 524 w 1606"/>
                <a:gd name="T53" fmla="*/ 1993 h 5525"/>
                <a:gd name="T54" fmla="*/ 342 w 1606"/>
                <a:gd name="T55" fmla="*/ 1900 h 5525"/>
                <a:gd name="T56" fmla="*/ 192 w 1606"/>
                <a:gd name="T57" fmla="*/ 1766 h 5525"/>
                <a:gd name="T58" fmla="*/ 83 w 1606"/>
                <a:gd name="T59" fmla="*/ 1600 h 5525"/>
                <a:gd name="T60" fmla="*/ 17 w 1606"/>
                <a:gd name="T61" fmla="*/ 1412 h 5525"/>
                <a:gd name="T62" fmla="*/ 0 w 1606"/>
                <a:gd name="T63" fmla="*/ 1212 h 5525"/>
                <a:gd name="T64" fmla="*/ 39 w 1606"/>
                <a:gd name="T65" fmla="*/ 1008 h 5525"/>
                <a:gd name="T66" fmla="*/ 140 w 1606"/>
                <a:gd name="T67" fmla="*/ 804 h 5525"/>
                <a:gd name="T68" fmla="*/ 278 w 1606"/>
                <a:gd name="T69" fmla="*/ 597 h 5525"/>
                <a:gd name="T70" fmla="*/ 437 w 1606"/>
                <a:gd name="T71" fmla="*/ 387 h 5525"/>
                <a:gd name="T72" fmla="*/ 639 w 1606"/>
                <a:gd name="T73" fmla="*/ 159 h 5525"/>
                <a:gd name="T74" fmla="*/ 858 w 1606"/>
                <a:gd name="T75" fmla="*/ 52 h 5525"/>
                <a:gd name="T76" fmla="*/ 1070 w 1606"/>
                <a:gd name="T77" fmla="*/ 272 h 5525"/>
                <a:gd name="T78" fmla="*/ 1254 w 1606"/>
                <a:gd name="T79" fmla="*/ 497 h 5525"/>
                <a:gd name="T80" fmla="*/ 1399 w 1606"/>
                <a:gd name="T81" fmla="*/ 701 h 5525"/>
                <a:gd name="T82" fmla="*/ 1514 w 1606"/>
                <a:gd name="T83" fmla="*/ 888 h 5525"/>
                <a:gd name="T84" fmla="*/ 1565 w 1606"/>
                <a:gd name="T85" fmla="*/ 1003 h 5525"/>
                <a:gd name="T86" fmla="*/ 1595 w 1606"/>
                <a:gd name="T87" fmla="*/ 1122 h 5525"/>
                <a:gd name="T88" fmla="*/ 1606 w 1606"/>
                <a:gd name="T89" fmla="*/ 1239 h 5525"/>
                <a:gd name="T90" fmla="*/ 1600 w 1606"/>
                <a:gd name="T91" fmla="*/ 1356 h 5525"/>
                <a:gd name="T92" fmla="*/ 1575 w 1606"/>
                <a:gd name="T93" fmla="*/ 1469 h 5525"/>
                <a:gd name="T94" fmla="*/ 1535 w 1606"/>
                <a:gd name="T95" fmla="*/ 1576 h 5525"/>
                <a:gd name="T96" fmla="*/ 1480 w 1606"/>
                <a:gd name="T97" fmla="*/ 1678 h 5525"/>
                <a:gd name="T98" fmla="*/ 1416 w 1606"/>
                <a:gd name="T99" fmla="*/ 1764 h 5525"/>
                <a:gd name="T100" fmla="*/ 1354 w 1606"/>
                <a:gd name="T101" fmla="*/ 1827 h 5525"/>
                <a:gd name="T102" fmla="*/ 1288 w 1606"/>
                <a:gd name="T103" fmla="*/ 1882 h 5525"/>
                <a:gd name="T104" fmla="*/ 1216 w 1606"/>
                <a:gd name="T105" fmla="*/ 1930 h 5525"/>
                <a:gd name="T106" fmla="*/ 1139 w 1606"/>
                <a:gd name="T107" fmla="*/ 1969 h 5525"/>
                <a:gd name="T108" fmla="*/ 1057 w 1606"/>
                <a:gd name="T109" fmla="*/ 2000 h 5525"/>
                <a:gd name="T110" fmla="*/ 973 w 1606"/>
                <a:gd name="T111" fmla="*/ 2022 h 5525"/>
                <a:gd name="T112" fmla="*/ 887 w 1606"/>
                <a:gd name="T113" fmla="*/ 2034 h 5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06" h="5525">
                  <a:moveTo>
                    <a:pt x="804" y="5525"/>
                  </a:moveTo>
                  <a:lnTo>
                    <a:pt x="748" y="5473"/>
                  </a:lnTo>
                  <a:lnTo>
                    <a:pt x="694" y="5418"/>
                  </a:lnTo>
                  <a:lnTo>
                    <a:pt x="640" y="5364"/>
                  </a:lnTo>
                  <a:lnTo>
                    <a:pt x="587" y="5309"/>
                  </a:lnTo>
                  <a:lnTo>
                    <a:pt x="536" y="5253"/>
                  </a:lnTo>
                  <a:lnTo>
                    <a:pt x="486" y="5195"/>
                  </a:lnTo>
                  <a:lnTo>
                    <a:pt x="437" y="5136"/>
                  </a:lnTo>
                  <a:lnTo>
                    <a:pt x="389" y="5077"/>
                  </a:lnTo>
                  <a:lnTo>
                    <a:pt x="355" y="5032"/>
                  </a:lnTo>
                  <a:lnTo>
                    <a:pt x="321" y="4986"/>
                  </a:lnTo>
                  <a:lnTo>
                    <a:pt x="286" y="4940"/>
                  </a:lnTo>
                  <a:lnTo>
                    <a:pt x="254" y="4893"/>
                  </a:lnTo>
                  <a:lnTo>
                    <a:pt x="222" y="4846"/>
                  </a:lnTo>
                  <a:lnTo>
                    <a:pt x="191" y="4798"/>
                  </a:lnTo>
                  <a:lnTo>
                    <a:pt x="160" y="4750"/>
                  </a:lnTo>
                  <a:lnTo>
                    <a:pt x="130" y="4701"/>
                  </a:lnTo>
                  <a:lnTo>
                    <a:pt x="103" y="4653"/>
                  </a:lnTo>
                  <a:lnTo>
                    <a:pt x="80" y="4604"/>
                  </a:lnTo>
                  <a:lnTo>
                    <a:pt x="60" y="4554"/>
                  </a:lnTo>
                  <a:lnTo>
                    <a:pt x="43" y="4503"/>
                  </a:lnTo>
                  <a:lnTo>
                    <a:pt x="31" y="4454"/>
                  </a:lnTo>
                  <a:lnTo>
                    <a:pt x="21" y="4403"/>
                  </a:lnTo>
                  <a:lnTo>
                    <a:pt x="15" y="4352"/>
                  </a:lnTo>
                  <a:lnTo>
                    <a:pt x="12" y="4301"/>
                  </a:lnTo>
                  <a:lnTo>
                    <a:pt x="13" y="4251"/>
                  </a:lnTo>
                  <a:lnTo>
                    <a:pt x="17" y="4202"/>
                  </a:lnTo>
                  <a:lnTo>
                    <a:pt x="24" y="4153"/>
                  </a:lnTo>
                  <a:lnTo>
                    <a:pt x="33" y="4104"/>
                  </a:lnTo>
                  <a:lnTo>
                    <a:pt x="46" y="4056"/>
                  </a:lnTo>
                  <a:lnTo>
                    <a:pt x="62" y="4009"/>
                  </a:lnTo>
                  <a:lnTo>
                    <a:pt x="81" y="3964"/>
                  </a:lnTo>
                  <a:lnTo>
                    <a:pt x="102" y="3920"/>
                  </a:lnTo>
                  <a:lnTo>
                    <a:pt x="125" y="3877"/>
                  </a:lnTo>
                  <a:lnTo>
                    <a:pt x="151" y="3835"/>
                  </a:lnTo>
                  <a:lnTo>
                    <a:pt x="180" y="3795"/>
                  </a:lnTo>
                  <a:lnTo>
                    <a:pt x="211" y="3757"/>
                  </a:lnTo>
                  <a:lnTo>
                    <a:pt x="244" y="3721"/>
                  </a:lnTo>
                  <a:lnTo>
                    <a:pt x="281" y="3687"/>
                  </a:lnTo>
                  <a:lnTo>
                    <a:pt x="319" y="3655"/>
                  </a:lnTo>
                  <a:lnTo>
                    <a:pt x="358" y="3625"/>
                  </a:lnTo>
                  <a:lnTo>
                    <a:pt x="400" y="3598"/>
                  </a:lnTo>
                  <a:lnTo>
                    <a:pt x="445" y="3573"/>
                  </a:lnTo>
                  <a:lnTo>
                    <a:pt x="490" y="3552"/>
                  </a:lnTo>
                  <a:lnTo>
                    <a:pt x="538" y="3532"/>
                  </a:lnTo>
                  <a:lnTo>
                    <a:pt x="587" y="3516"/>
                  </a:lnTo>
                  <a:lnTo>
                    <a:pt x="638" y="3503"/>
                  </a:lnTo>
                  <a:lnTo>
                    <a:pt x="690" y="3494"/>
                  </a:lnTo>
                  <a:lnTo>
                    <a:pt x="744" y="3488"/>
                  </a:lnTo>
                  <a:lnTo>
                    <a:pt x="757" y="3487"/>
                  </a:lnTo>
                  <a:lnTo>
                    <a:pt x="769" y="3487"/>
                  </a:lnTo>
                  <a:lnTo>
                    <a:pt x="781" y="3487"/>
                  </a:lnTo>
                  <a:lnTo>
                    <a:pt x="793" y="3487"/>
                  </a:lnTo>
                  <a:lnTo>
                    <a:pt x="851" y="3488"/>
                  </a:lnTo>
                  <a:lnTo>
                    <a:pt x="907" y="3494"/>
                  </a:lnTo>
                  <a:lnTo>
                    <a:pt x="962" y="3503"/>
                  </a:lnTo>
                  <a:lnTo>
                    <a:pt x="1015" y="3516"/>
                  </a:lnTo>
                  <a:lnTo>
                    <a:pt x="1066" y="3533"/>
                  </a:lnTo>
                  <a:lnTo>
                    <a:pt x="1116" y="3553"/>
                  </a:lnTo>
                  <a:lnTo>
                    <a:pt x="1164" y="3575"/>
                  </a:lnTo>
                  <a:lnTo>
                    <a:pt x="1209" y="3602"/>
                  </a:lnTo>
                  <a:lnTo>
                    <a:pt x="1252" y="3629"/>
                  </a:lnTo>
                  <a:lnTo>
                    <a:pt x="1294" y="3661"/>
                  </a:lnTo>
                  <a:lnTo>
                    <a:pt x="1333" y="3694"/>
                  </a:lnTo>
                  <a:lnTo>
                    <a:pt x="1369" y="3731"/>
                  </a:lnTo>
                  <a:lnTo>
                    <a:pt x="1404" y="3768"/>
                  </a:lnTo>
                  <a:lnTo>
                    <a:pt x="1435" y="3808"/>
                  </a:lnTo>
                  <a:lnTo>
                    <a:pt x="1463" y="3850"/>
                  </a:lnTo>
                  <a:lnTo>
                    <a:pt x="1490" y="3894"/>
                  </a:lnTo>
                  <a:lnTo>
                    <a:pt x="1514" y="3940"/>
                  </a:lnTo>
                  <a:lnTo>
                    <a:pt x="1534" y="3986"/>
                  </a:lnTo>
                  <a:lnTo>
                    <a:pt x="1552" y="4034"/>
                  </a:lnTo>
                  <a:lnTo>
                    <a:pt x="1567" y="4083"/>
                  </a:lnTo>
                  <a:lnTo>
                    <a:pt x="1579" y="4133"/>
                  </a:lnTo>
                  <a:lnTo>
                    <a:pt x="1587" y="4184"/>
                  </a:lnTo>
                  <a:lnTo>
                    <a:pt x="1592" y="4236"/>
                  </a:lnTo>
                  <a:lnTo>
                    <a:pt x="1594" y="4288"/>
                  </a:lnTo>
                  <a:lnTo>
                    <a:pt x="1592" y="4340"/>
                  </a:lnTo>
                  <a:lnTo>
                    <a:pt x="1586" y="4393"/>
                  </a:lnTo>
                  <a:lnTo>
                    <a:pt x="1577" y="4445"/>
                  </a:lnTo>
                  <a:lnTo>
                    <a:pt x="1565" y="4498"/>
                  </a:lnTo>
                  <a:lnTo>
                    <a:pt x="1549" y="4550"/>
                  </a:lnTo>
                  <a:lnTo>
                    <a:pt x="1529" y="4602"/>
                  </a:lnTo>
                  <a:lnTo>
                    <a:pt x="1504" y="4653"/>
                  </a:lnTo>
                  <a:lnTo>
                    <a:pt x="1476" y="4703"/>
                  </a:lnTo>
                  <a:lnTo>
                    <a:pt x="1446" y="4752"/>
                  </a:lnTo>
                  <a:lnTo>
                    <a:pt x="1415" y="4800"/>
                  </a:lnTo>
                  <a:lnTo>
                    <a:pt x="1384" y="4847"/>
                  </a:lnTo>
                  <a:lnTo>
                    <a:pt x="1352" y="4895"/>
                  </a:lnTo>
                  <a:lnTo>
                    <a:pt x="1319" y="4941"/>
                  </a:lnTo>
                  <a:lnTo>
                    <a:pt x="1285" y="4987"/>
                  </a:lnTo>
                  <a:lnTo>
                    <a:pt x="1251" y="5033"/>
                  </a:lnTo>
                  <a:lnTo>
                    <a:pt x="1217" y="5078"/>
                  </a:lnTo>
                  <a:lnTo>
                    <a:pt x="1169" y="5137"/>
                  </a:lnTo>
                  <a:lnTo>
                    <a:pt x="1121" y="5195"/>
                  </a:lnTo>
                  <a:lnTo>
                    <a:pt x="1071" y="5253"/>
                  </a:lnTo>
                  <a:lnTo>
                    <a:pt x="1019" y="5309"/>
                  </a:lnTo>
                  <a:lnTo>
                    <a:pt x="967" y="5365"/>
                  </a:lnTo>
                  <a:lnTo>
                    <a:pt x="914" y="5420"/>
                  </a:lnTo>
                  <a:lnTo>
                    <a:pt x="859" y="5473"/>
                  </a:lnTo>
                  <a:lnTo>
                    <a:pt x="804" y="5525"/>
                  </a:lnTo>
                  <a:close/>
                  <a:moveTo>
                    <a:pt x="820" y="2038"/>
                  </a:moveTo>
                  <a:lnTo>
                    <a:pt x="790" y="2038"/>
                  </a:lnTo>
                  <a:lnTo>
                    <a:pt x="733" y="2036"/>
                  </a:lnTo>
                  <a:lnTo>
                    <a:pt x="679" y="2030"/>
                  </a:lnTo>
                  <a:lnTo>
                    <a:pt x="626" y="2021"/>
                  </a:lnTo>
                  <a:lnTo>
                    <a:pt x="574" y="2009"/>
                  </a:lnTo>
                  <a:lnTo>
                    <a:pt x="524" y="1993"/>
                  </a:lnTo>
                  <a:lnTo>
                    <a:pt x="476" y="1974"/>
                  </a:lnTo>
                  <a:lnTo>
                    <a:pt x="429" y="1952"/>
                  </a:lnTo>
                  <a:lnTo>
                    <a:pt x="384" y="1927"/>
                  </a:lnTo>
                  <a:lnTo>
                    <a:pt x="342" y="1900"/>
                  </a:lnTo>
                  <a:lnTo>
                    <a:pt x="301" y="1870"/>
                  </a:lnTo>
                  <a:lnTo>
                    <a:pt x="263" y="1837"/>
                  </a:lnTo>
                  <a:lnTo>
                    <a:pt x="227" y="1802"/>
                  </a:lnTo>
                  <a:lnTo>
                    <a:pt x="192" y="1766"/>
                  </a:lnTo>
                  <a:lnTo>
                    <a:pt x="161" y="1726"/>
                  </a:lnTo>
                  <a:lnTo>
                    <a:pt x="133" y="1686"/>
                  </a:lnTo>
                  <a:lnTo>
                    <a:pt x="106" y="1643"/>
                  </a:lnTo>
                  <a:lnTo>
                    <a:pt x="83" y="1600"/>
                  </a:lnTo>
                  <a:lnTo>
                    <a:pt x="62" y="1555"/>
                  </a:lnTo>
                  <a:lnTo>
                    <a:pt x="44" y="1508"/>
                  </a:lnTo>
                  <a:lnTo>
                    <a:pt x="29" y="1461"/>
                  </a:lnTo>
                  <a:lnTo>
                    <a:pt x="17" y="1412"/>
                  </a:lnTo>
                  <a:lnTo>
                    <a:pt x="8" y="1363"/>
                  </a:lnTo>
                  <a:lnTo>
                    <a:pt x="2" y="1313"/>
                  </a:lnTo>
                  <a:lnTo>
                    <a:pt x="0" y="1263"/>
                  </a:lnTo>
                  <a:lnTo>
                    <a:pt x="0" y="1212"/>
                  </a:lnTo>
                  <a:lnTo>
                    <a:pt x="4" y="1161"/>
                  </a:lnTo>
                  <a:lnTo>
                    <a:pt x="12" y="1109"/>
                  </a:lnTo>
                  <a:lnTo>
                    <a:pt x="24" y="1059"/>
                  </a:lnTo>
                  <a:lnTo>
                    <a:pt x="39" y="1008"/>
                  </a:lnTo>
                  <a:lnTo>
                    <a:pt x="59" y="958"/>
                  </a:lnTo>
                  <a:lnTo>
                    <a:pt x="81" y="908"/>
                  </a:lnTo>
                  <a:lnTo>
                    <a:pt x="108" y="859"/>
                  </a:lnTo>
                  <a:lnTo>
                    <a:pt x="140" y="804"/>
                  </a:lnTo>
                  <a:lnTo>
                    <a:pt x="174" y="751"/>
                  </a:lnTo>
                  <a:lnTo>
                    <a:pt x="207" y="699"/>
                  </a:lnTo>
                  <a:lnTo>
                    <a:pt x="242" y="648"/>
                  </a:lnTo>
                  <a:lnTo>
                    <a:pt x="278" y="597"/>
                  </a:lnTo>
                  <a:lnTo>
                    <a:pt x="314" y="546"/>
                  </a:lnTo>
                  <a:lnTo>
                    <a:pt x="352" y="496"/>
                  </a:lnTo>
                  <a:lnTo>
                    <a:pt x="389" y="446"/>
                  </a:lnTo>
                  <a:lnTo>
                    <a:pt x="437" y="387"/>
                  </a:lnTo>
                  <a:lnTo>
                    <a:pt x="486" y="328"/>
                  </a:lnTo>
                  <a:lnTo>
                    <a:pt x="535" y="271"/>
                  </a:lnTo>
                  <a:lnTo>
                    <a:pt x="587" y="214"/>
                  </a:lnTo>
                  <a:lnTo>
                    <a:pt x="639" y="159"/>
                  </a:lnTo>
                  <a:lnTo>
                    <a:pt x="692" y="105"/>
                  </a:lnTo>
                  <a:lnTo>
                    <a:pt x="747" y="52"/>
                  </a:lnTo>
                  <a:lnTo>
                    <a:pt x="802" y="0"/>
                  </a:lnTo>
                  <a:lnTo>
                    <a:pt x="858" y="52"/>
                  </a:lnTo>
                  <a:lnTo>
                    <a:pt x="913" y="105"/>
                  </a:lnTo>
                  <a:lnTo>
                    <a:pt x="966" y="160"/>
                  </a:lnTo>
                  <a:lnTo>
                    <a:pt x="1019" y="215"/>
                  </a:lnTo>
                  <a:lnTo>
                    <a:pt x="1070" y="272"/>
                  </a:lnTo>
                  <a:lnTo>
                    <a:pt x="1119" y="329"/>
                  </a:lnTo>
                  <a:lnTo>
                    <a:pt x="1169" y="388"/>
                  </a:lnTo>
                  <a:lnTo>
                    <a:pt x="1217" y="448"/>
                  </a:lnTo>
                  <a:lnTo>
                    <a:pt x="1254" y="497"/>
                  </a:lnTo>
                  <a:lnTo>
                    <a:pt x="1292" y="547"/>
                  </a:lnTo>
                  <a:lnTo>
                    <a:pt x="1329" y="598"/>
                  </a:lnTo>
                  <a:lnTo>
                    <a:pt x="1364" y="649"/>
                  </a:lnTo>
                  <a:lnTo>
                    <a:pt x="1399" y="701"/>
                  </a:lnTo>
                  <a:lnTo>
                    <a:pt x="1433" y="754"/>
                  </a:lnTo>
                  <a:lnTo>
                    <a:pt x="1466" y="807"/>
                  </a:lnTo>
                  <a:lnTo>
                    <a:pt x="1498" y="860"/>
                  </a:lnTo>
                  <a:lnTo>
                    <a:pt x="1514" y="888"/>
                  </a:lnTo>
                  <a:lnTo>
                    <a:pt x="1529" y="917"/>
                  </a:lnTo>
                  <a:lnTo>
                    <a:pt x="1542" y="946"/>
                  </a:lnTo>
                  <a:lnTo>
                    <a:pt x="1554" y="975"/>
                  </a:lnTo>
                  <a:lnTo>
                    <a:pt x="1565" y="1003"/>
                  </a:lnTo>
                  <a:lnTo>
                    <a:pt x="1574" y="1033"/>
                  </a:lnTo>
                  <a:lnTo>
                    <a:pt x="1583" y="1062"/>
                  </a:lnTo>
                  <a:lnTo>
                    <a:pt x="1590" y="1092"/>
                  </a:lnTo>
                  <a:lnTo>
                    <a:pt x="1595" y="1122"/>
                  </a:lnTo>
                  <a:lnTo>
                    <a:pt x="1600" y="1150"/>
                  </a:lnTo>
                  <a:lnTo>
                    <a:pt x="1603" y="1180"/>
                  </a:lnTo>
                  <a:lnTo>
                    <a:pt x="1605" y="1210"/>
                  </a:lnTo>
                  <a:lnTo>
                    <a:pt x="1606" y="1239"/>
                  </a:lnTo>
                  <a:lnTo>
                    <a:pt x="1606" y="1269"/>
                  </a:lnTo>
                  <a:lnTo>
                    <a:pt x="1605" y="1297"/>
                  </a:lnTo>
                  <a:lnTo>
                    <a:pt x="1603" y="1327"/>
                  </a:lnTo>
                  <a:lnTo>
                    <a:pt x="1600" y="1356"/>
                  </a:lnTo>
                  <a:lnTo>
                    <a:pt x="1595" y="1384"/>
                  </a:lnTo>
                  <a:lnTo>
                    <a:pt x="1590" y="1412"/>
                  </a:lnTo>
                  <a:lnTo>
                    <a:pt x="1583" y="1441"/>
                  </a:lnTo>
                  <a:lnTo>
                    <a:pt x="1575" y="1469"/>
                  </a:lnTo>
                  <a:lnTo>
                    <a:pt x="1567" y="1496"/>
                  </a:lnTo>
                  <a:lnTo>
                    <a:pt x="1558" y="1523"/>
                  </a:lnTo>
                  <a:lnTo>
                    <a:pt x="1546" y="1549"/>
                  </a:lnTo>
                  <a:lnTo>
                    <a:pt x="1535" y="1576"/>
                  </a:lnTo>
                  <a:lnTo>
                    <a:pt x="1523" y="1602"/>
                  </a:lnTo>
                  <a:lnTo>
                    <a:pt x="1510" y="1628"/>
                  </a:lnTo>
                  <a:lnTo>
                    <a:pt x="1496" y="1652"/>
                  </a:lnTo>
                  <a:lnTo>
                    <a:pt x="1480" y="1678"/>
                  </a:lnTo>
                  <a:lnTo>
                    <a:pt x="1465" y="1701"/>
                  </a:lnTo>
                  <a:lnTo>
                    <a:pt x="1447" y="1724"/>
                  </a:lnTo>
                  <a:lnTo>
                    <a:pt x="1429" y="1747"/>
                  </a:lnTo>
                  <a:lnTo>
                    <a:pt x="1416" y="1764"/>
                  </a:lnTo>
                  <a:lnTo>
                    <a:pt x="1400" y="1780"/>
                  </a:lnTo>
                  <a:lnTo>
                    <a:pt x="1386" y="1796"/>
                  </a:lnTo>
                  <a:lnTo>
                    <a:pt x="1371" y="1811"/>
                  </a:lnTo>
                  <a:lnTo>
                    <a:pt x="1354" y="1827"/>
                  </a:lnTo>
                  <a:lnTo>
                    <a:pt x="1338" y="1841"/>
                  </a:lnTo>
                  <a:lnTo>
                    <a:pt x="1322" y="1855"/>
                  </a:lnTo>
                  <a:lnTo>
                    <a:pt x="1305" y="1869"/>
                  </a:lnTo>
                  <a:lnTo>
                    <a:pt x="1288" y="1882"/>
                  </a:lnTo>
                  <a:lnTo>
                    <a:pt x="1270" y="1895"/>
                  </a:lnTo>
                  <a:lnTo>
                    <a:pt x="1252" y="1907"/>
                  </a:lnTo>
                  <a:lnTo>
                    <a:pt x="1234" y="1918"/>
                  </a:lnTo>
                  <a:lnTo>
                    <a:pt x="1216" y="1930"/>
                  </a:lnTo>
                  <a:lnTo>
                    <a:pt x="1197" y="1941"/>
                  </a:lnTo>
                  <a:lnTo>
                    <a:pt x="1178" y="1951"/>
                  </a:lnTo>
                  <a:lnTo>
                    <a:pt x="1158" y="1960"/>
                  </a:lnTo>
                  <a:lnTo>
                    <a:pt x="1139" y="1969"/>
                  </a:lnTo>
                  <a:lnTo>
                    <a:pt x="1119" y="1978"/>
                  </a:lnTo>
                  <a:lnTo>
                    <a:pt x="1098" y="1986"/>
                  </a:lnTo>
                  <a:lnTo>
                    <a:pt x="1079" y="1994"/>
                  </a:lnTo>
                  <a:lnTo>
                    <a:pt x="1057" y="2000"/>
                  </a:lnTo>
                  <a:lnTo>
                    <a:pt x="1038" y="2007"/>
                  </a:lnTo>
                  <a:lnTo>
                    <a:pt x="1017" y="2012"/>
                  </a:lnTo>
                  <a:lnTo>
                    <a:pt x="996" y="2018"/>
                  </a:lnTo>
                  <a:lnTo>
                    <a:pt x="973" y="2022"/>
                  </a:lnTo>
                  <a:lnTo>
                    <a:pt x="952" y="2027"/>
                  </a:lnTo>
                  <a:lnTo>
                    <a:pt x="930" y="2030"/>
                  </a:lnTo>
                  <a:lnTo>
                    <a:pt x="909" y="2032"/>
                  </a:lnTo>
                  <a:lnTo>
                    <a:pt x="887" y="2034"/>
                  </a:lnTo>
                  <a:lnTo>
                    <a:pt x="865" y="2037"/>
                  </a:lnTo>
                  <a:lnTo>
                    <a:pt x="843" y="2038"/>
                  </a:lnTo>
                  <a:lnTo>
                    <a:pt x="820" y="2038"/>
                  </a:lnTo>
                  <a:close/>
                </a:path>
              </a:pathLst>
            </a:custGeom>
            <a:solidFill>
              <a:srgbClr val="A649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5">
              <a:extLst>
                <a:ext uri="{FF2B5EF4-FFF2-40B4-BE49-F238E27FC236}">
                  <a16:creationId xmlns:a16="http://schemas.microsoft.com/office/drawing/2014/main" id="{9F725185-DFE4-BFBC-5E4D-9B75F68F0CE5}"/>
                </a:ext>
              </a:extLst>
            </p:cNvPr>
            <p:cNvSpPr>
              <a:spLocks noEditPoints="1"/>
            </p:cNvSpPr>
            <p:nvPr/>
          </p:nvSpPr>
          <p:spPr bwMode="auto">
            <a:xfrm>
              <a:off x="2106" y="1416"/>
              <a:ext cx="1409" cy="1503"/>
            </a:xfrm>
            <a:custGeom>
              <a:avLst/>
              <a:gdLst>
                <a:gd name="T0" fmla="*/ 2440 w 7046"/>
                <a:gd name="T1" fmla="*/ 7277 h 7515"/>
                <a:gd name="T2" fmla="*/ 1186 w 7046"/>
                <a:gd name="T3" fmla="*/ 6494 h 7515"/>
                <a:gd name="T4" fmla="*/ 329 w 7046"/>
                <a:gd name="T5" fmla="*/ 5294 h 7515"/>
                <a:gd name="T6" fmla="*/ 0 w 7046"/>
                <a:gd name="T7" fmla="*/ 3808 h 7515"/>
                <a:gd name="T8" fmla="*/ 261 w 7046"/>
                <a:gd name="T9" fmla="*/ 2385 h 7515"/>
                <a:gd name="T10" fmla="*/ 999 w 7046"/>
                <a:gd name="T11" fmla="*/ 1213 h 7515"/>
                <a:gd name="T12" fmla="*/ 2105 w 7046"/>
                <a:gd name="T13" fmla="*/ 386 h 7515"/>
                <a:gd name="T14" fmla="*/ 3470 w 7046"/>
                <a:gd name="T15" fmla="*/ 11 h 7515"/>
                <a:gd name="T16" fmla="*/ 4034 w 7046"/>
                <a:gd name="T17" fmla="*/ 10 h 7515"/>
                <a:gd name="T18" fmla="*/ 4735 w 7046"/>
                <a:gd name="T19" fmla="*/ 127 h 7515"/>
                <a:gd name="T20" fmla="*/ 5385 w 7046"/>
                <a:gd name="T21" fmla="*/ 368 h 7515"/>
                <a:gd name="T22" fmla="*/ 5973 w 7046"/>
                <a:gd name="T23" fmla="*/ 720 h 7515"/>
                <a:gd name="T24" fmla="*/ 6136 w 7046"/>
                <a:gd name="T25" fmla="*/ 1151 h 7515"/>
                <a:gd name="T26" fmla="*/ 5770 w 7046"/>
                <a:gd name="T27" fmla="*/ 1593 h 7515"/>
                <a:gd name="T28" fmla="*/ 5566 w 7046"/>
                <a:gd name="T29" fmla="*/ 1921 h 7515"/>
                <a:gd name="T30" fmla="*/ 5507 w 7046"/>
                <a:gd name="T31" fmla="*/ 2100 h 7515"/>
                <a:gd name="T32" fmla="*/ 5494 w 7046"/>
                <a:gd name="T33" fmla="*/ 2281 h 7515"/>
                <a:gd name="T34" fmla="*/ 5521 w 7046"/>
                <a:gd name="T35" fmla="*/ 2457 h 7515"/>
                <a:gd name="T36" fmla="*/ 5443 w 7046"/>
                <a:gd name="T37" fmla="*/ 2404 h 7515"/>
                <a:gd name="T38" fmla="*/ 5070 w 7046"/>
                <a:gd name="T39" fmla="*/ 2040 h 7515"/>
                <a:gd name="T40" fmla="*/ 4619 w 7046"/>
                <a:gd name="T41" fmla="*/ 1776 h 7515"/>
                <a:gd name="T42" fmla="*/ 4105 w 7046"/>
                <a:gd name="T43" fmla="*/ 1626 h 7515"/>
                <a:gd name="T44" fmla="*/ 3667 w 7046"/>
                <a:gd name="T45" fmla="*/ 1601 h 7515"/>
                <a:gd name="T46" fmla="*/ 2949 w 7046"/>
                <a:gd name="T47" fmla="*/ 1757 h 7515"/>
                <a:gd name="T48" fmla="*/ 2292 w 7046"/>
                <a:gd name="T49" fmla="*/ 2179 h 7515"/>
                <a:gd name="T50" fmla="*/ 1825 w 7046"/>
                <a:gd name="T51" fmla="*/ 2802 h 7515"/>
                <a:gd name="T52" fmla="*/ 1608 w 7046"/>
                <a:gd name="T53" fmla="*/ 3568 h 7515"/>
                <a:gd name="T54" fmla="*/ 1710 w 7046"/>
                <a:gd name="T55" fmla="*/ 4439 h 7515"/>
                <a:gd name="T56" fmla="*/ 2134 w 7046"/>
                <a:gd name="T57" fmla="*/ 5177 h 7515"/>
                <a:gd name="T58" fmla="*/ 2805 w 7046"/>
                <a:gd name="T59" fmla="*/ 5693 h 7515"/>
                <a:gd name="T60" fmla="*/ 3647 w 7046"/>
                <a:gd name="T61" fmla="*/ 5914 h 7515"/>
                <a:gd name="T62" fmla="*/ 4259 w 7046"/>
                <a:gd name="T63" fmla="*/ 5859 h 7515"/>
                <a:gd name="T64" fmla="*/ 4776 w 7046"/>
                <a:gd name="T65" fmla="*/ 5663 h 7515"/>
                <a:gd name="T66" fmla="*/ 5220 w 7046"/>
                <a:gd name="T67" fmla="*/ 5348 h 7515"/>
                <a:gd name="T68" fmla="*/ 5572 w 7046"/>
                <a:gd name="T69" fmla="*/ 4934 h 7515"/>
                <a:gd name="T70" fmla="*/ 5720 w 7046"/>
                <a:gd name="T71" fmla="*/ 4730 h 7515"/>
                <a:gd name="T72" fmla="*/ 5881 w 7046"/>
                <a:gd name="T73" fmla="*/ 4601 h 7515"/>
                <a:gd name="T74" fmla="*/ 6068 w 7046"/>
                <a:gd name="T75" fmla="*/ 4516 h 7515"/>
                <a:gd name="T76" fmla="*/ 6272 w 7046"/>
                <a:gd name="T77" fmla="*/ 4482 h 7515"/>
                <a:gd name="T78" fmla="*/ 6030 w 7046"/>
                <a:gd name="T79" fmla="*/ 4529 h 7515"/>
                <a:gd name="T80" fmla="*/ 5695 w 7046"/>
                <a:gd name="T81" fmla="*/ 4765 h 7515"/>
                <a:gd name="T82" fmla="*/ 5520 w 7046"/>
                <a:gd name="T83" fmla="*/ 5129 h 7515"/>
                <a:gd name="T84" fmla="*/ 5550 w 7046"/>
                <a:gd name="T85" fmla="*/ 5545 h 7515"/>
                <a:gd name="T86" fmla="*/ 5780 w 7046"/>
                <a:gd name="T87" fmla="*/ 5936 h 7515"/>
                <a:gd name="T88" fmla="*/ 6136 w 7046"/>
                <a:gd name="T89" fmla="*/ 6364 h 7515"/>
                <a:gd name="T90" fmla="*/ 5973 w 7046"/>
                <a:gd name="T91" fmla="*/ 6796 h 7515"/>
                <a:gd name="T92" fmla="*/ 5385 w 7046"/>
                <a:gd name="T93" fmla="*/ 7147 h 7515"/>
                <a:gd name="T94" fmla="*/ 4735 w 7046"/>
                <a:gd name="T95" fmla="*/ 7388 h 7515"/>
                <a:gd name="T96" fmla="*/ 4034 w 7046"/>
                <a:gd name="T97" fmla="*/ 7505 h 7515"/>
                <a:gd name="T98" fmla="*/ 6391 w 7046"/>
                <a:gd name="T99" fmla="*/ 3031 h 7515"/>
                <a:gd name="T100" fmla="*/ 6589 w 7046"/>
                <a:gd name="T101" fmla="*/ 2983 h 7515"/>
                <a:gd name="T102" fmla="*/ 6767 w 7046"/>
                <a:gd name="T103" fmla="*/ 2888 h 7515"/>
                <a:gd name="T104" fmla="*/ 6916 w 7046"/>
                <a:gd name="T105" fmla="*/ 2751 h 7515"/>
                <a:gd name="T106" fmla="*/ 7032 w 7046"/>
                <a:gd name="T107" fmla="*/ 2582 h 7515"/>
                <a:gd name="T108" fmla="*/ 6947 w 7046"/>
                <a:gd name="T109" fmla="*/ 2728 h 7515"/>
                <a:gd name="T110" fmla="*/ 6788 w 7046"/>
                <a:gd name="T111" fmla="*/ 2883 h 7515"/>
                <a:gd name="T112" fmla="*/ 6588 w 7046"/>
                <a:gd name="T113" fmla="*/ 2989 h 7515"/>
                <a:gd name="T114" fmla="*/ 6353 w 7046"/>
                <a:gd name="T115" fmla="*/ 3034 h 7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6" h="7515">
                  <a:moveTo>
                    <a:pt x="3761" y="7515"/>
                  </a:moveTo>
                  <a:lnTo>
                    <a:pt x="3563" y="7510"/>
                  </a:lnTo>
                  <a:lnTo>
                    <a:pt x="3369" y="7495"/>
                  </a:lnTo>
                  <a:lnTo>
                    <a:pt x="3176" y="7470"/>
                  </a:lnTo>
                  <a:lnTo>
                    <a:pt x="2987" y="7436"/>
                  </a:lnTo>
                  <a:lnTo>
                    <a:pt x="2801" y="7391"/>
                  </a:lnTo>
                  <a:lnTo>
                    <a:pt x="2618" y="7338"/>
                  </a:lnTo>
                  <a:lnTo>
                    <a:pt x="2440" y="7277"/>
                  </a:lnTo>
                  <a:lnTo>
                    <a:pt x="2267" y="7206"/>
                  </a:lnTo>
                  <a:lnTo>
                    <a:pt x="2096" y="7127"/>
                  </a:lnTo>
                  <a:lnTo>
                    <a:pt x="1932" y="7040"/>
                  </a:lnTo>
                  <a:lnTo>
                    <a:pt x="1772" y="6945"/>
                  </a:lnTo>
                  <a:lnTo>
                    <a:pt x="1617" y="6843"/>
                  </a:lnTo>
                  <a:lnTo>
                    <a:pt x="1468" y="6734"/>
                  </a:lnTo>
                  <a:lnTo>
                    <a:pt x="1324" y="6617"/>
                  </a:lnTo>
                  <a:lnTo>
                    <a:pt x="1186" y="6494"/>
                  </a:lnTo>
                  <a:lnTo>
                    <a:pt x="1054" y="6364"/>
                  </a:lnTo>
                  <a:lnTo>
                    <a:pt x="929" y="6228"/>
                  </a:lnTo>
                  <a:lnTo>
                    <a:pt x="811" y="6086"/>
                  </a:lnTo>
                  <a:lnTo>
                    <a:pt x="699" y="5938"/>
                  </a:lnTo>
                  <a:lnTo>
                    <a:pt x="595" y="5785"/>
                  </a:lnTo>
                  <a:lnTo>
                    <a:pt x="499" y="5627"/>
                  </a:lnTo>
                  <a:lnTo>
                    <a:pt x="409" y="5462"/>
                  </a:lnTo>
                  <a:lnTo>
                    <a:pt x="329" y="5294"/>
                  </a:lnTo>
                  <a:lnTo>
                    <a:pt x="257" y="5122"/>
                  </a:lnTo>
                  <a:lnTo>
                    <a:pt x="192" y="4945"/>
                  </a:lnTo>
                  <a:lnTo>
                    <a:pt x="137" y="4763"/>
                  </a:lnTo>
                  <a:lnTo>
                    <a:pt x="91" y="4579"/>
                  </a:lnTo>
                  <a:lnTo>
                    <a:pt x="53" y="4390"/>
                  </a:lnTo>
                  <a:lnTo>
                    <a:pt x="25" y="4199"/>
                  </a:lnTo>
                  <a:lnTo>
                    <a:pt x="8" y="4004"/>
                  </a:lnTo>
                  <a:lnTo>
                    <a:pt x="0" y="3808"/>
                  </a:lnTo>
                  <a:lnTo>
                    <a:pt x="3" y="3607"/>
                  </a:lnTo>
                  <a:lnTo>
                    <a:pt x="14" y="3425"/>
                  </a:lnTo>
                  <a:lnTo>
                    <a:pt x="35" y="3244"/>
                  </a:lnTo>
                  <a:lnTo>
                    <a:pt x="64" y="3066"/>
                  </a:lnTo>
                  <a:lnTo>
                    <a:pt x="101" y="2891"/>
                  </a:lnTo>
                  <a:lnTo>
                    <a:pt x="146" y="2719"/>
                  </a:lnTo>
                  <a:lnTo>
                    <a:pt x="200" y="2550"/>
                  </a:lnTo>
                  <a:lnTo>
                    <a:pt x="261" y="2385"/>
                  </a:lnTo>
                  <a:lnTo>
                    <a:pt x="329" y="2223"/>
                  </a:lnTo>
                  <a:lnTo>
                    <a:pt x="405" y="2066"/>
                  </a:lnTo>
                  <a:lnTo>
                    <a:pt x="488" y="1912"/>
                  </a:lnTo>
                  <a:lnTo>
                    <a:pt x="576" y="1762"/>
                  </a:lnTo>
                  <a:lnTo>
                    <a:pt x="673" y="1618"/>
                  </a:lnTo>
                  <a:lnTo>
                    <a:pt x="775" y="1478"/>
                  </a:lnTo>
                  <a:lnTo>
                    <a:pt x="884" y="1343"/>
                  </a:lnTo>
                  <a:lnTo>
                    <a:pt x="999" y="1213"/>
                  </a:lnTo>
                  <a:lnTo>
                    <a:pt x="1120" y="1089"/>
                  </a:lnTo>
                  <a:lnTo>
                    <a:pt x="1246" y="970"/>
                  </a:lnTo>
                  <a:lnTo>
                    <a:pt x="1376" y="857"/>
                  </a:lnTo>
                  <a:lnTo>
                    <a:pt x="1513" y="750"/>
                  </a:lnTo>
                  <a:lnTo>
                    <a:pt x="1654" y="649"/>
                  </a:lnTo>
                  <a:lnTo>
                    <a:pt x="1800" y="554"/>
                  </a:lnTo>
                  <a:lnTo>
                    <a:pt x="1950" y="467"/>
                  </a:lnTo>
                  <a:lnTo>
                    <a:pt x="2105" y="386"/>
                  </a:lnTo>
                  <a:lnTo>
                    <a:pt x="2264" y="312"/>
                  </a:lnTo>
                  <a:lnTo>
                    <a:pt x="2427" y="246"/>
                  </a:lnTo>
                  <a:lnTo>
                    <a:pt x="2593" y="186"/>
                  </a:lnTo>
                  <a:lnTo>
                    <a:pt x="2762" y="135"/>
                  </a:lnTo>
                  <a:lnTo>
                    <a:pt x="2935" y="92"/>
                  </a:lnTo>
                  <a:lnTo>
                    <a:pt x="3111" y="57"/>
                  </a:lnTo>
                  <a:lnTo>
                    <a:pt x="3290" y="29"/>
                  </a:lnTo>
                  <a:lnTo>
                    <a:pt x="3470" y="11"/>
                  </a:lnTo>
                  <a:lnTo>
                    <a:pt x="3654" y="1"/>
                  </a:lnTo>
                  <a:lnTo>
                    <a:pt x="3680" y="1"/>
                  </a:lnTo>
                  <a:lnTo>
                    <a:pt x="3708" y="0"/>
                  </a:lnTo>
                  <a:lnTo>
                    <a:pt x="3735" y="0"/>
                  </a:lnTo>
                  <a:lnTo>
                    <a:pt x="3761" y="0"/>
                  </a:lnTo>
                  <a:lnTo>
                    <a:pt x="3853" y="1"/>
                  </a:lnTo>
                  <a:lnTo>
                    <a:pt x="3944" y="5"/>
                  </a:lnTo>
                  <a:lnTo>
                    <a:pt x="4034" y="10"/>
                  </a:lnTo>
                  <a:lnTo>
                    <a:pt x="4124" y="17"/>
                  </a:lnTo>
                  <a:lnTo>
                    <a:pt x="4214" y="27"/>
                  </a:lnTo>
                  <a:lnTo>
                    <a:pt x="4302" y="39"/>
                  </a:lnTo>
                  <a:lnTo>
                    <a:pt x="4390" y="52"/>
                  </a:lnTo>
                  <a:lnTo>
                    <a:pt x="4477" y="69"/>
                  </a:lnTo>
                  <a:lnTo>
                    <a:pt x="4563" y="87"/>
                  </a:lnTo>
                  <a:lnTo>
                    <a:pt x="4650" y="105"/>
                  </a:lnTo>
                  <a:lnTo>
                    <a:pt x="4735" y="127"/>
                  </a:lnTo>
                  <a:lnTo>
                    <a:pt x="4819" y="152"/>
                  </a:lnTo>
                  <a:lnTo>
                    <a:pt x="4903" y="177"/>
                  </a:lnTo>
                  <a:lnTo>
                    <a:pt x="4985" y="204"/>
                  </a:lnTo>
                  <a:lnTo>
                    <a:pt x="5067" y="234"/>
                  </a:lnTo>
                  <a:lnTo>
                    <a:pt x="5147" y="264"/>
                  </a:lnTo>
                  <a:lnTo>
                    <a:pt x="5228" y="298"/>
                  </a:lnTo>
                  <a:lnTo>
                    <a:pt x="5307" y="332"/>
                  </a:lnTo>
                  <a:lnTo>
                    <a:pt x="5385" y="368"/>
                  </a:lnTo>
                  <a:lnTo>
                    <a:pt x="5463" y="407"/>
                  </a:lnTo>
                  <a:lnTo>
                    <a:pt x="5538" y="447"/>
                  </a:lnTo>
                  <a:lnTo>
                    <a:pt x="5613" y="488"/>
                  </a:lnTo>
                  <a:lnTo>
                    <a:pt x="5687" y="531"/>
                  </a:lnTo>
                  <a:lnTo>
                    <a:pt x="5760" y="576"/>
                  </a:lnTo>
                  <a:lnTo>
                    <a:pt x="5832" y="623"/>
                  </a:lnTo>
                  <a:lnTo>
                    <a:pt x="5903" y="670"/>
                  </a:lnTo>
                  <a:lnTo>
                    <a:pt x="5973" y="720"/>
                  </a:lnTo>
                  <a:lnTo>
                    <a:pt x="6041" y="771"/>
                  </a:lnTo>
                  <a:lnTo>
                    <a:pt x="6109" y="823"/>
                  </a:lnTo>
                  <a:lnTo>
                    <a:pt x="6174" y="877"/>
                  </a:lnTo>
                  <a:lnTo>
                    <a:pt x="6239" y="932"/>
                  </a:lnTo>
                  <a:lnTo>
                    <a:pt x="6302" y="989"/>
                  </a:lnTo>
                  <a:lnTo>
                    <a:pt x="6246" y="1042"/>
                  </a:lnTo>
                  <a:lnTo>
                    <a:pt x="6191" y="1097"/>
                  </a:lnTo>
                  <a:lnTo>
                    <a:pt x="6136" y="1151"/>
                  </a:lnTo>
                  <a:lnTo>
                    <a:pt x="6083" y="1207"/>
                  </a:lnTo>
                  <a:lnTo>
                    <a:pt x="6031" y="1265"/>
                  </a:lnTo>
                  <a:lnTo>
                    <a:pt x="5980" y="1323"/>
                  </a:lnTo>
                  <a:lnTo>
                    <a:pt x="5931" y="1383"/>
                  </a:lnTo>
                  <a:lnTo>
                    <a:pt x="5882" y="1443"/>
                  </a:lnTo>
                  <a:lnTo>
                    <a:pt x="5844" y="1492"/>
                  </a:lnTo>
                  <a:lnTo>
                    <a:pt x="5807" y="1542"/>
                  </a:lnTo>
                  <a:lnTo>
                    <a:pt x="5770" y="1593"/>
                  </a:lnTo>
                  <a:lnTo>
                    <a:pt x="5735" y="1644"/>
                  </a:lnTo>
                  <a:lnTo>
                    <a:pt x="5701" y="1696"/>
                  </a:lnTo>
                  <a:lnTo>
                    <a:pt x="5666" y="1749"/>
                  </a:lnTo>
                  <a:lnTo>
                    <a:pt x="5633" y="1801"/>
                  </a:lnTo>
                  <a:lnTo>
                    <a:pt x="5601" y="1855"/>
                  </a:lnTo>
                  <a:lnTo>
                    <a:pt x="5589" y="1877"/>
                  </a:lnTo>
                  <a:lnTo>
                    <a:pt x="5577" y="1899"/>
                  </a:lnTo>
                  <a:lnTo>
                    <a:pt x="5566" y="1921"/>
                  </a:lnTo>
                  <a:lnTo>
                    <a:pt x="5556" y="1943"/>
                  </a:lnTo>
                  <a:lnTo>
                    <a:pt x="5547" y="1965"/>
                  </a:lnTo>
                  <a:lnTo>
                    <a:pt x="5538" y="1987"/>
                  </a:lnTo>
                  <a:lnTo>
                    <a:pt x="5530" y="2009"/>
                  </a:lnTo>
                  <a:lnTo>
                    <a:pt x="5524" y="2033"/>
                  </a:lnTo>
                  <a:lnTo>
                    <a:pt x="5517" y="2055"/>
                  </a:lnTo>
                  <a:lnTo>
                    <a:pt x="5511" y="2078"/>
                  </a:lnTo>
                  <a:lnTo>
                    <a:pt x="5507" y="2100"/>
                  </a:lnTo>
                  <a:lnTo>
                    <a:pt x="5502" y="2123"/>
                  </a:lnTo>
                  <a:lnTo>
                    <a:pt x="5499" y="2145"/>
                  </a:lnTo>
                  <a:lnTo>
                    <a:pt x="5497" y="2169"/>
                  </a:lnTo>
                  <a:lnTo>
                    <a:pt x="5495" y="2192"/>
                  </a:lnTo>
                  <a:lnTo>
                    <a:pt x="5493" y="2214"/>
                  </a:lnTo>
                  <a:lnTo>
                    <a:pt x="5493" y="2237"/>
                  </a:lnTo>
                  <a:lnTo>
                    <a:pt x="5493" y="2259"/>
                  </a:lnTo>
                  <a:lnTo>
                    <a:pt x="5494" y="2281"/>
                  </a:lnTo>
                  <a:lnTo>
                    <a:pt x="5495" y="2303"/>
                  </a:lnTo>
                  <a:lnTo>
                    <a:pt x="5497" y="2327"/>
                  </a:lnTo>
                  <a:lnTo>
                    <a:pt x="5499" y="2349"/>
                  </a:lnTo>
                  <a:lnTo>
                    <a:pt x="5502" y="2371"/>
                  </a:lnTo>
                  <a:lnTo>
                    <a:pt x="5506" y="2393"/>
                  </a:lnTo>
                  <a:lnTo>
                    <a:pt x="5511" y="2414"/>
                  </a:lnTo>
                  <a:lnTo>
                    <a:pt x="5516" y="2436"/>
                  </a:lnTo>
                  <a:lnTo>
                    <a:pt x="5521" y="2457"/>
                  </a:lnTo>
                  <a:lnTo>
                    <a:pt x="5528" y="2478"/>
                  </a:lnTo>
                  <a:lnTo>
                    <a:pt x="5535" y="2499"/>
                  </a:lnTo>
                  <a:lnTo>
                    <a:pt x="5542" y="2520"/>
                  </a:lnTo>
                  <a:lnTo>
                    <a:pt x="5551" y="2541"/>
                  </a:lnTo>
                  <a:lnTo>
                    <a:pt x="5559" y="2561"/>
                  </a:lnTo>
                  <a:lnTo>
                    <a:pt x="5522" y="2508"/>
                  </a:lnTo>
                  <a:lnTo>
                    <a:pt x="5484" y="2455"/>
                  </a:lnTo>
                  <a:lnTo>
                    <a:pt x="5443" y="2404"/>
                  </a:lnTo>
                  <a:lnTo>
                    <a:pt x="5402" y="2353"/>
                  </a:lnTo>
                  <a:lnTo>
                    <a:pt x="5359" y="2305"/>
                  </a:lnTo>
                  <a:lnTo>
                    <a:pt x="5313" y="2257"/>
                  </a:lnTo>
                  <a:lnTo>
                    <a:pt x="5268" y="2212"/>
                  </a:lnTo>
                  <a:lnTo>
                    <a:pt x="5220" y="2166"/>
                  </a:lnTo>
                  <a:lnTo>
                    <a:pt x="5172" y="2123"/>
                  </a:lnTo>
                  <a:lnTo>
                    <a:pt x="5121" y="2081"/>
                  </a:lnTo>
                  <a:lnTo>
                    <a:pt x="5070" y="2040"/>
                  </a:lnTo>
                  <a:lnTo>
                    <a:pt x="5018" y="2002"/>
                  </a:lnTo>
                  <a:lnTo>
                    <a:pt x="4964" y="1965"/>
                  </a:lnTo>
                  <a:lnTo>
                    <a:pt x="4908" y="1929"/>
                  </a:lnTo>
                  <a:lnTo>
                    <a:pt x="4853" y="1896"/>
                  </a:lnTo>
                  <a:lnTo>
                    <a:pt x="4796" y="1862"/>
                  </a:lnTo>
                  <a:lnTo>
                    <a:pt x="4738" y="1833"/>
                  </a:lnTo>
                  <a:lnTo>
                    <a:pt x="4678" y="1803"/>
                  </a:lnTo>
                  <a:lnTo>
                    <a:pt x="4619" y="1776"/>
                  </a:lnTo>
                  <a:lnTo>
                    <a:pt x="4557" y="1751"/>
                  </a:lnTo>
                  <a:lnTo>
                    <a:pt x="4495" y="1728"/>
                  </a:lnTo>
                  <a:lnTo>
                    <a:pt x="4433" y="1706"/>
                  </a:lnTo>
                  <a:lnTo>
                    <a:pt x="4369" y="1686"/>
                  </a:lnTo>
                  <a:lnTo>
                    <a:pt x="4303" y="1668"/>
                  </a:lnTo>
                  <a:lnTo>
                    <a:pt x="4238" y="1652"/>
                  </a:lnTo>
                  <a:lnTo>
                    <a:pt x="4173" y="1638"/>
                  </a:lnTo>
                  <a:lnTo>
                    <a:pt x="4105" y="1626"/>
                  </a:lnTo>
                  <a:lnTo>
                    <a:pt x="4038" y="1617"/>
                  </a:lnTo>
                  <a:lnTo>
                    <a:pt x="3969" y="1609"/>
                  </a:lnTo>
                  <a:lnTo>
                    <a:pt x="3901" y="1604"/>
                  </a:lnTo>
                  <a:lnTo>
                    <a:pt x="3831" y="1601"/>
                  </a:lnTo>
                  <a:lnTo>
                    <a:pt x="3761" y="1599"/>
                  </a:lnTo>
                  <a:lnTo>
                    <a:pt x="3730" y="1599"/>
                  </a:lnTo>
                  <a:lnTo>
                    <a:pt x="3698" y="1599"/>
                  </a:lnTo>
                  <a:lnTo>
                    <a:pt x="3667" y="1601"/>
                  </a:lnTo>
                  <a:lnTo>
                    <a:pt x="3635" y="1603"/>
                  </a:lnTo>
                  <a:lnTo>
                    <a:pt x="3532" y="1611"/>
                  </a:lnTo>
                  <a:lnTo>
                    <a:pt x="3432" y="1624"/>
                  </a:lnTo>
                  <a:lnTo>
                    <a:pt x="3332" y="1643"/>
                  </a:lnTo>
                  <a:lnTo>
                    <a:pt x="3234" y="1665"/>
                  </a:lnTo>
                  <a:lnTo>
                    <a:pt x="3137" y="1691"/>
                  </a:lnTo>
                  <a:lnTo>
                    <a:pt x="3042" y="1722"/>
                  </a:lnTo>
                  <a:lnTo>
                    <a:pt x="2949" y="1757"/>
                  </a:lnTo>
                  <a:lnTo>
                    <a:pt x="2859" y="1797"/>
                  </a:lnTo>
                  <a:lnTo>
                    <a:pt x="2770" y="1840"/>
                  </a:lnTo>
                  <a:lnTo>
                    <a:pt x="2684" y="1888"/>
                  </a:lnTo>
                  <a:lnTo>
                    <a:pt x="2601" y="1940"/>
                  </a:lnTo>
                  <a:lnTo>
                    <a:pt x="2519" y="1994"/>
                  </a:lnTo>
                  <a:lnTo>
                    <a:pt x="2440" y="2053"/>
                  </a:lnTo>
                  <a:lnTo>
                    <a:pt x="2365" y="2114"/>
                  </a:lnTo>
                  <a:lnTo>
                    <a:pt x="2292" y="2179"/>
                  </a:lnTo>
                  <a:lnTo>
                    <a:pt x="2222" y="2247"/>
                  </a:lnTo>
                  <a:lnTo>
                    <a:pt x="2155" y="2318"/>
                  </a:lnTo>
                  <a:lnTo>
                    <a:pt x="2092" y="2392"/>
                  </a:lnTo>
                  <a:lnTo>
                    <a:pt x="2031" y="2469"/>
                  </a:lnTo>
                  <a:lnTo>
                    <a:pt x="1975" y="2549"/>
                  </a:lnTo>
                  <a:lnTo>
                    <a:pt x="1920" y="2631"/>
                  </a:lnTo>
                  <a:lnTo>
                    <a:pt x="1871" y="2716"/>
                  </a:lnTo>
                  <a:lnTo>
                    <a:pt x="1825" y="2802"/>
                  </a:lnTo>
                  <a:lnTo>
                    <a:pt x="1783" y="2891"/>
                  </a:lnTo>
                  <a:lnTo>
                    <a:pt x="1746" y="2983"/>
                  </a:lnTo>
                  <a:lnTo>
                    <a:pt x="1711" y="3076"/>
                  </a:lnTo>
                  <a:lnTo>
                    <a:pt x="1683" y="3171"/>
                  </a:lnTo>
                  <a:lnTo>
                    <a:pt x="1657" y="3268"/>
                  </a:lnTo>
                  <a:lnTo>
                    <a:pt x="1636" y="3367"/>
                  </a:lnTo>
                  <a:lnTo>
                    <a:pt x="1621" y="3466"/>
                  </a:lnTo>
                  <a:lnTo>
                    <a:pt x="1608" y="3568"/>
                  </a:lnTo>
                  <a:lnTo>
                    <a:pt x="1602" y="3670"/>
                  </a:lnTo>
                  <a:lnTo>
                    <a:pt x="1601" y="3785"/>
                  </a:lnTo>
                  <a:lnTo>
                    <a:pt x="1605" y="3898"/>
                  </a:lnTo>
                  <a:lnTo>
                    <a:pt x="1615" y="4010"/>
                  </a:lnTo>
                  <a:lnTo>
                    <a:pt x="1631" y="4120"/>
                  </a:lnTo>
                  <a:lnTo>
                    <a:pt x="1653" y="4229"/>
                  </a:lnTo>
                  <a:lnTo>
                    <a:pt x="1679" y="4335"/>
                  </a:lnTo>
                  <a:lnTo>
                    <a:pt x="1710" y="4439"/>
                  </a:lnTo>
                  <a:lnTo>
                    <a:pt x="1748" y="4540"/>
                  </a:lnTo>
                  <a:lnTo>
                    <a:pt x="1789" y="4640"/>
                  </a:lnTo>
                  <a:lnTo>
                    <a:pt x="1835" y="4737"/>
                  </a:lnTo>
                  <a:lnTo>
                    <a:pt x="1887" y="4831"/>
                  </a:lnTo>
                  <a:lnTo>
                    <a:pt x="1943" y="4921"/>
                  </a:lnTo>
                  <a:lnTo>
                    <a:pt x="2002" y="5010"/>
                  </a:lnTo>
                  <a:lnTo>
                    <a:pt x="2066" y="5095"/>
                  </a:lnTo>
                  <a:lnTo>
                    <a:pt x="2134" y="5177"/>
                  </a:lnTo>
                  <a:lnTo>
                    <a:pt x="2206" y="5254"/>
                  </a:lnTo>
                  <a:lnTo>
                    <a:pt x="2281" y="5329"/>
                  </a:lnTo>
                  <a:lnTo>
                    <a:pt x="2361" y="5400"/>
                  </a:lnTo>
                  <a:lnTo>
                    <a:pt x="2444" y="5467"/>
                  </a:lnTo>
                  <a:lnTo>
                    <a:pt x="2529" y="5530"/>
                  </a:lnTo>
                  <a:lnTo>
                    <a:pt x="2618" y="5589"/>
                  </a:lnTo>
                  <a:lnTo>
                    <a:pt x="2710" y="5643"/>
                  </a:lnTo>
                  <a:lnTo>
                    <a:pt x="2805" y="5693"/>
                  </a:lnTo>
                  <a:lnTo>
                    <a:pt x="2903" y="5738"/>
                  </a:lnTo>
                  <a:lnTo>
                    <a:pt x="3002" y="5779"/>
                  </a:lnTo>
                  <a:lnTo>
                    <a:pt x="3105" y="5814"/>
                  </a:lnTo>
                  <a:lnTo>
                    <a:pt x="3209" y="5845"/>
                  </a:lnTo>
                  <a:lnTo>
                    <a:pt x="3317" y="5871"/>
                  </a:lnTo>
                  <a:lnTo>
                    <a:pt x="3425" y="5891"/>
                  </a:lnTo>
                  <a:lnTo>
                    <a:pt x="3536" y="5905"/>
                  </a:lnTo>
                  <a:lnTo>
                    <a:pt x="3647" y="5914"/>
                  </a:lnTo>
                  <a:lnTo>
                    <a:pt x="3761" y="5916"/>
                  </a:lnTo>
                  <a:lnTo>
                    <a:pt x="3834" y="5915"/>
                  </a:lnTo>
                  <a:lnTo>
                    <a:pt x="3907" y="5912"/>
                  </a:lnTo>
                  <a:lnTo>
                    <a:pt x="3979" y="5905"/>
                  </a:lnTo>
                  <a:lnTo>
                    <a:pt x="4050" y="5897"/>
                  </a:lnTo>
                  <a:lnTo>
                    <a:pt x="4120" y="5886"/>
                  </a:lnTo>
                  <a:lnTo>
                    <a:pt x="4189" y="5874"/>
                  </a:lnTo>
                  <a:lnTo>
                    <a:pt x="4259" y="5859"/>
                  </a:lnTo>
                  <a:lnTo>
                    <a:pt x="4327" y="5841"/>
                  </a:lnTo>
                  <a:lnTo>
                    <a:pt x="4394" y="5822"/>
                  </a:lnTo>
                  <a:lnTo>
                    <a:pt x="4460" y="5800"/>
                  </a:lnTo>
                  <a:lnTo>
                    <a:pt x="4526" y="5777"/>
                  </a:lnTo>
                  <a:lnTo>
                    <a:pt x="4590" y="5751"/>
                  </a:lnTo>
                  <a:lnTo>
                    <a:pt x="4653" y="5724"/>
                  </a:lnTo>
                  <a:lnTo>
                    <a:pt x="4715" y="5695"/>
                  </a:lnTo>
                  <a:lnTo>
                    <a:pt x="4776" y="5663"/>
                  </a:lnTo>
                  <a:lnTo>
                    <a:pt x="4837" y="5630"/>
                  </a:lnTo>
                  <a:lnTo>
                    <a:pt x="4895" y="5595"/>
                  </a:lnTo>
                  <a:lnTo>
                    <a:pt x="4953" y="5558"/>
                  </a:lnTo>
                  <a:lnTo>
                    <a:pt x="5009" y="5519"/>
                  </a:lnTo>
                  <a:lnTo>
                    <a:pt x="5064" y="5480"/>
                  </a:lnTo>
                  <a:lnTo>
                    <a:pt x="5118" y="5438"/>
                  </a:lnTo>
                  <a:lnTo>
                    <a:pt x="5170" y="5393"/>
                  </a:lnTo>
                  <a:lnTo>
                    <a:pt x="5220" y="5348"/>
                  </a:lnTo>
                  <a:lnTo>
                    <a:pt x="5270" y="5302"/>
                  </a:lnTo>
                  <a:lnTo>
                    <a:pt x="5318" y="5253"/>
                  </a:lnTo>
                  <a:lnTo>
                    <a:pt x="5364" y="5203"/>
                  </a:lnTo>
                  <a:lnTo>
                    <a:pt x="5410" y="5152"/>
                  </a:lnTo>
                  <a:lnTo>
                    <a:pt x="5453" y="5099"/>
                  </a:lnTo>
                  <a:lnTo>
                    <a:pt x="5495" y="5046"/>
                  </a:lnTo>
                  <a:lnTo>
                    <a:pt x="5535" y="4990"/>
                  </a:lnTo>
                  <a:lnTo>
                    <a:pt x="5572" y="4934"/>
                  </a:lnTo>
                  <a:lnTo>
                    <a:pt x="5609" y="4876"/>
                  </a:lnTo>
                  <a:lnTo>
                    <a:pt x="5623" y="4854"/>
                  </a:lnTo>
                  <a:lnTo>
                    <a:pt x="5637" y="4832"/>
                  </a:lnTo>
                  <a:lnTo>
                    <a:pt x="5653" y="4811"/>
                  </a:lnTo>
                  <a:lnTo>
                    <a:pt x="5670" y="4790"/>
                  </a:lnTo>
                  <a:lnTo>
                    <a:pt x="5686" y="4769"/>
                  </a:lnTo>
                  <a:lnTo>
                    <a:pt x="5703" y="4750"/>
                  </a:lnTo>
                  <a:lnTo>
                    <a:pt x="5720" y="4730"/>
                  </a:lnTo>
                  <a:lnTo>
                    <a:pt x="5739" y="4713"/>
                  </a:lnTo>
                  <a:lnTo>
                    <a:pt x="5758" y="4695"/>
                  </a:lnTo>
                  <a:lnTo>
                    <a:pt x="5777" y="4677"/>
                  </a:lnTo>
                  <a:lnTo>
                    <a:pt x="5797" y="4661"/>
                  </a:lnTo>
                  <a:lnTo>
                    <a:pt x="5818" y="4645"/>
                  </a:lnTo>
                  <a:lnTo>
                    <a:pt x="5838" y="4630"/>
                  </a:lnTo>
                  <a:lnTo>
                    <a:pt x="5860" y="4615"/>
                  </a:lnTo>
                  <a:lnTo>
                    <a:pt x="5881" y="4601"/>
                  </a:lnTo>
                  <a:lnTo>
                    <a:pt x="5903" y="4588"/>
                  </a:lnTo>
                  <a:lnTo>
                    <a:pt x="5925" y="4576"/>
                  </a:lnTo>
                  <a:lnTo>
                    <a:pt x="5948" y="4563"/>
                  </a:lnTo>
                  <a:lnTo>
                    <a:pt x="5972" y="4552"/>
                  </a:lnTo>
                  <a:lnTo>
                    <a:pt x="5995" y="4542"/>
                  </a:lnTo>
                  <a:lnTo>
                    <a:pt x="6019" y="4532"/>
                  </a:lnTo>
                  <a:lnTo>
                    <a:pt x="6043" y="4524"/>
                  </a:lnTo>
                  <a:lnTo>
                    <a:pt x="6068" y="4516"/>
                  </a:lnTo>
                  <a:lnTo>
                    <a:pt x="6092" y="4509"/>
                  </a:lnTo>
                  <a:lnTo>
                    <a:pt x="6118" y="4503"/>
                  </a:lnTo>
                  <a:lnTo>
                    <a:pt x="6143" y="4497"/>
                  </a:lnTo>
                  <a:lnTo>
                    <a:pt x="6168" y="4493"/>
                  </a:lnTo>
                  <a:lnTo>
                    <a:pt x="6194" y="4488"/>
                  </a:lnTo>
                  <a:lnTo>
                    <a:pt x="6220" y="4485"/>
                  </a:lnTo>
                  <a:lnTo>
                    <a:pt x="6246" y="4483"/>
                  </a:lnTo>
                  <a:lnTo>
                    <a:pt x="6272" y="4482"/>
                  </a:lnTo>
                  <a:lnTo>
                    <a:pt x="6299" y="4482"/>
                  </a:lnTo>
                  <a:lnTo>
                    <a:pt x="6301" y="4482"/>
                  </a:lnTo>
                  <a:lnTo>
                    <a:pt x="6302" y="4482"/>
                  </a:lnTo>
                  <a:lnTo>
                    <a:pt x="6245" y="4484"/>
                  </a:lnTo>
                  <a:lnTo>
                    <a:pt x="6188" y="4489"/>
                  </a:lnTo>
                  <a:lnTo>
                    <a:pt x="6134" y="4499"/>
                  </a:lnTo>
                  <a:lnTo>
                    <a:pt x="6081" y="4513"/>
                  </a:lnTo>
                  <a:lnTo>
                    <a:pt x="6030" y="4529"/>
                  </a:lnTo>
                  <a:lnTo>
                    <a:pt x="5980" y="4549"/>
                  </a:lnTo>
                  <a:lnTo>
                    <a:pt x="5934" y="4571"/>
                  </a:lnTo>
                  <a:lnTo>
                    <a:pt x="5889" y="4598"/>
                  </a:lnTo>
                  <a:lnTo>
                    <a:pt x="5844" y="4626"/>
                  </a:lnTo>
                  <a:lnTo>
                    <a:pt x="5803" y="4657"/>
                  </a:lnTo>
                  <a:lnTo>
                    <a:pt x="5765" y="4691"/>
                  </a:lnTo>
                  <a:lnTo>
                    <a:pt x="5728" y="4727"/>
                  </a:lnTo>
                  <a:lnTo>
                    <a:pt x="5695" y="4765"/>
                  </a:lnTo>
                  <a:lnTo>
                    <a:pt x="5663" y="4804"/>
                  </a:lnTo>
                  <a:lnTo>
                    <a:pt x="5634" y="4846"/>
                  </a:lnTo>
                  <a:lnTo>
                    <a:pt x="5608" y="4891"/>
                  </a:lnTo>
                  <a:lnTo>
                    <a:pt x="5584" y="4936"/>
                  </a:lnTo>
                  <a:lnTo>
                    <a:pt x="5564" y="4982"/>
                  </a:lnTo>
                  <a:lnTo>
                    <a:pt x="5547" y="5030"/>
                  </a:lnTo>
                  <a:lnTo>
                    <a:pt x="5532" y="5080"/>
                  </a:lnTo>
                  <a:lnTo>
                    <a:pt x="5520" y="5129"/>
                  </a:lnTo>
                  <a:lnTo>
                    <a:pt x="5512" y="5180"/>
                  </a:lnTo>
                  <a:lnTo>
                    <a:pt x="5507" y="5231"/>
                  </a:lnTo>
                  <a:lnTo>
                    <a:pt x="5506" y="5283"/>
                  </a:lnTo>
                  <a:lnTo>
                    <a:pt x="5507" y="5336"/>
                  </a:lnTo>
                  <a:lnTo>
                    <a:pt x="5512" y="5388"/>
                  </a:lnTo>
                  <a:lnTo>
                    <a:pt x="5521" y="5440"/>
                  </a:lnTo>
                  <a:lnTo>
                    <a:pt x="5535" y="5493"/>
                  </a:lnTo>
                  <a:lnTo>
                    <a:pt x="5550" y="5545"/>
                  </a:lnTo>
                  <a:lnTo>
                    <a:pt x="5571" y="5597"/>
                  </a:lnTo>
                  <a:lnTo>
                    <a:pt x="5595" y="5648"/>
                  </a:lnTo>
                  <a:lnTo>
                    <a:pt x="5623" y="5698"/>
                  </a:lnTo>
                  <a:lnTo>
                    <a:pt x="5653" y="5747"/>
                  </a:lnTo>
                  <a:lnTo>
                    <a:pt x="5684" y="5795"/>
                  </a:lnTo>
                  <a:lnTo>
                    <a:pt x="5715" y="5842"/>
                  </a:lnTo>
                  <a:lnTo>
                    <a:pt x="5747" y="5890"/>
                  </a:lnTo>
                  <a:lnTo>
                    <a:pt x="5780" y="5936"/>
                  </a:lnTo>
                  <a:lnTo>
                    <a:pt x="5813" y="5982"/>
                  </a:lnTo>
                  <a:lnTo>
                    <a:pt x="5848" y="6028"/>
                  </a:lnTo>
                  <a:lnTo>
                    <a:pt x="5882" y="6073"/>
                  </a:lnTo>
                  <a:lnTo>
                    <a:pt x="5931" y="6133"/>
                  </a:lnTo>
                  <a:lnTo>
                    <a:pt x="5980" y="6192"/>
                  </a:lnTo>
                  <a:lnTo>
                    <a:pt x="6031" y="6251"/>
                  </a:lnTo>
                  <a:lnTo>
                    <a:pt x="6083" y="6308"/>
                  </a:lnTo>
                  <a:lnTo>
                    <a:pt x="6136" y="6364"/>
                  </a:lnTo>
                  <a:lnTo>
                    <a:pt x="6191" y="6419"/>
                  </a:lnTo>
                  <a:lnTo>
                    <a:pt x="6246" y="6473"/>
                  </a:lnTo>
                  <a:lnTo>
                    <a:pt x="6302" y="6526"/>
                  </a:lnTo>
                  <a:lnTo>
                    <a:pt x="6239" y="6583"/>
                  </a:lnTo>
                  <a:lnTo>
                    <a:pt x="6174" y="6639"/>
                  </a:lnTo>
                  <a:lnTo>
                    <a:pt x="6109" y="6692"/>
                  </a:lnTo>
                  <a:lnTo>
                    <a:pt x="6041" y="6745"/>
                  </a:lnTo>
                  <a:lnTo>
                    <a:pt x="5973" y="6796"/>
                  </a:lnTo>
                  <a:lnTo>
                    <a:pt x="5903" y="6846"/>
                  </a:lnTo>
                  <a:lnTo>
                    <a:pt x="5832" y="6893"/>
                  </a:lnTo>
                  <a:lnTo>
                    <a:pt x="5760" y="6939"/>
                  </a:lnTo>
                  <a:lnTo>
                    <a:pt x="5687" y="6985"/>
                  </a:lnTo>
                  <a:lnTo>
                    <a:pt x="5613" y="7028"/>
                  </a:lnTo>
                  <a:lnTo>
                    <a:pt x="5539" y="7069"/>
                  </a:lnTo>
                  <a:lnTo>
                    <a:pt x="5463" y="7109"/>
                  </a:lnTo>
                  <a:lnTo>
                    <a:pt x="5385" y="7147"/>
                  </a:lnTo>
                  <a:lnTo>
                    <a:pt x="5307" y="7184"/>
                  </a:lnTo>
                  <a:lnTo>
                    <a:pt x="5228" y="7218"/>
                  </a:lnTo>
                  <a:lnTo>
                    <a:pt x="5147" y="7251"/>
                  </a:lnTo>
                  <a:lnTo>
                    <a:pt x="5067" y="7282"/>
                  </a:lnTo>
                  <a:lnTo>
                    <a:pt x="4985" y="7311"/>
                  </a:lnTo>
                  <a:lnTo>
                    <a:pt x="4903" y="7338"/>
                  </a:lnTo>
                  <a:lnTo>
                    <a:pt x="4819" y="7364"/>
                  </a:lnTo>
                  <a:lnTo>
                    <a:pt x="4735" y="7388"/>
                  </a:lnTo>
                  <a:lnTo>
                    <a:pt x="4650" y="7409"/>
                  </a:lnTo>
                  <a:lnTo>
                    <a:pt x="4563" y="7429"/>
                  </a:lnTo>
                  <a:lnTo>
                    <a:pt x="4477" y="7447"/>
                  </a:lnTo>
                  <a:lnTo>
                    <a:pt x="4390" y="7463"/>
                  </a:lnTo>
                  <a:lnTo>
                    <a:pt x="4302" y="7477"/>
                  </a:lnTo>
                  <a:lnTo>
                    <a:pt x="4214" y="7489"/>
                  </a:lnTo>
                  <a:lnTo>
                    <a:pt x="4124" y="7498"/>
                  </a:lnTo>
                  <a:lnTo>
                    <a:pt x="4034" y="7505"/>
                  </a:lnTo>
                  <a:lnTo>
                    <a:pt x="3944" y="7511"/>
                  </a:lnTo>
                  <a:lnTo>
                    <a:pt x="3853" y="7514"/>
                  </a:lnTo>
                  <a:lnTo>
                    <a:pt x="3761" y="7515"/>
                  </a:lnTo>
                  <a:close/>
                  <a:moveTo>
                    <a:pt x="6322" y="3034"/>
                  </a:moveTo>
                  <a:lnTo>
                    <a:pt x="6313" y="3034"/>
                  </a:lnTo>
                  <a:lnTo>
                    <a:pt x="6339" y="3034"/>
                  </a:lnTo>
                  <a:lnTo>
                    <a:pt x="6365" y="3033"/>
                  </a:lnTo>
                  <a:lnTo>
                    <a:pt x="6391" y="3031"/>
                  </a:lnTo>
                  <a:lnTo>
                    <a:pt x="6416" y="3027"/>
                  </a:lnTo>
                  <a:lnTo>
                    <a:pt x="6442" y="3024"/>
                  </a:lnTo>
                  <a:lnTo>
                    <a:pt x="6467" y="3018"/>
                  </a:lnTo>
                  <a:lnTo>
                    <a:pt x="6493" y="3013"/>
                  </a:lnTo>
                  <a:lnTo>
                    <a:pt x="6517" y="3007"/>
                  </a:lnTo>
                  <a:lnTo>
                    <a:pt x="6541" y="3000"/>
                  </a:lnTo>
                  <a:lnTo>
                    <a:pt x="6566" y="2992"/>
                  </a:lnTo>
                  <a:lnTo>
                    <a:pt x="6589" y="2983"/>
                  </a:lnTo>
                  <a:lnTo>
                    <a:pt x="6613" y="2974"/>
                  </a:lnTo>
                  <a:lnTo>
                    <a:pt x="6636" y="2964"/>
                  </a:lnTo>
                  <a:lnTo>
                    <a:pt x="6659" y="2953"/>
                  </a:lnTo>
                  <a:lnTo>
                    <a:pt x="6682" y="2942"/>
                  </a:lnTo>
                  <a:lnTo>
                    <a:pt x="6703" y="2929"/>
                  </a:lnTo>
                  <a:lnTo>
                    <a:pt x="6725" y="2917"/>
                  </a:lnTo>
                  <a:lnTo>
                    <a:pt x="6746" y="2902"/>
                  </a:lnTo>
                  <a:lnTo>
                    <a:pt x="6767" y="2888"/>
                  </a:lnTo>
                  <a:lnTo>
                    <a:pt x="6788" y="2874"/>
                  </a:lnTo>
                  <a:lnTo>
                    <a:pt x="6808" y="2858"/>
                  </a:lnTo>
                  <a:lnTo>
                    <a:pt x="6827" y="2842"/>
                  </a:lnTo>
                  <a:lnTo>
                    <a:pt x="6845" y="2825"/>
                  </a:lnTo>
                  <a:lnTo>
                    <a:pt x="6864" y="2807"/>
                  </a:lnTo>
                  <a:lnTo>
                    <a:pt x="6882" y="2789"/>
                  </a:lnTo>
                  <a:lnTo>
                    <a:pt x="6900" y="2770"/>
                  </a:lnTo>
                  <a:lnTo>
                    <a:pt x="6916" y="2751"/>
                  </a:lnTo>
                  <a:lnTo>
                    <a:pt x="6933" y="2731"/>
                  </a:lnTo>
                  <a:lnTo>
                    <a:pt x="6948" y="2710"/>
                  </a:lnTo>
                  <a:lnTo>
                    <a:pt x="6964" y="2689"/>
                  </a:lnTo>
                  <a:lnTo>
                    <a:pt x="6978" y="2668"/>
                  </a:lnTo>
                  <a:lnTo>
                    <a:pt x="6993" y="2646"/>
                  </a:lnTo>
                  <a:lnTo>
                    <a:pt x="7005" y="2624"/>
                  </a:lnTo>
                  <a:lnTo>
                    <a:pt x="7018" y="2603"/>
                  </a:lnTo>
                  <a:lnTo>
                    <a:pt x="7032" y="2582"/>
                  </a:lnTo>
                  <a:lnTo>
                    <a:pt x="7046" y="2561"/>
                  </a:lnTo>
                  <a:lnTo>
                    <a:pt x="7034" y="2586"/>
                  </a:lnTo>
                  <a:lnTo>
                    <a:pt x="7021" y="2611"/>
                  </a:lnTo>
                  <a:lnTo>
                    <a:pt x="7008" y="2635"/>
                  </a:lnTo>
                  <a:lnTo>
                    <a:pt x="6994" y="2659"/>
                  </a:lnTo>
                  <a:lnTo>
                    <a:pt x="6979" y="2682"/>
                  </a:lnTo>
                  <a:lnTo>
                    <a:pt x="6964" y="2706"/>
                  </a:lnTo>
                  <a:lnTo>
                    <a:pt x="6947" y="2728"/>
                  </a:lnTo>
                  <a:lnTo>
                    <a:pt x="6930" y="2749"/>
                  </a:lnTo>
                  <a:lnTo>
                    <a:pt x="6912" y="2770"/>
                  </a:lnTo>
                  <a:lnTo>
                    <a:pt x="6893" y="2791"/>
                  </a:lnTo>
                  <a:lnTo>
                    <a:pt x="6873" y="2811"/>
                  </a:lnTo>
                  <a:lnTo>
                    <a:pt x="6853" y="2829"/>
                  </a:lnTo>
                  <a:lnTo>
                    <a:pt x="6832" y="2848"/>
                  </a:lnTo>
                  <a:lnTo>
                    <a:pt x="6811" y="2866"/>
                  </a:lnTo>
                  <a:lnTo>
                    <a:pt x="6788" y="2883"/>
                  </a:lnTo>
                  <a:lnTo>
                    <a:pt x="6766" y="2899"/>
                  </a:lnTo>
                  <a:lnTo>
                    <a:pt x="6741" y="2915"/>
                  </a:lnTo>
                  <a:lnTo>
                    <a:pt x="6718" y="2929"/>
                  </a:lnTo>
                  <a:lnTo>
                    <a:pt x="6693" y="2943"/>
                  </a:lnTo>
                  <a:lnTo>
                    <a:pt x="6667" y="2955"/>
                  </a:lnTo>
                  <a:lnTo>
                    <a:pt x="6642" y="2968"/>
                  </a:lnTo>
                  <a:lnTo>
                    <a:pt x="6615" y="2979"/>
                  </a:lnTo>
                  <a:lnTo>
                    <a:pt x="6588" y="2989"/>
                  </a:lnTo>
                  <a:lnTo>
                    <a:pt x="6560" y="2999"/>
                  </a:lnTo>
                  <a:lnTo>
                    <a:pt x="6532" y="3006"/>
                  </a:lnTo>
                  <a:lnTo>
                    <a:pt x="6504" y="3014"/>
                  </a:lnTo>
                  <a:lnTo>
                    <a:pt x="6475" y="3020"/>
                  </a:lnTo>
                  <a:lnTo>
                    <a:pt x="6445" y="3025"/>
                  </a:lnTo>
                  <a:lnTo>
                    <a:pt x="6415" y="3028"/>
                  </a:lnTo>
                  <a:lnTo>
                    <a:pt x="6384" y="3032"/>
                  </a:lnTo>
                  <a:lnTo>
                    <a:pt x="6353" y="3034"/>
                  </a:lnTo>
                  <a:lnTo>
                    <a:pt x="6322" y="3034"/>
                  </a:lnTo>
                  <a:close/>
                </a:path>
              </a:pathLst>
            </a:custGeom>
            <a:solidFill>
              <a:srgbClr val="DB5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8">
              <a:extLst>
                <a:ext uri="{FF2B5EF4-FFF2-40B4-BE49-F238E27FC236}">
                  <a16:creationId xmlns:a16="http://schemas.microsoft.com/office/drawing/2014/main" id="{740EC742-5C03-9CD3-9160-CCFA9A320184}"/>
                </a:ext>
              </a:extLst>
            </p:cNvPr>
            <p:cNvSpPr>
              <a:spLocks/>
            </p:cNvSpPr>
            <p:nvPr/>
          </p:nvSpPr>
          <p:spPr bwMode="auto">
            <a:xfrm>
              <a:off x="4303" y="1407"/>
              <a:ext cx="1274" cy="1503"/>
            </a:xfrm>
            <a:custGeom>
              <a:avLst/>
              <a:gdLst>
                <a:gd name="T0" fmla="*/ 2065 w 6368"/>
                <a:gd name="T1" fmla="*/ 7476 h 7515"/>
                <a:gd name="T2" fmla="*/ 1463 w 6368"/>
                <a:gd name="T3" fmla="*/ 7337 h 7515"/>
                <a:gd name="T4" fmla="*/ 902 w 6368"/>
                <a:gd name="T5" fmla="*/ 7106 h 7515"/>
                <a:gd name="T6" fmla="*/ 390 w 6368"/>
                <a:gd name="T7" fmla="*/ 6791 h 7515"/>
                <a:gd name="T8" fmla="*/ 170 w 6368"/>
                <a:gd name="T9" fmla="*/ 6416 h 7515"/>
                <a:gd name="T10" fmla="*/ 507 w 6368"/>
                <a:gd name="T11" fmla="*/ 6029 h 7515"/>
                <a:gd name="T12" fmla="*/ 732 w 6368"/>
                <a:gd name="T13" fmla="*/ 5699 h 7515"/>
                <a:gd name="T14" fmla="*/ 848 w 6368"/>
                <a:gd name="T15" fmla="*/ 5336 h 7515"/>
                <a:gd name="T16" fmla="*/ 790 w 6368"/>
                <a:gd name="T17" fmla="*/ 4982 h 7515"/>
                <a:gd name="T18" fmla="*/ 589 w 6368"/>
                <a:gd name="T19" fmla="*/ 4690 h 7515"/>
                <a:gd name="T20" fmla="*/ 271 w 6368"/>
                <a:gd name="T21" fmla="*/ 4512 h 7515"/>
                <a:gd name="T22" fmla="*/ 13 w 6368"/>
                <a:gd name="T23" fmla="*/ 4483 h 7515"/>
                <a:gd name="T24" fmla="*/ 122 w 6368"/>
                <a:gd name="T25" fmla="*/ 4483 h 7515"/>
                <a:gd name="T26" fmla="*/ 300 w 6368"/>
                <a:gd name="T27" fmla="*/ 4516 h 7515"/>
                <a:gd name="T28" fmla="*/ 465 w 6368"/>
                <a:gd name="T29" fmla="*/ 4588 h 7515"/>
                <a:gd name="T30" fmla="*/ 610 w 6368"/>
                <a:gd name="T31" fmla="*/ 4694 h 7515"/>
                <a:gd name="T32" fmla="*/ 729 w 6368"/>
                <a:gd name="T33" fmla="*/ 4832 h 7515"/>
                <a:gd name="T34" fmla="*/ 958 w 6368"/>
                <a:gd name="T35" fmla="*/ 5152 h 7515"/>
                <a:gd name="T36" fmla="*/ 1304 w 6368"/>
                <a:gd name="T37" fmla="*/ 5478 h 7515"/>
                <a:gd name="T38" fmla="*/ 1715 w 6368"/>
                <a:gd name="T39" fmla="*/ 5724 h 7515"/>
                <a:gd name="T40" fmla="*/ 2179 w 6368"/>
                <a:gd name="T41" fmla="*/ 5874 h 7515"/>
                <a:gd name="T42" fmla="*/ 2721 w 6368"/>
                <a:gd name="T43" fmla="*/ 5913 h 7515"/>
                <a:gd name="T44" fmla="*/ 3465 w 6368"/>
                <a:gd name="T45" fmla="*/ 5738 h 7515"/>
                <a:gd name="T46" fmla="*/ 4087 w 6368"/>
                <a:gd name="T47" fmla="*/ 5329 h 7515"/>
                <a:gd name="T48" fmla="*/ 4533 w 6368"/>
                <a:gd name="T49" fmla="*/ 4737 h 7515"/>
                <a:gd name="T50" fmla="*/ 4753 w 6368"/>
                <a:gd name="T51" fmla="*/ 4011 h 7515"/>
                <a:gd name="T52" fmla="*/ 4711 w 6368"/>
                <a:gd name="T53" fmla="*/ 3268 h 7515"/>
                <a:gd name="T54" fmla="*/ 4448 w 6368"/>
                <a:gd name="T55" fmla="*/ 2630 h 7515"/>
                <a:gd name="T56" fmla="*/ 4004 w 6368"/>
                <a:gd name="T57" fmla="*/ 2114 h 7515"/>
                <a:gd name="T58" fmla="*/ 3419 w 6368"/>
                <a:gd name="T59" fmla="*/ 1757 h 7515"/>
                <a:gd name="T60" fmla="*/ 2733 w 6368"/>
                <a:gd name="T61" fmla="*/ 1603 h 7515"/>
                <a:gd name="T62" fmla="*/ 2389 w 6368"/>
                <a:gd name="T63" fmla="*/ 1609 h 7515"/>
                <a:gd name="T64" fmla="*/ 1906 w 6368"/>
                <a:gd name="T65" fmla="*/ 1715 h 7515"/>
                <a:gd name="T66" fmla="*/ 1471 w 6368"/>
                <a:gd name="T67" fmla="*/ 1922 h 7515"/>
                <a:gd name="T68" fmla="*/ 1095 w 6368"/>
                <a:gd name="T69" fmla="*/ 2217 h 7515"/>
                <a:gd name="T70" fmla="*/ 793 w 6368"/>
                <a:gd name="T71" fmla="*/ 2586 h 7515"/>
                <a:gd name="T72" fmla="*/ 721 w 6368"/>
                <a:gd name="T73" fmla="*/ 2697 h 7515"/>
                <a:gd name="T74" fmla="*/ 814 w 6368"/>
                <a:gd name="T75" fmla="*/ 2519 h 7515"/>
                <a:gd name="T76" fmla="*/ 859 w 6368"/>
                <a:gd name="T77" fmla="*/ 2323 h 7515"/>
                <a:gd name="T78" fmla="*/ 851 w 6368"/>
                <a:gd name="T79" fmla="*/ 2118 h 7515"/>
                <a:gd name="T80" fmla="*/ 785 w 6368"/>
                <a:gd name="T81" fmla="*/ 1913 h 7515"/>
                <a:gd name="T82" fmla="*/ 585 w 6368"/>
                <a:gd name="T83" fmla="*/ 1594 h 7515"/>
                <a:gd name="T84" fmla="*/ 275 w 6368"/>
                <a:gd name="T85" fmla="*/ 1211 h 7515"/>
                <a:gd name="T86" fmla="*/ 253 w 6368"/>
                <a:gd name="T87" fmla="*/ 828 h 7515"/>
                <a:gd name="T88" fmla="*/ 749 w 6368"/>
                <a:gd name="T89" fmla="*/ 491 h 7515"/>
                <a:gd name="T90" fmla="*/ 1297 w 6368"/>
                <a:gd name="T91" fmla="*/ 235 h 7515"/>
                <a:gd name="T92" fmla="*/ 1889 w 6368"/>
                <a:gd name="T93" fmla="*/ 69 h 7515"/>
                <a:gd name="T94" fmla="*/ 2515 w 6368"/>
                <a:gd name="T95" fmla="*/ 1 h 7515"/>
                <a:gd name="T96" fmla="*/ 3748 w 6368"/>
                <a:gd name="T97" fmla="*/ 177 h 7515"/>
                <a:gd name="T98" fmla="*/ 4900 w 6368"/>
                <a:gd name="T99" fmla="*/ 780 h 7515"/>
                <a:gd name="T100" fmla="*/ 5772 w 6368"/>
                <a:gd name="T101" fmla="*/ 1730 h 7515"/>
                <a:gd name="T102" fmla="*/ 6277 w 6368"/>
                <a:gd name="T103" fmla="*/ 2935 h 7515"/>
                <a:gd name="T104" fmla="*/ 6334 w 6368"/>
                <a:gd name="T105" fmla="*/ 4268 h 7515"/>
                <a:gd name="T106" fmla="*/ 5964 w 6368"/>
                <a:gd name="T107" fmla="*/ 5447 h 7515"/>
                <a:gd name="T108" fmla="*/ 5251 w 6368"/>
                <a:gd name="T109" fmla="*/ 6425 h 7515"/>
                <a:gd name="T110" fmla="*/ 4265 w 6368"/>
                <a:gd name="T111" fmla="*/ 7128 h 7515"/>
                <a:gd name="T112" fmla="*/ 3081 w 6368"/>
                <a:gd name="T113" fmla="*/ 7485 h 7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368" h="7515">
                  <a:moveTo>
                    <a:pt x="2607" y="7515"/>
                  </a:moveTo>
                  <a:lnTo>
                    <a:pt x="2515" y="7514"/>
                  </a:lnTo>
                  <a:lnTo>
                    <a:pt x="2423" y="7511"/>
                  </a:lnTo>
                  <a:lnTo>
                    <a:pt x="2334" y="7505"/>
                  </a:lnTo>
                  <a:lnTo>
                    <a:pt x="2243" y="7497"/>
                  </a:lnTo>
                  <a:lnTo>
                    <a:pt x="2153" y="7488"/>
                  </a:lnTo>
                  <a:lnTo>
                    <a:pt x="2065" y="7476"/>
                  </a:lnTo>
                  <a:lnTo>
                    <a:pt x="1976" y="7462"/>
                  </a:lnTo>
                  <a:lnTo>
                    <a:pt x="1889" y="7447"/>
                  </a:lnTo>
                  <a:lnTo>
                    <a:pt x="1803" y="7429"/>
                  </a:lnTo>
                  <a:lnTo>
                    <a:pt x="1716" y="7409"/>
                  </a:lnTo>
                  <a:lnTo>
                    <a:pt x="1631" y="7387"/>
                  </a:lnTo>
                  <a:lnTo>
                    <a:pt x="1546" y="7363"/>
                  </a:lnTo>
                  <a:lnTo>
                    <a:pt x="1463" y="7337"/>
                  </a:lnTo>
                  <a:lnTo>
                    <a:pt x="1380" y="7310"/>
                  </a:lnTo>
                  <a:lnTo>
                    <a:pt x="1298" y="7281"/>
                  </a:lnTo>
                  <a:lnTo>
                    <a:pt x="1216" y="7249"/>
                  </a:lnTo>
                  <a:lnTo>
                    <a:pt x="1137" y="7216"/>
                  </a:lnTo>
                  <a:lnTo>
                    <a:pt x="1057" y="7181"/>
                  </a:lnTo>
                  <a:lnTo>
                    <a:pt x="979" y="7145"/>
                  </a:lnTo>
                  <a:lnTo>
                    <a:pt x="902" y="7106"/>
                  </a:lnTo>
                  <a:lnTo>
                    <a:pt x="826" y="7066"/>
                  </a:lnTo>
                  <a:lnTo>
                    <a:pt x="750" y="7024"/>
                  </a:lnTo>
                  <a:lnTo>
                    <a:pt x="675" y="6981"/>
                  </a:lnTo>
                  <a:lnTo>
                    <a:pt x="602" y="6936"/>
                  </a:lnTo>
                  <a:lnTo>
                    <a:pt x="530" y="6890"/>
                  </a:lnTo>
                  <a:lnTo>
                    <a:pt x="460" y="6841"/>
                  </a:lnTo>
                  <a:lnTo>
                    <a:pt x="390" y="6791"/>
                  </a:lnTo>
                  <a:lnTo>
                    <a:pt x="321" y="6740"/>
                  </a:lnTo>
                  <a:lnTo>
                    <a:pt x="254" y="6687"/>
                  </a:lnTo>
                  <a:lnTo>
                    <a:pt x="188" y="6633"/>
                  </a:lnTo>
                  <a:lnTo>
                    <a:pt x="123" y="6578"/>
                  </a:lnTo>
                  <a:lnTo>
                    <a:pt x="60" y="6521"/>
                  </a:lnTo>
                  <a:lnTo>
                    <a:pt x="115" y="6469"/>
                  </a:lnTo>
                  <a:lnTo>
                    <a:pt x="170" y="6416"/>
                  </a:lnTo>
                  <a:lnTo>
                    <a:pt x="223" y="6361"/>
                  </a:lnTo>
                  <a:lnTo>
                    <a:pt x="275" y="6305"/>
                  </a:lnTo>
                  <a:lnTo>
                    <a:pt x="327" y="6249"/>
                  </a:lnTo>
                  <a:lnTo>
                    <a:pt x="377" y="6191"/>
                  </a:lnTo>
                  <a:lnTo>
                    <a:pt x="425" y="6133"/>
                  </a:lnTo>
                  <a:lnTo>
                    <a:pt x="473" y="6074"/>
                  </a:lnTo>
                  <a:lnTo>
                    <a:pt x="507" y="6029"/>
                  </a:lnTo>
                  <a:lnTo>
                    <a:pt x="541" y="5983"/>
                  </a:lnTo>
                  <a:lnTo>
                    <a:pt x="575" y="5937"/>
                  </a:lnTo>
                  <a:lnTo>
                    <a:pt x="608" y="5891"/>
                  </a:lnTo>
                  <a:lnTo>
                    <a:pt x="640" y="5843"/>
                  </a:lnTo>
                  <a:lnTo>
                    <a:pt x="671" y="5796"/>
                  </a:lnTo>
                  <a:lnTo>
                    <a:pt x="702" y="5748"/>
                  </a:lnTo>
                  <a:lnTo>
                    <a:pt x="732" y="5699"/>
                  </a:lnTo>
                  <a:lnTo>
                    <a:pt x="760" y="5649"/>
                  </a:lnTo>
                  <a:lnTo>
                    <a:pt x="785" y="5598"/>
                  </a:lnTo>
                  <a:lnTo>
                    <a:pt x="805" y="5546"/>
                  </a:lnTo>
                  <a:lnTo>
                    <a:pt x="821" y="5494"/>
                  </a:lnTo>
                  <a:lnTo>
                    <a:pt x="833" y="5441"/>
                  </a:lnTo>
                  <a:lnTo>
                    <a:pt x="842" y="5389"/>
                  </a:lnTo>
                  <a:lnTo>
                    <a:pt x="848" y="5336"/>
                  </a:lnTo>
                  <a:lnTo>
                    <a:pt x="850" y="5284"/>
                  </a:lnTo>
                  <a:lnTo>
                    <a:pt x="848" y="5232"/>
                  </a:lnTo>
                  <a:lnTo>
                    <a:pt x="843" y="5180"/>
                  </a:lnTo>
                  <a:lnTo>
                    <a:pt x="835" y="5129"/>
                  </a:lnTo>
                  <a:lnTo>
                    <a:pt x="822" y="5079"/>
                  </a:lnTo>
                  <a:lnTo>
                    <a:pt x="808" y="5030"/>
                  </a:lnTo>
                  <a:lnTo>
                    <a:pt x="790" y="4982"/>
                  </a:lnTo>
                  <a:lnTo>
                    <a:pt x="770" y="4936"/>
                  </a:lnTo>
                  <a:lnTo>
                    <a:pt x="746" y="4890"/>
                  </a:lnTo>
                  <a:lnTo>
                    <a:pt x="719" y="4846"/>
                  </a:lnTo>
                  <a:lnTo>
                    <a:pt x="691" y="4804"/>
                  </a:lnTo>
                  <a:lnTo>
                    <a:pt x="660" y="4764"/>
                  </a:lnTo>
                  <a:lnTo>
                    <a:pt x="625" y="4727"/>
                  </a:lnTo>
                  <a:lnTo>
                    <a:pt x="589" y="4690"/>
                  </a:lnTo>
                  <a:lnTo>
                    <a:pt x="550" y="4657"/>
                  </a:lnTo>
                  <a:lnTo>
                    <a:pt x="508" y="4625"/>
                  </a:lnTo>
                  <a:lnTo>
                    <a:pt x="465" y="4598"/>
                  </a:lnTo>
                  <a:lnTo>
                    <a:pt x="420" y="4571"/>
                  </a:lnTo>
                  <a:lnTo>
                    <a:pt x="372" y="4549"/>
                  </a:lnTo>
                  <a:lnTo>
                    <a:pt x="322" y="4529"/>
                  </a:lnTo>
                  <a:lnTo>
                    <a:pt x="271" y="4512"/>
                  </a:lnTo>
                  <a:lnTo>
                    <a:pt x="218" y="4499"/>
                  </a:lnTo>
                  <a:lnTo>
                    <a:pt x="163" y="4490"/>
                  </a:lnTo>
                  <a:lnTo>
                    <a:pt x="107" y="4484"/>
                  </a:lnTo>
                  <a:lnTo>
                    <a:pt x="49" y="4483"/>
                  </a:lnTo>
                  <a:lnTo>
                    <a:pt x="37" y="4483"/>
                  </a:lnTo>
                  <a:lnTo>
                    <a:pt x="25" y="4483"/>
                  </a:lnTo>
                  <a:lnTo>
                    <a:pt x="13" y="4483"/>
                  </a:lnTo>
                  <a:lnTo>
                    <a:pt x="0" y="4484"/>
                  </a:lnTo>
                  <a:lnTo>
                    <a:pt x="17" y="4483"/>
                  </a:lnTo>
                  <a:lnTo>
                    <a:pt x="35" y="4482"/>
                  </a:lnTo>
                  <a:lnTo>
                    <a:pt x="51" y="4482"/>
                  </a:lnTo>
                  <a:lnTo>
                    <a:pt x="69" y="4482"/>
                  </a:lnTo>
                  <a:lnTo>
                    <a:pt x="96" y="4482"/>
                  </a:lnTo>
                  <a:lnTo>
                    <a:pt x="122" y="4483"/>
                  </a:lnTo>
                  <a:lnTo>
                    <a:pt x="148" y="4485"/>
                  </a:lnTo>
                  <a:lnTo>
                    <a:pt x="174" y="4488"/>
                  </a:lnTo>
                  <a:lnTo>
                    <a:pt x="200" y="4491"/>
                  </a:lnTo>
                  <a:lnTo>
                    <a:pt x="225" y="4497"/>
                  </a:lnTo>
                  <a:lnTo>
                    <a:pt x="250" y="4503"/>
                  </a:lnTo>
                  <a:lnTo>
                    <a:pt x="276" y="4509"/>
                  </a:lnTo>
                  <a:lnTo>
                    <a:pt x="300" y="4516"/>
                  </a:lnTo>
                  <a:lnTo>
                    <a:pt x="325" y="4524"/>
                  </a:lnTo>
                  <a:lnTo>
                    <a:pt x="349" y="4532"/>
                  </a:lnTo>
                  <a:lnTo>
                    <a:pt x="373" y="4542"/>
                  </a:lnTo>
                  <a:lnTo>
                    <a:pt x="396" y="4552"/>
                  </a:lnTo>
                  <a:lnTo>
                    <a:pt x="420" y="4563"/>
                  </a:lnTo>
                  <a:lnTo>
                    <a:pt x="443" y="4575"/>
                  </a:lnTo>
                  <a:lnTo>
                    <a:pt x="465" y="4588"/>
                  </a:lnTo>
                  <a:lnTo>
                    <a:pt x="487" y="4601"/>
                  </a:lnTo>
                  <a:lnTo>
                    <a:pt x="508" y="4614"/>
                  </a:lnTo>
                  <a:lnTo>
                    <a:pt x="530" y="4630"/>
                  </a:lnTo>
                  <a:lnTo>
                    <a:pt x="550" y="4644"/>
                  </a:lnTo>
                  <a:lnTo>
                    <a:pt x="571" y="4661"/>
                  </a:lnTo>
                  <a:lnTo>
                    <a:pt x="591" y="4677"/>
                  </a:lnTo>
                  <a:lnTo>
                    <a:pt x="610" y="4694"/>
                  </a:lnTo>
                  <a:lnTo>
                    <a:pt x="629" y="4713"/>
                  </a:lnTo>
                  <a:lnTo>
                    <a:pt x="648" y="4730"/>
                  </a:lnTo>
                  <a:lnTo>
                    <a:pt x="665" y="4749"/>
                  </a:lnTo>
                  <a:lnTo>
                    <a:pt x="682" y="4769"/>
                  </a:lnTo>
                  <a:lnTo>
                    <a:pt x="698" y="4790"/>
                  </a:lnTo>
                  <a:lnTo>
                    <a:pt x="715" y="4810"/>
                  </a:lnTo>
                  <a:lnTo>
                    <a:pt x="729" y="4832"/>
                  </a:lnTo>
                  <a:lnTo>
                    <a:pt x="745" y="4854"/>
                  </a:lnTo>
                  <a:lnTo>
                    <a:pt x="759" y="4876"/>
                  </a:lnTo>
                  <a:lnTo>
                    <a:pt x="796" y="4934"/>
                  </a:lnTo>
                  <a:lnTo>
                    <a:pt x="833" y="4990"/>
                  </a:lnTo>
                  <a:lnTo>
                    <a:pt x="873" y="5045"/>
                  </a:lnTo>
                  <a:lnTo>
                    <a:pt x="915" y="5099"/>
                  </a:lnTo>
                  <a:lnTo>
                    <a:pt x="958" y="5152"/>
                  </a:lnTo>
                  <a:lnTo>
                    <a:pt x="1004" y="5203"/>
                  </a:lnTo>
                  <a:lnTo>
                    <a:pt x="1050" y="5253"/>
                  </a:lnTo>
                  <a:lnTo>
                    <a:pt x="1098" y="5302"/>
                  </a:lnTo>
                  <a:lnTo>
                    <a:pt x="1148" y="5348"/>
                  </a:lnTo>
                  <a:lnTo>
                    <a:pt x="1198" y="5393"/>
                  </a:lnTo>
                  <a:lnTo>
                    <a:pt x="1250" y="5436"/>
                  </a:lnTo>
                  <a:lnTo>
                    <a:pt x="1304" y="5478"/>
                  </a:lnTo>
                  <a:lnTo>
                    <a:pt x="1359" y="5519"/>
                  </a:lnTo>
                  <a:lnTo>
                    <a:pt x="1415" y="5558"/>
                  </a:lnTo>
                  <a:lnTo>
                    <a:pt x="1473" y="5594"/>
                  </a:lnTo>
                  <a:lnTo>
                    <a:pt x="1531" y="5630"/>
                  </a:lnTo>
                  <a:lnTo>
                    <a:pt x="1591" y="5663"/>
                  </a:lnTo>
                  <a:lnTo>
                    <a:pt x="1653" y="5694"/>
                  </a:lnTo>
                  <a:lnTo>
                    <a:pt x="1715" y="5724"/>
                  </a:lnTo>
                  <a:lnTo>
                    <a:pt x="1778" y="5751"/>
                  </a:lnTo>
                  <a:lnTo>
                    <a:pt x="1842" y="5777"/>
                  </a:lnTo>
                  <a:lnTo>
                    <a:pt x="1908" y="5800"/>
                  </a:lnTo>
                  <a:lnTo>
                    <a:pt x="1974" y="5822"/>
                  </a:lnTo>
                  <a:lnTo>
                    <a:pt x="2041" y="5841"/>
                  </a:lnTo>
                  <a:lnTo>
                    <a:pt x="2109" y="5859"/>
                  </a:lnTo>
                  <a:lnTo>
                    <a:pt x="2179" y="5874"/>
                  </a:lnTo>
                  <a:lnTo>
                    <a:pt x="2248" y="5886"/>
                  </a:lnTo>
                  <a:lnTo>
                    <a:pt x="2318" y="5897"/>
                  </a:lnTo>
                  <a:lnTo>
                    <a:pt x="2389" y="5905"/>
                  </a:lnTo>
                  <a:lnTo>
                    <a:pt x="2461" y="5912"/>
                  </a:lnTo>
                  <a:lnTo>
                    <a:pt x="2534" y="5915"/>
                  </a:lnTo>
                  <a:lnTo>
                    <a:pt x="2607" y="5916"/>
                  </a:lnTo>
                  <a:lnTo>
                    <a:pt x="2721" y="5913"/>
                  </a:lnTo>
                  <a:lnTo>
                    <a:pt x="2832" y="5905"/>
                  </a:lnTo>
                  <a:lnTo>
                    <a:pt x="2943" y="5889"/>
                  </a:lnTo>
                  <a:lnTo>
                    <a:pt x="3051" y="5870"/>
                  </a:lnTo>
                  <a:lnTo>
                    <a:pt x="3159" y="5845"/>
                  </a:lnTo>
                  <a:lnTo>
                    <a:pt x="3263" y="5814"/>
                  </a:lnTo>
                  <a:lnTo>
                    <a:pt x="3366" y="5779"/>
                  </a:lnTo>
                  <a:lnTo>
                    <a:pt x="3465" y="5738"/>
                  </a:lnTo>
                  <a:lnTo>
                    <a:pt x="3563" y="5693"/>
                  </a:lnTo>
                  <a:lnTo>
                    <a:pt x="3658" y="5643"/>
                  </a:lnTo>
                  <a:lnTo>
                    <a:pt x="3750" y="5589"/>
                  </a:lnTo>
                  <a:lnTo>
                    <a:pt x="3839" y="5530"/>
                  </a:lnTo>
                  <a:lnTo>
                    <a:pt x="3924" y="5467"/>
                  </a:lnTo>
                  <a:lnTo>
                    <a:pt x="4007" y="5400"/>
                  </a:lnTo>
                  <a:lnTo>
                    <a:pt x="4087" y="5329"/>
                  </a:lnTo>
                  <a:lnTo>
                    <a:pt x="4162" y="5254"/>
                  </a:lnTo>
                  <a:lnTo>
                    <a:pt x="4234" y="5177"/>
                  </a:lnTo>
                  <a:lnTo>
                    <a:pt x="4302" y="5095"/>
                  </a:lnTo>
                  <a:lnTo>
                    <a:pt x="4366" y="5010"/>
                  </a:lnTo>
                  <a:lnTo>
                    <a:pt x="4425" y="4921"/>
                  </a:lnTo>
                  <a:lnTo>
                    <a:pt x="4481" y="4831"/>
                  </a:lnTo>
                  <a:lnTo>
                    <a:pt x="4533" y="4737"/>
                  </a:lnTo>
                  <a:lnTo>
                    <a:pt x="4579" y="4640"/>
                  </a:lnTo>
                  <a:lnTo>
                    <a:pt x="4620" y="4540"/>
                  </a:lnTo>
                  <a:lnTo>
                    <a:pt x="4658" y="4438"/>
                  </a:lnTo>
                  <a:lnTo>
                    <a:pt x="4689" y="4335"/>
                  </a:lnTo>
                  <a:lnTo>
                    <a:pt x="4715" y="4228"/>
                  </a:lnTo>
                  <a:lnTo>
                    <a:pt x="4737" y="4120"/>
                  </a:lnTo>
                  <a:lnTo>
                    <a:pt x="4753" y="4011"/>
                  </a:lnTo>
                  <a:lnTo>
                    <a:pt x="4763" y="3898"/>
                  </a:lnTo>
                  <a:lnTo>
                    <a:pt x="4767" y="3785"/>
                  </a:lnTo>
                  <a:lnTo>
                    <a:pt x="4766" y="3670"/>
                  </a:lnTo>
                  <a:lnTo>
                    <a:pt x="4760" y="3568"/>
                  </a:lnTo>
                  <a:lnTo>
                    <a:pt x="4747" y="3467"/>
                  </a:lnTo>
                  <a:lnTo>
                    <a:pt x="4732" y="3366"/>
                  </a:lnTo>
                  <a:lnTo>
                    <a:pt x="4711" y="3268"/>
                  </a:lnTo>
                  <a:lnTo>
                    <a:pt x="4685" y="3171"/>
                  </a:lnTo>
                  <a:lnTo>
                    <a:pt x="4657" y="3076"/>
                  </a:lnTo>
                  <a:lnTo>
                    <a:pt x="4622" y="2983"/>
                  </a:lnTo>
                  <a:lnTo>
                    <a:pt x="4585" y="2891"/>
                  </a:lnTo>
                  <a:lnTo>
                    <a:pt x="4543" y="2803"/>
                  </a:lnTo>
                  <a:lnTo>
                    <a:pt x="4497" y="2716"/>
                  </a:lnTo>
                  <a:lnTo>
                    <a:pt x="4448" y="2630"/>
                  </a:lnTo>
                  <a:lnTo>
                    <a:pt x="4394" y="2549"/>
                  </a:lnTo>
                  <a:lnTo>
                    <a:pt x="4337" y="2469"/>
                  </a:lnTo>
                  <a:lnTo>
                    <a:pt x="4277" y="2392"/>
                  </a:lnTo>
                  <a:lnTo>
                    <a:pt x="4213" y="2318"/>
                  </a:lnTo>
                  <a:lnTo>
                    <a:pt x="4147" y="2247"/>
                  </a:lnTo>
                  <a:lnTo>
                    <a:pt x="4077" y="2178"/>
                  </a:lnTo>
                  <a:lnTo>
                    <a:pt x="4004" y="2114"/>
                  </a:lnTo>
                  <a:lnTo>
                    <a:pt x="3928" y="2052"/>
                  </a:lnTo>
                  <a:lnTo>
                    <a:pt x="3849" y="1994"/>
                  </a:lnTo>
                  <a:lnTo>
                    <a:pt x="3768" y="1940"/>
                  </a:lnTo>
                  <a:lnTo>
                    <a:pt x="3684" y="1888"/>
                  </a:lnTo>
                  <a:lnTo>
                    <a:pt x="3598" y="1841"/>
                  </a:lnTo>
                  <a:lnTo>
                    <a:pt x="3509" y="1797"/>
                  </a:lnTo>
                  <a:lnTo>
                    <a:pt x="3419" y="1757"/>
                  </a:lnTo>
                  <a:lnTo>
                    <a:pt x="3326" y="1722"/>
                  </a:lnTo>
                  <a:lnTo>
                    <a:pt x="3232" y="1691"/>
                  </a:lnTo>
                  <a:lnTo>
                    <a:pt x="3136" y="1665"/>
                  </a:lnTo>
                  <a:lnTo>
                    <a:pt x="3037" y="1641"/>
                  </a:lnTo>
                  <a:lnTo>
                    <a:pt x="2938" y="1624"/>
                  </a:lnTo>
                  <a:lnTo>
                    <a:pt x="2836" y="1610"/>
                  </a:lnTo>
                  <a:lnTo>
                    <a:pt x="2733" y="1603"/>
                  </a:lnTo>
                  <a:lnTo>
                    <a:pt x="2702" y="1600"/>
                  </a:lnTo>
                  <a:lnTo>
                    <a:pt x="2670" y="1599"/>
                  </a:lnTo>
                  <a:lnTo>
                    <a:pt x="2638" y="1599"/>
                  </a:lnTo>
                  <a:lnTo>
                    <a:pt x="2607" y="1599"/>
                  </a:lnTo>
                  <a:lnTo>
                    <a:pt x="2534" y="1600"/>
                  </a:lnTo>
                  <a:lnTo>
                    <a:pt x="2461" y="1604"/>
                  </a:lnTo>
                  <a:lnTo>
                    <a:pt x="2389" y="1609"/>
                  </a:lnTo>
                  <a:lnTo>
                    <a:pt x="2317" y="1618"/>
                  </a:lnTo>
                  <a:lnTo>
                    <a:pt x="2247" y="1629"/>
                  </a:lnTo>
                  <a:lnTo>
                    <a:pt x="2178" y="1641"/>
                  </a:lnTo>
                  <a:lnTo>
                    <a:pt x="2108" y="1657"/>
                  </a:lnTo>
                  <a:lnTo>
                    <a:pt x="2040" y="1674"/>
                  </a:lnTo>
                  <a:lnTo>
                    <a:pt x="1973" y="1693"/>
                  </a:lnTo>
                  <a:lnTo>
                    <a:pt x="1906" y="1715"/>
                  </a:lnTo>
                  <a:lnTo>
                    <a:pt x="1841" y="1739"/>
                  </a:lnTo>
                  <a:lnTo>
                    <a:pt x="1776" y="1764"/>
                  </a:lnTo>
                  <a:lnTo>
                    <a:pt x="1713" y="1793"/>
                  </a:lnTo>
                  <a:lnTo>
                    <a:pt x="1651" y="1821"/>
                  </a:lnTo>
                  <a:lnTo>
                    <a:pt x="1589" y="1854"/>
                  </a:lnTo>
                  <a:lnTo>
                    <a:pt x="1529" y="1887"/>
                  </a:lnTo>
                  <a:lnTo>
                    <a:pt x="1471" y="1922"/>
                  </a:lnTo>
                  <a:lnTo>
                    <a:pt x="1413" y="1959"/>
                  </a:lnTo>
                  <a:lnTo>
                    <a:pt x="1357" y="1998"/>
                  </a:lnTo>
                  <a:lnTo>
                    <a:pt x="1301" y="2038"/>
                  </a:lnTo>
                  <a:lnTo>
                    <a:pt x="1247" y="2080"/>
                  </a:lnTo>
                  <a:lnTo>
                    <a:pt x="1195" y="2124"/>
                  </a:lnTo>
                  <a:lnTo>
                    <a:pt x="1144" y="2170"/>
                  </a:lnTo>
                  <a:lnTo>
                    <a:pt x="1095" y="2217"/>
                  </a:lnTo>
                  <a:lnTo>
                    <a:pt x="1047" y="2266"/>
                  </a:lnTo>
                  <a:lnTo>
                    <a:pt x="1000" y="2315"/>
                  </a:lnTo>
                  <a:lnTo>
                    <a:pt x="955" y="2366"/>
                  </a:lnTo>
                  <a:lnTo>
                    <a:pt x="912" y="2419"/>
                  </a:lnTo>
                  <a:lnTo>
                    <a:pt x="870" y="2474"/>
                  </a:lnTo>
                  <a:lnTo>
                    <a:pt x="830" y="2529"/>
                  </a:lnTo>
                  <a:lnTo>
                    <a:pt x="793" y="2586"/>
                  </a:lnTo>
                  <a:lnTo>
                    <a:pt x="756" y="2644"/>
                  </a:lnTo>
                  <a:lnTo>
                    <a:pt x="739" y="2670"/>
                  </a:lnTo>
                  <a:lnTo>
                    <a:pt x="723" y="2695"/>
                  </a:lnTo>
                  <a:lnTo>
                    <a:pt x="704" y="2720"/>
                  </a:lnTo>
                  <a:lnTo>
                    <a:pt x="685" y="2743"/>
                  </a:lnTo>
                  <a:lnTo>
                    <a:pt x="703" y="2720"/>
                  </a:lnTo>
                  <a:lnTo>
                    <a:pt x="721" y="2697"/>
                  </a:lnTo>
                  <a:lnTo>
                    <a:pt x="736" y="2674"/>
                  </a:lnTo>
                  <a:lnTo>
                    <a:pt x="752" y="2648"/>
                  </a:lnTo>
                  <a:lnTo>
                    <a:pt x="766" y="2624"/>
                  </a:lnTo>
                  <a:lnTo>
                    <a:pt x="779" y="2598"/>
                  </a:lnTo>
                  <a:lnTo>
                    <a:pt x="791" y="2572"/>
                  </a:lnTo>
                  <a:lnTo>
                    <a:pt x="802" y="2545"/>
                  </a:lnTo>
                  <a:lnTo>
                    <a:pt x="814" y="2519"/>
                  </a:lnTo>
                  <a:lnTo>
                    <a:pt x="823" y="2492"/>
                  </a:lnTo>
                  <a:lnTo>
                    <a:pt x="831" y="2465"/>
                  </a:lnTo>
                  <a:lnTo>
                    <a:pt x="839" y="2437"/>
                  </a:lnTo>
                  <a:lnTo>
                    <a:pt x="846" y="2408"/>
                  </a:lnTo>
                  <a:lnTo>
                    <a:pt x="851" y="2380"/>
                  </a:lnTo>
                  <a:lnTo>
                    <a:pt x="856" y="2352"/>
                  </a:lnTo>
                  <a:lnTo>
                    <a:pt x="859" y="2323"/>
                  </a:lnTo>
                  <a:lnTo>
                    <a:pt x="861" y="2293"/>
                  </a:lnTo>
                  <a:lnTo>
                    <a:pt x="862" y="2265"/>
                  </a:lnTo>
                  <a:lnTo>
                    <a:pt x="862" y="2235"/>
                  </a:lnTo>
                  <a:lnTo>
                    <a:pt x="861" y="2206"/>
                  </a:lnTo>
                  <a:lnTo>
                    <a:pt x="859" y="2176"/>
                  </a:lnTo>
                  <a:lnTo>
                    <a:pt x="856" y="2146"/>
                  </a:lnTo>
                  <a:lnTo>
                    <a:pt x="851" y="2118"/>
                  </a:lnTo>
                  <a:lnTo>
                    <a:pt x="846" y="2088"/>
                  </a:lnTo>
                  <a:lnTo>
                    <a:pt x="839" y="2058"/>
                  </a:lnTo>
                  <a:lnTo>
                    <a:pt x="830" y="2029"/>
                  </a:lnTo>
                  <a:lnTo>
                    <a:pt x="821" y="1999"/>
                  </a:lnTo>
                  <a:lnTo>
                    <a:pt x="810" y="1971"/>
                  </a:lnTo>
                  <a:lnTo>
                    <a:pt x="798" y="1942"/>
                  </a:lnTo>
                  <a:lnTo>
                    <a:pt x="785" y="1913"/>
                  </a:lnTo>
                  <a:lnTo>
                    <a:pt x="770" y="1884"/>
                  </a:lnTo>
                  <a:lnTo>
                    <a:pt x="754" y="1856"/>
                  </a:lnTo>
                  <a:lnTo>
                    <a:pt x="722" y="1803"/>
                  </a:lnTo>
                  <a:lnTo>
                    <a:pt x="689" y="1750"/>
                  </a:lnTo>
                  <a:lnTo>
                    <a:pt x="655" y="1697"/>
                  </a:lnTo>
                  <a:lnTo>
                    <a:pt x="620" y="1645"/>
                  </a:lnTo>
                  <a:lnTo>
                    <a:pt x="585" y="1594"/>
                  </a:lnTo>
                  <a:lnTo>
                    <a:pt x="548" y="1543"/>
                  </a:lnTo>
                  <a:lnTo>
                    <a:pt x="510" y="1493"/>
                  </a:lnTo>
                  <a:lnTo>
                    <a:pt x="473" y="1444"/>
                  </a:lnTo>
                  <a:lnTo>
                    <a:pt x="425" y="1384"/>
                  </a:lnTo>
                  <a:lnTo>
                    <a:pt x="375" y="1325"/>
                  </a:lnTo>
                  <a:lnTo>
                    <a:pt x="326" y="1268"/>
                  </a:lnTo>
                  <a:lnTo>
                    <a:pt x="275" y="1211"/>
                  </a:lnTo>
                  <a:lnTo>
                    <a:pt x="222" y="1156"/>
                  </a:lnTo>
                  <a:lnTo>
                    <a:pt x="169" y="1101"/>
                  </a:lnTo>
                  <a:lnTo>
                    <a:pt x="114" y="1048"/>
                  </a:lnTo>
                  <a:lnTo>
                    <a:pt x="58" y="996"/>
                  </a:lnTo>
                  <a:lnTo>
                    <a:pt x="122" y="938"/>
                  </a:lnTo>
                  <a:lnTo>
                    <a:pt x="186" y="882"/>
                  </a:lnTo>
                  <a:lnTo>
                    <a:pt x="253" y="828"/>
                  </a:lnTo>
                  <a:lnTo>
                    <a:pt x="320" y="775"/>
                  </a:lnTo>
                  <a:lnTo>
                    <a:pt x="389" y="724"/>
                  </a:lnTo>
                  <a:lnTo>
                    <a:pt x="458" y="674"/>
                  </a:lnTo>
                  <a:lnTo>
                    <a:pt x="529" y="626"/>
                  </a:lnTo>
                  <a:lnTo>
                    <a:pt x="601" y="579"/>
                  </a:lnTo>
                  <a:lnTo>
                    <a:pt x="674" y="534"/>
                  </a:lnTo>
                  <a:lnTo>
                    <a:pt x="749" y="491"/>
                  </a:lnTo>
                  <a:lnTo>
                    <a:pt x="825" y="449"/>
                  </a:lnTo>
                  <a:lnTo>
                    <a:pt x="901" y="409"/>
                  </a:lnTo>
                  <a:lnTo>
                    <a:pt x="978" y="370"/>
                  </a:lnTo>
                  <a:lnTo>
                    <a:pt x="1056" y="334"/>
                  </a:lnTo>
                  <a:lnTo>
                    <a:pt x="1135" y="299"/>
                  </a:lnTo>
                  <a:lnTo>
                    <a:pt x="1216" y="267"/>
                  </a:lnTo>
                  <a:lnTo>
                    <a:pt x="1297" y="235"/>
                  </a:lnTo>
                  <a:lnTo>
                    <a:pt x="1379" y="206"/>
                  </a:lnTo>
                  <a:lnTo>
                    <a:pt x="1462" y="178"/>
                  </a:lnTo>
                  <a:lnTo>
                    <a:pt x="1546" y="152"/>
                  </a:lnTo>
                  <a:lnTo>
                    <a:pt x="1630" y="128"/>
                  </a:lnTo>
                  <a:lnTo>
                    <a:pt x="1715" y="106"/>
                  </a:lnTo>
                  <a:lnTo>
                    <a:pt x="1801" y="86"/>
                  </a:lnTo>
                  <a:lnTo>
                    <a:pt x="1889" y="69"/>
                  </a:lnTo>
                  <a:lnTo>
                    <a:pt x="1976" y="52"/>
                  </a:lnTo>
                  <a:lnTo>
                    <a:pt x="2065" y="39"/>
                  </a:lnTo>
                  <a:lnTo>
                    <a:pt x="2153" y="27"/>
                  </a:lnTo>
                  <a:lnTo>
                    <a:pt x="2243" y="17"/>
                  </a:lnTo>
                  <a:lnTo>
                    <a:pt x="2332" y="10"/>
                  </a:lnTo>
                  <a:lnTo>
                    <a:pt x="2423" y="5"/>
                  </a:lnTo>
                  <a:lnTo>
                    <a:pt x="2515" y="1"/>
                  </a:lnTo>
                  <a:lnTo>
                    <a:pt x="2607" y="0"/>
                  </a:lnTo>
                  <a:lnTo>
                    <a:pt x="2805" y="5"/>
                  </a:lnTo>
                  <a:lnTo>
                    <a:pt x="2999" y="20"/>
                  </a:lnTo>
                  <a:lnTo>
                    <a:pt x="3192" y="46"/>
                  </a:lnTo>
                  <a:lnTo>
                    <a:pt x="3381" y="80"/>
                  </a:lnTo>
                  <a:lnTo>
                    <a:pt x="3567" y="124"/>
                  </a:lnTo>
                  <a:lnTo>
                    <a:pt x="3748" y="177"/>
                  </a:lnTo>
                  <a:lnTo>
                    <a:pt x="3928" y="239"/>
                  </a:lnTo>
                  <a:lnTo>
                    <a:pt x="4101" y="310"/>
                  </a:lnTo>
                  <a:lnTo>
                    <a:pt x="4271" y="388"/>
                  </a:lnTo>
                  <a:lnTo>
                    <a:pt x="4435" y="474"/>
                  </a:lnTo>
                  <a:lnTo>
                    <a:pt x="4596" y="569"/>
                  </a:lnTo>
                  <a:lnTo>
                    <a:pt x="4751" y="671"/>
                  </a:lnTo>
                  <a:lnTo>
                    <a:pt x="4900" y="780"/>
                  </a:lnTo>
                  <a:lnTo>
                    <a:pt x="5044" y="898"/>
                  </a:lnTo>
                  <a:lnTo>
                    <a:pt x="5181" y="1020"/>
                  </a:lnTo>
                  <a:lnTo>
                    <a:pt x="5313" y="1151"/>
                  </a:lnTo>
                  <a:lnTo>
                    <a:pt x="5438" y="1287"/>
                  </a:lnTo>
                  <a:lnTo>
                    <a:pt x="5556" y="1428"/>
                  </a:lnTo>
                  <a:lnTo>
                    <a:pt x="5668" y="1576"/>
                  </a:lnTo>
                  <a:lnTo>
                    <a:pt x="5772" y="1730"/>
                  </a:lnTo>
                  <a:lnTo>
                    <a:pt x="5869" y="1888"/>
                  </a:lnTo>
                  <a:lnTo>
                    <a:pt x="5958" y="2051"/>
                  </a:lnTo>
                  <a:lnTo>
                    <a:pt x="6038" y="2219"/>
                  </a:lnTo>
                  <a:lnTo>
                    <a:pt x="6111" y="2393"/>
                  </a:lnTo>
                  <a:lnTo>
                    <a:pt x="6176" y="2570"/>
                  </a:lnTo>
                  <a:lnTo>
                    <a:pt x="6231" y="2751"/>
                  </a:lnTo>
                  <a:lnTo>
                    <a:pt x="6277" y="2935"/>
                  </a:lnTo>
                  <a:lnTo>
                    <a:pt x="6315" y="3123"/>
                  </a:lnTo>
                  <a:lnTo>
                    <a:pt x="6341" y="3315"/>
                  </a:lnTo>
                  <a:lnTo>
                    <a:pt x="6360" y="3509"/>
                  </a:lnTo>
                  <a:lnTo>
                    <a:pt x="6368" y="3706"/>
                  </a:lnTo>
                  <a:lnTo>
                    <a:pt x="6365" y="3905"/>
                  </a:lnTo>
                  <a:lnTo>
                    <a:pt x="6354" y="4088"/>
                  </a:lnTo>
                  <a:lnTo>
                    <a:pt x="6334" y="4268"/>
                  </a:lnTo>
                  <a:lnTo>
                    <a:pt x="6305" y="4447"/>
                  </a:lnTo>
                  <a:lnTo>
                    <a:pt x="6267" y="4622"/>
                  </a:lnTo>
                  <a:lnTo>
                    <a:pt x="6222" y="4794"/>
                  </a:lnTo>
                  <a:lnTo>
                    <a:pt x="6169" y="4963"/>
                  </a:lnTo>
                  <a:lnTo>
                    <a:pt x="6108" y="5128"/>
                  </a:lnTo>
                  <a:lnTo>
                    <a:pt x="6039" y="5291"/>
                  </a:lnTo>
                  <a:lnTo>
                    <a:pt x="5964" y="5447"/>
                  </a:lnTo>
                  <a:lnTo>
                    <a:pt x="5881" y="5601"/>
                  </a:lnTo>
                  <a:lnTo>
                    <a:pt x="5793" y="5750"/>
                  </a:lnTo>
                  <a:lnTo>
                    <a:pt x="5697" y="5895"/>
                  </a:lnTo>
                  <a:lnTo>
                    <a:pt x="5594" y="6035"/>
                  </a:lnTo>
                  <a:lnTo>
                    <a:pt x="5485" y="6170"/>
                  </a:lnTo>
                  <a:lnTo>
                    <a:pt x="5371" y="6301"/>
                  </a:lnTo>
                  <a:lnTo>
                    <a:pt x="5251" y="6425"/>
                  </a:lnTo>
                  <a:lnTo>
                    <a:pt x="5125" y="6544"/>
                  </a:lnTo>
                  <a:lnTo>
                    <a:pt x="4993" y="6658"/>
                  </a:lnTo>
                  <a:lnTo>
                    <a:pt x="4857" y="6765"/>
                  </a:lnTo>
                  <a:lnTo>
                    <a:pt x="4716" y="6865"/>
                  </a:lnTo>
                  <a:lnTo>
                    <a:pt x="4570" y="6959"/>
                  </a:lnTo>
                  <a:lnTo>
                    <a:pt x="4420" y="7048"/>
                  </a:lnTo>
                  <a:lnTo>
                    <a:pt x="4265" y="7128"/>
                  </a:lnTo>
                  <a:lnTo>
                    <a:pt x="4106" y="7202"/>
                  </a:lnTo>
                  <a:lnTo>
                    <a:pt x="3944" y="7269"/>
                  </a:lnTo>
                  <a:lnTo>
                    <a:pt x="3777" y="7328"/>
                  </a:lnTo>
                  <a:lnTo>
                    <a:pt x="3608" y="7379"/>
                  </a:lnTo>
                  <a:lnTo>
                    <a:pt x="3435" y="7423"/>
                  </a:lnTo>
                  <a:lnTo>
                    <a:pt x="3259" y="7459"/>
                  </a:lnTo>
                  <a:lnTo>
                    <a:pt x="3081" y="7485"/>
                  </a:lnTo>
                  <a:lnTo>
                    <a:pt x="2900" y="7504"/>
                  </a:lnTo>
                  <a:lnTo>
                    <a:pt x="2716" y="7514"/>
                  </a:lnTo>
                  <a:lnTo>
                    <a:pt x="2689" y="7514"/>
                  </a:lnTo>
                  <a:lnTo>
                    <a:pt x="2661" y="7515"/>
                  </a:lnTo>
                  <a:lnTo>
                    <a:pt x="2634" y="7515"/>
                  </a:lnTo>
                  <a:lnTo>
                    <a:pt x="2607" y="7515"/>
                  </a:lnTo>
                  <a:close/>
                </a:path>
              </a:pathLst>
            </a:custGeom>
            <a:solidFill>
              <a:srgbClr val="DB5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3">
              <a:extLst>
                <a:ext uri="{FF2B5EF4-FFF2-40B4-BE49-F238E27FC236}">
                  <a16:creationId xmlns:a16="http://schemas.microsoft.com/office/drawing/2014/main" id="{FF81F3A7-5F3A-B2D0-60CB-C0406D5DBFEE}"/>
                </a:ext>
              </a:extLst>
            </p:cNvPr>
            <p:cNvSpPr>
              <a:spLocks noEditPoints="1"/>
            </p:cNvSpPr>
            <p:nvPr/>
          </p:nvSpPr>
          <p:spPr bwMode="auto">
            <a:xfrm>
              <a:off x="3182" y="1416"/>
              <a:ext cx="1291" cy="1503"/>
            </a:xfrm>
            <a:custGeom>
              <a:avLst/>
              <a:gdLst>
                <a:gd name="T0" fmla="*/ 2397 w 6458"/>
                <a:gd name="T1" fmla="*/ 7409 h 7515"/>
                <a:gd name="T2" fmla="*/ 1508 w 6458"/>
                <a:gd name="T3" fmla="*/ 7069 h 7515"/>
                <a:gd name="T4" fmla="*/ 743 w 6458"/>
                <a:gd name="T5" fmla="*/ 6526 h 7515"/>
                <a:gd name="T6" fmla="*/ 1267 w 6458"/>
                <a:gd name="T7" fmla="*/ 5936 h 7515"/>
                <a:gd name="T8" fmla="*/ 1533 w 6458"/>
                <a:gd name="T9" fmla="*/ 5388 h 7515"/>
                <a:gd name="T10" fmla="*/ 1411 w 6458"/>
                <a:gd name="T11" fmla="*/ 4846 h 7515"/>
                <a:gd name="T12" fmla="*/ 965 w 6458"/>
                <a:gd name="T13" fmla="*/ 4513 h 7515"/>
                <a:gd name="T14" fmla="*/ 878 w 6458"/>
                <a:gd name="T15" fmla="*/ 4493 h 7515"/>
                <a:gd name="T16" fmla="*/ 1143 w 6458"/>
                <a:gd name="T17" fmla="*/ 4588 h 7515"/>
                <a:gd name="T18" fmla="*/ 1359 w 6458"/>
                <a:gd name="T19" fmla="*/ 4769 h 7515"/>
                <a:gd name="T20" fmla="*/ 1681 w 6458"/>
                <a:gd name="T21" fmla="*/ 5203 h 7515"/>
                <a:gd name="T22" fmla="*/ 2270 w 6458"/>
                <a:gd name="T23" fmla="*/ 5663 h 7515"/>
                <a:gd name="T24" fmla="*/ 2997 w 6458"/>
                <a:gd name="T25" fmla="*/ 5897 h 7515"/>
                <a:gd name="T26" fmla="*/ 3782 w 6458"/>
                <a:gd name="T27" fmla="*/ 5859 h 7515"/>
                <a:gd name="T28" fmla="*/ 4476 w 6458"/>
                <a:gd name="T29" fmla="*/ 5558 h 7515"/>
                <a:gd name="T30" fmla="*/ 5018 w 6458"/>
                <a:gd name="T31" fmla="*/ 5046 h 7515"/>
                <a:gd name="T32" fmla="*/ 5253 w 6458"/>
                <a:gd name="T33" fmla="*/ 4720 h 7515"/>
                <a:gd name="T34" fmla="*/ 5469 w 6458"/>
                <a:gd name="T35" fmla="*/ 4565 h 7515"/>
                <a:gd name="T36" fmla="*/ 5725 w 6458"/>
                <a:gd name="T37" fmla="*/ 4487 h 7515"/>
                <a:gd name="T38" fmla="*/ 5348 w 6458"/>
                <a:gd name="T39" fmla="*/ 4650 h 7515"/>
                <a:gd name="T40" fmla="*/ 5062 w 6458"/>
                <a:gd name="T41" fmla="*/ 5099 h 7515"/>
                <a:gd name="T42" fmla="*/ 5132 w 6458"/>
                <a:gd name="T43" fmla="*/ 5648 h 7515"/>
                <a:gd name="T44" fmla="*/ 5515 w 6458"/>
                <a:gd name="T45" fmla="*/ 6190 h 7515"/>
                <a:gd name="T46" fmla="*/ 5502 w 6458"/>
                <a:gd name="T47" fmla="*/ 6791 h 7515"/>
                <a:gd name="T48" fmla="*/ 4676 w 6458"/>
                <a:gd name="T49" fmla="*/ 7249 h 7515"/>
                <a:gd name="T50" fmla="*/ 3738 w 6458"/>
                <a:gd name="T51" fmla="*/ 7489 h 7515"/>
                <a:gd name="T52" fmla="*/ 5737 w 6458"/>
                <a:gd name="T53" fmla="*/ 3031 h 7515"/>
                <a:gd name="T54" fmla="*/ 5469 w 6458"/>
                <a:gd name="T55" fmla="*/ 2953 h 7515"/>
                <a:gd name="T56" fmla="*/ 5246 w 6458"/>
                <a:gd name="T57" fmla="*/ 2789 h 7515"/>
                <a:gd name="T58" fmla="*/ 4980 w 6458"/>
                <a:gd name="T59" fmla="*/ 2421 h 7515"/>
                <a:gd name="T60" fmla="*/ 4422 w 6458"/>
                <a:gd name="T61" fmla="*/ 1922 h 7515"/>
                <a:gd name="T62" fmla="*/ 3715 w 6458"/>
                <a:gd name="T63" fmla="*/ 1641 h 7515"/>
                <a:gd name="T64" fmla="*/ 2940 w 6458"/>
                <a:gd name="T65" fmla="*/ 1626 h 7515"/>
                <a:gd name="T66" fmla="*/ 2250 w 6458"/>
                <a:gd name="T67" fmla="*/ 1862 h 7515"/>
                <a:gd name="T68" fmla="*/ 1688 w 6458"/>
                <a:gd name="T69" fmla="*/ 2305 h 7515"/>
                <a:gd name="T70" fmla="*/ 1530 w 6458"/>
                <a:gd name="T71" fmla="*/ 2436 h 7515"/>
                <a:gd name="T72" fmla="*/ 1552 w 6458"/>
                <a:gd name="T73" fmla="*/ 2192 h 7515"/>
                <a:gd name="T74" fmla="*/ 1490 w 6458"/>
                <a:gd name="T75" fmla="*/ 1943 h 7515"/>
                <a:gd name="T76" fmla="*/ 1201 w 6458"/>
                <a:gd name="T77" fmla="*/ 1492 h 7515"/>
                <a:gd name="T78" fmla="*/ 872 w 6458"/>
                <a:gd name="T79" fmla="*/ 877 h 7515"/>
                <a:gd name="T80" fmla="*/ 1661 w 6458"/>
                <a:gd name="T81" fmla="*/ 368 h 7515"/>
                <a:gd name="T82" fmla="*/ 2569 w 6458"/>
                <a:gd name="T83" fmla="*/ 69 h 7515"/>
                <a:gd name="T84" fmla="*/ 3559 w 6458"/>
                <a:gd name="T85" fmla="*/ 10 h 7515"/>
                <a:gd name="T86" fmla="*/ 4511 w 6458"/>
                <a:gd name="T87" fmla="*/ 205 h 7515"/>
                <a:gd name="T88" fmla="*/ 5361 w 6458"/>
                <a:gd name="T89" fmla="*/ 626 h 7515"/>
                <a:gd name="T90" fmla="*/ 5616 w 6458"/>
                <a:gd name="T91" fmla="*/ 1209 h 7515"/>
                <a:gd name="T92" fmla="*/ 5169 w 6458"/>
                <a:gd name="T93" fmla="*/ 1799 h 7515"/>
                <a:gd name="T94" fmla="*/ 5037 w 6458"/>
                <a:gd name="T95" fmla="*/ 2358 h 7515"/>
                <a:gd name="T96" fmla="*/ 5292 w 6458"/>
                <a:gd name="T97" fmla="*/ 2832 h 7515"/>
                <a:gd name="T98" fmla="*/ 5819 w 6458"/>
                <a:gd name="T99" fmla="*/ 3033 h 7515"/>
                <a:gd name="T100" fmla="*/ 6067 w 6458"/>
                <a:gd name="T101" fmla="*/ 3002 h 7515"/>
                <a:gd name="T102" fmla="*/ 6281 w 6458"/>
                <a:gd name="T103" fmla="*/ 2902 h 7515"/>
                <a:gd name="T104" fmla="*/ 6458 w 6458"/>
                <a:gd name="T105" fmla="*/ 2742 h 7515"/>
                <a:gd name="T106" fmla="*/ 6288 w 6458"/>
                <a:gd name="T107" fmla="*/ 2899 h 7515"/>
                <a:gd name="T108" fmla="*/ 6072 w 6458"/>
                <a:gd name="T109" fmla="*/ 3002 h 7515"/>
                <a:gd name="T110" fmla="*/ 754 w 6458"/>
                <a:gd name="T111" fmla="*/ 3034 h 7515"/>
                <a:gd name="T112" fmla="*/ 431 w 6458"/>
                <a:gd name="T113" fmla="*/ 2979 h 7515"/>
                <a:gd name="T114" fmla="*/ 172 w 6458"/>
                <a:gd name="T115" fmla="*/ 2811 h 7515"/>
                <a:gd name="T116" fmla="*/ 0 w 6458"/>
                <a:gd name="T117" fmla="*/ 2561 h 7515"/>
                <a:gd name="T118" fmla="*/ 164 w 6458"/>
                <a:gd name="T119" fmla="*/ 2787 h 7515"/>
                <a:gd name="T120" fmla="*/ 387 w 6458"/>
                <a:gd name="T121" fmla="*/ 2953 h 7515"/>
                <a:gd name="T122" fmla="*/ 655 w 6458"/>
                <a:gd name="T123" fmla="*/ 3031 h 7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458" h="7515">
                  <a:moveTo>
                    <a:pt x="3284" y="7515"/>
                  </a:moveTo>
                  <a:lnTo>
                    <a:pt x="3193" y="7514"/>
                  </a:lnTo>
                  <a:lnTo>
                    <a:pt x="3102" y="7511"/>
                  </a:lnTo>
                  <a:lnTo>
                    <a:pt x="3012" y="7505"/>
                  </a:lnTo>
                  <a:lnTo>
                    <a:pt x="2922" y="7498"/>
                  </a:lnTo>
                  <a:lnTo>
                    <a:pt x="2833" y="7489"/>
                  </a:lnTo>
                  <a:lnTo>
                    <a:pt x="2745" y="7477"/>
                  </a:lnTo>
                  <a:lnTo>
                    <a:pt x="2656" y="7463"/>
                  </a:lnTo>
                  <a:lnTo>
                    <a:pt x="2569" y="7447"/>
                  </a:lnTo>
                  <a:lnTo>
                    <a:pt x="2482" y="7429"/>
                  </a:lnTo>
                  <a:lnTo>
                    <a:pt x="2397" y="7409"/>
                  </a:lnTo>
                  <a:lnTo>
                    <a:pt x="2312" y="7388"/>
                  </a:lnTo>
                  <a:lnTo>
                    <a:pt x="2227" y="7364"/>
                  </a:lnTo>
                  <a:lnTo>
                    <a:pt x="2144" y="7338"/>
                  </a:lnTo>
                  <a:lnTo>
                    <a:pt x="2061" y="7311"/>
                  </a:lnTo>
                  <a:lnTo>
                    <a:pt x="1979" y="7282"/>
                  </a:lnTo>
                  <a:lnTo>
                    <a:pt x="1898" y="7251"/>
                  </a:lnTo>
                  <a:lnTo>
                    <a:pt x="1819" y="7218"/>
                  </a:lnTo>
                  <a:lnTo>
                    <a:pt x="1739" y="7184"/>
                  </a:lnTo>
                  <a:lnTo>
                    <a:pt x="1661" y="7147"/>
                  </a:lnTo>
                  <a:lnTo>
                    <a:pt x="1584" y="7109"/>
                  </a:lnTo>
                  <a:lnTo>
                    <a:pt x="1508" y="7069"/>
                  </a:lnTo>
                  <a:lnTo>
                    <a:pt x="1433" y="7028"/>
                  </a:lnTo>
                  <a:lnTo>
                    <a:pt x="1358" y="6985"/>
                  </a:lnTo>
                  <a:lnTo>
                    <a:pt x="1285" y="6939"/>
                  </a:lnTo>
                  <a:lnTo>
                    <a:pt x="1213" y="6893"/>
                  </a:lnTo>
                  <a:lnTo>
                    <a:pt x="1143" y="6846"/>
                  </a:lnTo>
                  <a:lnTo>
                    <a:pt x="1073" y="6796"/>
                  </a:lnTo>
                  <a:lnTo>
                    <a:pt x="1005" y="6745"/>
                  </a:lnTo>
                  <a:lnTo>
                    <a:pt x="938" y="6692"/>
                  </a:lnTo>
                  <a:lnTo>
                    <a:pt x="872" y="6639"/>
                  </a:lnTo>
                  <a:lnTo>
                    <a:pt x="807" y="6583"/>
                  </a:lnTo>
                  <a:lnTo>
                    <a:pt x="743" y="6526"/>
                  </a:lnTo>
                  <a:lnTo>
                    <a:pt x="800" y="6473"/>
                  </a:lnTo>
                  <a:lnTo>
                    <a:pt x="855" y="6419"/>
                  </a:lnTo>
                  <a:lnTo>
                    <a:pt x="909" y="6364"/>
                  </a:lnTo>
                  <a:lnTo>
                    <a:pt x="962" y="6308"/>
                  </a:lnTo>
                  <a:lnTo>
                    <a:pt x="1014" y="6251"/>
                  </a:lnTo>
                  <a:lnTo>
                    <a:pt x="1065" y="6192"/>
                  </a:lnTo>
                  <a:lnTo>
                    <a:pt x="1115" y="6133"/>
                  </a:lnTo>
                  <a:lnTo>
                    <a:pt x="1164" y="6073"/>
                  </a:lnTo>
                  <a:lnTo>
                    <a:pt x="1198" y="6028"/>
                  </a:lnTo>
                  <a:lnTo>
                    <a:pt x="1232" y="5982"/>
                  </a:lnTo>
                  <a:lnTo>
                    <a:pt x="1267" y="5936"/>
                  </a:lnTo>
                  <a:lnTo>
                    <a:pt x="1299" y="5890"/>
                  </a:lnTo>
                  <a:lnTo>
                    <a:pt x="1331" y="5842"/>
                  </a:lnTo>
                  <a:lnTo>
                    <a:pt x="1362" y="5795"/>
                  </a:lnTo>
                  <a:lnTo>
                    <a:pt x="1393" y="5747"/>
                  </a:lnTo>
                  <a:lnTo>
                    <a:pt x="1423" y="5698"/>
                  </a:lnTo>
                  <a:lnTo>
                    <a:pt x="1451" y="5648"/>
                  </a:lnTo>
                  <a:lnTo>
                    <a:pt x="1476" y="5597"/>
                  </a:lnTo>
                  <a:lnTo>
                    <a:pt x="1496" y="5545"/>
                  </a:lnTo>
                  <a:lnTo>
                    <a:pt x="1512" y="5493"/>
                  </a:lnTo>
                  <a:lnTo>
                    <a:pt x="1524" y="5440"/>
                  </a:lnTo>
                  <a:lnTo>
                    <a:pt x="1533" y="5388"/>
                  </a:lnTo>
                  <a:lnTo>
                    <a:pt x="1539" y="5336"/>
                  </a:lnTo>
                  <a:lnTo>
                    <a:pt x="1541" y="5283"/>
                  </a:lnTo>
                  <a:lnTo>
                    <a:pt x="1539" y="5231"/>
                  </a:lnTo>
                  <a:lnTo>
                    <a:pt x="1534" y="5180"/>
                  </a:lnTo>
                  <a:lnTo>
                    <a:pt x="1525" y="5129"/>
                  </a:lnTo>
                  <a:lnTo>
                    <a:pt x="1514" y="5080"/>
                  </a:lnTo>
                  <a:lnTo>
                    <a:pt x="1500" y="5030"/>
                  </a:lnTo>
                  <a:lnTo>
                    <a:pt x="1482" y="4982"/>
                  </a:lnTo>
                  <a:lnTo>
                    <a:pt x="1461" y="4936"/>
                  </a:lnTo>
                  <a:lnTo>
                    <a:pt x="1438" y="4891"/>
                  </a:lnTo>
                  <a:lnTo>
                    <a:pt x="1411" y="4846"/>
                  </a:lnTo>
                  <a:lnTo>
                    <a:pt x="1383" y="4804"/>
                  </a:lnTo>
                  <a:lnTo>
                    <a:pt x="1352" y="4765"/>
                  </a:lnTo>
                  <a:lnTo>
                    <a:pt x="1317" y="4727"/>
                  </a:lnTo>
                  <a:lnTo>
                    <a:pt x="1281" y="4691"/>
                  </a:lnTo>
                  <a:lnTo>
                    <a:pt x="1242" y="4657"/>
                  </a:lnTo>
                  <a:lnTo>
                    <a:pt x="1201" y="4626"/>
                  </a:lnTo>
                  <a:lnTo>
                    <a:pt x="1158" y="4598"/>
                  </a:lnTo>
                  <a:lnTo>
                    <a:pt x="1113" y="4571"/>
                  </a:lnTo>
                  <a:lnTo>
                    <a:pt x="1065" y="4549"/>
                  </a:lnTo>
                  <a:lnTo>
                    <a:pt x="1015" y="4529"/>
                  </a:lnTo>
                  <a:lnTo>
                    <a:pt x="965" y="4513"/>
                  </a:lnTo>
                  <a:lnTo>
                    <a:pt x="911" y="4499"/>
                  </a:lnTo>
                  <a:lnTo>
                    <a:pt x="857" y="4489"/>
                  </a:lnTo>
                  <a:lnTo>
                    <a:pt x="801" y="4484"/>
                  </a:lnTo>
                  <a:lnTo>
                    <a:pt x="743" y="4482"/>
                  </a:lnTo>
                  <a:lnTo>
                    <a:pt x="746" y="4482"/>
                  </a:lnTo>
                  <a:lnTo>
                    <a:pt x="747" y="4482"/>
                  </a:lnTo>
                  <a:lnTo>
                    <a:pt x="773" y="4482"/>
                  </a:lnTo>
                  <a:lnTo>
                    <a:pt x="800" y="4483"/>
                  </a:lnTo>
                  <a:lnTo>
                    <a:pt x="826" y="4485"/>
                  </a:lnTo>
                  <a:lnTo>
                    <a:pt x="852" y="4488"/>
                  </a:lnTo>
                  <a:lnTo>
                    <a:pt x="878" y="4493"/>
                  </a:lnTo>
                  <a:lnTo>
                    <a:pt x="904" y="4497"/>
                  </a:lnTo>
                  <a:lnTo>
                    <a:pt x="929" y="4503"/>
                  </a:lnTo>
                  <a:lnTo>
                    <a:pt x="953" y="4509"/>
                  </a:lnTo>
                  <a:lnTo>
                    <a:pt x="979" y="4516"/>
                  </a:lnTo>
                  <a:lnTo>
                    <a:pt x="1003" y="4524"/>
                  </a:lnTo>
                  <a:lnTo>
                    <a:pt x="1028" y="4532"/>
                  </a:lnTo>
                  <a:lnTo>
                    <a:pt x="1051" y="4542"/>
                  </a:lnTo>
                  <a:lnTo>
                    <a:pt x="1074" y="4552"/>
                  </a:lnTo>
                  <a:lnTo>
                    <a:pt x="1097" y="4563"/>
                  </a:lnTo>
                  <a:lnTo>
                    <a:pt x="1121" y="4576"/>
                  </a:lnTo>
                  <a:lnTo>
                    <a:pt x="1143" y="4588"/>
                  </a:lnTo>
                  <a:lnTo>
                    <a:pt x="1165" y="4601"/>
                  </a:lnTo>
                  <a:lnTo>
                    <a:pt x="1187" y="4615"/>
                  </a:lnTo>
                  <a:lnTo>
                    <a:pt x="1208" y="4630"/>
                  </a:lnTo>
                  <a:lnTo>
                    <a:pt x="1229" y="4645"/>
                  </a:lnTo>
                  <a:lnTo>
                    <a:pt x="1249" y="4661"/>
                  </a:lnTo>
                  <a:lnTo>
                    <a:pt x="1269" y="4677"/>
                  </a:lnTo>
                  <a:lnTo>
                    <a:pt x="1288" y="4695"/>
                  </a:lnTo>
                  <a:lnTo>
                    <a:pt x="1306" y="4713"/>
                  </a:lnTo>
                  <a:lnTo>
                    <a:pt x="1325" y="4730"/>
                  </a:lnTo>
                  <a:lnTo>
                    <a:pt x="1343" y="4750"/>
                  </a:lnTo>
                  <a:lnTo>
                    <a:pt x="1359" y="4769"/>
                  </a:lnTo>
                  <a:lnTo>
                    <a:pt x="1376" y="4790"/>
                  </a:lnTo>
                  <a:lnTo>
                    <a:pt x="1393" y="4811"/>
                  </a:lnTo>
                  <a:lnTo>
                    <a:pt x="1408" y="4832"/>
                  </a:lnTo>
                  <a:lnTo>
                    <a:pt x="1423" y="4854"/>
                  </a:lnTo>
                  <a:lnTo>
                    <a:pt x="1437" y="4876"/>
                  </a:lnTo>
                  <a:lnTo>
                    <a:pt x="1473" y="4934"/>
                  </a:lnTo>
                  <a:lnTo>
                    <a:pt x="1512" y="4990"/>
                  </a:lnTo>
                  <a:lnTo>
                    <a:pt x="1552" y="5046"/>
                  </a:lnTo>
                  <a:lnTo>
                    <a:pt x="1593" y="5099"/>
                  </a:lnTo>
                  <a:lnTo>
                    <a:pt x="1636" y="5152"/>
                  </a:lnTo>
                  <a:lnTo>
                    <a:pt x="1681" y="5203"/>
                  </a:lnTo>
                  <a:lnTo>
                    <a:pt x="1728" y="5253"/>
                  </a:lnTo>
                  <a:lnTo>
                    <a:pt x="1775" y="5302"/>
                  </a:lnTo>
                  <a:lnTo>
                    <a:pt x="1825" y="5348"/>
                  </a:lnTo>
                  <a:lnTo>
                    <a:pt x="1876" y="5393"/>
                  </a:lnTo>
                  <a:lnTo>
                    <a:pt x="1928" y="5438"/>
                  </a:lnTo>
                  <a:lnTo>
                    <a:pt x="1982" y="5480"/>
                  </a:lnTo>
                  <a:lnTo>
                    <a:pt x="2038" y="5519"/>
                  </a:lnTo>
                  <a:lnTo>
                    <a:pt x="2093" y="5558"/>
                  </a:lnTo>
                  <a:lnTo>
                    <a:pt x="2152" y="5595"/>
                  </a:lnTo>
                  <a:lnTo>
                    <a:pt x="2210" y="5630"/>
                  </a:lnTo>
                  <a:lnTo>
                    <a:pt x="2270" y="5663"/>
                  </a:lnTo>
                  <a:lnTo>
                    <a:pt x="2331" y="5695"/>
                  </a:lnTo>
                  <a:lnTo>
                    <a:pt x="2393" y="5724"/>
                  </a:lnTo>
                  <a:lnTo>
                    <a:pt x="2457" y="5751"/>
                  </a:lnTo>
                  <a:lnTo>
                    <a:pt x="2521" y="5777"/>
                  </a:lnTo>
                  <a:lnTo>
                    <a:pt x="2586" y="5800"/>
                  </a:lnTo>
                  <a:lnTo>
                    <a:pt x="2653" y="5822"/>
                  </a:lnTo>
                  <a:lnTo>
                    <a:pt x="2719" y="5841"/>
                  </a:lnTo>
                  <a:lnTo>
                    <a:pt x="2788" y="5859"/>
                  </a:lnTo>
                  <a:lnTo>
                    <a:pt x="2856" y="5874"/>
                  </a:lnTo>
                  <a:lnTo>
                    <a:pt x="2926" y="5886"/>
                  </a:lnTo>
                  <a:lnTo>
                    <a:pt x="2997" y="5897"/>
                  </a:lnTo>
                  <a:lnTo>
                    <a:pt x="3068" y="5905"/>
                  </a:lnTo>
                  <a:lnTo>
                    <a:pt x="3139" y="5912"/>
                  </a:lnTo>
                  <a:lnTo>
                    <a:pt x="3211" y="5915"/>
                  </a:lnTo>
                  <a:lnTo>
                    <a:pt x="3284" y="5916"/>
                  </a:lnTo>
                  <a:lnTo>
                    <a:pt x="3357" y="5915"/>
                  </a:lnTo>
                  <a:lnTo>
                    <a:pt x="3430" y="5912"/>
                  </a:lnTo>
                  <a:lnTo>
                    <a:pt x="3501" y="5905"/>
                  </a:lnTo>
                  <a:lnTo>
                    <a:pt x="3573" y="5897"/>
                  </a:lnTo>
                  <a:lnTo>
                    <a:pt x="3643" y="5886"/>
                  </a:lnTo>
                  <a:lnTo>
                    <a:pt x="3712" y="5874"/>
                  </a:lnTo>
                  <a:lnTo>
                    <a:pt x="3782" y="5859"/>
                  </a:lnTo>
                  <a:lnTo>
                    <a:pt x="3850" y="5841"/>
                  </a:lnTo>
                  <a:lnTo>
                    <a:pt x="3917" y="5822"/>
                  </a:lnTo>
                  <a:lnTo>
                    <a:pt x="3984" y="5800"/>
                  </a:lnTo>
                  <a:lnTo>
                    <a:pt x="4049" y="5777"/>
                  </a:lnTo>
                  <a:lnTo>
                    <a:pt x="4113" y="5751"/>
                  </a:lnTo>
                  <a:lnTo>
                    <a:pt x="4176" y="5724"/>
                  </a:lnTo>
                  <a:lnTo>
                    <a:pt x="4238" y="5695"/>
                  </a:lnTo>
                  <a:lnTo>
                    <a:pt x="4299" y="5663"/>
                  </a:lnTo>
                  <a:lnTo>
                    <a:pt x="4360" y="5630"/>
                  </a:lnTo>
                  <a:lnTo>
                    <a:pt x="4418" y="5595"/>
                  </a:lnTo>
                  <a:lnTo>
                    <a:pt x="4476" y="5558"/>
                  </a:lnTo>
                  <a:lnTo>
                    <a:pt x="4532" y="5519"/>
                  </a:lnTo>
                  <a:lnTo>
                    <a:pt x="4586" y="5480"/>
                  </a:lnTo>
                  <a:lnTo>
                    <a:pt x="4641" y="5438"/>
                  </a:lnTo>
                  <a:lnTo>
                    <a:pt x="4693" y="5393"/>
                  </a:lnTo>
                  <a:lnTo>
                    <a:pt x="4744" y="5348"/>
                  </a:lnTo>
                  <a:lnTo>
                    <a:pt x="4793" y="5302"/>
                  </a:lnTo>
                  <a:lnTo>
                    <a:pt x="4841" y="5253"/>
                  </a:lnTo>
                  <a:lnTo>
                    <a:pt x="4887" y="5203"/>
                  </a:lnTo>
                  <a:lnTo>
                    <a:pt x="4933" y="5152"/>
                  </a:lnTo>
                  <a:lnTo>
                    <a:pt x="4976" y="5099"/>
                  </a:lnTo>
                  <a:lnTo>
                    <a:pt x="5018" y="5046"/>
                  </a:lnTo>
                  <a:lnTo>
                    <a:pt x="5058" y="4990"/>
                  </a:lnTo>
                  <a:lnTo>
                    <a:pt x="5095" y="4934"/>
                  </a:lnTo>
                  <a:lnTo>
                    <a:pt x="5132" y="4876"/>
                  </a:lnTo>
                  <a:lnTo>
                    <a:pt x="5145" y="4855"/>
                  </a:lnTo>
                  <a:lnTo>
                    <a:pt x="5159" y="4834"/>
                  </a:lnTo>
                  <a:lnTo>
                    <a:pt x="5174" y="4814"/>
                  </a:lnTo>
                  <a:lnTo>
                    <a:pt x="5188" y="4794"/>
                  </a:lnTo>
                  <a:lnTo>
                    <a:pt x="5204" y="4776"/>
                  </a:lnTo>
                  <a:lnTo>
                    <a:pt x="5220" y="4757"/>
                  </a:lnTo>
                  <a:lnTo>
                    <a:pt x="5237" y="4738"/>
                  </a:lnTo>
                  <a:lnTo>
                    <a:pt x="5253" y="4720"/>
                  </a:lnTo>
                  <a:lnTo>
                    <a:pt x="5271" y="4704"/>
                  </a:lnTo>
                  <a:lnTo>
                    <a:pt x="5289" y="4687"/>
                  </a:lnTo>
                  <a:lnTo>
                    <a:pt x="5308" y="4671"/>
                  </a:lnTo>
                  <a:lnTo>
                    <a:pt x="5327" y="4655"/>
                  </a:lnTo>
                  <a:lnTo>
                    <a:pt x="5345" y="4641"/>
                  </a:lnTo>
                  <a:lnTo>
                    <a:pt x="5365" y="4626"/>
                  </a:lnTo>
                  <a:lnTo>
                    <a:pt x="5385" y="4613"/>
                  </a:lnTo>
                  <a:lnTo>
                    <a:pt x="5406" y="4600"/>
                  </a:lnTo>
                  <a:lnTo>
                    <a:pt x="5426" y="4588"/>
                  </a:lnTo>
                  <a:lnTo>
                    <a:pt x="5448" y="4576"/>
                  </a:lnTo>
                  <a:lnTo>
                    <a:pt x="5469" y="4565"/>
                  </a:lnTo>
                  <a:lnTo>
                    <a:pt x="5491" y="4555"/>
                  </a:lnTo>
                  <a:lnTo>
                    <a:pt x="5513" y="4545"/>
                  </a:lnTo>
                  <a:lnTo>
                    <a:pt x="5536" y="4535"/>
                  </a:lnTo>
                  <a:lnTo>
                    <a:pt x="5559" y="4527"/>
                  </a:lnTo>
                  <a:lnTo>
                    <a:pt x="5581" y="4519"/>
                  </a:lnTo>
                  <a:lnTo>
                    <a:pt x="5604" y="4511"/>
                  </a:lnTo>
                  <a:lnTo>
                    <a:pt x="5629" y="4506"/>
                  </a:lnTo>
                  <a:lnTo>
                    <a:pt x="5652" y="4500"/>
                  </a:lnTo>
                  <a:lnTo>
                    <a:pt x="5676" y="4495"/>
                  </a:lnTo>
                  <a:lnTo>
                    <a:pt x="5700" y="4490"/>
                  </a:lnTo>
                  <a:lnTo>
                    <a:pt x="5725" y="4487"/>
                  </a:lnTo>
                  <a:lnTo>
                    <a:pt x="5749" y="4485"/>
                  </a:lnTo>
                  <a:lnTo>
                    <a:pt x="5773" y="4483"/>
                  </a:lnTo>
                  <a:lnTo>
                    <a:pt x="5719" y="4489"/>
                  </a:lnTo>
                  <a:lnTo>
                    <a:pt x="5667" y="4498"/>
                  </a:lnTo>
                  <a:lnTo>
                    <a:pt x="5616" y="4511"/>
                  </a:lnTo>
                  <a:lnTo>
                    <a:pt x="5567" y="4527"/>
                  </a:lnTo>
                  <a:lnTo>
                    <a:pt x="5519" y="4547"/>
                  </a:lnTo>
                  <a:lnTo>
                    <a:pt x="5474" y="4568"/>
                  </a:lnTo>
                  <a:lnTo>
                    <a:pt x="5429" y="4593"/>
                  </a:lnTo>
                  <a:lnTo>
                    <a:pt x="5387" y="4620"/>
                  </a:lnTo>
                  <a:lnTo>
                    <a:pt x="5348" y="4650"/>
                  </a:lnTo>
                  <a:lnTo>
                    <a:pt x="5310" y="4682"/>
                  </a:lnTo>
                  <a:lnTo>
                    <a:pt x="5273" y="4716"/>
                  </a:lnTo>
                  <a:lnTo>
                    <a:pt x="5240" y="4752"/>
                  </a:lnTo>
                  <a:lnTo>
                    <a:pt x="5209" y="4790"/>
                  </a:lnTo>
                  <a:lnTo>
                    <a:pt x="5180" y="4830"/>
                  </a:lnTo>
                  <a:lnTo>
                    <a:pt x="5154" y="4872"/>
                  </a:lnTo>
                  <a:lnTo>
                    <a:pt x="5131" y="4915"/>
                  </a:lnTo>
                  <a:lnTo>
                    <a:pt x="5110" y="4959"/>
                  </a:lnTo>
                  <a:lnTo>
                    <a:pt x="5091" y="5004"/>
                  </a:lnTo>
                  <a:lnTo>
                    <a:pt x="5075" y="5051"/>
                  </a:lnTo>
                  <a:lnTo>
                    <a:pt x="5062" y="5099"/>
                  </a:lnTo>
                  <a:lnTo>
                    <a:pt x="5053" y="5148"/>
                  </a:lnTo>
                  <a:lnTo>
                    <a:pt x="5046" y="5197"/>
                  </a:lnTo>
                  <a:lnTo>
                    <a:pt x="5042" y="5246"/>
                  </a:lnTo>
                  <a:lnTo>
                    <a:pt x="5041" y="5296"/>
                  </a:lnTo>
                  <a:lnTo>
                    <a:pt x="5044" y="5347"/>
                  </a:lnTo>
                  <a:lnTo>
                    <a:pt x="5050" y="5398"/>
                  </a:lnTo>
                  <a:lnTo>
                    <a:pt x="5060" y="5449"/>
                  </a:lnTo>
                  <a:lnTo>
                    <a:pt x="5072" y="5498"/>
                  </a:lnTo>
                  <a:lnTo>
                    <a:pt x="5089" y="5549"/>
                  </a:lnTo>
                  <a:lnTo>
                    <a:pt x="5109" y="5599"/>
                  </a:lnTo>
                  <a:lnTo>
                    <a:pt x="5132" y="5648"/>
                  </a:lnTo>
                  <a:lnTo>
                    <a:pt x="5159" y="5696"/>
                  </a:lnTo>
                  <a:lnTo>
                    <a:pt x="5189" y="5745"/>
                  </a:lnTo>
                  <a:lnTo>
                    <a:pt x="5220" y="5793"/>
                  </a:lnTo>
                  <a:lnTo>
                    <a:pt x="5251" y="5841"/>
                  </a:lnTo>
                  <a:lnTo>
                    <a:pt x="5283" y="5888"/>
                  </a:lnTo>
                  <a:lnTo>
                    <a:pt x="5315" y="5935"/>
                  </a:lnTo>
                  <a:lnTo>
                    <a:pt x="5350" y="5981"/>
                  </a:lnTo>
                  <a:lnTo>
                    <a:pt x="5384" y="6027"/>
                  </a:lnTo>
                  <a:lnTo>
                    <a:pt x="5418" y="6072"/>
                  </a:lnTo>
                  <a:lnTo>
                    <a:pt x="5466" y="6131"/>
                  </a:lnTo>
                  <a:lnTo>
                    <a:pt x="5515" y="6190"/>
                  </a:lnTo>
                  <a:lnTo>
                    <a:pt x="5565" y="6248"/>
                  </a:lnTo>
                  <a:lnTo>
                    <a:pt x="5616" y="6304"/>
                  </a:lnTo>
                  <a:lnTo>
                    <a:pt x="5669" y="6359"/>
                  </a:lnTo>
                  <a:lnTo>
                    <a:pt x="5723" y="6413"/>
                  </a:lnTo>
                  <a:lnTo>
                    <a:pt x="5777" y="6468"/>
                  </a:lnTo>
                  <a:lnTo>
                    <a:pt x="5833" y="6520"/>
                  </a:lnTo>
                  <a:lnTo>
                    <a:pt x="5769" y="6577"/>
                  </a:lnTo>
                  <a:lnTo>
                    <a:pt x="5705" y="6632"/>
                  </a:lnTo>
                  <a:lnTo>
                    <a:pt x="5638" y="6686"/>
                  </a:lnTo>
                  <a:lnTo>
                    <a:pt x="5571" y="6739"/>
                  </a:lnTo>
                  <a:lnTo>
                    <a:pt x="5502" y="6791"/>
                  </a:lnTo>
                  <a:lnTo>
                    <a:pt x="5433" y="6841"/>
                  </a:lnTo>
                  <a:lnTo>
                    <a:pt x="5362" y="6889"/>
                  </a:lnTo>
                  <a:lnTo>
                    <a:pt x="5290" y="6936"/>
                  </a:lnTo>
                  <a:lnTo>
                    <a:pt x="5217" y="6980"/>
                  </a:lnTo>
                  <a:lnTo>
                    <a:pt x="5143" y="7025"/>
                  </a:lnTo>
                  <a:lnTo>
                    <a:pt x="5068" y="7067"/>
                  </a:lnTo>
                  <a:lnTo>
                    <a:pt x="4991" y="7106"/>
                  </a:lnTo>
                  <a:lnTo>
                    <a:pt x="4914" y="7145"/>
                  </a:lnTo>
                  <a:lnTo>
                    <a:pt x="4835" y="7182"/>
                  </a:lnTo>
                  <a:lnTo>
                    <a:pt x="4756" y="7216"/>
                  </a:lnTo>
                  <a:lnTo>
                    <a:pt x="4676" y="7249"/>
                  </a:lnTo>
                  <a:lnTo>
                    <a:pt x="4594" y="7281"/>
                  </a:lnTo>
                  <a:lnTo>
                    <a:pt x="4512" y="7310"/>
                  </a:lnTo>
                  <a:lnTo>
                    <a:pt x="4429" y="7337"/>
                  </a:lnTo>
                  <a:lnTo>
                    <a:pt x="4345" y="7363"/>
                  </a:lnTo>
                  <a:lnTo>
                    <a:pt x="4261" y="7387"/>
                  </a:lnTo>
                  <a:lnTo>
                    <a:pt x="4176" y="7409"/>
                  </a:lnTo>
                  <a:lnTo>
                    <a:pt x="4090" y="7429"/>
                  </a:lnTo>
                  <a:lnTo>
                    <a:pt x="4002" y="7447"/>
                  </a:lnTo>
                  <a:lnTo>
                    <a:pt x="3915" y="7462"/>
                  </a:lnTo>
                  <a:lnTo>
                    <a:pt x="3826" y="7477"/>
                  </a:lnTo>
                  <a:lnTo>
                    <a:pt x="3738" y="7489"/>
                  </a:lnTo>
                  <a:lnTo>
                    <a:pt x="3648" y="7498"/>
                  </a:lnTo>
                  <a:lnTo>
                    <a:pt x="3559" y="7505"/>
                  </a:lnTo>
                  <a:lnTo>
                    <a:pt x="3468" y="7511"/>
                  </a:lnTo>
                  <a:lnTo>
                    <a:pt x="3376" y="7514"/>
                  </a:lnTo>
                  <a:lnTo>
                    <a:pt x="3284" y="7515"/>
                  </a:lnTo>
                  <a:lnTo>
                    <a:pt x="3284" y="7515"/>
                  </a:lnTo>
                  <a:close/>
                  <a:moveTo>
                    <a:pt x="5845" y="3034"/>
                  </a:moveTo>
                  <a:lnTo>
                    <a:pt x="5814" y="3034"/>
                  </a:lnTo>
                  <a:lnTo>
                    <a:pt x="5789" y="3034"/>
                  </a:lnTo>
                  <a:lnTo>
                    <a:pt x="5762" y="3033"/>
                  </a:lnTo>
                  <a:lnTo>
                    <a:pt x="5737" y="3031"/>
                  </a:lnTo>
                  <a:lnTo>
                    <a:pt x="5711" y="3027"/>
                  </a:lnTo>
                  <a:lnTo>
                    <a:pt x="5686" y="3024"/>
                  </a:lnTo>
                  <a:lnTo>
                    <a:pt x="5661" y="3018"/>
                  </a:lnTo>
                  <a:lnTo>
                    <a:pt x="5636" y="3013"/>
                  </a:lnTo>
                  <a:lnTo>
                    <a:pt x="5611" y="3007"/>
                  </a:lnTo>
                  <a:lnTo>
                    <a:pt x="5586" y="3000"/>
                  </a:lnTo>
                  <a:lnTo>
                    <a:pt x="5562" y="2992"/>
                  </a:lnTo>
                  <a:lnTo>
                    <a:pt x="5539" y="2983"/>
                  </a:lnTo>
                  <a:lnTo>
                    <a:pt x="5516" y="2974"/>
                  </a:lnTo>
                  <a:lnTo>
                    <a:pt x="5492" y="2964"/>
                  </a:lnTo>
                  <a:lnTo>
                    <a:pt x="5469" y="2953"/>
                  </a:lnTo>
                  <a:lnTo>
                    <a:pt x="5447" y="2942"/>
                  </a:lnTo>
                  <a:lnTo>
                    <a:pt x="5425" y="2929"/>
                  </a:lnTo>
                  <a:lnTo>
                    <a:pt x="5403" y="2917"/>
                  </a:lnTo>
                  <a:lnTo>
                    <a:pt x="5382" y="2902"/>
                  </a:lnTo>
                  <a:lnTo>
                    <a:pt x="5361" y="2888"/>
                  </a:lnTo>
                  <a:lnTo>
                    <a:pt x="5341" y="2874"/>
                  </a:lnTo>
                  <a:lnTo>
                    <a:pt x="5321" y="2858"/>
                  </a:lnTo>
                  <a:lnTo>
                    <a:pt x="5301" y="2842"/>
                  </a:lnTo>
                  <a:lnTo>
                    <a:pt x="5282" y="2825"/>
                  </a:lnTo>
                  <a:lnTo>
                    <a:pt x="5263" y="2807"/>
                  </a:lnTo>
                  <a:lnTo>
                    <a:pt x="5246" y="2789"/>
                  </a:lnTo>
                  <a:lnTo>
                    <a:pt x="5228" y="2770"/>
                  </a:lnTo>
                  <a:lnTo>
                    <a:pt x="5211" y="2751"/>
                  </a:lnTo>
                  <a:lnTo>
                    <a:pt x="5195" y="2731"/>
                  </a:lnTo>
                  <a:lnTo>
                    <a:pt x="5179" y="2710"/>
                  </a:lnTo>
                  <a:lnTo>
                    <a:pt x="5164" y="2689"/>
                  </a:lnTo>
                  <a:lnTo>
                    <a:pt x="5150" y="2668"/>
                  </a:lnTo>
                  <a:lnTo>
                    <a:pt x="5136" y="2646"/>
                  </a:lnTo>
                  <a:lnTo>
                    <a:pt x="5100" y="2587"/>
                  </a:lnTo>
                  <a:lnTo>
                    <a:pt x="5061" y="2531"/>
                  </a:lnTo>
                  <a:lnTo>
                    <a:pt x="5021" y="2475"/>
                  </a:lnTo>
                  <a:lnTo>
                    <a:pt x="4980" y="2421"/>
                  </a:lnTo>
                  <a:lnTo>
                    <a:pt x="4937" y="2368"/>
                  </a:lnTo>
                  <a:lnTo>
                    <a:pt x="4892" y="2317"/>
                  </a:lnTo>
                  <a:lnTo>
                    <a:pt x="4845" y="2266"/>
                  </a:lnTo>
                  <a:lnTo>
                    <a:pt x="4798" y="2217"/>
                  </a:lnTo>
                  <a:lnTo>
                    <a:pt x="4748" y="2171"/>
                  </a:lnTo>
                  <a:lnTo>
                    <a:pt x="4697" y="2125"/>
                  </a:lnTo>
                  <a:lnTo>
                    <a:pt x="4644" y="2081"/>
                  </a:lnTo>
                  <a:lnTo>
                    <a:pt x="4591" y="2039"/>
                  </a:lnTo>
                  <a:lnTo>
                    <a:pt x="4536" y="1998"/>
                  </a:lnTo>
                  <a:lnTo>
                    <a:pt x="4479" y="1960"/>
                  </a:lnTo>
                  <a:lnTo>
                    <a:pt x="4422" y="1922"/>
                  </a:lnTo>
                  <a:lnTo>
                    <a:pt x="4363" y="1888"/>
                  </a:lnTo>
                  <a:lnTo>
                    <a:pt x="4302" y="1854"/>
                  </a:lnTo>
                  <a:lnTo>
                    <a:pt x="4241" y="1823"/>
                  </a:lnTo>
                  <a:lnTo>
                    <a:pt x="4178" y="1793"/>
                  </a:lnTo>
                  <a:lnTo>
                    <a:pt x="4115" y="1765"/>
                  </a:lnTo>
                  <a:lnTo>
                    <a:pt x="4051" y="1740"/>
                  </a:lnTo>
                  <a:lnTo>
                    <a:pt x="3986" y="1715"/>
                  </a:lnTo>
                  <a:lnTo>
                    <a:pt x="3919" y="1694"/>
                  </a:lnTo>
                  <a:lnTo>
                    <a:pt x="3852" y="1675"/>
                  </a:lnTo>
                  <a:lnTo>
                    <a:pt x="3783" y="1657"/>
                  </a:lnTo>
                  <a:lnTo>
                    <a:pt x="3715" y="1641"/>
                  </a:lnTo>
                  <a:lnTo>
                    <a:pt x="3644" y="1629"/>
                  </a:lnTo>
                  <a:lnTo>
                    <a:pt x="3574" y="1618"/>
                  </a:lnTo>
                  <a:lnTo>
                    <a:pt x="3502" y="1611"/>
                  </a:lnTo>
                  <a:lnTo>
                    <a:pt x="3430" y="1604"/>
                  </a:lnTo>
                  <a:lnTo>
                    <a:pt x="3357" y="1601"/>
                  </a:lnTo>
                  <a:lnTo>
                    <a:pt x="3284" y="1599"/>
                  </a:lnTo>
                  <a:lnTo>
                    <a:pt x="3215" y="1601"/>
                  </a:lnTo>
                  <a:lnTo>
                    <a:pt x="3145" y="1604"/>
                  </a:lnTo>
                  <a:lnTo>
                    <a:pt x="3076" y="1609"/>
                  </a:lnTo>
                  <a:lnTo>
                    <a:pt x="3008" y="1617"/>
                  </a:lnTo>
                  <a:lnTo>
                    <a:pt x="2940" y="1626"/>
                  </a:lnTo>
                  <a:lnTo>
                    <a:pt x="2874" y="1638"/>
                  </a:lnTo>
                  <a:lnTo>
                    <a:pt x="2808" y="1652"/>
                  </a:lnTo>
                  <a:lnTo>
                    <a:pt x="2742" y="1668"/>
                  </a:lnTo>
                  <a:lnTo>
                    <a:pt x="2678" y="1686"/>
                  </a:lnTo>
                  <a:lnTo>
                    <a:pt x="2614" y="1706"/>
                  </a:lnTo>
                  <a:lnTo>
                    <a:pt x="2551" y="1728"/>
                  </a:lnTo>
                  <a:lnTo>
                    <a:pt x="2489" y="1751"/>
                  </a:lnTo>
                  <a:lnTo>
                    <a:pt x="2428" y="1776"/>
                  </a:lnTo>
                  <a:lnTo>
                    <a:pt x="2367" y="1803"/>
                  </a:lnTo>
                  <a:lnTo>
                    <a:pt x="2309" y="1833"/>
                  </a:lnTo>
                  <a:lnTo>
                    <a:pt x="2250" y="1862"/>
                  </a:lnTo>
                  <a:lnTo>
                    <a:pt x="2194" y="1896"/>
                  </a:lnTo>
                  <a:lnTo>
                    <a:pt x="2137" y="1929"/>
                  </a:lnTo>
                  <a:lnTo>
                    <a:pt x="2082" y="1965"/>
                  </a:lnTo>
                  <a:lnTo>
                    <a:pt x="2029" y="2002"/>
                  </a:lnTo>
                  <a:lnTo>
                    <a:pt x="1976" y="2042"/>
                  </a:lnTo>
                  <a:lnTo>
                    <a:pt x="1925" y="2081"/>
                  </a:lnTo>
                  <a:lnTo>
                    <a:pt x="1875" y="2123"/>
                  </a:lnTo>
                  <a:lnTo>
                    <a:pt x="1826" y="2166"/>
                  </a:lnTo>
                  <a:lnTo>
                    <a:pt x="1779" y="2212"/>
                  </a:lnTo>
                  <a:lnTo>
                    <a:pt x="1732" y="2257"/>
                  </a:lnTo>
                  <a:lnTo>
                    <a:pt x="1688" y="2305"/>
                  </a:lnTo>
                  <a:lnTo>
                    <a:pt x="1645" y="2353"/>
                  </a:lnTo>
                  <a:lnTo>
                    <a:pt x="1603" y="2404"/>
                  </a:lnTo>
                  <a:lnTo>
                    <a:pt x="1563" y="2455"/>
                  </a:lnTo>
                  <a:lnTo>
                    <a:pt x="1524" y="2508"/>
                  </a:lnTo>
                  <a:lnTo>
                    <a:pt x="1487" y="2561"/>
                  </a:lnTo>
                  <a:lnTo>
                    <a:pt x="1496" y="2541"/>
                  </a:lnTo>
                  <a:lnTo>
                    <a:pt x="1503" y="2520"/>
                  </a:lnTo>
                  <a:lnTo>
                    <a:pt x="1511" y="2499"/>
                  </a:lnTo>
                  <a:lnTo>
                    <a:pt x="1518" y="2478"/>
                  </a:lnTo>
                  <a:lnTo>
                    <a:pt x="1524" y="2457"/>
                  </a:lnTo>
                  <a:lnTo>
                    <a:pt x="1530" y="2436"/>
                  </a:lnTo>
                  <a:lnTo>
                    <a:pt x="1535" y="2414"/>
                  </a:lnTo>
                  <a:lnTo>
                    <a:pt x="1540" y="2393"/>
                  </a:lnTo>
                  <a:lnTo>
                    <a:pt x="1543" y="2371"/>
                  </a:lnTo>
                  <a:lnTo>
                    <a:pt x="1546" y="2349"/>
                  </a:lnTo>
                  <a:lnTo>
                    <a:pt x="1550" y="2327"/>
                  </a:lnTo>
                  <a:lnTo>
                    <a:pt x="1552" y="2305"/>
                  </a:lnTo>
                  <a:lnTo>
                    <a:pt x="1553" y="2281"/>
                  </a:lnTo>
                  <a:lnTo>
                    <a:pt x="1553" y="2259"/>
                  </a:lnTo>
                  <a:lnTo>
                    <a:pt x="1553" y="2237"/>
                  </a:lnTo>
                  <a:lnTo>
                    <a:pt x="1553" y="2214"/>
                  </a:lnTo>
                  <a:lnTo>
                    <a:pt x="1552" y="2192"/>
                  </a:lnTo>
                  <a:lnTo>
                    <a:pt x="1550" y="2169"/>
                  </a:lnTo>
                  <a:lnTo>
                    <a:pt x="1546" y="2146"/>
                  </a:lnTo>
                  <a:lnTo>
                    <a:pt x="1543" y="2123"/>
                  </a:lnTo>
                  <a:lnTo>
                    <a:pt x="1540" y="2100"/>
                  </a:lnTo>
                  <a:lnTo>
                    <a:pt x="1534" y="2078"/>
                  </a:lnTo>
                  <a:lnTo>
                    <a:pt x="1529" y="2055"/>
                  </a:lnTo>
                  <a:lnTo>
                    <a:pt x="1523" y="2033"/>
                  </a:lnTo>
                  <a:lnTo>
                    <a:pt x="1515" y="2009"/>
                  </a:lnTo>
                  <a:lnTo>
                    <a:pt x="1508" y="1987"/>
                  </a:lnTo>
                  <a:lnTo>
                    <a:pt x="1499" y="1965"/>
                  </a:lnTo>
                  <a:lnTo>
                    <a:pt x="1490" y="1943"/>
                  </a:lnTo>
                  <a:lnTo>
                    <a:pt x="1480" y="1921"/>
                  </a:lnTo>
                  <a:lnTo>
                    <a:pt x="1469" y="1899"/>
                  </a:lnTo>
                  <a:lnTo>
                    <a:pt x="1458" y="1877"/>
                  </a:lnTo>
                  <a:lnTo>
                    <a:pt x="1445" y="1855"/>
                  </a:lnTo>
                  <a:lnTo>
                    <a:pt x="1413" y="1801"/>
                  </a:lnTo>
                  <a:lnTo>
                    <a:pt x="1379" y="1748"/>
                  </a:lnTo>
                  <a:lnTo>
                    <a:pt x="1346" y="1696"/>
                  </a:lnTo>
                  <a:lnTo>
                    <a:pt x="1311" y="1644"/>
                  </a:lnTo>
                  <a:lnTo>
                    <a:pt x="1275" y="1593"/>
                  </a:lnTo>
                  <a:lnTo>
                    <a:pt x="1239" y="1542"/>
                  </a:lnTo>
                  <a:lnTo>
                    <a:pt x="1201" y="1492"/>
                  </a:lnTo>
                  <a:lnTo>
                    <a:pt x="1164" y="1443"/>
                  </a:lnTo>
                  <a:lnTo>
                    <a:pt x="1115" y="1383"/>
                  </a:lnTo>
                  <a:lnTo>
                    <a:pt x="1065" y="1323"/>
                  </a:lnTo>
                  <a:lnTo>
                    <a:pt x="1014" y="1265"/>
                  </a:lnTo>
                  <a:lnTo>
                    <a:pt x="962" y="1207"/>
                  </a:lnTo>
                  <a:lnTo>
                    <a:pt x="909" y="1151"/>
                  </a:lnTo>
                  <a:lnTo>
                    <a:pt x="855" y="1097"/>
                  </a:lnTo>
                  <a:lnTo>
                    <a:pt x="800" y="1042"/>
                  </a:lnTo>
                  <a:lnTo>
                    <a:pt x="743" y="989"/>
                  </a:lnTo>
                  <a:lnTo>
                    <a:pt x="807" y="932"/>
                  </a:lnTo>
                  <a:lnTo>
                    <a:pt x="872" y="877"/>
                  </a:lnTo>
                  <a:lnTo>
                    <a:pt x="938" y="823"/>
                  </a:lnTo>
                  <a:lnTo>
                    <a:pt x="1005" y="771"/>
                  </a:lnTo>
                  <a:lnTo>
                    <a:pt x="1073" y="720"/>
                  </a:lnTo>
                  <a:lnTo>
                    <a:pt x="1143" y="670"/>
                  </a:lnTo>
                  <a:lnTo>
                    <a:pt x="1213" y="623"/>
                  </a:lnTo>
                  <a:lnTo>
                    <a:pt x="1285" y="576"/>
                  </a:lnTo>
                  <a:lnTo>
                    <a:pt x="1358" y="531"/>
                  </a:lnTo>
                  <a:lnTo>
                    <a:pt x="1433" y="488"/>
                  </a:lnTo>
                  <a:lnTo>
                    <a:pt x="1508" y="447"/>
                  </a:lnTo>
                  <a:lnTo>
                    <a:pt x="1584" y="407"/>
                  </a:lnTo>
                  <a:lnTo>
                    <a:pt x="1661" y="368"/>
                  </a:lnTo>
                  <a:lnTo>
                    <a:pt x="1739" y="332"/>
                  </a:lnTo>
                  <a:lnTo>
                    <a:pt x="1819" y="298"/>
                  </a:lnTo>
                  <a:lnTo>
                    <a:pt x="1898" y="264"/>
                  </a:lnTo>
                  <a:lnTo>
                    <a:pt x="1979" y="234"/>
                  </a:lnTo>
                  <a:lnTo>
                    <a:pt x="2061" y="204"/>
                  </a:lnTo>
                  <a:lnTo>
                    <a:pt x="2144" y="177"/>
                  </a:lnTo>
                  <a:lnTo>
                    <a:pt x="2227" y="152"/>
                  </a:lnTo>
                  <a:lnTo>
                    <a:pt x="2312" y="127"/>
                  </a:lnTo>
                  <a:lnTo>
                    <a:pt x="2397" y="105"/>
                  </a:lnTo>
                  <a:lnTo>
                    <a:pt x="2482" y="87"/>
                  </a:lnTo>
                  <a:lnTo>
                    <a:pt x="2569" y="69"/>
                  </a:lnTo>
                  <a:lnTo>
                    <a:pt x="2656" y="52"/>
                  </a:lnTo>
                  <a:lnTo>
                    <a:pt x="2745" y="39"/>
                  </a:lnTo>
                  <a:lnTo>
                    <a:pt x="2833" y="27"/>
                  </a:lnTo>
                  <a:lnTo>
                    <a:pt x="2922" y="17"/>
                  </a:lnTo>
                  <a:lnTo>
                    <a:pt x="3012" y="10"/>
                  </a:lnTo>
                  <a:lnTo>
                    <a:pt x="3102" y="5"/>
                  </a:lnTo>
                  <a:lnTo>
                    <a:pt x="3193" y="1"/>
                  </a:lnTo>
                  <a:lnTo>
                    <a:pt x="3284" y="0"/>
                  </a:lnTo>
                  <a:lnTo>
                    <a:pt x="3376" y="1"/>
                  </a:lnTo>
                  <a:lnTo>
                    <a:pt x="3468" y="5"/>
                  </a:lnTo>
                  <a:lnTo>
                    <a:pt x="3559" y="10"/>
                  </a:lnTo>
                  <a:lnTo>
                    <a:pt x="3648" y="18"/>
                  </a:lnTo>
                  <a:lnTo>
                    <a:pt x="3738" y="27"/>
                  </a:lnTo>
                  <a:lnTo>
                    <a:pt x="3826" y="39"/>
                  </a:lnTo>
                  <a:lnTo>
                    <a:pt x="3915" y="53"/>
                  </a:lnTo>
                  <a:lnTo>
                    <a:pt x="4002" y="69"/>
                  </a:lnTo>
                  <a:lnTo>
                    <a:pt x="4089" y="87"/>
                  </a:lnTo>
                  <a:lnTo>
                    <a:pt x="4175" y="106"/>
                  </a:lnTo>
                  <a:lnTo>
                    <a:pt x="4260" y="129"/>
                  </a:lnTo>
                  <a:lnTo>
                    <a:pt x="4345" y="152"/>
                  </a:lnTo>
                  <a:lnTo>
                    <a:pt x="4428" y="178"/>
                  </a:lnTo>
                  <a:lnTo>
                    <a:pt x="4511" y="205"/>
                  </a:lnTo>
                  <a:lnTo>
                    <a:pt x="4593" y="235"/>
                  </a:lnTo>
                  <a:lnTo>
                    <a:pt x="4675" y="266"/>
                  </a:lnTo>
                  <a:lnTo>
                    <a:pt x="4755" y="299"/>
                  </a:lnTo>
                  <a:lnTo>
                    <a:pt x="4834" y="334"/>
                  </a:lnTo>
                  <a:lnTo>
                    <a:pt x="4913" y="371"/>
                  </a:lnTo>
                  <a:lnTo>
                    <a:pt x="4990" y="409"/>
                  </a:lnTo>
                  <a:lnTo>
                    <a:pt x="5067" y="449"/>
                  </a:lnTo>
                  <a:lnTo>
                    <a:pt x="5142" y="491"/>
                  </a:lnTo>
                  <a:lnTo>
                    <a:pt x="5216" y="534"/>
                  </a:lnTo>
                  <a:lnTo>
                    <a:pt x="5289" y="579"/>
                  </a:lnTo>
                  <a:lnTo>
                    <a:pt x="5361" y="626"/>
                  </a:lnTo>
                  <a:lnTo>
                    <a:pt x="5432" y="673"/>
                  </a:lnTo>
                  <a:lnTo>
                    <a:pt x="5501" y="723"/>
                  </a:lnTo>
                  <a:lnTo>
                    <a:pt x="5570" y="775"/>
                  </a:lnTo>
                  <a:lnTo>
                    <a:pt x="5637" y="827"/>
                  </a:lnTo>
                  <a:lnTo>
                    <a:pt x="5703" y="882"/>
                  </a:lnTo>
                  <a:lnTo>
                    <a:pt x="5768" y="937"/>
                  </a:lnTo>
                  <a:lnTo>
                    <a:pt x="5831" y="995"/>
                  </a:lnTo>
                  <a:lnTo>
                    <a:pt x="5776" y="1047"/>
                  </a:lnTo>
                  <a:lnTo>
                    <a:pt x="5721" y="1100"/>
                  </a:lnTo>
                  <a:lnTo>
                    <a:pt x="5668" y="1154"/>
                  </a:lnTo>
                  <a:lnTo>
                    <a:pt x="5616" y="1209"/>
                  </a:lnTo>
                  <a:lnTo>
                    <a:pt x="5564" y="1266"/>
                  </a:lnTo>
                  <a:lnTo>
                    <a:pt x="5515" y="1323"/>
                  </a:lnTo>
                  <a:lnTo>
                    <a:pt x="5466" y="1382"/>
                  </a:lnTo>
                  <a:lnTo>
                    <a:pt x="5418" y="1441"/>
                  </a:lnTo>
                  <a:lnTo>
                    <a:pt x="5381" y="1491"/>
                  </a:lnTo>
                  <a:lnTo>
                    <a:pt x="5343" y="1541"/>
                  </a:lnTo>
                  <a:lnTo>
                    <a:pt x="5307" y="1592"/>
                  </a:lnTo>
                  <a:lnTo>
                    <a:pt x="5271" y="1643"/>
                  </a:lnTo>
                  <a:lnTo>
                    <a:pt x="5236" y="1694"/>
                  </a:lnTo>
                  <a:lnTo>
                    <a:pt x="5203" y="1746"/>
                  </a:lnTo>
                  <a:lnTo>
                    <a:pt x="5169" y="1799"/>
                  </a:lnTo>
                  <a:lnTo>
                    <a:pt x="5137" y="1854"/>
                  </a:lnTo>
                  <a:lnTo>
                    <a:pt x="5110" y="1903"/>
                  </a:lnTo>
                  <a:lnTo>
                    <a:pt x="5088" y="1953"/>
                  </a:lnTo>
                  <a:lnTo>
                    <a:pt x="5068" y="2003"/>
                  </a:lnTo>
                  <a:lnTo>
                    <a:pt x="5053" y="2054"/>
                  </a:lnTo>
                  <a:lnTo>
                    <a:pt x="5041" y="2104"/>
                  </a:lnTo>
                  <a:lnTo>
                    <a:pt x="5033" y="2156"/>
                  </a:lnTo>
                  <a:lnTo>
                    <a:pt x="5029" y="2207"/>
                  </a:lnTo>
                  <a:lnTo>
                    <a:pt x="5029" y="2258"/>
                  </a:lnTo>
                  <a:lnTo>
                    <a:pt x="5031" y="2308"/>
                  </a:lnTo>
                  <a:lnTo>
                    <a:pt x="5037" y="2358"/>
                  </a:lnTo>
                  <a:lnTo>
                    <a:pt x="5046" y="2407"/>
                  </a:lnTo>
                  <a:lnTo>
                    <a:pt x="5058" y="2456"/>
                  </a:lnTo>
                  <a:lnTo>
                    <a:pt x="5073" y="2503"/>
                  </a:lnTo>
                  <a:lnTo>
                    <a:pt x="5091" y="2550"/>
                  </a:lnTo>
                  <a:lnTo>
                    <a:pt x="5112" y="2595"/>
                  </a:lnTo>
                  <a:lnTo>
                    <a:pt x="5135" y="2638"/>
                  </a:lnTo>
                  <a:lnTo>
                    <a:pt x="5162" y="2681"/>
                  </a:lnTo>
                  <a:lnTo>
                    <a:pt x="5190" y="2721"/>
                  </a:lnTo>
                  <a:lnTo>
                    <a:pt x="5221" y="2761"/>
                  </a:lnTo>
                  <a:lnTo>
                    <a:pt x="5256" y="2797"/>
                  </a:lnTo>
                  <a:lnTo>
                    <a:pt x="5292" y="2832"/>
                  </a:lnTo>
                  <a:lnTo>
                    <a:pt x="5330" y="2865"/>
                  </a:lnTo>
                  <a:lnTo>
                    <a:pt x="5371" y="2895"/>
                  </a:lnTo>
                  <a:lnTo>
                    <a:pt x="5413" y="2922"/>
                  </a:lnTo>
                  <a:lnTo>
                    <a:pt x="5458" y="2947"/>
                  </a:lnTo>
                  <a:lnTo>
                    <a:pt x="5505" y="2969"/>
                  </a:lnTo>
                  <a:lnTo>
                    <a:pt x="5553" y="2988"/>
                  </a:lnTo>
                  <a:lnTo>
                    <a:pt x="5603" y="3004"/>
                  </a:lnTo>
                  <a:lnTo>
                    <a:pt x="5655" y="3016"/>
                  </a:lnTo>
                  <a:lnTo>
                    <a:pt x="5708" y="3025"/>
                  </a:lnTo>
                  <a:lnTo>
                    <a:pt x="5762" y="3031"/>
                  </a:lnTo>
                  <a:lnTo>
                    <a:pt x="5819" y="3033"/>
                  </a:lnTo>
                  <a:lnTo>
                    <a:pt x="5849" y="3033"/>
                  </a:lnTo>
                  <a:lnTo>
                    <a:pt x="5872" y="3033"/>
                  </a:lnTo>
                  <a:lnTo>
                    <a:pt x="5894" y="3032"/>
                  </a:lnTo>
                  <a:lnTo>
                    <a:pt x="5916" y="3029"/>
                  </a:lnTo>
                  <a:lnTo>
                    <a:pt x="5938" y="3027"/>
                  </a:lnTo>
                  <a:lnTo>
                    <a:pt x="5959" y="3025"/>
                  </a:lnTo>
                  <a:lnTo>
                    <a:pt x="5981" y="3022"/>
                  </a:lnTo>
                  <a:lnTo>
                    <a:pt x="6002" y="3017"/>
                  </a:lnTo>
                  <a:lnTo>
                    <a:pt x="6025" y="3013"/>
                  </a:lnTo>
                  <a:lnTo>
                    <a:pt x="6046" y="3007"/>
                  </a:lnTo>
                  <a:lnTo>
                    <a:pt x="6067" y="3002"/>
                  </a:lnTo>
                  <a:lnTo>
                    <a:pt x="6086" y="2995"/>
                  </a:lnTo>
                  <a:lnTo>
                    <a:pt x="6108" y="2989"/>
                  </a:lnTo>
                  <a:lnTo>
                    <a:pt x="6127" y="2981"/>
                  </a:lnTo>
                  <a:lnTo>
                    <a:pt x="6148" y="2973"/>
                  </a:lnTo>
                  <a:lnTo>
                    <a:pt x="6168" y="2964"/>
                  </a:lnTo>
                  <a:lnTo>
                    <a:pt x="6187" y="2955"/>
                  </a:lnTo>
                  <a:lnTo>
                    <a:pt x="6207" y="2946"/>
                  </a:lnTo>
                  <a:lnTo>
                    <a:pt x="6226" y="2936"/>
                  </a:lnTo>
                  <a:lnTo>
                    <a:pt x="6245" y="2925"/>
                  </a:lnTo>
                  <a:lnTo>
                    <a:pt x="6263" y="2913"/>
                  </a:lnTo>
                  <a:lnTo>
                    <a:pt x="6281" y="2902"/>
                  </a:lnTo>
                  <a:lnTo>
                    <a:pt x="6299" y="2890"/>
                  </a:lnTo>
                  <a:lnTo>
                    <a:pt x="6317" y="2877"/>
                  </a:lnTo>
                  <a:lnTo>
                    <a:pt x="6334" y="2864"/>
                  </a:lnTo>
                  <a:lnTo>
                    <a:pt x="6351" y="2850"/>
                  </a:lnTo>
                  <a:lnTo>
                    <a:pt x="6367" y="2836"/>
                  </a:lnTo>
                  <a:lnTo>
                    <a:pt x="6383" y="2822"/>
                  </a:lnTo>
                  <a:lnTo>
                    <a:pt x="6400" y="2806"/>
                  </a:lnTo>
                  <a:lnTo>
                    <a:pt x="6415" y="2791"/>
                  </a:lnTo>
                  <a:lnTo>
                    <a:pt x="6429" y="2775"/>
                  </a:lnTo>
                  <a:lnTo>
                    <a:pt x="6445" y="2759"/>
                  </a:lnTo>
                  <a:lnTo>
                    <a:pt x="6458" y="2742"/>
                  </a:lnTo>
                  <a:lnTo>
                    <a:pt x="6445" y="2759"/>
                  </a:lnTo>
                  <a:lnTo>
                    <a:pt x="6432" y="2774"/>
                  </a:lnTo>
                  <a:lnTo>
                    <a:pt x="6417" y="2790"/>
                  </a:lnTo>
                  <a:lnTo>
                    <a:pt x="6402" y="2805"/>
                  </a:lnTo>
                  <a:lnTo>
                    <a:pt x="6387" y="2820"/>
                  </a:lnTo>
                  <a:lnTo>
                    <a:pt x="6372" y="2834"/>
                  </a:lnTo>
                  <a:lnTo>
                    <a:pt x="6355" y="2848"/>
                  </a:lnTo>
                  <a:lnTo>
                    <a:pt x="6339" y="2862"/>
                  </a:lnTo>
                  <a:lnTo>
                    <a:pt x="6322" y="2875"/>
                  </a:lnTo>
                  <a:lnTo>
                    <a:pt x="6306" y="2887"/>
                  </a:lnTo>
                  <a:lnTo>
                    <a:pt x="6288" y="2899"/>
                  </a:lnTo>
                  <a:lnTo>
                    <a:pt x="6270" y="2911"/>
                  </a:lnTo>
                  <a:lnTo>
                    <a:pt x="6251" y="2922"/>
                  </a:lnTo>
                  <a:lnTo>
                    <a:pt x="6234" y="2933"/>
                  </a:lnTo>
                  <a:lnTo>
                    <a:pt x="6214" y="2943"/>
                  </a:lnTo>
                  <a:lnTo>
                    <a:pt x="6195" y="2953"/>
                  </a:lnTo>
                  <a:lnTo>
                    <a:pt x="6175" y="2963"/>
                  </a:lnTo>
                  <a:lnTo>
                    <a:pt x="6155" y="2972"/>
                  </a:lnTo>
                  <a:lnTo>
                    <a:pt x="6135" y="2980"/>
                  </a:lnTo>
                  <a:lnTo>
                    <a:pt x="6114" y="2988"/>
                  </a:lnTo>
                  <a:lnTo>
                    <a:pt x="6093" y="2995"/>
                  </a:lnTo>
                  <a:lnTo>
                    <a:pt x="6072" y="3002"/>
                  </a:lnTo>
                  <a:lnTo>
                    <a:pt x="6051" y="3007"/>
                  </a:lnTo>
                  <a:lnTo>
                    <a:pt x="6029" y="3013"/>
                  </a:lnTo>
                  <a:lnTo>
                    <a:pt x="6007" y="3018"/>
                  </a:lnTo>
                  <a:lnTo>
                    <a:pt x="5985" y="3022"/>
                  </a:lnTo>
                  <a:lnTo>
                    <a:pt x="5963" y="3026"/>
                  </a:lnTo>
                  <a:lnTo>
                    <a:pt x="5939" y="3028"/>
                  </a:lnTo>
                  <a:lnTo>
                    <a:pt x="5916" y="3031"/>
                  </a:lnTo>
                  <a:lnTo>
                    <a:pt x="5893" y="3033"/>
                  </a:lnTo>
                  <a:lnTo>
                    <a:pt x="5870" y="3034"/>
                  </a:lnTo>
                  <a:lnTo>
                    <a:pt x="5845" y="3034"/>
                  </a:lnTo>
                  <a:close/>
                  <a:moveTo>
                    <a:pt x="754" y="3034"/>
                  </a:moveTo>
                  <a:lnTo>
                    <a:pt x="723" y="3034"/>
                  </a:lnTo>
                  <a:lnTo>
                    <a:pt x="692" y="3034"/>
                  </a:lnTo>
                  <a:lnTo>
                    <a:pt x="661" y="3032"/>
                  </a:lnTo>
                  <a:lnTo>
                    <a:pt x="632" y="3028"/>
                  </a:lnTo>
                  <a:lnTo>
                    <a:pt x="601" y="3025"/>
                  </a:lnTo>
                  <a:lnTo>
                    <a:pt x="572" y="3020"/>
                  </a:lnTo>
                  <a:lnTo>
                    <a:pt x="542" y="3014"/>
                  </a:lnTo>
                  <a:lnTo>
                    <a:pt x="513" y="3006"/>
                  </a:lnTo>
                  <a:lnTo>
                    <a:pt x="486" y="2999"/>
                  </a:lnTo>
                  <a:lnTo>
                    <a:pt x="458" y="2989"/>
                  </a:lnTo>
                  <a:lnTo>
                    <a:pt x="431" y="2979"/>
                  </a:lnTo>
                  <a:lnTo>
                    <a:pt x="405" y="2968"/>
                  </a:lnTo>
                  <a:lnTo>
                    <a:pt x="378" y="2955"/>
                  </a:lnTo>
                  <a:lnTo>
                    <a:pt x="353" y="2943"/>
                  </a:lnTo>
                  <a:lnTo>
                    <a:pt x="328" y="2929"/>
                  </a:lnTo>
                  <a:lnTo>
                    <a:pt x="304" y="2915"/>
                  </a:lnTo>
                  <a:lnTo>
                    <a:pt x="281" y="2899"/>
                  </a:lnTo>
                  <a:lnTo>
                    <a:pt x="258" y="2883"/>
                  </a:lnTo>
                  <a:lnTo>
                    <a:pt x="236" y="2866"/>
                  </a:lnTo>
                  <a:lnTo>
                    <a:pt x="213" y="2848"/>
                  </a:lnTo>
                  <a:lnTo>
                    <a:pt x="192" y="2829"/>
                  </a:lnTo>
                  <a:lnTo>
                    <a:pt x="172" y="2811"/>
                  </a:lnTo>
                  <a:lnTo>
                    <a:pt x="153" y="2791"/>
                  </a:lnTo>
                  <a:lnTo>
                    <a:pt x="134" y="2770"/>
                  </a:lnTo>
                  <a:lnTo>
                    <a:pt x="116" y="2749"/>
                  </a:lnTo>
                  <a:lnTo>
                    <a:pt x="99" y="2728"/>
                  </a:lnTo>
                  <a:lnTo>
                    <a:pt x="83" y="2706"/>
                  </a:lnTo>
                  <a:lnTo>
                    <a:pt x="66" y="2682"/>
                  </a:lnTo>
                  <a:lnTo>
                    <a:pt x="52" y="2659"/>
                  </a:lnTo>
                  <a:lnTo>
                    <a:pt x="38" y="2635"/>
                  </a:lnTo>
                  <a:lnTo>
                    <a:pt x="24" y="2611"/>
                  </a:lnTo>
                  <a:lnTo>
                    <a:pt x="12" y="2586"/>
                  </a:lnTo>
                  <a:lnTo>
                    <a:pt x="0" y="2561"/>
                  </a:lnTo>
                  <a:lnTo>
                    <a:pt x="14" y="2582"/>
                  </a:lnTo>
                  <a:lnTo>
                    <a:pt x="28" y="2603"/>
                  </a:lnTo>
                  <a:lnTo>
                    <a:pt x="40" y="2623"/>
                  </a:lnTo>
                  <a:lnTo>
                    <a:pt x="53" y="2644"/>
                  </a:lnTo>
                  <a:lnTo>
                    <a:pt x="67" y="2667"/>
                  </a:lnTo>
                  <a:lnTo>
                    <a:pt x="82" y="2688"/>
                  </a:lnTo>
                  <a:lnTo>
                    <a:pt x="96" y="2709"/>
                  </a:lnTo>
                  <a:lnTo>
                    <a:pt x="113" y="2730"/>
                  </a:lnTo>
                  <a:lnTo>
                    <a:pt x="128" y="2750"/>
                  </a:lnTo>
                  <a:lnTo>
                    <a:pt x="146" y="2769"/>
                  </a:lnTo>
                  <a:lnTo>
                    <a:pt x="164" y="2787"/>
                  </a:lnTo>
                  <a:lnTo>
                    <a:pt x="181" y="2806"/>
                  </a:lnTo>
                  <a:lnTo>
                    <a:pt x="199" y="2824"/>
                  </a:lnTo>
                  <a:lnTo>
                    <a:pt x="219" y="2841"/>
                  </a:lnTo>
                  <a:lnTo>
                    <a:pt x="238" y="2857"/>
                  </a:lnTo>
                  <a:lnTo>
                    <a:pt x="258" y="2873"/>
                  </a:lnTo>
                  <a:lnTo>
                    <a:pt x="279" y="2888"/>
                  </a:lnTo>
                  <a:lnTo>
                    <a:pt x="300" y="2902"/>
                  </a:lnTo>
                  <a:lnTo>
                    <a:pt x="321" y="2916"/>
                  </a:lnTo>
                  <a:lnTo>
                    <a:pt x="343" y="2929"/>
                  </a:lnTo>
                  <a:lnTo>
                    <a:pt x="365" y="2941"/>
                  </a:lnTo>
                  <a:lnTo>
                    <a:pt x="387" y="2953"/>
                  </a:lnTo>
                  <a:lnTo>
                    <a:pt x="410" y="2964"/>
                  </a:lnTo>
                  <a:lnTo>
                    <a:pt x="432" y="2974"/>
                  </a:lnTo>
                  <a:lnTo>
                    <a:pt x="457" y="2983"/>
                  </a:lnTo>
                  <a:lnTo>
                    <a:pt x="480" y="2992"/>
                  </a:lnTo>
                  <a:lnTo>
                    <a:pt x="504" y="3000"/>
                  </a:lnTo>
                  <a:lnTo>
                    <a:pt x="529" y="3007"/>
                  </a:lnTo>
                  <a:lnTo>
                    <a:pt x="554" y="3013"/>
                  </a:lnTo>
                  <a:lnTo>
                    <a:pt x="578" y="3018"/>
                  </a:lnTo>
                  <a:lnTo>
                    <a:pt x="604" y="3023"/>
                  </a:lnTo>
                  <a:lnTo>
                    <a:pt x="629" y="3027"/>
                  </a:lnTo>
                  <a:lnTo>
                    <a:pt x="655" y="3031"/>
                  </a:lnTo>
                  <a:lnTo>
                    <a:pt x="680" y="3033"/>
                  </a:lnTo>
                  <a:lnTo>
                    <a:pt x="707" y="3034"/>
                  </a:lnTo>
                  <a:lnTo>
                    <a:pt x="733" y="3034"/>
                  </a:lnTo>
                  <a:lnTo>
                    <a:pt x="754" y="3034"/>
                  </a:lnTo>
                  <a:close/>
                </a:path>
              </a:pathLst>
            </a:custGeom>
            <a:solidFill>
              <a:srgbClr val="DB5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74384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250"/>
                                        <p:tgtEl>
                                          <p:spTgt spid="47"/>
                                        </p:tgtEl>
                                      </p:cBhvr>
                                    </p:animEffect>
                                    <p:anim calcmode="lin" valueType="num">
                                      <p:cBhvr>
                                        <p:cTn id="12" dur="250" fill="hold"/>
                                        <p:tgtEl>
                                          <p:spTgt spid="47"/>
                                        </p:tgtEl>
                                        <p:attrNameLst>
                                          <p:attrName>ppt_x</p:attrName>
                                        </p:attrNameLst>
                                      </p:cBhvr>
                                      <p:tavLst>
                                        <p:tav tm="0">
                                          <p:val>
                                            <p:strVal val="#ppt_x"/>
                                          </p:val>
                                        </p:tav>
                                        <p:tav tm="100000">
                                          <p:val>
                                            <p:strVal val="#ppt_x"/>
                                          </p:val>
                                        </p:tav>
                                      </p:tavLst>
                                    </p:anim>
                                    <p:anim calcmode="lin" valueType="num">
                                      <p:cBhvr>
                                        <p:cTn id="13" dur="250" fill="hold"/>
                                        <p:tgtEl>
                                          <p:spTgt spid="47"/>
                                        </p:tgtEl>
                                        <p:attrNameLst>
                                          <p:attrName>ppt_y</p:attrName>
                                        </p:attrNameLst>
                                      </p:cBhvr>
                                      <p:tavLst>
                                        <p:tav tm="0">
                                          <p:val>
                                            <p:strVal val="#ppt_y+.1"/>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 calcmode="lin" valueType="num">
                                      <p:cBhvr additive="base">
                                        <p:cTn id="16" dur="500" fill="hold"/>
                                        <p:tgtEl>
                                          <p:spTgt spid="50"/>
                                        </p:tgtEl>
                                        <p:attrNameLst>
                                          <p:attrName>ppt_x</p:attrName>
                                        </p:attrNameLst>
                                      </p:cBhvr>
                                      <p:tavLst>
                                        <p:tav tm="0">
                                          <p:val>
                                            <p:strVal val="#ppt_x"/>
                                          </p:val>
                                        </p:tav>
                                        <p:tav tm="100000">
                                          <p:val>
                                            <p:strVal val="#ppt_x"/>
                                          </p:val>
                                        </p:tav>
                                      </p:tavLst>
                                    </p:anim>
                                    <p:anim calcmode="lin" valueType="num">
                                      <p:cBhvr additive="base">
                                        <p:cTn id="17" dur="500" fill="hold"/>
                                        <p:tgtEl>
                                          <p:spTgt spid="50"/>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42" presetClass="entr" presetSubtype="0" fill="hold" grpId="0" nodeType="after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250"/>
                                        <p:tgtEl>
                                          <p:spTgt spid="48"/>
                                        </p:tgtEl>
                                      </p:cBhvr>
                                    </p:animEffect>
                                    <p:anim calcmode="lin" valueType="num">
                                      <p:cBhvr>
                                        <p:cTn id="22" dur="250" fill="hold"/>
                                        <p:tgtEl>
                                          <p:spTgt spid="48"/>
                                        </p:tgtEl>
                                        <p:attrNameLst>
                                          <p:attrName>ppt_x</p:attrName>
                                        </p:attrNameLst>
                                      </p:cBhvr>
                                      <p:tavLst>
                                        <p:tav tm="0">
                                          <p:val>
                                            <p:strVal val="#ppt_x"/>
                                          </p:val>
                                        </p:tav>
                                        <p:tav tm="100000">
                                          <p:val>
                                            <p:strVal val="#ppt_x"/>
                                          </p:val>
                                        </p:tav>
                                      </p:tavLst>
                                    </p:anim>
                                    <p:anim calcmode="lin" valueType="num">
                                      <p:cBhvr>
                                        <p:cTn id="23" dur="250" fill="hold"/>
                                        <p:tgtEl>
                                          <p:spTgt spid="48"/>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par>
                          <p:cTn id="28" fill="hold">
                            <p:stCondLst>
                              <p:cond delay="1500"/>
                            </p:stCondLst>
                            <p:childTnLst>
                              <p:par>
                                <p:cTn id="29" presetID="42" presetClass="entr" presetSubtype="0" fill="hold" grpId="0"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250"/>
                                        <p:tgtEl>
                                          <p:spTgt spid="49"/>
                                        </p:tgtEl>
                                      </p:cBhvr>
                                    </p:animEffect>
                                    <p:anim calcmode="lin" valueType="num">
                                      <p:cBhvr>
                                        <p:cTn id="32" dur="250" fill="hold"/>
                                        <p:tgtEl>
                                          <p:spTgt spid="49"/>
                                        </p:tgtEl>
                                        <p:attrNameLst>
                                          <p:attrName>ppt_x</p:attrName>
                                        </p:attrNameLst>
                                      </p:cBhvr>
                                      <p:tavLst>
                                        <p:tav tm="0">
                                          <p:val>
                                            <p:strVal val="#ppt_x"/>
                                          </p:val>
                                        </p:tav>
                                        <p:tav tm="100000">
                                          <p:val>
                                            <p:strVal val="#ppt_x"/>
                                          </p:val>
                                        </p:tav>
                                      </p:tavLst>
                                    </p:anim>
                                    <p:anim calcmode="lin" valueType="num">
                                      <p:cBhvr>
                                        <p:cTn id="33" dur="250" fill="hold"/>
                                        <p:tgtEl>
                                          <p:spTgt spid="49"/>
                                        </p:tgtEl>
                                        <p:attrNameLst>
                                          <p:attrName>ppt_y</p:attrName>
                                        </p:attrNameLst>
                                      </p:cBhvr>
                                      <p:tavLst>
                                        <p:tav tm="0">
                                          <p:val>
                                            <p:strVal val="#ppt_y+.1"/>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2"/>
                                        </p:tgtEl>
                                        <p:attrNameLst>
                                          <p:attrName>style.visibility</p:attrName>
                                        </p:attrNameLst>
                                      </p:cBhvr>
                                      <p:to>
                                        <p:strVal val="visible"/>
                                      </p:to>
                                    </p:set>
                                    <p:anim calcmode="lin" valueType="num">
                                      <p:cBhvr additive="base">
                                        <p:cTn id="36" dur="500" fill="hold"/>
                                        <p:tgtEl>
                                          <p:spTgt spid="52"/>
                                        </p:tgtEl>
                                        <p:attrNameLst>
                                          <p:attrName>ppt_x</p:attrName>
                                        </p:attrNameLst>
                                      </p:cBhvr>
                                      <p:tavLst>
                                        <p:tav tm="0">
                                          <p:val>
                                            <p:strVal val="#ppt_x"/>
                                          </p:val>
                                        </p:tav>
                                        <p:tav tm="100000">
                                          <p:val>
                                            <p:strVal val="#ppt_x"/>
                                          </p:val>
                                        </p:tav>
                                      </p:tavLst>
                                    </p:anim>
                                    <p:anim calcmode="lin" valueType="num">
                                      <p:cBhvr additive="base">
                                        <p:cTn id="37"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animBg="1"/>
      <p:bldP spid="5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1DB7D-2725-C201-5A07-7434608D65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042236-38DF-049A-B64A-B6225B923734}"/>
              </a:ext>
            </a:extLst>
          </p:cNvPr>
          <p:cNvSpPr/>
          <p:nvPr/>
        </p:nvSpPr>
        <p:spPr>
          <a:xfrm>
            <a:off x="469900" y="2670627"/>
            <a:ext cx="11252200" cy="3717925"/>
          </a:xfrm>
          <a:custGeom>
            <a:avLst/>
            <a:gdLst/>
            <a:ahLst/>
            <a:cxnLst/>
            <a:rect l="l" t="t" r="r" b="b"/>
            <a:pathLst>
              <a:path w="11252200" h="3717925">
                <a:moveTo>
                  <a:pt x="11252200" y="0"/>
                </a:moveTo>
                <a:lnTo>
                  <a:pt x="0" y="0"/>
                </a:lnTo>
                <a:lnTo>
                  <a:pt x="0" y="3717471"/>
                </a:lnTo>
                <a:lnTo>
                  <a:pt x="11252200" y="3717471"/>
                </a:lnTo>
                <a:lnTo>
                  <a:pt x="11252200" y="0"/>
                </a:lnTo>
                <a:close/>
              </a:path>
            </a:pathLst>
          </a:custGeom>
          <a:solidFill>
            <a:srgbClr val="EEEBEB"/>
          </a:solidFill>
        </p:spPr>
        <p:txBody>
          <a:bodyPr wrap="square" lIns="0" tIns="0" rIns="0" bIns="0" rtlCol="0"/>
          <a:lstStyle/>
          <a:p>
            <a:endParaRPr/>
          </a:p>
        </p:txBody>
      </p:sp>
      <p:sp>
        <p:nvSpPr>
          <p:cNvPr id="3" name="object 3">
            <a:extLst>
              <a:ext uri="{FF2B5EF4-FFF2-40B4-BE49-F238E27FC236}">
                <a16:creationId xmlns:a16="http://schemas.microsoft.com/office/drawing/2014/main" id="{37901885-F6CF-88A1-D282-404365CEA3B3}"/>
              </a:ext>
            </a:extLst>
          </p:cNvPr>
          <p:cNvSpPr/>
          <p:nvPr/>
        </p:nvSpPr>
        <p:spPr>
          <a:xfrm>
            <a:off x="0" y="1607549"/>
            <a:ext cx="951865" cy="0"/>
          </a:xfrm>
          <a:custGeom>
            <a:avLst/>
            <a:gdLst/>
            <a:ahLst/>
            <a:cxnLst/>
            <a:rect l="l" t="t" r="r" b="b"/>
            <a:pathLst>
              <a:path w="951865">
                <a:moveTo>
                  <a:pt x="0" y="0"/>
                </a:moveTo>
                <a:lnTo>
                  <a:pt x="951592" y="0"/>
                </a:lnTo>
              </a:path>
            </a:pathLst>
          </a:custGeom>
          <a:ln w="31750">
            <a:solidFill>
              <a:srgbClr val="262626"/>
            </a:solidFill>
          </a:ln>
        </p:spPr>
        <p:txBody>
          <a:bodyPr wrap="square" lIns="0" tIns="0" rIns="0" bIns="0" rtlCol="0"/>
          <a:lstStyle/>
          <a:p>
            <a:endParaRPr/>
          </a:p>
        </p:txBody>
      </p:sp>
      <p:sp>
        <p:nvSpPr>
          <p:cNvPr id="4" name="object 4">
            <a:extLst>
              <a:ext uri="{FF2B5EF4-FFF2-40B4-BE49-F238E27FC236}">
                <a16:creationId xmlns:a16="http://schemas.microsoft.com/office/drawing/2014/main" id="{1F168C5D-4DD5-B4E2-6326-7F7AD2BDDD8F}"/>
              </a:ext>
            </a:extLst>
          </p:cNvPr>
          <p:cNvSpPr txBox="1">
            <a:spLocks noGrp="1"/>
          </p:cNvSpPr>
          <p:nvPr>
            <p:ph type="title"/>
          </p:nvPr>
        </p:nvSpPr>
        <p:spPr>
          <a:prstGeom prst="rect">
            <a:avLst/>
          </a:prstGeom>
        </p:spPr>
        <p:txBody>
          <a:bodyPr vert="horz" wrap="square" lIns="0" tIns="91440" rIns="0" bIns="0" rtlCol="0">
            <a:spAutoFit/>
          </a:bodyPr>
          <a:lstStyle/>
          <a:p>
            <a:pPr marL="12700" marR="5080">
              <a:lnSpc>
                <a:spcPts val="3600"/>
              </a:lnSpc>
              <a:spcBef>
                <a:spcPts val="720"/>
              </a:spcBef>
            </a:pPr>
            <a:r>
              <a:rPr spc="-10" dirty="0"/>
              <a:t>business model</a:t>
            </a:r>
          </a:p>
        </p:txBody>
      </p:sp>
      <p:sp>
        <p:nvSpPr>
          <p:cNvPr id="5" name="object 5">
            <a:extLst>
              <a:ext uri="{FF2B5EF4-FFF2-40B4-BE49-F238E27FC236}">
                <a16:creationId xmlns:a16="http://schemas.microsoft.com/office/drawing/2014/main" id="{0410B67E-C4C2-CCB9-309B-F699E51C2927}"/>
              </a:ext>
            </a:extLst>
          </p:cNvPr>
          <p:cNvSpPr txBox="1"/>
          <p:nvPr/>
        </p:nvSpPr>
        <p:spPr>
          <a:xfrm>
            <a:off x="8482957" y="3736133"/>
            <a:ext cx="2478405" cy="1908856"/>
          </a:xfrm>
          <a:prstGeom prst="rect">
            <a:avLst/>
          </a:prstGeom>
        </p:spPr>
        <p:txBody>
          <a:bodyPr vert="horz" wrap="square" lIns="0" tIns="12700" rIns="0" bIns="0" rtlCol="0">
            <a:spAutoFit/>
          </a:bodyPr>
          <a:lstStyle/>
          <a:p>
            <a:pPr marR="33655" algn="ctr">
              <a:lnSpc>
                <a:spcPct val="100000"/>
              </a:lnSpc>
              <a:spcBef>
                <a:spcPts val="100"/>
              </a:spcBef>
            </a:pPr>
            <a:r>
              <a:rPr lang="en-US" sz="1800" b="1" dirty="0">
                <a:solidFill>
                  <a:srgbClr val="262626"/>
                </a:solidFill>
                <a:latin typeface="Graphik Regular" panose="020B0503030202060203" pitchFamily="34" charset="77"/>
                <a:cs typeface="Graphik Bold"/>
              </a:rPr>
              <a:t>scalability</a:t>
            </a:r>
            <a:endParaRPr sz="1800" dirty="0">
              <a:latin typeface="Graphik Regular" panose="020B0503030202060203" pitchFamily="34" charset="77"/>
              <a:cs typeface="Graphik Regular"/>
            </a:endParaRPr>
          </a:p>
          <a:p>
            <a:pPr>
              <a:lnSpc>
                <a:spcPct val="100000"/>
              </a:lnSpc>
              <a:spcBef>
                <a:spcPts val="50"/>
              </a:spcBef>
            </a:pPr>
            <a:endParaRPr sz="1800" dirty="0">
              <a:latin typeface="Graphik Regular" panose="020B0503030202060203" pitchFamily="34" charset="77"/>
              <a:cs typeface="Graphik Regular"/>
            </a:endParaRPr>
          </a:p>
          <a:p>
            <a:pPr marL="12700" marR="5080" algn="ctr">
              <a:lnSpc>
                <a:spcPts val="1500"/>
              </a:lnSpc>
            </a:pPr>
            <a:r>
              <a:rPr lang="en-US" sz="1400" b="1" dirty="0">
                <a:solidFill>
                  <a:srgbClr val="262626"/>
                </a:solidFill>
                <a:latin typeface="Graphik Regular" panose="020B0503030202060203" pitchFamily="34" charset="77"/>
                <a:cs typeface="Arial"/>
              </a:rPr>
              <a:t>Upsell potential:</a:t>
            </a:r>
          </a:p>
          <a:p>
            <a:pPr marL="12700" marR="5080" algn="ctr">
              <a:lnSpc>
                <a:spcPts val="1500"/>
              </a:lnSpc>
            </a:pPr>
            <a:r>
              <a:rPr lang="en-US" sz="1100" dirty="0">
                <a:solidFill>
                  <a:srgbClr val="262626"/>
                </a:solidFill>
                <a:latin typeface="Graphik Regular" panose="020B0503030202060203" pitchFamily="34" charset="77"/>
                <a:cs typeface="Arial"/>
              </a:rPr>
              <a:t>Offer premium features and consulting services.</a:t>
            </a:r>
          </a:p>
          <a:p>
            <a:pPr marL="12700" marR="5080" algn="ctr">
              <a:lnSpc>
                <a:spcPts val="1500"/>
              </a:lnSpc>
            </a:pPr>
            <a:endParaRPr lang="en-US" sz="1100" dirty="0">
              <a:solidFill>
                <a:srgbClr val="262626"/>
              </a:solidFill>
              <a:latin typeface="Graphik Regular" panose="020B0503030202060203" pitchFamily="34" charset="77"/>
              <a:cs typeface="Arial"/>
            </a:endParaRPr>
          </a:p>
          <a:p>
            <a:pPr marL="12700" marR="5080" algn="ctr">
              <a:lnSpc>
                <a:spcPts val="1500"/>
              </a:lnSpc>
            </a:pPr>
            <a:r>
              <a:rPr lang="en-US" sz="1400" b="1" dirty="0">
                <a:solidFill>
                  <a:srgbClr val="262626"/>
                </a:solidFill>
                <a:latin typeface="Graphik Regular" panose="020B0503030202060203" pitchFamily="34" charset="77"/>
                <a:cs typeface="Arial"/>
              </a:rPr>
              <a:t>Flexible platform:</a:t>
            </a:r>
          </a:p>
          <a:p>
            <a:pPr marL="12700" marR="5080" algn="ctr">
              <a:lnSpc>
                <a:spcPts val="1500"/>
              </a:lnSpc>
            </a:pPr>
            <a:r>
              <a:rPr lang="en-US" sz="1100" dirty="0">
                <a:solidFill>
                  <a:srgbClr val="262626"/>
                </a:solidFill>
                <a:latin typeface="Graphik Regular" panose="020B0503030202060203" pitchFamily="34" charset="77"/>
                <a:cs typeface="Arial"/>
              </a:rPr>
              <a:t>Easily scale to suit the needs of a diverse range of businesses.</a:t>
            </a:r>
            <a:endParaRPr sz="1100" dirty="0">
              <a:latin typeface="Graphik Regular" panose="020B0503030202060203" pitchFamily="34" charset="77"/>
              <a:cs typeface="Arial"/>
            </a:endParaRPr>
          </a:p>
        </p:txBody>
      </p:sp>
      <p:sp>
        <p:nvSpPr>
          <p:cNvPr id="6" name="object 6">
            <a:extLst>
              <a:ext uri="{FF2B5EF4-FFF2-40B4-BE49-F238E27FC236}">
                <a16:creationId xmlns:a16="http://schemas.microsoft.com/office/drawing/2014/main" id="{FA2ADA72-8C72-89C8-310F-34D489D0CC7F}"/>
              </a:ext>
            </a:extLst>
          </p:cNvPr>
          <p:cNvSpPr/>
          <p:nvPr/>
        </p:nvSpPr>
        <p:spPr>
          <a:xfrm>
            <a:off x="4325256" y="3429000"/>
            <a:ext cx="0" cy="2233930"/>
          </a:xfrm>
          <a:custGeom>
            <a:avLst/>
            <a:gdLst/>
            <a:ahLst/>
            <a:cxnLst/>
            <a:rect l="l" t="t" r="r" b="b"/>
            <a:pathLst>
              <a:path h="2233929">
                <a:moveTo>
                  <a:pt x="0" y="2233843"/>
                </a:moveTo>
                <a:lnTo>
                  <a:pt x="0" y="0"/>
                </a:lnTo>
              </a:path>
            </a:pathLst>
          </a:custGeom>
          <a:ln w="12700">
            <a:solidFill>
              <a:srgbClr val="7F7F7F"/>
            </a:solidFill>
          </a:ln>
        </p:spPr>
        <p:txBody>
          <a:bodyPr wrap="square" lIns="0" tIns="0" rIns="0" bIns="0" rtlCol="0"/>
          <a:lstStyle/>
          <a:p>
            <a:endParaRPr/>
          </a:p>
        </p:txBody>
      </p:sp>
      <p:sp>
        <p:nvSpPr>
          <p:cNvPr id="7" name="object 7">
            <a:extLst>
              <a:ext uri="{FF2B5EF4-FFF2-40B4-BE49-F238E27FC236}">
                <a16:creationId xmlns:a16="http://schemas.microsoft.com/office/drawing/2014/main" id="{AE72CD44-7625-834A-2756-0A27342E5ACE}"/>
              </a:ext>
            </a:extLst>
          </p:cNvPr>
          <p:cNvSpPr/>
          <p:nvPr/>
        </p:nvSpPr>
        <p:spPr>
          <a:xfrm>
            <a:off x="7957456" y="3429000"/>
            <a:ext cx="0" cy="2233930"/>
          </a:xfrm>
          <a:custGeom>
            <a:avLst/>
            <a:gdLst/>
            <a:ahLst/>
            <a:cxnLst/>
            <a:rect l="l" t="t" r="r" b="b"/>
            <a:pathLst>
              <a:path h="2233929">
                <a:moveTo>
                  <a:pt x="0" y="2233843"/>
                </a:moveTo>
                <a:lnTo>
                  <a:pt x="0" y="0"/>
                </a:lnTo>
              </a:path>
            </a:pathLst>
          </a:custGeom>
          <a:ln w="12700">
            <a:solidFill>
              <a:srgbClr val="7F7F7F"/>
            </a:solidFill>
          </a:ln>
        </p:spPr>
        <p:txBody>
          <a:bodyPr wrap="square" lIns="0" tIns="0" rIns="0" bIns="0" rtlCol="0"/>
          <a:lstStyle/>
          <a:p>
            <a:endParaRPr/>
          </a:p>
        </p:txBody>
      </p:sp>
      <p:sp>
        <p:nvSpPr>
          <p:cNvPr id="8" name="object 8">
            <a:extLst>
              <a:ext uri="{FF2B5EF4-FFF2-40B4-BE49-F238E27FC236}">
                <a16:creationId xmlns:a16="http://schemas.microsoft.com/office/drawing/2014/main" id="{8D44E59D-A604-0357-8962-D3AFF0E4D895}"/>
              </a:ext>
            </a:extLst>
          </p:cNvPr>
          <p:cNvSpPr txBox="1"/>
          <p:nvPr/>
        </p:nvSpPr>
        <p:spPr>
          <a:xfrm>
            <a:off x="4769802" y="3736133"/>
            <a:ext cx="2652395" cy="1908856"/>
          </a:xfrm>
          <a:prstGeom prst="rect">
            <a:avLst/>
          </a:prstGeom>
        </p:spPr>
        <p:txBody>
          <a:bodyPr vert="horz" wrap="square" lIns="0" tIns="12700" rIns="0" bIns="0" rtlCol="0">
            <a:spAutoFit/>
          </a:bodyPr>
          <a:lstStyle/>
          <a:p>
            <a:pPr algn="ctr">
              <a:lnSpc>
                <a:spcPct val="100000"/>
              </a:lnSpc>
              <a:spcBef>
                <a:spcPts val="100"/>
              </a:spcBef>
            </a:pPr>
            <a:r>
              <a:rPr lang="en-US" b="1" dirty="0">
                <a:solidFill>
                  <a:srgbClr val="262626"/>
                </a:solidFill>
                <a:latin typeface="Graphik Regular" panose="020B0503030202060203" pitchFamily="34" charset="77"/>
                <a:cs typeface="Graphik Bold"/>
              </a:rPr>
              <a:t>c</a:t>
            </a:r>
            <a:r>
              <a:rPr lang="en-US" sz="1800" b="1" dirty="0">
                <a:solidFill>
                  <a:srgbClr val="262626"/>
                </a:solidFill>
                <a:latin typeface="Graphik Regular" panose="020B0503030202060203" pitchFamily="34" charset="77"/>
                <a:cs typeface="Graphik Bold"/>
              </a:rPr>
              <a:t>ustomer segments</a:t>
            </a:r>
            <a:endParaRPr lang="en-US" sz="1800" dirty="0">
              <a:latin typeface="Graphik Regular" panose="020B0503030202060203" pitchFamily="34" charset="77"/>
              <a:cs typeface="Graphik Regular"/>
            </a:endParaRPr>
          </a:p>
          <a:p>
            <a:pPr>
              <a:lnSpc>
                <a:spcPct val="100000"/>
              </a:lnSpc>
              <a:spcBef>
                <a:spcPts val="50"/>
              </a:spcBef>
            </a:pPr>
            <a:endParaRPr lang="en-US" sz="1800" dirty="0">
              <a:latin typeface="Graphik Regular" panose="020B0503030202060203" pitchFamily="34" charset="77"/>
              <a:cs typeface="Graphik Regular"/>
            </a:endParaRPr>
          </a:p>
          <a:p>
            <a:pPr marL="12700" marR="5080" algn="ctr">
              <a:lnSpc>
                <a:spcPts val="1500"/>
              </a:lnSpc>
            </a:pPr>
            <a:r>
              <a:rPr lang="en-US" sz="1400" b="1" dirty="0">
                <a:solidFill>
                  <a:srgbClr val="262626"/>
                </a:solidFill>
                <a:latin typeface="Graphik Regular" panose="020B0503030202060203" pitchFamily="34" charset="77"/>
                <a:cs typeface="Arial"/>
              </a:rPr>
              <a:t>Enterprise:</a:t>
            </a:r>
          </a:p>
          <a:p>
            <a:pPr marL="12065" marR="5080" algn="ctr">
              <a:lnSpc>
                <a:spcPts val="1500"/>
              </a:lnSpc>
            </a:pPr>
            <a:r>
              <a:rPr lang="en-US" sz="1100" dirty="0">
                <a:solidFill>
                  <a:srgbClr val="262626"/>
                </a:solidFill>
                <a:latin typeface="Graphik Regular" panose="020B0503030202060203" pitchFamily="34" charset="77"/>
                <a:cs typeface="Arial"/>
              </a:rPr>
              <a:t>Comprehensive plans with advanced features and dedicated support</a:t>
            </a:r>
          </a:p>
          <a:p>
            <a:pPr marL="12065" marR="5080" algn="ctr">
              <a:lnSpc>
                <a:spcPts val="1500"/>
              </a:lnSpc>
            </a:pPr>
            <a:endParaRPr lang="en-US" sz="800" dirty="0">
              <a:solidFill>
                <a:srgbClr val="262626"/>
              </a:solidFill>
              <a:latin typeface="Graphik Regular" panose="020B0503030202060203" pitchFamily="34" charset="77"/>
              <a:cs typeface="Arial"/>
            </a:endParaRPr>
          </a:p>
          <a:p>
            <a:pPr marL="12700" marR="5080" algn="ctr">
              <a:lnSpc>
                <a:spcPts val="1500"/>
              </a:lnSpc>
            </a:pPr>
            <a:r>
              <a:rPr lang="en-US" sz="1400" b="1" dirty="0">
                <a:solidFill>
                  <a:srgbClr val="262626"/>
                </a:solidFill>
                <a:latin typeface="Graphik Regular" panose="020B0503030202060203" pitchFamily="34" charset="77"/>
                <a:cs typeface="Arial"/>
              </a:rPr>
              <a:t>Startups / SMEs:</a:t>
            </a:r>
          </a:p>
          <a:p>
            <a:pPr marL="12065" marR="5080" algn="ctr">
              <a:lnSpc>
                <a:spcPts val="1500"/>
              </a:lnSpc>
            </a:pPr>
            <a:r>
              <a:rPr lang="en-US" sz="1100" dirty="0">
                <a:solidFill>
                  <a:srgbClr val="262626"/>
                </a:solidFill>
                <a:latin typeface="Graphik Regular" panose="020B0503030202060203" pitchFamily="34" charset="77"/>
                <a:cs typeface="Arial"/>
              </a:rPr>
              <a:t>Affordable subscription plans with essential features.</a:t>
            </a:r>
          </a:p>
        </p:txBody>
      </p:sp>
      <p:sp>
        <p:nvSpPr>
          <p:cNvPr id="9" name="object 9">
            <a:extLst>
              <a:ext uri="{FF2B5EF4-FFF2-40B4-BE49-F238E27FC236}">
                <a16:creationId xmlns:a16="http://schemas.microsoft.com/office/drawing/2014/main" id="{CAAF4FD7-25A0-C9EE-6F21-74B8EF19ADBE}"/>
              </a:ext>
            </a:extLst>
          </p:cNvPr>
          <p:cNvSpPr txBox="1"/>
          <p:nvPr/>
        </p:nvSpPr>
        <p:spPr>
          <a:xfrm>
            <a:off x="1226547" y="3736133"/>
            <a:ext cx="2528570" cy="2485937"/>
          </a:xfrm>
          <a:prstGeom prst="rect">
            <a:avLst/>
          </a:prstGeom>
        </p:spPr>
        <p:txBody>
          <a:bodyPr vert="horz" wrap="square" lIns="0" tIns="12700" rIns="0" bIns="0" rtlCol="0">
            <a:spAutoFit/>
          </a:bodyPr>
          <a:lstStyle/>
          <a:p>
            <a:pPr algn="ctr">
              <a:lnSpc>
                <a:spcPct val="100000"/>
              </a:lnSpc>
              <a:spcBef>
                <a:spcPts val="100"/>
              </a:spcBef>
            </a:pPr>
            <a:r>
              <a:rPr lang="en-US" b="1" spc="-10" dirty="0">
                <a:solidFill>
                  <a:srgbClr val="262626"/>
                </a:solidFill>
                <a:latin typeface="Graphik Regular" panose="020B0503030202060203" pitchFamily="34" charset="77"/>
                <a:cs typeface="Graphik Bold"/>
              </a:rPr>
              <a:t>r</a:t>
            </a:r>
            <a:r>
              <a:rPr sz="1800" b="1" spc="-10" dirty="0">
                <a:solidFill>
                  <a:srgbClr val="262626"/>
                </a:solidFill>
                <a:latin typeface="Graphik Regular" panose="020B0503030202060203" pitchFamily="34" charset="77"/>
                <a:cs typeface="Graphik Bold"/>
              </a:rPr>
              <a:t>evenue</a:t>
            </a:r>
            <a:r>
              <a:rPr lang="en-US" sz="1800" b="1" spc="-10" dirty="0">
                <a:solidFill>
                  <a:srgbClr val="262626"/>
                </a:solidFill>
                <a:latin typeface="Graphik Regular" panose="020B0503030202060203" pitchFamily="34" charset="77"/>
                <a:cs typeface="Graphik Bold"/>
              </a:rPr>
              <a:t> streams</a:t>
            </a:r>
            <a:endParaRPr sz="1800" dirty="0">
              <a:latin typeface="Graphik Regular" panose="020B0503030202060203" pitchFamily="34" charset="77"/>
              <a:cs typeface="Graphik Regular"/>
            </a:endParaRPr>
          </a:p>
          <a:p>
            <a:pPr>
              <a:lnSpc>
                <a:spcPct val="100000"/>
              </a:lnSpc>
              <a:spcBef>
                <a:spcPts val="50"/>
              </a:spcBef>
            </a:pPr>
            <a:endParaRPr sz="1800" dirty="0">
              <a:latin typeface="Graphik Regular" panose="020B0503030202060203" pitchFamily="34" charset="77"/>
              <a:cs typeface="Graphik Regular"/>
            </a:endParaRPr>
          </a:p>
          <a:p>
            <a:pPr marL="12065" marR="5080" algn="ctr">
              <a:lnSpc>
                <a:spcPts val="1500"/>
              </a:lnSpc>
            </a:pPr>
            <a:r>
              <a:rPr lang="en-US" sz="1400" b="1" dirty="0">
                <a:solidFill>
                  <a:srgbClr val="262626"/>
                </a:solidFill>
                <a:latin typeface="Graphik Regular" panose="020B0503030202060203" pitchFamily="34" charset="77"/>
                <a:cs typeface="Arial"/>
              </a:rPr>
              <a:t>Subscriptions:</a:t>
            </a:r>
          </a:p>
          <a:p>
            <a:pPr marL="12065" marR="5080" algn="ctr">
              <a:lnSpc>
                <a:spcPts val="1500"/>
              </a:lnSpc>
            </a:pPr>
            <a:r>
              <a:rPr lang="en-US" sz="1100" dirty="0">
                <a:solidFill>
                  <a:srgbClr val="262626"/>
                </a:solidFill>
                <a:latin typeface="Graphik Regular" panose="020B0503030202060203" pitchFamily="34" charset="77"/>
                <a:cs typeface="Arial"/>
              </a:rPr>
              <a:t>Yearly plans with tiered pricing</a:t>
            </a:r>
          </a:p>
          <a:p>
            <a:pPr marL="12065" marR="5080" algn="ctr">
              <a:lnSpc>
                <a:spcPts val="1500"/>
              </a:lnSpc>
            </a:pPr>
            <a:endParaRPr lang="en-US" sz="800" dirty="0">
              <a:solidFill>
                <a:srgbClr val="262626"/>
              </a:solidFill>
              <a:latin typeface="Graphik Regular" panose="020B0503030202060203" pitchFamily="34" charset="77"/>
              <a:cs typeface="Arial"/>
            </a:endParaRPr>
          </a:p>
          <a:p>
            <a:pPr marL="12065" marR="5080" algn="ctr">
              <a:lnSpc>
                <a:spcPts val="1500"/>
              </a:lnSpc>
            </a:pPr>
            <a:r>
              <a:rPr lang="en-US" sz="1400" b="1" dirty="0">
                <a:solidFill>
                  <a:srgbClr val="262626"/>
                </a:solidFill>
                <a:latin typeface="Graphik Regular" panose="020B0503030202060203" pitchFamily="34" charset="77"/>
                <a:cs typeface="Arial"/>
              </a:rPr>
              <a:t>Premium upgrades:</a:t>
            </a:r>
          </a:p>
          <a:p>
            <a:pPr marL="12065" marR="5080" algn="ctr">
              <a:lnSpc>
                <a:spcPts val="1500"/>
              </a:lnSpc>
            </a:pPr>
            <a:r>
              <a:rPr lang="en-US" sz="1100" dirty="0">
                <a:solidFill>
                  <a:srgbClr val="262626"/>
                </a:solidFill>
                <a:latin typeface="Graphik Regular" panose="020B0503030202060203" pitchFamily="34" charset="77"/>
                <a:cs typeface="Arial"/>
              </a:rPr>
              <a:t>Add-on options for advanced analytics and custom reporting</a:t>
            </a:r>
          </a:p>
          <a:p>
            <a:pPr marL="12065" marR="5080" algn="ctr">
              <a:lnSpc>
                <a:spcPts val="1500"/>
              </a:lnSpc>
            </a:pPr>
            <a:endParaRPr lang="en-US" sz="800" dirty="0">
              <a:solidFill>
                <a:srgbClr val="262626"/>
              </a:solidFill>
              <a:latin typeface="Graphik Regular" panose="020B0503030202060203" pitchFamily="34" charset="77"/>
              <a:cs typeface="Arial"/>
            </a:endParaRPr>
          </a:p>
          <a:p>
            <a:pPr marL="12065" marR="5080" algn="ctr">
              <a:lnSpc>
                <a:spcPts val="1500"/>
              </a:lnSpc>
            </a:pPr>
            <a:r>
              <a:rPr lang="en-US" sz="1400" b="1" dirty="0">
                <a:solidFill>
                  <a:srgbClr val="262626"/>
                </a:solidFill>
                <a:latin typeface="Graphik Regular" panose="020B0503030202060203" pitchFamily="34" charset="77"/>
                <a:cs typeface="Arial"/>
              </a:rPr>
              <a:t>Consulting services:</a:t>
            </a:r>
          </a:p>
          <a:p>
            <a:pPr marL="12065" marR="5080" algn="ctr">
              <a:lnSpc>
                <a:spcPts val="1500"/>
              </a:lnSpc>
            </a:pPr>
            <a:r>
              <a:rPr lang="en-US" sz="1100" dirty="0">
                <a:solidFill>
                  <a:srgbClr val="262626"/>
                </a:solidFill>
                <a:latin typeface="Graphik Regular" panose="020B0503030202060203" pitchFamily="34" charset="77"/>
                <a:cs typeface="Arial"/>
              </a:rPr>
              <a:t>Tailored planning and implementation strategies</a:t>
            </a:r>
          </a:p>
        </p:txBody>
      </p:sp>
      <p:pic>
        <p:nvPicPr>
          <p:cNvPr id="13" name="object 13">
            <a:extLst>
              <a:ext uri="{FF2B5EF4-FFF2-40B4-BE49-F238E27FC236}">
                <a16:creationId xmlns:a16="http://schemas.microsoft.com/office/drawing/2014/main" id="{34B27682-A803-2203-F317-CAEFD5EADF8F}"/>
              </a:ext>
            </a:extLst>
          </p:cNvPr>
          <p:cNvPicPr/>
          <p:nvPr/>
        </p:nvPicPr>
        <p:blipFill>
          <a:blip r:embed="rId2" cstate="print"/>
          <a:stretch>
            <a:fillRect/>
          </a:stretch>
        </p:blipFill>
        <p:spPr>
          <a:xfrm>
            <a:off x="1311564" y="264827"/>
            <a:ext cx="992187" cy="992187"/>
          </a:xfrm>
          <a:prstGeom prst="rect">
            <a:avLst/>
          </a:prstGeom>
        </p:spPr>
      </p:pic>
      <p:sp>
        <p:nvSpPr>
          <p:cNvPr id="19" name="TextBox 18">
            <a:extLst>
              <a:ext uri="{FF2B5EF4-FFF2-40B4-BE49-F238E27FC236}">
                <a16:creationId xmlns:a16="http://schemas.microsoft.com/office/drawing/2014/main" id="{1642A847-D8F6-4211-A004-BBD774C60D9E}"/>
              </a:ext>
            </a:extLst>
          </p:cNvPr>
          <p:cNvSpPr txBox="1"/>
          <p:nvPr/>
        </p:nvSpPr>
        <p:spPr>
          <a:xfrm>
            <a:off x="4769802" y="1352708"/>
            <a:ext cx="6097836" cy="1169551"/>
          </a:xfrm>
          <a:prstGeom prst="rect">
            <a:avLst/>
          </a:prstGeom>
          <a:noFill/>
        </p:spPr>
        <p:txBody>
          <a:bodyPr wrap="square">
            <a:spAutoFit/>
          </a:bodyPr>
          <a:lstStyle/>
          <a:p>
            <a:r>
              <a:rPr lang="en-US" sz="1400" dirty="0">
                <a:solidFill>
                  <a:srgbClr val="595959"/>
                </a:solidFill>
                <a:latin typeface="DM Sans 14pt" pitchFamily="2" charset="77"/>
              </a:rPr>
              <a:t>Ignite</a:t>
            </a:r>
            <a:r>
              <a:rPr lang="en-US" sz="1400" b="0" i="0" u="none" strike="noStrike" dirty="0">
                <a:solidFill>
                  <a:srgbClr val="595959"/>
                </a:solidFill>
                <a:effectLst/>
                <a:latin typeface="DM Sans 14pt" pitchFamily="2" charset="77"/>
              </a:rPr>
              <a:t> generates income through multiple streams and offers flexible tiers for businesses of all sizes. We also earn revenue from premium upgrades that enhance customer experience. This approach stabilizes our cash flow and allows us to adapt quickly to market demands, positioning us for sustained growth.</a:t>
            </a:r>
            <a:endParaRPr lang="en-US" sz="1400" dirty="0">
              <a:solidFill>
                <a:srgbClr val="595959"/>
              </a:solidFill>
              <a:latin typeface="DM Sans 14pt" pitchFamily="2" charset="77"/>
            </a:endParaRPr>
          </a:p>
        </p:txBody>
      </p:sp>
      <p:pic>
        <p:nvPicPr>
          <p:cNvPr id="26" name="Picture 25">
            <a:extLst>
              <a:ext uri="{FF2B5EF4-FFF2-40B4-BE49-F238E27FC236}">
                <a16:creationId xmlns:a16="http://schemas.microsoft.com/office/drawing/2014/main" id="{4DDA8A1F-425D-AC95-444A-023499407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2663" y="3203128"/>
            <a:ext cx="428099" cy="428099"/>
          </a:xfrm>
          <a:prstGeom prst="rect">
            <a:avLst/>
          </a:prstGeom>
        </p:spPr>
      </p:pic>
      <p:pic>
        <p:nvPicPr>
          <p:cNvPr id="27" name="Picture 26" descr="A black background with a black square&#10;&#10;Description automatically generated with medium confidence">
            <a:extLst>
              <a:ext uri="{FF2B5EF4-FFF2-40B4-BE49-F238E27FC236}">
                <a16:creationId xmlns:a16="http://schemas.microsoft.com/office/drawing/2014/main" id="{2386FE42-121B-096D-8E3E-0B5A7B81CB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2970" y="3145372"/>
            <a:ext cx="586057" cy="468846"/>
          </a:xfrm>
          <a:prstGeom prst="rect">
            <a:avLst/>
          </a:prstGeom>
        </p:spPr>
      </p:pic>
      <p:pic>
        <p:nvPicPr>
          <p:cNvPr id="28" name="Picture 27">
            <a:extLst>
              <a:ext uri="{FF2B5EF4-FFF2-40B4-BE49-F238E27FC236}">
                <a16:creationId xmlns:a16="http://schemas.microsoft.com/office/drawing/2014/main" id="{A04B0524-94F0-3359-443E-93C5860332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7670" y="3145372"/>
            <a:ext cx="425123" cy="485855"/>
          </a:xfrm>
          <a:prstGeom prst="rect">
            <a:avLst/>
          </a:prstGeom>
        </p:spPr>
      </p:pic>
    </p:spTree>
    <p:extLst>
      <p:ext uri="{BB962C8B-B14F-4D97-AF65-F5344CB8AC3E}">
        <p14:creationId xmlns:p14="http://schemas.microsoft.com/office/powerpoint/2010/main" val="89430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900" decel="100000" fill="hold"/>
                                        <p:tgtEl>
                                          <p:spTgt spid="2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900" decel="100000" fill="hold"/>
                                        <p:tgtEl>
                                          <p:spTgt spid="9"/>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par>
                          <p:cTn id="17" fill="hold">
                            <p:stCondLst>
                              <p:cond delay="1000"/>
                            </p:stCondLst>
                            <p:childTnLst>
                              <p:par>
                                <p:cTn id="18" presetID="37" presetClass="entr" presetSubtype="0" fill="hold" nodeType="afterEffect">
                                  <p:stCondLst>
                                    <p:cond delay="5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1000"/>
                                        <p:tgtEl>
                                          <p:spTgt spid="27"/>
                                        </p:tgtEl>
                                      </p:cBhvr>
                                    </p:animEffect>
                                    <p:anim calcmode="lin" valueType="num">
                                      <p:cBhvr>
                                        <p:cTn id="21" dur="1000" fill="hold"/>
                                        <p:tgtEl>
                                          <p:spTgt spid="27"/>
                                        </p:tgtEl>
                                        <p:attrNameLst>
                                          <p:attrName>ppt_x</p:attrName>
                                        </p:attrNameLst>
                                      </p:cBhvr>
                                      <p:tavLst>
                                        <p:tav tm="0">
                                          <p:val>
                                            <p:strVal val="#ppt_x"/>
                                          </p:val>
                                        </p:tav>
                                        <p:tav tm="100000">
                                          <p:val>
                                            <p:strVal val="#ppt_x"/>
                                          </p:val>
                                        </p:tav>
                                      </p:tavLst>
                                    </p:anim>
                                    <p:anim calcmode="lin" valueType="num">
                                      <p:cBhvr>
                                        <p:cTn id="22" dur="900" decel="100000" fill="hold"/>
                                        <p:tgtEl>
                                          <p:spTgt spid="27"/>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childTnLst>
                          </p:cTn>
                        </p:par>
                        <p:par>
                          <p:cTn id="24" fill="hold">
                            <p:stCondLst>
                              <p:cond delay="2500"/>
                            </p:stCondLst>
                            <p:childTnLst>
                              <p:par>
                                <p:cTn id="25" presetID="37"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900" decel="100000" fill="hold"/>
                                        <p:tgtEl>
                                          <p:spTgt spid="8"/>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31" fill="hold">
                            <p:stCondLst>
                              <p:cond delay="3500"/>
                            </p:stCondLst>
                            <p:childTnLst>
                              <p:par>
                                <p:cTn id="32" presetID="37" presetClass="entr" presetSubtype="0" fill="hold" nodeType="afterEffect">
                                  <p:stCondLst>
                                    <p:cond delay="5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1000"/>
                                        <p:tgtEl>
                                          <p:spTgt spid="26"/>
                                        </p:tgtEl>
                                      </p:cBhvr>
                                    </p:animEffect>
                                    <p:anim calcmode="lin" valueType="num">
                                      <p:cBhvr>
                                        <p:cTn id="35" dur="1000" fill="hold"/>
                                        <p:tgtEl>
                                          <p:spTgt spid="26"/>
                                        </p:tgtEl>
                                        <p:attrNameLst>
                                          <p:attrName>ppt_x</p:attrName>
                                        </p:attrNameLst>
                                      </p:cBhvr>
                                      <p:tavLst>
                                        <p:tav tm="0">
                                          <p:val>
                                            <p:strVal val="#ppt_x"/>
                                          </p:val>
                                        </p:tav>
                                        <p:tav tm="100000">
                                          <p:val>
                                            <p:strVal val="#ppt_x"/>
                                          </p:val>
                                        </p:tav>
                                      </p:tavLst>
                                    </p:anim>
                                    <p:anim calcmode="lin" valueType="num">
                                      <p:cBhvr>
                                        <p:cTn id="36" dur="900" decel="100000" fill="hold"/>
                                        <p:tgtEl>
                                          <p:spTgt spid="26"/>
                                        </p:tgtEl>
                                        <p:attrNameLst>
                                          <p:attrName>ppt_y</p:attrName>
                                        </p:attrNameLst>
                                      </p:cBhvr>
                                      <p:tavLst>
                                        <p:tav tm="0">
                                          <p:val>
                                            <p:strVal val="#ppt_y+1"/>
                                          </p:val>
                                        </p:tav>
                                        <p:tav tm="100000">
                                          <p:val>
                                            <p:strVal val="#ppt_y-.03"/>
                                          </p:val>
                                        </p:tav>
                                      </p:tavLst>
                                    </p:anim>
                                    <p:anim calcmode="lin" valueType="num">
                                      <p:cBhvr>
                                        <p:cTn id="37" dur="100" accel="100000" fill="hold">
                                          <p:stCondLst>
                                            <p:cond delay="900"/>
                                          </p:stCondLst>
                                        </p:cTn>
                                        <p:tgtEl>
                                          <p:spTgt spid="26"/>
                                        </p:tgtEl>
                                        <p:attrNameLst>
                                          <p:attrName>ppt_y</p:attrName>
                                        </p:attrNameLst>
                                      </p:cBhvr>
                                      <p:tavLst>
                                        <p:tav tm="0">
                                          <p:val>
                                            <p:strVal val="#ppt_y-.03"/>
                                          </p:val>
                                        </p:tav>
                                        <p:tav tm="100000">
                                          <p:val>
                                            <p:strVal val="#ppt_y"/>
                                          </p:val>
                                        </p:tav>
                                      </p:tavLst>
                                    </p:anim>
                                  </p:childTnLst>
                                </p:cTn>
                              </p:par>
                            </p:childTnLst>
                          </p:cTn>
                        </p:par>
                        <p:par>
                          <p:cTn id="38" fill="hold">
                            <p:stCondLst>
                              <p:cond delay="5000"/>
                            </p:stCondLst>
                            <p:childTnLst>
                              <p:par>
                                <p:cTn id="39" presetID="37"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1000"/>
                                        <p:tgtEl>
                                          <p:spTgt spid="5"/>
                                        </p:tgtEl>
                                      </p:cBhvr>
                                    </p:animEffect>
                                    <p:anim calcmode="lin" valueType="num">
                                      <p:cBhvr>
                                        <p:cTn id="42" dur="1000" fill="hold"/>
                                        <p:tgtEl>
                                          <p:spTgt spid="5"/>
                                        </p:tgtEl>
                                        <p:attrNameLst>
                                          <p:attrName>ppt_x</p:attrName>
                                        </p:attrNameLst>
                                      </p:cBhvr>
                                      <p:tavLst>
                                        <p:tav tm="0">
                                          <p:val>
                                            <p:strVal val="#ppt_x"/>
                                          </p:val>
                                        </p:tav>
                                        <p:tav tm="100000">
                                          <p:val>
                                            <p:strVal val="#ppt_x"/>
                                          </p:val>
                                        </p:tav>
                                      </p:tavLst>
                                    </p:anim>
                                    <p:anim calcmode="lin" valueType="num">
                                      <p:cBhvr>
                                        <p:cTn id="43" dur="900" decel="100000" fill="hold"/>
                                        <p:tgtEl>
                                          <p:spTgt spid="5"/>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1BCFA-17C1-D973-E4D1-5B20652C072A}"/>
            </a:ext>
          </a:extLst>
        </p:cNvPr>
        <p:cNvGrpSpPr/>
        <p:nvPr/>
      </p:nvGrpSpPr>
      <p:grpSpPr>
        <a:xfrm>
          <a:off x="0" y="0"/>
          <a:ext cx="0" cy="0"/>
          <a:chOff x="0" y="0"/>
          <a:chExt cx="0" cy="0"/>
        </a:xfrm>
      </p:grpSpPr>
      <p:sp>
        <p:nvSpPr>
          <p:cNvPr id="531" name="Straight Connector 2">
            <a:extLst>
              <a:ext uri="{FF2B5EF4-FFF2-40B4-BE49-F238E27FC236}">
                <a16:creationId xmlns:a16="http://schemas.microsoft.com/office/drawing/2014/main" id="{2135C128-11C4-7359-55D7-F377C8BC2C38}"/>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pic>
        <p:nvPicPr>
          <p:cNvPr id="533" name="ignite-logo.png" descr="ignite-logo.png">
            <a:extLst>
              <a:ext uri="{FF2B5EF4-FFF2-40B4-BE49-F238E27FC236}">
                <a16:creationId xmlns:a16="http://schemas.microsoft.com/office/drawing/2014/main" id="{742FCBBA-7D8A-EE70-2546-B7145C07129A}"/>
              </a:ext>
            </a:extLst>
          </p:cNvPr>
          <p:cNvPicPr>
            <a:picLocks noChangeAspect="1"/>
          </p:cNvPicPr>
          <p:nvPr/>
        </p:nvPicPr>
        <p:blipFill>
          <a:blip r:embed="rId2"/>
          <a:stretch>
            <a:fillRect/>
          </a:stretch>
        </p:blipFill>
        <p:spPr>
          <a:xfrm>
            <a:off x="1311564" y="264828"/>
            <a:ext cx="992188" cy="992188"/>
          </a:xfrm>
          <a:prstGeom prst="rect">
            <a:avLst/>
          </a:prstGeom>
          <a:ln w="12700">
            <a:miter lim="400000"/>
          </a:ln>
        </p:spPr>
      </p:pic>
      <p:sp>
        <p:nvSpPr>
          <p:cNvPr id="12" name="TextBox 11">
            <a:extLst>
              <a:ext uri="{FF2B5EF4-FFF2-40B4-BE49-F238E27FC236}">
                <a16:creationId xmlns:a16="http://schemas.microsoft.com/office/drawing/2014/main" id="{00087145-D0D0-B02B-9541-ACCEA35A78BD}"/>
              </a:ext>
            </a:extLst>
          </p:cNvPr>
          <p:cNvSpPr txBox="1"/>
          <p:nvPr/>
        </p:nvSpPr>
        <p:spPr>
          <a:xfrm>
            <a:off x="838200" y="2514600"/>
            <a:ext cx="2855269" cy="307777"/>
          </a:xfrm>
          <a:prstGeom prst="rect">
            <a:avLst/>
          </a:prstGeom>
          <a:noFill/>
        </p:spPr>
        <p:txBody>
          <a:bodyPr wrap="none" rtlCol="0">
            <a:spAutoFit/>
          </a:bodyPr>
          <a:lstStyle/>
          <a:p>
            <a:pPr algn="r"/>
            <a:r>
              <a:rPr lang="en-US" sz="1400" b="1" dirty="0">
                <a:solidFill>
                  <a:srgbClr val="262626"/>
                </a:solidFill>
                <a:latin typeface="Graphik Regular" panose="020B0503030202060203" pitchFamily="34" charset="77"/>
              </a:rPr>
              <a:t>customer acquisition channels</a:t>
            </a:r>
          </a:p>
        </p:txBody>
      </p:sp>
      <p:sp>
        <p:nvSpPr>
          <p:cNvPr id="13" name="TextBox 12">
            <a:extLst>
              <a:ext uri="{FF2B5EF4-FFF2-40B4-BE49-F238E27FC236}">
                <a16:creationId xmlns:a16="http://schemas.microsoft.com/office/drawing/2014/main" id="{51D4F317-128D-98F8-077D-ADF62AD0A2B5}"/>
              </a:ext>
            </a:extLst>
          </p:cNvPr>
          <p:cNvSpPr txBox="1"/>
          <p:nvPr/>
        </p:nvSpPr>
        <p:spPr>
          <a:xfrm>
            <a:off x="407424" y="2830432"/>
            <a:ext cx="3291159" cy="1477328"/>
          </a:xfrm>
          <a:prstGeom prst="rect">
            <a:avLst/>
          </a:prstGeom>
          <a:noFill/>
        </p:spPr>
        <p:txBody>
          <a:bodyPr wrap="square" rtlCol="0">
            <a:spAutoFit/>
          </a:bodyPr>
          <a:lstStyle/>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Digital Marketing</a:t>
            </a:r>
            <a:r>
              <a:rPr lang="en-US" sz="1000" dirty="0">
                <a:solidFill>
                  <a:srgbClr val="595959"/>
                </a:solidFill>
                <a:effectLst/>
                <a:latin typeface="DM Sans 14pt" pitchFamily="2" charset="77"/>
                <a:ea typeface="Times New Roman" panose="02020603050405020304" pitchFamily="18" charset="0"/>
              </a:rPr>
              <a:t>: SEO, content marketing, and social media campaigns to create awareness and drive inbound leads.</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Partnership</a:t>
            </a:r>
            <a:r>
              <a:rPr lang="en-US" sz="1000" b="1" dirty="0">
                <a:solidFill>
                  <a:srgbClr val="595959"/>
                </a:solidFill>
                <a:effectLst/>
                <a:latin typeface="DM Sans 14pt" pitchFamily="2" charset="77"/>
                <a:ea typeface="Times New Roman" panose="02020603050405020304" pitchFamily="18" charset="0"/>
              </a:rPr>
              <a:t>s</a:t>
            </a:r>
            <a:r>
              <a:rPr lang="en-US" sz="1000" dirty="0">
                <a:solidFill>
                  <a:srgbClr val="595959"/>
                </a:solidFill>
                <a:effectLst/>
                <a:latin typeface="DM Sans 14pt" pitchFamily="2" charset="77"/>
                <a:ea typeface="Times New Roman" panose="02020603050405020304" pitchFamily="18" charset="0"/>
              </a:rPr>
              <a:t>: Collaborations with industry associations, ERP providers, and consulting firms.</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Direct Sales</a:t>
            </a:r>
            <a:r>
              <a:rPr lang="en-US" sz="1000" dirty="0">
                <a:solidFill>
                  <a:srgbClr val="595959"/>
                </a:solidFill>
                <a:effectLst/>
                <a:latin typeface="DM Sans 14pt" pitchFamily="2" charset="77"/>
                <a:ea typeface="Times New Roman" panose="02020603050405020304" pitchFamily="18" charset="0"/>
              </a:rPr>
              <a:t>: Outreach initiatives, webinars, and demonstrations targeting decision-makers in key</a:t>
            </a:r>
            <a:endParaRPr lang="en-US" sz="900" dirty="0">
              <a:solidFill>
                <a:srgbClr val="595959"/>
              </a:solidFill>
              <a:latin typeface="DM Sans 14pt" pitchFamily="2" charset="77"/>
            </a:endParaRPr>
          </a:p>
        </p:txBody>
      </p:sp>
      <p:sp>
        <p:nvSpPr>
          <p:cNvPr id="14" name="TextBox 13">
            <a:extLst>
              <a:ext uri="{FF2B5EF4-FFF2-40B4-BE49-F238E27FC236}">
                <a16:creationId xmlns:a16="http://schemas.microsoft.com/office/drawing/2014/main" id="{0950214A-76EB-BC2F-ECA9-2509D8E0A1AB}"/>
              </a:ext>
            </a:extLst>
          </p:cNvPr>
          <p:cNvSpPr txBox="1"/>
          <p:nvPr/>
        </p:nvSpPr>
        <p:spPr>
          <a:xfrm>
            <a:off x="8860769" y="2514600"/>
            <a:ext cx="1718740" cy="307777"/>
          </a:xfrm>
          <a:prstGeom prst="rect">
            <a:avLst/>
          </a:prstGeom>
          <a:noFill/>
        </p:spPr>
        <p:txBody>
          <a:bodyPr wrap="none" rtlCol="0">
            <a:spAutoFit/>
          </a:bodyPr>
          <a:lstStyle/>
          <a:p>
            <a:pPr algn="l"/>
            <a:r>
              <a:rPr lang="en-US" sz="1400" b="1" dirty="0">
                <a:solidFill>
                  <a:schemeClr val="tx1">
                    <a:lumMod val="85000"/>
                    <a:lumOff val="15000"/>
                  </a:schemeClr>
                </a:solidFill>
                <a:latin typeface="Graphik Regular" panose="020B0503030202060203" pitchFamily="34" charset="77"/>
              </a:rPr>
              <a:t>marketing strategies</a:t>
            </a:r>
          </a:p>
        </p:txBody>
      </p:sp>
      <p:sp>
        <p:nvSpPr>
          <p:cNvPr id="15" name="TextBox 14">
            <a:extLst>
              <a:ext uri="{FF2B5EF4-FFF2-40B4-BE49-F238E27FC236}">
                <a16:creationId xmlns:a16="http://schemas.microsoft.com/office/drawing/2014/main" id="{6C9A84D3-EFE0-8A1B-8F4F-5C6CA08F337A}"/>
              </a:ext>
            </a:extLst>
          </p:cNvPr>
          <p:cNvSpPr txBox="1"/>
          <p:nvPr/>
        </p:nvSpPr>
        <p:spPr>
          <a:xfrm>
            <a:off x="8413495" y="2819400"/>
            <a:ext cx="2854687" cy="1631216"/>
          </a:xfrm>
          <a:prstGeom prst="rect">
            <a:avLst/>
          </a:prstGeom>
          <a:noFill/>
        </p:spPr>
        <p:txBody>
          <a:bodyPr wrap="square" rtlCol="0">
            <a:spAutoFit/>
          </a:bodyPr>
          <a:lstStyle/>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Brand Awareness</a:t>
            </a:r>
            <a:r>
              <a:rPr lang="en-US" sz="1000" dirty="0">
                <a:solidFill>
                  <a:srgbClr val="595959"/>
                </a:solidFill>
                <a:effectLst/>
                <a:latin typeface="DM Sans 14pt" pitchFamily="2" charset="77"/>
                <a:ea typeface="Times New Roman" panose="02020603050405020304" pitchFamily="18" charset="0"/>
              </a:rPr>
              <a:t>: To build credibility, use thought leadership content, case studies, and industry events.</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Lead Generation</a:t>
            </a:r>
            <a:r>
              <a:rPr lang="en-US" sz="1000" dirty="0">
                <a:solidFill>
                  <a:srgbClr val="595959"/>
                </a:solidFill>
                <a:effectLst/>
                <a:latin typeface="DM Sans 14pt" pitchFamily="2" charset="77"/>
                <a:ea typeface="Times New Roman" panose="02020603050405020304" pitchFamily="18" charset="0"/>
              </a:rPr>
              <a:t>: Targeted campaigns, whitepapers, and gated content to capture and nurture leads.</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Customer Engagement</a:t>
            </a:r>
            <a:r>
              <a:rPr lang="en-US" sz="1000" dirty="0">
                <a:solidFill>
                  <a:srgbClr val="595959"/>
                </a:solidFill>
                <a:effectLst/>
                <a:latin typeface="DM Sans 14pt" pitchFamily="2" charset="77"/>
                <a:ea typeface="Times New Roman" panose="02020603050405020304" pitchFamily="18" charset="0"/>
              </a:rPr>
              <a:t>: Regular webinars, newsletters, and user communities for ongoing</a:t>
            </a:r>
            <a:endParaRPr lang="en-US" sz="1100" dirty="0">
              <a:solidFill>
                <a:srgbClr val="595959"/>
              </a:solidFill>
              <a:latin typeface="DM Sans 14pt" pitchFamily="2" charset="77"/>
            </a:endParaRPr>
          </a:p>
        </p:txBody>
      </p:sp>
      <p:sp>
        <p:nvSpPr>
          <p:cNvPr id="16" name="TextBox 15">
            <a:extLst>
              <a:ext uri="{FF2B5EF4-FFF2-40B4-BE49-F238E27FC236}">
                <a16:creationId xmlns:a16="http://schemas.microsoft.com/office/drawing/2014/main" id="{D8CD5148-54E5-0D9D-EC86-DE4E85B82CD4}"/>
              </a:ext>
            </a:extLst>
          </p:cNvPr>
          <p:cNvSpPr txBox="1"/>
          <p:nvPr/>
        </p:nvSpPr>
        <p:spPr>
          <a:xfrm>
            <a:off x="596778" y="4775261"/>
            <a:ext cx="2855269" cy="307777"/>
          </a:xfrm>
          <a:prstGeom prst="rect">
            <a:avLst/>
          </a:prstGeom>
          <a:noFill/>
        </p:spPr>
        <p:txBody>
          <a:bodyPr wrap="square" rtlCol="0">
            <a:spAutoFit/>
          </a:bodyPr>
          <a:lstStyle/>
          <a:p>
            <a:pPr algn="r"/>
            <a:r>
              <a:rPr lang="en-US" sz="1400" b="1" dirty="0">
                <a:solidFill>
                  <a:schemeClr val="tx1">
                    <a:lumMod val="85000"/>
                    <a:lumOff val="15000"/>
                  </a:schemeClr>
                </a:solidFill>
                <a:latin typeface="Graphik Regular" panose="020B0503030202060203" pitchFamily="34" charset="77"/>
              </a:rPr>
              <a:t>sales strategy</a:t>
            </a:r>
          </a:p>
        </p:txBody>
      </p:sp>
      <p:sp>
        <p:nvSpPr>
          <p:cNvPr id="17" name="TextBox 16">
            <a:extLst>
              <a:ext uri="{FF2B5EF4-FFF2-40B4-BE49-F238E27FC236}">
                <a16:creationId xmlns:a16="http://schemas.microsoft.com/office/drawing/2014/main" id="{8E24B196-0C04-9368-3055-A9B2225FEA15}"/>
              </a:ext>
            </a:extLst>
          </p:cNvPr>
          <p:cNvSpPr txBox="1"/>
          <p:nvPr/>
        </p:nvSpPr>
        <p:spPr>
          <a:xfrm>
            <a:off x="409236" y="5108376"/>
            <a:ext cx="3291159" cy="1169551"/>
          </a:xfrm>
          <a:prstGeom prst="rect">
            <a:avLst/>
          </a:prstGeom>
          <a:noFill/>
        </p:spPr>
        <p:txBody>
          <a:bodyPr wrap="square" rtlCol="0">
            <a:spAutoFit/>
          </a:bodyPr>
          <a:lstStyle/>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Target Customers</a:t>
            </a:r>
            <a:r>
              <a:rPr lang="en-US" sz="1000" dirty="0">
                <a:solidFill>
                  <a:srgbClr val="595959"/>
                </a:solidFill>
                <a:effectLst/>
                <a:latin typeface="DM Sans 14pt" pitchFamily="2" charset="77"/>
                <a:ea typeface="Times New Roman" panose="02020603050405020304" pitchFamily="18" charset="0"/>
              </a:rPr>
              <a:t>: SMEs and large enterprises in retail and hospitality.</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Sales Funnel Optimization</a:t>
            </a:r>
            <a:r>
              <a:rPr lang="en-US" sz="1000" dirty="0">
                <a:solidFill>
                  <a:srgbClr val="595959"/>
                </a:solidFill>
                <a:effectLst/>
                <a:latin typeface="DM Sans 14pt" pitchFamily="2" charset="77"/>
                <a:ea typeface="Times New Roman" panose="02020603050405020304" pitchFamily="18" charset="0"/>
              </a:rPr>
              <a:t>: Streamlined process from lead capture to conversion.</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Metrics and KPIs</a:t>
            </a:r>
            <a:r>
              <a:rPr lang="en-US" sz="1000" dirty="0">
                <a:solidFill>
                  <a:srgbClr val="595959"/>
                </a:solidFill>
                <a:effectLst/>
                <a:latin typeface="DM Sans 14pt" pitchFamily="2" charset="77"/>
                <a:ea typeface="Times New Roman" panose="02020603050405020304" pitchFamily="18" charset="0"/>
              </a:rPr>
              <a:t>: CAC, CLTV, and conversion rates to measure and optimize performance.</a:t>
            </a:r>
          </a:p>
        </p:txBody>
      </p:sp>
      <p:sp>
        <p:nvSpPr>
          <p:cNvPr id="18" name="TextBox 17">
            <a:extLst>
              <a:ext uri="{FF2B5EF4-FFF2-40B4-BE49-F238E27FC236}">
                <a16:creationId xmlns:a16="http://schemas.microsoft.com/office/drawing/2014/main" id="{CC332F8F-29B9-B539-9D1F-D4491B8997E8}"/>
              </a:ext>
            </a:extLst>
          </p:cNvPr>
          <p:cNvSpPr txBox="1"/>
          <p:nvPr/>
        </p:nvSpPr>
        <p:spPr>
          <a:xfrm>
            <a:off x="8915400" y="4800600"/>
            <a:ext cx="2352782" cy="307777"/>
          </a:xfrm>
          <a:prstGeom prst="rect">
            <a:avLst/>
          </a:prstGeom>
          <a:noFill/>
        </p:spPr>
        <p:txBody>
          <a:bodyPr wrap="square" rtlCol="0">
            <a:spAutoFit/>
          </a:bodyPr>
          <a:lstStyle/>
          <a:p>
            <a:pPr algn="l"/>
            <a:r>
              <a:rPr lang="en-US" sz="1400" b="1" dirty="0">
                <a:solidFill>
                  <a:schemeClr val="tx1">
                    <a:lumMod val="85000"/>
                    <a:lumOff val="15000"/>
                  </a:schemeClr>
                </a:solidFill>
                <a:latin typeface="Graphik Regular" panose="020B0503030202060203" pitchFamily="34" charset="77"/>
              </a:rPr>
              <a:t>customer adoption</a:t>
            </a:r>
          </a:p>
        </p:txBody>
      </p:sp>
      <p:sp>
        <p:nvSpPr>
          <p:cNvPr id="21" name="TextBox 20">
            <a:extLst>
              <a:ext uri="{FF2B5EF4-FFF2-40B4-BE49-F238E27FC236}">
                <a16:creationId xmlns:a16="http://schemas.microsoft.com/office/drawing/2014/main" id="{27379C03-6198-913F-E6EC-D3D44F71C283}"/>
              </a:ext>
            </a:extLst>
          </p:cNvPr>
          <p:cNvSpPr txBox="1"/>
          <p:nvPr/>
        </p:nvSpPr>
        <p:spPr>
          <a:xfrm>
            <a:off x="8477560" y="5117741"/>
            <a:ext cx="2803581" cy="1169551"/>
          </a:xfrm>
          <a:prstGeom prst="rect">
            <a:avLst/>
          </a:prstGeom>
          <a:noFill/>
        </p:spPr>
        <p:txBody>
          <a:bodyPr wrap="square" rtlCol="0">
            <a:spAutoFit/>
          </a:bodyPr>
          <a:lstStyle/>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User Guiding</a:t>
            </a:r>
            <a:r>
              <a:rPr lang="en-US" sz="1000" dirty="0">
                <a:solidFill>
                  <a:srgbClr val="595959"/>
                </a:solidFill>
                <a:effectLst/>
                <a:latin typeface="DM Sans 14pt" pitchFamily="2" charset="77"/>
                <a:ea typeface="Times New Roman" panose="02020603050405020304" pitchFamily="18" charset="0"/>
              </a:rPr>
              <a:t>: Intuitive interfaces quickly craft actions</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Visibility</a:t>
            </a:r>
            <a:r>
              <a:rPr lang="en-US" sz="1000" dirty="0">
                <a:solidFill>
                  <a:srgbClr val="595959"/>
                </a:solidFill>
                <a:effectLst/>
                <a:latin typeface="DM Sans 14pt" pitchFamily="2" charset="77"/>
                <a:ea typeface="Times New Roman" panose="02020603050405020304" pitchFamily="18" charset="0"/>
              </a:rPr>
              <a:t>: Transparency for the entire team</a:t>
            </a:r>
          </a:p>
          <a:p>
            <a:pPr marL="457200" marR="0" lvl="1">
              <a:spcBef>
                <a:spcPts val="0"/>
              </a:spcBef>
              <a:spcAft>
                <a:spcPts val="0"/>
              </a:spcAft>
            </a:pPr>
            <a:r>
              <a:rPr lang="en-US" sz="1000" b="1" dirty="0">
                <a:solidFill>
                  <a:srgbClr val="262626"/>
                </a:solidFill>
                <a:effectLst/>
                <a:latin typeface="DM Sans 14pt" pitchFamily="2" charset="77"/>
                <a:ea typeface="Times New Roman" panose="02020603050405020304" pitchFamily="18" charset="0"/>
              </a:rPr>
              <a:t>Incentives</a:t>
            </a:r>
            <a:r>
              <a:rPr lang="en-US" sz="1000" dirty="0">
                <a:solidFill>
                  <a:srgbClr val="595959"/>
                </a:solidFill>
                <a:effectLst/>
                <a:latin typeface="DM Sans 14pt" pitchFamily="2" charset="77"/>
                <a:ea typeface="Times New Roman" panose="02020603050405020304" pitchFamily="18" charset="0"/>
              </a:rPr>
              <a:t>: Gamification provides incentives for team members to reach goals</a:t>
            </a:r>
            <a:endParaRPr lang="en-US" sz="1100" dirty="0">
              <a:solidFill>
                <a:srgbClr val="595959"/>
              </a:solidFill>
              <a:latin typeface="DM Sans 14pt" pitchFamily="2" charset="77"/>
            </a:endParaRPr>
          </a:p>
        </p:txBody>
      </p:sp>
      <p:sp>
        <p:nvSpPr>
          <p:cNvPr id="20" name="Freeform 25">
            <a:extLst>
              <a:ext uri="{FF2B5EF4-FFF2-40B4-BE49-F238E27FC236}">
                <a16:creationId xmlns:a16="http://schemas.microsoft.com/office/drawing/2014/main" id="{8ED93F0C-8852-61DF-6041-B067D6904F0E}"/>
              </a:ext>
            </a:extLst>
          </p:cNvPr>
          <p:cNvSpPr>
            <a:spLocks noEditPoints="1"/>
          </p:cNvSpPr>
          <p:nvPr/>
        </p:nvSpPr>
        <p:spPr bwMode="auto">
          <a:xfrm>
            <a:off x="4249634" y="2451948"/>
            <a:ext cx="4227926" cy="4221367"/>
          </a:xfrm>
          <a:custGeom>
            <a:avLst/>
            <a:gdLst>
              <a:gd name="T0" fmla="*/ 427 w 1089"/>
              <a:gd name="T1" fmla="*/ 503 h 1087"/>
              <a:gd name="T2" fmla="*/ 463 w 1089"/>
              <a:gd name="T3" fmla="*/ 155 h 1087"/>
              <a:gd name="T4" fmla="*/ 480 w 1089"/>
              <a:gd name="T5" fmla="*/ 113 h 1087"/>
              <a:gd name="T6" fmla="*/ 547 w 1089"/>
              <a:gd name="T7" fmla="*/ 74 h 1087"/>
              <a:gd name="T8" fmla="*/ 609 w 1089"/>
              <a:gd name="T9" fmla="*/ 111 h 1087"/>
              <a:gd name="T10" fmla="*/ 604 w 1089"/>
              <a:gd name="T11" fmla="*/ 187 h 1087"/>
              <a:gd name="T12" fmla="*/ 771 w 1089"/>
              <a:gd name="T13" fmla="*/ 536 h 1087"/>
              <a:gd name="T14" fmla="*/ 933 w 1089"/>
              <a:gd name="T15" fmla="*/ 462 h 1087"/>
              <a:gd name="T16" fmla="*/ 976 w 1089"/>
              <a:gd name="T17" fmla="*/ 479 h 1087"/>
              <a:gd name="T18" fmla="*/ 1013 w 1089"/>
              <a:gd name="T19" fmla="*/ 554 h 1087"/>
              <a:gd name="T20" fmla="*/ 977 w 1089"/>
              <a:gd name="T21" fmla="*/ 608 h 1087"/>
              <a:gd name="T22" fmla="*/ 901 w 1089"/>
              <a:gd name="T23" fmla="*/ 603 h 1087"/>
              <a:gd name="T24" fmla="*/ 661 w 1089"/>
              <a:gd name="T25" fmla="*/ 584 h 1087"/>
              <a:gd name="T26" fmla="*/ 625 w 1089"/>
              <a:gd name="T27" fmla="*/ 931 h 1087"/>
              <a:gd name="T28" fmla="*/ 608 w 1089"/>
              <a:gd name="T29" fmla="*/ 974 h 1087"/>
              <a:gd name="T30" fmla="*/ 542 w 1089"/>
              <a:gd name="T31" fmla="*/ 1012 h 1087"/>
              <a:gd name="T32" fmla="*/ 479 w 1089"/>
              <a:gd name="T33" fmla="*/ 975 h 1087"/>
              <a:gd name="T34" fmla="*/ 484 w 1089"/>
              <a:gd name="T35" fmla="*/ 899 h 1087"/>
              <a:gd name="T36" fmla="*/ 317 w 1089"/>
              <a:gd name="T37" fmla="*/ 551 h 1087"/>
              <a:gd name="T38" fmla="*/ 156 w 1089"/>
              <a:gd name="T39" fmla="*/ 624 h 1087"/>
              <a:gd name="T40" fmla="*/ 113 w 1089"/>
              <a:gd name="T41" fmla="*/ 607 h 1087"/>
              <a:gd name="T42" fmla="*/ 75 w 1089"/>
              <a:gd name="T43" fmla="*/ 532 h 1087"/>
              <a:gd name="T44" fmla="*/ 112 w 1089"/>
              <a:gd name="T45" fmla="*/ 478 h 1087"/>
              <a:gd name="T46" fmla="*/ 187 w 1089"/>
              <a:gd name="T47" fmla="*/ 483 h 1087"/>
              <a:gd name="T48" fmla="*/ 545 w 1089"/>
              <a:gd name="T49" fmla="*/ 0 h 1087"/>
              <a:gd name="T50" fmla="*/ 417 w 1089"/>
              <a:gd name="T51" fmla="*/ 74 h 1087"/>
              <a:gd name="T52" fmla="*/ 387 w 1089"/>
              <a:gd name="T53" fmla="*/ 112 h 1087"/>
              <a:gd name="T54" fmla="*/ 223 w 1089"/>
              <a:gd name="T55" fmla="*/ 126 h 1087"/>
              <a:gd name="T56" fmla="*/ 76 w 1089"/>
              <a:gd name="T57" fmla="*/ 413 h 1087"/>
              <a:gd name="T58" fmla="*/ 0 w 1089"/>
              <a:gd name="T59" fmla="*/ 542 h 1087"/>
              <a:gd name="T60" fmla="*/ 90 w 1089"/>
              <a:gd name="T61" fmla="*/ 680 h 1087"/>
              <a:gd name="T62" fmla="*/ 127 w 1089"/>
              <a:gd name="T63" fmla="*/ 863 h 1087"/>
              <a:gd name="T64" fmla="*/ 346 w 1089"/>
              <a:gd name="T65" fmla="*/ 977 h 1087"/>
              <a:gd name="T66" fmla="*/ 413 w 1089"/>
              <a:gd name="T67" fmla="*/ 1011 h 1087"/>
              <a:gd name="T68" fmla="*/ 543 w 1089"/>
              <a:gd name="T69" fmla="*/ 1087 h 1087"/>
              <a:gd name="T70" fmla="*/ 671 w 1089"/>
              <a:gd name="T71" fmla="*/ 1013 h 1087"/>
              <a:gd name="T72" fmla="*/ 701 w 1089"/>
              <a:gd name="T73" fmla="*/ 974 h 1087"/>
              <a:gd name="T74" fmla="*/ 865 w 1089"/>
              <a:gd name="T75" fmla="*/ 961 h 1087"/>
              <a:gd name="T76" fmla="*/ 1012 w 1089"/>
              <a:gd name="T77" fmla="*/ 674 h 1087"/>
              <a:gd name="T78" fmla="*/ 1089 w 1089"/>
              <a:gd name="T79" fmla="*/ 544 h 1087"/>
              <a:gd name="T80" fmla="*/ 998 w 1089"/>
              <a:gd name="T81" fmla="*/ 406 h 1087"/>
              <a:gd name="T82" fmla="*/ 962 w 1089"/>
              <a:gd name="T83" fmla="*/ 223 h 1087"/>
              <a:gd name="T84" fmla="*/ 742 w 1089"/>
              <a:gd name="T85" fmla="*/ 109 h 1087"/>
              <a:gd name="T86" fmla="*/ 675 w 1089"/>
              <a:gd name="T87" fmla="*/ 76 h 1087"/>
              <a:gd name="T88" fmla="*/ 545 w 1089"/>
              <a:gd name="T89" fmla="*/ 0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1087">
                <a:moveTo>
                  <a:pt x="322" y="530"/>
                </a:moveTo>
                <a:cubicBezTo>
                  <a:pt x="358" y="530"/>
                  <a:pt x="394" y="522"/>
                  <a:pt x="427" y="503"/>
                </a:cubicBezTo>
                <a:cubicBezTo>
                  <a:pt x="531" y="444"/>
                  <a:pt x="567" y="311"/>
                  <a:pt x="507" y="208"/>
                </a:cubicBezTo>
                <a:cubicBezTo>
                  <a:pt x="495" y="188"/>
                  <a:pt x="480" y="170"/>
                  <a:pt x="463" y="155"/>
                </a:cubicBezTo>
                <a:cubicBezTo>
                  <a:pt x="464" y="145"/>
                  <a:pt x="467" y="136"/>
                  <a:pt x="472" y="127"/>
                </a:cubicBezTo>
                <a:cubicBezTo>
                  <a:pt x="480" y="113"/>
                  <a:pt x="480" y="113"/>
                  <a:pt x="480" y="113"/>
                </a:cubicBezTo>
                <a:cubicBezTo>
                  <a:pt x="494" y="89"/>
                  <a:pt x="518" y="74"/>
                  <a:pt x="545" y="74"/>
                </a:cubicBezTo>
                <a:cubicBezTo>
                  <a:pt x="546" y="74"/>
                  <a:pt x="546" y="74"/>
                  <a:pt x="547" y="74"/>
                </a:cubicBezTo>
                <a:cubicBezTo>
                  <a:pt x="550" y="74"/>
                  <a:pt x="552" y="74"/>
                  <a:pt x="555" y="75"/>
                </a:cubicBezTo>
                <a:cubicBezTo>
                  <a:pt x="578" y="78"/>
                  <a:pt x="597" y="91"/>
                  <a:pt x="609" y="111"/>
                </a:cubicBezTo>
                <a:cubicBezTo>
                  <a:pt x="609" y="111"/>
                  <a:pt x="609" y="111"/>
                  <a:pt x="609" y="111"/>
                </a:cubicBezTo>
                <a:cubicBezTo>
                  <a:pt x="623" y="135"/>
                  <a:pt x="622" y="166"/>
                  <a:pt x="604" y="187"/>
                </a:cubicBezTo>
                <a:cubicBezTo>
                  <a:pt x="551" y="254"/>
                  <a:pt x="540" y="348"/>
                  <a:pt x="585" y="427"/>
                </a:cubicBezTo>
                <a:cubicBezTo>
                  <a:pt x="624" y="497"/>
                  <a:pt x="697" y="536"/>
                  <a:pt x="771" y="536"/>
                </a:cubicBezTo>
                <a:cubicBezTo>
                  <a:pt x="808" y="536"/>
                  <a:pt x="845" y="526"/>
                  <a:pt x="880" y="506"/>
                </a:cubicBezTo>
                <a:cubicBezTo>
                  <a:pt x="900" y="494"/>
                  <a:pt x="918" y="479"/>
                  <a:pt x="933" y="462"/>
                </a:cubicBezTo>
                <a:cubicBezTo>
                  <a:pt x="943" y="463"/>
                  <a:pt x="953" y="466"/>
                  <a:pt x="962" y="471"/>
                </a:cubicBezTo>
                <a:cubicBezTo>
                  <a:pt x="976" y="479"/>
                  <a:pt x="976" y="479"/>
                  <a:pt x="976" y="479"/>
                </a:cubicBezTo>
                <a:cubicBezTo>
                  <a:pt x="999" y="493"/>
                  <a:pt x="1015" y="518"/>
                  <a:pt x="1014" y="546"/>
                </a:cubicBezTo>
                <a:cubicBezTo>
                  <a:pt x="1014" y="549"/>
                  <a:pt x="1014" y="551"/>
                  <a:pt x="1013" y="554"/>
                </a:cubicBezTo>
                <a:cubicBezTo>
                  <a:pt x="1010" y="577"/>
                  <a:pt x="997" y="596"/>
                  <a:pt x="977" y="608"/>
                </a:cubicBezTo>
                <a:cubicBezTo>
                  <a:pt x="977" y="608"/>
                  <a:pt x="977" y="608"/>
                  <a:pt x="977" y="608"/>
                </a:cubicBezTo>
                <a:cubicBezTo>
                  <a:pt x="966" y="615"/>
                  <a:pt x="954" y="618"/>
                  <a:pt x="942" y="618"/>
                </a:cubicBezTo>
                <a:cubicBezTo>
                  <a:pt x="928" y="618"/>
                  <a:pt x="913" y="613"/>
                  <a:pt x="901" y="603"/>
                </a:cubicBezTo>
                <a:cubicBezTo>
                  <a:pt x="863" y="572"/>
                  <a:pt x="815" y="556"/>
                  <a:pt x="766" y="556"/>
                </a:cubicBezTo>
                <a:cubicBezTo>
                  <a:pt x="731" y="556"/>
                  <a:pt x="695" y="565"/>
                  <a:pt x="661" y="584"/>
                </a:cubicBezTo>
                <a:cubicBezTo>
                  <a:pt x="557" y="642"/>
                  <a:pt x="521" y="775"/>
                  <a:pt x="582" y="878"/>
                </a:cubicBezTo>
                <a:cubicBezTo>
                  <a:pt x="593" y="899"/>
                  <a:pt x="608" y="916"/>
                  <a:pt x="625" y="931"/>
                </a:cubicBezTo>
                <a:cubicBezTo>
                  <a:pt x="624" y="941"/>
                  <a:pt x="621" y="951"/>
                  <a:pt x="616" y="960"/>
                </a:cubicBezTo>
                <a:cubicBezTo>
                  <a:pt x="608" y="974"/>
                  <a:pt x="608" y="974"/>
                  <a:pt x="608" y="974"/>
                </a:cubicBezTo>
                <a:cubicBezTo>
                  <a:pt x="594" y="997"/>
                  <a:pt x="570" y="1012"/>
                  <a:pt x="543" y="1012"/>
                </a:cubicBezTo>
                <a:cubicBezTo>
                  <a:pt x="543" y="1012"/>
                  <a:pt x="542" y="1012"/>
                  <a:pt x="542" y="1012"/>
                </a:cubicBezTo>
                <a:cubicBezTo>
                  <a:pt x="539" y="1012"/>
                  <a:pt x="536" y="1012"/>
                  <a:pt x="533" y="1012"/>
                </a:cubicBezTo>
                <a:cubicBezTo>
                  <a:pt x="510" y="1009"/>
                  <a:pt x="491" y="996"/>
                  <a:pt x="479" y="975"/>
                </a:cubicBezTo>
                <a:cubicBezTo>
                  <a:pt x="479" y="975"/>
                  <a:pt x="479" y="975"/>
                  <a:pt x="479" y="975"/>
                </a:cubicBezTo>
                <a:cubicBezTo>
                  <a:pt x="465" y="951"/>
                  <a:pt x="467" y="921"/>
                  <a:pt x="484" y="899"/>
                </a:cubicBezTo>
                <a:cubicBezTo>
                  <a:pt x="537" y="833"/>
                  <a:pt x="548" y="738"/>
                  <a:pt x="504" y="660"/>
                </a:cubicBezTo>
                <a:cubicBezTo>
                  <a:pt x="464" y="590"/>
                  <a:pt x="392" y="551"/>
                  <a:pt x="317" y="551"/>
                </a:cubicBezTo>
                <a:cubicBezTo>
                  <a:pt x="280" y="551"/>
                  <a:pt x="243" y="560"/>
                  <a:pt x="209" y="580"/>
                </a:cubicBezTo>
                <a:cubicBezTo>
                  <a:pt x="188" y="592"/>
                  <a:pt x="170" y="607"/>
                  <a:pt x="156" y="624"/>
                </a:cubicBezTo>
                <a:cubicBezTo>
                  <a:pt x="146" y="623"/>
                  <a:pt x="136" y="620"/>
                  <a:pt x="127" y="615"/>
                </a:cubicBezTo>
                <a:cubicBezTo>
                  <a:pt x="113" y="607"/>
                  <a:pt x="113" y="607"/>
                  <a:pt x="113" y="607"/>
                </a:cubicBezTo>
                <a:cubicBezTo>
                  <a:pt x="89" y="593"/>
                  <a:pt x="74" y="568"/>
                  <a:pt x="74" y="541"/>
                </a:cubicBezTo>
                <a:cubicBezTo>
                  <a:pt x="74" y="538"/>
                  <a:pt x="74" y="535"/>
                  <a:pt x="75" y="532"/>
                </a:cubicBezTo>
                <a:cubicBezTo>
                  <a:pt x="78" y="510"/>
                  <a:pt x="91" y="490"/>
                  <a:pt x="111" y="478"/>
                </a:cubicBezTo>
                <a:cubicBezTo>
                  <a:pt x="112" y="478"/>
                  <a:pt x="112" y="478"/>
                  <a:pt x="112" y="478"/>
                </a:cubicBezTo>
                <a:cubicBezTo>
                  <a:pt x="122" y="472"/>
                  <a:pt x="134" y="469"/>
                  <a:pt x="146" y="469"/>
                </a:cubicBezTo>
                <a:cubicBezTo>
                  <a:pt x="161" y="469"/>
                  <a:pt x="175" y="474"/>
                  <a:pt x="187" y="483"/>
                </a:cubicBezTo>
                <a:cubicBezTo>
                  <a:pt x="226" y="514"/>
                  <a:pt x="273" y="530"/>
                  <a:pt x="322" y="530"/>
                </a:cubicBezTo>
                <a:moveTo>
                  <a:pt x="545" y="0"/>
                </a:moveTo>
                <a:cubicBezTo>
                  <a:pt x="545" y="0"/>
                  <a:pt x="545" y="0"/>
                  <a:pt x="545" y="0"/>
                </a:cubicBezTo>
                <a:cubicBezTo>
                  <a:pt x="491" y="0"/>
                  <a:pt x="444" y="27"/>
                  <a:pt x="417" y="74"/>
                </a:cubicBezTo>
                <a:cubicBezTo>
                  <a:pt x="407" y="90"/>
                  <a:pt x="407" y="90"/>
                  <a:pt x="407" y="90"/>
                </a:cubicBezTo>
                <a:cubicBezTo>
                  <a:pt x="402" y="99"/>
                  <a:pt x="395" y="107"/>
                  <a:pt x="387" y="112"/>
                </a:cubicBezTo>
                <a:cubicBezTo>
                  <a:pt x="366" y="106"/>
                  <a:pt x="343" y="102"/>
                  <a:pt x="321" y="102"/>
                </a:cubicBezTo>
                <a:cubicBezTo>
                  <a:pt x="288" y="102"/>
                  <a:pt x="254" y="110"/>
                  <a:pt x="223" y="126"/>
                </a:cubicBezTo>
                <a:cubicBezTo>
                  <a:pt x="140" y="169"/>
                  <a:pt x="97" y="258"/>
                  <a:pt x="109" y="345"/>
                </a:cubicBezTo>
                <a:cubicBezTo>
                  <a:pt x="113" y="372"/>
                  <a:pt x="100" y="399"/>
                  <a:pt x="76" y="413"/>
                </a:cubicBezTo>
                <a:cubicBezTo>
                  <a:pt x="34" y="437"/>
                  <a:pt x="6" y="479"/>
                  <a:pt x="1" y="526"/>
                </a:cubicBezTo>
                <a:cubicBezTo>
                  <a:pt x="0" y="531"/>
                  <a:pt x="0" y="537"/>
                  <a:pt x="0" y="542"/>
                </a:cubicBezTo>
                <a:cubicBezTo>
                  <a:pt x="0" y="596"/>
                  <a:pt x="27" y="644"/>
                  <a:pt x="74" y="671"/>
                </a:cubicBezTo>
                <a:cubicBezTo>
                  <a:pt x="90" y="680"/>
                  <a:pt x="90" y="680"/>
                  <a:pt x="90" y="680"/>
                </a:cubicBezTo>
                <a:cubicBezTo>
                  <a:pt x="100" y="685"/>
                  <a:pt x="107" y="693"/>
                  <a:pt x="113" y="701"/>
                </a:cubicBezTo>
                <a:cubicBezTo>
                  <a:pt x="96" y="753"/>
                  <a:pt x="100" y="812"/>
                  <a:pt x="127" y="863"/>
                </a:cubicBezTo>
                <a:cubicBezTo>
                  <a:pt x="165" y="937"/>
                  <a:pt x="240" y="979"/>
                  <a:pt x="317" y="979"/>
                </a:cubicBezTo>
                <a:cubicBezTo>
                  <a:pt x="327" y="979"/>
                  <a:pt x="336" y="979"/>
                  <a:pt x="346" y="977"/>
                </a:cubicBezTo>
                <a:cubicBezTo>
                  <a:pt x="349" y="977"/>
                  <a:pt x="352" y="977"/>
                  <a:pt x="355" y="977"/>
                </a:cubicBezTo>
                <a:cubicBezTo>
                  <a:pt x="379" y="977"/>
                  <a:pt x="401" y="989"/>
                  <a:pt x="413" y="1011"/>
                </a:cubicBezTo>
                <a:cubicBezTo>
                  <a:pt x="438" y="1052"/>
                  <a:pt x="480" y="1080"/>
                  <a:pt x="527" y="1086"/>
                </a:cubicBezTo>
                <a:cubicBezTo>
                  <a:pt x="532" y="1086"/>
                  <a:pt x="538" y="1087"/>
                  <a:pt x="543" y="1087"/>
                </a:cubicBezTo>
                <a:cubicBezTo>
                  <a:pt x="543" y="1087"/>
                  <a:pt x="543" y="1087"/>
                  <a:pt x="543" y="1087"/>
                </a:cubicBezTo>
                <a:cubicBezTo>
                  <a:pt x="597" y="1087"/>
                  <a:pt x="645" y="1059"/>
                  <a:pt x="671" y="1013"/>
                </a:cubicBezTo>
                <a:cubicBezTo>
                  <a:pt x="681" y="996"/>
                  <a:pt x="681" y="996"/>
                  <a:pt x="681" y="996"/>
                </a:cubicBezTo>
                <a:cubicBezTo>
                  <a:pt x="686" y="987"/>
                  <a:pt x="693" y="980"/>
                  <a:pt x="701" y="974"/>
                </a:cubicBezTo>
                <a:cubicBezTo>
                  <a:pt x="723" y="981"/>
                  <a:pt x="745" y="984"/>
                  <a:pt x="767" y="984"/>
                </a:cubicBezTo>
                <a:cubicBezTo>
                  <a:pt x="801" y="984"/>
                  <a:pt x="834" y="977"/>
                  <a:pt x="865" y="961"/>
                </a:cubicBezTo>
                <a:cubicBezTo>
                  <a:pt x="948" y="917"/>
                  <a:pt x="991" y="828"/>
                  <a:pt x="979" y="741"/>
                </a:cubicBezTo>
                <a:cubicBezTo>
                  <a:pt x="975" y="714"/>
                  <a:pt x="989" y="687"/>
                  <a:pt x="1012" y="674"/>
                </a:cubicBezTo>
                <a:cubicBezTo>
                  <a:pt x="1054" y="650"/>
                  <a:pt x="1082" y="608"/>
                  <a:pt x="1088" y="560"/>
                </a:cubicBezTo>
                <a:cubicBezTo>
                  <a:pt x="1088" y="555"/>
                  <a:pt x="1089" y="549"/>
                  <a:pt x="1089" y="544"/>
                </a:cubicBezTo>
                <a:cubicBezTo>
                  <a:pt x="1088" y="490"/>
                  <a:pt x="1061" y="443"/>
                  <a:pt x="1014" y="416"/>
                </a:cubicBezTo>
                <a:cubicBezTo>
                  <a:pt x="998" y="406"/>
                  <a:pt x="998" y="406"/>
                  <a:pt x="998" y="406"/>
                </a:cubicBezTo>
                <a:cubicBezTo>
                  <a:pt x="989" y="401"/>
                  <a:pt x="981" y="394"/>
                  <a:pt x="975" y="385"/>
                </a:cubicBezTo>
                <a:cubicBezTo>
                  <a:pt x="992" y="333"/>
                  <a:pt x="988" y="275"/>
                  <a:pt x="962" y="223"/>
                </a:cubicBezTo>
                <a:cubicBezTo>
                  <a:pt x="923" y="149"/>
                  <a:pt x="848" y="107"/>
                  <a:pt x="771" y="107"/>
                </a:cubicBezTo>
                <a:cubicBezTo>
                  <a:pt x="761" y="107"/>
                  <a:pt x="752" y="108"/>
                  <a:pt x="742" y="109"/>
                </a:cubicBezTo>
                <a:cubicBezTo>
                  <a:pt x="739" y="110"/>
                  <a:pt x="736" y="110"/>
                  <a:pt x="733" y="110"/>
                </a:cubicBezTo>
                <a:cubicBezTo>
                  <a:pt x="709" y="110"/>
                  <a:pt x="687" y="97"/>
                  <a:pt x="675" y="76"/>
                </a:cubicBezTo>
                <a:cubicBezTo>
                  <a:pt x="651" y="34"/>
                  <a:pt x="609" y="6"/>
                  <a:pt x="561" y="1"/>
                </a:cubicBezTo>
                <a:cubicBezTo>
                  <a:pt x="556" y="0"/>
                  <a:pt x="551" y="0"/>
                  <a:pt x="545" y="0"/>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2" name="Group 21">
            <a:extLst>
              <a:ext uri="{FF2B5EF4-FFF2-40B4-BE49-F238E27FC236}">
                <a16:creationId xmlns:a16="http://schemas.microsoft.com/office/drawing/2014/main" id="{7306F59C-B37F-C53F-94C3-08AF2C916D91}"/>
              </a:ext>
            </a:extLst>
          </p:cNvPr>
          <p:cNvGrpSpPr/>
          <p:nvPr/>
        </p:nvGrpSpPr>
        <p:grpSpPr>
          <a:xfrm>
            <a:off x="4116256" y="2394124"/>
            <a:ext cx="4229566" cy="4219727"/>
            <a:chOff x="3981217" y="1815365"/>
            <a:chExt cx="4229566" cy="4219727"/>
          </a:xfrm>
        </p:grpSpPr>
        <p:sp>
          <p:nvSpPr>
            <p:cNvPr id="23" name="Freeform 26">
              <a:extLst>
                <a:ext uri="{FF2B5EF4-FFF2-40B4-BE49-F238E27FC236}">
                  <a16:creationId xmlns:a16="http://schemas.microsoft.com/office/drawing/2014/main" id="{4BEB565D-DC2F-7D7B-8793-2B40C010F704}"/>
                </a:ext>
              </a:extLst>
            </p:cNvPr>
            <p:cNvSpPr>
              <a:spLocks/>
            </p:cNvSpPr>
            <p:nvPr/>
          </p:nvSpPr>
          <p:spPr bwMode="auto">
            <a:xfrm>
              <a:off x="4273138" y="3834209"/>
              <a:ext cx="1864684" cy="2197603"/>
            </a:xfrm>
            <a:custGeom>
              <a:avLst/>
              <a:gdLst>
                <a:gd name="T0" fmla="*/ 458 w 480"/>
                <a:gd name="T1" fmla="*/ 492 h 566"/>
                <a:gd name="T2" fmla="*/ 404 w 480"/>
                <a:gd name="T3" fmla="*/ 456 h 566"/>
                <a:gd name="T4" fmla="*/ 404 w 480"/>
                <a:gd name="T5" fmla="*/ 456 h 566"/>
                <a:gd name="T6" fmla="*/ 409 w 480"/>
                <a:gd name="T7" fmla="*/ 380 h 566"/>
                <a:gd name="T8" fmla="*/ 429 w 480"/>
                <a:gd name="T9" fmla="*/ 140 h 566"/>
                <a:gd name="T10" fmla="*/ 134 w 480"/>
                <a:gd name="T11" fmla="*/ 61 h 566"/>
                <a:gd name="T12" fmla="*/ 52 w 480"/>
                <a:gd name="T13" fmla="*/ 344 h 566"/>
                <a:gd name="T14" fmla="*/ 271 w 480"/>
                <a:gd name="T15" fmla="*/ 458 h 566"/>
                <a:gd name="T16" fmla="*/ 339 w 480"/>
                <a:gd name="T17" fmla="*/ 491 h 566"/>
                <a:gd name="T18" fmla="*/ 452 w 480"/>
                <a:gd name="T19" fmla="*/ 566 h 566"/>
                <a:gd name="T20" fmla="*/ 480 w 480"/>
                <a:gd name="T21" fmla="*/ 534 h 566"/>
                <a:gd name="T22" fmla="*/ 458 w 480"/>
                <a:gd name="T23" fmla="*/ 492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0" h="566">
                  <a:moveTo>
                    <a:pt x="458" y="492"/>
                  </a:moveTo>
                  <a:cubicBezTo>
                    <a:pt x="436" y="489"/>
                    <a:pt x="416" y="476"/>
                    <a:pt x="404" y="456"/>
                  </a:cubicBezTo>
                  <a:cubicBezTo>
                    <a:pt x="404" y="456"/>
                    <a:pt x="404" y="456"/>
                    <a:pt x="404" y="456"/>
                  </a:cubicBezTo>
                  <a:cubicBezTo>
                    <a:pt x="390" y="432"/>
                    <a:pt x="392" y="401"/>
                    <a:pt x="409" y="380"/>
                  </a:cubicBezTo>
                  <a:cubicBezTo>
                    <a:pt x="463" y="313"/>
                    <a:pt x="473" y="219"/>
                    <a:pt x="429" y="140"/>
                  </a:cubicBezTo>
                  <a:cubicBezTo>
                    <a:pt x="370" y="36"/>
                    <a:pt x="237" y="0"/>
                    <a:pt x="134" y="61"/>
                  </a:cubicBezTo>
                  <a:cubicBezTo>
                    <a:pt x="36" y="118"/>
                    <a:pt x="0" y="243"/>
                    <a:pt x="52" y="344"/>
                  </a:cubicBezTo>
                  <a:cubicBezTo>
                    <a:pt x="95" y="427"/>
                    <a:pt x="184" y="470"/>
                    <a:pt x="271" y="458"/>
                  </a:cubicBezTo>
                  <a:cubicBezTo>
                    <a:pt x="298" y="454"/>
                    <a:pt x="325" y="468"/>
                    <a:pt x="339" y="491"/>
                  </a:cubicBezTo>
                  <a:cubicBezTo>
                    <a:pt x="363" y="533"/>
                    <a:pt x="405" y="561"/>
                    <a:pt x="452" y="566"/>
                  </a:cubicBezTo>
                  <a:cubicBezTo>
                    <a:pt x="480" y="534"/>
                    <a:pt x="480" y="534"/>
                    <a:pt x="480" y="534"/>
                  </a:cubicBezTo>
                  <a:lnTo>
                    <a:pt x="458" y="492"/>
                  </a:lnTo>
                  <a:close/>
                </a:path>
              </a:pathLst>
            </a:custGeom>
            <a:solidFill>
              <a:srgbClr val="E6838E"/>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30">
              <a:extLst>
                <a:ext uri="{FF2B5EF4-FFF2-40B4-BE49-F238E27FC236}">
                  <a16:creationId xmlns:a16="http://schemas.microsoft.com/office/drawing/2014/main" id="{8EC29DDB-1A58-7A6D-3D92-7CAC59683F4F}"/>
                </a:ext>
              </a:extLst>
            </p:cNvPr>
            <p:cNvSpPr>
              <a:spLocks/>
            </p:cNvSpPr>
            <p:nvPr/>
          </p:nvSpPr>
          <p:spPr bwMode="auto">
            <a:xfrm>
              <a:off x="3981217" y="2102366"/>
              <a:ext cx="2202524" cy="3532565"/>
            </a:xfrm>
            <a:custGeom>
              <a:avLst/>
              <a:gdLst>
                <a:gd name="T0" fmla="*/ 418 w 567"/>
                <a:gd name="T1" fmla="*/ 528 h 910"/>
                <a:gd name="T2" fmla="*/ 201 w 567"/>
                <a:gd name="T3" fmla="*/ 538 h 910"/>
                <a:gd name="T4" fmla="*/ 127 w 567"/>
                <a:gd name="T5" fmla="*/ 542 h 910"/>
                <a:gd name="T6" fmla="*/ 113 w 567"/>
                <a:gd name="T7" fmla="*/ 534 h 910"/>
                <a:gd name="T8" fmla="*/ 74 w 567"/>
                <a:gd name="T9" fmla="*/ 467 h 910"/>
                <a:gd name="T10" fmla="*/ 75 w 567"/>
                <a:gd name="T11" fmla="*/ 459 h 910"/>
                <a:gd name="T12" fmla="*/ 111 w 567"/>
                <a:gd name="T13" fmla="*/ 405 h 910"/>
                <a:gd name="T14" fmla="*/ 112 w 567"/>
                <a:gd name="T15" fmla="*/ 405 h 910"/>
                <a:gd name="T16" fmla="*/ 188 w 567"/>
                <a:gd name="T17" fmla="*/ 410 h 910"/>
                <a:gd name="T18" fmla="*/ 427 w 567"/>
                <a:gd name="T19" fmla="*/ 429 h 910"/>
                <a:gd name="T20" fmla="*/ 507 w 567"/>
                <a:gd name="T21" fmla="*/ 135 h 910"/>
                <a:gd name="T22" fmla="*/ 223 w 567"/>
                <a:gd name="T23" fmla="*/ 53 h 910"/>
                <a:gd name="T24" fmla="*/ 109 w 567"/>
                <a:gd name="T25" fmla="*/ 272 h 910"/>
                <a:gd name="T26" fmla="*/ 76 w 567"/>
                <a:gd name="T27" fmla="*/ 339 h 910"/>
                <a:gd name="T28" fmla="*/ 1 w 567"/>
                <a:gd name="T29" fmla="*/ 453 h 910"/>
                <a:gd name="T30" fmla="*/ 0 w 567"/>
                <a:gd name="T31" fmla="*/ 469 h 910"/>
                <a:gd name="T32" fmla="*/ 74 w 567"/>
                <a:gd name="T33" fmla="*/ 597 h 910"/>
                <a:gd name="T34" fmla="*/ 91 w 567"/>
                <a:gd name="T35" fmla="*/ 607 h 910"/>
                <a:gd name="T36" fmla="*/ 125 w 567"/>
                <a:gd name="T37" fmla="*/ 672 h 910"/>
                <a:gd name="T38" fmla="*/ 222 w 567"/>
                <a:gd name="T39" fmla="*/ 861 h 910"/>
                <a:gd name="T40" fmla="*/ 476 w 567"/>
                <a:gd name="T41" fmla="*/ 802 h 910"/>
                <a:gd name="T42" fmla="*/ 418 w 567"/>
                <a:gd name="T43" fmla="*/ 528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7" h="910">
                  <a:moveTo>
                    <a:pt x="418" y="528"/>
                  </a:moveTo>
                  <a:cubicBezTo>
                    <a:pt x="348" y="485"/>
                    <a:pt x="262" y="492"/>
                    <a:pt x="201" y="538"/>
                  </a:cubicBezTo>
                  <a:cubicBezTo>
                    <a:pt x="179" y="554"/>
                    <a:pt x="150" y="555"/>
                    <a:pt x="127" y="542"/>
                  </a:cubicBezTo>
                  <a:cubicBezTo>
                    <a:pt x="113" y="534"/>
                    <a:pt x="113" y="534"/>
                    <a:pt x="113" y="534"/>
                  </a:cubicBezTo>
                  <a:cubicBezTo>
                    <a:pt x="89" y="520"/>
                    <a:pt x="74" y="495"/>
                    <a:pt x="74" y="467"/>
                  </a:cubicBezTo>
                  <a:cubicBezTo>
                    <a:pt x="74" y="464"/>
                    <a:pt x="75" y="462"/>
                    <a:pt x="75" y="459"/>
                  </a:cubicBezTo>
                  <a:cubicBezTo>
                    <a:pt x="78" y="436"/>
                    <a:pt x="91" y="417"/>
                    <a:pt x="111" y="405"/>
                  </a:cubicBezTo>
                  <a:cubicBezTo>
                    <a:pt x="112" y="405"/>
                    <a:pt x="112" y="405"/>
                    <a:pt x="112" y="405"/>
                  </a:cubicBezTo>
                  <a:cubicBezTo>
                    <a:pt x="136" y="391"/>
                    <a:pt x="166" y="393"/>
                    <a:pt x="188" y="410"/>
                  </a:cubicBezTo>
                  <a:cubicBezTo>
                    <a:pt x="254" y="463"/>
                    <a:pt x="348" y="474"/>
                    <a:pt x="427" y="429"/>
                  </a:cubicBezTo>
                  <a:cubicBezTo>
                    <a:pt x="531" y="371"/>
                    <a:pt x="567" y="238"/>
                    <a:pt x="507" y="135"/>
                  </a:cubicBezTo>
                  <a:cubicBezTo>
                    <a:pt x="449" y="37"/>
                    <a:pt x="324" y="0"/>
                    <a:pt x="223" y="53"/>
                  </a:cubicBezTo>
                  <a:cubicBezTo>
                    <a:pt x="140" y="96"/>
                    <a:pt x="98" y="185"/>
                    <a:pt x="109" y="272"/>
                  </a:cubicBezTo>
                  <a:cubicBezTo>
                    <a:pt x="113" y="299"/>
                    <a:pt x="100" y="326"/>
                    <a:pt x="76" y="339"/>
                  </a:cubicBezTo>
                  <a:cubicBezTo>
                    <a:pt x="34" y="363"/>
                    <a:pt x="6" y="406"/>
                    <a:pt x="1" y="453"/>
                  </a:cubicBezTo>
                  <a:cubicBezTo>
                    <a:pt x="0" y="458"/>
                    <a:pt x="0" y="464"/>
                    <a:pt x="0" y="469"/>
                  </a:cubicBezTo>
                  <a:cubicBezTo>
                    <a:pt x="0" y="523"/>
                    <a:pt x="28" y="570"/>
                    <a:pt x="74" y="597"/>
                  </a:cubicBezTo>
                  <a:cubicBezTo>
                    <a:pt x="91" y="607"/>
                    <a:pt x="91" y="607"/>
                    <a:pt x="91" y="607"/>
                  </a:cubicBezTo>
                  <a:cubicBezTo>
                    <a:pt x="114" y="620"/>
                    <a:pt x="127" y="646"/>
                    <a:pt x="125" y="672"/>
                  </a:cubicBezTo>
                  <a:cubicBezTo>
                    <a:pt x="117" y="746"/>
                    <a:pt x="152" y="821"/>
                    <a:pt x="222" y="861"/>
                  </a:cubicBezTo>
                  <a:cubicBezTo>
                    <a:pt x="308" y="910"/>
                    <a:pt x="420" y="884"/>
                    <a:pt x="476" y="802"/>
                  </a:cubicBezTo>
                  <a:cubicBezTo>
                    <a:pt x="538" y="710"/>
                    <a:pt x="511" y="586"/>
                    <a:pt x="418" y="528"/>
                  </a:cubicBezTo>
                  <a:close/>
                </a:path>
              </a:pathLst>
            </a:custGeom>
            <a:solidFill>
              <a:srgbClr val="DB5E7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31">
              <a:extLst>
                <a:ext uri="{FF2B5EF4-FFF2-40B4-BE49-F238E27FC236}">
                  <a16:creationId xmlns:a16="http://schemas.microsoft.com/office/drawing/2014/main" id="{9745BD7B-CF19-A0A8-18A9-47414363B56C}"/>
                </a:ext>
              </a:extLst>
            </p:cNvPr>
            <p:cNvSpPr>
              <a:spLocks/>
            </p:cNvSpPr>
            <p:nvPr/>
          </p:nvSpPr>
          <p:spPr bwMode="auto">
            <a:xfrm>
              <a:off x="4386298" y="1815365"/>
              <a:ext cx="3534206" cy="2204164"/>
            </a:xfrm>
            <a:custGeom>
              <a:avLst/>
              <a:gdLst>
                <a:gd name="T0" fmla="*/ 858 w 910"/>
                <a:gd name="T1" fmla="*/ 224 h 568"/>
                <a:gd name="T2" fmla="*/ 638 w 910"/>
                <a:gd name="T3" fmla="*/ 110 h 568"/>
                <a:gd name="T4" fmla="*/ 571 w 910"/>
                <a:gd name="T5" fmla="*/ 76 h 568"/>
                <a:gd name="T6" fmla="*/ 458 w 910"/>
                <a:gd name="T7" fmla="*/ 1 h 568"/>
                <a:gd name="T8" fmla="*/ 441 w 910"/>
                <a:gd name="T9" fmla="*/ 0 h 568"/>
                <a:gd name="T10" fmla="*/ 313 w 910"/>
                <a:gd name="T11" fmla="*/ 74 h 568"/>
                <a:gd name="T12" fmla="*/ 303 w 910"/>
                <a:gd name="T13" fmla="*/ 91 h 568"/>
                <a:gd name="T14" fmla="*/ 238 w 910"/>
                <a:gd name="T15" fmla="*/ 125 h 568"/>
                <a:gd name="T16" fmla="*/ 50 w 910"/>
                <a:gd name="T17" fmla="*/ 222 h 568"/>
                <a:gd name="T18" fmla="*/ 109 w 910"/>
                <a:gd name="T19" fmla="*/ 476 h 568"/>
                <a:gd name="T20" fmla="*/ 382 w 910"/>
                <a:gd name="T21" fmla="*/ 418 h 568"/>
                <a:gd name="T22" fmla="*/ 372 w 910"/>
                <a:gd name="T23" fmla="*/ 201 h 568"/>
                <a:gd name="T24" fmla="*/ 368 w 910"/>
                <a:gd name="T25" fmla="*/ 127 h 568"/>
                <a:gd name="T26" fmla="*/ 377 w 910"/>
                <a:gd name="T27" fmla="*/ 113 h 568"/>
                <a:gd name="T28" fmla="*/ 443 w 910"/>
                <a:gd name="T29" fmla="*/ 75 h 568"/>
                <a:gd name="T30" fmla="*/ 452 w 910"/>
                <a:gd name="T31" fmla="*/ 75 h 568"/>
                <a:gd name="T32" fmla="*/ 505 w 910"/>
                <a:gd name="T33" fmla="*/ 112 h 568"/>
                <a:gd name="T34" fmla="*/ 506 w 910"/>
                <a:gd name="T35" fmla="*/ 112 h 568"/>
                <a:gd name="T36" fmla="*/ 500 w 910"/>
                <a:gd name="T37" fmla="*/ 188 h 568"/>
                <a:gd name="T38" fmla="*/ 481 w 910"/>
                <a:gd name="T39" fmla="*/ 427 h 568"/>
                <a:gd name="T40" fmla="*/ 776 w 910"/>
                <a:gd name="T41" fmla="*/ 507 h 568"/>
                <a:gd name="T42" fmla="*/ 858 w 910"/>
                <a:gd name="T43" fmla="*/ 224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0" h="568">
                  <a:moveTo>
                    <a:pt x="858" y="224"/>
                  </a:moveTo>
                  <a:cubicBezTo>
                    <a:pt x="815" y="140"/>
                    <a:pt x="725" y="98"/>
                    <a:pt x="638" y="110"/>
                  </a:cubicBezTo>
                  <a:cubicBezTo>
                    <a:pt x="611" y="114"/>
                    <a:pt x="585" y="100"/>
                    <a:pt x="571" y="76"/>
                  </a:cubicBezTo>
                  <a:cubicBezTo>
                    <a:pt x="547" y="35"/>
                    <a:pt x="505" y="7"/>
                    <a:pt x="458" y="1"/>
                  </a:cubicBezTo>
                  <a:cubicBezTo>
                    <a:pt x="452" y="1"/>
                    <a:pt x="447" y="0"/>
                    <a:pt x="441" y="0"/>
                  </a:cubicBezTo>
                  <a:cubicBezTo>
                    <a:pt x="388" y="0"/>
                    <a:pt x="340" y="28"/>
                    <a:pt x="313" y="74"/>
                  </a:cubicBezTo>
                  <a:cubicBezTo>
                    <a:pt x="303" y="91"/>
                    <a:pt x="303" y="91"/>
                    <a:pt x="303" y="91"/>
                  </a:cubicBezTo>
                  <a:cubicBezTo>
                    <a:pt x="290" y="114"/>
                    <a:pt x="265" y="128"/>
                    <a:pt x="238" y="125"/>
                  </a:cubicBezTo>
                  <a:cubicBezTo>
                    <a:pt x="164" y="117"/>
                    <a:pt x="89" y="152"/>
                    <a:pt x="50" y="222"/>
                  </a:cubicBezTo>
                  <a:cubicBezTo>
                    <a:pt x="0" y="309"/>
                    <a:pt x="26" y="420"/>
                    <a:pt x="109" y="476"/>
                  </a:cubicBezTo>
                  <a:cubicBezTo>
                    <a:pt x="200" y="539"/>
                    <a:pt x="324" y="512"/>
                    <a:pt x="382" y="418"/>
                  </a:cubicBezTo>
                  <a:cubicBezTo>
                    <a:pt x="425" y="349"/>
                    <a:pt x="418" y="263"/>
                    <a:pt x="372" y="201"/>
                  </a:cubicBezTo>
                  <a:cubicBezTo>
                    <a:pt x="356" y="180"/>
                    <a:pt x="355" y="151"/>
                    <a:pt x="368" y="127"/>
                  </a:cubicBezTo>
                  <a:cubicBezTo>
                    <a:pt x="377" y="113"/>
                    <a:pt x="377" y="113"/>
                    <a:pt x="377" y="113"/>
                  </a:cubicBezTo>
                  <a:cubicBezTo>
                    <a:pt x="390" y="89"/>
                    <a:pt x="415" y="74"/>
                    <a:pt x="443" y="75"/>
                  </a:cubicBezTo>
                  <a:cubicBezTo>
                    <a:pt x="446" y="75"/>
                    <a:pt x="449" y="75"/>
                    <a:pt x="452" y="75"/>
                  </a:cubicBezTo>
                  <a:cubicBezTo>
                    <a:pt x="474" y="78"/>
                    <a:pt x="494" y="91"/>
                    <a:pt x="505" y="112"/>
                  </a:cubicBezTo>
                  <a:cubicBezTo>
                    <a:pt x="506" y="112"/>
                    <a:pt x="506" y="112"/>
                    <a:pt x="506" y="112"/>
                  </a:cubicBezTo>
                  <a:cubicBezTo>
                    <a:pt x="519" y="136"/>
                    <a:pt x="518" y="166"/>
                    <a:pt x="500" y="188"/>
                  </a:cubicBezTo>
                  <a:cubicBezTo>
                    <a:pt x="447" y="254"/>
                    <a:pt x="436" y="349"/>
                    <a:pt x="481" y="427"/>
                  </a:cubicBezTo>
                  <a:cubicBezTo>
                    <a:pt x="539" y="532"/>
                    <a:pt x="672" y="568"/>
                    <a:pt x="776" y="507"/>
                  </a:cubicBezTo>
                  <a:cubicBezTo>
                    <a:pt x="874" y="450"/>
                    <a:pt x="910" y="324"/>
                    <a:pt x="858" y="224"/>
                  </a:cubicBezTo>
                  <a:close/>
                </a:path>
              </a:pathLst>
            </a:custGeom>
            <a:solidFill>
              <a:srgbClr val="BF5363"/>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32">
              <a:extLst>
                <a:ext uri="{FF2B5EF4-FFF2-40B4-BE49-F238E27FC236}">
                  <a16:creationId xmlns:a16="http://schemas.microsoft.com/office/drawing/2014/main" id="{930C6E67-6ADA-A390-0773-197ED889C39F}"/>
                </a:ext>
              </a:extLst>
            </p:cNvPr>
            <p:cNvSpPr>
              <a:spLocks/>
            </p:cNvSpPr>
            <p:nvPr/>
          </p:nvSpPr>
          <p:spPr bwMode="auto">
            <a:xfrm>
              <a:off x="6004979" y="2218805"/>
              <a:ext cx="2205804" cy="3529286"/>
            </a:xfrm>
            <a:custGeom>
              <a:avLst/>
              <a:gdLst>
                <a:gd name="T0" fmla="*/ 494 w 568"/>
                <a:gd name="T1" fmla="*/ 312 h 909"/>
                <a:gd name="T2" fmla="*/ 477 w 568"/>
                <a:gd name="T3" fmla="*/ 303 h 909"/>
                <a:gd name="T4" fmla="*/ 443 w 568"/>
                <a:gd name="T5" fmla="*/ 238 h 909"/>
                <a:gd name="T6" fmla="*/ 346 w 568"/>
                <a:gd name="T7" fmla="*/ 49 h 909"/>
                <a:gd name="T8" fmla="*/ 92 w 568"/>
                <a:gd name="T9" fmla="*/ 108 h 909"/>
                <a:gd name="T10" fmla="*/ 150 w 568"/>
                <a:gd name="T11" fmla="*/ 381 h 909"/>
                <a:gd name="T12" fmla="*/ 367 w 568"/>
                <a:gd name="T13" fmla="*/ 372 h 909"/>
                <a:gd name="T14" fmla="*/ 441 w 568"/>
                <a:gd name="T15" fmla="*/ 368 h 909"/>
                <a:gd name="T16" fmla="*/ 455 w 568"/>
                <a:gd name="T17" fmla="*/ 376 h 909"/>
                <a:gd name="T18" fmla="*/ 493 w 568"/>
                <a:gd name="T19" fmla="*/ 442 h 909"/>
                <a:gd name="T20" fmla="*/ 493 w 568"/>
                <a:gd name="T21" fmla="*/ 451 h 909"/>
                <a:gd name="T22" fmla="*/ 456 w 568"/>
                <a:gd name="T23" fmla="*/ 505 h 909"/>
                <a:gd name="T24" fmla="*/ 456 w 568"/>
                <a:gd name="T25" fmla="*/ 505 h 909"/>
                <a:gd name="T26" fmla="*/ 380 w 568"/>
                <a:gd name="T27" fmla="*/ 500 h 909"/>
                <a:gd name="T28" fmla="*/ 141 w 568"/>
                <a:gd name="T29" fmla="*/ 480 h 909"/>
                <a:gd name="T30" fmla="*/ 61 w 568"/>
                <a:gd name="T31" fmla="*/ 775 h 909"/>
                <a:gd name="T32" fmla="*/ 344 w 568"/>
                <a:gd name="T33" fmla="*/ 857 h 909"/>
                <a:gd name="T34" fmla="*/ 458 w 568"/>
                <a:gd name="T35" fmla="*/ 638 h 909"/>
                <a:gd name="T36" fmla="*/ 492 w 568"/>
                <a:gd name="T37" fmla="*/ 570 h 909"/>
                <a:gd name="T38" fmla="*/ 567 w 568"/>
                <a:gd name="T39" fmla="*/ 457 h 909"/>
                <a:gd name="T40" fmla="*/ 568 w 568"/>
                <a:gd name="T41" fmla="*/ 441 h 909"/>
                <a:gd name="T42" fmla="*/ 494 w 568"/>
                <a:gd name="T43" fmla="*/ 312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8" h="909">
                  <a:moveTo>
                    <a:pt x="494" y="312"/>
                  </a:moveTo>
                  <a:cubicBezTo>
                    <a:pt x="477" y="303"/>
                    <a:pt x="477" y="303"/>
                    <a:pt x="477" y="303"/>
                  </a:cubicBezTo>
                  <a:cubicBezTo>
                    <a:pt x="454" y="290"/>
                    <a:pt x="440" y="264"/>
                    <a:pt x="443" y="238"/>
                  </a:cubicBezTo>
                  <a:cubicBezTo>
                    <a:pt x="451" y="164"/>
                    <a:pt x="416" y="88"/>
                    <a:pt x="346" y="49"/>
                  </a:cubicBezTo>
                  <a:cubicBezTo>
                    <a:pt x="259" y="0"/>
                    <a:pt x="148" y="26"/>
                    <a:pt x="92" y="108"/>
                  </a:cubicBezTo>
                  <a:cubicBezTo>
                    <a:pt x="29" y="200"/>
                    <a:pt x="56" y="324"/>
                    <a:pt x="150" y="381"/>
                  </a:cubicBezTo>
                  <a:cubicBezTo>
                    <a:pt x="219" y="424"/>
                    <a:pt x="305" y="418"/>
                    <a:pt x="367" y="372"/>
                  </a:cubicBezTo>
                  <a:cubicBezTo>
                    <a:pt x="388" y="356"/>
                    <a:pt x="417" y="354"/>
                    <a:pt x="441" y="368"/>
                  </a:cubicBezTo>
                  <a:cubicBezTo>
                    <a:pt x="455" y="376"/>
                    <a:pt x="455" y="376"/>
                    <a:pt x="455" y="376"/>
                  </a:cubicBezTo>
                  <a:cubicBezTo>
                    <a:pt x="478" y="390"/>
                    <a:pt x="494" y="415"/>
                    <a:pt x="493" y="442"/>
                  </a:cubicBezTo>
                  <a:cubicBezTo>
                    <a:pt x="493" y="445"/>
                    <a:pt x="493" y="448"/>
                    <a:pt x="493" y="451"/>
                  </a:cubicBezTo>
                  <a:cubicBezTo>
                    <a:pt x="490" y="473"/>
                    <a:pt x="477" y="493"/>
                    <a:pt x="456" y="505"/>
                  </a:cubicBezTo>
                  <a:cubicBezTo>
                    <a:pt x="456" y="505"/>
                    <a:pt x="456" y="505"/>
                    <a:pt x="456" y="505"/>
                  </a:cubicBezTo>
                  <a:cubicBezTo>
                    <a:pt x="432" y="519"/>
                    <a:pt x="402" y="517"/>
                    <a:pt x="380" y="500"/>
                  </a:cubicBezTo>
                  <a:cubicBezTo>
                    <a:pt x="314" y="447"/>
                    <a:pt x="219" y="436"/>
                    <a:pt x="141" y="480"/>
                  </a:cubicBezTo>
                  <a:cubicBezTo>
                    <a:pt x="36" y="539"/>
                    <a:pt x="0" y="672"/>
                    <a:pt x="61" y="775"/>
                  </a:cubicBezTo>
                  <a:cubicBezTo>
                    <a:pt x="118" y="873"/>
                    <a:pt x="244" y="909"/>
                    <a:pt x="344" y="857"/>
                  </a:cubicBezTo>
                  <a:cubicBezTo>
                    <a:pt x="428" y="814"/>
                    <a:pt x="470" y="725"/>
                    <a:pt x="458" y="638"/>
                  </a:cubicBezTo>
                  <a:cubicBezTo>
                    <a:pt x="454" y="611"/>
                    <a:pt x="468" y="584"/>
                    <a:pt x="492" y="570"/>
                  </a:cubicBezTo>
                  <a:cubicBezTo>
                    <a:pt x="533" y="546"/>
                    <a:pt x="561" y="504"/>
                    <a:pt x="567" y="457"/>
                  </a:cubicBezTo>
                  <a:cubicBezTo>
                    <a:pt x="567" y="452"/>
                    <a:pt x="568" y="446"/>
                    <a:pt x="568" y="441"/>
                  </a:cubicBezTo>
                  <a:cubicBezTo>
                    <a:pt x="568" y="387"/>
                    <a:pt x="540" y="339"/>
                    <a:pt x="494" y="312"/>
                  </a:cubicBezTo>
                  <a:close/>
                </a:path>
              </a:pathLst>
            </a:custGeom>
            <a:solidFill>
              <a:srgbClr val="DB5E7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33">
              <a:extLst>
                <a:ext uri="{FF2B5EF4-FFF2-40B4-BE49-F238E27FC236}">
                  <a16:creationId xmlns:a16="http://schemas.microsoft.com/office/drawing/2014/main" id="{40D47FC5-DFFE-C8A1-90B6-B19F5D055F5E}"/>
                </a:ext>
              </a:extLst>
            </p:cNvPr>
            <p:cNvSpPr>
              <a:spLocks/>
            </p:cNvSpPr>
            <p:nvPr/>
          </p:nvSpPr>
          <p:spPr bwMode="auto">
            <a:xfrm>
              <a:off x="6027940" y="3945728"/>
              <a:ext cx="1776123" cy="2089364"/>
            </a:xfrm>
            <a:custGeom>
              <a:avLst/>
              <a:gdLst>
                <a:gd name="T0" fmla="*/ 76 w 457"/>
                <a:gd name="T1" fmla="*/ 120 h 538"/>
                <a:gd name="T2" fmla="*/ 85 w 457"/>
                <a:gd name="T3" fmla="*/ 337 h 538"/>
                <a:gd name="T4" fmla="*/ 89 w 457"/>
                <a:gd name="T5" fmla="*/ 411 h 538"/>
                <a:gd name="T6" fmla="*/ 81 w 457"/>
                <a:gd name="T7" fmla="*/ 425 h 538"/>
                <a:gd name="T8" fmla="*/ 15 w 457"/>
                <a:gd name="T9" fmla="*/ 464 h 538"/>
                <a:gd name="T10" fmla="*/ 6 w 457"/>
                <a:gd name="T11" fmla="*/ 463 h 538"/>
                <a:gd name="T12" fmla="*/ 0 w 457"/>
                <a:gd name="T13" fmla="*/ 537 h 538"/>
                <a:gd name="T14" fmla="*/ 16 w 457"/>
                <a:gd name="T15" fmla="*/ 538 h 538"/>
                <a:gd name="T16" fmla="*/ 145 w 457"/>
                <a:gd name="T17" fmla="*/ 464 h 538"/>
                <a:gd name="T18" fmla="*/ 154 w 457"/>
                <a:gd name="T19" fmla="*/ 448 h 538"/>
                <a:gd name="T20" fmla="*/ 219 w 457"/>
                <a:gd name="T21" fmla="*/ 414 h 538"/>
                <a:gd name="T22" fmla="*/ 408 w 457"/>
                <a:gd name="T23" fmla="*/ 317 h 538"/>
                <a:gd name="T24" fmla="*/ 349 w 457"/>
                <a:gd name="T25" fmla="*/ 63 h 538"/>
                <a:gd name="T26" fmla="*/ 76 w 457"/>
                <a:gd name="T27" fmla="*/ 12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7" h="538">
                  <a:moveTo>
                    <a:pt x="76" y="120"/>
                  </a:moveTo>
                  <a:cubicBezTo>
                    <a:pt x="33" y="190"/>
                    <a:pt x="39" y="276"/>
                    <a:pt x="85" y="337"/>
                  </a:cubicBezTo>
                  <a:cubicBezTo>
                    <a:pt x="101" y="359"/>
                    <a:pt x="103" y="388"/>
                    <a:pt x="89" y="411"/>
                  </a:cubicBezTo>
                  <a:cubicBezTo>
                    <a:pt x="81" y="425"/>
                    <a:pt x="81" y="425"/>
                    <a:pt x="81" y="425"/>
                  </a:cubicBezTo>
                  <a:cubicBezTo>
                    <a:pt x="67" y="449"/>
                    <a:pt x="42" y="465"/>
                    <a:pt x="15" y="464"/>
                  </a:cubicBezTo>
                  <a:cubicBezTo>
                    <a:pt x="12" y="464"/>
                    <a:pt x="9" y="464"/>
                    <a:pt x="6" y="463"/>
                  </a:cubicBezTo>
                  <a:cubicBezTo>
                    <a:pt x="0" y="537"/>
                    <a:pt x="0" y="537"/>
                    <a:pt x="0" y="537"/>
                  </a:cubicBezTo>
                  <a:cubicBezTo>
                    <a:pt x="5" y="538"/>
                    <a:pt x="11" y="538"/>
                    <a:pt x="16" y="538"/>
                  </a:cubicBezTo>
                  <a:cubicBezTo>
                    <a:pt x="70" y="538"/>
                    <a:pt x="118" y="511"/>
                    <a:pt x="145" y="464"/>
                  </a:cubicBezTo>
                  <a:cubicBezTo>
                    <a:pt x="154" y="448"/>
                    <a:pt x="154" y="448"/>
                    <a:pt x="154" y="448"/>
                  </a:cubicBezTo>
                  <a:cubicBezTo>
                    <a:pt x="168" y="425"/>
                    <a:pt x="193" y="411"/>
                    <a:pt x="219" y="414"/>
                  </a:cubicBezTo>
                  <a:cubicBezTo>
                    <a:pt x="293" y="422"/>
                    <a:pt x="369" y="386"/>
                    <a:pt x="408" y="317"/>
                  </a:cubicBezTo>
                  <a:cubicBezTo>
                    <a:pt x="457" y="230"/>
                    <a:pt x="431" y="119"/>
                    <a:pt x="349" y="63"/>
                  </a:cubicBezTo>
                  <a:cubicBezTo>
                    <a:pt x="258" y="0"/>
                    <a:pt x="133" y="27"/>
                    <a:pt x="76" y="120"/>
                  </a:cubicBezTo>
                  <a:close/>
                </a:path>
              </a:pathLst>
            </a:custGeom>
            <a:solidFill>
              <a:srgbClr val="E6838E"/>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0" name="Freeform 10">
            <a:extLst>
              <a:ext uri="{FF2B5EF4-FFF2-40B4-BE49-F238E27FC236}">
                <a16:creationId xmlns:a16="http://schemas.microsoft.com/office/drawing/2014/main" id="{5C29A2D6-9207-1564-3C10-408DCBAB3234}"/>
              </a:ext>
            </a:extLst>
          </p:cNvPr>
          <p:cNvSpPr/>
          <p:nvPr/>
        </p:nvSpPr>
        <p:spPr>
          <a:xfrm rot="7839021">
            <a:off x="7969059" y="2787968"/>
            <a:ext cx="369692" cy="370162"/>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Freeform 10">
            <a:extLst>
              <a:ext uri="{FF2B5EF4-FFF2-40B4-BE49-F238E27FC236}">
                <a16:creationId xmlns:a16="http://schemas.microsoft.com/office/drawing/2014/main" id="{B2F73EB1-7515-97E8-618E-20872CDC4114}"/>
              </a:ext>
            </a:extLst>
          </p:cNvPr>
          <p:cNvSpPr/>
          <p:nvPr/>
        </p:nvSpPr>
        <p:spPr>
          <a:xfrm rot="6675953">
            <a:off x="8075894" y="4979925"/>
            <a:ext cx="464542" cy="519941"/>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8" name="Group 37">
            <a:extLst>
              <a:ext uri="{FF2B5EF4-FFF2-40B4-BE49-F238E27FC236}">
                <a16:creationId xmlns:a16="http://schemas.microsoft.com/office/drawing/2014/main" id="{A66824C4-A4C9-6983-3053-DD9C993B4A02}"/>
              </a:ext>
            </a:extLst>
          </p:cNvPr>
          <p:cNvGrpSpPr/>
          <p:nvPr/>
        </p:nvGrpSpPr>
        <p:grpSpPr>
          <a:xfrm flipH="1">
            <a:off x="3833773" y="2797564"/>
            <a:ext cx="599311" cy="2683964"/>
            <a:chOff x="8009925" y="2393768"/>
            <a:chExt cx="599311" cy="2683964"/>
          </a:xfrm>
        </p:grpSpPr>
        <p:sp>
          <p:nvSpPr>
            <p:cNvPr id="39" name="Freeform 10">
              <a:extLst>
                <a:ext uri="{FF2B5EF4-FFF2-40B4-BE49-F238E27FC236}">
                  <a16:creationId xmlns:a16="http://schemas.microsoft.com/office/drawing/2014/main" id="{3CCA3218-EEBB-FDF7-656B-F6334E9E1564}"/>
                </a:ext>
              </a:extLst>
            </p:cNvPr>
            <p:cNvSpPr/>
            <p:nvPr/>
          </p:nvSpPr>
          <p:spPr>
            <a:xfrm rot="7839021">
              <a:off x="8010160" y="2393533"/>
              <a:ext cx="369692" cy="370162"/>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Freeform 10">
              <a:extLst>
                <a:ext uri="{FF2B5EF4-FFF2-40B4-BE49-F238E27FC236}">
                  <a16:creationId xmlns:a16="http://schemas.microsoft.com/office/drawing/2014/main" id="{080C6938-0233-8181-E54A-666FBC789F29}"/>
                </a:ext>
              </a:extLst>
            </p:cNvPr>
            <p:cNvSpPr/>
            <p:nvPr/>
          </p:nvSpPr>
          <p:spPr>
            <a:xfrm rot="6675953">
              <a:off x="8116995" y="4585490"/>
              <a:ext cx="464542" cy="519941"/>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object 4">
            <a:extLst>
              <a:ext uri="{FF2B5EF4-FFF2-40B4-BE49-F238E27FC236}">
                <a16:creationId xmlns:a16="http://schemas.microsoft.com/office/drawing/2014/main" id="{F9B705F6-D5D3-D0BA-9A2F-4C4DD5B20B97}"/>
              </a:ext>
            </a:extLst>
          </p:cNvPr>
          <p:cNvSpPr txBox="1">
            <a:spLocks/>
          </p:cNvSpPr>
          <p:nvPr/>
        </p:nvSpPr>
        <p:spPr>
          <a:xfrm>
            <a:off x="1544681" y="1321931"/>
            <a:ext cx="3199129" cy="1015663"/>
          </a:xfrm>
          <a:prstGeom prst="rect">
            <a:avLst/>
          </a:prstGeom>
        </p:spPr>
        <p:txBody>
          <a:bodyPr vert="horz" wrap="square" lIns="0" tIns="91440" rIns="0" bIns="0" rtlCol="0">
            <a:spAutoFit/>
          </a:bodyPr>
          <a:lstStyle>
            <a:lvl1pPr>
              <a:defRPr>
                <a:latin typeface="+mj-lt"/>
                <a:ea typeface="+mj-ea"/>
                <a:cs typeface="+mj-cs"/>
              </a:defRPr>
            </a:lvl1pPr>
          </a:lstStyle>
          <a:p>
            <a:pPr algn="l">
              <a:lnSpc>
                <a:spcPts val="3600"/>
              </a:lnSpc>
              <a:defRPr sz="3500" b="1">
                <a:solidFill>
                  <a:srgbClr val="404040"/>
                </a:solidFill>
                <a:latin typeface="Graphik Bold"/>
                <a:ea typeface="Graphik Bold"/>
                <a:cs typeface="Graphik Bold"/>
                <a:sym typeface="Graphik"/>
              </a:defRPr>
            </a:pPr>
            <a:r>
              <a:rPr lang="en-US" sz="3500" b="1" dirty="0">
                <a:solidFill>
                  <a:srgbClr val="404040"/>
                </a:solidFill>
                <a:latin typeface="Graphik Bold"/>
                <a:ea typeface="Graphik Bold"/>
                <a:cs typeface="Graphik Bold"/>
                <a:sym typeface="Graphik"/>
              </a:rPr>
              <a:t>go-to-market</a:t>
            </a:r>
            <a:br>
              <a:rPr lang="en-US" sz="3500" b="1" dirty="0">
                <a:solidFill>
                  <a:srgbClr val="404040"/>
                </a:solidFill>
                <a:latin typeface="Graphik Bold"/>
                <a:ea typeface="Graphik Bold"/>
                <a:cs typeface="Graphik Bold"/>
                <a:sym typeface="Graphik"/>
              </a:rPr>
            </a:br>
            <a:r>
              <a:rPr lang="en-US" sz="3500" b="1" dirty="0">
                <a:solidFill>
                  <a:srgbClr val="404040"/>
                </a:solidFill>
                <a:latin typeface="Graphik Bold"/>
                <a:ea typeface="Graphik Bold"/>
                <a:cs typeface="Graphik Bold"/>
                <a:sym typeface="Graphik"/>
              </a:rPr>
              <a:t>strategy</a:t>
            </a:r>
          </a:p>
        </p:txBody>
      </p:sp>
      <p:pic>
        <p:nvPicPr>
          <p:cNvPr id="9" name="Picture 8" descr="A white symbol with three layers&#10;&#10;Description automatically generated with medium confidence">
            <a:extLst>
              <a:ext uri="{FF2B5EF4-FFF2-40B4-BE49-F238E27FC236}">
                <a16:creationId xmlns:a16="http://schemas.microsoft.com/office/drawing/2014/main" id="{59369181-C8E2-6160-9309-093BEE6DD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7039" y="3327864"/>
            <a:ext cx="653026" cy="580468"/>
          </a:xfrm>
          <a:prstGeom prst="rect">
            <a:avLst/>
          </a:prstGeom>
        </p:spPr>
      </p:pic>
      <p:pic>
        <p:nvPicPr>
          <p:cNvPr id="11" name="Picture 10" descr="A black and white sign with a letter&#10;&#10;Description automatically generated">
            <a:extLst>
              <a:ext uri="{FF2B5EF4-FFF2-40B4-BE49-F238E27FC236}">
                <a16:creationId xmlns:a16="http://schemas.microsoft.com/office/drawing/2014/main" id="{B564E577-3B1E-5435-D097-29A7BCBE97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8769" y="3284972"/>
            <a:ext cx="774291" cy="688259"/>
          </a:xfrm>
          <a:prstGeom prst="rect">
            <a:avLst/>
          </a:prstGeom>
        </p:spPr>
      </p:pic>
      <p:pic>
        <p:nvPicPr>
          <p:cNvPr id="41" name="Picture 40" descr="A white handshake with a black background&#10;&#10;Description automatically generated">
            <a:extLst>
              <a:ext uri="{FF2B5EF4-FFF2-40B4-BE49-F238E27FC236}">
                <a16:creationId xmlns:a16="http://schemas.microsoft.com/office/drawing/2014/main" id="{97FB43DE-797E-2597-E958-6F5A45A72E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2826" y="5013257"/>
            <a:ext cx="796732" cy="637385"/>
          </a:xfrm>
          <a:prstGeom prst="rect">
            <a:avLst/>
          </a:prstGeom>
        </p:spPr>
      </p:pic>
      <p:pic>
        <p:nvPicPr>
          <p:cNvPr id="43" name="Picture 42" descr="A black and white circle with a person in it&#10;&#10;Description automatically generated">
            <a:extLst>
              <a:ext uri="{FF2B5EF4-FFF2-40B4-BE49-F238E27FC236}">
                <a16:creationId xmlns:a16="http://schemas.microsoft.com/office/drawing/2014/main" id="{74E345C6-B6E1-54BF-813A-9C9690C6B8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28769" y="4961576"/>
            <a:ext cx="735311" cy="735311"/>
          </a:xfrm>
          <a:prstGeom prst="rect">
            <a:avLst/>
          </a:prstGeom>
        </p:spPr>
      </p:pic>
    </p:spTree>
    <p:extLst>
      <p:ext uri="{BB962C8B-B14F-4D97-AF65-F5344CB8AC3E}">
        <p14:creationId xmlns:p14="http://schemas.microsoft.com/office/powerpoint/2010/main" val="32694104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500"/>
                                  </p:stCondLst>
                                  <p:childTnLst>
                                    <p:set>
                                      <p:cBhvr>
                                        <p:cTn id="11" dur="1" fill="hold">
                                          <p:stCondLst>
                                            <p:cond delay="0"/>
                                          </p:stCondLst>
                                        </p:cTn>
                                        <p:tgtEl>
                                          <p:spTgt spid="20"/>
                                        </p:tgtEl>
                                        <p:attrNameLst>
                                          <p:attrName>style.visibility</p:attrName>
                                        </p:attrNameLst>
                                      </p:cBhvr>
                                      <p:to>
                                        <p:strVal val="visible"/>
                                      </p:to>
                                    </p:se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42"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anim calcmode="lin" valueType="num">
                                      <p:cBhvr>
                                        <p:cTn id="21" dur="500" fill="hold"/>
                                        <p:tgtEl>
                                          <p:spTgt spid="13"/>
                                        </p:tgtEl>
                                        <p:attrNameLst>
                                          <p:attrName>ppt_x</p:attrName>
                                        </p:attrNameLst>
                                      </p:cBhvr>
                                      <p:tavLst>
                                        <p:tav tm="0">
                                          <p:val>
                                            <p:strVal val="#ppt_x"/>
                                          </p:val>
                                        </p:tav>
                                        <p:tav tm="100000">
                                          <p:val>
                                            <p:strVal val="#ppt_x"/>
                                          </p:val>
                                        </p:tav>
                                      </p:tavLst>
                                    </p:anim>
                                    <p:anim calcmode="lin" valueType="num">
                                      <p:cBhvr>
                                        <p:cTn id="22" dur="500" fill="hold"/>
                                        <p:tgtEl>
                                          <p:spTgt spid="13"/>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42"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anim calcmode="lin" valueType="num">
                                      <p:cBhvr>
                                        <p:cTn id="32" dur="500" fill="hold"/>
                                        <p:tgtEl>
                                          <p:spTgt spid="15"/>
                                        </p:tgtEl>
                                        <p:attrNameLst>
                                          <p:attrName>ppt_x</p:attrName>
                                        </p:attrNameLst>
                                      </p:cBhvr>
                                      <p:tavLst>
                                        <p:tav tm="0">
                                          <p:val>
                                            <p:strVal val="#ppt_x"/>
                                          </p:val>
                                        </p:tav>
                                        <p:tav tm="100000">
                                          <p:val>
                                            <p:strVal val="#ppt_x"/>
                                          </p:val>
                                        </p:tav>
                                      </p:tavLst>
                                    </p:anim>
                                    <p:anim calcmode="lin" valueType="num">
                                      <p:cBhvr>
                                        <p:cTn id="33" dur="500" fill="hold"/>
                                        <p:tgtEl>
                                          <p:spTgt spid="15"/>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42"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anim calcmode="lin" valueType="num">
                                      <p:cBhvr>
                                        <p:cTn id="43" dur="500" fill="hold"/>
                                        <p:tgtEl>
                                          <p:spTgt spid="17"/>
                                        </p:tgtEl>
                                        <p:attrNameLst>
                                          <p:attrName>ppt_x</p:attrName>
                                        </p:attrNameLst>
                                      </p:cBhvr>
                                      <p:tavLst>
                                        <p:tav tm="0">
                                          <p:val>
                                            <p:strVal val="#ppt_x"/>
                                          </p:val>
                                        </p:tav>
                                        <p:tav tm="100000">
                                          <p:val>
                                            <p:strVal val="#ppt_x"/>
                                          </p:val>
                                        </p:tav>
                                      </p:tavLst>
                                    </p:anim>
                                    <p:anim calcmode="lin" valueType="num">
                                      <p:cBhvr>
                                        <p:cTn id="44" dur="500" fill="hold"/>
                                        <p:tgtEl>
                                          <p:spTgt spid="17"/>
                                        </p:tgtEl>
                                        <p:attrNameLst>
                                          <p:attrName>ppt_y</p:attrName>
                                        </p:attrNameLst>
                                      </p:cBhvr>
                                      <p:tavLst>
                                        <p:tav tm="0">
                                          <p:val>
                                            <p:strVal val="#ppt_y+.1"/>
                                          </p:val>
                                        </p:tav>
                                        <p:tav tm="100000">
                                          <p:val>
                                            <p:strVal val="#ppt_y"/>
                                          </p:val>
                                        </p:tav>
                                      </p:tavLst>
                                    </p:anim>
                                  </p:childTnLst>
                                </p:cTn>
                              </p:par>
                            </p:childTnLst>
                          </p:cTn>
                        </p:par>
                        <p:par>
                          <p:cTn id="45" fill="hold">
                            <p:stCondLst>
                              <p:cond delay="4000"/>
                            </p:stCondLst>
                            <p:childTnLst>
                              <p:par>
                                <p:cTn id="46" presetID="2" presetClass="entr" presetSubtype="4"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1+#ppt_h/2"/>
                                          </p:val>
                                        </p:tav>
                                        <p:tav tm="100000">
                                          <p:val>
                                            <p:strVal val="#ppt_y"/>
                                          </p:val>
                                        </p:tav>
                                      </p:tavLst>
                                    </p:anim>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anim calcmode="lin" valueType="num">
                                      <p:cBhvr>
                                        <p:cTn id="54" dur="500" fill="hold"/>
                                        <p:tgtEl>
                                          <p:spTgt spid="21"/>
                                        </p:tgtEl>
                                        <p:attrNameLst>
                                          <p:attrName>ppt_x</p:attrName>
                                        </p:attrNameLst>
                                      </p:cBhvr>
                                      <p:tavLst>
                                        <p:tav tm="0">
                                          <p:val>
                                            <p:strVal val="#ppt_x"/>
                                          </p:val>
                                        </p:tav>
                                        <p:tav tm="100000">
                                          <p:val>
                                            <p:strVal val="#ppt_x"/>
                                          </p:val>
                                        </p:tav>
                                      </p:tavLst>
                                    </p:anim>
                                    <p:anim calcmode="lin" valueType="num">
                                      <p:cBhvr>
                                        <p:cTn id="55"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21" grpId="0"/>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607549"/>
            <a:ext cx="951865" cy="0"/>
          </a:xfrm>
          <a:custGeom>
            <a:avLst/>
            <a:gdLst/>
            <a:ahLst/>
            <a:cxnLst/>
            <a:rect l="l" t="t" r="r" b="b"/>
            <a:pathLst>
              <a:path w="951865">
                <a:moveTo>
                  <a:pt x="0" y="0"/>
                </a:moveTo>
                <a:lnTo>
                  <a:pt x="951592" y="0"/>
                </a:lnTo>
              </a:path>
            </a:pathLst>
          </a:custGeom>
          <a:ln w="31750">
            <a:solidFill>
              <a:srgbClr val="462427"/>
            </a:solidFill>
          </a:ln>
        </p:spPr>
        <p:txBody>
          <a:bodyPr wrap="square" lIns="0" tIns="0" rIns="0" bIns="0" rtlCol="0"/>
          <a:lstStyle/>
          <a:p>
            <a:endParaRPr/>
          </a:p>
        </p:txBody>
      </p:sp>
      <p:sp>
        <p:nvSpPr>
          <p:cNvPr id="4" name="object 4"/>
          <p:cNvSpPr txBox="1">
            <a:spLocks noGrp="1"/>
          </p:cNvSpPr>
          <p:nvPr>
            <p:ph type="title"/>
          </p:nvPr>
        </p:nvSpPr>
        <p:spPr>
          <a:xfrm>
            <a:off x="1544681" y="1321931"/>
            <a:ext cx="3199129" cy="1015663"/>
          </a:xfrm>
          <a:prstGeom prst="rect">
            <a:avLst/>
          </a:prstGeom>
        </p:spPr>
        <p:txBody>
          <a:bodyPr vert="horz" wrap="square" lIns="0" tIns="91440" rIns="0" bIns="0" rtlCol="0">
            <a:spAutoFit/>
          </a:bodyPr>
          <a:lstStyle/>
          <a:p>
            <a:pPr algn="l" defTabSz="914400">
              <a:lnSpc>
                <a:spcPts val="3600"/>
              </a:lnSpc>
              <a:defRPr sz="3500" b="1">
                <a:solidFill>
                  <a:srgbClr val="404040"/>
                </a:solidFill>
                <a:latin typeface="Graphik Bold"/>
                <a:ea typeface="Graphik Bold"/>
                <a:cs typeface="Graphik Bold"/>
                <a:sym typeface="Graphik"/>
              </a:defRPr>
            </a:pPr>
            <a:r>
              <a:rPr lang="en-US" dirty="0"/>
              <a:t>the</a:t>
            </a:r>
            <a:br>
              <a:rPr lang="en-US" dirty="0"/>
            </a:br>
            <a:r>
              <a:rPr lang="en-US" dirty="0"/>
              <a:t>competition</a:t>
            </a:r>
          </a:p>
        </p:txBody>
      </p:sp>
      <p:pic>
        <p:nvPicPr>
          <p:cNvPr id="18" name="object 18"/>
          <p:cNvPicPr/>
          <p:nvPr/>
        </p:nvPicPr>
        <p:blipFill>
          <a:blip r:embed="rId2" cstate="print"/>
          <a:stretch>
            <a:fillRect/>
          </a:stretch>
        </p:blipFill>
        <p:spPr>
          <a:xfrm>
            <a:off x="1311564" y="264827"/>
            <a:ext cx="992187" cy="992187"/>
          </a:xfrm>
          <a:prstGeom prst="rect">
            <a:avLst/>
          </a:prstGeom>
        </p:spPr>
      </p:pic>
      <p:grpSp>
        <p:nvGrpSpPr>
          <p:cNvPr id="184" name="Group">
            <a:extLst>
              <a:ext uri="{FF2B5EF4-FFF2-40B4-BE49-F238E27FC236}">
                <a16:creationId xmlns:a16="http://schemas.microsoft.com/office/drawing/2014/main" id="{50858849-22DC-92B6-644B-0D97A411D273}"/>
              </a:ext>
            </a:extLst>
          </p:cNvPr>
          <p:cNvGrpSpPr/>
          <p:nvPr/>
        </p:nvGrpSpPr>
        <p:grpSpPr>
          <a:xfrm>
            <a:off x="4475937" y="5165367"/>
            <a:ext cx="3243171" cy="833337"/>
            <a:chOff x="0" y="0"/>
            <a:chExt cx="6486340" cy="1666672"/>
          </a:xfrm>
        </p:grpSpPr>
        <p:sp>
          <p:nvSpPr>
            <p:cNvPr id="185" name="Oval">
              <a:extLst>
                <a:ext uri="{FF2B5EF4-FFF2-40B4-BE49-F238E27FC236}">
                  <a16:creationId xmlns:a16="http://schemas.microsoft.com/office/drawing/2014/main" id="{84C59D84-9079-1264-8841-6CCCD933D68F}"/>
                </a:ext>
              </a:extLst>
            </p:cNvPr>
            <p:cNvSpPr/>
            <p:nvPr/>
          </p:nvSpPr>
          <p:spPr>
            <a:xfrm>
              <a:off x="-1" y="-1"/>
              <a:ext cx="6486342" cy="1666674"/>
            </a:xfrm>
            <a:prstGeom prst="ellipse">
              <a:avLst/>
            </a:prstGeom>
            <a:solidFill>
              <a:srgbClr val="E6838E">
                <a:alpha val="90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dirty="0"/>
            </a:p>
          </p:txBody>
        </p:sp>
        <p:sp>
          <p:nvSpPr>
            <p:cNvPr id="186" name="Shape">
              <a:extLst>
                <a:ext uri="{FF2B5EF4-FFF2-40B4-BE49-F238E27FC236}">
                  <a16:creationId xmlns:a16="http://schemas.microsoft.com/office/drawing/2014/main" id="{FB3EFC21-A14C-D698-2F8B-BD338C800670}"/>
                </a:ext>
              </a:extLst>
            </p:cNvPr>
            <p:cNvSpPr/>
            <p:nvPr/>
          </p:nvSpPr>
          <p:spPr>
            <a:xfrm>
              <a:off x="-1" y="834789"/>
              <a:ext cx="6486342" cy="831881"/>
            </a:xfrm>
            <a:custGeom>
              <a:avLst/>
              <a:gdLst/>
              <a:ahLst/>
              <a:cxnLst>
                <a:cxn ang="0">
                  <a:pos x="wd2" y="hd2"/>
                </a:cxn>
                <a:cxn ang="5400000">
                  <a:pos x="wd2" y="hd2"/>
                </a:cxn>
                <a:cxn ang="10800000">
                  <a:pos x="wd2" y="hd2"/>
                </a:cxn>
                <a:cxn ang="16200000">
                  <a:pos x="wd2" y="hd2"/>
                </a:cxn>
              </a:cxnLst>
              <a:rect l="0" t="0" r="r" b="b"/>
              <a:pathLst>
                <a:path w="21600" h="21600" extrusionOk="0">
                  <a:moveTo>
                    <a:pt x="10800" y="16490"/>
                  </a:moveTo>
                  <a:cubicBezTo>
                    <a:pt x="16036" y="16490"/>
                    <a:pt x="20410" y="9406"/>
                    <a:pt x="21600" y="0"/>
                  </a:cubicBezTo>
                  <a:cubicBezTo>
                    <a:pt x="21600" y="0"/>
                    <a:pt x="21600" y="0"/>
                    <a:pt x="21600" y="0"/>
                  </a:cubicBezTo>
                  <a:cubicBezTo>
                    <a:pt x="21600" y="11961"/>
                    <a:pt x="16765" y="21600"/>
                    <a:pt x="10800" y="21600"/>
                  </a:cubicBezTo>
                  <a:cubicBezTo>
                    <a:pt x="4835" y="21600"/>
                    <a:pt x="0" y="11961"/>
                    <a:pt x="0" y="0"/>
                  </a:cubicBezTo>
                  <a:cubicBezTo>
                    <a:pt x="0" y="0"/>
                    <a:pt x="0" y="0"/>
                    <a:pt x="0" y="0"/>
                  </a:cubicBezTo>
                  <a:cubicBezTo>
                    <a:pt x="1175" y="9406"/>
                    <a:pt x="5564" y="16490"/>
                    <a:pt x="10800" y="16490"/>
                  </a:cubicBezTo>
                  <a:close/>
                </a:path>
              </a:pathLst>
            </a:custGeom>
            <a:solidFill>
              <a:srgbClr val="000000">
                <a:alpha val="15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grpSp>
      <p:grpSp>
        <p:nvGrpSpPr>
          <p:cNvPr id="187" name="Group">
            <a:extLst>
              <a:ext uri="{FF2B5EF4-FFF2-40B4-BE49-F238E27FC236}">
                <a16:creationId xmlns:a16="http://schemas.microsoft.com/office/drawing/2014/main" id="{0B9C2324-6AB3-78EB-EB0D-B6CE85D131B8}"/>
              </a:ext>
            </a:extLst>
          </p:cNvPr>
          <p:cNvGrpSpPr/>
          <p:nvPr/>
        </p:nvGrpSpPr>
        <p:grpSpPr>
          <a:xfrm>
            <a:off x="4171981" y="4513824"/>
            <a:ext cx="3851084" cy="975861"/>
            <a:chOff x="0" y="0"/>
            <a:chExt cx="7702168" cy="1951720"/>
          </a:xfrm>
        </p:grpSpPr>
        <p:sp>
          <p:nvSpPr>
            <p:cNvPr id="188" name="Oval">
              <a:extLst>
                <a:ext uri="{FF2B5EF4-FFF2-40B4-BE49-F238E27FC236}">
                  <a16:creationId xmlns:a16="http://schemas.microsoft.com/office/drawing/2014/main" id="{A9E7637A-1AB1-E817-434B-B01AE9B51C47}"/>
                </a:ext>
              </a:extLst>
            </p:cNvPr>
            <p:cNvSpPr/>
            <p:nvPr/>
          </p:nvSpPr>
          <p:spPr>
            <a:xfrm>
              <a:off x="0" y="-1"/>
              <a:ext cx="7702168" cy="1951722"/>
            </a:xfrm>
            <a:prstGeom prst="ellipse">
              <a:avLst/>
            </a:prstGeom>
            <a:solidFill>
              <a:srgbClr val="DB5E71">
                <a:alpha val="90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sp>
          <p:nvSpPr>
            <p:cNvPr id="189" name="Shape">
              <a:extLst>
                <a:ext uri="{FF2B5EF4-FFF2-40B4-BE49-F238E27FC236}">
                  <a16:creationId xmlns:a16="http://schemas.microsoft.com/office/drawing/2014/main" id="{6E217D07-D17A-027D-2D0A-36F143FF15AB}"/>
                </a:ext>
              </a:extLst>
            </p:cNvPr>
            <p:cNvSpPr/>
            <p:nvPr/>
          </p:nvSpPr>
          <p:spPr>
            <a:xfrm>
              <a:off x="-1" y="971496"/>
              <a:ext cx="7702168" cy="980225"/>
            </a:xfrm>
            <a:custGeom>
              <a:avLst/>
              <a:gdLst/>
              <a:ahLst/>
              <a:cxnLst>
                <a:cxn ang="0">
                  <a:pos x="wd2" y="hd2"/>
                </a:cxn>
                <a:cxn ang="5400000">
                  <a:pos x="wd2" y="hd2"/>
                </a:cxn>
                <a:cxn ang="10800000">
                  <a:pos x="wd2" y="hd2"/>
                </a:cxn>
                <a:cxn ang="16200000">
                  <a:pos x="wd2" y="hd2"/>
                </a:cxn>
              </a:cxnLst>
              <a:rect l="0" t="0" r="r" b="b"/>
              <a:pathLst>
                <a:path w="21600" h="21600" extrusionOk="0">
                  <a:moveTo>
                    <a:pt x="10800" y="16570"/>
                  </a:moveTo>
                  <a:cubicBezTo>
                    <a:pt x="16037" y="16570"/>
                    <a:pt x="20422" y="9468"/>
                    <a:pt x="21600" y="0"/>
                  </a:cubicBezTo>
                  <a:cubicBezTo>
                    <a:pt x="21600" y="99"/>
                    <a:pt x="21600" y="99"/>
                    <a:pt x="21600" y="99"/>
                  </a:cubicBezTo>
                  <a:cubicBezTo>
                    <a:pt x="21600" y="11934"/>
                    <a:pt x="16764" y="21600"/>
                    <a:pt x="10800" y="21600"/>
                  </a:cubicBezTo>
                  <a:cubicBezTo>
                    <a:pt x="4836" y="21600"/>
                    <a:pt x="0" y="11934"/>
                    <a:pt x="0" y="99"/>
                  </a:cubicBezTo>
                  <a:cubicBezTo>
                    <a:pt x="0" y="99"/>
                    <a:pt x="0" y="99"/>
                    <a:pt x="0" y="0"/>
                  </a:cubicBezTo>
                  <a:cubicBezTo>
                    <a:pt x="1178" y="9468"/>
                    <a:pt x="5563" y="16570"/>
                    <a:pt x="10800" y="16570"/>
                  </a:cubicBezTo>
                  <a:close/>
                </a:path>
              </a:pathLst>
            </a:custGeom>
            <a:solidFill>
              <a:srgbClr val="000000">
                <a:alpha val="15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grpSp>
      <p:grpSp>
        <p:nvGrpSpPr>
          <p:cNvPr id="190" name="Group">
            <a:extLst>
              <a:ext uri="{FF2B5EF4-FFF2-40B4-BE49-F238E27FC236}">
                <a16:creationId xmlns:a16="http://schemas.microsoft.com/office/drawing/2014/main" id="{E96C3403-24F9-4673-4809-5D782E20FFE2}"/>
              </a:ext>
            </a:extLst>
          </p:cNvPr>
          <p:cNvGrpSpPr/>
          <p:nvPr/>
        </p:nvGrpSpPr>
        <p:grpSpPr>
          <a:xfrm>
            <a:off x="4057088" y="3796836"/>
            <a:ext cx="4079415" cy="1106753"/>
            <a:chOff x="0" y="0"/>
            <a:chExt cx="8158828" cy="2213503"/>
          </a:xfrm>
        </p:grpSpPr>
        <p:sp>
          <p:nvSpPr>
            <p:cNvPr id="191" name="Oval">
              <a:extLst>
                <a:ext uri="{FF2B5EF4-FFF2-40B4-BE49-F238E27FC236}">
                  <a16:creationId xmlns:a16="http://schemas.microsoft.com/office/drawing/2014/main" id="{3EA8B2D8-B37D-97D2-DC85-A8DE6FE0B281}"/>
                </a:ext>
              </a:extLst>
            </p:cNvPr>
            <p:cNvSpPr/>
            <p:nvPr/>
          </p:nvSpPr>
          <p:spPr>
            <a:xfrm>
              <a:off x="-1" y="0"/>
              <a:ext cx="8158830" cy="2213504"/>
            </a:xfrm>
            <a:prstGeom prst="ellipse">
              <a:avLst/>
            </a:prstGeom>
            <a:solidFill>
              <a:srgbClr val="BF5363">
                <a:alpha val="89804"/>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sp>
          <p:nvSpPr>
            <p:cNvPr id="192" name="Shape">
              <a:extLst>
                <a:ext uri="{FF2B5EF4-FFF2-40B4-BE49-F238E27FC236}">
                  <a16:creationId xmlns:a16="http://schemas.microsoft.com/office/drawing/2014/main" id="{955D7F37-DA31-CB11-3CD5-42E8E410CC22}"/>
                </a:ext>
              </a:extLst>
            </p:cNvPr>
            <p:cNvSpPr/>
            <p:nvPr/>
          </p:nvSpPr>
          <p:spPr>
            <a:xfrm>
              <a:off x="-1" y="1108203"/>
              <a:ext cx="8158830" cy="1105297"/>
            </a:xfrm>
            <a:custGeom>
              <a:avLst/>
              <a:gdLst/>
              <a:ahLst/>
              <a:cxnLst>
                <a:cxn ang="0">
                  <a:pos x="wd2" y="hd2"/>
                </a:cxn>
                <a:cxn ang="5400000">
                  <a:pos x="wd2" y="hd2"/>
                </a:cxn>
                <a:cxn ang="10800000">
                  <a:pos x="wd2" y="hd2"/>
                </a:cxn>
                <a:cxn ang="16200000">
                  <a:pos x="wd2" y="hd2"/>
                </a:cxn>
              </a:cxnLst>
              <a:rect l="0" t="0" r="r" b="b"/>
              <a:pathLst>
                <a:path w="21600" h="21600" extrusionOk="0">
                  <a:moveTo>
                    <a:pt x="10800" y="16461"/>
                  </a:moveTo>
                  <a:cubicBezTo>
                    <a:pt x="5572" y="16461"/>
                    <a:pt x="1183" y="9494"/>
                    <a:pt x="0" y="0"/>
                  </a:cubicBezTo>
                  <a:cubicBezTo>
                    <a:pt x="0" y="0"/>
                    <a:pt x="0" y="0"/>
                    <a:pt x="0" y="0"/>
                  </a:cubicBezTo>
                  <a:cubicBezTo>
                    <a:pt x="0" y="11932"/>
                    <a:pt x="4838" y="21600"/>
                    <a:pt x="10800" y="21600"/>
                  </a:cubicBezTo>
                  <a:cubicBezTo>
                    <a:pt x="16762" y="21600"/>
                    <a:pt x="21600" y="11932"/>
                    <a:pt x="21600" y="0"/>
                  </a:cubicBezTo>
                  <a:cubicBezTo>
                    <a:pt x="21600" y="0"/>
                    <a:pt x="21600" y="0"/>
                    <a:pt x="21600" y="0"/>
                  </a:cubicBezTo>
                  <a:cubicBezTo>
                    <a:pt x="20417" y="9494"/>
                    <a:pt x="16028" y="16461"/>
                    <a:pt x="10800" y="16461"/>
                  </a:cubicBezTo>
                  <a:close/>
                </a:path>
              </a:pathLst>
            </a:custGeom>
            <a:solidFill>
              <a:srgbClr val="000000">
                <a:alpha val="15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grpSp>
      <p:grpSp>
        <p:nvGrpSpPr>
          <p:cNvPr id="193" name="Group">
            <a:extLst>
              <a:ext uri="{FF2B5EF4-FFF2-40B4-BE49-F238E27FC236}">
                <a16:creationId xmlns:a16="http://schemas.microsoft.com/office/drawing/2014/main" id="{6851477B-C2BE-F411-50D0-BA0A5FBFC7F9}"/>
              </a:ext>
            </a:extLst>
          </p:cNvPr>
          <p:cNvGrpSpPr/>
          <p:nvPr/>
        </p:nvGrpSpPr>
        <p:grpSpPr>
          <a:xfrm>
            <a:off x="4171981" y="3254368"/>
            <a:ext cx="3851084" cy="977315"/>
            <a:chOff x="0" y="0"/>
            <a:chExt cx="7702168" cy="1954629"/>
          </a:xfrm>
        </p:grpSpPr>
        <p:sp>
          <p:nvSpPr>
            <p:cNvPr id="194" name="Oval">
              <a:extLst>
                <a:ext uri="{FF2B5EF4-FFF2-40B4-BE49-F238E27FC236}">
                  <a16:creationId xmlns:a16="http://schemas.microsoft.com/office/drawing/2014/main" id="{CCDF5641-C13B-308A-D835-8E8670F4BD95}"/>
                </a:ext>
              </a:extLst>
            </p:cNvPr>
            <p:cNvSpPr/>
            <p:nvPr/>
          </p:nvSpPr>
          <p:spPr>
            <a:xfrm>
              <a:off x="0" y="0"/>
              <a:ext cx="7702168" cy="1954629"/>
            </a:xfrm>
            <a:prstGeom prst="ellipse">
              <a:avLst/>
            </a:prstGeom>
            <a:solidFill>
              <a:srgbClr val="DB5E71">
                <a:alpha val="90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sp>
          <p:nvSpPr>
            <p:cNvPr id="195" name="Shape">
              <a:extLst>
                <a:ext uri="{FF2B5EF4-FFF2-40B4-BE49-F238E27FC236}">
                  <a16:creationId xmlns:a16="http://schemas.microsoft.com/office/drawing/2014/main" id="{ECB01774-2512-9421-3D99-3C432B067C37}"/>
                </a:ext>
              </a:extLst>
            </p:cNvPr>
            <p:cNvSpPr/>
            <p:nvPr/>
          </p:nvSpPr>
          <p:spPr>
            <a:xfrm>
              <a:off x="-1" y="977315"/>
              <a:ext cx="7702168" cy="977315"/>
            </a:xfrm>
            <a:custGeom>
              <a:avLst/>
              <a:gdLst/>
              <a:ahLst/>
              <a:cxnLst>
                <a:cxn ang="0">
                  <a:pos x="wd2" y="hd2"/>
                </a:cxn>
                <a:cxn ang="5400000">
                  <a:pos x="wd2" y="hd2"/>
                </a:cxn>
                <a:cxn ang="10800000">
                  <a:pos x="wd2" y="hd2"/>
                </a:cxn>
                <a:cxn ang="16200000">
                  <a:pos x="wd2" y="hd2"/>
                </a:cxn>
              </a:cxnLst>
              <a:rect l="0" t="0" r="r" b="b"/>
              <a:pathLst>
                <a:path w="21600" h="21600" extrusionOk="0">
                  <a:moveTo>
                    <a:pt x="10800" y="16471"/>
                  </a:moveTo>
                  <a:cubicBezTo>
                    <a:pt x="5563" y="16471"/>
                    <a:pt x="1178" y="9468"/>
                    <a:pt x="0" y="0"/>
                  </a:cubicBezTo>
                  <a:cubicBezTo>
                    <a:pt x="0" y="0"/>
                    <a:pt x="0" y="0"/>
                    <a:pt x="0" y="0"/>
                  </a:cubicBezTo>
                  <a:cubicBezTo>
                    <a:pt x="0" y="11934"/>
                    <a:pt x="4836" y="21600"/>
                    <a:pt x="10800" y="21600"/>
                  </a:cubicBezTo>
                  <a:cubicBezTo>
                    <a:pt x="16764" y="21600"/>
                    <a:pt x="21600" y="11934"/>
                    <a:pt x="21600" y="0"/>
                  </a:cubicBezTo>
                  <a:cubicBezTo>
                    <a:pt x="21600" y="0"/>
                    <a:pt x="21600" y="0"/>
                    <a:pt x="21600" y="0"/>
                  </a:cubicBezTo>
                  <a:cubicBezTo>
                    <a:pt x="20422" y="9468"/>
                    <a:pt x="16037" y="16471"/>
                    <a:pt x="10800" y="16471"/>
                  </a:cubicBezTo>
                  <a:close/>
                </a:path>
              </a:pathLst>
            </a:custGeom>
            <a:solidFill>
              <a:srgbClr val="000000">
                <a:alpha val="15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grpSp>
      <p:grpSp>
        <p:nvGrpSpPr>
          <p:cNvPr id="196" name="Group">
            <a:extLst>
              <a:ext uri="{FF2B5EF4-FFF2-40B4-BE49-F238E27FC236}">
                <a16:creationId xmlns:a16="http://schemas.microsoft.com/office/drawing/2014/main" id="{601E8696-0550-5EB8-27C8-4A4CA616F583}"/>
              </a:ext>
            </a:extLst>
          </p:cNvPr>
          <p:cNvGrpSpPr/>
          <p:nvPr/>
        </p:nvGrpSpPr>
        <p:grpSpPr>
          <a:xfrm>
            <a:off x="4475937" y="2745351"/>
            <a:ext cx="3243171" cy="834790"/>
            <a:chOff x="0" y="0"/>
            <a:chExt cx="6486340" cy="1669579"/>
          </a:xfrm>
        </p:grpSpPr>
        <p:sp>
          <p:nvSpPr>
            <p:cNvPr id="197" name="Oval">
              <a:extLst>
                <a:ext uri="{FF2B5EF4-FFF2-40B4-BE49-F238E27FC236}">
                  <a16:creationId xmlns:a16="http://schemas.microsoft.com/office/drawing/2014/main" id="{C79857FA-03A9-098F-0827-D64813C9C4D2}"/>
                </a:ext>
              </a:extLst>
            </p:cNvPr>
            <p:cNvSpPr/>
            <p:nvPr/>
          </p:nvSpPr>
          <p:spPr>
            <a:xfrm>
              <a:off x="-1" y="0"/>
              <a:ext cx="6486342" cy="1669577"/>
            </a:xfrm>
            <a:prstGeom prst="ellipse">
              <a:avLst/>
            </a:prstGeom>
            <a:solidFill>
              <a:srgbClr val="E6838E">
                <a:alpha val="90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dirty="0"/>
            </a:p>
          </p:txBody>
        </p:sp>
        <p:sp>
          <p:nvSpPr>
            <p:cNvPr id="198" name="Shape">
              <a:extLst>
                <a:ext uri="{FF2B5EF4-FFF2-40B4-BE49-F238E27FC236}">
                  <a16:creationId xmlns:a16="http://schemas.microsoft.com/office/drawing/2014/main" id="{B7520746-3044-D706-041E-41DEA2C424B3}"/>
                </a:ext>
              </a:extLst>
            </p:cNvPr>
            <p:cNvSpPr/>
            <p:nvPr/>
          </p:nvSpPr>
          <p:spPr>
            <a:xfrm>
              <a:off x="-1" y="834790"/>
              <a:ext cx="6486342" cy="834790"/>
            </a:xfrm>
            <a:custGeom>
              <a:avLst/>
              <a:gdLst/>
              <a:ahLst/>
              <a:cxnLst>
                <a:cxn ang="0">
                  <a:pos x="wd2" y="hd2"/>
                </a:cxn>
                <a:cxn ang="5400000">
                  <a:pos x="wd2" y="hd2"/>
                </a:cxn>
                <a:cxn ang="10800000">
                  <a:pos x="wd2" y="hd2"/>
                </a:cxn>
                <a:cxn ang="16200000">
                  <a:pos x="wd2" y="hd2"/>
                </a:cxn>
              </a:cxnLst>
              <a:rect l="0" t="0" r="r" b="b"/>
              <a:pathLst>
                <a:path w="21600" h="21600" extrusionOk="0">
                  <a:moveTo>
                    <a:pt x="10800" y="16518"/>
                  </a:moveTo>
                  <a:cubicBezTo>
                    <a:pt x="5564" y="16518"/>
                    <a:pt x="1175" y="9472"/>
                    <a:pt x="0" y="0"/>
                  </a:cubicBezTo>
                  <a:cubicBezTo>
                    <a:pt x="0" y="0"/>
                    <a:pt x="0" y="0"/>
                    <a:pt x="0" y="0"/>
                  </a:cubicBezTo>
                  <a:cubicBezTo>
                    <a:pt x="0" y="11897"/>
                    <a:pt x="4835" y="21600"/>
                    <a:pt x="10800" y="21600"/>
                  </a:cubicBezTo>
                  <a:cubicBezTo>
                    <a:pt x="16765" y="21600"/>
                    <a:pt x="21600" y="11897"/>
                    <a:pt x="21600" y="0"/>
                  </a:cubicBezTo>
                  <a:cubicBezTo>
                    <a:pt x="21600" y="0"/>
                    <a:pt x="21600" y="0"/>
                    <a:pt x="21600" y="0"/>
                  </a:cubicBezTo>
                  <a:cubicBezTo>
                    <a:pt x="20410" y="9472"/>
                    <a:pt x="16036" y="16518"/>
                    <a:pt x="10800" y="16518"/>
                  </a:cubicBezTo>
                  <a:close/>
                </a:path>
              </a:pathLst>
            </a:custGeom>
            <a:solidFill>
              <a:srgbClr val="000000">
                <a:alpha val="15000"/>
              </a:srgbClr>
            </a:solidFill>
            <a:ln w="12700" cap="flat">
              <a:noFill/>
              <a:miter lim="400000"/>
            </a:ln>
            <a:effectLst/>
          </p:spPr>
          <p:txBody>
            <a:bodyPr wrap="square" lIns="45720" tIns="45720" rIns="45720" bIns="45720" numCol="1" anchor="t">
              <a:noAutofit/>
            </a:bodyPr>
            <a:lstStyle/>
            <a:p>
              <a:pPr algn="l">
                <a:defRPr sz="3600">
                  <a:solidFill>
                    <a:srgbClr val="000000"/>
                  </a:solidFill>
                  <a:latin typeface="Montserrat Light"/>
                  <a:ea typeface="Montserrat Light"/>
                  <a:cs typeface="Montserrat Light"/>
                  <a:sym typeface="Montserrat Light"/>
                </a:defRPr>
              </a:pPr>
              <a:endParaRPr/>
            </a:p>
          </p:txBody>
        </p:sp>
      </p:grpSp>
      <p:sp>
        <p:nvSpPr>
          <p:cNvPr id="202" name="BI embedded analytics">
            <a:extLst>
              <a:ext uri="{FF2B5EF4-FFF2-40B4-BE49-F238E27FC236}">
                <a16:creationId xmlns:a16="http://schemas.microsoft.com/office/drawing/2014/main" id="{ED0312A4-7F54-60A4-E784-B2A9F87F02DD}"/>
              </a:ext>
            </a:extLst>
          </p:cNvPr>
          <p:cNvSpPr txBox="1"/>
          <p:nvPr/>
        </p:nvSpPr>
        <p:spPr>
          <a:xfrm>
            <a:off x="9137957" y="3571408"/>
            <a:ext cx="2646133"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l" defTabSz="1828800">
              <a:defRPr b="1">
                <a:solidFill>
                  <a:srgbClr val="000000"/>
                </a:solidFill>
                <a:latin typeface="Helvetica"/>
                <a:ea typeface="Helvetica"/>
                <a:cs typeface="Helvetica"/>
                <a:sym typeface="Helvetica"/>
              </a:defRPr>
            </a:lvl1pPr>
          </a:lstStyle>
          <a:p>
            <a:r>
              <a:rPr lang="en-US" sz="1400" dirty="0">
                <a:latin typeface="Graphik Regular" panose="020B0503030202060203" pitchFamily="34" charset="77"/>
              </a:rPr>
              <a:t>Data Aggregators</a:t>
            </a:r>
            <a:endParaRPr sz="1400" dirty="0">
              <a:latin typeface="Graphik Regular" panose="020B0503030202060203" pitchFamily="34" charset="77"/>
            </a:endParaRPr>
          </a:p>
        </p:txBody>
      </p:sp>
      <p:sp>
        <p:nvSpPr>
          <p:cNvPr id="203" name="Easy to use customer-facing dashboard with API integration provides intelligence…">
            <a:extLst>
              <a:ext uri="{FF2B5EF4-FFF2-40B4-BE49-F238E27FC236}">
                <a16:creationId xmlns:a16="http://schemas.microsoft.com/office/drawing/2014/main" id="{6A117AD6-5960-7316-ECA1-FA8809B04F89}"/>
              </a:ext>
            </a:extLst>
          </p:cNvPr>
          <p:cNvSpPr txBox="1"/>
          <p:nvPr/>
        </p:nvSpPr>
        <p:spPr>
          <a:xfrm>
            <a:off x="9137957" y="3879185"/>
            <a:ext cx="2646133" cy="586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l">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Domo</a:t>
            </a:r>
          </a:p>
          <a:p>
            <a:pPr algn="l">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Tableau</a:t>
            </a:r>
          </a:p>
          <a:p>
            <a:pPr algn="l">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Zoho</a:t>
            </a:r>
            <a:r>
              <a:rPr lang="en-US" sz="1000" b="1" dirty="0">
                <a:solidFill>
                  <a:srgbClr val="595959">
                    <a:alpha val="70000"/>
                  </a:srgbClr>
                </a:solidFill>
                <a:latin typeface="DM Sans 14pt" pitchFamily="2" charset="77"/>
              </a:rPr>
              <a:t> Analytics</a:t>
            </a:r>
            <a:endParaRPr sz="1000" b="1" dirty="0">
              <a:solidFill>
                <a:srgbClr val="595959">
                  <a:alpha val="70000"/>
                </a:srgbClr>
              </a:solidFill>
              <a:latin typeface="DM Sans 14pt" pitchFamily="2" charset="77"/>
            </a:endParaRPr>
          </a:p>
        </p:txBody>
      </p:sp>
      <p:sp>
        <p:nvSpPr>
          <p:cNvPr id="206" name="Data specialists">
            <a:extLst>
              <a:ext uri="{FF2B5EF4-FFF2-40B4-BE49-F238E27FC236}">
                <a16:creationId xmlns:a16="http://schemas.microsoft.com/office/drawing/2014/main" id="{12168140-24E7-7DDB-6269-3BEAAD341EDF}"/>
              </a:ext>
            </a:extLst>
          </p:cNvPr>
          <p:cNvSpPr txBox="1"/>
          <p:nvPr/>
        </p:nvSpPr>
        <p:spPr>
          <a:xfrm>
            <a:off x="9125257" y="4849013"/>
            <a:ext cx="2646133"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l" defTabSz="1828800">
              <a:defRPr b="1">
                <a:solidFill>
                  <a:srgbClr val="000000"/>
                </a:solidFill>
                <a:latin typeface="Helvetica"/>
                <a:ea typeface="Helvetica"/>
                <a:cs typeface="Helvetica"/>
                <a:sym typeface="Helvetica"/>
              </a:defRPr>
            </a:lvl1pPr>
          </a:lstStyle>
          <a:p>
            <a:r>
              <a:rPr lang="en-US" sz="1400" dirty="0">
                <a:latin typeface="Graphik Regular" panose="020B0503030202060203" pitchFamily="34" charset="77"/>
              </a:rPr>
              <a:t>Performance Metrics</a:t>
            </a:r>
            <a:endParaRPr sz="1400" dirty="0">
              <a:latin typeface="Graphik Regular" panose="020B0503030202060203" pitchFamily="34" charset="77"/>
            </a:endParaRPr>
          </a:p>
        </p:txBody>
      </p:sp>
      <p:sp>
        <p:nvSpPr>
          <p:cNvPr id="207" name="Configures the BI dashboard and AutoML and provides ongoing advice with analytics…">
            <a:extLst>
              <a:ext uri="{FF2B5EF4-FFF2-40B4-BE49-F238E27FC236}">
                <a16:creationId xmlns:a16="http://schemas.microsoft.com/office/drawing/2014/main" id="{34188936-2008-1EDA-F7AD-A9E49B948661}"/>
              </a:ext>
            </a:extLst>
          </p:cNvPr>
          <p:cNvSpPr txBox="1"/>
          <p:nvPr/>
        </p:nvSpPr>
        <p:spPr>
          <a:xfrm>
            <a:off x="9150657" y="5156790"/>
            <a:ext cx="2646133" cy="586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l">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Salesforce</a:t>
            </a:r>
          </a:p>
          <a:p>
            <a:pPr algn="l">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Hubspot</a:t>
            </a:r>
            <a:endParaRPr lang="en-US" sz="1000" b="1" dirty="0">
              <a:solidFill>
                <a:srgbClr val="595959">
                  <a:alpha val="70000"/>
                </a:srgbClr>
              </a:solidFill>
              <a:latin typeface="DM Sans 14pt" pitchFamily="2" charset="77"/>
            </a:endParaRPr>
          </a:p>
          <a:p>
            <a:pPr algn="l">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Pipedrive</a:t>
            </a:r>
            <a:endParaRPr sz="1000" b="1" dirty="0">
              <a:solidFill>
                <a:srgbClr val="595959">
                  <a:alpha val="70000"/>
                </a:srgbClr>
              </a:solidFill>
              <a:latin typeface="DM Sans 14pt" pitchFamily="2" charset="77"/>
            </a:endParaRPr>
          </a:p>
        </p:txBody>
      </p:sp>
      <p:sp>
        <p:nvSpPr>
          <p:cNvPr id="210" name="AutoML">
            <a:extLst>
              <a:ext uri="{FF2B5EF4-FFF2-40B4-BE49-F238E27FC236}">
                <a16:creationId xmlns:a16="http://schemas.microsoft.com/office/drawing/2014/main" id="{D8504C01-01AB-C46C-BFB7-F21E3750F3B4}"/>
              </a:ext>
            </a:extLst>
          </p:cNvPr>
          <p:cNvSpPr txBox="1"/>
          <p:nvPr/>
        </p:nvSpPr>
        <p:spPr>
          <a:xfrm>
            <a:off x="469024" y="3015122"/>
            <a:ext cx="2646133"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defTabSz="1828800">
              <a:defRPr b="1">
                <a:solidFill>
                  <a:srgbClr val="000000"/>
                </a:solidFill>
                <a:latin typeface="Helvetica"/>
                <a:ea typeface="Helvetica"/>
                <a:cs typeface="Helvetica"/>
                <a:sym typeface="Helvetica"/>
              </a:defRPr>
            </a:lvl1pPr>
          </a:lstStyle>
          <a:p>
            <a:r>
              <a:rPr lang="en-US" sz="1400" dirty="0">
                <a:latin typeface="Graphik Regular" panose="020B0503030202060203" pitchFamily="34" charset="77"/>
              </a:rPr>
              <a:t>Revenue Modeling</a:t>
            </a:r>
            <a:endParaRPr sz="1400" dirty="0">
              <a:latin typeface="Graphik Regular" panose="020B0503030202060203" pitchFamily="34" charset="77"/>
            </a:endParaRPr>
          </a:p>
        </p:txBody>
      </p:sp>
      <p:sp>
        <p:nvSpPr>
          <p:cNvPr id="211" name="Simplified and automated machine learning predictive analytics…">
            <a:extLst>
              <a:ext uri="{FF2B5EF4-FFF2-40B4-BE49-F238E27FC236}">
                <a16:creationId xmlns:a16="http://schemas.microsoft.com/office/drawing/2014/main" id="{36FB22ED-EAB2-CA5A-18BE-2BBC17338667}"/>
              </a:ext>
            </a:extLst>
          </p:cNvPr>
          <p:cNvSpPr txBox="1"/>
          <p:nvPr/>
        </p:nvSpPr>
        <p:spPr>
          <a:xfrm>
            <a:off x="469024" y="3322899"/>
            <a:ext cx="2646133" cy="586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r">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ProfitWell</a:t>
            </a:r>
            <a:endParaRPr lang="en-US" sz="1000" b="1" dirty="0">
              <a:solidFill>
                <a:srgbClr val="595959">
                  <a:alpha val="70000"/>
                </a:srgbClr>
              </a:solidFill>
              <a:latin typeface="DM Sans 14pt" pitchFamily="2" charset="77"/>
            </a:endParaRPr>
          </a:p>
          <a:p>
            <a:pPr algn="r">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Cube</a:t>
            </a:r>
          </a:p>
          <a:p>
            <a:pPr algn="r">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Adaptive Insights (Workday)</a:t>
            </a:r>
            <a:endParaRPr sz="1000" b="1" dirty="0">
              <a:solidFill>
                <a:srgbClr val="595959">
                  <a:alpha val="70000"/>
                </a:srgbClr>
              </a:solidFill>
              <a:latin typeface="DM Sans 14pt" pitchFamily="2" charset="77"/>
            </a:endParaRPr>
          </a:p>
        </p:txBody>
      </p:sp>
      <p:sp>
        <p:nvSpPr>
          <p:cNvPr id="212" name="Unified commerce platform">
            <a:extLst>
              <a:ext uri="{FF2B5EF4-FFF2-40B4-BE49-F238E27FC236}">
                <a16:creationId xmlns:a16="http://schemas.microsoft.com/office/drawing/2014/main" id="{E7B99F00-0EC1-21F1-CF92-76C753632DCC}"/>
              </a:ext>
            </a:extLst>
          </p:cNvPr>
          <p:cNvSpPr txBox="1"/>
          <p:nvPr/>
        </p:nvSpPr>
        <p:spPr>
          <a:xfrm>
            <a:off x="469024" y="4196366"/>
            <a:ext cx="2646133"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defTabSz="1828800">
              <a:defRPr b="1">
                <a:solidFill>
                  <a:srgbClr val="000000"/>
                </a:solidFill>
                <a:latin typeface="Helvetica"/>
                <a:ea typeface="Helvetica"/>
                <a:cs typeface="Helvetica"/>
                <a:sym typeface="Helvetica"/>
              </a:defRPr>
            </a:lvl1pPr>
          </a:lstStyle>
          <a:p>
            <a:r>
              <a:rPr lang="en-US" sz="1400" dirty="0">
                <a:latin typeface="Graphik Regular" panose="020B0503030202060203" pitchFamily="34" charset="77"/>
              </a:rPr>
              <a:t>Strategy &amp; Tactics Creation</a:t>
            </a:r>
            <a:endParaRPr sz="1400" dirty="0">
              <a:latin typeface="Graphik Regular" panose="020B0503030202060203" pitchFamily="34" charset="77"/>
            </a:endParaRPr>
          </a:p>
        </p:txBody>
      </p:sp>
      <p:sp>
        <p:nvSpPr>
          <p:cNvPr id="213" name="Seamless customer experience, product recommendations and product discovery…">
            <a:extLst>
              <a:ext uri="{FF2B5EF4-FFF2-40B4-BE49-F238E27FC236}">
                <a16:creationId xmlns:a16="http://schemas.microsoft.com/office/drawing/2014/main" id="{C2A5E958-4F99-4C7B-78F0-34FD487A4E35}"/>
              </a:ext>
            </a:extLst>
          </p:cNvPr>
          <p:cNvSpPr txBox="1"/>
          <p:nvPr/>
        </p:nvSpPr>
        <p:spPr>
          <a:xfrm>
            <a:off x="469024" y="4504143"/>
            <a:ext cx="2646133" cy="586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r">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Gtmhub</a:t>
            </a:r>
            <a:endParaRPr lang="en-US" sz="1000" b="1" dirty="0">
              <a:solidFill>
                <a:srgbClr val="595959">
                  <a:alpha val="70000"/>
                </a:srgbClr>
              </a:solidFill>
              <a:latin typeface="DM Sans 14pt" pitchFamily="2" charset="77"/>
            </a:endParaRPr>
          </a:p>
          <a:p>
            <a:pPr algn="r">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Perdoo</a:t>
            </a:r>
            <a:endParaRPr lang="en-US" sz="1000" b="1" dirty="0">
              <a:solidFill>
                <a:srgbClr val="595959">
                  <a:alpha val="70000"/>
                </a:srgbClr>
              </a:solidFill>
              <a:latin typeface="DM Sans 14pt" pitchFamily="2" charset="77"/>
            </a:endParaRPr>
          </a:p>
          <a:p>
            <a:pPr algn="r">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Ally.io</a:t>
            </a:r>
            <a:r>
              <a:rPr lang="en-US" sz="1000" b="1" dirty="0">
                <a:solidFill>
                  <a:srgbClr val="595959">
                    <a:alpha val="70000"/>
                  </a:srgbClr>
                </a:solidFill>
                <a:latin typeface="DM Sans 14pt" pitchFamily="2" charset="77"/>
              </a:rPr>
              <a:t> (Microsoft Viva Goals)</a:t>
            </a:r>
            <a:endParaRPr sz="1000" b="1" dirty="0">
              <a:solidFill>
                <a:srgbClr val="595959">
                  <a:alpha val="70000"/>
                </a:srgbClr>
              </a:solidFill>
              <a:latin typeface="DM Sans 14pt" pitchFamily="2" charset="77"/>
            </a:endParaRPr>
          </a:p>
        </p:txBody>
      </p:sp>
      <p:sp>
        <p:nvSpPr>
          <p:cNvPr id="214" name="Digital marketing">
            <a:extLst>
              <a:ext uri="{FF2B5EF4-FFF2-40B4-BE49-F238E27FC236}">
                <a16:creationId xmlns:a16="http://schemas.microsoft.com/office/drawing/2014/main" id="{39A50260-7E67-1FE6-DB19-10001D935CDE}"/>
              </a:ext>
            </a:extLst>
          </p:cNvPr>
          <p:cNvSpPr txBox="1"/>
          <p:nvPr/>
        </p:nvSpPr>
        <p:spPr>
          <a:xfrm>
            <a:off x="468354" y="5506259"/>
            <a:ext cx="2646133"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defTabSz="1828800">
              <a:defRPr b="1">
                <a:solidFill>
                  <a:srgbClr val="000000"/>
                </a:solidFill>
                <a:latin typeface="Helvetica"/>
                <a:ea typeface="Helvetica"/>
                <a:cs typeface="Helvetica"/>
                <a:sym typeface="Helvetica"/>
              </a:defRPr>
            </a:lvl1pPr>
          </a:lstStyle>
          <a:p>
            <a:r>
              <a:rPr lang="en-US" sz="1400" dirty="0">
                <a:latin typeface="Graphik Regular" panose="020B0503030202060203" pitchFamily="34" charset="77"/>
              </a:rPr>
              <a:t>Gamification on KPIs</a:t>
            </a:r>
            <a:endParaRPr sz="1400" dirty="0">
              <a:latin typeface="Graphik Regular" panose="020B0503030202060203" pitchFamily="34" charset="77"/>
            </a:endParaRPr>
          </a:p>
        </p:txBody>
      </p:sp>
      <p:sp>
        <p:nvSpPr>
          <p:cNvPr id="215" name="Uses the data gathered to run strategy and implementation of marketing campaigns…">
            <a:extLst>
              <a:ext uri="{FF2B5EF4-FFF2-40B4-BE49-F238E27FC236}">
                <a16:creationId xmlns:a16="http://schemas.microsoft.com/office/drawing/2014/main" id="{D1BC9E37-A2FA-B48D-78BB-741FF6063775}"/>
              </a:ext>
            </a:extLst>
          </p:cNvPr>
          <p:cNvSpPr txBox="1"/>
          <p:nvPr/>
        </p:nvSpPr>
        <p:spPr>
          <a:xfrm>
            <a:off x="468354" y="5814036"/>
            <a:ext cx="2646133" cy="586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r">
              <a:lnSpc>
                <a:spcPct val="130000"/>
              </a:lnSpc>
              <a:defRPr sz="2000">
                <a:solidFill>
                  <a:srgbClr val="000000">
                    <a:alpha val="70000"/>
                  </a:srgbClr>
                </a:solidFill>
                <a:latin typeface="Helvetica"/>
                <a:ea typeface="Helvetica"/>
                <a:cs typeface="Helvetica"/>
                <a:sym typeface="Helvetica"/>
              </a:defRPr>
            </a:pPr>
            <a:r>
              <a:rPr lang="en-US" sz="1000" b="1" dirty="0" err="1">
                <a:solidFill>
                  <a:srgbClr val="595959">
                    <a:alpha val="70000"/>
                  </a:srgbClr>
                </a:solidFill>
                <a:latin typeface="DM Sans 14pt" pitchFamily="2" charset="77"/>
              </a:rPr>
              <a:t>Spinify</a:t>
            </a:r>
            <a:endParaRPr lang="en-US" sz="1000" b="1" dirty="0">
              <a:solidFill>
                <a:srgbClr val="595959">
                  <a:alpha val="70000"/>
                </a:srgbClr>
              </a:solidFill>
              <a:latin typeface="DM Sans 14pt" pitchFamily="2" charset="77"/>
            </a:endParaRPr>
          </a:p>
          <a:p>
            <a:pPr algn="r">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Hoopla</a:t>
            </a:r>
          </a:p>
          <a:p>
            <a:pPr algn="r">
              <a:lnSpc>
                <a:spcPct val="130000"/>
              </a:lnSpc>
              <a:defRPr sz="2000">
                <a:solidFill>
                  <a:srgbClr val="000000">
                    <a:alpha val="70000"/>
                  </a:srgbClr>
                </a:solidFill>
                <a:latin typeface="Helvetica"/>
                <a:ea typeface="Helvetica"/>
                <a:cs typeface="Helvetica"/>
                <a:sym typeface="Helvetica"/>
              </a:defRPr>
            </a:pPr>
            <a:r>
              <a:rPr lang="en-US" sz="1000" b="1" dirty="0">
                <a:solidFill>
                  <a:srgbClr val="595959">
                    <a:alpha val="70000"/>
                  </a:srgbClr>
                </a:solidFill>
                <a:latin typeface="DM Sans 14pt" pitchFamily="2" charset="77"/>
              </a:rPr>
              <a:t>Ambition</a:t>
            </a:r>
            <a:endParaRPr sz="1000" b="1" dirty="0">
              <a:solidFill>
                <a:srgbClr val="595959">
                  <a:alpha val="70000"/>
                </a:srgbClr>
              </a:solidFill>
              <a:latin typeface="DM Sans 14pt" pitchFamily="2" charset="77"/>
            </a:endParaRPr>
          </a:p>
        </p:txBody>
      </p:sp>
      <p:sp>
        <p:nvSpPr>
          <p:cNvPr id="217" name="Line">
            <a:extLst>
              <a:ext uri="{FF2B5EF4-FFF2-40B4-BE49-F238E27FC236}">
                <a16:creationId xmlns:a16="http://schemas.microsoft.com/office/drawing/2014/main" id="{264538BB-A2B9-F575-E529-FB8EA29E9ACE}"/>
              </a:ext>
            </a:extLst>
          </p:cNvPr>
          <p:cNvSpPr/>
          <p:nvPr/>
        </p:nvSpPr>
        <p:spPr>
          <a:xfrm>
            <a:off x="8146027" y="3696717"/>
            <a:ext cx="743122" cy="1"/>
          </a:xfrm>
          <a:prstGeom prst="line">
            <a:avLst/>
          </a:prstGeom>
          <a:ln w="38100">
            <a:solidFill>
              <a:srgbClr val="262626"/>
            </a:solidFill>
            <a:miter/>
            <a:headEnd type="oval"/>
            <a:tailEnd type="oval"/>
          </a:ln>
        </p:spPr>
        <p:txBody>
          <a:bodyPr tIns="45720" bIns="45720"/>
          <a:lstStyle/>
          <a:p>
            <a:pPr algn="l">
              <a:defRPr sz="3600">
                <a:solidFill>
                  <a:srgbClr val="000000"/>
                </a:solidFill>
                <a:latin typeface="Montserrat Light"/>
                <a:ea typeface="Montserrat Light"/>
                <a:cs typeface="Montserrat Light"/>
                <a:sym typeface="Montserrat Light"/>
              </a:defRPr>
            </a:pPr>
            <a:endParaRPr/>
          </a:p>
        </p:txBody>
      </p:sp>
      <p:sp>
        <p:nvSpPr>
          <p:cNvPr id="218" name="Line">
            <a:extLst>
              <a:ext uri="{FF2B5EF4-FFF2-40B4-BE49-F238E27FC236}">
                <a16:creationId xmlns:a16="http://schemas.microsoft.com/office/drawing/2014/main" id="{54FDCB94-97AB-C61E-2DFD-A9809EA7E3EA}"/>
              </a:ext>
            </a:extLst>
          </p:cNvPr>
          <p:cNvSpPr/>
          <p:nvPr/>
        </p:nvSpPr>
        <p:spPr>
          <a:xfrm>
            <a:off x="8146027" y="4984759"/>
            <a:ext cx="743122" cy="1"/>
          </a:xfrm>
          <a:prstGeom prst="line">
            <a:avLst/>
          </a:prstGeom>
          <a:ln w="38100">
            <a:solidFill>
              <a:srgbClr val="262626"/>
            </a:solidFill>
            <a:miter/>
            <a:headEnd type="oval"/>
            <a:tailEnd type="oval"/>
          </a:ln>
        </p:spPr>
        <p:txBody>
          <a:bodyPr tIns="45720" bIns="45720"/>
          <a:lstStyle/>
          <a:p>
            <a:pPr algn="l">
              <a:defRPr sz="3600">
                <a:solidFill>
                  <a:srgbClr val="000000"/>
                </a:solidFill>
                <a:latin typeface="Montserrat Light"/>
                <a:ea typeface="Montserrat Light"/>
                <a:cs typeface="Montserrat Light"/>
                <a:sym typeface="Montserrat Light"/>
              </a:defRPr>
            </a:pPr>
            <a:endParaRPr/>
          </a:p>
        </p:txBody>
      </p:sp>
      <p:sp>
        <p:nvSpPr>
          <p:cNvPr id="220" name="Line">
            <a:extLst>
              <a:ext uri="{FF2B5EF4-FFF2-40B4-BE49-F238E27FC236}">
                <a16:creationId xmlns:a16="http://schemas.microsoft.com/office/drawing/2014/main" id="{11B33C38-B534-40FD-1354-AC8814790FF7}"/>
              </a:ext>
            </a:extLst>
          </p:cNvPr>
          <p:cNvSpPr/>
          <p:nvPr/>
        </p:nvSpPr>
        <p:spPr>
          <a:xfrm>
            <a:off x="3321437" y="3100786"/>
            <a:ext cx="973409" cy="1"/>
          </a:xfrm>
          <a:prstGeom prst="line">
            <a:avLst/>
          </a:prstGeom>
          <a:ln w="38100">
            <a:solidFill>
              <a:srgbClr val="262626"/>
            </a:solidFill>
            <a:miter/>
            <a:headEnd type="oval"/>
            <a:tailEnd type="oval"/>
          </a:ln>
        </p:spPr>
        <p:txBody>
          <a:bodyPr tIns="45720" bIns="45720"/>
          <a:lstStyle/>
          <a:p>
            <a:pPr algn="l">
              <a:defRPr sz="3600">
                <a:solidFill>
                  <a:srgbClr val="000000"/>
                </a:solidFill>
                <a:latin typeface="Montserrat Light"/>
                <a:ea typeface="Montserrat Light"/>
                <a:cs typeface="Montserrat Light"/>
                <a:sym typeface="Montserrat Light"/>
              </a:defRPr>
            </a:pPr>
            <a:endParaRPr/>
          </a:p>
        </p:txBody>
      </p:sp>
      <p:sp>
        <p:nvSpPr>
          <p:cNvPr id="221" name="Line">
            <a:extLst>
              <a:ext uri="{FF2B5EF4-FFF2-40B4-BE49-F238E27FC236}">
                <a16:creationId xmlns:a16="http://schemas.microsoft.com/office/drawing/2014/main" id="{09ABF444-2343-E497-C7BF-CB2127300BEC}"/>
              </a:ext>
            </a:extLst>
          </p:cNvPr>
          <p:cNvSpPr/>
          <p:nvPr/>
        </p:nvSpPr>
        <p:spPr>
          <a:xfrm>
            <a:off x="3322107" y="4340873"/>
            <a:ext cx="527361" cy="1"/>
          </a:xfrm>
          <a:prstGeom prst="line">
            <a:avLst/>
          </a:prstGeom>
          <a:ln w="38100">
            <a:solidFill>
              <a:srgbClr val="262626"/>
            </a:solidFill>
            <a:miter/>
            <a:headEnd type="oval"/>
            <a:tailEnd type="oval"/>
          </a:ln>
        </p:spPr>
        <p:txBody>
          <a:bodyPr tIns="45720" bIns="45720"/>
          <a:lstStyle/>
          <a:p>
            <a:pPr algn="l">
              <a:defRPr sz="3600">
                <a:solidFill>
                  <a:srgbClr val="000000"/>
                </a:solidFill>
                <a:latin typeface="Montserrat Light"/>
                <a:ea typeface="Montserrat Light"/>
                <a:cs typeface="Montserrat Light"/>
                <a:sym typeface="Montserrat Light"/>
              </a:defRPr>
            </a:pPr>
            <a:endParaRPr/>
          </a:p>
        </p:txBody>
      </p:sp>
      <p:sp>
        <p:nvSpPr>
          <p:cNvPr id="222" name="Line">
            <a:extLst>
              <a:ext uri="{FF2B5EF4-FFF2-40B4-BE49-F238E27FC236}">
                <a16:creationId xmlns:a16="http://schemas.microsoft.com/office/drawing/2014/main" id="{C729627B-3F07-4B1C-909A-4688F5E78E61}"/>
              </a:ext>
            </a:extLst>
          </p:cNvPr>
          <p:cNvSpPr/>
          <p:nvPr/>
        </p:nvSpPr>
        <p:spPr>
          <a:xfrm>
            <a:off x="3321437" y="5582762"/>
            <a:ext cx="973409" cy="1"/>
          </a:xfrm>
          <a:prstGeom prst="line">
            <a:avLst/>
          </a:prstGeom>
          <a:ln w="38100">
            <a:solidFill>
              <a:srgbClr val="262626"/>
            </a:solidFill>
            <a:miter/>
            <a:headEnd type="oval"/>
            <a:tailEnd type="oval"/>
          </a:ln>
        </p:spPr>
        <p:txBody>
          <a:bodyPr tIns="45720" bIns="45720"/>
          <a:lstStyle/>
          <a:p>
            <a:pPr algn="l">
              <a:defRPr sz="3600">
                <a:solidFill>
                  <a:srgbClr val="000000"/>
                </a:solidFill>
                <a:latin typeface="Montserrat Light"/>
                <a:ea typeface="Montserrat Light"/>
                <a:cs typeface="Montserrat Light"/>
                <a:sym typeface="Montserrat Light"/>
              </a:defRPr>
            </a:pPr>
            <a:endParaRPr/>
          </a:p>
        </p:txBody>
      </p:sp>
      <p:sp>
        <p:nvSpPr>
          <p:cNvPr id="6" name="TextBox 5">
            <a:extLst>
              <a:ext uri="{FF2B5EF4-FFF2-40B4-BE49-F238E27FC236}">
                <a16:creationId xmlns:a16="http://schemas.microsoft.com/office/drawing/2014/main" id="{C106B1A0-8977-310C-5030-E26BF50E6F00}"/>
              </a:ext>
            </a:extLst>
          </p:cNvPr>
          <p:cNvSpPr txBox="1"/>
          <p:nvPr/>
        </p:nvSpPr>
        <p:spPr>
          <a:xfrm>
            <a:off x="4769802" y="1352708"/>
            <a:ext cx="6097836" cy="738664"/>
          </a:xfrm>
          <a:prstGeom prst="rect">
            <a:avLst/>
          </a:prstGeom>
          <a:noFill/>
        </p:spPr>
        <p:txBody>
          <a:bodyPr wrap="square">
            <a:spAutoFit/>
          </a:bodyPr>
          <a:lstStyle/>
          <a:p>
            <a:r>
              <a:rPr lang="en-US" sz="1400" b="0" i="0" u="none" strike="noStrike" dirty="0">
                <a:solidFill>
                  <a:srgbClr val="595959"/>
                </a:solidFill>
                <a:effectLst/>
                <a:latin typeface="DM Sans 14pt" pitchFamily="2" charset="77"/>
              </a:rPr>
              <a:t>Ignite excels by combining advanced AI-driven financial insights with industry-specific customization, turning strategic financial plans into clear, actionable roadmaps that boost revenue.</a:t>
            </a:r>
            <a:endParaRPr lang="en-US" sz="1400" dirty="0">
              <a:solidFill>
                <a:srgbClr val="595959"/>
              </a:solidFill>
              <a:latin typeface="DM Sans 14pt"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500"/>
                                  </p:stCondLst>
                                  <p:iterate>
                                    <p:tmAbs val="0"/>
                                  </p:iterate>
                                  <p:childTnLst>
                                    <p:set>
                                      <p:cBhvr>
                                        <p:cTn id="6" fill="hold"/>
                                        <p:tgtEl>
                                          <p:spTgt spid="196"/>
                                        </p:tgtEl>
                                        <p:attrNameLst>
                                          <p:attrName>style.visibility</p:attrName>
                                        </p:attrNameLst>
                                      </p:cBhvr>
                                      <p:to>
                                        <p:strVal val="visible"/>
                                      </p:to>
                                    </p:set>
                                    <p:anim calcmode="lin" valueType="num">
                                      <p:cBhvr>
                                        <p:cTn id="7" dur="250" fill="hold"/>
                                        <p:tgtEl>
                                          <p:spTgt spid="196"/>
                                        </p:tgtEl>
                                        <p:attrNameLst>
                                          <p:attrName>ppt_x</p:attrName>
                                        </p:attrNameLst>
                                      </p:cBhvr>
                                      <p:tavLst>
                                        <p:tav tm="0">
                                          <p:val>
                                            <p:strVal val="#ppt_x"/>
                                          </p:val>
                                        </p:tav>
                                        <p:tav tm="100000">
                                          <p:val>
                                            <p:strVal val="#ppt_x"/>
                                          </p:val>
                                        </p:tav>
                                      </p:tavLst>
                                    </p:anim>
                                    <p:anim calcmode="lin" valueType="num">
                                      <p:cBhvr>
                                        <p:cTn id="8" dur="250" fill="hold"/>
                                        <p:tgtEl>
                                          <p:spTgt spid="196"/>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grpId="0" nodeType="afterEffect">
                                  <p:stCondLst>
                                    <p:cond delay="500"/>
                                  </p:stCondLst>
                                  <p:iterate>
                                    <p:tmAbs val="0"/>
                                  </p:iterate>
                                  <p:childTnLst>
                                    <p:set>
                                      <p:cBhvr>
                                        <p:cTn id="11" fill="hold"/>
                                        <p:tgtEl>
                                          <p:spTgt spid="193"/>
                                        </p:tgtEl>
                                        <p:attrNameLst>
                                          <p:attrName>style.visibility</p:attrName>
                                        </p:attrNameLst>
                                      </p:cBhvr>
                                      <p:to>
                                        <p:strVal val="visible"/>
                                      </p:to>
                                    </p:set>
                                    <p:anim calcmode="lin" valueType="num">
                                      <p:cBhvr>
                                        <p:cTn id="12" dur="250" fill="hold"/>
                                        <p:tgtEl>
                                          <p:spTgt spid="193"/>
                                        </p:tgtEl>
                                        <p:attrNameLst>
                                          <p:attrName>ppt_x</p:attrName>
                                        </p:attrNameLst>
                                      </p:cBhvr>
                                      <p:tavLst>
                                        <p:tav tm="0">
                                          <p:val>
                                            <p:strVal val="#ppt_x"/>
                                          </p:val>
                                        </p:tav>
                                        <p:tav tm="100000">
                                          <p:val>
                                            <p:strVal val="#ppt_x"/>
                                          </p:val>
                                        </p:tav>
                                      </p:tavLst>
                                    </p:anim>
                                    <p:anim calcmode="lin" valueType="num">
                                      <p:cBhvr>
                                        <p:cTn id="13" dur="250" fill="hold"/>
                                        <p:tgtEl>
                                          <p:spTgt spid="193"/>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grpId="0" nodeType="afterEffect">
                                  <p:stCondLst>
                                    <p:cond delay="500"/>
                                  </p:stCondLst>
                                  <p:iterate>
                                    <p:tmAbs val="0"/>
                                  </p:iterate>
                                  <p:childTnLst>
                                    <p:set>
                                      <p:cBhvr>
                                        <p:cTn id="16" fill="hold"/>
                                        <p:tgtEl>
                                          <p:spTgt spid="190"/>
                                        </p:tgtEl>
                                        <p:attrNameLst>
                                          <p:attrName>style.visibility</p:attrName>
                                        </p:attrNameLst>
                                      </p:cBhvr>
                                      <p:to>
                                        <p:strVal val="visible"/>
                                      </p:to>
                                    </p:set>
                                    <p:anim calcmode="lin" valueType="num">
                                      <p:cBhvr>
                                        <p:cTn id="17" dur="250" fill="hold"/>
                                        <p:tgtEl>
                                          <p:spTgt spid="190"/>
                                        </p:tgtEl>
                                        <p:attrNameLst>
                                          <p:attrName>ppt_x</p:attrName>
                                        </p:attrNameLst>
                                      </p:cBhvr>
                                      <p:tavLst>
                                        <p:tav tm="0">
                                          <p:val>
                                            <p:strVal val="#ppt_x"/>
                                          </p:val>
                                        </p:tav>
                                        <p:tav tm="100000">
                                          <p:val>
                                            <p:strVal val="#ppt_x"/>
                                          </p:val>
                                        </p:tav>
                                      </p:tavLst>
                                    </p:anim>
                                    <p:anim calcmode="lin" valueType="num">
                                      <p:cBhvr>
                                        <p:cTn id="18" dur="250" fill="hold"/>
                                        <p:tgtEl>
                                          <p:spTgt spid="190"/>
                                        </p:tgtEl>
                                        <p:attrNameLst>
                                          <p:attrName>ppt_y</p:attrName>
                                        </p:attrNameLst>
                                      </p:cBhvr>
                                      <p:tavLst>
                                        <p:tav tm="0">
                                          <p:val>
                                            <p:strVal val="1+#ppt_h/2"/>
                                          </p:val>
                                        </p:tav>
                                        <p:tav tm="100000">
                                          <p:val>
                                            <p:strVal val="#ppt_y"/>
                                          </p:val>
                                        </p:tav>
                                      </p:tavLst>
                                    </p:anim>
                                  </p:childTnLst>
                                </p:cTn>
                              </p:par>
                            </p:childTnLst>
                          </p:cTn>
                        </p:par>
                        <p:par>
                          <p:cTn id="19" fill="hold">
                            <p:stCondLst>
                              <p:cond delay="2250"/>
                            </p:stCondLst>
                            <p:childTnLst>
                              <p:par>
                                <p:cTn id="20" presetID="2" presetClass="entr" presetSubtype="4" fill="hold" grpId="0" nodeType="afterEffect">
                                  <p:stCondLst>
                                    <p:cond delay="500"/>
                                  </p:stCondLst>
                                  <p:iterate>
                                    <p:tmAbs val="0"/>
                                  </p:iterate>
                                  <p:childTnLst>
                                    <p:set>
                                      <p:cBhvr>
                                        <p:cTn id="21" fill="hold"/>
                                        <p:tgtEl>
                                          <p:spTgt spid="187"/>
                                        </p:tgtEl>
                                        <p:attrNameLst>
                                          <p:attrName>style.visibility</p:attrName>
                                        </p:attrNameLst>
                                      </p:cBhvr>
                                      <p:to>
                                        <p:strVal val="visible"/>
                                      </p:to>
                                    </p:set>
                                    <p:anim calcmode="lin" valueType="num">
                                      <p:cBhvr>
                                        <p:cTn id="22" dur="250" fill="hold"/>
                                        <p:tgtEl>
                                          <p:spTgt spid="187"/>
                                        </p:tgtEl>
                                        <p:attrNameLst>
                                          <p:attrName>ppt_x</p:attrName>
                                        </p:attrNameLst>
                                      </p:cBhvr>
                                      <p:tavLst>
                                        <p:tav tm="0">
                                          <p:val>
                                            <p:strVal val="#ppt_x"/>
                                          </p:val>
                                        </p:tav>
                                        <p:tav tm="100000">
                                          <p:val>
                                            <p:strVal val="#ppt_x"/>
                                          </p:val>
                                        </p:tav>
                                      </p:tavLst>
                                    </p:anim>
                                    <p:anim calcmode="lin" valueType="num">
                                      <p:cBhvr>
                                        <p:cTn id="23" dur="250" fill="hold"/>
                                        <p:tgtEl>
                                          <p:spTgt spid="187"/>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 presetClass="entr" presetSubtype="4" fill="hold" grpId="0" nodeType="afterEffect">
                                  <p:stCondLst>
                                    <p:cond delay="500"/>
                                  </p:stCondLst>
                                  <p:iterate>
                                    <p:tmAbs val="0"/>
                                  </p:iterate>
                                  <p:childTnLst>
                                    <p:set>
                                      <p:cBhvr>
                                        <p:cTn id="26" fill="hold"/>
                                        <p:tgtEl>
                                          <p:spTgt spid="184"/>
                                        </p:tgtEl>
                                        <p:attrNameLst>
                                          <p:attrName>style.visibility</p:attrName>
                                        </p:attrNameLst>
                                      </p:cBhvr>
                                      <p:to>
                                        <p:strVal val="visible"/>
                                      </p:to>
                                    </p:set>
                                    <p:anim calcmode="lin" valueType="num">
                                      <p:cBhvr>
                                        <p:cTn id="27" dur="250" fill="hold"/>
                                        <p:tgtEl>
                                          <p:spTgt spid="184"/>
                                        </p:tgtEl>
                                        <p:attrNameLst>
                                          <p:attrName>ppt_x</p:attrName>
                                        </p:attrNameLst>
                                      </p:cBhvr>
                                      <p:tavLst>
                                        <p:tav tm="0">
                                          <p:val>
                                            <p:strVal val="#ppt_x"/>
                                          </p:val>
                                        </p:tav>
                                        <p:tav tm="100000">
                                          <p:val>
                                            <p:strVal val="#ppt_x"/>
                                          </p:val>
                                        </p:tav>
                                      </p:tavLst>
                                    </p:anim>
                                    <p:anim calcmode="lin" valueType="num">
                                      <p:cBhvr>
                                        <p:cTn id="28" dur="250" fill="hold"/>
                                        <p:tgtEl>
                                          <p:spTgt spid="184"/>
                                        </p:tgtEl>
                                        <p:attrNameLst>
                                          <p:attrName>ppt_y</p:attrName>
                                        </p:attrNameLst>
                                      </p:cBhvr>
                                      <p:tavLst>
                                        <p:tav tm="0">
                                          <p:val>
                                            <p:strVal val="1+#ppt_h/2"/>
                                          </p:val>
                                        </p:tav>
                                        <p:tav tm="100000">
                                          <p:val>
                                            <p:strVal val="#ppt_y"/>
                                          </p:val>
                                        </p:tav>
                                      </p:tavLst>
                                    </p:anim>
                                  </p:childTnLst>
                                </p:cTn>
                              </p:par>
                            </p:childTnLst>
                          </p:cTn>
                        </p:par>
                        <p:par>
                          <p:cTn id="29" fill="hold">
                            <p:stCondLst>
                              <p:cond delay="3750"/>
                            </p:stCondLst>
                            <p:childTnLst>
                              <p:par>
                                <p:cTn id="30" presetID="10" presetClass="entr" fill="hold" grpId="0" nodeType="afterEffect">
                                  <p:stCondLst>
                                    <p:cond delay="500"/>
                                  </p:stCondLst>
                                  <p:iterate>
                                    <p:tmAbs val="0"/>
                                  </p:iterate>
                                  <p:childTnLst>
                                    <p:set>
                                      <p:cBhvr>
                                        <p:cTn id="31" fill="hold"/>
                                        <p:tgtEl>
                                          <p:spTgt spid="220"/>
                                        </p:tgtEl>
                                        <p:attrNameLst>
                                          <p:attrName>style.visibility</p:attrName>
                                        </p:attrNameLst>
                                      </p:cBhvr>
                                      <p:to>
                                        <p:strVal val="visible"/>
                                      </p:to>
                                    </p:set>
                                    <p:animEffect transition="in" filter="fade">
                                      <p:cBhvr>
                                        <p:cTn id="32" dur="250"/>
                                        <p:tgtEl>
                                          <p:spTgt spid="220"/>
                                        </p:tgtEl>
                                      </p:cBhvr>
                                    </p:animEffect>
                                  </p:childTnLst>
                                </p:cTn>
                              </p:par>
                            </p:childTnLst>
                          </p:cTn>
                        </p:par>
                        <p:par>
                          <p:cTn id="33" fill="hold">
                            <p:stCondLst>
                              <p:cond delay="4500"/>
                            </p:stCondLst>
                            <p:childTnLst>
                              <p:par>
                                <p:cTn id="34" presetID="23" presetClass="entr" presetSubtype="16" fill="hold" grpId="0" nodeType="afterEffect">
                                  <p:stCondLst>
                                    <p:cond delay="0"/>
                                  </p:stCondLst>
                                  <p:iterate>
                                    <p:tmAbs val="0"/>
                                  </p:iterate>
                                  <p:childTnLst>
                                    <p:set>
                                      <p:cBhvr>
                                        <p:cTn id="35" fill="hold"/>
                                        <p:tgtEl>
                                          <p:spTgt spid="210"/>
                                        </p:tgtEl>
                                        <p:attrNameLst>
                                          <p:attrName>style.visibility</p:attrName>
                                        </p:attrNameLst>
                                      </p:cBhvr>
                                      <p:to>
                                        <p:strVal val="visible"/>
                                      </p:to>
                                    </p:set>
                                    <p:anim calcmode="lin" valueType="num">
                                      <p:cBhvr>
                                        <p:cTn id="36" dur="250" fill="hold"/>
                                        <p:tgtEl>
                                          <p:spTgt spid="210"/>
                                        </p:tgtEl>
                                        <p:attrNameLst>
                                          <p:attrName>ppt_w</p:attrName>
                                        </p:attrNameLst>
                                      </p:cBhvr>
                                      <p:tavLst>
                                        <p:tav tm="0">
                                          <p:val>
                                            <p:fltVal val="0"/>
                                          </p:val>
                                        </p:tav>
                                        <p:tav tm="100000">
                                          <p:val>
                                            <p:strVal val="#ppt_w"/>
                                          </p:val>
                                        </p:tav>
                                      </p:tavLst>
                                    </p:anim>
                                    <p:anim calcmode="lin" valueType="num">
                                      <p:cBhvr>
                                        <p:cTn id="37" dur="250" fill="hold"/>
                                        <p:tgtEl>
                                          <p:spTgt spid="210"/>
                                        </p:tgtEl>
                                        <p:attrNameLst>
                                          <p:attrName>ppt_h</p:attrName>
                                        </p:attrNameLst>
                                      </p:cBhvr>
                                      <p:tavLst>
                                        <p:tav tm="0">
                                          <p:val>
                                            <p:fltVal val="0"/>
                                          </p:val>
                                        </p:tav>
                                        <p:tav tm="100000">
                                          <p:val>
                                            <p:strVal val="#ppt_h"/>
                                          </p:val>
                                        </p:tav>
                                      </p:tavLst>
                                    </p:anim>
                                  </p:childTnLst>
                                </p:cTn>
                              </p:par>
                            </p:childTnLst>
                          </p:cTn>
                        </p:par>
                        <p:par>
                          <p:cTn id="38" fill="hold">
                            <p:stCondLst>
                              <p:cond delay="4750"/>
                            </p:stCondLst>
                            <p:childTnLst>
                              <p:par>
                                <p:cTn id="39" presetID="23" presetClass="entr" presetSubtype="16" fill="hold" grpId="0" nodeType="afterEffect">
                                  <p:stCondLst>
                                    <p:cond delay="0"/>
                                  </p:stCondLst>
                                  <p:iterate>
                                    <p:tmAbs val="0"/>
                                  </p:iterate>
                                  <p:childTnLst>
                                    <p:set>
                                      <p:cBhvr>
                                        <p:cTn id="40" fill="hold"/>
                                        <p:tgtEl>
                                          <p:spTgt spid="211"/>
                                        </p:tgtEl>
                                        <p:attrNameLst>
                                          <p:attrName>style.visibility</p:attrName>
                                        </p:attrNameLst>
                                      </p:cBhvr>
                                      <p:to>
                                        <p:strVal val="visible"/>
                                      </p:to>
                                    </p:set>
                                    <p:anim calcmode="lin" valueType="num">
                                      <p:cBhvr>
                                        <p:cTn id="41" dur="250" fill="hold"/>
                                        <p:tgtEl>
                                          <p:spTgt spid="211"/>
                                        </p:tgtEl>
                                        <p:attrNameLst>
                                          <p:attrName>ppt_w</p:attrName>
                                        </p:attrNameLst>
                                      </p:cBhvr>
                                      <p:tavLst>
                                        <p:tav tm="0">
                                          <p:val>
                                            <p:fltVal val="0"/>
                                          </p:val>
                                        </p:tav>
                                        <p:tav tm="100000">
                                          <p:val>
                                            <p:strVal val="#ppt_w"/>
                                          </p:val>
                                        </p:tav>
                                      </p:tavLst>
                                    </p:anim>
                                    <p:anim calcmode="lin" valueType="num">
                                      <p:cBhvr>
                                        <p:cTn id="42" dur="250" fill="hold"/>
                                        <p:tgtEl>
                                          <p:spTgt spid="211"/>
                                        </p:tgtEl>
                                        <p:attrNameLst>
                                          <p:attrName>ppt_h</p:attrName>
                                        </p:attrNameLst>
                                      </p:cBhvr>
                                      <p:tavLst>
                                        <p:tav tm="0">
                                          <p:val>
                                            <p:fltVal val="0"/>
                                          </p:val>
                                        </p:tav>
                                        <p:tav tm="100000">
                                          <p:val>
                                            <p:strVal val="#ppt_h"/>
                                          </p:val>
                                        </p:tav>
                                      </p:tavLst>
                                    </p:anim>
                                  </p:childTnLst>
                                </p:cTn>
                              </p:par>
                            </p:childTnLst>
                          </p:cTn>
                        </p:par>
                        <p:par>
                          <p:cTn id="43" fill="hold">
                            <p:stCondLst>
                              <p:cond delay="5000"/>
                            </p:stCondLst>
                            <p:childTnLst>
                              <p:par>
                                <p:cTn id="44" presetID="10" presetClass="entr" fill="hold" grpId="0" nodeType="afterEffect">
                                  <p:stCondLst>
                                    <p:cond delay="500"/>
                                  </p:stCondLst>
                                  <p:iterate>
                                    <p:tmAbs val="0"/>
                                  </p:iterate>
                                  <p:childTnLst>
                                    <p:set>
                                      <p:cBhvr>
                                        <p:cTn id="45" fill="hold"/>
                                        <p:tgtEl>
                                          <p:spTgt spid="217"/>
                                        </p:tgtEl>
                                        <p:attrNameLst>
                                          <p:attrName>style.visibility</p:attrName>
                                        </p:attrNameLst>
                                      </p:cBhvr>
                                      <p:to>
                                        <p:strVal val="visible"/>
                                      </p:to>
                                    </p:set>
                                    <p:animEffect transition="in" filter="fade">
                                      <p:cBhvr>
                                        <p:cTn id="46" dur="250"/>
                                        <p:tgtEl>
                                          <p:spTgt spid="217"/>
                                        </p:tgtEl>
                                      </p:cBhvr>
                                    </p:animEffect>
                                  </p:childTnLst>
                                </p:cTn>
                              </p:par>
                            </p:childTnLst>
                          </p:cTn>
                        </p:par>
                        <p:par>
                          <p:cTn id="47" fill="hold">
                            <p:stCondLst>
                              <p:cond delay="5750"/>
                            </p:stCondLst>
                            <p:childTnLst>
                              <p:par>
                                <p:cTn id="48" presetID="23" presetClass="entr" presetSubtype="16" fill="hold" grpId="0" nodeType="afterEffect">
                                  <p:stCondLst>
                                    <p:cond delay="0"/>
                                  </p:stCondLst>
                                  <p:iterate>
                                    <p:tmAbs val="0"/>
                                  </p:iterate>
                                  <p:childTnLst>
                                    <p:set>
                                      <p:cBhvr>
                                        <p:cTn id="49" fill="hold"/>
                                        <p:tgtEl>
                                          <p:spTgt spid="202"/>
                                        </p:tgtEl>
                                        <p:attrNameLst>
                                          <p:attrName>style.visibility</p:attrName>
                                        </p:attrNameLst>
                                      </p:cBhvr>
                                      <p:to>
                                        <p:strVal val="visible"/>
                                      </p:to>
                                    </p:set>
                                    <p:anim calcmode="lin" valueType="num">
                                      <p:cBhvr>
                                        <p:cTn id="50" dur="250" fill="hold"/>
                                        <p:tgtEl>
                                          <p:spTgt spid="202"/>
                                        </p:tgtEl>
                                        <p:attrNameLst>
                                          <p:attrName>ppt_w</p:attrName>
                                        </p:attrNameLst>
                                      </p:cBhvr>
                                      <p:tavLst>
                                        <p:tav tm="0">
                                          <p:val>
                                            <p:fltVal val="0"/>
                                          </p:val>
                                        </p:tav>
                                        <p:tav tm="100000">
                                          <p:val>
                                            <p:strVal val="#ppt_w"/>
                                          </p:val>
                                        </p:tav>
                                      </p:tavLst>
                                    </p:anim>
                                    <p:anim calcmode="lin" valueType="num">
                                      <p:cBhvr>
                                        <p:cTn id="51" dur="250" fill="hold"/>
                                        <p:tgtEl>
                                          <p:spTgt spid="202"/>
                                        </p:tgtEl>
                                        <p:attrNameLst>
                                          <p:attrName>ppt_h</p:attrName>
                                        </p:attrNameLst>
                                      </p:cBhvr>
                                      <p:tavLst>
                                        <p:tav tm="0">
                                          <p:val>
                                            <p:fltVal val="0"/>
                                          </p:val>
                                        </p:tav>
                                        <p:tav tm="100000">
                                          <p:val>
                                            <p:strVal val="#ppt_h"/>
                                          </p:val>
                                        </p:tav>
                                      </p:tavLst>
                                    </p:anim>
                                  </p:childTnLst>
                                </p:cTn>
                              </p:par>
                            </p:childTnLst>
                          </p:cTn>
                        </p:par>
                        <p:par>
                          <p:cTn id="52" fill="hold">
                            <p:stCondLst>
                              <p:cond delay="6000"/>
                            </p:stCondLst>
                            <p:childTnLst>
                              <p:par>
                                <p:cTn id="53" presetID="23" presetClass="entr" presetSubtype="16" fill="hold" grpId="0" nodeType="afterEffect">
                                  <p:stCondLst>
                                    <p:cond delay="0"/>
                                  </p:stCondLst>
                                  <p:iterate>
                                    <p:tmAbs val="0"/>
                                  </p:iterate>
                                  <p:childTnLst>
                                    <p:set>
                                      <p:cBhvr>
                                        <p:cTn id="54" fill="hold"/>
                                        <p:tgtEl>
                                          <p:spTgt spid="203"/>
                                        </p:tgtEl>
                                        <p:attrNameLst>
                                          <p:attrName>style.visibility</p:attrName>
                                        </p:attrNameLst>
                                      </p:cBhvr>
                                      <p:to>
                                        <p:strVal val="visible"/>
                                      </p:to>
                                    </p:set>
                                    <p:anim calcmode="lin" valueType="num">
                                      <p:cBhvr>
                                        <p:cTn id="55" dur="250" fill="hold"/>
                                        <p:tgtEl>
                                          <p:spTgt spid="203"/>
                                        </p:tgtEl>
                                        <p:attrNameLst>
                                          <p:attrName>ppt_w</p:attrName>
                                        </p:attrNameLst>
                                      </p:cBhvr>
                                      <p:tavLst>
                                        <p:tav tm="0">
                                          <p:val>
                                            <p:fltVal val="0"/>
                                          </p:val>
                                        </p:tav>
                                        <p:tav tm="100000">
                                          <p:val>
                                            <p:strVal val="#ppt_w"/>
                                          </p:val>
                                        </p:tav>
                                      </p:tavLst>
                                    </p:anim>
                                    <p:anim calcmode="lin" valueType="num">
                                      <p:cBhvr>
                                        <p:cTn id="56" dur="250" fill="hold"/>
                                        <p:tgtEl>
                                          <p:spTgt spid="203"/>
                                        </p:tgtEl>
                                        <p:attrNameLst>
                                          <p:attrName>ppt_h</p:attrName>
                                        </p:attrNameLst>
                                      </p:cBhvr>
                                      <p:tavLst>
                                        <p:tav tm="0">
                                          <p:val>
                                            <p:fltVal val="0"/>
                                          </p:val>
                                        </p:tav>
                                        <p:tav tm="100000">
                                          <p:val>
                                            <p:strVal val="#ppt_h"/>
                                          </p:val>
                                        </p:tav>
                                      </p:tavLst>
                                    </p:anim>
                                  </p:childTnLst>
                                </p:cTn>
                              </p:par>
                            </p:childTnLst>
                          </p:cTn>
                        </p:par>
                        <p:par>
                          <p:cTn id="57" fill="hold">
                            <p:stCondLst>
                              <p:cond delay="6250"/>
                            </p:stCondLst>
                            <p:childTnLst>
                              <p:par>
                                <p:cTn id="58" presetID="10" presetClass="entr" fill="hold" grpId="0" nodeType="afterEffect">
                                  <p:stCondLst>
                                    <p:cond delay="500"/>
                                  </p:stCondLst>
                                  <p:iterate>
                                    <p:tmAbs val="0"/>
                                  </p:iterate>
                                  <p:childTnLst>
                                    <p:set>
                                      <p:cBhvr>
                                        <p:cTn id="59" fill="hold"/>
                                        <p:tgtEl>
                                          <p:spTgt spid="221"/>
                                        </p:tgtEl>
                                        <p:attrNameLst>
                                          <p:attrName>style.visibility</p:attrName>
                                        </p:attrNameLst>
                                      </p:cBhvr>
                                      <p:to>
                                        <p:strVal val="visible"/>
                                      </p:to>
                                    </p:set>
                                    <p:animEffect transition="in" filter="fade">
                                      <p:cBhvr>
                                        <p:cTn id="60" dur="250"/>
                                        <p:tgtEl>
                                          <p:spTgt spid="221"/>
                                        </p:tgtEl>
                                      </p:cBhvr>
                                    </p:animEffect>
                                  </p:childTnLst>
                                </p:cTn>
                              </p:par>
                            </p:childTnLst>
                          </p:cTn>
                        </p:par>
                        <p:par>
                          <p:cTn id="61" fill="hold">
                            <p:stCondLst>
                              <p:cond delay="7000"/>
                            </p:stCondLst>
                            <p:childTnLst>
                              <p:par>
                                <p:cTn id="62" presetID="23" presetClass="entr" presetSubtype="16" fill="hold" grpId="0" nodeType="afterEffect">
                                  <p:stCondLst>
                                    <p:cond delay="0"/>
                                  </p:stCondLst>
                                  <p:iterate>
                                    <p:tmAbs val="0"/>
                                  </p:iterate>
                                  <p:childTnLst>
                                    <p:set>
                                      <p:cBhvr>
                                        <p:cTn id="63" fill="hold"/>
                                        <p:tgtEl>
                                          <p:spTgt spid="212"/>
                                        </p:tgtEl>
                                        <p:attrNameLst>
                                          <p:attrName>style.visibility</p:attrName>
                                        </p:attrNameLst>
                                      </p:cBhvr>
                                      <p:to>
                                        <p:strVal val="visible"/>
                                      </p:to>
                                    </p:set>
                                    <p:anim calcmode="lin" valueType="num">
                                      <p:cBhvr>
                                        <p:cTn id="64" dur="250" fill="hold"/>
                                        <p:tgtEl>
                                          <p:spTgt spid="212"/>
                                        </p:tgtEl>
                                        <p:attrNameLst>
                                          <p:attrName>ppt_w</p:attrName>
                                        </p:attrNameLst>
                                      </p:cBhvr>
                                      <p:tavLst>
                                        <p:tav tm="0">
                                          <p:val>
                                            <p:fltVal val="0"/>
                                          </p:val>
                                        </p:tav>
                                        <p:tav tm="100000">
                                          <p:val>
                                            <p:strVal val="#ppt_w"/>
                                          </p:val>
                                        </p:tav>
                                      </p:tavLst>
                                    </p:anim>
                                    <p:anim calcmode="lin" valueType="num">
                                      <p:cBhvr>
                                        <p:cTn id="65" dur="250" fill="hold"/>
                                        <p:tgtEl>
                                          <p:spTgt spid="212"/>
                                        </p:tgtEl>
                                        <p:attrNameLst>
                                          <p:attrName>ppt_h</p:attrName>
                                        </p:attrNameLst>
                                      </p:cBhvr>
                                      <p:tavLst>
                                        <p:tav tm="0">
                                          <p:val>
                                            <p:fltVal val="0"/>
                                          </p:val>
                                        </p:tav>
                                        <p:tav tm="100000">
                                          <p:val>
                                            <p:strVal val="#ppt_h"/>
                                          </p:val>
                                        </p:tav>
                                      </p:tavLst>
                                    </p:anim>
                                  </p:childTnLst>
                                </p:cTn>
                              </p:par>
                            </p:childTnLst>
                          </p:cTn>
                        </p:par>
                        <p:par>
                          <p:cTn id="66" fill="hold">
                            <p:stCondLst>
                              <p:cond delay="7250"/>
                            </p:stCondLst>
                            <p:childTnLst>
                              <p:par>
                                <p:cTn id="67" presetID="23" presetClass="entr" presetSubtype="16" fill="hold" grpId="0" nodeType="afterEffect">
                                  <p:stCondLst>
                                    <p:cond delay="0"/>
                                  </p:stCondLst>
                                  <p:iterate>
                                    <p:tmAbs val="0"/>
                                  </p:iterate>
                                  <p:childTnLst>
                                    <p:set>
                                      <p:cBhvr>
                                        <p:cTn id="68" fill="hold"/>
                                        <p:tgtEl>
                                          <p:spTgt spid="213"/>
                                        </p:tgtEl>
                                        <p:attrNameLst>
                                          <p:attrName>style.visibility</p:attrName>
                                        </p:attrNameLst>
                                      </p:cBhvr>
                                      <p:to>
                                        <p:strVal val="visible"/>
                                      </p:to>
                                    </p:set>
                                    <p:anim calcmode="lin" valueType="num">
                                      <p:cBhvr>
                                        <p:cTn id="69" dur="250" fill="hold"/>
                                        <p:tgtEl>
                                          <p:spTgt spid="213"/>
                                        </p:tgtEl>
                                        <p:attrNameLst>
                                          <p:attrName>ppt_w</p:attrName>
                                        </p:attrNameLst>
                                      </p:cBhvr>
                                      <p:tavLst>
                                        <p:tav tm="0">
                                          <p:val>
                                            <p:fltVal val="0"/>
                                          </p:val>
                                        </p:tav>
                                        <p:tav tm="100000">
                                          <p:val>
                                            <p:strVal val="#ppt_w"/>
                                          </p:val>
                                        </p:tav>
                                      </p:tavLst>
                                    </p:anim>
                                    <p:anim calcmode="lin" valueType="num">
                                      <p:cBhvr>
                                        <p:cTn id="70" dur="250" fill="hold"/>
                                        <p:tgtEl>
                                          <p:spTgt spid="213"/>
                                        </p:tgtEl>
                                        <p:attrNameLst>
                                          <p:attrName>ppt_h</p:attrName>
                                        </p:attrNameLst>
                                      </p:cBhvr>
                                      <p:tavLst>
                                        <p:tav tm="0">
                                          <p:val>
                                            <p:fltVal val="0"/>
                                          </p:val>
                                        </p:tav>
                                        <p:tav tm="100000">
                                          <p:val>
                                            <p:strVal val="#ppt_h"/>
                                          </p:val>
                                        </p:tav>
                                      </p:tavLst>
                                    </p:anim>
                                  </p:childTnLst>
                                </p:cTn>
                              </p:par>
                            </p:childTnLst>
                          </p:cTn>
                        </p:par>
                        <p:par>
                          <p:cTn id="71" fill="hold">
                            <p:stCondLst>
                              <p:cond delay="7500"/>
                            </p:stCondLst>
                            <p:childTnLst>
                              <p:par>
                                <p:cTn id="72" presetID="10" presetClass="entr" fill="hold" grpId="0" nodeType="afterEffect">
                                  <p:stCondLst>
                                    <p:cond delay="500"/>
                                  </p:stCondLst>
                                  <p:iterate>
                                    <p:tmAbs val="0"/>
                                  </p:iterate>
                                  <p:childTnLst>
                                    <p:set>
                                      <p:cBhvr>
                                        <p:cTn id="73" fill="hold"/>
                                        <p:tgtEl>
                                          <p:spTgt spid="218"/>
                                        </p:tgtEl>
                                        <p:attrNameLst>
                                          <p:attrName>style.visibility</p:attrName>
                                        </p:attrNameLst>
                                      </p:cBhvr>
                                      <p:to>
                                        <p:strVal val="visible"/>
                                      </p:to>
                                    </p:set>
                                    <p:animEffect transition="in" filter="fade">
                                      <p:cBhvr>
                                        <p:cTn id="74" dur="250"/>
                                        <p:tgtEl>
                                          <p:spTgt spid="218"/>
                                        </p:tgtEl>
                                      </p:cBhvr>
                                    </p:animEffect>
                                  </p:childTnLst>
                                </p:cTn>
                              </p:par>
                            </p:childTnLst>
                          </p:cTn>
                        </p:par>
                        <p:par>
                          <p:cTn id="75" fill="hold">
                            <p:stCondLst>
                              <p:cond delay="8250"/>
                            </p:stCondLst>
                            <p:childTnLst>
                              <p:par>
                                <p:cTn id="76" presetID="23" presetClass="entr" presetSubtype="16" fill="hold" grpId="0" nodeType="afterEffect">
                                  <p:stCondLst>
                                    <p:cond delay="0"/>
                                  </p:stCondLst>
                                  <p:iterate>
                                    <p:tmAbs val="0"/>
                                  </p:iterate>
                                  <p:childTnLst>
                                    <p:set>
                                      <p:cBhvr>
                                        <p:cTn id="77" fill="hold"/>
                                        <p:tgtEl>
                                          <p:spTgt spid="206"/>
                                        </p:tgtEl>
                                        <p:attrNameLst>
                                          <p:attrName>style.visibility</p:attrName>
                                        </p:attrNameLst>
                                      </p:cBhvr>
                                      <p:to>
                                        <p:strVal val="visible"/>
                                      </p:to>
                                    </p:set>
                                    <p:anim calcmode="lin" valueType="num">
                                      <p:cBhvr>
                                        <p:cTn id="78" dur="250" fill="hold"/>
                                        <p:tgtEl>
                                          <p:spTgt spid="206"/>
                                        </p:tgtEl>
                                        <p:attrNameLst>
                                          <p:attrName>ppt_w</p:attrName>
                                        </p:attrNameLst>
                                      </p:cBhvr>
                                      <p:tavLst>
                                        <p:tav tm="0">
                                          <p:val>
                                            <p:fltVal val="0"/>
                                          </p:val>
                                        </p:tav>
                                        <p:tav tm="100000">
                                          <p:val>
                                            <p:strVal val="#ppt_w"/>
                                          </p:val>
                                        </p:tav>
                                      </p:tavLst>
                                    </p:anim>
                                    <p:anim calcmode="lin" valueType="num">
                                      <p:cBhvr>
                                        <p:cTn id="79" dur="250" fill="hold"/>
                                        <p:tgtEl>
                                          <p:spTgt spid="206"/>
                                        </p:tgtEl>
                                        <p:attrNameLst>
                                          <p:attrName>ppt_h</p:attrName>
                                        </p:attrNameLst>
                                      </p:cBhvr>
                                      <p:tavLst>
                                        <p:tav tm="0">
                                          <p:val>
                                            <p:fltVal val="0"/>
                                          </p:val>
                                        </p:tav>
                                        <p:tav tm="100000">
                                          <p:val>
                                            <p:strVal val="#ppt_h"/>
                                          </p:val>
                                        </p:tav>
                                      </p:tavLst>
                                    </p:anim>
                                  </p:childTnLst>
                                </p:cTn>
                              </p:par>
                            </p:childTnLst>
                          </p:cTn>
                        </p:par>
                        <p:par>
                          <p:cTn id="80" fill="hold">
                            <p:stCondLst>
                              <p:cond delay="8500"/>
                            </p:stCondLst>
                            <p:childTnLst>
                              <p:par>
                                <p:cTn id="81" presetID="23" presetClass="entr" presetSubtype="16" fill="hold" grpId="0" nodeType="afterEffect">
                                  <p:stCondLst>
                                    <p:cond delay="0"/>
                                  </p:stCondLst>
                                  <p:iterate>
                                    <p:tmAbs val="0"/>
                                  </p:iterate>
                                  <p:childTnLst>
                                    <p:set>
                                      <p:cBhvr>
                                        <p:cTn id="82" fill="hold"/>
                                        <p:tgtEl>
                                          <p:spTgt spid="207"/>
                                        </p:tgtEl>
                                        <p:attrNameLst>
                                          <p:attrName>style.visibility</p:attrName>
                                        </p:attrNameLst>
                                      </p:cBhvr>
                                      <p:to>
                                        <p:strVal val="visible"/>
                                      </p:to>
                                    </p:set>
                                    <p:anim calcmode="lin" valueType="num">
                                      <p:cBhvr>
                                        <p:cTn id="83" dur="250" fill="hold"/>
                                        <p:tgtEl>
                                          <p:spTgt spid="207"/>
                                        </p:tgtEl>
                                        <p:attrNameLst>
                                          <p:attrName>ppt_w</p:attrName>
                                        </p:attrNameLst>
                                      </p:cBhvr>
                                      <p:tavLst>
                                        <p:tav tm="0">
                                          <p:val>
                                            <p:fltVal val="0"/>
                                          </p:val>
                                        </p:tav>
                                        <p:tav tm="100000">
                                          <p:val>
                                            <p:strVal val="#ppt_w"/>
                                          </p:val>
                                        </p:tav>
                                      </p:tavLst>
                                    </p:anim>
                                    <p:anim calcmode="lin" valueType="num">
                                      <p:cBhvr>
                                        <p:cTn id="84" dur="250" fill="hold"/>
                                        <p:tgtEl>
                                          <p:spTgt spid="207"/>
                                        </p:tgtEl>
                                        <p:attrNameLst>
                                          <p:attrName>ppt_h</p:attrName>
                                        </p:attrNameLst>
                                      </p:cBhvr>
                                      <p:tavLst>
                                        <p:tav tm="0">
                                          <p:val>
                                            <p:fltVal val="0"/>
                                          </p:val>
                                        </p:tav>
                                        <p:tav tm="100000">
                                          <p:val>
                                            <p:strVal val="#ppt_h"/>
                                          </p:val>
                                        </p:tav>
                                      </p:tavLst>
                                    </p:anim>
                                  </p:childTnLst>
                                </p:cTn>
                              </p:par>
                            </p:childTnLst>
                          </p:cTn>
                        </p:par>
                        <p:par>
                          <p:cTn id="85" fill="hold">
                            <p:stCondLst>
                              <p:cond delay="8750"/>
                            </p:stCondLst>
                            <p:childTnLst>
                              <p:par>
                                <p:cTn id="86" presetID="10" presetClass="entr" fill="hold" grpId="0" nodeType="afterEffect">
                                  <p:stCondLst>
                                    <p:cond delay="500"/>
                                  </p:stCondLst>
                                  <p:iterate>
                                    <p:tmAbs val="0"/>
                                  </p:iterate>
                                  <p:childTnLst>
                                    <p:set>
                                      <p:cBhvr>
                                        <p:cTn id="87" fill="hold"/>
                                        <p:tgtEl>
                                          <p:spTgt spid="222"/>
                                        </p:tgtEl>
                                        <p:attrNameLst>
                                          <p:attrName>style.visibility</p:attrName>
                                        </p:attrNameLst>
                                      </p:cBhvr>
                                      <p:to>
                                        <p:strVal val="visible"/>
                                      </p:to>
                                    </p:set>
                                    <p:animEffect transition="in" filter="fade">
                                      <p:cBhvr>
                                        <p:cTn id="88" dur="250"/>
                                        <p:tgtEl>
                                          <p:spTgt spid="222"/>
                                        </p:tgtEl>
                                      </p:cBhvr>
                                    </p:animEffect>
                                  </p:childTnLst>
                                </p:cTn>
                              </p:par>
                            </p:childTnLst>
                          </p:cTn>
                        </p:par>
                        <p:par>
                          <p:cTn id="89" fill="hold">
                            <p:stCondLst>
                              <p:cond delay="9500"/>
                            </p:stCondLst>
                            <p:childTnLst>
                              <p:par>
                                <p:cTn id="90" presetID="23" presetClass="entr" presetSubtype="16" fill="hold" grpId="0" nodeType="afterEffect">
                                  <p:stCondLst>
                                    <p:cond delay="0"/>
                                  </p:stCondLst>
                                  <p:iterate>
                                    <p:tmAbs val="0"/>
                                  </p:iterate>
                                  <p:childTnLst>
                                    <p:set>
                                      <p:cBhvr>
                                        <p:cTn id="91" fill="hold"/>
                                        <p:tgtEl>
                                          <p:spTgt spid="214"/>
                                        </p:tgtEl>
                                        <p:attrNameLst>
                                          <p:attrName>style.visibility</p:attrName>
                                        </p:attrNameLst>
                                      </p:cBhvr>
                                      <p:to>
                                        <p:strVal val="visible"/>
                                      </p:to>
                                    </p:set>
                                    <p:anim calcmode="lin" valueType="num">
                                      <p:cBhvr>
                                        <p:cTn id="92" dur="250" fill="hold"/>
                                        <p:tgtEl>
                                          <p:spTgt spid="214"/>
                                        </p:tgtEl>
                                        <p:attrNameLst>
                                          <p:attrName>ppt_w</p:attrName>
                                        </p:attrNameLst>
                                      </p:cBhvr>
                                      <p:tavLst>
                                        <p:tav tm="0">
                                          <p:val>
                                            <p:fltVal val="0"/>
                                          </p:val>
                                        </p:tav>
                                        <p:tav tm="100000">
                                          <p:val>
                                            <p:strVal val="#ppt_w"/>
                                          </p:val>
                                        </p:tav>
                                      </p:tavLst>
                                    </p:anim>
                                    <p:anim calcmode="lin" valueType="num">
                                      <p:cBhvr>
                                        <p:cTn id="93" dur="250" fill="hold"/>
                                        <p:tgtEl>
                                          <p:spTgt spid="214"/>
                                        </p:tgtEl>
                                        <p:attrNameLst>
                                          <p:attrName>ppt_h</p:attrName>
                                        </p:attrNameLst>
                                      </p:cBhvr>
                                      <p:tavLst>
                                        <p:tav tm="0">
                                          <p:val>
                                            <p:fltVal val="0"/>
                                          </p:val>
                                        </p:tav>
                                        <p:tav tm="100000">
                                          <p:val>
                                            <p:strVal val="#ppt_h"/>
                                          </p:val>
                                        </p:tav>
                                      </p:tavLst>
                                    </p:anim>
                                  </p:childTnLst>
                                </p:cTn>
                              </p:par>
                            </p:childTnLst>
                          </p:cTn>
                        </p:par>
                        <p:par>
                          <p:cTn id="94" fill="hold">
                            <p:stCondLst>
                              <p:cond delay="9750"/>
                            </p:stCondLst>
                            <p:childTnLst>
                              <p:par>
                                <p:cTn id="95" presetID="23" presetClass="entr" presetSubtype="16" fill="hold" grpId="0" nodeType="afterEffect">
                                  <p:stCondLst>
                                    <p:cond delay="0"/>
                                  </p:stCondLst>
                                  <p:iterate>
                                    <p:tmAbs val="0"/>
                                  </p:iterate>
                                  <p:childTnLst>
                                    <p:set>
                                      <p:cBhvr>
                                        <p:cTn id="96" fill="hold"/>
                                        <p:tgtEl>
                                          <p:spTgt spid="215"/>
                                        </p:tgtEl>
                                        <p:attrNameLst>
                                          <p:attrName>style.visibility</p:attrName>
                                        </p:attrNameLst>
                                      </p:cBhvr>
                                      <p:to>
                                        <p:strVal val="visible"/>
                                      </p:to>
                                    </p:set>
                                    <p:anim calcmode="lin" valueType="num">
                                      <p:cBhvr>
                                        <p:cTn id="97" dur="250" fill="hold"/>
                                        <p:tgtEl>
                                          <p:spTgt spid="215"/>
                                        </p:tgtEl>
                                        <p:attrNameLst>
                                          <p:attrName>ppt_w</p:attrName>
                                        </p:attrNameLst>
                                      </p:cBhvr>
                                      <p:tavLst>
                                        <p:tav tm="0">
                                          <p:val>
                                            <p:fltVal val="0"/>
                                          </p:val>
                                        </p:tav>
                                        <p:tav tm="100000">
                                          <p:val>
                                            <p:strVal val="#ppt_w"/>
                                          </p:val>
                                        </p:tav>
                                      </p:tavLst>
                                    </p:anim>
                                    <p:anim calcmode="lin" valueType="num">
                                      <p:cBhvr>
                                        <p:cTn id="98" dur="250" fill="hold"/>
                                        <p:tgtEl>
                                          <p:spTgt spid="21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animBg="1" advAuto="0"/>
      <p:bldP spid="187" grpId="0" animBg="1" advAuto="0"/>
      <p:bldP spid="190" grpId="0" animBg="1" advAuto="0"/>
      <p:bldP spid="193" grpId="0" animBg="1" advAuto="0"/>
      <p:bldP spid="196" grpId="0" animBg="1" advAuto="0"/>
      <p:bldP spid="202" grpId="0" animBg="1" advAuto="0"/>
      <p:bldP spid="203" grpId="0" animBg="1" advAuto="0"/>
      <p:bldP spid="206" grpId="0" animBg="1" advAuto="0"/>
      <p:bldP spid="207" grpId="0" animBg="1" advAuto="0"/>
      <p:bldP spid="210" grpId="0" animBg="1" advAuto="0"/>
      <p:bldP spid="211" grpId="0" animBg="1" advAuto="0"/>
      <p:bldP spid="212" grpId="0" animBg="1" advAuto="0"/>
      <p:bldP spid="213" grpId="0" animBg="1" advAuto="0"/>
      <p:bldP spid="214" grpId="0" animBg="1" advAuto="0"/>
      <p:bldP spid="215" grpId="0" animBg="1" advAuto="0"/>
      <p:bldP spid="217" grpId="0" animBg="1" advAuto="0"/>
      <p:bldP spid="218" grpId="0" animBg="1" advAuto="0"/>
      <p:bldP spid="220" grpId="0" animBg="1" advAuto="0"/>
      <p:bldP spid="221" grpId="0" animBg="1" advAuto="0"/>
      <p:bldP spid="222" grpId="0"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AE2DF-95C7-CDC2-14D4-4F992523C1B2}"/>
            </a:ext>
          </a:extLst>
        </p:cNvPr>
        <p:cNvGrpSpPr/>
        <p:nvPr/>
      </p:nvGrpSpPr>
      <p:grpSpPr>
        <a:xfrm>
          <a:off x="0" y="0"/>
          <a:ext cx="0" cy="0"/>
          <a:chOff x="0" y="0"/>
          <a:chExt cx="0" cy="0"/>
        </a:xfrm>
      </p:grpSpPr>
      <p:sp>
        <p:nvSpPr>
          <p:cNvPr id="31" name="Oval 30">
            <a:extLst>
              <a:ext uri="{FF2B5EF4-FFF2-40B4-BE49-F238E27FC236}">
                <a16:creationId xmlns:a16="http://schemas.microsoft.com/office/drawing/2014/main" id="{23FC1F11-1562-7CFF-A26F-792A305BD30D}"/>
              </a:ext>
            </a:extLst>
          </p:cNvPr>
          <p:cNvSpPr/>
          <p:nvPr/>
        </p:nvSpPr>
        <p:spPr>
          <a:xfrm>
            <a:off x="6878418" y="2447778"/>
            <a:ext cx="4246782" cy="4105422"/>
          </a:xfrm>
          <a:prstGeom prst="ellipse">
            <a:avLst/>
          </a:prstGeom>
          <a:solidFill>
            <a:srgbClr val="000000">
              <a:alpha val="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Straight Connector 2">
            <a:extLst>
              <a:ext uri="{FF2B5EF4-FFF2-40B4-BE49-F238E27FC236}">
                <a16:creationId xmlns:a16="http://schemas.microsoft.com/office/drawing/2014/main" id="{06653944-A9F9-8DDF-0CCE-D4E642178DE0}"/>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sp>
        <p:nvSpPr>
          <p:cNvPr id="532" name="TextBox 3">
            <a:extLst>
              <a:ext uri="{FF2B5EF4-FFF2-40B4-BE49-F238E27FC236}">
                <a16:creationId xmlns:a16="http://schemas.microsoft.com/office/drawing/2014/main" id="{C5355B0F-5B10-063F-F382-7A9235257422}"/>
              </a:ext>
            </a:extLst>
          </p:cNvPr>
          <p:cNvSpPr txBox="1"/>
          <p:nvPr/>
        </p:nvSpPr>
        <p:spPr>
          <a:xfrm>
            <a:off x="1511662" y="1355915"/>
            <a:ext cx="3827417" cy="1015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defTabSz="914400">
              <a:lnSpc>
                <a:spcPts val="3600"/>
              </a:lnSpc>
              <a:defRPr sz="3500" b="1">
                <a:solidFill>
                  <a:srgbClr val="404040"/>
                </a:solidFill>
                <a:latin typeface="Graphik Bold"/>
                <a:ea typeface="Graphik Bold"/>
                <a:cs typeface="Graphik Bold"/>
                <a:sym typeface="Graphik"/>
              </a:defRPr>
            </a:pPr>
            <a:r>
              <a:rPr lang="en-US" dirty="0"/>
              <a:t>market size and growth potential</a:t>
            </a:r>
          </a:p>
        </p:txBody>
      </p:sp>
      <p:pic>
        <p:nvPicPr>
          <p:cNvPr id="533" name="ignite-logo.png" descr="ignite-logo.png">
            <a:extLst>
              <a:ext uri="{FF2B5EF4-FFF2-40B4-BE49-F238E27FC236}">
                <a16:creationId xmlns:a16="http://schemas.microsoft.com/office/drawing/2014/main" id="{7F5398CA-511B-E766-E560-9FBC8CBD38AA}"/>
              </a:ext>
            </a:extLst>
          </p:cNvPr>
          <p:cNvPicPr>
            <a:picLocks noChangeAspect="1"/>
          </p:cNvPicPr>
          <p:nvPr/>
        </p:nvPicPr>
        <p:blipFill>
          <a:blip r:embed="rId3"/>
          <a:stretch>
            <a:fillRect/>
          </a:stretch>
        </p:blipFill>
        <p:spPr>
          <a:xfrm>
            <a:off x="1311564" y="264828"/>
            <a:ext cx="992188" cy="992188"/>
          </a:xfrm>
          <a:prstGeom prst="rect">
            <a:avLst/>
          </a:prstGeom>
          <a:ln w="12700">
            <a:miter lim="400000"/>
          </a:ln>
        </p:spPr>
      </p:pic>
      <p:graphicFrame>
        <p:nvGraphicFramePr>
          <p:cNvPr id="2" name="SmartArt Placeholder 9">
            <a:extLst>
              <a:ext uri="{FF2B5EF4-FFF2-40B4-BE49-F238E27FC236}">
                <a16:creationId xmlns:a16="http://schemas.microsoft.com/office/drawing/2014/main" id="{29F4630E-5C1E-1ABC-236D-85120BD0CAB5}"/>
              </a:ext>
            </a:extLst>
          </p:cNvPr>
          <p:cNvGraphicFramePr>
            <a:graphicFrameLocks/>
          </p:cNvGraphicFramePr>
          <p:nvPr>
            <p:extLst>
              <p:ext uri="{D42A27DB-BD31-4B8C-83A1-F6EECF244321}">
                <p14:modId xmlns:p14="http://schemas.microsoft.com/office/powerpoint/2010/main" val="424020301"/>
              </p:ext>
            </p:extLst>
          </p:nvPr>
        </p:nvGraphicFramePr>
        <p:xfrm>
          <a:off x="6096000" y="2218005"/>
          <a:ext cx="5486400" cy="41705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3" name="Group 2">
            <a:extLst>
              <a:ext uri="{FF2B5EF4-FFF2-40B4-BE49-F238E27FC236}">
                <a16:creationId xmlns:a16="http://schemas.microsoft.com/office/drawing/2014/main" id="{E297EA24-D873-6905-3A83-F9EA50551997}"/>
              </a:ext>
            </a:extLst>
          </p:cNvPr>
          <p:cNvGrpSpPr/>
          <p:nvPr/>
        </p:nvGrpSpPr>
        <p:grpSpPr>
          <a:xfrm flipH="1" flipV="1">
            <a:off x="3334940" y="5713092"/>
            <a:ext cx="5504260" cy="438957"/>
            <a:chOff x="-1238969" y="1804523"/>
            <a:chExt cx="5676113" cy="452662"/>
          </a:xfrm>
          <a:solidFill>
            <a:schemeClr val="tx1">
              <a:lumMod val="65000"/>
              <a:lumOff val="35000"/>
            </a:schemeClr>
          </a:solidFill>
        </p:grpSpPr>
        <p:cxnSp>
          <p:nvCxnSpPr>
            <p:cNvPr id="4" name="Straight Connector 3">
              <a:extLst>
                <a:ext uri="{FF2B5EF4-FFF2-40B4-BE49-F238E27FC236}">
                  <a16:creationId xmlns:a16="http://schemas.microsoft.com/office/drawing/2014/main" id="{6899E6BB-3593-F115-8E90-EF8DF2F04868}"/>
                </a:ext>
              </a:extLst>
            </p:cNvPr>
            <p:cNvCxnSpPr>
              <a:cxnSpLocks/>
            </p:cNvCxnSpPr>
            <p:nvPr/>
          </p:nvCxnSpPr>
          <p:spPr>
            <a:xfrm>
              <a:off x="-1238969" y="2231690"/>
              <a:ext cx="3816322" cy="25495"/>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FB202EA-25DB-8661-BAFA-CA0AB63665E2}"/>
                </a:ext>
              </a:extLst>
            </p:cNvPr>
            <p:cNvCxnSpPr/>
            <p:nvPr/>
          </p:nvCxnSpPr>
          <p:spPr>
            <a:xfrm>
              <a:off x="3006177" y="1851670"/>
              <a:ext cx="1381096" cy="0"/>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DC5C166-17A8-6C50-4272-8DB7F1C6B0B9}"/>
                </a:ext>
              </a:extLst>
            </p:cNvPr>
            <p:cNvCxnSpPr/>
            <p:nvPr/>
          </p:nvCxnSpPr>
          <p:spPr>
            <a:xfrm flipH="1">
              <a:off x="2577354" y="1851670"/>
              <a:ext cx="428823" cy="405515"/>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C2E97EC1-142E-4B07-50D1-2E4D0D4EDB32}"/>
                </a:ext>
              </a:extLst>
            </p:cNvPr>
            <p:cNvSpPr>
              <a:spLocks noChangeAspect="1"/>
            </p:cNvSpPr>
            <p:nvPr/>
          </p:nvSpPr>
          <p:spPr>
            <a:xfrm>
              <a:off x="4342851" y="1804523"/>
              <a:ext cx="94293" cy="94293"/>
            </a:xfrm>
            <a:prstGeom prst="ellipse">
              <a:avLst/>
            </a:prstGeom>
            <a:grp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8" name="Group 7">
            <a:extLst>
              <a:ext uri="{FF2B5EF4-FFF2-40B4-BE49-F238E27FC236}">
                <a16:creationId xmlns:a16="http://schemas.microsoft.com/office/drawing/2014/main" id="{BBE55D1E-1479-0386-718D-5DB00C32D380}"/>
              </a:ext>
            </a:extLst>
          </p:cNvPr>
          <p:cNvGrpSpPr/>
          <p:nvPr/>
        </p:nvGrpSpPr>
        <p:grpSpPr>
          <a:xfrm flipH="1" flipV="1">
            <a:off x="3334940" y="3741933"/>
            <a:ext cx="5504260" cy="438957"/>
            <a:chOff x="-1238969" y="1804523"/>
            <a:chExt cx="5676113" cy="452662"/>
          </a:xfrm>
          <a:solidFill>
            <a:schemeClr val="tx1">
              <a:lumMod val="65000"/>
              <a:lumOff val="35000"/>
            </a:schemeClr>
          </a:solidFill>
        </p:grpSpPr>
        <p:cxnSp>
          <p:nvCxnSpPr>
            <p:cNvPr id="9" name="Straight Connector 8">
              <a:extLst>
                <a:ext uri="{FF2B5EF4-FFF2-40B4-BE49-F238E27FC236}">
                  <a16:creationId xmlns:a16="http://schemas.microsoft.com/office/drawing/2014/main" id="{C638762E-9CA5-6AEA-45F8-52B4DBC393E7}"/>
                </a:ext>
              </a:extLst>
            </p:cNvPr>
            <p:cNvCxnSpPr>
              <a:cxnSpLocks/>
            </p:cNvCxnSpPr>
            <p:nvPr/>
          </p:nvCxnSpPr>
          <p:spPr>
            <a:xfrm flipV="1">
              <a:off x="-1238969" y="2257185"/>
              <a:ext cx="3816322" cy="0"/>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688EE2B-A7C4-82BE-7D31-9923FBFF723E}"/>
                </a:ext>
              </a:extLst>
            </p:cNvPr>
            <p:cNvCxnSpPr/>
            <p:nvPr/>
          </p:nvCxnSpPr>
          <p:spPr>
            <a:xfrm>
              <a:off x="3006177" y="1851670"/>
              <a:ext cx="1381096" cy="0"/>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AA947E-B5AF-A10D-AA5D-6778EEF902B5}"/>
                </a:ext>
              </a:extLst>
            </p:cNvPr>
            <p:cNvCxnSpPr/>
            <p:nvPr/>
          </p:nvCxnSpPr>
          <p:spPr>
            <a:xfrm flipH="1">
              <a:off x="2577354" y="1851670"/>
              <a:ext cx="428823" cy="405515"/>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FD6080CE-68E9-A7DB-4C05-EDB66F3625B1}"/>
                </a:ext>
              </a:extLst>
            </p:cNvPr>
            <p:cNvSpPr>
              <a:spLocks noChangeAspect="1"/>
            </p:cNvSpPr>
            <p:nvPr/>
          </p:nvSpPr>
          <p:spPr>
            <a:xfrm>
              <a:off x="4342851" y="1804523"/>
              <a:ext cx="94293" cy="94293"/>
            </a:xfrm>
            <a:prstGeom prst="ellipse">
              <a:avLst/>
            </a:prstGeom>
            <a:grp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3" name="Group 12">
            <a:extLst>
              <a:ext uri="{FF2B5EF4-FFF2-40B4-BE49-F238E27FC236}">
                <a16:creationId xmlns:a16="http://schemas.microsoft.com/office/drawing/2014/main" id="{B861072B-F6B5-11CA-8E38-6C4AA4EC03A6}"/>
              </a:ext>
            </a:extLst>
          </p:cNvPr>
          <p:cNvGrpSpPr/>
          <p:nvPr/>
        </p:nvGrpSpPr>
        <p:grpSpPr>
          <a:xfrm flipH="1" flipV="1">
            <a:off x="3286579" y="2889372"/>
            <a:ext cx="5552621" cy="438957"/>
            <a:chOff x="-1288840" y="1804523"/>
            <a:chExt cx="5725984" cy="452662"/>
          </a:xfrm>
          <a:solidFill>
            <a:schemeClr val="tx1">
              <a:lumMod val="65000"/>
              <a:lumOff val="35000"/>
            </a:schemeClr>
          </a:solidFill>
        </p:grpSpPr>
        <p:cxnSp>
          <p:nvCxnSpPr>
            <p:cNvPr id="14" name="Straight Connector 13">
              <a:extLst>
                <a:ext uri="{FF2B5EF4-FFF2-40B4-BE49-F238E27FC236}">
                  <a16:creationId xmlns:a16="http://schemas.microsoft.com/office/drawing/2014/main" id="{4890ED97-5E01-934C-9959-AA0236E505E8}"/>
                </a:ext>
              </a:extLst>
            </p:cNvPr>
            <p:cNvCxnSpPr>
              <a:cxnSpLocks/>
            </p:cNvCxnSpPr>
            <p:nvPr/>
          </p:nvCxnSpPr>
          <p:spPr>
            <a:xfrm>
              <a:off x="-1288840" y="2244667"/>
              <a:ext cx="3866193" cy="12518"/>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B529262-F517-8DFE-A2C4-BE85BCB78C17}"/>
                </a:ext>
              </a:extLst>
            </p:cNvPr>
            <p:cNvCxnSpPr/>
            <p:nvPr/>
          </p:nvCxnSpPr>
          <p:spPr>
            <a:xfrm>
              <a:off x="3006177" y="1851670"/>
              <a:ext cx="1381096" cy="0"/>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8B6C04C-BFE3-5A70-17E3-D580918F59B9}"/>
                </a:ext>
              </a:extLst>
            </p:cNvPr>
            <p:cNvCxnSpPr/>
            <p:nvPr/>
          </p:nvCxnSpPr>
          <p:spPr>
            <a:xfrm flipH="1">
              <a:off x="2577354" y="1851670"/>
              <a:ext cx="428823" cy="405515"/>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3EE3942A-8941-7819-37CD-ACE26FF62687}"/>
                </a:ext>
              </a:extLst>
            </p:cNvPr>
            <p:cNvSpPr>
              <a:spLocks noChangeAspect="1"/>
            </p:cNvSpPr>
            <p:nvPr/>
          </p:nvSpPr>
          <p:spPr>
            <a:xfrm>
              <a:off x="4342851" y="1804523"/>
              <a:ext cx="94293" cy="94293"/>
            </a:xfrm>
            <a:prstGeom prst="ellipse">
              <a:avLst/>
            </a:prstGeom>
            <a:grp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8" name="Group 17">
            <a:extLst>
              <a:ext uri="{FF2B5EF4-FFF2-40B4-BE49-F238E27FC236}">
                <a16:creationId xmlns:a16="http://schemas.microsoft.com/office/drawing/2014/main" id="{631AD53F-F823-4983-25A6-8559F25B1F2E}"/>
              </a:ext>
            </a:extLst>
          </p:cNvPr>
          <p:cNvGrpSpPr/>
          <p:nvPr/>
        </p:nvGrpSpPr>
        <p:grpSpPr>
          <a:xfrm flipH="1" flipV="1">
            <a:off x="3334940" y="4581992"/>
            <a:ext cx="5504260" cy="438957"/>
            <a:chOff x="-1238969" y="1804523"/>
            <a:chExt cx="5676113" cy="452662"/>
          </a:xfrm>
          <a:solidFill>
            <a:schemeClr val="tx1">
              <a:lumMod val="65000"/>
              <a:lumOff val="35000"/>
            </a:schemeClr>
          </a:solidFill>
        </p:grpSpPr>
        <p:cxnSp>
          <p:nvCxnSpPr>
            <p:cNvPr id="19" name="Straight Connector 18">
              <a:extLst>
                <a:ext uri="{FF2B5EF4-FFF2-40B4-BE49-F238E27FC236}">
                  <a16:creationId xmlns:a16="http://schemas.microsoft.com/office/drawing/2014/main" id="{900977D9-4DD4-17FC-7FC1-5D15F1559313}"/>
                </a:ext>
              </a:extLst>
            </p:cNvPr>
            <p:cNvCxnSpPr>
              <a:cxnSpLocks/>
            </p:cNvCxnSpPr>
            <p:nvPr/>
          </p:nvCxnSpPr>
          <p:spPr>
            <a:xfrm>
              <a:off x="-1238969" y="2247839"/>
              <a:ext cx="3816322" cy="9346"/>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C70EF9D-B483-5BB6-6985-8029E581B1EE}"/>
                </a:ext>
              </a:extLst>
            </p:cNvPr>
            <p:cNvCxnSpPr/>
            <p:nvPr/>
          </p:nvCxnSpPr>
          <p:spPr>
            <a:xfrm>
              <a:off x="3006177" y="1851670"/>
              <a:ext cx="1381096" cy="0"/>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A18A45F-8E25-2535-EB9B-431F0614C94C}"/>
                </a:ext>
              </a:extLst>
            </p:cNvPr>
            <p:cNvCxnSpPr/>
            <p:nvPr/>
          </p:nvCxnSpPr>
          <p:spPr>
            <a:xfrm flipH="1">
              <a:off x="2577354" y="1851670"/>
              <a:ext cx="428823" cy="405515"/>
            </a:xfrm>
            <a:prstGeom prst="line">
              <a:avLst/>
            </a:prstGeom>
            <a:grpFill/>
            <a:ln w="1270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7FC17A0C-80AC-8F88-CA8F-D116D3D3FB66}"/>
                </a:ext>
              </a:extLst>
            </p:cNvPr>
            <p:cNvSpPr>
              <a:spLocks noChangeAspect="1"/>
            </p:cNvSpPr>
            <p:nvPr/>
          </p:nvSpPr>
          <p:spPr>
            <a:xfrm>
              <a:off x="4342851" y="1804523"/>
              <a:ext cx="94293" cy="94293"/>
            </a:xfrm>
            <a:prstGeom prst="ellipse">
              <a:avLst/>
            </a:prstGeom>
            <a:grp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sp>
        <p:nvSpPr>
          <p:cNvPr id="23" name="Text Placeholder 6">
            <a:extLst>
              <a:ext uri="{FF2B5EF4-FFF2-40B4-BE49-F238E27FC236}">
                <a16:creationId xmlns:a16="http://schemas.microsoft.com/office/drawing/2014/main" id="{0EAD8D24-1369-4B03-7857-1EA842E1B0B7}"/>
              </a:ext>
            </a:extLst>
          </p:cNvPr>
          <p:cNvSpPr txBox="1">
            <a:spLocks/>
          </p:cNvSpPr>
          <p:nvPr/>
        </p:nvSpPr>
        <p:spPr>
          <a:xfrm>
            <a:off x="3558406" y="2901511"/>
            <a:ext cx="892348" cy="36326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b="1" dirty="0">
                <a:solidFill>
                  <a:schemeClr val="tx1">
                    <a:lumMod val="50000"/>
                    <a:lumOff val="50000"/>
                  </a:schemeClr>
                </a:solidFill>
              </a:rPr>
              <a:t>$29.42B</a:t>
            </a:r>
            <a:endParaRPr lang="en-AU" b="1" dirty="0">
              <a:solidFill>
                <a:schemeClr val="tx1">
                  <a:lumMod val="50000"/>
                  <a:lumOff val="50000"/>
                </a:schemeClr>
              </a:solidFill>
            </a:endParaRPr>
          </a:p>
        </p:txBody>
      </p:sp>
      <p:sp>
        <p:nvSpPr>
          <p:cNvPr id="24" name="Text Placeholder 7">
            <a:extLst>
              <a:ext uri="{FF2B5EF4-FFF2-40B4-BE49-F238E27FC236}">
                <a16:creationId xmlns:a16="http://schemas.microsoft.com/office/drawing/2014/main" id="{18202E3C-69C0-F94A-960F-9C194CEE93D0}"/>
              </a:ext>
            </a:extLst>
          </p:cNvPr>
          <p:cNvSpPr txBox="1">
            <a:spLocks/>
          </p:cNvSpPr>
          <p:nvPr/>
        </p:nvSpPr>
        <p:spPr>
          <a:xfrm>
            <a:off x="1295400" y="2926616"/>
            <a:ext cx="1844140" cy="45529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id-ID" sz="1200" b="1" dirty="0">
                <a:solidFill>
                  <a:srgbClr val="262626"/>
                </a:solidFill>
                <a:latin typeface="Graphik Regular" panose="020B0503030202060203" pitchFamily="34" charset="77"/>
                <a:hlinkClick r:id="rId9"/>
              </a:rPr>
              <a:t>Business </a:t>
            </a:r>
            <a:r>
              <a:rPr lang="id-ID" sz="1200" b="1" dirty="0" err="1">
                <a:solidFill>
                  <a:srgbClr val="262626"/>
                </a:solidFill>
                <a:latin typeface="Graphik Regular" panose="020B0503030202060203" pitchFamily="34" charset="77"/>
                <a:hlinkClick r:id="rId9"/>
              </a:rPr>
              <a:t>Intelligence</a:t>
            </a:r>
            <a:r>
              <a:rPr lang="id-ID" sz="1200" b="1" dirty="0">
                <a:solidFill>
                  <a:srgbClr val="262626"/>
                </a:solidFill>
                <a:latin typeface="Graphik Regular" panose="020B0503030202060203" pitchFamily="34" charset="77"/>
                <a:hlinkClick r:id="rId9"/>
              </a:rPr>
              <a:t> </a:t>
            </a:r>
            <a:r>
              <a:rPr lang="id-ID" sz="1200" b="1" dirty="0" err="1">
                <a:solidFill>
                  <a:srgbClr val="262626"/>
                </a:solidFill>
                <a:latin typeface="Graphik Regular" panose="020B0503030202060203" pitchFamily="34" charset="77"/>
                <a:hlinkClick r:id="rId9"/>
              </a:rPr>
              <a:t>Market</a:t>
            </a:r>
            <a:r>
              <a:rPr lang="id-ID" sz="1200" b="1" dirty="0">
                <a:solidFill>
                  <a:srgbClr val="262626"/>
                </a:solidFill>
                <a:latin typeface="Graphik Regular" panose="020B0503030202060203" pitchFamily="34" charset="77"/>
                <a:hlinkClick r:id="rId9"/>
              </a:rPr>
              <a:t> </a:t>
            </a:r>
            <a:r>
              <a:rPr lang="id-ID" sz="1200" b="1" dirty="0" err="1">
                <a:solidFill>
                  <a:srgbClr val="262626"/>
                </a:solidFill>
                <a:latin typeface="Graphik Regular" panose="020B0503030202060203" pitchFamily="34" charset="77"/>
                <a:hlinkClick r:id="rId9"/>
              </a:rPr>
              <a:t>Size</a:t>
            </a:r>
            <a:endParaRPr lang="en-AU" sz="1200" b="1" dirty="0">
              <a:solidFill>
                <a:srgbClr val="262626"/>
              </a:solidFill>
              <a:latin typeface="Graphik Regular" panose="020B0503030202060203" pitchFamily="34" charset="77"/>
            </a:endParaRPr>
          </a:p>
        </p:txBody>
      </p:sp>
      <p:sp>
        <p:nvSpPr>
          <p:cNvPr id="25" name="Text Placeholder 7">
            <a:extLst>
              <a:ext uri="{FF2B5EF4-FFF2-40B4-BE49-F238E27FC236}">
                <a16:creationId xmlns:a16="http://schemas.microsoft.com/office/drawing/2014/main" id="{3AC2D386-0E44-758D-6A35-D0C5B21452FE}"/>
              </a:ext>
            </a:extLst>
          </p:cNvPr>
          <p:cNvSpPr txBox="1">
            <a:spLocks/>
          </p:cNvSpPr>
          <p:nvPr/>
        </p:nvSpPr>
        <p:spPr>
          <a:xfrm>
            <a:off x="1301417" y="3758834"/>
            <a:ext cx="1977922" cy="455294"/>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id-ID" b="1" dirty="0">
                <a:solidFill>
                  <a:srgbClr val="262626"/>
                </a:solidFill>
                <a:latin typeface="Graphik Regular" panose="020B0503030202060203" pitchFamily="34" charset="77"/>
                <a:hlinkClick r:id="rId10"/>
              </a:rPr>
              <a:t>AI-</a:t>
            </a:r>
            <a:r>
              <a:rPr lang="id-ID" b="1" dirty="0" err="1">
                <a:solidFill>
                  <a:srgbClr val="262626"/>
                </a:solidFill>
                <a:latin typeface="Graphik Regular" panose="020B0503030202060203" pitchFamily="34" charset="77"/>
                <a:hlinkClick r:id="rId10"/>
              </a:rPr>
              <a:t>Powered</a:t>
            </a:r>
            <a:r>
              <a:rPr lang="id-ID" b="1" dirty="0">
                <a:solidFill>
                  <a:srgbClr val="262626"/>
                </a:solidFill>
                <a:latin typeface="Graphik Regular" panose="020B0503030202060203" pitchFamily="34" charset="77"/>
                <a:hlinkClick r:id="rId10"/>
              </a:rPr>
              <a:t> </a:t>
            </a:r>
            <a:r>
              <a:rPr lang="id-ID" b="1" dirty="0" err="1">
                <a:solidFill>
                  <a:srgbClr val="262626"/>
                </a:solidFill>
                <a:latin typeface="Graphik Regular" panose="020B0503030202060203" pitchFamily="34" charset="77"/>
                <a:hlinkClick r:id="rId10"/>
              </a:rPr>
              <a:t>SaaS</a:t>
            </a:r>
            <a:r>
              <a:rPr lang="id-ID" b="1" dirty="0">
                <a:solidFill>
                  <a:srgbClr val="262626"/>
                </a:solidFill>
                <a:latin typeface="Graphik Regular" panose="020B0503030202060203" pitchFamily="34" charset="77"/>
                <a:hlinkClick r:id="rId10"/>
              </a:rPr>
              <a:t> </a:t>
            </a:r>
            <a:r>
              <a:rPr lang="id-ID" b="1" dirty="0" err="1">
                <a:solidFill>
                  <a:srgbClr val="262626"/>
                </a:solidFill>
                <a:latin typeface="Graphik Regular" panose="020B0503030202060203" pitchFamily="34" charset="77"/>
                <a:hlinkClick r:id="rId10"/>
              </a:rPr>
              <a:t>Productivity</a:t>
            </a:r>
            <a:r>
              <a:rPr lang="id-ID" b="1" dirty="0">
                <a:solidFill>
                  <a:srgbClr val="262626"/>
                </a:solidFill>
                <a:latin typeface="Graphik Regular" panose="020B0503030202060203" pitchFamily="34" charset="77"/>
                <a:hlinkClick r:id="rId10"/>
              </a:rPr>
              <a:t> </a:t>
            </a:r>
            <a:r>
              <a:rPr lang="id-ID" b="1" dirty="0" err="1">
                <a:solidFill>
                  <a:srgbClr val="262626"/>
                </a:solidFill>
                <a:latin typeface="Graphik Regular" panose="020B0503030202060203" pitchFamily="34" charset="77"/>
                <a:hlinkClick r:id="rId10"/>
              </a:rPr>
              <a:t>Tools</a:t>
            </a:r>
            <a:r>
              <a:rPr lang="id-ID" b="1" dirty="0">
                <a:solidFill>
                  <a:srgbClr val="262626"/>
                </a:solidFill>
                <a:latin typeface="Graphik Regular" panose="020B0503030202060203" pitchFamily="34" charset="77"/>
                <a:hlinkClick r:id="rId10"/>
              </a:rPr>
              <a:t> </a:t>
            </a:r>
            <a:r>
              <a:rPr lang="id-ID" b="1" dirty="0" err="1">
                <a:solidFill>
                  <a:srgbClr val="262626"/>
                </a:solidFill>
                <a:latin typeface="Graphik Regular" panose="020B0503030202060203" pitchFamily="34" charset="77"/>
                <a:hlinkClick r:id="rId10"/>
              </a:rPr>
              <a:t>Market</a:t>
            </a:r>
            <a:endParaRPr lang="en-AU" b="1" dirty="0">
              <a:solidFill>
                <a:srgbClr val="262626"/>
              </a:solidFill>
              <a:latin typeface="Graphik Regular" panose="020B0503030202060203" pitchFamily="34" charset="77"/>
            </a:endParaRPr>
          </a:p>
        </p:txBody>
      </p:sp>
      <p:sp>
        <p:nvSpPr>
          <p:cNvPr id="26" name="Text Placeholder 7">
            <a:extLst>
              <a:ext uri="{FF2B5EF4-FFF2-40B4-BE49-F238E27FC236}">
                <a16:creationId xmlns:a16="http://schemas.microsoft.com/office/drawing/2014/main" id="{8B474EED-C128-D9FF-70FF-1A400F485188}"/>
              </a:ext>
            </a:extLst>
          </p:cNvPr>
          <p:cNvSpPr txBox="1">
            <a:spLocks/>
          </p:cNvSpPr>
          <p:nvPr/>
        </p:nvSpPr>
        <p:spPr>
          <a:xfrm>
            <a:off x="1315126" y="4591053"/>
            <a:ext cx="1795778" cy="45529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id-ID" b="1" dirty="0">
                <a:solidFill>
                  <a:srgbClr val="262626"/>
                </a:solidFill>
                <a:latin typeface="Graphik Regular" panose="020B0503030202060203" pitchFamily="34" charset="77"/>
                <a:hlinkClick r:id="rId11"/>
              </a:rPr>
              <a:t>Total </a:t>
            </a:r>
            <a:r>
              <a:rPr lang="id-ID" b="1" dirty="0" err="1">
                <a:solidFill>
                  <a:srgbClr val="262626"/>
                </a:solidFill>
                <a:latin typeface="Graphik Regular" panose="020B0503030202060203" pitchFamily="34" charset="77"/>
                <a:hlinkClick r:id="rId11"/>
              </a:rPr>
              <a:t>Addressable</a:t>
            </a:r>
            <a:r>
              <a:rPr lang="id-ID" b="1" dirty="0">
                <a:solidFill>
                  <a:srgbClr val="262626"/>
                </a:solidFill>
                <a:latin typeface="Graphik Regular" panose="020B0503030202060203" pitchFamily="34" charset="77"/>
                <a:hlinkClick r:id="rId11"/>
              </a:rPr>
              <a:t> </a:t>
            </a:r>
            <a:r>
              <a:rPr lang="id-ID" b="1" dirty="0" err="1">
                <a:solidFill>
                  <a:srgbClr val="262626"/>
                </a:solidFill>
                <a:latin typeface="Graphik Regular" panose="020B0503030202060203" pitchFamily="34" charset="77"/>
                <a:hlinkClick r:id="rId11"/>
              </a:rPr>
              <a:t>Market</a:t>
            </a:r>
            <a:endParaRPr lang="en-AU" b="1" dirty="0">
              <a:solidFill>
                <a:srgbClr val="262626"/>
              </a:solidFill>
              <a:latin typeface="Graphik Regular" panose="020B0503030202060203" pitchFamily="34" charset="77"/>
            </a:endParaRPr>
          </a:p>
        </p:txBody>
      </p:sp>
      <p:sp>
        <p:nvSpPr>
          <p:cNvPr id="27" name="Text Placeholder 7">
            <a:extLst>
              <a:ext uri="{FF2B5EF4-FFF2-40B4-BE49-F238E27FC236}">
                <a16:creationId xmlns:a16="http://schemas.microsoft.com/office/drawing/2014/main" id="{8FEB2BF2-8504-7383-3B21-57498264BBE0}"/>
              </a:ext>
            </a:extLst>
          </p:cNvPr>
          <p:cNvSpPr txBox="1">
            <a:spLocks/>
          </p:cNvSpPr>
          <p:nvPr/>
        </p:nvSpPr>
        <p:spPr>
          <a:xfrm>
            <a:off x="1330546" y="5716906"/>
            <a:ext cx="1795778" cy="45529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id-ID" b="1" dirty="0">
                <a:solidFill>
                  <a:srgbClr val="262626"/>
                </a:solidFill>
                <a:latin typeface="Graphik Regular" panose="020B0503030202060203" pitchFamily="34" charset="77"/>
              </a:rPr>
              <a:t>Total </a:t>
            </a:r>
            <a:r>
              <a:rPr lang="id-ID" b="1" dirty="0" err="1">
                <a:solidFill>
                  <a:srgbClr val="262626"/>
                </a:solidFill>
                <a:latin typeface="Graphik Regular" panose="020B0503030202060203" pitchFamily="34" charset="77"/>
              </a:rPr>
              <a:t>Obtainable</a:t>
            </a:r>
            <a:r>
              <a:rPr lang="id-ID" b="1" dirty="0">
                <a:solidFill>
                  <a:srgbClr val="262626"/>
                </a:solidFill>
                <a:latin typeface="Graphik Regular" panose="020B0503030202060203" pitchFamily="34" charset="77"/>
              </a:rPr>
              <a:t> </a:t>
            </a:r>
            <a:r>
              <a:rPr lang="id-ID" b="1" dirty="0" err="1">
                <a:solidFill>
                  <a:srgbClr val="262626"/>
                </a:solidFill>
                <a:latin typeface="Graphik Regular" panose="020B0503030202060203" pitchFamily="34" charset="77"/>
              </a:rPr>
              <a:t>Market</a:t>
            </a:r>
            <a:endParaRPr lang="en-AU" b="1" dirty="0">
              <a:solidFill>
                <a:srgbClr val="262626"/>
              </a:solidFill>
              <a:latin typeface="Graphik Regular" panose="020B0503030202060203" pitchFamily="34" charset="77"/>
            </a:endParaRPr>
          </a:p>
        </p:txBody>
      </p:sp>
      <p:sp>
        <p:nvSpPr>
          <p:cNvPr id="28" name="Text Placeholder 6">
            <a:extLst>
              <a:ext uri="{FF2B5EF4-FFF2-40B4-BE49-F238E27FC236}">
                <a16:creationId xmlns:a16="http://schemas.microsoft.com/office/drawing/2014/main" id="{A123C60B-A199-A210-0E92-8B4879B2D2EA}"/>
              </a:ext>
            </a:extLst>
          </p:cNvPr>
          <p:cNvSpPr txBox="1">
            <a:spLocks/>
          </p:cNvSpPr>
          <p:nvPr/>
        </p:nvSpPr>
        <p:spPr>
          <a:xfrm>
            <a:off x="3554644" y="3766656"/>
            <a:ext cx="888698" cy="363265"/>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b="1" dirty="0">
                <a:latin typeface="+mn-lt"/>
              </a:rPr>
              <a:t>$6.948B</a:t>
            </a:r>
            <a:endParaRPr lang="en-AU" b="1" dirty="0">
              <a:latin typeface="+mn-lt"/>
            </a:endParaRPr>
          </a:p>
        </p:txBody>
      </p:sp>
      <p:sp>
        <p:nvSpPr>
          <p:cNvPr id="29" name="Text Placeholder 6">
            <a:extLst>
              <a:ext uri="{FF2B5EF4-FFF2-40B4-BE49-F238E27FC236}">
                <a16:creationId xmlns:a16="http://schemas.microsoft.com/office/drawing/2014/main" id="{CE75E1C1-E1CA-9F0A-3F31-844666CEF4AB}"/>
              </a:ext>
            </a:extLst>
          </p:cNvPr>
          <p:cNvSpPr txBox="1">
            <a:spLocks/>
          </p:cNvSpPr>
          <p:nvPr/>
        </p:nvSpPr>
        <p:spPr>
          <a:xfrm>
            <a:off x="3568269" y="4579119"/>
            <a:ext cx="892348" cy="36326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b="1" dirty="0">
                <a:latin typeface="+mn-lt"/>
              </a:rPr>
              <a:t>30 %</a:t>
            </a:r>
            <a:endParaRPr lang="en-AU" b="1" dirty="0">
              <a:latin typeface="+mn-lt"/>
            </a:endParaRPr>
          </a:p>
        </p:txBody>
      </p:sp>
      <p:sp>
        <p:nvSpPr>
          <p:cNvPr id="30" name="Text Placeholder 6">
            <a:extLst>
              <a:ext uri="{FF2B5EF4-FFF2-40B4-BE49-F238E27FC236}">
                <a16:creationId xmlns:a16="http://schemas.microsoft.com/office/drawing/2014/main" id="{272DADF2-26A8-F688-B062-FF80B4A44193}"/>
              </a:ext>
            </a:extLst>
          </p:cNvPr>
          <p:cNvSpPr txBox="1">
            <a:spLocks/>
          </p:cNvSpPr>
          <p:nvPr/>
        </p:nvSpPr>
        <p:spPr>
          <a:xfrm>
            <a:off x="3570356" y="5737815"/>
            <a:ext cx="892348" cy="36326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b="1" dirty="0">
                <a:latin typeface="+mn-lt"/>
              </a:rPr>
              <a:t>5 %</a:t>
            </a:r>
            <a:endParaRPr lang="en-AU" b="1" dirty="0">
              <a:latin typeface="+mn-lt"/>
            </a:endParaRPr>
          </a:p>
        </p:txBody>
      </p:sp>
      <p:sp>
        <p:nvSpPr>
          <p:cNvPr id="36" name="Text Placeholder 6">
            <a:extLst>
              <a:ext uri="{FF2B5EF4-FFF2-40B4-BE49-F238E27FC236}">
                <a16:creationId xmlns:a16="http://schemas.microsoft.com/office/drawing/2014/main" id="{77098F56-A94D-6ED5-C20C-90C80307B3ED}"/>
              </a:ext>
            </a:extLst>
          </p:cNvPr>
          <p:cNvSpPr txBox="1">
            <a:spLocks/>
          </p:cNvSpPr>
          <p:nvPr/>
        </p:nvSpPr>
        <p:spPr>
          <a:xfrm>
            <a:off x="5402530" y="2489739"/>
            <a:ext cx="1386939" cy="36326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b="1" dirty="0">
                <a:solidFill>
                  <a:schemeClr val="tx1">
                    <a:lumMod val="50000"/>
                    <a:lumOff val="50000"/>
                  </a:schemeClr>
                </a:solidFill>
                <a:latin typeface="DM Sans 14pt" pitchFamily="2" charset="77"/>
                <a:hlinkClick r:id="rId12"/>
              </a:rPr>
              <a:t>CAGR 9.1% </a:t>
            </a:r>
            <a:endParaRPr lang="en-AU" b="1" dirty="0">
              <a:solidFill>
                <a:schemeClr val="tx1">
                  <a:lumMod val="50000"/>
                  <a:lumOff val="50000"/>
                </a:schemeClr>
              </a:solidFill>
              <a:latin typeface="DM Sans 14pt" pitchFamily="2" charset="77"/>
            </a:endParaRPr>
          </a:p>
        </p:txBody>
      </p:sp>
      <p:sp>
        <p:nvSpPr>
          <p:cNvPr id="37" name="Text Placeholder 6">
            <a:extLst>
              <a:ext uri="{FF2B5EF4-FFF2-40B4-BE49-F238E27FC236}">
                <a16:creationId xmlns:a16="http://schemas.microsoft.com/office/drawing/2014/main" id="{F140285C-7621-E37F-49CC-0E1AFB277D6F}"/>
              </a:ext>
            </a:extLst>
          </p:cNvPr>
          <p:cNvSpPr txBox="1">
            <a:spLocks/>
          </p:cNvSpPr>
          <p:nvPr/>
        </p:nvSpPr>
        <p:spPr>
          <a:xfrm>
            <a:off x="5339079" y="3409235"/>
            <a:ext cx="1386939" cy="36326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b="1" dirty="0">
                <a:solidFill>
                  <a:schemeClr val="tx1">
                    <a:lumMod val="50000"/>
                    <a:lumOff val="50000"/>
                  </a:schemeClr>
                </a:solidFill>
                <a:latin typeface="DM Sans 14pt" pitchFamily="2" charset="77"/>
                <a:hlinkClick r:id="rId13"/>
              </a:rPr>
              <a:t>CAGR 26.7% </a:t>
            </a:r>
            <a:endParaRPr lang="en-AU" b="1" dirty="0">
              <a:solidFill>
                <a:schemeClr val="tx1">
                  <a:lumMod val="50000"/>
                  <a:lumOff val="50000"/>
                </a:schemeClr>
              </a:solidFill>
              <a:latin typeface="DM Sans 14pt" pitchFamily="2" charset="77"/>
            </a:endParaRPr>
          </a:p>
        </p:txBody>
      </p:sp>
      <p:sp>
        <p:nvSpPr>
          <p:cNvPr id="40" name="Text Placeholder 6">
            <a:extLst>
              <a:ext uri="{FF2B5EF4-FFF2-40B4-BE49-F238E27FC236}">
                <a16:creationId xmlns:a16="http://schemas.microsoft.com/office/drawing/2014/main" id="{6DCA0DFA-D922-4969-774A-26254FA5DF15}"/>
              </a:ext>
            </a:extLst>
          </p:cNvPr>
          <p:cNvSpPr txBox="1">
            <a:spLocks/>
          </p:cNvSpPr>
          <p:nvPr/>
        </p:nvSpPr>
        <p:spPr>
          <a:xfrm>
            <a:off x="8393026" y="1706321"/>
            <a:ext cx="892348" cy="363265"/>
          </a:xfrm>
          <a:prstGeom prst="rect">
            <a:avLst/>
          </a:prstGeom>
        </p:spPr>
        <p:txBody>
          <a:bodyP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1800" b="1" dirty="0">
                <a:solidFill>
                  <a:schemeClr val="tx1">
                    <a:lumMod val="50000"/>
                    <a:lumOff val="50000"/>
                  </a:schemeClr>
                </a:solidFill>
              </a:rPr>
              <a:t>By 2030</a:t>
            </a:r>
          </a:p>
        </p:txBody>
      </p:sp>
      <p:sp>
        <p:nvSpPr>
          <p:cNvPr id="41" name="Text Placeholder 6">
            <a:extLst>
              <a:ext uri="{FF2B5EF4-FFF2-40B4-BE49-F238E27FC236}">
                <a16:creationId xmlns:a16="http://schemas.microsoft.com/office/drawing/2014/main" id="{AA3D938A-BDA7-13D8-F7C3-F2827B5F06E7}"/>
              </a:ext>
            </a:extLst>
          </p:cNvPr>
          <p:cNvSpPr txBox="1">
            <a:spLocks/>
          </p:cNvSpPr>
          <p:nvPr/>
        </p:nvSpPr>
        <p:spPr>
          <a:xfrm>
            <a:off x="5034331" y="5374550"/>
            <a:ext cx="1996434" cy="36326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b="1" dirty="0" err="1">
                <a:solidFill>
                  <a:schemeClr val="tx1">
                    <a:lumMod val="50000"/>
                    <a:lumOff val="50000"/>
                  </a:schemeClr>
                </a:solidFill>
                <a:latin typeface="DM Sans 14pt" pitchFamily="2" charset="77"/>
              </a:rPr>
              <a:t>Share</a:t>
            </a:r>
            <a:r>
              <a:rPr lang="id-ID" b="1" dirty="0">
                <a:solidFill>
                  <a:schemeClr val="tx1">
                    <a:lumMod val="50000"/>
                    <a:lumOff val="50000"/>
                  </a:schemeClr>
                </a:solidFill>
                <a:latin typeface="DM Sans 14pt" pitchFamily="2" charset="77"/>
              </a:rPr>
              <a:t> </a:t>
            </a:r>
            <a:r>
              <a:rPr lang="id-ID" b="1" dirty="0" err="1">
                <a:solidFill>
                  <a:schemeClr val="tx1">
                    <a:lumMod val="50000"/>
                    <a:lumOff val="50000"/>
                  </a:schemeClr>
                </a:solidFill>
                <a:latin typeface="DM Sans 14pt" pitchFamily="2" charset="77"/>
              </a:rPr>
              <a:t>of</a:t>
            </a:r>
            <a:r>
              <a:rPr lang="id-ID" b="1" dirty="0">
                <a:solidFill>
                  <a:schemeClr val="tx1">
                    <a:lumMod val="50000"/>
                    <a:lumOff val="50000"/>
                  </a:schemeClr>
                </a:solidFill>
                <a:latin typeface="DM Sans 14pt" pitchFamily="2" charset="77"/>
              </a:rPr>
              <a:t> </a:t>
            </a:r>
            <a:r>
              <a:rPr lang="id-ID" b="1" dirty="0" err="1">
                <a:solidFill>
                  <a:schemeClr val="tx1">
                    <a:lumMod val="50000"/>
                    <a:lumOff val="50000"/>
                  </a:schemeClr>
                </a:solidFill>
                <a:latin typeface="DM Sans 14pt" pitchFamily="2" charset="77"/>
              </a:rPr>
              <a:t>market</a:t>
            </a:r>
            <a:endParaRPr lang="en-AU" b="1" dirty="0">
              <a:solidFill>
                <a:schemeClr val="tx1">
                  <a:lumMod val="50000"/>
                  <a:lumOff val="50000"/>
                </a:schemeClr>
              </a:solidFill>
              <a:latin typeface="DM Sans 14pt" pitchFamily="2" charset="77"/>
            </a:endParaRPr>
          </a:p>
        </p:txBody>
      </p:sp>
      <p:sp>
        <p:nvSpPr>
          <p:cNvPr id="42" name="Text Placeholder 6">
            <a:extLst>
              <a:ext uri="{FF2B5EF4-FFF2-40B4-BE49-F238E27FC236}">
                <a16:creationId xmlns:a16="http://schemas.microsoft.com/office/drawing/2014/main" id="{C775F23C-D0D8-B5FE-EC42-5BDB95CBADF4}"/>
              </a:ext>
            </a:extLst>
          </p:cNvPr>
          <p:cNvSpPr txBox="1">
            <a:spLocks/>
          </p:cNvSpPr>
          <p:nvPr/>
        </p:nvSpPr>
        <p:spPr>
          <a:xfrm>
            <a:off x="5034331" y="4208735"/>
            <a:ext cx="1996434" cy="36326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b="1" dirty="0">
                <a:solidFill>
                  <a:schemeClr val="tx1">
                    <a:lumMod val="50000"/>
                    <a:lumOff val="50000"/>
                  </a:schemeClr>
                </a:solidFill>
                <a:latin typeface="DM Sans 14pt" pitchFamily="2" charset="77"/>
              </a:rPr>
              <a:t>Target</a:t>
            </a:r>
            <a:endParaRPr lang="en-AU" b="1" dirty="0">
              <a:solidFill>
                <a:schemeClr val="tx1">
                  <a:lumMod val="50000"/>
                  <a:lumOff val="50000"/>
                </a:schemeClr>
              </a:solidFill>
              <a:latin typeface="DM Sans 14pt" pitchFamily="2" charset="77"/>
            </a:endParaRPr>
          </a:p>
        </p:txBody>
      </p:sp>
    </p:spTree>
    <p:extLst>
      <p:ext uri="{BB962C8B-B14F-4D97-AF65-F5344CB8AC3E}">
        <p14:creationId xmlns:p14="http://schemas.microsoft.com/office/powerpoint/2010/main" val="426236597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graphicEl>
                                              <a:dgm id="{767211C7-3682-4E19-9B26-DD1B5F2008ED}"/>
                                            </p:graphicEl>
                                          </p:spTgt>
                                        </p:tgtEl>
                                        <p:attrNameLst>
                                          <p:attrName>style.visibility</p:attrName>
                                        </p:attrNameLst>
                                      </p:cBhvr>
                                      <p:to>
                                        <p:strVal val="visible"/>
                                      </p:to>
                                    </p:set>
                                    <p:anim calcmode="lin" valueType="num">
                                      <p:cBhvr>
                                        <p:cTn id="7" dur="500" fill="hold"/>
                                        <p:tgtEl>
                                          <p:spTgt spid="2">
                                            <p:graphicEl>
                                              <a:dgm id="{767211C7-3682-4E19-9B26-DD1B5F2008ED}"/>
                                            </p:graphicEl>
                                          </p:spTgt>
                                        </p:tgtEl>
                                        <p:attrNameLst>
                                          <p:attrName>ppt_w</p:attrName>
                                        </p:attrNameLst>
                                      </p:cBhvr>
                                      <p:tavLst>
                                        <p:tav tm="0">
                                          <p:val>
                                            <p:fltVal val="0"/>
                                          </p:val>
                                        </p:tav>
                                        <p:tav tm="100000">
                                          <p:val>
                                            <p:strVal val="#ppt_w"/>
                                          </p:val>
                                        </p:tav>
                                      </p:tavLst>
                                    </p:anim>
                                    <p:anim calcmode="lin" valueType="num">
                                      <p:cBhvr>
                                        <p:cTn id="8" dur="500" fill="hold"/>
                                        <p:tgtEl>
                                          <p:spTgt spid="2">
                                            <p:graphicEl>
                                              <a:dgm id="{767211C7-3682-4E19-9B26-DD1B5F2008ED}"/>
                                            </p:graphicEl>
                                          </p:spTgt>
                                        </p:tgtEl>
                                        <p:attrNameLst>
                                          <p:attrName>ppt_h</p:attrName>
                                        </p:attrNameLst>
                                      </p:cBhvr>
                                      <p:tavLst>
                                        <p:tav tm="0">
                                          <p:val>
                                            <p:fltVal val="0"/>
                                          </p:val>
                                        </p:tav>
                                        <p:tav tm="100000">
                                          <p:val>
                                            <p:strVal val="#ppt_h"/>
                                          </p:val>
                                        </p:tav>
                                      </p:tavLst>
                                    </p:anim>
                                    <p:animEffect transition="in" filter="fade">
                                      <p:cBhvr>
                                        <p:cTn id="9" dur="500"/>
                                        <p:tgtEl>
                                          <p:spTgt spid="2">
                                            <p:graphicEl>
                                              <a:dgm id="{767211C7-3682-4E19-9B26-DD1B5F2008ED}"/>
                                            </p:graphic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
                                            <p:graphicEl>
                                              <a:dgm id="{228FE1A1-2C70-4920-B86B-CF6019539739}"/>
                                            </p:graphicEl>
                                          </p:spTgt>
                                        </p:tgtEl>
                                        <p:attrNameLst>
                                          <p:attrName>style.visibility</p:attrName>
                                        </p:attrNameLst>
                                      </p:cBhvr>
                                      <p:to>
                                        <p:strVal val="visible"/>
                                      </p:to>
                                    </p:set>
                                    <p:anim calcmode="lin" valueType="num">
                                      <p:cBhvr>
                                        <p:cTn id="13" dur="500" fill="hold"/>
                                        <p:tgtEl>
                                          <p:spTgt spid="2">
                                            <p:graphicEl>
                                              <a:dgm id="{228FE1A1-2C70-4920-B86B-CF6019539739}"/>
                                            </p:graphicEl>
                                          </p:spTgt>
                                        </p:tgtEl>
                                        <p:attrNameLst>
                                          <p:attrName>ppt_w</p:attrName>
                                        </p:attrNameLst>
                                      </p:cBhvr>
                                      <p:tavLst>
                                        <p:tav tm="0">
                                          <p:val>
                                            <p:fltVal val="0"/>
                                          </p:val>
                                        </p:tav>
                                        <p:tav tm="100000">
                                          <p:val>
                                            <p:strVal val="#ppt_w"/>
                                          </p:val>
                                        </p:tav>
                                      </p:tavLst>
                                    </p:anim>
                                    <p:anim calcmode="lin" valueType="num">
                                      <p:cBhvr>
                                        <p:cTn id="14" dur="500" fill="hold"/>
                                        <p:tgtEl>
                                          <p:spTgt spid="2">
                                            <p:graphicEl>
                                              <a:dgm id="{228FE1A1-2C70-4920-B86B-CF6019539739}"/>
                                            </p:graphicEl>
                                          </p:spTgt>
                                        </p:tgtEl>
                                        <p:attrNameLst>
                                          <p:attrName>ppt_h</p:attrName>
                                        </p:attrNameLst>
                                      </p:cBhvr>
                                      <p:tavLst>
                                        <p:tav tm="0">
                                          <p:val>
                                            <p:fltVal val="0"/>
                                          </p:val>
                                        </p:tav>
                                        <p:tav tm="100000">
                                          <p:val>
                                            <p:strVal val="#ppt_h"/>
                                          </p:val>
                                        </p:tav>
                                      </p:tavLst>
                                    </p:anim>
                                    <p:animEffect transition="in" filter="fade">
                                      <p:cBhvr>
                                        <p:cTn id="15" dur="500"/>
                                        <p:tgtEl>
                                          <p:spTgt spid="2">
                                            <p:graphicEl>
                                              <a:dgm id="{228FE1A1-2C70-4920-B86B-CF6019539739}"/>
                                            </p:graphic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
                                            <p:graphicEl>
                                              <a:dgm id="{5022CAB7-6FAB-4561-BC0E-5D236FB6FC75}"/>
                                            </p:graphicEl>
                                          </p:spTgt>
                                        </p:tgtEl>
                                        <p:attrNameLst>
                                          <p:attrName>style.visibility</p:attrName>
                                        </p:attrNameLst>
                                      </p:cBhvr>
                                      <p:to>
                                        <p:strVal val="visible"/>
                                      </p:to>
                                    </p:set>
                                    <p:anim calcmode="lin" valueType="num">
                                      <p:cBhvr>
                                        <p:cTn id="19" dur="500" fill="hold"/>
                                        <p:tgtEl>
                                          <p:spTgt spid="2">
                                            <p:graphicEl>
                                              <a:dgm id="{5022CAB7-6FAB-4561-BC0E-5D236FB6FC75}"/>
                                            </p:graphicEl>
                                          </p:spTgt>
                                        </p:tgtEl>
                                        <p:attrNameLst>
                                          <p:attrName>ppt_w</p:attrName>
                                        </p:attrNameLst>
                                      </p:cBhvr>
                                      <p:tavLst>
                                        <p:tav tm="0">
                                          <p:val>
                                            <p:fltVal val="0"/>
                                          </p:val>
                                        </p:tav>
                                        <p:tav tm="100000">
                                          <p:val>
                                            <p:strVal val="#ppt_w"/>
                                          </p:val>
                                        </p:tav>
                                      </p:tavLst>
                                    </p:anim>
                                    <p:anim calcmode="lin" valueType="num">
                                      <p:cBhvr>
                                        <p:cTn id="20" dur="500" fill="hold"/>
                                        <p:tgtEl>
                                          <p:spTgt spid="2">
                                            <p:graphicEl>
                                              <a:dgm id="{5022CAB7-6FAB-4561-BC0E-5D236FB6FC75}"/>
                                            </p:graphicEl>
                                          </p:spTgt>
                                        </p:tgtEl>
                                        <p:attrNameLst>
                                          <p:attrName>ppt_h</p:attrName>
                                        </p:attrNameLst>
                                      </p:cBhvr>
                                      <p:tavLst>
                                        <p:tav tm="0">
                                          <p:val>
                                            <p:fltVal val="0"/>
                                          </p:val>
                                        </p:tav>
                                        <p:tav tm="100000">
                                          <p:val>
                                            <p:strVal val="#ppt_h"/>
                                          </p:val>
                                        </p:tav>
                                      </p:tavLst>
                                    </p:anim>
                                    <p:animEffect transition="in" filter="fade">
                                      <p:cBhvr>
                                        <p:cTn id="21" dur="500"/>
                                        <p:tgtEl>
                                          <p:spTgt spid="2">
                                            <p:graphicEl>
                                              <a:dgm id="{5022CAB7-6FAB-4561-BC0E-5D236FB6FC75}"/>
                                            </p:graphic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
                                            <p:graphicEl>
                                              <a:dgm id="{26E7B382-33A6-4727-879E-16EB532626D8}"/>
                                            </p:graphicEl>
                                          </p:spTgt>
                                        </p:tgtEl>
                                        <p:attrNameLst>
                                          <p:attrName>style.visibility</p:attrName>
                                        </p:attrNameLst>
                                      </p:cBhvr>
                                      <p:to>
                                        <p:strVal val="visible"/>
                                      </p:to>
                                    </p:set>
                                    <p:anim calcmode="lin" valueType="num">
                                      <p:cBhvr>
                                        <p:cTn id="25" dur="500" fill="hold"/>
                                        <p:tgtEl>
                                          <p:spTgt spid="2">
                                            <p:graphicEl>
                                              <a:dgm id="{26E7B382-33A6-4727-879E-16EB532626D8}"/>
                                            </p:graphicEl>
                                          </p:spTgt>
                                        </p:tgtEl>
                                        <p:attrNameLst>
                                          <p:attrName>ppt_w</p:attrName>
                                        </p:attrNameLst>
                                      </p:cBhvr>
                                      <p:tavLst>
                                        <p:tav tm="0">
                                          <p:val>
                                            <p:fltVal val="0"/>
                                          </p:val>
                                        </p:tav>
                                        <p:tav tm="100000">
                                          <p:val>
                                            <p:strVal val="#ppt_w"/>
                                          </p:val>
                                        </p:tav>
                                      </p:tavLst>
                                    </p:anim>
                                    <p:anim calcmode="lin" valueType="num">
                                      <p:cBhvr>
                                        <p:cTn id="26" dur="500" fill="hold"/>
                                        <p:tgtEl>
                                          <p:spTgt spid="2">
                                            <p:graphicEl>
                                              <a:dgm id="{26E7B382-33A6-4727-879E-16EB532626D8}"/>
                                            </p:graphicEl>
                                          </p:spTgt>
                                        </p:tgtEl>
                                        <p:attrNameLst>
                                          <p:attrName>ppt_h</p:attrName>
                                        </p:attrNameLst>
                                      </p:cBhvr>
                                      <p:tavLst>
                                        <p:tav tm="0">
                                          <p:val>
                                            <p:fltVal val="0"/>
                                          </p:val>
                                        </p:tav>
                                        <p:tav tm="100000">
                                          <p:val>
                                            <p:strVal val="#ppt_h"/>
                                          </p:val>
                                        </p:tav>
                                      </p:tavLst>
                                    </p:anim>
                                    <p:animEffect transition="in" filter="fade">
                                      <p:cBhvr>
                                        <p:cTn id="27" dur="500"/>
                                        <p:tgtEl>
                                          <p:spTgt spid="2">
                                            <p:graphicEl>
                                              <a:dgm id="{26E7B382-33A6-4727-879E-16EB532626D8}"/>
                                            </p:graphic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p:cTn id="31" dur="500" fill="hold"/>
                                        <p:tgtEl>
                                          <p:spTgt spid="31"/>
                                        </p:tgtEl>
                                        <p:attrNameLst>
                                          <p:attrName>ppt_w</p:attrName>
                                        </p:attrNameLst>
                                      </p:cBhvr>
                                      <p:tavLst>
                                        <p:tav tm="0">
                                          <p:val>
                                            <p:fltVal val="0"/>
                                          </p:val>
                                        </p:tav>
                                        <p:tav tm="100000">
                                          <p:val>
                                            <p:strVal val="#ppt_w"/>
                                          </p:val>
                                        </p:tav>
                                      </p:tavLst>
                                    </p:anim>
                                    <p:anim calcmode="lin" valueType="num">
                                      <p:cBhvr>
                                        <p:cTn id="32" dur="500" fill="hold"/>
                                        <p:tgtEl>
                                          <p:spTgt spid="31"/>
                                        </p:tgtEl>
                                        <p:attrNameLst>
                                          <p:attrName>ppt_h</p:attrName>
                                        </p:attrNameLst>
                                      </p:cBhvr>
                                      <p:tavLst>
                                        <p:tav tm="0">
                                          <p:val>
                                            <p:fltVal val="0"/>
                                          </p:val>
                                        </p:tav>
                                        <p:tav tm="100000">
                                          <p:val>
                                            <p:strVal val="#ppt_h"/>
                                          </p:val>
                                        </p:tav>
                                      </p:tavLst>
                                    </p:anim>
                                    <p:animEffect transition="in" filter="fade">
                                      <p:cBhvr>
                                        <p:cTn id="33" dur="500"/>
                                        <p:tgtEl>
                                          <p:spTgt spid="31"/>
                                        </p:tgtEl>
                                      </p:cBhvr>
                                    </p:animEffect>
                                  </p:childTnLst>
                                </p:cTn>
                              </p:par>
                            </p:childTnLst>
                          </p:cTn>
                        </p:par>
                        <p:par>
                          <p:cTn id="34" fill="hold">
                            <p:stCondLst>
                              <p:cond delay="2500"/>
                            </p:stCondLst>
                            <p:childTnLst>
                              <p:par>
                                <p:cTn id="35" presetID="22" presetClass="entr" presetSubtype="2"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right)">
                                      <p:cBhvr>
                                        <p:cTn id="37" dur="500"/>
                                        <p:tgtEl>
                                          <p:spTgt spid="13"/>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23">
                                            <p:txEl>
                                              <p:pRg st="0" end="0"/>
                                            </p:txEl>
                                          </p:spTgt>
                                        </p:tgtEl>
                                        <p:attrNameLst>
                                          <p:attrName>style.visibility</p:attrName>
                                        </p:attrNameLst>
                                      </p:cBhvr>
                                      <p:to>
                                        <p:strVal val="visible"/>
                                      </p:to>
                                    </p:set>
                                    <p:animEffect transition="in" filter="wipe(left)">
                                      <p:cBhvr>
                                        <p:cTn id="41" dur="500"/>
                                        <p:tgtEl>
                                          <p:spTgt spid="23">
                                            <p:txEl>
                                              <p:pRg st="0" end="0"/>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4">
                                            <p:txEl>
                                              <p:pRg st="0" end="0"/>
                                            </p:txEl>
                                          </p:spTgt>
                                        </p:tgtEl>
                                        <p:attrNameLst>
                                          <p:attrName>style.visibility</p:attrName>
                                        </p:attrNameLst>
                                      </p:cBhvr>
                                      <p:to>
                                        <p:strVal val="visible"/>
                                      </p:to>
                                    </p:set>
                                    <p:animEffect transition="in" filter="wipe(left)">
                                      <p:cBhvr>
                                        <p:cTn id="44" dur="500"/>
                                        <p:tgtEl>
                                          <p:spTgt spid="24">
                                            <p:txEl>
                                              <p:pRg st="0" end="0"/>
                                            </p:txEl>
                                          </p:spTgt>
                                        </p:tgtEl>
                                      </p:cBhvr>
                                    </p:animEffect>
                                  </p:childTnLst>
                                </p:cTn>
                              </p:par>
                            </p:childTnLst>
                          </p:cTn>
                        </p:par>
                        <p:par>
                          <p:cTn id="45" fill="hold">
                            <p:stCondLst>
                              <p:cond delay="3500"/>
                            </p:stCondLst>
                            <p:childTnLst>
                              <p:par>
                                <p:cTn id="46" presetID="22" presetClass="entr" presetSubtype="2" fill="hold"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right)">
                                      <p:cBhvr>
                                        <p:cTn id="48" dur="500"/>
                                        <p:tgtEl>
                                          <p:spTgt spid="8"/>
                                        </p:tgtEl>
                                      </p:cBhvr>
                                    </p:animEffect>
                                  </p:childTnLst>
                                </p:cTn>
                              </p:par>
                            </p:childTnLst>
                          </p:cTn>
                        </p:par>
                        <p:par>
                          <p:cTn id="49" fill="hold">
                            <p:stCondLst>
                              <p:cond delay="4000"/>
                            </p:stCondLst>
                            <p:childTnLst>
                              <p:par>
                                <p:cTn id="50" presetID="22" presetClass="entr" presetSubtype="8" fill="hold" grpId="0" nodeType="after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500"/>
                                        <p:tgtEl>
                                          <p:spTgt spid="25"/>
                                        </p:tgtEl>
                                      </p:cBhvr>
                                    </p:animEffect>
                                  </p:childTnLst>
                                </p:cTn>
                              </p:par>
                            </p:childTnLst>
                          </p:cTn>
                        </p:par>
                        <p:par>
                          <p:cTn id="56" fill="hold">
                            <p:stCondLst>
                              <p:cond delay="4500"/>
                            </p:stCondLst>
                            <p:childTnLst>
                              <p:par>
                                <p:cTn id="57" presetID="22" presetClass="entr" presetSubtype="2"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right)">
                                      <p:cBhvr>
                                        <p:cTn id="59" dur="500"/>
                                        <p:tgtEl>
                                          <p:spTgt spid="18"/>
                                        </p:tgtEl>
                                      </p:cBhvr>
                                    </p:animEffect>
                                  </p:childTnLst>
                                </p:cTn>
                              </p:par>
                            </p:childTnLst>
                          </p:cTn>
                        </p:par>
                        <p:par>
                          <p:cTn id="60" fill="hold">
                            <p:stCondLst>
                              <p:cond delay="5000"/>
                            </p:stCondLst>
                            <p:childTnLst>
                              <p:par>
                                <p:cTn id="61" presetID="22" presetClass="entr" presetSubtype="8"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left)">
                                      <p:cBhvr>
                                        <p:cTn id="63" dur="500"/>
                                        <p:tgtEl>
                                          <p:spTgt spid="29"/>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500"/>
                                        <p:tgtEl>
                                          <p:spTgt spid="26"/>
                                        </p:tgtEl>
                                      </p:cBhvr>
                                    </p:animEffect>
                                  </p:childTnLst>
                                </p:cTn>
                              </p:par>
                            </p:childTnLst>
                          </p:cTn>
                        </p:par>
                        <p:par>
                          <p:cTn id="67" fill="hold">
                            <p:stCondLst>
                              <p:cond delay="5500"/>
                            </p:stCondLst>
                            <p:childTnLst>
                              <p:par>
                                <p:cTn id="68" presetID="22" presetClass="entr" presetSubtype="2" fill="hold" nodeType="after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wipe(right)">
                                      <p:cBhvr>
                                        <p:cTn id="70" dur="500"/>
                                        <p:tgtEl>
                                          <p:spTgt spid="3"/>
                                        </p:tgtEl>
                                      </p:cBhvr>
                                    </p:animEffect>
                                  </p:childTnLst>
                                </p:cTn>
                              </p:par>
                            </p:childTnLst>
                          </p:cTn>
                        </p:par>
                        <p:par>
                          <p:cTn id="71" fill="hold">
                            <p:stCondLst>
                              <p:cond delay="6000"/>
                            </p:stCondLst>
                            <p:childTnLst>
                              <p:par>
                                <p:cTn id="72" presetID="22" presetClass="entr" presetSubtype="8" fill="hold" grpId="0" nodeType="after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left)">
                                      <p:cBhvr>
                                        <p:cTn id="74" dur="500"/>
                                        <p:tgtEl>
                                          <p:spTgt spid="30"/>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left)">
                                      <p:cBhvr>
                                        <p:cTn id="77" dur="500"/>
                                        <p:tgtEl>
                                          <p:spTgt spid="27"/>
                                        </p:tgtEl>
                                      </p:cBhvr>
                                    </p:animEffect>
                                  </p:childTnLst>
                                </p:cTn>
                              </p:par>
                            </p:childTnLst>
                          </p:cTn>
                        </p:par>
                        <p:par>
                          <p:cTn id="78" fill="hold">
                            <p:stCondLst>
                              <p:cond delay="6500"/>
                            </p:stCondLst>
                            <p:childTnLst>
                              <p:par>
                                <p:cTn id="79" presetID="22" presetClass="entr" presetSubtype="8" fill="hold" grpId="0" nodeType="afterEffect">
                                  <p:stCondLst>
                                    <p:cond delay="0"/>
                                  </p:stCondLst>
                                  <p:childTnLst>
                                    <p:set>
                                      <p:cBhvr>
                                        <p:cTn id="80" dur="1" fill="hold">
                                          <p:stCondLst>
                                            <p:cond delay="0"/>
                                          </p:stCondLst>
                                        </p:cTn>
                                        <p:tgtEl>
                                          <p:spTgt spid="36">
                                            <p:txEl>
                                              <p:pRg st="0" end="0"/>
                                            </p:txEl>
                                          </p:spTgt>
                                        </p:tgtEl>
                                        <p:attrNameLst>
                                          <p:attrName>style.visibility</p:attrName>
                                        </p:attrNameLst>
                                      </p:cBhvr>
                                      <p:to>
                                        <p:strVal val="visible"/>
                                      </p:to>
                                    </p:set>
                                    <p:animEffect transition="in" filter="wipe(left)">
                                      <p:cBhvr>
                                        <p:cTn id="81" dur="500"/>
                                        <p:tgtEl>
                                          <p:spTgt spid="36">
                                            <p:txEl>
                                              <p:pRg st="0" end="0"/>
                                            </p:txEl>
                                          </p:spTgt>
                                        </p:tgtEl>
                                      </p:cBhvr>
                                    </p:animEffect>
                                  </p:childTnLst>
                                </p:cTn>
                              </p:par>
                            </p:childTnLst>
                          </p:cTn>
                        </p:par>
                        <p:par>
                          <p:cTn id="82" fill="hold">
                            <p:stCondLst>
                              <p:cond delay="7000"/>
                            </p:stCondLst>
                            <p:childTnLst>
                              <p:par>
                                <p:cTn id="83" presetID="22" presetClass="entr" presetSubtype="8" fill="hold" grpId="0" nodeType="afterEffect">
                                  <p:stCondLst>
                                    <p:cond delay="0"/>
                                  </p:stCondLst>
                                  <p:childTnLst>
                                    <p:set>
                                      <p:cBhvr>
                                        <p:cTn id="84" dur="1" fill="hold">
                                          <p:stCondLst>
                                            <p:cond delay="0"/>
                                          </p:stCondLst>
                                        </p:cTn>
                                        <p:tgtEl>
                                          <p:spTgt spid="37">
                                            <p:txEl>
                                              <p:pRg st="0" end="0"/>
                                            </p:txEl>
                                          </p:spTgt>
                                        </p:tgtEl>
                                        <p:attrNameLst>
                                          <p:attrName>style.visibility</p:attrName>
                                        </p:attrNameLst>
                                      </p:cBhvr>
                                      <p:to>
                                        <p:strVal val="visible"/>
                                      </p:to>
                                    </p:set>
                                    <p:animEffect transition="in" filter="wipe(left)">
                                      <p:cBhvr>
                                        <p:cTn id="85" dur="500"/>
                                        <p:tgtEl>
                                          <p:spTgt spid="37">
                                            <p:txEl>
                                              <p:pRg st="0" end="0"/>
                                            </p:txEl>
                                          </p:spTgt>
                                        </p:tgtEl>
                                      </p:cBhvr>
                                    </p:animEffect>
                                  </p:childTnLst>
                                </p:cTn>
                              </p:par>
                            </p:childTnLst>
                          </p:cTn>
                        </p:par>
                        <p:par>
                          <p:cTn id="86" fill="hold">
                            <p:stCondLst>
                              <p:cond delay="7500"/>
                            </p:stCondLst>
                            <p:childTnLst>
                              <p:par>
                                <p:cTn id="87" presetID="22" presetClass="entr" presetSubtype="8" fill="hold" grpId="0" nodeType="afterEffect">
                                  <p:stCondLst>
                                    <p:cond delay="0"/>
                                  </p:stCondLst>
                                  <p:childTnLst>
                                    <p:set>
                                      <p:cBhvr>
                                        <p:cTn id="88" dur="1" fill="hold">
                                          <p:stCondLst>
                                            <p:cond delay="0"/>
                                          </p:stCondLst>
                                        </p:cTn>
                                        <p:tgtEl>
                                          <p:spTgt spid="40">
                                            <p:txEl>
                                              <p:pRg st="0" end="0"/>
                                            </p:txEl>
                                          </p:spTgt>
                                        </p:tgtEl>
                                        <p:attrNameLst>
                                          <p:attrName>style.visibility</p:attrName>
                                        </p:attrNameLst>
                                      </p:cBhvr>
                                      <p:to>
                                        <p:strVal val="visible"/>
                                      </p:to>
                                    </p:set>
                                    <p:animEffect transition="in" filter="wipe(left)">
                                      <p:cBhvr>
                                        <p:cTn id="89" dur="500"/>
                                        <p:tgtEl>
                                          <p:spTgt spid="40">
                                            <p:txEl>
                                              <p:pRg st="0" end="0"/>
                                            </p:txEl>
                                          </p:spTgt>
                                        </p:tgtEl>
                                      </p:cBhvr>
                                    </p:animEffect>
                                  </p:childTnLst>
                                </p:cTn>
                              </p:par>
                            </p:childTnLst>
                          </p:cTn>
                        </p:par>
                        <p:par>
                          <p:cTn id="90" fill="hold">
                            <p:stCondLst>
                              <p:cond delay="8000"/>
                            </p:stCondLst>
                            <p:childTnLst>
                              <p:par>
                                <p:cTn id="91" presetID="22" presetClass="entr" presetSubtype="8" fill="hold" grpId="0" nodeType="afterEffect">
                                  <p:stCondLst>
                                    <p:cond delay="0"/>
                                  </p:stCondLst>
                                  <p:childTnLst>
                                    <p:set>
                                      <p:cBhvr>
                                        <p:cTn id="92" dur="1" fill="hold">
                                          <p:stCondLst>
                                            <p:cond delay="0"/>
                                          </p:stCondLst>
                                        </p:cTn>
                                        <p:tgtEl>
                                          <p:spTgt spid="41">
                                            <p:txEl>
                                              <p:pRg st="0" end="0"/>
                                            </p:txEl>
                                          </p:spTgt>
                                        </p:tgtEl>
                                        <p:attrNameLst>
                                          <p:attrName>style.visibility</p:attrName>
                                        </p:attrNameLst>
                                      </p:cBhvr>
                                      <p:to>
                                        <p:strVal val="visible"/>
                                      </p:to>
                                    </p:set>
                                    <p:animEffect transition="in" filter="wipe(left)">
                                      <p:cBhvr>
                                        <p:cTn id="93" dur="500"/>
                                        <p:tgtEl>
                                          <p:spTgt spid="41">
                                            <p:txEl>
                                              <p:pRg st="0" end="0"/>
                                            </p:txEl>
                                          </p:spTgt>
                                        </p:tgtEl>
                                      </p:cBhvr>
                                    </p:animEffect>
                                  </p:childTnLst>
                                </p:cTn>
                              </p:par>
                            </p:childTnLst>
                          </p:cTn>
                        </p:par>
                        <p:par>
                          <p:cTn id="94" fill="hold">
                            <p:stCondLst>
                              <p:cond delay="8500"/>
                            </p:stCondLst>
                            <p:childTnLst>
                              <p:par>
                                <p:cTn id="95" presetID="22" presetClass="entr" presetSubtype="8" fill="hold" grpId="0" nodeType="after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wipe(left)">
                                      <p:cBhvr>
                                        <p:cTn id="97"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Graphic spid="2" grpId="0">
        <p:bldSub>
          <a:bldDgm bld="one"/>
        </p:bldSub>
      </p:bldGraphic>
      <p:bldP spid="23" grpId="0" build="p"/>
      <p:bldP spid="24" grpId="0" build="p"/>
      <p:bldP spid="25" grpId="0"/>
      <p:bldP spid="26" grpId="0"/>
      <p:bldP spid="27" grpId="0"/>
      <p:bldP spid="28" grpId="0"/>
      <p:bldP spid="29" grpId="0"/>
      <p:bldP spid="30" grpId="0"/>
      <p:bldP spid="36" grpId="0" build="p"/>
      <p:bldP spid="37" grpId="0" build="p"/>
      <p:bldP spid="40" grpId="0" build="p"/>
      <p:bldP spid="41" grpId="0" build="p"/>
      <p:bldP spid="4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9900" y="2670627"/>
            <a:ext cx="11252200" cy="3717925"/>
          </a:xfrm>
          <a:custGeom>
            <a:avLst/>
            <a:gdLst/>
            <a:ahLst/>
            <a:cxnLst/>
            <a:rect l="l" t="t" r="r" b="b"/>
            <a:pathLst>
              <a:path w="11252200" h="3717925">
                <a:moveTo>
                  <a:pt x="11252200" y="0"/>
                </a:moveTo>
                <a:lnTo>
                  <a:pt x="0" y="0"/>
                </a:lnTo>
                <a:lnTo>
                  <a:pt x="0" y="3717471"/>
                </a:lnTo>
                <a:lnTo>
                  <a:pt x="11252200" y="3717471"/>
                </a:lnTo>
                <a:lnTo>
                  <a:pt x="11252200" y="0"/>
                </a:lnTo>
                <a:close/>
              </a:path>
            </a:pathLst>
          </a:custGeom>
          <a:solidFill>
            <a:srgbClr val="EEEBEB"/>
          </a:solidFill>
        </p:spPr>
        <p:txBody>
          <a:bodyPr wrap="square" lIns="0" tIns="0" rIns="0" bIns="0" rtlCol="0"/>
          <a:lstStyle/>
          <a:p>
            <a:endParaRPr/>
          </a:p>
        </p:txBody>
      </p:sp>
      <p:sp>
        <p:nvSpPr>
          <p:cNvPr id="3" name="object 3"/>
          <p:cNvSpPr/>
          <p:nvPr/>
        </p:nvSpPr>
        <p:spPr>
          <a:xfrm>
            <a:off x="0" y="1607549"/>
            <a:ext cx="951865" cy="0"/>
          </a:xfrm>
          <a:custGeom>
            <a:avLst/>
            <a:gdLst/>
            <a:ahLst/>
            <a:cxnLst/>
            <a:rect l="l" t="t" r="r" b="b"/>
            <a:pathLst>
              <a:path w="951865">
                <a:moveTo>
                  <a:pt x="0" y="0"/>
                </a:moveTo>
                <a:lnTo>
                  <a:pt x="951592" y="0"/>
                </a:lnTo>
              </a:path>
            </a:pathLst>
          </a:custGeom>
          <a:ln w="31750">
            <a:solidFill>
              <a:srgbClr val="262626"/>
            </a:solidFill>
          </a:ln>
        </p:spPr>
        <p:txBody>
          <a:bodyPr wrap="square" lIns="0" tIns="0" rIns="0" bIns="0" rtlCol="0"/>
          <a:lstStyle/>
          <a:p>
            <a:endParaRPr/>
          </a:p>
        </p:txBody>
      </p:sp>
      <p:sp>
        <p:nvSpPr>
          <p:cNvPr id="4" name="object 4"/>
          <p:cNvSpPr txBox="1">
            <a:spLocks noGrp="1"/>
          </p:cNvSpPr>
          <p:nvPr>
            <p:ph type="title"/>
          </p:nvPr>
        </p:nvSpPr>
        <p:spPr>
          <a:xfrm>
            <a:off x="1544681" y="1321931"/>
            <a:ext cx="3199129" cy="1015663"/>
          </a:xfrm>
          <a:prstGeom prst="rect">
            <a:avLst/>
          </a:prstGeom>
        </p:spPr>
        <p:txBody>
          <a:bodyPr vert="horz" wrap="square" lIns="0" tIns="91440" rIns="0" bIns="0" rtlCol="0">
            <a:spAutoFit/>
          </a:bodyPr>
          <a:lstStyle/>
          <a:p>
            <a:pPr marL="12700" marR="5080">
              <a:lnSpc>
                <a:spcPts val="3600"/>
              </a:lnSpc>
              <a:spcBef>
                <a:spcPts val="720"/>
              </a:spcBef>
            </a:pPr>
            <a:r>
              <a:rPr lang="en-US" spc="-10" dirty="0"/>
              <a:t>investment</a:t>
            </a:r>
            <a:r>
              <a:rPr spc="-10" dirty="0"/>
              <a:t> </a:t>
            </a:r>
            <a:r>
              <a:rPr lang="en-US" spc="-10" dirty="0"/>
              <a:t>opportunity</a:t>
            </a:r>
            <a:endParaRPr spc="-10" dirty="0"/>
          </a:p>
        </p:txBody>
      </p:sp>
      <p:sp>
        <p:nvSpPr>
          <p:cNvPr id="6" name="object 6"/>
          <p:cNvSpPr/>
          <p:nvPr/>
        </p:nvSpPr>
        <p:spPr>
          <a:xfrm>
            <a:off x="4325256" y="3429000"/>
            <a:ext cx="0" cy="2233930"/>
          </a:xfrm>
          <a:custGeom>
            <a:avLst/>
            <a:gdLst/>
            <a:ahLst/>
            <a:cxnLst/>
            <a:rect l="l" t="t" r="r" b="b"/>
            <a:pathLst>
              <a:path h="2233929">
                <a:moveTo>
                  <a:pt x="0" y="2233843"/>
                </a:moveTo>
                <a:lnTo>
                  <a:pt x="0" y="0"/>
                </a:lnTo>
              </a:path>
            </a:pathLst>
          </a:custGeom>
          <a:ln w="12700">
            <a:solidFill>
              <a:srgbClr val="7F7F7F"/>
            </a:solidFill>
          </a:ln>
        </p:spPr>
        <p:txBody>
          <a:bodyPr wrap="square" lIns="0" tIns="0" rIns="0" bIns="0" rtlCol="0"/>
          <a:lstStyle/>
          <a:p>
            <a:endParaRPr/>
          </a:p>
        </p:txBody>
      </p:sp>
      <p:sp>
        <p:nvSpPr>
          <p:cNvPr id="7" name="object 7"/>
          <p:cNvSpPr/>
          <p:nvPr/>
        </p:nvSpPr>
        <p:spPr>
          <a:xfrm>
            <a:off x="7957456" y="3429000"/>
            <a:ext cx="0" cy="2233930"/>
          </a:xfrm>
          <a:custGeom>
            <a:avLst/>
            <a:gdLst/>
            <a:ahLst/>
            <a:cxnLst/>
            <a:rect l="l" t="t" r="r" b="b"/>
            <a:pathLst>
              <a:path h="2233929">
                <a:moveTo>
                  <a:pt x="0" y="2233843"/>
                </a:moveTo>
                <a:lnTo>
                  <a:pt x="0" y="0"/>
                </a:lnTo>
              </a:path>
            </a:pathLst>
          </a:custGeom>
          <a:ln w="12700">
            <a:solidFill>
              <a:srgbClr val="7F7F7F"/>
            </a:solidFill>
          </a:ln>
        </p:spPr>
        <p:txBody>
          <a:bodyPr wrap="square" lIns="0" tIns="0" rIns="0" bIns="0" rtlCol="0"/>
          <a:lstStyle/>
          <a:p>
            <a:endParaRPr/>
          </a:p>
        </p:txBody>
      </p:sp>
      <p:pic>
        <p:nvPicPr>
          <p:cNvPr id="13" name="object 13"/>
          <p:cNvPicPr/>
          <p:nvPr/>
        </p:nvPicPr>
        <p:blipFill>
          <a:blip r:embed="rId2" cstate="print"/>
          <a:stretch>
            <a:fillRect/>
          </a:stretch>
        </p:blipFill>
        <p:spPr>
          <a:xfrm>
            <a:off x="1311564" y="264827"/>
            <a:ext cx="992187" cy="992187"/>
          </a:xfrm>
          <a:prstGeom prst="rect">
            <a:avLst/>
          </a:prstGeom>
        </p:spPr>
      </p:pic>
      <p:sp>
        <p:nvSpPr>
          <p:cNvPr id="14" name="Text Placeholder 7">
            <a:extLst>
              <a:ext uri="{FF2B5EF4-FFF2-40B4-BE49-F238E27FC236}">
                <a16:creationId xmlns:a16="http://schemas.microsoft.com/office/drawing/2014/main" id="{1E8FDFEA-B4B1-CF99-9382-18F7AF21102D}"/>
              </a:ext>
            </a:extLst>
          </p:cNvPr>
          <p:cNvSpPr txBox="1"/>
          <p:nvPr/>
        </p:nvSpPr>
        <p:spPr>
          <a:xfrm>
            <a:off x="1301943" y="3169742"/>
            <a:ext cx="2155827" cy="7551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defTabSz="914400">
              <a:lnSpc>
                <a:spcPct val="150000"/>
              </a:lnSpc>
              <a:spcBef>
                <a:spcPts val="800"/>
              </a:spcBef>
              <a:defRPr sz="3600" spc="50">
                <a:solidFill>
                  <a:srgbClr val="262626"/>
                </a:solidFill>
                <a:latin typeface="DM Sans Bold"/>
                <a:ea typeface="DM Sans Bold"/>
                <a:cs typeface="DM Sans Bold"/>
                <a:sym typeface="DM Sans Bold"/>
              </a:defRPr>
            </a:lvl1pPr>
          </a:lstStyle>
          <a:p>
            <a:r>
              <a:rPr lang="en-US" dirty="0"/>
              <a:t>$1M</a:t>
            </a:r>
            <a:endParaRPr dirty="0"/>
          </a:p>
        </p:txBody>
      </p:sp>
      <p:sp>
        <p:nvSpPr>
          <p:cNvPr id="16" name="Text Placeholder 7">
            <a:extLst>
              <a:ext uri="{FF2B5EF4-FFF2-40B4-BE49-F238E27FC236}">
                <a16:creationId xmlns:a16="http://schemas.microsoft.com/office/drawing/2014/main" id="{18169B82-EB67-0733-57AE-DE46BD308EEC}"/>
              </a:ext>
            </a:extLst>
          </p:cNvPr>
          <p:cNvSpPr txBox="1"/>
          <p:nvPr/>
        </p:nvSpPr>
        <p:spPr>
          <a:xfrm>
            <a:off x="1298768" y="3809362"/>
            <a:ext cx="2159002" cy="3776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defTabSz="914400">
              <a:lnSpc>
                <a:spcPct val="150000"/>
              </a:lnSpc>
              <a:spcBef>
                <a:spcPts val="200"/>
              </a:spcBef>
              <a:defRPr spc="90">
                <a:solidFill>
                  <a:srgbClr val="262626"/>
                </a:solidFill>
                <a:latin typeface="DM Sans Bold"/>
                <a:ea typeface="DM Sans Bold"/>
                <a:cs typeface="DM Sans Bold"/>
                <a:sym typeface="DM Sans Bold"/>
              </a:defRPr>
            </a:lvl1pPr>
          </a:lstStyle>
          <a:p>
            <a:r>
              <a:rPr lang="en-US" dirty="0"/>
              <a:t>total raise</a:t>
            </a:r>
            <a:endParaRPr dirty="0"/>
          </a:p>
        </p:txBody>
      </p:sp>
      <p:sp>
        <p:nvSpPr>
          <p:cNvPr id="17" name="Rectangle 21">
            <a:extLst>
              <a:ext uri="{FF2B5EF4-FFF2-40B4-BE49-F238E27FC236}">
                <a16:creationId xmlns:a16="http://schemas.microsoft.com/office/drawing/2014/main" id="{BE5F5A9C-1792-9941-982C-58261BE21314}"/>
              </a:ext>
            </a:extLst>
          </p:cNvPr>
          <p:cNvSpPr/>
          <p:nvPr/>
        </p:nvSpPr>
        <p:spPr>
          <a:xfrm>
            <a:off x="1298890" y="4279316"/>
            <a:ext cx="2160001" cy="50801"/>
          </a:xfrm>
          <a:prstGeom prst="rect">
            <a:avLst/>
          </a:prstGeom>
          <a:solidFill>
            <a:srgbClr val="262626"/>
          </a:solidFill>
          <a:ln w="12700">
            <a:miter lim="400000"/>
          </a:ln>
        </p:spPr>
        <p:txBody>
          <a:bodyPr lIns="45719" rIns="45719" anchor="ctr"/>
          <a:lstStyle/>
          <a:p>
            <a:pPr algn="ctr">
              <a:defRPr>
                <a:solidFill>
                  <a:srgbClr val="462427"/>
                </a:solidFill>
                <a:latin typeface="+mn-lt"/>
                <a:ea typeface="+mn-ea"/>
                <a:cs typeface="+mn-cs"/>
                <a:sym typeface="Helvetica"/>
              </a:defRPr>
            </a:pPr>
            <a:endParaRPr dirty="0"/>
          </a:p>
        </p:txBody>
      </p:sp>
      <p:sp>
        <p:nvSpPr>
          <p:cNvPr id="18" name="Rectangle 25">
            <a:extLst>
              <a:ext uri="{FF2B5EF4-FFF2-40B4-BE49-F238E27FC236}">
                <a16:creationId xmlns:a16="http://schemas.microsoft.com/office/drawing/2014/main" id="{C2190E83-B70B-3639-081B-9963FF95CBDF}"/>
              </a:ext>
            </a:extLst>
          </p:cNvPr>
          <p:cNvSpPr txBox="1"/>
          <p:nvPr/>
        </p:nvSpPr>
        <p:spPr>
          <a:xfrm>
            <a:off x="1236185" y="4486291"/>
            <a:ext cx="2287344" cy="13490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lnSpc>
                <a:spcPts val="1400"/>
              </a:lnSpc>
              <a:defRPr sz="1200">
                <a:solidFill>
                  <a:srgbClr val="595959"/>
                </a:solidFill>
                <a:latin typeface="DM Sans Regular"/>
                <a:ea typeface="DM Sans Regular"/>
                <a:cs typeface="DM Sans Regular"/>
                <a:sym typeface="DM Sans Regular"/>
              </a:defRPr>
            </a:lvl1pPr>
          </a:lstStyle>
          <a:p>
            <a:pPr marL="171450" indent="-171450" algn="l">
              <a:buFont typeface="Arial" panose="020B0604020202020204" pitchFamily="34" charset="0"/>
              <a:buChar char="•"/>
            </a:pPr>
            <a:r>
              <a:rPr lang="en-US" dirty="0"/>
              <a:t>12 months in development for full product launch</a:t>
            </a:r>
          </a:p>
          <a:p>
            <a:pPr marL="171450" indent="-171450" algn="l">
              <a:buFont typeface="Arial" panose="020B0604020202020204" pitchFamily="34" charset="0"/>
              <a:buChar char="•"/>
            </a:pPr>
            <a:r>
              <a:rPr lang="en-US" dirty="0"/>
              <a:t>Beta test ready at month 6</a:t>
            </a:r>
          </a:p>
          <a:p>
            <a:pPr marL="171450" indent="-171450" algn="l">
              <a:buFont typeface="Arial" panose="020B0604020202020204" pitchFamily="34" charset="0"/>
              <a:buChar char="•"/>
            </a:pPr>
            <a:r>
              <a:rPr lang="en-US" dirty="0"/>
              <a:t>Funds will enable </a:t>
            </a:r>
            <a:r>
              <a:rPr lang="en-US" b="1" dirty="0">
                <a:solidFill>
                  <a:srgbClr val="262626"/>
                </a:solidFill>
              </a:rPr>
              <a:t>sustained growth </a:t>
            </a:r>
            <a:r>
              <a:rPr lang="en-US" dirty="0"/>
              <a:t>for marketing, product development, operations, and sales</a:t>
            </a:r>
          </a:p>
        </p:txBody>
      </p:sp>
      <p:sp>
        <p:nvSpPr>
          <p:cNvPr id="19" name="Text Placeholder 7">
            <a:extLst>
              <a:ext uri="{FF2B5EF4-FFF2-40B4-BE49-F238E27FC236}">
                <a16:creationId xmlns:a16="http://schemas.microsoft.com/office/drawing/2014/main" id="{58198313-F49D-856C-2A2E-6A9F753153D8}"/>
              </a:ext>
            </a:extLst>
          </p:cNvPr>
          <p:cNvSpPr txBox="1"/>
          <p:nvPr/>
        </p:nvSpPr>
        <p:spPr>
          <a:xfrm>
            <a:off x="8737407" y="3169742"/>
            <a:ext cx="2155827" cy="7551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defTabSz="914400">
              <a:lnSpc>
                <a:spcPct val="150000"/>
              </a:lnSpc>
              <a:spcBef>
                <a:spcPts val="800"/>
              </a:spcBef>
              <a:defRPr sz="3600" spc="50">
                <a:solidFill>
                  <a:srgbClr val="262626"/>
                </a:solidFill>
                <a:latin typeface="DM Sans Bold"/>
                <a:ea typeface="DM Sans Bold"/>
                <a:cs typeface="DM Sans Bold"/>
                <a:sym typeface="DM Sans Bold"/>
              </a:defRPr>
            </a:lvl1pPr>
          </a:lstStyle>
          <a:p>
            <a:r>
              <a:rPr lang="en-US" dirty="0"/>
              <a:t>20%</a:t>
            </a:r>
            <a:endParaRPr dirty="0"/>
          </a:p>
        </p:txBody>
      </p:sp>
      <p:sp>
        <p:nvSpPr>
          <p:cNvPr id="20" name="Text Placeholder 7">
            <a:extLst>
              <a:ext uri="{FF2B5EF4-FFF2-40B4-BE49-F238E27FC236}">
                <a16:creationId xmlns:a16="http://schemas.microsoft.com/office/drawing/2014/main" id="{248D0013-862B-500C-CFBD-61FF7FBC5519}"/>
              </a:ext>
            </a:extLst>
          </p:cNvPr>
          <p:cNvSpPr txBox="1"/>
          <p:nvPr/>
        </p:nvSpPr>
        <p:spPr>
          <a:xfrm>
            <a:off x="8734232" y="3809362"/>
            <a:ext cx="2159002" cy="3776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defTabSz="914400">
              <a:lnSpc>
                <a:spcPct val="150000"/>
              </a:lnSpc>
              <a:spcBef>
                <a:spcPts val="200"/>
              </a:spcBef>
              <a:defRPr spc="90">
                <a:solidFill>
                  <a:srgbClr val="262626"/>
                </a:solidFill>
                <a:latin typeface="DM Sans Bold"/>
                <a:ea typeface="DM Sans Bold"/>
                <a:cs typeface="DM Sans Bold"/>
                <a:sym typeface="DM Sans Bold"/>
              </a:defRPr>
            </a:lvl1pPr>
          </a:lstStyle>
          <a:p>
            <a:r>
              <a:rPr lang="en-US" dirty="0"/>
              <a:t>equity</a:t>
            </a:r>
            <a:endParaRPr dirty="0"/>
          </a:p>
        </p:txBody>
      </p:sp>
      <p:sp>
        <p:nvSpPr>
          <p:cNvPr id="21" name="Rectangle 21">
            <a:extLst>
              <a:ext uri="{FF2B5EF4-FFF2-40B4-BE49-F238E27FC236}">
                <a16:creationId xmlns:a16="http://schemas.microsoft.com/office/drawing/2014/main" id="{430BA8DA-E94E-A0D0-0C63-DDA92CB83BDF}"/>
              </a:ext>
            </a:extLst>
          </p:cNvPr>
          <p:cNvSpPr/>
          <p:nvPr/>
        </p:nvSpPr>
        <p:spPr>
          <a:xfrm>
            <a:off x="8734354" y="4279316"/>
            <a:ext cx="2160001" cy="50801"/>
          </a:xfrm>
          <a:prstGeom prst="rect">
            <a:avLst/>
          </a:prstGeom>
          <a:solidFill>
            <a:srgbClr val="262626"/>
          </a:solidFill>
          <a:ln w="12700">
            <a:miter lim="400000"/>
          </a:ln>
        </p:spPr>
        <p:txBody>
          <a:bodyPr lIns="45719" rIns="45719" anchor="ctr"/>
          <a:lstStyle/>
          <a:p>
            <a:pPr algn="ctr">
              <a:defRPr>
                <a:solidFill>
                  <a:srgbClr val="462427"/>
                </a:solidFill>
                <a:latin typeface="+mn-lt"/>
                <a:ea typeface="+mn-ea"/>
                <a:cs typeface="+mn-cs"/>
                <a:sym typeface="Helvetica"/>
              </a:defRPr>
            </a:pPr>
            <a:endParaRPr dirty="0"/>
          </a:p>
        </p:txBody>
      </p:sp>
      <p:sp>
        <p:nvSpPr>
          <p:cNvPr id="22" name="Rectangle 25">
            <a:extLst>
              <a:ext uri="{FF2B5EF4-FFF2-40B4-BE49-F238E27FC236}">
                <a16:creationId xmlns:a16="http://schemas.microsoft.com/office/drawing/2014/main" id="{13806F12-B648-8B94-73F3-82F2A20E2654}"/>
              </a:ext>
            </a:extLst>
          </p:cNvPr>
          <p:cNvSpPr txBox="1"/>
          <p:nvPr/>
        </p:nvSpPr>
        <p:spPr>
          <a:xfrm>
            <a:off x="8671649" y="4486291"/>
            <a:ext cx="2287344" cy="16294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lnSpc>
                <a:spcPts val="1400"/>
              </a:lnSpc>
              <a:defRPr sz="1200">
                <a:solidFill>
                  <a:srgbClr val="595959"/>
                </a:solidFill>
                <a:latin typeface="DM Sans Regular"/>
                <a:ea typeface="DM Sans Regular"/>
                <a:cs typeface="DM Sans Regular"/>
                <a:sym typeface="DM Sans Regular"/>
              </a:defRPr>
            </a:lvl1pPr>
          </a:lstStyle>
          <a:p>
            <a:pPr marL="171450" indent="-171450" algn="l">
              <a:buFont typeface="Arial" panose="020B0604020202020204" pitchFamily="34" charset="0"/>
              <a:buChar char="•"/>
            </a:pPr>
            <a:r>
              <a:rPr lang="en-US" dirty="0"/>
              <a:t>Company valuation </a:t>
            </a:r>
            <a:r>
              <a:rPr lang="en-US" b="1" dirty="0">
                <a:solidFill>
                  <a:srgbClr val="262626"/>
                </a:solidFill>
              </a:rPr>
              <a:t>$5M</a:t>
            </a:r>
          </a:p>
          <a:p>
            <a:pPr marL="171450" indent="-171450" algn="l">
              <a:buFont typeface="Arial" panose="020B0604020202020204" pitchFamily="34" charset="0"/>
              <a:buChar char="•"/>
            </a:pPr>
            <a:r>
              <a:rPr lang="en-US" dirty="0"/>
              <a:t>Covers </a:t>
            </a:r>
            <a:r>
              <a:rPr lang="en-US" b="1" dirty="0">
                <a:solidFill>
                  <a:srgbClr val="262626"/>
                </a:solidFill>
              </a:rPr>
              <a:t>18-month</a:t>
            </a:r>
            <a:r>
              <a:rPr lang="en-US" dirty="0"/>
              <a:t> runway</a:t>
            </a:r>
          </a:p>
          <a:p>
            <a:pPr marL="184150" marR="5080" indent="-171450" algn="l">
              <a:lnSpc>
                <a:spcPts val="1500"/>
              </a:lnSpc>
              <a:spcBef>
                <a:spcPts val="300"/>
              </a:spcBef>
              <a:buFont typeface="Arial" panose="020B0604020202020204" pitchFamily="34" charset="0"/>
              <a:buChar char="•"/>
            </a:pPr>
            <a:r>
              <a:rPr lang="en-US" sz="1200" b="1" dirty="0">
                <a:solidFill>
                  <a:srgbClr val="262626"/>
                </a:solidFill>
                <a:latin typeface="Graphik Regular" panose="020B0503030202060203" pitchFamily="34" charset="77"/>
                <a:cs typeface="Arial"/>
              </a:rPr>
              <a:t>Projected</a:t>
            </a:r>
            <a:r>
              <a:rPr lang="en-US" sz="1200" b="1" spc="55" dirty="0">
                <a:solidFill>
                  <a:srgbClr val="262626"/>
                </a:solidFill>
                <a:latin typeface="Graphik Regular" panose="020B0503030202060203" pitchFamily="34" charset="77"/>
                <a:cs typeface="Arial"/>
              </a:rPr>
              <a:t> </a:t>
            </a:r>
            <a:r>
              <a:rPr lang="en-US" sz="1200" b="1" dirty="0">
                <a:solidFill>
                  <a:srgbClr val="262626"/>
                </a:solidFill>
                <a:latin typeface="Graphik Regular" panose="020B0503030202060203" pitchFamily="34" charset="77"/>
                <a:cs typeface="Arial"/>
              </a:rPr>
              <a:t>revenue:</a:t>
            </a:r>
            <a:r>
              <a:rPr lang="en-US" sz="1200" b="1" spc="114" dirty="0">
                <a:solidFill>
                  <a:srgbClr val="262626"/>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Ignite</a:t>
            </a:r>
            <a:r>
              <a:rPr lang="en-US" sz="1200" spc="114" dirty="0">
                <a:solidFill>
                  <a:srgbClr val="595959"/>
                </a:solidFill>
                <a:latin typeface="Graphik Regular" panose="020B0503030202060203" pitchFamily="34" charset="77"/>
                <a:cs typeface="Arial"/>
              </a:rPr>
              <a:t> </a:t>
            </a:r>
            <a:r>
              <a:rPr lang="en-US" sz="1200" spc="55" dirty="0">
                <a:solidFill>
                  <a:srgbClr val="595959"/>
                </a:solidFill>
                <a:latin typeface="Graphik Regular" panose="020B0503030202060203" pitchFamily="34" charset="77"/>
                <a:cs typeface="Arial"/>
              </a:rPr>
              <a:t>projects</a:t>
            </a:r>
            <a:r>
              <a:rPr lang="en-US" sz="1200" spc="110" dirty="0">
                <a:solidFill>
                  <a:srgbClr val="595959"/>
                </a:solidFill>
                <a:latin typeface="Graphik Regular" panose="020B0503030202060203" pitchFamily="34" charset="77"/>
                <a:cs typeface="Arial"/>
              </a:rPr>
              <a:t> </a:t>
            </a:r>
            <a:r>
              <a:rPr lang="en-US" sz="1200" spc="-50" dirty="0">
                <a:solidFill>
                  <a:srgbClr val="595959"/>
                </a:solidFill>
                <a:latin typeface="Graphik Regular" panose="020B0503030202060203" pitchFamily="34" charset="77"/>
                <a:cs typeface="Arial"/>
              </a:rPr>
              <a:t>a </a:t>
            </a:r>
            <a:r>
              <a:rPr lang="en-US" sz="1200" spc="-45" dirty="0">
                <a:solidFill>
                  <a:srgbClr val="595959"/>
                </a:solidFill>
                <a:latin typeface="Graphik Regular" panose="020B0503030202060203" pitchFamily="34" charset="77"/>
                <a:cs typeface="Arial"/>
              </a:rPr>
              <a:t>37%</a:t>
            </a:r>
            <a:r>
              <a:rPr lang="en-US" sz="1200" spc="40" dirty="0">
                <a:solidFill>
                  <a:srgbClr val="595959"/>
                </a:solidFill>
                <a:latin typeface="Graphik Regular" panose="020B0503030202060203" pitchFamily="34" charset="77"/>
                <a:cs typeface="Arial"/>
              </a:rPr>
              <a:t> </a:t>
            </a:r>
            <a:r>
              <a:rPr lang="en-US" sz="1200" spc="-80" dirty="0">
                <a:solidFill>
                  <a:srgbClr val="595959"/>
                </a:solidFill>
                <a:latin typeface="Graphik Regular" panose="020B0503030202060203" pitchFamily="34" charset="77"/>
                <a:cs typeface="Arial"/>
              </a:rPr>
              <a:t>CAGR</a:t>
            </a:r>
            <a:r>
              <a:rPr lang="en-US" sz="1200" spc="4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over</a:t>
            </a:r>
            <a:r>
              <a:rPr lang="en-US" sz="1200" spc="45" dirty="0">
                <a:solidFill>
                  <a:srgbClr val="595959"/>
                </a:solidFill>
                <a:latin typeface="Graphik Regular" panose="020B0503030202060203" pitchFamily="34" charset="77"/>
                <a:cs typeface="Arial"/>
              </a:rPr>
              <a:t> </a:t>
            </a:r>
            <a:r>
              <a:rPr lang="en-US" sz="1200" spc="60" dirty="0">
                <a:solidFill>
                  <a:srgbClr val="595959"/>
                </a:solidFill>
                <a:latin typeface="Graphik Regular" panose="020B0503030202060203" pitchFamily="34" charset="77"/>
                <a:cs typeface="Arial"/>
              </a:rPr>
              <a:t>the</a:t>
            </a:r>
            <a:r>
              <a:rPr lang="en-US" sz="1200" spc="4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next</a:t>
            </a:r>
            <a:r>
              <a:rPr lang="en-US" sz="1200" spc="4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five</a:t>
            </a:r>
            <a:r>
              <a:rPr lang="en-US" sz="1200" spc="45" dirty="0">
                <a:solidFill>
                  <a:srgbClr val="595959"/>
                </a:solidFill>
                <a:latin typeface="Graphik Regular" panose="020B0503030202060203" pitchFamily="34" charset="77"/>
                <a:cs typeface="Arial"/>
              </a:rPr>
              <a:t> </a:t>
            </a:r>
            <a:r>
              <a:rPr lang="en-US" sz="1200" spc="-10" dirty="0">
                <a:solidFill>
                  <a:srgbClr val="595959"/>
                </a:solidFill>
                <a:latin typeface="Graphik Regular" panose="020B0503030202060203" pitchFamily="34" charset="77"/>
                <a:cs typeface="Arial"/>
              </a:rPr>
              <a:t>years, </a:t>
            </a:r>
            <a:r>
              <a:rPr lang="en-US" sz="1200" dirty="0">
                <a:solidFill>
                  <a:srgbClr val="595959"/>
                </a:solidFill>
                <a:latin typeface="Graphik Regular" panose="020B0503030202060203" pitchFamily="34" charset="77"/>
                <a:cs typeface="Arial"/>
              </a:rPr>
              <a:t>aiming</a:t>
            </a:r>
            <a:r>
              <a:rPr lang="en-US" sz="1200" spc="75" dirty="0">
                <a:solidFill>
                  <a:srgbClr val="595959"/>
                </a:solidFill>
                <a:latin typeface="Graphik Regular" panose="020B0503030202060203" pitchFamily="34" charset="77"/>
                <a:cs typeface="Arial"/>
              </a:rPr>
              <a:t> </a:t>
            </a:r>
            <a:r>
              <a:rPr lang="en-US" sz="1200" spc="50" dirty="0">
                <a:solidFill>
                  <a:srgbClr val="595959"/>
                </a:solidFill>
                <a:latin typeface="Graphik Regular" panose="020B0503030202060203" pitchFamily="34" charset="77"/>
                <a:cs typeface="Arial"/>
              </a:rPr>
              <a:t>for</a:t>
            </a:r>
            <a:r>
              <a:rPr lang="en-US" sz="1200" spc="80" dirty="0">
                <a:solidFill>
                  <a:srgbClr val="595959"/>
                </a:solidFill>
                <a:latin typeface="Graphik Regular" panose="020B0503030202060203" pitchFamily="34" charset="77"/>
                <a:cs typeface="Arial"/>
              </a:rPr>
              <a:t> </a:t>
            </a:r>
            <a:r>
              <a:rPr lang="en-US" sz="1200" spc="-135" dirty="0">
                <a:solidFill>
                  <a:srgbClr val="595959"/>
                </a:solidFill>
                <a:latin typeface="Graphik Regular" panose="020B0503030202060203" pitchFamily="34" charset="77"/>
                <a:cs typeface="Arial"/>
              </a:rPr>
              <a:t>$1.7</a:t>
            </a:r>
            <a:r>
              <a:rPr lang="en-US" sz="1200" spc="8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million</a:t>
            </a:r>
            <a:r>
              <a:rPr lang="en-US" sz="1200" spc="8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next</a:t>
            </a:r>
            <a:r>
              <a:rPr lang="en-US" sz="1200" spc="8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year</a:t>
            </a:r>
            <a:r>
              <a:rPr lang="en-US" sz="1200" spc="75" dirty="0">
                <a:solidFill>
                  <a:srgbClr val="595959"/>
                </a:solidFill>
                <a:latin typeface="Graphik Regular" panose="020B0503030202060203" pitchFamily="34" charset="77"/>
                <a:cs typeface="Arial"/>
              </a:rPr>
              <a:t> </a:t>
            </a:r>
            <a:r>
              <a:rPr lang="en-US" sz="1200" spc="-25" dirty="0">
                <a:solidFill>
                  <a:srgbClr val="595959"/>
                </a:solidFill>
                <a:latin typeface="Graphik Regular" panose="020B0503030202060203" pitchFamily="34" charset="77"/>
                <a:cs typeface="Arial"/>
              </a:rPr>
              <a:t>and</a:t>
            </a:r>
            <a:r>
              <a:rPr lang="en-US" sz="1200" spc="-25" dirty="0">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$8.25</a:t>
            </a:r>
            <a:r>
              <a:rPr lang="en-US" sz="1200" spc="85"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million</a:t>
            </a:r>
            <a:r>
              <a:rPr lang="en-US" sz="1200" spc="9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in</a:t>
            </a:r>
            <a:r>
              <a:rPr lang="en-US" sz="1200" spc="90" dirty="0">
                <a:solidFill>
                  <a:srgbClr val="595959"/>
                </a:solidFill>
                <a:latin typeface="Graphik Regular" panose="020B0503030202060203" pitchFamily="34" charset="77"/>
                <a:cs typeface="Arial"/>
              </a:rPr>
              <a:t> </a:t>
            </a:r>
            <a:r>
              <a:rPr lang="en-US" sz="1200" dirty="0">
                <a:solidFill>
                  <a:srgbClr val="595959"/>
                </a:solidFill>
                <a:latin typeface="Graphik Regular" panose="020B0503030202060203" pitchFamily="34" charset="77"/>
                <a:cs typeface="Arial"/>
              </a:rPr>
              <a:t>five</a:t>
            </a:r>
            <a:r>
              <a:rPr lang="en-US" sz="1200" spc="90" dirty="0">
                <a:solidFill>
                  <a:srgbClr val="595959"/>
                </a:solidFill>
                <a:latin typeface="Graphik Regular" panose="020B0503030202060203" pitchFamily="34" charset="77"/>
                <a:cs typeface="Arial"/>
              </a:rPr>
              <a:t> </a:t>
            </a:r>
            <a:r>
              <a:rPr lang="en-US" sz="1200" spc="-10" dirty="0">
                <a:solidFill>
                  <a:srgbClr val="595959"/>
                </a:solidFill>
                <a:latin typeface="Graphik Regular" panose="020B0503030202060203" pitchFamily="34" charset="77"/>
                <a:cs typeface="Arial"/>
              </a:rPr>
              <a:t>years.</a:t>
            </a:r>
            <a:endParaRPr lang="en-US" sz="1200" dirty="0">
              <a:latin typeface="Graphik Regular" panose="020B0503030202060203" pitchFamily="34" charset="77"/>
              <a:cs typeface="Arial"/>
            </a:endParaRPr>
          </a:p>
        </p:txBody>
      </p:sp>
      <p:graphicFrame>
        <p:nvGraphicFramePr>
          <p:cNvPr id="23" name="Chart Placeholder 18">
            <a:extLst>
              <a:ext uri="{FF2B5EF4-FFF2-40B4-BE49-F238E27FC236}">
                <a16:creationId xmlns:a16="http://schemas.microsoft.com/office/drawing/2014/main" id="{93B0A0F7-3D92-54FD-613C-0BB59516496A}"/>
              </a:ext>
            </a:extLst>
          </p:cNvPr>
          <p:cNvGraphicFramePr>
            <a:graphicFrameLocks/>
          </p:cNvGraphicFramePr>
          <p:nvPr>
            <p:extLst>
              <p:ext uri="{D42A27DB-BD31-4B8C-83A1-F6EECF244321}">
                <p14:modId xmlns:p14="http://schemas.microsoft.com/office/powerpoint/2010/main" val="3022924716"/>
              </p:ext>
            </p:extLst>
          </p:nvPr>
        </p:nvGraphicFramePr>
        <p:xfrm>
          <a:off x="4616977" y="2851166"/>
          <a:ext cx="2958046" cy="327025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a:extLst>
              <a:ext uri="{FF2B5EF4-FFF2-40B4-BE49-F238E27FC236}">
                <a16:creationId xmlns:a16="http://schemas.microsoft.com/office/drawing/2014/main" id="{739C4BF0-C204-87BE-579F-B43377BBC212}"/>
              </a:ext>
            </a:extLst>
          </p:cNvPr>
          <p:cNvSpPr txBox="1"/>
          <p:nvPr/>
        </p:nvSpPr>
        <p:spPr>
          <a:xfrm>
            <a:off x="4769802" y="1352708"/>
            <a:ext cx="6097836" cy="954107"/>
          </a:xfrm>
          <a:prstGeom prst="rect">
            <a:avLst/>
          </a:prstGeom>
          <a:noFill/>
        </p:spPr>
        <p:txBody>
          <a:bodyPr wrap="square">
            <a:spAutoFit/>
          </a:bodyPr>
          <a:lstStyle/>
          <a:p>
            <a:r>
              <a:rPr lang="en-US" sz="1400" b="0" i="0" u="none" strike="noStrike" dirty="0">
                <a:solidFill>
                  <a:srgbClr val="374151"/>
                </a:solidFill>
                <a:effectLst/>
                <a:latin typeface="DM Sans 14pt" pitchFamily="2" charset="77"/>
              </a:rPr>
              <a:t>Ignite is seeking an investment of </a:t>
            </a:r>
            <a:r>
              <a:rPr lang="en-US" sz="1400" b="1" i="0" u="none" strike="noStrike" dirty="0">
                <a:effectLst/>
                <a:latin typeface="DM Sans 14pt" pitchFamily="2" charset="77"/>
              </a:rPr>
              <a:t>$1M</a:t>
            </a:r>
            <a:r>
              <a:rPr lang="en-US" sz="1400" b="0" i="0" u="none" strike="noStrike" dirty="0">
                <a:solidFill>
                  <a:srgbClr val="374151"/>
                </a:solidFill>
                <a:effectLst/>
                <a:latin typeface="DM Sans 14pt" pitchFamily="2" charset="77"/>
              </a:rPr>
              <a:t> to cover an 18-month runway as we finalize and launch our platform. We have commitments from crucial hospitality customers who are ready to adopt Ignite as soon as we go live, ensuring early traction and revenue generation.</a:t>
            </a:r>
            <a:endParaRPr lang="en-US" sz="1400" dirty="0">
              <a:solidFill>
                <a:srgbClr val="595959"/>
              </a:solidFill>
              <a:latin typeface="DM Sans 14pt"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graphicEl>
                                              <a:chart seriesIdx="-3" categoryIdx="-3" bldStep="gridLegend"/>
                                            </p:graphicEl>
                                          </p:spTgt>
                                        </p:tgtEl>
                                        <p:attrNameLst>
                                          <p:attrName>style.visibility</p:attrName>
                                        </p:attrNameLst>
                                      </p:cBhvr>
                                      <p:to>
                                        <p:strVal val="visible"/>
                                      </p:to>
                                    </p:set>
                                    <p:animEffect transition="in" filter="wipe(left)">
                                      <p:cBhvr>
                                        <p:cTn id="7" dur="500"/>
                                        <p:tgtEl>
                                          <p:spTgt spid="23">
                                            <p:graphicEl>
                                              <a:chart seriesIdx="-3" categoryIdx="-3" bldStep="gridLegend"/>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graphicEl>
                                              <a:chart seriesIdx="-4" categoryIdx="0" bldStep="category"/>
                                            </p:graphicEl>
                                          </p:spTgt>
                                        </p:tgtEl>
                                        <p:attrNameLst>
                                          <p:attrName>style.visibility</p:attrName>
                                        </p:attrNameLst>
                                      </p:cBhvr>
                                      <p:to>
                                        <p:strVal val="visible"/>
                                      </p:to>
                                    </p:set>
                                    <p:animEffect transition="in" filter="wipe(left)">
                                      <p:cBhvr>
                                        <p:cTn id="11" dur="500"/>
                                        <p:tgtEl>
                                          <p:spTgt spid="23">
                                            <p:graphicEl>
                                              <a:chart seriesIdx="-4" categoryIdx="0" bldStep="category"/>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3">
                                            <p:graphicEl>
                                              <a:chart seriesIdx="-4" categoryIdx="1" bldStep="category"/>
                                            </p:graphicEl>
                                          </p:spTgt>
                                        </p:tgtEl>
                                        <p:attrNameLst>
                                          <p:attrName>style.visibility</p:attrName>
                                        </p:attrNameLst>
                                      </p:cBhvr>
                                      <p:to>
                                        <p:strVal val="visible"/>
                                      </p:to>
                                    </p:set>
                                    <p:animEffect transition="in" filter="wipe(left)">
                                      <p:cBhvr>
                                        <p:cTn id="15" dur="500"/>
                                        <p:tgtEl>
                                          <p:spTgt spid="23">
                                            <p:graphicEl>
                                              <a:chart seriesIdx="-4" categoryIdx="1" bldStep="category"/>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3">
                                            <p:graphicEl>
                                              <a:chart seriesIdx="-4" categoryIdx="2" bldStep="category"/>
                                            </p:graphicEl>
                                          </p:spTgt>
                                        </p:tgtEl>
                                        <p:attrNameLst>
                                          <p:attrName>style.visibility</p:attrName>
                                        </p:attrNameLst>
                                      </p:cBhvr>
                                      <p:to>
                                        <p:strVal val="visible"/>
                                      </p:to>
                                    </p:set>
                                    <p:animEffect transition="in" filter="wipe(left)">
                                      <p:cBhvr>
                                        <p:cTn id="19" dur="500"/>
                                        <p:tgtEl>
                                          <p:spTgt spid="23">
                                            <p:graphicEl>
                                              <a:chart seriesIdx="-4" categoryIdx="2" bldStep="category"/>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3">
                                            <p:graphicEl>
                                              <a:chart seriesIdx="-4" categoryIdx="3" bldStep="category"/>
                                            </p:graphicEl>
                                          </p:spTgt>
                                        </p:tgtEl>
                                        <p:attrNameLst>
                                          <p:attrName>style.visibility</p:attrName>
                                        </p:attrNameLst>
                                      </p:cBhvr>
                                      <p:to>
                                        <p:strVal val="visible"/>
                                      </p:to>
                                    </p:set>
                                    <p:animEffect transition="in" filter="wipe(left)">
                                      <p:cBhvr>
                                        <p:cTn id="23" dur="500"/>
                                        <p:tgtEl>
                                          <p:spTgt spid="23">
                                            <p:graphicEl>
                                              <a:chart seriesIdx="-4" categoryIdx="3" bldStep="category"/>
                                            </p:graphic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animEffect transition="in" filter="fade">
                                      <p:cBhvr>
                                        <p:cTn id="28" dur="500"/>
                                        <p:tgtEl>
                                          <p:spTgt spid="14"/>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p:cTn id="46" dur="500" fill="hold"/>
                                        <p:tgtEl>
                                          <p:spTgt spid="19"/>
                                        </p:tgtEl>
                                        <p:attrNameLst>
                                          <p:attrName>ppt_w</p:attrName>
                                        </p:attrNameLst>
                                      </p:cBhvr>
                                      <p:tavLst>
                                        <p:tav tm="0">
                                          <p:val>
                                            <p:fltVal val="0"/>
                                          </p:val>
                                        </p:tav>
                                        <p:tav tm="100000">
                                          <p:val>
                                            <p:strVal val="#ppt_w"/>
                                          </p:val>
                                        </p:tav>
                                      </p:tavLst>
                                    </p:anim>
                                    <p:anim calcmode="lin" valueType="num">
                                      <p:cBhvr>
                                        <p:cTn id="47" dur="500" fill="hold"/>
                                        <p:tgtEl>
                                          <p:spTgt spid="19"/>
                                        </p:tgtEl>
                                        <p:attrNameLst>
                                          <p:attrName>ppt_h</p:attrName>
                                        </p:attrNameLst>
                                      </p:cBhvr>
                                      <p:tavLst>
                                        <p:tav tm="0">
                                          <p:val>
                                            <p:fltVal val="0"/>
                                          </p:val>
                                        </p:tav>
                                        <p:tav tm="100000">
                                          <p:val>
                                            <p:strVal val="#ppt_h"/>
                                          </p:val>
                                        </p:tav>
                                      </p:tavLst>
                                    </p:anim>
                                    <p:animEffect transition="in" filter="fade">
                                      <p:cBhvr>
                                        <p:cTn id="48" dur="500"/>
                                        <p:tgtEl>
                                          <p:spTgt spid="19"/>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p:cTn id="51" dur="500" fill="hold"/>
                                        <p:tgtEl>
                                          <p:spTgt spid="20"/>
                                        </p:tgtEl>
                                        <p:attrNameLst>
                                          <p:attrName>ppt_w</p:attrName>
                                        </p:attrNameLst>
                                      </p:cBhvr>
                                      <p:tavLst>
                                        <p:tav tm="0">
                                          <p:val>
                                            <p:fltVal val="0"/>
                                          </p:val>
                                        </p:tav>
                                        <p:tav tm="100000">
                                          <p:val>
                                            <p:strVal val="#ppt_w"/>
                                          </p:val>
                                        </p:tav>
                                      </p:tavLst>
                                    </p:anim>
                                    <p:anim calcmode="lin" valueType="num">
                                      <p:cBhvr>
                                        <p:cTn id="52" dur="500" fill="hold"/>
                                        <p:tgtEl>
                                          <p:spTgt spid="20"/>
                                        </p:tgtEl>
                                        <p:attrNameLst>
                                          <p:attrName>ppt_h</p:attrName>
                                        </p:attrNameLst>
                                      </p:cBhvr>
                                      <p:tavLst>
                                        <p:tav tm="0">
                                          <p:val>
                                            <p:fltVal val="0"/>
                                          </p:val>
                                        </p:tav>
                                        <p:tav tm="100000">
                                          <p:val>
                                            <p:strVal val="#ppt_h"/>
                                          </p:val>
                                        </p:tav>
                                      </p:tavLst>
                                    </p:anim>
                                    <p:animEffect transition="in" filter="fade">
                                      <p:cBhvr>
                                        <p:cTn id="53" dur="500"/>
                                        <p:tgtEl>
                                          <p:spTgt spid="20"/>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p:cTn id="56" dur="500" fill="hold"/>
                                        <p:tgtEl>
                                          <p:spTgt spid="21"/>
                                        </p:tgtEl>
                                        <p:attrNameLst>
                                          <p:attrName>ppt_w</p:attrName>
                                        </p:attrNameLst>
                                      </p:cBhvr>
                                      <p:tavLst>
                                        <p:tav tm="0">
                                          <p:val>
                                            <p:fltVal val="0"/>
                                          </p:val>
                                        </p:tav>
                                        <p:tav tm="100000">
                                          <p:val>
                                            <p:strVal val="#ppt_w"/>
                                          </p:val>
                                        </p:tav>
                                      </p:tavLst>
                                    </p:anim>
                                    <p:anim calcmode="lin" valueType="num">
                                      <p:cBhvr>
                                        <p:cTn id="57" dur="500" fill="hold"/>
                                        <p:tgtEl>
                                          <p:spTgt spid="21"/>
                                        </p:tgtEl>
                                        <p:attrNameLst>
                                          <p:attrName>ppt_h</p:attrName>
                                        </p:attrNameLst>
                                      </p:cBhvr>
                                      <p:tavLst>
                                        <p:tav tm="0">
                                          <p:val>
                                            <p:fltVal val="0"/>
                                          </p:val>
                                        </p:tav>
                                        <p:tav tm="100000">
                                          <p:val>
                                            <p:strVal val="#ppt_h"/>
                                          </p:val>
                                        </p:tav>
                                      </p:tavLst>
                                    </p:anim>
                                    <p:animEffect transition="in" filter="fade">
                                      <p:cBhvr>
                                        <p:cTn id="58" dur="500"/>
                                        <p:tgtEl>
                                          <p:spTgt spid="21"/>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p:cTn id="61" dur="500" fill="hold"/>
                                        <p:tgtEl>
                                          <p:spTgt spid="22"/>
                                        </p:tgtEl>
                                        <p:attrNameLst>
                                          <p:attrName>ppt_w</p:attrName>
                                        </p:attrNameLst>
                                      </p:cBhvr>
                                      <p:tavLst>
                                        <p:tav tm="0">
                                          <p:val>
                                            <p:fltVal val="0"/>
                                          </p:val>
                                        </p:tav>
                                        <p:tav tm="100000">
                                          <p:val>
                                            <p:strVal val="#ppt_w"/>
                                          </p:val>
                                        </p:tav>
                                      </p:tavLst>
                                    </p:anim>
                                    <p:anim calcmode="lin" valueType="num">
                                      <p:cBhvr>
                                        <p:cTn id="62" dur="500" fill="hold"/>
                                        <p:tgtEl>
                                          <p:spTgt spid="22"/>
                                        </p:tgtEl>
                                        <p:attrNameLst>
                                          <p:attrName>ppt_h</p:attrName>
                                        </p:attrNameLst>
                                      </p:cBhvr>
                                      <p:tavLst>
                                        <p:tav tm="0">
                                          <p:val>
                                            <p:fltVal val="0"/>
                                          </p:val>
                                        </p:tav>
                                        <p:tav tm="100000">
                                          <p:val>
                                            <p:strVal val="#ppt_h"/>
                                          </p:val>
                                        </p:tav>
                                      </p:tavLst>
                                    </p:anim>
                                    <p:animEffect transition="in" filter="fade">
                                      <p:cBhvr>
                                        <p:cTn id="6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P spid="19" grpId="0" animBg="1"/>
      <p:bldP spid="20" grpId="0" animBg="1"/>
      <p:bldP spid="21" grpId="0" animBg="1"/>
      <p:bldP spid="22" grpId="0" animBg="1"/>
      <p:bldGraphic spid="23" grpId="0">
        <p:bldSub>
          <a:bldChart bld="category"/>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5633-AD64-3CC3-650E-D47BF1ABB704}"/>
            </a:ext>
          </a:extLst>
        </p:cNvPr>
        <p:cNvGrpSpPr/>
        <p:nvPr/>
      </p:nvGrpSpPr>
      <p:grpSpPr>
        <a:xfrm>
          <a:off x="0" y="0"/>
          <a:ext cx="0" cy="0"/>
          <a:chOff x="0" y="0"/>
          <a:chExt cx="0" cy="0"/>
        </a:xfrm>
      </p:grpSpPr>
      <p:sp>
        <p:nvSpPr>
          <p:cNvPr id="15" name="Straight Connector 2">
            <a:extLst>
              <a:ext uri="{FF2B5EF4-FFF2-40B4-BE49-F238E27FC236}">
                <a16:creationId xmlns:a16="http://schemas.microsoft.com/office/drawing/2014/main" id="{0C8B2FA0-39E2-F1A4-81EF-E76B0611A250}"/>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pic>
        <p:nvPicPr>
          <p:cNvPr id="17" name="ignite-logo.png" descr="ignite-logo.png">
            <a:extLst>
              <a:ext uri="{FF2B5EF4-FFF2-40B4-BE49-F238E27FC236}">
                <a16:creationId xmlns:a16="http://schemas.microsoft.com/office/drawing/2014/main" id="{D792DBDD-B33A-8E42-5B64-33D8C09028CC}"/>
              </a:ext>
            </a:extLst>
          </p:cNvPr>
          <p:cNvPicPr>
            <a:picLocks noChangeAspect="1"/>
          </p:cNvPicPr>
          <p:nvPr/>
        </p:nvPicPr>
        <p:blipFill>
          <a:blip r:embed="rId2"/>
          <a:stretch>
            <a:fillRect/>
          </a:stretch>
        </p:blipFill>
        <p:spPr>
          <a:xfrm>
            <a:off x="1311564" y="264828"/>
            <a:ext cx="992188" cy="992188"/>
          </a:xfrm>
          <a:prstGeom prst="rect">
            <a:avLst/>
          </a:prstGeom>
          <a:ln w="12700">
            <a:miter lim="400000"/>
          </a:ln>
        </p:spPr>
      </p:pic>
      <p:sp>
        <p:nvSpPr>
          <p:cNvPr id="20" name="TextBox 36">
            <a:extLst>
              <a:ext uri="{FF2B5EF4-FFF2-40B4-BE49-F238E27FC236}">
                <a16:creationId xmlns:a16="http://schemas.microsoft.com/office/drawing/2014/main" id="{80241D52-342E-907C-351C-5DC7F37946D1}"/>
              </a:ext>
            </a:extLst>
          </p:cNvPr>
          <p:cNvSpPr txBox="1"/>
          <p:nvPr/>
        </p:nvSpPr>
        <p:spPr>
          <a:xfrm>
            <a:off x="3513545" y="483923"/>
            <a:ext cx="5164909"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defTabSz="914400">
              <a:lnSpc>
                <a:spcPts val="3600"/>
              </a:lnSpc>
              <a:defRPr sz="3500" b="1">
                <a:solidFill>
                  <a:srgbClr val="404040"/>
                </a:solidFill>
                <a:latin typeface="Graphik Bold"/>
                <a:ea typeface="Graphik Bold"/>
                <a:cs typeface="Graphik Bold"/>
                <a:sym typeface="Graphik"/>
              </a:defRPr>
            </a:pPr>
            <a:r>
              <a:rPr lang="en-US" dirty="0"/>
              <a:t>growth projections</a:t>
            </a:r>
            <a:endParaRPr dirty="0"/>
          </a:p>
        </p:txBody>
      </p:sp>
      <p:graphicFrame>
        <p:nvGraphicFramePr>
          <p:cNvPr id="3" name="Chart 2">
            <a:extLst>
              <a:ext uri="{FF2B5EF4-FFF2-40B4-BE49-F238E27FC236}">
                <a16:creationId xmlns:a16="http://schemas.microsoft.com/office/drawing/2014/main" id="{1FB774CF-C704-3741-A19B-7260CEFAB391}"/>
              </a:ext>
            </a:extLst>
          </p:cNvPr>
          <p:cNvGraphicFramePr>
            <a:graphicFrameLocks/>
          </p:cNvGraphicFramePr>
          <p:nvPr/>
        </p:nvGraphicFramePr>
        <p:xfrm>
          <a:off x="457200" y="2102848"/>
          <a:ext cx="4114800" cy="38407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00000000-0008-0000-0D00-000003000000}"/>
              </a:ext>
            </a:extLst>
          </p:cNvPr>
          <p:cNvGraphicFramePr>
            <a:graphicFrameLocks/>
          </p:cNvGraphicFramePr>
          <p:nvPr/>
        </p:nvGraphicFramePr>
        <p:xfrm>
          <a:off x="4953000" y="2102848"/>
          <a:ext cx="6781800" cy="384075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9780739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76A89-542F-DA0B-B235-1D286FC6C08C}"/>
            </a:ext>
          </a:extLst>
        </p:cNvPr>
        <p:cNvGrpSpPr/>
        <p:nvPr/>
      </p:nvGrpSpPr>
      <p:grpSpPr>
        <a:xfrm>
          <a:off x="0" y="0"/>
          <a:ext cx="0" cy="0"/>
          <a:chOff x="0" y="0"/>
          <a:chExt cx="0" cy="0"/>
        </a:xfrm>
      </p:grpSpPr>
      <p:sp>
        <p:nvSpPr>
          <p:cNvPr id="15" name="Straight Connector 2">
            <a:extLst>
              <a:ext uri="{FF2B5EF4-FFF2-40B4-BE49-F238E27FC236}">
                <a16:creationId xmlns:a16="http://schemas.microsoft.com/office/drawing/2014/main" id="{07255BDE-EAE2-972A-9773-6866491A51CF}"/>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pic>
        <p:nvPicPr>
          <p:cNvPr id="17" name="ignite-logo.png" descr="ignite-logo.png">
            <a:extLst>
              <a:ext uri="{FF2B5EF4-FFF2-40B4-BE49-F238E27FC236}">
                <a16:creationId xmlns:a16="http://schemas.microsoft.com/office/drawing/2014/main" id="{A952BF7B-96A4-3340-77B1-6A49C5186286}"/>
              </a:ext>
            </a:extLst>
          </p:cNvPr>
          <p:cNvPicPr>
            <a:picLocks noChangeAspect="1"/>
          </p:cNvPicPr>
          <p:nvPr/>
        </p:nvPicPr>
        <p:blipFill>
          <a:blip r:embed="rId2"/>
          <a:stretch>
            <a:fillRect/>
          </a:stretch>
        </p:blipFill>
        <p:spPr>
          <a:xfrm>
            <a:off x="1311564" y="264828"/>
            <a:ext cx="992188" cy="992188"/>
          </a:xfrm>
          <a:prstGeom prst="rect">
            <a:avLst/>
          </a:prstGeom>
          <a:ln w="12700">
            <a:miter lim="400000"/>
          </a:ln>
        </p:spPr>
      </p:pic>
      <p:graphicFrame>
        <p:nvGraphicFramePr>
          <p:cNvPr id="19" name="Table 1">
            <a:extLst>
              <a:ext uri="{FF2B5EF4-FFF2-40B4-BE49-F238E27FC236}">
                <a16:creationId xmlns:a16="http://schemas.microsoft.com/office/drawing/2014/main" id="{6D05C32A-CAB0-307F-CDCE-39A42A3FD688}"/>
              </a:ext>
            </a:extLst>
          </p:cNvPr>
          <p:cNvGraphicFramePr/>
          <p:nvPr/>
        </p:nvGraphicFramePr>
        <p:xfrm>
          <a:off x="937738" y="1607548"/>
          <a:ext cx="10605824" cy="4816768"/>
        </p:xfrm>
        <a:graphic>
          <a:graphicData uri="http://schemas.openxmlformats.org/drawingml/2006/table">
            <a:tbl>
              <a:tblPr/>
              <a:tblGrid>
                <a:gridCol w="1789184">
                  <a:extLst>
                    <a:ext uri="{9D8B030D-6E8A-4147-A177-3AD203B41FA5}">
                      <a16:colId xmlns:a16="http://schemas.microsoft.com/office/drawing/2014/main" val="20000"/>
                    </a:ext>
                  </a:extLst>
                </a:gridCol>
                <a:gridCol w="881664">
                  <a:extLst>
                    <a:ext uri="{9D8B030D-6E8A-4147-A177-3AD203B41FA5}">
                      <a16:colId xmlns:a16="http://schemas.microsoft.com/office/drawing/2014/main" val="20001"/>
                    </a:ext>
                  </a:extLst>
                </a:gridCol>
                <a:gridCol w="881664">
                  <a:extLst>
                    <a:ext uri="{9D8B030D-6E8A-4147-A177-3AD203B41FA5}">
                      <a16:colId xmlns:a16="http://schemas.microsoft.com/office/drawing/2014/main" val="20002"/>
                    </a:ext>
                  </a:extLst>
                </a:gridCol>
                <a:gridCol w="881664">
                  <a:extLst>
                    <a:ext uri="{9D8B030D-6E8A-4147-A177-3AD203B41FA5}">
                      <a16:colId xmlns:a16="http://schemas.microsoft.com/office/drawing/2014/main" val="20003"/>
                    </a:ext>
                  </a:extLst>
                </a:gridCol>
                <a:gridCol w="881664">
                  <a:extLst>
                    <a:ext uri="{9D8B030D-6E8A-4147-A177-3AD203B41FA5}">
                      <a16:colId xmlns:a16="http://schemas.microsoft.com/office/drawing/2014/main" val="20004"/>
                    </a:ext>
                  </a:extLst>
                </a:gridCol>
                <a:gridCol w="881664">
                  <a:extLst>
                    <a:ext uri="{9D8B030D-6E8A-4147-A177-3AD203B41FA5}">
                      <a16:colId xmlns:a16="http://schemas.microsoft.com/office/drawing/2014/main" val="20005"/>
                    </a:ext>
                  </a:extLst>
                </a:gridCol>
                <a:gridCol w="881664">
                  <a:extLst>
                    <a:ext uri="{9D8B030D-6E8A-4147-A177-3AD203B41FA5}">
                      <a16:colId xmlns:a16="http://schemas.microsoft.com/office/drawing/2014/main" val="20006"/>
                    </a:ext>
                  </a:extLst>
                </a:gridCol>
                <a:gridCol w="881664">
                  <a:extLst>
                    <a:ext uri="{9D8B030D-6E8A-4147-A177-3AD203B41FA5}">
                      <a16:colId xmlns:a16="http://schemas.microsoft.com/office/drawing/2014/main" val="20007"/>
                    </a:ext>
                  </a:extLst>
                </a:gridCol>
                <a:gridCol w="881664">
                  <a:extLst>
                    <a:ext uri="{9D8B030D-6E8A-4147-A177-3AD203B41FA5}">
                      <a16:colId xmlns:a16="http://schemas.microsoft.com/office/drawing/2014/main" val="20008"/>
                    </a:ext>
                  </a:extLst>
                </a:gridCol>
                <a:gridCol w="881664">
                  <a:extLst>
                    <a:ext uri="{9D8B030D-6E8A-4147-A177-3AD203B41FA5}">
                      <a16:colId xmlns:a16="http://schemas.microsoft.com/office/drawing/2014/main" val="20009"/>
                    </a:ext>
                  </a:extLst>
                </a:gridCol>
                <a:gridCol w="881664">
                  <a:extLst>
                    <a:ext uri="{9D8B030D-6E8A-4147-A177-3AD203B41FA5}">
                      <a16:colId xmlns:a16="http://schemas.microsoft.com/office/drawing/2014/main" val="20010"/>
                    </a:ext>
                  </a:extLst>
                </a:gridCol>
              </a:tblGrid>
              <a:tr h="239552">
                <a:tc>
                  <a:txBody>
                    <a:bodyPr/>
                    <a:lstStyle/>
                    <a:p>
                      <a:pPr algn="l" defTabSz="914400">
                        <a:defRPr sz="1600" cap="none">
                          <a:solidFill>
                            <a:srgbClr val="E75D82"/>
                          </a:solidFill>
                          <a:latin typeface="Montserrat SemiBold"/>
                          <a:ea typeface="Montserrat SemiBold"/>
                          <a:cs typeface="Montserrat SemiBold"/>
                          <a:sym typeface="Montserrat SemiBold"/>
                        </a:defRPr>
                      </a:pPr>
                      <a:endParaRPr sz="800" dirty="0">
                        <a:latin typeface="DM Sans 14pt" pitchFamily="2" charset="77"/>
                      </a:endParaRPr>
                    </a:p>
                  </a:txBody>
                  <a:tcPr marL="50800" marR="50800" marT="50800" marB="50800" anchor="ctr" horzOverflow="overflow">
                    <a:lnL w="0">
                      <a:miter lim="400000"/>
                    </a:lnL>
                    <a:lnR w="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MONTH 1</a:t>
                      </a:r>
                    </a:p>
                  </a:txBody>
                  <a:tcPr marL="50800" marR="50800" marT="50800" marB="50800" anchor="ctr" horzOverflow="overflow">
                    <a:lnL w="0">
                      <a:miter lim="400000"/>
                    </a:lnL>
                    <a:lnR w="1270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MONTH 2</a:t>
                      </a:r>
                    </a:p>
                  </a:txBody>
                  <a:tcPr marL="50800" marR="50800" marT="50800" marB="50800" anchor="ctr" horzOverflow="overflow">
                    <a:lnL w="12700">
                      <a:miter lim="400000"/>
                    </a:lnL>
                    <a:lnR w="1270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MONTH 3</a:t>
                      </a:r>
                    </a:p>
                  </a:txBody>
                  <a:tcPr marL="50800" marR="50800" marT="50800" marB="50800" anchor="ctr" horzOverflow="overflow">
                    <a:lnL w="12700">
                      <a:miter lim="400000"/>
                    </a:lnL>
                    <a:lnR w="12700">
                      <a:solidFill>
                        <a:srgbClr val="3E22D0"/>
                      </a:solidFill>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Q 1</a:t>
                      </a:r>
                    </a:p>
                  </a:txBody>
                  <a:tcPr marL="50800" marR="50800" marT="50800" marB="50800" anchor="ctr" horzOverflow="overflow">
                    <a:lnL w="12700">
                      <a:solidFill>
                        <a:srgbClr val="3E22D0"/>
                      </a:solidFill>
                      <a:miter lim="400000"/>
                    </a:lnL>
                    <a:lnR w="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Q 2</a:t>
                      </a:r>
                    </a:p>
                  </a:txBody>
                  <a:tcPr marL="50800" marR="50800" marT="50800" marB="50800" anchor="ctr" horzOverflow="overflow">
                    <a:lnL w="0">
                      <a:miter lim="400000"/>
                    </a:lnL>
                    <a:lnR w="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Q 3</a:t>
                      </a:r>
                    </a:p>
                  </a:txBody>
                  <a:tcPr marL="50800" marR="50800" marT="50800" marB="50800" anchor="ctr" horzOverflow="overflow">
                    <a:lnL w="0">
                      <a:miter lim="400000"/>
                    </a:lnL>
                    <a:lnR w="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Q 4</a:t>
                      </a:r>
                    </a:p>
                  </a:txBody>
                  <a:tcPr marL="50800" marR="50800" marT="50800" marB="50800" anchor="ctr" horzOverflow="overflow">
                    <a:lnL w="0">
                      <a:miter lim="400000"/>
                    </a:lnL>
                    <a:lnR w="12700">
                      <a:solidFill>
                        <a:srgbClr val="3E22D0"/>
                      </a:solidFill>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YEAR 1</a:t>
                      </a:r>
                    </a:p>
                  </a:txBody>
                  <a:tcPr marL="50800" marR="50800" marT="50800" marB="50800" anchor="ctr" horzOverflow="overflow">
                    <a:lnL w="12700">
                      <a:solidFill>
                        <a:srgbClr val="3E22D0"/>
                      </a:solidFill>
                      <a:miter lim="400000"/>
                    </a:lnL>
                    <a:lnR w="1270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YEAR 2</a:t>
                      </a:r>
                    </a:p>
                  </a:txBody>
                  <a:tcPr marL="50800" marR="50800" marT="50800" marB="50800" anchor="ctr" horzOverflow="overflow">
                    <a:lnL w="12700">
                      <a:miter lim="400000"/>
                    </a:lnL>
                    <a:lnR w="12700">
                      <a:miter lim="400000"/>
                    </a:lnR>
                    <a:lnT w="0">
                      <a:miter lim="400000"/>
                    </a:lnT>
                    <a:lnB w="25400">
                      <a:solidFill>
                        <a:srgbClr val="E75D83"/>
                      </a:solidFill>
                      <a:miter lim="400000"/>
                    </a:lnB>
                    <a:noFill/>
                  </a:tcPr>
                </a:tc>
                <a:tc>
                  <a:txBody>
                    <a:bodyPr/>
                    <a:lstStyle/>
                    <a:p>
                      <a:pPr algn="l" defTabSz="914400">
                        <a:defRPr sz="1800" cap="none">
                          <a:solidFill>
                            <a:srgbClr val="000000"/>
                          </a:solidFill>
                        </a:defRPr>
                      </a:pPr>
                      <a:r>
                        <a:rPr sz="800" b="1" dirty="0">
                          <a:solidFill>
                            <a:srgbClr val="E75D82"/>
                          </a:solidFill>
                          <a:latin typeface="DM Sans 14pt" pitchFamily="2" charset="77"/>
                          <a:ea typeface="Montserrat SemiBold"/>
                          <a:cs typeface="Montserrat SemiBold"/>
                          <a:sym typeface="Montserrat SemiBold"/>
                        </a:rPr>
                        <a:t>YEAR 3</a:t>
                      </a:r>
                    </a:p>
                  </a:txBody>
                  <a:tcPr marL="50800" marR="50800" marT="50800" marB="50800" anchor="ctr" horzOverflow="overflow">
                    <a:lnL w="12700">
                      <a:miter lim="400000"/>
                    </a:lnL>
                    <a:lnR w="12700">
                      <a:miter lim="400000"/>
                    </a:lnR>
                    <a:lnT w="0">
                      <a:miter lim="400000"/>
                    </a:lnT>
                    <a:lnB w="25400">
                      <a:solidFill>
                        <a:srgbClr val="E75D83"/>
                      </a:solidFill>
                      <a:miter lim="400000"/>
                    </a:lnB>
                    <a:noFill/>
                  </a:tcPr>
                </a:tc>
                <a:extLst>
                  <a:ext uri="{0D108BD9-81ED-4DB2-BD59-A6C34878D82A}">
                    <a16:rowId xmlns:a16="http://schemas.microsoft.com/office/drawing/2014/main" val="10000"/>
                  </a:ext>
                </a:extLst>
              </a:tr>
              <a:tr h="239552">
                <a:tc>
                  <a:txBody>
                    <a:bodyPr/>
                    <a:lstStyle/>
                    <a:p>
                      <a:pPr algn="l" defTabSz="914400">
                        <a:defRPr sz="1800" cap="none">
                          <a:solidFill>
                            <a:srgbClr val="000000"/>
                          </a:solidFill>
                        </a:defRPr>
                      </a:pPr>
                      <a:r>
                        <a:rPr sz="800" b="1" cap="all" dirty="0">
                          <a:latin typeface="DM Sans 14pt" pitchFamily="2" charset="77"/>
                          <a:ea typeface="Montserrat SemiBold"/>
                          <a:cs typeface="Montserrat SemiBold"/>
                          <a:sym typeface="Montserrat SemiBold"/>
                        </a:rPr>
                        <a:t>Organizations</a:t>
                      </a:r>
                    </a:p>
                  </a:txBody>
                  <a:tcPr marL="50800" marR="50800" marT="50800" marB="50800" anchor="ctr" horzOverflow="overflow">
                    <a:lnL w="0">
                      <a:miter lim="400000"/>
                    </a:lnL>
                    <a:lnR w="1270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a:latin typeface="DM Sans 14pt" pitchFamily="2" charset="77"/>
                          <a:ea typeface="Montserrat SemiBold"/>
                          <a:cs typeface="Montserrat SemiBold"/>
                          <a:sym typeface="Montserrat SemiBold"/>
                        </a:rPr>
                        <a:t>0</a:t>
                      </a:r>
                    </a:p>
                  </a:txBody>
                  <a:tcPr marL="50800" marR="50800" marT="50800" marB="50800" anchor="ctr" horzOverflow="overflow">
                    <a:lnL w="12700">
                      <a:miter lim="400000"/>
                    </a:lnL>
                    <a:lnR w="1270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a:latin typeface="DM Sans 14pt" pitchFamily="2" charset="77"/>
                          <a:ea typeface="Montserrat SemiBold"/>
                          <a:cs typeface="Montserrat SemiBold"/>
                          <a:sym typeface="Montserrat SemiBold"/>
                        </a:rPr>
                        <a:t>2,625</a:t>
                      </a:r>
                    </a:p>
                  </a:txBody>
                  <a:tcPr marL="50800" marR="50800" marT="50800" marB="50800" anchor="ctr" horzOverflow="overflow">
                    <a:lnL w="0">
                      <a:miter lim="400000"/>
                    </a:lnL>
                    <a:lnR w="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a:latin typeface="DM Sans 14pt" pitchFamily="2" charset="77"/>
                          <a:ea typeface="Montserrat SemiBold"/>
                          <a:cs typeface="Montserrat SemiBold"/>
                          <a:sym typeface="Montserrat SemiBold"/>
                        </a:rPr>
                        <a:t>4,350</a:t>
                      </a:r>
                    </a:p>
                  </a:txBody>
                  <a:tcPr marL="50800" marR="50800" marT="50800" marB="50800" anchor="ctr" horzOverflow="overflow">
                    <a:lnL w="0">
                      <a:miter lim="400000"/>
                    </a:lnL>
                    <a:lnR w="12700">
                      <a:solidFill>
                        <a:srgbClr val="3E22D0"/>
                      </a:solidFill>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105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25400">
                      <a:solidFill>
                        <a:srgbClr val="E7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160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25400">
                      <a:solidFill>
                        <a:srgbClr val="E75D83"/>
                      </a:solidFill>
                      <a:miter lim="400000"/>
                    </a:lnT>
                    <a:lnB w="12700">
                      <a:solidFill>
                        <a:srgbClr val="FFFFFF"/>
                      </a:solidFill>
                      <a:miter lim="400000"/>
                    </a:lnB>
                    <a:noFill/>
                  </a:tcPr>
                </a:tc>
                <a:extLst>
                  <a:ext uri="{0D108BD9-81ED-4DB2-BD59-A6C34878D82A}">
                    <a16:rowId xmlns:a16="http://schemas.microsoft.com/office/drawing/2014/main" val="10001"/>
                  </a:ext>
                </a:extLst>
              </a:tr>
              <a:tr h="239552">
                <a:tc>
                  <a:txBody>
                    <a:bodyPr/>
                    <a:lstStyle/>
                    <a:p>
                      <a:pPr algn="l" defTabSz="914400">
                        <a:defRPr sz="1800" cap="none">
                          <a:solidFill>
                            <a:srgbClr val="000000"/>
                          </a:solidFill>
                        </a:defRPr>
                      </a:pPr>
                      <a:r>
                        <a:rPr sz="800" b="1" dirty="0">
                          <a:latin typeface="DM Sans 14pt" pitchFamily="2" charset="77"/>
                          <a:ea typeface="Montserrat Light"/>
                          <a:cs typeface="Montserrat Light"/>
                          <a:sym typeface="Montserrat Light"/>
                        </a:rPr>
                        <a:t>Users</a:t>
                      </a:r>
                    </a:p>
                  </a:txBody>
                  <a:tcPr marL="50800" marR="50800" marT="50800" marB="50800" anchor="ctr" horzOverflow="overflow">
                    <a:lnL w="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0</a:t>
                      </a: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solidFill>
                        <a:srgbClr val="3E22D0"/>
                      </a:solidFill>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4,061</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10,609</a:t>
                      </a:r>
                    </a:p>
                  </a:txBody>
                  <a:tcPr marL="50800" marR="50800" marT="50800" marB="50800" anchor="ctr" horzOverflow="overflow">
                    <a:lnL w="0">
                      <a:miter lim="400000"/>
                    </a:lnL>
                    <a:lnR w="12700">
                      <a:solidFill>
                        <a:srgbClr val="3E22D0"/>
                      </a:solidFill>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450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1,565</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2,390</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solidFill>
                        <a:srgbClr val="FFFFFF"/>
                      </a:solidFill>
                      <a:miter lim="400000"/>
                    </a:lnT>
                    <a:lnB w="12700">
                      <a:miter lim="400000"/>
                    </a:lnB>
                    <a:noFill/>
                  </a:tcPr>
                </a:tc>
                <a:extLst>
                  <a:ext uri="{0D108BD9-81ED-4DB2-BD59-A6C34878D82A}">
                    <a16:rowId xmlns:a16="http://schemas.microsoft.com/office/drawing/2014/main" val="10002"/>
                  </a:ext>
                </a:extLst>
              </a:tr>
              <a:tr h="210806">
                <a:tc>
                  <a:txBody>
                    <a:bodyPr/>
                    <a:lstStyle/>
                    <a:p>
                      <a:pPr algn="l" defTabSz="914400">
                        <a:defRPr sz="1600" cap="none">
                          <a:solidFill>
                            <a:srgbClr val="000000"/>
                          </a:solidFill>
                          <a:latin typeface="Montserrat Bold"/>
                          <a:ea typeface="Montserrat Bold"/>
                          <a:cs typeface="Montserrat Bold"/>
                          <a:sym typeface="Montserrat Bold"/>
                        </a:defRPr>
                      </a:pPr>
                      <a:endParaRPr sz="800">
                        <a:latin typeface="DM Sans 14pt" pitchFamily="2" charset="77"/>
                      </a:endParaRPr>
                    </a:p>
                  </a:txBody>
                  <a:tcPr marL="50800" marR="50800" marT="50800" marB="50800" anchor="ctr" horzOverflow="overflow">
                    <a:lnL w="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solidFill>
                        <a:srgbClr val="3E22D0"/>
                      </a:solidFill>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solidFill>
                        <a:srgbClr val="3E22D0"/>
                      </a:solidFill>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0">
                      <a:miter lim="400000"/>
                    </a:lnR>
                    <a:lnT w="12700">
                      <a:miter lim="400000"/>
                    </a:lnT>
                    <a:lnB w="12700">
                      <a:miter lim="400000"/>
                    </a:lnB>
                    <a:noFill/>
                  </a:tcPr>
                </a:tc>
                <a:extLst>
                  <a:ext uri="{0D108BD9-81ED-4DB2-BD59-A6C34878D82A}">
                    <a16:rowId xmlns:a16="http://schemas.microsoft.com/office/drawing/2014/main" val="10003"/>
                  </a:ext>
                </a:extLst>
              </a:tr>
              <a:tr h="239552">
                <a:tc>
                  <a:txBody>
                    <a:bodyPr/>
                    <a:lstStyle/>
                    <a:p>
                      <a:pPr algn="l" defTabSz="914400">
                        <a:defRPr sz="1800" cap="none">
                          <a:solidFill>
                            <a:srgbClr val="000000"/>
                          </a:solidFill>
                        </a:defRPr>
                      </a:pPr>
                      <a:r>
                        <a:rPr sz="800" b="1" cap="all" dirty="0">
                          <a:latin typeface="DM Sans 14pt" pitchFamily="2" charset="77"/>
                          <a:ea typeface="Montserrat SemiBold"/>
                          <a:cs typeface="Montserrat SemiBold"/>
                          <a:sym typeface="Montserrat SemiBold"/>
                        </a:rPr>
                        <a:t>Revenue</a:t>
                      </a:r>
                    </a:p>
                  </a:txBody>
                  <a:tcPr marL="50800" marR="50800" marT="50800" marB="50800" anchor="ctr" horzOverflow="overflow">
                    <a:lnL w="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1,128,113</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700,138</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1,828,250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9,126,953</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15,487,855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extLst>
                  <a:ext uri="{0D108BD9-81ED-4DB2-BD59-A6C34878D82A}">
                    <a16:rowId xmlns:a16="http://schemas.microsoft.com/office/drawing/2014/main" val="10004"/>
                  </a:ext>
                </a:extLst>
              </a:tr>
              <a:tr h="239552">
                <a:tc>
                  <a:txBody>
                    <a:bodyPr/>
                    <a:lstStyle/>
                    <a:p>
                      <a:pPr algn="l" defTabSz="914400">
                        <a:defRPr sz="1800" cap="none">
                          <a:solidFill>
                            <a:srgbClr val="000000"/>
                          </a:solidFill>
                        </a:defRPr>
                      </a:pPr>
                      <a:r>
                        <a:rPr sz="800" b="1" dirty="0">
                          <a:latin typeface="DM Sans 14pt" pitchFamily="2" charset="77"/>
                          <a:ea typeface="Montserrat Light"/>
                          <a:cs typeface="Montserrat Light"/>
                          <a:sym typeface="Montserrat Light"/>
                        </a:rPr>
                        <a:t>Revenue growth %</a:t>
                      </a:r>
                    </a:p>
                  </a:txBody>
                  <a:tcPr marL="50800" marR="50800" marT="50800" marB="50800" anchor="ctr" horzOverflow="overflow">
                    <a:lnL w="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solidFill>
                        <a:srgbClr val="3E22D0"/>
                      </a:solidFill>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141%</a:t>
                      </a: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133%</a:t>
                      </a:r>
                    </a:p>
                  </a:txBody>
                  <a:tcPr marL="50800" marR="50800" marT="50800" marB="50800" anchor="ctr" horzOverflow="overflow">
                    <a:lnL w="12700">
                      <a:miter lim="400000"/>
                    </a:lnL>
                    <a:lnR w="12700">
                      <a:solidFill>
                        <a:srgbClr val="3E22D0"/>
                      </a:solidFill>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399</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70</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extLst>
                  <a:ext uri="{0D108BD9-81ED-4DB2-BD59-A6C34878D82A}">
                    <a16:rowId xmlns:a16="http://schemas.microsoft.com/office/drawing/2014/main" val="10005"/>
                  </a:ext>
                </a:extLst>
              </a:tr>
              <a:tr h="210806">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solidFill>
                        <a:srgbClr val="3E22D0"/>
                      </a:solidFill>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solidFill>
                        <a:srgbClr val="3E22D0"/>
                      </a:solidFill>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extLst>
                  <a:ext uri="{0D108BD9-81ED-4DB2-BD59-A6C34878D82A}">
                    <a16:rowId xmlns:a16="http://schemas.microsoft.com/office/drawing/2014/main" val="10006"/>
                  </a:ext>
                </a:extLst>
              </a:tr>
              <a:tr h="239552">
                <a:tc>
                  <a:txBody>
                    <a:bodyPr/>
                    <a:lstStyle/>
                    <a:p>
                      <a:pPr algn="l" defTabSz="914400">
                        <a:defRPr sz="1800" cap="none">
                          <a:solidFill>
                            <a:srgbClr val="000000"/>
                          </a:solidFill>
                        </a:defRPr>
                      </a:pPr>
                      <a:r>
                        <a:rPr sz="800" b="1" cap="all" dirty="0">
                          <a:latin typeface="DM Sans 14pt" pitchFamily="2" charset="77"/>
                          <a:ea typeface="Montserrat SemiBold"/>
                          <a:cs typeface="Montserrat SemiBold"/>
                          <a:sym typeface="Montserrat SemiBold"/>
                        </a:rPr>
                        <a:t>Cost of goods</a:t>
                      </a:r>
                    </a:p>
                  </a:txBody>
                  <a:tcPr marL="50800" marR="50800" marT="50800" marB="50800" anchor="ctr" horzOverflow="overflow">
                    <a:lnL w="0">
                      <a:miter lim="400000"/>
                    </a:lnL>
                    <a:lnR w="1270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solidFill>
                        <a:srgbClr val="3E22D0"/>
                      </a:solidFill>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283,932</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121,640</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12700">
                      <a:solidFill>
                        <a:srgbClr val="3E22D0"/>
                      </a:solidFill>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405,572</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1270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1,986,535</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3,014,164</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miter lim="400000"/>
                    </a:lnT>
                    <a:lnB w="12700">
                      <a:solidFill>
                        <a:srgbClr val="E71B2E"/>
                      </a:solidFill>
                      <a:miter lim="400000"/>
                    </a:lnB>
                    <a:noFill/>
                  </a:tcPr>
                </a:tc>
                <a:extLst>
                  <a:ext uri="{0D108BD9-81ED-4DB2-BD59-A6C34878D82A}">
                    <a16:rowId xmlns:a16="http://schemas.microsoft.com/office/drawing/2014/main" val="10007"/>
                  </a:ext>
                </a:extLst>
              </a:tr>
              <a:tr h="239552">
                <a:tc>
                  <a:txBody>
                    <a:bodyPr/>
                    <a:lstStyle/>
                    <a:p>
                      <a:pPr algn="l" defTabSz="914400">
                        <a:defRPr sz="1800" cap="none">
                          <a:solidFill>
                            <a:srgbClr val="000000"/>
                          </a:solidFill>
                        </a:defRPr>
                      </a:pPr>
                      <a:r>
                        <a:rPr sz="800" b="1" cap="all" dirty="0">
                          <a:latin typeface="DM Sans 14pt" pitchFamily="2" charset="77"/>
                          <a:ea typeface="Montserrat SemiBold"/>
                          <a:cs typeface="Montserrat SemiBold"/>
                          <a:sym typeface="Montserrat SemiBold"/>
                        </a:rPr>
                        <a:t>Gross Profit</a:t>
                      </a:r>
                    </a:p>
                  </a:txBody>
                  <a:tcPr marL="50800" marR="50800" marT="50800" marB="50800" anchor="ctr" horzOverflow="overflow">
                    <a:lnL w="0">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a:latin typeface="DM Sans 14pt" pitchFamily="2" charset="77"/>
                          <a:ea typeface="Montserrat SemiBold"/>
                          <a:cs typeface="Montserrat SemiBold"/>
                          <a:sym typeface="Montserrat SemiBold"/>
                        </a:rPr>
                        <a:t>$0</a:t>
                      </a:r>
                    </a:p>
                  </a:txBody>
                  <a:tcPr marL="50800" marR="50800" marT="50800" marB="50800" anchor="ctr" horzOverflow="overflow">
                    <a:lnL w="12700">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844,181</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578,497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1,422,678</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7,140,417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71B2E"/>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12,473,691</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0">
                      <a:miter lim="400000"/>
                    </a:lnR>
                    <a:lnT w="12700">
                      <a:solidFill>
                        <a:srgbClr val="E71B2E"/>
                      </a:solidFill>
                      <a:miter lim="400000"/>
                    </a:lnT>
                    <a:lnB w="12700">
                      <a:solidFill>
                        <a:srgbClr val="FFFFFF"/>
                      </a:solidFill>
                      <a:miter lim="400000"/>
                    </a:lnB>
                    <a:noFill/>
                  </a:tcPr>
                </a:tc>
                <a:extLst>
                  <a:ext uri="{0D108BD9-81ED-4DB2-BD59-A6C34878D82A}">
                    <a16:rowId xmlns:a16="http://schemas.microsoft.com/office/drawing/2014/main" val="10008"/>
                  </a:ext>
                </a:extLst>
              </a:tr>
              <a:tr h="239552">
                <a:tc>
                  <a:txBody>
                    <a:bodyPr/>
                    <a:lstStyle/>
                    <a:p>
                      <a:pPr algn="l" defTabSz="914400">
                        <a:defRPr sz="1800" cap="none">
                          <a:solidFill>
                            <a:srgbClr val="000000"/>
                          </a:solidFill>
                        </a:defRPr>
                      </a:pPr>
                      <a:r>
                        <a:rPr sz="800" b="1" dirty="0">
                          <a:latin typeface="DM Sans 14pt" pitchFamily="2" charset="77"/>
                          <a:ea typeface="Montserrat Light"/>
                          <a:cs typeface="Montserrat Light"/>
                          <a:sym typeface="Montserrat Light"/>
                        </a:rPr>
                        <a:t>Gross margin %</a:t>
                      </a:r>
                    </a:p>
                  </a:txBody>
                  <a:tcPr marL="50800" marR="50800" marT="50800" marB="50800" anchor="ctr" horzOverflow="overflow">
                    <a:lnL w="0">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solidFill>
                        <a:srgbClr val="3E22D0"/>
                      </a:solidFill>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75</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83</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12700">
                      <a:solidFill>
                        <a:srgbClr val="3E22D0"/>
                      </a:solidFill>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78</a:t>
                      </a:r>
                      <a:r>
                        <a:rPr sz="800" dirty="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78</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81</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0">
                      <a:miter lim="400000"/>
                    </a:lnB>
                    <a:noFill/>
                  </a:tcPr>
                </a:tc>
                <a:extLst>
                  <a:ext uri="{0D108BD9-81ED-4DB2-BD59-A6C34878D82A}">
                    <a16:rowId xmlns:a16="http://schemas.microsoft.com/office/drawing/2014/main" val="10009"/>
                  </a:ext>
                </a:extLst>
              </a:tr>
              <a:tr h="210806">
                <a:tc>
                  <a:txBody>
                    <a:bodyPr/>
                    <a:lstStyle/>
                    <a:p>
                      <a:pPr algn="l" defTabSz="914400">
                        <a:defRPr sz="1600" cap="none">
                          <a:solidFill>
                            <a:srgbClr val="000000"/>
                          </a:solidFill>
                          <a:latin typeface="Montserrat Bold"/>
                          <a:ea typeface="Montserrat Bold"/>
                          <a:cs typeface="Montserrat Bold"/>
                          <a:sym typeface="Montserrat Bold"/>
                        </a:defRPr>
                      </a:pPr>
                      <a:endParaRPr sz="800">
                        <a:latin typeface="DM Sans 14pt" pitchFamily="2" charset="77"/>
                      </a:endParaRPr>
                    </a:p>
                  </a:txBody>
                  <a:tcPr marL="50800" marR="50800" marT="50800" marB="50800" anchor="ctr" horzOverflow="overflow">
                    <a:lnL w="0">
                      <a:miter lim="400000"/>
                    </a:lnL>
                    <a:lnR w="1270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solidFill>
                        <a:srgbClr val="3E22D0"/>
                      </a:solidFill>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solidFill>
                        <a:srgbClr val="3E22D0"/>
                      </a:solidFill>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10"/>
                  </a:ext>
                </a:extLst>
              </a:tr>
              <a:tr h="239552">
                <a:tc>
                  <a:txBody>
                    <a:bodyPr/>
                    <a:lstStyle/>
                    <a:p>
                      <a:pPr algn="l" defTabSz="914400">
                        <a:defRPr sz="1800" cap="none">
                          <a:solidFill>
                            <a:srgbClr val="000000"/>
                          </a:solidFill>
                        </a:defRPr>
                      </a:pPr>
                      <a:r>
                        <a:rPr sz="800" b="1" cap="all" dirty="0">
                          <a:latin typeface="DM Sans 14pt" pitchFamily="2" charset="77"/>
                          <a:ea typeface="Montserrat SemiBold"/>
                          <a:cs typeface="Montserrat SemiBold"/>
                          <a:sym typeface="Montserrat SemiBold"/>
                        </a:rPr>
                        <a:t>Operating Expenses</a:t>
                      </a:r>
                    </a:p>
                  </a:txBody>
                  <a:tcPr marL="50800" marR="50800" marT="50800" marB="50800" anchor="ctr" horzOverflow="overflow">
                    <a:lnL w="0">
                      <a:miter lim="400000"/>
                    </a:lnL>
                    <a:lnR w="1270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69,716</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56,716</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60,245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186,677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181,760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199,920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194,848</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12700">
                      <a:solidFill>
                        <a:srgbClr val="3E22D0"/>
                      </a:solidFill>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759,827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1,284,927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0">
                      <a:miter lim="400000"/>
                    </a:lnT>
                    <a:lnB w="12700">
                      <a:solidFill>
                        <a:srgbClr val="E65D83"/>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1,513,427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0">
                      <a:miter lim="400000"/>
                    </a:lnT>
                    <a:lnB w="12700">
                      <a:solidFill>
                        <a:srgbClr val="E65D83"/>
                      </a:solidFill>
                      <a:miter lim="400000"/>
                    </a:lnB>
                    <a:noFill/>
                  </a:tcPr>
                </a:tc>
                <a:extLst>
                  <a:ext uri="{0D108BD9-81ED-4DB2-BD59-A6C34878D82A}">
                    <a16:rowId xmlns:a16="http://schemas.microsoft.com/office/drawing/2014/main" val="10011"/>
                  </a:ext>
                </a:extLst>
              </a:tr>
              <a:tr h="239552">
                <a:tc>
                  <a:txBody>
                    <a:bodyPr/>
                    <a:lstStyle/>
                    <a:p>
                      <a:pPr algn="l" defTabSz="914400">
                        <a:defRPr sz="1800" cap="none">
                          <a:solidFill>
                            <a:srgbClr val="000000"/>
                          </a:solidFill>
                        </a:defRPr>
                      </a:pPr>
                      <a:r>
                        <a:rPr lang="en-US" sz="800" b="1" dirty="0">
                          <a:latin typeface="DM Sans 14pt" pitchFamily="2" charset="77"/>
                          <a:ea typeface="Montserrat SemiBold"/>
                          <a:cs typeface="Montserrat SemiBold"/>
                          <a:sym typeface="Montserrat SemiBold"/>
                        </a:rPr>
                        <a:t>NOI</a:t>
                      </a:r>
                      <a:endParaRPr sz="800" b="1"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a:t>
                      </a: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69,716</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-$56,716</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a:t>
                      </a: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60,245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186,677</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181,760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647,639</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383,649</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662,851</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5,855,490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65D83"/>
                      </a:solidFill>
                      <a:miter lim="400000"/>
                    </a:lnT>
                    <a:lnB w="12700">
                      <a:solidFill>
                        <a:srgbClr val="FFFFFF"/>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SemiBold"/>
                          <a:cs typeface="Montserrat SemiBold"/>
                          <a:sym typeface="Montserrat SemiBold"/>
                        </a:rPr>
                        <a:t>$</a:t>
                      </a:r>
                      <a:r>
                        <a:rPr lang="en-US" sz="800" dirty="0">
                          <a:latin typeface="DM Sans 14pt" pitchFamily="2" charset="77"/>
                          <a:ea typeface="Montserrat SemiBold"/>
                          <a:cs typeface="Montserrat SemiBold"/>
                          <a:sym typeface="Montserrat SemiBold"/>
                        </a:rPr>
                        <a:t>10,960,264</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solidFill>
                        <a:srgbClr val="E65D83"/>
                      </a:solidFill>
                      <a:miter lim="400000"/>
                    </a:lnT>
                    <a:lnB w="12700">
                      <a:solidFill>
                        <a:srgbClr val="FFFFFF"/>
                      </a:solidFill>
                      <a:miter lim="400000"/>
                    </a:lnB>
                    <a:noFill/>
                  </a:tcPr>
                </a:tc>
                <a:extLst>
                  <a:ext uri="{0D108BD9-81ED-4DB2-BD59-A6C34878D82A}">
                    <a16:rowId xmlns:a16="http://schemas.microsoft.com/office/drawing/2014/main" val="10012"/>
                  </a:ext>
                </a:extLst>
              </a:tr>
              <a:tr h="239552">
                <a:tc>
                  <a:txBody>
                    <a:bodyPr/>
                    <a:lstStyle/>
                    <a:p>
                      <a:pPr algn="l" defTabSz="914400">
                        <a:defRPr sz="1800" cap="none">
                          <a:solidFill>
                            <a:srgbClr val="000000"/>
                          </a:solidFill>
                        </a:defRPr>
                      </a:pPr>
                      <a:r>
                        <a:rPr lang="en-US" sz="800" b="1" dirty="0">
                          <a:latin typeface="DM Sans 14pt" pitchFamily="2" charset="77"/>
                          <a:ea typeface="Montserrat Light"/>
                          <a:cs typeface="Montserrat Light"/>
                          <a:sym typeface="Montserrat Light"/>
                        </a:rPr>
                        <a:t>NOI</a:t>
                      </a:r>
                      <a:r>
                        <a:rPr sz="800" b="1" dirty="0">
                          <a:latin typeface="DM Sans 14pt" pitchFamily="2" charset="77"/>
                          <a:ea typeface="Montserrat Light"/>
                          <a:cs typeface="Montserrat Light"/>
                          <a:sym typeface="Montserrat Light"/>
                        </a:rPr>
                        <a:t> margin %</a:t>
                      </a:r>
                    </a:p>
                  </a:txBody>
                  <a:tcPr marL="50800" marR="50800" marT="50800" marB="50800" anchor="ctr" horzOverflow="overflow">
                    <a:lnL w="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solidFill>
                        <a:srgbClr val="3E22D0"/>
                      </a:solidFill>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57</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55</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12700">
                      <a:solidFill>
                        <a:srgbClr val="3E22D0"/>
                      </a:solidFill>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36</a:t>
                      </a:r>
                      <a:r>
                        <a:rPr sz="800" dirty="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64</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Light"/>
                          <a:cs typeface="Montserrat Light"/>
                          <a:sym typeface="Montserrat Light"/>
                        </a:rPr>
                        <a:t>71</a:t>
                      </a:r>
                      <a:r>
                        <a:rPr sz="800" dirty="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12700">
                      <a:solidFill>
                        <a:srgbClr val="FFFFFF"/>
                      </a:solidFill>
                      <a:miter lim="400000"/>
                    </a:lnT>
                    <a:lnB w="12700">
                      <a:miter lim="400000"/>
                    </a:lnB>
                    <a:noFill/>
                  </a:tcPr>
                </a:tc>
                <a:extLst>
                  <a:ext uri="{0D108BD9-81ED-4DB2-BD59-A6C34878D82A}">
                    <a16:rowId xmlns:a16="http://schemas.microsoft.com/office/drawing/2014/main" val="10013"/>
                  </a:ext>
                </a:extLst>
              </a:tr>
              <a:tr h="210806">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solidFill>
                        <a:srgbClr val="3E22D0"/>
                      </a:solidFill>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solidFill>
                        <a:srgbClr val="3E22D0"/>
                      </a:solidFill>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12700">
                      <a:miter lim="400000"/>
                    </a:lnT>
                    <a:lnB w="12700">
                      <a:miter lim="400000"/>
                    </a:lnB>
                    <a:noFill/>
                  </a:tcPr>
                </a:tc>
                <a:extLst>
                  <a:ext uri="{0D108BD9-81ED-4DB2-BD59-A6C34878D82A}">
                    <a16:rowId xmlns:a16="http://schemas.microsoft.com/office/drawing/2014/main" val="10014"/>
                  </a:ext>
                </a:extLst>
              </a:tr>
              <a:tr h="239552">
                <a:tc>
                  <a:txBody>
                    <a:bodyPr/>
                    <a:lstStyle/>
                    <a:p>
                      <a:pPr algn="l" defTabSz="914400">
                        <a:defRPr sz="1800" cap="none">
                          <a:solidFill>
                            <a:srgbClr val="000000"/>
                          </a:solidFill>
                        </a:defRPr>
                      </a:pPr>
                      <a:r>
                        <a:rPr sz="800" b="1" cap="all" dirty="0">
                          <a:latin typeface="DM Sans 14pt" pitchFamily="2" charset="77"/>
                          <a:ea typeface="Montserrat SemiBold"/>
                          <a:cs typeface="Montserrat SemiBold"/>
                          <a:sym typeface="Montserrat SemiBold"/>
                        </a:rPr>
                        <a:t>Headcount</a:t>
                      </a:r>
                    </a:p>
                  </a:txBody>
                  <a:tcPr marL="50800" marR="50800" marT="50800" marB="50800" anchor="ctr" horzOverflow="overflow">
                    <a:lnL w="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solidFill>
                        <a:srgbClr val="3E22D0"/>
                      </a:solidFill>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0">
                      <a:miter lim="400000"/>
                    </a:lnL>
                    <a:lnR w="12700">
                      <a:solidFill>
                        <a:srgbClr val="3E22D0"/>
                      </a:solidFill>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3.5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solidFill>
                        <a:srgbClr val="3E22D0"/>
                      </a:solidFill>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8.0</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tc>
                  <a:txBody>
                    <a:bodyPr/>
                    <a:lstStyle/>
                    <a:p>
                      <a:pPr algn="l" defTabSz="914400">
                        <a:defRPr sz="1800" cap="none">
                          <a:solidFill>
                            <a:srgbClr val="000000"/>
                          </a:solidFill>
                        </a:defRPr>
                      </a:pPr>
                      <a:r>
                        <a:rPr lang="en-US" sz="800" dirty="0">
                          <a:latin typeface="DM Sans 14pt" pitchFamily="2" charset="77"/>
                          <a:ea typeface="Montserrat SemiBold"/>
                          <a:cs typeface="Montserrat SemiBold"/>
                          <a:sym typeface="Montserrat SemiBold"/>
                        </a:rPr>
                        <a:t>12.5</a:t>
                      </a:r>
                      <a:endParaRPr sz="800" dirty="0">
                        <a:latin typeface="DM Sans 14pt" pitchFamily="2" charset="77"/>
                        <a:ea typeface="Montserrat SemiBold"/>
                        <a:cs typeface="Montserrat SemiBold"/>
                        <a:sym typeface="Montserrat SemiBold"/>
                      </a:endParaRPr>
                    </a:p>
                  </a:txBody>
                  <a:tcPr marL="50800" marR="50800" marT="50800" marB="50800" anchor="ctr" horzOverflow="overflow">
                    <a:lnL w="12700">
                      <a:miter lim="400000"/>
                    </a:lnL>
                    <a:lnR w="12700">
                      <a:miter lim="400000"/>
                    </a:lnR>
                    <a:lnT w="12700">
                      <a:miter lim="400000"/>
                    </a:lnT>
                    <a:lnB w="12700">
                      <a:solidFill>
                        <a:srgbClr val="FFFFFF"/>
                      </a:solidFill>
                      <a:miter lim="400000"/>
                    </a:lnB>
                    <a:noFill/>
                  </a:tcPr>
                </a:tc>
                <a:extLst>
                  <a:ext uri="{0D108BD9-81ED-4DB2-BD59-A6C34878D82A}">
                    <a16:rowId xmlns:a16="http://schemas.microsoft.com/office/drawing/2014/main" val="10015"/>
                  </a:ext>
                </a:extLst>
              </a:tr>
              <a:tr h="239552">
                <a:tc>
                  <a:txBody>
                    <a:bodyPr/>
                    <a:lstStyle/>
                    <a:p>
                      <a:pPr algn="l" defTabSz="914400">
                        <a:defRPr sz="1800" cap="none">
                          <a:solidFill>
                            <a:srgbClr val="000000"/>
                          </a:solidFill>
                        </a:defRPr>
                      </a:pPr>
                      <a:r>
                        <a:rPr sz="800" b="1" dirty="0">
                          <a:latin typeface="DM Sans 14pt" pitchFamily="2" charset="77"/>
                          <a:ea typeface="Montserrat Light"/>
                          <a:cs typeface="Montserrat Light"/>
                          <a:sym typeface="Montserrat Light"/>
                        </a:rPr>
                        <a:t>Average revenue per employee</a:t>
                      </a:r>
                    </a:p>
                  </a:txBody>
                  <a:tcPr marL="50800" marR="50800" marT="50800" marB="50800" anchor="ctr" horzOverflow="overflow">
                    <a:lnL w="0">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$0</a:t>
                      </a:r>
                    </a:p>
                  </a:txBody>
                  <a:tcPr marL="50800" marR="50800" marT="50800" marB="50800" anchor="ctr" horzOverflow="overflow">
                    <a:lnL w="0">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solidFill>
                        <a:srgbClr val="3E22D0"/>
                      </a:solidFill>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0</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241,195</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165,285</a:t>
                      </a:r>
                      <a:endParaRPr sz="800" dirty="0">
                        <a:latin typeface="DM Sans 14pt" pitchFamily="2" charset="77"/>
                        <a:ea typeface="Montserrat Light"/>
                        <a:cs typeface="Montserrat Light"/>
                        <a:sym typeface="Montserrat Light"/>
                      </a:endParaRPr>
                    </a:p>
                  </a:txBody>
                  <a:tcPr marL="50800" marR="50800" marT="50800" marB="50800" anchor="ctr" horzOverflow="overflow">
                    <a:lnL w="0">
                      <a:miter lim="400000"/>
                    </a:lnL>
                    <a:lnR w="12700">
                      <a:solidFill>
                        <a:srgbClr val="3E22D0"/>
                      </a:solidFill>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406,479</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892,552</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FFFFFF"/>
                      </a:solidFill>
                      <a:miter lim="400000"/>
                    </a:lnT>
                    <a:lnB w="0">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r>
                        <a:rPr lang="en-US" sz="800">
                          <a:latin typeface="DM Sans 14pt" pitchFamily="2" charset="77"/>
                          <a:ea typeface="Montserrat Light"/>
                          <a:cs typeface="Montserrat Light"/>
                          <a:sym typeface="Montserrat Light"/>
                        </a:rPr>
                        <a:t>1,239,028</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0">
                      <a:miter lim="400000"/>
                    </a:lnR>
                    <a:lnT w="12700">
                      <a:solidFill>
                        <a:srgbClr val="FFFFFF"/>
                      </a:solidFill>
                      <a:miter lim="400000"/>
                    </a:lnT>
                    <a:lnB w="0">
                      <a:miter lim="400000"/>
                    </a:lnB>
                    <a:noFill/>
                  </a:tcPr>
                </a:tc>
                <a:extLst>
                  <a:ext uri="{0D108BD9-81ED-4DB2-BD59-A6C34878D82A}">
                    <a16:rowId xmlns:a16="http://schemas.microsoft.com/office/drawing/2014/main" val="10016"/>
                  </a:ext>
                </a:extLst>
              </a:tr>
              <a:tr h="210806">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miter lim="400000"/>
                    </a:lnL>
                    <a:lnR w="12700">
                      <a:solidFill>
                        <a:srgbClr val="3E22D0"/>
                      </a:solidFill>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12700">
                      <a:solidFill>
                        <a:srgbClr val="3E22D0"/>
                      </a:solidFill>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12700">
                      <a:solidFill>
                        <a:srgbClr val="3E22D0"/>
                      </a:solidFill>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tc>
                  <a:txBody>
                    <a:bodyPr/>
                    <a:lstStyle/>
                    <a:p>
                      <a:pPr algn="l" defTabSz="914400">
                        <a:defRPr sz="1600" cap="none">
                          <a:solidFill>
                            <a:srgbClr val="000000"/>
                          </a:solidFill>
                          <a:sym typeface="Montserrat Regular"/>
                        </a:defRPr>
                      </a:pPr>
                      <a:endParaRPr sz="800">
                        <a:latin typeface="DM Sans 14pt" pitchFamily="2" charset="77"/>
                      </a:endParaRPr>
                    </a:p>
                  </a:txBody>
                  <a:tcPr marL="50800" marR="50800" marT="50800" marB="5080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17"/>
                  </a:ext>
                </a:extLst>
              </a:tr>
              <a:tr h="239552">
                <a:tc>
                  <a:txBody>
                    <a:bodyPr/>
                    <a:lstStyle/>
                    <a:p>
                      <a:pPr algn="l" defTabSz="914400">
                        <a:defRPr sz="1800" cap="none">
                          <a:solidFill>
                            <a:srgbClr val="000000"/>
                          </a:solidFill>
                        </a:defRPr>
                      </a:pPr>
                      <a:r>
                        <a:rPr sz="800" b="1" dirty="0">
                          <a:latin typeface="DM Sans 14pt" pitchFamily="2" charset="77"/>
                          <a:ea typeface="Montserrat Light"/>
                          <a:cs typeface="Montserrat Light"/>
                          <a:sym typeface="Montserrat Light"/>
                        </a:rPr>
                        <a:t>Investment &amp; financing</a:t>
                      </a:r>
                    </a:p>
                  </a:txBody>
                  <a:tcPr marL="50800" marR="50800" marT="50800" marB="50800" anchor="ctr" horzOverflow="overflow">
                    <a:lnL w="0">
                      <a:miter lim="400000"/>
                    </a:lnL>
                    <a:lnR w="0">
                      <a:miter lim="400000"/>
                    </a:lnR>
                    <a:lnT w="0">
                      <a:miter lim="400000"/>
                    </a:lnT>
                    <a:lnB w="12700">
                      <a:solidFill>
                        <a:srgbClr val="E75D82"/>
                      </a:solidFill>
                      <a:miter lim="400000"/>
                    </a:lnB>
                    <a:noFill/>
                  </a:tcPr>
                </a:tc>
                <a:tc>
                  <a:txBody>
                    <a:bodyPr/>
                    <a:lstStyle/>
                    <a:p>
                      <a:pPr algn="l" defTabSz="914400">
                        <a:defRPr sz="1800" cap="none">
                          <a:solidFill>
                            <a:srgbClr val="000000"/>
                          </a:solidFill>
                        </a:defRPr>
                      </a:pPr>
                      <a:r>
                        <a:rPr sz="800" dirty="0">
                          <a:solidFill>
                            <a:srgbClr val="E71B2E"/>
                          </a:solidFill>
                          <a:latin typeface="DM Sans 14pt" pitchFamily="2" charset="77"/>
                          <a:ea typeface="Montserrat Light"/>
                          <a:cs typeface="Montserrat Light"/>
                          <a:sym typeface="Montserrat Light"/>
                        </a:rPr>
                        <a:t>$</a:t>
                      </a:r>
                      <a:r>
                        <a:rPr lang="en-US" sz="800" dirty="0">
                          <a:solidFill>
                            <a:srgbClr val="E71B2E"/>
                          </a:solidFill>
                          <a:latin typeface="DM Sans 14pt" pitchFamily="2" charset="77"/>
                          <a:ea typeface="Montserrat Light"/>
                          <a:cs typeface="Montserrat Light"/>
                          <a:sym typeface="Montserrat Light"/>
                        </a:rPr>
                        <a:t>1,000,000</a:t>
                      </a:r>
                      <a:endParaRPr sz="800" dirty="0">
                        <a:solidFill>
                          <a:srgbClr val="E71B2E"/>
                        </a:solidFill>
                        <a:latin typeface="DM Sans 14pt" pitchFamily="2" charset="77"/>
                        <a:ea typeface="Montserrat Light"/>
                        <a:cs typeface="Montserrat Light"/>
                        <a:sym typeface="Montserrat Light"/>
                      </a:endParaRPr>
                    </a:p>
                  </a:txBody>
                  <a:tcPr marL="50800" marR="50800" marT="50800" marB="50800" anchor="ctr" horzOverflow="overflow">
                    <a:lnL w="0">
                      <a:miter lim="400000"/>
                    </a:lnL>
                    <a:lnR w="12700">
                      <a:miter lim="400000"/>
                    </a:lnR>
                    <a:lnT w="0">
                      <a:miter lim="400000"/>
                    </a:lnT>
                    <a:lnB w="12700">
                      <a:solidFill>
                        <a:srgbClr val="E75D82"/>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miter lim="400000"/>
                    </a:lnR>
                    <a:lnT w="0">
                      <a:miter lim="400000"/>
                    </a:lnT>
                    <a:lnB w="12700">
                      <a:solidFill>
                        <a:srgbClr val="E75D82"/>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solidFill>
                        <a:srgbClr val="3E22D0"/>
                      </a:solidFill>
                      <a:miter lim="400000"/>
                    </a:lnR>
                    <a:lnT w="0">
                      <a:miter lim="400000"/>
                    </a:lnT>
                    <a:lnB w="12700">
                      <a:solidFill>
                        <a:srgbClr val="E71B2E"/>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0">
                      <a:miter lim="400000"/>
                    </a:lnR>
                    <a:lnT w="0">
                      <a:miter lim="400000"/>
                    </a:lnT>
                    <a:lnB w="12700">
                      <a:solidFill>
                        <a:srgbClr val="E71B2E"/>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0">
                      <a:miter lim="400000"/>
                    </a:lnT>
                    <a:lnB w="12700">
                      <a:solidFill>
                        <a:srgbClr val="E71B2E"/>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0">
                      <a:miter lim="400000"/>
                    </a:lnL>
                    <a:lnR w="0">
                      <a:miter lim="400000"/>
                    </a:lnR>
                    <a:lnT w="0">
                      <a:miter lim="400000"/>
                    </a:lnT>
                    <a:lnB w="12700">
                      <a:solidFill>
                        <a:srgbClr val="E71B2E"/>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0">
                      <a:miter lim="400000"/>
                    </a:lnL>
                    <a:lnR w="12700">
                      <a:solidFill>
                        <a:srgbClr val="3E22D0"/>
                      </a:solidFill>
                      <a:miter lim="400000"/>
                    </a:lnR>
                    <a:lnT w="0">
                      <a:miter lim="400000"/>
                    </a:lnT>
                    <a:lnB w="12700">
                      <a:solidFill>
                        <a:srgbClr val="E71B2E"/>
                      </a:solidFill>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p>
                  </a:txBody>
                  <a:tcPr marL="50800" marR="50800" marT="50800" marB="50800" anchor="ctr" horzOverflow="overflow">
                    <a:lnL w="12700">
                      <a:solidFill>
                        <a:srgbClr val="3E22D0"/>
                      </a:solidFill>
                      <a:miter lim="400000"/>
                    </a:lnL>
                    <a:lnR w="12700">
                      <a:miter lim="400000"/>
                    </a:lnR>
                    <a:lnT w="0">
                      <a:miter lim="400000"/>
                    </a:lnT>
                    <a:lnB w="12700">
                      <a:solidFill>
                        <a:srgbClr val="E75D82"/>
                      </a:solidFill>
                      <a:miter lim="400000"/>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sz="1800" cap="none">
                          <a:solidFill>
                            <a:srgbClr val="000000"/>
                          </a:solidFill>
                        </a:defRPr>
                      </a:pPr>
                      <a:r>
                        <a:rPr lang="en-US" sz="800" dirty="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12700">
                      <a:miter lim="400000"/>
                    </a:lnR>
                    <a:lnT w="0">
                      <a:miter lim="400000"/>
                    </a:lnT>
                    <a:lnB w="12700">
                      <a:solidFill>
                        <a:srgbClr val="E75D82"/>
                      </a:solidFill>
                      <a:miter lim="400000"/>
                    </a:lnB>
                    <a:noFill/>
                  </a:tcPr>
                </a:tc>
                <a:tc>
                  <a:txBody>
                    <a:bodyPr/>
                    <a:lstStyle/>
                    <a:p>
                      <a:pPr algn="l" defTabSz="914400">
                        <a:defRPr sz="1800" cap="none">
                          <a:solidFill>
                            <a:srgbClr val="000000"/>
                          </a:solidFill>
                        </a:defRPr>
                      </a:pPr>
                      <a:r>
                        <a:rPr sz="800">
                          <a:latin typeface="DM Sans 14pt" pitchFamily="2" charset="77"/>
                          <a:ea typeface="Montserrat Light"/>
                          <a:cs typeface="Montserrat Light"/>
                          <a:sym typeface="Montserrat Light"/>
                        </a:rPr>
                        <a:t>-</a:t>
                      </a:r>
                    </a:p>
                  </a:txBody>
                  <a:tcPr marL="50800" marR="50800" marT="50800" marB="50800" anchor="ctr" horzOverflow="overflow">
                    <a:lnL w="12700">
                      <a:miter lim="400000"/>
                    </a:lnL>
                    <a:lnR w="0">
                      <a:miter lim="400000"/>
                    </a:lnR>
                    <a:lnT w="0">
                      <a:miter lim="400000"/>
                    </a:lnT>
                    <a:lnB w="12700">
                      <a:solidFill>
                        <a:srgbClr val="E71B2E"/>
                      </a:solidFill>
                      <a:miter lim="400000"/>
                    </a:lnB>
                    <a:noFill/>
                  </a:tcPr>
                </a:tc>
                <a:extLst>
                  <a:ext uri="{0D108BD9-81ED-4DB2-BD59-A6C34878D82A}">
                    <a16:rowId xmlns:a16="http://schemas.microsoft.com/office/drawing/2014/main" val="10018"/>
                  </a:ext>
                </a:extLst>
              </a:tr>
              <a:tr h="325791">
                <a:tc>
                  <a:txBody>
                    <a:bodyPr/>
                    <a:lstStyle/>
                    <a:p>
                      <a:pPr algn="l" defTabSz="914400">
                        <a:defRPr sz="1800" cap="none">
                          <a:solidFill>
                            <a:srgbClr val="000000"/>
                          </a:solidFill>
                        </a:defRPr>
                      </a:pPr>
                      <a:r>
                        <a:rPr sz="800" b="1" dirty="0">
                          <a:latin typeface="DM Sans 14pt" pitchFamily="2" charset="77"/>
                          <a:ea typeface="Montserrat Light"/>
                          <a:cs typeface="Montserrat Light"/>
                          <a:sym typeface="Montserrat Light"/>
                        </a:rPr>
                        <a:t>Cash
</a:t>
                      </a:r>
                    </a:p>
                  </a:txBody>
                  <a:tcPr marL="50800" marR="50800" marT="50800" marB="50800" anchor="ctr" horzOverflow="overflow">
                    <a:lnL w="0">
                      <a:miter lim="400000"/>
                    </a:lnL>
                    <a:lnR w="12700">
                      <a:miter lim="400000"/>
                    </a:lnR>
                    <a:lnT w="12700">
                      <a:solidFill>
                        <a:srgbClr val="E75D82"/>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930,284</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E75D82"/>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873,568</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E75D82"/>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813,323</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solidFill>
                        <a:srgbClr val="3E22D0"/>
                      </a:solidFill>
                      <a:miter lim="400000"/>
                    </a:lnR>
                    <a:lnT w="12700">
                      <a:solidFill>
                        <a:srgbClr val="E71B2E"/>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813,323</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12700">
                      <a:miter lim="400000"/>
                    </a:lnR>
                    <a:lnT w="12700">
                      <a:solidFill>
                        <a:srgbClr val="E71B2E"/>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631,563</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E71B2E"/>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1,279,202</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E71B2E"/>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1,662,851</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solidFill>
                        <a:srgbClr val="3E22D0"/>
                      </a:solidFill>
                      <a:miter lim="400000"/>
                    </a:lnR>
                    <a:lnT w="12700">
                      <a:solidFill>
                        <a:srgbClr val="E71B2E"/>
                      </a:solidFill>
                      <a:miter lim="400000"/>
                    </a:lnT>
                    <a:lnB w="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1,662,851</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solidFill>
                        <a:srgbClr val="3E22D0"/>
                      </a:solidFill>
                      <a:miter lim="400000"/>
                    </a:lnL>
                    <a:lnR w="12700">
                      <a:miter lim="400000"/>
                    </a:lnR>
                    <a:lnT w="12700">
                      <a:solidFill>
                        <a:srgbClr val="E75D82"/>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7,518,341</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12700">
                      <a:miter lim="400000"/>
                    </a:lnR>
                    <a:lnT w="12700">
                      <a:solidFill>
                        <a:srgbClr val="E75D82"/>
                      </a:solidFill>
                      <a:miter lim="400000"/>
                    </a:lnT>
                    <a:lnB w="12700">
                      <a:miter lim="400000"/>
                    </a:lnB>
                    <a:noFill/>
                  </a:tcPr>
                </a:tc>
                <a:tc>
                  <a:txBody>
                    <a:bodyPr/>
                    <a:lstStyle/>
                    <a:p>
                      <a:pPr algn="l" defTabSz="914400">
                        <a:defRPr sz="1800" cap="none">
                          <a:solidFill>
                            <a:srgbClr val="000000"/>
                          </a:solidFill>
                        </a:defRPr>
                      </a:pPr>
                      <a:r>
                        <a:rPr sz="800" dirty="0">
                          <a:latin typeface="DM Sans 14pt" pitchFamily="2" charset="77"/>
                          <a:ea typeface="Montserrat Light"/>
                          <a:cs typeface="Montserrat Light"/>
                          <a:sym typeface="Montserrat Light"/>
                        </a:rPr>
                        <a:t>$</a:t>
                      </a:r>
                      <a:r>
                        <a:rPr lang="en-US" sz="800" dirty="0">
                          <a:latin typeface="DM Sans 14pt" pitchFamily="2" charset="77"/>
                          <a:ea typeface="Montserrat Light"/>
                          <a:cs typeface="Montserrat Light"/>
                          <a:sym typeface="Montserrat Light"/>
                        </a:rPr>
                        <a:t>18,478,605</a:t>
                      </a:r>
                      <a:endParaRPr sz="800" dirty="0">
                        <a:latin typeface="DM Sans 14pt" pitchFamily="2" charset="77"/>
                        <a:ea typeface="Montserrat Light"/>
                        <a:cs typeface="Montserrat Light"/>
                        <a:sym typeface="Montserrat Light"/>
                      </a:endParaRPr>
                    </a:p>
                  </a:txBody>
                  <a:tcPr marL="50800" marR="50800" marT="50800" marB="50800" anchor="ctr" horzOverflow="overflow">
                    <a:lnL w="12700">
                      <a:miter lim="400000"/>
                    </a:lnL>
                    <a:lnR w="0">
                      <a:miter lim="400000"/>
                    </a:lnR>
                    <a:lnT w="12700">
                      <a:solidFill>
                        <a:srgbClr val="E71B2E"/>
                      </a:solidFill>
                      <a:miter lim="400000"/>
                    </a:lnT>
                    <a:lnB w="12700">
                      <a:miter lim="400000"/>
                    </a:lnB>
                    <a:noFill/>
                  </a:tcPr>
                </a:tc>
                <a:extLst>
                  <a:ext uri="{0D108BD9-81ED-4DB2-BD59-A6C34878D82A}">
                    <a16:rowId xmlns:a16="http://schemas.microsoft.com/office/drawing/2014/main" val="10019"/>
                  </a:ext>
                </a:extLst>
              </a:tr>
            </a:tbl>
          </a:graphicData>
        </a:graphic>
      </p:graphicFrame>
      <p:sp>
        <p:nvSpPr>
          <p:cNvPr id="20" name="TextBox 36">
            <a:extLst>
              <a:ext uri="{FF2B5EF4-FFF2-40B4-BE49-F238E27FC236}">
                <a16:creationId xmlns:a16="http://schemas.microsoft.com/office/drawing/2014/main" id="{112FF26D-C206-F943-C5CF-8933321C5552}"/>
              </a:ext>
            </a:extLst>
          </p:cNvPr>
          <p:cNvSpPr txBox="1"/>
          <p:nvPr/>
        </p:nvSpPr>
        <p:spPr>
          <a:xfrm>
            <a:off x="3513545" y="483923"/>
            <a:ext cx="5164909"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defTabSz="914400">
              <a:lnSpc>
                <a:spcPts val="3600"/>
              </a:lnSpc>
              <a:defRPr sz="3500" b="1">
                <a:solidFill>
                  <a:srgbClr val="404040"/>
                </a:solidFill>
                <a:latin typeface="Graphik Bold"/>
                <a:ea typeface="Graphik Bold"/>
                <a:cs typeface="Graphik Bold"/>
                <a:sym typeface="Graphik"/>
              </a:defRPr>
            </a:pPr>
            <a:r>
              <a:rPr lang="en-US" dirty="0"/>
              <a:t>financial projections</a:t>
            </a:r>
            <a:endParaRPr dirty="0"/>
          </a:p>
        </p:txBody>
      </p:sp>
    </p:spTree>
    <p:extLst>
      <p:ext uri="{BB962C8B-B14F-4D97-AF65-F5344CB8AC3E}">
        <p14:creationId xmlns:p14="http://schemas.microsoft.com/office/powerpoint/2010/main" val="305304668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Straight Connector 35"/>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sp>
        <p:nvSpPr>
          <p:cNvPr id="429" name="TextBox 36"/>
          <p:cNvSpPr txBox="1"/>
          <p:nvPr/>
        </p:nvSpPr>
        <p:spPr>
          <a:xfrm>
            <a:off x="3513545" y="483923"/>
            <a:ext cx="5164909"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defTabSz="914400">
              <a:lnSpc>
                <a:spcPts val="3600"/>
              </a:lnSpc>
              <a:defRPr sz="3500" b="1">
                <a:solidFill>
                  <a:srgbClr val="404040"/>
                </a:solidFill>
                <a:latin typeface="Graphik Bold"/>
                <a:ea typeface="Graphik Bold"/>
                <a:cs typeface="Graphik Bold"/>
                <a:sym typeface="Graphik"/>
              </a:defRPr>
            </a:pPr>
            <a:r>
              <a:rPr lang="en-US" dirty="0"/>
              <a:t>milestones</a:t>
            </a:r>
            <a:endParaRPr dirty="0"/>
          </a:p>
        </p:txBody>
      </p:sp>
      <p:pic>
        <p:nvPicPr>
          <p:cNvPr id="435" name="ignite-logo.png" descr="ignite-logo.png"/>
          <p:cNvPicPr>
            <a:picLocks noChangeAspect="1"/>
          </p:cNvPicPr>
          <p:nvPr/>
        </p:nvPicPr>
        <p:blipFill>
          <a:blip r:embed="rId2"/>
          <a:stretch>
            <a:fillRect/>
          </a:stretch>
        </p:blipFill>
        <p:spPr>
          <a:xfrm>
            <a:off x="1311564" y="264828"/>
            <a:ext cx="992188" cy="992188"/>
          </a:xfrm>
          <a:prstGeom prst="rect">
            <a:avLst/>
          </a:prstGeom>
          <a:ln w="12700">
            <a:miter lim="400000"/>
          </a:ln>
        </p:spPr>
      </p:pic>
      <p:sp>
        <p:nvSpPr>
          <p:cNvPr id="4" name="TextBox 13">
            <a:extLst>
              <a:ext uri="{FF2B5EF4-FFF2-40B4-BE49-F238E27FC236}">
                <a16:creationId xmlns:a16="http://schemas.microsoft.com/office/drawing/2014/main" id="{D9A7A73C-75BA-A2DC-3CFB-8541527E9012}"/>
              </a:ext>
            </a:extLst>
          </p:cNvPr>
          <p:cNvSpPr txBox="1"/>
          <p:nvPr/>
        </p:nvSpPr>
        <p:spPr>
          <a:xfrm>
            <a:off x="1123752" y="4066030"/>
            <a:ext cx="1985552" cy="18466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BUILD THE FOUNDATION</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Purchase dev tools, Atlassian, Figma, Github, Etc.</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Interview users for use cases for Phase 1 MVP</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Design new wires for MVP</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Test wires with users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AWS Architecture, Security, and DB set up</a:t>
            </a:r>
          </a:p>
        </p:txBody>
      </p:sp>
      <p:sp>
        <p:nvSpPr>
          <p:cNvPr id="5" name="Circle">
            <a:extLst>
              <a:ext uri="{FF2B5EF4-FFF2-40B4-BE49-F238E27FC236}">
                <a16:creationId xmlns:a16="http://schemas.microsoft.com/office/drawing/2014/main" id="{BE782120-3F13-90F2-4E87-371D67AE18CB}"/>
              </a:ext>
            </a:extLst>
          </p:cNvPr>
          <p:cNvSpPr/>
          <p:nvPr/>
        </p:nvSpPr>
        <p:spPr>
          <a:xfrm>
            <a:off x="929424" y="3585552"/>
            <a:ext cx="189817" cy="189817"/>
          </a:xfrm>
          <a:prstGeom prst="ellipse">
            <a:avLst/>
          </a:prstGeom>
          <a:solidFill>
            <a:srgbClr val="E75D83"/>
          </a:solidFill>
          <a:ln w="50800">
            <a:solidFill>
              <a:srgbClr val="E75D83"/>
            </a:solidFill>
          </a:ln>
        </p:spPr>
        <p:txBody>
          <a:bodyPr lIns="0" tIns="0" rIns="0" bIns="0" anchor="ctr"/>
          <a:lstStyle/>
          <a:p>
            <a:endParaRPr sz="900" dirty="0"/>
          </a:p>
        </p:txBody>
      </p:sp>
      <p:sp>
        <p:nvSpPr>
          <p:cNvPr id="6" name="Line">
            <a:extLst>
              <a:ext uri="{FF2B5EF4-FFF2-40B4-BE49-F238E27FC236}">
                <a16:creationId xmlns:a16="http://schemas.microsoft.com/office/drawing/2014/main" id="{48C29E3C-27FC-7A4A-2C49-912DC8E32D0F}"/>
              </a:ext>
            </a:extLst>
          </p:cNvPr>
          <p:cNvSpPr/>
          <p:nvPr/>
        </p:nvSpPr>
        <p:spPr>
          <a:xfrm>
            <a:off x="1024355" y="3686810"/>
            <a:ext cx="10235439" cy="0"/>
          </a:xfrm>
          <a:prstGeom prst="line">
            <a:avLst/>
          </a:prstGeom>
          <a:ln w="101600">
            <a:solidFill>
              <a:srgbClr val="E75D83"/>
            </a:solidFill>
          </a:ln>
        </p:spPr>
        <p:txBody>
          <a:bodyPr lIns="0" tIns="0" rIns="0" bIns="0" anchor="ctr"/>
          <a:lstStyle/>
          <a:p>
            <a:endParaRPr sz="900" dirty="0"/>
          </a:p>
        </p:txBody>
      </p:sp>
      <p:sp>
        <p:nvSpPr>
          <p:cNvPr id="7" name="Circle">
            <a:extLst>
              <a:ext uri="{FF2B5EF4-FFF2-40B4-BE49-F238E27FC236}">
                <a16:creationId xmlns:a16="http://schemas.microsoft.com/office/drawing/2014/main" id="{F0FC8504-91AD-6B93-D63B-B68EF4BC2210}"/>
              </a:ext>
            </a:extLst>
          </p:cNvPr>
          <p:cNvSpPr/>
          <p:nvPr/>
        </p:nvSpPr>
        <p:spPr>
          <a:xfrm>
            <a:off x="2021620" y="3585552"/>
            <a:ext cx="189817" cy="189817"/>
          </a:xfrm>
          <a:prstGeom prst="ellipse">
            <a:avLst/>
          </a:prstGeom>
          <a:solidFill>
            <a:srgbClr val="E75D83"/>
          </a:solidFill>
          <a:ln w="50800">
            <a:solidFill>
              <a:srgbClr val="E75D83"/>
            </a:solidFill>
          </a:ln>
        </p:spPr>
        <p:txBody>
          <a:bodyPr lIns="0" tIns="0" rIns="0" bIns="0" anchor="ctr"/>
          <a:lstStyle/>
          <a:p>
            <a:endParaRPr sz="900" dirty="0"/>
          </a:p>
        </p:txBody>
      </p:sp>
      <p:sp>
        <p:nvSpPr>
          <p:cNvPr id="8" name="Line">
            <a:extLst>
              <a:ext uri="{FF2B5EF4-FFF2-40B4-BE49-F238E27FC236}">
                <a16:creationId xmlns:a16="http://schemas.microsoft.com/office/drawing/2014/main" id="{93884A8E-99BF-F12F-C65A-EE157C1069E2}"/>
              </a:ext>
            </a:extLst>
          </p:cNvPr>
          <p:cNvSpPr/>
          <p:nvPr/>
        </p:nvSpPr>
        <p:spPr>
          <a:xfrm flipV="1">
            <a:off x="993836" y="3683215"/>
            <a:ext cx="30498" cy="2386007"/>
          </a:xfrm>
          <a:prstGeom prst="line">
            <a:avLst/>
          </a:prstGeom>
          <a:ln w="25400">
            <a:solidFill>
              <a:srgbClr val="E65678"/>
            </a:solidFill>
          </a:ln>
        </p:spPr>
        <p:txBody>
          <a:bodyPr lIns="22859" tIns="22859" rIns="22859" bIns="22859"/>
          <a:lstStyle/>
          <a:p>
            <a:endParaRPr sz="900" dirty="0"/>
          </a:p>
        </p:txBody>
      </p:sp>
      <p:sp>
        <p:nvSpPr>
          <p:cNvPr id="9" name="TextBox 13">
            <a:extLst>
              <a:ext uri="{FF2B5EF4-FFF2-40B4-BE49-F238E27FC236}">
                <a16:creationId xmlns:a16="http://schemas.microsoft.com/office/drawing/2014/main" id="{5419F599-E130-DDD6-717E-5A1E2799B47D}"/>
              </a:ext>
            </a:extLst>
          </p:cNvPr>
          <p:cNvSpPr txBox="1"/>
          <p:nvPr/>
        </p:nvSpPr>
        <p:spPr>
          <a:xfrm>
            <a:off x="2307939" y="1517423"/>
            <a:ext cx="1897821" cy="21800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2</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Design and VET</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Review and iterate on design comps and prototypes with live users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Design sign off </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Front and Back-end code set up</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Start builds for user authentication and land on first page of Ignite</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200" dirty="0"/>
          </a:p>
        </p:txBody>
      </p:sp>
      <p:sp>
        <p:nvSpPr>
          <p:cNvPr id="10" name="Line">
            <a:extLst>
              <a:ext uri="{FF2B5EF4-FFF2-40B4-BE49-F238E27FC236}">
                <a16:creationId xmlns:a16="http://schemas.microsoft.com/office/drawing/2014/main" id="{EF929B94-6DF5-49C1-ADFD-AC477E94A44B}"/>
              </a:ext>
            </a:extLst>
          </p:cNvPr>
          <p:cNvSpPr/>
          <p:nvPr/>
        </p:nvSpPr>
        <p:spPr>
          <a:xfrm flipV="1">
            <a:off x="2122085" y="1593124"/>
            <a:ext cx="0" cy="2100036"/>
          </a:xfrm>
          <a:prstGeom prst="line">
            <a:avLst/>
          </a:prstGeom>
          <a:ln w="25400">
            <a:solidFill>
              <a:srgbClr val="E65678"/>
            </a:solidFill>
          </a:ln>
        </p:spPr>
        <p:txBody>
          <a:bodyPr lIns="22859" tIns="22859" rIns="22859" bIns="22859"/>
          <a:lstStyle/>
          <a:p>
            <a:endParaRPr sz="900" dirty="0"/>
          </a:p>
        </p:txBody>
      </p:sp>
      <p:sp>
        <p:nvSpPr>
          <p:cNvPr id="11" name="TextBox 13">
            <a:extLst>
              <a:ext uri="{FF2B5EF4-FFF2-40B4-BE49-F238E27FC236}">
                <a16:creationId xmlns:a16="http://schemas.microsoft.com/office/drawing/2014/main" id="{5199EC76-28CD-52DC-42BB-B97FB8A452C3}"/>
              </a:ext>
            </a:extLst>
          </p:cNvPr>
          <p:cNvSpPr txBox="1"/>
          <p:nvPr/>
        </p:nvSpPr>
        <p:spPr>
          <a:xfrm>
            <a:off x="3484935" y="4067681"/>
            <a:ext cx="1897820" cy="16927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3</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Build &amp; Code</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Front and back-end coding for MVP</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Data import discovery with client</a:t>
            </a:r>
            <a:r>
              <a:rPr lang="en-US" sz="1000" b="0" i="1" u="none" strike="noStrike" dirty="0">
                <a:solidFill>
                  <a:srgbClr val="595959"/>
                </a:solidFill>
                <a:effectLst/>
                <a:latin typeface="DM Sans 14pt" pitchFamily="2" charset="77"/>
              </a:rPr>
              <a:t> (2 years worth of data needed)</a:t>
            </a:r>
            <a:endParaRPr lang="en-US" sz="1000" b="0" i="0" u="none" strike="noStrike" dirty="0">
              <a:solidFill>
                <a:srgbClr val="595959"/>
              </a:solidFill>
              <a:effectLst/>
              <a:latin typeface="DM Sans 14pt" pitchFamily="2" charset="77"/>
            </a:endParaRPr>
          </a:p>
          <a:p>
            <a:pPr algn="l">
              <a:buFont typeface="Arial" panose="020B0604020202020204" pitchFamily="34" charset="0"/>
              <a:buChar char="•"/>
            </a:pPr>
            <a:r>
              <a:rPr lang="en-US" sz="1000" b="0" i="0" u="none" strike="noStrike" dirty="0">
                <a:solidFill>
                  <a:srgbClr val="595959"/>
                </a:solidFill>
                <a:effectLst/>
                <a:latin typeface="DM Sans 14pt" pitchFamily="2" charset="77"/>
              </a:rPr>
              <a:t> Reporting export discovery with client</a:t>
            </a:r>
          </a:p>
        </p:txBody>
      </p:sp>
      <p:sp>
        <p:nvSpPr>
          <p:cNvPr id="12" name="Line">
            <a:extLst>
              <a:ext uri="{FF2B5EF4-FFF2-40B4-BE49-F238E27FC236}">
                <a16:creationId xmlns:a16="http://schemas.microsoft.com/office/drawing/2014/main" id="{6DC4C306-0F05-FF92-B081-E438B828365F}"/>
              </a:ext>
            </a:extLst>
          </p:cNvPr>
          <p:cNvSpPr/>
          <p:nvPr/>
        </p:nvSpPr>
        <p:spPr>
          <a:xfrm flipV="1">
            <a:off x="3199951" y="3683216"/>
            <a:ext cx="7187" cy="2386010"/>
          </a:xfrm>
          <a:prstGeom prst="line">
            <a:avLst/>
          </a:prstGeom>
          <a:ln w="25400">
            <a:solidFill>
              <a:srgbClr val="E65678"/>
            </a:solidFill>
          </a:ln>
        </p:spPr>
        <p:txBody>
          <a:bodyPr lIns="22859" tIns="22859" rIns="22859" bIns="22859"/>
          <a:lstStyle/>
          <a:p>
            <a:endParaRPr sz="900" dirty="0"/>
          </a:p>
        </p:txBody>
      </p:sp>
      <p:sp>
        <p:nvSpPr>
          <p:cNvPr id="13" name="TextBox 13">
            <a:extLst>
              <a:ext uri="{FF2B5EF4-FFF2-40B4-BE49-F238E27FC236}">
                <a16:creationId xmlns:a16="http://schemas.microsoft.com/office/drawing/2014/main" id="{E26C64A8-E4AB-D4B7-F562-C1B920D3A421}"/>
              </a:ext>
            </a:extLst>
          </p:cNvPr>
          <p:cNvSpPr txBox="1"/>
          <p:nvPr/>
        </p:nvSpPr>
        <p:spPr>
          <a:xfrm>
            <a:off x="4710939" y="1524000"/>
            <a:ext cx="1897820"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4</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Code &amp; Test</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05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Coding continues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QA and User testing of Alpha code</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AI planning</a:t>
            </a:r>
          </a:p>
        </p:txBody>
      </p:sp>
      <p:sp>
        <p:nvSpPr>
          <p:cNvPr id="14" name="Line">
            <a:extLst>
              <a:ext uri="{FF2B5EF4-FFF2-40B4-BE49-F238E27FC236}">
                <a16:creationId xmlns:a16="http://schemas.microsoft.com/office/drawing/2014/main" id="{3BBCA54B-027E-0D1F-8445-58144299B7DE}"/>
              </a:ext>
            </a:extLst>
          </p:cNvPr>
          <p:cNvSpPr/>
          <p:nvPr/>
        </p:nvSpPr>
        <p:spPr>
          <a:xfrm flipV="1">
            <a:off x="4447942" y="1593124"/>
            <a:ext cx="0" cy="2100036"/>
          </a:xfrm>
          <a:prstGeom prst="line">
            <a:avLst/>
          </a:prstGeom>
          <a:ln w="25400">
            <a:solidFill>
              <a:srgbClr val="E65678"/>
            </a:solidFill>
          </a:ln>
        </p:spPr>
        <p:txBody>
          <a:bodyPr lIns="22859" tIns="22859" rIns="22859" bIns="22859"/>
          <a:lstStyle/>
          <a:p>
            <a:endParaRPr sz="900" dirty="0"/>
          </a:p>
        </p:txBody>
      </p:sp>
      <p:sp>
        <p:nvSpPr>
          <p:cNvPr id="15" name="TextBox 13">
            <a:extLst>
              <a:ext uri="{FF2B5EF4-FFF2-40B4-BE49-F238E27FC236}">
                <a16:creationId xmlns:a16="http://schemas.microsoft.com/office/drawing/2014/main" id="{2534F593-927C-B5F5-42A6-ADF91959C44A}"/>
              </a:ext>
            </a:extLst>
          </p:cNvPr>
          <p:cNvSpPr txBox="1"/>
          <p:nvPr/>
        </p:nvSpPr>
        <p:spPr>
          <a:xfrm>
            <a:off x="6009979" y="4066030"/>
            <a:ext cx="1897820" cy="1384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5</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WRAP UP WITH BETA</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Data import testing</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Strategy review of initial data</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Phase 2 design starts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a:t>
            </a:r>
            <a:r>
              <a:rPr lang="en-US" sz="1000" b="0" i="0" u="none" strike="noStrike" dirty="0" err="1">
                <a:solidFill>
                  <a:srgbClr val="595959"/>
                </a:solidFill>
                <a:effectLst/>
                <a:latin typeface="DM Sans 14pt" pitchFamily="2" charset="77"/>
              </a:rPr>
              <a:t>Pendo</a:t>
            </a:r>
            <a:r>
              <a:rPr lang="en-US" sz="1000" b="0" i="0" u="none" strike="noStrike" dirty="0">
                <a:solidFill>
                  <a:srgbClr val="595959"/>
                </a:solidFill>
                <a:effectLst/>
                <a:latin typeface="DM Sans 14pt" pitchFamily="2" charset="77"/>
              </a:rPr>
              <a:t> front end analytics reporting set up</a:t>
            </a:r>
          </a:p>
        </p:txBody>
      </p:sp>
      <p:sp>
        <p:nvSpPr>
          <p:cNvPr id="16" name="Line">
            <a:extLst>
              <a:ext uri="{FF2B5EF4-FFF2-40B4-BE49-F238E27FC236}">
                <a16:creationId xmlns:a16="http://schemas.microsoft.com/office/drawing/2014/main" id="{4E57E8F2-05DD-22CE-5185-0D6A9B259672}"/>
              </a:ext>
            </a:extLst>
          </p:cNvPr>
          <p:cNvSpPr/>
          <p:nvPr/>
        </p:nvSpPr>
        <p:spPr>
          <a:xfrm flipV="1">
            <a:off x="5663513" y="3693160"/>
            <a:ext cx="13538" cy="2475375"/>
          </a:xfrm>
          <a:prstGeom prst="line">
            <a:avLst/>
          </a:prstGeom>
          <a:ln w="25400">
            <a:solidFill>
              <a:srgbClr val="E65678"/>
            </a:solidFill>
          </a:ln>
        </p:spPr>
        <p:txBody>
          <a:bodyPr lIns="22859" tIns="22859" rIns="22859" bIns="22859"/>
          <a:lstStyle/>
          <a:p>
            <a:endParaRPr sz="900" dirty="0"/>
          </a:p>
        </p:txBody>
      </p:sp>
      <p:sp>
        <p:nvSpPr>
          <p:cNvPr id="17" name="TextBox 13">
            <a:extLst>
              <a:ext uri="{FF2B5EF4-FFF2-40B4-BE49-F238E27FC236}">
                <a16:creationId xmlns:a16="http://schemas.microsoft.com/office/drawing/2014/main" id="{D190F1B1-5BCA-9268-4AA2-39BD055C3DDA}"/>
              </a:ext>
            </a:extLst>
          </p:cNvPr>
          <p:cNvSpPr txBox="1"/>
          <p:nvPr/>
        </p:nvSpPr>
        <p:spPr>
          <a:xfrm>
            <a:off x="7178216" y="1517423"/>
            <a:ext cx="1897821" cy="18210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6</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BETA LAUNCH</a:t>
            </a:r>
          </a:p>
          <a:p>
            <a:pPr algn="l"/>
            <a:endParaRPr lang="en-US" sz="1000" b="0" i="0" u="none" strike="noStrike" dirty="0">
              <a:solidFill>
                <a:srgbClr val="595959"/>
              </a:solidFill>
              <a:effectLst/>
              <a:latin typeface="DM Sans 14pt" pitchFamily="2" charset="77"/>
            </a:endParaRPr>
          </a:p>
          <a:p>
            <a:pPr algn="l">
              <a:buFont typeface="Arial" panose="020B0604020202020204" pitchFamily="34" charset="0"/>
              <a:buChar char="•"/>
            </a:pPr>
            <a:r>
              <a:rPr lang="en-US" sz="1000" b="0" i="0" u="none" strike="noStrike" dirty="0">
                <a:solidFill>
                  <a:srgbClr val="595959"/>
                </a:solidFill>
                <a:effectLst/>
                <a:latin typeface="DM Sans 14pt" pitchFamily="2" charset="77"/>
              </a:rPr>
              <a:t> Wrap up MVP coding</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Beta testing with live users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Feedback review</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Make code adjustments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Reporting export review </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Review phase 2 designs with testers (AI designs)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Google Analytics set up</a:t>
            </a:r>
          </a:p>
        </p:txBody>
      </p:sp>
      <p:sp>
        <p:nvSpPr>
          <p:cNvPr id="18" name="Line">
            <a:extLst>
              <a:ext uri="{FF2B5EF4-FFF2-40B4-BE49-F238E27FC236}">
                <a16:creationId xmlns:a16="http://schemas.microsoft.com/office/drawing/2014/main" id="{E522B32C-8615-51CA-5104-A587E2CCD080}"/>
              </a:ext>
            </a:extLst>
          </p:cNvPr>
          <p:cNvSpPr/>
          <p:nvPr/>
        </p:nvSpPr>
        <p:spPr>
          <a:xfrm flipH="1" flipV="1">
            <a:off x="6806902" y="1591021"/>
            <a:ext cx="3783" cy="2102139"/>
          </a:xfrm>
          <a:prstGeom prst="line">
            <a:avLst/>
          </a:prstGeom>
          <a:ln w="25400">
            <a:solidFill>
              <a:srgbClr val="E65678"/>
            </a:solidFill>
          </a:ln>
        </p:spPr>
        <p:txBody>
          <a:bodyPr lIns="22859" tIns="22859" rIns="22859" bIns="22859"/>
          <a:lstStyle/>
          <a:p>
            <a:endParaRPr sz="900" dirty="0"/>
          </a:p>
        </p:txBody>
      </p:sp>
      <p:sp>
        <p:nvSpPr>
          <p:cNvPr id="19" name="TextBox 13">
            <a:extLst>
              <a:ext uri="{FF2B5EF4-FFF2-40B4-BE49-F238E27FC236}">
                <a16:creationId xmlns:a16="http://schemas.microsoft.com/office/drawing/2014/main" id="{75080145-3C71-D95A-0C08-BFD8E62540E1}"/>
              </a:ext>
            </a:extLst>
          </p:cNvPr>
          <p:cNvSpPr txBox="1"/>
          <p:nvPr/>
        </p:nvSpPr>
        <p:spPr>
          <a:xfrm>
            <a:off x="8689904" y="4066030"/>
            <a:ext cx="1897821" cy="15388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7</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PHASE 2 DESIGN</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05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Launch AI beta to production.</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Fuse MVP complete</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GTM planning</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Phase 2 coding complete</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Test phase 2 code with live users</a:t>
            </a:r>
          </a:p>
        </p:txBody>
      </p:sp>
      <p:sp>
        <p:nvSpPr>
          <p:cNvPr id="20" name="Line">
            <a:extLst>
              <a:ext uri="{FF2B5EF4-FFF2-40B4-BE49-F238E27FC236}">
                <a16:creationId xmlns:a16="http://schemas.microsoft.com/office/drawing/2014/main" id="{2808C5BE-0267-6063-CCB9-9505797BBFC7}"/>
              </a:ext>
            </a:extLst>
          </p:cNvPr>
          <p:cNvSpPr/>
          <p:nvPr/>
        </p:nvSpPr>
        <p:spPr>
          <a:xfrm flipV="1">
            <a:off x="8352211" y="3698159"/>
            <a:ext cx="4765" cy="2519211"/>
          </a:xfrm>
          <a:prstGeom prst="line">
            <a:avLst/>
          </a:prstGeom>
          <a:ln w="25400">
            <a:solidFill>
              <a:srgbClr val="E65678"/>
            </a:solidFill>
          </a:ln>
        </p:spPr>
        <p:txBody>
          <a:bodyPr lIns="22859" tIns="22859" rIns="22859" bIns="22859"/>
          <a:lstStyle/>
          <a:p>
            <a:endParaRPr sz="900" dirty="0"/>
          </a:p>
        </p:txBody>
      </p:sp>
      <p:sp>
        <p:nvSpPr>
          <p:cNvPr id="21" name="TextBox 13">
            <a:extLst>
              <a:ext uri="{FF2B5EF4-FFF2-40B4-BE49-F238E27FC236}">
                <a16:creationId xmlns:a16="http://schemas.microsoft.com/office/drawing/2014/main" id="{25639371-E8AD-FF29-DDC9-1012DE5AE072}"/>
              </a:ext>
            </a:extLst>
          </p:cNvPr>
          <p:cNvSpPr txBox="1"/>
          <p:nvPr/>
        </p:nvSpPr>
        <p:spPr>
          <a:xfrm>
            <a:off x="9884061" y="1517423"/>
            <a:ext cx="1664737" cy="1544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8</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PHASE 2 LAUNCH</a:t>
            </a:r>
          </a:p>
          <a:p>
            <a:pPr algn="l"/>
            <a:endParaRPr lang="en-US" sz="1200" b="0" i="0" u="none" strike="noStrike" dirty="0">
              <a:solidFill>
                <a:srgbClr val="595959"/>
              </a:solidFill>
              <a:effectLst/>
              <a:latin typeface="DM Sans 14pt" pitchFamily="2" charset="77"/>
            </a:endParaRPr>
          </a:p>
          <a:p>
            <a:pPr algn="l">
              <a:buFont typeface="Arial" panose="020B0604020202020204" pitchFamily="34" charset="0"/>
              <a:buChar char="•"/>
            </a:pPr>
            <a:r>
              <a:rPr lang="en-US" sz="1000" b="0" i="0" u="none" strike="noStrike" dirty="0">
                <a:solidFill>
                  <a:srgbClr val="595959"/>
                </a:solidFill>
                <a:effectLst/>
                <a:latin typeface="DM Sans 14pt" pitchFamily="2" charset="77"/>
              </a:rPr>
              <a:t> Start Fuse admin tool for setting up new Ignite accounts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User 1</a:t>
            </a:r>
            <a:r>
              <a:rPr lang="en-US" sz="1000" dirty="0">
                <a:solidFill>
                  <a:srgbClr val="595959"/>
                </a:solidFill>
                <a:latin typeface="DM Sans 14pt" pitchFamily="2" charset="77"/>
              </a:rPr>
              <a:t>-</a:t>
            </a:r>
            <a:r>
              <a:rPr lang="en-US" sz="1000" b="0" i="0" u="none" strike="noStrike" dirty="0">
                <a:solidFill>
                  <a:srgbClr val="595959"/>
                </a:solidFill>
                <a:effectLst/>
                <a:latin typeface="DM Sans 14pt" pitchFamily="2" charset="77"/>
              </a:rPr>
              <a:t>month review</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a:t>
            </a:r>
            <a:r>
              <a:rPr lang="en-US" sz="1000" dirty="0">
                <a:solidFill>
                  <a:srgbClr val="595959"/>
                </a:solidFill>
                <a:latin typeface="DM Sans 14pt" pitchFamily="2" charset="77"/>
              </a:rPr>
              <a:t>AI development continues</a:t>
            </a:r>
            <a:endParaRPr lang="en-US" sz="1000" b="0" i="0" u="none" strike="noStrike" dirty="0">
              <a:solidFill>
                <a:srgbClr val="595959"/>
              </a:solidFill>
              <a:effectLst/>
              <a:latin typeface="DM Sans 14pt" pitchFamily="2" charset="77"/>
            </a:endParaRPr>
          </a:p>
          <a:p>
            <a:pPr algn="l">
              <a:buFont typeface="Arial" panose="020B0604020202020204" pitchFamily="34" charset="0"/>
              <a:buChar char="•"/>
            </a:pPr>
            <a:r>
              <a:rPr lang="en-US" sz="1000" b="0" i="0" u="none" strike="noStrike" dirty="0">
                <a:solidFill>
                  <a:srgbClr val="595959"/>
                </a:solidFill>
                <a:effectLst/>
                <a:latin typeface="DM Sans 14pt" pitchFamily="2" charset="77"/>
              </a:rPr>
              <a:t> GTM planning</a:t>
            </a:r>
          </a:p>
        </p:txBody>
      </p:sp>
      <p:sp>
        <p:nvSpPr>
          <p:cNvPr id="22" name="Line">
            <a:extLst>
              <a:ext uri="{FF2B5EF4-FFF2-40B4-BE49-F238E27FC236}">
                <a16:creationId xmlns:a16="http://schemas.microsoft.com/office/drawing/2014/main" id="{E9A7B105-945C-09E5-D5D1-A37B742D78EE}"/>
              </a:ext>
            </a:extLst>
          </p:cNvPr>
          <p:cNvSpPr/>
          <p:nvPr/>
        </p:nvSpPr>
        <p:spPr>
          <a:xfrm flipV="1">
            <a:off x="9544701" y="1591021"/>
            <a:ext cx="0" cy="2102139"/>
          </a:xfrm>
          <a:prstGeom prst="line">
            <a:avLst/>
          </a:prstGeom>
          <a:ln w="25400">
            <a:solidFill>
              <a:srgbClr val="E65678"/>
            </a:solidFill>
          </a:ln>
        </p:spPr>
        <p:txBody>
          <a:bodyPr lIns="22859" tIns="22859" rIns="22859" bIns="22859"/>
          <a:lstStyle/>
          <a:p>
            <a:endParaRPr sz="900" dirty="0"/>
          </a:p>
        </p:txBody>
      </p:sp>
      <p:sp>
        <p:nvSpPr>
          <p:cNvPr id="23" name="Circle">
            <a:extLst>
              <a:ext uri="{FF2B5EF4-FFF2-40B4-BE49-F238E27FC236}">
                <a16:creationId xmlns:a16="http://schemas.microsoft.com/office/drawing/2014/main" id="{E0B27A26-969D-3A49-F854-7A8EE4C9F56A}"/>
              </a:ext>
            </a:extLst>
          </p:cNvPr>
          <p:cNvSpPr/>
          <p:nvPr/>
        </p:nvSpPr>
        <p:spPr>
          <a:xfrm>
            <a:off x="3113816"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4" name="Circle">
            <a:extLst>
              <a:ext uri="{FF2B5EF4-FFF2-40B4-BE49-F238E27FC236}">
                <a16:creationId xmlns:a16="http://schemas.microsoft.com/office/drawing/2014/main" id="{BD14D746-E0F6-4737-1D95-8D7301176505}"/>
              </a:ext>
            </a:extLst>
          </p:cNvPr>
          <p:cNvSpPr/>
          <p:nvPr/>
        </p:nvSpPr>
        <p:spPr>
          <a:xfrm>
            <a:off x="4349064"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5" name="Circle">
            <a:extLst>
              <a:ext uri="{FF2B5EF4-FFF2-40B4-BE49-F238E27FC236}">
                <a16:creationId xmlns:a16="http://schemas.microsoft.com/office/drawing/2014/main" id="{A93A5774-B999-1E4C-524B-77ABFC90894E}"/>
              </a:ext>
            </a:extLst>
          </p:cNvPr>
          <p:cNvSpPr/>
          <p:nvPr/>
        </p:nvSpPr>
        <p:spPr>
          <a:xfrm>
            <a:off x="5578966" y="3595498"/>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6" name="Circle">
            <a:extLst>
              <a:ext uri="{FF2B5EF4-FFF2-40B4-BE49-F238E27FC236}">
                <a16:creationId xmlns:a16="http://schemas.microsoft.com/office/drawing/2014/main" id="{60802B9E-1428-707B-05AB-503B3F6AC4AC}"/>
              </a:ext>
            </a:extLst>
          </p:cNvPr>
          <p:cNvSpPr/>
          <p:nvPr/>
        </p:nvSpPr>
        <p:spPr>
          <a:xfrm>
            <a:off x="6713396" y="3585552"/>
            <a:ext cx="189816"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7" name="Circle">
            <a:extLst>
              <a:ext uri="{FF2B5EF4-FFF2-40B4-BE49-F238E27FC236}">
                <a16:creationId xmlns:a16="http://schemas.microsoft.com/office/drawing/2014/main" id="{F42E84A5-1DB4-E3CA-6DDA-9FA015A6D80D}"/>
              </a:ext>
            </a:extLst>
          </p:cNvPr>
          <p:cNvSpPr/>
          <p:nvPr/>
        </p:nvSpPr>
        <p:spPr>
          <a:xfrm>
            <a:off x="8260479" y="3600496"/>
            <a:ext cx="189816"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8" name="Circle">
            <a:extLst>
              <a:ext uri="{FF2B5EF4-FFF2-40B4-BE49-F238E27FC236}">
                <a16:creationId xmlns:a16="http://schemas.microsoft.com/office/drawing/2014/main" id="{E7DA4BED-20E6-CFC2-C1D6-CED8404DEFAC}"/>
              </a:ext>
            </a:extLst>
          </p:cNvPr>
          <p:cNvSpPr/>
          <p:nvPr/>
        </p:nvSpPr>
        <p:spPr>
          <a:xfrm>
            <a:off x="9448998"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9" name="Circle">
            <a:extLst>
              <a:ext uri="{FF2B5EF4-FFF2-40B4-BE49-F238E27FC236}">
                <a16:creationId xmlns:a16="http://schemas.microsoft.com/office/drawing/2014/main" id="{44933721-B440-DD8E-8EF7-4E07DDE36AEF}"/>
              </a:ext>
            </a:extLst>
          </p:cNvPr>
          <p:cNvSpPr/>
          <p:nvPr/>
        </p:nvSpPr>
        <p:spPr>
          <a:xfrm>
            <a:off x="2027971" y="3585551"/>
            <a:ext cx="189817" cy="189817"/>
          </a:xfrm>
          <a:prstGeom prst="ellipse">
            <a:avLst/>
          </a:prstGeom>
          <a:solidFill>
            <a:srgbClr val="FFFFFF"/>
          </a:solidFill>
          <a:ln w="50800">
            <a:solidFill>
              <a:srgbClr val="E75D83"/>
            </a:solidFill>
          </a:ln>
        </p:spPr>
        <p:txBody>
          <a:bodyPr lIns="0" tIns="0" rIns="0" bIns="0" anchor="ctr"/>
          <a:lstStyle/>
          <a:p>
            <a:endParaRPr sz="900" dirty="0"/>
          </a:p>
        </p:txBody>
      </p:sp>
    </p:spTree>
    <p:extLst>
      <p:ext uri="{BB962C8B-B14F-4D97-AF65-F5344CB8AC3E}">
        <p14:creationId xmlns:p14="http://schemas.microsoft.com/office/powerpoint/2010/main" val="5215827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3E24D-655B-7DF4-17D9-5568833EFAAD}"/>
            </a:ext>
          </a:extLst>
        </p:cNvPr>
        <p:cNvGrpSpPr/>
        <p:nvPr/>
      </p:nvGrpSpPr>
      <p:grpSpPr>
        <a:xfrm>
          <a:off x="0" y="0"/>
          <a:ext cx="0" cy="0"/>
          <a:chOff x="0" y="0"/>
          <a:chExt cx="0" cy="0"/>
        </a:xfrm>
      </p:grpSpPr>
      <p:sp>
        <p:nvSpPr>
          <p:cNvPr id="428" name="Straight Connector 35">
            <a:extLst>
              <a:ext uri="{FF2B5EF4-FFF2-40B4-BE49-F238E27FC236}">
                <a16:creationId xmlns:a16="http://schemas.microsoft.com/office/drawing/2014/main" id="{BAAC6BC2-8817-543F-EAE9-1FF55945DE7E}"/>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pic>
        <p:nvPicPr>
          <p:cNvPr id="435" name="ignite-logo.png" descr="ignite-logo.png">
            <a:extLst>
              <a:ext uri="{FF2B5EF4-FFF2-40B4-BE49-F238E27FC236}">
                <a16:creationId xmlns:a16="http://schemas.microsoft.com/office/drawing/2014/main" id="{435D0E6C-BC9A-2407-B084-C64588C246D8}"/>
              </a:ext>
            </a:extLst>
          </p:cNvPr>
          <p:cNvPicPr>
            <a:picLocks noChangeAspect="1"/>
          </p:cNvPicPr>
          <p:nvPr/>
        </p:nvPicPr>
        <p:blipFill>
          <a:blip r:embed="rId2"/>
          <a:stretch>
            <a:fillRect/>
          </a:stretch>
        </p:blipFill>
        <p:spPr>
          <a:xfrm>
            <a:off x="1311564" y="264828"/>
            <a:ext cx="992188" cy="992188"/>
          </a:xfrm>
          <a:prstGeom prst="rect">
            <a:avLst/>
          </a:prstGeom>
          <a:ln w="12700">
            <a:miter lim="400000"/>
          </a:ln>
        </p:spPr>
      </p:pic>
      <p:sp>
        <p:nvSpPr>
          <p:cNvPr id="4" name="TextBox 13">
            <a:extLst>
              <a:ext uri="{FF2B5EF4-FFF2-40B4-BE49-F238E27FC236}">
                <a16:creationId xmlns:a16="http://schemas.microsoft.com/office/drawing/2014/main" id="{D241CD1C-B87F-E445-F8F3-E0EDBC5F23DA}"/>
              </a:ext>
            </a:extLst>
          </p:cNvPr>
          <p:cNvSpPr txBox="1"/>
          <p:nvPr/>
        </p:nvSpPr>
        <p:spPr>
          <a:xfrm>
            <a:off x="1123752" y="4067681"/>
            <a:ext cx="1985552" cy="1384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9</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BUILD THE FOUNDATION</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2-month review</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Start Phase 2 coding</a:t>
            </a:r>
            <a:endParaRPr lang="en-US" sz="1000" dirty="0">
              <a:solidFill>
                <a:srgbClr val="595959"/>
              </a:solidFill>
              <a:latin typeface="DM Sans 14pt" pitchFamily="2" charset="77"/>
            </a:endParaRPr>
          </a:p>
          <a:p>
            <a:pPr algn="l">
              <a:buFont typeface="Arial" panose="020B0604020202020204" pitchFamily="34" charset="0"/>
              <a:buChar char="•"/>
            </a:pPr>
            <a:r>
              <a:rPr lang="en-US" sz="1000" dirty="0">
                <a:solidFill>
                  <a:srgbClr val="595959"/>
                </a:solidFill>
                <a:latin typeface="DM Sans 14pt" pitchFamily="2" charset="77"/>
              </a:rPr>
              <a:t> AI development continues</a:t>
            </a:r>
          </a:p>
          <a:p>
            <a:pPr algn="l">
              <a:buFont typeface="Arial" panose="020B0604020202020204" pitchFamily="34" charset="0"/>
              <a:buChar char="•"/>
            </a:pPr>
            <a:r>
              <a:rPr lang="en-US" sz="1000" dirty="0">
                <a:solidFill>
                  <a:srgbClr val="595959"/>
                </a:solidFill>
                <a:latin typeface="DM Sans 14pt" pitchFamily="2" charset="77"/>
              </a:rPr>
              <a:t> GTM planning</a:t>
            </a:r>
          </a:p>
          <a:p>
            <a:pPr algn="l">
              <a:buFont typeface="Arial" panose="020B0604020202020204" pitchFamily="34" charset="0"/>
              <a:buChar char="•"/>
            </a:pPr>
            <a:endParaRPr lang="en-US" sz="1000" b="0" i="0" u="none" strike="noStrike" dirty="0">
              <a:solidFill>
                <a:srgbClr val="595959"/>
              </a:solidFill>
              <a:effectLst/>
              <a:latin typeface="DM Sans 14pt" pitchFamily="2" charset="77"/>
            </a:endParaRPr>
          </a:p>
        </p:txBody>
      </p:sp>
      <p:sp>
        <p:nvSpPr>
          <p:cNvPr id="5" name="Circle">
            <a:extLst>
              <a:ext uri="{FF2B5EF4-FFF2-40B4-BE49-F238E27FC236}">
                <a16:creationId xmlns:a16="http://schemas.microsoft.com/office/drawing/2014/main" id="{166C67B5-EC66-179E-433B-399F637A6D01}"/>
              </a:ext>
            </a:extLst>
          </p:cNvPr>
          <p:cNvSpPr/>
          <p:nvPr/>
        </p:nvSpPr>
        <p:spPr>
          <a:xfrm>
            <a:off x="929424" y="3585552"/>
            <a:ext cx="189817" cy="189817"/>
          </a:xfrm>
          <a:prstGeom prst="ellipse">
            <a:avLst/>
          </a:prstGeom>
          <a:solidFill>
            <a:srgbClr val="E75D83"/>
          </a:solidFill>
          <a:ln w="50800">
            <a:solidFill>
              <a:srgbClr val="E75D83"/>
            </a:solidFill>
          </a:ln>
        </p:spPr>
        <p:txBody>
          <a:bodyPr lIns="0" tIns="0" rIns="0" bIns="0" anchor="ctr"/>
          <a:lstStyle/>
          <a:p>
            <a:endParaRPr sz="900" dirty="0"/>
          </a:p>
        </p:txBody>
      </p:sp>
      <p:sp>
        <p:nvSpPr>
          <p:cNvPr id="6" name="Line">
            <a:extLst>
              <a:ext uri="{FF2B5EF4-FFF2-40B4-BE49-F238E27FC236}">
                <a16:creationId xmlns:a16="http://schemas.microsoft.com/office/drawing/2014/main" id="{8B35B318-96B8-158A-C246-DB6BB8B74666}"/>
              </a:ext>
            </a:extLst>
          </p:cNvPr>
          <p:cNvSpPr/>
          <p:nvPr/>
        </p:nvSpPr>
        <p:spPr>
          <a:xfrm flipV="1">
            <a:off x="1024356" y="3679064"/>
            <a:ext cx="5986044" cy="7746"/>
          </a:xfrm>
          <a:prstGeom prst="line">
            <a:avLst/>
          </a:prstGeom>
          <a:ln w="101600">
            <a:solidFill>
              <a:srgbClr val="E75D83"/>
            </a:solidFill>
          </a:ln>
        </p:spPr>
        <p:txBody>
          <a:bodyPr lIns="0" tIns="0" rIns="0" bIns="0" anchor="ctr"/>
          <a:lstStyle/>
          <a:p>
            <a:endParaRPr sz="900" dirty="0"/>
          </a:p>
        </p:txBody>
      </p:sp>
      <p:sp>
        <p:nvSpPr>
          <p:cNvPr id="7" name="Circle">
            <a:extLst>
              <a:ext uri="{FF2B5EF4-FFF2-40B4-BE49-F238E27FC236}">
                <a16:creationId xmlns:a16="http://schemas.microsoft.com/office/drawing/2014/main" id="{F7C7CA6C-E300-CB0F-2261-BB5660C6521C}"/>
              </a:ext>
            </a:extLst>
          </p:cNvPr>
          <p:cNvSpPr/>
          <p:nvPr/>
        </p:nvSpPr>
        <p:spPr>
          <a:xfrm>
            <a:off x="2021620" y="3585552"/>
            <a:ext cx="189817" cy="189817"/>
          </a:xfrm>
          <a:prstGeom prst="ellipse">
            <a:avLst/>
          </a:prstGeom>
          <a:solidFill>
            <a:srgbClr val="E75D83"/>
          </a:solidFill>
          <a:ln w="50800">
            <a:solidFill>
              <a:srgbClr val="E75D83"/>
            </a:solidFill>
          </a:ln>
        </p:spPr>
        <p:txBody>
          <a:bodyPr lIns="0" tIns="0" rIns="0" bIns="0" anchor="ctr"/>
          <a:lstStyle/>
          <a:p>
            <a:endParaRPr sz="900" dirty="0"/>
          </a:p>
        </p:txBody>
      </p:sp>
      <p:sp>
        <p:nvSpPr>
          <p:cNvPr id="8" name="Line">
            <a:extLst>
              <a:ext uri="{FF2B5EF4-FFF2-40B4-BE49-F238E27FC236}">
                <a16:creationId xmlns:a16="http://schemas.microsoft.com/office/drawing/2014/main" id="{524AD909-7DC7-C846-4176-844E24BB51E6}"/>
              </a:ext>
            </a:extLst>
          </p:cNvPr>
          <p:cNvSpPr/>
          <p:nvPr/>
        </p:nvSpPr>
        <p:spPr>
          <a:xfrm flipV="1">
            <a:off x="993836" y="3683215"/>
            <a:ext cx="30498" cy="2386007"/>
          </a:xfrm>
          <a:prstGeom prst="line">
            <a:avLst/>
          </a:prstGeom>
          <a:ln w="25400">
            <a:solidFill>
              <a:srgbClr val="E65678"/>
            </a:solidFill>
          </a:ln>
        </p:spPr>
        <p:txBody>
          <a:bodyPr lIns="22859" tIns="22859" rIns="22859" bIns="22859"/>
          <a:lstStyle/>
          <a:p>
            <a:endParaRPr sz="900" dirty="0"/>
          </a:p>
        </p:txBody>
      </p:sp>
      <p:sp>
        <p:nvSpPr>
          <p:cNvPr id="9" name="TextBox 13">
            <a:extLst>
              <a:ext uri="{FF2B5EF4-FFF2-40B4-BE49-F238E27FC236}">
                <a16:creationId xmlns:a16="http://schemas.microsoft.com/office/drawing/2014/main" id="{52DF5721-EAF9-AC5B-405B-D56069832317}"/>
              </a:ext>
            </a:extLst>
          </p:cNvPr>
          <p:cNvSpPr txBox="1"/>
          <p:nvPr/>
        </p:nvSpPr>
        <p:spPr>
          <a:xfrm>
            <a:off x="2307939" y="1517423"/>
            <a:ext cx="1897821" cy="17184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10</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Design and VET</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3-month review</a:t>
            </a:r>
          </a:p>
          <a:p>
            <a:pPr algn="l">
              <a:buFont typeface="Arial" panose="020B0604020202020204" pitchFamily="34" charset="0"/>
              <a:buChar char="•"/>
            </a:pPr>
            <a:r>
              <a:rPr lang="en-US" sz="1000" dirty="0">
                <a:solidFill>
                  <a:srgbClr val="595959"/>
                </a:solidFill>
                <a:latin typeface="DM Sans 14pt" pitchFamily="2" charset="77"/>
              </a:rPr>
              <a:t> Phase 2 coding continues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Fuse build continues</a:t>
            </a:r>
          </a:p>
          <a:p>
            <a:pPr algn="l">
              <a:buFont typeface="Arial" panose="020B0604020202020204" pitchFamily="34" charset="0"/>
              <a:buChar char="•"/>
            </a:pPr>
            <a:r>
              <a:rPr lang="en-US" sz="1000" dirty="0">
                <a:solidFill>
                  <a:srgbClr val="595959"/>
                </a:solidFill>
                <a:latin typeface="DM Sans 14pt" pitchFamily="2" charset="77"/>
              </a:rPr>
              <a:t> AI alpha review</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Phase 3 planning starts</a:t>
            </a:r>
          </a:p>
          <a:p>
            <a:pPr algn="l">
              <a:buFont typeface="Arial" panose="020B0604020202020204" pitchFamily="34" charset="0"/>
              <a:buChar char="•"/>
            </a:pPr>
            <a:r>
              <a:rPr lang="en-US" sz="1000" dirty="0">
                <a:solidFill>
                  <a:srgbClr val="595959"/>
                </a:solidFill>
                <a:latin typeface="DM Sans 14pt" pitchFamily="2" charset="77"/>
              </a:rPr>
              <a:t> GTM planning</a:t>
            </a:r>
            <a:endParaRPr lang="en-US" sz="1000" b="0" i="0" u="none" strike="noStrike" dirty="0">
              <a:solidFill>
                <a:srgbClr val="595959"/>
              </a:solidFill>
              <a:effectLst/>
              <a:latin typeface="DM Sans 14pt" pitchFamily="2" charset="77"/>
            </a:endParaRP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200" dirty="0"/>
          </a:p>
        </p:txBody>
      </p:sp>
      <p:sp>
        <p:nvSpPr>
          <p:cNvPr id="10" name="Line">
            <a:extLst>
              <a:ext uri="{FF2B5EF4-FFF2-40B4-BE49-F238E27FC236}">
                <a16:creationId xmlns:a16="http://schemas.microsoft.com/office/drawing/2014/main" id="{649A4942-08CF-66D4-0C7D-7191DF55532B}"/>
              </a:ext>
            </a:extLst>
          </p:cNvPr>
          <p:cNvSpPr/>
          <p:nvPr/>
        </p:nvSpPr>
        <p:spPr>
          <a:xfrm flipV="1">
            <a:off x="2122085" y="1593124"/>
            <a:ext cx="0" cy="2100036"/>
          </a:xfrm>
          <a:prstGeom prst="line">
            <a:avLst/>
          </a:prstGeom>
          <a:ln w="25400">
            <a:solidFill>
              <a:srgbClr val="E65678"/>
            </a:solidFill>
          </a:ln>
        </p:spPr>
        <p:txBody>
          <a:bodyPr lIns="22859" tIns="22859" rIns="22859" bIns="22859"/>
          <a:lstStyle/>
          <a:p>
            <a:endParaRPr sz="900" dirty="0"/>
          </a:p>
        </p:txBody>
      </p:sp>
      <p:sp>
        <p:nvSpPr>
          <p:cNvPr id="11" name="TextBox 13">
            <a:extLst>
              <a:ext uri="{FF2B5EF4-FFF2-40B4-BE49-F238E27FC236}">
                <a16:creationId xmlns:a16="http://schemas.microsoft.com/office/drawing/2014/main" id="{C075E438-B5D6-3A7E-A613-443EED9BBAE0}"/>
              </a:ext>
            </a:extLst>
          </p:cNvPr>
          <p:cNvSpPr txBox="1"/>
          <p:nvPr/>
        </p:nvSpPr>
        <p:spPr>
          <a:xfrm>
            <a:off x="3484935" y="4067681"/>
            <a:ext cx="1897820" cy="15388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11</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Build &amp; Code</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4-month review</a:t>
            </a:r>
          </a:p>
          <a:p>
            <a:pPr algn="l">
              <a:buFont typeface="Arial" panose="020B0604020202020204" pitchFamily="34" charset="0"/>
              <a:buChar char="•"/>
            </a:pPr>
            <a:r>
              <a:rPr lang="en-US" sz="1000" dirty="0">
                <a:solidFill>
                  <a:srgbClr val="595959"/>
                </a:solidFill>
                <a:latin typeface="DM Sans 14pt" pitchFamily="2" charset="77"/>
              </a:rPr>
              <a:t> Launch AI beta to production</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Fuse MVP complete</a:t>
            </a:r>
          </a:p>
          <a:p>
            <a:pPr algn="l">
              <a:buFont typeface="Arial" panose="020B0604020202020204" pitchFamily="34" charset="0"/>
              <a:buChar char="•"/>
            </a:pPr>
            <a:r>
              <a:rPr lang="en-US" sz="1000" dirty="0">
                <a:solidFill>
                  <a:srgbClr val="595959"/>
                </a:solidFill>
                <a:latin typeface="DM Sans 14pt" pitchFamily="2" charset="77"/>
              </a:rPr>
              <a:t> Phase 2 coding complete</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Test Phase 2 code with users</a:t>
            </a:r>
          </a:p>
          <a:p>
            <a:pPr algn="l">
              <a:buFont typeface="Arial" panose="020B0604020202020204" pitchFamily="34" charset="0"/>
              <a:buChar char="•"/>
            </a:pPr>
            <a:r>
              <a:rPr lang="en-US" sz="1000" dirty="0">
                <a:solidFill>
                  <a:srgbClr val="595959"/>
                </a:solidFill>
                <a:latin typeface="DM Sans 14pt" pitchFamily="2" charset="77"/>
              </a:rPr>
              <a:t> GTM planning</a:t>
            </a:r>
            <a:endParaRPr lang="en-US" sz="1000" b="0" i="0" u="none" strike="noStrike" dirty="0">
              <a:solidFill>
                <a:srgbClr val="595959"/>
              </a:solidFill>
              <a:effectLst/>
              <a:latin typeface="DM Sans 14pt" pitchFamily="2" charset="77"/>
            </a:endParaRPr>
          </a:p>
        </p:txBody>
      </p:sp>
      <p:sp>
        <p:nvSpPr>
          <p:cNvPr id="12" name="Line">
            <a:extLst>
              <a:ext uri="{FF2B5EF4-FFF2-40B4-BE49-F238E27FC236}">
                <a16:creationId xmlns:a16="http://schemas.microsoft.com/office/drawing/2014/main" id="{895D7F46-FC9D-91D6-C610-A6C86DCF1605}"/>
              </a:ext>
            </a:extLst>
          </p:cNvPr>
          <p:cNvSpPr/>
          <p:nvPr/>
        </p:nvSpPr>
        <p:spPr>
          <a:xfrm flipV="1">
            <a:off x="3199951" y="3683216"/>
            <a:ext cx="7187" cy="2386010"/>
          </a:xfrm>
          <a:prstGeom prst="line">
            <a:avLst/>
          </a:prstGeom>
          <a:ln w="25400">
            <a:solidFill>
              <a:srgbClr val="E65678"/>
            </a:solidFill>
          </a:ln>
        </p:spPr>
        <p:txBody>
          <a:bodyPr lIns="22859" tIns="22859" rIns="22859" bIns="22859"/>
          <a:lstStyle/>
          <a:p>
            <a:endParaRPr sz="900" dirty="0"/>
          </a:p>
        </p:txBody>
      </p:sp>
      <p:sp>
        <p:nvSpPr>
          <p:cNvPr id="13" name="TextBox 13">
            <a:extLst>
              <a:ext uri="{FF2B5EF4-FFF2-40B4-BE49-F238E27FC236}">
                <a16:creationId xmlns:a16="http://schemas.microsoft.com/office/drawing/2014/main" id="{917981AF-EA15-3D2C-8F74-323463B39DB7}"/>
              </a:ext>
            </a:extLst>
          </p:cNvPr>
          <p:cNvSpPr txBox="1"/>
          <p:nvPr/>
        </p:nvSpPr>
        <p:spPr>
          <a:xfrm>
            <a:off x="4710939" y="1524000"/>
            <a:ext cx="1897820"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12</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Code &amp; Test</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05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5-month review</a:t>
            </a:r>
          </a:p>
          <a:p>
            <a:pPr algn="l">
              <a:buFont typeface="Arial" panose="020B0604020202020204" pitchFamily="34" charset="0"/>
              <a:buChar char="•"/>
            </a:pPr>
            <a:r>
              <a:rPr lang="en-US" sz="1000" dirty="0">
                <a:solidFill>
                  <a:srgbClr val="595959"/>
                </a:solidFill>
                <a:latin typeface="DM Sans 14pt" pitchFamily="2" charset="77"/>
              </a:rPr>
              <a:t> GTM</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Website launches</a:t>
            </a:r>
          </a:p>
          <a:p>
            <a:pPr algn="l">
              <a:buFont typeface="Arial" panose="020B0604020202020204" pitchFamily="34" charset="0"/>
              <a:buChar char="•"/>
            </a:pPr>
            <a:r>
              <a:rPr lang="en-US" sz="1000" dirty="0">
                <a:solidFill>
                  <a:srgbClr val="595959"/>
                </a:solidFill>
                <a:latin typeface="DM Sans 14pt" pitchFamily="2" charset="77"/>
              </a:rPr>
              <a:t> Phase 3 design starts</a:t>
            </a:r>
            <a:endParaRPr lang="en-US" sz="1000" b="0" i="0" u="none" strike="noStrike" dirty="0">
              <a:solidFill>
                <a:srgbClr val="595959"/>
              </a:solidFill>
              <a:effectLst/>
              <a:latin typeface="DM Sans 14pt" pitchFamily="2" charset="77"/>
            </a:endParaRPr>
          </a:p>
        </p:txBody>
      </p:sp>
      <p:sp>
        <p:nvSpPr>
          <p:cNvPr id="14" name="Line">
            <a:extLst>
              <a:ext uri="{FF2B5EF4-FFF2-40B4-BE49-F238E27FC236}">
                <a16:creationId xmlns:a16="http://schemas.microsoft.com/office/drawing/2014/main" id="{DADF4530-2811-A9C5-822D-3A4CECBDAACA}"/>
              </a:ext>
            </a:extLst>
          </p:cNvPr>
          <p:cNvSpPr/>
          <p:nvPr/>
        </p:nvSpPr>
        <p:spPr>
          <a:xfrm flipV="1">
            <a:off x="4447942" y="1593124"/>
            <a:ext cx="0" cy="2100036"/>
          </a:xfrm>
          <a:prstGeom prst="line">
            <a:avLst/>
          </a:prstGeom>
          <a:ln w="25400">
            <a:solidFill>
              <a:srgbClr val="E65678"/>
            </a:solidFill>
          </a:ln>
        </p:spPr>
        <p:txBody>
          <a:bodyPr lIns="22859" tIns="22859" rIns="22859" bIns="22859"/>
          <a:lstStyle/>
          <a:p>
            <a:endParaRPr sz="900" dirty="0"/>
          </a:p>
        </p:txBody>
      </p:sp>
      <p:sp>
        <p:nvSpPr>
          <p:cNvPr id="23" name="Circle">
            <a:extLst>
              <a:ext uri="{FF2B5EF4-FFF2-40B4-BE49-F238E27FC236}">
                <a16:creationId xmlns:a16="http://schemas.microsoft.com/office/drawing/2014/main" id="{0DEDEE4E-7187-F994-5097-2C5E0530BF6E}"/>
              </a:ext>
            </a:extLst>
          </p:cNvPr>
          <p:cNvSpPr/>
          <p:nvPr/>
        </p:nvSpPr>
        <p:spPr>
          <a:xfrm>
            <a:off x="3113816"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4" name="Circle">
            <a:extLst>
              <a:ext uri="{FF2B5EF4-FFF2-40B4-BE49-F238E27FC236}">
                <a16:creationId xmlns:a16="http://schemas.microsoft.com/office/drawing/2014/main" id="{9DCBBC27-1F55-F852-8D99-FF34D4D6562F}"/>
              </a:ext>
            </a:extLst>
          </p:cNvPr>
          <p:cNvSpPr/>
          <p:nvPr/>
        </p:nvSpPr>
        <p:spPr>
          <a:xfrm>
            <a:off x="4349064"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9" name="Circle">
            <a:extLst>
              <a:ext uri="{FF2B5EF4-FFF2-40B4-BE49-F238E27FC236}">
                <a16:creationId xmlns:a16="http://schemas.microsoft.com/office/drawing/2014/main" id="{BCD7D18E-C6EA-A753-5AF9-90695CE7239D}"/>
              </a:ext>
            </a:extLst>
          </p:cNvPr>
          <p:cNvSpPr/>
          <p:nvPr/>
        </p:nvSpPr>
        <p:spPr>
          <a:xfrm>
            <a:off x="2027971" y="3585551"/>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 name="Circle">
            <a:extLst>
              <a:ext uri="{FF2B5EF4-FFF2-40B4-BE49-F238E27FC236}">
                <a16:creationId xmlns:a16="http://schemas.microsoft.com/office/drawing/2014/main" id="{EDBE27B3-28FD-0B40-F458-5B60D903022A}"/>
              </a:ext>
            </a:extLst>
          </p:cNvPr>
          <p:cNvSpPr/>
          <p:nvPr/>
        </p:nvSpPr>
        <p:spPr>
          <a:xfrm>
            <a:off x="935519" y="3581400"/>
            <a:ext cx="189817" cy="189817"/>
          </a:xfrm>
          <a:prstGeom prst="ellipse">
            <a:avLst/>
          </a:prstGeom>
          <a:solidFill>
            <a:srgbClr val="FFFFFF"/>
          </a:solidFill>
          <a:ln w="50800">
            <a:solidFill>
              <a:srgbClr val="E75D83"/>
            </a:solidFill>
          </a:ln>
        </p:spPr>
        <p:txBody>
          <a:bodyPr lIns="0" tIns="0" rIns="0" bIns="0" anchor="ctr"/>
          <a:lstStyle/>
          <a:p>
            <a:endParaRPr sz="900" dirty="0"/>
          </a:p>
        </p:txBody>
      </p:sp>
      <p:pic>
        <p:nvPicPr>
          <p:cNvPr id="30" name="Picture 29" descr="A logo with a black background&#10;&#10;Description automatically generated">
            <a:extLst>
              <a:ext uri="{FF2B5EF4-FFF2-40B4-BE49-F238E27FC236}">
                <a16:creationId xmlns:a16="http://schemas.microsoft.com/office/drawing/2014/main" id="{A4EA1D88-673F-79CD-A38E-2728C938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6235" y="2341551"/>
            <a:ext cx="3772268" cy="2514845"/>
          </a:xfrm>
          <a:prstGeom prst="rect">
            <a:avLst/>
          </a:prstGeom>
        </p:spPr>
      </p:pic>
      <p:sp>
        <p:nvSpPr>
          <p:cNvPr id="3" name="TextBox 36">
            <a:extLst>
              <a:ext uri="{FF2B5EF4-FFF2-40B4-BE49-F238E27FC236}">
                <a16:creationId xmlns:a16="http://schemas.microsoft.com/office/drawing/2014/main" id="{B15C596A-81A0-5C2F-FC9E-002814F34F1C}"/>
              </a:ext>
            </a:extLst>
          </p:cNvPr>
          <p:cNvSpPr txBox="1"/>
          <p:nvPr/>
        </p:nvSpPr>
        <p:spPr>
          <a:xfrm>
            <a:off x="3513545" y="483923"/>
            <a:ext cx="5164909"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defTabSz="914400">
              <a:lnSpc>
                <a:spcPts val="3600"/>
              </a:lnSpc>
              <a:defRPr sz="3500" b="1">
                <a:solidFill>
                  <a:srgbClr val="404040"/>
                </a:solidFill>
                <a:latin typeface="Graphik Bold"/>
                <a:ea typeface="Graphik Bold"/>
                <a:cs typeface="Graphik Bold"/>
                <a:sym typeface="Graphik"/>
              </a:defRPr>
            </a:pPr>
            <a:r>
              <a:rPr lang="en-US" dirty="0"/>
              <a:t>milestones</a:t>
            </a:r>
            <a:endParaRPr dirty="0"/>
          </a:p>
        </p:txBody>
      </p:sp>
    </p:spTree>
    <p:extLst>
      <p:ext uri="{BB962C8B-B14F-4D97-AF65-F5344CB8AC3E}">
        <p14:creationId xmlns:p14="http://schemas.microsoft.com/office/powerpoint/2010/main" val="364534909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0738-61F8-28EA-5DAC-DBFD5F89E0EE}"/>
            </a:ext>
          </a:extLst>
        </p:cNvPr>
        <p:cNvGrpSpPr/>
        <p:nvPr/>
      </p:nvGrpSpPr>
      <p:grpSpPr>
        <a:xfrm>
          <a:off x="0" y="0"/>
          <a:ext cx="0" cy="0"/>
          <a:chOff x="0" y="0"/>
          <a:chExt cx="0" cy="0"/>
        </a:xfrm>
      </p:grpSpPr>
      <p:sp>
        <p:nvSpPr>
          <p:cNvPr id="428" name="Straight Connector 35">
            <a:extLst>
              <a:ext uri="{FF2B5EF4-FFF2-40B4-BE49-F238E27FC236}">
                <a16:creationId xmlns:a16="http://schemas.microsoft.com/office/drawing/2014/main" id="{78BD987E-1B3C-2FE0-46ED-1CAE38E10F79}"/>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pic>
        <p:nvPicPr>
          <p:cNvPr id="435" name="ignite-logo.png" descr="ignite-logo.png">
            <a:extLst>
              <a:ext uri="{FF2B5EF4-FFF2-40B4-BE49-F238E27FC236}">
                <a16:creationId xmlns:a16="http://schemas.microsoft.com/office/drawing/2014/main" id="{033C5218-1ABD-2921-E041-95E218243EBF}"/>
              </a:ext>
            </a:extLst>
          </p:cNvPr>
          <p:cNvPicPr>
            <a:picLocks noChangeAspect="1"/>
          </p:cNvPicPr>
          <p:nvPr/>
        </p:nvPicPr>
        <p:blipFill>
          <a:blip r:embed="rId2"/>
          <a:stretch>
            <a:fillRect/>
          </a:stretch>
        </p:blipFill>
        <p:spPr>
          <a:xfrm>
            <a:off x="1311564" y="264828"/>
            <a:ext cx="992188" cy="992188"/>
          </a:xfrm>
          <a:prstGeom prst="rect">
            <a:avLst/>
          </a:prstGeom>
          <a:ln w="12700">
            <a:miter lim="400000"/>
          </a:ln>
        </p:spPr>
      </p:pic>
      <p:sp>
        <p:nvSpPr>
          <p:cNvPr id="4" name="TextBox 13">
            <a:extLst>
              <a:ext uri="{FF2B5EF4-FFF2-40B4-BE49-F238E27FC236}">
                <a16:creationId xmlns:a16="http://schemas.microsoft.com/office/drawing/2014/main" id="{993139AE-B9C5-A6D1-E64B-C0EFDEDA25E6}"/>
              </a:ext>
            </a:extLst>
          </p:cNvPr>
          <p:cNvSpPr txBox="1"/>
          <p:nvPr/>
        </p:nvSpPr>
        <p:spPr>
          <a:xfrm>
            <a:off x="1123752" y="4067681"/>
            <a:ext cx="1985552" cy="1384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9</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BUILD THE FOUNDATION</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2-month review</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Start Phase 2 coding</a:t>
            </a:r>
            <a:endParaRPr lang="en-US" sz="1000" dirty="0">
              <a:solidFill>
                <a:srgbClr val="595959"/>
              </a:solidFill>
              <a:latin typeface="DM Sans 14pt" pitchFamily="2" charset="77"/>
            </a:endParaRPr>
          </a:p>
          <a:p>
            <a:pPr algn="l">
              <a:buFont typeface="Arial" panose="020B0604020202020204" pitchFamily="34" charset="0"/>
              <a:buChar char="•"/>
            </a:pPr>
            <a:r>
              <a:rPr lang="en-US" sz="1000" dirty="0">
                <a:solidFill>
                  <a:srgbClr val="595959"/>
                </a:solidFill>
                <a:latin typeface="DM Sans 14pt" pitchFamily="2" charset="77"/>
              </a:rPr>
              <a:t> AI development continues</a:t>
            </a:r>
          </a:p>
          <a:p>
            <a:pPr algn="l">
              <a:buFont typeface="Arial" panose="020B0604020202020204" pitchFamily="34" charset="0"/>
              <a:buChar char="•"/>
            </a:pPr>
            <a:r>
              <a:rPr lang="en-US" sz="1000" dirty="0">
                <a:solidFill>
                  <a:srgbClr val="595959"/>
                </a:solidFill>
                <a:latin typeface="DM Sans 14pt" pitchFamily="2" charset="77"/>
              </a:rPr>
              <a:t> GTM planning</a:t>
            </a:r>
          </a:p>
          <a:p>
            <a:pPr algn="l">
              <a:buFont typeface="Arial" panose="020B0604020202020204" pitchFamily="34" charset="0"/>
              <a:buChar char="•"/>
            </a:pPr>
            <a:endParaRPr lang="en-US" sz="1000" b="0" i="0" u="none" strike="noStrike" dirty="0">
              <a:solidFill>
                <a:srgbClr val="595959"/>
              </a:solidFill>
              <a:effectLst/>
              <a:latin typeface="DM Sans 14pt" pitchFamily="2" charset="77"/>
            </a:endParaRPr>
          </a:p>
        </p:txBody>
      </p:sp>
      <p:sp>
        <p:nvSpPr>
          <p:cNvPr id="5" name="Circle">
            <a:extLst>
              <a:ext uri="{FF2B5EF4-FFF2-40B4-BE49-F238E27FC236}">
                <a16:creationId xmlns:a16="http://schemas.microsoft.com/office/drawing/2014/main" id="{B2BF62C1-DB87-3F67-A34A-D182C8BC2058}"/>
              </a:ext>
            </a:extLst>
          </p:cNvPr>
          <p:cNvSpPr/>
          <p:nvPr/>
        </p:nvSpPr>
        <p:spPr>
          <a:xfrm>
            <a:off x="929424" y="3585552"/>
            <a:ext cx="189817" cy="189817"/>
          </a:xfrm>
          <a:prstGeom prst="ellipse">
            <a:avLst/>
          </a:prstGeom>
          <a:solidFill>
            <a:srgbClr val="E75D83"/>
          </a:solidFill>
          <a:ln w="50800">
            <a:solidFill>
              <a:srgbClr val="E75D83"/>
            </a:solidFill>
          </a:ln>
        </p:spPr>
        <p:txBody>
          <a:bodyPr lIns="0" tIns="0" rIns="0" bIns="0" anchor="ctr"/>
          <a:lstStyle/>
          <a:p>
            <a:endParaRPr sz="900" dirty="0"/>
          </a:p>
        </p:txBody>
      </p:sp>
      <p:sp>
        <p:nvSpPr>
          <p:cNvPr id="6" name="Line">
            <a:extLst>
              <a:ext uri="{FF2B5EF4-FFF2-40B4-BE49-F238E27FC236}">
                <a16:creationId xmlns:a16="http://schemas.microsoft.com/office/drawing/2014/main" id="{089DA899-4115-08B4-C645-0F2998B07A98}"/>
              </a:ext>
            </a:extLst>
          </p:cNvPr>
          <p:cNvSpPr/>
          <p:nvPr/>
        </p:nvSpPr>
        <p:spPr>
          <a:xfrm flipV="1">
            <a:off x="1024356" y="3679064"/>
            <a:ext cx="5986044" cy="7746"/>
          </a:xfrm>
          <a:prstGeom prst="line">
            <a:avLst/>
          </a:prstGeom>
          <a:ln w="101600">
            <a:solidFill>
              <a:srgbClr val="E75D83"/>
            </a:solidFill>
          </a:ln>
        </p:spPr>
        <p:txBody>
          <a:bodyPr lIns="0" tIns="0" rIns="0" bIns="0" anchor="ctr"/>
          <a:lstStyle/>
          <a:p>
            <a:endParaRPr sz="900" dirty="0"/>
          </a:p>
        </p:txBody>
      </p:sp>
      <p:sp>
        <p:nvSpPr>
          <p:cNvPr id="7" name="Circle">
            <a:extLst>
              <a:ext uri="{FF2B5EF4-FFF2-40B4-BE49-F238E27FC236}">
                <a16:creationId xmlns:a16="http://schemas.microsoft.com/office/drawing/2014/main" id="{ACE37332-4B06-A272-AE44-7BAA2CC78B95}"/>
              </a:ext>
            </a:extLst>
          </p:cNvPr>
          <p:cNvSpPr/>
          <p:nvPr/>
        </p:nvSpPr>
        <p:spPr>
          <a:xfrm>
            <a:off x="2021620" y="3585552"/>
            <a:ext cx="189817" cy="189817"/>
          </a:xfrm>
          <a:prstGeom prst="ellipse">
            <a:avLst/>
          </a:prstGeom>
          <a:solidFill>
            <a:srgbClr val="E75D83"/>
          </a:solidFill>
          <a:ln w="50800">
            <a:solidFill>
              <a:srgbClr val="E75D83"/>
            </a:solidFill>
          </a:ln>
        </p:spPr>
        <p:txBody>
          <a:bodyPr lIns="0" tIns="0" rIns="0" bIns="0" anchor="ctr"/>
          <a:lstStyle/>
          <a:p>
            <a:endParaRPr sz="900" dirty="0"/>
          </a:p>
        </p:txBody>
      </p:sp>
      <p:sp>
        <p:nvSpPr>
          <p:cNvPr id="8" name="Line">
            <a:extLst>
              <a:ext uri="{FF2B5EF4-FFF2-40B4-BE49-F238E27FC236}">
                <a16:creationId xmlns:a16="http://schemas.microsoft.com/office/drawing/2014/main" id="{CD68B76F-86D0-82CF-DFB2-A1DE428B8991}"/>
              </a:ext>
            </a:extLst>
          </p:cNvPr>
          <p:cNvSpPr/>
          <p:nvPr/>
        </p:nvSpPr>
        <p:spPr>
          <a:xfrm flipV="1">
            <a:off x="993836" y="3683215"/>
            <a:ext cx="30498" cy="2386007"/>
          </a:xfrm>
          <a:prstGeom prst="line">
            <a:avLst/>
          </a:prstGeom>
          <a:ln w="25400">
            <a:solidFill>
              <a:srgbClr val="E65678"/>
            </a:solidFill>
          </a:ln>
        </p:spPr>
        <p:txBody>
          <a:bodyPr lIns="22859" tIns="22859" rIns="22859" bIns="22859"/>
          <a:lstStyle/>
          <a:p>
            <a:endParaRPr sz="900" dirty="0"/>
          </a:p>
        </p:txBody>
      </p:sp>
      <p:sp>
        <p:nvSpPr>
          <p:cNvPr id="9" name="TextBox 13">
            <a:extLst>
              <a:ext uri="{FF2B5EF4-FFF2-40B4-BE49-F238E27FC236}">
                <a16:creationId xmlns:a16="http://schemas.microsoft.com/office/drawing/2014/main" id="{182033BA-0CD6-490C-35B9-20AB6BCCA0A6}"/>
              </a:ext>
            </a:extLst>
          </p:cNvPr>
          <p:cNvSpPr txBox="1"/>
          <p:nvPr/>
        </p:nvSpPr>
        <p:spPr>
          <a:xfrm>
            <a:off x="2307939" y="1517423"/>
            <a:ext cx="1897821" cy="17184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10</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Design and VET</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3-month review</a:t>
            </a:r>
          </a:p>
          <a:p>
            <a:pPr algn="l">
              <a:buFont typeface="Arial" panose="020B0604020202020204" pitchFamily="34" charset="0"/>
              <a:buChar char="•"/>
            </a:pPr>
            <a:r>
              <a:rPr lang="en-US" sz="1000" dirty="0">
                <a:solidFill>
                  <a:srgbClr val="595959"/>
                </a:solidFill>
                <a:latin typeface="DM Sans 14pt" pitchFamily="2" charset="77"/>
              </a:rPr>
              <a:t> Phase 2 coding continues</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Fuse build continues</a:t>
            </a:r>
          </a:p>
          <a:p>
            <a:pPr algn="l">
              <a:buFont typeface="Arial" panose="020B0604020202020204" pitchFamily="34" charset="0"/>
              <a:buChar char="•"/>
            </a:pPr>
            <a:r>
              <a:rPr lang="en-US" sz="1000" dirty="0">
                <a:solidFill>
                  <a:srgbClr val="595959"/>
                </a:solidFill>
                <a:latin typeface="DM Sans 14pt" pitchFamily="2" charset="77"/>
              </a:rPr>
              <a:t> AI alpha review</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Phase 3 planning starts</a:t>
            </a:r>
          </a:p>
          <a:p>
            <a:pPr algn="l">
              <a:buFont typeface="Arial" panose="020B0604020202020204" pitchFamily="34" charset="0"/>
              <a:buChar char="•"/>
            </a:pPr>
            <a:r>
              <a:rPr lang="en-US" sz="1000" dirty="0">
                <a:solidFill>
                  <a:srgbClr val="595959"/>
                </a:solidFill>
                <a:latin typeface="DM Sans 14pt" pitchFamily="2" charset="77"/>
              </a:rPr>
              <a:t> GTM planning</a:t>
            </a:r>
            <a:endParaRPr lang="en-US" sz="1000" b="0" i="0" u="none" strike="noStrike" dirty="0">
              <a:solidFill>
                <a:srgbClr val="595959"/>
              </a:solidFill>
              <a:effectLst/>
              <a:latin typeface="DM Sans 14pt" pitchFamily="2" charset="77"/>
            </a:endParaRP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sz="1200" dirty="0"/>
          </a:p>
        </p:txBody>
      </p:sp>
      <p:sp>
        <p:nvSpPr>
          <p:cNvPr id="10" name="Line">
            <a:extLst>
              <a:ext uri="{FF2B5EF4-FFF2-40B4-BE49-F238E27FC236}">
                <a16:creationId xmlns:a16="http://schemas.microsoft.com/office/drawing/2014/main" id="{E491007F-B362-3DE5-D6BF-933E374428D0}"/>
              </a:ext>
            </a:extLst>
          </p:cNvPr>
          <p:cNvSpPr/>
          <p:nvPr/>
        </p:nvSpPr>
        <p:spPr>
          <a:xfrm flipV="1">
            <a:off x="2122085" y="1593124"/>
            <a:ext cx="0" cy="2100036"/>
          </a:xfrm>
          <a:prstGeom prst="line">
            <a:avLst/>
          </a:prstGeom>
          <a:ln w="25400">
            <a:solidFill>
              <a:srgbClr val="E65678"/>
            </a:solidFill>
          </a:ln>
        </p:spPr>
        <p:txBody>
          <a:bodyPr lIns="22859" tIns="22859" rIns="22859" bIns="22859"/>
          <a:lstStyle/>
          <a:p>
            <a:endParaRPr sz="900" dirty="0"/>
          </a:p>
        </p:txBody>
      </p:sp>
      <p:sp>
        <p:nvSpPr>
          <p:cNvPr id="11" name="TextBox 13">
            <a:extLst>
              <a:ext uri="{FF2B5EF4-FFF2-40B4-BE49-F238E27FC236}">
                <a16:creationId xmlns:a16="http://schemas.microsoft.com/office/drawing/2014/main" id="{C33D85E7-FC68-04A4-89B6-523794F3DBA1}"/>
              </a:ext>
            </a:extLst>
          </p:cNvPr>
          <p:cNvSpPr txBox="1"/>
          <p:nvPr/>
        </p:nvSpPr>
        <p:spPr>
          <a:xfrm>
            <a:off x="3484935" y="4067681"/>
            <a:ext cx="1897820" cy="15388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11</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Build &amp; Code</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20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4-month review</a:t>
            </a:r>
          </a:p>
          <a:p>
            <a:pPr algn="l">
              <a:buFont typeface="Arial" panose="020B0604020202020204" pitchFamily="34" charset="0"/>
              <a:buChar char="•"/>
            </a:pPr>
            <a:r>
              <a:rPr lang="en-US" sz="1000" dirty="0">
                <a:solidFill>
                  <a:srgbClr val="595959"/>
                </a:solidFill>
                <a:latin typeface="DM Sans 14pt" pitchFamily="2" charset="77"/>
              </a:rPr>
              <a:t> Launch AI beta to production</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Fuse MVP complete</a:t>
            </a:r>
          </a:p>
          <a:p>
            <a:pPr algn="l">
              <a:buFont typeface="Arial" panose="020B0604020202020204" pitchFamily="34" charset="0"/>
              <a:buChar char="•"/>
            </a:pPr>
            <a:r>
              <a:rPr lang="en-US" sz="1000" dirty="0">
                <a:solidFill>
                  <a:srgbClr val="595959"/>
                </a:solidFill>
                <a:latin typeface="DM Sans 14pt" pitchFamily="2" charset="77"/>
              </a:rPr>
              <a:t> Phase 2 coding complete</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Test Phase 2 code with users</a:t>
            </a:r>
          </a:p>
          <a:p>
            <a:pPr algn="l">
              <a:buFont typeface="Arial" panose="020B0604020202020204" pitchFamily="34" charset="0"/>
              <a:buChar char="•"/>
            </a:pPr>
            <a:r>
              <a:rPr lang="en-US" sz="1000" dirty="0">
                <a:solidFill>
                  <a:srgbClr val="595959"/>
                </a:solidFill>
                <a:latin typeface="DM Sans 14pt" pitchFamily="2" charset="77"/>
              </a:rPr>
              <a:t> GTM planning</a:t>
            </a:r>
            <a:endParaRPr lang="en-US" sz="1000" b="0" i="0" u="none" strike="noStrike" dirty="0">
              <a:solidFill>
                <a:srgbClr val="595959"/>
              </a:solidFill>
              <a:effectLst/>
              <a:latin typeface="DM Sans 14pt" pitchFamily="2" charset="77"/>
            </a:endParaRPr>
          </a:p>
        </p:txBody>
      </p:sp>
      <p:sp>
        <p:nvSpPr>
          <p:cNvPr id="12" name="Line">
            <a:extLst>
              <a:ext uri="{FF2B5EF4-FFF2-40B4-BE49-F238E27FC236}">
                <a16:creationId xmlns:a16="http://schemas.microsoft.com/office/drawing/2014/main" id="{B0D088AE-93E3-1A5F-6CE5-DA6017E84121}"/>
              </a:ext>
            </a:extLst>
          </p:cNvPr>
          <p:cNvSpPr/>
          <p:nvPr/>
        </p:nvSpPr>
        <p:spPr>
          <a:xfrm flipV="1">
            <a:off x="3199951" y="3683216"/>
            <a:ext cx="7187" cy="2386010"/>
          </a:xfrm>
          <a:prstGeom prst="line">
            <a:avLst/>
          </a:prstGeom>
          <a:ln w="25400">
            <a:solidFill>
              <a:srgbClr val="E65678"/>
            </a:solidFill>
          </a:ln>
        </p:spPr>
        <p:txBody>
          <a:bodyPr lIns="22859" tIns="22859" rIns="22859" bIns="22859"/>
          <a:lstStyle/>
          <a:p>
            <a:endParaRPr sz="900" dirty="0"/>
          </a:p>
        </p:txBody>
      </p:sp>
      <p:sp>
        <p:nvSpPr>
          <p:cNvPr id="13" name="TextBox 13">
            <a:extLst>
              <a:ext uri="{FF2B5EF4-FFF2-40B4-BE49-F238E27FC236}">
                <a16:creationId xmlns:a16="http://schemas.microsoft.com/office/drawing/2014/main" id="{0BDCD494-69DB-7B83-9162-724FDA1B34A4}"/>
              </a:ext>
            </a:extLst>
          </p:cNvPr>
          <p:cNvSpPr txBox="1"/>
          <p:nvPr/>
        </p:nvSpPr>
        <p:spPr>
          <a:xfrm>
            <a:off x="4710939" y="1524000"/>
            <a:ext cx="1897820"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800"/>
              </a:lnSpc>
              <a:spcBef>
                <a:spcPts val="400"/>
              </a:spcBef>
              <a:defRPr sz="1600">
                <a:solidFill>
                  <a:srgbClr val="E65678"/>
                </a:solidFill>
                <a:latin typeface="Montserrat SemiBold"/>
                <a:ea typeface="Montserrat SemiBold"/>
                <a:cs typeface="Montserrat SemiBold"/>
                <a:sym typeface="Montserrat SemiBold"/>
              </a:defRPr>
            </a:pPr>
            <a:r>
              <a:rPr lang="en-US" sz="800" b="1" dirty="0">
                <a:latin typeface="Graphik-Semibold" panose="020B0503030202060203" pitchFamily="34" charset="77"/>
              </a:rPr>
              <a:t>Month 12</a:t>
            </a:r>
          </a:p>
          <a:p>
            <a:pPr>
              <a:lnSpc>
                <a:spcPts val="800"/>
              </a:lnSpc>
              <a:spcBef>
                <a:spcPts val="400"/>
              </a:spcBef>
              <a:defRPr sz="1600">
                <a:solidFill>
                  <a:srgbClr val="E65678"/>
                </a:solidFill>
                <a:latin typeface="Montserrat SemiBold"/>
                <a:ea typeface="Montserrat SemiBold"/>
                <a:cs typeface="Montserrat SemiBold"/>
                <a:sym typeface="Montserrat SemiBold"/>
              </a:defRPr>
            </a:pPr>
            <a:endParaRPr sz="800" dirty="0"/>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r>
              <a:rPr lang="en-US" sz="1200" b="1" dirty="0">
                <a:latin typeface="Graphik-Semibold" panose="020B0503030202060203" pitchFamily="34" charset="77"/>
              </a:rPr>
              <a:t>Code &amp; Test</a:t>
            </a:r>
          </a:p>
          <a:p>
            <a:pPr>
              <a:lnSpc>
                <a:spcPts val="1200"/>
              </a:lnSpc>
              <a:spcBef>
                <a:spcPts val="200"/>
              </a:spcBef>
              <a:defRPr sz="2400" cap="all">
                <a:solidFill>
                  <a:srgbClr val="262E31"/>
                </a:solidFill>
                <a:latin typeface="Montserrat SemiBold"/>
                <a:ea typeface="Montserrat SemiBold"/>
                <a:cs typeface="Montserrat SemiBold"/>
                <a:sym typeface="Montserrat SemiBold"/>
              </a:defRPr>
            </a:pPr>
            <a:endParaRPr lang="en-US" sz="1050" dirty="0"/>
          </a:p>
          <a:p>
            <a:pPr algn="l">
              <a:buFont typeface="Arial" panose="020B0604020202020204" pitchFamily="34" charset="0"/>
              <a:buChar char="•"/>
            </a:pPr>
            <a:r>
              <a:rPr lang="en-US" sz="1000" b="0" i="0" u="none" strike="noStrike" dirty="0">
                <a:solidFill>
                  <a:srgbClr val="595959"/>
                </a:solidFill>
                <a:effectLst/>
                <a:latin typeface="DM Sans 14pt" pitchFamily="2" charset="77"/>
              </a:rPr>
              <a:t> 5-month review</a:t>
            </a:r>
          </a:p>
          <a:p>
            <a:pPr algn="l">
              <a:buFont typeface="Arial" panose="020B0604020202020204" pitchFamily="34" charset="0"/>
              <a:buChar char="•"/>
            </a:pPr>
            <a:r>
              <a:rPr lang="en-US" sz="1000" dirty="0">
                <a:solidFill>
                  <a:srgbClr val="595959"/>
                </a:solidFill>
                <a:latin typeface="DM Sans 14pt" pitchFamily="2" charset="77"/>
              </a:rPr>
              <a:t> GTM</a:t>
            </a:r>
          </a:p>
          <a:p>
            <a:pPr algn="l">
              <a:buFont typeface="Arial" panose="020B0604020202020204" pitchFamily="34" charset="0"/>
              <a:buChar char="•"/>
            </a:pPr>
            <a:r>
              <a:rPr lang="en-US" sz="1000" b="0" i="0" u="none" strike="noStrike" dirty="0">
                <a:solidFill>
                  <a:srgbClr val="595959"/>
                </a:solidFill>
                <a:effectLst/>
                <a:latin typeface="DM Sans 14pt" pitchFamily="2" charset="77"/>
              </a:rPr>
              <a:t> Website launches</a:t>
            </a:r>
          </a:p>
          <a:p>
            <a:pPr algn="l">
              <a:buFont typeface="Arial" panose="020B0604020202020204" pitchFamily="34" charset="0"/>
              <a:buChar char="•"/>
            </a:pPr>
            <a:r>
              <a:rPr lang="en-US" sz="1000" dirty="0">
                <a:solidFill>
                  <a:srgbClr val="595959"/>
                </a:solidFill>
                <a:latin typeface="DM Sans 14pt" pitchFamily="2" charset="77"/>
              </a:rPr>
              <a:t> Phase 3 design starts</a:t>
            </a:r>
            <a:endParaRPr lang="en-US" sz="1000" b="0" i="0" u="none" strike="noStrike" dirty="0">
              <a:solidFill>
                <a:srgbClr val="595959"/>
              </a:solidFill>
              <a:effectLst/>
              <a:latin typeface="DM Sans 14pt" pitchFamily="2" charset="77"/>
            </a:endParaRPr>
          </a:p>
        </p:txBody>
      </p:sp>
      <p:sp>
        <p:nvSpPr>
          <p:cNvPr id="14" name="Line">
            <a:extLst>
              <a:ext uri="{FF2B5EF4-FFF2-40B4-BE49-F238E27FC236}">
                <a16:creationId xmlns:a16="http://schemas.microsoft.com/office/drawing/2014/main" id="{6368E1CE-18D2-7B9F-FB8F-133DF5165CC5}"/>
              </a:ext>
            </a:extLst>
          </p:cNvPr>
          <p:cNvSpPr/>
          <p:nvPr/>
        </p:nvSpPr>
        <p:spPr>
          <a:xfrm flipV="1">
            <a:off x="4447942" y="1593124"/>
            <a:ext cx="0" cy="2100036"/>
          </a:xfrm>
          <a:prstGeom prst="line">
            <a:avLst/>
          </a:prstGeom>
          <a:ln w="25400">
            <a:solidFill>
              <a:srgbClr val="E65678"/>
            </a:solidFill>
          </a:ln>
        </p:spPr>
        <p:txBody>
          <a:bodyPr lIns="22859" tIns="22859" rIns="22859" bIns="22859"/>
          <a:lstStyle/>
          <a:p>
            <a:endParaRPr sz="900" dirty="0"/>
          </a:p>
        </p:txBody>
      </p:sp>
      <p:sp>
        <p:nvSpPr>
          <p:cNvPr id="23" name="Circle">
            <a:extLst>
              <a:ext uri="{FF2B5EF4-FFF2-40B4-BE49-F238E27FC236}">
                <a16:creationId xmlns:a16="http://schemas.microsoft.com/office/drawing/2014/main" id="{A911B8AB-CCA0-B4D3-FAF1-C850187D3B1A}"/>
              </a:ext>
            </a:extLst>
          </p:cNvPr>
          <p:cNvSpPr/>
          <p:nvPr/>
        </p:nvSpPr>
        <p:spPr>
          <a:xfrm>
            <a:off x="3113816"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4" name="Circle">
            <a:extLst>
              <a:ext uri="{FF2B5EF4-FFF2-40B4-BE49-F238E27FC236}">
                <a16:creationId xmlns:a16="http://schemas.microsoft.com/office/drawing/2014/main" id="{15ECE941-156A-A86A-9261-F536AD152BF8}"/>
              </a:ext>
            </a:extLst>
          </p:cNvPr>
          <p:cNvSpPr/>
          <p:nvPr/>
        </p:nvSpPr>
        <p:spPr>
          <a:xfrm>
            <a:off x="4349064" y="3585552"/>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9" name="Circle">
            <a:extLst>
              <a:ext uri="{FF2B5EF4-FFF2-40B4-BE49-F238E27FC236}">
                <a16:creationId xmlns:a16="http://schemas.microsoft.com/office/drawing/2014/main" id="{3A48B0CD-CC7F-DF27-A4CB-FA463365F64D}"/>
              </a:ext>
            </a:extLst>
          </p:cNvPr>
          <p:cNvSpPr/>
          <p:nvPr/>
        </p:nvSpPr>
        <p:spPr>
          <a:xfrm>
            <a:off x="2027971" y="3585551"/>
            <a:ext cx="189817" cy="189817"/>
          </a:xfrm>
          <a:prstGeom prst="ellipse">
            <a:avLst/>
          </a:prstGeom>
          <a:solidFill>
            <a:srgbClr val="FFFFFF"/>
          </a:solidFill>
          <a:ln w="50800">
            <a:solidFill>
              <a:srgbClr val="E75D83"/>
            </a:solidFill>
          </a:ln>
        </p:spPr>
        <p:txBody>
          <a:bodyPr lIns="0" tIns="0" rIns="0" bIns="0" anchor="ctr"/>
          <a:lstStyle/>
          <a:p>
            <a:endParaRPr sz="900" dirty="0"/>
          </a:p>
        </p:txBody>
      </p:sp>
      <p:sp>
        <p:nvSpPr>
          <p:cNvPr id="2" name="Circle">
            <a:extLst>
              <a:ext uri="{FF2B5EF4-FFF2-40B4-BE49-F238E27FC236}">
                <a16:creationId xmlns:a16="http://schemas.microsoft.com/office/drawing/2014/main" id="{46296C6D-B496-386E-B7A9-64C70B7128A3}"/>
              </a:ext>
            </a:extLst>
          </p:cNvPr>
          <p:cNvSpPr/>
          <p:nvPr/>
        </p:nvSpPr>
        <p:spPr>
          <a:xfrm>
            <a:off x="935519" y="3581400"/>
            <a:ext cx="189817" cy="189817"/>
          </a:xfrm>
          <a:prstGeom prst="ellipse">
            <a:avLst/>
          </a:prstGeom>
          <a:solidFill>
            <a:srgbClr val="FFFFFF"/>
          </a:solidFill>
          <a:ln w="50800">
            <a:solidFill>
              <a:srgbClr val="E75D83"/>
            </a:solidFill>
          </a:ln>
        </p:spPr>
        <p:txBody>
          <a:bodyPr lIns="0" tIns="0" rIns="0" bIns="0" anchor="ctr"/>
          <a:lstStyle/>
          <a:p>
            <a:endParaRPr sz="900" dirty="0"/>
          </a:p>
        </p:txBody>
      </p:sp>
      <p:pic>
        <p:nvPicPr>
          <p:cNvPr id="30" name="Picture 29" descr="A logo with a black background&#10;&#10;Description automatically generated">
            <a:extLst>
              <a:ext uri="{FF2B5EF4-FFF2-40B4-BE49-F238E27FC236}">
                <a16:creationId xmlns:a16="http://schemas.microsoft.com/office/drawing/2014/main" id="{161D03B3-4FB4-F6AC-DFE4-F8D1F4DFF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6235" y="2341551"/>
            <a:ext cx="3772268" cy="2514845"/>
          </a:xfrm>
          <a:prstGeom prst="rect">
            <a:avLst/>
          </a:prstGeom>
        </p:spPr>
      </p:pic>
      <p:sp>
        <p:nvSpPr>
          <p:cNvPr id="3" name="TextBox 36">
            <a:extLst>
              <a:ext uri="{FF2B5EF4-FFF2-40B4-BE49-F238E27FC236}">
                <a16:creationId xmlns:a16="http://schemas.microsoft.com/office/drawing/2014/main" id="{73267889-C75A-D2DE-B219-EAE46FE4D98D}"/>
              </a:ext>
            </a:extLst>
          </p:cNvPr>
          <p:cNvSpPr txBox="1"/>
          <p:nvPr/>
        </p:nvSpPr>
        <p:spPr>
          <a:xfrm>
            <a:off x="3513545" y="483923"/>
            <a:ext cx="5164909"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defTabSz="914400">
              <a:lnSpc>
                <a:spcPts val="3600"/>
              </a:lnSpc>
              <a:defRPr sz="3500" b="1">
                <a:solidFill>
                  <a:srgbClr val="404040"/>
                </a:solidFill>
                <a:latin typeface="Graphik Bold"/>
                <a:ea typeface="Graphik Bold"/>
                <a:cs typeface="Graphik Bold"/>
                <a:sym typeface="Graphik"/>
              </a:defRPr>
            </a:pPr>
            <a:r>
              <a:rPr lang="en-US" dirty="0"/>
              <a:t>milestones</a:t>
            </a:r>
            <a:endParaRPr dirty="0"/>
          </a:p>
        </p:txBody>
      </p:sp>
    </p:spTree>
    <p:extLst>
      <p:ext uri="{BB962C8B-B14F-4D97-AF65-F5344CB8AC3E}">
        <p14:creationId xmlns:p14="http://schemas.microsoft.com/office/powerpoint/2010/main" val="421737590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91105-7388-64CE-0C37-378BDFFEC1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F86C332-F518-4698-2B63-96DC30DAD003}"/>
              </a:ext>
            </a:extLst>
          </p:cNvPr>
          <p:cNvSpPr txBox="1"/>
          <p:nvPr/>
        </p:nvSpPr>
        <p:spPr>
          <a:xfrm>
            <a:off x="6671582" y="1840863"/>
            <a:ext cx="2536190" cy="1394421"/>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262626"/>
                </a:solidFill>
                <a:latin typeface="Graphik Bold"/>
                <a:cs typeface="Graphik Bold"/>
              </a:rPr>
              <a:t>eddie </a:t>
            </a:r>
            <a:r>
              <a:rPr sz="1800" b="1" spc="-10" dirty="0">
                <a:solidFill>
                  <a:srgbClr val="262626"/>
                </a:solidFill>
                <a:latin typeface="Graphik Bold"/>
                <a:cs typeface="Graphik Bold"/>
              </a:rPr>
              <a:t>westerfield</a:t>
            </a:r>
            <a:endParaRPr sz="1800" dirty="0">
              <a:latin typeface="Graphik Regular"/>
              <a:cs typeface="Graphik Regular"/>
            </a:endParaRPr>
          </a:p>
          <a:p>
            <a:pPr algn="ctr">
              <a:lnSpc>
                <a:spcPct val="100000"/>
              </a:lnSpc>
              <a:spcBef>
                <a:spcPts val="55"/>
              </a:spcBef>
            </a:pPr>
            <a:r>
              <a:rPr sz="1200" dirty="0">
                <a:solidFill>
                  <a:srgbClr val="595959"/>
                </a:solidFill>
                <a:latin typeface="Graphik Regular"/>
                <a:cs typeface="Graphik Regular"/>
              </a:rPr>
              <a:t>Swiss</a:t>
            </a:r>
            <a:r>
              <a:rPr sz="1200" spc="-25" dirty="0">
                <a:solidFill>
                  <a:srgbClr val="595959"/>
                </a:solidFill>
                <a:latin typeface="Graphik Regular"/>
                <a:cs typeface="Graphik Regular"/>
              </a:rPr>
              <a:t> </a:t>
            </a:r>
            <a:r>
              <a:rPr sz="1200" dirty="0">
                <a:solidFill>
                  <a:srgbClr val="595959"/>
                </a:solidFill>
                <a:latin typeface="Graphik Regular"/>
                <a:cs typeface="Graphik Regular"/>
              </a:rPr>
              <a:t>Army</a:t>
            </a:r>
            <a:r>
              <a:rPr sz="1200" spc="-20" dirty="0">
                <a:solidFill>
                  <a:srgbClr val="595959"/>
                </a:solidFill>
                <a:latin typeface="Graphik Regular"/>
                <a:cs typeface="Graphik Regular"/>
              </a:rPr>
              <a:t> </a:t>
            </a:r>
            <a:r>
              <a:rPr lang="en-US" sz="1200" spc="-20" dirty="0">
                <a:solidFill>
                  <a:srgbClr val="595959"/>
                </a:solidFill>
                <a:latin typeface="Graphik Regular"/>
                <a:cs typeface="Graphik Regular"/>
              </a:rPr>
              <a:t>K</a:t>
            </a:r>
            <a:r>
              <a:rPr sz="1200" spc="-20" dirty="0">
                <a:solidFill>
                  <a:srgbClr val="595959"/>
                </a:solidFill>
                <a:latin typeface="Graphik Regular"/>
                <a:cs typeface="Graphik Regular"/>
              </a:rPr>
              <a:t>nife</a:t>
            </a:r>
            <a:endParaRPr lang="en-US" sz="1200" spc="-20" dirty="0">
              <a:solidFill>
                <a:srgbClr val="595959"/>
              </a:solidFill>
              <a:latin typeface="Graphik Regular"/>
              <a:cs typeface="Graphik Regular"/>
            </a:endParaRPr>
          </a:p>
          <a:p>
            <a:pPr algn="ctr">
              <a:lnSpc>
                <a:spcPct val="100000"/>
              </a:lnSpc>
              <a:spcBef>
                <a:spcPts val="55"/>
              </a:spcBef>
            </a:pPr>
            <a:endParaRPr sz="800" dirty="0">
              <a:latin typeface="Graphik Regular"/>
              <a:cs typeface="Graphik Regular"/>
            </a:endParaRPr>
          </a:p>
          <a:p>
            <a:pPr marL="183515" marR="5080" indent="-171450" algn="l">
              <a:lnSpc>
                <a:spcPct val="111100"/>
              </a:lnSpc>
              <a:spcBef>
                <a:spcPts val="409"/>
              </a:spcBef>
              <a:buFont typeface="Arial" panose="020B0604020202020204" pitchFamily="34" charset="0"/>
              <a:buChar char="•"/>
            </a:pPr>
            <a:r>
              <a:rPr lang="en-US" sz="1000" spc="10" dirty="0">
                <a:solidFill>
                  <a:srgbClr val="595959"/>
                </a:solidFill>
                <a:latin typeface="Graphik Regular" panose="020B0503030202060203" pitchFamily="34" charset="77"/>
                <a:cs typeface="Arial"/>
              </a:rPr>
              <a:t>Strong background in product development and operations</a:t>
            </a:r>
          </a:p>
          <a:p>
            <a:pPr marL="183515" marR="5080" indent="-171450" algn="l">
              <a:lnSpc>
                <a:spcPct val="111100"/>
              </a:lnSpc>
              <a:spcBef>
                <a:spcPts val="409"/>
              </a:spcBef>
              <a:buFont typeface="Arial" panose="020B0604020202020204" pitchFamily="34" charset="0"/>
              <a:buChar char="•"/>
            </a:pPr>
            <a:r>
              <a:rPr lang="en-US" sz="1000" spc="10" dirty="0">
                <a:solidFill>
                  <a:srgbClr val="595959"/>
                </a:solidFill>
                <a:latin typeface="Graphik Regular" panose="020B0503030202060203" pitchFamily="34" charset="77"/>
                <a:cs typeface="Arial"/>
              </a:rPr>
              <a:t>Developed multiple tech startups that were spun off and sold.</a:t>
            </a:r>
            <a:endParaRPr sz="1000" dirty="0">
              <a:latin typeface="Graphik Regular" panose="020B0503030202060203" pitchFamily="34" charset="77"/>
              <a:cs typeface="Arial"/>
            </a:endParaRPr>
          </a:p>
        </p:txBody>
      </p:sp>
      <p:sp>
        <p:nvSpPr>
          <p:cNvPr id="5" name="object 5">
            <a:extLst>
              <a:ext uri="{FF2B5EF4-FFF2-40B4-BE49-F238E27FC236}">
                <a16:creationId xmlns:a16="http://schemas.microsoft.com/office/drawing/2014/main" id="{E57B26B6-965F-1C7D-542D-1C493B10836D}"/>
              </a:ext>
            </a:extLst>
          </p:cNvPr>
          <p:cNvSpPr txBox="1"/>
          <p:nvPr/>
        </p:nvSpPr>
        <p:spPr>
          <a:xfrm>
            <a:off x="9332228" y="1840863"/>
            <a:ext cx="2488242" cy="1394421"/>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595959"/>
                </a:solidFill>
                <a:latin typeface="Graphik Bold"/>
                <a:cs typeface="Graphik Bold"/>
              </a:rPr>
              <a:t>david</a:t>
            </a:r>
            <a:r>
              <a:rPr sz="1800" b="1" spc="-30" dirty="0">
                <a:solidFill>
                  <a:srgbClr val="595959"/>
                </a:solidFill>
                <a:latin typeface="Graphik Bold"/>
                <a:cs typeface="Graphik Bold"/>
              </a:rPr>
              <a:t> </a:t>
            </a:r>
            <a:r>
              <a:rPr sz="1800" b="1" spc="-10" dirty="0">
                <a:solidFill>
                  <a:srgbClr val="595959"/>
                </a:solidFill>
                <a:latin typeface="Graphik Bold"/>
                <a:cs typeface="Graphik Bold"/>
              </a:rPr>
              <a:t>garrard</a:t>
            </a:r>
            <a:endParaRPr sz="1800" dirty="0">
              <a:latin typeface="Graphik Regular"/>
              <a:cs typeface="Graphik Regular"/>
            </a:endParaRPr>
          </a:p>
          <a:p>
            <a:pPr algn="ctr">
              <a:lnSpc>
                <a:spcPct val="100000"/>
              </a:lnSpc>
              <a:spcBef>
                <a:spcPts val="55"/>
              </a:spcBef>
            </a:pPr>
            <a:r>
              <a:rPr sz="1200" dirty="0">
                <a:solidFill>
                  <a:schemeClr val="tx1">
                    <a:lumMod val="65000"/>
                    <a:lumOff val="35000"/>
                  </a:schemeClr>
                </a:solidFill>
                <a:latin typeface="Graphik Regular"/>
                <a:cs typeface="Graphik Regular"/>
              </a:rPr>
              <a:t>Chief </a:t>
            </a:r>
            <a:r>
              <a:rPr sz="1200" spc="-10" dirty="0">
                <a:solidFill>
                  <a:schemeClr val="tx1">
                    <a:lumMod val="65000"/>
                    <a:lumOff val="35000"/>
                  </a:schemeClr>
                </a:solidFill>
                <a:latin typeface="Graphik Regular"/>
                <a:cs typeface="Graphik Regular"/>
              </a:rPr>
              <a:t>Connector</a:t>
            </a:r>
            <a:endParaRPr lang="en-US" sz="1200" spc="-10" dirty="0">
              <a:solidFill>
                <a:schemeClr val="tx1">
                  <a:lumMod val="65000"/>
                  <a:lumOff val="35000"/>
                </a:schemeClr>
              </a:solidFill>
              <a:latin typeface="Graphik Regular"/>
              <a:cs typeface="Graphik Regular"/>
            </a:endParaRPr>
          </a:p>
          <a:p>
            <a:pPr algn="ctr">
              <a:lnSpc>
                <a:spcPct val="100000"/>
              </a:lnSpc>
              <a:spcBef>
                <a:spcPts val="55"/>
              </a:spcBef>
            </a:pPr>
            <a:endParaRPr sz="800" dirty="0">
              <a:solidFill>
                <a:schemeClr val="tx1">
                  <a:lumMod val="65000"/>
                  <a:lumOff val="35000"/>
                </a:schemeClr>
              </a:solidFill>
              <a:latin typeface="Graphik Regular"/>
              <a:cs typeface="Graphik Regular"/>
            </a:endParaRPr>
          </a:p>
          <a:p>
            <a:pPr marL="184150" marR="5080" indent="-171450" algn="l">
              <a:lnSpc>
                <a:spcPct val="111100"/>
              </a:lnSpc>
              <a:spcBef>
                <a:spcPts val="409"/>
              </a:spcBef>
              <a:buFont typeface="Arial" panose="020B0604020202020204" pitchFamily="34" charset="0"/>
              <a:buChar char="•"/>
            </a:pPr>
            <a:r>
              <a:rPr lang="en-US" sz="1000" dirty="0">
                <a:solidFill>
                  <a:srgbClr val="595959"/>
                </a:solidFill>
                <a:latin typeface="Graphik Regular" panose="020B0503030202060203" pitchFamily="34" charset="77"/>
                <a:cs typeface="Arial"/>
              </a:rPr>
              <a:t>A seasoned marketing professional who drives strategies to boost brand </a:t>
            </a:r>
          </a:p>
          <a:p>
            <a:pPr marL="184150" marR="5080" indent="-171450" algn="l">
              <a:lnSpc>
                <a:spcPct val="111100"/>
              </a:lnSpc>
              <a:spcBef>
                <a:spcPts val="409"/>
              </a:spcBef>
              <a:buFont typeface="Arial" panose="020B0604020202020204" pitchFamily="34" charset="0"/>
              <a:buChar char="•"/>
            </a:pPr>
            <a:r>
              <a:rPr lang="en-US" sz="1000" dirty="0">
                <a:solidFill>
                  <a:srgbClr val="595959"/>
                </a:solidFill>
                <a:latin typeface="Graphik Regular" panose="020B0503030202060203" pitchFamily="34" charset="77"/>
                <a:cs typeface="Arial"/>
              </a:rPr>
              <a:t>Innovative storytelling solidifies visibility and company leadership.</a:t>
            </a:r>
            <a:endParaRPr sz="1000" dirty="0">
              <a:latin typeface="Graphik Regular" panose="020B0503030202060203" pitchFamily="34" charset="77"/>
              <a:cs typeface="Arial"/>
            </a:endParaRPr>
          </a:p>
        </p:txBody>
      </p:sp>
      <p:pic>
        <p:nvPicPr>
          <p:cNvPr id="6" name="object 6">
            <a:extLst>
              <a:ext uri="{FF2B5EF4-FFF2-40B4-BE49-F238E27FC236}">
                <a16:creationId xmlns:a16="http://schemas.microsoft.com/office/drawing/2014/main" id="{9663C054-DC03-8419-7B02-E856382F0A48}"/>
              </a:ext>
            </a:extLst>
          </p:cNvPr>
          <p:cNvPicPr/>
          <p:nvPr/>
        </p:nvPicPr>
        <p:blipFill>
          <a:blip r:embed="rId2" cstate="print"/>
          <a:stretch>
            <a:fillRect/>
          </a:stretch>
        </p:blipFill>
        <p:spPr>
          <a:xfrm>
            <a:off x="7285711" y="324253"/>
            <a:ext cx="1307933" cy="1307933"/>
          </a:xfrm>
          <a:prstGeom prst="rect">
            <a:avLst/>
          </a:prstGeom>
        </p:spPr>
      </p:pic>
      <p:pic>
        <p:nvPicPr>
          <p:cNvPr id="7" name="object 7">
            <a:extLst>
              <a:ext uri="{FF2B5EF4-FFF2-40B4-BE49-F238E27FC236}">
                <a16:creationId xmlns:a16="http://schemas.microsoft.com/office/drawing/2014/main" id="{34FDA262-89CC-9B4E-78CC-5D6D88F92986}"/>
              </a:ext>
            </a:extLst>
          </p:cNvPr>
          <p:cNvPicPr/>
          <p:nvPr/>
        </p:nvPicPr>
        <p:blipFill>
          <a:blip r:embed="rId3" cstate="print"/>
          <a:stretch>
            <a:fillRect/>
          </a:stretch>
        </p:blipFill>
        <p:spPr>
          <a:xfrm>
            <a:off x="9993352" y="264827"/>
            <a:ext cx="1307933" cy="1307933"/>
          </a:xfrm>
          <a:prstGeom prst="rect">
            <a:avLst/>
          </a:prstGeom>
        </p:spPr>
      </p:pic>
      <p:sp>
        <p:nvSpPr>
          <p:cNvPr id="8" name="object 8">
            <a:extLst>
              <a:ext uri="{FF2B5EF4-FFF2-40B4-BE49-F238E27FC236}">
                <a16:creationId xmlns:a16="http://schemas.microsoft.com/office/drawing/2014/main" id="{B57BE7F6-0E10-BEC1-CFF0-14EA038F7798}"/>
              </a:ext>
            </a:extLst>
          </p:cNvPr>
          <p:cNvSpPr txBox="1"/>
          <p:nvPr/>
        </p:nvSpPr>
        <p:spPr>
          <a:xfrm>
            <a:off x="3977014" y="1840863"/>
            <a:ext cx="2488242" cy="1446678"/>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262626"/>
                </a:solidFill>
                <a:latin typeface="Graphik Bold"/>
                <a:cs typeface="Graphik Bold"/>
              </a:rPr>
              <a:t>kate</a:t>
            </a:r>
            <a:r>
              <a:rPr sz="1800" b="1" spc="-30" dirty="0">
                <a:solidFill>
                  <a:srgbClr val="262626"/>
                </a:solidFill>
                <a:latin typeface="Graphik Bold"/>
                <a:cs typeface="Graphik Bold"/>
              </a:rPr>
              <a:t> </a:t>
            </a:r>
            <a:r>
              <a:rPr sz="1800" b="1" spc="-10" dirty="0">
                <a:solidFill>
                  <a:srgbClr val="262626"/>
                </a:solidFill>
                <a:latin typeface="Graphik Bold"/>
                <a:cs typeface="Graphik Bold"/>
              </a:rPr>
              <a:t>burda</a:t>
            </a:r>
            <a:endParaRPr sz="1800" dirty="0">
              <a:latin typeface="Graphik Regular"/>
              <a:cs typeface="Graphik Regular"/>
            </a:endParaRPr>
          </a:p>
          <a:p>
            <a:pPr algn="ctr">
              <a:lnSpc>
                <a:spcPct val="100000"/>
              </a:lnSpc>
              <a:spcBef>
                <a:spcPts val="55"/>
              </a:spcBef>
            </a:pPr>
            <a:r>
              <a:rPr sz="1200" dirty="0">
                <a:solidFill>
                  <a:srgbClr val="595959"/>
                </a:solidFill>
                <a:latin typeface="Graphik Regular"/>
                <a:cs typeface="Graphik Regular"/>
              </a:rPr>
              <a:t>The</a:t>
            </a:r>
            <a:r>
              <a:rPr sz="1200" spc="-25" dirty="0">
                <a:solidFill>
                  <a:srgbClr val="595959"/>
                </a:solidFill>
                <a:latin typeface="Graphik Regular"/>
                <a:cs typeface="Graphik Regular"/>
              </a:rPr>
              <a:t> </a:t>
            </a:r>
            <a:r>
              <a:rPr sz="1200" spc="-10" dirty="0">
                <a:solidFill>
                  <a:srgbClr val="595959"/>
                </a:solidFill>
                <a:latin typeface="Graphik Regular"/>
                <a:cs typeface="Graphik Regular"/>
              </a:rPr>
              <a:t>Firestarter</a:t>
            </a:r>
            <a:endParaRPr lang="en-US" sz="1200" spc="-10" dirty="0">
              <a:solidFill>
                <a:srgbClr val="595959"/>
              </a:solidFill>
              <a:latin typeface="Graphik Regular"/>
              <a:cs typeface="Graphik Regular"/>
            </a:endParaRPr>
          </a:p>
          <a:p>
            <a:pPr algn="ctr">
              <a:lnSpc>
                <a:spcPct val="100000"/>
              </a:lnSpc>
              <a:spcBef>
                <a:spcPts val="55"/>
              </a:spcBef>
            </a:pPr>
            <a:endParaRPr sz="800" dirty="0">
              <a:latin typeface="Graphik Regular"/>
              <a:cs typeface="Graphik Regular"/>
            </a:endParaRPr>
          </a:p>
          <a:p>
            <a:pPr marL="184150" marR="5080" indent="-171450" algn="l">
              <a:lnSpc>
                <a:spcPct val="111100"/>
              </a:lnSpc>
              <a:spcBef>
                <a:spcPts val="409"/>
              </a:spcBef>
              <a:buFont typeface="Arial" panose="020B0604020202020204" pitchFamily="34" charset="0"/>
              <a:buChar char="•"/>
            </a:pPr>
            <a:r>
              <a:rPr lang="en-US" sz="1000" dirty="0">
                <a:solidFill>
                  <a:srgbClr val="595959"/>
                </a:solidFill>
                <a:latin typeface="Graphik Regular" panose="020B0503030202060203" pitchFamily="34" charset="77"/>
                <a:cs typeface="Arial"/>
              </a:rPr>
              <a:t>Three decades of experience leading global teams</a:t>
            </a:r>
          </a:p>
          <a:p>
            <a:pPr marL="184150" marR="5080" indent="-171450" algn="l">
              <a:lnSpc>
                <a:spcPct val="111100"/>
              </a:lnSpc>
              <a:spcBef>
                <a:spcPts val="409"/>
              </a:spcBef>
              <a:buFont typeface="Arial" panose="020B0604020202020204" pitchFamily="34" charset="0"/>
              <a:buChar char="•"/>
            </a:pPr>
            <a:r>
              <a:rPr lang="en-US" sz="1000" dirty="0">
                <a:solidFill>
                  <a:srgbClr val="595959"/>
                </a:solidFill>
                <a:latin typeface="Graphik Regular" panose="020B0503030202060203" pitchFamily="34" charset="77"/>
                <a:cs typeface="Arial"/>
              </a:rPr>
              <a:t>Proven track record driving innovation</a:t>
            </a:r>
          </a:p>
          <a:p>
            <a:pPr marL="184150" marR="5080" indent="-171450" algn="l">
              <a:lnSpc>
                <a:spcPct val="111100"/>
              </a:lnSpc>
              <a:spcBef>
                <a:spcPts val="409"/>
              </a:spcBef>
              <a:buFont typeface="Arial" panose="020B0604020202020204" pitchFamily="34" charset="0"/>
              <a:buChar char="•"/>
            </a:pPr>
            <a:r>
              <a:rPr lang="en-US" sz="1000" dirty="0">
                <a:solidFill>
                  <a:srgbClr val="595959"/>
                </a:solidFill>
                <a:latin typeface="Graphik Regular" panose="020B0503030202060203" pitchFamily="34" charset="77"/>
                <a:cs typeface="Arial"/>
              </a:rPr>
              <a:t>Fosters a culture of excellence</a:t>
            </a:r>
            <a:endParaRPr lang="en-US" sz="1000" dirty="0">
              <a:latin typeface="Arial"/>
              <a:cs typeface="Arial"/>
            </a:endParaRPr>
          </a:p>
        </p:txBody>
      </p:sp>
      <p:pic>
        <p:nvPicPr>
          <p:cNvPr id="9" name="object 9">
            <a:extLst>
              <a:ext uri="{FF2B5EF4-FFF2-40B4-BE49-F238E27FC236}">
                <a16:creationId xmlns:a16="http://schemas.microsoft.com/office/drawing/2014/main" id="{FC8527BC-28D2-6479-14CE-31D48603858A}"/>
              </a:ext>
            </a:extLst>
          </p:cNvPr>
          <p:cNvPicPr/>
          <p:nvPr/>
        </p:nvPicPr>
        <p:blipFill>
          <a:blip r:embed="rId4" cstate="print"/>
          <a:stretch>
            <a:fillRect/>
          </a:stretch>
        </p:blipFill>
        <p:spPr>
          <a:xfrm>
            <a:off x="4578070" y="330680"/>
            <a:ext cx="1307933" cy="1307933"/>
          </a:xfrm>
          <a:prstGeom prst="rect">
            <a:avLst/>
          </a:prstGeom>
        </p:spPr>
      </p:pic>
      <p:pic>
        <p:nvPicPr>
          <p:cNvPr id="10" name="object 6">
            <a:extLst>
              <a:ext uri="{FF2B5EF4-FFF2-40B4-BE49-F238E27FC236}">
                <a16:creationId xmlns:a16="http://schemas.microsoft.com/office/drawing/2014/main" id="{FB4C1B7F-2A5B-2510-A2BE-79D1A492F0E1}"/>
              </a:ext>
            </a:extLst>
          </p:cNvPr>
          <p:cNvPicPr/>
          <p:nvPr/>
        </p:nvPicPr>
        <p:blipFill>
          <a:blip r:embed="rId5">
            <a:extLst>
              <a:ext uri="{28A0092B-C50C-407E-A947-70E740481C1C}">
                <a14:useLocalDpi xmlns:a14="http://schemas.microsoft.com/office/drawing/2010/main" val="0"/>
              </a:ext>
            </a:extLst>
          </a:blip>
          <a:srcRect/>
          <a:stretch/>
        </p:blipFill>
        <p:spPr>
          <a:xfrm>
            <a:off x="7298661" y="3646587"/>
            <a:ext cx="1294983" cy="1307933"/>
          </a:xfrm>
          <a:prstGeom prst="rect">
            <a:avLst/>
          </a:prstGeom>
        </p:spPr>
      </p:pic>
      <p:pic>
        <p:nvPicPr>
          <p:cNvPr id="12" name="object 9">
            <a:extLst>
              <a:ext uri="{FF2B5EF4-FFF2-40B4-BE49-F238E27FC236}">
                <a16:creationId xmlns:a16="http://schemas.microsoft.com/office/drawing/2014/main" id="{00D5000E-E478-0033-810B-085066D4DE5F}"/>
              </a:ext>
            </a:extLst>
          </p:cNvPr>
          <p:cNvPicPr/>
          <p:nvPr/>
        </p:nvPicPr>
        <p:blipFill>
          <a:blip r:embed="rId6">
            <a:extLst>
              <a:ext uri="{28A0092B-C50C-407E-A947-70E740481C1C}">
                <a14:useLocalDpi xmlns:a14="http://schemas.microsoft.com/office/drawing/2010/main" val="0"/>
              </a:ext>
            </a:extLst>
          </a:blip>
          <a:srcRect/>
          <a:stretch/>
        </p:blipFill>
        <p:spPr>
          <a:xfrm>
            <a:off x="4566978" y="3645669"/>
            <a:ext cx="1307933" cy="1307933"/>
          </a:xfrm>
          <a:prstGeom prst="rect">
            <a:avLst/>
          </a:prstGeom>
        </p:spPr>
      </p:pic>
      <p:sp>
        <p:nvSpPr>
          <p:cNvPr id="13" name="object 4">
            <a:extLst>
              <a:ext uri="{FF2B5EF4-FFF2-40B4-BE49-F238E27FC236}">
                <a16:creationId xmlns:a16="http://schemas.microsoft.com/office/drawing/2014/main" id="{FDCE9A93-73DA-5556-6DA2-3C73C29CA635}"/>
              </a:ext>
            </a:extLst>
          </p:cNvPr>
          <p:cNvSpPr txBox="1"/>
          <p:nvPr/>
        </p:nvSpPr>
        <p:spPr>
          <a:xfrm>
            <a:off x="6666102" y="5152298"/>
            <a:ext cx="2536190" cy="1195199"/>
          </a:xfrm>
          <a:prstGeom prst="rect">
            <a:avLst/>
          </a:prstGeom>
        </p:spPr>
        <p:txBody>
          <a:bodyPr vert="horz" wrap="square" lIns="0" tIns="12700" rIns="0" bIns="0" rtlCol="0">
            <a:spAutoFit/>
          </a:bodyPr>
          <a:lstStyle/>
          <a:p>
            <a:pPr algn="ctr">
              <a:lnSpc>
                <a:spcPct val="100000"/>
              </a:lnSpc>
              <a:spcBef>
                <a:spcPts val="100"/>
              </a:spcBef>
            </a:pPr>
            <a:r>
              <a:rPr lang="en-US" b="1" dirty="0">
                <a:solidFill>
                  <a:srgbClr val="262626"/>
                </a:solidFill>
                <a:latin typeface="Graphik Bold"/>
                <a:cs typeface="Graphik Bold"/>
              </a:rPr>
              <a:t>j</a:t>
            </a:r>
            <a:r>
              <a:rPr lang="en-US" sz="1800" b="1" dirty="0">
                <a:solidFill>
                  <a:srgbClr val="262626"/>
                </a:solidFill>
                <a:latin typeface="Graphik Bold"/>
                <a:cs typeface="Graphik Bold"/>
              </a:rPr>
              <a:t>oe </a:t>
            </a:r>
            <a:r>
              <a:rPr lang="en-US" sz="1800" b="1" dirty="0" err="1">
                <a:solidFill>
                  <a:srgbClr val="262626"/>
                </a:solidFill>
                <a:latin typeface="Graphik Bold"/>
                <a:cs typeface="Graphik Bold"/>
              </a:rPr>
              <a:t>tavares</a:t>
            </a:r>
            <a:endParaRPr sz="1800" dirty="0">
              <a:latin typeface="Graphik Regular"/>
              <a:cs typeface="Graphik Regular"/>
            </a:endParaRPr>
          </a:p>
          <a:p>
            <a:pPr algn="ctr">
              <a:lnSpc>
                <a:spcPct val="100000"/>
              </a:lnSpc>
              <a:spcBef>
                <a:spcPts val="55"/>
              </a:spcBef>
            </a:pPr>
            <a:endParaRPr sz="800" dirty="0">
              <a:latin typeface="Graphik Regular"/>
              <a:cs typeface="Graphik Regular"/>
            </a:endParaRPr>
          </a:p>
          <a:p>
            <a:pPr marL="171450" indent="-171450" algn="l">
              <a:buFont typeface="Arial" panose="020B0604020202020204" pitchFamily="34" charset="0"/>
              <a:buChar char="•"/>
            </a:pPr>
            <a:r>
              <a:rPr lang="en-US" sz="1000" b="0" i="0" dirty="0">
                <a:solidFill>
                  <a:srgbClr val="595959"/>
                </a:solidFill>
                <a:effectLst/>
                <a:latin typeface="Graphik Regular" panose="020B0503030202060203" pitchFamily="34" charset="77"/>
              </a:rPr>
              <a:t>Chief architect / Data and AI expert</a:t>
            </a:r>
          </a:p>
          <a:p>
            <a:pPr marL="171450" indent="-171450" algn="l">
              <a:buFont typeface="Arial" panose="020B0604020202020204" pitchFamily="34" charset="0"/>
              <a:buChar char="•"/>
            </a:pPr>
            <a:r>
              <a:rPr lang="en-US" sz="1000" b="0" i="0" dirty="0">
                <a:solidFill>
                  <a:srgbClr val="595959"/>
                </a:solidFill>
                <a:effectLst/>
                <a:latin typeface="Graphik Regular" panose="020B0503030202060203" pitchFamily="34" charset="77"/>
              </a:rPr>
              <a:t>Cybersecurity and Blockchain consultant</a:t>
            </a:r>
          </a:p>
          <a:p>
            <a:pPr marL="171450" indent="-171450" algn="l">
              <a:buFont typeface="Arial" panose="020B0604020202020204" pitchFamily="34" charset="0"/>
              <a:buChar char="•"/>
            </a:pPr>
            <a:r>
              <a:rPr lang="en-US" sz="1000" b="0" i="0" dirty="0">
                <a:solidFill>
                  <a:srgbClr val="595959"/>
                </a:solidFill>
                <a:effectLst/>
                <a:latin typeface="Graphik Regular" panose="020B0503030202060203" pitchFamily="34" charset="77"/>
              </a:rPr>
              <a:t>Co-founded Maker OS, which was sold to </a:t>
            </a:r>
            <a:r>
              <a:rPr lang="en-US" sz="1000" b="0" i="0" dirty="0" err="1">
                <a:solidFill>
                  <a:srgbClr val="595959"/>
                </a:solidFill>
                <a:effectLst/>
                <a:latin typeface="Graphik Regular" panose="020B0503030202060203" pitchFamily="34" charset="77"/>
              </a:rPr>
              <a:t>Shapeways</a:t>
            </a:r>
            <a:r>
              <a:rPr lang="en-US" sz="1000" b="0" i="0" dirty="0">
                <a:solidFill>
                  <a:srgbClr val="595959"/>
                </a:solidFill>
                <a:effectLst/>
                <a:latin typeface="Graphik Regular" panose="020B0503030202060203" pitchFamily="34" charset="77"/>
              </a:rPr>
              <a:t> in 2022</a:t>
            </a:r>
          </a:p>
        </p:txBody>
      </p:sp>
      <p:sp>
        <p:nvSpPr>
          <p:cNvPr id="14" name="object 8">
            <a:extLst>
              <a:ext uri="{FF2B5EF4-FFF2-40B4-BE49-F238E27FC236}">
                <a16:creationId xmlns:a16="http://schemas.microsoft.com/office/drawing/2014/main" id="{BB53276E-9CD4-50D3-B3B0-B5FBB224C2C3}"/>
              </a:ext>
            </a:extLst>
          </p:cNvPr>
          <p:cNvSpPr txBox="1"/>
          <p:nvPr/>
        </p:nvSpPr>
        <p:spPr>
          <a:xfrm>
            <a:off x="3971534" y="5152298"/>
            <a:ext cx="2488242" cy="1041311"/>
          </a:xfrm>
          <a:prstGeom prst="rect">
            <a:avLst/>
          </a:prstGeom>
        </p:spPr>
        <p:txBody>
          <a:bodyPr vert="horz" wrap="square" lIns="0" tIns="12700" rIns="0" bIns="0" rtlCol="0">
            <a:spAutoFit/>
          </a:bodyPr>
          <a:lstStyle/>
          <a:p>
            <a:pPr algn="ctr">
              <a:lnSpc>
                <a:spcPct val="100000"/>
              </a:lnSpc>
              <a:spcBef>
                <a:spcPts val="100"/>
              </a:spcBef>
            </a:pPr>
            <a:r>
              <a:rPr lang="en-US" b="1" dirty="0" err="1">
                <a:solidFill>
                  <a:srgbClr val="262626"/>
                </a:solidFill>
                <a:latin typeface="Graphik Bold"/>
                <a:cs typeface="Graphik Bold"/>
              </a:rPr>
              <a:t>r</a:t>
            </a:r>
            <a:r>
              <a:rPr lang="en-US" sz="1800" b="1" dirty="0" err="1">
                <a:solidFill>
                  <a:srgbClr val="262626"/>
                </a:solidFill>
                <a:latin typeface="Graphik Bold"/>
                <a:cs typeface="Graphik Bold"/>
              </a:rPr>
              <a:t>ecardo</a:t>
            </a:r>
            <a:r>
              <a:rPr lang="en-US" sz="1800" b="1" dirty="0">
                <a:solidFill>
                  <a:srgbClr val="262626"/>
                </a:solidFill>
                <a:latin typeface="Graphik Bold"/>
                <a:cs typeface="Graphik Bold"/>
              </a:rPr>
              <a:t> </a:t>
            </a:r>
            <a:r>
              <a:rPr lang="en-US" sz="1800" b="1" dirty="0" err="1">
                <a:solidFill>
                  <a:srgbClr val="262626"/>
                </a:solidFill>
                <a:latin typeface="Graphik Bold"/>
                <a:cs typeface="Graphik Bold"/>
              </a:rPr>
              <a:t>poole</a:t>
            </a:r>
            <a:endParaRPr sz="1800" dirty="0">
              <a:latin typeface="Graphik Regular"/>
              <a:cs typeface="Graphik Regular"/>
            </a:endParaRPr>
          </a:p>
          <a:p>
            <a:pPr algn="ctr">
              <a:lnSpc>
                <a:spcPct val="100000"/>
              </a:lnSpc>
              <a:spcBef>
                <a:spcPts val="55"/>
              </a:spcBef>
            </a:pPr>
            <a:endParaRPr sz="800" dirty="0">
              <a:latin typeface="Graphik Regular"/>
              <a:cs typeface="Graphik Regular"/>
            </a:endParaRPr>
          </a:p>
          <a:p>
            <a:pPr marL="171450" indent="-171450" algn="l">
              <a:buFont typeface="Arial" panose="020B0604020202020204" pitchFamily="34" charset="0"/>
              <a:buChar char="•"/>
            </a:pPr>
            <a:r>
              <a:rPr lang="en-US" sz="1000" b="0" i="0" dirty="0">
                <a:solidFill>
                  <a:srgbClr val="595959"/>
                </a:solidFill>
                <a:effectLst/>
                <a:latin typeface="Graphik Regular" panose="020B0503030202060203" pitchFamily="34" charset="77"/>
              </a:rPr>
              <a:t>Font end UI and UX designer and engineer with 7 years of experience</a:t>
            </a:r>
          </a:p>
          <a:p>
            <a:pPr marL="171450" indent="-171450" algn="l">
              <a:buFont typeface="Arial" panose="020B0604020202020204" pitchFamily="34" charset="0"/>
              <a:buChar char="•"/>
            </a:pPr>
            <a:r>
              <a:rPr lang="en-US" sz="1000" b="0" i="0" dirty="0">
                <a:solidFill>
                  <a:srgbClr val="595959"/>
                </a:solidFill>
                <a:effectLst/>
                <a:latin typeface="Graphik Regular" panose="020B0503030202060203" pitchFamily="34" charset="77"/>
              </a:rPr>
              <a:t>Part of the team at Maker OS that sold to </a:t>
            </a:r>
            <a:r>
              <a:rPr lang="en-US" sz="1000" b="0" i="0" dirty="0" err="1">
                <a:solidFill>
                  <a:srgbClr val="595959"/>
                </a:solidFill>
                <a:effectLst/>
                <a:latin typeface="Graphik Regular" panose="020B0503030202060203" pitchFamily="34" charset="77"/>
              </a:rPr>
              <a:t>Shapeways</a:t>
            </a:r>
            <a:r>
              <a:rPr lang="en-US" sz="1000" b="0" i="0" dirty="0">
                <a:solidFill>
                  <a:srgbClr val="595959"/>
                </a:solidFill>
                <a:effectLst/>
                <a:latin typeface="Graphik Regular" panose="020B0503030202060203" pitchFamily="34" charset="77"/>
              </a:rPr>
              <a:t> in 2022</a:t>
            </a:r>
          </a:p>
        </p:txBody>
      </p:sp>
      <p:sp>
        <p:nvSpPr>
          <p:cNvPr id="15" name="Straight Connector 2">
            <a:extLst>
              <a:ext uri="{FF2B5EF4-FFF2-40B4-BE49-F238E27FC236}">
                <a16:creationId xmlns:a16="http://schemas.microsoft.com/office/drawing/2014/main" id="{2DF8C7EC-2CAA-8D5C-799F-5EF8CD4D3F62}"/>
              </a:ext>
            </a:extLst>
          </p:cNvPr>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dirty="0"/>
          </a:p>
        </p:txBody>
      </p:sp>
      <p:sp>
        <p:nvSpPr>
          <p:cNvPr id="16" name="TextBox 3">
            <a:extLst>
              <a:ext uri="{FF2B5EF4-FFF2-40B4-BE49-F238E27FC236}">
                <a16:creationId xmlns:a16="http://schemas.microsoft.com/office/drawing/2014/main" id="{0809C44B-80EB-F83A-E055-385453598A08}"/>
              </a:ext>
            </a:extLst>
          </p:cNvPr>
          <p:cNvSpPr txBox="1"/>
          <p:nvPr/>
        </p:nvSpPr>
        <p:spPr>
          <a:xfrm>
            <a:off x="1511662" y="1355915"/>
            <a:ext cx="3827417" cy="1015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defTabSz="914400">
              <a:lnSpc>
                <a:spcPts val="3600"/>
              </a:lnSpc>
              <a:defRPr sz="3500" b="1">
                <a:solidFill>
                  <a:srgbClr val="404040"/>
                </a:solidFill>
                <a:latin typeface="Graphik Bold"/>
                <a:ea typeface="Graphik Bold"/>
                <a:cs typeface="Graphik Bold"/>
                <a:sym typeface="Graphik"/>
              </a:defRPr>
            </a:pPr>
            <a:r>
              <a:rPr lang="en-US" dirty="0"/>
              <a:t>meet the</a:t>
            </a:r>
          </a:p>
          <a:p>
            <a:pPr defTabSz="914400">
              <a:lnSpc>
                <a:spcPts val="3600"/>
              </a:lnSpc>
              <a:defRPr sz="3500" b="1">
                <a:solidFill>
                  <a:srgbClr val="404040"/>
                </a:solidFill>
                <a:latin typeface="Graphik Bold"/>
                <a:ea typeface="Graphik Bold"/>
                <a:cs typeface="Graphik Bold"/>
                <a:sym typeface="Graphik"/>
              </a:defRPr>
            </a:pPr>
            <a:r>
              <a:rPr lang="en-US" dirty="0"/>
              <a:t>team</a:t>
            </a:r>
          </a:p>
        </p:txBody>
      </p:sp>
      <p:pic>
        <p:nvPicPr>
          <p:cNvPr id="17" name="ignite-logo.png" descr="ignite-logo.png">
            <a:extLst>
              <a:ext uri="{FF2B5EF4-FFF2-40B4-BE49-F238E27FC236}">
                <a16:creationId xmlns:a16="http://schemas.microsoft.com/office/drawing/2014/main" id="{6060ED39-2582-924B-9D72-8CD5075D7B1E}"/>
              </a:ext>
            </a:extLst>
          </p:cNvPr>
          <p:cNvPicPr>
            <a:picLocks noChangeAspect="1"/>
          </p:cNvPicPr>
          <p:nvPr/>
        </p:nvPicPr>
        <p:blipFill>
          <a:blip r:embed="rId7"/>
          <a:stretch>
            <a:fillRect/>
          </a:stretch>
        </p:blipFill>
        <p:spPr>
          <a:xfrm>
            <a:off x="1311564" y="264828"/>
            <a:ext cx="992188" cy="992188"/>
          </a:xfrm>
          <a:prstGeom prst="rect">
            <a:avLst/>
          </a:prstGeom>
          <a:ln w="12700">
            <a:miter lim="400000"/>
          </a:ln>
        </p:spPr>
      </p:pic>
    </p:spTree>
    <p:extLst>
      <p:ext uri="{BB962C8B-B14F-4D97-AF65-F5344CB8AC3E}">
        <p14:creationId xmlns:p14="http://schemas.microsoft.com/office/powerpoint/2010/main" val="157035234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2000"/>
                            </p:stCondLst>
                            <p:childTnLst>
                              <p:par>
                                <p:cTn id="13" presetID="10" presetClass="entr" presetSubtype="0" fill="hold"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3000"/>
                            </p:stCondLst>
                            <p:childTnLst>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p:stCondLst>
                              <p:cond delay="4000"/>
                            </p:stCondLst>
                            <p:childTnLst>
                              <p:par>
                                <p:cTn id="21" presetID="10" presetClass="entr" presetSubtype="0" fill="hold" nodeType="afterEffect">
                                  <p:stCondLst>
                                    <p:cond delay="5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5000"/>
                            </p:stCondLst>
                            <p:childTnLst>
                              <p:par>
                                <p:cTn id="25" presetID="10" presetClass="entr" presetSubtype="0" fill="hold" grpId="0" nodeType="afterEffect">
                                  <p:stCondLst>
                                    <p:cond delay="5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par>
                          <p:cTn id="28" fill="hold">
                            <p:stCondLst>
                              <p:cond delay="6000"/>
                            </p:stCondLst>
                            <p:childTnLst>
                              <p:par>
                                <p:cTn id="29" presetID="10" presetClass="entr" presetSubtype="0" fill="hold" nodeType="after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7000"/>
                            </p:stCondLst>
                            <p:childTnLst>
                              <p:par>
                                <p:cTn id="33" presetID="10" presetClass="entr" presetSubtype="0" fill="hold" grpId="0" nodeType="afterEffect">
                                  <p:stCondLst>
                                    <p:cond delay="5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8000"/>
                            </p:stCondLst>
                            <p:childTnLst>
                              <p:par>
                                <p:cTn id="37" presetID="10" presetClass="entr" presetSubtype="0" fill="hold" nodeType="afterEffect">
                                  <p:stCondLst>
                                    <p:cond delay="5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9000"/>
                            </p:stCondLst>
                            <p:childTnLst>
                              <p:par>
                                <p:cTn id="41" presetID="10" presetClass="entr" presetSubtype="0" fill="hold" grpId="0" nodeType="afterEffect">
                                  <p:stCondLst>
                                    <p:cond delay="5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9" name="pexels-cottonbro-studio-4065158.jpg" descr="pexels-cottonbro-studio-4065158.jpg"/>
          <p:cNvPicPr>
            <a:picLocks noGrp="1" noChangeAspect="1"/>
          </p:cNvPicPr>
          <p:nvPr>
            <p:ph type="pic" idx="22"/>
          </p:nvPr>
        </p:nvPicPr>
        <p:blipFill>
          <a:blip r:embed="rId2"/>
          <a:srcRect l="20001" r="15239"/>
          <a:stretch>
            <a:fillRect/>
          </a:stretch>
        </p:blipFill>
        <p:spPr>
          <a:prstGeom prst="rect">
            <a:avLst/>
          </a:prstGeom>
        </p:spPr>
      </p:pic>
      <p:pic>
        <p:nvPicPr>
          <p:cNvPr id="620" name="pexels-fauxels-3184430.jpg" descr="pexels-fauxels-3184430.jpg"/>
          <p:cNvPicPr>
            <a:picLocks noGrp="1" noChangeAspect="1"/>
          </p:cNvPicPr>
          <p:nvPr>
            <p:ph type="pic" idx="21"/>
          </p:nvPr>
        </p:nvPicPr>
        <p:blipFill>
          <a:blip r:embed="rId3"/>
          <a:srcRect l="35581" r="35581"/>
          <a:stretch>
            <a:fillRect/>
          </a:stretch>
        </p:blipFill>
        <p:spPr>
          <a:xfrm>
            <a:off x="4005946" y="-2"/>
            <a:ext cx="2220683" cy="5133704"/>
          </a:xfrm>
          <a:prstGeom prst="rect">
            <a:avLst/>
          </a:prstGeom>
        </p:spPr>
      </p:pic>
      <p:sp>
        <p:nvSpPr>
          <p:cNvPr id="621" name="TextBox 17"/>
          <p:cNvSpPr txBox="1"/>
          <p:nvPr/>
        </p:nvSpPr>
        <p:spPr>
          <a:xfrm>
            <a:off x="6652344" y="1770576"/>
            <a:ext cx="4601475" cy="5994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4000">
                <a:solidFill>
                  <a:srgbClr val="262626"/>
                </a:solidFill>
                <a:latin typeface="Graphik-SemiboldItalic"/>
                <a:ea typeface="Graphik-SemiboldItalic"/>
                <a:cs typeface="Graphik-SemiboldItalic"/>
                <a:sym typeface="Graphik Semibold"/>
              </a:defRPr>
            </a:lvl1pPr>
          </a:lstStyle>
          <a:p>
            <a:r>
              <a:t>next steps</a:t>
            </a:r>
          </a:p>
        </p:txBody>
      </p:sp>
      <p:sp>
        <p:nvSpPr>
          <p:cNvPr id="622" name="Rectangle 19"/>
          <p:cNvSpPr txBox="1"/>
          <p:nvPr/>
        </p:nvSpPr>
        <p:spPr>
          <a:xfrm>
            <a:off x="6652344" y="2567950"/>
            <a:ext cx="4770623" cy="6365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ts val="1400"/>
              </a:lnSpc>
              <a:defRPr sz="1200">
                <a:solidFill>
                  <a:srgbClr val="595959"/>
                </a:solidFill>
                <a:latin typeface="DM Sans Regular"/>
                <a:ea typeface="DM Sans Regular"/>
                <a:cs typeface="DM Sans Regular"/>
                <a:sym typeface="DM Sans Regular"/>
              </a:defRPr>
            </a:lvl1pPr>
          </a:lstStyle>
          <a:p>
            <a:r>
              <a:t>Ignite is transforming revenue strategy with our revolutionary platform. If you’d like to experience the power of Ignite, there are several ways to stay informed.</a:t>
            </a:r>
          </a:p>
        </p:txBody>
      </p:sp>
      <p:sp>
        <p:nvSpPr>
          <p:cNvPr id="623" name="TextBox 20"/>
          <p:cNvSpPr txBox="1"/>
          <p:nvPr/>
        </p:nvSpPr>
        <p:spPr>
          <a:xfrm>
            <a:off x="7259602" y="3405830"/>
            <a:ext cx="3777048" cy="322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b="1">
                <a:solidFill>
                  <a:srgbClr val="262626"/>
                </a:solidFill>
                <a:latin typeface="Graphik Bold"/>
                <a:ea typeface="Graphik Bold"/>
                <a:cs typeface="Graphik Bold"/>
                <a:sym typeface="Graphik"/>
              </a:defRPr>
            </a:lvl1pPr>
          </a:lstStyle>
          <a:p>
            <a:r>
              <a:t>schedule a demo</a:t>
            </a:r>
          </a:p>
        </p:txBody>
      </p:sp>
      <p:sp>
        <p:nvSpPr>
          <p:cNvPr id="624" name="Rectangle 21"/>
          <p:cNvSpPr txBox="1"/>
          <p:nvPr/>
        </p:nvSpPr>
        <p:spPr>
          <a:xfrm>
            <a:off x="7259456" y="3775164"/>
            <a:ext cx="3994363" cy="504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ts val="1600"/>
              </a:lnSpc>
              <a:defRPr sz="1200">
                <a:solidFill>
                  <a:srgbClr val="595959"/>
                </a:solidFill>
                <a:latin typeface="DM Sans Regular"/>
                <a:ea typeface="DM Sans Regular"/>
                <a:cs typeface="DM Sans Regular"/>
                <a:sym typeface="DM Sans Regular"/>
              </a:defRPr>
            </a:lvl1pPr>
          </a:lstStyle>
          <a:p>
            <a:r>
              <a:t>Experience Ignite's capabilities through a personalized demo.</a:t>
            </a:r>
          </a:p>
        </p:txBody>
      </p:sp>
      <p:sp>
        <p:nvSpPr>
          <p:cNvPr id="625" name="TextBox 22"/>
          <p:cNvSpPr txBox="1"/>
          <p:nvPr/>
        </p:nvSpPr>
        <p:spPr>
          <a:xfrm>
            <a:off x="7259602" y="4376011"/>
            <a:ext cx="3777048" cy="322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b="1">
                <a:solidFill>
                  <a:srgbClr val="262626"/>
                </a:solidFill>
                <a:latin typeface="Graphik Bold"/>
                <a:ea typeface="Graphik Bold"/>
                <a:cs typeface="Graphik Bold"/>
                <a:sym typeface="Graphik"/>
              </a:defRPr>
            </a:lvl1pPr>
          </a:lstStyle>
          <a:p>
            <a:r>
              <a:t>contact sales</a:t>
            </a:r>
          </a:p>
        </p:txBody>
      </p:sp>
      <p:sp>
        <p:nvSpPr>
          <p:cNvPr id="626" name="Rectangle 23"/>
          <p:cNvSpPr txBox="1"/>
          <p:nvPr/>
        </p:nvSpPr>
        <p:spPr>
          <a:xfrm>
            <a:off x="7259456" y="4745342"/>
            <a:ext cx="3994363" cy="50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ts val="1600"/>
              </a:lnSpc>
              <a:defRPr sz="1200">
                <a:solidFill>
                  <a:srgbClr val="595959"/>
                </a:solidFill>
                <a:latin typeface="DM Sans Regular"/>
                <a:ea typeface="DM Sans Regular"/>
                <a:cs typeface="DM Sans Regular"/>
                <a:sym typeface="DM Sans Regular"/>
              </a:defRPr>
            </a:lvl1pPr>
          </a:lstStyle>
          <a:p>
            <a:r>
              <a:t>Connect with our experts to identify the best plan for your business.</a:t>
            </a:r>
          </a:p>
        </p:txBody>
      </p:sp>
      <p:sp>
        <p:nvSpPr>
          <p:cNvPr id="627" name="Straight Connector 2"/>
          <p:cNvSpPr/>
          <p:nvPr/>
        </p:nvSpPr>
        <p:spPr>
          <a:xfrm>
            <a:off x="0" y="1607548"/>
            <a:ext cx="951593" cy="1"/>
          </a:xfrm>
          <a:prstGeom prst="line">
            <a:avLst/>
          </a:prstGeom>
          <a:ln w="31750">
            <a:solidFill>
              <a:srgbClr val="462427"/>
            </a:solidFill>
            <a:miter/>
          </a:ln>
        </p:spPr>
        <p:txBody>
          <a:bodyPr lIns="45719" rIns="45719"/>
          <a:lstStyle/>
          <a:p>
            <a:pPr defTabSz="914400">
              <a:defRPr>
                <a:solidFill>
                  <a:srgbClr val="000000"/>
                </a:solidFill>
              </a:defRPr>
            </a:pPr>
            <a:endParaRPr/>
          </a:p>
        </p:txBody>
      </p:sp>
      <p:pic>
        <p:nvPicPr>
          <p:cNvPr id="628" name="ignite-logo.png" descr="ignite-logo.png"/>
          <p:cNvPicPr>
            <a:picLocks noChangeAspect="1"/>
          </p:cNvPicPr>
          <p:nvPr/>
        </p:nvPicPr>
        <p:blipFill>
          <a:blip r:embed="rId4"/>
          <a:stretch>
            <a:fillRect/>
          </a:stretch>
        </p:blipFill>
        <p:spPr>
          <a:xfrm>
            <a:off x="1311564" y="264828"/>
            <a:ext cx="992188" cy="992188"/>
          </a:xfrm>
          <a:prstGeom prst="rect">
            <a:avLst/>
          </a:prstGeom>
          <a:ln w="12700">
            <a:miter lim="400000"/>
          </a:ln>
        </p:spPr>
      </p:pic>
      <p:sp>
        <p:nvSpPr>
          <p:cNvPr id="629" name="TextBox 20"/>
          <p:cNvSpPr txBox="1"/>
          <p:nvPr/>
        </p:nvSpPr>
        <p:spPr>
          <a:xfrm>
            <a:off x="7259602" y="5346191"/>
            <a:ext cx="3777048" cy="322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b="1">
                <a:solidFill>
                  <a:srgbClr val="262626"/>
                </a:solidFill>
                <a:latin typeface="Graphik Bold"/>
                <a:ea typeface="Graphik Bold"/>
                <a:cs typeface="Graphik Bold"/>
                <a:sym typeface="Graphik"/>
              </a:defRPr>
            </a:lvl1pPr>
          </a:lstStyle>
          <a:p>
            <a:r>
              <a:t> join our webinars</a:t>
            </a:r>
          </a:p>
        </p:txBody>
      </p:sp>
      <p:sp>
        <p:nvSpPr>
          <p:cNvPr id="630" name="Rectangle 21"/>
          <p:cNvSpPr txBox="1"/>
          <p:nvPr/>
        </p:nvSpPr>
        <p:spPr>
          <a:xfrm>
            <a:off x="7259456" y="5715524"/>
            <a:ext cx="3994363" cy="50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ts val="1600"/>
              </a:lnSpc>
              <a:defRPr sz="1200">
                <a:solidFill>
                  <a:srgbClr val="595959"/>
                </a:solidFill>
                <a:latin typeface="DM Sans Regular"/>
                <a:ea typeface="DM Sans Regular"/>
                <a:cs typeface="DM Sans Regular"/>
                <a:sym typeface="DM Sans Regular"/>
              </a:defRPr>
            </a:lvl1pPr>
          </a:lstStyle>
          <a:p>
            <a:r>
              <a:t>Join us to learn about Ignite's latest features, use cases, and best practices.</a:t>
            </a:r>
          </a:p>
        </p:txBody>
      </p:sp>
      <p:sp>
        <p:nvSpPr>
          <p:cNvPr id="631" name="Freeform 41"/>
          <p:cNvSpPr/>
          <p:nvPr/>
        </p:nvSpPr>
        <p:spPr>
          <a:xfrm>
            <a:off x="6652344" y="3429000"/>
            <a:ext cx="377466" cy="420329"/>
          </a:xfrm>
          <a:custGeom>
            <a:avLst/>
            <a:gdLst/>
            <a:ahLst/>
            <a:cxnLst>
              <a:cxn ang="0">
                <a:pos x="wd2" y="hd2"/>
              </a:cxn>
              <a:cxn ang="5400000">
                <a:pos x="wd2" y="hd2"/>
              </a:cxn>
              <a:cxn ang="10800000">
                <a:pos x="wd2" y="hd2"/>
              </a:cxn>
              <a:cxn ang="16200000">
                <a:pos x="wd2" y="hd2"/>
              </a:cxn>
            </a:cxnLst>
            <a:rect l="0" t="0" r="r" b="b"/>
            <a:pathLst>
              <a:path w="21600" h="21600" extrusionOk="0">
                <a:moveTo>
                  <a:pt x="18000" y="18358"/>
                </a:moveTo>
                <a:lnTo>
                  <a:pt x="18000" y="17302"/>
                </a:lnTo>
                <a:cubicBezTo>
                  <a:pt x="18000" y="15116"/>
                  <a:pt x="13227" y="13949"/>
                  <a:pt x="10800" y="13949"/>
                </a:cubicBezTo>
                <a:cubicBezTo>
                  <a:pt x="8393" y="13949"/>
                  <a:pt x="3600" y="15116"/>
                  <a:pt x="3600" y="17302"/>
                </a:cubicBezTo>
                <a:lnTo>
                  <a:pt x="3600" y="18358"/>
                </a:lnTo>
                <a:lnTo>
                  <a:pt x="18000" y="18358"/>
                </a:lnTo>
                <a:close/>
                <a:moveTo>
                  <a:pt x="10800" y="5428"/>
                </a:moveTo>
                <a:cubicBezTo>
                  <a:pt x="8825" y="5428"/>
                  <a:pt x="7200" y="6873"/>
                  <a:pt x="7200" y="8651"/>
                </a:cubicBezTo>
                <a:cubicBezTo>
                  <a:pt x="7200" y="10411"/>
                  <a:pt x="8825" y="11874"/>
                  <a:pt x="10800" y="11874"/>
                </a:cubicBezTo>
                <a:cubicBezTo>
                  <a:pt x="12775" y="11874"/>
                  <a:pt x="14400" y="10411"/>
                  <a:pt x="14400" y="8651"/>
                </a:cubicBezTo>
                <a:cubicBezTo>
                  <a:pt x="14400" y="6873"/>
                  <a:pt x="12775" y="5428"/>
                  <a:pt x="10800" y="5428"/>
                </a:cubicBezTo>
                <a:close/>
                <a:moveTo>
                  <a:pt x="19173" y="2186"/>
                </a:moveTo>
                <a:cubicBezTo>
                  <a:pt x="20469" y="2186"/>
                  <a:pt x="21600" y="3186"/>
                  <a:pt x="21600" y="4353"/>
                </a:cubicBezTo>
                <a:lnTo>
                  <a:pt x="21600" y="19414"/>
                </a:lnTo>
                <a:cubicBezTo>
                  <a:pt x="21600" y="20581"/>
                  <a:pt x="20469" y="21600"/>
                  <a:pt x="19173" y="21600"/>
                </a:cubicBezTo>
                <a:lnTo>
                  <a:pt x="2427" y="21600"/>
                </a:lnTo>
                <a:cubicBezTo>
                  <a:pt x="1070" y="21600"/>
                  <a:pt x="0" y="20581"/>
                  <a:pt x="0" y="19414"/>
                </a:cubicBezTo>
                <a:lnTo>
                  <a:pt x="0" y="4353"/>
                </a:lnTo>
                <a:cubicBezTo>
                  <a:pt x="0" y="3186"/>
                  <a:pt x="1070" y="2186"/>
                  <a:pt x="2427" y="2186"/>
                </a:cubicBezTo>
                <a:lnTo>
                  <a:pt x="3600" y="2186"/>
                </a:lnTo>
                <a:lnTo>
                  <a:pt x="3600" y="0"/>
                </a:lnTo>
                <a:lnTo>
                  <a:pt x="6027" y="0"/>
                </a:lnTo>
                <a:lnTo>
                  <a:pt x="6027" y="2186"/>
                </a:lnTo>
                <a:lnTo>
                  <a:pt x="15573" y="2186"/>
                </a:lnTo>
                <a:lnTo>
                  <a:pt x="15573" y="0"/>
                </a:lnTo>
                <a:lnTo>
                  <a:pt x="18000" y="0"/>
                </a:lnTo>
                <a:lnTo>
                  <a:pt x="18000" y="2186"/>
                </a:lnTo>
                <a:lnTo>
                  <a:pt x="19173" y="2186"/>
                </a:lnTo>
                <a:close/>
              </a:path>
            </a:pathLst>
          </a:custGeom>
          <a:solidFill>
            <a:srgbClr val="462427"/>
          </a:solidFill>
          <a:ln w="12700">
            <a:miter lim="400000"/>
          </a:ln>
        </p:spPr>
        <p:txBody>
          <a:bodyPr lIns="45719" rIns="45719" anchor="ctr"/>
          <a:lstStyle/>
          <a:p>
            <a:pPr defTabSz="457200">
              <a:lnSpc>
                <a:spcPct val="93000"/>
              </a:lnSpc>
              <a:defRPr>
                <a:latin typeface="Arial"/>
                <a:ea typeface="Arial"/>
                <a:cs typeface="Arial"/>
                <a:sym typeface="Arial"/>
              </a:defRPr>
            </a:pPr>
            <a:endParaRPr/>
          </a:p>
        </p:txBody>
      </p:sp>
      <p:sp>
        <p:nvSpPr>
          <p:cNvPr id="632" name="Freeform 37"/>
          <p:cNvSpPr/>
          <p:nvPr/>
        </p:nvSpPr>
        <p:spPr>
          <a:xfrm>
            <a:off x="6652344" y="4511901"/>
            <a:ext cx="377466" cy="377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0"/>
                </a:lnTo>
                <a:lnTo>
                  <a:pt x="21600" y="8389"/>
                </a:lnTo>
                <a:lnTo>
                  <a:pt x="14400" y="8389"/>
                </a:lnTo>
                <a:lnTo>
                  <a:pt x="10800" y="11975"/>
                </a:lnTo>
                <a:lnTo>
                  <a:pt x="10800" y="0"/>
                </a:lnTo>
                <a:close/>
                <a:moveTo>
                  <a:pt x="20407" y="15005"/>
                </a:moveTo>
                <a:cubicBezTo>
                  <a:pt x="21086" y="15005"/>
                  <a:pt x="21600" y="15520"/>
                  <a:pt x="21600" y="16200"/>
                </a:cubicBezTo>
                <a:lnTo>
                  <a:pt x="21600" y="20425"/>
                </a:lnTo>
                <a:cubicBezTo>
                  <a:pt x="21600" y="21105"/>
                  <a:pt x="21086" y="21600"/>
                  <a:pt x="20407" y="21600"/>
                </a:cubicBezTo>
                <a:cubicBezTo>
                  <a:pt x="9175" y="21600"/>
                  <a:pt x="0" y="12428"/>
                  <a:pt x="0" y="1175"/>
                </a:cubicBezTo>
                <a:cubicBezTo>
                  <a:pt x="0" y="495"/>
                  <a:pt x="514" y="0"/>
                  <a:pt x="1193" y="0"/>
                </a:cubicBezTo>
                <a:lnTo>
                  <a:pt x="5410" y="0"/>
                </a:lnTo>
                <a:cubicBezTo>
                  <a:pt x="6089" y="0"/>
                  <a:pt x="6583" y="495"/>
                  <a:pt x="6583" y="1175"/>
                </a:cubicBezTo>
                <a:cubicBezTo>
                  <a:pt x="6583" y="2700"/>
                  <a:pt x="6809" y="4102"/>
                  <a:pt x="7262" y="5462"/>
                </a:cubicBezTo>
                <a:cubicBezTo>
                  <a:pt x="7365" y="5853"/>
                  <a:pt x="7323" y="6369"/>
                  <a:pt x="6974" y="6698"/>
                </a:cubicBezTo>
                <a:lnTo>
                  <a:pt x="4341" y="9357"/>
                </a:lnTo>
                <a:cubicBezTo>
                  <a:pt x="6089" y="12696"/>
                  <a:pt x="8887" y="15520"/>
                  <a:pt x="12261" y="17272"/>
                </a:cubicBezTo>
                <a:lnTo>
                  <a:pt x="14914" y="14613"/>
                </a:lnTo>
                <a:cubicBezTo>
                  <a:pt x="15243" y="14283"/>
                  <a:pt x="15758" y="14221"/>
                  <a:pt x="16149" y="14345"/>
                </a:cubicBezTo>
                <a:cubicBezTo>
                  <a:pt x="17486" y="14798"/>
                  <a:pt x="18905" y="15025"/>
                  <a:pt x="20407" y="15025"/>
                </a:cubicBezTo>
                <a:lnTo>
                  <a:pt x="20407" y="15005"/>
                </a:lnTo>
                <a:close/>
              </a:path>
            </a:pathLst>
          </a:custGeom>
          <a:solidFill>
            <a:srgbClr val="462427"/>
          </a:solidFill>
          <a:ln w="12700">
            <a:miter lim="400000"/>
          </a:ln>
        </p:spPr>
        <p:txBody>
          <a:bodyPr lIns="45719" rIns="45719" anchor="ctr"/>
          <a:lstStyle/>
          <a:p>
            <a:pPr defTabSz="457200">
              <a:lnSpc>
                <a:spcPct val="93000"/>
              </a:lnSpc>
              <a:defRPr>
                <a:latin typeface="Arial"/>
                <a:ea typeface="Arial"/>
                <a:cs typeface="Arial"/>
                <a:sym typeface="Arial"/>
              </a:defRPr>
            </a:pPr>
            <a:endParaRPr/>
          </a:p>
        </p:txBody>
      </p:sp>
      <p:sp>
        <p:nvSpPr>
          <p:cNvPr id="633" name="Freeform 19"/>
          <p:cNvSpPr/>
          <p:nvPr/>
        </p:nvSpPr>
        <p:spPr>
          <a:xfrm>
            <a:off x="6652344" y="5346191"/>
            <a:ext cx="418741" cy="418742"/>
          </a:xfrm>
          <a:custGeom>
            <a:avLst/>
            <a:gdLst/>
            <a:ahLst/>
            <a:cxnLst>
              <a:cxn ang="0">
                <a:pos x="wd2" y="hd2"/>
              </a:cxn>
              <a:cxn ang="5400000">
                <a:pos x="wd2" y="hd2"/>
              </a:cxn>
              <a:cxn ang="10800000">
                <a:pos x="wd2" y="hd2"/>
              </a:cxn>
              <a:cxn ang="16200000">
                <a:pos x="wd2" y="hd2"/>
              </a:cxn>
            </a:cxnLst>
            <a:rect l="0" t="0" r="r" b="b"/>
            <a:pathLst>
              <a:path w="21600" h="21600" extrusionOk="0">
                <a:moveTo>
                  <a:pt x="10791" y="13479"/>
                </a:moveTo>
                <a:lnTo>
                  <a:pt x="17280" y="8621"/>
                </a:lnTo>
                <a:lnTo>
                  <a:pt x="10791" y="3764"/>
                </a:lnTo>
                <a:lnTo>
                  <a:pt x="10791" y="13479"/>
                </a:lnTo>
                <a:close/>
                <a:moveTo>
                  <a:pt x="19468" y="0"/>
                </a:moveTo>
                <a:cubicBezTo>
                  <a:pt x="20636" y="0"/>
                  <a:pt x="21600" y="964"/>
                  <a:pt x="21600" y="2132"/>
                </a:cubicBezTo>
                <a:lnTo>
                  <a:pt x="21600" y="15111"/>
                </a:lnTo>
                <a:cubicBezTo>
                  <a:pt x="21600" y="16279"/>
                  <a:pt x="20636" y="17299"/>
                  <a:pt x="19468" y="17299"/>
                </a:cubicBezTo>
                <a:lnTo>
                  <a:pt x="6489" y="17299"/>
                </a:lnTo>
                <a:cubicBezTo>
                  <a:pt x="5321" y="17299"/>
                  <a:pt x="4301" y="16279"/>
                  <a:pt x="4301" y="15111"/>
                </a:cubicBezTo>
                <a:lnTo>
                  <a:pt x="4301" y="2132"/>
                </a:lnTo>
                <a:cubicBezTo>
                  <a:pt x="4301" y="964"/>
                  <a:pt x="5321" y="0"/>
                  <a:pt x="6489" y="0"/>
                </a:cubicBezTo>
                <a:lnTo>
                  <a:pt x="19468" y="0"/>
                </a:lnTo>
                <a:close/>
                <a:moveTo>
                  <a:pt x="2132" y="4320"/>
                </a:moveTo>
                <a:lnTo>
                  <a:pt x="2132" y="19468"/>
                </a:lnTo>
                <a:lnTo>
                  <a:pt x="17280" y="19468"/>
                </a:lnTo>
                <a:lnTo>
                  <a:pt x="17280" y="21600"/>
                </a:lnTo>
                <a:lnTo>
                  <a:pt x="2132" y="21600"/>
                </a:lnTo>
                <a:cubicBezTo>
                  <a:pt x="964" y="21600"/>
                  <a:pt x="0" y="20636"/>
                  <a:pt x="0" y="19468"/>
                </a:cubicBezTo>
                <a:lnTo>
                  <a:pt x="0" y="4320"/>
                </a:lnTo>
                <a:lnTo>
                  <a:pt x="2132" y="4320"/>
                </a:lnTo>
                <a:close/>
              </a:path>
            </a:pathLst>
          </a:custGeom>
          <a:solidFill>
            <a:srgbClr val="462427"/>
          </a:solidFill>
          <a:ln w="12700">
            <a:miter lim="400000"/>
          </a:ln>
        </p:spPr>
        <p:txBody>
          <a:bodyPr lIns="45719" rIns="45719" anchor="ctr"/>
          <a:lstStyle/>
          <a:p>
            <a:pPr defTabSz="457200">
              <a:lnSpc>
                <a:spcPct val="93000"/>
              </a:lnSpc>
              <a:defRPr>
                <a:latin typeface="Arial"/>
                <a:ea typeface="Arial"/>
                <a:cs typeface="Arial"/>
                <a:sym typeface="Arial"/>
              </a:defRPr>
            </a:pPr>
            <a:endParaRPr/>
          </a:p>
        </p:txBody>
      </p:sp>
      <p:sp>
        <p:nvSpPr>
          <p:cNvPr id="2" name="object 4">
            <a:extLst>
              <a:ext uri="{FF2B5EF4-FFF2-40B4-BE49-F238E27FC236}">
                <a16:creationId xmlns:a16="http://schemas.microsoft.com/office/drawing/2014/main" id="{8159A496-2655-4091-D4B7-C99291DDA9F4}"/>
              </a:ext>
            </a:extLst>
          </p:cNvPr>
          <p:cNvSpPr txBox="1">
            <a:spLocks/>
          </p:cNvSpPr>
          <p:nvPr/>
        </p:nvSpPr>
        <p:spPr>
          <a:xfrm>
            <a:off x="1544681" y="1321931"/>
            <a:ext cx="3199129" cy="553998"/>
          </a:xfrm>
          <a:prstGeom prst="rect">
            <a:avLst/>
          </a:prstGeom>
        </p:spPr>
        <p:txBody>
          <a:bodyPr vert="horz" wrap="square" lIns="0" tIns="91440" rIns="0" bIns="0" rtlCol="0">
            <a:spAutoFit/>
          </a:bodyPr>
          <a:lstStyle>
            <a:lvl1pPr>
              <a:defRPr>
                <a:latin typeface="+mj-lt"/>
                <a:ea typeface="+mj-ea"/>
                <a:cs typeface="+mj-cs"/>
              </a:defRPr>
            </a:lvl1pPr>
          </a:lstStyle>
          <a:p>
            <a:pPr algn="l">
              <a:lnSpc>
                <a:spcPts val="3600"/>
              </a:lnSpc>
              <a:defRPr sz="3500" b="1">
                <a:solidFill>
                  <a:srgbClr val="404040"/>
                </a:solidFill>
                <a:latin typeface="Graphik Bold"/>
                <a:ea typeface="Graphik Bold"/>
                <a:cs typeface="Graphik Bold"/>
                <a:sym typeface="Graphik"/>
              </a:defRPr>
            </a:pPr>
            <a:r>
              <a:rPr lang="en-US" sz="3500" b="1" dirty="0">
                <a:solidFill>
                  <a:srgbClr val="404040"/>
                </a:solidFill>
                <a:latin typeface="Graphik Bold"/>
                <a:ea typeface="Graphik Bold"/>
                <a:cs typeface="Graphik Bold"/>
                <a:sym typeface="Graphik"/>
              </a:rPr>
              <a:t>ignite</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381000"/>
            <a:ext cx="11430000" cy="6096000"/>
            <a:chOff x="381000" y="381000"/>
            <a:chExt cx="11430000" cy="6096000"/>
          </a:xfrm>
        </p:grpSpPr>
        <p:pic>
          <p:nvPicPr>
            <p:cNvPr id="3" name="object 3"/>
            <p:cNvPicPr/>
            <p:nvPr/>
          </p:nvPicPr>
          <p:blipFill>
            <a:blip r:embed="rId2" cstate="print"/>
            <a:stretch>
              <a:fillRect/>
            </a:stretch>
          </p:blipFill>
          <p:spPr>
            <a:xfrm>
              <a:off x="381000" y="381000"/>
              <a:ext cx="11430000" cy="6096000"/>
            </a:xfrm>
            <a:prstGeom prst="rect">
              <a:avLst/>
            </a:prstGeom>
          </p:spPr>
        </p:pic>
        <p:sp>
          <p:nvSpPr>
            <p:cNvPr id="4" name="object 4"/>
            <p:cNvSpPr/>
            <p:nvPr/>
          </p:nvSpPr>
          <p:spPr>
            <a:xfrm>
              <a:off x="381000" y="1076176"/>
              <a:ext cx="5715000" cy="1758950"/>
            </a:xfrm>
            <a:custGeom>
              <a:avLst/>
              <a:gdLst/>
              <a:ahLst/>
              <a:cxnLst/>
              <a:rect l="l" t="t" r="r" b="b"/>
              <a:pathLst>
                <a:path w="5715000" h="1758950">
                  <a:moveTo>
                    <a:pt x="5715000" y="0"/>
                  </a:moveTo>
                  <a:lnTo>
                    <a:pt x="0" y="0"/>
                  </a:lnTo>
                  <a:lnTo>
                    <a:pt x="0" y="1758462"/>
                  </a:lnTo>
                  <a:lnTo>
                    <a:pt x="5715000" y="1758462"/>
                  </a:lnTo>
                  <a:lnTo>
                    <a:pt x="5715000" y="0"/>
                  </a:lnTo>
                  <a:close/>
                </a:path>
              </a:pathLst>
            </a:custGeom>
            <a:solidFill>
              <a:srgbClr val="EEEBEB"/>
            </a:solidFill>
          </p:spPr>
          <p:txBody>
            <a:bodyPr wrap="square" lIns="0" tIns="0" rIns="0" bIns="0" rtlCol="0"/>
            <a:lstStyle/>
            <a:p>
              <a:endParaRPr dirty="0"/>
            </a:p>
          </p:txBody>
        </p:sp>
      </p:grpSp>
      <p:sp>
        <p:nvSpPr>
          <p:cNvPr id="5" name="object 5"/>
          <p:cNvSpPr txBox="1">
            <a:spLocks noGrp="1"/>
          </p:cNvSpPr>
          <p:nvPr>
            <p:ph type="title"/>
          </p:nvPr>
        </p:nvSpPr>
        <p:spPr>
          <a:xfrm>
            <a:off x="3329665" y="1472753"/>
            <a:ext cx="4408170" cy="1122680"/>
          </a:xfrm>
          <a:prstGeom prst="rect">
            <a:avLst/>
          </a:prstGeom>
        </p:spPr>
        <p:txBody>
          <a:bodyPr vert="horz" wrap="square" lIns="0" tIns="12700" rIns="0" bIns="0" rtlCol="0">
            <a:spAutoFit/>
          </a:bodyPr>
          <a:lstStyle/>
          <a:p>
            <a:pPr marL="12700">
              <a:lnSpc>
                <a:spcPct val="100000"/>
              </a:lnSpc>
              <a:spcBef>
                <a:spcPts val="100"/>
              </a:spcBef>
              <a:tabLst>
                <a:tab pos="2745740" algn="l"/>
              </a:tabLst>
            </a:pPr>
            <a:r>
              <a:rPr sz="7200" spc="-10" dirty="0">
                <a:solidFill>
                  <a:srgbClr val="262626"/>
                </a:solidFill>
              </a:rPr>
              <a:t>thank</a:t>
            </a:r>
            <a:r>
              <a:rPr sz="7200" dirty="0">
                <a:solidFill>
                  <a:srgbClr val="262626"/>
                </a:solidFill>
              </a:rPr>
              <a:t>	</a:t>
            </a:r>
            <a:r>
              <a:rPr sz="7200" spc="-60" dirty="0">
                <a:solidFill>
                  <a:srgbClr val="EEEBEB"/>
                </a:solidFill>
              </a:rPr>
              <a:t>you</a:t>
            </a:r>
            <a:endParaRPr sz="7200" dirty="0"/>
          </a:p>
        </p:txBody>
      </p:sp>
      <p:sp>
        <p:nvSpPr>
          <p:cNvPr id="6" name="object 6"/>
          <p:cNvSpPr txBox="1"/>
          <p:nvPr/>
        </p:nvSpPr>
        <p:spPr>
          <a:xfrm>
            <a:off x="3329665" y="1326836"/>
            <a:ext cx="20212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7F7F7F"/>
                </a:solidFill>
                <a:latin typeface="Graphik Regular"/>
                <a:cs typeface="Graphik Regular"/>
              </a:rPr>
              <a:t>do</a:t>
            </a:r>
            <a:r>
              <a:rPr sz="1200" spc="-20" dirty="0">
                <a:solidFill>
                  <a:srgbClr val="7F7F7F"/>
                </a:solidFill>
                <a:latin typeface="Graphik Regular"/>
                <a:cs typeface="Graphik Regular"/>
              </a:rPr>
              <a:t> </a:t>
            </a:r>
            <a:r>
              <a:rPr sz="1200" dirty="0">
                <a:solidFill>
                  <a:srgbClr val="7F7F7F"/>
                </a:solidFill>
                <a:latin typeface="Graphik Regular"/>
                <a:cs typeface="Graphik Regular"/>
              </a:rPr>
              <a:t>less.</a:t>
            </a:r>
            <a:r>
              <a:rPr sz="1200" spc="-15" dirty="0">
                <a:solidFill>
                  <a:srgbClr val="7F7F7F"/>
                </a:solidFill>
                <a:latin typeface="Graphik Regular"/>
                <a:cs typeface="Graphik Regular"/>
              </a:rPr>
              <a:t> </a:t>
            </a:r>
            <a:r>
              <a:rPr sz="1200" dirty="0">
                <a:solidFill>
                  <a:srgbClr val="7F7F7F"/>
                </a:solidFill>
                <a:latin typeface="Graphik Regular"/>
                <a:cs typeface="Graphik Regular"/>
              </a:rPr>
              <a:t>make</a:t>
            </a:r>
            <a:r>
              <a:rPr sz="1200" spc="-15" dirty="0">
                <a:solidFill>
                  <a:srgbClr val="7F7F7F"/>
                </a:solidFill>
                <a:latin typeface="Graphik Regular"/>
                <a:cs typeface="Graphik Regular"/>
              </a:rPr>
              <a:t> </a:t>
            </a:r>
            <a:r>
              <a:rPr sz="1200" dirty="0">
                <a:solidFill>
                  <a:srgbClr val="7F7F7F"/>
                </a:solidFill>
                <a:latin typeface="Graphik Regular"/>
                <a:cs typeface="Graphik Regular"/>
              </a:rPr>
              <a:t>it</a:t>
            </a:r>
            <a:r>
              <a:rPr sz="1200" spc="-20" dirty="0">
                <a:solidFill>
                  <a:srgbClr val="7F7F7F"/>
                </a:solidFill>
                <a:latin typeface="Graphik Regular"/>
                <a:cs typeface="Graphik Regular"/>
              </a:rPr>
              <a:t> </a:t>
            </a:r>
            <a:r>
              <a:rPr sz="1200" dirty="0">
                <a:solidFill>
                  <a:srgbClr val="7F7F7F"/>
                </a:solidFill>
                <a:latin typeface="Graphik Regular"/>
                <a:cs typeface="Graphik Regular"/>
              </a:rPr>
              <a:t>mean</a:t>
            </a:r>
            <a:r>
              <a:rPr sz="1200" spc="-15" dirty="0">
                <a:solidFill>
                  <a:srgbClr val="7F7F7F"/>
                </a:solidFill>
                <a:latin typeface="Graphik Regular"/>
                <a:cs typeface="Graphik Regular"/>
              </a:rPr>
              <a:t> </a:t>
            </a:r>
            <a:r>
              <a:rPr sz="1200" spc="-20" dirty="0">
                <a:solidFill>
                  <a:srgbClr val="7F7F7F"/>
                </a:solidFill>
                <a:latin typeface="Graphik Regular"/>
                <a:cs typeface="Graphik Regular"/>
              </a:rPr>
              <a:t>more.</a:t>
            </a:r>
            <a:endParaRPr sz="1200" dirty="0">
              <a:latin typeface="Graphik Regular"/>
              <a:cs typeface="Graphik Regular"/>
            </a:endParaRPr>
          </a:p>
        </p:txBody>
      </p:sp>
      <p:sp>
        <p:nvSpPr>
          <p:cNvPr id="7" name="object 7"/>
          <p:cNvSpPr txBox="1"/>
          <p:nvPr/>
        </p:nvSpPr>
        <p:spPr>
          <a:xfrm>
            <a:off x="4908372" y="6072454"/>
            <a:ext cx="2451735" cy="208279"/>
          </a:xfrm>
          <a:prstGeom prst="rect">
            <a:avLst/>
          </a:prstGeom>
        </p:spPr>
        <p:txBody>
          <a:bodyPr vert="horz" wrap="square" lIns="0" tIns="12700" rIns="0" bIns="0" rtlCol="0">
            <a:spAutoFit/>
          </a:bodyPr>
          <a:lstStyle/>
          <a:p>
            <a:pPr marL="12700">
              <a:lnSpc>
                <a:spcPct val="100000"/>
              </a:lnSpc>
              <a:spcBef>
                <a:spcPts val="100"/>
              </a:spcBef>
            </a:pPr>
            <a:r>
              <a:rPr sz="1200" u="sng" spc="50" dirty="0">
                <a:solidFill>
                  <a:srgbClr val="5F5F5F"/>
                </a:solidFill>
                <a:uFill>
                  <a:solidFill>
                    <a:srgbClr val="5F5F5F"/>
                  </a:solidFill>
                </a:uFill>
                <a:latin typeface="Arial"/>
                <a:cs typeface="Arial"/>
                <a:hlinkClick r:id="rId3"/>
              </a:rPr>
              <a:t>w</a:t>
            </a:r>
            <a:r>
              <a:rPr sz="1200" u="sng" spc="260" dirty="0">
                <a:solidFill>
                  <a:srgbClr val="5F5F5F"/>
                </a:solidFill>
                <a:uFill>
                  <a:solidFill>
                    <a:srgbClr val="5F5F5F"/>
                  </a:solidFill>
                </a:uFill>
                <a:latin typeface="Arial"/>
                <a:cs typeface="Arial"/>
                <a:hlinkClick r:id="rId3"/>
              </a:rPr>
              <a:t> </a:t>
            </a:r>
            <a:r>
              <a:rPr sz="1200" u="sng" spc="50" dirty="0">
                <a:solidFill>
                  <a:srgbClr val="5F5F5F"/>
                </a:solidFill>
                <a:uFill>
                  <a:solidFill>
                    <a:srgbClr val="5F5F5F"/>
                  </a:solidFill>
                </a:uFill>
                <a:latin typeface="Arial"/>
                <a:cs typeface="Arial"/>
                <a:hlinkClick r:id="rId3"/>
              </a:rPr>
              <a:t>w</a:t>
            </a:r>
            <a:r>
              <a:rPr sz="1200" u="sng" spc="265" dirty="0">
                <a:solidFill>
                  <a:srgbClr val="5F5F5F"/>
                </a:solidFill>
                <a:uFill>
                  <a:solidFill>
                    <a:srgbClr val="5F5F5F"/>
                  </a:solidFill>
                </a:uFill>
                <a:latin typeface="Arial"/>
                <a:cs typeface="Arial"/>
                <a:hlinkClick r:id="rId3"/>
              </a:rPr>
              <a:t> </a:t>
            </a:r>
            <a:r>
              <a:rPr sz="1200" u="sng" spc="50" dirty="0">
                <a:solidFill>
                  <a:srgbClr val="5F5F5F"/>
                </a:solidFill>
                <a:uFill>
                  <a:solidFill>
                    <a:srgbClr val="5F5F5F"/>
                  </a:solidFill>
                </a:uFill>
                <a:latin typeface="Arial"/>
                <a:cs typeface="Arial"/>
                <a:hlinkClick r:id="rId3"/>
              </a:rPr>
              <a:t>w</a:t>
            </a:r>
            <a:r>
              <a:rPr sz="1200" u="sng" spc="225" dirty="0">
                <a:solidFill>
                  <a:srgbClr val="5F5F5F"/>
                </a:solidFill>
                <a:uFill>
                  <a:solidFill>
                    <a:srgbClr val="5F5F5F"/>
                  </a:solidFill>
                </a:uFill>
                <a:latin typeface="Arial"/>
                <a:cs typeface="Arial"/>
                <a:hlinkClick r:id="rId3"/>
              </a:rPr>
              <a:t> </a:t>
            </a:r>
            <a:r>
              <a:rPr sz="1200" u="sng" dirty="0">
                <a:solidFill>
                  <a:srgbClr val="5F5F5F"/>
                </a:solidFill>
                <a:uFill>
                  <a:solidFill>
                    <a:srgbClr val="5F5F5F"/>
                  </a:solidFill>
                </a:uFill>
                <a:latin typeface="Arial"/>
                <a:cs typeface="Arial"/>
                <a:hlinkClick r:id="rId3"/>
              </a:rPr>
              <a:t>.</a:t>
            </a:r>
            <a:r>
              <a:rPr sz="1200" u="sng" spc="265" dirty="0">
                <a:solidFill>
                  <a:srgbClr val="5F5F5F"/>
                </a:solidFill>
                <a:uFill>
                  <a:solidFill>
                    <a:srgbClr val="5F5F5F"/>
                  </a:solidFill>
                </a:uFill>
                <a:latin typeface="Arial"/>
                <a:cs typeface="Arial"/>
                <a:hlinkClick r:id="rId3"/>
              </a:rPr>
              <a:t> </a:t>
            </a:r>
            <a:r>
              <a:rPr sz="1200" u="sng" dirty="0">
                <a:solidFill>
                  <a:srgbClr val="5F5F5F"/>
                </a:solidFill>
                <a:uFill>
                  <a:solidFill>
                    <a:srgbClr val="5F5F5F"/>
                  </a:solidFill>
                </a:uFill>
                <a:latin typeface="Arial"/>
                <a:cs typeface="Arial"/>
                <a:hlinkClick r:id="rId3"/>
              </a:rPr>
              <a:t>i</a:t>
            </a:r>
            <a:r>
              <a:rPr sz="1200" u="sng" spc="260">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g</a:t>
            </a:r>
            <a:r>
              <a:rPr sz="1200" u="sng" spc="265">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n</a:t>
            </a:r>
            <a:r>
              <a:rPr sz="1200" u="sng" spc="265">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i</a:t>
            </a:r>
            <a:r>
              <a:rPr sz="1200" u="sng" spc="265">
                <a:solidFill>
                  <a:srgbClr val="5F5F5F"/>
                </a:solidFill>
                <a:uFill>
                  <a:solidFill>
                    <a:srgbClr val="5F5F5F"/>
                  </a:solidFill>
                </a:uFill>
                <a:latin typeface="Arial"/>
                <a:cs typeface="Arial"/>
                <a:hlinkClick r:id="rId3"/>
              </a:rPr>
              <a:t> </a:t>
            </a:r>
            <a:r>
              <a:rPr sz="1200" u="sng" spc="130">
                <a:solidFill>
                  <a:srgbClr val="5F5F5F"/>
                </a:solidFill>
                <a:uFill>
                  <a:solidFill>
                    <a:srgbClr val="5F5F5F"/>
                  </a:solidFill>
                </a:uFill>
                <a:latin typeface="Arial"/>
                <a:cs typeface="Arial"/>
                <a:hlinkClick r:id="rId3"/>
              </a:rPr>
              <a:t>t</a:t>
            </a:r>
            <a:r>
              <a:rPr sz="1200" u="sng" spc="245">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e</a:t>
            </a:r>
            <a:r>
              <a:rPr sz="1200" u="sng" spc="265">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n</a:t>
            </a:r>
            <a:r>
              <a:rPr sz="1200" u="sng" spc="265">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o</a:t>
            </a:r>
            <a:r>
              <a:rPr sz="1200" u="sng" spc="245">
                <a:solidFill>
                  <a:srgbClr val="5F5F5F"/>
                </a:solidFill>
                <a:uFill>
                  <a:solidFill>
                    <a:srgbClr val="5F5F5F"/>
                  </a:solidFill>
                </a:uFill>
                <a:latin typeface="Arial"/>
                <a:cs typeface="Arial"/>
                <a:hlinkClick r:id="rId3"/>
              </a:rPr>
              <a:t> </a:t>
            </a:r>
            <a:r>
              <a:rPr sz="1200" u="sng" spc="50">
                <a:solidFill>
                  <a:srgbClr val="5F5F5F"/>
                </a:solidFill>
                <a:uFill>
                  <a:solidFill>
                    <a:srgbClr val="5F5F5F"/>
                  </a:solidFill>
                </a:uFill>
                <a:latin typeface="Arial"/>
                <a:cs typeface="Arial"/>
                <a:hlinkClick r:id="rId3"/>
              </a:rPr>
              <a:t>w</a:t>
            </a:r>
            <a:r>
              <a:rPr sz="1200" u="sng" spc="225">
                <a:solidFill>
                  <a:srgbClr val="5F5F5F"/>
                </a:solidFill>
                <a:uFill>
                  <a:solidFill>
                    <a:srgbClr val="5F5F5F"/>
                  </a:solidFill>
                </a:uFill>
                <a:latin typeface="Arial"/>
                <a:cs typeface="Arial"/>
                <a:hlinkClick r:id="rId3"/>
              </a:rPr>
              <a:t> </a:t>
            </a:r>
            <a:r>
              <a:rPr sz="1200" u="sng">
                <a:solidFill>
                  <a:srgbClr val="5F5F5F"/>
                </a:solidFill>
                <a:uFill>
                  <a:solidFill>
                    <a:srgbClr val="5F5F5F"/>
                  </a:solidFill>
                </a:uFill>
                <a:latin typeface="Arial"/>
                <a:cs typeface="Arial"/>
                <a:hlinkClick r:id="rId3"/>
              </a:rPr>
              <a:t>.</a:t>
            </a:r>
            <a:r>
              <a:rPr sz="1200" u="sng" spc="260">
                <a:solidFill>
                  <a:srgbClr val="5F5F5F"/>
                </a:solidFill>
                <a:uFill>
                  <a:solidFill>
                    <a:srgbClr val="5F5F5F"/>
                  </a:solidFill>
                </a:uFill>
                <a:latin typeface="Arial"/>
                <a:cs typeface="Arial"/>
                <a:hlinkClick r:id="rId3"/>
              </a:rPr>
              <a:t> </a:t>
            </a:r>
            <a:r>
              <a:rPr sz="1200" u="sng" dirty="0">
                <a:solidFill>
                  <a:srgbClr val="5F5F5F"/>
                </a:solidFill>
                <a:uFill>
                  <a:solidFill>
                    <a:srgbClr val="5F5F5F"/>
                  </a:solidFill>
                </a:uFill>
                <a:latin typeface="Arial"/>
                <a:cs typeface="Arial"/>
                <a:hlinkClick r:id="rId3"/>
              </a:rPr>
              <a:t>i</a:t>
            </a:r>
            <a:r>
              <a:rPr sz="1200" u="sng" spc="265">
                <a:solidFill>
                  <a:srgbClr val="5F5F5F"/>
                </a:solidFill>
                <a:uFill>
                  <a:solidFill>
                    <a:srgbClr val="5F5F5F"/>
                  </a:solidFill>
                </a:uFill>
                <a:latin typeface="Arial"/>
                <a:cs typeface="Arial"/>
                <a:hlinkClick r:id="rId3"/>
              </a:rPr>
              <a:t> </a:t>
            </a:r>
            <a:r>
              <a:rPr sz="1200" u="sng" spc="-50">
                <a:solidFill>
                  <a:srgbClr val="5F5F5F"/>
                </a:solidFill>
                <a:uFill>
                  <a:solidFill>
                    <a:srgbClr val="5F5F5F"/>
                  </a:solidFill>
                </a:uFill>
                <a:latin typeface="Arial"/>
                <a:cs typeface="Arial"/>
                <a:hlinkClick r:id="rId3"/>
              </a:rPr>
              <a:t>o</a:t>
            </a:r>
            <a:r>
              <a:rPr sz="1200" u="sng" spc="500">
                <a:solidFill>
                  <a:srgbClr val="5F5F5F"/>
                </a:solidFill>
                <a:uFill>
                  <a:solidFill>
                    <a:srgbClr val="5F5F5F"/>
                  </a:solidFill>
                </a:uFill>
                <a:latin typeface="Arial"/>
                <a:cs typeface="Arial"/>
                <a:hlinkClick r:id="rId3"/>
              </a:rPr>
              <a:t> </a:t>
            </a:r>
            <a:endParaRPr sz="1200">
              <a:latin typeface="Arial"/>
              <a:cs typeface="Arial"/>
            </a:endParaRPr>
          </a:p>
        </p:txBody>
      </p:sp>
      <p:pic>
        <p:nvPicPr>
          <p:cNvPr id="8" name="object 8"/>
          <p:cNvPicPr/>
          <p:nvPr/>
        </p:nvPicPr>
        <p:blipFill>
          <a:blip r:embed="rId4" cstate="print"/>
          <a:stretch>
            <a:fillRect/>
          </a:stretch>
        </p:blipFill>
        <p:spPr>
          <a:xfrm>
            <a:off x="5230300" y="3429000"/>
            <a:ext cx="1731398" cy="17313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F5F5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gnite presentation - Investor deck" id="{3B1554FC-355C-3E4E-8B24-7DC10ABAA838}" vid="{1388455A-24E7-B94A-8E9F-BC5A20557D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26</TotalTime>
  <Words>2723</Words>
  <Application>Microsoft Macintosh PowerPoint</Application>
  <PresentationFormat>Widescreen</PresentationFormat>
  <Paragraphs>550</Paragraphs>
  <Slides>33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Aileron</vt:lpstr>
      <vt:lpstr>DM Sans 14pt</vt:lpstr>
      <vt:lpstr>DM Sans Regular</vt:lpstr>
      <vt:lpstr>Aptos</vt:lpstr>
      <vt:lpstr>Arial</vt:lpstr>
      <vt:lpstr>Graphik Bold</vt:lpstr>
      <vt:lpstr>Graphik Regular</vt:lpstr>
      <vt:lpstr>Graphik-Semibold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ignite subscription levels</vt:lpstr>
      <vt:lpstr>target audience</vt:lpstr>
      <vt:lpstr>business model</vt:lpstr>
      <vt:lpstr>PowerPoint Presentation</vt:lpstr>
      <vt:lpstr>the competition</vt:lpstr>
      <vt:lpstr>PowerPoint Presentation</vt:lpstr>
      <vt:lpstr>investment 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Burda</dc:creator>
  <cp:lastModifiedBy>Kate Burda</cp:lastModifiedBy>
  <cp:revision>1</cp:revision>
  <dcterms:created xsi:type="dcterms:W3CDTF">2024-10-03T16:23:36Z</dcterms:created>
  <dcterms:modified xsi:type="dcterms:W3CDTF">2025-07-28T16:47:59Z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2024-06-03T00:00:00Z</vt:filetime>
  </property>
  <property fmtid="{D5CDD505-2E9C-101B-9397-08002B2CF9AE}" pid="3" name="Creator">
    <vt:lpwstr>Keynote</vt:lpwstr>
  </property>
  <property fmtid="{D5CDD505-2E9C-101B-9397-08002B2CF9AE}" pid="4" name="LastSaved">
    <vt:filetime>2024-06-04T00:00:00Z</vt:filetime>
  </property>
  <property fmtid="{D5CDD505-2E9C-101B-9397-08002B2CF9AE}" pid="5" name="Producer">
    <vt:lpwstr>macOS Version 13.0.1 (Build 22A400) Quartz PDFContext</vt:lpwstr>
  </property>
</Properties>
</file>