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73152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C28B7C-C4B4-3A4F-A75D-FAD35D20153E}" v="3" dt="2025-02-17T19:56:05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9" d="100"/>
          <a:sy n="109" d="100"/>
        </p:scale>
        <p:origin x="27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7CF2B9-0B5E-D242-89B2-DC8B3125151A}" type="datetimeFigureOut">
              <a:rPr lang="en-US" smtClean="0"/>
              <a:t>2/28/25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28422-371B-9240-B465-063FE8AE8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75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2187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1pPr>
    <a:lvl2pPr marL="436094" algn="l" defTabSz="872187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2pPr>
    <a:lvl3pPr marL="872187" algn="l" defTabSz="872187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3pPr>
    <a:lvl4pPr marL="1308280" algn="l" defTabSz="872187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4pPr>
    <a:lvl5pPr marL="1744373" algn="l" defTabSz="872187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5pPr>
    <a:lvl6pPr marL="2180467" algn="l" defTabSz="872187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6pPr>
    <a:lvl7pPr marL="2616561" algn="l" defTabSz="872187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7pPr>
    <a:lvl8pPr marL="3052654" algn="l" defTabSz="872187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8pPr>
    <a:lvl9pPr marL="3488748" algn="l" defTabSz="872187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8DCA1-DFCB-B040-B8C3-C92ED654CB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9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8DCA1-DFCB-B040-B8C3-C92ED654CB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839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8DCA1-DFCB-B040-B8C3-C92ED654CB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94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8DCA1-DFCB-B040-B8C3-C92ED654CB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25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8DCA1-DFCB-B040-B8C3-C92ED654CB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25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8DCA1-DFCB-B040-B8C3-C92ED654CB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007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8DCA1-DFCB-B040-B8C3-C92ED654CB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6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8DCA1-DFCB-B040-B8C3-C92ED654CB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556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8DCA1-DFCB-B040-B8C3-C92ED654CB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468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8DCA1-DFCB-B040-B8C3-C92ED654CB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9799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8DCA1-DFCB-B040-B8C3-C92ED654CB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47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8DCA1-DFCB-B040-B8C3-C92ED654CB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04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8DCA1-DFCB-B040-B8C3-C92ED654CB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4269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8DCA1-DFCB-B040-B8C3-C92ED654CB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94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8DCA1-DFCB-B040-B8C3-C92ED654CB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32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197187"/>
            <a:ext cx="6217920" cy="254677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42174"/>
            <a:ext cx="5486400" cy="1766146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8E31-7317-FB44-AE29-95A457351DA6}" type="datetimeFigureOut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1CCE-7B57-1041-AB1F-799720AB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090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8E31-7317-FB44-AE29-95A457351DA6}" type="datetimeFigureOut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1CCE-7B57-1041-AB1F-799720AB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28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1823722"/>
            <a:ext cx="6309360" cy="3042919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4895429"/>
            <a:ext cx="6309360" cy="1600199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8E31-7317-FB44-AE29-95A457351DA6}" type="datetimeFigureOut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1CCE-7B57-1041-AB1F-799720AB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08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947333"/>
            <a:ext cx="310896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1947333"/>
            <a:ext cx="310896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8E31-7317-FB44-AE29-95A457351DA6}" type="datetimeFigureOut">
              <a:rPr lang="en-US" smtClean="0"/>
              <a:t>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1CCE-7B57-1041-AB1F-799720AB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37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389468"/>
            <a:ext cx="630936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1793241"/>
            <a:ext cx="3094672" cy="878839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2672080"/>
            <a:ext cx="3094672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1793241"/>
            <a:ext cx="3109913" cy="878839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2672080"/>
            <a:ext cx="3109913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8E31-7317-FB44-AE29-95A457351DA6}" type="datetimeFigureOut">
              <a:rPr lang="en-US" smtClean="0"/>
              <a:t>2/28/25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1CCE-7B57-1041-AB1F-799720AB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1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8E31-7317-FB44-AE29-95A457351DA6}" type="datetimeFigureOut">
              <a:rPr lang="en-US" smtClean="0"/>
              <a:t>2/28/25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1CCE-7B57-1041-AB1F-799720AB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7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8E31-7317-FB44-AE29-95A457351DA6}" type="datetimeFigureOut">
              <a:rPr lang="en-US" smtClean="0"/>
              <a:t>2/28/25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1CCE-7B57-1041-AB1F-799720AB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1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487680"/>
            <a:ext cx="2359342" cy="170688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1053255"/>
            <a:ext cx="3703320" cy="5198533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194560"/>
            <a:ext cx="2359342" cy="4065694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8E31-7317-FB44-AE29-95A457351DA6}" type="datetimeFigureOut">
              <a:rPr lang="en-US" smtClean="0"/>
              <a:t>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1CCE-7B57-1041-AB1F-799720AB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641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487680"/>
            <a:ext cx="2359342" cy="170688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1053255"/>
            <a:ext cx="3703320" cy="5198533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194560"/>
            <a:ext cx="2359342" cy="4065694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8E31-7317-FB44-AE29-95A457351DA6}" type="datetimeFigureOut">
              <a:rPr lang="en-US" smtClean="0"/>
              <a:t>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1CCE-7B57-1041-AB1F-799720AB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1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8E31-7317-FB44-AE29-95A457351DA6}" type="datetimeFigureOut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1CCE-7B57-1041-AB1F-799720AB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389467"/>
            <a:ext cx="1577340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389467"/>
            <a:ext cx="4640580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8E31-7317-FB44-AE29-95A457351DA6}" type="datetimeFigureOut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C1CCE-7B57-1041-AB1F-799720AB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66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389468"/>
            <a:ext cx="630936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947333"/>
            <a:ext cx="630936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6780108"/>
            <a:ext cx="164592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D78E31-7317-FB44-AE29-95A457351DA6}" type="datetimeFigureOut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6780108"/>
            <a:ext cx="24688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6780108"/>
            <a:ext cx="164592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AC1CCE-7B57-1041-AB1F-799720AB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141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kateburda.com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kateburda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kateburda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kateburda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://www.kateburda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kateburda.com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kateburda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kateburda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ww.kateburda.com/" TargetMode="Externa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kateburda.com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kateburda.com/" TargetMode="Externa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kateburda.com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kateburda.com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kateburda.com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kateburda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AE9A8B3-98F0-190F-F6B5-B0919997BA6D}"/>
              </a:ext>
            </a:extLst>
          </p:cNvPr>
          <p:cNvSpPr/>
          <p:nvPr/>
        </p:nvSpPr>
        <p:spPr>
          <a:xfrm>
            <a:off x="-1" y="5439"/>
            <a:ext cx="7315200" cy="73568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8"/>
          </a:p>
        </p:txBody>
      </p:sp>
      <p:sp>
        <p:nvSpPr>
          <p:cNvPr id="2" name="TextBox 2"/>
          <p:cNvSpPr txBox="1"/>
          <p:nvPr/>
        </p:nvSpPr>
        <p:spPr>
          <a:xfrm>
            <a:off x="1512645" y="748992"/>
            <a:ext cx="4630100" cy="3936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2"/>
              </a:lnSpc>
            </a:pPr>
            <a:r>
              <a:rPr lang="en-US" sz="5194" b="1" spc="561" dirty="0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THE CUSTOMER JOURNEY</a:t>
            </a:r>
          </a:p>
          <a:p>
            <a:pPr algn="ctr">
              <a:lnSpc>
                <a:spcPts val="5142"/>
              </a:lnSpc>
            </a:pPr>
            <a:r>
              <a:rPr lang="en-US" sz="5194" b="1" spc="561" dirty="0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AND THE THE PARADOX OF </a:t>
            </a:r>
            <a:r>
              <a:rPr lang="en-US" sz="5194" b="1" spc="561" dirty="0">
                <a:solidFill>
                  <a:srgbClr val="FFFFFF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AWARENESS</a:t>
            </a:r>
          </a:p>
        </p:txBody>
      </p:sp>
      <p:sp>
        <p:nvSpPr>
          <p:cNvPr id="4" name="AutoShape 4"/>
          <p:cNvSpPr/>
          <p:nvPr/>
        </p:nvSpPr>
        <p:spPr>
          <a:xfrm rot="5400000">
            <a:off x="-3043778" y="3678428"/>
            <a:ext cx="7356857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2058"/>
          </a:p>
        </p:txBody>
      </p:sp>
      <p:sp>
        <p:nvSpPr>
          <p:cNvPr id="5" name="Freeform 5"/>
          <p:cNvSpPr/>
          <p:nvPr/>
        </p:nvSpPr>
        <p:spPr>
          <a:xfrm>
            <a:off x="2714360" y="5036629"/>
            <a:ext cx="2226668" cy="2882417"/>
          </a:xfrm>
          <a:custGeom>
            <a:avLst/>
            <a:gdLst/>
            <a:ahLst/>
            <a:cxnLst/>
            <a:rect l="l" t="t" r="r" b="b"/>
            <a:pathLst>
              <a:path w="1948334" h="2522115">
                <a:moveTo>
                  <a:pt x="0" y="0"/>
                </a:moveTo>
                <a:lnTo>
                  <a:pt x="1948334" y="0"/>
                </a:lnTo>
                <a:lnTo>
                  <a:pt x="1948334" y="2522115"/>
                </a:lnTo>
                <a:lnTo>
                  <a:pt x="0" y="252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2058"/>
          </a:p>
        </p:txBody>
      </p:sp>
      <p:sp>
        <p:nvSpPr>
          <p:cNvPr id="6" name="TextBox 6"/>
          <p:cNvSpPr txBox="1"/>
          <p:nvPr/>
        </p:nvSpPr>
        <p:spPr>
          <a:xfrm>
            <a:off x="2352201" y="118727"/>
            <a:ext cx="3064697" cy="26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361" spc="364">
                <a:solidFill>
                  <a:srgbClr val="D53D72"/>
                </a:solidFill>
                <a:latin typeface="Bantayog Light"/>
                <a:ea typeface="Bantayog Light"/>
                <a:cs typeface="Bantayog Light"/>
                <a:sym typeface="Bantayog Light"/>
              </a:rPr>
              <a:t>Commercial Excellence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52200" y="6940447"/>
            <a:ext cx="3300337" cy="19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"/>
              </a:lnSpc>
            </a:pPr>
            <a:r>
              <a:rPr lang="en-US" sz="1009" spc="27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Kateburda.com</a:t>
            </a:r>
          </a:p>
        </p:txBody>
      </p:sp>
      <p:sp>
        <p:nvSpPr>
          <p:cNvPr id="10" name="TextBox 6">
            <a:hlinkClick r:id="rId4"/>
            <a:extLst>
              <a:ext uri="{FF2B5EF4-FFF2-40B4-BE49-F238E27FC236}">
                <a16:creationId xmlns:a16="http://schemas.microsoft.com/office/drawing/2014/main" id="{F6B9E4D4-FC65-4FD6-B3EE-30A60986249A}"/>
              </a:ext>
            </a:extLst>
          </p:cNvPr>
          <p:cNvSpPr txBox="1"/>
          <p:nvPr/>
        </p:nvSpPr>
        <p:spPr>
          <a:xfrm rot="-5400000">
            <a:off x="-1020799" y="3605856"/>
            <a:ext cx="2758058" cy="19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"/>
              </a:lnSpc>
            </a:pPr>
            <a:r>
              <a:rPr lang="en-US" sz="1009" spc="27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@kateburda.com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78CF3A2-41A8-AF9A-B6AC-D89298C35B97}"/>
              </a:ext>
            </a:extLst>
          </p:cNvPr>
          <p:cNvSpPr/>
          <p:nvPr/>
        </p:nvSpPr>
        <p:spPr>
          <a:xfrm>
            <a:off x="1" y="-47097"/>
            <a:ext cx="7315200" cy="73568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8"/>
          </a:p>
        </p:txBody>
      </p:sp>
      <p:sp>
        <p:nvSpPr>
          <p:cNvPr id="2" name="TextBox 2"/>
          <p:cNvSpPr txBox="1"/>
          <p:nvPr/>
        </p:nvSpPr>
        <p:spPr>
          <a:xfrm>
            <a:off x="1975954" y="65315"/>
            <a:ext cx="4046395" cy="5077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2"/>
              </a:lnSpc>
            </a:pPr>
            <a:endParaRPr sz="2058" dirty="0"/>
          </a:p>
          <a:p>
            <a:pPr algn="ctr">
              <a:lnSpc>
                <a:spcPts val="5594"/>
              </a:lnSpc>
            </a:pPr>
            <a:r>
              <a:rPr lang="en-US" sz="5651" b="1" spc="610" dirty="0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THE SECOND STEP OF THE BUYER JOURNEY IS AWARE</a:t>
            </a:r>
          </a:p>
        </p:txBody>
      </p:sp>
      <p:sp>
        <p:nvSpPr>
          <p:cNvPr id="3" name="AutoShape 3"/>
          <p:cNvSpPr/>
          <p:nvPr/>
        </p:nvSpPr>
        <p:spPr>
          <a:xfrm rot="5400000">
            <a:off x="-3012564" y="3683869"/>
            <a:ext cx="735685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2058"/>
          </a:p>
        </p:txBody>
      </p:sp>
      <p:sp>
        <p:nvSpPr>
          <p:cNvPr id="4" name="Freeform 4"/>
          <p:cNvSpPr/>
          <p:nvPr/>
        </p:nvSpPr>
        <p:spPr>
          <a:xfrm>
            <a:off x="2771213" y="4967511"/>
            <a:ext cx="2226668" cy="2882417"/>
          </a:xfrm>
          <a:custGeom>
            <a:avLst/>
            <a:gdLst/>
            <a:ahLst/>
            <a:cxnLst/>
            <a:rect l="l" t="t" r="r" b="b"/>
            <a:pathLst>
              <a:path w="1948334" h="2522115">
                <a:moveTo>
                  <a:pt x="0" y="0"/>
                </a:moveTo>
                <a:lnTo>
                  <a:pt x="1948334" y="0"/>
                </a:lnTo>
                <a:lnTo>
                  <a:pt x="1948334" y="2522115"/>
                </a:lnTo>
                <a:lnTo>
                  <a:pt x="0" y="252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2058"/>
          </a:p>
        </p:txBody>
      </p:sp>
      <p:sp>
        <p:nvSpPr>
          <p:cNvPr id="5" name="TextBox 5"/>
          <p:cNvSpPr txBox="1"/>
          <p:nvPr/>
        </p:nvSpPr>
        <p:spPr>
          <a:xfrm>
            <a:off x="2352201" y="118727"/>
            <a:ext cx="3064697" cy="26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361" spc="364" dirty="0">
                <a:solidFill>
                  <a:srgbClr val="D53D72"/>
                </a:solidFill>
                <a:latin typeface="Bantayog Light"/>
                <a:ea typeface="Bantayog Light"/>
                <a:cs typeface="Bantayog Light"/>
                <a:sym typeface="Bantayog Light"/>
              </a:rPr>
              <a:t>Commercial Excellence</a:t>
            </a:r>
          </a:p>
        </p:txBody>
      </p:sp>
      <p:sp>
        <p:nvSpPr>
          <p:cNvPr id="8" name="TextBox 6">
            <a:hlinkClick r:id="rId4"/>
            <a:extLst>
              <a:ext uri="{FF2B5EF4-FFF2-40B4-BE49-F238E27FC236}">
                <a16:creationId xmlns:a16="http://schemas.microsoft.com/office/drawing/2014/main" id="{86702A8D-FC6B-8DE9-24DA-9665772AD91C}"/>
              </a:ext>
            </a:extLst>
          </p:cNvPr>
          <p:cNvSpPr txBox="1"/>
          <p:nvPr/>
        </p:nvSpPr>
        <p:spPr>
          <a:xfrm rot="-5400000">
            <a:off x="-1026038" y="3558759"/>
            <a:ext cx="2758058" cy="19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"/>
              </a:lnSpc>
            </a:pPr>
            <a:r>
              <a:rPr lang="en-US" sz="1009" spc="27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@kateburda.com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B1DAC1-0147-54AE-CD64-30D1FBD95E17}"/>
              </a:ext>
            </a:extLst>
          </p:cNvPr>
          <p:cNvSpPr/>
          <p:nvPr/>
        </p:nvSpPr>
        <p:spPr>
          <a:xfrm>
            <a:off x="0" y="-47097"/>
            <a:ext cx="7315200" cy="73568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8"/>
          </a:p>
        </p:txBody>
      </p:sp>
      <p:sp>
        <p:nvSpPr>
          <p:cNvPr id="2" name="TextBox 2"/>
          <p:cNvSpPr txBox="1"/>
          <p:nvPr/>
        </p:nvSpPr>
        <p:spPr>
          <a:xfrm>
            <a:off x="1462002" y="618031"/>
            <a:ext cx="4693482" cy="5434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8"/>
              </a:lnSpc>
            </a:pPr>
            <a:r>
              <a:rPr lang="en-US" sz="4755" b="1" spc="514" dirty="0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BUT...AWARE OF WHAT?</a:t>
            </a:r>
          </a:p>
          <a:p>
            <a:pPr algn="ctr">
              <a:lnSpc>
                <a:spcPts val="4708"/>
              </a:lnSpc>
            </a:pPr>
            <a:endParaRPr lang="en-US" sz="4755" b="1" spc="514" dirty="0">
              <a:solidFill>
                <a:srgbClr val="D53D72"/>
              </a:solidFill>
              <a:latin typeface="Bodoni FLF Bold"/>
              <a:ea typeface="Bodoni FLF Bold"/>
              <a:cs typeface="Bodoni FLF Bold"/>
              <a:sym typeface="Bodoni FLF Bold"/>
            </a:endParaRPr>
          </a:p>
          <a:p>
            <a:pPr algn="ctr">
              <a:lnSpc>
                <a:spcPts val="4708"/>
              </a:lnSpc>
            </a:pPr>
            <a:r>
              <a:rPr lang="en-US" sz="4755" b="1" spc="514" dirty="0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IF YOU ASKED THE SALES AND MARKETING TEAM THEY SAID...</a:t>
            </a:r>
          </a:p>
        </p:txBody>
      </p:sp>
      <p:sp>
        <p:nvSpPr>
          <p:cNvPr id="3" name="AutoShape 3"/>
          <p:cNvSpPr/>
          <p:nvPr/>
        </p:nvSpPr>
        <p:spPr>
          <a:xfrm rot="5400000">
            <a:off x="-3058050" y="3657598"/>
            <a:ext cx="735685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2058"/>
          </a:p>
        </p:txBody>
      </p:sp>
      <p:sp>
        <p:nvSpPr>
          <p:cNvPr id="4" name="Freeform 4"/>
          <p:cNvSpPr/>
          <p:nvPr/>
        </p:nvSpPr>
        <p:spPr>
          <a:xfrm>
            <a:off x="2771213" y="4967511"/>
            <a:ext cx="2226668" cy="2882417"/>
          </a:xfrm>
          <a:custGeom>
            <a:avLst/>
            <a:gdLst/>
            <a:ahLst/>
            <a:cxnLst/>
            <a:rect l="l" t="t" r="r" b="b"/>
            <a:pathLst>
              <a:path w="1948334" h="2522115">
                <a:moveTo>
                  <a:pt x="0" y="0"/>
                </a:moveTo>
                <a:lnTo>
                  <a:pt x="1948334" y="0"/>
                </a:lnTo>
                <a:lnTo>
                  <a:pt x="1948334" y="2522115"/>
                </a:lnTo>
                <a:lnTo>
                  <a:pt x="0" y="252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2058"/>
          </a:p>
        </p:txBody>
      </p:sp>
      <p:sp>
        <p:nvSpPr>
          <p:cNvPr id="5" name="TextBox 5"/>
          <p:cNvSpPr txBox="1"/>
          <p:nvPr/>
        </p:nvSpPr>
        <p:spPr>
          <a:xfrm>
            <a:off x="2352201" y="118727"/>
            <a:ext cx="3064697" cy="26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361" spc="364">
                <a:solidFill>
                  <a:srgbClr val="D53D72"/>
                </a:solidFill>
                <a:latin typeface="Bantayog Light"/>
                <a:ea typeface="Bantayog Light"/>
                <a:cs typeface="Bantayog Light"/>
                <a:sym typeface="Bantayog Light"/>
              </a:rPr>
              <a:t>Commercial Excellence</a:t>
            </a:r>
          </a:p>
        </p:txBody>
      </p:sp>
      <p:sp>
        <p:nvSpPr>
          <p:cNvPr id="8" name="TextBox 6">
            <a:hlinkClick r:id="rId4"/>
            <a:extLst>
              <a:ext uri="{FF2B5EF4-FFF2-40B4-BE49-F238E27FC236}">
                <a16:creationId xmlns:a16="http://schemas.microsoft.com/office/drawing/2014/main" id="{2BFBEFAF-5A38-2CD0-15D8-BBF4DDC95B76}"/>
              </a:ext>
            </a:extLst>
          </p:cNvPr>
          <p:cNvSpPr txBox="1"/>
          <p:nvPr/>
        </p:nvSpPr>
        <p:spPr>
          <a:xfrm rot="-5400000">
            <a:off x="-990781" y="3558758"/>
            <a:ext cx="2758058" cy="19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"/>
              </a:lnSpc>
            </a:pPr>
            <a:r>
              <a:rPr lang="en-US" sz="1009" spc="27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@kateburda.com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A6E6E84-89BD-CD4D-950A-1A30A08E7D37}"/>
              </a:ext>
            </a:extLst>
          </p:cNvPr>
          <p:cNvSpPr/>
          <p:nvPr/>
        </p:nvSpPr>
        <p:spPr>
          <a:xfrm>
            <a:off x="1" y="-41657"/>
            <a:ext cx="7315199" cy="73568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8"/>
          </a:p>
        </p:txBody>
      </p:sp>
      <p:sp>
        <p:nvSpPr>
          <p:cNvPr id="2" name="TextBox 2"/>
          <p:cNvSpPr txBox="1"/>
          <p:nvPr/>
        </p:nvSpPr>
        <p:spPr>
          <a:xfrm>
            <a:off x="1462002" y="1044943"/>
            <a:ext cx="4845093" cy="350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6"/>
              </a:lnSpc>
            </a:pPr>
            <a:r>
              <a:rPr lang="en-US" sz="3955" b="1" spc="426" dirty="0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WHEN THE CUSTOMER WAS </a:t>
            </a:r>
          </a:p>
          <a:p>
            <a:pPr algn="ctr">
              <a:lnSpc>
                <a:spcPts val="3916"/>
              </a:lnSpc>
            </a:pPr>
            <a:endParaRPr lang="en-US" sz="3955" b="1" spc="426" dirty="0">
              <a:solidFill>
                <a:srgbClr val="D53D72"/>
              </a:solidFill>
              <a:latin typeface="Bodoni FLF Bold"/>
              <a:ea typeface="Bodoni FLF Bold"/>
              <a:cs typeface="Bodoni FLF Bold"/>
              <a:sym typeface="Bodoni FLF Bold"/>
            </a:endParaRPr>
          </a:p>
          <a:p>
            <a:pPr algn="ctr">
              <a:lnSpc>
                <a:spcPts val="3916"/>
              </a:lnSpc>
            </a:pPr>
            <a:r>
              <a:rPr lang="en-US" sz="3955" b="1" spc="426" dirty="0">
                <a:solidFill>
                  <a:srgbClr val="FFFFFF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AWARE OF OUR PRODUCT OR SERVICE</a:t>
            </a:r>
          </a:p>
          <a:p>
            <a:pPr algn="ctr">
              <a:lnSpc>
                <a:spcPts val="3916"/>
              </a:lnSpc>
            </a:pPr>
            <a:endParaRPr lang="en-US" sz="3955" b="1" spc="426" dirty="0">
              <a:solidFill>
                <a:srgbClr val="FFFFFF"/>
              </a:solidFill>
              <a:latin typeface="Bodoni FLF Bold"/>
              <a:ea typeface="Bodoni FLF Bold"/>
              <a:cs typeface="Bodoni FLF Bold"/>
              <a:sym typeface="Bodoni FLF Bold"/>
            </a:endParaRPr>
          </a:p>
        </p:txBody>
      </p:sp>
      <p:sp>
        <p:nvSpPr>
          <p:cNvPr id="3" name="AutoShape 3"/>
          <p:cNvSpPr/>
          <p:nvPr/>
        </p:nvSpPr>
        <p:spPr>
          <a:xfrm rot="5400000">
            <a:off x="-2983961" y="3657599"/>
            <a:ext cx="735685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2058"/>
          </a:p>
        </p:txBody>
      </p:sp>
      <p:sp>
        <p:nvSpPr>
          <p:cNvPr id="4" name="Freeform 4"/>
          <p:cNvSpPr/>
          <p:nvPr/>
        </p:nvSpPr>
        <p:spPr>
          <a:xfrm>
            <a:off x="2771213" y="4967511"/>
            <a:ext cx="2226668" cy="2882417"/>
          </a:xfrm>
          <a:custGeom>
            <a:avLst/>
            <a:gdLst/>
            <a:ahLst/>
            <a:cxnLst/>
            <a:rect l="l" t="t" r="r" b="b"/>
            <a:pathLst>
              <a:path w="1948334" h="2522115">
                <a:moveTo>
                  <a:pt x="0" y="0"/>
                </a:moveTo>
                <a:lnTo>
                  <a:pt x="1948334" y="0"/>
                </a:lnTo>
                <a:lnTo>
                  <a:pt x="1948334" y="2522115"/>
                </a:lnTo>
                <a:lnTo>
                  <a:pt x="0" y="252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2058"/>
          </a:p>
        </p:txBody>
      </p:sp>
      <p:sp>
        <p:nvSpPr>
          <p:cNvPr id="5" name="TextBox 5"/>
          <p:cNvSpPr txBox="1"/>
          <p:nvPr/>
        </p:nvSpPr>
        <p:spPr>
          <a:xfrm>
            <a:off x="2352201" y="118727"/>
            <a:ext cx="3064697" cy="26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361" spc="364">
                <a:solidFill>
                  <a:srgbClr val="D53D72"/>
                </a:solidFill>
                <a:latin typeface="Bantayog Light"/>
                <a:ea typeface="Bantayog Light"/>
                <a:cs typeface="Bantayog Light"/>
                <a:sym typeface="Bantayog Light"/>
              </a:rPr>
              <a:t>Commercial Excellence</a:t>
            </a:r>
          </a:p>
        </p:txBody>
      </p:sp>
      <p:sp>
        <p:nvSpPr>
          <p:cNvPr id="8" name="TextBox 6">
            <a:hlinkClick r:id="rId4"/>
            <a:extLst>
              <a:ext uri="{FF2B5EF4-FFF2-40B4-BE49-F238E27FC236}">
                <a16:creationId xmlns:a16="http://schemas.microsoft.com/office/drawing/2014/main" id="{5788C673-3AA2-A83D-F9EB-A2530812B149}"/>
              </a:ext>
            </a:extLst>
          </p:cNvPr>
          <p:cNvSpPr txBox="1"/>
          <p:nvPr/>
        </p:nvSpPr>
        <p:spPr>
          <a:xfrm rot="-5400000">
            <a:off x="-955399" y="3558758"/>
            <a:ext cx="2758058" cy="19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"/>
              </a:lnSpc>
            </a:pPr>
            <a:r>
              <a:rPr lang="en-US" sz="1009" spc="27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@kateburda.com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19EBD5D-A0D5-83D5-033A-FF2C60535796}"/>
              </a:ext>
            </a:extLst>
          </p:cNvPr>
          <p:cNvSpPr/>
          <p:nvPr/>
        </p:nvSpPr>
        <p:spPr>
          <a:xfrm>
            <a:off x="0" y="0"/>
            <a:ext cx="7315194" cy="73568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8"/>
          </a:p>
        </p:txBody>
      </p:sp>
      <p:sp>
        <p:nvSpPr>
          <p:cNvPr id="2" name="TextBox 2"/>
          <p:cNvSpPr txBox="1"/>
          <p:nvPr/>
        </p:nvSpPr>
        <p:spPr>
          <a:xfrm>
            <a:off x="1425082" y="654371"/>
            <a:ext cx="4845093" cy="314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6126" b="1" spc="662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HERE </a:t>
            </a:r>
          </a:p>
          <a:p>
            <a:pPr algn="ctr">
              <a:lnSpc>
                <a:spcPts val="6065"/>
              </a:lnSpc>
            </a:pPr>
            <a:endParaRPr lang="en-US" sz="6126" b="1" spc="662">
              <a:solidFill>
                <a:srgbClr val="D53D72"/>
              </a:solidFill>
              <a:latin typeface="Bodoni FLF Bold"/>
              <a:ea typeface="Bodoni FLF Bold"/>
              <a:cs typeface="Bodoni FLF Bold"/>
              <a:sym typeface="Bodoni FLF Bold"/>
            </a:endParaRPr>
          </a:p>
          <a:p>
            <a:pPr algn="ctr">
              <a:lnSpc>
                <a:spcPts val="6065"/>
              </a:lnSpc>
            </a:pPr>
            <a:endParaRPr lang="en-US" sz="6126" b="1" spc="662">
              <a:solidFill>
                <a:srgbClr val="D53D72"/>
              </a:solidFill>
              <a:latin typeface="Bodoni FLF Bold"/>
              <a:ea typeface="Bodoni FLF Bold"/>
              <a:cs typeface="Bodoni FLF Bold"/>
              <a:sym typeface="Bodoni FLF Bold"/>
            </a:endParaRPr>
          </a:p>
          <a:p>
            <a:pPr algn="ctr">
              <a:lnSpc>
                <a:spcPts val="6065"/>
              </a:lnSpc>
            </a:pPr>
            <a:endParaRPr lang="en-US" sz="6126" b="1" spc="662">
              <a:solidFill>
                <a:srgbClr val="D53D72"/>
              </a:solidFill>
              <a:latin typeface="Bodoni FLF Bold"/>
              <a:ea typeface="Bodoni FLF Bold"/>
              <a:cs typeface="Bodoni FLF Bold"/>
              <a:sym typeface="Bodoni FLF Bold"/>
            </a:endParaRPr>
          </a:p>
        </p:txBody>
      </p:sp>
      <p:sp>
        <p:nvSpPr>
          <p:cNvPr id="3" name="AutoShape 3"/>
          <p:cNvSpPr/>
          <p:nvPr/>
        </p:nvSpPr>
        <p:spPr>
          <a:xfrm rot="5400000">
            <a:off x="-3040653" y="3657599"/>
            <a:ext cx="735685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2058"/>
          </a:p>
        </p:txBody>
      </p:sp>
      <p:sp>
        <p:nvSpPr>
          <p:cNvPr id="4" name="Freeform 4"/>
          <p:cNvSpPr/>
          <p:nvPr/>
        </p:nvSpPr>
        <p:spPr>
          <a:xfrm>
            <a:off x="2771213" y="4967511"/>
            <a:ext cx="2226668" cy="2882417"/>
          </a:xfrm>
          <a:custGeom>
            <a:avLst/>
            <a:gdLst/>
            <a:ahLst/>
            <a:cxnLst/>
            <a:rect l="l" t="t" r="r" b="b"/>
            <a:pathLst>
              <a:path w="1948334" h="2522115">
                <a:moveTo>
                  <a:pt x="0" y="0"/>
                </a:moveTo>
                <a:lnTo>
                  <a:pt x="1948334" y="0"/>
                </a:lnTo>
                <a:lnTo>
                  <a:pt x="1948334" y="2522115"/>
                </a:lnTo>
                <a:lnTo>
                  <a:pt x="0" y="252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2058"/>
          </a:p>
        </p:txBody>
      </p:sp>
      <p:sp>
        <p:nvSpPr>
          <p:cNvPr id="5" name="Freeform 5"/>
          <p:cNvSpPr/>
          <p:nvPr/>
        </p:nvSpPr>
        <p:spPr>
          <a:xfrm>
            <a:off x="1700122" y="3492519"/>
            <a:ext cx="4570050" cy="1624889"/>
          </a:xfrm>
          <a:custGeom>
            <a:avLst/>
            <a:gdLst/>
            <a:ahLst/>
            <a:cxnLst/>
            <a:rect l="l" t="t" r="r" b="b"/>
            <a:pathLst>
              <a:path w="3998794" h="1421776">
                <a:moveTo>
                  <a:pt x="0" y="0"/>
                </a:moveTo>
                <a:lnTo>
                  <a:pt x="3998794" y="0"/>
                </a:lnTo>
                <a:lnTo>
                  <a:pt x="3998794" y="1421776"/>
                </a:lnTo>
                <a:lnTo>
                  <a:pt x="0" y="14217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598" b="-2332"/>
            </a:stretch>
          </a:blipFill>
        </p:spPr>
        <p:txBody>
          <a:bodyPr/>
          <a:lstStyle/>
          <a:p>
            <a:endParaRPr lang="en-US" sz="2058"/>
          </a:p>
        </p:txBody>
      </p:sp>
      <p:sp>
        <p:nvSpPr>
          <p:cNvPr id="6" name="Freeform 6"/>
          <p:cNvSpPr/>
          <p:nvPr/>
        </p:nvSpPr>
        <p:spPr>
          <a:xfrm>
            <a:off x="3720048" y="1339392"/>
            <a:ext cx="1478892" cy="3399751"/>
          </a:xfrm>
          <a:custGeom>
            <a:avLst/>
            <a:gdLst/>
            <a:ahLst/>
            <a:cxnLst/>
            <a:rect l="l" t="t" r="r" b="b"/>
            <a:pathLst>
              <a:path w="1294030" h="2974782">
                <a:moveTo>
                  <a:pt x="0" y="0"/>
                </a:moveTo>
                <a:lnTo>
                  <a:pt x="1294030" y="0"/>
                </a:lnTo>
                <a:lnTo>
                  <a:pt x="1294030" y="2974781"/>
                </a:lnTo>
                <a:lnTo>
                  <a:pt x="0" y="29747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2058"/>
          </a:p>
        </p:txBody>
      </p:sp>
      <p:sp>
        <p:nvSpPr>
          <p:cNvPr id="7" name="TextBox 7"/>
          <p:cNvSpPr txBox="1"/>
          <p:nvPr/>
        </p:nvSpPr>
        <p:spPr>
          <a:xfrm>
            <a:off x="2352201" y="118727"/>
            <a:ext cx="3064697" cy="26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361" spc="364">
                <a:solidFill>
                  <a:srgbClr val="D53D72"/>
                </a:solidFill>
                <a:latin typeface="Bantayog Light"/>
                <a:ea typeface="Bantayog Light"/>
                <a:cs typeface="Bantayog Light"/>
                <a:sym typeface="Bantayog Light"/>
              </a:rPr>
              <a:t>Commercial Excellence</a:t>
            </a:r>
          </a:p>
        </p:txBody>
      </p:sp>
      <p:sp>
        <p:nvSpPr>
          <p:cNvPr id="10" name="TextBox 6">
            <a:hlinkClick r:id="rId7"/>
            <a:extLst>
              <a:ext uri="{FF2B5EF4-FFF2-40B4-BE49-F238E27FC236}">
                <a16:creationId xmlns:a16="http://schemas.microsoft.com/office/drawing/2014/main" id="{3F89A00C-AA88-C5B8-7B1F-2C12B488A2C7}"/>
              </a:ext>
            </a:extLst>
          </p:cNvPr>
          <p:cNvSpPr txBox="1"/>
          <p:nvPr/>
        </p:nvSpPr>
        <p:spPr>
          <a:xfrm rot="-5400000">
            <a:off x="-1017675" y="3590473"/>
            <a:ext cx="2758058" cy="19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"/>
              </a:lnSpc>
            </a:pPr>
            <a:r>
              <a:rPr lang="en-US" sz="1009" spc="27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@kateburda.com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D6DF8C8-DB65-ED1B-26C6-5FD79AF5FE52}"/>
              </a:ext>
            </a:extLst>
          </p:cNvPr>
          <p:cNvSpPr/>
          <p:nvPr/>
        </p:nvSpPr>
        <p:spPr>
          <a:xfrm>
            <a:off x="0" y="-47097"/>
            <a:ext cx="7315196" cy="73568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8"/>
          </a:p>
        </p:txBody>
      </p:sp>
      <p:sp>
        <p:nvSpPr>
          <p:cNvPr id="2" name="AutoShape 2"/>
          <p:cNvSpPr/>
          <p:nvPr/>
        </p:nvSpPr>
        <p:spPr>
          <a:xfrm rot="5400000">
            <a:off x="-3003367" y="3678429"/>
            <a:ext cx="735685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2058"/>
          </a:p>
        </p:txBody>
      </p:sp>
      <p:sp>
        <p:nvSpPr>
          <p:cNvPr id="3" name="Freeform 3"/>
          <p:cNvSpPr/>
          <p:nvPr/>
        </p:nvSpPr>
        <p:spPr>
          <a:xfrm>
            <a:off x="2771213" y="4967511"/>
            <a:ext cx="2226668" cy="2882417"/>
          </a:xfrm>
          <a:custGeom>
            <a:avLst/>
            <a:gdLst/>
            <a:ahLst/>
            <a:cxnLst/>
            <a:rect l="l" t="t" r="r" b="b"/>
            <a:pathLst>
              <a:path w="1948334" h="2522115">
                <a:moveTo>
                  <a:pt x="0" y="0"/>
                </a:moveTo>
                <a:lnTo>
                  <a:pt x="1948334" y="0"/>
                </a:lnTo>
                <a:lnTo>
                  <a:pt x="1948334" y="2522115"/>
                </a:lnTo>
                <a:lnTo>
                  <a:pt x="0" y="252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2058"/>
          </a:p>
        </p:txBody>
      </p:sp>
      <p:sp>
        <p:nvSpPr>
          <p:cNvPr id="4" name="TextBox 4"/>
          <p:cNvSpPr txBox="1"/>
          <p:nvPr/>
        </p:nvSpPr>
        <p:spPr>
          <a:xfrm>
            <a:off x="1725387" y="611733"/>
            <a:ext cx="4408800" cy="5010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3953" b="1" spc="426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THE PROBLEM IS WHEN THE CUSTOMER IS AWARE OF THE PRODUCT THERE IS </a:t>
            </a:r>
            <a:r>
              <a:rPr lang="en-US" sz="3953" b="1" u="sng" spc="426">
                <a:solidFill>
                  <a:srgbClr val="FFFFFF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LITTLE</a:t>
            </a:r>
            <a:r>
              <a:rPr lang="en-US" sz="3953" b="1" spc="426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 THAT SALES AND MARKETING CAN DO TO </a:t>
            </a:r>
            <a:r>
              <a:rPr lang="en-US" sz="3953" b="1" spc="426">
                <a:solidFill>
                  <a:srgbClr val="FFFFFF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ADD VALUE.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52201" y="118727"/>
            <a:ext cx="3064697" cy="26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361" spc="364">
                <a:solidFill>
                  <a:srgbClr val="D53D72"/>
                </a:solidFill>
                <a:latin typeface="Bantayog Light"/>
                <a:ea typeface="Bantayog Light"/>
                <a:cs typeface="Bantayog Light"/>
                <a:sym typeface="Bantayog Light"/>
              </a:rPr>
              <a:t>Commercial Excellence</a:t>
            </a:r>
          </a:p>
        </p:txBody>
      </p:sp>
      <p:sp>
        <p:nvSpPr>
          <p:cNvPr id="8" name="TextBox 6">
            <a:hlinkClick r:id="rId4"/>
            <a:extLst>
              <a:ext uri="{FF2B5EF4-FFF2-40B4-BE49-F238E27FC236}">
                <a16:creationId xmlns:a16="http://schemas.microsoft.com/office/drawing/2014/main" id="{995BFF71-5FB2-085C-4C7F-6DCBF49DBB23}"/>
              </a:ext>
            </a:extLst>
          </p:cNvPr>
          <p:cNvSpPr txBox="1"/>
          <p:nvPr/>
        </p:nvSpPr>
        <p:spPr>
          <a:xfrm rot="-5400000">
            <a:off x="-980388" y="3611303"/>
            <a:ext cx="2758058" cy="19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"/>
              </a:lnSpc>
            </a:pPr>
            <a:r>
              <a:rPr lang="en-US" sz="1009" spc="27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@kateburda.com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5B831E-46D5-BB00-AE32-DA93BEE565C1}"/>
              </a:ext>
            </a:extLst>
          </p:cNvPr>
          <p:cNvSpPr/>
          <p:nvPr/>
        </p:nvSpPr>
        <p:spPr>
          <a:xfrm>
            <a:off x="0" y="31713"/>
            <a:ext cx="7315200" cy="73568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8"/>
          </a:p>
        </p:txBody>
      </p:sp>
      <p:sp>
        <p:nvSpPr>
          <p:cNvPr id="2" name="AutoShape 2"/>
          <p:cNvSpPr/>
          <p:nvPr/>
        </p:nvSpPr>
        <p:spPr>
          <a:xfrm rot="5400000">
            <a:off x="-3082288" y="3678427"/>
            <a:ext cx="735685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2058"/>
          </a:p>
        </p:txBody>
      </p:sp>
      <p:sp>
        <p:nvSpPr>
          <p:cNvPr id="3" name="Freeform 3"/>
          <p:cNvSpPr/>
          <p:nvPr/>
        </p:nvSpPr>
        <p:spPr>
          <a:xfrm>
            <a:off x="2771213" y="4967511"/>
            <a:ext cx="2226668" cy="2882417"/>
          </a:xfrm>
          <a:custGeom>
            <a:avLst/>
            <a:gdLst/>
            <a:ahLst/>
            <a:cxnLst/>
            <a:rect l="l" t="t" r="r" b="b"/>
            <a:pathLst>
              <a:path w="1948334" h="2522115">
                <a:moveTo>
                  <a:pt x="0" y="0"/>
                </a:moveTo>
                <a:lnTo>
                  <a:pt x="1948334" y="0"/>
                </a:lnTo>
                <a:lnTo>
                  <a:pt x="1948334" y="2522115"/>
                </a:lnTo>
                <a:lnTo>
                  <a:pt x="0" y="252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2058"/>
          </a:p>
        </p:txBody>
      </p:sp>
      <p:sp>
        <p:nvSpPr>
          <p:cNvPr id="4" name="TextBox 4"/>
          <p:cNvSpPr txBox="1"/>
          <p:nvPr/>
        </p:nvSpPr>
        <p:spPr>
          <a:xfrm>
            <a:off x="1567546" y="762483"/>
            <a:ext cx="4408800" cy="3817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sz="3382" b="1" u="sng" spc="364" dirty="0">
                <a:solidFill>
                  <a:srgbClr val="FFFFFF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WHY?</a:t>
            </a:r>
          </a:p>
          <a:p>
            <a:pPr algn="ctr">
              <a:lnSpc>
                <a:spcPts val="3347"/>
              </a:lnSpc>
            </a:pPr>
            <a:endParaRPr lang="en-US" sz="3382" b="1" u="sng" spc="364" dirty="0">
              <a:solidFill>
                <a:srgbClr val="FFFFFF"/>
              </a:solidFill>
              <a:latin typeface="Bodoni FLF Bold"/>
              <a:ea typeface="Bodoni FLF Bold"/>
              <a:cs typeface="Bodoni FLF Bold"/>
              <a:sym typeface="Bodoni FLF Bold"/>
            </a:endParaRPr>
          </a:p>
          <a:p>
            <a:pPr algn="ctr">
              <a:lnSpc>
                <a:spcPts val="3347"/>
              </a:lnSpc>
            </a:pPr>
            <a:r>
              <a:rPr lang="en-US" sz="3382" b="1" spc="364" dirty="0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BECAUSE THE CUSTOMER HAS ALREADY STARTING TRYING TO FIGURE OUT WHAT MAKES SENSE FOR WHAT THEY ARE NEEDING.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52201" y="118727"/>
            <a:ext cx="3064697" cy="26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361" spc="364">
                <a:solidFill>
                  <a:srgbClr val="D53D72"/>
                </a:solidFill>
                <a:latin typeface="Bantayog Light"/>
                <a:ea typeface="Bantayog Light"/>
                <a:cs typeface="Bantayog Light"/>
                <a:sym typeface="Bantayog Light"/>
              </a:rPr>
              <a:t>Commercial Excellence</a:t>
            </a:r>
          </a:p>
        </p:txBody>
      </p:sp>
      <p:sp>
        <p:nvSpPr>
          <p:cNvPr id="8" name="TextBox 6">
            <a:hlinkClick r:id="rId4"/>
            <a:extLst>
              <a:ext uri="{FF2B5EF4-FFF2-40B4-BE49-F238E27FC236}">
                <a16:creationId xmlns:a16="http://schemas.microsoft.com/office/drawing/2014/main" id="{5D7F77B2-E608-E68E-28B1-6B774B1409E5}"/>
              </a:ext>
            </a:extLst>
          </p:cNvPr>
          <p:cNvSpPr txBox="1"/>
          <p:nvPr/>
        </p:nvSpPr>
        <p:spPr>
          <a:xfrm rot="-5400000">
            <a:off x="-1059309" y="3611300"/>
            <a:ext cx="2758058" cy="19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"/>
              </a:lnSpc>
            </a:pPr>
            <a:r>
              <a:rPr lang="en-US" sz="1009" spc="27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@kateburda.com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E6B18D2-8758-EA11-8EA9-86632F5660A6}"/>
              </a:ext>
            </a:extLst>
          </p:cNvPr>
          <p:cNvSpPr/>
          <p:nvPr/>
        </p:nvSpPr>
        <p:spPr>
          <a:xfrm>
            <a:off x="1" y="-47097"/>
            <a:ext cx="7315198" cy="73568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8"/>
          </a:p>
        </p:txBody>
      </p:sp>
      <p:sp>
        <p:nvSpPr>
          <p:cNvPr id="2" name="AutoShape 2"/>
          <p:cNvSpPr/>
          <p:nvPr/>
        </p:nvSpPr>
        <p:spPr>
          <a:xfrm rot="5400000">
            <a:off x="-3074474" y="3678429"/>
            <a:ext cx="735685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2058"/>
          </a:p>
        </p:txBody>
      </p:sp>
      <p:sp>
        <p:nvSpPr>
          <p:cNvPr id="3" name="Freeform 3"/>
          <p:cNvSpPr/>
          <p:nvPr/>
        </p:nvSpPr>
        <p:spPr>
          <a:xfrm>
            <a:off x="2771213" y="4967511"/>
            <a:ext cx="2226668" cy="2882417"/>
          </a:xfrm>
          <a:custGeom>
            <a:avLst/>
            <a:gdLst/>
            <a:ahLst/>
            <a:cxnLst/>
            <a:rect l="l" t="t" r="r" b="b"/>
            <a:pathLst>
              <a:path w="1948334" h="2522115">
                <a:moveTo>
                  <a:pt x="0" y="0"/>
                </a:moveTo>
                <a:lnTo>
                  <a:pt x="1948334" y="0"/>
                </a:lnTo>
                <a:lnTo>
                  <a:pt x="1948334" y="2522115"/>
                </a:lnTo>
                <a:lnTo>
                  <a:pt x="0" y="252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2058"/>
          </a:p>
        </p:txBody>
      </p:sp>
      <p:sp>
        <p:nvSpPr>
          <p:cNvPr id="4" name="TextBox 4"/>
          <p:cNvSpPr txBox="1"/>
          <p:nvPr/>
        </p:nvSpPr>
        <p:spPr>
          <a:xfrm>
            <a:off x="1567546" y="762484"/>
            <a:ext cx="4408800" cy="3817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"/>
              </a:lnSpc>
            </a:pPr>
            <a:endParaRPr sz="2058" dirty="0"/>
          </a:p>
          <a:p>
            <a:pPr algn="ctr">
              <a:lnSpc>
                <a:spcPts val="3347"/>
              </a:lnSpc>
            </a:pPr>
            <a:endParaRPr sz="2058" dirty="0"/>
          </a:p>
          <a:p>
            <a:pPr algn="ctr">
              <a:lnSpc>
                <a:spcPts val="3347"/>
              </a:lnSpc>
            </a:pPr>
            <a:r>
              <a:rPr lang="en-US" sz="3382" b="1" spc="364" dirty="0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YOU ARE GETTING THERE TOO LATE IN THE JOURNEY YOU ARE DOING</a:t>
            </a:r>
          </a:p>
          <a:p>
            <a:pPr algn="ctr">
              <a:lnSpc>
                <a:spcPts val="3347"/>
              </a:lnSpc>
            </a:pPr>
            <a:r>
              <a:rPr lang="en-US" sz="3382" b="1" spc="364" dirty="0">
                <a:solidFill>
                  <a:srgbClr val="FFFFFF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EXACTLY</a:t>
            </a:r>
          </a:p>
          <a:p>
            <a:pPr algn="ctr">
              <a:lnSpc>
                <a:spcPts val="3347"/>
              </a:lnSpc>
            </a:pPr>
            <a:r>
              <a:rPr lang="en-US" sz="3382" b="1" spc="364" dirty="0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WHAT YOU DON’T WANT TO DO.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52201" y="118727"/>
            <a:ext cx="3064697" cy="26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361" spc="364">
                <a:solidFill>
                  <a:srgbClr val="D53D72"/>
                </a:solidFill>
                <a:latin typeface="Bantayog Light"/>
                <a:ea typeface="Bantayog Light"/>
                <a:cs typeface="Bantayog Light"/>
                <a:sym typeface="Bantayog Light"/>
              </a:rPr>
              <a:t>Commercial Excellence</a:t>
            </a:r>
          </a:p>
        </p:txBody>
      </p:sp>
      <p:sp>
        <p:nvSpPr>
          <p:cNvPr id="8" name="TextBox 6">
            <a:hlinkClick r:id="rId4"/>
            <a:extLst>
              <a:ext uri="{FF2B5EF4-FFF2-40B4-BE49-F238E27FC236}">
                <a16:creationId xmlns:a16="http://schemas.microsoft.com/office/drawing/2014/main" id="{A78E559C-BA30-2996-BB90-121BBC9517E5}"/>
              </a:ext>
            </a:extLst>
          </p:cNvPr>
          <p:cNvSpPr txBox="1"/>
          <p:nvPr/>
        </p:nvSpPr>
        <p:spPr>
          <a:xfrm rot="-5400000">
            <a:off x="-1051495" y="3611302"/>
            <a:ext cx="2758058" cy="19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"/>
              </a:lnSpc>
            </a:pPr>
            <a:r>
              <a:rPr lang="en-US" sz="1009" spc="27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@kateburda.com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2BEF56-846B-839B-C2D1-C7C37A947D48}"/>
              </a:ext>
            </a:extLst>
          </p:cNvPr>
          <p:cNvSpPr/>
          <p:nvPr/>
        </p:nvSpPr>
        <p:spPr>
          <a:xfrm>
            <a:off x="0" y="-47097"/>
            <a:ext cx="7315200" cy="73568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8"/>
          </a:p>
        </p:txBody>
      </p:sp>
      <p:sp>
        <p:nvSpPr>
          <p:cNvPr id="2" name="AutoShape 2"/>
          <p:cNvSpPr/>
          <p:nvPr/>
        </p:nvSpPr>
        <p:spPr>
          <a:xfrm rot="5400000">
            <a:off x="-2986750" y="3678428"/>
            <a:ext cx="735685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2058"/>
          </a:p>
        </p:txBody>
      </p:sp>
      <p:sp>
        <p:nvSpPr>
          <p:cNvPr id="3" name="Freeform 3"/>
          <p:cNvSpPr/>
          <p:nvPr/>
        </p:nvSpPr>
        <p:spPr>
          <a:xfrm>
            <a:off x="2771213" y="4967511"/>
            <a:ext cx="2226668" cy="2882417"/>
          </a:xfrm>
          <a:custGeom>
            <a:avLst/>
            <a:gdLst/>
            <a:ahLst/>
            <a:cxnLst/>
            <a:rect l="l" t="t" r="r" b="b"/>
            <a:pathLst>
              <a:path w="1948334" h="2522115">
                <a:moveTo>
                  <a:pt x="0" y="0"/>
                </a:moveTo>
                <a:lnTo>
                  <a:pt x="1948334" y="0"/>
                </a:lnTo>
                <a:lnTo>
                  <a:pt x="1948334" y="2522115"/>
                </a:lnTo>
                <a:lnTo>
                  <a:pt x="0" y="252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2058"/>
          </a:p>
        </p:txBody>
      </p:sp>
      <p:sp>
        <p:nvSpPr>
          <p:cNvPr id="4" name="TextBox 4"/>
          <p:cNvSpPr txBox="1"/>
          <p:nvPr/>
        </p:nvSpPr>
        <p:spPr>
          <a:xfrm>
            <a:off x="1680149" y="850795"/>
            <a:ext cx="4408800" cy="424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sz="3382" spc="364">
                <a:solidFill>
                  <a:srgbClr val="D53D72"/>
                </a:solidFill>
                <a:latin typeface="Bodoni FLF"/>
                <a:ea typeface="Bodoni FLF"/>
                <a:cs typeface="Bodoni FLF"/>
                <a:sym typeface="Bodoni FLF"/>
              </a:rPr>
              <a:t>BECOMING A </a:t>
            </a:r>
          </a:p>
          <a:p>
            <a:pPr algn="ctr">
              <a:lnSpc>
                <a:spcPts val="3347"/>
              </a:lnSpc>
            </a:pPr>
            <a:endParaRPr lang="en-US" sz="3382" spc="364">
              <a:solidFill>
                <a:srgbClr val="D53D72"/>
              </a:solidFill>
              <a:latin typeface="Bodoni FLF"/>
              <a:ea typeface="Bodoni FLF"/>
              <a:cs typeface="Bodoni FLF"/>
              <a:sym typeface="Bodoni FLF"/>
            </a:endParaRPr>
          </a:p>
          <a:p>
            <a:pPr algn="ctr">
              <a:lnSpc>
                <a:spcPts val="3347"/>
              </a:lnSpc>
            </a:pPr>
            <a:r>
              <a:rPr lang="en-US" sz="3382" spc="364">
                <a:solidFill>
                  <a:srgbClr val="FFFFFF"/>
                </a:solidFill>
                <a:latin typeface="Bodoni FLF"/>
                <a:ea typeface="Bodoni FLF"/>
                <a:cs typeface="Bodoni FLF"/>
                <a:sym typeface="Bodoni FLF"/>
              </a:rPr>
              <a:t>COMMODITY</a:t>
            </a:r>
          </a:p>
          <a:p>
            <a:pPr algn="ctr">
              <a:lnSpc>
                <a:spcPts val="3347"/>
              </a:lnSpc>
            </a:pPr>
            <a:endParaRPr lang="en-US" sz="3382" spc="364">
              <a:solidFill>
                <a:srgbClr val="FFFFFF"/>
              </a:solidFill>
              <a:latin typeface="Bodoni FLF"/>
              <a:ea typeface="Bodoni FLF"/>
              <a:cs typeface="Bodoni FLF"/>
              <a:sym typeface="Bodoni FLF"/>
            </a:endParaRPr>
          </a:p>
          <a:p>
            <a:pPr algn="ctr">
              <a:lnSpc>
                <a:spcPts val="3347"/>
              </a:lnSpc>
            </a:pPr>
            <a:endParaRPr lang="en-US" sz="3382" spc="364">
              <a:solidFill>
                <a:srgbClr val="FFFFFF"/>
              </a:solidFill>
              <a:latin typeface="Bodoni FLF"/>
              <a:ea typeface="Bodoni FLF"/>
              <a:cs typeface="Bodoni FLF"/>
              <a:sym typeface="Bodoni FLF"/>
            </a:endParaRPr>
          </a:p>
          <a:p>
            <a:pPr algn="ctr">
              <a:lnSpc>
                <a:spcPts val="3347"/>
              </a:lnSpc>
            </a:pPr>
            <a:endParaRPr lang="en-US" sz="3382" spc="364">
              <a:solidFill>
                <a:srgbClr val="FFFFFF"/>
              </a:solidFill>
              <a:latin typeface="Bodoni FLF"/>
              <a:ea typeface="Bodoni FLF"/>
              <a:cs typeface="Bodoni FLF"/>
              <a:sym typeface="Bodoni FLF"/>
            </a:endParaRPr>
          </a:p>
          <a:p>
            <a:pPr algn="ctr">
              <a:lnSpc>
                <a:spcPts val="3347"/>
              </a:lnSpc>
            </a:pPr>
            <a:endParaRPr lang="en-US" sz="3382" spc="364">
              <a:solidFill>
                <a:srgbClr val="FFFFFF"/>
              </a:solidFill>
              <a:latin typeface="Bodoni FLF"/>
              <a:ea typeface="Bodoni FLF"/>
              <a:cs typeface="Bodoni FLF"/>
              <a:sym typeface="Bodoni FLF"/>
            </a:endParaRPr>
          </a:p>
          <a:p>
            <a:pPr algn="ctr">
              <a:lnSpc>
                <a:spcPts val="3347"/>
              </a:lnSpc>
            </a:pPr>
            <a:endParaRPr lang="en-US" sz="3382" spc="364">
              <a:solidFill>
                <a:srgbClr val="FFFFFF"/>
              </a:solidFill>
              <a:latin typeface="Bodoni FLF"/>
              <a:ea typeface="Bodoni FLF"/>
              <a:cs typeface="Bodoni FLF"/>
              <a:sym typeface="Bodoni FLF"/>
            </a:endParaRPr>
          </a:p>
          <a:p>
            <a:pPr algn="ctr">
              <a:lnSpc>
                <a:spcPts val="3347"/>
              </a:lnSpc>
            </a:pPr>
            <a:endParaRPr lang="en-US" sz="3382" spc="364">
              <a:solidFill>
                <a:srgbClr val="FFFFFF"/>
              </a:solidFill>
              <a:latin typeface="Bodoni FLF"/>
              <a:ea typeface="Bodoni FLF"/>
              <a:cs typeface="Bodoni FLF"/>
              <a:sym typeface="Bodoni FLF"/>
            </a:endParaRPr>
          </a:p>
          <a:p>
            <a:pPr algn="ctr">
              <a:lnSpc>
                <a:spcPts val="3347"/>
              </a:lnSpc>
            </a:pPr>
            <a:r>
              <a:rPr lang="en-US" sz="3382" spc="364">
                <a:solidFill>
                  <a:srgbClr val="D53D72"/>
                </a:solidFill>
                <a:latin typeface="Bodoni FLF"/>
                <a:ea typeface="Bodoni FLF"/>
                <a:cs typeface="Bodoni FLF"/>
                <a:sym typeface="Bodoni FLF"/>
              </a:rPr>
              <a:t>SHAME ON YOU.</a:t>
            </a:r>
          </a:p>
        </p:txBody>
      </p:sp>
      <p:sp>
        <p:nvSpPr>
          <p:cNvPr id="5" name="Freeform 5"/>
          <p:cNvSpPr/>
          <p:nvPr/>
        </p:nvSpPr>
        <p:spPr>
          <a:xfrm>
            <a:off x="2474935" y="2500581"/>
            <a:ext cx="2819225" cy="1879483"/>
          </a:xfrm>
          <a:custGeom>
            <a:avLst/>
            <a:gdLst/>
            <a:ahLst/>
            <a:cxnLst/>
            <a:rect l="l" t="t" r="r" b="b"/>
            <a:pathLst>
              <a:path w="2466822" h="1644548">
                <a:moveTo>
                  <a:pt x="0" y="0"/>
                </a:moveTo>
                <a:lnTo>
                  <a:pt x="2466822" y="0"/>
                </a:lnTo>
                <a:lnTo>
                  <a:pt x="2466822" y="1644548"/>
                </a:lnTo>
                <a:lnTo>
                  <a:pt x="0" y="16445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sz="2058"/>
          </a:p>
        </p:txBody>
      </p:sp>
      <p:sp>
        <p:nvSpPr>
          <p:cNvPr id="6" name="TextBox 6"/>
          <p:cNvSpPr txBox="1"/>
          <p:nvPr/>
        </p:nvSpPr>
        <p:spPr>
          <a:xfrm>
            <a:off x="2352201" y="118727"/>
            <a:ext cx="3064697" cy="26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361" spc="364">
                <a:solidFill>
                  <a:srgbClr val="D53D72"/>
                </a:solidFill>
                <a:latin typeface="Bantayog Light"/>
                <a:ea typeface="Bantayog Light"/>
                <a:cs typeface="Bantayog Light"/>
                <a:sym typeface="Bantayog Light"/>
              </a:rPr>
              <a:t>Commercial Excellence</a:t>
            </a:r>
          </a:p>
        </p:txBody>
      </p:sp>
      <p:sp>
        <p:nvSpPr>
          <p:cNvPr id="9" name="TextBox 6">
            <a:hlinkClick r:id="rId5"/>
            <a:extLst>
              <a:ext uri="{FF2B5EF4-FFF2-40B4-BE49-F238E27FC236}">
                <a16:creationId xmlns:a16="http://schemas.microsoft.com/office/drawing/2014/main" id="{31229D7E-594C-DDC4-E31A-C2F804B616C5}"/>
              </a:ext>
            </a:extLst>
          </p:cNvPr>
          <p:cNvSpPr txBox="1"/>
          <p:nvPr/>
        </p:nvSpPr>
        <p:spPr>
          <a:xfrm rot="-5400000">
            <a:off x="-963771" y="3611302"/>
            <a:ext cx="2758058" cy="19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"/>
              </a:lnSpc>
            </a:pPr>
            <a:r>
              <a:rPr lang="en-US" sz="1009" spc="27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@kateburda.com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E33ED82-BE28-9722-F3D9-9C85A18A1D28}"/>
              </a:ext>
            </a:extLst>
          </p:cNvPr>
          <p:cNvSpPr/>
          <p:nvPr/>
        </p:nvSpPr>
        <p:spPr>
          <a:xfrm>
            <a:off x="0" y="-47097"/>
            <a:ext cx="7315200" cy="73568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8"/>
          </a:p>
        </p:txBody>
      </p:sp>
      <p:sp>
        <p:nvSpPr>
          <p:cNvPr id="2" name="AutoShape 2"/>
          <p:cNvSpPr/>
          <p:nvPr/>
        </p:nvSpPr>
        <p:spPr>
          <a:xfrm rot="5400000">
            <a:off x="-3089348" y="3678428"/>
            <a:ext cx="735685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2058"/>
          </a:p>
        </p:txBody>
      </p:sp>
      <p:sp>
        <p:nvSpPr>
          <p:cNvPr id="3" name="Freeform 3"/>
          <p:cNvSpPr/>
          <p:nvPr/>
        </p:nvSpPr>
        <p:spPr>
          <a:xfrm>
            <a:off x="2771213" y="4967511"/>
            <a:ext cx="2226668" cy="2882417"/>
          </a:xfrm>
          <a:custGeom>
            <a:avLst/>
            <a:gdLst/>
            <a:ahLst/>
            <a:cxnLst/>
            <a:rect l="l" t="t" r="r" b="b"/>
            <a:pathLst>
              <a:path w="1948334" h="2522115">
                <a:moveTo>
                  <a:pt x="0" y="0"/>
                </a:moveTo>
                <a:lnTo>
                  <a:pt x="1948334" y="0"/>
                </a:lnTo>
                <a:lnTo>
                  <a:pt x="1948334" y="2522115"/>
                </a:lnTo>
                <a:lnTo>
                  <a:pt x="0" y="252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2058"/>
          </a:p>
        </p:txBody>
      </p:sp>
      <p:sp>
        <p:nvSpPr>
          <p:cNvPr id="4" name="TextBox 4"/>
          <p:cNvSpPr txBox="1"/>
          <p:nvPr/>
        </p:nvSpPr>
        <p:spPr>
          <a:xfrm>
            <a:off x="1725387" y="738132"/>
            <a:ext cx="4408800" cy="5114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3498" b="1" spc="377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SO LET’S </a:t>
            </a:r>
          </a:p>
          <a:p>
            <a:pPr algn="ctr">
              <a:lnSpc>
                <a:spcPts val="3461"/>
              </a:lnSpc>
            </a:pPr>
            <a:r>
              <a:rPr lang="en-US" sz="3498" b="1" spc="377">
                <a:solidFill>
                  <a:srgbClr val="FFFFFF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FLIP THE SCRIPT!</a:t>
            </a:r>
          </a:p>
          <a:p>
            <a:pPr algn="ctr">
              <a:lnSpc>
                <a:spcPts val="4140"/>
              </a:lnSpc>
            </a:pPr>
            <a:endParaRPr lang="en-US" sz="3498" b="1" spc="377">
              <a:solidFill>
                <a:srgbClr val="FFFFFF"/>
              </a:solidFill>
              <a:latin typeface="Bodoni FLF Bold"/>
              <a:ea typeface="Bodoni FLF Bold"/>
              <a:cs typeface="Bodoni FLF Bold"/>
              <a:sym typeface="Bodoni FLF Bold"/>
            </a:endParaRPr>
          </a:p>
          <a:p>
            <a:pPr algn="ctr">
              <a:lnSpc>
                <a:spcPts val="4140"/>
              </a:lnSpc>
            </a:pPr>
            <a:r>
              <a:rPr lang="en-US" sz="4182" b="1" spc="453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SALES AND MARKETING NEED TO CONNECT WITH THEIR CUSTOMERS </a:t>
            </a:r>
            <a:r>
              <a:rPr lang="en-US" sz="4182" b="1" spc="453">
                <a:solidFill>
                  <a:srgbClr val="FFFFFF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EARLIER.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52201" y="118727"/>
            <a:ext cx="3064697" cy="26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361" spc="364">
                <a:solidFill>
                  <a:srgbClr val="D53D72"/>
                </a:solidFill>
                <a:latin typeface="Bantayog Light"/>
                <a:ea typeface="Bantayog Light"/>
                <a:cs typeface="Bantayog Light"/>
                <a:sym typeface="Bantayog Light"/>
              </a:rPr>
              <a:t>Commercial Excellence</a:t>
            </a:r>
          </a:p>
        </p:txBody>
      </p:sp>
      <p:sp>
        <p:nvSpPr>
          <p:cNvPr id="8" name="TextBox 6">
            <a:hlinkClick r:id="rId4"/>
            <a:extLst>
              <a:ext uri="{FF2B5EF4-FFF2-40B4-BE49-F238E27FC236}">
                <a16:creationId xmlns:a16="http://schemas.microsoft.com/office/drawing/2014/main" id="{2F3F9108-8453-0D78-3C88-BDAD59F2A589}"/>
              </a:ext>
            </a:extLst>
          </p:cNvPr>
          <p:cNvSpPr txBox="1"/>
          <p:nvPr/>
        </p:nvSpPr>
        <p:spPr>
          <a:xfrm rot="-5400000">
            <a:off x="-1066369" y="3611302"/>
            <a:ext cx="2758058" cy="19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"/>
              </a:lnSpc>
            </a:pPr>
            <a:r>
              <a:rPr lang="en-US" sz="1009" spc="27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@kateburda.com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BCBC50D-6E21-606A-3F4C-A2B5330BC2F1}"/>
              </a:ext>
            </a:extLst>
          </p:cNvPr>
          <p:cNvSpPr/>
          <p:nvPr/>
        </p:nvSpPr>
        <p:spPr>
          <a:xfrm>
            <a:off x="0" y="-47097"/>
            <a:ext cx="7315193" cy="73568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8"/>
          </a:p>
        </p:txBody>
      </p:sp>
      <p:sp>
        <p:nvSpPr>
          <p:cNvPr id="2" name="AutoShape 2"/>
          <p:cNvSpPr/>
          <p:nvPr/>
        </p:nvSpPr>
        <p:spPr>
          <a:xfrm rot="5400000">
            <a:off x="-3006673" y="3678429"/>
            <a:ext cx="735685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2058"/>
          </a:p>
        </p:txBody>
      </p:sp>
      <p:sp>
        <p:nvSpPr>
          <p:cNvPr id="3" name="Freeform 3"/>
          <p:cNvSpPr/>
          <p:nvPr/>
        </p:nvSpPr>
        <p:spPr>
          <a:xfrm>
            <a:off x="2771213" y="4967511"/>
            <a:ext cx="2226668" cy="2882417"/>
          </a:xfrm>
          <a:custGeom>
            <a:avLst/>
            <a:gdLst/>
            <a:ahLst/>
            <a:cxnLst/>
            <a:rect l="l" t="t" r="r" b="b"/>
            <a:pathLst>
              <a:path w="1948334" h="2522115">
                <a:moveTo>
                  <a:pt x="0" y="0"/>
                </a:moveTo>
                <a:lnTo>
                  <a:pt x="1948334" y="0"/>
                </a:lnTo>
                <a:lnTo>
                  <a:pt x="1948334" y="2522115"/>
                </a:lnTo>
                <a:lnTo>
                  <a:pt x="0" y="252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2058"/>
          </a:p>
        </p:txBody>
      </p:sp>
      <p:sp>
        <p:nvSpPr>
          <p:cNvPr id="4" name="TextBox 4"/>
          <p:cNvSpPr txBox="1"/>
          <p:nvPr/>
        </p:nvSpPr>
        <p:spPr>
          <a:xfrm>
            <a:off x="1677277" y="671528"/>
            <a:ext cx="4408800" cy="536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4"/>
              </a:lnSpc>
            </a:pPr>
            <a:r>
              <a:rPr lang="en-US" sz="3269" b="1" spc="352" dirty="0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THEY NEED TO SHOW UP WHEN THE CUSTOMER IS </a:t>
            </a:r>
            <a:r>
              <a:rPr lang="en-US" sz="3269" b="1" u="sng" spc="352" dirty="0">
                <a:solidFill>
                  <a:srgbClr val="FFFFFF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AWARE OF THE SITUATION</a:t>
            </a:r>
          </a:p>
          <a:p>
            <a:pPr algn="ctr">
              <a:lnSpc>
                <a:spcPts val="4250"/>
              </a:lnSpc>
            </a:pPr>
            <a:endParaRPr lang="en-US" sz="3269" b="1" u="sng" spc="352" dirty="0">
              <a:solidFill>
                <a:srgbClr val="FFFFFF"/>
              </a:solidFill>
              <a:latin typeface="Bodoni FLF Bold"/>
              <a:ea typeface="Bodoni FLF Bold"/>
              <a:cs typeface="Bodoni FLF Bold"/>
              <a:sym typeface="Bodoni FLF Bold"/>
            </a:endParaRPr>
          </a:p>
          <a:p>
            <a:pPr algn="ctr">
              <a:lnSpc>
                <a:spcPts val="4250"/>
              </a:lnSpc>
            </a:pPr>
            <a:endParaRPr lang="en-US" sz="3269" b="1" u="sng" spc="352" dirty="0">
              <a:solidFill>
                <a:srgbClr val="FFFFFF"/>
              </a:solidFill>
              <a:latin typeface="Bodoni FLF Bold"/>
              <a:ea typeface="Bodoni FLF Bold"/>
              <a:cs typeface="Bodoni FLF Bold"/>
              <a:sym typeface="Bodoni FLF Bold"/>
            </a:endParaRPr>
          </a:p>
          <a:p>
            <a:pPr algn="ctr">
              <a:lnSpc>
                <a:spcPts val="4250"/>
              </a:lnSpc>
            </a:pPr>
            <a:r>
              <a:rPr lang="en-US" sz="4295" b="1" spc="463" dirty="0">
                <a:solidFill>
                  <a:srgbClr val="FFFFFF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NOT WHEN THEY ARE AWARE OF THE PRODUCT</a:t>
            </a:r>
          </a:p>
        </p:txBody>
      </p:sp>
      <p:sp>
        <p:nvSpPr>
          <p:cNvPr id="5" name="Freeform 5"/>
          <p:cNvSpPr/>
          <p:nvPr/>
        </p:nvSpPr>
        <p:spPr>
          <a:xfrm>
            <a:off x="3441528" y="2823181"/>
            <a:ext cx="1118132" cy="944822"/>
          </a:xfrm>
          <a:custGeom>
            <a:avLst/>
            <a:gdLst/>
            <a:ahLst/>
            <a:cxnLst/>
            <a:rect l="l" t="t" r="r" b="b"/>
            <a:pathLst>
              <a:path w="978364" h="826718">
                <a:moveTo>
                  <a:pt x="0" y="0"/>
                </a:moveTo>
                <a:lnTo>
                  <a:pt x="978364" y="0"/>
                </a:lnTo>
                <a:lnTo>
                  <a:pt x="978364" y="826718"/>
                </a:lnTo>
                <a:lnTo>
                  <a:pt x="0" y="8267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2058"/>
          </a:p>
        </p:txBody>
      </p:sp>
      <p:sp>
        <p:nvSpPr>
          <p:cNvPr id="6" name="TextBox 6"/>
          <p:cNvSpPr txBox="1"/>
          <p:nvPr/>
        </p:nvSpPr>
        <p:spPr>
          <a:xfrm>
            <a:off x="2352201" y="118727"/>
            <a:ext cx="3064697" cy="26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361" spc="364">
                <a:solidFill>
                  <a:srgbClr val="D53D72"/>
                </a:solidFill>
                <a:latin typeface="Bantayog Light"/>
                <a:ea typeface="Bantayog Light"/>
                <a:cs typeface="Bantayog Light"/>
                <a:sym typeface="Bantayog Light"/>
              </a:rPr>
              <a:t>Commercial Excellence</a:t>
            </a:r>
          </a:p>
        </p:txBody>
      </p:sp>
      <p:sp>
        <p:nvSpPr>
          <p:cNvPr id="9" name="TextBox 6">
            <a:hlinkClick r:id="rId6"/>
            <a:extLst>
              <a:ext uri="{FF2B5EF4-FFF2-40B4-BE49-F238E27FC236}">
                <a16:creationId xmlns:a16="http://schemas.microsoft.com/office/drawing/2014/main" id="{B27E25DB-C188-1B9D-492E-967D3883DFAA}"/>
              </a:ext>
            </a:extLst>
          </p:cNvPr>
          <p:cNvSpPr txBox="1"/>
          <p:nvPr/>
        </p:nvSpPr>
        <p:spPr>
          <a:xfrm rot="-5400000">
            <a:off x="-983694" y="3611303"/>
            <a:ext cx="2758058" cy="19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"/>
              </a:lnSpc>
            </a:pPr>
            <a:r>
              <a:rPr lang="en-US" sz="1009" spc="27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@kateburda.com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F218768-BF59-78BC-CB8A-A76B0A151893}"/>
              </a:ext>
            </a:extLst>
          </p:cNvPr>
          <p:cNvSpPr/>
          <p:nvPr/>
        </p:nvSpPr>
        <p:spPr>
          <a:xfrm>
            <a:off x="0" y="-47097"/>
            <a:ext cx="7315198" cy="73568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8"/>
          </a:p>
        </p:txBody>
      </p:sp>
      <p:sp>
        <p:nvSpPr>
          <p:cNvPr id="2" name="AutoShape 2"/>
          <p:cNvSpPr/>
          <p:nvPr/>
        </p:nvSpPr>
        <p:spPr>
          <a:xfrm rot="5400000">
            <a:off x="-3089348" y="3636770"/>
            <a:ext cx="735685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2058"/>
          </a:p>
        </p:txBody>
      </p:sp>
      <p:sp>
        <p:nvSpPr>
          <p:cNvPr id="3" name="Freeform 3"/>
          <p:cNvSpPr/>
          <p:nvPr/>
        </p:nvSpPr>
        <p:spPr>
          <a:xfrm>
            <a:off x="2771213" y="4967511"/>
            <a:ext cx="2226668" cy="2882417"/>
          </a:xfrm>
          <a:custGeom>
            <a:avLst/>
            <a:gdLst/>
            <a:ahLst/>
            <a:cxnLst/>
            <a:rect l="l" t="t" r="r" b="b"/>
            <a:pathLst>
              <a:path w="1948334" h="2522115">
                <a:moveTo>
                  <a:pt x="0" y="0"/>
                </a:moveTo>
                <a:lnTo>
                  <a:pt x="1948334" y="0"/>
                </a:lnTo>
                <a:lnTo>
                  <a:pt x="1948334" y="2522115"/>
                </a:lnTo>
                <a:lnTo>
                  <a:pt x="0" y="252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2058"/>
          </a:p>
        </p:txBody>
      </p:sp>
      <p:sp>
        <p:nvSpPr>
          <p:cNvPr id="4" name="TextBox 4"/>
          <p:cNvSpPr txBox="1"/>
          <p:nvPr/>
        </p:nvSpPr>
        <p:spPr>
          <a:xfrm>
            <a:off x="1725387" y="822469"/>
            <a:ext cx="4408800" cy="440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4"/>
              </a:lnSpc>
            </a:pPr>
            <a:r>
              <a:rPr lang="en-US" sz="3269" b="1" spc="352" dirty="0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TO SAVE CONFUSION...</a:t>
            </a:r>
          </a:p>
          <a:p>
            <a:pPr algn="ctr">
              <a:lnSpc>
                <a:spcPts val="3234"/>
              </a:lnSpc>
            </a:pPr>
            <a:endParaRPr lang="en-US" sz="3269" b="1" spc="352" dirty="0">
              <a:solidFill>
                <a:srgbClr val="D53D72"/>
              </a:solidFill>
              <a:latin typeface="Bodoni FLF Bold"/>
              <a:ea typeface="Bodoni FLF Bold"/>
              <a:cs typeface="Bodoni FLF Bold"/>
              <a:sym typeface="Bodoni FLF Bold"/>
            </a:endParaRPr>
          </a:p>
          <a:p>
            <a:pPr algn="ctr">
              <a:lnSpc>
                <a:spcPts val="3234"/>
              </a:lnSpc>
            </a:pPr>
            <a:r>
              <a:rPr lang="en-US" sz="3269" b="1" spc="352" dirty="0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LET’S </a:t>
            </a:r>
            <a:r>
              <a:rPr lang="en-US" sz="3269" b="1" spc="352" dirty="0">
                <a:solidFill>
                  <a:srgbClr val="FFFFFF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CALL IT OUT</a:t>
            </a:r>
            <a:r>
              <a:rPr lang="en-US" sz="3269" b="1" spc="352" dirty="0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.</a:t>
            </a:r>
          </a:p>
          <a:p>
            <a:pPr algn="ctr">
              <a:lnSpc>
                <a:spcPts val="2894"/>
              </a:lnSpc>
            </a:pPr>
            <a:endParaRPr lang="en-US" sz="3269" b="1" spc="352" dirty="0">
              <a:solidFill>
                <a:srgbClr val="D53D72"/>
              </a:solidFill>
              <a:latin typeface="Bodoni FLF Bold"/>
              <a:ea typeface="Bodoni FLF Bold"/>
              <a:cs typeface="Bodoni FLF Bold"/>
              <a:sym typeface="Bodoni FLF Bold"/>
            </a:endParaRPr>
          </a:p>
          <a:p>
            <a:pPr algn="ctr">
              <a:lnSpc>
                <a:spcPts val="3121"/>
              </a:lnSpc>
            </a:pPr>
            <a:r>
              <a:rPr lang="en-US" sz="3153" b="1" i="1" u="sng" spc="340" dirty="0">
                <a:solidFill>
                  <a:srgbClr val="D53D72"/>
                </a:solidFill>
                <a:latin typeface="Bodoni FLF Bold Italics"/>
                <a:ea typeface="Bodoni FLF Bold Italics"/>
                <a:cs typeface="Bodoni FLF Bold Italics"/>
                <a:sym typeface="Bodoni FLF Bold Italics"/>
              </a:rPr>
              <a:t>BEING AWARE OF THEIR SITUATION AND AWARE OF YOUR PRODUCT ARE </a:t>
            </a:r>
          </a:p>
          <a:p>
            <a:pPr algn="ctr">
              <a:lnSpc>
                <a:spcPts val="3121"/>
              </a:lnSpc>
            </a:pPr>
            <a:r>
              <a:rPr lang="en-US" sz="3153" b="1" i="1" u="sng" spc="340" dirty="0">
                <a:solidFill>
                  <a:srgbClr val="FFFFFF"/>
                </a:solidFill>
                <a:latin typeface="Bodoni FLF Bold Italics"/>
                <a:ea typeface="Bodoni FLF Bold Italics"/>
                <a:cs typeface="Bodoni FLF Bold Italics"/>
                <a:sym typeface="Bodoni FLF Bold Italics"/>
              </a:rPr>
              <a:t>TWO COMPLETELY DIFFERENT THINGS.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52201" y="118727"/>
            <a:ext cx="3064697" cy="26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361" spc="364">
                <a:solidFill>
                  <a:srgbClr val="D53D72"/>
                </a:solidFill>
                <a:latin typeface="Bantayog Light"/>
                <a:ea typeface="Bantayog Light"/>
                <a:cs typeface="Bantayog Light"/>
                <a:sym typeface="Bantayog Light"/>
              </a:rPr>
              <a:t>Commercial Excellence</a:t>
            </a:r>
          </a:p>
        </p:txBody>
      </p:sp>
      <p:sp>
        <p:nvSpPr>
          <p:cNvPr id="8" name="TextBox 6">
            <a:hlinkClick r:id="rId4"/>
            <a:extLst>
              <a:ext uri="{FF2B5EF4-FFF2-40B4-BE49-F238E27FC236}">
                <a16:creationId xmlns:a16="http://schemas.microsoft.com/office/drawing/2014/main" id="{9B5815D7-BB8C-21D8-EC06-ADEB44D10A56}"/>
              </a:ext>
            </a:extLst>
          </p:cNvPr>
          <p:cNvSpPr txBox="1"/>
          <p:nvPr/>
        </p:nvSpPr>
        <p:spPr>
          <a:xfrm rot="-5400000">
            <a:off x="-1066369" y="3569644"/>
            <a:ext cx="2758058" cy="19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"/>
              </a:lnSpc>
            </a:pPr>
            <a:r>
              <a:rPr lang="en-US" sz="1009" spc="27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@kateburda.com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AC2C54-7712-6C78-18EC-2C8B1E0F52CC}"/>
              </a:ext>
            </a:extLst>
          </p:cNvPr>
          <p:cNvSpPr/>
          <p:nvPr/>
        </p:nvSpPr>
        <p:spPr>
          <a:xfrm>
            <a:off x="0" y="0"/>
            <a:ext cx="7315195" cy="73568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8"/>
          </a:p>
        </p:txBody>
      </p:sp>
      <p:sp>
        <p:nvSpPr>
          <p:cNvPr id="2" name="AutoShape 2"/>
          <p:cNvSpPr/>
          <p:nvPr/>
        </p:nvSpPr>
        <p:spPr>
          <a:xfrm rot="5400000">
            <a:off x="-3055007" y="3657599"/>
            <a:ext cx="735685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2058"/>
          </a:p>
        </p:txBody>
      </p:sp>
      <p:sp>
        <p:nvSpPr>
          <p:cNvPr id="3" name="Freeform 3"/>
          <p:cNvSpPr/>
          <p:nvPr/>
        </p:nvSpPr>
        <p:spPr>
          <a:xfrm>
            <a:off x="2771213" y="4967511"/>
            <a:ext cx="2226668" cy="2882417"/>
          </a:xfrm>
          <a:custGeom>
            <a:avLst/>
            <a:gdLst/>
            <a:ahLst/>
            <a:cxnLst/>
            <a:rect l="l" t="t" r="r" b="b"/>
            <a:pathLst>
              <a:path w="1948334" h="2522115">
                <a:moveTo>
                  <a:pt x="0" y="0"/>
                </a:moveTo>
                <a:lnTo>
                  <a:pt x="1948334" y="0"/>
                </a:lnTo>
                <a:lnTo>
                  <a:pt x="1948334" y="2522115"/>
                </a:lnTo>
                <a:lnTo>
                  <a:pt x="0" y="252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2058"/>
          </a:p>
        </p:txBody>
      </p:sp>
      <p:sp>
        <p:nvSpPr>
          <p:cNvPr id="4" name="TextBox 4"/>
          <p:cNvSpPr txBox="1"/>
          <p:nvPr/>
        </p:nvSpPr>
        <p:spPr>
          <a:xfrm>
            <a:off x="1725387" y="822469"/>
            <a:ext cx="4408800" cy="3994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4"/>
              </a:lnSpc>
            </a:pPr>
            <a:r>
              <a:rPr lang="en-US" sz="3269" b="1" spc="352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CONNECTING WITH THE CUSTOMER WHEN THEY ARE AWARE OF THE SITUATION</a:t>
            </a:r>
          </a:p>
          <a:p>
            <a:pPr algn="ctr">
              <a:lnSpc>
                <a:spcPts val="3234"/>
              </a:lnSpc>
            </a:pPr>
            <a:endParaRPr lang="en-US" sz="3269" b="1" spc="352">
              <a:solidFill>
                <a:srgbClr val="D53D72"/>
              </a:solidFill>
              <a:latin typeface="Bodoni FLF Bold"/>
              <a:ea typeface="Bodoni FLF Bold"/>
              <a:cs typeface="Bodoni FLF Bold"/>
              <a:sym typeface="Bodoni FLF Bold"/>
            </a:endParaRPr>
          </a:p>
          <a:p>
            <a:pPr algn="ctr">
              <a:lnSpc>
                <a:spcPts val="3234"/>
              </a:lnSpc>
            </a:pPr>
            <a:endParaRPr lang="en-US" sz="3269" b="1" spc="352">
              <a:solidFill>
                <a:srgbClr val="D53D72"/>
              </a:solidFill>
              <a:latin typeface="Bodoni FLF Bold"/>
              <a:ea typeface="Bodoni FLF Bold"/>
              <a:cs typeface="Bodoni FLF Bold"/>
              <a:sym typeface="Bodoni FLF Bold"/>
            </a:endParaRPr>
          </a:p>
          <a:p>
            <a:pPr algn="ctr">
              <a:lnSpc>
                <a:spcPts val="2894"/>
              </a:lnSpc>
            </a:pPr>
            <a:endParaRPr lang="en-US" sz="3269" b="1" spc="352">
              <a:solidFill>
                <a:srgbClr val="D53D72"/>
              </a:solidFill>
              <a:latin typeface="Bodoni FLF Bold"/>
              <a:ea typeface="Bodoni FLF Bold"/>
              <a:cs typeface="Bodoni FLF Bold"/>
              <a:sym typeface="Bodoni FLF Bold"/>
            </a:endParaRPr>
          </a:p>
          <a:p>
            <a:pPr algn="ctr">
              <a:lnSpc>
                <a:spcPts val="2894"/>
              </a:lnSpc>
            </a:pPr>
            <a:r>
              <a:rPr lang="en-US" sz="2924" b="1" i="1" u="sng" spc="315">
                <a:solidFill>
                  <a:srgbClr val="FFFFFF"/>
                </a:solidFill>
                <a:latin typeface="Bodoni FLF Bold Italics"/>
                <a:ea typeface="Bodoni FLF Bold Italics"/>
                <a:cs typeface="Bodoni FLF Bold Italics"/>
                <a:sym typeface="Bodoni FLF Bold Italics"/>
              </a:rPr>
              <a:t>IS CUSTOMER CENTRICITY.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52201" y="118727"/>
            <a:ext cx="3064697" cy="26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361" spc="364">
                <a:solidFill>
                  <a:srgbClr val="D53D72"/>
                </a:solidFill>
                <a:latin typeface="Bantayog Light"/>
                <a:ea typeface="Bantayog Light"/>
                <a:cs typeface="Bantayog Light"/>
                <a:sym typeface="Bantayog Light"/>
              </a:rPr>
              <a:t>Commercial Excellence</a:t>
            </a:r>
          </a:p>
        </p:txBody>
      </p:sp>
      <p:sp>
        <p:nvSpPr>
          <p:cNvPr id="8" name="TextBox 6">
            <a:hlinkClick r:id="rId4"/>
            <a:extLst>
              <a:ext uri="{FF2B5EF4-FFF2-40B4-BE49-F238E27FC236}">
                <a16:creationId xmlns:a16="http://schemas.microsoft.com/office/drawing/2014/main" id="{1A6F69B7-90C3-135B-DE63-0AFD295B80E3}"/>
              </a:ext>
            </a:extLst>
          </p:cNvPr>
          <p:cNvSpPr txBox="1"/>
          <p:nvPr/>
        </p:nvSpPr>
        <p:spPr>
          <a:xfrm rot="-5400000">
            <a:off x="-1032028" y="3590473"/>
            <a:ext cx="2758058" cy="19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"/>
              </a:lnSpc>
            </a:pPr>
            <a:r>
              <a:rPr lang="en-US" sz="1009" spc="27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@kateburda.com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448838-0FAF-59BF-DEB4-D4F273DE5E57}"/>
              </a:ext>
            </a:extLst>
          </p:cNvPr>
          <p:cNvSpPr/>
          <p:nvPr/>
        </p:nvSpPr>
        <p:spPr>
          <a:xfrm>
            <a:off x="0" y="-47097"/>
            <a:ext cx="7315200" cy="73568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8"/>
          </a:p>
        </p:txBody>
      </p:sp>
      <p:sp>
        <p:nvSpPr>
          <p:cNvPr id="2" name="AutoShape 2"/>
          <p:cNvSpPr/>
          <p:nvPr/>
        </p:nvSpPr>
        <p:spPr>
          <a:xfrm rot="5400000">
            <a:off x="-2951103" y="3625885"/>
            <a:ext cx="735685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2058"/>
          </a:p>
        </p:txBody>
      </p:sp>
      <p:sp>
        <p:nvSpPr>
          <p:cNvPr id="3" name="Freeform 3"/>
          <p:cNvSpPr/>
          <p:nvPr/>
        </p:nvSpPr>
        <p:spPr>
          <a:xfrm>
            <a:off x="2771213" y="4967511"/>
            <a:ext cx="2226668" cy="2882417"/>
          </a:xfrm>
          <a:custGeom>
            <a:avLst/>
            <a:gdLst/>
            <a:ahLst/>
            <a:cxnLst/>
            <a:rect l="l" t="t" r="r" b="b"/>
            <a:pathLst>
              <a:path w="1948334" h="2522115">
                <a:moveTo>
                  <a:pt x="0" y="0"/>
                </a:moveTo>
                <a:lnTo>
                  <a:pt x="1948334" y="0"/>
                </a:lnTo>
                <a:lnTo>
                  <a:pt x="1948334" y="2522115"/>
                </a:lnTo>
                <a:lnTo>
                  <a:pt x="0" y="252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2058"/>
          </a:p>
        </p:txBody>
      </p:sp>
      <p:sp>
        <p:nvSpPr>
          <p:cNvPr id="4" name="TextBox 4"/>
          <p:cNvSpPr txBox="1"/>
          <p:nvPr/>
        </p:nvSpPr>
        <p:spPr>
          <a:xfrm>
            <a:off x="1725387" y="704274"/>
            <a:ext cx="4408800" cy="4366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4"/>
              </a:lnSpc>
            </a:pPr>
            <a:r>
              <a:rPr lang="en-US" sz="3269" b="1" spc="352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CONNECTING WITH THE CUSTOMER WHEN THEY ARE AWARE OF YOUR PRODUCT</a:t>
            </a:r>
          </a:p>
          <a:p>
            <a:pPr algn="ctr">
              <a:lnSpc>
                <a:spcPts val="3234"/>
              </a:lnSpc>
            </a:pPr>
            <a:endParaRPr lang="en-US" sz="3269" b="1" spc="352">
              <a:solidFill>
                <a:srgbClr val="D53D72"/>
              </a:solidFill>
              <a:latin typeface="Bodoni FLF Bold"/>
              <a:ea typeface="Bodoni FLF Bold"/>
              <a:cs typeface="Bodoni FLF Bold"/>
              <a:sym typeface="Bodoni FLF Bold"/>
            </a:endParaRPr>
          </a:p>
          <a:p>
            <a:pPr algn="ctr">
              <a:lnSpc>
                <a:spcPts val="3234"/>
              </a:lnSpc>
            </a:pPr>
            <a:endParaRPr lang="en-US" sz="3269" b="1" spc="352">
              <a:solidFill>
                <a:srgbClr val="D53D72"/>
              </a:solidFill>
              <a:latin typeface="Bodoni FLF Bold"/>
              <a:ea typeface="Bodoni FLF Bold"/>
              <a:cs typeface="Bodoni FLF Bold"/>
              <a:sym typeface="Bodoni FLF Bold"/>
            </a:endParaRPr>
          </a:p>
          <a:p>
            <a:pPr algn="ctr">
              <a:lnSpc>
                <a:spcPts val="2894"/>
              </a:lnSpc>
            </a:pPr>
            <a:endParaRPr lang="en-US" sz="3269" b="1" spc="352">
              <a:solidFill>
                <a:srgbClr val="D53D72"/>
              </a:solidFill>
              <a:latin typeface="Bodoni FLF Bold"/>
              <a:ea typeface="Bodoni FLF Bold"/>
              <a:cs typeface="Bodoni FLF Bold"/>
              <a:sym typeface="Bodoni FLF Bold"/>
            </a:endParaRPr>
          </a:p>
          <a:p>
            <a:pPr algn="ctr">
              <a:lnSpc>
                <a:spcPts val="2894"/>
              </a:lnSpc>
            </a:pPr>
            <a:r>
              <a:rPr lang="en-US" sz="2924" b="1" i="1" u="sng" spc="315">
                <a:solidFill>
                  <a:srgbClr val="FFFFFF"/>
                </a:solidFill>
                <a:latin typeface="Bodoni FLF Bold Italics"/>
                <a:ea typeface="Bodoni FLF Bold Italics"/>
                <a:cs typeface="Bodoni FLF Bold Italics"/>
                <a:sym typeface="Bodoni FLF Bold Italics"/>
              </a:rPr>
              <a:t>IS ABOUT YOU MAKING THE SALE VS. ADDING VALUE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52201" y="118727"/>
            <a:ext cx="3064697" cy="26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361" spc="364">
                <a:solidFill>
                  <a:srgbClr val="D53D72"/>
                </a:solidFill>
                <a:latin typeface="Bantayog Light"/>
                <a:ea typeface="Bantayog Light"/>
                <a:cs typeface="Bantayog Light"/>
                <a:sym typeface="Bantayog Light"/>
              </a:rPr>
              <a:t>Commercial Excellence</a:t>
            </a:r>
          </a:p>
        </p:txBody>
      </p:sp>
      <p:sp>
        <p:nvSpPr>
          <p:cNvPr id="8" name="TextBox 6">
            <a:hlinkClick r:id="rId4"/>
            <a:extLst>
              <a:ext uri="{FF2B5EF4-FFF2-40B4-BE49-F238E27FC236}">
                <a16:creationId xmlns:a16="http://schemas.microsoft.com/office/drawing/2014/main" id="{1B16F793-9A83-DD02-5F97-B55DCE51EF1E}"/>
              </a:ext>
            </a:extLst>
          </p:cNvPr>
          <p:cNvSpPr txBox="1"/>
          <p:nvPr/>
        </p:nvSpPr>
        <p:spPr>
          <a:xfrm rot="-5400000">
            <a:off x="-928124" y="3558758"/>
            <a:ext cx="2758058" cy="19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"/>
              </a:lnSpc>
            </a:pPr>
            <a:r>
              <a:rPr lang="en-US" sz="1009" spc="27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@kateburda.com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FCD0637-46BC-9A9F-65A8-E33F35D90C08}"/>
              </a:ext>
            </a:extLst>
          </p:cNvPr>
          <p:cNvSpPr/>
          <p:nvPr/>
        </p:nvSpPr>
        <p:spPr>
          <a:xfrm>
            <a:off x="0" y="0"/>
            <a:ext cx="7315200" cy="73568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8"/>
          </a:p>
        </p:txBody>
      </p:sp>
      <p:sp>
        <p:nvSpPr>
          <p:cNvPr id="2" name="AutoShape 2"/>
          <p:cNvSpPr/>
          <p:nvPr/>
        </p:nvSpPr>
        <p:spPr>
          <a:xfrm rot="5400000">
            <a:off x="-2986750" y="3678429"/>
            <a:ext cx="735685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2058"/>
          </a:p>
        </p:txBody>
      </p:sp>
      <p:sp>
        <p:nvSpPr>
          <p:cNvPr id="3" name="Freeform 3"/>
          <p:cNvSpPr/>
          <p:nvPr/>
        </p:nvSpPr>
        <p:spPr>
          <a:xfrm>
            <a:off x="2771213" y="4967511"/>
            <a:ext cx="2226668" cy="2882417"/>
          </a:xfrm>
          <a:custGeom>
            <a:avLst/>
            <a:gdLst/>
            <a:ahLst/>
            <a:cxnLst/>
            <a:rect l="l" t="t" r="r" b="b"/>
            <a:pathLst>
              <a:path w="1948334" h="2522115">
                <a:moveTo>
                  <a:pt x="0" y="0"/>
                </a:moveTo>
                <a:lnTo>
                  <a:pt x="1948334" y="0"/>
                </a:lnTo>
                <a:lnTo>
                  <a:pt x="1948334" y="2522115"/>
                </a:lnTo>
                <a:lnTo>
                  <a:pt x="0" y="252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2058"/>
          </a:p>
        </p:txBody>
      </p:sp>
      <p:sp>
        <p:nvSpPr>
          <p:cNvPr id="4" name="TextBox 4"/>
          <p:cNvSpPr txBox="1"/>
          <p:nvPr/>
        </p:nvSpPr>
        <p:spPr>
          <a:xfrm>
            <a:off x="1680149" y="1444689"/>
            <a:ext cx="4408800" cy="359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3498" b="1" spc="377">
                <a:solidFill>
                  <a:srgbClr val="FFFFFF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CONNECT WITH US</a:t>
            </a:r>
            <a:r>
              <a:rPr lang="en-US" sz="3498" b="1" spc="377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 </a:t>
            </a:r>
          </a:p>
          <a:p>
            <a:pPr algn="ctr">
              <a:lnSpc>
                <a:spcPts val="3461"/>
              </a:lnSpc>
            </a:pPr>
            <a:endParaRPr lang="en-US" sz="3498" b="1" spc="377">
              <a:solidFill>
                <a:srgbClr val="D53D72"/>
              </a:solidFill>
              <a:latin typeface="Bodoni FLF Bold"/>
              <a:ea typeface="Bodoni FLF Bold"/>
              <a:cs typeface="Bodoni FLF Bold"/>
              <a:sym typeface="Bodoni FLF Bold"/>
            </a:endParaRPr>
          </a:p>
          <a:p>
            <a:pPr algn="ctr">
              <a:lnSpc>
                <a:spcPts val="3461"/>
              </a:lnSpc>
            </a:pPr>
            <a:r>
              <a:rPr lang="en-US" sz="3498" b="1" spc="377">
                <a:solidFill>
                  <a:srgbClr val="D53D72"/>
                </a:solidFill>
                <a:latin typeface="Bodoni FLF Bold"/>
                <a:ea typeface="Bodoni FLF Bold"/>
                <a:cs typeface="Bodoni FLF Bold"/>
                <a:sym typeface="Bodoni FLF Bold"/>
              </a:rPr>
              <a:t>TO UNDERSTAND HOW TO BRING YOUR COMMERCIAL TEAM TOGETHER TO CREATE IMPACT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52201" y="118727"/>
            <a:ext cx="3064697" cy="26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361" spc="364">
                <a:solidFill>
                  <a:srgbClr val="D53D72"/>
                </a:solidFill>
                <a:latin typeface="Bantayog Light"/>
                <a:ea typeface="Bantayog Light"/>
                <a:cs typeface="Bantayog Light"/>
                <a:sym typeface="Bantayog Light"/>
              </a:rPr>
              <a:t>Commercial Excellence</a:t>
            </a:r>
          </a:p>
        </p:txBody>
      </p:sp>
      <p:sp>
        <p:nvSpPr>
          <p:cNvPr id="6" name="TextBox 6">
            <a:hlinkClick r:id="rId4"/>
          </p:cNvPr>
          <p:cNvSpPr txBox="1"/>
          <p:nvPr/>
        </p:nvSpPr>
        <p:spPr>
          <a:xfrm rot="-5400000">
            <a:off x="-963771" y="3590474"/>
            <a:ext cx="2758058" cy="19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"/>
              </a:lnSpc>
            </a:pPr>
            <a:r>
              <a:rPr lang="en-US" sz="1009" spc="27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@kateburda.com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</TotalTime>
  <Words>340</Words>
  <Application>Microsoft Macintosh PowerPoint</Application>
  <PresentationFormat>Custom</PresentationFormat>
  <Paragraphs>104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Aptos Display</vt:lpstr>
      <vt:lpstr>Arial</vt:lpstr>
      <vt:lpstr>Arimo</vt:lpstr>
      <vt:lpstr>Bantayog Light</vt:lpstr>
      <vt:lpstr>Bodoni FLF</vt:lpstr>
      <vt:lpstr>Bodoni FLF Bold</vt:lpstr>
      <vt:lpstr>Bodoni FLF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Kate Burda</dc:creator>
  <cp:lastModifiedBy>Kate Burda</cp:lastModifiedBy>
  <cp:revision>2</cp:revision>
  <dcterms:created xsi:type="dcterms:W3CDTF">2025-02-17T19:05:59Z</dcterms:created>
  <dcterms:modified xsi:type="dcterms:W3CDTF">2025-03-01T02:34:49Z</dcterms:modified>
</cp:coreProperties>
</file>