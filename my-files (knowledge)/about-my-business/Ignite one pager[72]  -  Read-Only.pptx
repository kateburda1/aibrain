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851" r:id="rId2"/>
    <p:sldId id="309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lide28" initials="s" lastIdx="2" clrIdx="0">
    <p:extLst>
      <p:ext uri="{19B8F6BF-5375-455C-9EA6-DF929625EA0E}">
        <p15:presenceInfo xmlns:p15="http://schemas.microsoft.com/office/powerpoint/2012/main" userId="slide28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021"/>
    <a:srgbClr val="FF9088"/>
    <a:srgbClr val="DB5E71"/>
    <a:srgbClr val="0070C0"/>
    <a:srgbClr val="FFF1C7"/>
    <a:srgbClr val="FFC000"/>
    <a:srgbClr val="F0F4FA"/>
    <a:srgbClr val="D3DEF1"/>
    <a:srgbClr val="20386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499B5-5351-FF4A-8023-3D0B5F5FA570}" v="2181" dt="2022-04-08T01:58:45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81" d="100"/>
          <a:sy n="81" d="100"/>
        </p:scale>
        <p:origin x="3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98519-7619-44C6-92FC-177F4F86B840}" type="datetimeFigureOut">
              <a:rPr lang="en-US" smtClean="0"/>
              <a:t>9/20/23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699D4-6B03-40D2-9F64-B4058B9C1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9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6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6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8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30A9-4999-448D-9958-0E43EA47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C9424-9465-43ED-B76B-348246DB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40B9D-E964-429F-8C6C-821E0AD4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12F2C-84CA-4500-BB4C-A5E0D5E1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0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BD87249-17E4-42DF-8FF2-DB0049AC8F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3463" y="-4269"/>
            <a:ext cx="3861348" cy="3760408"/>
          </a:xfrm>
          <a:custGeom>
            <a:avLst/>
            <a:gdLst>
              <a:gd name="connsiteX0" fmla="*/ 1731 w 3861348"/>
              <a:gd name="connsiteY0" fmla="*/ 0 h 3760408"/>
              <a:gd name="connsiteX1" fmla="*/ 3495563 w 3861348"/>
              <a:gd name="connsiteY1" fmla="*/ 1204675 h 3760408"/>
              <a:gd name="connsiteX2" fmla="*/ 3530242 w 3861348"/>
              <a:gd name="connsiteY2" fmla="*/ 1226457 h 3760408"/>
              <a:gd name="connsiteX3" fmla="*/ 3592663 w 3861348"/>
              <a:gd name="connsiteY3" fmla="*/ 1333847 h 3760408"/>
              <a:gd name="connsiteX4" fmla="*/ 3761123 w 3861348"/>
              <a:gd name="connsiteY4" fmla="*/ 1746263 h 3760408"/>
              <a:gd name="connsiteX5" fmla="*/ 3839666 w 3861348"/>
              <a:gd name="connsiteY5" fmla="*/ 2564201 h 3760408"/>
              <a:gd name="connsiteX6" fmla="*/ 3829372 w 3861348"/>
              <a:gd name="connsiteY6" fmla="*/ 2600272 h 3760408"/>
              <a:gd name="connsiteX7" fmla="*/ 3601109 w 3861348"/>
              <a:gd name="connsiteY7" fmla="*/ 2612092 h 3760408"/>
              <a:gd name="connsiteX8" fmla="*/ 0 w 3861348"/>
              <a:gd name="connsiteY8" fmla="*/ 3760408 h 376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61348" h="3760408">
                <a:moveTo>
                  <a:pt x="1731" y="0"/>
                </a:moveTo>
                <a:cubicBezTo>
                  <a:pt x="812439" y="531102"/>
                  <a:pt x="2361793" y="1091949"/>
                  <a:pt x="3495563" y="1204675"/>
                </a:cubicBezTo>
                <a:lnTo>
                  <a:pt x="3530242" y="1226457"/>
                </a:lnTo>
                <a:lnTo>
                  <a:pt x="3592663" y="1333847"/>
                </a:lnTo>
                <a:cubicBezTo>
                  <a:pt x="3656126" y="1452977"/>
                  <a:pt x="3714270" y="1593061"/>
                  <a:pt x="3761123" y="1746263"/>
                </a:cubicBezTo>
                <a:cubicBezTo>
                  <a:pt x="3860233" y="2070344"/>
                  <a:pt x="3884631" y="2374026"/>
                  <a:pt x="3839666" y="2564201"/>
                </a:cubicBezTo>
                <a:lnTo>
                  <a:pt x="3829372" y="2600272"/>
                </a:lnTo>
                <a:lnTo>
                  <a:pt x="3601109" y="2612092"/>
                </a:lnTo>
                <a:cubicBezTo>
                  <a:pt x="2435568" y="2712086"/>
                  <a:pt x="817023" y="3286811"/>
                  <a:pt x="0" y="376040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00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7377B9-F580-4F5A-B49D-3A1BB86F6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50BC6-33BB-49E9-9BF3-197ED7A9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9169C-6731-4573-9A43-B7EA7154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79EF9C7-AC44-4F83-89B2-0FB2162B42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713" y="109869"/>
            <a:ext cx="2280104" cy="2280102"/>
          </a:xfrm>
          <a:custGeom>
            <a:avLst/>
            <a:gdLst>
              <a:gd name="connsiteX0" fmla="*/ 1140052 w 2280104"/>
              <a:gd name="connsiteY0" fmla="*/ 0 h 2280102"/>
              <a:gd name="connsiteX1" fmla="*/ 2280104 w 2280104"/>
              <a:gd name="connsiteY1" fmla="*/ 1140051 h 2280102"/>
              <a:gd name="connsiteX2" fmla="*/ 1140052 w 2280104"/>
              <a:gd name="connsiteY2" fmla="*/ 2280102 h 2280102"/>
              <a:gd name="connsiteX3" fmla="*/ 0 w 2280104"/>
              <a:gd name="connsiteY3" fmla="*/ 1140051 h 2280102"/>
              <a:gd name="connsiteX4" fmla="*/ 1140052 w 2280104"/>
              <a:gd name="connsiteY4" fmla="*/ 0 h 228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0104" h="2280102">
                <a:moveTo>
                  <a:pt x="1140052" y="0"/>
                </a:moveTo>
                <a:cubicBezTo>
                  <a:pt x="1769685" y="0"/>
                  <a:pt x="2280104" y="510418"/>
                  <a:pt x="2280104" y="1140051"/>
                </a:cubicBezTo>
                <a:cubicBezTo>
                  <a:pt x="2280104" y="1769684"/>
                  <a:pt x="1769685" y="2280102"/>
                  <a:pt x="1140052" y="2280102"/>
                </a:cubicBezTo>
                <a:cubicBezTo>
                  <a:pt x="510419" y="2280102"/>
                  <a:pt x="0" y="1769684"/>
                  <a:pt x="0" y="1140051"/>
                </a:cubicBezTo>
                <a:cubicBezTo>
                  <a:pt x="0" y="510418"/>
                  <a:pt x="510419" y="0"/>
                  <a:pt x="11400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5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90B053-CE9F-44CA-98D5-5655E10D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00479-593A-4AA7-B5E8-59271EC8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E2501-8D8E-4038-B3A7-0E1DE5C1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CCD907-A5D0-4DE1-A5D9-BB64A5421C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2700" y="0"/>
            <a:ext cx="6870700" cy="4400550"/>
          </a:xfrm>
          <a:custGeom>
            <a:avLst/>
            <a:gdLst>
              <a:gd name="connsiteX0" fmla="*/ 12700 w 6870700"/>
              <a:gd name="connsiteY0" fmla="*/ 0 h 4400550"/>
              <a:gd name="connsiteX1" fmla="*/ 6870700 w 6870700"/>
              <a:gd name="connsiteY1" fmla="*/ 0 h 4400550"/>
              <a:gd name="connsiteX2" fmla="*/ 6870700 w 6870700"/>
              <a:gd name="connsiteY2" fmla="*/ 4400550 h 4400550"/>
              <a:gd name="connsiteX3" fmla="*/ 0 w 6870700"/>
              <a:gd name="connsiteY3" fmla="*/ 2067497 h 4400550"/>
              <a:gd name="connsiteX4" fmla="*/ 12700 w 6870700"/>
              <a:gd name="connsiteY4" fmla="*/ 0 h 440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0700" h="4400550">
                <a:moveTo>
                  <a:pt x="12700" y="0"/>
                </a:moveTo>
                <a:lnTo>
                  <a:pt x="6870700" y="0"/>
                </a:lnTo>
                <a:lnTo>
                  <a:pt x="6870700" y="4400550"/>
                </a:lnTo>
                <a:lnTo>
                  <a:pt x="0" y="2067497"/>
                </a:lnTo>
                <a:cubicBezTo>
                  <a:pt x="4233" y="1352003"/>
                  <a:pt x="8467" y="715494"/>
                  <a:pt x="127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204070-105A-47F3-888D-762D8AF122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39534" y="470617"/>
            <a:ext cx="2953029" cy="2953239"/>
          </a:xfrm>
          <a:custGeom>
            <a:avLst/>
            <a:gdLst>
              <a:gd name="connsiteX0" fmla="*/ 1479015 w 2953029"/>
              <a:gd name="connsiteY0" fmla="*/ 0 h 2953239"/>
              <a:gd name="connsiteX1" fmla="*/ 2953029 w 2953029"/>
              <a:gd name="connsiteY1" fmla="*/ 1478805 h 2953239"/>
              <a:gd name="connsiteX2" fmla="*/ 2953029 w 2953029"/>
              <a:gd name="connsiteY2" fmla="*/ 1479224 h 2953239"/>
              <a:gd name="connsiteX3" fmla="*/ 1474223 w 2953029"/>
              <a:gd name="connsiteY3" fmla="*/ 2953239 h 2953239"/>
              <a:gd name="connsiteX4" fmla="*/ 0 w 2953029"/>
              <a:gd name="connsiteY4" fmla="*/ 1474223 h 2953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3029" h="2953239">
                <a:moveTo>
                  <a:pt x="1479015" y="0"/>
                </a:moveTo>
                <a:lnTo>
                  <a:pt x="2953029" y="1478805"/>
                </a:lnTo>
                <a:lnTo>
                  <a:pt x="2953029" y="1479224"/>
                </a:lnTo>
                <a:lnTo>
                  <a:pt x="1474223" y="2953239"/>
                </a:lnTo>
                <a:lnTo>
                  <a:pt x="0" y="147422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72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2C900-B6ED-4828-88A3-49E1ADD3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91888-6739-4B01-A135-74D2AB70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44ECD-484B-4C3C-A6BA-37EF1A0AA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C5BBC34-72BA-4654-A2A7-3DA36639AE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58473" y="768485"/>
            <a:ext cx="2074108" cy="2074106"/>
          </a:xfrm>
          <a:custGeom>
            <a:avLst/>
            <a:gdLst>
              <a:gd name="connsiteX0" fmla="*/ 650347 w 2074108"/>
              <a:gd name="connsiteY0" fmla="*/ 0 h 2074106"/>
              <a:gd name="connsiteX1" fmla="*/ 2074108 w 2074108"/>
              <a:gd name="connsiteY1" fmla="*/ 650345 h 2074106"/>
              <a:gd name="connsiteX2" fmla="*/ 1423762 w 2074108"/>
              <a:gd name="connsiteY2" fmla="*/ 2074106 h 2074106"/>
              <a:gd name="connsiteX3" fmla="*/ 0 w 2074108"/>
              <a:gd name="connsiteY3" fmla="*/ 1423761 h 2074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4108" h="2074106">
                <a:moveTo>
                  <a:pt x="650347" y="0"/>
                </a:moveTo>
                <a:lnTo>
                  <a:pt x="2074108" y="650345"/>
                </a:lnTo>
                <a:lnTo>
                  <a:pt x="1423762" y="2074106"/>
                </a:lnTo>
                <a:lnTo>
                  <a:pt x="0" y="14237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7D244B0-D3F2-43E5-95A5-16BDD24A6A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10640" y="1612"/>
            <a:ext cx="3249332" cy="3334096"/>
          </a:xfrm>
          <a:custGeom>
            <a:avLst/>
            <a:gdLst>
              <a:gd name="connsiteX0" fmla="*/ 0 w 3249332"/>
              <a:gd name="connsiteY0" fmla="*/ 0 h 3334096"/>
              <a:gd name="connsiteX1" fmla="*/ 3249332 w 3249332"/>
              <a:gd name="connsiteY1" fmla="*/ 0 h 3334096"/>
              <a:gd name="connsiteX2" fmla="*/ 3249332 w 3249332"/>
              <a:gd name="connsiteY2" fmla="*/ 3334096 h 333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49332" h="3334096">
                <a:moveTo>
                  <a:pt x="0" y="0"/>
                </a:moveTo>
                <a:lnTo>
                  <a:pt x="3249332" y="0"/>
                </a:lnTo>
                <a:lnTo>
                  <a:pt x="3249332" y="33340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3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6DC48D3-8E16-4716-BED7-09330D709A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24200" y="223971"/>
            <a:ext cx="3742008" cy="1677386"/>
          </a:xfrm>
          <a:custGeom>
            <a:avLst/>
            <a:gdLst>
              <a:gd name="connsiteX0" fmla="*/ 0 w 3742008"/>
              <a:gd name="connsiteY0" fmla="*/ 0 h 1677386"/>
              <a:gd name="connsiteX1" fmla="*/ 3742008 w 3742008"/>
              <a:gd name="connsiteY1" fmla="*/ 0 h 1677386"/>
              <a:gd name="connsiteX2" fmla="*/ 3742008 w 3742008"/>
              <a:gd name="connsiteY2" fmla="*/ 1677386 h 1677386"/>
              <a:gd name="connsiteX3" fmla="*/ 0 w 3742008"/>
              <a:gd name="connsiteY3" fmla="*/ 1677386 h 167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2008" h="1677386">
                <a:moveTo>
                  <a:pt x="0" y="0"/>
                </a:moveTo>
                <a:lnTo>
                  <a:pt x="3742008" y="0"/>
                </a:lnTo>
                <a:lnTo>
                  <a:pt x="3742008" y="1677386"/>
                </a:lnTo>
                <a:lnTo>
                  <a:pt x="0" y="16773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8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680B-80E3-4319-8C9B-F063D288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54-E57A-4CCB-AAAC-DD09EA0E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D9E39-E69D-455A-A7C3-F7601F40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135CB-0AA2-4F78-9CE0-1ECBE381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5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0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46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56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77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14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18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38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1F682-CA93-41C8-A7FF-1FF80B581535}" type="datetimeFigureOut">
              <a:rPr lang="en-US" smtClean="0"/>
              <a:t>9/20/23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4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5" r:id="rId4"/>
    <p:sldLayoutId id="2147483676" r:id="rId5"/>
    <p:sldLayoutId id="2147483682" r:id="rId6"/>
    <p:sldLayoutId id="2147483677" r:id="rId7"/>
    <p:sldLayoutId id="2147483678" r:id="rId8"/>
    <p:sldLayoutId id="2147483685" r:id="rId9"/>
    <p:sldLayoutId id="2147483681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0" userDrawn="1">
          <p15:clr>
            <a:srgbClr val="F26B43"/>
          </p15:clr>
        </p15:guide>
        <p15:guide id="2" pos="2232" userDrawn="1">
          <p15:clr>
            <a:srgbClr val="F26B43"/>
          </p15:clr>
        </p15:guide>
        <p15:guide id="3" pos="2088" userDrawn="1">
          <p15:clr>
            <a:srgbClr val="F26B43"/>
          </p15:clr>
        </p15:guide>
        <p15:guide id="4" orient="horz" pos="3120" userDrawn="1">
          <p15:clr>
            <a:srgbClr val="F26B43"/>
          </p15:clr>
        </p15:guide>
        <p15:guide id="5" orient="horz" pos="120" userDrawn="1">
          <p15:clr>
            <a:srgbClr val="F26B43"/>
          </p15:clr>
        </p15:guide>
        <p15:guide id="6" orient="horz" pos="6120" userDrawn="1">
          <p15:clr>
            <a:srgbClr val="F26B43"/>
          </p15:clr>
        </p15:guide>
        <p15:guide id="7" pos="168" userDrawn="1">
          <p15:clr>
            <a:srgbClr val="F26B43"/>
          </p15:clr>
        </p15:guide>
        <p15:guide id="8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hyperlink" Target="http://www.ignites.info/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0">
            <a:extLst>
              <a:ext uri="{FF2B5EF4-FFF2-40B4-BE49-F238E27FC236}">
                <a16:creationId xmlns:a16="http://schemas.microsoft.com/office/drawing/2014/main" id="{3090D0B5-EC30-4E03-8F6B-097A9340AC00}"/>
              </a:ext>
            </a:extLst>
          </p:cNvPr>
          <p:cNvSpPr/>
          <p:nvPr/>
        </p:nvSpPr>
        <p:spPr>
          <a:xfrm>
            <a:off x="4391970" y="0"/>
            <a:ext cx="545120" cy="445335"/>
          </a:xfrm>
          <a:custGeom>
            <a:avLst/>
            <a:gdLst>
              <a:gd name="connsiteX0" fmla="*/ 0 w 361763"/>
              <a:gd name="connsiteY0" fmla="*/ 0 h 445335"/>
              <a:gd name="connsiteX1" fmla="*/ 361763 w 361763"/>
              <a:gd name="connsiteY1" fmla="*/ 0 h 445335"/>
              <a:gd name="connsiteX2" fmla="*/ 361763 w 361763"/>
              <a:gd name="connsiteY2" fmla="*/ 445335 h 445335"/>
              <a:gd name="connsiteX3" fmla="*/ 0 w 361763"/>
              <a:gd name="connsiteY3" fmla="*/ 445335 h 445335"/>
              <a:gd name="connsiteX4" fmla="*/ 0 w 361763"/>
              <a:gd name="connsiteY4" fmla="*/ 0 h 445335"/>
              <a:gd name="connsiteX0" fmla="*/ 0 w 361763"/>
              <a:gd name="connsiteY0" fmla="*/ 0 h 445335"/>
              <a:gd name="connsiteX1" fmla="*/ 254606 w 361763"/>
              <a:gd name="connsiteY1" fmla="*/ 0 h 445335"/>
              <a:gd name="connsiteX2" fmla="*/ 361763 w 361763"/>
              <a:gd name="connsiteY2" fmla="*/ 445335 h 445335"/>
              <a:gd name="connsiteX3" fmla="*/ 0 w 361763"/>
              <a:gd name="connsiteY3" fmla="*/ 445335 h 445335"/>
              <a:gd name="connsiteX4" fmla="*/ 0 w 361763"/>
              <a:gd name="connsiteY4" fmla="*/ 0 h 445335"/>
              <a:gd name="connsiteX0" fmla="*/ 0 w 545120"/>
              <a:gd name="connsiteY0" fmla="*/ 0 h 445335"/>
              <a:gd name="connsiteX1" fmla="*/ 254606 w 545120"/>
              <a:gd name="connsiteY1" fmla="*/ 0 h 445335"/>
              <a:gd name="connsiteX2" fmla="*/ 545120 w 545120"/>
              <a:gd name="connsiteY2" fmla="*/ 445335 h 445335"/>
              <a:gd name="connsiteX3" fmla="*/ 0 w 545120"/>
              <a:gd name="connsiteY3" fmla="*/ 445335 h 445335"/>
              <a:gd name="connsiteX4" fmla="*/ 0 w 545120"/>
              <a:gd name="connsiteY4" fmla="*/ 0 h 445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120" h="445335">
                <a:moveTo>
                  <a:pt x="0" y="0"/>
                </a:moveTo>
                <a:lnTo>
                  <a:pt x="254606" y="0"/>
                </a:lnTo>
                <a:lnTo>
                  <a:pt x="545120" y="445335"/>
                </a:lnTo>
                <a:lnTo>
                  <a:pt x="0" y="445335"/>
                </a:lnTo>
                <a:lnTo>
                  <a:pt x="0" y="0"/>
                </a:lnTo>
                <a:close/>
              </a:path>
            </a:pathLst>
          </a:custGeom>
          <a:solidFill>
            <a:srgbClr val="FF9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08C77DB-E38F-44D0-8183-DE953C9751C2}"/>
              </a:ext>
            </a:extLst>
          </p:cNvPr>
          <p:cNvSpPr/>
          <p:nvPr/>
        </p:nvSpPr>
        <p:spPr>
          <a:xfrm>
            <a:off x="2814320" y="309623"/>
            <a:ext cx="4043680" cy="1677386"/>
          </a:xfrm>
          <a:prstGeom prst="rect">
            <a:avLst/>
          </a:prstGeom>
          <a:solidFill>
            <a:srgbClr val="1E2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5">
            <a:extLst>
              <a:ext uri="{FF2B5EF4-FFF2-40B4-BE49-F238E27FC236}">
                <a16:creationId xmlns:a16="http://schemas.microsoft.com/office/drawing/2014/main" id="{F09CCE5F-6515-44B3-92F2-C495908AC236}"/>
              </a:ext>
            </a:extLst>
          </p:cNvPr>
          <p:cNvSpPr/>
          <p:nvPr/>
        </p:nvSpPr>
        <p:spPr>
          <a:xfrm>
            <a:off x="0" y="-8571"/>
            <a:ext cx="5234152" cy="2317950"/>
          </a:xfrm>
          <a:custGeom>
            <a:avLst/>
            <a:gdLst>
              <a:gd name="connsiteX0" fmla="*/ 0 w 4261194"/>
              <a:gd name="connsiteY0" fmla="*/ 0 h 978344"/>
              <a:gd name="connsiteX1" fmla="*/ 4261194 w 4261194"/>
              <a:gd name="connsiteY1" fmla="*/ 0 h 978344"/>
              <a:gd name="connsiteX2" fmla="*/ 4261194 w 4261194"/>
              <a:gd name="connsiteY2" fmla="*/ 978344 h 978344"/>
              <a:gd name="connsiteX3" fmla="*/ 0 w 4261194"/>
              <a:gd name="connsiteY3" fmla="*/ 978344 h 978344"/>
              <a:gd name="connsiteX4" fmla="*/ 0 w 4261194"/>
              <a:gd name="connsiteY4" fmla="*/ 0 h 978344"/>
              <a:gd name="connsiteX0" fmla="*/ 0 w 4261194"/>
              <a:gd name="connsiteY0" fmla="*/ 0 h 978344"/>
              <a:gd name="connsiteX1" fmla="*/ 4261194 w 4261194"/>
              <a:gd name="connsiteY1" fmla="*/ 0 h 978344"/>
              <a:gd name="connsiteX2" fmla="*/ 4261194 w 4261194"/>
              <a:gd name="connsiteY2" fmla="*/ 978344 h 978344"/>
              <a:gd name="connsiteX3" fmla="*/ 3213444 w 4261194"/>
              <a:gd name="connsiteY3" fmla="*/ 978344 h 978344"/>
              <a:gd name="connsiteX4" fmla="*/ 0 w 4261194"/>
              <a:gd name="connsiteY4" fmla="*/ 978344 h 978344"/>
              <a:gd name="connsiteX5" fmla="*/ 0 w 4261194"/>
              <a:gd name="connsiteY5" fmla="*/ 0 h 978344"/>
              <a:gd name="connsiteX0" fmla="*/ 0 w 4261194"/>
              <a:gd name="connsiteY0" fmla="*/ 0 h 978344"/>
              <a:gd name="connsiteX1" fmla="*/ 4261194 w 4261194"/>
              <a:gd name="connsiteY1" fmla="*/ 0 h 978344"/>
              <a:gd name="connsiteX2" fmla="*/ 3213444 w 4261194"/>
              <a:gd name="connsiteY2" fmla="*/ 978344 h 978344"/>
              <a:gd name="connsiteX3" fmla="*/ 0 w 4261194"/>
              <a:gd name="connsiteY3" fmla="*/ 978344 h 978344"/>
              <a:gd name="connsiteX4" fmla="*/ 0 w 4261194"/>
              <a:gd name="connsiteY4" fmla="*/ 0 h 978344"/>
              <a:gd name="connsiteX0" fmla="*/ 0 w 4414875"/>
              <a:gd name="connsiteY0" fmla="*/ 130628 h 1108972"/>
              <a:gd name="connsiteX1" fmla="*/ 4414875 w 4414875"/>
              <a:gd name="connsiteY1" fmla="*/ 0 h 1108972"/>
              <a:gd name="connsiteX2" fmla="*/ 3213444 w 4414875"/>
              <a:gd name="connsiteY2" fmla="*/ 1108972 h 1108972"/>
              <a:gd name="connsiteX3" fmla="*/ 0 w 4414875"/>
              <a:gd name="connsiteY3" fmla="*/ 1108972 h 1108972"/>
              <a:gd name="connsiteX4" fmla="*/ 0 w 4414875"/>
              <a:gd name="connsiteY4" fmla="*/ 130628 h 1108972"/>
              <a:gd name="connsiteX0" fmla="*/ 38420 w 4414875"/>
              <a:gd name="connsiteY0" fmla="*/ 0 h 1116657"/>
              <a:gd name="connsiteX1" fmla="*/ 4414875 w 4414875"/>
              <a:gd name="connsiteY1" fmla="*/ 7685 h 1116657"/>
              <a:gd name="connsiteX2" fmla="*/ 3213444 w 4414875"/>
              <a:gd name="connsiteY2" fmla="*/ 1116657 h 1116657"/>
              <a:gd name="connsiteX3" fmla="*/ 0 w 4414875"/>
              <a:gd name="connsiteY3" fmla="*/ 1116657 h 1116657"/>
              <a:gd name="connsiteX4" fmla="*/ 38420 w 4414875"/>
              <a:gd name="connsiteY4" fmla="*/ 0 h 1116657"/>
              <a:gd name="connsiteX0" fmla="*/ 0 w 4484031"/>
              <a:gd name="connsiteY0" fmla="*/ 0 h 1132025"/>
              <a:gd name="connsiteX1" fmla="*/ 4484031 w 4484031"/>
              <a:gd name="connsiteY1" fmla="*/ 23053 h 1132025"/>
              <a:gd name="connsiteX2" fmla="*/ 3282600 w 4484031"/>
              <a:gd name="connsiteY2" fmla="*/ 1132025 h 1132025"/>
              <a:gd name="connsiteX3" fmla="*/ 69156 w 4484031"/>
              <a:gd name="connsiteY3" fmla="*/ 1132025 h 1132025"/>
              <a:gd name="connsiteX4" fmla="*/ 0 w 4484031"/>
              <a:gd name="connsiteY4" fmla="*/ 0 h 1132025"/>
              <a:gd name="connsiteX0" fmla="*/ 0 w 4484031"/>
              <a:gd name="connsiteY0" fmla="*/ 0 h 1116657"/>
              <a:gd name="connsiteX1" fmla="*/ 4484031 w 4484031"/>
              <a:gd name="connsiteY1" fmla="*/ 7685 h 1116657"/>
              <a:gd name="connsiteX2" fmla="*/ 3282600 w 4484031"/>
              <a:gd name="connsiteY2" fmla="*/ 1116657 h 1116657"/>
              <a:gd name="connsiteX3" fmla="*/ 69156 w 4484031"/>
              <a:gd name="connsiteY3" fmla="*/ 1116657 h 1116657"/>
              <a:gd name="connsiteX4" fmla="*/ 0 w 4484031"/>
              <a:gd name="connsiteY4" fmla="*/ 0 h 1116657"/>
              <a:gd name="connsiteX0" fmla="*/ 0 w 4484031"/>
              <a:gd name="connsiteY0" fmla="*/ 0 h 1124341"/>
              <a:gd name="connsiteX1" fmla="*/ 4484031 w 4484031"/>
              <a:gd name="connsiteY1" fmla="*/ 7685 h 1124341"/>
              <a:gd name="connsiteX2" fmla="*/ 3282600 w 4484031"/>
              <a:gd name="connsiteY2" fmla="*/ 1116657 h 1124341"/>
              <a:gd name="connsiteX3" fmla="*/ 23052 w 4484031"/>
              <a:gd name="connsiteY3" fmla="*/ 1124341 h 1124341"/>
              <a:gd name="connsiteX4" fmla="*/ 0 w 4484031"/>
              <a:gd name="connsiteY4" fmla="*/ 0 h 1124341"/>
              <a:gd name="connsiteX0" fmla="*/ 0 w 4460979"/>
              <a:gd name="connsiteY0" fmla="*/ 0 h 1124341"/>
              <a:gd name="connsiteX1" fmla="*/ 4460979 w 4460979"/>
              <a:gd name="connsiteY1" fmla="*/ 7685 h 1124341"/>
              <a:gd name="connsiteX2" fmla="*/ 3259548 w 4460979"/>
              <a:gd name="connsiteY2" fmla="*/ 1116657 h 1124341"/>
              <a:gd name="connsiteX3" fmla="*/ 0 w 4460979"/>
              <a:gd name="connsiteY3" fmla="*/ 1124341 h 1124341"/>
              <a:gd name="connsiteX4" fmla="*/ 0 w 4460979"/>
              <a:gd name="connsiteY4" fmla="*/ 0 h 1124341"/>
              <a:gd name="connsiteX0" fmla="*/ 0 w 4460979"/>
              <a:gd name="connsiteY0" fmla="*/ 0 h 1147393"/>
              <a:gd name="connsiteX1" fmla="*/ 4460979 w 4460979"/>
              <a:gd name="connsiteY1" fmla="*/ 30737 h 1147393"/>
              <a:gd name="connsiteX2" fmla="*/ 3259548 w 4460979"/>
              <a:gd name="connsiteY2" fmla="*/ 1139709 h 1147393"/>
              <a:gd name="connsiteX3" fmla="*/ 0 w 4460979"/>
              <a:gd name="connsiteY3" fmla="*/ 1147393 h 1147393"/>
              <a:gd name="connsiteX4" fmla="*/ 0 w 4460979"/>
              <a:gd name="connsiteY4" fmla="*/ 0 h 1147393"/>
              <a:gd name="connsiteX0" fmla="*/ 0 w 4468663"/>
              <a:gd name="connsiteY0" fmla="*/ 0 h 1132025"/>
              <a:gd name="connsiteX1" fmla="*/ 4468663 w 4468663"/>
              <a:gd name="connsiteY1" fmla="*/ 15369 h 1132025"/>
              <a:gd name="connsiteX2" fmla="*/ 3267232 w 4468663"/>
              <a:gd name="connsiteY2" fmla="*/ 1124341 h 1132025"/>
              <a:gd name="connsiteX3" fmla="*/ 7684 w 4468663"/>
              <a:gd name="connsiteY3" fmla="*/ 1132025 h 1132025"/>
              <a:gd name="connsiteX4" fmla="*/ 0 w 4468663"/>
              <a:gd name="connsiteY4" fmla="*/ 0 h 1132025"/>
              <a:gd name="connsiteX0" fmla="*/ 0 w 4468663"/>
              <a:gd name="connsiteY0" fmla="*/ 0 h 1132025"/>
              <a:gd name="connsiteX1" fmla="*/ 4468663 w 4468663"/>
              <a:gd name="connsiteY1" fmla="*/ 15369 h 1132025"/>
              <a:gd name="connsiteX2" fmla="*/ 3267232 w 4468663"/>
              <a:gd name="connsiteY2" fmla="*/ 1124341 h 1132025"/>
              <a:gd name="connsiteX3" fmla="*/ 7684 w 4468663"/>
              <a:gd name="connsiteY3" fmla="*/ 1132025 h 1132025"/>
              <a:gd name="connsiteX4" fmla="*/ 0 w 4468663"/>
              <a:gd name="connsiteY4" fmla="*/ 0 h 1132025"/>
              <a:gd name="connsiteX0" fmla="*/ 0 w 4468663"/>
              <a:gd name="connsiteY0" fmla="*/ 0 h 1139709"/>
              <a:gd name="connsiteX1" fmla="*/ 4468663 w 4468663"/>
              <a:gd name="connsiteY1" fmla="*/ 23053 h 1139709"/>
              <a:gd name="connsiteX2" fmla="*/ 3267232 w 4468663"/>
              <a:gd name="connsiteY2" fmla="*/ 1132025 h 1139709"/>
              <a:gd name="connsiteX3" fmla="*/ 7684 w 4468663"/>
              <a:gd name="connsiteY3" fmla="*/ 1139709 h 1139709"/>
              <a:gd name="connsiteX4" fmla="*/ 0 w 4468663"/>
              <a:gd name="connsiteY4" fmla="*/ 0 h 1139709"/>
              <a:gd name="connsiteX0" fmla="*/ 0 w 4468663"/>
              <a:gd name="connsiteY0" fmla="*/ 0 h 1139709"/>
              <a:gd name="connsiteX1" fmla="*/ 4468663 w 4468663"/>
              <a:gd name="connsiteY1" fmla="*/ 23053 h 1139709"/>
              <a:gd name="connsiteX2" fmla="*/ 3267232 w 4468663"/>
              <a:gd name="connsiteY2" fmla="*/ 1132025 h 1139709"/>
              <a:gd name="connsiteX3" fmla="*/ 7684 w 4468663"/>
              <a:gd name="connsiteY3" fmla="*/ 1139709 h 1139709"/>
              <a:gd name="connsiteX4" fmla="*/ 0 w 4468663"/>
              <a:gd name="connsiteY4" fmla="*/ 0 h 1139709"/>
              <a:gd name="connsiteX0" fmla="*/ 0 w 4468663"/>
              <a:gd name="connsiteY0" fmla="*/ 0 h 1116657"/>
              <a:gd name="connsiteX1" fmla="*/ 4468663 w 4468663"/>
              <a:gd name="connsiteY1" fmla="*/ 1 h 1116657"/>
              <a:gd name="connsiteX2" fmla="*/ 3267232 w 4468663"/>
              <a:gd name="connsiteY2" fmla="*/ 1108973 h 1116657"/>
              <a:gd name="connsiteX3" fmla="*/ 7684 w 4468663"/>
              <a:gd name="connsiteY3" fmla="*/ 1116657 h 1116657"/>
              <a:gd name="connsiteX4" fmla="*/ 0 w 4468663"/>
              <a:gd name="connsiteY4" fmla="*/ 0 h 1116657"/>
              <a:gd name="connsiteX0" fmla="*/ 0 w 4468663"/>
              <a:gd name="connsiteY0" fmla="*/ 0 h 1124700"/>
              <a:gd name="connsiteX1" fmla="*/ 4468663 w 4468663"/>
              <a:gd name="connsiteY1" fmla="*/ 1 h 1124700"/>
              <a:gd name="connsiteX2" fmla="*/ 3267232 w 4468663"/>
              <a:gd name="connsiteY2" fmla="*/ 1124700 h 1124700"/>
              <a:gd name="connsiteX3" fmla="*/ 7684 w 4468663"/>
              <a:gd name="connsiteY3" fmla="*/ 1116657 h 1124700"/>
              <a:gd name="connsiteX4" fmla="*/ 0 w 4468663"/>
              <a:gd name="connsiteY4" fmla="*/ 0 h 1124700"/>
              <a:gd name="connsiteX0" fmla="*/ 0 w 4468663"/>
              <a:gd name="connsiteY0" fmla="*/ 0 h 1117710"/>
              <a:gd name="connsiteX1" fmla="*/ 4468663 w 4468663"/>
              <a:gd name="connsiteY1" fmla="*/ 1 h 1117710"/>
              <a:gd name="connsiteX2" fmla="*/ 3273582 w 4468663"/>
              <a:gd name="connsiteY2" fmla="*/ 1117710 h 1117710"/>
              <a:gd name="connsiteX3" fmla="*/ 7684 w 4468663"/>
              <a:gd name="connsiteY3" fmla="*/ 1116657 h 1117710"/>
              <a:gd name="connsiteX4" fmla="*/ 0 w 4468663"/>
              <a:gd name="connsiteY4" fmla="*/ 0 h 111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68663" h="1117710">
                <a:moveTo>
                  <a:pt x="0" y="0"/>
                </a:moveTo>
                <a:lnTo>
                  <a:pt x="4468663" y="1"/>
                </a:lnTo>
                <a:lnTo>
                  <a:pt x="3273582" y="1117710"/>
                </a:lnTo>
                <a:lnTo>
                  <a:pt x="7684" y="1116657"/>
                </a:lnTo>
                <a:cubicBezTo>
                  <a:pt x="5123" y="739315"/>
                  <a:pt x="2561" y="377342"/>
                  <a:pt x="0" y="0"/>
                </a:cubicBezTo>
                <a:close/>
              </a:path>
            </a:pathLst>
          </a:custGeom>
          <a:solidFill>
            <a:srgbClr val="DB5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511417-9873-43CF-BF0B-0653AAB966F7}"/>
              </a:ext>
            </a:extLst>
          </p:cNvPr>
          <p:cNvGrpSpPr/>
          <p:nvPr/>
        </p:nvGrpSpPr>
        <p:grpSpPr>
          <a:xfrm>
            <a:off x="142978" y="115931"/>
            <a:ext cx="6514233" cy="9627693"/>
            <a:chOff x="152300" y="1579400"/>
            <a:chExt cx="6514233" cy="96276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05A9EB5-23E4-45A4-ACC6-83833F703A39}"/>
                </a:ext>
              </a:extLst>
            </p:cNvPr>
            <p:cNvGrpSpPr/>
            <p:nvPr/>
          </p:nvGrpSpPr>
          <p:grpSpPr>
            <a:xfrm>
              <a:off x="184419" y="7437841"/>
              <a:ext cx="6482114" cy="1159125"/>
              <a:chOff x="184419" y="7437841"/>
              <a:chExt cx="6482114" cy="115912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6CC64016-111A-4914-BFB6-9D3D93A6BAA4}"/>
                  </a:ext>
                </a:extLst>
              </p:cNvPr>
              <p:cNvGrpSpPr/>
              <p:nvPr/>
            </p:nvGrpSpPr>
            <p:grpSpPr>
              <a:xfrm>
                <a:off x="184419" y="7437841"/>
                <a:ext cx="3206479" cy="1159125"/>
                <a:chOff x="8208" y="7372069"/>
                <a:chExt cx="3206479" cy="1159125"/>
              </a:xfrm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9761593E-E05D-41C6-9C9C-128739CF5D05}"/>
                    </a:ext>
                  </a:extLst>
                </p:cNvPr>
                <p:cNvSpPr/>
                <p:nvPr/>
              </p:nvSpPr>
              <p:spPr>
                <a:xfrm>
                  <a:off x="8208" y="7372069"/>
                  <a:ext cx="3206479" cy="11591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11A4A2A-549A-44B5-8302-D9F8818D1B70}"/>
                    </a:ext>
                  </a:extLst>
                </p:cNvPr>
                <p:cNvSpPr txBox="1"/>
                <p:nvPr/>
              </p:nvSpPr>
              <p:spPr>
                <a:xfrm>
                  <a:off x="25686" y="7392795"/>
                  <a:ext cx="3102594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IN" sz="1200" b="1">
                      <a:latin typeface="Aileron Bold" pitchFamily="2" charset="77"/>
                    </a:rPr>
                    <a:t>COMPETITIVE LANDSCAPE</a:t>
                  </a:r>
                </a:p>
                <a:p>
                  <a:pPr algn="just"/>
                  <a:endParaRPr lang="en-IN" sz="500" b="1">
                    <a:latin typeface="Aileron Bold" pitchFamily="2" charset="77"/>
                  </a:endParaRPr>
                </a:p>
                <a:p>
                  <a:pPr lvl="1" algn="just"/>
                  <a:r>
                    <a:rPr lang="en-IN" sz="1200">
                      <a:latin typeface="Aileron" pitchFamily="2" charset="77"/>
                    </a:rPr>
                    <a:t>“Frankenstein-ed” Excel Documents</a:t>
                  </a:r>
                </a:p>
                <a:p>
                  <a:pPr lvl="1" algn="just"/>
                  <a:r>
                    <a:rPr lang="en-IN" sz="1200">
                      <a:latin typeface="Aileron" pitchFamily="2" charset="77"/>
                    </a:rPr>
                    <a:t>Status Quo </a:t>
                  </a:r>
                </a:p>
                <a:p>
                  <a:pPr lvl="1" algn="just"/>
                  <a:r>
                    <a:rPr lang="en-IN" sz="1200">
                      <a:latin typeface="Aileron" pitchFamily="2" charset="77"/>
                    </a:rPr>
                    <a:t>Legacy Approach</a:t>
                  </a:r>
                </a:p>
                <a:p>
                  <a:pPr lvl="1" algn="just"/>
                  <a:r>
                    <a:rPr lang="en-IN" sz="1200">
                      <a:latin typeface="Aileron" pitchFamily="2" charset="77"/>
                    </a:rPr>
                    <a:t>Complacency 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434D8561-5A8F-45C5-8E6D-BC41A1E3A7F8}"/>
                  </a:ext>
                </a:extLst>
              </p:cNvPr>
              <p:cNvGrpSpPr/>
              <p:nvPr/>
            </p:nvGrpSpPr>
            <p:grpSpPr>
              <a:xfrm>
                <a:off x="3513862" y="7458567"/>
                <a:ext cx="3152671" cy="1138399"/>
                <a:chOff x="130478" y="7392795"/>
                <a:chExt cx="3152671" cy="1138399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127074B9-8981-4871-8B8D-00619D2AB16D}"/>
                    </a:ext>
                  </a:extLst>
                </p:cNvPr>
                <p:cNvSpPr/>
                <p:nvPr/>
              </p:nvSpPr>
              <p:spPr>
                <a:xfrm>
                  <a:off x="130478" y="7392795"/>
                  <a:ext cx="3152671" cy="113839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D45A123F-D6AB-4A70-BC2C-F62C374C2A95}"/>
                    </a:ext>
                  </a:extLst>
                </p:cNvPr>
                <p:cNvGrpSpPr/>
                <p:nvPr/>
              </p:nvGrpSpPr>
              <p:grpSpPr>
                <a:xfrm>
                  <a:off x="130479" y="7392795"/>
                  <a:ext cx="3152670" cy="1056599"/>
                  <a:chOff x="306691" y="7393695"/>
                  <a:chExt cx="3152670" cy="1056599"/>
                </a:xfrm>
              </p:grpSpPr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71DEA2F-E9D8-4F43-A35D-4DF321356271}"/>
                      </a:ext>
                    </a:extLst>
                  </p:cNvPr>
                  <p:cNvSpPr txBox="1"/>
                  <p:nvPr/>
                </p:nvSpPr>
                <p:spPr>
                  <a:xfrm>
                    <a:off x="306691" y="7803963"/>
                    <a:ext cx="3152670" cy="646331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marL="182880" indent="-182880" algn="just">
                      <a:buFont typeface="Arial" panose="020B0604020202020204" pitchFamily="34" charset="0"/>
                      <a:buChar char="•"/>
                    </a:pPr>
                    <a:r>
                      <a:rPr 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 Bold" pitchFamily="2" charset="77"/>
                      </a:rPr>
                      <a:t>TAM:  </a:t>
                    </a:r>
                    <a:r>
                      <a: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" pitchFamily="2" charset="77"/>
                      </a:rPr>
                      <a:t>15,000 companies</a:t>
                    </a:r>
                  </a:p>
                  <a:p>
                    <a:pPr marL="182880" indent="-182880" algn="just">
                      <a:buFont typeface="Arial" panose="020B0604020202020204" pitchFamily="34" charset="0"/>
                      <a:buChar char="•"/>
                    </a:pPr>
                    <a:r>
                      <a:rPr 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 Bold" pitchFamily="2" charset="77"/>
                      </a:rPr>
                      <a:t>SAM:  </a:t>
                    </a:r>
                    <a:r>
                      <a: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" pitchFamily="2" charset="77"/>
                      </a:rPr>
                      <a:t>$500 million</a:t>
                    </a:r>
                    <a:endParaRPr lang="en-US" sz="12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ileron Bold" pitchFamily="2" charset="77"/>
                    </a:endParaRPr>
                  </a:p>
                  <a:p>
                    <a:pPr marL="182880" indent="-182880" algn="just">
                      <a:buFont typeface="Arial" panose="020B0604020202020204" pitchFamily="34" charset="0"/>
                      <a:buChar char="•"/>
                    </a:pPr>
                    <a:r>
                      <a:rPr 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 Bold" pitchFamily="2" charset="77"/>
                      </a:rPr>
                      <a:t>SOM: </a:t>
                    </a:r>
                    <a:r>
                      <a: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" pitchFamily="2" charset="77"/>
                      </a:rPr>
                      <a:t>$150 million</a:t>
                    </a:r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34A3B20F-5BD8-4E7A-BC98-04BFB252B763}"/>
                      </a:ext>
                    </a:extLst>
                  </p:cNvPr>
                  <p:cNvSpPr txBox="1"/>
                  <p:nvPr/>
                </p:nvSpPr>
                <p:spPr>
                  <a:xfrm>
                    <a:off x="306691" y="7393695"/>
                    <a:ext cx="312420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b="1">
                        <a:latin typeface="Aileron Bold" pitchFamily="2" charset="77"/>
                      </a:rPr>
                      <a:t>SCOPE OF MARKET</a:t>
                    </a:r>
                  </a:p>
                </p:txBody>
              </p:sp>
            </p:grp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A61E49-D7B6-43AC-88DC-78172AD3581D}"/>
                </a:ext>
              </a:extLst>
            </p:cNvPr>
            <p:cNvGrpSpPr/>
            <p:nvPr/>
          </p:nvGrpSpPr>
          <p:grpSpPr>
            <a:xfrm>
              <a:off x="184419" y="3812114"/>
              <a:ext cx="6470792" cy="1820338"/>
              <a:chOff x="8208" y="2252185"/>
              <a:chExt cx="6470792" cy="182033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E880593-7DA0-4331-8AE6-1626AD17E2E2}"/>
                  </a:ext>
                </a:extLst>
              </p:cNvPr>
              <p:cNvSpPr/>
              <p:nvPr/>
            </p:nvSpPr>
            <p:spPr>
              <a:xfrm>
                <a:off x="8209" y="2282975"/>
                <a:ext cx="6470791" cy="178954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ileron" pitchFamily="2" charset="7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CA31E4A-D0A5-4B53-A2F7-E3349245BBD2}"/>
                  </a:ext>
                </a:extLst>
              </p:cNvPr>
              <p:cNvSpPr txBox="1"/>
              <p:nvPr/>
            </p:nvSpPr>
            <p:spPr>
              <a:xfrm>
                <a:off x="8208" y="2252185"/>
                <a:ext cx="24288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1200" b="1">
                    <a:latin typeface="Aileron Bold" pitchFamily="2" charset="77"/>
                  </a:rPr>
                  <a:t>PROBLEM</a:t>
                </a:r>
                <a:r>
                  <a:rPr lang="en-IN" sz="1400" b="1">
                    <a:latin typeface="Aileron Bold" pitchFamily="2" charset="77"/>
                  </a:rPr>
                  <a:t> 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FA8E8B7-2389-43CA-9AD5-C9F52E46A883}"/>
                </a:ext>
              </a:extLst>
            </p:cNvPr>
            <p:cNvGrpSpPr/>
            <p:nvPr/>
          </p:nvGrpSpPr>
          <p:grpSpPr>
            <a:xfrm>
              <a:off x="152300" y="1579400"/>
              <a:ext cx="6489515" cy="5774189"/>
              <a:chOff x="152300" y="-1721806"/>
              <a:chExt cx="6489515" cy="5774189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9B944C0-A83A-4DC3-A080-0EAEA50D0D71}"/>
                  </a:ext>
                </a:extLst>
              </p:cNvPr>
              <p:cNvGrpSpPr/>
              <p:nvPr/>
            </p:nvGrpSpPr>
            <p:grpSpPr>
              <a:xfrm>
                <a:off x="152300" y="-1721806"/>
                <a:ext cx="3813225" cy="5774003"/>
                <a:chOff x="-23911" y="-1787578"/>
                <a:chExt cx="3813225" cy="5774003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27DD246-6922-4FCB-8D58-87E818546D9F}"/>
                    </a:ext>
                  </a:extLst>
                </p:cNvPr>
                <p:cNvSpPr/>
                <p:nvPr/>
              </p:nvSpPr>
              <p:spPr>
                <a:xfrm>
                  <a:off x="8209" y="2370639"/>
                  <a:ext cx="3206480" cy="161578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D15D57E-A58F-4D22-A792-93B9DD4E8D8A}"/>
                    </a:ext>
                  </a:extLst>
                </p:cNvPr>
                <p:cNvSpPr txBox="1"/>
                <p:nvPr/>
              </p:nvSpPr>
              <p:spPr>
                <a:xfrm>
                  <a:off x="-23911" y="-1787578"/>
                  <a:ext cx="3813225" cy="210826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Galyon Bold" pitchFamily="2" charset="77"/>
                    </a:rPr>
                    <a:t>Ignite program helps companies to do two things: </a:t>
                  </a:r>
                </a:p>
                <a:p>
                  <a:endParaRPr 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alyon" pitchFamily="2" charset="77"/>
                  </a:endParaRPr>
                </a:p>
                <a:p>
                  <a:pPr marL="171450" indent="-171450">
                    <a:buFontTx/>
                    <a:buChar char="-"/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Galyon" pitchFamily="2" charset="77"/>
                    </a:rPr>
                    <a:t>build a revenue strategy and 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Galyon" pitchFamily="2" charset="77"/>
                    </a:rPr>
                    <a:t>boils it down into quick actionable steps that enables the commercial team to get it done.</a:t>
                  </a:r>
                </a:p>
                <a:p>
                  <a:endPara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alyon" pitchFamily="2" charset="77"/>
                  </a:endParaRPr>
                </a:p>
                <a:p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Galyon" pitchFamily="2" charset="77"/>
                    </a:rPr>
                    <a:t>that work in today’s complex marketplace to help you get to where you want to go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Galyon" pitchFamily="2" charset="77"/>
                    </a:rPr>
                    <a:t>.</a:t>
                  </a: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839CC72-EFFA-4E11-84CF-ED06E9E746B0}"/>
                  </a:ext>
                </a:extLst>
              </p:cNvPr>
              <p:cNvGrpSpPr/>
              <p:nvPr/>
            </p:nvGrpSpPr>
            <p:grpSpPr>
              <a:xfrm>
                <a:off x="180291" y="2416868"/>
                <a:ext cx="6461524" cy="1635515"/>
                <a:chOff x="-3203093" y="2351096"/>
                <a:chExt cx="6461524" cy="1635515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0E32158E-0D7A-44C5-BCC6-E46D597C68DF}"/>
                    </a:ext>
                  </a:extLst>
                </p:cNvPr>
                <p:cNvSpPr/>
                <p:nvPr/>
              </p:nvSpPr>
              <p:spPr>
                <a:xfrm>
                  <a:off x="105760" y="2370826"/>
                  <a:ext cx="3152671" cy="161578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189046A-5683-49BF-9074-BDE4F0249A94}"/>
                    </a:ext>
                  </a:extLst>
                </p:cNvPr>
                <p:cNvSpPr txBox="1"/>
                <p:nvPr/>
              </p:nvSpPr>
              <p:spPr>
                <a:xfrm>
                  <a:off x="-3203093" y="2351096"/>
                  <a:ext cx="3124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b="1">
                      <a:latin typeface="Aileron Bold" pitchFamily="2" charset="77"/>
                    </a:rPr>
                    <a:t>SOLUTION</a:t>
                  </a:r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6BC4D92-E974-4898-B237-D7A2E8891336}"/>
                </a:ext>
              </a:extLst>
            </p:cNvPr>
            <p:cNvGrpSpPr/>
            <p:nvPr/>
          </p:nvGrpSpPr>
          <p:grpSpPr>
            <a:xfrm>
              <a:off x="184419" y="8707508"/>
              <a:ext cx="6470793" cy="2499585"/>
              <a:chOff x="184419" y="3899881"/>
              <a:chExt cx="6470793" cy="249958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6872E96-FFB4-404C-8E03-4D72C8ED864D}"/>
                  </a:ext>
                </a:extLst>
              </p:cNvPr>
              <p:cNvGrpSpPr/>
              <p:nvPr/>
            </p:nvGrpSpPr>
            <p:grpSpPr>
              <a:xfrm>
                <a:off x="184419" y="3928005"/>
                <a:ext cx="3206480" cy="2471461"/>
                <a:chOff x="8208" y="3862233"/>
                <a:chExt cx="3206480" cy="2471461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2C57305A-FFC0-4DFA-A044-41026C826A05}"/>
                    </a:ext>
                  </a:extLst>
                </p:cNvPr>
                <p:cNvSpPr/>
                <p:nvPr/>
              </p:nvSpPr>
              <p:spPr>
                <a:xfrm>
                  <a:off x="8208" y="3862233"/>
                  <a:ext cx="3206480" cy="247146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9A101AA-B020-4AB7-ADB7-929256F171B9}"/>
                    </a:ext>
                  </a:extLst>
                </p:cNvPr>
                <p:cNvSpPr txBox="1"/>
                <p:nvPr/>
              </p:nvSpPr>
              <p:spPr>
                <a:xfrm>
                  <a:off x="8208" y="3875080"/>
                  <a:ext cx="299286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b="1">
                      <a:latin typeface="Aileron Bold" pitchFamily="2" charset="77"/>
                    </a:rPr>
                    <a:t>FUTURE REVENUE FORECAST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7C0FCA-2946-497B-B519-8D455ABE3F21}"/>
                  </a:ext>
                </a:extLst>
              </p:cNvPr>
              <p:cNvGrpSpPr/>
              <p:nvPr/>
            </p:nvGrpSpPr>
            <p:grpSpPr>
              <a:xfrm>
                <a:off x="3468176" y="3899881"/>
                <a:ext cx="3187036" cy="2471461"/>
                <a:chOff x="84792" y="3834109"/>
                <a:chExt cx="3187036" cy="2471461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99081356-1B05-49D2-BDDF-2801DE513CA0}"/>
                    </a:ext>
                  </a:extLst>
                </p:cNvPr>
                <p:cNvSpPr/>
                <p:nvPr/>
              </p:nvSpPr>
              <p:spPr>
                <a:xfrm>
                  <a:off x="119157" y="3834109"/>
                  <a:ext cx="3152671" cy="247146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9EF20ADD-B9CF-4C51-9790-5DD4C5CE61E3}"/>
                    </a:ext>
                  </a:extLst>
                </p:cNvPr>
                <p:cNvGrpSpPr/>
                <p:nvPr/>
              </p:nvGrpSpPr>
              <p:grpSpPr>
                <a:xfrm>
                  <a:off x="84792" y="3875081"/>
                  <a:ext cx="3152670" cy="2139751"/>
                  <a:chOff x="261004" y="3875981"/>
                  <a:chExt cx="3152670" cy="2139751"/>
                </a:xfrm>
              </p:grpSpPr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54A0497-634A-498A-A268-E737E9801CA4}"/>
                      </a:ext>
                    </a:extLst>
                  </p:cNvPr>
                  <p:cNvSpPr txBox="1"/>
                  <p:nvPr/>
                </p:nvSpPr>
                <p:spPr>
                  <a:xfrm>
                    <a:off x="261004" y="4261406"/>
                    <a:ext cx="3152670" cy="1754326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Move current platform to 1.0 version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Scale technology to take on the growth model of the reseller and large scale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Wizard, AI, and ML 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Create Dashboards and enhance reporting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Attract and retain top-level talent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Fund Go-to-Market Strategy</a:t>
                    </a:r>
                  </a:p>
                  <a:p>
                    <a:pPr algn="just"/>
                    <a:endParaRPr lang="en-US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ileron" pitchFamily="2" charset="77"/>
                    </a:endParaRP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B82866A9-C5AF-4AE0-89A3-2B1B3EEEF692}"/>
                      </a:ext>
                    </a:extLst>
                  </p:cNvPr>
                  <p:cNvSpPr txBox="1"/>
                  <p:nvPr/>
                </p:nvSpPr>
                <p:spPr>
                  <a:xfrm>
                    <a:off x="269558" y="3875981"/>
                    <a:ext cx="2907031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en-IN" sz="1200" b="1">
                        <a:latin typeface="Aileron Bold" pitchFamily="2" charset="77"/>
                      </a:rPr>
                      <a:t>THE ASK  	  $750K - $1 million</a:t>
                    </a:r>
                  </a:p>
                </p:txBody>
              </p:sp>
            </p:grpSp>
          </p:grp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645098B-C03E-4512-A78A-9C92BF6AFFCA}"/>
              </a:ext>
            </a:extLst>
          </p:cNvPr>
          <p:cNvSpPr txBox="1"/>
          <p:nvPr/>
        </p:nvSpPr>
        <p:spPr>
          <a:xfrm>
            <a:off x="204014" y="4634012"/>
            <a:ext cx="32064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ileron" pitchFamily="2" charset="77"/>
              </a:rPr>
              <a:t>Ignite, a SaaS program, helps companies create a data-decision financial roadmap that simplifies and helps drive performance within sales and marketing teams to get to results.</a:t>
            </a:r>
          </a:p>
        </p:txBody>
      </p:sp>
      <p:pic>
        <p:nvPicPr>
          <p:cNvPr id="49" name="Picture Placeholder 48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C79DAC9A-F8EF-AA40-8930-13D7B03FDD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4" b="3094"/>
          <a:stretch>
            <a:fillRect/>
          </a:stretch>
        </p:blipFill>
        <p:spPr>
          <a:xfrm>
            <a:off x="4391970" y="546780"/>
            <a:ext cx="2430138" cy="1230553"/>
          </a:xfr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DEF7B82-9E09-DC43-AB92-41EAF7FAD187}"/>
              </a:ext>
            </a:extLst>
          </p:cNvPr>
          <p:cNvSpPr txBox="1"/>
          <p:nvPr/>
        </p:nvSpPr>
        <p:spPr>
          <a:xfrm>
            <a:off x="212111" y="2574990"/>
            <a:ext cx="3114472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b="1" i="1" dirty="0">
                <a:latin typeface="Aileron Bold"/>
              </a:rPr>
              <a:t>Business Owners</a:t>
            </a:r>
            <a:r>
              <a:rPr lang="en-US" sz="1200" i="1" dirty="0">
                <a:latin typeface="Aileron"/>
              </a:rPr>
              <a:t>:   IGNITE bridges the</a:t>
            </a:r>
            <a:r>
              <a:rPr lang="en-US" sz="1200" dirty="0">
                <a:latin typeface="Aileron"/>
              </a:rPr>
              <a:t> gap between financial roadmaps and sales &amp; marketing execution of plans.  Building a plan that works in today’s marketplace is difficult.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ileron"/>
              </a:rPr>
              <a:t>90% of plans and tactics overlook millions in  revenue and don’t connect nor yield results.</a:t>
            </a:r>
          </a:p>
          <a:p>
            <a:pPr marL="171450" indent="-171450">
              <a:buFontTx/>
              <a:buChar char="-"/>
            </a:pPr>
            <a:endParaRPr 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42C9A2-E55F-AE44-8C66-A740554DF8B4}"/>
              </a:ext>
            </a:extLst>
          </p:cNvPr>
          <p:cNvSpPr txBox="1"/>
          <p:nvPr/>
        </p:nvSpPr>
        <p:spPr>
          <a:xfrm>
            <a:off x="3504540" y="2519548"/>
            <a:ext cx="3062424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>
                <a:latin typeface="Aileron Bold" pitchFamily="2" charset="77"/>
              </a:rPr>
              <a:t>For Sales and Marketing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Aileron" pitchFamily="2" charset="77"/>
              </a:rPr>
              <a:t>They don’t have time and in some cases skill to develop a plan that is built to be successful in today’s marketplace.   </a:t>
            </a:r>
          </a:p>
          <a:p>
            <a:endParaRPr lang="en-US" sz="700">
              <a:latin typeface="Aileron" pitchFamily="2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Aileron" pitchFamily="2" charset="77"/>
              </a:rPr>
              <a:t>They are tactical, not strategic.  And they are looking for the next gen playbook.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BACDFB-88D6-274F-A03E-8003C6E4F3DA}"/>
              </a:ext>
            </a:extLst>
          </p:cNvPr>
          <p:cNvSpPr txBox="1"/>
          <p:nvPr/>
        </p:nvSpPr>
        <p:spPr>
          <a:xfrm>
            <a:off x="3463792" y="4292169"/>
            <a:ext cx="31649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b="1" dirty="0">
                <a:latin typeface="Aileron Bold" pitchFamily="2" charset="77"/>
              </a:rPr>
              <a:t>FOCUS MARKETS	   </a:t>
            </a:r>
            <a:r>
              <a:rPr lang="en-IN" sz="1200" i="1" dirty="0">
                <a:latin typeface="Aileron" pitchFamily="2" charset="77"/>
              </a:rPr>
              <a:t>Land &amp; Expand</a:t>
            </a:r>
          </a:p>
          <a:p>
            <a:pPr algn="just"/>
            <a:endParaRPr lang="en-IN" sz="400" b="1" dirty="0">
              <a:latin typeface="Aileron Bold" pitchFamily="2" charset="77"/>
            </a:endParaRPr>
          </a:p>
          <a:p>
            <a:pPr lvl="1" algn="just"/>
            <a:r>
              <a:rPr lang="en-IN" sz="1200" dirty="0">
                <a:latin typeface="Aileron" pitchFamily="2" charset="77"/>
              </a:rPr>
              <a:t>Real Estate Owners and Investors</a:t>
            </a:r>
            <a:r>
              <a:rPr lang="en-IN" sz="1200" b="1" dirty="0">
                <a:latin typeface="Aileron Bold" pitchFamily="2" charset="77"/>
              </a:rPr>
              <a:t>:</a:t>
            </a:r>
          </a:p>
          <a:p>
            <a:pPr lvl="1" algn="just"/>
            <a:r>
              <a:rPr lang="en-IN" sz="1200" b="1" dirty="0">
                <a:latin typeface="Aileron Bold" pitchFamily="2" charset="77"/>
              </a:rPr>
              <a:t>	- </a:t>
            </a:r>
            <a:r>
              <a:rPr lang="en-IN" sz="1200" dirty="0">
                <a:latin typeface="Aileron" pitchFamily="2" charset="77"/>
              </a:rPr>
              <a:t>Hotels</a:t>
            </a:r>
          </a:p>
          <a:p>
            <a:pPr lvl="1" algn="just"/>
            <a:r>
              <a:rPr lang="en-IN" sz="1200" b="1" dirty="0">
                <a:latin typeface="Aileron Bold" pitchFamily="2" charset="77"/>
              </a:rPr>
              <a:t>	- </a:t>
            </a:r>
            <a:r>
              <a:rPr lang="en-IN" sz="1200" dirty="0">
                <a:latin typeface="Aileron" pitchFamily="2" charset="77"/>
              </a:rPr>
              <a:t>Assisted Living</a:t>
            </a:r>
          </a:p>
          <a:p>
            <a:pPr lvl="1" algn="just"/>
            <a:r>
              <a:rPr lang="en-IN" sz="1200" b="1" dirty="0">
                <a:latin typeface="Aileron Bold" pitchFamily="2" charset="77"/>
              </a:rPr>
              <a:t>	- </a:t>
            </a:r>
            <a:r>
              <a:rPr lang="en-IN" sz="1200" dirty="0">
                <a:latin typeface="Aileron" pitchFamily="2" charset="77"/>
              </a:rPr>
              <a:t>Multi-Family</a:t>
            </a:r>
          </a:p>
          <a:p>
            <a:pPr lvl="1" algn="just"/>
            <a:endParaRPr lang="en-IN" sz="400" dirty="0">
              <a:latin typeface="Aileron" pitchFamily="2" charset="77"/>
            </a:endParaRPr>
          </a:p>
          <a:p>
            <a:pPr lvl="1" algn="just"/>
            <a:r>
              <a:rPr lang="en-IN" sz="1200" dirty="0">
                <a:latin typeface="Aileron" pitchFamily="2" charset="77"/>
              </a:rPr>
              <a:t>Professional Services</a:t>
            </a:r>
          </a:p>
          <a:p>
            <a:pPr lvl="1" algn="just"/>
            <a:endParaRPr lang="en-IN" sz="400" dirty="0">
              <a:latin typeface="Aileron" pitchFamily="2" charset="77"/>
            </a:endParaRPr>
          </a:p>
          <a:p>
            <a:pPr lvl="1" algn="just"/>
            <a:r>
              <a:rPr lang="en-IN" sz="1200" dirty="0">
                <a:latin typeface="Aileron" pitchFamily="2" charset="77"/>
              </a:rPr>
              <a:t>Start ups</a:t>
            </a:r>
          </a:p>
        </p:txBody>
      </p:sp>
      <p:pic>
        <p:nvPicPr>
          <p:cNvPr id="4" name="Picture 3" descr="A picture containing line chart&#10;&#10;Description automatically generated">
            <a:extLst>
              <a:ext uri="{FF2B5EF4-FFF2-40B4-BE49-F238E27FC236}">
                <a16:creationId xmlns:a16="http://schemas.microsoft.com/office/drawing/2014/main" id="{037340A4-36F5-A443-8A01-D052EF70F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14" y="7670436"/>
            <a:ext cx="2916678" cy="181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99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1">
            <a:extLst>
              <a:ext uri="{FF2B5EF4-FFF2-40B4-BE49-F238E27FC236}">
                <a16:creationId xmlns:a16="http://schemas.microsoft.com/office/drawing/2014/main" id="{5F2482C7-FDE9-D54F-AC1F-A3FDD38270E6}"/>
              </a:ext>
            </a:extLst>
          </p:cNvPr>
          <p:cNvSpPr/>
          <p:nvPr/>
        </p:nvSpPr>
        <p:spPr>
          <a:xfrm>
            <a:off x="3480854" y="6890842"/>
            <a:ext cx="3305336" cy="2734169"/>
          </a:xfrm>
          <a:custGeom>
            <a:avLst/>
            <a:gdLst>
              <a:gd name="connsiteX0" fmla="*/ 0 w 5717890"/>
              <a:gd name="connsiteY0" fmla="*/ 0 h 1780235"/>
              <a:gd name="connsiteX1" fmla="*/ 5717890 w 5717890"/>
              <a:gd name="connsiteY1" fmla="*/ 0 h 1780235"/>
              <a:gd name="connsiteX2" fmla="*/ 5717890 w 5717890"/>
              <a:gd name="connsiteY2" fmla="*/ 1780235 h 1780235"/>
              <a:gd name="connsiteX3" fmla="*/ 0 w 5717890"/>
              <a:gd name="connsiteY3" fmla="*/ 1780235 h 1780235"/>
              <a:gd name="connsiteX4" fmla="*/ 0 w 5717890"/>
              <a:gd name="connsiteY4" fmla="*/ 0 h 178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780235">
                <a:moveTo>
                  <a:pt x="0" y="0"/>
                </a:moveTo>
                <a:lnTo>
                  <a:pt x="5717890" y="0"/>
                </a:lnTo>
                <a:lnTo>
                  <a:pt x="5717890" y="1780235"/>
                </a:lnTo>
                <a:lnTo>
                  <a:pt x="0" y="178023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5B2C0FC-4041-4475-8295-6A9E6B869051}"/>
              </a:ext>
            </a:extLst>
          </p:cNvPr>
          <p:cNvSpPr/>
          <p:nvPr/>
        </p:nvSpPr>
        <p:spPr>
          <a:xfrm>
            <a:off x="3480854" y="1253474"/>
            <a:ext cx="3305336" cy="2716310"/>
          </a:xfrm>
          <a:custGeom>
            <a:avLst/>
            <a:gdLst>
              <a:gd name="connsiteX0" fmla="*/ 0 w 5717890"/>
              <a:gd name="connsiteY0" fmla="*/ 0 h 1851829"/>
              <a:gd name="connsiteX1" fmla="*/ 5717890 w 5717890"/>
              <a:gd name="connsiteY1" fmla="*/ 0 h 1851829"/>
              <a:gd name="connsiteX2" fmla="*/ 5717890 w 5717890"/>
              <a:gd name="connsiteY2" fmla="*/ 1851829 h 1851829"/>
              <a:gd name="connsiteX3" fmla="*/ 0 w 5717890"/>
              <a:gd name="connsiteY3" fmla="*/ 1851829 h 1851829"/>
              <a:gd name="connsiteX4" fmla="*/ 0 w 5717890"/>
              <a:gd name="connsiteY4" fmla="*/ 0 h 185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851829">
                <a:moveTo>
                  <a:pt x="0" y="0"/>
                </a:moveTo>
                <a:lnTo>
                  <a:pt x="5717890" y="0"/>
                </a:lnTo>
                <a:lnTo>
                  <a:pt x="5717890" y="1851829"/>
                </a:lnTo>
                <a:lnTo>
                  <a:pt x="0" y="185182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" pitchFamily="2" charset="77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4E1F655-DAA5-42D0-BECE-1C43BAF48A6D}"/>
              </a:ext>
            </a:extLst>
          </p:cNvPr>
          <p:cNvSpPr/>
          <p:nvPr/>
        </p:nvSpPr>
        <p:spPr>
          <a:xfrm>
            <a:off x="3480854" y="4113535"/>
            <a:ext cx="3305336" cy="2651418"/>
          </a:xfrm>
          <a:custGeom>
            <a:avLst/>
            <a:gdLst>
              <a:gd name="connsiteX0" fmla="*/ 0 w 5717890"/>
              <a:gd name="connsiteY0" fmla="*/ 0 h 1780235"/>
              <a:gd name="connsiteX1" fmla="*/ 5717890 w 5717890"/>
              <a:gd name="connsiteY1" fmla="*/ 0 h 1780235"/>
              <a:gd name="connsiteX2" fmla="*/ 5717890 w 5717890"/>
              <a:gd name="connsiteY2" fmla="*/ 1780235 h 1780235"/>
              <a:gd name="connsiteX3" fmla="*/ 0 w 5717890"/>
              <a:gd name="connsiteY3" fmla="*/ 1780235 h 1780235"/>
              <a:gd name="connsiteX4" fmla="*/ 0 w 5717890"/>
              <a:gd name="connsiteY4" fmla="*/ 0 h 178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780235">
                <a:moveTo>
                  <a:pt x="0" y="0"/>
                </a:moveTo>
                <a:lnTo>
                  <a:pt x="5717890" y="0"/>
                </a:lnTo>
                <a:lnTo>
                  <a:pt x="5717890" y="1780235"/>
                </a:lnTo>
                <a:lnTo>
                  <a:pt x="0" y="178023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7BA7B43-60A0-4BD0-801F-80BEBFBEE20F}"/>
              </a:ext>
            </a:extLst>
          </p:cNvPr>
          <p:cNvSpPr/>
          <p:nvPr/>
        </p:nvSpPr>
        <p:spPr>
          <a:xfrm>
            <a:off x="71809" y="1253474"/>
            <a:ext cx="3305336" cy="2719642"/>
          </a:xfrm>
          <a:custGeom>
            <a:avLst/>
            <a:gdLst>
              <a:gd name="connsiteX0" fmla="*/ 0 w 5717890"/>
              <a:gd name="connsiteY0" fmla="*/ 0 h 1851829"/>
              <a:gd name="connsiteX1" fmla="*/ 5717890 w 5717890"/>
              <a:gd name="connsiteY1" fmla="*/ 0 h 1851829"/>
              <a:gd name="connsiteX2" fmla="*/ 5717890 w 5717890"/>
              <a:gd name="connsiteY2" fmla="*/ 1851829 h 1851829"/>
              <a:gd name="connsiteX3" fmla="*/ 0 w 5717890"/>
              <a:gd name="connsiteY3" fmla="*/ 1851829 h 1851829"/>
              <a:gd name="connsiteX4" fmla="*/ 0 w 5717890"/>
              <a:gd name="connsiteY4" fmla="*/ 0 h 185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851829">
                <a:moveTo>
                  <a:pt x="0" y="0"/>
                </a:moveTo>
                <a:lnTo>
                  <a:pt x="5717890" y="0"/>
                </a:lnTo>
                <a:lnTo>
                  <a:pt x="5717890" y="1851829"/>
                </a:lnTo>
                <a:lnTo>
                  <a:pt x="0" y="185182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859DCE7-376C-4648-8CDF-6A4B43AF4C07}"/>
              </a:ext>
            </a:extLst>
          </p:cNvPr>
          <p:cNvSpPr/>
          <p:nvPr/>
        </p:nvSpPr>
        <p:spPr>
          <a:xfrm>
            <a:off x="95385" y="4113535"/>
            <a:ext cx="3305336" cy="2651418"/>
          </a:xfrm>
          <a:custGeom>
            <a:avLst/>
            <a:gdLst>
              <a:gd name="connsiteX0" fmla="*/ 0 w 5717890"/>
              <a:gd name="connsiteY0" fmla="*/ 0 h 1780235"/>
              <a:gd name="connsiteX1" fmla="*/ 5717890 w 5717890"/>
              <a:gd name="connsiteY1" fmla="*/ 0 h 1780235"/>
              <a:gd name="connsiteX2" fmla="*/ 5717890 w 5717890"/>
              <a:gd name="connsiteY2" fmla="*/ 1780235 h 1780235"/>
              <a:gd name="connsiteX3" fmla="*/ 0 w 5717890"/>
              <a:gd name="connsiteY3" fmla="*/ 1780235 h 1780235"/>
              <a:gd name="connsiteX4" fmla="*/ 0 w 5717890"/>
              <a:gd name="connsiteY4" fmla="*/ 0 h 178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780235">
                <a:moveTo>
                  <a:pt x="0" y="0"/>
                </a:moveTo>
                <a:lnTo>
                  <a:pt x="5717890" y="0"/>
                </a:lnTo>
                <a:lnTo>
                  <a:pt x="5717890" y="1780235"/>
                </a:lnTo>
                <a:lnTo>
                  <a:pt x="0" y="178023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CA47398-E940-4467-9E68-949F6DB51289}"/>
              </a:ext>
            </a:extLst>
          </p:cNvPr>
          <p:cNvSpPr/>
          <p:nvPr/>
        </p:nvSpPr>
        <p:spPr>
          <a:xfrm>
            <a:off x="71809" y="6866969"/>
            <a:ext cx="3305336" cy="2758043"/>
          </a:xfrm>
          <a:custGeom>
            <a:avLst/>
            <a:gdLst>
              <a:gd name="connsiteX0" fmla="*/ 0 w 5717890"/>
              <a:gd name="connsiteY0" fmla="*/ 0 h 1851827"/>
              <a:gd name="connsiteX1" fmla="*/ 5717890 w 5717890"/>
              <a:gd name="connsiteY1" fmla="*/ 0 h 1851827"/>
              <a:gd name="connsiteX2" fmla="*/ 5717890 w 5717890"/>
              <a:gd name="connsiteY2" fmla="*/ 1851827 h 1851827"/>
              <a:gd name="connsiteX3" fmla="*/ 0 w 5717890"/>
              <a:gd name="connsiteY3" fmla="*/ 1851827 h 1851827"/>
              <a:gd name="connsiteX4" fmla="*/ 0 w 5717890"/>
              <a:gd name="connsiteY4" fmla="*/ 0 h 185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851827">
                <a:moveTo>
                  <a:pt x="0" y="0"/>
                </a:moveTo>
                <a:lnTo>
                  <a:pt x="5717890" y="0"/>
                </a:lnTo>
                <a:lnTo>
                  <a:pt x="5717890" y="1851827"/>
                </a:lnTo>
                <a:lnTo>
                  <a:pt x="0" y="185182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" pitchFamily="2" charset="77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1552FD-3674-42AD-952A-41638DD6A6E2}"/>
              </a:ext>
            </a:extLst>
          </p:cNvPr>
          <p:cNvSpPr/>
          <p:nvPr/>
        </p:nvSpPr>
        <p:spPr>
          <a:xfrm>
            <a:off x="313369" y="1266174"/>
            <a:ext cx="2822217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lyon Bold" pitchFamily="2" charset="77"/>
                <a:cs typeface="Arial" panose="020B0604020202020204" pitchFamily="34" charset="0"/>
              </a:rPr>
              <a:t>Business Model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2B3846B-8F7F-4D4C-8BDB-C0EA4248662D}"/>
              </a:ext>
            </a:extLst>
          </p:cNvPr>
          <p:cNvSpPr/>
          <p:nvPr/>
        </p:nvSpPr>
        <p:spPr>
          <a:xfrm>
            <a:off x="313369" y="4133199"/>
            <a:ext cx="2822217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>
                    <a:lumMod val="85000"/>
                    <a:lumOff val="15000"/>
                  </a:prstClr>
                </a:solidFill>
                <a:latin typeface="Galyon Bold" pitchFamily="2" charset="77"/>
                <a:cs typeface="Arial" panose="020B0604020202020204" pitchFamily="34" charset="0"/>
              </a:rPr>
              <a:t>Milestones to Date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alyon Bold" pitchFamily="2" charset="77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3891951-91A9-46E2-BA9E-114B7A30AA74}"/>
              </a:ext>
            </a:extLst>
          </p:cNvPr>
          <p:cNvSpPr/>
          <p:nvPr/>
        </p:nvSpPr>
        <p:spPr>
          <a:xfrm>
            <a:off x="313369" y="6895449"/>
            <a:ext cx="2822217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lyon Bold" pitchFamily="2" charset="77"/>
                <a:cs typeface="Arial" panose="020B0604020202020204" pitchFamily="34" charset="0"/>
              </a:rPr>
              <a:t>Differentiator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EE4C6D9-58AB-4A39-8886-BD874BD5E9F4}"/>
              </a:ext>
            </a:extLst>
          </p:cNvPr>
          <p:cNvSpPr/>
          <p:nvPr/>
        </p:nvSpPr>
        <p:spPr>
          <a:xfrm>
            <a:off x="3426081" y="1261124"/>
            <a:ext cx="3414883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lyon Bold" pitchFamily="2" charset="77"/>
                <a:cs typeface="Arial" panose="020B0604020202020204" pitchFamily="34" charset="0"/>
              </a:rPr>
              <a:t>Traction</a:t>
            </a:r>
          </a:p>
        </p:txBody>
      </p:sp>
      <p:pic>
        <p:nvPicPr>
          <p:cNvPr id="7" name="Picture 6" descr="A picture containing dark, night&#10;&#10;Description automatically generated">
            <a:extLst>
              <a:ext uri="{FF2B5EF4-FFF2-40B4-BE49-F238E27FC236}">
                <a16:creationId xmlns:a16="http://schemas.microsoft.com/office/drawing/2014/main" id="{A9309B5A-40FC-1546-8C3C-93FA8426F9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" t="33121" r="-271" b="20801"/>
          <a:stretch/>
        </p:blipFill>
        <p:spPr>
          <a:xfrm>
            <a:off x="18595" y="-17345"/>
            <a:ext cx="6858000" cy="11044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9F5B4C-B301-FF49-99F5-D0F5AAADC4BD}"/>
              </a:ext>
            </a:extLst>
          </p:cNvPr>
          <p:cNvSpPr txBox="1"/>
          <p:nvPr/>
        </p:nvSpPr>
        <p:spPr>
          <a:xfrm>
            <a:off x="3618705" y="1750513"/>
            <a:ext cx="30820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ileron" pitchFamily="2" charset="77"/>
              </a:rPr>
              <a:t>Our customers today: </a:t>
            </a:r>
          </a:p>
          <a:p>
            <a:r>
              <a:rPr lang="en-US" sz="1400" dirty="0">
                <a:latin typeface="Aileron" pitchFamily="2" charset="77"/>
              </a:rPr>
              <a:t>	</a:t>
            </a:r>
          </a:p>
          <a:p>
            <a:pPr marL="290513"/>
            <a:r>
              <a:rPr lang="en-US" sz="1400" dirty="0">
                <a:latin typeface="Aileron" pitchFamily="2" charset="77"/>
              </a:rPr>
              <a:t>A hotel management firm</a:t>
            </a:r>
          </a:p>
          <a:p>
            <a:pPr marL="290513"/>
            <a:r>
              <a:rPr lang="en-US" sz="1400" dirty="0">
                <a:latin typeface="Aileron" pitchFamily="2" charset="77"/>
              </a:rPr>
              <a:t>A wine distributor</a:t>
            </a:r>
          </a:p>
          <a:p>
            <a:pPr marL="290513"/>
            <a:r>
              <a:rPr lang="en-US" sz="1400" dirty="0">
                <a:latin typeface="Aileron" pitchFamily="2" charset="77"/>
              </a:rPr>
              <a:t>Multi-national asset    </a:t>
            </a:r>
          </a:p>
          <a:p>
            <a:r>
              <a:rPr lang="en-US" sz="1400" dirty="0">
                <a:latin typeface="Aileron" pitchFamily="2" charset="77"/>
              </a:rPr>
              <a:t>	management firm</a:t>
            </a:r>
          </a:p>
          <a:p>
            <a:endParaRPr lang="en-US" sz="1400" dirty="0">
              <a:latin typeface="Aileron" pitchFamily="2" charset="77"/>
            </a:endParaRPr>
          </a:p>
        </p:txBody>
      </p:sp>
      <p:pic>
        <p:nvPicPr>
          <p:cNvPr id="14" name="Picture 13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BDF3579F-9C4B-C74E-8E6C-1594159BB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" y="4619810"/>
            <a:ext cx="3225800" cy="1890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F4C229-CBA3-7F4A-8FCD-49D8FA0EBF2D}"/>
              </a:ext>
            </a:extLst>
          </p:cNvPr>
          <p:cNvSpPr txBox="1"/>
          <p:nvPr/>
        </p:nvSpPr>
        <p:spPr>
          <a:xfrm>
            <a:off x="3572784" y="6323406"/>
            <a:ext cx="3129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Aileron" pitchFamily="2" charset="77"/>
              </a:rPr>
              <a:t>Over </a:t>
            </a:r>
            <a:r>
              <a:rPr lang="en-US" sz="1200" b="1">
                <a:latin typeface="Aileron Bold" pitchFamily="2" charset="77"/>
              </a:rPr>
              <a:t>100+ </a:t>
            </a:r>
            <a:r>
              <a:rPr lang="en-US" sz="1200">
                <a:latin typeface="Aileron" pitchFamily="2" charset="77"/>
              </a:rPr>
              <a:t>years in strategy and building businesses </a:t>
            </a:r>
          </a:p>
        </p:txBody>
      </p:sp>
      <p:pic>
        <p:nvPicPr>
          <p:cNvPr id="19" name="Picture 18" descr="Diagram&#10;&#10;Description automatically generated">
            <a:extLst>
              <a:ext uri="{FF2B5EF4-FFF2-40B4-BE49-F238E27FC236}">
                <a16:creationId xmlns:a16="http://schemas.microsoft.com/office/drawing/2014/main" id="{608A368D-FE1D-6F4D-A2DA-6074C151E6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05" y="7095504"/>
            <a:ext cx="3082016" cy="17351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6E1D9E0-B040-044D-A012-E41AEA6E3314}"/>
              </a:ext>
            </a:extLst>
          </p:cNvPr>
          <p:cNvSpPr txBox="1"/>
          <p:nvPr/>
        </p:nvSpPr>
        <p:spPr>
          <a:xfrm>
            <a:off x="3832698" y="9056451"/>
            <a:ext cx="271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>
                <a:hlinkClick r:id="rId5"/>
              </a:rPr>
              <a:t>www.ignites.info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DED3C5-7377-574F-840F-E00A62A3D18A}"/>
              </a:ext>
            </a:extLst>
          </p:cNvPr>
          <p:cNvSpPr txBox="1"/>
          <p:nvPr/>
        </p:nvSpPr>
        <p:spPr>
          <a:xfrm>
            <a:off x="313368" y="7324039"/>
            <a:ext cx="30190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>
                <a:latin typeface="Aileron" pitchFamily="2" charset="77"/>
              </a:rPr>
              <a:t>Cross-Vertical solution for SMB to full enterprise  </a:t>
            </a:r>
          </a:p>
          <a:p>
            <a:pPr marL="285750" indent="-285750">
              <a:buFontTx/>
              <a:buChar char="-"/>
            </a:pPr>
            <a:r>
              <a:rPr lang="en-US" sz="1400">
                <a:latin typeface="Aileron" pitchFamily="2" charset="77"/>
              </a:rPr>
              <a:t>$1.3- $2 million dollars of unrealized revenue resultant from the program.</a:t>
            </a:r>
          </a:p>
          <a:p>
            <a:pPr marL="285750" indent="-285750">
              <a:buFontTx/>
              <a:buChar char="-"/>
            </a:pPr>
            <a:r>
              <a:rPr lang="en-US" sz="1400">
                <a:latin typeface="Aileron" pitchFamily="2" charset="77"/>
              </a:rPr>
              <a:t>“I couldn’t find a solution for our clients, so I built it”</a:t>
            </a:r>
          </a:p>
          <a:p>
            <a:pPr marL="1657350" lvl="3" indent="-285750">
              <a:buFontTx/>
              <a:buChar char="-"/>
            </a:pPr>
            <a:r>
              <a:rPr lang="en-US" sz="1400">
                <a:latin typeface="Aileron" pitchFamily="2" charset="77"/>
              </a:rPr>
              <a:t>Kate Burda</a:t>
            </a:r>
          </a:p>
        </p:txBody>
      </p:sp>
      <p:pic>
        <p:nvPicPr>
          <p:cNvPr id="6" name="Picture 5" descr="A picture containing timeline&#10;&#10;Description automatically generated">
            <a:extLst>
              <a:ext uri="{FF2B5EF4-FFF2-40B4-BE49-F238E27FC236}">
                <a16:creationId xmlns:a16="http://schemas.microsoft.com/office/drawing/2014/main" id="{6FCE93B5-28B5-A542-8CEE-0F11AF50F5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91" y="1949847"/>
            <a:ext cx="3168724" cy="162761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B6EFAAD-A15B-5C44-910D-E5CCCBF9C24A}"/>
              </a:ext>
            </a:extLst>
          </p:cNvPr>
          <p:cNvSpPr/>
          <p:nvPr/>
        </p:nvSpPr>
        <p:spPr>
          <a:xfrm>
            <a:off x="3710694" y="4101824"/>
            <a:ext cx="2822217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>
                    <a:lumMod val="85000"/>
                    <a:lumOff val="15000"/>
                  </a:prstClr>
                </a:solidFill>
                <a:latin typeface="Galyon Bold" pitchFamily="2" charset="77"/>
                <a:cs typeface="Arial" panose="020B0604020202020204" pitchFamily="34" charset="0"/>
              </a:rPr>
              <a:t>Meet the Core Team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alyon Bold" pitchFamily="2" charset="77"/>
              <a:cs typeface="Arial" panose="020B0604020202020204" pitchFamily="34" charset="0"/>
            </a:endParaRPr>
          </a:p>
        </p:txBody>
      </p:sp>
      <p:pic>
        <p:nvPicPr>
          <p:cNvPr id="9" name="Picture 8" descr="Timeline&#10;&#10;Description automatically generated">
            <a:extLst>
              <a:ext uri="{FF2B5EF4-FFF2-40B4-BE49-F238E27FC236}">
                <a16:creationId xmlns:a16="http://schemas.microsoft.com/office/drawing/2014/main" id="{9B58DEF1-7472-AD4D-8E67-89077A1623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15" y="4610617"/>
            <a:ext cx="2321574" cy="158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3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358</Words>
  <Application>Microsoft Macintosh PowerPoint</Application>
  <PresentationFormat>A4 Paper (210x297 mm)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Aileron</vt:lpstr>
      <vt:lpstr>Aileron Bold</vt:lpstr>
      <vt:lpstr>Arial</vt:lpstr>
      <vt:lpstr>Calibri</vt:lpstr>
      <vt:lpstr>Calibri Light</vt:lpstr>
      <vt:lpstr>Galyon</vt:lpstr>
      <vt:lpstr>Galyon Bold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pc34</dc:creator>
  <cp:lastModifiedBy>Kate Burda</cp:lastModifiedBy>
  <cp:revision>2</cp:revision>
  <dcterms:created xsi:type="dcterms:W3CDTF">2020-08-11T07:54:34Z</dcterms:created>
  <dcterms:modified xsi:type="dcterms:W3CDTF">2023-09-20T12:48:40Z</dcterms:modified>
</cp:coreProperties>
</file>