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135" r:id="rId5"/>
    <p:sldId id="2140755491" r:id="rId6"/>
    <p:sldId id="2140755492" r:id="rId7"/>
    <p:sldId id="41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DCF9C9-6838-2F01-F3FC-EFCE4582AF9F}" name="Tristan Carty" initials="TC" userId="S::tristan@thecartycollective.com::aaecc192-4e53-4f1c-81a5-906a3d1806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1072"/>
    <a:srgbClr val="B52372"/>
    <a:srgbClr val="D51067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22497-C01D-B740-AA34-DE23E8C2535B}" v="1" dt="2025-04-18T12:09:32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830"/>
  </p:normalViewPr>
  <p:slideViewPr>
    <p:cSldViewPr snapToGrid="0">
      <p:cViewPr varScale="1">
        <p:scale>
          <a:sx n="117" d="100"/>
          <a:sy n="117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BA622497-C01D-B740-AA34-DE23E8C2535B}"/>
    <pc:docChg chg="modSld">
      <pc:chgData name="Kate Burda" userId="44c1ea53-84f5-4c7e-8f48-bfeb434f1f02" providerId="ADAL" clId="{BA622497-C01D-B740-AA34-DE23E8C2535B}" dt="2025-04-18T12:09:44.704" v="7" actId="20577"/>
      <pc:docMkLst>
        <pc:docMk/>
      </pc:docMkLst>
      <pc:sldChg chg="modSp mod">
        <pc:chgData name="Kate Burda" userId="44c1ea53-84f5-4c7e-8f48-bfeb434f1f02" providerId="ADAL" clId="{BA622497-C01D-B740-AA34-DE23E8C2535B}" dt="2025-04-18T12:09:44.704" v="7" actId="20577"/>
        <pc:sldMkLst>
          <pc:docMk/>
          <pc:sldMk cId="2728015476" sldId="2140755492"/>
        </pc:sldMkLst>
        <pc:spChg chg="mod">
          <ac:chgData name="Kate Burda" userId="44c1ea53-84f5-4c7e-8f48-bfeb434f1f02" providerId="ADAL" clId="{BA622497-C01D-B740-AA34-DE23E8C2535B}" dt="2025-04-18T12:09:44.704" v="7" actId="20577"/>
          <ac:spMkLst>
            <pc:docMk/>
            <pc:sldMk cId="2728015476" sldId="2140755492"/>
            <ac:spMk id="11" creationId="{6A4DE391-3EB9-141B-0E95-7E9365D05D8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C56-3E14-034D-AF27-6C904A40B6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7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8508F9-30A1-01C5-FB25-C02D4BBA1E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2032" y="5629275"/>
            <a:ext cx="1267935" cy="177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5DC0B-8DCD-6349-88AB-BFEA16918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9380" y="3429000"/>
            <a:ext cx="1727363" cy="242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134C2-B87D-BF10-A618-A5A9410CBB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352" y="5516880"/>
            <a:ext cx="1505296" cy="21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D4C93-6374-5B9B-6BB9-58C9F8F97A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352" y="5516880"/>
            <a:ext cx="1505296" cy="21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A537D1-8957-90E9-EB0A-8435E9DE9B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352" y="5516880"/>
            <a:ext cx="1505296" cy="21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D5C221-E054-979B-0AA7-5564B998CF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352" y="5516880"/>
            <a:ext cx="1505296" cy="21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402705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966200" y="2489200"/>
            <a:ext cx="3225800" cy="4368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19368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F1552B-B7F6-4E4C-B4A3-EC8BAFED2E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D163DC-5EF7-4A7C-9A04-A084CF18C74E}" type="datetime1">
              <a:rPr lang="en-IN" smtClean="0"/>
              <a:t>18/04/25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B023A1-930B-4BB8-89A1-8E397D1ACA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D29B61-8897-49B8-94E9-83FF61E6A2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646B31-EC42-4AA4-A03D-41379B95B1B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FECAC85-80BC-403D-BEEB-05A85910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2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F094B0E-DFF7-024B-A1B7-263AA7331561}" type="datetimeFigureOut">
              <a:rPr lang="en-US" smtClean="0"/>
              <a:pPr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ADE4FCF-A6C5-1446-A3B3-DDF1BB57728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C894EF-06DC-E20C-C3A7-8A6739C1D71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3352" y="5516880"/>
            <a:ext cx="1505296" cy="21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8" r:id="rId13"/>
    <p:sldLayoutId id="2147483671" r:id="rId14"/>
    <p:sldLayoutId id="2147483672" r:id="rId15"/>
    <p:sldLayoutId id="214748367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Kate@kateburd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-up of a chess board&#10;&#10;Description automatically generated">
            <a:extLst>
              <a:ext uri="{FF2B5EF4-FFF2-40B4-BE49-F238E27FC236}">
                <a16:creationId xmlns:a16="http://schemas.microsoft.com/office/drawing/2014/main" id="{C1FE091C-30B5-97C6-A92C-4DC093CCBC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8" t="21532" b="-4461"/>
          <a:stretch/>
        </p:blipFill>
        <p:spPr>
          <a:xfrm>
            <a:off x="7620" y="326571"/>
            <a:ext cx="12184381" cy="6628667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-15538" y="5605153"/>
            <a:ext cx="12207538" cy="1252847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sz="2400" dirty="0"/>
          </a:p>
          <a:p>
            <a:r>
              <a:rPr lang="en-US" sz="2400" dirty="0">
                <a:latin typeface="Franklin Gothic Book" panose="020B0503020102020204" pitchFamily="34" charset="0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 Wendy McHenry, Glenn Wallace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" y="-2344"/>
            <a:ext cx="12184380" cy="449532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/>
          <p:nvPr/>
        </p:nvSpPr>
        <p:spPr>
          <a:xfrm>
            <a:off x="7930" y="3643579"/>
            <a:ext cx="12184380" cy="1252846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8"/>
          <p:cNvSpPr txBox="1"/>
          <p:nvPr/>
        </p:nvSpPr>
        <p:spPr>
          <a:xfrm>
            <a:off x="295794" y="3715104"/>
            <a:ext cx="11794605" cy="1166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 Conversation of Possibility</a:t>
            </a:r>
            <a:r>
              <a:rPr lang="en-US" sz="3733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- Revenue Strategy to Commercial Enablement  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6387049"/>
            <a:ext cx="7645400" cy="2504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ts val="933"/>
              </a:lnSpc>
              <a:spcBef>
                <a:spcPts val="1820"/>
              </a:spcBef>
            </a:pP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933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1067" spc="-4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Flying Horse Resort,, 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1067" spc="-7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1067" dirty="0">
              <a:latin typeface="Franklin Gothic Book" panose="020B0503020102020204" pitchFamily="34" charset="0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0FDA8-17A9-6432-09E7-477BCCA3A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514" y="5576066"/>
            <a:ext cx="2136556" cy="128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346E-37D3-6745-C778-1FB4E5C4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E57EAD-64B3-8B75-E994-8A2D22D0F394}"/>
              </a:ext>
            </a:extLst>
          </p:cNvPr>
          <p:cNvSpPr/>
          <p:nvPr/>
        </p:nvSpPr>
        <p:spPr>
          <a:xfrm>
            <a:off x="837873" y="2457029"/>
            <a:ext cx="2436327" cy="1886788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863CF1B-5FCD-2287-A2A5-76D1A6B902BB}"/>
              </a:ext>
            </a:extLst>
          </p:cNvPr>
          <p:cNvSpPr txBox="1">
            <a:spLocks/>
          </p:cNvSpPr>
          <p:nvPr/>
        </p:nvSpPr>
        <p:spPr>
          <a:xfrm>
            <a:off x="941199" y="2511664"/>
            <a:ext cx="2333000" cy="142628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lang="en-US" sz="1867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Rolling up our Sleaves-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Implementation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91676-67B7-3B62-E6E0-DE1F4CB06089}"/>
              </a:ext>
            </a:extLst>
          </p:cNvPr>
          <p:cNvSpPr txBox="1"/>
          <p:nvPr/>
        </p:nvSpPr>
        <p:spPr>
          <a:xfrm rot="16200000">
            <a:off x="-360871" y="3218735"/>
            <a:ext cx="1861971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E9CA97-913A-B149-4925-47D1F787EBCC}"/>
              </a:ext>
            </a:extLst>
          </p:cNvPr>
          <p:cNvSpPr/>
          <p:nvPr/>
        </p:nvSpPr>
        <p:spPr>
          <a:xfrm>
            <a:off x="811359" y="4592921"/>
            <a:ext cx="2436327" cy="164512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A62E0-C0B6-3E6A-C42C-19678948C6CB}"/>
              </a:ext>
            </a:extLst>
          </p:cNvPr>
          <p:cNvSpPr txBox="1"/>
          <p:nvPr/>
        </p:nvSpPr>
        <p:spPr>
          <a:xfrm rot="16200000">
            <a:off x="-244029" y="5246208"/>
            <a:ext cx="1645128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199690B-492D-1E68-CE71-097CC2283F08}"/>
              </a:ext>
            </a:extLst>
          </p:cNvPr>
          <p:cNvSpPr txBox="1">
            <a:spLocks/>
          </p:cNvSpPr>
          <p:nvPr/>
        </p:nvSpPr>
        <p:spPr>
          <a:xfrm>
            <a:off x="907674" y="4806173"/>
            <a:ext cx="2244951" cy="9820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Taking what we outlined and prioritized done. 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Gives you insights to </a:t>
            </a:r>
            <a:r>
              <a:rPr lang="en-US" sz="1333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61CF72-AA77-843A-9F39-4563659E29D8}"/>
              </a:ext>
            </a:extLst>
          </p:cNvPr>
          <p:cNvSpPr/>
          <p:nvPr/>
        </p:nvSpPr>
        <p:spPr>
          <a:xfrm>
            <a:off x="3816551" y="776125"/>
            <a:ext cx="4601957" cy="5511300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Creating the roadmap that builds: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Foundation: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Carrying out what is to create the “new way to work” w/ Sales and / or Marketing: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Science &amp; Strategy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Process &amp; Customer engagement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Art &amp; Talent Optimization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Performance Metrics</a:t>
            </a:r>
          </a:p>
          <a:p>
            <a:pPr marL="350838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Framework: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Building of Tools, programs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Focus: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One-on-One Calls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Account Development 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Skill Coaching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Commercial Team Calls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A601ACC-319C-1B75-FA29-989A9D547FDB}"/>
              </a:ext>
            </a:extLst>
          </p:cNvPr>
          <p:cNvSpPr/>
          <p:nvPr/>
        </p:nvSpPr>
        <p:spPr>
          <a:xfrm>
            <a:off x="8970423" y="148892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D7FB0C-A4F5-0B54-4485-085302F88132}"/>
              </a:ext>
            </a:extLst>
          </p:cNvPr>
          <p:cNvSpPr txBox="1"/>
          <p:nvPr/>
        </p:nvSpPr>
        <p:spPr>
          <a:xfrm>
            <a:off x="9649925" y="77612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30A419-2D9B-37B3-624D-39B2D0483C98}"/>
              </a:ext>
            </a:extLst>
          </p:cNvPr>
          <p:cNvSpPr txBox="1"/>
          <p:nvPr/>
        </p:nvSpPr>
        <p:spPr>
          <a:xfrm>
            <a:off x="9587845" y="2880846"/>
            <a:ext cx="156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F18CB20-46D1-D454-2BBB-66BEF3D417B5}"/>
              </a:ext>
            </a:extLst>
          </p:cNvPr>
          <p:cNvSpPr/>
          <p:nvPr/>
        </p:nvSpPr>
        <p:spPr>
          <a:xfrm>
            <a:off x="8967711" y="2939762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6CA9D2-1D28-D3C3-4B7B-26DABA39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61" y="4195559"/>
            <a:ext cx="920857" cy="10524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BD7C658-2B71-F11F-DD65-0CED4F058067}"/>
              </a:ext>
            </a:extLst>
          </p:cNvPr>
          <p:cNvSpPr txBox="1"/>
          <p:nvPr/>
        </p:nvSpPr>
        <p:spPr>
          <a:xfrm>
            <a:off x="8809248" y="5371740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radley Hand" pitchFamily="2" charset="77"/>
              </a:rPr>
              <a:t>Kate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331205-060C-4CEE-3F35-D280DB78D8EE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</a:t>
            </a:fld>
            <a:endParaRPr lang="en-US" sz="1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20F1BC-068E-5EB6-0B04-5A22CB7B4B17}"/>
              </a:ext>
            </a:extLst>
          </p:cNvPr>
          <p:cNvSpPr txBox="1">
            <a:spLocks/>
          </p:cNvSpPr>
          <p:nvPr/>
        </p:nvSpPr>
        <p:spPr>
          <a:xfrm>
            <a:off x="0" y="230457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3 – Enhance, Install &amp; Elevate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F1FB0-8A8B-3DB1-4DBD-342B2B826A1F}"/>
              </a:ext>
            </a:extLst>
          </p:cNvPr>
          <p:cNvSpPr txBox="1"/>
          <p:nvPr/>
        </p:nvSpPr>
        <p:spPr>
          <a:xfrm>
            <a:off x="9583653" y="6206245"/>
            <a:ext cx="134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DB98F-2048-E223-DF3D-0244C5C09EAC}"/>
              </a:ext>
            </a:extLst>
          </p:cNvPr>
          <p:cNvSpPr txBox="1"/>
          <p:nvPr/>
        </p:nvSpPr>
        <p:spPr>
          <a:xfrm>
            <a:off x="10010557" y="160607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TBD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FC65E3-4636-F5BF-F0B2-F322B789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994" y="4750054"/>
            <a:ext cx="576514" cy="1537371"/>
          </a:xfrm>
          <a:prstGeom prst="rect">
            <a:avLst/>
          </a:prstGeom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0132837A-3804-6B96-897B-BED08630B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95" y="274855"/>
            <a:ext cx="1179576" cy="117957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9EEE19-13F6-1EA6-E61F-15A6223B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4" y="482585"/>
            <a:ext cx="651189" cy="7553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062294-C285-4FD9-474B-9B6253D8CA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35282"/>
          <a:stretch/>
        </p:blipFill>
        <p:spPr>
          <a:xfrm>
            <a:off x="10944849" y="4215429"/>
            <a:ext cx="749205" cy="6113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063556-D39B-2E20-8002-02486A788755}"/>
              </a:ext>
            </a:extLst>
          </p:cNvPr>
          <p:cNvSpPr txBox="1"/>
          <p:nvPr/>
        </p:nvSpPr>
        <p:spPr>
          <a:xfrm>
            <a:off x="10898953" y="4963994"/>
            <a:ext cx="928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Flying Horse Team</a:t>
            </a:r>
          </a:p>
        </p:txBody>
      </p:sp>
    </p:spTree>
    <p:extLst>
      <p:ext uri="{BB962C8B-B14F-4D97-AF65-F5344CB8AC3E}">
        <p14:creationId xmlns:p14="http://schemas.microsoft.com/office/powerpoint/2010/main" val="74650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13E5C34-03DC-7577-A9CE-748DFEFB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Estimate of Effort- Levels of Horsepower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D084112-2D51-2950-94D7-35AADAB9A93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71963" y="674962"/>
            <a:ext cx="5364606" cy="5989515"/>
          </a:xfrm>
          <a:ln>
            <a:solidFill>
              <a:srgbClr val="B52372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u="sng" dirty="0"/>
              <a:t>Pony Power</a:t>
            </a:r>
          </a:p>
          <a:p>
            <a:pPr marL="0" indent="0">
              <a:buNone/>
            </a:pPr>
            <a:r>
              <a:rPr lang="en-US" sz="1600" u="sng" dirty="0"/>
              <a:t>Foundation: </a:t>
            </a:r>
          </a:p>
          <a:p>
            <a:pPr marL="403225" indent="0">
              <a:buNone/>
            </a:pPr>
            <a:r>
              <a:rPr lang="en-US" sz="1400" u="sng" dirty="0">
                <a:solidFill>
                  <a:srgbClr val="B52372"/>
                </a:solidFill>
              </a:rPr>
              <a:t>Science &amp; Strategy</a:t>
            </a:r>
          </a:p>
          <a:p>
            <a:pPr marL="0" indent="687388">
              <a:buNone/>
            </a:pPr>
            <a:r>
              <a:rPr lang="en-US" sz="1400" dirty="0"/>
              <a:t>Revenue Plan Revisit</a:t>
            </a:r>
          </a:p>
          <a:p>
            <a:pPr marL="457200" lvl="1" indent="342900">
              <a:buNone/>
            </a:pPr>
            <a:r>
              <a:rPr lang="en-US" sz="1100" dirty="0"/>
              <a:t>Segment Strategy and Tactics Revisit</a:t>
            </a:r>
            <a:endParaRPr lang="en-US" sz="1400" u="sng" dirty="0"/>
          </a:p>
          <a:p>
            <a:pPr marL="0" indent="403225">
              <a:buNone/>
            </a:pPr>
            <a:r>
              <a:rPr lang="en-US" sz="1400" u="sng" dirty="0">
                <a:solidFill>
                  <a:srgbClr val="B52372"/>
                </a:solidFill>
              </a:rPr>
              <a:t>Process &amp; Customer Engagement</a:t>
            </a:r>
          </a:p>
          <a:p>
            <a:pPr marL="457200" lvl="1" indent="288925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Efficacy (lite)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Training (Skill) 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Account Development (Strategy)</a:t>
            </a:r>
          </a:p>
          <a:p>
            <a:pPr marL="457200" lvl="1" indent="288925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Marketing Efficacy</a:t>
            </a:r>
          </a:p>
          <a:p>
            <a:pPr marL="457200" lvl="1" indent="288925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Marketing Account-Based Marketing</a:t>
            </a:r>
          </a:p>
          <a:p>
            <a:pPr marL="0" indent="403225">
              <a:buNone/>
            </a:pPr>
            <a:r>
              <a:rPr lang="en-US" sz="1400" u="sng" dirty="0">
                <a:solidFill>
                  <a:srgbClr val="B52372"/>
                </a:solidFill>
              </a:rPr>
              <a:t>Art &amp; Talent Optimization</a:t>
            </a:r>
          </a:p>
          <a:p>
            <a:pPr marL="457200" lvl="1" indent="288925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Ignite Talent</a:t>
            </a:r>
          </a:p>
          <a:p>
            <a:pPr marL="0" indent="288925">
              <a:buNone/>
            </a:pPr>
            <a:r>
              <a:rPr lang="en-US" sz="1600" u="sng" dirty="0">
                <a:solidFill>
                  <a:srgbClr val="B51072"/>
                </a:solidFill>
              </a:rPr>
              <a:t>Performance Metrics</a:t>
            </a:r>
          </a:p>
          <a:p>
            <a:pPr marL="0" indent="74771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KPI Revisit</a:t>
            </a:r>
          </a:p>
          <a:p>
            <a:pPr marL="6350" lvl="1" indent="0">
              <a:buNone/>
            </a:pPr>
            <a:r>
              <a:rPr lang="en-US" sz="1400" u="sng" dirty="0"/>
              <a:t>Framework: </a:t>
            </a:r>
          </a:p>
          <a:p>
            <a:pPr marL="6350" lvl="1" indent="396875">
              <a:buNone/>
            </a:pPr>
            <a:r>
              <a:rPr lang="en-US" sz="1400" dirty="0"/>
              <a:t>Revised Tools to support approach within sales and marketing</a:t>
            </a:r>
          </a:p>
          <a:p>
            <a:pPr marL="6350" lvl="1" indent="0">
              <a:buNone/>
            </a:pPr>
            <a:r>
              <a:rPr lang="en-US" sz="1400" u="sng" dirty="0"/>
              <a:t>Focus: </a:t>
            </a:r>
          </a:p>
          <a:p>
            <a:pPr marL="6350" lvl="1" indent="396875">
              <a:buNone/>
            </a:pPr>
            <a:r>
              <a:rPr lang="en-US" sz="1400" dirty="0"/>
              <a:t>One on One Calls with team</a:t>
            </a:r>
          </a:p>
          <a:p>
            <a:pPr marL="6350" lvl="1" indent="396875">
              <a:buNone/>
            </a:pPr>
            <a:r>
              <a:rPr lang="en-US" sz="1400" dirty="0"/>
              <a:t>One on One Calls with leader (Leader Coach) </a:t>
            </a:r>
          </a:p>
          <a:p>
            <a:pPr marL="6350" lvl="1" indent="396875">
              <a:buNone/>
            </a:pPr>
            <a:r>
              <a:rPr lang="en-US" sz="1400" dirty="0"/>
              <a:t>Quarterly Review</a:t>
            </a:r>
          </a:p>
          <a:p>
            <a:pPr marL="457200" lvl="1" indent="-53975">
              <a:buNone/>
            </a:pPr>
            <a:endParaRPr lang="en-US" sz="1400" dirty="0"/>
          </a:p>
          <a:p>
            <a:pPr marL="457200" lvl="1" indent="-53975">
              <a:buNone/>
            </a:pPr>
            <a:endParaRPr lang="en-US" sz="1400" dirty="0"/>
          </a:p>
          <a:p>
            <a:pPr marL="457200" lvl="1" indent="-53975">
              <a:buNone/>
            </a:pPr>
            <a:r>
              <a:rPr lang="en-US" sz="1400" dirty="0"/>
              <a:t>On going fractional commercial leader 		</a:t>
            </a:r>
            <a:r>
              <a:rPr lang="en-US" sz="1200" dirty="0"/>
              <a:t>TBD</a:t>
            </a:r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0"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1400" u="sng" dirty="0"/>
          </a:p>
          <a:p>
            <a:pPr marL="0" indent="0">
              <a:buNone/>
            </a:pPr>
            <a:endParaRPr lang="en-US" sz="1400" u="sng" dirty="0"/>
          </a:p>
          <a:p>
            <a:pPr marL="0" indent="0">
              <a:buNone/>
            </a:pPr>
            <a:endParaRPr lang="en-US" sz="1400" u="sng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A4DE391-3EB9-141B-0E95-7E9365D05D8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630496" y="738186"/>
            <a:ext cx="5367527" cy="5863065"/>
          </a:xfrm>
          <a:ln>
            <a:solidFill>
              <a:srgbClr val="B52372"/>
            </a:solidFill>
          </a:ln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3800" u="sng" dirty="0"/>
              <a:t>Workhorse</a:t>
            </a:r>
            <a:r>
              <a:rPr lang="en-US" sz="3800" dirty="0"/>
              <a:t> </a:t>
            </a:r>
          </a:p>
          <a:p>
            <a:pPr marL="0" indent="0">
              <a:buNone/>
            </a:pPr>
            <a:r>
              <a:rPr lang="en-US" u="sng" dirty="0"/>
              <a:t>Foundation: </a:t>
            </a:r>
          </a:p>
          <a:p>
            <a:pPr marL="403225" indent="0">
              <a:buNone/>
            </a:pPr>
            <a:r>
              <a:rPr lang="en-US" u="sng" dirty="0">
                <a:solidFill>
                  <a:srgbClr val="B52372"/>
                </a:solidFill>
              </a:rPr>
              <a:t>Science &amp; Strategy</a:t>
            </a:r>
          </a:p>
          <a:p>
            <a:pPr marL="0" indent="687388">
              <a:buNone/>
            </a:pPr>
            <a:r>
              <a:rPr lang="en-US" dirty="0"/>
              <a:t>Revenue Plan Development and Design</a:t>
            </a:r>
          </a:p>
          <a:p>
            <a:pPr marL="457200" lvl="1" indent="342900">
              <a:buNone/>
            </a:pPr>
            <a:r>
              <a:rPr lang="en-US" sz="2300" dirty="0"/>
              <a:t>Segment Strategy and Tactics Build</a:t>
            </a:r>
            <a:endParaRPr lang="en-US" sz="2800" u="sng" dirty="0"/>
          </a:p>
          <a:p>
            <a:pPr marL="0" indent="403225">
              <a:buNone/>
            </a:pPr>
            <a:r>
              <a:rPr lang="en-US" u="sng" dirty="0">
                <a:solidFill>
                  <a:srgbClr val="B52372"/>
                </a:solidFill>
              </a:rPr>
              <a:t>Process &amp; Customer Engagement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Efficacy 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Training (Skill) </a:t>
            </a:r>
          </a:p>
          <a:p>
            <a:pPr marL="457200" lvl="1" indent="0">
              <a:buNone/>
            </a:pP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Account Development (Strategy)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Marketing Efficacy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Marketing Account-Based Marketing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Marketing Programming</a:t>
            </a:r>
          </a:p>
          <a:p>
            <a:pPr marL="0" indent="403225">
              <a:buNone/>
            </a:pPr>
            <a:r>
              <a:rPr lang="en-US" u="sng" dirty="0">
                <a:solidFill>
                  <a:srgbClr val="B52372"/>
                </a:solidFill>
              </a:rPr>
              <a:t>Art &amp; Talent Optimization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Ignite Talent</a:t>
            </a: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Leadership Change</a:t>
            </a:r>
          </a:p>
          <a:p>
            <a:pPr marL="0" indent="288925">
              <a:buNone/>
            </a:pPr>
            <a:r>
              <a:rPr lang="en-US" u="sng" dirty="0">
                <a:solidFill>
                  <a:srgbClr val="B51072"/>
                </a:solidFill>
              </a:rPr>
              <a:t>Performance Metrics</a:t>
            </a:r>
          </a:p>
          <a:p>
            <a:pPr marL="0" indent="747713">
              <a:buNone/>
            </a:pP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KPI Revisit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288925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6350" lvl="1" indent="0">
              <a:buNone/>
            </a:pPr>
            <a:r>
              <a:rPr lang="en-US" sz="2800" u="sng" dirty="0"/>
              <a:t>Framework: </a:t>
            </a:r>
          </a:p>
          <a:p>
            <a:pPr marL="6350" lvl="1" indent="396875">
              <a:buNone/>
            </a:pPr>
            <a:r>
              <a:rPr lang="en-US" sz="2800" dirty="0"/>
              <a:t>Building and implementation of tools to support approach within sales and 	marketing and tech enablement</a:t>
            </a:r>
          </a:p>
          <a:p>
            <a:pPr marL="6350" lvl="1" indent="396875">
              <a:buNone/>
            </a:pPr>
            <a:endParaRPr lang="en-US" sz="2500" dirty="0"/>
          </a:p>
          <a:p>
            <a:pPr marL="6350" lvl="1" indent="0">
              <a:buNone/>
            </a:pPr>
            <a:r>
              <a:rPr lang="en-US" sz="2500" u="sng" dirty="0"/>
              <a:t>Focus: </a:t>
            </a:r>
          </a:p>
          <a:p>
            <a:pPr marL="6350" lvl="1" indent="396875">
              <a:buNone/>
            </a:pPr>
            <a:r>
              <a:rPr lang="en-US" sz="2500" dirty="0"/>
              <a:t>One on One Calls with team</a:t>
            </a:r>
          </a:p>
          <a:p>
            <a:pPr marL="6350" lvl="1" indent="396875">
              <a:buNone/>
            </a:pPr>
            <a:r>
              <a:rPr lang="en-US" sz="2500" dirty="0"/>
              <a:t>One on One Calls with leader (Leader Coach)</a:t>
            </a:r>
          </a:p>
          <a:p>
            <a:pPr marL="6350" lvl="1" indent="396875">
              <a:buNone/>
            </a:pPr>
            <a:r>
              <a:rPr lang="en-US" sz="2500" dirty="0"/>
              <a:t>Quarterly Review </a:t>
            </a:r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r>
              <a:rPr lang="en-US" sz="2800" dirty="0"/>
              <a:t>On going interim leader 			</a:t>
            </a:r>
            <a:r>
              <a:rPr lang="en-US" sz="2500" dirty="0"/>
              <a:t>TBD</a:t>
            </a:r>
          </a:p>
          <a:p>
            <a:pPr marL="6350" lvl="1" indent="396875">
              <a:buNone/>
            </a:pPr>
            <a:endParaRPr lang="en-US" sz="1400" dirty="0"/>
          </a:p>
          <a:p>
            <a:pPr marL="6350" lvl="1" indent="396875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2A8E1-296B-1027-4F93-625138279C89}"/>
              </a:ext>
            </a:extLst>
          </p:cNvPr>
          <p:cNvSpPr txBox="1"/>
          <p:nvPr/>
        </p:nvSpPr>
        <p:spPr>
          <a:xfrm>
            <a:off x="4180620" y="587526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</a:rPr>
              <a:t>$15,000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E42A7C-7510-75C5-FE3B-B64CB1CE0DAE}"/>
              </a:ext>
            </a:extLst>
          </p:cNvPr>
          <p:cNvCxnSpPr/>
          <p:nvPr/>
        </p:nvCxnSpPr>
        <p:spPr>
          <a:xfrm>
            <a:off x="287446" y="6183037"/>
            <a:ext cx="5133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D4B97F-1818-9D18-F7E9-8A3B670E602C}"/>
              </a:ext>
            </a:extLst>
          </p:cNvPr>
          <p:cNvCxnSpPr/>
          <p:nvPr/>
        </p:nvCxnSpPr>
        <p:spPr>
          <a:xfrm>
            <a:off x="6772376" y="6150283"/>
            <a:ext cx="5133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90B2B8-0D2F-F6F9-6EF9-9864EFD2C755}"/>
              </a:ext>
            </a:extLst>
          </p:cNvPr>
          <p:cNvSpPr txBox="1"/>
          <p:nvPr/>
        </p:nvSpPr>
        <p:spPr>
          <a:xfrm>
            <a:off x="10712048" y="5850463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</a:rPr>
              <a:t>$25,000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32542-5AC2-DD2C-2C37-D6D5B2A33A24}"/>
              </a:ext>
            </a:extLst>
          </p:cNvPr>
          <p:cNvSpPr txBox="1"/>
          <p:nvPr/>
        </p:nvSpPr>
        <p:spPr>
          <a:xfrm>
            <a:off x="1977966" y="91440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</a:rPr>
              <a:t>80 hrs. effort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07D8D4-6036-09FF-6269-C7F559E97FFC}"/>
              </a:ext>
            </a:extLst>
          </p:cNvPr>
          <p:cNvSpPr txBox="1"/>
          <p:nvPr/>
        </p:nvSpPr>
        <p:spPr>
          <a:xfrm>
            <a:off x="8437959" y="91440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</a:rPr>
              <a:t>120 hrs. effort</a:t>
            </a:r>
          </a:p>
        </p:txBody>
      </p:sp>
    </p:spTree>
    <p:extLst>
      <p:ext uri="{BB962C8B-B14F-4D97-AF65-F5344CB8AC3E}">
        <p14:creationId xmlns:p14="http://schemas.microsoft.com/office/powerpoint/2010/main" val="272801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76" y="316991"/>
            <a:ext cx="692099" cy="28041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8128" y="990600"/>
            <a:ext cx="12192000" cy="59436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5600" y="110094"/>
            <a:ext cx="10464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7619810">
              <a:lnSpc>
                <a:spcPct val="100000"/>
              </a:lnSpc>
              <a:spcBef>
                <a:spcPts val="133"/>
              </a:spcBef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Thank you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859775" y="6673334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3B743-CF7F-7189-412B-FD64DC46208D}"/>
              </a:ext>
            </a:extLst>
          </p:cNvPr>
          <p:cNvSpPr/>
          <p:nvPr/>
        </p:nvSpPr>
        <p:spPr>
          <a:xfrm>
            <a:off x="4280192" y="1353412"/>
            <a:ext cx="3631615" cy="4513988"/>
          </a:xfrm>
          <a:prstGeom prst="rect">
            <a:avLst/>
          </a:prstGeom>
          <a:solidFill>
            <a:srgbClr val="FFFFFF">
              <a:alpha val="705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EABB6-E33D-10C4-4857-D44079BAB1B2}"/>
              </a:ext>
            </a:extLst>
          </p:cNvPr>
          <p:cNvSpPr txBox="1"/>
          <p:nvPr/>
        </p:nvSpPr>
        <p:spPr>
          <a:xfrm>
            <a:off x="4280192" y="1692090"/>
            <a:ext cx="363161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5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 BURDA</a:t>
            </a:r>
          </a:p>
          <a:p>
            <a:pPr algn="ctr">
              <a:spcAft>
                <a:spcPts val="600"/>
              </a:spcAft>
            </a:pPr>
            <a:r>
              <a:rPr lang="en-US" sz="20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kate@kateburda.com</a:t>
            </a:r>
          </a:p>
          <a:p>
            <a:pPr algn="ctr">
              <a:spcAft>
                <a:spcPts val="600"/>
              </a:spcAft>
            </a:pPr>
            <a:r>
              <a:rPr lang="en-US" sz="20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972-567-7792</a:t>
            </a:r>
          </a:p>
          <a:p>
            <a:pPr algn="ctr">
              <a:spcAft>
                <a:spcPts val="600"/>
              </a:spcAft>
            </a:pPr>
            <a:endParaRPr lang="en-US" sz="240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r>
              <a:rPr lang="en-US" sz="25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SHARLA HIBBERD</a:t>
            </a:r>
          </a:p>
          <a:p>
            <a:pPr algn="ctr">
              <a:spcAft>
                <a:spcPts val="600"/>
              </a:spcAft>
            </a:pPr>
            <a:r>
              <a:rPr lang="en-US" sz="20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sharla@kateburda.com</a:t>
            </a:r>
          </a:p>
          <a:p>
            <a:pPr algn="ctr">
              <a:spcAft>
                <a:spcPts val="600"/>
              </a:spcAft>
            </a:pPr>
            <a:r>
              <a:rPr lang="en-US" sz="20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214-538-9996</a:t>
            </a:r>
            <a:endParaRPr lang="en-US" sz="200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endParaRPr lang="en-US" sz="240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r>
              <a:rPr lang="en-US" sz="2400" spc="30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kateburda.com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87ec5f-2b5f-42cc-868a-c05f4ba18fb4" xsi:nil="true"/>
    <lcf76f155ced4ddcb4097134ff3c332f xmlns="c71a9731-672f-4449-b3b2-914e5de0f8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50980CCDCA474BBA53C0A951F1A841" ma:contentTypeVersion="16" ma:contentTypeDescription="Create a new document." ma:contentTypeScope="" ma:versionID="dc40de2dda6ec0bedf0d42fce57c906b">
  <xsd:schema xmlns:xsd="http://www.w3.org/2001/XMLSchema" xmlns:xs="http://www.w3.org/2001/XMLSchema" xmlns:p="http://schemas.microsoft.com/office/2006/metadata/properties" xmlns:ns2="c71a9731-672f-4449-b3b2-914e5de0f80c" xmlns:ns3="2587ec5f-2b5f-42cc-868a-c05f4ba18fb4" targetNamespace="http://schemas.microsoft.com/office/2006/metadata/properties" ma:root="true" ma:fieldsID="6533da04a3eab8972e13b1649a227fe9" ns2:_="" ns3:_="">
    <xsd:import namespace="c71a9731-672f-4449-b3b2-914e5de0f80c"/>
    <xsd:import namespace="2587ec5f-2b5f-42cc-868a-c05f4ba18f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a9731-672f-4449-b3b2-914e5de0f8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c1a3be1-ca2c-4a81-85c0-f6ae165978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87ec5f-2b5f-42cc-868a-c05f4ba18fb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66b662a-a866-41db-8c08-3777baa07030}" ma:internalName="TaxCatchAll" ma:showField="CatchAllData" ma:web="2587ec5f-2b5f-42cc-868a-c05f4ba18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E7FD7A-5011-4260-8E03-18553EDCD9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0FAEA2-6084-4129-BDC6-4E43C4811D79}">
  <ds:schemaRefs>
    <ds:schemaRef ds:uri="http://purl.org/dc/elements/1.1/"/>
    <ds:schemaRef ds:uri="http://purl.org/dc/terms/"/>
    <ds:schemaRef ds:uri="c71a9731-672f-4449-b3b2-914e5de0f80c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587ec5f-2b5f-42cc-868a-c05f4ba18fb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F08C068-B014-4ADC-BC15-8E699D35F1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1a9731-672f-4449-b3b2-914e5de0f80c"/>
    <ds:schemaRef ds:uri="2587ec5f-2b5f-42cc-868a-c05f4ba18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15644</TotalTime>
  <Words>404</Words>
  <Application>Microsoft Macintosh PowerPoint</Application>
  <PresentationFormat>Widescreen</PresentationFormat>
  <Paragraphs>117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Bradley Hand</vt:lpstr>
      <vt:lpstr>Calibri</vt:lpstr>
      <vt:lpstr>Cavolini</vt:lpstr>
      <vt:lpstr>Franklin Gothic Book</vt:lpstr>
      <vt:lpstr>Ink Free</vt:lpstr>
      <vt:lpstr>Office Theme</vt:lpstr>
      <vt:lpstr>PowerPoint Presentation</vt:lpstr>
      <vt:lpstr>PowerPoint Presentation</vt:lpstr>
      <vt:lpstr>Estimate of Effort- Levels of Horsepower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13</cp:revision>
  <cp:lastPrinted>2025-02-05T17:05:26Z</cp:lastPrinted>
  <dcterms:created xsi:type="dcterms:W3CDTF">2023-07-29T16:22:48Z</dcterms:created>
  <dcterms:modified xsi:type="dcterms:W3CDTF">2025-04-18T12:09:52Z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0x0101006C50980CCDCA474BBA53C0A951F1A841</vt:lpwstr>
  </property>
  <property fmtid="{D5CDD505-2E9C-101B-9397-08002B2CF9AE}" pid="3" name="MediaServiceImageTags">
    <vt:lpwstr/>
  </property>
</Properties>
</file>