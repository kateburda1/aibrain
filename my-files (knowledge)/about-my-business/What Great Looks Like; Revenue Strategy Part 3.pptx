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sldIdLst>
    <p:sldId id="256" r:id="rId5"/>
    <p:sldId id="261" r:id="rId6"/>
    <p:sldId id="276" r:id="rId7"/>
    <p:sldId id="262" r:id="rId8"/>
    <p:sldId id="263" r:id="rId9"/>
    <p:sldId id="264" r:id="rId10"/>
    <p:sldId id="274" r:id="rId11"/>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stan Carty" initials="TC" lastIdx="5" clrIdx="0">
    <p:extLst>
      <p:ext uri="{19B8F6BF-5375-455C-9EA6-DF929625EA0E}">
        <p15:presenceInfo xmlns:p15="http://schemas.microsoft.com/office/powerpoint/2012/main" userId="a6303d31203f19ed" providerId="Windows Live"/>
      </p:ext>
    </p:extLst>
  </p:cmAuthor>
  <p:cmAuthor id="2" name="Kate Burda" initials="KB" lastIdx="1" clrIdx="1">
    <p:extLst>
      <p:ext uri="{19B8F6BF-5375-455C-9EA6-DF929625EA0E}">
        <p15:presenceInfo xmlns:p15="http://schemas.microsoft.com/office/powerpoint/2012/main" userId="S::kate@kateburda.com::44c1ea53-84f5-4c7e-8f48-bfeb434f1f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2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400BE1-9D2F-674F-ADEF-C6AB738978E9}" v="23" dt="2025-02-16T01:08:57.73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11"/>
    <p:restoredTop sz="94692"/>
  </p:normalViewPr>
  <p:slideViewPr>
    <p:cSldViewPr snapToGrid="0">
      <p:cViewPr varScale="1">
        <p:scale>
          <a:sx n="153" d="100"/>
          <a:sy n="153" d="100"/>
        </p:scale>
        <p:origin x="4560" y="17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61400BE1-9D2F-674F-ADEF-C6AB738978E9}"/>
    <pc:docChg chg="undo custSel modSld">
      <pc:chgData name="Kate Burda" userId="44c1ea53-84f5-4c7e-8f48-bfeb434f1f02" providerId="ADAL" clId="{61400BE1-9D2F-674F-ADEF-C6AB738978E9}" dt="2025-02-16T18:00:21.152" v="1204" actId="20577"/>
      <pc:docMkLst>
        <pc:docMk/>
      </pc:docMkLst>
      <pc:sldChg chg="modSp mod">
        <pc:chgData name="Kate Burda" userId="44c1ea53-84f5-4c7e-8f48-bfeb434f1f02" providerId="ADAL" clId="{61400BE1-9D2F-674F-ADEF-C6AB738978E9}" dt="2025-02-16T01:09:36.965" v="1198" actId="14100"/>
        <pc:sldMkLst>
          <pc:docMk/>
          <pc:sldMk cId="0" sldId="256"/>
        </pc:sldMkLst>
        <pc:spChg chg="mod">
          <ac:chgData name="Kate Burda" userId="44c1ea53-84f5-4c7e-8f48-bfeb434f1f02" providerId="ADAL" clId="{61400BE1-9D2F-674F-ADEF-C6AB738978E9}" dt="2025-02-16T01:09:36.965" v="1198" actId="14100"/>
          <ac:spMkLst>
            <pc:docMk/>
            <pc:sldMk cId="0" sldId="256"/>
            <ac:spMk id="5" creationId="{7918F084-BE7C-57B5-5323-17059EE7C525}"/>
          </ac:spMkLst>
        </pc:spChg>
        <pc:spChg chg="mod">
          <ac:chgData name="Kate Burda" userId="44c1ea53-84f5-4c7e-8f48-bfeb434f1f02" providerId="ADAL" clId="{61400BE1-9D2F-674F-ADEF-C6AB738978E9}" dt="2025-02-16T01:09:29.353" v="1197" actId="113"/>
          <ac:spMkLst>
            <pc:docMk/>
            <pc:sldMk cId="0" sldId="256"/>
            <ac:spMk id="9" creationId="{3174505B-C8D9-B96B-5264-F5F8433A57DA}"/>
          </ac:spMkLst>
        </pc:spChg>
      </pc:sldChg>
      <pc:sldChg chg="modSp mod">
        <pc:chgData name="Kate Burda" userId="44c1ea53-84f5-4c7e-8f48-bfeb434f1f02" providerId="ADAL" clId="{61400BE1-9D2F-674F-ADEF-C6AB738978E9}" dt="2025-02-16T01:05:53.795" v="1171" actId="20577"/>
        <pc:sldMkLst>
          <pc:docMk/>
          <pc:sldMk cId="0" sldId="261"/>
        </pc:sldMkLst>
        <pc:spChg chg="mod">
          <ac:chgData name="Kate Burda" userId="44c1ea53-84f5-4c7e-8f48-bfeb434f1f02" providerId="ADAL" clId="{61400BE1-9D2F-674F-ADEF-C6AB738978E9}" dt="2025-02-15T21:32:08.444" v="21" actId="20577"/>
          <ac:spMkLst>
            <pc:docMk/>
            <pc:sldMk cId="0" sldId="261"/>
            <ac:spMk id="3" creationId="{A4E5FE23-DCCB-363A-06BD-8C5E38954CE9}"/>
          </ac:spMkLst>
        </pc:spChg>
        <pc:spChg chg="mod">
          <ac:chgData name="Kate Burda" userId="44c1ea53-84f5-4c7e-8f48-bfeb434f1f02" providerId="ADAL" clId="{61400BE1-9D2F-674F-ADEF-C6AB738978E9}" dt="2025-02-16T01:05:53.795" v="1171" actId="20577"/>
          <ac:spMkLst>
            <pc:docMk/>
            <pc:sldMk cId="0" sldId="261"/>
            <ac:spMk id="4" creationId="{00000000-0000-0000-0000-000000000000}"/>
          </ac:spMkLst>
        </pc:spChg>
        <pc:spChg chg="mod">
          <ac:chgData name="Kate Burda" userId="44c1ea53-84f5-4c7e-8f48-bfeb434f1f02" providerId="ADAL" clId="{61400BE1-9D2F-674F-ADEF-C6AB738978E9}" dt="2025-02-15T21:31:53.890" v="18" actId="404"/>
          <ac:spMkLst>
            <pc:docMk/>
            <pc:sldMk cId="0" sldId="261"/>
            <ac:spMk id="6" creationId="{00000000-0000-0000-0000-000000000000}"/>
          </ac:spMkLst>
        </pc:spChg>
        <pc:spChg chg="mod">
          <ac:chgData name="Kate Burda" userId="44c1ea53-84f5-4c7e-8f48-bfeb434f1f02" providerId="ADAL" clId="{61400BE1-9D2F-674F-ADEF-C6AB738978E9}" dt="2025-02-16T01:05:37.984" v="1167" actId="179"/>
          <ac:spMkLst>
            <pc:docMk/>
            <pc:sldMk cId="0" sldId="261"/>
            <ac:spMk id="8" creationId="{C375207C-F387-4B01-3DB2-D2411EDC35D9}"/>
          </ac:spMkLst>
        </pc:spChg>
      </pc:sldChg>
      <pc:sldChg chg="addSp delSp modSp mod">
        <pc:chgData name="Kate Burda" userId="44c1ea53-84f5-4c7e-8f48-bfeb434f1f02" providerId="ADAL" clId="{61400BE1-9D2F-674F-ADEF-C6AB738978E9}" dt="2025-02-16T01:06:51.937" v="1181" actId="1076"/>
        <pc:sldMkLst>
          <pc:docMk/>
          <pc:sldMk cId="0" sldId="262"/>
        </pc:sldMkLst>
        <pc:spChg chg="mod">
          <ac:chgData name="Kate Burda" userId="44c1ea53-84f5-4c7e-8f48-bfeb434f1f02" providerId="ADAL" clId="{61400BE1-9D2F-674F-ADEF-C6AB738978E9}" dt="2025-02-15T21:57:07.775" v="399" actId="20577"/>
          <ac:spMkLst>
            <pc:docMk/>
            <pc:sldMk cId="0" sldId="262"/>
            <ac:spMk id="2" creationId="{517CF32E-2CDA-3098-1D26-CA4E88E3BE25}"/>
          </ac:spMkLst>
        </pc:spChg>
        <pc:spChg chg="add del mod">
          <ac:chgData name="Kate Burda" userId="44c1ea53-84f5-4c7e-8f48-bfeb434f1f02" providerId="ADAL" clId="{61400BE1-9D2F-674F-ADEF-C6AB738978E9}" dt="2025-02-16T01:06:23.597" v="1178" actId="20577"/>
          <ac:spMkLst>
            <pc:docMk/>
            <pc:sldMk cId="0" sldId="262"/>
            <ac:spMk id="3" creationId="{00000000-0000-0000-0000-000000000000}"/>
          </ac:spMkLst>
        </pc:spChg>
        <pc:spChg chg="del">
          <ac:chgData name="Kate Burda" userId="44c1ea53-84f5-4c7e-8f48-bfeb434f1f02" providerId="ADAL" clId="{61400BE1-9D2F-674F-ADEF-C6AB738978E9}" dt="2025-02-15T21:35:39.158" v="126" actId="478"/>
          <ac:spMkLst>
            <pc:docMk/>
            <pc:sldMk cId="0" sldId="262"/>
            <ac:spMk id="4" creationId="{00000000-0000-0000-0000-000000000000}"/>
          </ac:spMkLst>
        </pc:spChg>
        <pc:spChg chg="add mod">
          <ac:chgData name="Kate Burda" userId="44c1ea53-84f5-4c7e-8f48-bfeb434f1f02" providerId="ADAL" clId="{61400BE1-9D2F-674F-ADEF-C6AB738978E9}" dt="2025-02-16T01:06:51.937" v="1181" actId="1076"/>
          <ac:spMkLst>
            <pc:docMk/>
            <pc:sldMk cId="0" sldId="262"/>
            <ac:spMk id="5" creationId="{5EE1B42A-EA5D-6B6D-FCB9-39909BFF928B}"/>
          </ac:spMkLst>
        </pc:spChg>
        <pc:spChg chg="mod">
          <ac:chgData name="Kate Burda" userId="44c1ea53-84f5-4c7e-8f48-bfeb434f1f02" providerId="ADAL" clId="{61400BE1-9D2F-674F-ADEF-C6AB738978E9}" dt="2025-02-15T21:35:35.077" v="125" actId="20577"/>
          <ac:spMkLst>
            <pc:docMk/>
            <pc:sldMk cId="0" sldId="262"/>
            <ac:spMk id="6" creationId="{EA684409-C582-18B1-C237-572F01930FA2}"/>
          </ac:spMkLst>
        </pc:spChg>
        <pc:spChg chg="add mod">
          <ac:chgData name="Kate Burda" userId="44c1ea53-84f5-4c7e-8f48-bfeb434f1f02" providerId="ADAL" clId="{61400BE1-9D2F-674F-ADEF-C6AB738978E9}" dt="2025-02-15T22:43:30.865" v="922" actId="1076"/>
          <ac:spMkLst>
            <pc:docMk/>
            <pc:sldMk cId="0" sldId="262"/>
            <ac:spMk id="13" creationId="{74E675B4-2429-B350-35B1-1792ADB8CD55}"/>
          </ac:spMkLst>
        </pc:spChg>
        <pc:spChg chg="add mod">
          <ac:chgData name="Kate Burda" userId="44c1ea53-84f5-4c7e-8f48-bfeb434f1f02" providerId="ADAL" clId="{61400BE1-9D2F-674F-ADEF-C6AB738978E9}" dt="2025-02-15T22:43:30.865" v="922" actId="1076"/>
          <ac:spMkLst>
            <pc:docMk/>
            <pc:sldMk cId="0" sldId="262"/>
            <ac:spMk id="14" creationId="{EC4DC29E-2907-E95A-9421-96DF17B411C4}"/>
          </ac:spMkLst>
        </pc:spChg>
        <pc:spChg chg="add mod">
          <ac:chgData name="Kate Burda" userId="44c1ea53-84f5-4c7e-8f48-bfeb434f1f02" providerId="ADAL" clId="{61400BE1-9D2F-674F-ADEF-C6AB738978E9}" dt="2025-02-15T22:43:30.865" v="922" actId="1076"/>
          <ac:spMkLst>
            <pc:docMk/>
            <pc:sldMk cId="0" sldId="262"/>
            <ac:spMk id="15" creationId="{2DA3B8F7-85C9-429A-82A1-F4DB40E8EA34}"/>
          </ac:spMkLst>
        </pc:spChg>
        <pc:spChg chg="mod">
          <ac:chgData name="Kate Burda" userId="44c1ea53-84f5-4c7e-8f48-bfeb434f1f02" providerId="ADAL" clId="{61400BE1-9D2F-674F-ADEF-C6AB738978E9}" dt="2025-02-15T22:43:17.368" v="920" actId="1076"/>
          <ac:spMkLst>
            <pc:docMk/>
            <pc:sldMk cId="0" sldId="262"/>
            <ac:spMk id="17" creationId="{A1261154-5C59-EA0D-E73F-D8610A91C373}"/>
          </ac:spMkLst>
        </pc:spChg>
        <pc:spChg chg="mod">
          <ac:chgData name="Kate Burda" userId="44c1ea53-84f5-4c7e-8f48-bfeb434f1f02" providerId="ADAL" clId="{61400BE1-9D2F-674F-ADEF-C6AB738978E9}" dt="2025-02-15T22:43:23.257" v="921" actId="14100"/>
          <ac:spMkLst>
            <pc:docMk/>
            <pc:sldMk cId="0" sldId="262"/>
            <ac:spMk id="18" creationId="{F7CADA8A-66B4-2C47-3B0E-ECE35532F125}"/>
          </ac:spMkLst>
        </pc:spChg>
        <pc:spChg chg="add mod">
          <ac:chgData name="Kate Burda" userId="44c1ea53-84f5-4c7e-8f48-bfeb434f1f02" providerId="ADAL" clId="{61400BE1-9D2F-674F-ADEF-C6AB738978E9}" dt="2025-02-15T22:44:06.491" v="975" actId="1076"/>
          <ac:spMkLst>
            <pc:docMk/>
            <pc:sldMk cId="0" sldId="262"/>
            <ac:spMk id="19" creationId="{26303039-E061-9C31-4F6C-5E09FDEB1831}"/>
          </ac:spMkLst>
        </pc:spChg>
        <pc:spChg chg="add mod">
          <ac:chgData name="Kate Burda" userId="44c1ea53-84f5-4c7e-8f48-bfeb434f1f02" providerId="ADAL" clId="{61400BE1-9D2F-674F-ADEF-C6AB738978E9}" dt="2025-02-15T22:43:55.876" v="970" actId="1076"/>
          <ac:spMkLst>
            <pc:docMk/>
            <pc:sldMk cId="0" sldId="262"/>
            <ac:spMk id="20" creationId="{ECE0C8CA-1F14-A7EF-E56E-7B6D75BEB9AE}"/>
          </ac:spMkLst>
        </pc:spChg>
        <pc:picChg chg="add mod">
          <ac:chgData name="Kate Burda" userId="44c1ea53-84f5-4c7e-8f48-bfeb434f1f02" providerId="ADAL" clId="{61400BE1-9D2F-674F-ADEF-C6AB738978E9}" dt="2025-02-15T22:39:58.394" v="697" actId="14100"/>
          <ac:picMkLst>
            <pc:docMk/>
            <pc:sldMk cId="0" sldId="262"/>
            <ac:picMk id="7" creationId="{10D98AE8-F70C-8E85-F411-AAF8254C6CAC}"/>
          </ac:picMkLst>
        </pc:picChg>
        <pc:picChg chg="add mod">
          <ac:chgData name="Kate Burda" userId="44c1ea53-84f5-4c7e-8f48-bfeb434f1f02" providerId="ADAL" clId="{61400BE1-9D2F-674F-ADEF-C6AB738978E9}" dt="2025-02-15T22:39:05.576" v="688" actId="14100"/>
          <ac:picMkLst>
            <pc:docMk/>
            <pc:sldMk cId="0" sldId="262"/>
            <ac:picMk id="8" creationId="{AD52D282-9BA5-D078-5127-7492A8BDBFB4}"/>
          </ac:picMkLst>
        </pc:picChg>
        <pc:picChg chg="add mod">
          <ac:chgData name="Kate Burda" userId="44c1ea53-84f5-4c7e-8f48-bfeb434f1f02" providerId="ADAL" clId="{61400BE1-9D2F-674F-ADEF-C6AB738978E9}" dt="2025-02-15T22:39:55.403" v="696" actId="1076"/>
          <ac:picMkLst>
            <pc:docMk/>
            <pc:sldMk cId="0" sldId="262"/>
            <ac:picMk id="9" creationId="{CFE90E45-86BA-DFC8-16C9-B45637F33E8F}"/>
          </ac:picMkLst>
        </pc:picChg>
        <pc:picChg chg="add mod">
          <ac:chgData name="Kate Burda" userId="44c1ea53-84f5-4c7e-8f48-bfeb434f1f02" providerId="ADAL" clId="{61400BE1-9D2F-674F-ADEF-C6AB738978E9}" dt="2025-02-15T22:39:36.709" v="693" actId="14100"/>
          <ac:picMkLst>
            <pc:docMk/>
            <pc:sldMk cId="0" sldId="262"/>
            <ac:picMk id="11" creationId="{1C342E9B-1590-C3B1-4D39-7D43DAA4CEA1}"/>
          </ac:picMkLst>
        </pc:picChg>
        <pc:picChg chg="add mod">
          <ac:chgData name="Kate Burda" userId="44c1ea53-84f5-4c7e-8f48-bfeb434f1f02" providerId="ADAL" clId="{61400BE1-9D2F-674F-ADEF-C6AB738978E9}" dt="2025-02-15T22:40:47.668" v="702" actId="1076"/>
          <ac:picMkLst>
            <pc:docMk/>
            <pc:sldMk cId="0" sldId="262"/>
            <ac:picMk id="12" creationId="{99651E03-622A-EF67-01A4-04767519F4DC}"/>
          </ac:picMkLst>
        </pc:picChg>
        <pc:picChg chg="del">
          <ac:chgData name="Kate Burda" userId="44c1ea53-84f5-4c7e-8f48-bfeb434f1f02" providerId="ADAL" clId="{61400BE1-9D2F-674F-ADEF-C6AB738978E9}" dt="2025-02-15T21:37:37.999" v="142" actId="478"/>
          <ac:picMkLst>
            <pc:docMk/>
            <pc:sldMk cId="0" sldId="262"/>
            <ac:picMk id="16" creationId="{01B7E315-5D44-3226-30DD-2F138924669D}"/>
          </ac:picMkLst>
        </pc:picChg>
      </pc:sldChg>
      <pc:sldChg chg="addSp delSp modSp mod">
        <pc:chgData name="Kate Burda" userId="44c1ea53-84f5-4c7e-8f48-bfeb434f1f02" providerId="ADAL" clId="{61400BE1-9D2F-674F-ADEF-C6AB738978E9}" dt="2025-02-16T18:00:21.152" v="1204" actId="20577"/>
        <pc:sldMkLst>
          <pc:docMk/>
          <pc:sldMk cId="0" sldId="263"/>
        </pc:sldMkLst>
        <pc:spChg chg="mod">
          <ac:chgData name="Kate Burda" userId="44c1ea53-84f5-4c7e-8f48-bfeb434f1f02" providerId="ADAL" clId="{61400BE1-9D2F-674F-ADEF-C6AB738978E9}" dt="2025-02-15T21:56:59.846" v="397" actId="20577"/>
          <ac:spMkLst>
            <pc:docMk/>
            <pc:sldMk cId="0" sldId="263"/>
            <ac:spMk id="2" creationId="{B32D8DAF-3A6E-50D8-7EF7-EA84F5321199}"/>
          </ac:spMkLst>
        </pc:spChg>
        <pc:spChg chg="mod">
          <ac:chgData name="Kate Burda" userId="44c1ea53-84f5-4c7e-8f48-bfeb434f1f02" providerId="ADAL" clId="{61400BE1-9D2F-674F-ADEF-C6AB738978E9}" dt="2025-02-16T18:00:21.152" v="1204" actId="20577"/>
          <ac:spMkLst>
            <pc:docMk/>
            <pc:sldMk cId="0" sldId="263"/>
            <ac:spMk id="3" creationId="{00000000-0000-0000-0000-000000000000}"/>
          </ac:spMkLst>
        </pc:spChg>
        <pc:spChg chg="mod">
          <ac:chgData name="Kate Burda" userId="44c1ea53-84f5-4c7e-8f48-bfeb434f1f02" providerId="ADAL" clId="{61400BE1-9D2F-674F-ADEF-C6AB738978E9}" dt="2025-02-15T21:38:04.229" v="169" actId="20577"/>
          <ac:spMkLst>
            <pc:docMk/>
            <pc:sldMk cId="0" sldId="263"/>
            <ac:spMk id="5" creationId="{2D407133-561A-6A9F-FBA4-6C4A886577CF}"/>
          </ac:spMkLst>
        </pc:spChg>
        <pc:spChg chg="del mod">
          <ac:chgData name="Kate Burda" userId="44c1ea53-84f5-4c7e-8f48-bfeb434f1f02" providerId="ADAL" clId="{61400BE1-9D2F-674F-ADEF-C6AB738978E9}" dt="2025-02-15T21:49:24.188" v="289" actId="478"/>
          <ac:spMkLst>
            <pc:docMk/>
            <pc:sldMk cId="0" sldId="263"/>
            <ac:spMk id="6" creationId="{00000000-0000-0000-0000-000000000000}"/>
          </ac:spMkLst>
        </pc:spChg>
        <pc:spChg chg="add mod">
          <ac:chgData name="Kate Burda" userId="44c1ea53-84f5-4c7e-8f48-bfeb434f1f02" providerId="ADAL" clId="{61400BE1-9D2F-674F-ADEF-C6AB738978E9}" dt="2025-02-16T01:06:56.389" v="1182"/>
          <ac:spMkLst>
            <pc:docMk/>
            <pc:sldMk cId="0" sldId="263"/>
            <ac:spMk id="7" creationId="{3725E629-8282-A2C8-B51A-7181C46F3B75}"/>
          </ac:spMkLst>
        </pc:spChg>
        <pc:spChg chg="add mod">
          <ac:chgData name="Kate Burda" userId="44c1ea53-84f5-4c7e-8f48-bfeb434f1f02" providerId="ADAL" clId="{61400BE1-9D2F-674F-ADEF-C6AB738978E9}" dt="2025-02-16T01:07:08.706" v="1183"/>
          <ac:spMkLst>
            <pc:docMk/>
            <pc:sldMk cId="0" sldId="263"/>
            <ac:spMk id="8" creationId="{2233CB41-6ED0-74ED-3B4E-F07B53BA9F88}"/>
          </ac:spMkLst>
        </pc:spChg>
        <pc:spChg chg="add mod">
          <ac:chgData name="Kate Burda" userId="44c1ea53-84f5-4c7e-8f48-bfeb434f1f02" providerId="ADAL" clId="{61400BE1-9D2F-674F-ADEF-C6AB738978E9}" dt="2025-02-16T01:07:49.025" v="1193" actId="20577"/>
          <ac:spMkLst>
            <pc:docMk/>
            <pc:sldMk cId="0" sldId="263"/>
            <ac:spMk id="11" creationId="{7EA4E3C0-07C7-51C5-DFB9-3657CFD6A521}"/>
          </ac:spMkLst>
        </pc:spChg>
        <pc:spChg chg="del">
          <ac:chgData name="Kate Burda" userId="44c1ea53-84f5-4c7e-8f48-bfeb434f1f02" providerId="ADAL" clId="{61400BE1-9D2F-674F-ADEF-C6AB738978E9}" dt="2025-02-15T21:51:52.600" v="317" actId="478"/>
          <ac:spMkLst>
            <pc:docMk/>
            <pc:sldMk cId="0" sldId="263"/>
            <ac:spMk id="12" creationId="{51CFD117-D70D-C7B5-1472-B680CD3A7BD2}"/>
          </ac:spMkLst>
        </pc:spChg>
        <pc:spChg chg="mod">
          <ac:chgData name="Kate Burda" userId="44c1ea53-84f5-4c7e-8f48-bfeb434f1f02" providerId="ADAL" clId="{61400BE1-9D2F-674F-ADEF-C6AB738978E9}" dt="2025-02-15T22:26:35.653" v="420" actId="14100"/>
          <ac:spMkLst>
            <pc:docMk/>
            <pc:sldMk cId="0" sldId="263"/>
            <ac:spMk id="13" creationId="{5BA2FB0B-C559-9E5D-2FF3-B9EFF5BE7C74}"/>
          </ac:spMkLst>
        </pc:spChg>
        <pc:picChg chg="add mod">
          <ac:chgData name="Kate Burda" userId="44c1ea53-84f5-4c7e-8f48-bfeb434f1f02" providerId="ADAL" clId="{61400BE1-9D2F-674F-ADEF-C6AB738978E9}" dt="2025-02-15T22:26:37.897" v="421" actId="1076"/>
          <ac:picMkLst>
            <pc:docMk/>
            <pc:sldMk cId="0" sldId="263"/>
            <ac:picMk id="4" creationId="{7B903D1C-E290-897D-53D0-5FCF20F22DF3}"/>
          </ac:picMkLst>
        </pc:picChg>
        <pc:picChg chg="add">
          <ac:chgData name="Kate Burda" userId="44c1ea53-84f5-4c7e-8f48-bfeb434f1f02" providerId="ADAL" clId="{61400BE1-9D2F-674F-ADEF-C6AB738978E9}" dt="2025-02-16T01:07:24.068" v="1184"/>
          <ac:picMkLst>
            <pc:docMk/>
            <pc:sldMk cId="0" sldId="263"/>
            <ac:picMk id="10" creationId="{A9F3B38D-CE76-8B08-6981-60D59A53D9A0}"/>
          </ac:picMkLst>
        </pc:picChg>
      </pc:sldChg>
      <pc:sldChg chg="delSp modSp mod">
        <pc:chgData name="Kate Burda" userId="44c1ea53-84f5-4c7e-8f48-bfeb434f1f02" providerId="ADAL" clId="{61400BE1-9D2F-674F-ADEF-C6AB738978E9}" dt="2025-02-16T01:07:41.659" v="1189" actId="20577"/>
        <pc:sldMkLst>
          <pc:docMk/>
          <pc:sldMk cId="0" sldId="264"/>
        </pc:sldMkLst>
        <pc:spChg chg="mod">
          <ac:chgData name="Kate Burda" userId="44c1ea53-84f5-4c7e-8f48-bfeb434f1f02" providerId="ADAL" clId="{61400BE1-9D2F-674F-ADEF-C6AB738978E9}" dt="2025-02-15T21:56:53.171" v="395" actId="20577"/>
          <ac:spMkLst>
            <pc:docMk/>
            <pc:sldMk cId="0" sldId="264"/>
            <ac:spMk id="2" creationId="{5F25EE71-D4E8-6ABC-BF10-6797C1B59690}"/>
          </ac:spMkLst>
        </pc:spChg>
        <pc:spChg chg="mod">
          <ac:chgData name="Kate Burda" userId="44c1ea53-84f5-4c7e-8f48-bfeb434f1f02" providerId="ADAL" clId="{61400BE1-9D2F-674F-ADEF-C6AB738978E9}" dt="2025-02-16T01:07:41.659" v="1189" actId="20577"/>
          <ac:spMkLst>
            <pc:docMk/>
            <pc:sldMk cId="0" sldId="264"/>
            <ac:spMk id="3" creationId="{00000000-0000-0000-0000-000000000000}"/>
          </ac:spMkLst>
        </pc:spChg>
        <pc:spChg chg="mod">
          <ac:chgData name="Kate Burda" userId="44c1ea53-84f5-4c7e-8f48-bfeb434f1f02" providerId="ADAL" clId="{61400BE1-9D2F-674F-ADEF-C6AB738978E9}" dt="2025-02-15T21:52:17.795" v="337" actId="20577"/>
          <ac:spMkLst>
            <pc:docMk/>
            <pc:sldMk cId="0" sldId="264"/>
            <ac:spMk id="4" creationId="{DAA322CF-FD32-173B-B743-4BF04C7FF640}"/>
          </ac:spMkLst>
        </pc:spChg>
        <pc:spChg chg="del">
          <ac:chgData name="Kate Burda" userId="44c1ea53-84f5-4c7e-8f48-bfeb434f1f02" providerId="ADAL" clId="{61400BE1-9D2F-674F-ADEF-C6AB738978E9}" dt="2025-02-15T21:55:38.574" v="358" actId="478"/>
          <ac:spMkLst>
            <pc:docMk/>
            <pc:sldMk cId="0" sldId="264"/>
            <ac:spMk id="5" creationId="{00000000-0000-0000-0000-000000000000}"/>
          </ac:spMkLst>
        </pc:spChg>
        <pc:spChg chg="mod">
          <ac:chgData name="Kate Burda" userId="44c1ea53-84f5-4c7e-8f48-bfeb434f1f02" providerId="ADAL" clId="{61400BE1-9D2F-674F-ADEF-C6AB738978E9}" dt="2025-02-15T22:33:50.409" v="666" actId="20577"/>
          <ac:spMkLst>
            <pc:docMk/>
            <pc:sldMk cId="0" sldId="264"/>
            <ac:spMk id="10" creationId="{88A7D0CC-F0DA-C813-3C45-07A9B72BFE4D}"/>
          </ac:spMkLst>
        </pc:spChg>
        <pc:picChg chg="mod">
          <ac:chgData name="Kate Burda" userId="44c1ea53-84f5-4c7e-8f48-bfeb434f1f02" providerId="ADAL" clId="{61400BE1-9D2F-674F-ADEF-C6AB738978E9}" dt="2025-02-15T22:29:48.211" v="432" actId="1076"/>
          <ac:picMkLst>
            <pc:docMk/>
            <pc:sldMk cId="0" sldId="264"/>
            <ac:picMk id="16" creationId="{D48A0CB3-5ED5-8F21-CBC8-03F4381102A0}"/>
          </ac:picMkLst>
        </pc:picChg>
      </pc:sldChg>
      <pc:sldChg chg="modSp mod">
        <pc:chgData name="Kate Burda" userId="44c1ea53-84f5-4c7e-8f48-bfeb434f1f02" providerId="ADAL" clId="{61400BE1-9D2F-674F-ADEF-C6AB738978E9}" dt="2025-02-15T21:55:15.863" v="355" actId="207"/>
        <pc:sldMkLst>
          <pc:docMk/>
          <pc:sldMk cId="0" sldId="274"/>
        </pc:sldMkLst>
        <pc:spChg chg="mod">
          <ac:chgData name="Kate Burda" userId="44c1ea53-84f5-4c7e-8f48-bfeb434f1f02" providerId="ADAL" clId="{61400BE1-9D2F-674F-ADEF-C6AB738978E9}" dt="2025-02-15T21:54:17.518" v="352" actId="207"/>
          <ac:spMkLst>
            <pc:docMk/>
            <pc:sldMk cId="0" sldId="274"/>
            <ac:spMk id="6" creationId="{00000000-0000-0000-0000-000000000000}"/>
          </ac:spMkLst>
        </pc:spChg>
        <pc:spChg chg="mod">
          <ac:chgData name="Kate Burda" userId="44c1ea53-84f5-4c7e-8f48-bfeb434f1f02" providerId="ADAL" clId="{61400BE1-9D2F-674F-ADEF-C6AB738978E9}" dt="2025-02-15T21:55:15.863" v="355" actId="207"/>
          <ac:spMkLst>
            <pc:docMk/>
            <pc:sldMk cId="0" sldId="274"/>
            <ac:spMk id="7" creationId="{00000000-0000-0000-0000-000000000000}"/>
          </ac:spMkLst>
        </pc:spChg>
        <pc:spChg chg="mod">
          <ac:chgData name="Kate Burda" userId="44c1ea53-84f5-4c7e-8f48-bfeb434f1f02" providerId="ADAL" clId="{61400BE1-9D2F-674F-ADEF-C6AB738978E9}" dt="2025-02-15T21:54:05.097" v="351" actId="20577"/>
          <ac:spMkLst>
            <pc:docMk/>
            <pc:sldMk cId="0" sldId="274"/>
            <ac:spMk id="8" creationId="{00000000-0000-0000-0000-000000000000}"/>
          </ac:spMkLst>
        </pc:spChg>
      </pc:sldChg>
      <pc:sldChg chg="addSp delSp modSp mod">
        <pc:chgData name="Kate Burda" userId="44c1ea53-84f5-4c7e-8f48-bfeb434f1f02" providerId="ADAL" clId="{61400BE1-9D2F-674F-ADEF-C6AB738978E9}" dt="2025-02-16T01:06:00.813" v="1173" actId="20577"/>
        <pc:sldMkLst>
          <pc:docMk/>
          <pc:sldMk cId="1734470453" sldId="276"/>
        </pc:sldMkLst>
        <pc:spChg chg="mod">
          <ac:chgData name="Kate Burda" userId="44c1ea53-84f5-4c7e-8f48-bfeb434f1f02" providerId="ADAL" clId="{61400BE1-9D2F-674F-ADEF-C6AB738978E9}" dt="2025-02-15T21:32:51.517" v="66" actId="1076"/>
          <ac:spMkLst>
            <pc:docMk/>
            <pc:sldMk cId="1734470453" sldId="276"/>
            <ac:spMk id="2" creationId="{BFB48109-9308-9822-0CF7-C59DB56262B4}"/>
          </ac:spMkLst>
        </pc:spChg>
        <pc:spChg chg="mod">
          <ac:chgData name="Kate Burda" userId="44c1ea53-84f5-4c7e-8f48-bfeb434f1f02" providerId="ADAL" clId="{61400BE1-9D2F-674F-ADEF-C6AB738978E9}" dt="2025-02-16T01:06:00.813" v="1173" actId="20577"/>
          <ac:spMkLst>
            <pc:docMk/>
            <pc:sldMk cId="1734470453" sldId="276"/>
            <ac:spMk id="4" creationId="{5CD64AD5-82CC-333C-F19D-99C2D56BA903}"/>
          </ac:spMkLst>
        </pc:spChg>
        <pc:spChg chg="mod">
          <ac:chgData name="Kate Burda" userId="44c1ea53-84f5-4c7e-8f48-bfeb434f1f02" providerId="ADAL" clId="{61400BE1-9D2F-674F-ADEF-C6AB738978E9}" dt="2025-02-15T22:46:04.678" v="1158" actId="20577"/>
          <ac:spMkLst>
            <pc:docMk/>
            <pc:sldMk cId="1734470453" sldId="276"/>
            <ac:spMk id="6" creationId="{A431383D-8BB0-E549-DA7A-AAF5C7A116F8}"/>
          </ac:spMkLst>
        </pc:spChg>
        <pc:spChg chg="add mod">
          <ac:chgData name="Kate Burda" userId="44c1ea53-84f5-4c7e-8f48-bfeb434f1f02" providerId="ADAL" clId="{61400BE1-9D2F-674F-ADEF-C6AB738978E9}" dt="2025-02-15T22:45:53.680" v="1157" actId="255"/>
          <ac:spMkLst>
            <pc:docMk/>
            <pc:sldMk cId="1734470453" sldId="276"/>
            <ac:spMk id="7" creationId="{1A7B84A5-57F9-939A-71EF-2B95AF033D35}"/>
          </ac:spMkLst>
        </pc:spChg>
        <pc:spChg chg="del">
          <ac:chgData name="Kate Burda" userId="44c1ea53-84f5-4c7e-8f48-bfeb434f1f02" providerId="ADAL" clId="{61400BE1-9D2F-674F-ADEF-C6AB738978E9}" dt="2025-02-15T21:33:44.660" v="74" actId="478"/>
          <ac:spMkLst>
            <pc:docMk/>
            <pc:sldMk cId="1734470453" sldId="276"/>
            <ac:spMk id="10" creationId="{B8D7FC53-4081-2E9B-40CD-4FEFC3F185F0}"/>
          </ac:spMkLst>
        </pc:spChg>
        <pc:spChg chg="del">
          <ac:chgData name="Kate Burda" userId="44c1ea53-84f5-4c7e-8f48-bfeb434f1f02" providerId="ADAL" clId="{61400BE1-9D2F-674F-ADEF-C6AB738978E9}" dt="2025-02-15T21:58:40.603" v="408" actId="478"/>
          <ac:spMkLst>
            <pc:docMk/>
            <pc:sldMk cId="1734470453" sldId="276"/>
            <ac:spMk id="12" creationId="{B1C5FDF4-183B-4736-B93F-B5A28183F406}"/>
          </ac:spMkLst>
        </pc:spChg>
        <pc:picChg chg="del">
          <ac:chgData name="Kate Burda" userId="44c1ea53-84f5-4c7e-8f48-bfeb434f1f02" providerId="ADAL" clId="{61400BE1-9D2F-674F-ADEF-C6AB738978E9}" dt="2025-02-15T21:33:47.558" v="75" actId="478"/>
          <ac:picMkLst>
            <pc:docMk/>
            <pc:sldMk cId="1734470453" sldId="276"/>
            <ac:picMk id="9" creationId="{17A79C1E-64C5-3E8B-F3FC-24BA7CA14E80}"/>
          </ac:picMkLst>
        </pc:picChg>
        <pc:picChg chg="add mod">
          <ac:chgData name="Kate Burda" userId="44c1ea53-84f5-4c7e-8f48-bfeb434f1f02" providerId="ADAL" clId="{61400BE1-9D2F-674F-ADEF-C6AB738978E9}" dt="2025-02-15T22:45:44.205" v="1154" actId="1076"/>
          <ac:picMkLst>
            <pc:docMk/>
            <pc:sldMk cId="1734470453" sldId="276"/>
            <ac:picMk id="11" creationId="{1CE7813A-AD1D-41C8-FA1C-DD00AAB2DE9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FBE469-6945-3749-8E13-99D742080493}" type="datetimeFigureOut">
              <a:rPr lang="en-US" smtClean="0"/>
              <a:t>2/15/25</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BB672F-1691-0F4F-BF34-B3F22D1CA420}" type="slidenum">
              <a:rPr lang="en-US" smtClean="0"/>
              <a:t>‹#›</a:t>
            </a:fld>
            <a:endParaRPr lang="en-US"/>
          </a:p>
        </p:txBody>
      </p:sp>
    </p:spTree>
    <p:extLst>
      <p:ext uri="{BB962C8B-B14F-4D97-AF65-F5344CB8AC3E}">
        <p14:creationId xmlns:p14="http://schemas.microsoft.com/office/powerpoint/2010/main" val="275073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BB672F-1691-0F4F-BF34-B3F22D1CA420}" type="slidenum">
              <a:rPr lang="en-US" smtClean="0"/>
              <a:t>6</a:t>
            </a:fld>
            <a:endParaRPr lang="en-US"/>
          </a:p>
        </p:txBody>
      </p:sp>
    </p:spTree>
    <p:extLst>
      <p:ext uri="{BB962C8B-B14F-4D97-AF65-F5344CB8AC3E}">
        <p14:creationId xmlns:p14="http://schemas.microsoft.com/office/powerpoint/2010/main" val="36018315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a:xfrm>
            <a:off x="762000" y="315467"/>
            <a:ext cx="5963320" cy="615553"/>
          </a:xfrm>
        </p:spPr>
        <p:txBody>
          <a:bodyPr lIns="0" tIns="0" rIns="0" bIns="0"/>
          <a:lstStyle>
            <a:lvl1pPr algn="ctr">
              <a:defRPr sz="4000" b="0" i="0">
                <a:solidFill>
                  <a:schemeClr val="tx1">
                    <a:lumMod val="75000"/>
                    <a:lumOff val="25000"/>
                  </a:schemeClr>
                </a:solidFill>
                <a:latin typeface="Franklin Gothic Book"/>
                <a:cs typeface="Franklin Gothic Boo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2/15/25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6" name="bk object 17">
            <a:extLst>
              <a:ext uri="{FF2B5EF4-FFF2-40B4-BE49-F238E27FC236}">
                <a16:creationId xmlns:a16="http://schemas.microsoft.com/office/drawing/2014/main" id="{19B7A283-F89B-9D5C-9743-85FB86AC1836}"/>
              </a:ext>
            </a:extLst>
          </p:cNvPr>
          <p:cNvSpPr/>
          <p:nvPr userDrawn="1"/>
        </p:nvSpPr>
        <p:spPr>
          <a:xfrm>
            <a:off x="13739" y="381000"/>
            <a:ext cx="6765570" cy="8763000"/>
          </a:xfrm>
          <a:custGeom>
            <a:avLst/>
            <a:gdLst/>
            <a:ahLst/>
            <a:cxnLst/>
            <a:rect l="l" t="t" r="r" b="b"/>
            <a:pathLst>
              <a:path w="6817359" h="8126730">
                <a:moveTo>
                  <a:pt x="0" y="0"/>
                </a:moveTo>
                <a:lnTo>
                  <a:pt x="0" y="8126601"/>
                </a:lnTo>
                <a:lnTo>
                  <a:pt x="6817266" y="8126601"/>
                </a:lnTo>
                <a:lnTo>
                  <a:pt x="0" y="0"/>
                </a:lnTo>
                <a:close/>
              </a:path>
            </a:pathLst>
          </a:custGeom>
          <a:solidFill>
            <a:srgbClr val="595959"/>
          </a:solidFill>
        </p:spPr>
        <p:txBody>
          <a:bodyPr wrap="square" lIns="0" tIns="0" rIns="0" bIns="0" rtlCol="0"/>
          <a:lstStyle/>
          <a:p>
            <a:endParaRPr/>
          </a:p>
        </p:txBody>
      </p:sp>
      <p:sp>
        <p:nvSpPr>
          <p:cNvPr id="7" name="bk object 18">
            <a:extLst>
              <a:ext uri="{FF2B5EF4-FFF2-40B4-BE49-F238E27FC236}">
                <a16:creationId xmlns:a16="http://schemas.microsoft.com/office/drawing/2014/main" id="{8B07A104-ABCB-254C-6608-BD9C5ED08A3A}"/>
              </a:ext>
            </a:extLst>
          </p:cNvPr>
          <p:cNvSpPr/>
          <p:nvPr userDrawn="1"/>
        </p:nvSpPr>
        <p:spPr>
          <a:xfrm>
            <a:off x="3626619" y="6248400"/>
            <a:ext cx="3213011"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8" name="object 4">
            <a:extLst>
              <a:ext uri="{FF2B5EF4-FFF2-40B4-BE49-F238E27FC236}">
                <a16:creationId xmlns:a16="http://schemas.microsoft.com/office/drawing/2014/main" id="{4151CBCA-7238-96C7-0388-0C620CD163AF}"/>
              </a:ext>
            </a:extLst>
          </p:cNvPr>
          <p:cNvSpPr/>
          <p:nvPr userDrawn="1"/>
        </p:nvSpPr>
        <p:spPr>
          <a:xfrm>
            <a:off x="4348061" y="7497667"/>
            <a:ext cx="1757992" cy="157581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8503920"/>
            <a:ext cx="1577340" cy="4572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2/15/25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7" name="object 2">
            <a:extLst>
              <a:ext uri="{FF2B5EF4-FFF2-40B4-BE49-F238E27FC236}">
                <a16:creationId xmlns:a16="http://schemas.microsoft.com/office/drawing/2014/main" id="{29C46EF0-41CB-016F-D624-A4CC2CBFADF3}"/>
              </a:ext>
            </a:extLst>
          </p:cNvPr>
          <p:cNvSpPr/>
          <p:nvPr userDrawn="1"/>
        </p:nvSpPr>
        <p:spPr>
          <a:xfrm>
            <a:off x="3175" y="0"/>
            <a:ext cx="6854825" cy="9144000"/>
          </a:xfrm>
          <a:custGeom>
            <a:avLst/>
            <a:gdLst/>
            <a:ahLst/>
            <a:cxnLst/>
            <a:rect l="l" t="t" r="r" b="b"/>
            <a:pathLst>
              <a:path w="6854825" h="9144000">
                <a:moveTo>
                  <a:pt x="0" y="9144000"/>
                </a:moveTo>
                <a:lnTo>
                  <a:pt x="0" y="0"/>
                </a:lnTo>
                <a:lnTo>
                  <a:pt x="6854426" y="0"/>
                </a:lnTo>
                <a:lnTo>
                  <a:pt x="6854426" y="9143999"/>
                </a:lnTo>
                <a:lnTo>
                  <a:pt x="0" y="9144000"/>
                </a:lnTo>
                <a:close/>
              </a:path>
            </a:pathLst>
          </a:custGeom>
          <a:solidFill>
            <a:srgbClr val="555759"/>
          </a:solidFill>
        </p:spPr>
        <p:txBody>
          <a:bodyPr wrap="square" lIns="0" tIns="0" rIns="0" bIns="0" rtlCol="0"/>
          <a:lstStyle/>
          <a:p>
            <a:endParaRPr/>
          </a:p>
        </p:txBody>
      </p:sp>
      <p:sp>
        <p:nvSpPr>
          <p:cNvPr id="8" name="object 4">
            <a:extLst>
              <a:ext uri="{FF2B5EF4-FFF2-40B4-BE49-F238E27FC236}">
                <a16:creationId xmlns:a16="http://schemas.microsoft.com/office/drawing/2014/main" id="{6A8D0545-0C4B-D7CF-B7C8-C905BD60EE5D}"/>
              </a:ext>
            </a:extLst>
          </p:cNvPr>
          <p:cNvSpPr/>
          <p:nvPr userDrawn="1"/>
        </p:nvSpPr>
        <p:spPr>
          <a:xfrm>
            <a:off x="152664" y="8305800"/>
            <a:ext cx="1295135" cy="802848"/>
          </a:xfrm>
          <a:prstGeom prst="rect">
            <a:avLst/>
          </a:prstGeom>
          <a:blipFill>
            <a:blip r:embed="rId2" cstate="print"/>
            <a:stretch>
              <a:fillRect t="-65128" b="-43570"/>
            </a:stretch>
          </a:blipFill>
        </p:spPr>
        <p:txBody>
          <a:bodyPr wrap="square" lIns="0" tIns="0" rIns="0" bIns="0" rtlCol="0"/>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49340"/>
            <a:ext cx="5829300" cy="276999"/>
          </a:xfrm>
          <a:prstGeom prst="rect">
            <a:avLst/>
          </a:prstGeom>
        </p:spPr>
        <p:txBody>
          <a:bodyPr wrap="square" lIns="0" tIns="0" rIns="0" bIns="0">
            <a:spAutoFit/>
          </a:bodyPr>
          <a:lstStyle>
            <a:lvl1pPr>
              <a:defRPr sz="1800">
                <a:latin typeface="Franklin Gothic Book" panose="020B0503020102020204" pitchFamily="34" charset="0"/>
              </a:defRPr>
            </a:lvl1pPr>
          </a:lstStyle>
          <a:p>
            <a:endParaRPr/>
          </a:p>
        </p:txBody>
      </p:sp>
      <p:sp>
        <p:nvSpPr>
          <p:cNvPr id="3" name="Holder 3"/>
          <p:cNvSpPr>
            <a:spLocks noGrp="1"/>
          </p:cNvSpPr>
          <p:nvPr>
            <p:ph type="subTitle" idx="4"/>
          </p:nvPr>
        </p:nvSpPr>
        <p:spPr>
          <a:xfrm>
            <a:off x="1028700" y="838200"/>
            <a:ext cx="4800600" cy="184666"/>
          </a:xfrm>
          <a:prstGeom prst="rect">
            <a:avLst/>
          </a:prstGeom>
        </p:spPr>
        <p:txBody>
          <a:bodyPr wrap="square" lIns="0" tIns="0" rIns="0" bIns="0">
            <a:spAutoFit/>
          </a:bodyPr>
          <a:lstStyle>
            <a:lvl1pPr>
              <a:defRPr sz="1200">
                <a:latin typeface="Franklin Gothic Book" panose="020B0503020102020204" pitchFamily="34" charset="0"/>
              </a:defRPr>
            </a:lvl1pPr>
          </a:lstStyle>
          <a:p>
            <a:endParaRPr/>
          </a:p>
        </p:txBody>
      </p:sp>
      <p:sp>
        <p:nvSpPr>
          <p:cNvPr id="4" name="Holder 4"/>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cxnSp>
        <p:nvCxnSpPr>
          <p:cNvPr id="8" name="Straight Connector 7">
            <a:extLst>
              <a:ext uri="{FF2B5EF4-FFF2-40B4-BE49-F238E27FC236}">
                <a16:creationId xmlns:a16="http://schemas.microsoft.com/office/drawing/2014/main" id="{99DCEB93-266C-B4AF-517B-92647B74F9E4}"/>
              </a:ext>
            </a:extLst>
          </p:cNvPr>
          <p:cNvCxnSpPr>
            <a:cxnSpLocks/>
          </p:cNvCxnSpPr>
          <p:nvPr userDrawn="1"/>
        </p:nvCxnSpPr>
        <p:spPr>
          <a:xfrm>
            <a:off x="381000" y="655070"/>
            <a:ext cx="6134100" cy="0"/>
          </a:xfrm>
          <a:prstGeom prst="line">
            <a:avLst/>
          </a:prstGeom>
          <a:ln w="28575">
            <a:solidFill>
              <a:srgbClr val="B5237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2678" y="315467"/>
            <a:ext cx="6592642" cy="307777"/>
          </a:xfrm>
        </p:spPr>
        <p:txBody>
          <a:bodyPr lIns="0" tIns="0" rIns="0" bIns="0"/>
          <a:lstStyle>
            <a:lvl1pPr>
              <a:defRPr sz="2000" b="0" i="0">
                <a:solidFill>
                  <a:schemeClr val="tx1"/>
                </a:solidFill>
                <a:latin typeface="Franklin Gothic Book" panose="020B0503020102020204" pitchFamily="34" charset="0"/>
                <a:cs typeface="Franklin Gothic Book" panose="020B0503020102020204" pitchFamily="34" charset="0"/>
              </a:defRPr>
            </a:lvl1pPr>
          </a:lstStyle>
          <a:p>
            <a:endParaRPr/>
          </a:p>
        </p:txBody>
      </p:sp>
      <p:sp>
        <p:nvSpPr>
          <p:cNvPr id="3" name="Holder 3"/>
          <p:cNvSpPr>
            <a:spLocks noGrp="1"/>
          </p:cNvSpPr>
          <p:nvPr>
            <p:ph sz="half" idx="2"/>
          </p:nvPr>
        </p:nvSpPr>
        <p:spPr>
          <a:xfrm>
            <a:off x="342900" y="2103120"/>
            <a:ext cx="298323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103120"/>
            <a:ext cx="298323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7" name="Holder 7"/>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2331720" y="8503920"/>
            <a:ext cx="2194560" cy="276999"/>
          </a:xfrm>
        </p:spPr>
        <p:txBody>
          <a:bodyPr lIns="0" tIns="0" rIns="0" bIns="0"/>
          <a:lstStyle>
            <a:lvl1pPr algn="ctr">
              <a:defRPr>
                <a:solidFill>
                  <a:schemeClr val="tx1">
                    <a:tint val="75000"/>
                  </a:schemeClr>
                </a:solidFill>
                <a:latin typeface="Franklin Gothic Book" panose="020B0503020102020204" pitchFamily="34" charset="0"/>
              </a:defRPr>
            </a:lvl1pPr>
          </a:lstStyle>
          <a:p>
            <a:endParaRPr lang="en-US"/>
          </a:p>
        </p:txBody>
      </p:sp>
      <p:sp>
        <p:nvSpPr>
          <p:cNvPr id="4" name="Holder 4"/>
          <p:cNvSpPr>
            <a:spLocks noGrp="1"/>
          </p:cNvSpPr>
          <p:nvPr>
            <p:ph type="sldNum" sz="quarter" idx="7"/>
          </p:nvPr>
        </p:nvSpPr>
        <p:spPr>
          <a:xfrm>
            <a:off x="4937760" y="8503920"/>
            <a:ext cx="1577340" cy="276999"/>
          </a:xfrm>
        </p:spPr>
        <p:txBody>
          <a:bodyPr lIns="0" tIns="0" rIns="0" bIns="0"/>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21313" y="7814310"/>
            <a:ext cx="1382365" cy="13296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132678" y="315467"/>
            <a:ext cx="6592642" cy="307777"/>
          </a:xfrm>
          <a:prstGeom prst="rect">
            <a:avLst/>
          </a:prstGeom>
        </p:spPr>
        <p:txBody>
          <a:bodyPr wrap="square" lIns="0" tIns="0" rIns="0" bIns="0">
            <a:spAutoFit/>
          </a:bodyPr>
          <a:lstStyle>
            <a:lvl1pPr>
              <a:defRPr sz="2000" b="0" i="0">
                <a:solidFill>
                  <a:schemeClr val="tx1"/>
                </a:solidFill>
                <a:latin typeface="Franklin Gothic Book"/>
                <a:cs typeface="Franklin Gothic Book"/>
              </a:defRPr>
            </a:lvl1pPr>
          </a:lstStyle>
          <a:p>
            <a:endParaRPr/>
          </a:p>
        </p:txBody>
      </p:sp>
      <p:sp>
        <p:nvSpPr>
          <p:cNvPr id="3" name="Holder 3"/>
          <p:cNvSpPr>
            <a:spLocks noGrp="1"/>
          </p:cNvSpPr>
          <p:nvPr>
            <p:ph type="body" idx="1"/>
          </p:nvPr>
        </p:nvSpPr>
        <p:spPr>
          <a:xfrm>
            <a:off x="357890" y="914400"/>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8503920"/>
            <a:ext cx="2194560" cy="276999"/>
          </a:xfrm>
          <a:prstGeom prst="rect">
            <a:avLst/>
          </a:prstGeom>
        </p:spPr>
        <p:txBody>
          <a:bodyPr wrap="square" lIns="0" tIns="0" rIns="0" bIns="0">
            <a:spAutoFit/>
          </a:bodyPr>
          <a:lstStyle>
            <a:lvl1pPr algn="ctr">
              <a:defRPr>
                <a:solidFill>
                  <a:schemeClr val="tx1">
                    <a:tint val="75000"/>
                  </a:schemeClr>
                </a:solidFill>
                <a:latin typeface="Franklin Gothic Book" panose="020B0503020102020204" pitchFamily="34" charset="0"/>
              </a:defRPr>
            </a:lvl1pPr>
          </a:lstStyle>
          <a:p>
            <a:endParaRPr lang="en-US"/>
          </a:p>
        </p:txBody>
      </p:sp>
      <p:sp>
        <p:nvSpPr>
          <p:cNvPr id="6" name="Holder 6"/>
          <p:cNvSpPr>
            <a:spLocks noGrp="1"/>
          </p:cNvSpPr>
          <p:nvPr>
            <p:ph type="sldNum" sz="quarter" idx="7"/>
          </p:nvPr>
        </p:nvSpPr>
        <p:spPr>
          <a:xfrm>
            <a:off x="4937760" y="8503920"/>
            <a:ext cx="1577340" cy="276999"/>
          </a:xfrm>
          <a:prstGeom prst="rect">
            <a:avLst/>
          </a:prstGeom>
        </p:spPr>
        <p:txBody>
          <a:bodyPr wrap="square" lIns="0" tIns="0" rIns="0" bIns="0">
            <a:spAutoFit/>
          </a:bodyPr>
          <a:lstStyle>
            <a:lvl1pPr algn="r">
              <a:defRPr>
                <a:solidFill>
                  <a:schemeClr val="tx1">
                    <a:tint val="75000"/>
                  </a:schemeClr>
                </a:solidFill>
                <a:latin typeface="Franklin Gothic Book" panose="020B05030201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2" r:id="rId2"/>
    <p:sldLayoutId id="2147483661" r:id="rId3"/>
    <p:sldLayoutId id="2147483663" r:id="rId4"/>
    <p:sldLayoutId id="2147483665" r:id="rId5"/>
  </p:sldLayoutIdLst>
  <p:txStyles>
    <p:titleStyle>
      <a:lvl1pPr>
        <a:defRPr>
          <a:latin typeface="Franklin Gothic Book" panose="020B0503020102020204" pitchFamily="34" charset="0"/>
          <a:ea typeface="+mj-ea"/>
          <a:cs typeface="+mj-cs"/>
        </a:defRPr>
      </a:lvl1pPr>
    </p:titleStyle>
    <p:bodyStyle>
      <a:lvl1pPr marL="0">
        <a:defRPr>
          <a:latin typeface="Franklin Gothic Book" panose="020B0503020102020204" pitchFamily="34"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mailto:kate@kateburda.com" TargetMode="External"/><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726" y="151596"/>
            <a:ext cx="6574674" cy="1180451"/>
          </a:xfrm>
          <a:prstGeom prst="rect">
            <a:avLst/>
          </a:prstGeom>
        </p:spPr>
        <p:txBody>
          <a:bodyPr vert="horz" wrap="square" lIns="0" tIns="71755" rIns="0" bIns="0" rtlCol="0">
            <a:spAutoFit/>
          </a:bodyPr>
          <a:lstStyle/>
          <a:p>
            <a:pPr marL="12065" marR="5080" indent="-635" algn="ctr">
              <a:lnSpc>
                <a:spcPct val="90300"/>
              </a:lnSpc>
              <a:spcBef>
                <a:spcPts val="565"/>
              </a:spcBef>
            </a:pPr>
            <a:r>
              <a:rPr lang="en-US" sz="4000" spc="-5" dirty="0">
                <a:solidFill>
                  <a:srgbClr val="595959"/>
                </a:solidFill>
                <a:latin typeface="Franklin Gothic Medium"/>
                <a:cs typeface="Franklin Gothic Medium"/>
              </a:rPr>
              <a:t>What Good Looks Like: </a:t>
            </a:r>
            <a:br>
              <a:rPr lang="en-US" sz="4000" spc="-5" dirty="0">
                <a:solidFill>
                  <a:srgbClr val="595959"/>
                </a:solidFill>
                <a:latin typeface="Franklin Gothic Medium"/>
                <a:cs typeface="Franklin Gothic Medium"/>
              </a:rPr>
            </a:br>
            <a:r>
              <a:rPr lang="en-US" sz="1800" spc="-5" dirty="0">
                <a:solidFill>
                  <a:srgbClr val="595959"/>
                </a:solidFill>
                <a:latin typeface="Franklin Gothic Medium"/>
                <a:cs typeface="Franklin Gothic Medium"/>
              </a:rPr>
              <a:t> </a:t>
            </a:r>
            <a:r>
              <a:rPr lang="en-US" sz="4000" spc="-5" dirty="0">
                <a:solidFill>
                  <a:srgbClr val="B52372"/>
                </a:solidFill>
                <a:latin typeface="Franklin Gothic Medium"/>
                <a:cs typeface="Franklin Gothic Medium"/>
              </a:rPr>
              <a:t>Revenue Strategy</a:t>
            </a:r>
            <a:endParaRPr sz="4000" dirty="0">
              <a:latin typeface="Franklin Gothic Medium"/>
              <a:cs typeface="Franklin Gothic Medium"/>
            </a:endParaRPr>
          </a:p>
        </p:txBody>
      </p:sp>
      <p:sp>
        <p:nvSpPr>
          <p:cNvPr id="5" name="bk object 18">
            <a:extLst>
              <a:ext uri="{FF2B5EF4-FFF2-40B4-BE49-F238E27FC236}">
                <a16:creationId xmlns:a16="http://schemas.microsoft.com/office/drawing/2014/main" id="{7918F084-BE7C-57B5-5323-17059EE7C525}"/>
              </a:ext>
            </a:extLst>
          </p:cNvPr>
          <p:cNvSpPr/>
          <p:nvPr/>
        </p:nvSpPr>
        <p:spPr>
          <a:xfrm>
            <a:off x="2892830" y="6248400"/>
            <a:ext cx="3886480" cy="2895600"/>
          </a:xfrm>
          <a:custGeom>
            <a:avLst/>
            <a:gdLst/>
            <a:ahLst/>
            <a:cxnLst/>
            <a:rect l="l" t="t" r="r" b="b"/>
            <a:pathLst>
              <a:path w="3215640" h="2891790">
                <a:moveTo>
                  <a:pt x="0" y="0"/>
                </a:moveTo>
                <a:lnTo>
                  <a:pt x="3215500" y="0"/>
                </a:lnTo>
                <a:lnTo>
                  <a:pt x="3215500" y="2891442"/>
                </a:lnTo>
                <a:lnTo>
                  <a:pt x="0" y="2891442"/>
                </a:lnTo>
                <a:lnTo>
                  <a:pt x="0" y="0"/>
                </a:lnTo>
                <a:close/>
              </a:path>
            </a:pathLst>
          </a:custGeom>
          <a:solidFill>
            <a:srgbClr val="FFFFFF"/>
          </a:solidFill>
        </p:spPr>
        <p:txBody>
          <a:bodyPr wrap="square" lIns="0" tIns="0" rIns="0" bIns="0" rtlCol="0"/>
          <a:lstStyle/>
          <a:p>
            <a:endParaRPr/>
          </a:p>
        </p:txBody>
      </p:sp>
      <p:sp>
        <p:nvSpPr>
          <p:cNvPr id="6" name="TextBox 5">
            <a:extLst>
              <a:ext uri="{FF2B5EF4-FFF2-40B4-BE49-F238E27FC236}">
                <a16:creationId xmlns:a16="http://schemas.microsoft.com/office/drawing/2014/main" id="{094014A2-0020-17FB-DAF3-7E5B94E7F235}"/>
              </a:ext>
            </a:extLst>
          </p:cNvPr>
          <p:cNvSpPr txBox="1"/>
          <p:nvPr/>
        </p:nvSpPr>
        <p:spPr>
          <a:xfrm>
            <a:off x="3749566" y="6326686"/>
            <a:ext cx="3124200" cy="1815882"/>
          </a:xfrm>
          <a:prstGeom prst="rect">
            <a:avLst/>
          </a:prstGeom>
          <a:noFill/>
        </p:spPr>
        <p:txBody>
          <a:bodyPr wrap="square" rtlCol="0">
            <a:spAutoFit/>
          </a:bodyPr>
          <a:lstStyle/>
          <a:p>
            <a:endParaRPr lang="en-US" sz="2800">
              <a:latin typeface="Franklin Gothic Book" panose="020B0503020102020204" pitchFamily="34" charset="0"/>
            </a:endParaRPr>
          </a:p>
          <a:p>
            <a:r>
              <a:rPr lang="en-US" sz="2800">
                <a:latin typeface="Franklin Gothic Book" panose="020B0503020102020204" pitchFamily="34" charset="0"/>
              </a:rPr>
              <a:t>Do Less.</a:t>
            </a:r>
          </a:p>
          <a:p>
            <a:r>
              <a:rPr lang="en-US" sz="2800">
                <a:latin typeface="Franklin Gothic Book" panose="020B0503020102020204" pitchFamily="34" charset="0"/>
              </a:rPr>
              <a:t>Make it mean more</a:t>
            </a:r>
            <a:r>
              <a:rPr lang="en-US" sz="2000">
                <a:latin typeface="Franklin Gothic Book" panose="020B0503020102020204" pitchFamily="34" charset="0"/>
              </a:rPr>
              <a:t>.</a:t>
            </a:r>
          </a:p>
        </p:txBody>
      </p:sp>
      <p:sp>
        <p:nvSpPr>
          <p:cNvPr id="4" name="object 4"/>
          <p:cNvSpPr/>
          <p:nvPr/>
        </p:nvSpPr>
        <p:spPr>
          <a:xfrm>
            <a:off x="4343400" y="7568184"/>
            <a:ext cx="1757992" cy="1575816"/>
          </a:xfrm>
          <a:prstGeom prst="rect">
            <a:avLst/>
          </a:prstGeom>
          <a:blipFill>
            <a:blip r:embed="rId2" cstate="print"/>
            <a:stretch>
              <a:fillRect/>
            </a:stretch>
          </a:blipFill>
        </p:spPr>
        <p:txBody>
          <a:bodyPr wrap="square" lIns="0" tIns="0" rIns="0" bIns="0" rtlCol="0"/>
          <a:lstStyle/>
          <a:p>
            <a:endParaRPr/>
          </a:p>
        </p:txBody>
      </p:sp>
      <p:sp>
        <p:nvSpPr>
          <p:cNvPr id="9" name="TextBox 8">
            <a:extLst>
              <a:ext uri="{FF2B5EF4-FFF2-40B4-BE49-F238E27FC236}">
                <a16:creationId xmlns:a16="http://schemas.microsoft.com/office/drawing/2014/main" id="{3174505B-C8D9-B96B-5264-F5F8433A57DA}"/>
              </a:ext>
            </a:extLst>
          </p:cNvPr>
          <p:cNvSpPr txBox="1"/>
          <p:nvPr/>
        </p:nvSpPr>
        <p:spPr>
          <a:xfrm>
            <a:off x="2145375" y="1665604"/>
            <a:ext cx="4633934" cy="1384995"/>
          </a:xfrm>
          <a:prstGeom prst="rect">
            <a:avLst/>
          </a:prstGeom>
          <a:noFill/>
        </p:spPr>
        <p:txBody>
          <a:bodyPr wrap="square">
            <a:spAutoFit/>
          </a:bodyPr>
          <a:lstStyle/>
          <a:p>
            <a:pPr marL="12700">
              <a:lnSpc>
                <a:spcPct val="100000"/>
              </a:lnSpc>
              <a:spcBef>
                <a:spcPts val="100"/>
              </a:spcBef>
            </a:pPr>
            <a:r>
              <a:rPr lang="en-US" sz="2800" i="1" spc="300" dirty="0">
                <a:latin typeface="Graphik" panose="020B0503030202060203" pitchFamily="34" charset="77"/>
                <a:cs typeface="Franklin Gothic Book Italic"/>
              </a:rPr>
              <a:t>Revenue Optimization and Outside-In Thinking</a:t>
            </a:r>
            <a:endParaRPr lang="en-US" sz="2800" spc="300" dirty="0">
              <a:latin typeface="Graphik" panose="020B0503030202060203" pitchFamily="34" charset="77"/>
              <a:cs typeface="Franklin Gothic Book Ital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79375"/>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Outside-In Thinking</a:t>
            </a:r>
            <a:endParaRPr sz="2400" dirty="0"/>
          </a:p>
        </p:txBody>
      </p:sp>
      <p:sp>
        <p:nvSpPr>
          <p:cNvPr id="4" name="object 4"/>
          <p:cNvSpPr txBox="1"/>
          <p:nvPr/>
        </p:nvSpPr>
        <p:spPr>
          <a:xfrm>
            <a:off x="6343648" y="8730488"/>
            <a:ext cx="83820" cy="151323"/>
          </a:xfrm>
          <a:prstGeom prst="rect">
            <a:avLst/>
          </a:prstGeom>
        </p:spPr>
        <p:txBody>
          <a:bodyPr vert="horz" wrap="square" lIns="0" tIns="12700" rIns="0" bIns="0" rtlCol="0">
            <a:spAutoFit/>
          </a:bodyPr>
          <a:lstStyle/>
          <a:p>
            <a:pPr marL="12700">
              <a:lnSpc>
                <a:spcPct val="100000"/>
              </a:lnSpc>
              <a:spcBef>
                <a:spcPts val="100"/>
              </a:spcBef>
            </a:pPr>
            <a:r>
              <a:rPr lang="en-US" sz="900" dirty="0">
                <a:solidFill>
                  <a:srgbClr val="898989"/>
                </a:solidFill>
                <a:latin typeface="Calibri"/>
                <a:cs typeface="Calibri"/>
              </a:rPr>
              <a:t>2</a:t>
            </a:r>
            <a:endParaRPr sz="900" dirty="0">
              <a:latin typeface="Calibri"/>
              <a:cs typeface="Calibri"/>
            </a:endParaRPr>
          </a:p>
        </p:txBody>
      </p:sp>
      <p:sp>
        <p:nvSpPr>
          <p:cNvPr id="5" name="object 5"/>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p:cNvSpPr txBox="1"/>
          <p:nvPr/>
        </p:nvSpPr>
        <p:spPr>
          <a:xfrm>
            <a:off x="368965" y="615820"/>
            <a:ext cx="6348670" cy="5383525"/>
          </a:xfrm>
          <a:prstGeom prst="rect">
            <a:avLst/>
          </a:prstGeom>
        </p:spPr>
        <p:txBody>
          <a:bodyPr vert="horz" wrap="square" lIns="0" tIns="12700" rIns="0" bIns="0" rtlCol="0">
            <a:spAutoFit/>
          </a:bodyPr>
          <a:lstStyle/>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Why Outside-In Thinking is the Key to Unlocking Revenue Growth</a:t>
            </a:r>
          </a:p>
          <a:p>
            <a:pPr marL="0" marR="0"/>
            <a:endParaRPr lang="en-US" sz="11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What if you discovered that the greatest barrier to your company's revenue growth is your own mindset? Many organizations remain trapped in an inside-out approach—obsessed with their products, features, and internal processes—instead of turning outward to truly grasp what matters to their customers. Imagine flipping this narrative. Outside-in thinking transforms the focus to customer needs and market dynamics, driving every strategy, sale, and campaign. </a:t>
            </a: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a:t>
            </a: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Is your business still fixated on praising your product rather than showing how it solves your customer’s problems? If so, you're leaving money—and loyalty—on the table. </a:t>
            </a:r>
          </a:p>
          <a:p>
            <a:pPr marL="0" marR="0"/>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Embracing outside-in thinking is no longer optional; it’s necessary for survival and success in today’s rapidly evolving markets.</a:t>
            </a:r>
          </a:p>
          <a:p>
            <a:pPr marL="0" marR="0"/>
            <a:endParaRPr lang="en-US" sz="1400"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Why Outside-In Thinking Matters</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Are you genuinely focusing on the customer? Outside-in thinking demands it. Understanding your audience’s challenges, expectations, and aspirations is essential. Consider this: boosting customer retention by just 5% can increase profits by 25% to 95%, according to Bain &amp; Company. Such an impact isn't accidental; it stems from a strategic shift to customer-centric approaches that prioritize the buyer’s experience. Are you ready to make that shift and harness the power of customer loyalty?</a:t>
            </a:r>
          </a:p>
          <a:p>
            <a:pPr marL="0" marR="0"/>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p:txBody>
      </p:sp>
      <p:sp>
        <p:nvSpPr>
          <p:cNvPr id="3" name="object 8">
            <a:extLst>
              <a:ext uri="{FF2B5EF4-FFF2-40B4-BE49-F238E27FC236}">
                <a16:creationId xmlns:a16="http://schemas.microsoft.com/office/drawing/2014/main" id="{A4E5FE23-DCCB-363A-06BD-8C5E38954CE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2025</a:t>
            </a:r>
            <a:endParaRPr sz="900" dirty="0">
              <a:solidFill>
                <a:schemeClr val="tx1">
                  <a:lumMod val="75000"/>
                  <a:lumOff val="25000"/>
                </a:schemeClr>
              </a:solidFill>
              <a:latin typeface="Franklin Gothic Book"/>
              <a:cs typeface="Franklin Gothic Book"/>
            </a:endParaRPr>
          </a:p>
        </p:txBody>
      </p:sp>
      <p:sp>
        <p:nvSpPr>
          <p:cNvPr id="8" name="object 5">
            <a:extLst>
              <a:ext uri="{FF2B5EF4-FFF2-40B4-BE49-F238E27FC236}">
                <a16:creationId xmlns:a16="http://schemas.microsoft.com/office/drawing/2014/main" id="{C375207C-F387-4B01-3DB2-D2411EDC35D9}"/>
              </a:ext>
            </a:extLst>
          </p:cNvPr>
          <p:cNvSpPr/>
          <p:nvPr/>
        </p:nvSpPr>
        <p:spPr>
          <a:xfrm>
            <a:off x="252684" y="5999344"/>
            <a:ext cx="6381130" cy="2030751"/>
          </a:xfrm>
          <a:prstGeom prst="rect">
            <a:avLst/>
          </a:prstGeom>
          <a:blipFill>
            <a:blip r:embed="rId2" cstate="print"/>
            <a:stretch>
              <a:fillRect/>
            </a:stretch>
          </a:blipFill>
        </p:spPr>
        <p:txBody>
          <a:bodyPr wrap="square" lIns="0" tIns="0" rIns="0" bIns="0" rtlCol="0"/>
          <a:lstStyle/>
          <a:p>
            <a:pPr marL="285750" marR="0" lvl="0" indent="-285750" rtl="0">
              <a:buFont typeface="Wingdings" pitchFamily="2" charset="2"/>
              <a:buChar char="Ø"/>
            </a:pPr>
            <a:endParaRPr lang="en-US" sz="8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lgn="ctr"/>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The Statistics Back It Up</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342900" marR="0" lvl="0" indent="-111125">
              <a:buSzPts val="1000"/>
              <a:buFont typeface="Symbol" pitchFamily="2" charset="2"/>
              <a:buChar char=""/>
              <a:tabLst>
                <a:tab pos="457200" algn="l"/>
              </a:tabLst>
            </a:pP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Are you putting your customers at the heart of your business strategy? Companies that do enjoy higher satisfaction, stronger retention, and impressive revenue growth. </a:t>
            </a:r>
          </a:p>
          <a:p>
            <a:pPr marL="342900" marR="0" lvl="0" indent="-111125">
              <a:buSzPts val="1000"/>
              <a:buFont typeface="Symbol" pitchFamily="2" charset="2"/>
              <a:buChar char=""/>
              <a:tabLst>
                <a:tab pos="457200" algn="l"/>
              </a:tabLst>
            </a:pP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Consider this: During the pandemic, McKinsey found that 70% of consumers altered their shopping habits. Those businesses that swiftly adapted using customer data thrived, while others lagged</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10D0E-7A38-CB5A-1877-9A6E816D55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FB48109-9308-9822-0CF7-C59DB56262B4}"/>
              </a:ext>
            </a:extLst>
          </p:cNvPr>
          <p:cNvSpPr txBox="1">
            <a:spLocks noGrp="1"/>
          </p:cNvSpPr>
          <p:nvPr>
            <p:ph type="title" idx="4294967295"/>
          </p:nvPr>
        </p:nvSpPr>
        <p:spPr>
          <a:xfrm>
            <a:off x="0" y="245888"/>
            <a:ext cx="6858000" cy="382156"/>
          </a:xfrm>
          <a:prstGeom prst="rect">
            <a:avLst/>
          </a:prstGeom>
        </p:spPr>
        <p:txBody>
          <a:bodyPr vert="horz" wrap="square" lIns="0" tIns="12700" rIns="0" bIns="0" rtlCol="0">
            <a:spAutoFit/>
          </a:bodyPr>
          <a:lstStyle/>
          <a:p>
            <a:pPr marL="12700" algn="ctr">
              <a:lnSpc>
                <a:spcPct val="100000"/>
              </a:lnSpc>
              <a:spcBef>
                <a:spcPts val="100"/>
              </a:spcBef>
            </a:pPr>
            <a:r>
              <a:rPr lang="en-US" sz="2400" dirty="0"/>
              <a:t>Outside-In Thinking</a:t>
            </a:r>
            <a:endParaRPr sz="2400" dirty="0"/>
          </a:p>
        </p:txBody>
      </p:sp>
      <p:sp>
        <p:nvSpPr>
          <p:cNvPr id="4" name="object 4">
            <a:extLst>
              <a:ext uri="{FF2B5EF4-FFF2-40B4-BE49-F238E27FC236}">
                <a16:creationId xmlns:a16="http://schemas.microsoft.com/office/drawing/2014/main" id="{5CD64AD5-82CC-333C-F19D-99C2D56BA903}"/>
              </a:ext>
            </a:extLst>
          </p:cNvPr>
          <p:cNvSpPr txBox="1"/>
          <p:nvPr/>
        </p:nvSpPr>
        <p:spPr>
          <a:xfrm>
            <a:off x="6343648" y="8730488"/>
            <a:ext cx="83820" cy="151323"/>
          </a:xfrm>
          <a:prstGeom prst="rect">
            <a:avLst/>
          </a:prstGeom>
        </p:spPr>
        <p:txBody>
          <a:bodyPr vert="horz" wrap="square" lIns="0" tIns="12700" rIns="0" bIns="0" rtlCol="0">
            <a:spAutoFit/>
          </a:bodyPr>
          <a:lstStyle/>
          <a:p>
            <a:pPr marL="12700">
              <a:lnSpc>
                <a:spcPct val="100000"/>
              </a:lnSpc>
              <a:spcBef>
                <a:spcPts val="100"/>
              </a:spcBef>
            </a:pPr>
            <a:r>
              <a:rPr lang="en-US" sz="900" dirty="0">
                <a:solidFill>
                  <a:srgbClr val="898989"/>
                </a:solidFill>
                <a:latin typeface="Calibri"/>
                <a:cs typeface="Calibri"/>
              </a:rPr>
              <a:t>3</a:t>
            </a:r>
            <a:endParaRPr sz="900" dirty="0">
              <a:latin typeface="Calibri"/>
              <a:cs typeface="Calibri"/>
            </a:endParaRPr>
          </a:p>
        </p:txBody>
      </p:sp>
      <p:sp>
        <p:nvSpPr>
          <p:cNvPr id="5" name="object 5">
            <a:extLst>
              <a:ext uri="{FF2B5EF4-FFF2-40B4-BE49-F238E27FC236}">
                <a16:creationId xmlns:a16="http://schemas.microsoft.com/office/drawing/2014/main" id="{F344483B-25E9-5D64-3D8F-D69ACF4CB8F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6">
            <a:extLst>
              <a:ext uri="{FF2B5EF4-FFF2-40B4-BE49-F238E27FC236}">
                <a16:creationId xmlns:a16="http://schemas.microsoft.com/office/drawing/2014/main" id="{A431383D-8BB0-E549-DA7A-AAF5C7A116F8}"/>
              </a:ext>
            </a:extLst>
          </p:cNvPr>
          <p:cNvSpPr txBox="1"/>
          <p:nvPr/>
        </p:nvSpPr>
        <p:spPr>
          <a:xfrm>
            <a:off x="329443" y="711255"/>
            <a:ext cx="6195151" cy="7584127"/>
          </a:xfrm>
          <a:prstGeom prst="rect">
            <a:avLst/>
          </a:prstGeom>
        </p:spPr>
        <p:txBody>
          <a:bodyPr vert="horz" wrap="square" lIns="0" tIns="12700" rIns="0" bIns="0" rtlCol="0">
            <a:spAutoFit/>
          </a:bodyPr>
          <a:lstStyle/>
          <a:p>
            <a:pPr marL="0" marR="0"/>
            <a:r>
              <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rPr>
              <a:t>If your approach isn't tailored to meet customers where they are, you're missing out on opportunity and growth.  </a:t>
            </a:r>
            <a:r>
              <a:rPr lang="en-US" sz="1600" kern="100" dirty="0">
                <a:latin typeface="Franklin Gothic Book" panose="020B0503020102020204" pitchFamily="34" charset="0"/>
                <a:ea typeface="Aptos" panose="020B0004020202020204" pitchFamily="34" charset="0"/>
                <a:cs typeface="Times New Roman" panose="02020603050405020304" pitchFamily="18" charset="0"/>
              </a:rPr>
              <a:t>All too often we are don’t invite outside in thinking to test or challenge conventional thought.  Or worse yet the status quo.  </a:t>
            </a:r>
          </a:p>
          <a:p>
            <a:pPr marL="0" marR="0"/>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b="1"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b="1"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endPar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1. From Product-Focused to Customer-Led</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What’s the common pitfall? Businesses often fall into the trap of highlighting themselves—their features, their accolades—instead of truly connecting with clients. Why is this detrimental? “First and foremost, invest in building an emotional relationship with your customers, not just a functional one,” emphasizes Robert </a:t>
            </a:r>
            <a:r>
              <a:rPr lang="en-US" sz="1400" kern="100" dirty="0" err="1">
                <a:effectLst/>
                <a:latin typeface="Franklin Gothic Book" panose="020B0503020102020204" pitchFamily="34" charset="0"/>
                <a:ea typeface="Aptos" panose="020B0004020202020204" pitchFamily="34" charset="0"/>
                <a:cs typeface="Times New Roman" panose="02020603050405020304" pitchFamily="18" charset="0"/>
              </a:rPr>
              <a:t>Chatwani</a:t>
            </a: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Chief Marketing Officer at Atlassian. Why focus on emotion? Cultivating brand and product love leads to enhanced retention, robust growth, and sustainable revenue.</a:t>
            </a: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2. Identifying Customer Needs in Real-Time</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Markets move at lightning speed, yet consumer behaviors evolve even quicker. How can businesses keep up with ever-shifting customer expectations? Active listening and data analysis are crucial. Have you considered harnessing emerging technologies like AI-powered analytics? These tools uncover insights and anticipate challenges before they arise, pushing the boundaries of innovation. By staying ahead, you unlock the potential for creativity and success.</a:t>
            </a:r>
          </a:p>
          <a:p>
            <a:pPr>
              <a:lnSpc>
                <a:spcPct val="100000"/>
              </a:lnSpc>
              <a:spcBef>
                <a:spcPts val="35"/>
              </a:spcBef>
            </a:pPr>
            <a:endParaRPr sz="1200" dirty="0">
              <a:latin typeface="Franklin Gothic Book"/>
              <a:cs typeface="Franklin Gothic Book"/>
            </a:endParaRPr>
          </a:p>
        </p:txBody>
      </p:sp>
      <p:sp>
        <p:nvSpPr>
          <p:cNvPr id="3" name="object 8">
            <a:extLst>
              <a:ext uri="{FF2B5EF4-FFF2-40B4-BE49-F238E27FC236}">
                <a16:creationId xmlns:a16="http://schemas.microsoft.com/office/drawing/2014/main" id="{4C52D593-EEAF-FFB1-CAE9-58FC20602031}"/>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a:solidFill>
                  <a:schemeClr val="tx1">
                    <a:lumMod val="75000"/>
                    <a:lumOff val="25000"/>
                  </a:schemeClr>
                </a:solidFill>
                <a:latin typeface="Franklin Gothic Book"/>
                <a:cs typeface="Franklin Gothic Book"/>
              </a:rPr>
              <a:t>What Good Looks Like:  Revenue Strategy I 2024</a:t>
            </a:r>
            <a:endParaRPr sz="900">
              <a:solidFill>
                <a:schemeClr val="tx1">
                  <a:lumMod val="75000"/>
                  <a:lumOff val="25000"/>
                </a:schemeClr>
              </a:solidFill>
              <a:latin typeface="Franklin Gothic Book"/>
              <a:cs typeface="Franklin Gothic Book"/>
            </a:endParaRPr>
          </a:p>
        </p:txBody>
      </p:sp>
      <p:sp>
        <p:nvSpPr>
          <p:cNvPr id="7" name="TextBox 6">
            <a:extLst>
              <a:ext uri="{FF2B5EF4-FFF2-40B4-BE49-F238E27FC236}">
                <a16:creationId xmlns:a16="http://schemas.microsoft.com/office/drawing/2014/main" id="{1A7B84A5-57F9-939A-71EF-2B95AF033D35}"/>
              </a:ext>
            </a:extLst>
          </p:cNvPr>
          <p:cNvSpPr txBox="1"/>
          <p:nvPr/>
        </p:nvSpPr>
        <p:spPr>
          <a:xfrm>
            <a:off x="230135" y="1808019"/>
            <a:ext cx="3687550" cy="2893100"/>
          </a:xfrm>
          <a:prstGeom prst="rect">
            <a:avLst/>
          </a:prstGeom>
          <a:noFill/>
        </p:spPr>
        <p:txBody>
          <a:bodyPr wrap="square" rtlCol="0">
            <a:spAutoFit/>
          </a:bodyPr>
          <a:lstStyle/>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Breaking Down Key Industry Challenges </a:t>
            </a: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(And How Outside-In Thinking Solves Them)</a:t>
            </a:r>
          </a:p>
          <a:p>
            <a:pPr marL="0" marR="0"/>
            <a:endParaRPr lang="en-US" sz="8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Let's tackle the roadblocks businesses encounter when integrating customer-led strategies. How does outside-in thinking pave the way forward? We can navigate these challenges through innovation and creativity. By questioning traditional methods and embracing dynamic solutions, we create momentum. Isn't it time for a transformative approach?</a:t>
            </a:r>
          </a:p>
          <a:p>
            <a:endParaRPr lang="en-US" sz="1400" dirty="0"/>
          </a:p>
        </p:txBody>
      </p:sp>
      <p:pic>
        <p:nvPicPr>
          <p:cNvPr id="11" name="Picture 10" descr="A person in a hat sitting in a box&#10;&#10;AI-generated content may be incorrect.">
            <a:extLst>
              <a:ext uri="{FF2B5EF4-FFF2-40B4-BE49-F238E27FC236}">
                <a16:creationId xmlns:a16="http://schemas.microsoft.com/office/drawing/2014/main" id="{1CE7813A-AD1D-41C8-FA1C-DD00AAB2D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9140" y="1560900"/>
            <a:ext cx="2924775" cy="2924775"/>
          </a:xfrm>
          <a:prstGeom prst="rect">
            <a:avLst/>
          </a:prstGeom>
        </p:spPr>
      </p:pic>
    </p:spTree>
    <p:extLst>
      <p:ext uri="{BB962C8B-B14F-4D97-AF65-F5344CB8AC3E}">
        <p14:creationId xmlns:p14="http://schemas.microsoft.com/office/powerpoint/2010/main" val="1734470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F7CADA8A-66B4-2C47-3B0E-ECE35532F125}"/>
              </a:ext>
            </a:extLst>
          </p:cNvPr>
          <p:cNvSpPr/>
          <p:nvPr/>
        </p:nvSpPr>
        <p:spPr>
          <a:xfrm>
            <a:off x="252684" y="714893"/>
            <a:ext cx="6464951" cy="2305019"/>
          </a:xfrm>
          <a:prstGeom prst="rect">
            <a:avLst/>
          </a:prstGeom>
          <a:blipFill>
            <a:blip r:embed="rId2" cstate="print"/>
            <a:stretch>
              <a:fillRect/>
            </a:stretch>
          </a:blipFill>
        </p:spPr>
        <p:txBody>
          <a:bodyPr wrap="square" lIns="0" tIns="0" rIns="0" bIns="0" rtlCol="0"/>
          <a:lstStyle/>
          <a:p>
            <a:r>
              <a:rPr lang="en-US" sz="1600" u="sng" dirty="0">
                <a:latin typeface="Franklin Gothic Book" panose="020B0503020102020204" pitchFamily="34" charset="0"/>
              </a:rPr>
              <a:t>  Meta Trends that are impacting organizations and their commercial teams</a:t>
            </a:r>
            <a:endParaRPr sz="1600" u="sng" dirty="0">
              <a:latin typeface="Franklin Gothic Book" panose="020B0503020102020204" pitchFamily="34" charset="0"/>
            </a:endParaRPr>
          </a:p>
        </p:txBody>
      </p:sp>
      <p:sp>
        <p:nvSpPr>
          <p:cNvPr id="3" name="object 3"/>
          <p:cNvSpPr txBox="1"/>
          <p:nvPr/>
        </p:nvSpPr>
        <p:spPr>
          <a:xfrm>
            <a:off x="6343648" y="8730488"/>
            <a:ext cx="83820" cy="151323"/>
          </a:xfrm>
          <a:prstGeom prst="rect">
            <a:avLst/>
          </a:prstGeom>
        </p:spPr>
        <p:txBody>
          <a:bodyPr vert="horz" wrap="square" lIns="0" tIns="12700" rIns="0" bIns="0" rtlCol="0">
            <a:spAutoFit/>
          </a:bodyPr>
          <a:lstStyle/>
          <a:p>
            <a:pPr marL="12700">
              <a:lnSpc>
                <a:spcPct val="100000"/>
              </a:lnSpc>
              <a:spcBef>
                <a:spcPts val="100"/>
              </a:spcBef>
            </a:pPr>
            <a:r>
              <a:rPr lang="en-US" sz="900" dirty="0">
                <a:solidFill>
                  <a:srgbClr val="898989"/>
                </a:solidFill>
                <a:latin typeface="Calibri"/>
                <a:cs typeface="Calibri"/>
              </a:rPr>
              <a:t>4</a:t>
            </a:r>
            <a:endParaRPr sz="900" dirty="0">
              <a:latin typeface="Calibri"/>
              <a:cs typeface="Calibri"/>
            </a:endParaRPr>
          </a:p>
        </p:txBody>
      </p:sp>
      <p:sp>
        <p:nvSpPr>
          <p:cNvPr id="2" name="object 8">
            <a:extLst>
              <a:ext uri="{FF2B5EF4-FFF2-40B4-BE49-F238E27FC236}">
                <a16:creationId xmlns:a16="http://schemas.microsoft.com/office/drawing/2014/main" id="{517CF32E-2CDA-3098-1D26-CA4E88E3BE25}"/>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2025</a:t>
            </a:r>
            <a:endParaRPr sz="900" dirty="0">
              <a:solidFill>
                <a:schemeClr val="tx1">
                  <a:lumMod val="75000"/>
                  <a:lumOff val="25000"/>
                </a:schemeClr>
              </a:solidFill>
              <a:latin typeface="Franklin Gothic Book"/>
              <a:cs typeface="Franklin Gothic Book"/>
            </a:endParaRPr>
          </a:p>
        </p:txBody>
      </p:sp>
      <p:sp>
        <p:nvSpPr>
          <p:cNvPr id="10" name="object 5">
            <a:extLst>
              <a:ext uri="{FF2B5EF4-FFF2-40B4-BE49-F238E27FC236}">
                <a16:creationId xmlns:a16="http://schemas.microsoft.com/office/drawing/2014/main" id="{93489651-1156-5B3F-C041-53B02DE0062D}"/>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6" name="object 2">
            <a:extLst>
              <a:ext uri="{FF2B5EF4-FFF2-40B4-BE49-F238E27FC236}">
                <a16:creationId xmlns:a16="http://schemas.microsoft.com/office/drawing/2014/main" id="{EA684409-C582-18B1-C237-572F01930FA2}"/>
              </a:ext>
            </a:extLst>
          </p:cNvPr>
          <p:cNvSpPr txBox="1">
            <a:spLocks/>
          </p:cNvSpPr>
          <p:nvPr/>
        </p:nvSpPr>
        <p:spPr>
          <a:xfrm>
            <a:off x="114300" y="169423"/>
            <a:ext cx="68580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Outside-In Thinking</a:t>
            </a:r>
          </a:p>
        </p:txBody>
      </p:sp>
      <p:sp>
        <p:nvSpPr>
          <p:cNvPr id="17" name="object 6">
            <a:extLst>
              <a:ext uri="{FF2B5EF4-FFF2-40B4-BE49-F238E27FC236}">
                <a16:creationId xmlns:a16="http://schemas.microsoft.com/office/drawing/2014/main" id="{A1261154-5C59-EA0D-E73F-D8610A91C373}"/>
              </a:ext>
            </a:extLst>
          </p:cNvPr>
          <p:cNvSpPr/>
          <p:nvPr/>
        </p:nvSpPr>
        <p:spPr>
          <a:xfrm>
            <a:off x="642799" y="3190407"/>
            <a:ext cx="5486400" cy="0"/>
          </a:xfrm>
          <a:custGeom>
            <a:avLst/>
            <a:gdLst/>
            <a:ahLst/>
            <a:cxnLst/>
            <a:rect l="l" t="t" r="r" b="b"/>
            <a:pathLst>
              <a:path w="5486400">
                <a:moveTo>
                  <a:pt x="0" y="0"/>
                </a:moveTo>
                <a:lnTo>
                  <a:pt x="5486400" y="1"/>
                </a:lnTo>
              </a:path>
            </a:pathLst>
          </a:custGeom>
          <a:ln w="28575">
            <a:solidFill>
              <a:srgbClr val="000000"/>
            </a:solidFill>
          </a:ln>
        </p:spPr>
        <p:txBody>
          <a:bodyPr wrap="square" lIns="0" tIns="0" rIns="0" bIns="0" rtlCol="0"/>
          <a:lstStyle/>
          <a:p>
            <a:endParaRPr/>
          </a:p>
        </p:txBody>
      </p:sp>
      <p:sp>
        <p:nvSpPr>
          <p:cNvPr id="5" name="TextBox 4">
            <a:extLst>
              <a:ext uri="{FF2B5EF4-FFF2-40B4-BE49-F238E27FC236}">
                <a16:creationId xmlns:a16="http://schemas.microsoft.com/office/drawing/2014/main" id="{5EE1B42A-EA5D-6B6D-FCB9-39909BFF928B}"/>
              </a:ext>
            </a:extLst>
          </p:cNvPr>
          <p:cNvSpPr txBox="1"/>
          <p:nvPr/>
        </p:nvSpPr>
        <p:spPr>
          <a:xfrm>
            <a:off x="310824" y="3319853"/>
            <a:ext cx="6348670" cy="5878532"/>
          </a:xfrm>
          <a:prstGeom prst="rect">
            <a:avLst/>
          </a:prstGeom>
          <a:noFill/>
        </p:spPr>
        <p:txBody>
          <a:bodyPr wrap="square" rtlCol="0">
            <a:spAutoFit/>
          </a:bodyPr>
          <a:lstStyle/>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3. Innovate Fearlessly in a Competitive Landscape</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Forward-thinking companies don't just respond—they disrupt. Why settle for the norm when you can innovate? Amazon's relentless focus on customer satisfaction propelled it to market leadership with groundbreaking conveniences like one-click ordering and Amazon Prime. By embedding customer feedback into its strategic core, 90% of product decisions are derived from it. According to the Harvard Business Review, Amazon has etched its name as an e-commerce icon. </a:t>
            </a: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4. Pivoting During Market Disruptions</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Market shifts, like those witnessed during COVID-19, can either cripple a company or launch it into a new growth phase. How did some businesses thrive? By swiftly adapting to evolving customer needs. Consider Dropbox: its steadfast focus on user experience and seamless service positioned it as the quintessential solution in file sharing. Dropbox achieved organic growth by prioritizing customer feedback loops and became a household name through word-of-mouth referrals. The power of innovation and customer-centricity truly propels a business forward.</a:t>
            </a:r>
          </a:p>
          <a:p>
            <a:pPr marL="0" marR="0"/>
            <a:endParaRPr lang="en-US" sz="1400" kern="100" dirty="0">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5. Overcoming Resistance to Change</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Can even the most agile strategies succeed if a corporate culture remains stagnant? The answer lies in adopting outside-in thinking, which demands a mindset shift towards valuing flexibility and innovation. How does one foster a culture that embraces change? It starts at the top, with leaders who model and incentivize customer-first behaviors. By doing so, organizations can ignite a transformative journey that propels them ahead in today’s dynamic landscape. </a:t>
            </a:r>
          </a:p>
          <a:p>
            <a:pPr marL="0" marR="0"/>
            <a:endParaRPr lang="en-US" sz="12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200" b="1"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2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endParaRPr lang="en-US" sz="1400" dirty="0">
              <a:latin typeface="Franklin Gothic Book" panose="020B0503020102020204" pitchFamily="34" charset="0"/>
            </a:endParaRPr>
          </a:p>
        </p:txBody>
      </p:sp>
      <p:pic>
        <p:nvPicPr>
          <p:cNvPr id="7" name="Picture 6">
            <a:extLst>
              <a:ext uri="{FF2B5EF4-FFF2-40B4-BE49-F238E27FC236}">
                <a16:creationId xmlns:a16="http://schemas.microsoft.com/office/drawing/2014/main" id="{10D98AE8-F70C-8E85-F411-AAF8254C6CAC}"/>
              </a:ext>
            </a:extLst>
          </p:cNvPr>
          <p:cNvPicPr>
            <a:picLocks noChangeAspect="1"/>
          </p:cNvPicPr>
          <p:nvPr/>
        </p:nvPicPr>
        <p:blipFill>
          <a:blip r:embed="rId3"/>
          <a:stretch>
            <a:fillRect/>
          </a:stretch>
        </p:blipFill>
        <p:spPr>
          <a:xfrm flipV="1">
            <a:off x="704646" y="1238882"/>
            <a:ext cx="587895" cy="518893"/>
          </a:xfrm>
          <a:prstGeom prst="rect">
            <a:avLst/>
          </a:prstGeom>
        </p:spPr>
      </p:pic>
      <p:pic>
        <p:nvPicPr>
          <p:cNvPr id="8" name="Picture 7">
            <a:extLst>
              <a:ext uri="{FF2B5EF4-FFF2-40B4-BE49-F238E27FC236}">
                <a16:creationId xmlns:a16="http://schemas.microsoft.com/office/drawing/2014/main" id="{AD52D282-9BA5-D078-5127-7492A8BDBFB4}"/>
              </a:ext>
            </a:extLst>
          </p:cNvPr>
          <p:cNvPicPr>
            <a:picLocks noChangeAspect="1"/>
          </p:cNvPicPr>
          <p:nvPr/>
        </p:nvPicPr>
        <p:blipFill>
          <a:blip r:embed="rId4"/>
          <a:stretch>
            <a:fillRect/>
          </a:stretch>
        </p:blipFill>
        <p:spPr>
          <a:xfrm>
            <a:off x="2073909" y="1254727"/>
            <a:ext cx="310896" cy="454386"/>
          </a:xfrm>
          <a:prstGeom prst="rect">
            <a:avLst/>
          </a:prstGeom>
        </p:spPr>
      </p:pic>
      <p:pic>
        <p:nvPicPr>
          <p:cNvPr id="9" name="Picture 8">
            <a:extLst>
              <a:ext uri="{FF2B5EF4-FFF2-40B4-BE49-F238E27FC236}">
                <a16:creationId xmlns:a16="http://schemas.microsoft.com/office/drawing/2014/main" id="{CFE90E45-86BA-DFC8-16C9-B45637F33E8F}"/>
              </a:ext>
            </a:extLst>
          </p:cNvPr>
          <p:cNvPicPr>
            <a:picLocks noChangeAspect="1"/>
          </p:cNvPicPr>
          <p:nvPr/>
        </p:nvPicPr>
        <p:blipFill>
          <a:blip r:embed="rId5"/>
          <a:stretch>
            <a:fillRect/>
          </a:stretch>
        </p:blipFill>
        <p:spPr>
          <a:xfrm>
            <a:off x="3184208" y="1190220"/>
            <a:ext cx="403583" cy="518893"/>
          </a:xfrm>
          <a:prstGeom prst="rect">
            <a:avLst/>
          </a:prstGeom>
        </p:spPr>
      </p:pic>
      <p:pic>
        <p:nvPicPr>
          <p:cNvPr id="11" name="Picture 10">
            <a:extLst>
              <a:ext uri="{FF2B5EF4-FFF2-40B4-BE49-F238E27FC236}">
                <a16:creationId xmlns:a16="http://schemas.microsoft.com/office/drawing/2014/main" id="{1C342E9B-1590-C3B1-4D39-7D43DAA4CEA1}"/>
              </a:ext>
            </a:extLst>
          </p:cNvPr>
          <p:cNvPicPr>
            <a:picLocks noChangeAspect="1"/>
          </p:cNvPicPr>
          <p:nvPr/>
        </p:nvPicPr>
        <p:blipFill>
          <a:blip r:embed="rId6"/>
          <a:stretch>
            <a:fillRect/>
          </a:stretch>
        </p:blipFill>
        <p:spPr>
          <a:xfrm>
            <a:off x="4272316" y="1235055"/>
            <a:ext cx="627278" cy="448056"/>
          </a:xfrm>
          <a:prstGeom prst="rect">
            <a:avLst/>
          </a:prstGeom>
        </p:spPr>
      </p:pic>
      <p:pic>
        <p:nvPicPr>
          <p:cNvPr id="12" name="Picture 11">
            <a:extLst>
              <a:ext uri="{FF2B5EF4-FFF2-40B4-BE49-F238E27FC236}">
                <a16:creationId xmlns:a16="http://schemas.microsoft.com/office/drawing/2014/main" id="{99651E03-622A-EF67-01A4-04767519F4DC}"/>
              </a:ext>
            </a:extLst>
          </p:cNvPr>
          <p:cNvPicPr>
            <a:picLocks noChangeAspect="1"/>
          </p:cNvPicPr>
          <p:nvPr/>
        </p:nvPicPr>
        <p:blipFill>
          <a:blip r:embed="rId7"/>
          <a:stretch>
            <a:fillRect/>
          </a:stretch>
        </p:blipFill>
        <p:spPr>
          <a:xfrm>
            <a:off x="5584119" y="1273613"/>
            <a:ext cx="486362" cy="409498"/>
          </a:xfrm>
          <a:prstGeom prst="rect">
            <a:avLst/>
          </a:prstGeom>
        </p:spPr>
      </p:pic>
      <p:sp>
        <p:nvSpPr>
          <p:cNvPr id="13" name="TextBox 12">
            <a:extLst>
              <a:ext uri="{FF2B5EF4-FFF2-40B4-BE49-F238E27FC236}">
                <a16:creationId xmlns:a16="http://schemas.microsoft.com/office/drawing/2014/main" id="{74E675B4-2429-B350-35B1-1792ADB8CD55}"/>
              </a:ext>
            </a:extLst>
          </p:cNvPr>
          <p:cNvSpPr txBox="1"/>
          <p:nvPr/>
        </p:nvSpPr>
        <p:spPr>
          <a:xfrm>
            <a:off x="480169" y="2111354"/>
            <a:ext cx="1036850" cy="461665"/>
          </a:xfrm>
          <a:prstGeom prst="rect">
            <a:avLst/>
          </a:prstGeom>
          <a:noFill/>
        </p:spPr>
        <p:txBody>
          <a:bodyPr wrap="square" rtlCol="0">
            <a:spAutoFit/>
          </a:bodyPr>
          <a:lstStyle/>
          <a:p>
            <a:pPr algn="ctr"/>
            <a:r>
              <a:rPr lang="en-US" sz="1200" dirty="0">
                <a:latin typeface="Franklin Gothic Book" panose="020B0503020102020204" pitchFamily="34" charset="0"/>
              </a:rPr>
              <a:t>Strategic vs. Random</a:t>
            </a:r>
          </a:p>
        </p:txBody>
      </p:sp>
      <p:sp>
        <p:nvSpPr>
          <p:cNvPr id="14" name="TextBox 13">
            <a:extLst>
              <a:ext uri="{FF2B5EF4-FFF2-40B4-BE49-F238E27FC236}">
                <a16:creationId xmlns:a16="http://schemas.microsoft.com/office/drawing/2014/main" id="{EC4DC29E-2907-E95A-9421-96DF17B411C4}"/>
              </a:ext>
            </a:extLst>
          </p:cNvPr>
          <p:cNvSpPr txBox="1"/>
          <p:nvPr/>
        </p:nvSpPr>
        <p:spPr>
          <a:xfrm>
            <a:off x="1710933" y="2014362"/>
            <a:ext cx="1036850" cy="646331"/>
          </a:xfrm>
          <a:prstGeom prst="rect">
            <a:avLst/>
          </a:prstGeom>
          <a:noFill/>
        </p:spPr>
        <p:txBody>
          <a:bodyPr wrap="square" rtlCol="0">
            <a:spAutoFit/>
          </a:bodyPr>
          <a:lstStyle/>
          <a:p>
            <a:pPr algn="ctr"/>
            <a:r>
              <a:rPr lang="en-US" sz="1200" dirty="0">
                <a:latin typeface="Franklin Gothic Book" panose="020B0503020102020204" pitchFamily="34" charset="0"/>
              </a:rPr>
              <a:t>Critical thinking over tactical</a:t>
            </a:r>
          </a:p>
        </p:txBody>
      </p:sp>
      <p:sp>
        <p:nvSpPr>
          <p:cNvPr id="15" name="TextBox 14">
            <a:extLst>
              <a:ext uri="{FF2B5EF4-FFF2-40B4-BE49-F238E27FC236}">
                <a16:creationId xmlns:a16="http://schemas.microsoft.com/office/drawing/2014/main" id="{2DA3B8F7-85C9-429A-82A1-F4DB40E8EA34}"/>
              </a:ext>
            </a:extLst>
          </p:cNvPr>
          <p:cNvSpPr txBox="1"/>
          <p:nvPr/>
        </p:nvSpPr>
        <p:spPr>
          <a:xfrm>
            <a:off x="2908595" y="2009054"/>
            <a:ext cx="1036850" cy="646331"/>
          </a:xfrm>
          <a:prstGeom prst="rect">
            <a:avLst/>
          </a:prstGeom>
          <a:noFill/>
        </p:spPr>
        <p:txBody>
          <a:bodyPr wrap="square" rtlCol="0">
            <a:spAutoFit/>
          </a:bodyPr>
          <a:lstStyle/>
          <a:p>
            <a:pPr algn="ctr"/>
            <a:r>
              <a:rPr lang="en-US" sz="1200" dirty="0">
                <a:latin typeface="Franklin Gothic Book" panose="020B0503020102020204" pitchFamily="34" charset="0"/>
              </a:rPr>
              <a:t>Mindshare THEN Market share</a:t>
            </a:r>
          </a:p>
        </p:txBody>
      </p:sp>
      <p:sp>
        <p:nvSpPr>
          <p:cNvPr id="19" name="TextBox 18">
            <a:extLst>
              <a:ext uri="{FF2B5EF4-FFF2-40B4-BE49-F238E27FC236}">
                <a16:creationId xmlns:a16="http://schemas.microsoft.com/office/drawing/2014/main" id="{26303039-E061-9C31-4F6C-5E09FDEB1831}"/>
              </a:ext>
            </a:extLst>
          </p:cNvPr>
          <p:cNvSpPr txBox="1"/>
          <p:nvPr/>
        </p:nvSpPr>
        <p:spPr>
          <a:xfrm>
            <a:off x="3977159" y="1834354"/>
            <a:ext cx="1169908" cy="1015663"/>
          </a:xfrm>
          <a:prstGeom prst="rect">
            <a:avLst/>
          </a:prstGeom>
          <a:noFill/>
        </p:spPr>
        <p:txBody>
          <a:bodyPr wrap="square" rtlCol="0">
            <a:spAutoFit/>
          </a:bodyPr>
          <a:lstStyle/>
          <a:p>
            <a:pPr algn="ctr"/>
            <a:r>
              <a:rPr lang="en-US" sz="1200" dirty="0">
                <a:latin typeface="Franklin Gothic Book" panose="020B0503020102020204" pitchFamily="34" charset="0"/>
              </a:rPr>
              <a:t>Defined Messaging throughout the Customer Journey</a:t>
            </a:r>
          </a:p>
        </p:txBody>
      </p:sp>
      <p:sp>
        <p:nvSpPr>
          <p:cNvPr id="20" name="TextBox 19">
            <a:extLst>
              <a:ext uri="{FF2B5EF4-FFF2-40B4-BE49-F238E27FC236}">
                <a16:creationId xmlns:a16="http://schemas.microsoft.com/office/drawing/2014/main" id="{ECE0C8CA-1F14-A7EF-E56E-7B6D75BEB9AE}"/>
              </a:ext>
            </a:extLst>
          </p:cNvPr>
          <p:cNvSpPr txBox="1"/>
          <p:nvPr/>
        </p:nvSpPr>
        <p:spPr>
          <a:xfrm>
            <a:off x="5174822" y="2009053"/>
            <a:ext cx="1252646" cy="646331"/>
          </a:xfrm>
          <a:prstGeom prst="rect">
            <a:avLst/>
          </a:prstGeom>
          <a:noFill/>
        </p:spPr>
        <p:txBody>
          <a:bodyPr wrap="square" rtlCol="0">
            <a:spAutoFit/>
          </a:bodyPr>
          <a:lstStyle/>
          <a:p>
            <a:pPr algn="ctr"/>
            <a:r>
              <a:rPr lang="en-US" sz="1200" dirty="0">
                <a:latin typeface="Franklin Gothic Book" panose="020B0503020102020204" pitchFamily="34" charset="0"/>
              </a:rPr>
              <a:t>Personalization to Customization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5">
            <a:extLst>
              <a:ext uri="{FF2B5EF4-FFF2-40B4-BE49-F238E27FC236}">
                <a16:creationId xmlns:a16="http://schemas.microsoft.com/office/drawing/2014/main" id="{5BA2FB0B-C559-9E5D-2FF3-B9EFF5BE7C74}"/>
              </a:ext>
            </a:extLst>
          </p:cNvPr>
          <p:cNvSpPr/>
          <p:nvPr/>
        </p:nvSpPr>
        <p:spPr>
          <a:xfrm>
            <a:off x="219709" y="732561"/>
            <a:ext cx="6414620" cy="5285853"/>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252684" y="734451"/>
            <a:ext cx="6165850" cy="8030403"/>
          </a:xfrm>
          <a:prstGeom prst="rect">
            <a:avLst/>
          </a:prstGeom>
        </p:spPr>
        <p:txBody>
          <a:bodyPr vert="horz" wrap="square" lIns="0" tIns="12700" rIns="0" bIns="0" rtlCol="0">
            <a:spAutoFit/>
          </a:bodyPr>
          <a:lstStyle/>
          <a:p>
            <a:pPr marL="457200" marR="0" algn="ctr"/>
            <a:r>
              <a:rPr lang="en-US" sz="1600" i="1" kern="100" dirty="0">
                <a:effectLst/>
                <a:latin typeface="Franklin Gothic Book" panose="020B0503020102020204" pitchFamily="34" charset="0"/>
                <a:ea typeface="Aptos" panose="020B0004020202020204" pitchFamily="34" charset="0"/>
                <a:cs typeface="Arial" panose="020B0604020202020204" pitchFamily="34" charset="0"/>
              </a:rPr>
              <a:t> </a:t>
            </a:r>
            <a:r>
              <a:rPr lang="en-US" sz="1600" u="sng" dirty="0">
                <a:effectLst/>
                <a:latin typeface="Franklin Gothic Book" panose="020B0503020102020204" pitchFamily="34" charset="0"/>
                <a:ea typeface="Aptos" panose="020B0004020202020204" pitchFamily="34" charset="0"/>
                <a:cs typeface="Arial" panose="020B0604020202020204" pitchFamily="34" charset="0"/>
              </a:rPr>
              <a:t>Technology is </a:t>
            </a:r>
            <a:r>
              <a:rPr lang="en-US" sz="1600" u="sng">
                <a:effectLst/>
                <a:latin typeface="Franklin Gothic Book" panose="020B0503020102020204" pitchFamily="34" charset="0"/>
                <a:ea typeface="Aptos" panose="020B0004020202020204" pitchFamily="34" charset="0"/>
                <a:cs typeface="Arial" panose="020B0604020202020204" pitchFamily="34" charset="0"/>
              </a:rPr>
              <a:t>an </a:t>
            </a:r>
            <a:r>
              <a:rPr lang="en-US" sz="1600" u="sng" dirty="0">
                <a:latin typeface="Franklin Gothic Book" panose="020B0503020102020204" pitchFamily="34" charset="0"/>
                <a:ea typeface="Aptos" panose="020B0004020202020204" pitchFamily="34" charset="0"/>
                <a:cs typeface="Arial" panose="020B0604020202020204" pitchFamily="34" charset="0"/>
              </a:rPr>
              <a:t>E</a:t>
            </a:r>
            <a:r>
              <a:rPr lang="en-US" sz="1600" u="sng">
                <a:effectLst/>
                <a:latin typeface="Franklin Gothic Book" panose="020B0503020102020204" pitchFamily="34" charset="0"/>
                <a:ea typeface="Aptos" panose="020B0004020202020204" pitchFamily="34" charset="0"/>
                <a:cs typeface="Arial" panose="020B0604020202020204" pitchFamily="34" charset="0"/>
              </a:rPr>
              <a:t>nabler, </a:t>
            </a:r>
            <a:r>
              <a:rPr lang="en-US" sz="1600" u="sng" dirty="0">
                <a:latin typeface="Franklin Gothic Book" panose="020B0503020102020204" pitchFamily="34" charset="0"/>
                <a:ea typeface="Aptos" panose="020B0004020202020204" pitchFamily="34" charset="0"/>
                <a:cs typeface="Arial" panose="020B0604020202020204" pitchFamily="34" charset="0"/>
              </a:rPr>
              <a:t>N</a:t>
            </a:r>
            <a:r>
              <a:rPr lang="en-US" sz="1600" u="sng">
                <a:effectLst/>
                <a:latin typeface="Franklin Gothic Book" panose="020B0503020102020204" pitchFamily="34" charset="0"/>
                <a:ea typeface="Aptos" panose="020B0004020202020204" pitchFamily="34" charset="0"/>
                <a:cs typeface="Arial" panose="020B0604020202020204" pitchFamily="34" charset="0"/>
              </a:rPr>
              <a:t>ot </a:t>
            </a:r>
            <a:r>
              <a:rPr lang="en-US" sz="1600" u="sng" dirty="0">
                <a:effectLst/>
                <a:latin typeface="Franklin Gothic Book" panose="020B0503020102020204" pitchFamily="34" charset="0"/>
                <a:ea typeface="Aptos" panose="020B0004020202020204" pitchFamily="34" charset="0"/>
                <a:cs typeface="Arial" panose="020B0604020202020204" pitchFamily="34" charset="0"/>
              </a:rPr>
              <a:t>the </a:t>
            </a:r>
            <a:r>
              <a:rPr lang="en-US" sz="1600" u="sng" dirty="0">
                <a:latin typeface="Franklin Gothic Book" panose="020B0503020102020204" pitchFamily="34" charset="0"/>
                <a:ea typeface="Aptos" panose="020B0004020202020204" pitchFamily="34" charset="0"/>
                <a:cs typeface="Arial" panose="020B0604020202020204" pitchFamily="34" charset="0"/>
              </a:rPr>
              <a:t>F</a:t>
            </a:r>
            <a:r>
              <a:rPr lang="en-US" sz="1600" u="sng" dirty="0">
                <a:effectLst/>
                <a:latin typeface="Franklin Gothic Book" panose="020B0503020102020204" pitchFamily="34" charset="0"/>
                <a:ea typeface="Aptos" panose="020B0004020202020204" pitchFamily="34" charset="0"/>
                <a:cs typeface="Arial" panose="020B0604020202020204" pitchFamily="34" charset="0"/>
              </a:rPr>
              <a:t>oundation </a:t>
            </a:r>
          </a:p>
          <a:p>
            <a:pPr marL="457200" marR="0" algn="ctr"/>
            <a:endParaRPr lang="en-US" sz="900" u="sng" dirty="0">
              <a:effectLst/>
              <a:latin typeface="Franklin Gothic Book" panose="020B0503020102020204" pitchFamily="34" charset="0"/>
              <a:ea typeface="Aptos" panose="020B0004020202020204" pitchFamily="34" charset="0"/>
              <a:cs typeface="Arial" panose="020B0604020202020204" pitchFamily="34" charset="0"/>
            </a:endParaRPr>
          </a:p>
          <a:p>
            <a:pPr marL="290513" marR="0" indent="-290513"/>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Adopting outside-in thinking is a transformative journey that takes time, but leveraging the right tools and technologies can fast-track your way to success. Have you considered how today’s advanced solutions—AI-driven CRM platforms, customer experience mapping software, and data visualization tools—empower businesses to gather and act on customer insights seamlessly? </a:t>
            </a:r>
          </a:p>
          <a:p>
            <a:pPr marL="290513" marR="0" indent="-290513"/>
            <a:endParaRPr lang="en-US" sz="8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290513" marR="0" indent="-290513"/>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Technology is a powerful enabler, yet it’s just one part of the equation. The real magic lies in strategy. Are you collecting data merely to possess it, or are you harnessing it to drive meaningful, long-term actions that enrich your customer experience and bottom line? Embrace innovation and creativity to propel your business forward.</a:t>
            </a:r>
          </a:p>
          <a:p>
            <a:pPr marL="0" marR="0"/>
            <a:r>
              <a:rPr lang="en-US"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algn="thaiDist"/>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R="0" lvl="0" algn="thaiDist">
              <a:buSzPts val="1000"/>
              <a:tabLst>
                <a:tab pos="457200" algn="l"/>
              </a:tabLst>
            </a:pPr>
            <a:endParaRPr lang="en-US" sz="1600" dirty="0">
              <a:solidFill>
                <a:srgbClr val="404040"/>
              </a:solidFill>
              <a:latin typeface="Wingdings"/>
              <a:cs typeface="Wingdings"/>
            </a:endParaRPr>
          </a:p>
          <a:p>
            <a:pPr marL="0" marR="0"/>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What Can Outside-In Thinking Do for Your Business?</a:t>
            </a:r>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The transformative power of outside-in thinking transcends mere incremental improvements. Why settle for less when you can lead? Here's how to revolutionize your business:</a:t>
            </a:r>
          </a:p>
          <a:p>
            <a:pPr marL="0" marR="0"/>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indent="-285750">
              <a:buSzPts val="1000"/>
              <a:buFont typeface="Wingdings" pitchFamily="2" charset="2"/>
              <a:buChar char="F"/>
              <a:tabLst>
                <a:tab pos="457200" algn="l"/>
              </a:tabLst>
            </a:pPr>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Forge Unbreakable Customer Loyalty:</a:t>
            </a: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Imagine creating a bond of trust that nurtures repeat business and turns customers into brand advocates. Anticipate their needs and watch loyalty blossom.</a:t>
            </a:r>
          </a:p>
          <a:p>
            <a:pPr marL="285750" indent="-285750">
              <a:buSzPts val="1000"/>
              <a:buFont typeface="Wingdings" pitchFamily="2" charset="2"/>
              <a:buChar char="F"/>
              <a:tabLst>
                <a:tab pos="457200" algn="l"/>
              </a:tabLst>
            </a:pPr>
            <a:endParaRPr lang="en-US" sz="8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290513" indent="-290513">
              <a:buSzPts val="1000"/>
              <a:tabLst>
                <a:tab pos="457200" algn="l"/>
              </a:tabLst>
            </a:pPr>
            <a:r>
              <a:rPr lang="en-US" sz="1800" dirty="0">
                <a:solidFill>
                  <a:srgbClr val="404040"/>
                </a:solidFill>
                <a:latin typeface="Wingdings"/>
                <a:cs typeface="Wingdings"/>
              </a:rPr>
              <a:t></a:t>
            </a:r>
            <a:r>
              <a:rPr lang="en-US" i="1" kern="100" dirty="0">
                <a:solidFill>
                  <a:srgbClr val="404040"/>
                </a:solidFill>
                <a:latin typeface="Franklin Gothic Book" panose="020B0503020102020204" pitchFamily="34" charset="0"/>
                <a:cs typeface="Arial" panose="020B0604020202020204" pitchFamily="34" charset="0"/>
              </a:rPr>
              <a:t> </a:t>
            </a:r>
            <a:r>
              <a:rPr lang="en-US" sz="1400" b="1" kern="100" dirty="0">
                <a:effectLst/>
                <a:latin typeface="Franklin Gothic Book" panose="020B0503020102020204" pitchFamily="34" charset="0"/>
                <a:ea typeface="Aptos" panose="020B0004020202020204" pitchFamily="34" charset="0"/>
                <a:cs typeface="Times New Roman" panose="02020603050405020304" pitchFamily="18" charset="0"/>
              </a:rPr>
              <a:t>Drive Revenue Growth:</a:t>
            </a: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Embrace a customer-first mindset to unlock higher retention rates, expand your market share, and increase every customer's lifetime value.</a:t>
            </a:r>
          </a:p>
        </p:txBody>
      </p:sp>
      <p:sp>
        <p:nvSpPr>
          <p:cNvPr id="2" name="object 8">
            <a:extLst>
              <a:ext uri="{FF2B5EF4-FFF2-40B4-BE49-F238E27FC236}">
                <a16:creationId xmlns:a16="http://schemas.microsoft.com/office/drawing/2014/main" id="{B32D8DAF-3A6E-50D8-7EF7-EA84F5321199}"/>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50000"/>
                    <a:lumOff val="50000"/>
                  </a:schemeClr>
                </a:solidFill>
                <a:latin typeface="Franklin Gothic Book"/>
                <a:cs typeface="Franklin Gothic Book"/>
              </a:rPr>
              <a:t>What Good Looks Like:  Revenue Strategy I 2025</a:t>
            </a:r>
            <a:endParaRPr sz="900" dirty="0">
              <a:solidFill>
                <a:schemeClr val="tx1">
                  <a:lumMod val="50000"/>
                  <a:lumOff val="50000"/>
                </a:schemeClr>
              </a:solidFill>
              <a:latin typeface="Franklin Gothic Book"/>
              <a:cs typeface="Franklin Gothic Book"/>
            </a:endParaRPr>
          </a:p>
        </p:txBody>
      </p:sp>
      <p:sp>
        <p:nvSpPr>
          <p:cNvPr id="9" name="object 5">
            <a:extLst>
              <a:ext uri="{FF2B5EF4-FFF2-40B4-BE49-F238E27FC236}">
                <a16:creationId xmlns:a16="http://schemas.microsoft.com/office/drawing/2014/main" id="{5A11BC2A-F51C-D3D7-8AB3-74088C0D7F2C}"/>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5" name="object 2">
            <a:extLst>
              <a:ext uri="{FF2B5EF4-FFF2-40B4-BE49-F238E27FC236}">
                <a16:creationId xmlns:a16="http://schemas.microsoft.com/office/drawing/2014/main" id="{2D407133-561A-6A9F-FBA4-6C4A886577CF}"/>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Outside-In Thinking</a:t>
            </a:r>
          </a:p>
        </p:txBody>
      </p:sp>
      <p:pic>
        <p:nvPicPr>
          <p:cNvPr id="4" name="Picture 3">
            <a:extLst>
              <a:ext uri="{FF2B5EF4-FFF2-40B4-BE49-F238E27FC236}">
                <a16:creationId xmlns:a16="http://schemas.microsoft.com/office/drawing/2014/main" id="{7B903D1C-E290-897D-53D0-5FCF20F22DF3}"/>
              </a:ext>
            </a:extLst>
          </p:cNvPr>
          <p:cNvPicPr>
            <a:picLocks noChangeAspect="1"/>
          </p:cNvPicPr>
          <p:nvPr/>
        </p:nvPicPr>
        <p:blipFill>
          <a:blip r:embed="rId3"/>
          <a:stretch>
            <a:fillRect/>
          </a:stretch>
        </p:blipFill>
        <p:spPr>
          <a:xfrm>
            <a:off x="1472738" y="3765103"/>
            <a:ext cx="4064924" cy="1912905"/>
          </a:xfrm>
          <a:prstGeom prst="rect">
            <a:avLst/>
          </a:prstGeom>
        </p:spPr>
      </p:pic>
      <p:pic>
        <p:nvPicPr>
          <p:cNvPr id="10" name="Picture 9">
            <a:extLst>
              <a:ext uri="{FF2B5EF4-FFF2-40B4-BE49-F238E27FC236}">
                <a16:creationId xmlns:a16="http://schemas.microsoft.com/office/drawing/2014/main" id="{A9F3B38D-CE76-8B08-6981-60D59A53D9A0}"/>
              </a:ext>
            </a:extLst>
          </p:cNvPr>
          <p:cNvPicPr>
            <a:picLocks noChangeAspect="1"/>
          </p:cNvPicPr>
          <p:nvPr/>
        </p:nvPicPr>
        <p:blipFill>
          <a:blip r:embed="rId4"/>
          <a:stretch>
            <a:fillRect/>
          </a:stretch>
        </p:blipFill>
        <p:spPr>
          <a:xfrm>
            <a:off x="3327400" y="4451350"/>
            <a:ext cx="203200" cy="241300"/>
          </a:xfrm>
          <a:prstGeom prst="rect">
            <a:avLst/>
          </a:prstGeom>
        </p:spPr>
      </p:pic>
      <p:sp>
        <p:nvSpPr>
          <p:cNvPr id="11" name="object 3">
            <a:extLst>
              <a:ext uri="{FF2B5EF4-FFF2-40B4-BE49-F238E27FC236}">
                <a16:creationId xmlns:a16="http://schemas.microsoft.com/office/drawing/2014/main" id="{7EA4E3C0-07C7-51C5-DFB9-3657CFD6A521}"/>
              </a:ext>
            </a:extLst>
          </p:cNvPr>
          <p:cNvSpPr txBox="1"/>
          <p:nvPr/>
        </p:nvSpPr>
        <p:spPr>
          <a:xfrm>
            <a:off x="6343648" y="8730488"/>
            <a:ext cx="83820" cy="151323"/>
          </a:xfrm>
          <a:prstGeom prst="rect">
            <a:avLst/>
          </a:prstGeom>
        </p:spPr>
        <p:txBody>
          <a:bodyPr vert="horz" wrap="square" lIns="0" tIns="12700" rIns="0" bIns="0" rtlCol="0">
            <a:spAutoFit/>
          </a:bodyPr>
          <a:lstStyle/>
          <a:p>
            <a:pPr marL="12700">
              <a:lnSpc>
                <a:spcPct val="100000"/>
              </a:lnSpc>
              <a:spcBef>
                <a:spcPts val="100"/>
              </a:spcBef>
            </a:pPr>
            <a:r>
              <a:rPr lang="en-US" sz="900" dirty="0">
                <a:solidFill>
                  <a:srgbClr val="898989"/>
                </a:solidFill>
                <a:latin typeface="Calibri"/>
                <a:cs typeface="Calibri"/>
              </a:rPr>
              <a:t>5</a:t>
            </a:r>
            <a:endParaRPr sz="9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343648" y="8730488"/>
            <a:ext cx="83820" cy="151323"/>
          </a:xfrm>
          <a:prstGeom prst="rect">
            <a:avLst/>
          </a:prstGeom>
        </p:spPr>
        <p:txBody>
          <a:bodyPr vert="horz" wrap="square" lIns="0" tIns="12700" rIns="0" bIns="0" rtlCol="0">
            <a:spAutoFit/>
          </a:bodyPr>
          <a:lstStyle/>
          <a:p>
            <a:pPr marL="12700">
              <a:lnSpc>
                <a:spcPct val="100000"/>
              </a:lnSpc>
              <a:spcBef>
                <a:spcPts val="100"/>
              </a:spcBef>
            </a:pPr>
            <a:r>
              <a:rPr lang="en-US" sz="900" dirty="0">
                <a:solidFill>
                  <a:srgbClr val="898989"/>
                </a:solidFill>
                <a:latin typeface="Calibri"/>
                <a:cs typeface="Calibri"/>
              </a:rPr>
              <a:t>6</a:t>
            </a:r>
            <a:endParaRPr sz="900" dirty="0">
              <a:latin typeface="Calibri"/>
              <a:cs typeface="Calibri"/>
            </a:endParaRPr>
          </a:p>
        </p:txBody>
      </p:sp>
      <p:sp>
        <p:nvSpPr>
          <p:cNvPr id="2" name="object 8">
            <a:extLst>
              <a:ext uri="{FF2B5EF4-FFF2-40B4-BE49-F238E27FC236}">
                <a16:creationId xmlns:a16="http://schemas.microsoft.com/office/drawing/2014/main" id="{5F25EE71-D4E8-6ABC-BF10-6797C1B59690}"/>
              </a:ext>
            </a:extLst>
          </p:cNvPr>
          <p:cNvSpPr txBox="1"/>
          <p:nvPr/>
        </p:nvSpPr>
        <p:spPr>
          <a:xfrm>
            <a:off x="2073910" y="8739693"/>
            <a:ext cx="2938780" cy="151323"/>
          </a:xfrm>
          <a:prstGeom prst="rect">
            <a:avLst/>
          </a:prstGeom>
        </p:spPr>
        <p:txBody>
          <a:bodyPr vert="horz" wrap="square" lIns="0" tIns="12700" rIns="0" bIns="0" rtlCol="0">
            <a:spAutoFit/>
          </a:bodyPr>
          <a:lstStyle/>
          <a:p>
            <a:pPr marL="12700" algn="ctr">
              <a:lnSpc>
                <a:spcPct val="100000"/>
              </a:lnSpc>
              <a:spcBef>
                <a:spcPts val="100"/>
              </a:spcBef>
            </a:pPr>
            <a:r>
              <a:rPr lang="en-US" sz="900" spc="-5" dirty="0">
                <a:solidFill>
                  <a:schemeClr val="tx1">
                    <a:lumMod val="75000"/>
                    <a:lumOff val="25000"/>
                  </a:schemeClr>
                </a:solidFill>
                <a:latin typeface="Franklin Gothic Book"/>
                <a:cs typeface="Franklin Gothic Book"/>
              </a:rPr>
              <a:t>What Good Looks Like:  Revenue Strategy I 2025</a:t>
            </a:r>
            <a:endParaRPr sz="900" dirty="0">
              <a:solidFill>
                <a:schemeClr val="tx1">
                  <a:lumMod val="75000"/>
                  <a:lumOff val="25000"/>
                </a:schemeClr>
              </a:solidFill>
              <a:latin typeface="Franklin Gothic Book"/>
              <a:cs typeface="Franklin Gothic Book"/>
            </a:endParaRPr>
          </a:p>
        </p:txBody>
      </p:sp>
      <p:sp>
        <p:nvSpPr>
          <p:cNvPr id="9" name="object 5">
            <a:extLst>
              <a:ext uri="{FF2B5EF4-FFF2-40B4-BE49-F238E27FC236}">
                <a16:creationId xmlns:a16="http://schemas.microsoft.com/office/drawing/2014/main" id="{3EDB2991-344C-296F-E726-BF2C9F622D7A}"/>
              </a:ext>
            </a:extLst>
          </p:cNvPr>
          <p:cNvSpPr/>
          <p:nvPr/>
        </p:nvSpPr>
        <p:spPr>
          <a:xfrm flipV="1">
            <a:off x="252684" y="551579"/>
            <a:ext cx="6348670" cy="64241"/>
          </a:xfrm>
          <a:custGeom>
            <a:avLst/>
            <a:gdLst/>
            <a:ahLst/>
            <a:cxnLst/>
            <a:rect l="l" t="t" r="r" b="b"/>
            <a:pathLst>
              <a:path w="2620010">
                <a:moveTo>
                  <a:pt x="0" y="0"/>
                </a:moveTo>
                <a:lnTo>
                  <a:pt x="2619608" y="1"/>
                </a:lnTo>
              </a:path>
            </a:pathLst>
          </a:custGeom>
          <a:ln w="28575">
            <a:solidFill>
              <a:srgbClr val="B52372"/>
            </a:solidFill>
          </a:ln>
        </p:spPr>
        <p:txBody>
          <a:bodyPr wrap="square" lIns="0" tIns="0" rIns="0" bIns="0" rtlCol="0"/>
          <a:lstStyle/>
          <a:p>
            <a:endParaRPr/>
          </a:p>
        </p:txBody>
      </p:sp>
      <p:sp>
        <p:nvSpPr>
          <p:cNvPr id="4" name="object 2">
            <a:extLst>
              <a:ext uri="{FF2B5EF4-FFF2-40B4-BE49-F238E27FC236}">
                <a16:creationId xmlns:a16="http://schemas.microsoft.com/office/drawing/2014/main" id="{DAA322CF-FD32-173B-B743-4BF04C7FF640}"/>
              </a:ext>
            </a:extLst>
          </p:cNvPr>
          <p:cNvSpPr txBox="1">
            <a:spLocks/>
          </p:cNvSpPr>
          <p:nvPr/>
        </p:nvSpPr>
        <p:spPr>
          <a:xfrm>
            <a:off x="152400" y="231775"/>
            <a:ext cx="6705600" cy="382156"/>
          </a:xfrm>
          <a:prstGeom prst="rect">
            <a:avLst/>
          </a:prstGeom>
        </p:spPr>
        <p:txBody>
          <a:bodyPr vert="horz" wrap="square" lIns="0" tIns="12700" rIns="0" bIns="0" rtlCol="0">
            <a:spAutoFit/>
          </a:bodyPr>
          <a:lstStyle>
            <a:lvl1pPr>
              <a:defRPr sz="2000" b="0" i="0">
                <a:solidFill>
                  <a:schemeClr val="tx1"/>
                </a:solidFill>
                <a:latin typeface="Franklin Gothic Book"/>
                <a:ea typeface="+mj-ea"/>
                <a:cs typeface="Franklin Gothic Book"/>
              </a:defRPr>
            </a:lvl1pPr>
          </a:lstStyle>
          <a:p>
            <a:pPr marL="12700" algn="ctr">
              <a:spcBef>
                <a:spcPts val="100"/>
              </a:spcBef>
            </a:pPr>
            <a:r>
              <a:rPr lang="en-US" sz="2400" kern="0" dirty="0"/>
              <a:t>Outside-In Thinking</a:t>
            </a:r>
          </a:p>
        </p:txBody>
      </p:sp>
      <p:sp>
        <p:nvSpPr>
          <p:cNvPr id="10" name="TextBox 9">
            <a:extLst>
              <a:ext uri="{FF2B5EF4-FFF2-40B4-BE49-F238E27FC236}">
                <a16:creationId xmlns:a16="http://schemas.microsoft.com/office/drawing/2014/main" id="{88A7D0CC-F0DA-C813-3C45-07A9B72BFE4D}"/>
              </a:ext>
            </a:extLst>
          </p:cNvPr>
          <p:cNvSpPr txBox="1"/>
          <p:nvPr/>
        </p:nvSpPr>
        <p:spPr>
          <a:xfrm>
            <a:off x="252684" y="692914"/>
            <a:ext cx="6174784" cy="7386638"/>
          </a:xfrm>
          <a:prstGeom prst="rect">
            <a:avLst/>
          </a:prstGeom>
          <a:noFill/>
        </p:spPr>
        <p:txBody>
          <a:bodyPr wrap="square" rtlCol="0">
            <a:spAutoFit/>
          </a:bodyPr>
          <a:lstStyle/>
          <a:p>
            <a:pPr>
              <a:buSzPts val="1000"/>
              <a:tabLst>
                <a:tab pos="457200" algn="l"/>
              </a:tabLst>
            </a:pPr>
            <a:r>
              <a:rPr lang="en-US" sz="2000" dirty="0">
                <a:solidFill>
                  <a:srgbClr val="404040"/>
                </a:solidFill>
                <a:latin typeface="Wingdings"/>
                <a:cs typeface="Wingdings"/>
              </a:rPr>
              <a:t></a:t>
            </a:r>
            <a:r>
              <a:rPr lang="en-US" sz="1600" i="1" kern="100" dirty="0">
                <a:solidFill>
                  <a:srgbClr val="404040"/>
                </a:solidFill>
                <a:latin typeface="Franklin Gothic Book" panose="020B0503020102020204" pitchFamily="34" charset="0"/>
                <a:cs typeface="Arial" panose="020B0604020202020204" pitchFamily="34" charset="0"/>
              </a:rPr>
              <a:t> </a:t>
            </a:r>
            <a:r>
              <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rPr>
              <a:t>Stay ahead with an Innovative Edge: </a:t>
            </a:r>
            <a:r>
              <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rPr>
              <a:t>Outside-in thinking propels you beyond the competition. You maintain a perpetual state of readiness by evolving with—and even outpacing—market trends.</a:t>
            </a:r>
          </a:p>
          <a:p>
            <a:pPr marL="0" marR="0"/>
            <a:r>
              <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rPr>
              <a:t> </a:t>
            </a:r>
            <a:endParaRPr lang="en-US" sz="1600" kern="100" dirty="0">
              <a:effectLst/>
              <a:latin typeface="Franklin Gothic Book" panose="020B0503020102020204" pitchFamily="34" charset="0"/>
              <a:ea typeface="Aptos" panose="020B0004020202020204" pitchFamily="34" charset="0"/>
              <a:cs typeface="Arial" panose="020B0604020202020204" pitchFamily="34" charset="0"/>
            </a:endParaRPr>
          </a:p>
          <a:p>
            <a:pPr marL="0" marR="0"/>
            <a:r>
              <a:rPr lang="en-US" sz="1600" b="1" kern="100" dirty="0">
                <a:effectLst/>
                <a:latin typeface="Franklin Gothic Book" panose="020B0503020102020204" pitchFamily="34" charset="0"/>
                <a:ea typeface="Aptos" panose="020B0004020202020204" pitchFamily="34" charset="0"/>
                <a:cs typeface="Times New Roman" panose="02020603050405020304" pitchFamily="18" charset="0"/>
              </a:rPr>
              <a:t>The wait and see group of today, become the laggards of tomorrow. </a:t>
            </a:r>
            <a:endPar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600" kern="100" dirty="0">
                <a:effectLst/>
                <a:latin typeface="Franklin Gothic Book" panose="020B0503020102020204" pitchFamily="34" charset="0"/>
                <a:ea typeface="Aptos" panose="020B0004020202020204" pitchFamily="34" charset="0"/>
                <a:cs typeface="Times New Roman" panose="02020603050405020304" pitchFamily="18" charset="0"/>
              </a:rPr>
              <a:t>Today's most successful businesses don't merely react to the market—they shape it. Stepping into this role demands transforming your approach to revenue growth, starting from your customer's perspective</a:t>
            </a:r>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a:t>
            </a:r>
          </a:p>
          <a:p>
            <a:pPr marL="0" marR="0"/>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endParaRPr lang="en-US" kern="100" dirty="0">
              <a:latin typeface="Aptos" panose="020B0004020202020204" pitchFamily="34" charset="0"/>
              <a:ea typeface="Aptos" panose="020B0004020202020204" pitchFamily="34" charset="0"/>
              <a:cs typeface="Times New Roman" panose="02020603050405020304" pitchFamily="18" charset="0"/>
            </a:endParaRPr>
          </a:p>
          <a:p>
            <a:pPr marL="0" marR="0"/>
            <a:endPar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endParaRP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Are you ready to lead the charge? We're here to guide you. Request a consultation to discover how to revolutionize your revenue optimization strategy with innovative, outside-in thinking. It's time to reimagine your approach, energize your team, and amplify your results.</a:t>
            </a: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 </a:t>
            </a:r>
          </a:p>
          <a:p>
            <a:pPr marL="0" marR="0"/>
            <a:r>
              <a:rPr lang="en-US" sz="1400" kern="100" dirty="0">
                <a:effectLst/>
                <a:latin typeface="Franklin Gothic Book" panose="020B0503020102020204" pitchFamily="34" charset="0"/>
                <a:ea typeface="Aptos" panose="020B0004020202020204" pitchFamily="34" charset="0"/>
                <a:cs typeface="Times New Roman" panose="02020603050405020304" pitchFamily="18" charset="0"/>
              </a:rPr>
              <a:t>When you center your decisions around your customers, you're not just following change but driving it.</a:t>
            </a:r>
            <a:endParaRPr lang="en-US" sz="1600" i="1" kern="100" dirty="0">
              <a:latin typeface="Franklin Gothic Book" panose="020B0503020102020204" pitchFamily="34" charset="0"/>
              <a:ea typeface="Aptos" panose="020B0004020202020204" pitchFamily="34" charset="0"/>
              <a:cs typeface="Arial" panose="020B0604020202020204" pitchFamily="34" charset="0"/>
            </a:endParaRPr>
          </a:p>
        </p:txBody>
      </p:sp>
      <p:pic>
        <p:nvPicPr>
          <p:cNvPr id="16" name="Picture 15" descr="A hand touching a wooden chess piece&#10;&#10;Description automatically generated">
            <a:extLst>
              <a:ext uri="{FF2B5EF4-FFF2-40B4-BE49-F238E27FC236}">
                <a16:creationId xmlns:a16="http://schemas.microsoft.com/office/drawing/2014/main" id="{D48A0CB3-5ED5-8F21-CBC8-03F4381102A0}"/>
              </a:ext>
            </a:extLst>
          </p:cNvPr>
          <p:cNvPicPr>
            <a:picLocks noChangeAspect="1"/>
          </p:cNvPicPr>
          <p:nvPr/>
        </p:nvPicPr>
        <p:blipFill>
          <a:blip r:embed="rId3"/>
          <a:srcRect b="13712"/>
          <a:stretch/>
        </p:blipFill>
        <p:spPr>
          <a:xfrm>
            <a:off x="0" y="3309027"/>
            <a:ext cx="6858000" cy="23919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
            <a:ext cx="6858000" cy="9144000"/>
          </a:xfrm>
          <a:custGeom>
            <a:avLst/>
            <a:gdLst/>
            <a:ahLst/>
            <a:cxnLst/>
            <a:rect l="l" t="t" r="r" b="b"/>
            <a:pathLst>
              <a:path w="6858000" h="9144000">
                <a:moveTo>
                  <a:pt x="0" y="0"/>
                </a:moveTo>
                <a:lnTo>
                  <a:pt x="6858000" y="0"/>
                </a:lnTo>
                <a:lnTo>
                  <a:pt x="6858000" y="9143998"/>
                </a:lnTo>
                <a:lnTo>
                  <a:pt x="0" y="9143998"/>
                </a:lnTo>
                <a:lnTo>
                  <a:pt x="0" y="0"/>
                </a:lnTo>
                <a:close/>
              </a:path>
            </a:pathLst>
          </a:custGeom>
          <a:solidFill>
            <a:srgbClr val="262626"/>
          </a:solidFill>
        </p:spPr>
        <p:txBody>
          <a:bodyPr wrap="square" lIns="0" tIns="0" rIns="0" bIns="0" rtlCol="0"/>
          <a:lstStyle/>
          <a:p>
            <a:endParaRPr/>
          </a:p>
        </p:txBody>
      </p:sp>
      <p:sp>
        <p:nvSpPr>
          <p:cNvPr id="3" name="object 3"/>
          <p:cNvSpPr/>
          <p:nvPr/>
        </p:nvSpPr>
        <p:spPr>
          <a:xfrm>
            <a:off x="0" y="1"/>
            <a:ext cx="6858000" cy="9144000"/>
          </a:xfrm>
          <a:custGeom>
            <a:avLst/>
            <a:gdLst/>
            <a:ahLst/>
            <a:cxnLst/>
            <a:rect l="l" t="t" r="r" b="b"/>
            <a:pathLst>
              <a:path w="6858000" h="9144000">
                <a:moveTo>
                  <a:pt x="0" y="0"/>
                </a:moveTo>
                <a:lnTo>
                  <a:pt x="6858000" y="0"/>
                </a:lnTo>
                <a:lnTo>
                  <a:pt x="6858000" y="9143998"/>
                </a:lnTo>
              </a:path>
            </a:pathLst>
          </a:custGeom>
          <a:ln w="12700">
            <a:solidFill>
              <a:srgbClr val="3C3E8F"/>
            </a:solidFill>
          </a:ln>
        </p:spPr>
        <p:txBody>
          <a:bodyPr wrap="square" lIns="0" tIns="0" rIns="0" bIns="0" rtlCol="0"/>
          <a:lstStyle/>
          <a:p>
            <a:endParaRPr/>
          </a:p>
        </p:txBody>
      </p:sp>
      <p:sp>
        <p:nvSpPr>
          <p:cNvPr id="4" name="object 4"/>
          <p:cNvSpPr/>
          <p:nvPr/>
        </p:nvSpPr>
        <p:spPr>
          <a:xfrm>
            <a:off x="0" y="1"/>
            <a:ext cx="0" cy="9144000"/>
          </a:xfrm>
          <a:custGeom>
            <a:avLst/>
            <a:gdLst/>
            <a:ahLst/>
            <a:cxnLst/>
            <a:rect l="l" t="t" r="r" b="b"/>
            <a:pathLst>
              <a:path h="9144000">
                <a:moveTo>
                  <a:pt x="0" y="9143998"/>
                </a:moveTo>
                <a:lnTo>
                  <a:pt x="0" y="0"/>
                </a:lnTo>
              </a:path>
            </a:pathLst>
          </a:custGeom>
          <a:ln w="12700">
            <a:solidFill>
              <a:srgbClr val="3C3E8F"/>
            </a:solidFill>
          </a:ln>
        </p:spPr>
        <p:txBody>
          <a:bodyPr wrap="square" lIns="0" tIns="0" rIns="0" bIns="0" rtlCol="0"/>
          <a:lstStyle/>
          <a:p>
            <a:endParaRPr/>
          </a:p>
        </p:txBody>
      </p:sp>
      <p:sp>
        <p:nvSpPr>
          <p:cNvPr id="5" name="object 5"/>
          <p:cNvSpPr/>
          <p:nvPr/>
        </p:nvSpPr>
        <p:spPr>
          <a:xfrm>
            <a:off x="0" y="2472856"/>
            <a:ext cx="6857998" cy="4444777"/>
          </a:xfrm>
          <a:prstGeom prst="rect">
            <a:avLst/>
          </a:prstGeom>
          <a:blipFill>
            <a:blip r:embed="rId2" cstate="print"/>
            <a:stretch>
              <a:fillRect/>
            </a:stretch>
          </a:blipFill>
        </p:spPr>
        <p:txBody>
          <a:bodyPr wrap="square" lIns="0" tIns="0" rIns="0" bIns="0" rtlCol="0"/>
          <a:lstStyle/>
          <a:p>
            <a:endParaRPr/>
          </a:p>
        </p:txBody>
      </p:sp>
      <p:sp>
        <p:nvSpPr>
          <p:cNvPr id="6" name="object 6"/>
          <p:cNvSpPr txBox="1">
            <a:spLocks noGrp="1"/>
          </p:cNvSpPr>
          <p:nvPr>
            <p:ph type="title"/>
          </p:nvPr>
        </p:nvSpPr>
        <p:spPr>
          <a:xfrm>
            <a:off x="262884" y="429259"/>
            <a:ext cx="4666615" cy="1854200"/>
          </a:xfrm>
          <a:prstGeom prst="rect">
            <a:avLst/>
          </a:prstGeom>
        </p:spPr>
        <p:txBody>
          <a:bodyPr vert="horz" wrap="square" lIns="0" tIns="12700" rIns="0" bIns="0" rtlCol="0">
            <a:spAutoFit/>
          </a:bodyPr>
          <a:lstStyle/>
          <a:p>
            <a:pPr marL="12700" marR="5080">
              <a:lnSpc>
                <a:spcPct val="100000"/>
              </a:lnSpc>
              <a:spcBef>
                <a:spcPts val="100"/>
              </a:spcBef>
            </a:pPr>
            <a:r>
              <a:rPr sz="2400" spc="-85" dirty="0">
                <a:solidFill>
                  <a:srgbClr val="B52372"/>
                </a:solidFill>
              </a:rPr>
              <a:t>We </a:t>
            </a:r>
            <a:r>
              <a:rPr sz="2400" spc="-25" dirty="0">
                <a:solidFill>
                  <a:srgbClr val="B52372"/>
                </a:solidFill>
              </a:rPr>
              <a:t>take </a:t>
            </a:r>
            <a:r>
              <a:rPr sz="2400" spc="-10" dirty="0">
                <a:solidFill>
                  <a:srgbClr val="B52372"/>
                </a:solidFill>
              </a:rPr>
              <a:t>all the </a:t>
            </a:r>
            <a:r>
              <a:rPr sz="2400" spc="-30" dirty="0">
                <a:solidFill>
                  <a:srgbClr val="B52372"/>
                </a:solidFill>
              </a:rPr>
              <a:t>noise, </a:t>
            </a:r>
            <a:r>
              <a:rPr sz="2400" spc="-20" dirty="0">
                <a:solidFill>
                  <a:srgbClr val="B52372"/>
                </a:solidFill>
              </a:rPr>
              <a:t>disruption,  </a:t>
            </a:r>
            <a:r>
              <a:rPr sz="2400" spc="-15" dirty="0">
                <a:solidFill>
                  <a:srgbClr val="B52372"/>
                </a:solidFill>
              </a:rPr>
              <a:t>frustration </a:t>
            </a:r>
            <a:r>
              <a:rPr sz="2400" spc="-20" dirty="0">
                <a:solidFill>
                  <a:srgbClr val="B52372"/>
                </a:solidFill>
              </a:rPr>
              <a:t>and </a:t>
            </a:r>
            <a:r>
              <a:rPr sz="2400" spc="-50" dirty="0">
                <a:solidFill>
                  <a:srgbClr val="B52372"/>
                </a:solidFill>
              </a:rPr>
              <a:t>complexity </a:t>
            </a:r>
            <a:r>
              <a:rPr sz="2400" spc="-5" dirty="0">
                <a:solidFill>
                  <a:srgbClr val="B52372"/>
                </a:solidFill>
              </a:rPr>
              <a:t>of </a:t>
            </a:r>
            <a:r>
              <a:rPr sz="2400" spc="-10" dirty="0">
                <a:solidFill>
                  <a:srgbClr val="B52372"/>
                </a:solidFill>
              </a:rPr>
              <a:t>the</a:t>
            </a:r>
            <a:r>
              <a:rPr sz="2400" spc="-150" dirty="0">
                <a:solidFill>
                  <a:srgbClr val="B52372"/>
                </a:solidFill>
              </a:rPr>
              <a:t> </a:t>
            </a:r>
            <a:r>
              <a:rPr sz="2400" spc="-50" dirty="0">
                <a:solidFill>
                  <a:srgbClr val="B52372"/>
                </a:solidFill>
              </a:rPr>
              <a:t>new  </a:t>
            </a:r>
            <a:r>
              <a:rPr sz="2400" spc="-55" dirty="0">
                <a:solidFill>
                  <a:srgbClr val="B52372"/>
                </a:solidFill>
              </a:rPr>
              <a:t>economy </a:t>
            </a:r>
            <a:r>
              <a:rPr sz="2400" spc="-20" dirty="0">
                <a:solidFill>
                  <a:srgbClr val="B52372"/>
                </a:solidFill>
              </a:rPr>
              <a:t>and </a:t>
            </a:r>
            <a:r>
              <a:rPr sz="2400" spc="-30" dirty="0">
                <a:solidFill>
                  <a:srgbClr val="B52372"/>
                </a:solidFill>
              </a:rPr>
              <a:t>bring </a:t>
            </a:r>
            <a:r>
              <a:rPr sz="2400" spc="-55" dirty="0">
                <a:solidFill>
                  <a:srgbClr val="B52372"/>
                </a:solidFill>
              </a:rPr>
              <a:t>you </a:t>
            </a:r>
            <a:r>
              <a:rPr sz="2400" dirty="0">
                <a:solidFill>
                  <a:srgbClr val="B52372"/>
                </a:solidFill>
              </a:rPr>
              <a:t>a </a:t>
            </a:r>
            <a:r>
              <a:rPr sz="2400" spc="-55" dirty="0">
                <a:solidFill>
                  <a:srgbClr val="B52372"/>
                </a:solidFill>
              </a:rPr>
              <a:t>clear,  </a:t>
            </a:r>
            <a:r>
              <a:rPr sz="2400" spc="-40" dirty="0">
                <a:solidFill>
                  <a:srgbClr val="B52372"/>
                </a:solidFill>
              </a:rPr>
              <a:t>concise </a:t>
            </a:r>
            <a:r>
              <a:rPr sz="2400" spc="-20" dirty="0">
                <a:solidFill>
                  <a:srgbClr val="B52372"/>
                </a:solidFill>
              </a:rPr>
              <a:t>and </a:t>
            </a:r>
            <a:r>
              <a:rPr sz="2400" spc="-30" dirty="0">
                <a:solidFill>
                  <a:srgbClr val="B52372"/>
                </a:solidFill>
              </a:rPr>
              <a:t>simple </a:t>
            </a:r>
            <a:r>
              <a:rPr sz="2400" spc="-10" dirty="0">
                <a:solidFill>
                  <a:srgbClr val="B52372"/>
                </a:solidFill>
              </a:rPr>
              <a:t>path </a:t>
            </a:r>
            <a:r>
              <a:rPr sz="2400" spc="-25" dirty="0">
                <a:solidFill>
                  <a:srgbClr val="B52372"/>
                </a:solidFill>
              </a:rPr>
              <a:t>for </a:t>
            </a:r>
            <a:r>
              <a:rPr sz="2400" spc="-45" dirty="0">
                <a:solidFill>
                  <a:srgbClr val="B52372"/>
                </a:solidFill>
              </a:rPr>
              <a:t>your  </a:t>
            </a:r>
            <a:r>
              <a:rPr sz="2400" spc="-30" dirty="0">
                <a:solidFill>
                  <a:srgbClr val="B52372"/>
                </a:solidFill>
              </a:rPr>
              <a:t>team </a:t>
            </a:r>
            <a:r>
              <a:rPr sz="2400" spc="-25" dirty="0">
                <a:solidFill>
                  <a:srgbClr val="B52372"/>
                </a:solidFill>
              </a:rPr>
              <a:t>to </a:t>
            </a:r>
            <a:r>
              <a:rPr sz="2400" spc="-30" dirty="0">
                <a:solidFill>
                  <a:srgbClr val="B52372"/>
                </a:solidFill>
              </a:rPr>
              <a:t>get</a:t>
            </a:r>
            <a:r>
              <a:rPr sz="2400" spc="-204" dirty="0">
                <a:solidFill>
                  <a:srgbClr val="B52372"/>
                </a:solidFill>
              </a:rPr>
              <a:t> </a:t>
            </a:r>
            <a:r>
              <a:rPr sz="2400" spc="-25" dirty="0">
                <a:solidFill>
                  <a:srgbClr val="B52372"/>
                </a:solidFill>
              </a:rPr>
              <a:t>results.</a:t>
            </a:r>
            <a:endParaRPr sz="2400" dirty="0">
              <a:solidFill>
                <a:srgbClr val="B52372"/>
              </a:solidFill>
            </a:endParaRPr>
          </a:p>
        </p:txBody>
      </p:sp>
      <p:sp>
        <p:nvSpPr>
          <p:cNvPr id="7" name="object 7"/>
          <p:cNvSpPr txBox="1"/>
          <p:nvPr/>
        </p:nvSpPr>
        <p:spPr>
          <a:xfrm>
            <a:off x="5167678" y="5299964"/>
            <a:ext cx="1593850" cy="1129030"/>
          </a:xfrm>
          <a:prstGeom prst="rect">
            <a:avLst/>
          </a:prstGeom>
        </p:spPr>
        <p:txBody>
          <a:bodyPr vert="horz" wrap="square" lIns="0" tIns="9525" rIns="0" bIns="0" rtlCol="0">
            <a:spAutoFit/>
          </a:bodyPr>
          <a:lstStyle/>
          <a:p>
            <a:pPr marL="12700" marR="5080">
              <a:lnSpc>
                <a:spcPct val="100800"/>
              </a:lnSpc>
              <a:spcBef>
                <a:spcPts val="75"/>
              </a:spcBef>
              <a:tabLst>
                <a:tab pos="1350010" algn="l"/>
              </a:tabLst>
            </a:pPr>
            <a:r>
              <a:rPr sz="2400" i="1" spc="-30" dirty="0">
                <a:solidFill>
                  <a:srgbClr val="B52372"/>
                </a:solidFill>
                <a:latin typeface="Franklin Gothic Book Italic"/>
                <a:cs typeface="Franklin Gothic Book Italic"/>
              </a:rPr>
              <a:t>Bringing  Si</a:t>
            </a:r>
            <a:r>
              <a:rPr sz="2400" i="1" spc="-60" dirty="0">
                <a:solidFill>
                  <a:srgbClr val="B52372"/>
                </a:solidFill>
                <a:latin typeface="Franklin Gothic Book Italic"/>
                <a:cs typeface="Franklin Gothic Book Italic"/>
              </a:rPr>
              <a:t>m</a:t>
            </a:r>
            <a:r>
              <a:rPr sz="2400" i="1" spc="-30" dirty="0">
                <a:solidFill>
                  <a:srgbClr val="B52372"/>
                </a:solidFill>
                <a:latin typeface="Franklin Gothic Book Italic"/>
                <a:cs typeface="Franklin Gothic Book Italic"/>
              </a:rPr>
              <a:t>pl</a:t>
            </a:r>
            <a:r>
              <a:rPr sz="2400" i="1" spc="-35" dirty="0">
                <a:solidFill>
                  <a:srgbClr val="B52372"/>
                </a:solidFill>
                <a:latin typeface="Franklin Gothic Book Italic"/>
                <a:cs typeface="Franklin Gothic Book Italic"/>
              </a:rPr>
              <a:t>ici</a:t>
            </a:r>
            <a:r>
              <a:rPr sz="2400" i="1" spc="-30" dirty="0">
                <a:solidFill>
                  <a:srgbClr val="B52372"/>
                </a:solidFill>
                <a:latin typeface="Franklin Gothic Book Italic"/>
                <a:cs typeface="Franklin Gothic Book Italic"/>
              </a:rPr>
              <a:t>t</a:t>
            </a:r>
            <a:r>
              <a:rPr sz="2400" i="1" dirty="0">
                <a:solidFill>
                  <a:srgbClr val="B52372"/>
                </a:solidFill>
                <a:latin typeface="Franklin Gothic Book Italic"/>
                <a:cs typeface="Franklin Gothic Book Italic"/>
              </a:rPr>
              <a:t>y	</a:t>
            </a:r>
            <a:r>
              <a:rPr sz="2400" i="1" spc="-85" dirty="0">
                <a:solidFill>
                  <a:srgbClr val="B52372"/>
                </a:solidFill>
                <a:latin typeface="Franklin Gothic Book Italic"/>
                <a:cs typeface="Franklin Gothic Book Italic"/>
              </a:rPr>
              <a:t>to  </a:t>
            </a:r>
            <a:r>
              <a:rPr sz="2400" i="1" spc="-55" dirty="0">
                <a:solidFill>
                  <a:srgbClr val="B52372"/>
                </a:solidFill>
                <a:latin typeface="Franklin Gothic Book Italic"/>
                <a:cs typeface="Franklin Gothic Book Italic"/>
              </a:rPr>
              <a:t>Complexity</a:t>
            </a:r>
            <a:endParaRPr sz="2400" dirty="0">
              <a:solidFill>
                <a:srgbClr val="B52372"/>
              </a:solidFill>
              <a:latin typeface="Franklin Gothic Book Italic"/>
              <a:cs typeface="Franklin Gothic Book Italic"/>
            </a:endParaRPr>
          </a:p>
        </p:txBody>
      </p:sp>
      <p:sp>
        <p:nvSpPr>
          <p:cNvPr id="8" name="object 8"/>
          <p:cNvSpPr txBox="1"/>
          <p:nvPr/>
        </p:nvSpPr>
        <p:spPr>
          <a:xfrm>
            <a:off x="972810" y="7125716"/>
            <a:ext cx="5031740" cy="970280"/>
          </a:xfrm>
          <a:prstGeom prst="rect">
            <a:avLst/>
          </a:prstGeom>
        </p:spPr>
        <p:txBody>
          <a:bodyPr vert="horz" wrap="square" lIns="0" tIns="12700" rIns="0" bIns="0" rtlCol="0">
            <a:spAutoFit/>
          </a:bodyPr>
          <a:lstStyle/>
          <a:p>
            <a:pPr marL="102870" algn="ctr">
              <a:lnSpc>
                <a:spcPct val="100000"/>
              </a:lnSpc>
              <a:spcBef>
                <a:spcPts val="100"/>
              </a:spcBef>
            </a:pPr>
            <a:r>
              <a:rPr lang="en-US" sz="1800" u="sng" spc="-20" dirty="0">
                <a:solidFill>
                  <a:srgbClr val="FFFFFF"/>
                </a:solidFill>
                <a:uFill>
                  <a:solidFill>
                    <a:srgbClr val="FFFFFF"/>
                  </a:solidFill>
                </a:uFill>
                <a:latin typeface="Calibri"/>
                <a:cs typeface="Calibri"/>
              </a:rPr>
              <a:t>What Great Looks Like</a:t>
            </a:r>
            <a:endParaRPr sz="1800" dirty="0">
              <a:latin typeface="Calibri"/>
              <a:cs typeface="Calibri"/>
            </a:endParaRPr>
          </a:p>
          <a:p>
            <a:pPr>
              <a:lnSpc>
                <a:spcPct val="100000"/>
              </a:lnSpc>
              <a:spcBef>
                <a:spcPts val="5"/>
              </a:spcBef>
            </a:pPr>
            <a:endParaRPr sz="2550" dirty="0">
              <a:latin typeface="Calibri"/>
              <a:cs typeface="Calibri"/>
            </a:endParaRPr>
          </a:p>
          <a:p>
            <a:pPr marL="12700">
              <a:lnSpc>
                <a:spcPct val="100000"/>
              </a:lnSpc>
              <a:tabLst>
                <a:tab pos="3020695" algn="l"/>
              </a:tabLst>
            </a:pPr>
            <a:r>
              <a:rPr sz="1800" spc="-10" dirty="0">
                <a:solidFill>
                  <a:srgbClr val="FFFFFF"/>
                </a:solidFill>
                <a:latin typeface="Calibri"/>
                <a:cs typeface="Calibri"/>
              </a:rPr>
              <a:t>Contact </a:t>
            </a:r>
            <a:r>
              <a:rPr sz="1800" dirty="0">
                <a:solidFill>
                  <a:srgbClr val="FFFFFF"/>
                </a:solidFill>
                <a:latin typeface="Calibri"/>
                <a:cs typeface="Calibri"/>
              </a:rPr>
              <a:t>us </a:t>
            </a:r>
            <a:r>
              <a:rPr sz="1800" spc="-15" dirty="0">
                <a:solidFill>
                  <a:srgbClr val="FFFFFF"/>
                </a:solidFill>
                <a:latin typeface="Calibri"/>
                <a:cs typeface="Calibri"/>
              </a:rPr>
              <a:t>for </a:t>
            </a:r>
            <a:r>
              <a:rPr sz="1800" dirty="0">
                <a:solidFill>
                  <a:srgbClr val="FFFFFF"/>
                </a:solidFill>
                <a:latin typeface="Calibri"/>
                <a:cs typeface="Calibri"/>
              </a:rPr>
              <a:t>help</a:t>
            </a:r>
            <a:r>
              <a:rPr sz="1800" spc="60" dirty="0">
                <a:solidFill>
                  <a:srgbClr val="FFFFFF"/>
                </a:solidFill>
                <a:latin typeface="Calibri"/>
                <a:cs typeface="Calibri"/>
              </a:rPr>
              <a:t> </a:t>
            </a:r>
            <a:r>
              <a:rPr sz="1800" dirty="0">
                <a:solidFill>
                  <a:srgbClr val="FFFFFF"/>
                </a:solidFill>
                <a:latin typeface="Calibri"/>
                <a:cs typeface="Calibri"/>
              </a:rPr>
              <a:t>or</a:t>
            </a:r>
            <a:r>
              <a:rPr sz="1800" spc="5" dirty="0">
                <a:solidFill>
                  <a:srgbClr val="FFFFFF"/>
                </a:solidFill>
                <a:latin typeface="Calibri"/>
                <a:cs typeface="Calibri"/>
              </a:rPr>
              <a:t> </a:t>
            </a:r>
            <a:r>
              <a:rPr sz="1800" spc="-5" dirty="0">
                <a:solidFill>
                  <a:srgbClr val="FFFFFF"/>
                </a:solidFill>
                <a:latin typeface="Calibri"/>
                <a:cs typeface="Calibri"/>
              </a:rPr>
              <a:t>support:	</a:t>
            </a:r>
            <a:r>
              <a:rPr sz="1800" u="sng" spc="-15" dirty="0">
                <a:solidFill>
                  <a:srgbClr val="FFFFFF"/>
                </a:solidFill>
                <a:uFill>
                  <a:solidFill>
                    <a:srgbClr val="FFFFFF"/>
                  </a:solidFill>
                </a:uFill>
                <a:latin typeface="Calibri"/>
                <a:cs typeface="Calibri"/>
                <a:hlinkClick r:id="rId3"/>
              </a:rPr>
              <a:t>kate@kateburda.com</a:t>
            </a:r>
            <a:endParaRPr sz="18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5f895480-74b7-4295-beb1-000abdb7771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3DCF2C-866A-458C-8FAB-23D6E27E5401}">
  <ds:schemaRefs>
    <ds:schemaRef ds:uri="http://schemas.microsoft.com/sharepoint/v3/contenttype/forms"/>
  </ds:schemaRefs>
</ds:datastoreItem>
</file>

<file path=customXml/itemProps2.xml><?xml version="1.0" encoding="utf-8"?>
<ds:datastoreItem xmlns:ds="http://schemas.openxmlformats.org/officeDocument/2006/customXml" ds:itemID="{C191DDA7-2966-4E48-962B-F47B9F55551A}">
  <ds:schemaRefs>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f9f3b592-2a1e-4fc9-8218-81ad9cd05aa6"/>
    <ds:schemaRef ds:uri="5f895480-74b7-4295-beb1-000abdb77711"/>
    <ds:schemaRef ds:uri="http://purl.org/dc/terms/"/>
    <ds:schemaRef ds:uri="http://purl.org/dc/dcmitype/"/>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0A36494B-EEBC-48CE-8EBC-31E674DEB2D9}">
  <ds:schemaRefs>
    <ds:schemaRef ds:uri="5f895480-74b7-4295-beb1-000abdb77711"/>
    <ds:schemaRef ds:uri="f9f3b592-2a1e-4fc9-8218-81ad9cd05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1348</TotalTime>
  <Words>1385</Words>
  <Application>Microsoft Macintosh PowerPoint</Application>
  <PresentationFormat>On-screen Show (4:3)</PresentationFormat>
  <Paragraphs>118</Paragraphs>
  <Slides>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Aptos</vt:lpstr>
      <vt:lpstr>Calibri</vt:lpstr>
      <vt:lpstr>Franklin Gothic Book</vt:lpstr>
      <vt:lpstr>Franklin Gothic Book Italic</vt:lpstr>
      <vt:lpstr>Franklin Gothic Medium</vt:lpstr>
      <vt:lpstr>Graphik</vt:lpstr>
      <vt:lpstr>Symbol</vt:lpstr>
      <vt:lpstr>Wingdings</vt:lpstr>
      <vt:lpstr>Office Theme</vt:lpstr>
      <vt:lpstr>What Good Looks Like:   Revenue Strategy</vt:lpstr>
      <vt:lpstr>Outside-In Thinking</vt:lpstr>
      <vt:lpstr>Outside-In Thinking</vt:lpstr>
      <vt:lpstr>PowerPoint Presentation</vt:lpstr>
      <vt:lpstr>PowerPoint Presentation</vt:lpstr>
      <vt:lpstr>PowerPoint Presentation</vt:lpstr>
      <vt:lpstr>We take all the noise, disruption,  frustration and complexity of the new  economy and bring you a clear,  concise and simple path for your  team to get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Effective Budget  Planning for Top-Line  Revenue Growth in Times  of Disruption</dc:title>
  <cp:lastModifiedBy>Kate Burda</cp:lastModifiedBy>
  <cp:revision>3</cp:revision>
  <cp:lastPrinted>2025-02-16T01:09:47Z</cp:lastPrinted>
  <dcterms:created xsi:type="dcterms:W3CDTF">2020-10-14T13:18:19Z</dcterms:created>
  <dcterms:modified xsi:type="dcterms:W3CDTF">2025-02-16T18:00:23Z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LastSaved">
    <vt:filetime>2020-10-14T00:00:00Z</vt:filetime>
  </property>
  <property fmtid="{D5CDD505-2E9C-101B-9397-08002B2CF9AE}" pid="4" name="ContentTypeId">
    <vt:lpwstr>0x01010075409FC017C7BF40961EF880411E08B5</vt:lpwstr>
  </property>
  <property fmtid="{D5CDD505-2E9C-101B-9397-08002B2CF9AE}" pid="5" name="Order">
    <vt:r8>3345400</vt:r8>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ies>
</file>