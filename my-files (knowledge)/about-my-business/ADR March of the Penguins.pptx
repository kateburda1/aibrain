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mp4" ContentType="video/mp4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0.xml" ContentType="application/vnd.openxmlformats-officedocument.presentationml.slide+xml"/>
  <Override PartName="/ppt/slides/slide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5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86" r:id="rId2"/>
    <p:sldId id="485" r:id="rId3"/>
    <p:sldId id="492" r:id="rId4"/>
    <p:sldId id="287" r:id="rId5"/>
    <p:sldId id="288" r:id="rId6"/>
    <p:sldId id="289" r:id="rId7"/>
    <p:sldId id="290" r:id="rId8"/>
    <p:sldId id="291" r:id="rId9"/>
    <p:sldId id="292" r:id="rId10"/>
    <p:sldId id="489" r:id="rId11"/>
    <p:sldId id="490" r:id="rId12"/>
    <p:sldId id="491" r:id="rId13"/>
    <p:sldId id="296" r:id="rId14"/>
    <p:sldId id="297" r:id="rId15"/>
    <p:sldId id="298" r:id="rId16"/>
    <p:sldId id="493" r:id="rId17"/>
    <p:sldId id="495" r:id="rId18"/>
    <p:sldId id="496" r:id="rId19"/>
    <p:sldId id="494" r:id="rId20"/>
    <p:sldId id="308" r:id="rId21"/>
  </p:sldIdLst>
  <p:sldSz cx="9144000" cy="5143500" type="screen16x9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0303"/>
    <a:srgbClr val="8B0E54"/>
    <a:srgbClr val="E212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58"/>
    <p:restoredTop sz="95833"/>
  </p:normalViewPr>
  <p:slideViewPr>
    <p:cSldViewPr>
      <p:cViewPr varScale="1">
        <p:scale>
          <a:sx n="285" d="100"/>
          <a:sy n="285" d="100"/>
        </p:scale>
        <p:origin x="1080" y="168"/>
      </p:cViewPr>
      <p:guideLst>
        <p:guide orient="horz" pos="216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3358F-61C6-1B4F-B604-6507434D0F38}" type="datetimeFigureOut">
              <a:rPr lang="en-US" smtClean="0"/>
              <a:t>10/28/19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7F7AA2-CD4B-B647-91DF-6F7A48C426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06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204A1-840D-CA41-9990-2FBF1DA0CC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24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204A1-840D-CA41-9990-2FBF1DA0CC2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604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10/28/19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10/28/19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375447" y="4400551"/>
            <a:ext cx="745191" cy="7429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9" name="bk object 29"/>
          <p:cNvSpPr/>
          <p:nvPr/>
        </p:nvSpPr>
        <p:spPr>
          <a:xfrm>
            <a:off x="0" y="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660400">
                <a:moveTo>
                  <a:pt x="0" y="660398"/>
                </a:moveTo>
                <a:lnTo>
                  <a:pt x="9143998" y="660398"/>
                </a:lnTo>
                <a:lnTo>
                  <a:pt x="9143998" y="0"/>
                </a:lnTo>
                <a:lnTo>
                  <a:pt x="0" y="0"/>
                </a:lnTo>
                <a:lnTo>
                  <a:pt x="0" y="660398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30" name="bk object 30"/>
          <p:cNvSpPr/>
          <p:nvPr/>
        </p:nvSpPr>
        <p:spPr>
          <a:xfrm>
            <a:off x="0" y="1"/>
            <a:ext cx="9143998" cy="4952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sz="1800"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62200" y="39901"/>
            <a:ext cx="4295749" cy="415498"/>
          </a:xfrm>
        </p:spPr>
        <p:txBody>
          <a:bodyPr lIns="0" tIns="0" rIns="0" bIns="0"/>
          <a:lstStyle>
            <a:lvl1pPr algn="ctr">
              <a:defRPr sz="27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529840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10/28/19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590550"/>
            <a:ext cx="9144000" cy="4552950"/>
          </a:xfrm>
          <a:custGeom>
            <a:avLst/>
            <a:gdLst/>
            <a:ahLst/>
            <a:cxnLst/>
            <a:rect l="l" t="t" r="r" b="b"/>
            <a:pathLst>
              <a:path w="9144000" h="5943600">
                <a:moveTo>
                  <a:pt x="0" y="5943598"/>
                </a:moveTo>
                <a:lnTo>
                  <a:pt x="9143998" y="5943598"/>
                </a:lnTo>
                <a:lnTo>
                  <a:pt x="9143998" y="0"/>
                </a:lnTo>
                <a:lnTo>
                  <a:pt x="0" y="0"/>
                </a:lnTo>
                <a:lnTo>
                  <a:pt x="0" y="5943598"/>
                </a:lnTo>
                <a:close/>
              </a:path>
            </a:pathLst>
          </a:custGeom>
          <a:solidFill>
            <a:srgbClr val="D4D2D2"/>
          </a:solid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17" name="bk object 17"/>
          <p:cNvSpPr/>
          <p:nvPr/>
        </p:nvSpPr>
        <p:spPr>
          <a:xfrm>
            <a:off x="152400" y="0"/>
            <a:ext cx="914400" cy="1047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38400" y="57150"/>
            <a:ext cx="4295749" cy="415498"/>
          </a:xfrm>
        </p:spPr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10/28/19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10/28/19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  <p:sp>
        <p:nvSpPr>
          <p:cNvPr id="5" name="bk object 16">
            <a:extLst>
              <a:ext uri="{FF2B5EF4-FFF2-40B4-BE49-F238E27FC236}">
                <a16:creationId xmlns:a16="http://schemas.microsoft.com/office/drawing/2014/main" id="{230A8D8E-9327-9E44-B756-B2A99F849969}"/>
              </a:ext>
            </a:extLst>
          </p:cNvPr>
          <p:cNvSpPr/>
          <p:nvPr userDrawn="1"/>
        </p:nvSpPr>
        <p:spPr>
          <a:xfrm>
            <a:off x="4375447" y="4400551"/>
            <a:ext cx="745191" cy="7429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Kate Burda &amp; Co. -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7" name="Picture 6" descr="kb_PPT-Templat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43600" cy="51435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85800"/>
            <a:ext cx="9144000" cy="4457700"/>
          </a:xfrm>
          <a:prstGeom prst="rect">
            <a:avLst/>
          </a:prstGeom>
          <a:solidFill>
            <a:srgbClr val="CA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rgbClr val="CAC8C8"/>
              </a:solidFill>
            </a:endParaRPr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0" y="685800"/>
            <a:ext cx="9144000" cy="2769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171450"/>
            <a:ext cx="7772400" cy="323165"/>
          </a:xfrm>
        </p:spPr>
        <p:txBody>
          <a:bodyPr/>
          <a:lstStyle>
            <a:lvl1pPr algn="r">
              <a:defRPr sz="2100" b="1" baseline="0">
                <a:solidFill>
                  <a:srgbClr val="8A8C8C"/>
                </a:solidFill>
              </a:defRPr>
            </a:lvl1pPr>
          </a:lstStyle>
          <a:p>
            <a:r>
              <a:rPr lang="en-US" dirty="0"/>
              <a:t>Click to 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90859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24126" y="24764"/>
            <a:ext cx="4295749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2100" y="1268244"/>
            <a:ext cx="828103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Franklin Gothic Book"/>
                <a:cs typeface="Franklin Gothic Boo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10/28/19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0" y="4248150"/>
            <a:ext cx="9143999" cy="89598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en-US" sz="1400" dirty="0"/>
              <a:t>			</a:t>
            </a:r>
            <a:endParaRPr lang="is-IS"/>
          </a:p>
        </p:txBody>
      </p:sp>
      <p:sp>
        <p:nvSpPr>
          <p:cNvPr id="6" name="Rectangle 5"/>
          <p:cNvSpPr/>
          <p:nvPr/>
        </p:nvSpPr>
        <p:spPr>
          <a:xfrm>
            <a:off x="5947" y="0"/>
            <a:ext cx="9138053" cy="336378"/>
          </a:xfrm>
          <a:prstGeom prst="rect">
            <a:avLst/>
          </a:prstGeom>
          <a:solidFill>
            <a:srgbClr val="A0155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2754"/>
              </a:solidFill>
            </a:endParaRPr>
          </a:p>
        </p:txBody>
      </p:sp>
      <p:pic>
        <p:nvPicPr>
          <p:cNvPr id="9" name="Picture 8" descr="shutterstock_42161080.jpg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739"/>
                    </a14:imgEffect>
                    <a14:imgEffect>
                      <a14:saturation sat="174000"/>
                    </a14:imgEffect>
                    <a14:imgEffect>
                      <a14:brightnessContrast bright="-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" y="341135"/>
            <a:ext cx="9138053" cy="3950984"/>
          </a:xfrm>
          <a:prstGeom prst="rect">
            <a:avLst/>
          </a:prstGeom>
        </p:spPr>
      </p:pic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5947" y="2732684"/>
            <a:ext cx="9138053" cy="632460"/>
          </a:xfrm>
          <a:prstGeom prst="rect">
            <a:avLst/>
          </a:prstGeom>
          <a:solidFill>
            <a:srgbClr val="000000">
              <a:alpha val="7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228600" tIns="45720" rIns="914400" bIns="45720" anchor="ctr" anchorCtr="0" upright="1">
            <a:no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3600" spc="600" dirty="0">
                <a:solidFill>
                  <a:schemeClr val="bg1"/>
                </a:solidFill>
                <a:latin typeface="Franklin Gothic Book"/>
                <a:ea typeface="ＭＳ 明朝"/>
                <a:cs typeface="Franklin Gothic Book"/>
              </a:rPr>
              <a:t>March of the Penguins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2400" y="4342933"/>
            <a:ext cx="2667000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s-I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/>
                <a:cs typeface="Franklin Gothic Book"/>
              </a:rPr>
              <a:t>PREPARED FOR:</a:t>
            </a: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/>
                <a:cs typeface="Franklin Gothic Book"/>
              </a:rPr>
              <a:t> 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/>
                <a:cs typeface="Franklin Gothic Book"/>
              </a:rPr>
              <a:t>YOU!</a:t>
            </a:r>
          </a:p>
          <a:p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/>
              <a:cs typeface="Franklin Gothic Book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868" y="4876337"/>
            <a:ext cx="5943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All materials and methodologies are </a:t>
            </a:r>
            <a:r>
              <a:rPr lang="en-US" sz="500" dirty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copy</a:t>
            </a:r>
            <a:r>
              <a:rPr 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 written and protected Intellectual Property of  Kate </a:t>
            </a:r>
            <a:r>
              <a:rPr 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Burda</a:t>
            </a:r>
            <a:r>
              <a:rPr 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 &amp; Company and for the express purpose for </a:t>
            </a:r>
            <a:r>
              <a:rPr lang="en-US" sz="6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Luckey’s</a:t>
            </a:r>
            <a:r>
              <a:rPr lang="en-US" sz="600" dirty="0">
                <a:solidFill>
                  <a:schemeClr val="tx1">
                    <a:lumMod val="50000"/>
                    <a:lumOff val="50000"/>
                  </a:schemeClr>
                </a:solidFill>
                <a:latin typeface="Franklin Gothic Book" charset="0"/>
                <a:ea typeface="Franklin Gothic Book" charset="0"/>
                <a:cs typeface="Franklin Gothic Book" charset="0"/>
              </a:rPr>
              <a:t> Management.   Methodologies, systems, and constructs  are not for external distribution and are protected.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5268AC-4740-4C34-BF95-D87CB82BF5C1}"/>
              </a:ext>
            </a:extLst>
          </p:cNvPr>
          <p:cNvSpPr/>
          <p:nvPr/>
        </p:nvSpPr>
        <p:spPr>
          <a:xfrm>
            <a:off x="4453217" y="238708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21404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99E26BD-AFEB-3041-92E0-A0ABCE234837}"/>
              </a:ext>
            </a:extLst>
          </p:cNvPr>
          <p:cNvSpPr txBox="1"/>
          <p:nvPr/>
        </p:nvSpPr>
        <p:spPr>
          <a:xfrm>
            <a:off x="2590800" y="76708"/>
            <a:ext cx="6477000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Franklin Gothic Book"/>
              </a:rPr>
              <a:t>VUCA WORLD</a:t>
            </a:r>
            <a:endParaRPr lang="en-US" sz="2400" dirty="0">
              <a:solidFill>
                <a:schemeClr val="tx1">
                  <a:lumMod val="65000"/>
                  <a:lumOff val="3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14BD2E-F3C1-4C1F-B9F3-ABD08D8B9949}"/>
              </a:ext>
            </a:extLst>
          </p:cNvPr>
          <p:cNvSpPr/>
          <p:nvPr/>
        </p:nvSpPr>
        <p:spPr>
          <a:xfrm>
            <a:off x="4453217" y="238708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B69B1-935C-40E0-9D77-D4EB596D80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5666"/>
            <a:ext cx="9144000" cy="47492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54DB5C-1813-4E31-8357-803DF884B209}"/>
              </a:ext>
            </a:extLst>
          </p:cNvPr>
          <p:cNvSpPr txBox="1"/>
          <p:nvPr/>
        </p:nvSpPr>
        <p:spPr>
          <a:xfrm>
            <a:off x="533400" y="2940308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Book" panose="020B0503020102020204" pitchFamily="34" charset="0"/>
              </a:rPr>
              <a:t>Volatility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EA1F8-B3FC-44EB-AD20-588EB732D296}"/>
              </a:ext>
            </a:extLst>
          </p:cNvPr>
          <p:cNvSpPr txBox="1"/>
          <p:nvPr/>
        </p:nvSpPr>
        <p:spPr>
          <a:xfrm>
            <a:off x="6781800" y="2872442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Book" panose="020B0503020102020204" pitchFamily="34" charset="0"/>
              </a:rPr>
              <a:t>Complexity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940C0B-20FF-4842-B1A8-08F186FE0926}"/>
              </a:ext>
            </a:extLst>
          </p:cNvPr>
          <p:cNvSpPr txBox="1"/>
          <p:nvPr/>
        </p:nvSpPr>
        <p:spPr>
          <a:xfrm>
            <a:off x="533400" y="3742358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Book" panose="020B0503020102020204" pitchFamily="34" charset="0"/>
              </a:rPr>
              <a:t>Uncertainty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F177AF-A275-4264-A197-7E80039BF11E}"/>
              </a:ext>
            </a:extLst>
          </p:cNvPr>
          <p:cNvSpPr txBox="1"/>
          <p:nvPr/>
        </p:nvSpPr>
        <p:spPr>
          <a:xfrm>
            <a:off x="6781800" y="3832086"/>
            <a:ext cx="205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Book" panose="020B0503020102020204" pitchFamily="34" charset="0"/>
              </a:rPr>
              <a:t>Ambiguity</a:t>
            </a:r>
          </a:p>
        </p:txBody>
      </p:sp>
    </p:spTree>
    <p:extLst>
      <p:ext uri="{BB962C8B-B14F-4D97-AF65-F5344CB8AC3E}">
        <p14:creationId xmlns:p14="http://schemas.microsoft.com/office/powerpoint/2010/main" val="422248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enguins Jumping Off Cliff">
            <a:hlinkClick r:id="" action="ppaction://media"/>
            <a:extLst>
              <a:ext uri="{FF2B5EF4-FFF2-40B4-BE49-F238E27FC236}">
                <a16:creationId xmlns:a16="http://schemas.microsoft.com/office/drawing/2014/main" id="{F89317AF-987C-413E-BD28-C309D81E840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462302"/>
            <a:ext cx="9144000" cy="468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70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37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2320719"/>
            <a:ext cx="6858000" cy="50206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3200" b="0" dirty="0">
                <a:latin typeface="Franklin Gothic Book" panose="020B0503020102020204" pitchFamily="34" charset="0"/>
                <a:cs typeface="Georgia"/>
              </a:rPr>
              <a:t>ADR Pricing Psychology in a</a:t>
            </a:r>
            <a:r>
              <a:rPr sz="3200" spc="-135" dirty="0">
                <a:latin typeface="Franklin Gothic Book" panose="020B0503020102020204" pitchFamily="34" charset="0"/>
                <a:cs typeface="Georgia"/>
              </a:rPr>
              <a:t> </a:t>
            </a:r>
            <a:r>
              <a:rPr sz="3200" spc="-4" dirty="0">
                <a:latin typeface="Franklin Gothic Book" panose="020B0503020102020204" pitchFamily="34" charset="0"/>
                <a:cs typeface="Georgia"/>
              </a:rPr>
              <a:t>Downturn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5858" y="3963353"/>
            <a:ext cx="7591425" cy="0"/>
          </a:xfrm>
          <a:custGeom>
            <a:avLst/>
            <a:gdLst/>
            <a:ahLst/>
            <a:cxnLst/>
            <a:rect l="l" t="t" r="r" b="b"/>
            <a:pathLst>
              <a:path w="10121900">
                <a:moveTo>
                  <a:pt x="0" y="0"/>
                </a:moveTo>
                <a:lnTo>
                  <a:pt x="10121900" y="0"/>
                </a:lnTo>
              </a:path>
            </a:pathLst>
          </a:custGeom>
          <a:ln w="762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/>
          <p:nvPr/>
        </p:nvSpPr>
        <p:spPr>
          <a:xfrm>
            <a:off x="1145858" y="1008698"/>
            <a:ext cx="7591425" cy="0"/>
          </a:xfrm>
          <a:custGeom>
            <a:avLst/>
            <a:gdLst/>
            <a:ahLst/>
            <a:cxnLst/>
            <a:rect l="l" t="t" r="r" b="b"/>
            <a:pathLst>
              <a:path w="10121900">
                <a:moveTo>
                  <a:pt x="0" y="0"/>
                </a:moveTo>
                <a:lnTo>
                  <a:pt x="10121900" y="0"/>
                </a:lnTo>
              </a:path>
            </a:pathLst>
          </a:custGeom>
          <a:ln w="762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1145858" y="679133"/>
            <a:ext cx="7591425" cy="0"/>
          </a:xfrm>
          <a:custGeom>
            <a:avLst/>
            <a:gdLst/>
            <a:ahLst/>
            <a:cxnLst/>
            <a:rect l="l" t="t" r="r" b="b"/>
            <a:pathLst>
              <a:path w="10121900">
                <a:moveTo>
                  <a:pt x="0" y="0"/>
                </a:moveTo>
                <a:lnTo>
                  <a:pt x="10121900" y="0"/>
                </a:lnTo>
              </a:path>
            </a:pathLst>
          </a:custGeom>
          <a:ln w="762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1143000" y="1240154"/>
            <a:ext cx="7599045" cy="24345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 txBox="1"/>
          <p:nvPr/>
        </p:nvSpPr>
        <p:spPr>
          <a:xfrm>
            <a:off x="741759" y="1233298"/>
            <a:ext cx="290513" cy="284885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67151" algn="ctr">
              <a:spcBef>
                <a:spcPts val="75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spcBef>
                <a:spcPts val="30"/>
              </a:spcBef>
            </a:pPr>
            <a:endParaRPr sz="1125">
              <a:latin typeface="Times New Roman"/>
              <a:cs typeface="Times New Roman"/>
            </a:endParaRPr>
          </a:p>
          <a:p>
            <a:pPr marL="67151" algn="ctr"/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6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spcBef>
                <a:spcPts val="34"/>
              </a:spcBef>
            </a:pPr>
            <a:endParaRPr sz="1125">
              <a:latin typeface="Times New Roman"/>
              <a:cs typeface="Times New Roman"/>
            </a:endParaRPr>
          </a:p>
          <a:p>
            <a:pPr marL="67151" algn="ctr"/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8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spcBef>
                <a:spcPts val="34"/>
              </a:spcBef>
            </a:pPr>
            <a:endParaRPr sz="1125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spcBef>
                <a:spcPts val="34"/>
              </a:spcBef>
            </a:pPr>
            <a:endParaRPr sz="1125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spcBef>
                <a:spcPts val="34"/>
              </a:spcBef>
            </a:pPr>
            <a:endParaRPr sz="1125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spcBef>
                <a:spcPts val="30"/>
              </a:spcBef>
            </a:pPr>
            <a:endParaRPr sz="1125">
              <a:latin typeface="Times New Roman"/>
              <a:cs typeface="Times New Roman"/>
            </a:endParaRPr>
          </a:p>
          <a:p>
            <a:pPr algn="ctr">
              <a:spcBef>
                <a:spcPts val="4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-11" dirty="0">
                <a:solidFill>
                  <a:srgbClr val="3E3E3E"/>
                </a:solidFill>
                <a:latin typeface="Calibri"/>
                <a:cs typeface="Calibri"/>
              </a:rPr>
              <a:t>6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spcBef>
                <a:spcPts val="34"/>
              </a:spcBef>
            </a:pPr>
            <a:endParaRPr sz="1125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8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spcBef>
                <a:spcPts val="34"/>
              </a:spcBef>
            </a:pPr>
            <a:endParaRPr sz="1125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9387" y="576072"/>
            <a:ext cx="222885" cy="505908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50006">
              <a:spcBef>
                <a:spcPts val="75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0%</a:t>
            </a:r>
            <a:endParaRPr sz="1050">
              <a:latin typeface="Calibri"/>
              <a:cs typeface="Calibri"/>
            </a:endParaRPr>
          </a:p>
          <a:p>
            <a:pPr>
              <a:spcBef>
                <a:spcPts val="34"/>
              </a:spcBef>
            </a:pPr>
            <a:endParaRPr sz="1125">
              <a:latin typeface="Times New Roman"/>
              <a:cs typeface="Times New Roman"/>
            </a:endParaRPr>
          </a:p>
          <a:p>
            <a:pPr marL="9525"/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3469" y="4040736"/>
            <a:ext cx="7668766" cy="22240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26194" algn="ctr">
              <a:lnSpc>
                <a:spcPts val="1073"/>
              </a:lnSpc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endParaRPr sz="1050">
              <a:latin typeface="Calibri"/>
              <a:cs typeface="Calibri"/>
            </a:endParaRPr>
          </a:p>
          <a:p>
            <a:pPr marL="26194"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  <a:p>
            <a:pPr marL="26194"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  <a:p>
            <a:pPr marL="91916"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-6</a:t>
            </a:r>
            <a:endParaRPr sz="1050">
              <a:latin typeface="Calibri"/>
              <a:cs typeface="Calibri"/>
            </a:endParaRPr>
          </a:p>
          <a:p>
            <a:pPr marL="135255" algn="ctr">
              <a:spcBef>
                <a:spcPts val="53"/>
              </a:spcBef>
            </a:pP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  <a:p>
            <a:pPr marL="65246"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10</a:t>
            </a:r>
            <a:endParaRPr sz="1050">
              <a:latin typeface="Calibri"/>
              <a:cs typeface="Calibri"/>
            </a:endParaRPr>
          </a:p>
          <a:p>
            <a:pPr marL="65246"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18</a:t>
            </a:r>
            <a:endParaRPr sz="1050">
              <a:latin typeface="Calibri"/>
              <a:cs typeface="Calibri"/>
            </a:endParaRPr>
          </a:p>
          <a:p>
            <a:pPr marL="65246"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26</a:t>
            </a:r>
            <a:endParaRPr sz="1050">
              <a:latin typeface="Calibri"/>
              <a:cs typeface="Calibri"/>
            </a:endParaRPr>
          </a:p>
          <a:p>
            <a:pPr marL="65246" algn="ctr">
              <a:spcBef>
                <a:spcPts val="49"/>
              </a:spcBef>
            </a:pPr>
            <a:r>
              <a:rPr sz="1050" spc="-11" dirty="0">
                <a:solidFill>
                  <a:srgbClr val="3E3E3E"/>
                </a:solidFill>
                <a:latin typeface="Calibri"/>
                <a:cs typeface="Calibri"/>
              </a:rPr>
              <a:t>34</a:t>
            </a:r>
            <a:endParaRPr sz="1050">
              <a:latin typeface="Calibri"/>
              <a:cs typeface="Calibri"/>
            </a:endParaRPr>
          </a:p>
          <a:p>
            <a:pPr marL="65246"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42</a:t>
            </a:r>
            <a:endParaRPr sz="1050">
              <a:latin typeface="Calibri"/>
              <a:cs typeface="Calibri"/>
            </a:endParaRPr>
          </a:p>
          <a:p>
            <a:pPr marL="65246"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50</a:t>
            </a:r>
            <a:endParaRPr sz="1050">
              <a:latin typeface="Calibri"/>
              <a:cs typeface="Calibri"/>
            </a:endParaRPr>
          </a:p>
          <a:p>
            <a:pPr marL="65246"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58</a:t>
            </a:r>
            <a:endParaRPr sz="1050">
              <a:latin typeface="Calibri"/>
              <a:cs typeface="Calibri"/>
            </a:endParaRPr>
          </a:p>
          <a:p>
            <a:pPr marL="65246"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66</a:t>
            </a:r>
            <a:endParaRPr sz="1050">
              <a:latin typeface="Calibri"/>
              <a:cs typeface="Calibri"/>
            </a:endParaRPr>
          </a:p>
          <a:p>
            <a:pPr marL="65246"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74</a:t>
            </a:r>
            <a:endParaRPr sz="1050">
              <a:latin typeface="Calibri"/>
              <a:cs typeface="Calibri"/>
            </a:endParaRPr>
          </a:p>
          <a:p>
            <a:pPr marL="65246"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82</a:t>
            </a:r>
            <a:endParaRPr sz="1050">
              <a:latin typeface="Calibri"/>
              <a:cs typeface="Calibri"/>
            </a:endParaRPr>
          </a:p>
          <a:p>
            <a:pPr marL="65246"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90</a:t>
            </a:r>
            <a:endParaRPr sz="1050">
              <a:latin typeface="Calibri"/>
              <a:cs typeface="Calibri"/>
            </a:endParaRPr>
          </a:p>
          <a:p>
            <a:pPr marL="65246"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98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49"/>
              </a:spcBef>
            </a:pPr>
            <a:r>
              <a:rPr sz="1050" spc="-11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8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6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7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49"/>
              </a:spcBef>
            </a:pPr>
            <a:r>
              <a:rPr sz="1050" spc="-11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7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8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8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9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8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49"/>
              </a:spcBef>
            </a:pPr>
            <a:r>
              <a:rPr sz="1050" spc="-11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8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6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7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8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9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9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8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4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49"/>
              </a:spcBef>
            </a:pPr>
            <a:r>
              <a:rPr sz="1050" spc="-11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5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7688" y="1852109"/>
            <a:ext cx="156068" cy="9429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9525">
              <a:lnSpc>
                <a:spcPts val="1215"/>
              </a:lnSpc>
            </a:pPr>
            <a:r>
              <a:rPr sz="1200" b="1" spc="-8" dirty="0">
                <a:solidFill>
                  <a:srgbClr val="3E3E3E"/>
                </a:solidFill>
                <a:latin typeface="Calibri"/>
                <a:cs typeface="Calibri"/>
              </a:rPr>
              <a:t>ADR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r>
              <a:rPr sz="1200" b="1" spc="-34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4" dirty="0">
                <a:solidFill>
                  <a:srgbClr val="3E3E3E"/>
                </a:solidFill>
                <a:latin typeface="Calibri"/>
                <a:cs typeface="Calibri"/>
              </a:rPr>
              <a:t>Decline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19976" y="4494371"/>
            <a:ext cx="1995964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200" b="1" spc="-8" dirty="0">
                <a:solidFill>
                  <a:srgbClr val="3E3E3E"/>
                </a:solidFill>
                <a:latin typeface="Calibri"/>
                <a:cs typeface="Calibri"/>
              </a:rPr>
              <a:t>Days After </a:t>
            </a:r>
            <a:r>
              <a:rPr sz="1200" b="1" spc="-4" dirty="0">
                <a:solidFill>
                  <a:srgbClr val="3E3E3E"/>
                </a:solidFill>
                <a:latin typeface="Calibri"/>
                <a:cs typeface="Calibri"/>
              </a:rPr>
              <a:t>Rogue </a:t>
            </a:r>
            <a:r>
              <a:rPr sz="1200" b="1" spc="-8" dirty="0">
                <a:solidFill>
                  <a:srgbClr val="3E3E3E"/>
                </a:solidFill>
                <a:latin typeface="Calibri"/>
                <a:cs typeface="Calibri"/>
              </a:rPr>
              <a:t>Dropped</a:t>
            </a:r>
            <a:r>
              <a:rPr sz="1200" b="1" spc="-11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10%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50882" y="221027"/>
            <a:ext cx="2556986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500" dirty="0"/>
              <a:t>Sample Chicago Comp</a:t>
            </a:r>
            <a:r>
              <a:rPr sz="1500" spc="-105" dirty="0"/>
              <a:t> </a:t>
            </a:r>
            <a:r>
              <a:rPr sz="1500" dirty="0"/>
              <a:t>Set</a:t>
            </a:r>
            <a:endParaRPr sz="1500"/>
          </a:p>
        </p:txBody>
      </p:sp>
      <p:sp>
        <p:nvSpPr>
          <p:cNvPr id="12" name="object 12"/>
          <p:cNvSpPr/>
          <p:nvPr/>
        </p:nvSpPr>
        <p:spPr>
          <a:xfrm>
            <a:off x="6336982" y="1170623"/>
            <a:ext cx="182880" cy="0"/>
          </a:xfrm>
          <a:custGeom>
            <a:avLst/>
            <a:gdLst/>
            <a:ahLst/>
            <a:cxnLst/>
            <a:rect l="l" t="t" r="r" b="b"/>
            <a:pathLst>
              <a:path w="24384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38100">
            <a:solidFill>
              <a:srgbClr val="84BC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 txBox="1"/>
          <p:nvPr/>
        </p:nvSpPr>
        <p:spPr>
          <a:xfrm>
            <a:off x="6530339" y="1067276"/>
            <a:ext cx="8667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919913" y="1170623"/>
            <a:ext cx="182880" cy="0"/>
          </a:xfrm>
          <a:custGeom>
            <a:avLst/>
            <a:gdLst/>
            <a:ahLst/>
            <a:cxnLst/>
            <a:rect l="l" t="t" r="r" b="b"/>
            <a:pathLst>
              <a:path w="24384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38100">
            <a:solidFill>
              <a:srgbClr val="018575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 txBox="1"/>
          <p:nvPr/>
        </p:nvSpPr>
        <p:spPr>
          <a:xfrm>
            <a:off x="7113556" y="1067276"/>
            <a:ext cx="8667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502843" y="1170623"/>
            <a:ext cx="182880" cy="0"/>
          </a:xfrm>
          <a:custGeom>
            <a:avLst/>
            <a:gdLst/>
            <a:ahLst/>
            <a:cxnLst/>
            <a:rect l="l" t="t" r="r" b="b"/>
            <a:pathLst>
              <a:path w="24384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38100">
            <a:solidFill>
              <a:srgbClr val="00548B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 txBox="1"/>
          <p:nvPr/>
        </p:nvSpPr>
        <p:spPr>
          <a:xfrm>
            <a:off x="7696486" y="1067276"/>
            <a:ext cx="8667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085773" y="1170623"/>
            <a:ext cx="182880" cy="0"/>
          </a:xfrm>
          <a:custGeom>
            <a:avLst/>
            <a:gdLst/>
            <a:ahLst/>
            <a:cxnLst/>
            <a:rect l="l" t="t" r="r" b="b"/>
            <a:pathLst>
              <a:path w="24384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38100">
            <a:solidFill>
              <a:srgbClr val="FD5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" name="object 19"/>
          <p:cNvSpPr txBox="1"/>
          <p:nvPr/>
        </p:nvSpPr>
        <p:spPr>
          <a:xfrm>
            <a:off x="8279606" y="1067276"/>
            <a:ext cx="8667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383304" y="4918233"/>
            <a:ext cx="1359694" cy="103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829"/>
              </a:lnSpc>
            </a:pPr>
            <a:r>
              <a:rPr sz="788" spc="4" dirty="0">
                <a:solidFill>
                  <a:srgbClr val="8B8B8B"/>
                </a:solidFill>
                <a:latin typeface="Calibri"/>
                <a:cs typeface="Calibri"/>
              </a:rPr>
              <a:t>© 2019 </a:t>
            </a:r>
            <a:r>
              <a:rPr sz="788" dirty="0">
                <a:solidFill>
                  <a:srgbClr val="8B8B8B"/>
                </a:solidFill>
                <a:latin typeface="Calibri"/>
                <a:cs typeface="Calibri"/>
              </a:rPr>
              <a:t>STR. All Rights</a:t>
            </a:r>
            <a:r>
              <a:rPr sz="788" spc="-41" dirty="0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sz="788" dirty="0">
                <a:solidFill>
                  <a:srgbClr val="8B8B8B"/>
                </a:solidFill>
                <a:latin typeface="Calibri"/>
                <a:cs typeface="Calibri"/>
              </a:rPr>
              <a:t>Reserved.</a:t>
            </a:r>
            <a:endParaRPr sz="78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19399" y="770367"/>
            <a:ext cx="4079557" cy="4333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/>
          <p:nvPr/>
        </p:nvSpPr>
        <p:spPr>
          <a:xfrm>
            <a:off x="3609022" y="2264092"/>
            <a:ext cx="308610" cy="308610"/>
          </a:xfrm>
          <a:custGeom>
            <a:avLst/>
            <a:gdLst/>
            <a:ahLst/>
            <a:cxnLst/>
            <a:rect l="l" t="t" r="r" b="b"/>
            <a:pathLst>
              <a:path w="411479" h="411479">
                <a:moveTo>
                  <a:pt x="0" y="205739"/>
                </a:moveTo>
                <a:lnTo>
                  <a:pt x="5431" y="158553"/>
                </a:lnTo>
                <a:lnTo>
                  <a:pt x="20905" y="115244"/>
                </a:lnTo>
                <a:lnTo>
                  <a:pt x="45186" y="77044"/>
                </a:lnTo>
                <a:lnTo>
                  <a:pt x="77044" y="45186"/>
                </a:lnTo>
                <a:lnTo>
                  <a:pt x="115244" y="20905"/>
                </a:lnTo>
                <a:lnTo>
                  <a:pt x="158553" y="5431"/>
                </a:lnTo>
                <a:lnTo>
                  <a:pt x="205740" y="0"/>
                </a:lnTo>
                <a:lnTo>
                  <a:pt x="252926" y="5431"/>
                </a:lnTo>
                <a:lnTo>
                  <a:pt x="296235" y="20905"/>
                </a:lnTo>
                <a:lnTo>
                  <a:pt x="334435" y="45186"/>
                </a:lnTo>
                <a:lnTo>
                  <a:pt x="366293" y="77044"/>
                </a:lnTo>
                <a:lnTo>
                  <a:pt x="390574" y="115244"/>
                </a:lnTo>
                <a:lnTo>
                  <a:pt x="406048" y="158553"/>
                </a:lnTo>
                <a:lnTo>
                  <a:pt x="411480" y="205739"/>
                </a:lnTo>
                <a:lnTo>
                  <a:pt x="406048" y="252926"/>
                </a:lnTo>
                <a:lnTo>
                  <a:pt x="390574" y="296235"/>
                </a:lnTo>
                <a:lnTo>
                  <a:pt x="366293" y="334435"/>
                </a:lnTo>
                <a:lnTo>
                  <a:pt x="334435" y="366293"/>
                </a:lnTo>
                <a:lnTo>
                  <a:pt x="296235" y="390574"/>
                </a:lnTo>
                <a:lnTo>
                  <a:pt x="252926" y="406048"/>
                </a:lnTo>
                <a:lnTo>
                  <a:pt x="205740" y="411480"/>
                </a:lnTo>
                <a:lnTo>
                  <a:pt x="158553" y="406048"/>
                </a:lnTo>
                <a:lnTo>
                  <a:pt x="115244" y="390574"/>
                </a:lnTo>
                <a:lnTo>
                  <a:pt x="77044" y="366293"/>
                </a:lnTo>
                <a:lnTo>
                  <a:pt x="45186" y="334435"/>
                </a:lnTo>
                <a:lnTo>
                  <a:pt x="20905" y="296235"/>
                </a:lnTo>
                <a:lnTo>
                  <a:pt x="5431" y="252926"/>
                </a:lnTo>
                <a:lnTo>
                  <a:pt x="0" y="205739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3917632" y="2352675"/>
            <a:ext cx="425291" cy="131445"/>
          </a:xfrm>
          <a:custGeom>
            <a:avLst/>
            <a:gdLst/>
            <a:ahLst/>
            <a:cxnLst/>
            <a:rect l="l" t="t" r="r" b="b"/>
            <a:pathLst>
              <a:path w="567054" h="175260">
                <a:moveTo>
                  <a:pt x="391667" y="0"/>
                </a:moveTo>
                <a:lnTo>
                  <a:pt x="391667" y="175260"/>
                </a:lnTo>
                <a:lnTo>
                  <a:pt x="508507" y="116839"/>
                </a:lnTo>
                <a:lnTo>
                  <a:pt x="420877" y="116839"/>
                </a:lnTo>
                <a:lnTo>
                  <a:pt x="420877" y="58420"/>
                </a:lnTo>
                <a:lnTo>
                  <a:pt x="508508" y="58420"/>
                </a:lnTo>
                <a:lnTo>
                  <a:pt x="391667" y="0"/>
                </a:lnTo>
                <a:close/>
              </a:path>
              <a:path w="567054" h="175260">
                <a:moveTo>
                  <a:pt x="391667" y="58420"/>
                </a:moveTo>
                <a:lnTo>
                  <a:pt x="0" y="58420"/>
                </a:lnTo>
                <a:lnTo>
                  <a:pt x="0" y="116839"/>
                </a:lnTo>
                <a:lnTo>
                  <a:pt x="391667" y="116839"/>
                </a:lnTo>
                <a:lnTo>
                  <a:pt x="391667" y="58420"/>
                </a:lnTo>
                <a:close/>
              </a:path>
              <a:path w="567054" h="175260">
                <a:moveTo>
                  <a:pt x="508508" y="58420"/>
                </a:moveTo>
                <a:lnTo>
                  <a:pt x="420877" y="58420"/>
                </a:lnTo>
                <a:lnTo>
                  <a:pt x="420877" y="116839"/>
                </a:lnTo>
                <a:lnTo>
                  <a:pt x="508507" y="116839"/>
                </a:lnTo>
                <a:lnTo>
                  <a:pt x="566927" y="87629"/>
                </a:lnTo>
                <a:lnTo>
                  <a:pt x="508508" y="584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4342447" y="2264092"/>
            <a:ext cx="308610" cy="308610"/>
          </a:xfrm>
          <a:custGeom>
            <a:avLst/>
            <a:gdLst/>
            <a:ahLst/>
            <a:cxnLst/>
            <a:rect l="l" t="t" r="r" b="b"/>
            <a:pathLst>
              <a:path w="411479" h="411479">
                <a:moveTo>
                  <a:pt x="0" y="205739"/>
                </a:moveTo>
                <a:lnTo>
                  <a:pt x="5431" y="158553"/>
                </a:lnTo>
                <a:lnTo>
                  <a:pt x="20905" y="115244"/>
                </a:lnTo>
                <a:lnTo>
                  <a:pt x="45186" y="77044"/>
                </a:lnTo>
                <a:lnTo>
                  <a:pt x="77044" y="45186"/>
                </a:lnTo>
                <a:lnTo>
                  <a:pt x="115244" y="20905"/>
                </a:lnTo>
                <a:lnTo>
                  <a:pt x="158553" y="5431"/>
                </a:lnTo>
                <a:lnTo>
                  <a:pt x="205740" y="0"/>
                </a:lnTo>
                <a:lnTo>
                  <a:pt x="252926" y="5431"/>
                </a:lnTo>
                <a:lnTo>
                  <a:pt x="296235" y="20905"/>
                </a:lnTo>
                <a:lnTo>
                  <a:pt x="334435" y="45186"/>
                </a:lnTo>
                <a:lnTo>
                  <a:pt x="366293" y="77044"/>
                </a:lnTo>
                <a:lnTo>
                  <a:pt x="390574" y="115244"/>
                </a:lnTo>
                <a:lnTo>
                  <a:pt x="406048" y="158553"/>
                </a:lnTo>
                <a:lnTo>
                  <a:pt x="411480" y="205739"/>
                </a:lnTo>
                <a:lnTo>
                  <a:pt x="406048" y="252926"/>
                </a:lnTo>
                <a:lnTo>
                  <a:pt x="390574" y="296235"/>
                </a:lnTo>
                <a:lnTo>
                  <a:pt x="366293" y="334435"/>
                </a:lnTo>
                <a:lnTo>
                  <a:pt x="334435" y="366293"/>
                </a:lnTo>
                <a:lnTo>
                  <a:pt x="296235" y="390574"/>
                </a:lnTo>
                <a:lnTo>
                  <a:pt x="252926" y="406048"/>
                </a:lnTo>
                <a:lnTo>
                  <a:pt x="205740" y="411480"/>
                </a:lnTo>
                <a:lnTo>
                  <a:pt x="158553" y="406048"/>
                </a:lnTo>
                <a:lnTo>
                  <a:pt x="115244" y="390574"/>
                </a:lnTo>
                <a:lnTo>
                  <a:pt x="77044" y="366293"/>
                </a:lnTo>
                <a:lnTo>
                  <a:pt x="45186" y="334435"/>
                </a:lnTo>
                <a:lnTo>
                  <a:pt x="20905" y="296235"/>
                </a:lnTo>
                <a:lnTo>
                  <a:pt x="5431" y="252926"/>
                </a:lnTo>
                <a:lnTo>
                  <a:pt x="0" y="205739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5180648" y="2264092"/>
            <a:ext cx="308610" cy="308610"/>
          </a:xfrm>
          <a:custGeom>
            <a:avLst/>
            <a:gdLst/>
            <a:ahLst/>
            <a:cxnLst/>
            <a:rect l="l" t="t" r="r" b="b"/>
            <a:pathLst>
              <a:path w="411479" h="411479">
                <a:moveTo>
                  <a:pt x="0" y="205739"/>
                </a:moveTo>
                <a:lnTo>
                  <a:pt x="5431" y="158553"/>
                </a:lnTo>
                <a:lnTo>
                  <a:pt x="20905" y="115244"/>
                </a:lnTo>
                <a:lnTo>
                  <a:pt x="45186" y="77044"/>
                </a:lnTo>
                <a:lnTo>
                  <a:pt x="77044" y="45186"/>
                </a:lnTo>
                <a:lnTo>
                  <a:pt x="115244" y="20905"/>
                </a:lnTo>
                <a:lnTo>
                  <a:pt x="158553" y="5431"/>
                </a:lnTo>
                <a:lnTo>
                  <a:pt x="205740" y="0"/>
                </a:lnTo>
                <a:lnTo>
                  <a:pt x="252926" y="5431"/>
                </a:lnTo>
                <a:lnTo>
                  <a:pt x="296235" y="20905"/>
                </a:lnTo>
                <a:lnTo>
                  <a:pt x="334435" y="45186"/>
                </a:lnTo>
                <a:lnTo>
                  <a:pt x="366293" y="77044"/>
                </a:lnTo>
                <a:lnTo>
                  <a:pt x="390574" y="115244"/>
                </a:lnTo>
                <a:lnTo>
                  <a:pt x="406048" y="158553"/>
                </a:lnTo>
                <a:lnTo>
                  <a:pt x="411479" y="205739"/>
                </a:lnTo>
                <a:lnTo>
                  <a:pt x="406048" y="252926"/>
                </a:lnTo>
                <a:lnTo>
                  <a:pt x="390574" y="296235"/>
                </a:lnTo>
                <a:lnTo>
                  <a:pt x="366293" y="334435"/>
                </a:lnTo>
                <a:lnTo>
                  <a:pt x="334435" y="366293"/>
                </a:lnTo>
                <a:lnTo>
                  <a:pt x="296235" y="390574"/>
                </a:lnTo>
                <a:lnTo>
                  <a:pt x="252926" y="406048"/>
                </a:lnTo>
                <a:lnTo>
                  <a:pt x="205740" y="411480"/>
                </a:lnTo>
                <a:lnTo>
                  <a:pt x="158553" y="406048"/>
                </a:lnTo>
                <a:lnTo>
                  <a:pt x="115244" y="390574"/>
                </a:lnTo>
                <a:lnTo>
                  <a:pt x="77044" y="366293"/>
                </a:lnTo>
                <a:lnTo>
                  <a:pt x="45186" y="334435"/>
                </a:lnTo>
                <a:lnTo>
                  <a:pt x="20905" y="296235"/>
                </a:lnTo>
                <a:lnTo>
                  <a:pt x="5431" y="252926"/>
                </a:lnTo>
                <a:lnTo>
                  <a:pt x="0" y="205739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3917632" y="2352675"/>
            <a:ext cx="1160145" cy="131445"/>
          </a:xfrm>
          <a:custGeom>
            <a:avLst/>
            <a:gdLst/>
            <a:ahLst/>
            <a:cxnLst/>
            <a:rect l="l" t="t" r="r" b="b"/>
            <a:pathLst>
              <a:path w="1546859" h="175260">
                <a:moveTo>
                  <a:pt x="1371472" y="0"/>
                </a:moveTo>
                <a:lnTo>
                  <a:pt x="1371472" y="175260"/>
                </a:lnTo>
                <a:lnTo>
                  <a:pt x="1488313" y="116839"/>
                </a:lnTo>
                <a:lnTo>
                  <a:pt x="1400683" y="116839"/>
                </a:lnTo>
                <a:lnTo>
                  <a:pt x="1400683" y="58420"/>
                </a:lnTo>
                <a:lnTo>
                  <a:pt x="1488313" y="58420"/>
                </a:lnTo>
                <a:lnTo>
                  <a:pt x="1371472" y="0"/>
                </a:lnTo>
                <a:close/>
              </a:path>
              <a:path w="1546859" h="175260">
                <a:moveTo>
                  <a:pt x="1371472" y="58420"/>
                </a:moveTo>
                <a:lnTo>
                  <a:pt x="0" y="58420"/>
                </a:lnTo>
                <a:lnTo>
                  <a:pt x="0" y="116839"/>
                </a:lnTo>
                <a:lnTo>
                  <a:pt x="1371472" y="116839"/>
                </a:lnTo>
                <a:lnTo>
                  <a:pt x="1371472" y="58420"/>
                </a:lnTo>
                <a:close/>
              </a:path>
              <a:path w="1546859" h="175260">
                <a:moveTo>
                  <a:pt x="1488313" y="58420"/>
                </a:moveTo>
                <a:lnTo>
                  <a:pt x="1400683" y="58420"/>
                </a:lnTo>
                <a:lnTo>
                  <a:pt x="1400683" y="116839"/>
                </a:lnTo>
                <a:lnTo>
                  <a:pt x="1488313" y="116839"/>
                </a:lnTo>
                <a:lnTo>
                  <a:pt x="1546733" y="87629"/>
                </a:lnTo>
                <a:lnTo>
                  <a:pt x="1488313" y="5842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3199447" y="1936909"/>
            <a:ext cx="3403759" cy="123303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R="3810" algn="r">
              <a:spcBef>
                <a:spcPts val="75"/>
              </a:spcBef>
            </a:pPr>
            <a:r>
              <a:rPr sz="2400" b="1" dirty="0">
                <a:latin typeface="Calibri"/>
                <a:cs typeface="Calibri"/>
              </a:rPr>
              <a:t>57</a:t>
            </a:r>
            <a:r>
              <a:rPr sz="2400" b="1" spc="-64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days</a:t>
            </a:r>
            <a:endParaRPr sz="2400">
              <a:latin typeface="Calibri"/>
              <a:cs typeface="Calibri"/>
            </a:endParaRPr>
          </a:p>
          <a:p>
            <a:pPr>
              <a:spcBef>
                <a:spcPts val="11"/>
              </a:spcBef>
            </a:pPr>
            <a:endParaRPr sz="3150">
              <a:latin typeface="Times New Roman"/>
              <a:cs typeface="Times New Roman"/>
            </a:endParaRPr>
          </a:p>
          <a:p>
            <a:pPr marL="9525"/>
            <a:r>
              <a:rPr sz="2400" b="1" dirty="0">
                <a:latin typeface="Calibri"/>
                <a:cs typeface="Calibri"/>
              </a:rPr>
              <a:t>26</a:t>
            </a:r>
            <a:r>
              <a:rPr sz="2400" b="1" spc="-4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days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83304" y="4918233"/>
            <a:ext cx="1359694" cy="103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829"/>
              </a:lnSpc>
            </a:pPr>
            <a:r>
              <a:rPr sz="788" spc="4" dirty="0">
                <a:solidFill>
                  <a:srgbClr val="8B8B8B"/>
                </a:solidFill>
                <a:latin typeface="Calibri"/>
                <a:cs typeface="Calibri"/>
              </a:rPr>
              <a:t>© 2019 </a:t>
            </a:r>
            <a:r>
              <a:rPr sz="788" dirty="0">
                <a:solidFill>
                  <a:srgbClr val="8B8B8B"/>
                </a:solidFill>
                <a:latin typeface="Calibri"/>
                <a:cs typeface="Calibri"/>
              </a:rPr>
              <a:t>STR. All Rights</a:t>
            </a:r>
            <a:r>
              <a:rPr sz="788" spc="-41" dirty="0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sz="788" dirty="0">
                <a:solidFill>
                  <a:srgbClr val="8B8B8B"/>
                </a:solidFill>
                <a:latin typeface="Calibri"/>
                <a:cs typeface="Calibri"/>
              </a:rPr>
              <a:t>Reserved.</a:t>
            </a:r>
            <a:endParaRPr sz="78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1122" y="3940493"/>
            <a:ext cx="7463790" cy="0"/>
          </a:xfrm>
          <a:custGeom>
            <a:avLst/>
            <a:gdLst/>
            <a:ahLst/>
            <a:cxnLst/>
            <a:rect l="l" t="t" r="r" b="b"/>
            <a:pathLst>
              <a:path w="9951720">
                <a:moveTo>
                  <a:pt x="0" y="0"/>
                </a:moveTo>
                <a:lnTo>
                  <a:pt x="9951720" y="0"/>
                </a:lnTo>
              </a:path>
            </a:pathLst>
          </a:custGeom>
          <a:ln w="762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/>
          <p:nvPr/>
        </p:nvSpPr>
        <p:spPr>
          <a:xfrm>
            <a:off x="1361122" y="3397568"/>
            <a:ext cx="7463790" cy="0"/>
          </a:xfrm>
          <a:custGeom>
            <a:avLst/>
            <a:gdLst/>
            <a:ahLst/>
            <a:cxnLst/>
            <a:rect l="l" t="t" r="r" b="b"/>
            <a:pathLst>
              <a:path w="9951720">
                <a:moveTo>
                  <a:pt x="0" y="0"/>
                </a:moveTo>
                <a:lnTo>
                  <a:pt x="9951720" y="0"/>
                </a:lnTo>
              </a:path>
            </a:pathLst>
          </a:custGeom>
          <a:ln w="762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1361122" y="2856547"/>
            <a:ext cx="7463790" cy="0"/>
          </a:xfrm>
          <a:custGeom>
            <a:avLst/>
            <a:gdLst/>
            <a:ahLst/>
            <a:cxnLst/>
            <a:rect l="l" t="t" r="r" b="b"/>
            <a:pathLst>
              <a:path w="9951720">
                <a:moveTo>
                  <a:pt x="0" y="0"/>
                </a:moveTo>
                <a:lnTo>
                  <a:pt x="9951720" y="0"/>
                </a:lnTo>
              </a:path>
            </a:pathLst>
          </a:custGeom>
          <a:ln w="762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1361122" y="2313622"/>
            <a:ext cx="7463790" cy="0"/>
          </a:xfrm>
          <a:custGeom>
            <a:avLst/>
            <a:gdLst/>
            <a:ahLst/>
            <a:cxnLst/>
            <a:rect l="l" t="t" r="r" b="b"/>
            <a:pathLst>
              <a:path w="9951720">
                <a:moveTo>
                  <a:pt x="0" y="0"/>
                </a:moveTo>
                <a:lnTo>
                  <a:pt x="9951720" y="0"/>
                </a:lnTo>
              </a:path>
            </a:pathLst>
          </a:custGeom>
          <a:ln w="762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1361122" y="1772603"/>
            <a:ext cx="7463790" cy="0"/>
          </a:xfrm>
          <a:custGeom>
            <a:avLst/>
            <a:gdLst/>
            <a:ahLst/>
            <a:cxnLst/>
            <a:rect l="l" t="t" r="r" b="b"/>
            <a:pathLst>
              <a:path w="9951720">
                <a:moveTo>
                  <a:pt x="0" y="0"/>
                </a:moveTo>
                <a:lnTo>
                  <a:pt x="9951720" y="0"/>
                </a:lnTo>
              </a:path>
            </a:pathLst>
          </a:custGeom>
          <a:ln w="762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1361122" y="688658"/>
            <a:ext cx="7463790" cy="0"/>
          </a:xfrm>
          <a:custGeom>
            <a:avLst/>
            <a:gdLst/>
            <a:ahLst/>
            <a:cxnLst/>
            <a:rect l="l" t="t" r="r" b="b"/>
            <a:pathLst>
              <a:path w="9951720">
                <a:moveTo>
                  <a:pt x="0" y="0"/>
                </a:moveTo>
                <a:lnTo>
                  <a:pt x="9951720" y="0"/>
                </a:lnTo>
              </a:path>
            </a:pathLst>
          </a:custGeom>
          <a:ln w="762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1361122" y="1231583"/>
            <a:ext cx="7463790" cy="0"/>
          </a:xfrm>
          <a:custGeom>
            <a:avLst/>
            <a:gdLst/>
            <a:ahLst/>
            <a:cxnLst/>
            <a:rect l="l" t="t" r="r" b="b"/>
            <a:pathLst>
              <a:path w="9951720">
                <a:moveTo>
                  <a:pt x="0" y="0"/>
                </a:moveTo>
                <a:lnTo>
                  <a:pt x="9951720" y="0"/>
                </a:lnTo>
              </a:path>
            </a:pathLst>
          </a:custGeom>
          <a:ln w="762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/>
          <p:nvPr/>
        </p:nvSpPr>
        <p:spPr>
          <a:xfrm>
            <a:off x="1370647" y="1871663"/>
            <a:ext cx="4090035" cy="1215390"/>
          </a:xfrm>
          <a:custGeom>
            <a:avLst/>
            <a:gdLst/>
            <a:ahLst/>
            <a:cxnLst/>
            <a:rect l="l" t="t" r="r" b="b"/>
            <a:pathLst>
              <a:path w="5453380" h="1620520">
                <a:moveTo>
                  <a:pt x="0" y="0"/>
                </a:moveTo>
                <a:lnTo>
                  <a:pt x="27939" y="5079"/>
                </a:lnTo>
                <a:lnTo>
                  <a:pt x="55880" y="7620"/>
                </a:lnTo>
                <a:lnTo>
                  <a:pt x="83819" y="15239"/>
                </a:lnTo>
                <a:lnTo>
                  <a:pt x="109219" y="25400"/>
                </a:lnTo>
                <a:lnTo>
                  <a:pt x="137159" y="38100"/>
                </a:lnTo>
                <a:lnTo>
                  <a:pt x="165100" y="48260"/>
                </a:lnTo>
                <a:lnTo>
                  <a:pt x="193039" y="58420"/>
                </a:lnTo>
                <a:lnTo>
                  <a:pt x="218439" y="68579"/>
                </a:lnTo>
                <a:lnTo>
                  <a:pt x="246380" y="83820"/>
                </a:lnTo>
                <a:lnTo>
                  <a:pt x="274319" y="104139"/>
                </a:lnTo>
                <a:lnTo>
                  <a:pt x="302259" y="119379"/>
                </a:lnTo>
                <a:lnTo>
                  <a:pt x="327659" y="129539"/>
                </a:lnTo>
                <a:lnTo>
                  <a:pt x="355600" y="134620"/>
                </a:lnTo>
                <a:lnTo>
                  <a:pt x="383539" y="142239"/>
                </a:lnTo>
                <a:lnTo>
                  <a:pt x="408939" y="149860"/>
                </a:lnTo>
                <a:lnTo>
                  <a:pt x="436880" y="162560"/>
                </a:lnTo>
                <a:lnTo>
                  <a:pt x="464819" y="180339"/>
                </a:lnTo>
                <a:lnTo>
                  <a:pt x="492759" y="195579"/>
                </a:lnTo>
                <a:lnTo>
                  <a:pt x="518159" y="208279"/>
                </a:lnTo>
                <a:lnTo>
                  <a:pt x="546100" y="215900"/>
                </a:lnTo>
                <a:lnTo>
                  <a:pt x="574039" y="231139"/>
                </a:lnTo>
                <a:lnTo>
                  <a:pt x="601980" y="248920"/>
                </a:lnTo>
                <a:lnTo>
                  <a:pt x="627380" y="264160"/>
                </a:lnTo>
                <a:lnTo>
                  <a:pt x="655319" y="276860"/>
                </a:lnTo>
                <a:lnTo>
                  <a:pt x="683259" y="289560"/>
                </a:lnTo>
                <a:lnTo>
                  <a:pt x="711200" y="299720"/>
                </a:lnTo>
                <a:lnTo>
                  <a:pt x="736600" y="317500"/>
                </a:lnTo>
                <a:lnTo>
                  <a:pt x="764539" y="340360"/>
                </a:lnTo>
                <a:lnTo>
                  <a:pt x="792480" y="363220"/>
                </a:lnTo>
                <a:lnTo>
                  <a:pt x="817880" y="386079"/>
                </a:lnTo>
                <a:lnTo>
                  <a:pt x="845819" y="406400"/>
                </a:lnTo>
                <a:lnTo>
                  <a:pt x="873759" y="421639"/>
                </a:lnTo>
                <a:lnTo>
                  <a:pt x="901700" y="436879"/>
                </a:lnTo>
                <a:lnTo>
                  <a:pt x="927100" y="452120"/>
                </a:lnTo>
                <a:lnTo>
                  <a:pt x="955039" y="464820"/>
                </a:lnTo>
                <a:lnTo>
                  <a:pt x="982980" y="477520"/>
                </a:lnTo>
                <a:lnTo>
                  <a:pt x="1010919" y="495300"/>
                </a:lnTo>
                <a:lnTo>
                  <a:pt x="1064259" y="523239"/>
                </a:lnTo>
                <a:lnTo>
                  <a:pt x="1120139" y="541020"/>
                </a:lnTo>
                <a:lnTo>
                  <a:pt x="1145539" y="543560"/>
                </a:lnTo>
                <a:lnTo>
                  <a:pt x="1173480" y="551179"/>
                </a:lnTo>
                <a:lnTo>
                  <a:pt x="1201420" y="556260"/>
                </a:lnTo>
                <a:lnTo>
                  <a:pt x="1226820" y="566420"/>
                </a:lnTo>
                <a:lnTo>
                  <a:pt x="1254759" y="576579"/>
                </a:lnTo>
                <a:lnTo>
                  <a:pt x="1282700" y="584200"/>
                </a:lnTo>
                <a:lnTo>
                  <a:pt x="1310639" y="594360"/>
                </a:lnTo>
                <a:lnTo>
                  <a:pt x="1336039" y="604520"/>
                </a:lnTo>
                <a:lnTo>
                  <a:pt x="1363980" y="609600"/>
                </a:lnTo>
                <a:lnTo>
                  <a:pt x="1391920" y="617220"/>
                </a:lnTo>
                <a:lnTo>
                  <a:pt x="1419859" y="629920"/>
                </a:lnTo>
                <a:lnTo>
                  <a:pt x="1445259" y="637539"/>
                </a:lnTo>
                <a:lnTo>
                  <a:pt x="1473199" y="645160"/>
                </a:lnTo>
                <a:lnTo>
                  <a:pt x="1501140" y="650239"/>
                </a:lnTo>
                <a:lnTo>
                  <a:pt x="1529080" y="657860"/>
                </a:lnTo>
                <a:lnTo>
                  <a:pt x="1554480" y="668020"/>
                </a:lnTo>
                <a:lnTo>
                  <a:pt x="1582420" y="680720"/>
                </a:lnTo>
                <a:lnTo>
                  <a:pt x="1610359" y="695960"/>
                </a:lnTo>
                <a:lnTo>
                  <a:pt x="1635759" y="706120"/>
                </a:lnTo>
                <a:lnTo>
                  <a:pt x="1663699" y="711200"/>
                </a:lnTo>
                <a:lnTo>
                  <a:pt x="1691640" y="713739"/>
                </a:lnTo>
                <a:lnTo>
                  <a:pt x="1719580" y="716279"/>
                </a:lnTo>
                <a:lnTo>
                  <a:pt x="1744980" y="726439"/>
                </a:lnTo>
                <a:lnTo>
                  <a:pt x="1772920" y="734060"/>
                </a:lnTo>
                <a:lnTo>
                  <a:pt x="1800859" y="744220"/>
                </a:lnTo>
                <a:lnTo>
                  <a:pt x="1828799" y="754379"/>
                </a:lnTo>
                <a:lnTo>
                  <a:pt x="1854199" y="764539"/>
                </a:lnTo>
                <a:lnTo>
                  <a:pt x="1882140" y="769620"/>
                </a:lnTo>
                <a:lnTo>
                  <a:pt x="1910080" y="772160"/>
                </a:lnTo>
                <a:lnTo>
                  <a:pt x="1938020" y="782320"/>
                </a:lnTo>
                <a:lnTo>
                  <a:pt x="1963420" y="792479"/>
                </a:lnTo>
                <a:lnTo>
                  <a:pt x="1991359" y="802639"/>
                </a:lnTo>
                <a:lnTo>
                  <a:pt x="2019299" y="812800"/>
                </a:lnTo>
                <a:lnTo>
                  <a:pt x="2044699" y="822960"/>
                </a:lnTo>
                <a:lnTo>
                  <a:pt x="2072640" y="833120"/>
                </a:lnTo>
                <a:lnTo>
                  <a:pt x="2100580" y="838200"/>
                </a:lnTo>
                <a:lnTo>
                  <a:pt x="2128520" y="845820"/>
                </a:lnTo>
                <a:lnTo>
                  <a:pt x="2153920" y="850900"/>
                </a:lnTo>
                <a:lnTo>
                  <a:pt x="2181860" y="858520"/>
                </a:lnTo>
                <a:lnTo>
                  <a:pt x="2209799" y="866139"/>
                </a:lnTo>
                <a:lnTo>
                  <a:pt x="2237740" y="876300"/>
                </a:lnTo>
                <a:lnTo>
                  <a:pt x="2263140" y="883920"/>
                </a:lnTo>
                <a:lnTo>
                  <a:pt x="2291080" y="891539"/>
                </a:lnTo>
                <a:lnTo>
                  <a:pt x="2319020" y="901700"/>
                </a:lnTo>
                <a:lnTo>
                  <a:pt x="2346960" y="911860"/>
                </a:lnTo>
                <a:lnTo>
                  <a:pt x="2372360" y="922020"/>
                </a:lnTo>
                <a:lnTo>
                  <a:pt x="2400299" y="929639"/>
                </a:lnTo>
                <a:lnTo>
                  <a:pt x="2428240" y="934720"/>
                </a:lnTo>
                <a:lnTo>
                  <a:pt x="2453640" y="942339"/>
                </a:lnTo>
                <a:lnTo>
                  <a:pt x="2481580" y="955039"/>
                </a:lnTo>
                <a:lnTo>
                  <a:pt x="2509520" y="970279"/>
                </a:lnTo>
                <a:lnTo>
                  <a:pt x="2537460" y="975360"/>
                </a:lnTo>
                <a:lnTo>
                  <a:pt x="2562860" y="982979"/>
                </a:lnTo>
                <a:lnTo>
                  <a:pt x="2590799" y="990600"/>
                </a:lnTo>
                <a:lnTo>
                  <a:pt x="2618740" y="993139"/>
                </a:lnTo>
                <a:lnTo>
                  <a:pt x="2646680" y="993139"/>
                </a:lnTo>
                <a:lnTo>
                  <a:pt x="2672080" y="995679"/>
                </a:lnTo>
                <a:lnTo>
                  <a:pt x="2700020" y="998220"/>
                </a:lnTo>
                <a:lnTo>
                  <a:pt x="2727960" y="1003300"/>
                </a:lnTo>
                <a:lnTo>
                  <a:pt x="2755899" y="1010920"/>
                </a:lnTo>
                <a:lnTo>
                  <a:pt x="2781299" y="1021079"/>
                </a:lnTo>
                <a:lnTo>
                  <a:pt x="2809240" y="1028700"/>
                </a:lnTo>
                <a:lnTo>
                  <a:pt x="2837180" y="1033779"/>
                </a:lnTo>
                <a:lnTo>
                  <a:pt x="2862580" y="1046479"/>
                </a:lnTo>
                <a:lnTo>
                  <a:pt x="2890520" y="1056639"/>
                </a:lnTo>
                <a:lnTo>
                  <a:pt x="2918460" y="1064260"/>
                </a:lnTo>
                <a:lnTo>
                  <a:pt x="2946399" y="1079500"/>
                </a:lnTo>
                <a:lnTo>
                  <a:pt x="2971799" y="1089660"/>
                </a:lnTo>
                <a:lnTo>
                  <a:pt x="2999740" y="1102360"/>
                </a:lnTo>
                <a:lnTo>
                  <a:pt x="3027680" y="1104900"/>
                </a:lnTo>
                <a:lnTo>
                  <a:pt x="3055620" y="1112520"/>
                </a:lnTo>
                <a:lnTo>
                  <a:pt x="3081020" y="1120139"/>
                </a:lnTo>
                <a:lnTo>
                  <a:pt x="3108960" y="1125220"/>
                </a:lnTo>
                <a:lnTo>
                  <a:pt x="3136899" y="1132839"/>
                </a:lnTo>
                <a:lnTo>
                  <a:pt x="3164840" y="1140460"/>
                </a:lnTo>
                <a:lnTo>
                  <a:pt x="3190240" y="1145539"/>
                </a:lnTo>
                <a:lnTo>
                  <a:pt x="3218180" y="1150620"/>
                </a:lnTo>
                <a:lnTo>
                  <a:pt x="3246120" y="1155700"/>
                </a:lnTo>
                <a:lnTo>
                  <a:pt x="3271520" y="1158239"/>
                </a:lnTo>
                <a:lnTo>
                  <a:pt x="3299459" y="1160780"/>
                </a:lnTo>
                <a:lnTo>
                  <a:pt x="3327400" y="1163320"/>
                </a:lnTo>
                <a:lnTo>
                  <a:pt x="3355340" y="1168400"/>
                </a:lnTo>
                <a:lnTo>
                  <a:pt x="3380740" y="1178560"/>
                </a:lnTo>
                <a:lnTo>
                  <a:pt x="3408679" y="1183639"/>
                </a:lnTo>
                <a:lnTo>
                  <a:pt x="3436620" y="1191260"/>
                </a:lnTo>
                <a:lnTo>
                  <a:pt x="3464559" y="1198880"/>
                </a:lnTo>
                <a:lnTo>
                  <a:pt x="3489959" y="1206500"/>
                </a:lnTo>
                <a:lnTo>
                  <a:pt x="3517900" y="1219200"/>
                </a:lnTo>
                <a:lnTo>
                  <a:pt x="3545840" y="1224280"/>
                </a:lnTo>
                <a:lnTo>
                  <a:pt x="3573779" y="1229360"/>
                </a:lnTo>
                <a:lnTo>
                  <a:pt x="3599179" y="1234439"/>
                </a:lnTo>
                <a:lnTo>
                  <a:pt x="3627120" y="1242060"/>
                </a:lnTo>
                <a:lnTo>
                  <a:pt x="3655059" y="1249680"/>
                </a:lnTo>
                <a:lnTo>
                  <a:pt x="3680459" y="1254760"/>
                </a:lnTo>
                <a:lnTo>
                  <a:pt x="3708400" y="1267460"/>
                </a:lnTo>
                <a:lnTo>
                  <a:pt x="3736340" y="1272539"/>
                </a:lnTo>
                <a:lnTo>
                  <a:pt x="3764279" y="1275080"/>
                </a:lnTo>
                <a:lnTo>
                  <a:pt x="3789679" y="1280160"/>
                </a:lnTo>
                <a:lnTo>
                  <a:pt x="3817620" y="1287780"/>
                </a:lnTo>
                <a:lnTo>
                  <a:pt x="3845559" y="1295400"/>
                </a:lnTo>
                <a:lnTo>
                  <a:pt x="3873500" y="1297939"/>
                </a:lnTo>
                <a:lnTo>
                  <a:pt x="3898900" y="1308100"/>
                </a:lnTo>
                <a:lnTo>
                  <a:pt x="3926840" y="1318260"/>
                </a:lnTo>
                <a:lnTo>
                  <a:pt x="3954779" y="1320800"/>
                </a:lnTo>
                <a:lnTo>
                  <a:pt x="3982720" y="1328420"/>
                </a:lnTo>
                <a:lnTo>
                  <a:pt x="4008120" y="1338580"/>
                </a:lnTo>
                <a:lnTo>
                  <a:pt x="4036059" y="1346200"/>
                </a:lnTo>
                <a:lnTo>
                  <a:pt x="4064000" y="1351280"/>
                </a:lnTo>
                <a:lnTo>
                  <a:pt x="4089400" y="1358900"/>
                </a:lnTo>
                <a:lnTo>
                  <a:pt x="4117340" y="1363980"/>
                </a:lnTo>
                <a:lnTo>
                  <a:pt x="4145279" y="1366520"/>
                </a:lnTo>
                <a:lnTo>
                  <a:pt x="4173220" y="1369060"/>
                </a:lnTo>
                <a:lnTo>
                  <a:pt x="4198620" y="1371600"/>
                </a:lnTo>
                <a:lnTo>
                  <a:pt x="4226559" y="1379220"/>
                </a:lnTo>
                <a:lnTo>
                  <a:pt x="4254500" y="1381760"/>
                </a:lnTo>
                <a:lnTo>
                  <a:pt x="4282440" y="1391920"/>
                </a:lnTo>
                <a:lnTo>
                  <a:pt x="4307840" y="1397000"/>
                </a:lnTo>
                <a:lnTo>
                  <a:pt x="4335780" y="1397000"/>
                </a:lnTo>
                <a:lnTo>
                  <a:pt x="4363720" y="1391920"/>
                </a:lnTo>
                <a:lnTo>
                  <a:pt x="4391659" y="1394460"/>
                </a:lnTo>
                <a:lnTo>
                  <a:pt x="4417059" y="1402080"/>
                </a:lnTo>
                <a:lnTo>
                  <a:pt x="4445000" y="1409700"/>
                </a:lnTo>
                <a:lnTo>
                  <a:pt x="4472940" y="1412239"/>
                </a:lnTo>
                <a:lnTo>
                  <a:pt x="4498340" y="1414780"/>
                </a:lnTo>
                <a:lnTo>
                  <a:pt x="4526280" y="1412239"/>
                </a:lnTo>
                <a:lnTo>
                  <a:pt x="4554220" y="1412239"/>
                </a:lnTo>
                <a:lnTo>
                  <a:pt x="4582159" y="1412239"/>
                </a:lnTo>
                <a:lnTo>
                  <a:pt x="4607559" y="1414780"/>
                </a:lnTo>
                <a:lnTo>
                  <a:pt x="4635500" y="1417320"/>
                </a:lnTo>
                <a:lnTo>
                  <a:pt x="4663440" y="1424939"/>
                </a:lnTo>
                <a:lnTo>
                  <a:pt x="4691380" y="1427480"/>
                </a:lnTo>
                <a:lnTo>
                  <a:pt x="4716780" y="1432560"/>
                </a:lnTo>
                <a:lnTo>
                  <a:pt x="4744720" y="1430020"/>
                </a:lnTo>
                <a:lnTo>
                  <a:pt x="4772660" y="1435100"/>
                </a:lnTo>
                <a:lnTo>
                  <a:pt x="4800600" y="1450339"/>
                </a:lnTo>
                <a:lnTo>
                  <a:pt x="4826000" y="1468120"/>
                </a:lnTo>
                <a:lnTo>
                  <a:pt x="4853940" y="1483360"/>
                </a:lnTo>
                <a:lnTo>
                  <a:pt x="4881880" y="1496060"/>
                </a:lnTo>
                <a:lnTo>
                  <a:pt x="4907280" y="1503680"/>
                </a:lnTo>
                <a:lnTo>
                  <a:pt x="4935220" y="1506220"/>
                </a:lnTo>
                <a:lnTo>
                  <a:pt x="4963160" y="1508760"/>
                </a:lnTo>
                <a:lnTo>
                  <a:pt x="4991100" y="1516380"/>
                </a:lnTo>
                <a:lnTo>
                  <a:pt x="5016500" y="1521460"/>
                </a:lnTo>
                <a:lnTo>
                  <a:pt x="5044440" y="1529080"/>
                </a:lnTo>
                <a:lnTo>
                  <a:pt x="5072380" y="1534160"/>
                </a:lnTo>
                <a:lnTo>
                  <a:pt x="5100320" y="1539239"/>
                </a:lnTo>
                <a:lnTo>
                  <a:pt x="5125720" y="1544320"/>
                </a:lnTo>
                <a:lnTo>
                  <a:pt x="5153660" y="1546860"/>
                </a:lnTo>
                <a:lnTo>
                  <a:pt x="5181600" y="1551939"/>
                </a:lnTo>
                <a:lnTo>
                  <a:pt x="5209540" y="1557020"/>
                </a:lnTo>
                <a:lnTo>
                  <a:pt x="5234940" y="1567180"/>
                </a:lnTo>
                <a:lnTo>
                  <a:pt x="5262880" y="1577339"/>
                </a:lnTo>
                <a:lnTo>
                  <a:pt x="5290820" y="1590039"/>
                </a:lnTo>
                <a:lnTo>
                  <a:pt x="5316220" y="1595120"/>
                </a:lnTo>
                <a:lnTo>
                  <a:pt x="5344160" y="1597660"/>
                </a:lnTo>
                <a:lnTo>
                  <a:pt x="5372100" y="1600200"/>
                </a:lnTo>
                <a:lnTo>
                  <a:pt x="5400040" y="1600200"/>
                </a:lnTo>
                <a:lnTo>
                  <a:pt x="5425440" y="1610360"/>
                </a:lnTo>
                <a:lnTo>
                  <a:pt x="5453380" y="1620520"/>
                </a:lnTo>
              </a:path>
            </a:pathLst>
          </a:custGeom>
          <a:ln w="38099">
            <a:solidFill>
              <a:srgbClr val="84BC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/>
          <p:nvPr/>
        </p:nvSpPr>
        <p:spPr>
          <a:xfrm>
            <a:off x="5460682" y="3087053"/>
            <a:ext cx="3352800" cy="196215"/>
          </a:xfrm>
          <a:custGeom>
            <a:avLst/>
            <a:gdLst/>
            <a:ahLst/>
            <a:cxnLst/>
            <a:rect l="l" t="t" r="r" b="b"/>
            <a:pathLst>
              <a:path w="4470400" h="261620">
                <a:moveTo>
                  <a:pt x="0" y="0"/>
                </a:moveTo>
                <a:lnTo>
                  <a:pt x="27940" y="10159"/>
                </a:lnTo>
                <a:lnTo>
                  <a:pt x="55880" y="17779"/>
                </a:lnTo>
                <a:lnTo>
                  <a:pt x="81280" y="22859"/>
                </a:lnTo>
                <a:lnTo>
                  <a:pt x="109220" y="27939"/>
                </a:lnTo>
                <a:lnTo>
                  <a:pt x="137160" y="27939"/>
                </a:lnTo>
                <a:lnTo>
                  <a:pt x="165100" y="27939"/>
                </a:lnTo>
                <a:lnTo>
                  <a:pt x="190500" y="27939"/>
                </a:lnTo>
                <a:lnTo>
                  <a:pt x="218440" y="25399"/>
                </a:lnTo>
                <a:lnTo>
                  <a:pt x="246380" y="25399"/>
                </a:lnTo>
                <a:lnTo>
                  <a:pt x="271780" y="25399"/>
                </a:lnTo>
                <a:lnTo>
                  <a:pt x="299720" y="27939"/>
                </a:lnTo>
                <a:lnTo>
                  <a:pt x="327660" y="30479"/>
                </a:lnTo>
                <a:lnTo>
                  <a:pt x="355600" y="35559"/>
                </a:lnTo>
                <a:lnTo>
                  <a:pt x="381000" y="43179"/>
                </a:lnTo>
                <a:lnTo>
                  <a:pt x="408940" y="45719"/>
                </a:lnTo>
                <a:lnTo>
                  <a:pt x="436880" y="48259"/>
                </a:lnTo>
                <a:lnTo>
                  <a:pt x="464820" y="50799"/>
                </a:lnTo>
                <a:lnTo>
                  <a:pt x="490220" y="55879"/>
                </a:lnTo>
                <a:lnTo>
                  <a:pt x="518160" y="58419"/>
                </a:lnTo>
                <a:lnTo>
                  <a:pt x="546100" y="63499"/>
                </a:lnTo>
                <a:lnTo>
                  <a:pt x="574040" y="66039"/>
                </a:lnTo>
                <a:lnTo>
                  <a:pt x="599440" y="66039"/>
                </a:lnTo>
                <a:lnTo>
                  <a:pt x="627380" y="66039"/>
                </a:lnTo>
                <a:lnTo>
                  <a:pt x="655320" y="68579"/>
                </a:lnTo>
                <a:lnTo>
                  <a:pt x="680720" y="76199"/>
                </a:lnTo>
                <a:lnTo>
                  <a:pt x="708660" y="76199"/>
                </a:lnTo>
                <a:lnTo>
                  <a:pt x="736600" y="81279"/>
                </a:lnTo>
                <a:lnTo>
                  <a:pt x="764540" y="83819"/>
                </a:lnTo>
                <a:lnTo>
                  <a:pt x="789940" y="88899"/>
                </a:lnTo>
                <a:lnTo>
                  <a:pt x="817880" y="93979"/>
                </a:lnTo>
                <a:lnTo>
                  <a:pt x="845820" y="99059"/>
                </a:lnTo>
                <a:lnTo>
                  <a:pt x="873760" y="104139"/>
                </a:lnTo>
                <a:lnTo>
                  <a:pt x="899160" y="109219"/>
                </a:lnTo>
                <a:lnTo>
                  <a:pt x="927100" y="111759"/>
                </a:lnTo>
                <a:lnTo>
                  <a:pt x="955040" y="114299"/>
                </a:lnTo>
                <a:lnTo>
                  <a:pt x="982980" y="116839"/>
                </a:lnTo>
                <a:lnTo>
                  <a:pt x="1008380" y="116839"/>
                </a:lnTo>
                <a:lnTo>
                  <a:pt x="1036320" y="119379"/>
                </a:lnTo>
                <a:lnTo>
                  <a:pt x="1064260" y="121919"/>
                </a:lnTo>
                <a:lnTo>
                  <a:pt x="1089660" y="121919"/>
                </a:lnTo>
                <a:lnTo>
                  <a:pt x="1117600" y="124459"/>
                </a:lnTo>
                <a:lnTo>
                  <a:pt x="1145540" y="121919"/>
                </a:lnTo>
                <a:lnTo>
                  <a:pt x="1173480" y="124459"/>
                </a:lnTo>
                <a:lnTo>
                  <a:pt x="1198880" y="124459"/>
                </a:lnTo>
                <a:lnTo>
                  <a:pt x="1226820" y="126999"/>
                </a:lnTo>
                <a:lnTo>
                  <a:pt x="1254760" y="134619"/>
                </a:lnTo>
                <a:lnTo>
                  <a:pt x="1282700" y="139699"/>
                </a:lnTo>
                <a:lnTo>
                  <a:pt x="1308100" y="147319"/>
                </a:lnTo>
                <a:lnTo>
                  <a:pt x="1336040" y="152399"/>
                </a:lnTo>
                <a:lnTo>
                  <a:pt x="1363980" y="154939"/>
                </a:lnTo>
                <a:lnTo>
                  <a:pt x="1391920" y="154939"/>
                </a:lnTo>
                <a:lnTo>
                  <a:pt x="1417320" y="160019"/>
                </a:lnTo>
                <a:lnTo>
                  <a:pt x="1445260" y="162559"/>
                </a:lnTo>
                <a:lnTo>
                  <a:pt x="1473200" y="165099"/>
                </a:lnTo>
                <a:lnTo>
                  <a:pt x="1498600" y="170179"/>
                </a:lnTo>
                <a:lnTo>
                  <a:pt x="1526540" y="180339"/>
                </a:lnTo>
                <a:lnTo>
                  <a:pt x="1554480" y="185419"/>
                </a:lnTo>
                <a:lnTo>
                  <a:pt x="1582420" y="187959"/>
                </a:lnTo>
                <a:lnTo>
                  <a:pt x="1607820" y="187959"/>
                </a:lnTo>
                <a:lnTo>
                  <a:pt x="1635760" y="190499"/>
                </a:lnTo>
                <a:lnTo>
                  <a:pt x="1663700" y="187959"/>
                </a:lnTo>
                <a:lnTo>
                  <a:pt x="1691640" y="187959"/>
                </a:lnTo>
                <a:lnTo>
                  <a:pt x="1717040" y="185419"/>
                </a:lnTo>
                <a:lnTo>
                  <a:pt x="1744980" y="182879"/>
                </a:lnTo>
                <a:lnTo>
                  <a:pt x="1772920" y="180339"/>
                </a:lnTo>
                <a:lnTo>
                  <a:pt x="1800860" y="185419"/>
                </a:lnTo>
                <a:lnTo>
                  <a:pt x="1826260" y="190499"/>
                </a:lnTo>
                <a:lnTo>
                  <a:pt x="1854200" y="198119"/>
                </a:lnTo>
                <a:lnTo>
                  <a:pt x="1882140" y="205739"/>
                </a:lnTo>
                <a:lnTo>
                  <a:pt x="1907540" y="213359"/>
                </a:lnTo>
                <a:lnTo>
                  <a:pt x="1935480" y="215899"/>
                </a:lnTo>
                <a:lnTo>
                  <a:pt x="1963420" y="213359"/>
                </a:lnTo>
                <a:lnTo>
                  <a:pt x="1991360" y="215899"/>
                </a:lnTo>
                <a:lnTo>
                  <a:pt x="2016760" y="220979"/>
                </a:lnTo>
                <a:lnTo>
                  <a:pt x="2044700" y="226059"/>
                </a:lnTo>
                <a:lnTo>
                  <a:pt x="2072640" y="233679"/>
                </a:lnTo>
                <a:lnTo>
                  <a:pt x="2100580" y="241299"/>
                </a:lnTo>
                <a:lnTo>
                  <a:pt x="2125980" y="246379"/>
                </a:lnTo>
                <a:lnTo>
                  <a:pt x="2153920" y="248919"/>
                </a:lnTo>
                <a:lnTo>
                  <a:pt x="2181860" y="248919"/>
                </a:lnTo>
                <a:lnTo>
                  <a:pt x="2209800" y="253999"/>
                </a:lnTo>
                <a:lnTo>
                  <a:pt x="2400300" y="253999"/>
                </a:lnTo>
                <a:lnTo>
                  <a:pt x="2425700" y="256539"/>
                </a:lnTo>
                <a:lnTo>
                  <a:pt x="2453640" y="259079"/>
                </a:lnTo>
                <a:lnTo>
                  <a:pt x="2481580" y="259079"/>
                </a:lnTo>
                <a:lnTo>
                  <a:pt x="2509520" y="259079"/>
                </a:lnTo>
                <a:lnTo>
                  <a:pt x="2534920" y="256539"/>
                </a:lnTo>
                <a:lnTo>
                  <a:pt x="2562860" y="253999"/>
                </a:lnTo>
                <a:lnTo>
                  <a:pt x="2590800" y="251459"/>
                </a:lnTo>
                <a:lnTo>
                  <a:pt x="2618740" y="251459"/>
                </a:lnTo>
                <a:lnTo>
                  <a:pt x="2644140" y="251459"/>
                </a:lnTo>
                <a:lnTo>
                  <a:pt x="2672080" y="248919"/>
                </a:lnTo>
                <a:lnTo>
                  <a:pt x="2700020" y="248919"/>
                </a:lnTo>
                <a:lnTo>
                  <a:pt x="2725420" y="248919"/>
                </a:lnTo>
                <a:lnTo>
                  <a:pt x="2753360" y="251459"/>
                </a:lnTo>
                <a:lnTo>
                  <a:pt x="2781300" y="253999"/>
                </a:lnTo>
                <a:lnTo>
                  <a:pt x="2809240" y="253999"/>
                </a:lnTo>
                <a:lnTo>
                  <a:pt x="2834640" y="253999"/>
                </a:lnTo>
                <a:lnTo>
                  <a:pt x="2862580" y="256539"/>
                </a:lnTo>
                <a:lnTo>
                  <a:pt x="2890520" y="261619"/>
                </a:lnTo>
                <a:lnTo>
                  <a:pt x="2918460" y="261619"/>
                </a:lnTo>
                <a:lnTo>
                  <a:pt x="2943860" y="261619"/>
                </a:lnTo>
                <a:lnTo>
                  <a:pt x="2971800" y="259079"/>
                </a:lnTo>
                <a:lnTo>
                  <a:pt x="2999740" y="256539"/>
                </a:lnTo>
                <a:lnTo>
                  <a:pt x="3027680" y="253999"/>
                </a:lnTo>
                <a:lnTo>
                  <a:pt x="3053080" y="251459"/>
                </a:lnTo>
                <a:lnTo>
                  <a:pt x="3081020" y="253999"/>
                </a:lnTo>
                <a:lnTo>
                  <a:pt x="3108960" y="251459"/>
                </a:lnTo>
                <a:lnTo>
                  <a:pt x="3134360" y="248919"/>
                </a:lnTo>
                <a:lnTo>
                  <a:pt x="3162300" y="251459"/>
                </a:lnTo>
                <a:lnTo>
                  <a:pt x="3190240" y="248919"/>
                </a:lnTo>
                <a:lnTo>
                  <a:pt x="3218180" y="246379"/>
                </a:lnTo>
                <a:lnTo>
                  <a:pt x="3243580" y="241299"/>
                </a:lnTo>
                <a:lnTo>
                  <a:pt x="3271520" y="238759"/>
                </a:lnTo>
                <a:lnTo>
                  <a:pt x="3299460" y="236219"/>
                </a:lnTo>
                <a:lnTo>
                  <a:pt x="3327400" y="236219"/>
                </a:lnTo>
                <a:lnTo>
                  <a:pt x="3352800" y="243839"/>
                </a:lnTo>
                <a:lnTo>
                  <a:pt x="3380740" y="248919"/>
                </a:lnTo>
                <a:lnTo>
                  <a:pt x="3408680" y="251459"/>
                </a:lnTo>
                <a:lnTo>
                  <a:pt x="3436620" y="253999"/>
                </a:lnTo>
                <a:lnTo>
                  <a:pt x="3462020" y="253999"/>
                </a:lnTo>
                <a:lnTo>
                  <a:pt x="3489960" y="251459"/>
                </a:lnTo>
                <a:lnTo>
                  <a:pt x="3517900" y="251459"/>
                </a:lnTo>
                <a:lnTo>
                  <a:pt x="3543300" y="248919"/>
                </a:lnTo>
                <a:lnTo>
                  <a:pt x="3571240" y="248919"/>
                </a:lnTo>
                <a:lnTo>
                  <a:pt x="3599180" y="246379"/>
                </a:lnTo>
                <a:lnTo>
                  <a:pt x="3627120" y="241299"/>
                </a:lnTo>
                <a:lnTo>
                  <a:pt x="3652520" y="236219"/>
                </a:lnTo>
                <a:lnTo>
                  <a:pt x="3680460" y="233679"/>
                </a:lnTo>
                <a:lnTo>
                  <a:pt x="3708400" y="231139"/>
                </a:lnTo>
                <a:lnTo>
                  <a:pt x="3736340" y="231139"/>
                </a:lnTo>
                <a:lnTo>
                  <a:pt x="3761740" y="231139"/>
                </a:lnTo>
                <a:lnTo>
                  <a:pt x="3789680" y="233679"/>
                </a:lnTo>
                <a:lnTo>
                  <a:pt x="3817620" y="231139"/>
                </a:lnTo>
                <a:lnTo>
                  <a:pt x="3845560" y="226059"/>
                </a:lnTo>
                <a:lnTo>
                  <a:pt x="3870960" y="218439"/>
                </a:lnTo>
                <a:lnTo>
                  <a:pt x="3898900" y="213359"/>
                </a:lnTo>
                <a:lnTo>
                  <a:pt x="3926840" y="205739"/>
                </a:lnTo>
                <a:lnTo>
                  <a:pt x="3952240" y="198119"/>
                </a:lnTo>
                <a:lnTo>
                  <a:pt x="3980180" y="190499"/>
                </a:lnTo>
                <a:lnTo>
                  <a:pt x="4008120" y="180339"/>
                </a:lnTo>
                <a:lnTo>
                  <a:pt x="4036060" y="167639"/>
                </a:lnTo>
                <a:lnTo>
                  <a:pt x="4061460" y="132079"/>
                </a:lnTo>
                <a:lnTo>
                  <a:pt x="4089400" y="124459"/>
                </a:lnTo>
                <a:lnTo>
                  <a:pt x="4117340" y="121919"/>
                </a:lnTo>
                <a:lnTo>
                  <a:pt x="4145280" y="116839"/>
                </a:lnTo>
                <a:lnTo>
                  <a:pt x="4170680" y="111759"/>
                </a:lnTo>
                <a:lnTo>
                  <a:pt x="4198620" y="106679"/>
                </a:lnTo>
                <a:lnTo>
                  <a:pt x="4226560" y="101599"/>
                </a:lnTo>
                <a:lnTo>
                  <a:pt x="4254500" y="101599"/>
                </a:lnTo>
                <a:lnTo>
                  <a:pt x="4279900" y="106679"/>
                </a:lnTo>
                <a:lnTo>
                  <a:pt x="4307840" y="106679"/>
                </a:lnTo>
                <a:lnTo>
                  <a:pt x="4335780" y="106679"/>
                </a:lnTo>
                <a:lnTo>
                  <a:pt x="4361180" y="109219"/>
                </a:lnTo>
                <a:lnTo>
                  <a:pt x="4389120" y="106679"/>
                </a:lnTo>
                <a:lnTo>
                  <a:pt x="4417060" y="106679"/>
                </a:lnTo>
                <a:lnTo>
                  <a:pt x="4445000" y="104139"/>
                </a:lnTo>
                <a:lnTo>
                  <a:pt x="4470400" y="101599"/>
                </a:lnTo>
              </a:path>
            </a:pathLst>
          </a:custGeom>
          <a:ln w="38100">
            <a:solidFill>
              <a:srgbClr val="84BC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/>
          <p:nvPr/>
        </p:nvSpPr>
        <p:spPr>
          <a:xfrm>
            <a:off x="1370647" y="1677353"/>
            <a:ext cx="4090035" cy="1400175"/>
          </a:xfrm>
          <a:custGeom>
            <a:avLst/>
            <a:gdLst/>
            <a:ahLst/>
            <a:cxnLst/>
            <a:rect l="l" t="t" r="r" b="b"/>
            <a:pathLst>
              <a:path w="5453380" h="1866900">
                <a:moveTo>
                  <a:pt x="0" y="0"/>
                </a:moveTo>
                <a:lnTo>
                  <a:pt x="27939" y="7619"/>
                </a:lnTo>
                <a:lnTo>
                  <a:pt x="55880" y="15239"/>
                </a:lnTo>
                <a:lnTo>
                  <a:pt x="83819" y="27939"/>
                </a:lnTo>
                <a:lnTo>
                  <a:pt x="109219" y="35559"/>
                </a:lnTo>
                <a:lnTo>
                  <a:pt x="137159" y="50800"/>
                </a:lnTo>
                <a:lnTo>
                  <a:pt x="165100" y="58419"/>
                </a:lnTo>
                <a:lnTo>
                  <a:pt x="193039" y="63500"/>
                </a:lnTo>
                <a:lnTo>
                  <a:pt x="218439" y="68579"/>
                </a:lnTo>
                <a:lnTo>
                  <a:pt x="246380" y="78739"/>
                </a:lnTo>
                <a:lnTo>
                  <a:pt x="274319" y="91439"/>
                </a:lnTo>
                <a:lnTo>
                  <a:pt x="302259" y="109219"/>
                </a:lnTo>
                <a:lnTo>
                  <a:pt x="327659" y="119379"/>
                </a:lnTo>
                <a:lnTo>
                  <a:pt x="355600" y="127000"/>
                </a:lnTo>
                <a:lnTo>
                  <a:pt x="383539" y="137159"/>
                </a:lnTo>
                <a:lnTo>
                  <a:pt x="408939" y="152400"/>
                </a:lnTo>
                <a:lnTo>
                  <a:pt x="436880" y="167639"/>
                </a:lnTo>
                <a:lnTo>
                  <a:pt x="464819" y="182879"/>
                </a:lnTo>
                <a:lnTo>
                  <a:pt x="492759" y="195579"/>
                </a:lnTo>
                <a:lnTo>
                  <a:pt x="518159" y="205739"/>
                </a:lnTo>
                <a:lnTo>
                  <a:pt x="546100" y="213359"/>
                </a:lnTo>
                <a:lnTo>
                  <a:pt x="574039" y="220979"/>
                </a:lnTo>
                <a:lnTo>
                  <a:pt x="601980" y="236219"/>
                </a:lnTo>
                <a:lnTo>
                  <a:pt x="627380" y="251459"/>
                </a:lnTo>
                <a:lnTo>
                  <a:pt x="655319" y="266700"/>
                </a:lnTo>
                <a:lnTo>
                  <a:pt x="683259" y="279400"/>
                </a:lnTo>
                <a:lnTo>
                  <a:pt x="711200" y="292100"/>
                </a:lnTo>
                <a:lnTo>
                  <a:pt x="736600" y="302259"/>
                </a:lnTo>
                <a:lnTo>
                  <a:pt x="764539" y="317500"/>
                </a:lnTo>
                <a:lnTo>
                  <a:pt x="792480" y="330200"/>
                </a:lnTo>
                <a:lnTo>
                  <a:pt x="817880" y="345439"/>
                </a:lnTo>
                <a:lnTo>
                  <a:pt x="845819" y="363219"/>
                </a:lnTo>
                <a:lnTo>
                  <a:pt x="873759" y="373379"/>
                </a:lnTo>
                <a:lnTo>
                  <a:pt x="901700" y="388619"/>
                </a:lnTo>
                <a:lnTo>
                  <a:pt x="927100" y="401319"/>
                </a:lnTo>
                <a:lnTo>
                  <a:pt x="955039" y="416559"/>
                </a:lnTo>
                <a:lnTo>
                  <a:pt x="982980" y="434339"/>
                </a:lnTo>
                <a:lnTo>
                  <a:pt x="1010919" y="449579"/>
                </a:lnTo>
                <a:lnTo>
                  <a:pt x="1036319" y="462279"/>
                </a:lnTo>
                <a:lnTo>
                  <a:pt x="1064259" y="472439"/>
                </a:lnTo>
                <a:lnTo>
                  <a:pt x="1092200" y="485139"/>
                </a:lnTo>
                <a:lnTo>
                  <a:pt x="1120139" y="495300"/>
                </a:lnTo>
                <a:lnTo>
                  <a:pt x="1145539" y="505459"/>
                </a:lnTo>
                <a:lnTo>
                  <a:pt x="1173480" y="515619"/>
                </a:lnTo>
                <a:lnTo>
                  <a:pt x="1201420" y="523239"/>
                </a:lnTo>
                <a:lnTo>
                  <a:pt x="1226820" y="538479"/>
                </a:lnTo>
                <a:lnTo>
                  <a:pt x="1254759" y="546100"/>
                </a:lnTo>
                <a:lnTo>
                  <a:pt x="1282700" y="558800"/>
                </a:lnTo>
                <a:lnTo>
                  <a:pt x="1310639" y="566419"/>
                </a:lnTo>
                <a:lnTo>
                  <a:pt x="1336039" y="571500"/>
                </a:lnTo>
                <a:lnTo>
                  <a:pt x="1363980" y="581659"/>
                </a:lnTo>
                <a:lnTo>
                  <a:pt x="1391920" y="596900"/>
                </a:lnTo>
                <a:lnTo>
                  <a:pt x="1419859" y="617219"/>
                </a:lnTo>
                <a:lnTo>
                  <a:pt x="1445259" y="629919"/>
                </a:lnTo>
                <a:lnTo>
                  <a:pt x="1473199" y="642619"/>
                </a:lnTo>
                <a:lnTo>
                  <a:pt x="1501140" y="647700"/>
                </a:lnTo>
                <a:lnTo>
                  <a:pt x="1529080" y="655319"/>
                </a:lnTo>
                <a:lnTo>
                  <a:pt x="1554480" y="665479"/>
                </a:lnTo>
                <a:lnTo>
                  <a:pt x="1582420" y="678179"/>
                </a:lnTo>
                <a:lnTo>
                  <a:pt x="1610359" y="693419"/>
                </a:lnTo>
                <a:lnTo>
                  <a:pt x="1635759" y="706119"/>
                </a:lnTo>
                <a:lnTo>
                  <a:pt x="1663699" y="713739"/>
                </a:lnTo>
                <a:lnTo>
                  <a:pt x="1691640" y="721359"/>
                </a:lnTo>
                <a:lnTo>
                  <a:pt x="1719580" y="731519"/>
                </a:lnTo>
                <a:lnTo>
                  <a:pt x="1744980" y="744219"/>
                </a:lnTo>
                <a:lnTo>
                  <a:pt x="1772920" y="754379"/>
                </a:lnTo>
                <a:lnTo>
                  <a:pt x="1800859" y="769619"/>
                </a:lnTo>
                <a:lnTo>
                  <a:pt x="1828799" y="779779"/>
                </a:lnTo>
                <a:lnTo>
                  <a:pt x="1854199" y="789939"/>
                </a:lnTo>
                <a:lnTo>
                  <a:pt x="1882140" y="795019"/>
                </a:lnTo>
                <a:lnTo>
                  <a:pt x="1910080" y="805179"/>
                </a:lnTo>
                <a:lnTo>
                  <a:pt x="1938020" y="815339"/>
                </a:lnTo>
                <a:lnTo>
                  <a:pt x="1963420" y="825500"/>
                </a:lnTo>
                <a:lnTo>
                  <a:pt x="1991359" y="843279"/>
                </a:lnTo>
                <a:lnTo>
                  <a:pt x="2019299" y="855979"/>
                </a:lnTo>
                <a:lnTo>
                  <a:pt x="2044699" y="868679"/>
                </a:lnTo>
                <a:lnTo>
                  <a:pt x="2072640" y="876300"/>
                </a:lnTo>
                <a:lnTo>
                  <a:pt x="2100580" y="878839"/>
                </a:lnTo>
                <a:lnTo>
                  <a:pt x="2128520" y="889000"/>
                </a:lnTo>
                <a:lnTo>
                  <a:pt x="2153920" y="896619"/>
                </a:lnTo>
                <a:lnTo>
                  <a:pt x="2181860" y="904239"/>
                </a:lnTo>
                <a:lnTo>
                  <a:pt x="2209799" y="916939"/>
                </a:lnTo>
                <a:lnTo>
                  <a:pt x="2237740" y="932179"/>
                </a:lnTo>
                <a:lnTo>
                  <a:pt x="2263140" y="939800"/>
                </a:lnTo>
                <a:lnTo>
                  <a:pt x="2291080" y="955039"/>
                </a:lnTo>
                <a:lnTo>
                  <a:pt x="2319020" y="967739"/>
                </a:lnTo>
                <a:lnTo>
                  <a:pt x="2346960" y="977900"/>
                </a:lnTo>
                <a:lnTo>
                  <a:pt x="2372360" y="985519"/>
                </a:lnTo>
                <a:lnTo>
                  <a:pt x="2400299" y="995679"/>
                </a:lnTo>
                <a:lnTo>
                  <a:pt x="2428240" y="1005839"/>
                </a:lnTo>
                <a:lnTo>
                  <a:pt x="2453640" y="1018539"/>
                </a:lnTo>
                <a:lnTo>
                  <a:pt x="2481580" y="1031239"/>
                </a:lnTo>
                <a:lnTo>
                  <a:pt x="2509520" y="1043939"/>
                </a:lnTo>
                <a:lnTo>
                  <a:pt x="2537460" y="1059179"/>
                </a:lnTo>
                <a:lnTo>
                  <a:pt x="2562860" y="1074419"/>
                </a:lnTo>
                <a:lnTo>
                  <a:pt x="2590799" y="1082039"/>
                </a:lnTo>
                <a:lnTo>
                  <a:pt x="2618740" y="1089659"/>
                </a:lnTo>
                <a:lnTo>
                  <a:pt x="2646680" y="1097279"/>
                </a:lnTo>
                <a:lnTo>
                  <a:pt x="2672080" y="1102359"/>
                </a:lnTo>
                <a:lnTo>
                  <a:pt x="2700020" y="1115059"/>
                </a:lnTo>
                <a:lnTo>
                  <a:pt x="2727960" y="1125219"/>
                </a:lnTo>
                <a:lnTo>
                  <a:pt x="2755899" y="1137919"/>
                </a:lnTo>
                <a:lnTo>
                  <a:pt x="2781299" y="1148079"/>
                </a:lnTo>
                <a:lnTo>
                  <a:pt x="2809240" y="1155700"/>
                </a:lnTo>
                <a:lnTo>
                  <a:pt x="2837180" y="1163319"/>
                </a:lnTo>
                <a:lnTo>
                  <a:pt x="2862580" y="1170939"/>
                </a:lnTo>
                <a:lnTo>
                  <a:pt x="2890520" y="1178559"/>
                </a:lnTo>
                <a:lnTo>
                  <a:pt x="2918460" y="1186179"/>
                </a:lnTo>
                <a:lnTo>
                  <a:pt x="2946399" y="1198879"/>
                </a:lnTo>
                <a:lnTo>
                  <a:pt x="2971799" y="1206500"/>
                </a:lnTo>
                <a:lnTo>
                  <a:pt x="2999740" y="1216659"/>
                </a:lnTo>
                <a:lnTo>
                  <a:pt x="3027680" y="1224279"/>
                </a:lnTo>
                <a:lnTo>
                  <a:pt x="3055620" y="1229359"/>
                </a:lnTo>
                <a:lnTo>
                  <a:pt x="3081020" y="1236979"/>
                </a:lnTo>
                <a:lnTo>
                  <a:pt x="3108960" y="1244600"/>
                </a:lnTo>
                <a:lnTo>
                  <a:pt x="3136899" y="1254759"/>
                </a:lnTo>
                <a:lnTo>
                  <a:pt x="3164840" y="1262379"/>
                </a:lnTo>
                <a:lnTo>
                  <a:pt x="3190240" y="1264919"/>
                </a:lnTo>
                <a:lnTo>
                  <a:pt x="3218180" y="1270000"/>
                </a:lnTo>
                <a:lnTo>
                  <a:pt x="3246120" y="1275079"/>
                </a:lnTo>
                <a:lnTo>
                  <a:pt x="3271520" y="1285239"/>
                </a:lnTo>
                <a:lnTo>
                  <a:pt x="3299459" y="1292859"/>
                </a:lnTo>
                <a:lnTo>
                  <a:pt x="3327400" y="1303019"/>
                </a:lnTo>
                <a:lnTo>
                  <a:pt x="3355340" y="1310639"/>
                </a:lnTo>
                <a:lnTo>
                  <a:pt x="3380740" y="1318259"/>
                </a:lnTo>
                <a:lnTo>
                  <a:pt x="3408679" y="1325879"/>
                </a:lnTo>
                <a:lnTo>
                  <a:pt x="3436620" y="1330959"/>
                </a:lnTo>
                <a:lnTo>
                  <a:pt x="3464559" y="1341119"/>
                </a:lnTo>
                <a:lnTo>
                  <a:pt x="3489959" y="1351279"/>
                </a:lnTo>
                <a:lnTo>
                  <a:pt x="3517900" y="1366519"/>
                </a:lnTo>
                <a:lnTo>
                  <a:pt x="3545840" y="1374139"/>
                </a:lnTo>
                <a:lnTo>
                  <a:pt x="3573779" y="1381759"/>
                </a:lnTo>
                <a:lnTo>
                  <a:pt x="3599179" y="1386839"/>
                </a:lnTo>
                <a:lnTo>
                  <a:pt x="3627120" y="1391919"/>
                </a:lnTo>
                <a:lnTo>
                  <a:pt x="3655059" y="1399539"/>
                </a:lnTo>
                <a:lnTo>
                  <a:pt x="3680459" y="1404619"/>
                </a:lnTo>
                <a:lnTo>
                  <a:pt x="3708400" y="1414779"/>
                </a:lnTo>
                <a:lnTo>
                  <a:pt x="3736340" y="1427479"/>
                </a:lnTo>
                <a:lnTo>
                  <a:pt x="3764279" y="1437639"/>
                </a:lnTo>
                <a:lnTo>
                  <a:pt x="3789679" y="1445259"/>
                </a:lnTo>
                <a:lnTo>
                  <a:pt x="3817620" y="1450339"/>
                </a:lnTo>
                <a:lnTo>
                  <a:pt x="3845559" y="1465579"/>
                </a:lnTo>
                <a:lnTo>
                  <a:pt x="3873500" y="1468119"/>
                </a:lnTo>
                <a:lnTo>
                  <a:pt x="3898900" y="1475739"/>
                </a:lnTo>
                <a:lnTo>
                  <a:pt x="3926840" y="1480819"/>
                </a:lnTo>
                <a:lnTo>
                  <a:pt x="3954779" y="1488439"/>
                </a:lnTo>
                <a:lnTo>
                  <a:pt x="3982720" y="1490979"/>
                </a:lnTo>
                <a:lnTo>
                  <a:pt x="4008120" y="1498599"/>
                </a:lnTo>
                <a:lnTo>
                  <a:pt x="4036059" y="1508759"/>
                </a:lnTo>
                <a:lnTo>
                  <a:pt x="4064000" y="1516379"/>
                </a:lnTo>
                <a:lnTo>
                  <a:pt x="4089400" y="1521459"/>
                </a:lnTo>
                <a:lnTo>
                  <a:pt x="4117340" y="1529079"/>
                </a:lnTo>
                <a:lnTo>
                  <a:pt x="4145279" y="1536699"/>
                </a:lnTo>
                <a:lnTo>
                  <a:pt x="4173220" y="1544319"/>
                </a:lnTo>
                <a:lnTo>
                  <a:pt x="4198620" y="1554479"/>
                </a:lnTo>
                <a:lnTo>
                  <a:pt x="4226559" y="1564639"/>
                </a:lnTo>
                <a:lnTo>
                  <a:pt x="4254500" y="1567179"/>
                </a:lnTo>
                <a:lnTo>
                  <a:pt x="4282440" y="1577339"/>
                </a:lnTo>
                <a:lnTo>
                  <a:pt x="4307840" y="1584959"/>
                </a:lnTo>
                <a:lnTo>
                  <a:pt x="4335780" y="1587499"/>
                </a:lnTo>
                <a:lnTo>
                  <a:pt x="4363720" y="1590039"/>
                </a:lnTo>
                <a:lnTo>
                  <a:pt x="4391659" y="1595119"/>
                </a:lnTo>
                <a:lnTo>
                  <a:pt x="4417059" y="1607819"/>
                </a:lnTo>
                <a:lnTo>
                  <a:pt x="4445000" y="1612899"/>
                </a:lnTo>
                <a:lnTo>
                  <a:pt x="4472940" y="1617979"/>
                </a:lnTo>
                <a:lnTo>
                  <a:pt x="4498340" y="1625599"/>
                </a:lnTo>
                <a:lnTo>
                  <a:pt x="4526280" y="1633219"/>
                </a:lnTo>
                <a:lnTo>
                  <a:pt x="4554220" y="1638299"/>
                </a:lnTo>
                <a:lnTo>
                  <a:pt x="4582159" y="1635759"/>
                </a:lnTo>
                <a:lnTo>
                  <a:pt x="4607559" y="1640839"/>
                </a:lnTo>
                <a:lnTo>
                  <a:pt x="4635500" y="1645919"/>
                </a:lnTo>
                <a:lnTo>
                  <a:pt x="4663440" y="1653539"/>
                </a:lnTo>
                <a:lnTo>
                  <a:pt x="4691380" y="1661159"/>
                </a:lnTo>
                <a:lnTo>
                  <a:pt x="4716780" y="1666239"/>
                </a:lnTo>
                <a:lnTo>
                  <a:pt x="4744720" y="1668779"/>
                </a:lnTo>
                <a:lnTo>
                  <a:pt x="4772660" y="1676399"/>
                </a:lnTo>
                <a:lnTo>
                  <a:pt x="4800600" y="1686559"/>
                </a:lnTo>
                <a:lnTo>
                  <a:pt x="4826000" y="1701799"/>
                </a:lnTo>
                <a:lnTo>
                  <a:pt x="4853940" y="1717039"/>
                </a:lnTo>
                <a:lnTo>
                  <a:pt x="4881880" y="1727199"/>
                </a:lnTo>
                <a:lnTo>
                  <a:pt x="4907280" y="1734819"/>
                </a:lnTo>
                <a:lnTo>
                  <a:pt x="4935220" y="1739899"/>
                </a:lnTo>
                <a:lnTo>
                  <a:pt x="4963160" y="1744979"/>
                </a:lnTo>
                <a:lnTo>
                  <a:pt x="4991100" y="1755139"/>
                </a:lnTo>
                <a:lnTo>
                  <a:pt x="5016500" y="1765299"/>
                </a:lnTo>
                <a:lnTo>
                  <a:pt x="5044440" y="1775459"/>
                </a:lnTo>
                <a:lnTo>
                  <a:pt x="5072380" y="1783079"/>
                </a:lnTo>
                <a:lnTo>
                  <a:pt x="5100320" y="1785619"/>
                </a:lnTo>
                <a:lnTo>
                  <a:pt x="5125720" y="1788159"/>
                </a:lnTo>
                <a:lnTo>
                  <a:pt x="5153660" y="1793239"/>
                </a:lnTo>
                <a:lnTo>
                  <a:pt x="5181600" y="1798319"/>
                </a:lnTo>
                <a:lnTo>
                  <a:pt x="5209540" y="1805939"/>
                </a:lnTo>
                <a:lnTo>
                  <a:pt x="5234940" y="1813559"/>
                </a:lnTo>
                <a:lnTo>
                  <a:pt x="5262880" y="1821179"/>
                </a:lnTo>
                <a:lnTo>
                  <a:pt x="5290820" y="1828799"/>
                </a:lnTo>
                <a:lnTo>
                  <a:pt x="5316220" y="1831339"/>
                </a:lnTo>
                <a:lnTo>
                  <a:pt x="5344160" y="1836419"/>
                </a:lnTo>
                <a:lnTo>
                  <a:pt x="5372100" y="1841499"/>
                </a:lnTo>
                <a:lnTo>
                  <a:pt x="5400040" y="1846579"/>
                </a:lnTo>
                <a:lnTo>
                  <a:pt x="5425440" y="1856739"/>
                </a:lnTo>
                <a:lnTo>
                  <a:pt x="5453380" y="1866899"/>
                </a:lnTo>
              </a:path>
            </a:pathLst>
          </a:custGeom>
          <a:ln w="38100">
            <a:solidFill>
              <a:srgbClr val="018575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object 12"/>
          <p:cNvSpPr/>
          <p:nvPr/>
        </p:nvSpPr>
        <p:spPr>
          <a:xfrm>
            <a:off x="5460682" y="3077528"/>
            <a:ext cx="3352800" cy="278130"/>
          </a:xfrm>
          <a:custGeom>
            <a:avLst/>
            <a:gdLst/>
            <a:ahLst/>
            <a:cxnLst/>
            <a:rect l="l" t="t" r="r" b="b"/>
            <a:pathLst>
              <a:path w="4470400" h="370839">
                <a:moveTo>
                  <a:pt x="0" y="0"/>
                </a:moveTo>
                <a:lnTo>
                  <a:pt x="27940" y="5079"/>
                </a:lnTo>
                <a:lnTo>
                  <a:pt x="55880" y="12699"/>
                </a:lnTo>
                <a:lnTo>
                  <a:pt x="81280" y="15239"/>
                </a:lnTo>
                <a:lnTo>
                  <a:pt x="109220" y="20319"/>
                </a:lnTo>
                <a:lnTo>
                  <a:pt x="137160" y="20319"/>
                </a:lnTo>
                <a:lnTo>
                  <a:pt x="165100" y="22859"/>
                </a:lnTo>
                <a:lnTo>
                  <a:pt x="190500" y="22859"/>
                </a:lnTo>
                <a:lnTo>
                  <a:pt x="218440" y="22859"/>
                </a:lnTo>
                <a:lnTo>
                  <a:pt x="246380" y="22859"/>
                </a:lnTo>
                <a:lnTo>
                  <a:pt x="271780" y="22859"/>
                </a:lnTo>
                <a:lnTo>
                  <a:pt x="299720" y="27939"/>
                </a:lnTo>
                <a:lnTo>
                  <a:pt x="327660" y="30479"/>
                </a:lnTo>
                <a:lnTo>
                  <a:pt x="355600" y="35559"/>
                </a:lnTo>
                <a:lnTo>
                  <a:pt x="381000" y="40639"/>
                </a:lnTo>
                <a:lnTo>
                  <a:pt x="408940" y="43179"/>
                </a:lnTo>
                <a:lnTo>
                  <a:pt x="436880" y="43179"/>
                </a:lnTo>
                <a:lnTo>
                  <a:pt x="464820" y="45719"/>
                </a:lnTo>
                <a:lnTo>
                  <a:pt x="490220" y="53339"/>
                </a:lnTo>
                <a:lnTo>
                  <a:pt x="518160" y="58419"/>
                </a:lnTo>
                <a:lnTo>
                  <a:pt x="546100" y="63499"/>
                </a:lnTo>
                <a:lnTo>
                  <a:pt x="574040" y="73659"/>
                </a:lnTo>
                <a:lnTo>
                  <a:pt x="599440" y="81279"/>
                </a:lnTo>
                <a:lnTo>
                  <a:pt x="627380" y="83819"/>
                </a:lnTo>
                <a:lnTo>
                  <a:pt x="655320" y="83819"/>
                </a:lnTo>
                <a:lnTo>
                  <a:pt x="680720" y="88899"/>
                </a:lnTo>
                <a:lnTo>
                  <a:pt x="708660" y="93979"/>
                </a:lnTo>
                <a:lnTo>
                  <a:pt x="736600" y="99059"/>
                </a:lnTo>
                <a:lnTo>
                  <a:pt x="764540" y="104139"/>
                </a:lnTo>
                <a:lnTo>
                  <a:pt x="789940" y="106679"/>
                </a:lnTo>
                <a:lnTo>
                  <a:pt x="817880" y="111759"/>
                </a:lnTo>
                <a:lnTo>
                  <a:pt x="845820" y="116839"/>
                </a:lnTo>
                <a:lnTo>
                  <a:pt x="873760" y="121919"/>
                </a:lnTo>
                <a:lnTo>
                  <a:pt x="899160" y="126999"/>
                </a:lnTo>
                <a:lnTo>
                  <a:pt x="927100" y="132079"/>
                </a:lnTo>
                <a:lnTo>
                  <a:pt x="955040" y="139699"/>
                </a:lnTo>
                <a:lnTo>
                  <a:pt x="982980" y="144779"/>
                </a:lnTo>
                <a:lnTo>
                  <a:pt x="1008380" y="147319"/>
                </a:lnTo>
                <a:lnTo>
                  <a:pt x="1036320" y="149859"/>
                </a:lnTo>
                <a:lnTo>
                  <a:pt x="1064260" y="157479"/>
                </a:lnTo>
                <a:lnTo>
                  <a:pt x="1089660" y="160019"/>
                </a:lnTo>
                <a:lnTo>
                  <a:pt x="1117600" y="165099"/>
                </a:lnTo>
                <a:lnTo>
                  <a:pt x="1145540" y="167639"/>
                </a:lnTo>
                <a:lnTo>
                  <a:pt x="1173480" y="165099"/>
                </a:lnTo>
                <a:lnTo>
                  <a:pt x="1198880" y="165099"/>
                </a:lnTo>
                <a:lnTo>
                  <a:pt x="1226820" y="167639"/>
                </a:lnTo>
                <a:lnTo>
                  <a:pt x="1254760" y="177799"/>
                </a:lnTo>
                <a:lnTo>
                  <a:pt x="1282700" y="185419"/>
                </a:lnTo>
                <a:lnTo>
                  <a:pt x="1308100" y="195579"/>
                </a:lnTo>
                <a:lnTo>
                  <a:pt x="1336040" y="203199"/>
                </a:lnTo>
                <a:lnTo>
                  <a:pt x="1363980" y="205739"/>
                </a:lnTo>
                <a:lnTo>
                  <a:pt x="1391920" y="205739"/>
                </a:lnTo>
                <a:lnTo>
                  <a:pt x="1417320" y="203199"/>
                </a:lnTo>
                <a:lnTo>
                  <a:pt x="1445260" y="203199"/>
                </a:lnTo>
                <a:lnTo>
                  <a:pt x="1473200" y="203199"/>
                </a:lnTo>
                <a:lnTo>
                  <a:pt x="1498600" y="205739"/>
                </a:lnTo>
                <a:lnTo>
                  <a:pt x="1526540" y="213359"/>
                </a:lnTo>
                <a:lnTo>
                  <a:pt x="1554480" y="220979"/>
                </a:lnTo>
                <a:lnTo>
                  <a:pt x="1582420" y="226059"/>
                </a:lnTo>
                <a:lnTo>
                  <a:pt x="1607820" y="231139"/>
                </a:lnTo>
                <a:lnTo>
                  <a:pt x="1635760" y="236219"/>
                </a:lnTo>
                <a:lnTo>
                  <a:pt x="1663700" y="238759"/>
                </a:lnTo>
                <a:lnTo>
                  <a:pt x="1691640" y="241299"/>
                </a:lnTo>
                <a:lnTo>
                  <a:pt x="1717040" y="243839"/>
                </a:lnTo>
                <a:lnTo>
                  <a:pt x="1744980" y="241299"/>
                </a:lnTo>
                <a:lnTo>
                  <a:pt x="1772920" y="243839"/>
                </a:lnTo>
                <a:lnTo>
                  <a:pt x="1800860" y="243839"/>
                </a:lnTo>
                <a:lnTo>
                  <a:pt x="1826260" y="251459"/>
                </a:lnTo>
                <a:lnTo>
                  <a:pt x="1854200" y="259079"/>
                </a:lnTo>
                <a:lnTo>
                  <a:pt x="1882140" y="266699"/>
                </a:lnTo>
                <a:lnTo>
                  <a:pt x="1907540" y="271779"/>
                </a:lnTo>
                <a:lnTo>
                  <a:pt x="1935480" y="271779"/>
                </a:lnTo>
                <a:lnTo>
                  <a:pt x="1963420" y="274319"/>
                </a:lnTo>
                <a:lnTo>
                  <a:pt x="1991360" y="274319"/>
                </a:lnTo>
                <a:lnTo>
                  <a:pt x="2016760" y="279399"/>
                </a:lnTo>
                <a:lnTo>
                  <a:pt x="2044700" y="287019"/>
                </a:lnTo>
                <a:lnTo>
                  <a:pt x="2072640" y="292099"/>
                </a:lnTo>
                <a:lnTo>
                  <a:pt x="2100580" y="299719"/>
                </a:lnTo>
                <a:lnTo>
                  <a:pt x="2125980" y="304799"/>
                </a:lnTo>
                <a:lnTo>
                  <a:pt x="2153920" y="304799"/>
                </a:lnTo>
                <a:lnTo>
                  <a:pt x="2181860" y="304799"/>
                </a:lnTo>
                <a:lnTo>
                  <a:pt x="2209800" y="307339"/>
                </a:lnTo>
                <a:lnTo>
                  <a:pt x="2235200" y="312419"/>
                </a:lnTo>
                <a:lnTo>
                  <a:pt x="2263140" y="314959"/>
                </a:lnTo>
                <a:lnTo>
                  <a:pt x="2291080" y="314959"/>
                </a:lnTo>
                <a:lnTo>
                  <a:pt x="2316480" y="322579"/>
                </a:lnTo>
                <a:lnTo>
                  <a:pt x="2344420" y="325119"/>
                </a:lnTo>
                <a:lnTo>
                  <a:pt x="2372360" y="327659"/>
                </a:lnTo>
                <a:lnTo>
                  <a:pt x="2400300" y="330199"/>
                </a:lnTo>
                <a:lnTo>
                  <a:pt x="2425700" y="332739"/>
                </a:lnTo>
                <a:lnTo>
                  <a:pt x="2453640" y="337819"/>
                </a:lnTo>
                <a:lnTo>
                  <a:pt x="2481580" y="340359"/>
                </a:lnTo>
                <a:lnTo>
                  <a:pt x="2509520" y="340359"/>
                </a:lnTo>
                <a:lnTo>
                  <a:pt x="2534920" y="342899"/>
                </a:lnTo>
                <a:lnTo>
                  <a:pt x="2562860" y="342899"/>
                </a:lnTo>
                <a:lnTo>
                  <a:pt x="2590800" y="345439"/>
                </a:lnTo>
                <a:lnTo>
                  <a:pt x="2618740" y="345439"/>
                </a:lnTo>
                <a:lnTo>
                  <a:pt x="2644140" y="345439"/>
                </a:lnTo>
                <a:lnTo>
                  <a:pt x="2672080" y="345439"/>
                </a:lnTo>
                <a:lnTo>
                  <a:pt x="2700020" y="345439"/>
                </a:lnTo>
                <a:lnTo>
                  <a:pt x="2725420" y="347979"/>
                </a:lnTo>
                <a:lnTo>
                  <a:pt x="2753360" y="350519"/>
                </a:lnTo>
                <a:lnTo>
                  <a:pt x="2781300" y="355599"/>
                </a:lnTo>
                <a:lnTo>
                  <a:pt x="2809240" y="358139"/>
                </a:lnTo>
                <a:lnTo>
                  <a:pt x="2834640" y="360679"/>
                </a:lnTo>
                <a:lnTo>
                  <a:pt x="2862580" y="363219"/>
                </a:lnTo>
                <a:lnTo>
                  <a:pt x="2890520" y="365759"/>
                </a:lnTo>
                <a:lnTo>
                  <a:pt x="2918460" y="365759"/>
                </a:lnTo>
                <a:lnTo>
                  <a:pt x="2943860" y="370839"/>
                </a:lnTo>
                <a:lnTo>
                  <a:pt x="2971800" y="370839"/>
                </a:lnTo>
                <a:lnTo>
                  <a:pt x="2999740" y="370839"/>
                </a:lnTo>
                <a:lnTo>
                  <a:pt x="3027680" y="370839"/>
                </a:lnTo>
                <a:lnTo>
                  <a:pt x="3053080" y="370839"/>
                </a:lnTo>
                <a:lnTo>
                  <a:pt x="3081020" y="370839"/>
                </a:lnTo>
                <a:lnTo>
                  <a:pt x="3108960" y="368299"/>
                </a:lnTo>
                <a:lnTo>
                  <a:pt x="3134360" y="368299"/>
                </a:lnTo>
                <a:lnTo>
                  <a:pt x="3162300" y="370839"/>
                </a:lnTo>
                <a:lnTo>
                  <a:pt x="3190240" y="370839"/>
                </a:lnTo>
                <a:lnTo>
                  <a:pt x="3218180" y="370839"/>
                </a:lnTo>
                <a:lnTo>
                  <a:pt x="3243580" y="370839"/>
                </a:lnTo>
                <a:lnTo>
                  <a:pt x="3271520" y="370839"/>
                </a:lnTo>
                <a:lnTo>
                  <a:pt x="3299460" y="368299"/>
                </a:lnTo>
                <a:lnTo>
                  <a:pt x="3327400" y="368299"/>
                </a:lnTo>
                <a:lnTo>
                  <a:pt x="3352800" y="370839"/>
                </a:lnTo>
                <a:lnTo>
                  <a:pt x="3380740" y="370839"/>
                </a:lnTo>
                <a:lnTo>
                  <a:pt x="3408680" y="370839"/>
                </a:lnTo>
                <a:lnTo>
                  <a:pt x="3436620" y="368299"/>
                </a:lnTo>
                <a:lnTo>
                  <a:pt x="3462020" y="368299"/>
                </a:lnTo>
                <a:lnTo>
                  <a:pt x="3489960" y="368299"/>
                </a:lnTo>
                <a:lnTo>
                  <a:pt x="3517900" y="370839"/>
                </a:lnTo>
                <a:lnTo>
                  <a:pt x="3543300" y="370839"/>
                </a:lnTo>
                <a:lnTo>
                  <a:pt x="3571240" y="368299"/>
                </a:lnTo>
                <a:lnTo>
                  <a:pt x="3599180" y="368299"/>
                </a:lnTo>
                <a:lnTo>
                  <a:pt x="3627120" y="368299"/>
                </a:lnTo>
                <a:lnTo>
                  <a:pt x="3652520" y="365759"/>
                </a:lnTo>
                <a:lnTo>
                  <a:pt x="3680460" y="363219"/>
                </a:lnTo>
                <a:lnTo>
                  <a:pt x="3708400" y="363219"/>
                </a:lnTo>
                <a:lnTo>
                  <a:pt x="3736340" y="363219"/>
                </a:lnTo>
                <a:lnTo>
                  <a:pt x="3761740" y="363219"/>
                </a:lnTo>
                <a:lnTo>
                  <a:pt x="3789680" y="365759"/>
                </a:lnTo>
                <a:lnTo>
                  <a:pt x="3817620" y="365759"/>
                </a:lnTo>
                <a:lnTo>
                  <a:pt x="3845560" y="363219"/>
                </a:lnTo>
                <a:lnTo>
                  <a:pt x="3870960" y="360679"/>
                </a:lnTo>
                <a:lnTo>
                  <a:pt x="3898900" y="358139"/>
                </a:lnTo>
                <a:lnTo>
                  <a:pt x="3926840" y="358139"/>
                </a:lnTo>
                <a:lnTo>
                  <a:pt x="3952240" y="355599"/>
                </a:lnTo>
                <a:lnTo>
                  <a:pt x="3980180" y="353059"/>
                </a:lnTo>
                <a:lnTo>
                  <a:pt x="4008120" y="350519"/>
                </a:lnTo>
                <a:lnTo>
                  <a:pt x="4036060" y="342899"/>
                </a:lnTo>
                <a:lnTo>
                  <a:pt x="4061460" y="327659"/>
                </a:lnTo>
                <a:lnTo>
                  <a:pt x="4089400" y="325119"/>
                </a:lnTo>
                <a:lnTo>
                  <a:pt x="4117340" y="322579"/>
                </a:lnTo>
                <a:lnTo>
                  <a:pt x="4145280" y="317499"/>
                </a:lnTo>
                <a:lnTo>
                  <a:pt x="4170680" y="314959"/>
                </a:lnTo>
                <a:lnTo>
                  <a:pt x="4198620" y="307339"/>
                </a:lnTo>
                <a:lnTo>
                  <a:pt x="4226560" y="302259"/>
                </a:lnTo>
                <a:lnTo>
                  <a:pt x="4254500" y="299719"/>
                </a:lnTo>
                <a:lnTo>
                  <a:pt x="4279900" y="299719"/>
                </a:lnTo>
                <a:lnTo>
                  <a:pt x="4307840" y="297179"/>
                </a:lnTo>
                <a:lnTo>
                  <a:pt x="4335780" y="294639"/>
                </a:lnTo>
                <a:lnTo>
                  <a:pt x="4361180" y="292099"/>
                </a:lnTo>
                <a:lnTo>
                  <a:pt x="4389120" y="287019"/>
                </a:lnTo>
                <a:lnTo>
                  <a:pt x="4417060" y="281939"/>
                </a:lnTo>
                <a:lnTo>
                  <a:pt x="4445000" y="279399"/>
                </a:lnTo>
                <a:lnTo>
                  <a:pt x="4470400" y="279399"/>
                </a:lnTo>
              </a:path>
            </a:pathLst>
          </a:custGeom>
          <a:ln w="38100">
            <a:solidFill>
              <a:srgbClr val="018575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/>
          <p:nvPr/>
        </p:nvSpPr>
        <p:spPr>
          <a:xfrm>
            <a:off x="1370647" y="1319213"/>
            <a:ext cx="4090035" cy="1358265"/>
          </a:xfrm>
          <a:custGeom>
            <a:avLst/>
            <a:gdLst/>
            <a:ahLst/>
            <a:cxnLst/>
            <a:rect l="l" t="t" r="r" b="b"/>
            <a:pathLst>
              <a:path w="5453380" h="1811020">
                <a:moveTo>
                  <a:pt x="0" y="0"/>
                </a:moveTo>
                <a:lnTo>
                  <a:pt x="27939" y="7620"/>
                </a:lnTo>
                <a:lnTo>
                  <a:pt x="55880" y="20320"/>
                </a:lnTo>
                <a:lnTo>
                  <a:pt x="83819" y="27939"/>
                </a:lnTo>
                <a:lnTo>
                  <a:pt x="109219" y="35560"/>
                </a:lnTo>
                <a:lnTo>
                  <a:pt x="137159" y="43179"/>
                </a:lnTo>
                <a:lnTo>
                  <a:pt x="165100" y="50800"/>
                </a:lnTo>
                <a:lnTo>
                  <a:pt x="193039" y="55879"/>
                </a:lnTo>
                <a:lnTo>
                  <a:pt x="218439" y="60960"/>
                </a:lnTo>
                <a:lnTo>
                  <a:pt x="246380" y="71120"/>
                </a:lnTo>
                <a:lnTo>
                  <a:pt x="274319" y="86360"/>
                </a:lnTo>
                <a:lnTo>
                  <a:pt x="302259" y="101600"/>
                </a:lnTo>
                <a:lnTo>
                  <a:pt x="327659" y="111760"/>
                </a:lnTo>
                <a:lnTo>
                  <a:pt x="355600" y="116839"/>
                </a:lnTo>
                <a:lnTo>
                  <a:pt x="383539" y="121920"/>
                </a:lnTo>
                <a:lnTo>
                  <a:pt x="408939" y="127000"/>
                </a:lnTo>
                <a:lnTo>
                  <a:pt x="436880" y="134620"/>
                </a:lnTo>
                <a:lnTo>
                  <a:pt x="464819" y="144779"/>
                </a:lnTo>
                <a:lnTo>
                  <a:pt x="492759" y="154939"/>
                </a:lnTo>
                <a:lnTo>
                  <a:pt x="518159" y="160020"/>
                </a:lnTo>
                <a:lnTo>
                  <a:pt x="546100" y="162560"/>
                </a:lnTo>
                <a:lnTo>
                  <a:pt x="574039" y="170179"/>
                </a:lnTo>
                <a:lnTo>
                  <a:pt x="601980" y="185420"/>
                </a:lnTo>
                <a:lnTo>
                  <a:pt x="627380" y="203200"/>
                </a:lnTo>
                <a:lnTo>
                  <a:pt x="655319" y="218439"/>
                </a:lnTo>
                <a:lnTo>
                  <a:pt x="683259" y="231139"/>
                </a:lnTo>
                <a:lnTo>
                  <a:pt x="711200" y="238760"/>
                </a:lnTo>
                <a:lnTo>
                  <a:pt x="736600" y="254000"/>
                </a:lnTo>
                <a:lnTo>
                  <a:pt x="764539" y="269239"/>
                </a:lnTo>
                <a:lnTo>
                  <a:pt x="792480" y="287020"/>
                </a:lnTo>
                <a:lnTo>
                  <a:pt x="817880" y="299720"/>
                </a:lnTo>
                <a:lnTo>
                  <a:pt x="845819" y="314960"/>
                </a:lnTo>
                <a:lnTo>
                  <a:pt x="873759" y="327660"/>
                </a:lnTo>
                <a:lnTo>
                  <a:pt x="901700" y="345439"/>
                </a:lnTo>
                <a:lnTo>
                  <a:pt x="927100" y="365760"/>
                </a:lnTo>
                <a:lnTo>
                  <a:pt x="955039" y="383539"/>
                </a:lnTo>
                <a:lnTo>
                  <a:pt x="982980" y="401320"/>
                </a:lnTo>
                <a:lnTo>
                  <a:pt x="1010919" y="416560"/>
                </a:lnTo>
                <a:lnTo>
                  <a:pt x="1036319" y="434339"/>
                </a:lnTo>
                <a:lnTo>
                  <a:pt x="1064259" y="449579"/>
                </a:lnTo>
                <a:lnTo>
                  <a:pt x="1092200" y="464820"/>
                </a:lnTo>
                <a:lnTo>
                  <a:pt x="1120139" y="469900"/>
                </a:lnTo>
                <a:lnTo>
                  <a:pt x="1145539" y="474979"/>
                </a:lnTo>
                <a:lnTo>
                  <a:pt x="1173480" y="482600"/>
                </a:lnTo>
                <a:lnTo>
                  <a:pt x="1201420" y="490220"/>
                </a:lnTo>
                <a:lnTo>
                  <a:pt x="1226820" y="500379"/>
                </a:lnTo>
                <a:lnTo>
                  <a:pt x="1254759" y="510539"/>
                </a:lnTo>
                <a:lnTo>
                  <a:pt x="1282700" y="518160"/>
                </a:lnTo>
                <a:lnTo>
                  <a:pt x="1310639" y="523239"/>
                </a:lnTo>
                <a:lnTo>
                  <a:pt x="1336039" y="528320"/>
                </a:lnTo>
                <a:lnTo>
                  <a:pt x="1363980" y="535939"/>
                </a:lnTo>
                <a:lnTo>
                  <a:pt x="1391920" y="548639"/>
                </a:lnTo>
                <a:lnTo>
                  <a:pt x="1419859" y="561339"/>
                </a:lnTo>
                <a:lnTo>
                  <a:pt x="1445259" y="568960"/>
                </a:lnTo>
                <a:lnTo>
                  <a:pt x="1473199" y="584200"/>
                </a:lnTo>
                <a:lnTo>
                  <a:pt x="1501140" y="591820"/>
                </a:lnTo>
                <a:lnTo>
                  <a:pt x="1529080" y="601979"/>
                </a:lnTo>
                <a:lnTo>
                  <a:pt x="1554480" y="609600"/>
                </a:lnTo>
                <a:lnTo>
                  <a:pt x="1582420" y="614679"/>
                </a:lnTo>
                <a:lnTo>
                  <a:pt x="1610359" y="629920"/>
                </a:lnTo>
                <a:lnTo>
                  <a:pt x="1635759" y="640079"/>
                </a:lnTo>
                <a:lnTo>
                  <a:pt x="1663699" y="652779"/>
                </a:lnTo>
                <a:lnTo>
                  <a:pt x="1691640" y="665479"/>
                </a:lnTo>
                <a:lnTo>
                  <a:pt x="1719580" y="670560"/>
                </a:lnTo>
                <a:lnTo>
                  <a:pt x="1744980" y="683260"/>
                </a:lnTo>
                <a:lnTo>
                  <a:pt x="1772920" y="688339"/>
                </a:lnTo>
                <a:lnTo>
                  <a:pt x="1800859" y="701039"/>
                </a:lnTo>
                <a:lnTo>
                  <a:pt x="1828799" y="711200"/>
                </a:lnTo>
                <a:lnTo>
                  <a:pt x="1854199" y="723900"/>
                </a:lnTo>
                <a:lnTo>
                  <a:pt x="1882140" y="731520"/>
                </a:lnTo>
                <a:lnTo>
                  <a:pt x="1910080" y="734060"/>
                </a:lnTo>
                <a:lnTo>
                  <a:pt x="1938020" y="741679"/>
                </a:lnTo>
                <a:lnTo>
                  <a:pt x="1963420" y="751839"/>
                </a:lnTo>
                <a:lnTo>
                  <a:pt x="1991359" y="762000"/>
                </a:lnTo>
                <a:lnTo>
                  <a:pt x="2019299" y="767079"/>
                </a:lnTo>
                <a:lnTo>
                  <a:pt x="2044699" y="774700"/>
                </a:lnTo>
                <a:lnTo>
                  <a:pt x="2100580" y="782320"/>
                </a:lnTo>
                <a:lnTo>
                  <a:pt x="2153920" y="797560"/>
                </a:lnTo>
                <a:lnTo>
                  <a:pt x="2181860" y="807720"/>
                </a:lnTo>
                <a:lnTo>
                  <a:pt x="2209799" y="815339"/>
                </a:lnTo>
                <a:lnTo>
                  <a:pt x="2237740" y="825500"/>
                </a:lnTo>
                <a:lnTo>
                  <a:pt x="2263140" y="840739"/>
                </a:lnTo>
                <a:lnTo>
                  <a:pt x="2291080" y="850900"/>
                </a:lnTo>
                <a:lnTo>
                  <a:pt x="2319020" y="858520"/>
                </a:lnTo>
                <a:lnTo>
                  <a:pt x="2346960" y="863600"/>
                </a:lnTo>
                <a:lnTo>
                  <a:pt x="2372360" y="866139"/>
                </a:lnTo>
                <a:lnTo>
                  <a:pt x="2400299" y="868679"/>
                </a:lnTo>
                <a:lnTo>
                  <a:pt x="2428240" y="873760"/>
                </a:lnTo>
                <a:lnTo>
                  <a:pt x="2453640" y="889000"/>
                </a:lnTo>
                <a:lnTo>
                  <a:pt x="2481580" y="904239"/>
                </a:lnTo>
                <a:lnTo>
                  <a:pt x="2509520" y="916939"/>
                </a:lnTo>
                <a:lnTo>
                  <a:pt x="2537460" y="927100"/>
                </a:lnTo>
                <a:lnTo>
                  <a:pt x="2562860" y="944879"/>
                </a:lnTo>
                <a:lnTo>
                  <a:pt x="2590799" y="955039"/>
                </a:lnTo>
                <a:lnTo>
                  <a:pt x="2618740" y="965200"/>
                </a:lnTo>
                <a:lnTo>
                  <a:pt x="2646680" y="972820"/>
                </a:lnTo>
                <a:lnTo>
                  <a:pt x="2672080" y="980439"/>
                </a:lnTo>
                <a:lnTo>
                  <a:pt x="2700020" y="988060"/>
                </a:lnTo>
                <a:lnTo>
                  <a:pt x="2727960" y="993139"/>
                </a:lnTo>
                <a:lnTo>
                  <a:pt x="2755899" y="1008379"/>
                </a:lnTo>
                <a:lnTo>
                  <a:pt x="2781299" y="1021079"/>
                </a:lnTo>
                <a:lnTo>
                  <a:pt x="2809240" y="1023620"/>
                </a:lnTo>
                <a:lnTo>
                  <a:pt x="2837180" y="1031239"/>
                </a:lnTo>
                <a:lnTo>
                  <a:pt x="2862580" y="1038860"/>
                </a:lnTo>
                <a:lnTo>
                  <a:pt x="2890520" y="1046479"/>
                </a:lnTo>
                <a:lnTo>
                  <a:pt x="2918460" y="1051560"/>
                </a:lnTo>
                <a:lnTo>
                  <a:pt x="2946399" y="1064260"/>
                </a:lnTo>
                <a:lnTo>
                  <a:pt x="2971799" y="1074420"/>
                </a:lnTo>
                <a:lnTo>
                  <a:pt x="2999740" y="1087120"/>
                </a:lnTo>
                <a:lnTo>
                  <a:pt x="3027680" y="1092200"/>
                </a:lnTo>
                <a:lnTo>
                  <a:pt x="3055620" y="1097279"/>
                </a:lnTo>
                <a:lnTo>
                  <a:pt x="3081020" y="1102360"/>
                </a:lnTo>
                <a:lnTo>
                  <a:pt x="3108960" y="1107439"/>
                </a:lnTo>
                <a:lnTo>
                  <a:pt x="3136899" y="1112520"/>
                </a:lnTo>
                <a:lnTo>
                  <a:pt x="3164840" y="1117600"/>
                </a:lnTo>
                <a:lnTo>
                  <a:pt x="3190240" y="1117600"/>
                </a:lnTo>
                <a:lnTo>
                  <a:pt x="3218180" y="1122679"/>
                </a:lnTo>
                <a:lnTo>
                  <a:pt x="3246120" y="1125220"/>
                </a:lnTo>
                <a:lnTo>
                  <a:pt x="3271520" y="1127760"/>
                </a:lnTo>
                <a:lnTo>
                  <a:pt x="3299459" y="1135379"/>
                </a:lnTo>
                <a:lnTo>
                  <a:pt x="3327400" y="1137920"/>
                </a:lnTo>
                <a:lnTo>
                  <a:pt x="3355340" y="1145539"/>
                </a:lnTo>
                <a:lnTo>
                  <a:pt x="3380740" y="1153160"/>
                </a:lnTo>
                <a:lnTo>
                  <a:pt x="3408679" y="1158239"/>
                </a:lnTo>
                <a:lnTo>
                  <a:pt x="3436620" y="1158239"/>
                </a:lnTo>
                <a:lnTo>
                  <a:pt x="3464559" y="1163320"/>
                </a:lnTo>
                <a:lnTo>
                  <a:pt x="3489959" y="1170939"/>
                </a:lnTo>
                <a:lnTo>
                  <a:pt x="3517900" y="1183639"/>
                </a:lnTo>
                <a:lnTo>
                  <a:pt x="3545840" y="1193800"/>
                </a:lnTo>
                <a:lnTo>
                  <a:pt x="3573779" y="1203960"/>
                </a:lnTo>
                <a:lnTo>
                  <a:pt x="3599179" y="1219200"/>
                </a:lnTo>
                <a:lnTo>
                  <a:pt x="3627120" y="1229360"/>
                </a:lnTo>
                <a:lnTo>
                  <a:pt x="3655059" y="1242060"/>
                </a:lnTo>
                <a:lnTo>
                  <a:pt x="3680459" y="1254760"/>
                </a:lnTo>
                <a:lnTo>
                  <a:pt x="3708400" y="1267460"/>
                </a:lnTo>
                <a:lnTo>
                  <a:pt x="3736340" y="1277620"/>
                </a:lnTo>
                <a:lnTo>
                  <a:pt x="3764279" y="1287779"/>
                </a:lnTo>
                <a:lnTo>
                  <a:pt x="3789679" y="1300479"/>
                </a:lnTo>
                <a:lnTo>
                  <a:pt x="3817620" y="1310639"/>
                </a:lnTo>
                <a:lnTo>
                  <a:pt x="3845559" y="1323339"/>
                </a:lnTo>
                <a:lnTo>
                  <a:pt x="3873500" y="1328420"/>
                </a:lnTo>
                <a:lnTo>
                  <a:pt x="3898900" y="1343660"/>
                </a:lnTo>
                <a:lnTo>
                  <a:pt x="3926840" y="1356360"/>
                </a:lnTo>
                <a:lnTo>
                  <a:pt x="3954779" y="1366520"/>
                </a:lnTo>
                <a:lnTo>
                  <a:pt x="3982720" y="1376679"/>
                </a:lnTo>
                <a:lnTo>
                  <a:pt x="4008120" y="1389379"/>
                </a:lnTo>
                <a:lnTo>
                  <a:pt x="4036059" y="1402079"/>
                </a:lnTo>
                <a:lnTo>
                  <a:pt x="4064000" y="1407160"/>
                </a:lnTo>
                <a:lnTo>
                  <a:pt x="4089400" y="1414779"/>
                </a:lnTo>
                <a:lnTo>
                  <a:pt x="4117340" y="1422400"/>
                </a:lnTo>
                <a:lnTo>
                  <a:pt x="4145279" y="1437639"/>
                </a:lnTo>
                <a:lnTo>
                  <a:pt x="4173220" y="1450339"/>
                </a:lnTo>
                <a:lnTo>
                  <a:pt x="4198620" y="1463039"/>
                </a:lnTo>
                <a:lnTo>
                  <a:pt x="4226559" y="1473200"/>
                </a:lnTo>
                <a:lnTo>
                  <a:pt x="4254500" y="1483360"/>
                </a:lnTo>
                <a:lnTo>
                  <a:pt x="4282440" y="1496060"/>
                </a:lnTo>
                <a:lnTo>
                  <a:pt x="4307840" y="1506220"/>
                </a:lnTo>
                <a:lnTo>
                  <a:pt x="4335780" y="1508760"/>
                </a:lnTo>
                <a:lnTo>
                  <a:pt x="4363720" y="1511300"/>
                </a:lnTo>
                <a:lnTo>
                  <a:pt x="4391659" y="1516379"/>
                </a:lnTo>
                <a:lnTo>
                  <a:pt x="4417059" y="1526539"/>
                </a:lnTo>
                <a:lnTo>
                  <a:pt x="4445000" y="1531620"/>
                </a:lnTo>
                <a:lnTo>
                  <a:pt x="4472940" y="1531620"/>
                </a:lnTo>
                <a:lnTo>
                  <a:pt x="4498340" y="1529079"/>
                </a:lnTo>
                <a:lnTo>
                  <a:pt x="4526280" y="1529079"/>
                </a:lnTo>
                <a:lnTo>
                  <a:pt x="4554220" y="1529079"/>
                </a:lnTo>
                <a:lnTo>
                  <a:pt x="4582159" y="1531620"/>
                </a:lnTo>
                <a:lnTo>
                  <a:pt x="4607559" y="1536700"/>
                </a:lnTo>
                <a:lnTo>
                  <a:pt x="4635500" y="1536700"/>
                </a:lnTo>
                <a:lnTo>
                  <a:pt x="4663440" y="1544320"/>
                </a:lnTo>
                <a:lnTo>
                  <a:pt x="4691380" y="1546860"/>
                </a:lnTo>
                <a:lnTo>
                  <a:pt x="4716780" y="1551939"/>
                </a:lnTo>
                <a:lnTo>
                  <a:pt x="4744720" y="1554479"/>
                </a:lnTo>
                <a:lnTo>
                  <a:pt x="4772660" y="1557020"/>
                </a:lnTo>
                <a:lnTo>
                  <a:pt x="4800600" y="1569720"/>
                </a:lnTo>
                <a:lnTo>
                  <a:pt x="4826000" y="1577339"/>
                </a:lnTo>
                <a:lnTo>
                  <a:pt x="4853940" y="1587500"/>
                </a:lnTo>
                <a:lnTo>
                  <a:pt x="4881880" y="1597660"/>
                </a:lnTo>
                <a:lnTo>
                  <a:pt x="4907280" y="1612900"/>
                </a:lnTo>
                <a:lnTo>
                  <a:pt x="4935220" y="1623060"/>
                </a:lnTo>
                <a:lnTo>
                  <a:pt x="4963160" y="1625600"/>
                </a:lnTo>
                <a:lnTo>
                  <a:pt x="4991100" y="1633220"/>
                </a:lnTo>
                <a:lnTo>
                  <a:pt x="5016500" y="1640839"/>
                </a:lnTo>
                <a:lnTo>
                  <a:pt x="5044440" y="1653539"/>
                </a:lnTo>
                <a:lnTo>
                  <a:pt x="5072380" y="1663700"/>
                </a:lnTo>
                <a:lnTo>
                  <a:pt x="5125720" y="1686560"/>
                </a:lnTo>
                <a:lnTo>
                  <a:pt x="5181600" y="1704339"/>
                </a:lnTo>
                <a:lnTo>
                  <a:pt x="5209540" y="1709420"/>
                </a:lnTo>
                <a:lnTo>
                  <a:pt x="5234940" y="1717039"/>
                </a:lnTo>
                <a:lnTo>
                  <a:pt x="5262880" y="1734820"/>
                </a:lnTo>
                <a:lnTo>
                  <a:pt x="5290820" y="1744979"/>
                </a:lnTo>
                <a:lnTo>
                  <a:pt x="5316220" y="1752600"/>
                </a:lnTo>
                <a:lnTo>
                  <a:pt x="5344160" y="1762760"/>
                </a:lnTo>
                <a:lnTo>
                  <a:pt x="5372100" y="1775460"/>
                </a:lnTo>
                <a:lnTo>
                  <a:pt x="5400040" y="1785620"/>
                </a:lnTo>
                <a:lnTo>
                  <a:pt x="5425440" y="1800860"/>
                </a:lnTo>
                <a:lnTo>
                  <a:pt x="5453380" y="1811020"/>
                </a:lnTo>
              </a:path>
            </a:pathLst>
          </a:custGeom>
          <a:ln w="38100">
            <a:solidFill>
              <a:srgbClr val="00548B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/>
          <p:nvPr/>
        </p:nvSpPr>
        <p:spPr>
          <a:xfrm>
            <a:off x="5460682" y="2677478"/>
            <a:ext cx="3352800" cy="411480"/>
          </a:xfrm>
          <a:custGeom>
            <a:avLst/>
            <a:gdLst/>
            <a:ahLst/>
            <a:cxnLst/>
            <a:rect l="l" t="t" r="r" b="b"/>
            <a:pathLst>
              <a:path w="4470400" h="548639">
                <a:moveTo>
                  <a:pt x="0" y="0"/>
                </a:moveTo>
                <a:lnTo>
                  <a:pt x="27940" y="7619"/>
                </a:lnTo>
                <a:lnTo>
                  <a:pt x="55880" y="17779"/>
                </a:lnTo>
                <a:lnTo>
                  <a:pt x="81280" y="25400"/>
                </a:lnTo>
                <a:lnTo>
                  <a:pt x="109220" y="33019"/>
                </a:lnTo>
                <a:lnTo>
                  <a:pt x="137160" y="35559"/>
                </a:lnTo>
                <a:lnTo>
                  <a:pt x="165100" y="43179"/>
                </a:lnTo>
                <a:lnTo>
                  <a:pt x="190500" y="50799"/>
                </a:lnTo>
                <a:lnTo>
                  <a:pt x="218440" y="50799"/>
                </a:lnTo>
                <a:lnTo>
                  <a:pt x="246380" y="53339"/>
                </a:lnTo>
                <a:lnTo>
                  <a:pt x="271780" y="55879"/>
                </a:lnTo>
                <a:lnTo>
                  <a:pt x="299720" y="63499"/>
                </a:lnTo>
                <a:lnTo>
                  <a:pt x="327660" y="60959"/>
                </a:lnTo>
                <a:lnTo>
                  <a:pt x="355600" y="63499"/>
                </a:lnTo>
                <a:lnTo>
                  <a:pt x="381000" y="68579"/>
                </a:lnTo>
                <a:lnTo>
                  <a:pt x="408940" y="68579"/>
                </a:lnTo>
                <a:lnTo>
                  <a:pt x="436880" y="66039"/>
                </a:lnTo>
                <a:lnTo>
                  <a:pt x="464820" y="66039"/>
                </a:lnTo>
                <a:lnTo>
                  <a:pt x="490220" y="71119"/>
                </a:lnTo>
                <a:lnTo>
                  <a:pt x="518160" y="76199"/>
                </a:lnTo>
                <a:lnTo>
                  <a:pt x="546100" y="81279"/>
                </a:lnTo>
                <a:lnTo>
                  <a:pt x="574040" y="83819"/>
                </a:lnTo>
                <a:lnTo>
                  <a:pt x="599440" y="91439"/>
                </a:lnTo>
                <a:lnTo>
                  <a:pt x="627380" y="93979"/>
                </a:lnTo>
                <a:lnTo>
                  <a:pt x="655320" y="96519"/>
                </a:lnTo>
                <a:lnTo>
                  <a:pt x="680720" y="99059"/>
                </a:lnTo>
                <a:lnTo>
                  <a:pt x="708660" y="104139"/>
                </a:lnTo>
                <a:lnTo>
                  <a:pt x="736600" y="109219"/>
                </a:lnTo>
                <a:lnTo>
                  <a:pt x="764540" y="111759"/>
                </a:lnTo>
                <a:lnTo>
                  <a:pt x="789940" y="116839"/>
                </a:lnTo>
                <a:lnTo>
                  <a:pt x="817880" y="121919"/>
                </a:lnTo>
                <a:lnTo>
                  <a:pt x="845820" y="121919"/>
                </a:lnTo>
                <a:lnTo>
                  <a:pt x="873760" y="129539"/>
                </a:lnTo>
                <a:lnTo>
                  <a:pt x="899160" y="137159"/>
                </a:lnTo>
                <a:lnTo>
                  <a:pt x="927100" y="142239"/>
                </a:lnTo>
                <a:lnTo>
                  <a:pt x="955040" y="152399"/>
                </a:lnTo>
                <a:lnTo>
                  <a:pt x="982980" y="160019"/>
                </a:lnTo>
                <a:lnTo>
                  <a:pt x="1008380" y="165099"/>
                </a:lnTo>
                <a:lnTo>
                  <a:pt x="1036320" y="165099"/>
                </a:lnTo>
                <a:lnTo>
                  <a:pt x="1064260" y="170179"/>
                </a:lnTo>
                <a:lnTo>
                  <a:pt x="1089660" y="172719"/>
                </a:lnTo>
                <a:lnTo>
                  <a:pt x="1117600" y="180339"/>
                </a:lnTo>
                <a:lnTo>
                  <a:pt x="1145540" y="182879"/>
                </a:lnTo>
                <a:lnTo>
                  <a:pt x="1198880" y="187959"/>
                </a:lnTo>
                <a:lnTo>
                  <a:pt x="1254760" y="200659"/>
                </a:lnTo>
                <a:lnTo>
                  <a:pt x="1308100" y="215899"/>
                </a:lnTo>
                <a:lnTo>
                  <a:pt x="1336040" y="223519"/>
                </a:lnTo>
                <a:lnTo>
                  <a:pt x="1363980" y="231139"/>
                </a:lnTo>
                <a:lnTo>
                  <a:pt x="1391920" y="231139"/>
                </a:lnTo>
                <a:lnTo>
                  <a:pt x="1417320" y="228599"/>
                </a:lnTo>
                <a:lnTo>
                  <a:pt x="1445260" y="231139"/>
                </a:lnTo>
                <a:lnTo>
                  <a:pt x="1473200" y="233679"/>
                </a:lnTo>
                <a:lnTo>
                  <a:pt x="1498600" y="241299"/>
                </a:lnTo>
                <a:lnTo>
                  <a:pt x="1526540" y="251459"/>
                </a:lnTo>
                <a:lnTo>
                  <a:pt x="1554480" y="261619"/>
                </a:lnTo>
                <a:lnTo>
                  <a:pt x="1582420" y="266699"/>
                </a:lnTo>
                <a:lnTo>
                  <a:pt x="1607820" y="276859"/>
                </a:lnTo>
                <a:lnTo>
                  <a:pt x="1635760" y="284479"/>
                </a:lnTo>
                <a:lnTo>
                  <a:pt x="1663700" y="287019"/>
                </a:lnTo>
                <a:lnTo>
                  <a:pt x="1691640" y="287019"/>
                </a:lnTo>
                <a:lnTo>
                  <a:pt x="1717040" y="287019"/>
                </a:lnTo>
                <a:lnTo>
                  <a:pt x="1744980" y="287019"/>
                </a:lnTo>
                <a:lnTo>
                  <a:pt x="1772920" y="287019"/>
                </a:lnTo>
                <a:lnTo>
                  <a:pt x="1800860" y="287019"/>
                </a:lnTo>
                <a:lnTo>
                  <a:pt x="1826260" y="292099"/>
                </a:lnTo>
                <a:lnTo>
                  <a:pt x="1854200" y="297179"/>
                </a:lnTo>
                <a:lnTo>
                  <a:pt x="1882140" y="302259"/>
                </a:lnTo>
                <a:lnTo>
                  <a:pt x="1907540" y="307339"/>
                </a:lnTo>
                <a:lnTo>
                  <a:pt x="1935480" y="312419"/>
                </a:lnTo>
                <a:lnTo>
                  <a:pt x="1963420" y="314959"/>
                </a:lnTo>
                <a:lnTo>
                  <a:pt x="1991360" y="314959"/>
                </a:lnTo>
                <a:lnTo>
                  <a:pt x="2016760" y="325119"/>
                </a:lnTo>
                <a:lnTo>
                  <a:pt x="2044700" y="332739"/>
                </a:lnTo>
                <a:lnTo>
                  <a:pt x="2072640" y="340359"/>
                </a:lnTo>
                <a:lnTo>
                  <a:pt x="2100580" y="350519"/>
                </a:lnTo>
                <a:lnTo>
                  <a:pt x="2125980" y="358139"/>
                </a:lnTo>
                <a:lnTo>
                  <a:pt x="2153920" y="360679"/>
                </a:lnTo>
                <a:lnTo>
                  <a:pt x="2181860" y="363219"/>
                </a:lnTo>
                <a:lnTo>
                  <a:pt x="2209800" y="368299"/>
                </a:lnTo>
                <a:lnTo>
                  <a:pt x="2235200" y="370839"/>
                </a:lnTo>
                <a:lnTo>
                  <a:pt x="2263140" y="373379"/>
                </a:lnTo>
                <a:lnTo>
                  <a:pt x="2291080" y="375919"/>
                </a:lnTo>
                <a:lnTo>
                  <a:pt x="2316480" y="380999"/>
                </a:lnTo>
                <a:lnTo>
                  <a:pt x="2344420" y="380999"/>
                </a:lnTo>
                <a:lnTo>
                  <a:pt x="2372360" y="383539"/>
                </a:lnTo>
                <a:lnTo>
                  <a:pt x="2400300" y="388619"/>
                </a:lnTo>
                <a:lnTo>
                  <a:pt x="2425700" y="391159"/>
                </a:lnTo>
                <a:lnTo>
                  <a:pt x="2453640" y="396239"/>
                </a:lnTo>
                <a:lnTo>
                  <a:pt x="2481580" y="398779"/>
                </a:lnTo>
                <a:lnTo>
                  <a:pt x="2509520" y="403859"/>
                </a:lnTo>
                <a:lnTo>
                  <a:pt x="2534920" y="406399"/>
                </a:lnTo>
                <a:lnTo>
                  <a:pt x="2562860" y="408939"/>
                </a:lnTo>
                <a:lnTo>
                  <a:pt x="2590800" y="411479"/>
                </a:lnTo>
                <a:lnTo>
                  <a:pt x="2618740" y="414019"/>
                </a:lnTo>
                <a:lnTo>
                  <a:pt x="2644140" y="416559"/>
                </a:lnTo>
                <a:lnTo>
                  <a:pt x="2672080" y="421639"/>
                </a:lnTo>
                <a:lnTo>
                  <a:pt x="2700020" y="426719"/>
                </a:lnTo>
                <a:lnTo>
                  <a:pt x="2725420" y="429259"/>
                </a:lnTo>
                <a:lnTo>
                  <a:pt x="2753360" y="429259"/>
                </a:lnTo>
                <a:lnTo>
                  <a:pt x="2781300" y="434339"/>
                </a:lnTo>
                <a:lnTo>
                  <a:pt x="2809240" y="439419"/>
                </a:lnTo>
                <a:lnTo>
                  <a:pt x="2834640" y="439419"/>
                </a:lnTo>
                <a:lnTo>
                  <a:pt x="2862580" y="441959"/>
                </a:lnTo>
                <a:lnTo>
                  <a:pt x="2890520" y="447039"/>
                </a:lnTo>
                <a:lnTo>
                  <a:pt x="2918460" y="454659"/>
                </a:lnTo>
                <a:lnTo>
                  <a:pt x="2943860" y="457199"/>
                </a:lnTo>
                <a:lnTo>
                  <a:pt x="2971800" y="459739"/>
                </a:lnTo>
                <a:lnTo>
                  <a:pt x="2999740" y="464819"/>
                </a:lnTo>
                <a:lnTo>
                  <a:pt x="3027680" y="472439"/>
                </a:lnTo>
                <a:lnTo>
                  <a:pt x="3053080" y="477519"/>
                </a:lnTo>
                <a:lnTo>
                  <a:pt x="3081020" y="487679"/>
                </a:lnTo>
                <a:lnTo>
                  <a:pt x="3108960" y="490219"/>
                </a:lnTo>
                <a:lnTo>
                  <a:pt x="3134360" y="495299"/>
                </a:lnTo>
                <a:lnTo>
                  <a:pt x="3162300" y="495299"/>
                </a:lnTo>
                <a:lnTo>
                  <a:pt x="3190240" y="495299"/>
                </a:lnTo>
                <a:lnTo>
                  <a:pt x="3218180" y="497839"/>
                </a:lnTo>
                <a:lnTo>
                  <a:pt x="3243580" y="497839"/>
                </a:lnTo>
                <a:lnTo>
                  <a:pt x="3271520" y="497839"/>
                </a:lnTo>
                <a:lnTo>
                  <a:pt x="3299460" y="495299"/>
                </a:lnTo>
                <a:lnTo>
                  <a:pt x="3327400" y="492759"/>
                </a:lnTo>
                <a:lnTo>
                  <a:pt x="3352800" y="495299"/>
                </a:lnTo>
                <a:lnTo>
                  <a:pt x="3380740" y="500379"/>
                </a:lnTo>
                <a:lnTo>
                  <a:pt x="3408680" y="505459"/>
                </a:lnTo>
                <a:lnTo>
                  <a:pt x="3436620" y="507999"/>
                </a:lnTo>
                <a:lnTo>
                  <a:pt x="3462020" y="510539"/>
                </a:lnTo>
                <a:lnTo>
                  <a:pt x="3489960" y="513079"/>
                </a:lnTo>
                <a:lnTo>
                  <a:pt x="3517900" y="515619"/>
                </a:lnTo>
                <a:lnTo>
                  <a:pt x="3543300" y="523239"/>
                </a:lnTo>
                <a:lnTo>
                  <a:pt x="3571240" y="525779"/>
                </a:lnTo>
                <a:lnTo>
                  <a:pt x="3599180" y="530859"/>
                </a:lnTo>
                <a:lnTo>
                  <a:pt x="3627120" y="533399"/>
                </a:lnTo>
                <a:lnTo>
                  <a:pt x="3652520" y="535939"/>
                </a:lnTo>
                <a:lnTo>
                  <a:pt x="3680460" y="541019"/>
                </a:lnTo>
                <a:lnTo>
                  <a:pt x="3708400" y="541019"/>
                </a:lnTo>
                <a:lnTo>
                  <a:pt x="3736340" y="543559"/>
                </a:lnTo>
                <a:lnTo>
                  <a:pt x="3761740" y="543559"/>
                </a:lnTo>
                <a:lnTo>
                  <a:pt x="3789680" y="543559"/>
                </a:lnTo>
                <a:lnTo>
                  <a:pt x="3817620" y="546099"/>
                </a:lnTo>
                <a:lnTo>
                  <a:pt x="3845560" y="548639"/>
                </a:lnTo>
                <a:lnTo>
                  <a:pt x="3870960" y="546099"/>
                </a:lnTo>
                <a:lnTo>
                  <a:pt x="3898900" y="543559"/>
                </a:lnTo>
                <a:lnTo>
                  <a:pt x="3926840" y="543559"/>
                </a:lnTo>
                <a:lnTo>
                  <a:pt x="3952240" y="546099"/>
                </a:lnTo>
                <a:lnTo>
                  <a:pt x="3980180" y="543559"/>
                </a:lnTo>
                <a:lnTo>
                  <a:pt x="4008120" y="535939"/>
                </a:lnTo>
                <a:lnTo>
                  <a:pt x="4036060" y="525779"/>
                </a:lnTo>
                <a:lnTo>
                  <a:pt x="4061460" y="515619"/>
                </a:lnTo>
                <a:lnTo>
                  <a:pt x="4089400" y="507999"/>
                </a:lnTo>
                <a:lnTo>
                  <a:pt x="4117340" y="500379"/>
                </a:lnTo>
                <a:lnTo>
                  <a:pt x="4145280" y="492759"/>
                </a:lnTo>
                <a:lnTo>
                  <a:pt x="4170680" y="487679"/>
                </a:lnTo>
                <a:lnTo>
                  <a:pt x="4198620" y="485139"/>
                </a:lnTo>
                <a:lnTo>
                  <a:pt x="4226560" y="482599"/>
                </a:lnTo>
                <a:lnTo>
                  <a:pt x="4254500" y="480059"/>
                </a:lnTo>
                <a:lnTo>
                  <a:pt x="4279900" y="477519"/>
                </a:lnTo>
                <a:lnTo>
                  <a:pt x="4307840" y="477519"/>
                </a:lnTo>
                <a:lnTo>
                  <a:pt x="4335780" y="474979"/>
                </a:lnTo>
                <a:lnTo>
                  <a:pt x="4361180" y="474979"/>
                </a:lnTo>
                <a:lnTo>
                  <a:pt x="4389120" y="472439"/>
                </a:lnTo>
                <a:lnTo>
                  <a:pt x="4417060" y="469899"/>
                </a:lnTo>
                <a:lnTo>
                  <a:pt x="4445000" y="469899"/>
                </a:lnTo>
                <a:lnTo>
                  <a:pt x="4470400" y="472439"/>
                </a:lnTo>
              </a:path>
            </a:pathLst>
          </a:custGeom>
          <a:ln w="38099">
            <a:solidFill>
              <a:srgbClr val="00548B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/>
          <p:nvPr/>
        </p:nvSpPr>
        <p:spPr>
          <a:xfrm>
            <a:off x="1370647" y="1145858"/>
            <a:ext cx="4090035" cy="1337310"/>
          </a:xfrm>
          <a:custGeom>
            <a:avLst/>
            <a:gdLst/>
            <a:ahLst/>
            <a:cxnLst/>
            <a:rect l="l" t="t" r="r" b="b"/>
            <a:pathLst>
              <a:path w="5453380" h="1783079">
                <a:moveTo>
                  <a:pt x="0" y="0"/>
                </a:moveTo>
                <a:lnTo>
                  <a:pt x="27939" y="0"/>
                </a:lnTo>
                <a:lnTo>
                  <a:pt x="55880" y="10160"/>
                </a:lnTo>
                <a:lnTo>
                  <a:pt x="83819" y="25400"/>
                </a:lnTo>
                <a:lnTo>
                  <a:pt x="109219" y="38100"/>
                </a:lnTo>
                <a:lnTo>
                  <a:pt x="137159" y="48260"/>
                </a:lnTo>
                <a:lnTo>
                  <a:pt x="165100" y="55879"/>
                </a:lnTo>
                <a:lnTo>
                  <a:pt x="193039" y="55879"/>
                </a:lnTo>
                <a:lnTo>
                  <a:pt x="218439" y="58419"/>
                </a:lnTo>
                <a:lnTo>
                  <a:pt x="246380" y="66039"/>
                </a:lnTo>
                <a:lnTo>
                  <a:pt x="274319" y="76200"/>
                </a:lnTo>
                <a:lnTo>
                  <a:pt x="302259" y="88900"/>
                </a:lnTo>
                <a:lnTo>
                  <a:pt x="327659" y="101600"/>
                </a:lnTo>
                <a:lnTo>
                  <a:pt x="355600" y="106679"/>
                </a:lnTo>
                <a:lnTo>
                  <a:pt x="383539" y="111760"/>
                </a:lnTo>
                <a:lnTo>
                  <a:pt x="408939" y="116839"/>
                </a:lnTo>
                <a:lnTo>
                  <a:pt x="436880" y="132079"/>
                </a:lnTo>
                <a:lnTo>
                  <a:pt x="464819" y="147319"/>
                </a:lnTo>
                <a:lnTo>
                  <a:pt x="492759" y="160019"/>
                </a:lnTo>
                <a:lnTo>
                  <a:pt x="518159" y="170179"/>
                </a:lnTo>
                <a:lnTo>
                  <a:pt x="546100" y="185419"/>
                </a:lnTo>
                <a:lnTo>
                  <a:pt x="574039" y="195579"/>
                </a:lnTo>
                <a:lnTo>
                  <a:pt x="601980" y="210819"/>
                </a:lnTo>
                <a:lnTo>
                  <a:pt x="627380" y="228600"/>
                </a:lnTo>
                <a:lnTo>
                  <a:pt x="655319" y="241300"/>
                </a:lnTo>
                <a:lnTo>
                  <a:pt x="683259" y="254000"/>
                </a:lnTo>
                <a:lnTo>
                  <a:pt x="711200" y="261619"/>
                </a:lnTo>
                <a:lnTo>
                  <a:pt x="736600" y="266700"/>
                </a:lnTo>
                <a:lnTo>
                  <a:pt x="764539" y="274319"/>
                </a:lnTo>
                <a:lnTo>
                  <a:pt x="792480" y="279400"/>
                </a:lnTo>
                <a:lnTo>
                  <a:pt x="817880" y="289560"/>
                </a:lnTo>
                <a:lnTo>
                  <a:pt x="845819" y="294639"/>
                </a:lnTo>
                <a:lnTo>
                  <a:pt x="873759" y="299719"/>
                </a:lnTo>
                <a:lnTo>
                  <a:pt x="901700" y="314960"/>
                </a:lnTo>
                <a:lnTo>
                  <a:pt x="927100" y="340360"/>
                </a:lnTo>
                <a:lnTo>
                  <a:pt x="955039" y="358139"/>
                </a:lnTo>
                <a:lnTo>
                  <a:pt x="1010919" y="388619"/>
                </a:lnTo>
                <a:lnTo>
                  <a:pt x="1064259" y="403860"/>
                </a:lnTo>
                <a:lnTo>
                  <a:pt x="1092200" y="411479"/>
                </a:lnTo>
                <a:lnTo>
                  <a:pt x="1120139" y="419100"/>
                </a:lnTo>
                <a:lnTo>
                  <a:pt x="1145539" y="421639"/>
                </a:lnTo>
                <a:lnTo>
                  <a:pt x="1173480" y="431800"/>
                </a:lnTo>
                <a:lnTo>
                  <a:pt x="1201420" y="447039"/>
                </a:lnTo>
                <a:lnTo>
                  <a:pt x="1226820" y="459739"/>
                </a:lnTo>
                <a:lnTo>
                  <a:pt x="1254759" y="459739"/>
                </a:lnTo>
                <a:lnTo>
                  <a:pt x="1282700" y="462279"/>
                </a:lnTo>
                <a:lnTo>
                  <a:pt x="1310639" y="462279"/>
                </a:lnTo>
                <a:lnTo>
                  <a:pt x="1336039" y="469900"/>
                </a:lnTo>
                <a:lnTo>
                  <a:pt x="1363980" y="477519"/>
                </a:lnTo>
                <a:lnTo>
                  <a:pt x="1391920" y="482600"/>
                </a:lnTo>
                <a:lnTo>
                  <a:pt x="1419859" y="490219"/>
                </a:lnTo>
                <a:lnTo>
                  <a:pt x="1445259" y="500379"/>
                </a:lnTo>
                <a:lnTo>
                  <a:pt x="1473199" y="510539"/>
                </a:lnTo>
                <a:lnTo>
                  <a:pt x="1501140" y="528319"/>
                </a:lnTo>
                <a:lnTo>
                  <a:pt x="1529080" y="538479"/>
                </a:lnTo>
                <a:lnTo>
                  <a:pt x="1554480" y="553719"/>
                </a:lnTo>
                <a:lnTo>
                  <a:pt x="1582420" y="566419"/>
                </a:lnTo>
                <a:lnTo>
                  <a:pt x="1610359" y="581660"/>
                </a:lnTo>
                <a:lnTo>
                  <a:pt x="1635759" y="594360"/>
                </a:lnTo>
                <a:lnTo>
                  <a:pt x="1663699" y="601979"/>
                </a:lnTo>
                <a:lnTo>
                  <a:pt x="1691640" y="604519"/>
                </a:lnTo>
                <a:lnTo>
                  <a:pt x="1719580" y="612139"/>
                </a:lnTo>
                <a:lnTo>
                  <a:pt x="1744980" y="619760"/>
                </a:lnTo>
                <a:lnTo>
                  <a:pt x="1772920" y="627379"/>
                </a:lnTo>
                <a:lnTo>
                  <a:pt x="1800859" y="637539"/>
                </a:lnTo>
                <a:lnTo>
                  <a:pt x="1828799" y="650239"/>
                </a:lnTo>
                <a:lnTo>
                  <a:pt x="1854199" y="657860"/>
                </a:lnTo>
                <a:lnTo>
                  <a:pt x="1882140" y="657860"/>
                </a:lnTo>
                <a:lnTo>
                  <a:pt x="1910080" y="660400"/>
                </a:lnTo>
                <a:lnTo>
                  <a:pt x="1938020" y="670560"/>
                </a:lnTo>
                <a:lnTo>
                  <a:pt x="1963420" y="685800"/>
                </a:lnTo>
                <a:lnTo>
                  <a:pt x="1991359" y="701039"/>
                </a:lnTo>
                <a:lnTo>
                  <a:pt x="2019299" y="708660"/>
                </a:lnTo>
                <a:lnTo>
                  <a:pt x="2044699" y="718819"/>
                </a:lnTo>
                <a:lnTo>
                  <a:pt x="2072640" y="723900"/>
                </a:lnTo>
                <a:lnTo>
                  <a:pt x="2100580" y="726439"/>
                </a:lnTo>
                <a:lnTo>
                  <a:pt x="2128520" y="731519"/>
                </a:lnTo>
                <a:lnTo>
                  <a:pt x="2153920" y="736600"/>
                </a:lnTo>
                <a:lnTo>
                  <a:pt x="2181860" y="746760"/>
                </a:lnTo>
                <a:lnTo>
                  <a:pt x="2209799" y="754379"/>
                </a:lnTo>
                <a:lnTo>
                  <a:pt x="2237740" y="762000"/>
                </a:lnTo>
                <a:lnTo>
                  <a:pt x="2263140" y="777239"/>
                </a:lnTo>
                <a:lnTo>
                  <a:pt x="2291080" y="789939"/>
                </a:lnTo>
                <a:lnTo>
                  <a:pt x="2319020" y="802639"/>
                </a:lnTo>
                <a:lnTo>
                  <a:pt x="2346960" y="812800"/>
                </a:lnTo>
                <a:lnTo>
                  <a:pt x="2372360" y="822960"/>
                </a:lnTo>
                <a:lnTo>
                  <a:pt x="2400299" y="828039"/>
                </a:lnTo>
                <a:lnTo>
                  <a:pt x="2428240" y="835660"/>
                </a:lnTo>
                <a:lnTo>
                  <a:pt x="2453640" y="840739"/>
                </a:lnTo>
                <a:lnTo>
                  <a:pt x="2509520" y="850900"/>
                </a:lnTo>
                <a:lnTo>
                  <a:pt x="2562860" y="873760"/>
                </a:lnTo>
                <a:lnTo>
                  <a:pt x="2590799" y="889000"/>
                </a:lnTo>
                <a:lnTo>
                  <a:pt x="2618740" y="899160"/>
                </a:lnTo>
                <a:lnTo>
                  <a:pt x="2646680" y="914400"/>
                </a:lnTo>
                <a:lnTo>
                  <a:pt x="2672080" y="922019"/>
                </a:lnTo>
                <a:lnTo>
                  <a:pt x="2700020" y="927100"/>
                </a:lnTo>
                <a:lnTo>
                  <a:pt x="2727960" y="929639"/>
                </a:lnTo>
                <a:lnTo>
                  <a:pt x="2755899" y="934719"/>
                </a:lnTo>
                <a:lnTo>
                  <a:pt x="2781299" y="939800"/>
                </a:lnTo>
                <a:lnTo>
                  <a:pt x="2809240" y="942339"/>
                </a:lnTo>
                <a:lnTo>
                  <a:pt x="2837180" y="947419"/>
                </a:lnTo>
                <a:lnTo>
                  <a:pt x="2890520" y="960119"/>
                </a:lnTo>
                <a:lnTo>
                  <a:pt x="2946399" y="980439"/>
                </a:lnTo>
                <a:lnTo>
                  <a:pt x="2971799" y="995679"/>
                </a:lnTo>
                <a:lnTo>
                  <a:pt x="2999740" y="1005839"/>
                </a:lnTo>
                <a:lnTo>
                  <a:pt x="3027680" y="1013460"/>
                </a:lnTo>
                <a:lnTo>
                  <a:pt x="3055620" y="1016000"/>
                </a:lnTo>
                <a:lnTo>
                  <a:pt x="3081020" y="1021079"/>
                </a:lnTo>
                <a:lnTo>
                  <a:pt x="3108960" y="1028700"/>
                </a:lnTo>
                <a:lnTo>
                  <a:pt x="3136899" y="1033779"/>
                </a:lnTo>
                <a:lnTo>
                  <a:pt x="3164840" y="1038860"/>
                </a:lnTo>
                <a:lnTo>
                  <a:pt x="3190240" y="1043939"/>
                </a:lnTo>
                <a:lnTo>
                  <a:pt x="3218180" y="1051560"/>
                </a:lnTo>
                <a:lnTo>
                  <a:pt x="3246120" y="1056639"/>
                </a:lnTo>
                <a:lnTo>
                  <a:pt x="3271520" y="1064260"/>
                </a:lnTo>
                <a:lnTo>
                  <a:pt x="3299459" y="1074419"/>
                </a:lnTo>
                <a:lnTo>
                  <a:pt x="3327400" y="1084579"/>
                </a:lnTo>
                <a:lnTo>
                  <a:pt x="3355340" y="1092200"/>
                </a:lnTo>
                <a:lnTo>
                  <a:pt x="3380740" y="1099819"/>
                </a:lnTo>
                <a:lnTo>
                  <a:pt x="3408679" y="1107439"/>
                </a:lnTo>
                <a:lnTo>
                  <a:pt x="3436620" y="1109979"/>
                </a:lnTo>
                <a:lnTo>
                  <a:pt x="3464559" y="1115060"/>
                </a:lnTo>
                <a:lnTo>
                  <a:pt x="3489959" y="1122679"/>
                </a:lnTo>
                <a:lnTo>
                  <a:pt x="3517900" y="1135379"/>
                </a:lnTo>
                <a:lnTo>
                  <a:pt x="3545840" y="1148079"/>
                </a:lnTo>
                <a:lnTo>
                  <a:pt x="3573779" y="1158239"/>
                </a:lnTo>
                <a:lnTo>
                  <a:pt x="3599179" y="1168400"/>
                </a:lnTo>
                <a:lnTo>
                  <a:pt x="3627120" y="1176019"/>
                </a:lnTo>
                <a:lnTo>
                  <a:pt x="3655059" y="1188719"/>
                </a:lnTo>
                <a:lnTo>
                  <a:pt x="3680459" y="1203960"/>
                </a:lnTo>
                <a:lnTo>
                  <a:pt x="3708400" y="1221739"/>
                </a:lnTo>
                <a:lnTo>
                  <a:pt x="3736340" y="1242060"/>
                </a:lnTo>
                <a:lnTo>
                  <a:pt x="3764279" y="1257300"/>
                </a:lnTo>
                <a:lnTo>
                  <a:pt x="3789679" y="1272539"/>
                </a:lnTo>
                <a:lnTo>
                  <a:pt x="3817620" y="1285239"/>
                </a:lnTo>
                <a:lnTo>
                  <a:pt x="3845559" y="1295400"/>
                </a:lnTo>
                <a:lnTo>
                  <a:pt x="3873500" y="1303019"/>
                </a:lnTo>
                <a:lnTo>
                  <a:pt x="3898900" y="1313179"/>
                </a:lnTo>
                <a:lnTo>
                  <a:pt x="3926840" y="1325879"/>
                </a:lnTo>
                <a:lnTo>
                  <a:pt x="3954779" y="1338579"/>
                </a:lnTo>
                <a:lnTo>
                  <a:pt x="3982720" y="1351279"/>
                </a:lnTo>
                <a:lnTo>
                  <a:pt x="4008120" y="1361439"/>
                </a:lnTo>
                <a:lnTo>
                  <a:pt x="4036059" y="1376679"/>
                </a:lnTo>
                <a:lnTo>
                  <a:pt x="4064000" y="1391919"/>
                </a:lnTo>
                <a:lnTo>
                  <a:pt x="4089400" y="1407160"/>
                </a:lnTo>
                <a:lnTo>
                  <a:pt x="4117340" y="1417319"/>
                </a:lnTo>
                <a:lnTo>
                  <a:pt x="4145279" y="1430019"/>
                </a:lnTo>
                <a:lnTo>
                  <a:pt x="4173220" y="1445260"/>
                </a:lnTo>
                <a:lnTo>
                  <a:pt x="4198620" y="1452879"/>
                </a:lnTo>
                <a:lnTo>
                  <a:pt x="4226559" y="1463039"/>
                </a:lnTo>
                <a:lnTo>
                  <a:pt x="4254500" y="1473200"/>
                </a:lnTo>
                <a:lnTo>
                  <a:pt x="4282440" y="1480819"/>
                </a:lnTo>
                <a:lnTo>
                  <a:pt x="4307840" y="1483360"/>
                </a:lnTo>
                <a:lnTo>
                  <a:pt x="4335780" y="1483360"/>
                </a:lnTo>
                <a:lnTo>
                  <a:pt x="4363720" y="1485900"/>
                </a:lnTo>
                <a:lnTo>
                  <a:pt x="4391659" y="1490979"/>
                </a:lnTo>
                <a:lnTo>
                  <a:pt x="4417059" y="1496060"/>
                </a:lnTo>
                <a:lnTo>
                  <a:pt x="4445000" y="1501139"/>
                </a:lnTo>
                <a:lnTo>
                  <a:pt x="4472940" y="1501139"/>
                </a:lnTo>
                <a:lnTo>
                  <a:pt x="4498340" y="1503679"/>
                </a:lnTo>
                <a:lnTo>
                  <a:pt x="4526280" y="1506219"/>
                </a:lnTo>
                <a:lnTo>
                  <a:pt x="4554220" y="1503679"/>
                </a:lnTo>
                <a:lnTo>
                  <a:pt x="4582159" y="1508760"/>
                </a:lnTo>
                <a:lnTo>
                  <a:pt x="4607559" y="1513839"/>
                </a:lnTo>
                <a:lnTo>
                  <a:pt x="4635500" y="1516379"/>
                </a:lnTo>
                <a:lnTo>
                  <a:pt x="4663440" y="1518919"/>
                </a:lnTo>
                <a:lnTo>
                  <a:pt x="4691380" y="1526539"/>
                </a:lnTo>
                <a:lnTo>
                  <a:pt x="4716780" y="1531619"/>
                </a:lnTo>
                <a:lnTo>
                  <a:pt x="4744720" y="1534160"/>
                </a:lnTo>
                <a:lnTo>
                  <a:pt x="4772660" y="1541779"/>
                </a:lnTo>
                <a:lnTo>
                  <a:pt x="4800600" y="1551939"/>
                </a:lnTo>
                <a:lnTo>
                  <a:pt x="4826000" y="1567179"/>
                </a:lnTo>
                <a:lnTo>
                  <a:pt x="4853940" y="1582419"/>
                </a:lnTo>
                <a:lnTo>
                  <a:pt x="4881880" y="1597660"/>
                </a:lnTo>
                <a:lnTo>
                  <a:pt x="4907280" y="1605279"/>
                </a:lnTo>
                <a:lnTo>
                  <a:pt x="4935220" y="1610360"/>
                </a:lnTo>
                <a:lnTo>
                  <a:pt x="4963160" y="1620519"/>
                </a:lnTo>
                <a:lnTo>
                  <a:pt x="4991100" y="1635760"/>
                </a:lnTo>
                <a:lnTo>
                  <a:pt x="5016500" y="1653539"/>
                </a:lnTo>
                <a:lnTo>
                  <a:pt x="5044440" y="1671319"/>
                </a:lnTo>
                <a:lnTo>
                  <a:pt x="5072380" y="1681479"/>
                </a:lnTo>
                <a:lnTo>
                  <a:pt x="5100320" y="1689100"/>
                </a:lnTo>
                <a:lnTo>
                  <a:pt x="5125720" y="1696719"/>
                </a:lnTo>
                <a:lnTo>
                  <a:pt x="5153660" y="1704339"/>
                </a:lnTo>
                <a:lnTo>
                  <a:pt x="5181600" y="1711960"/>
                </a:lnTo>
                <a:lnTo>
                  <a:pt x="5209540" y="1719579"/>
                </a:lnTo>
                <a:lnTo>
                  <a:pt x="5234940" y="1727200"/>
                </a:lnTo>
                <a:lnTo>
                  <a:pt x="5262880" y="1734819"/>
                </a:lnTo>
                <a:lnTo>
                  <a:pt x="5290820" y="1739900"/>
                </a:lnTo>
                <a:lnTo>
                  <a:pt x="5316220" y="1739900"/>
                </a:lnTo>
                <a:lnTo>
                  <a:pt x="5344160" y="1744979"/>
                </a:lnTo>
                <a:lnTo>
                  <a:pt x="5372100" y="1755139"/>
                </a:lnTo>
                <a:lnTo>
                  <a:pt x="5400040" y="1762760"/>
                </a:lnTo>
                <a:lnTo>
                  <a:pt x="5425440" y="1772919"/>
                </a:lnTo>
                <a:lnTo>
                  <a:pt x="5453380" y="1783079"/>
                </a:lnTo>
              </a:path>
            </a:pathLst>
          </a:custGeom>
          <a:ln w="38100">
            <a:solidFill>
              <a:srgbClr val="FD5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16"/>
          <p:cNvSpPr/>
          <p:nvPr/>
        </p:nvSpPr>
        <p:spPr>
          <a:xfrm>
            <a:off x="5460682" y="2483168"/>
            <a:ext cx="3352800" cy="441960"/>
          </a:xfrm>
          <a:custGeom>
            <a:avLst/>
            <a:gdLst/>
            <a:ahLst/>
            <a:cxnLst/>
            <a:rect l="l" t="t" r="r" b="b"/>
            <a:pathLst>
              <a:path w="4470400" h="589279">
                <a:moveTo>
                  <a:pt x="0" y="0"/>
                </a:moveTo>
                <a:lnTo>
                  <a:pt x="27940" y="7620"/>
                </a:lnTo>
                <a:lnTo>
                  <a:pt x="55880" y="17780"/>
                </a:lnTo>
                <a:lnTo>
                  <a:pt x="81280" y="22860"/>
                </a:lnTo>
                <a:lnTo>
                  <a:pt x="109220" y="20320"/>
                </a:lnTo>
                <a:lnTo>
                  <a:pt x="137160" y="20320"/>
                </a:lnTo>
                <a:lnTo>
                  <a:pt x="165100" y="22860"/>
                </a:lnTo>
                <a:lnTo>
                  <a:pt x="190500" y="30480"/>
                </a:lnTo>
                <a:lnTo>
                  <a:pt x="218440" y="38100"/>
                </a:lnTo>
                <a:lnTo>
                  <a:pt x="246380" y="50800"/>
                </a:lnTo>
                <a:lnTo>
                  <a:pt x="271780" y="53339"/>
                </a:lnTo>
                <a:lnTo>
                  <a:pt x="299720" y="58420"/>
                </a:lnTo>
                <a:lnTo>
                  <a:pt x="327660" y="60960"/>
                </a:lnTo>
                <a:lnTo>
                  <a:pt x="355600" y="68580"/>
                </a:lnTo>
                <a:lnTo>
                  <a:pt x="381000" y="73660"/>
                </a:lnTo>
                <a:lnTo>
                  <a:pt x="408940" y="81280"/>
                </a:lnTo>
                <a:lnTo>
                  <a:pt x="436880" y="81280"/>
                </a:lnTo>
                <a:lnTo>
                  <a:pt x="464820" y="86360"/>
                </a:lnTo>
                <a:lnTo>
                  <a:pt x="490220" y="93980"/>
                </a:lnTo>
                <a:lnTo>
                  <a:pt x="518160" y="99060"/>
                </a:lnTo>
                <a:lnTo>
                  <a:pt x="546100" y="104139"/>
                </a:lnTo>
                <a:lnTo>
                  <a:pt x="574040" y="114300"/>
                </a:lnTo>
                <a:lnTo>
                  <a:pt x="599440" y="124460"/>
                </a:lnTo>
                <a:lnTo>
                  <a:pt x="627380" y="129539"/>
                </a:lnTo>
                <a:lnTo>
                  <a:pt x="655320" y="132080"/>
                </a:lnTo>
                <a:lnTo>
                  <a:pt x="680720" y="137160"/>
                </a:lnTo>
                <a:lnTo>
                  <a:pt x="708660" y="142239"/>
                </a:lnTo>
                <a:lnTo>
                  <a:pt x="736600" y="149860"/>
                </a:lnTo>
                <a:lnTo>
                  <a:pt x="764540" y="157480"/>
                </a:lnTo>
                <a:lnTo>
                  <a:pt x="789940" y="167639"/>
                </a:lnTo>
                <a:lnTo>
                  <a:pt x="817880" y="175260"/>
                </a:lnTo>
                <a:lnTo>
                  <a:pt x="845820" y="180339"/>
                </a:lnTo>
                <a:lnTo>
                  <a:pt x="873760" y="187960"/>
                </a:lnTo>
                <a:lnTo>
                  <a:pt x="899160" y="193039"/>
                </a:lnTo>
                <a:lnTo>
                  <a:pt x="927100" y="200660"/>
                </a:lnTo>
                <a:lnTo>
                  <a:pt x="955040" y="208280"/>
                </a:lnTo>
                <a:lnTo>
                  <a:pt x="982980" y="213360"/>
                </a:lnTo>
                <a:lnTo>
                  <a:pt x="1008380" y="218439"/>
                </a:lnTo>
                <a:lnTo>
                  <a:pt x="1036320" y="223520"/>
                </a:lnTo>
                <a:lnTo>
                  <a:pt x="1064260" y="231139"/>
                </a:lnTo>
                <a:lnTo>
                  <a:pt x="1089660" y="238760"/>
                </a:lnTo>
                <a:lnTo>
                  <a:pt x="1117600" y="246380"/>
                </a:lnTo>
                <a:lnTo>
                  <a:pt x="1145540" y="246380"/>
                </a:lnTo>
                <a:lnTo>
                  <a:pt x="1173480" y="251460"/>
                </a:lnTo>
                <a:lnTo>
                  <a:pt x="1198880" y="254000"/>
                </a:lnTo>
                <a:lnTo>
                  <a:pt x="1226820" y="256539"/>
                </a:lnTo>
                <a:lnTo>
                  <a:pt x="1254760" y="264160"/>
                </a:lnTo>
                <a:lnTo>
                  <a:pt x="1282700" y="271780"/>
                </a:lnTo>
                <a:lnTo>
                  <a:pt x="1308100" y="279400"/>
                </a:lnTo>
                <a:lnTo>
                  <a:pt x="1336040" y="287020"/>
                </a:lnTo>
                <a:lnTo>
                  <a:pt x="1363980" y="289560"/>
                </a:lnTo>
                <a:lnTo>
                  <a:pt x="1391920" y="289560"/>
                </a:lnTo>
                <a:lnTo>
                  <a:pt x="1417320" y="289560"/>
                </a:lnTo>
                <a:lnTo>
                  <a:pt x="1445260" y="292100"/>
                </a:lnTo>
                <a:lnTo>
                  <a:pt x="1473200" y="297180"/>
                </a:lnTo>
                <a:lnTo>
                  <a:pt x="1498600" y="299720"/>
                </a:lnTo>
                <a:lnTo>
                  <a:pt x="1526540" y="302260"/>
                </a:lnTo>
                <a:lnTo>
                  <a:pt x="1554480" y="302260"/>
                </a:lnTo>
                <a:lnTo>
                  <a:pt x="1582420" y="307340"/>
                </a:lnTo>
                <a:lnTo>
                  <a:pt x="1607820" y="312420"/>
                </a:lnTo>
                <a:lnTo>
                  <a:pt x="1635760" y="320040"/>
                </a:lnTo>
                <a:lnTo>
                  <a:pt x="1663700" y="322580"/>
                </a:lnTo>
                <a:lnTo>
                  <a:pt x="1691640" y="325120"/>
                </a:lnTo>
                <a:lnTo>
                  <a:pt x="1717040" y="325120"/>
                </a:lnTo>
                <a:lnTo>
                  <a:pt x="1744980" y="325120"/>
                </a:lnTo>
                <a:lnTo>
                  <a:pt x="1772920" y="322580"/>
                </a:lnTo>
                <a:lnTo>
                  <a:pt x="1800860" y="317500"/>
                </a:lnTo>
                <a:lnTo>
                  <a:pt x="1826260" y="325120"/>
                </a:lnTo>
                <a:lnTo>
                  <a:pt x="1854200" y="332740"/>
                </a:lnTo>
                <a:lnTo>
                  <a:pt x="1882140" y="340360"/>
                </a:lnTo>
                <a:lnTo>
                  <a:pt x="1907540" y="347980"/>
                </a:lnTo>
                <a:lnTo>
                  <a:pt x="1935480" y="355600"/>
                </a:lnTo>
                <a:lnTo>
                  <a:pt x="1963420" y="360680"/>
                </a:lnTo>
                <a:lnTo>
                  <a:pt x="1991360" y="368300"/>
                </a:lnTo>
                <a:lnTo>
                  <a:pt x="2016760" y="378460"/>
                </a:lnTo>
                <a:lnTo>
                  <a:pt x="2044700" y="386080"/>
                </a:lnTo>
                <a:lnTo>
                  <a:pt x="2072640" y="391160"/>
                </a:lnTo>
                <a:lnTo>
                  <a:pt x="2100580" y="393700"/>
                </a:lnTo>
                <a:lnTo>
                  <a:pt x="2125980" y="396240"/>
                </a:lnTo>
                <a:lnTo>
                  <a:pt x="2153920" y="398780"/>
                </a:lnTo>
                <a:lnTo>
                  <a:pt x="2181860" y="398780"/>
                </a:lnTo>
                <a:lnTo>
                  <a:pt x="2209800" y="403860"/>
                </a:lnTo>
                <a:lnTo>
                  <a:pt x="2235200" y="406400"/>
                </a:lnTo>
                <a:lnTo>
                  <a:pt x="2263140" y="408940"/>
                </a:lnTo>
                <a:lnTo>
                  <a:pt x="2291080" y="406400"/>
                </a:lnTo>
                <a:lnTo>
                  <a:pt x="2316480" y="406400"/>
                </a:lnTo>
                <a:lnTo>
                  <a:pt x="2344420" y="406400"/>
                </a:lnTo>
                <a:lnTo>
                  <a:pt x="2372360" y="408940"/>
                </a:lnTo>
                <a:lnTo>
                  <a:pt x="2400300" y="411480"/>
                </a:lnTo>
                <a:lnTo>
                  <a:pt x="2425700" y="414020"/>
                </a:lnTo>
                <a:lnTo>
                  <a:pt x="2453640" y="416560"/>
                </a:lnTo>
                <a:lnTo>
                  <a:pt x="2481580" y="419100"/>
                </a:lnTo>
                <a:lnTo>
                  <a:pt x="2509520" y="424180"/>
                </a:lnTo>
                <a:lnTo>
                  <a:pt x="2534920" y="426720"/>
                </a:lnTo>
                <a:lnTo>
                  <a:pt x="2562860" y="429260"/>
                </a:lnTo>
                <a:lnTo>
                  <a:pt x="2590800" y="431800"/>
                </a:lnTo>
                <a:lnTo>
                  <a:pt x="2618740" y="434340"/>
                </a:lnTo>
                <a:lnTo>
                  <a:pt x="2644140" y="436880"/>
                </a:lnTo>
                <a:lnTo>
                  <a:pt x="2672080" y="436880"/>
                </a:lnTo>
                <a:lnTo>
                  <a:pt x="2700020" y="441960"/>
                </a:lnTo>
                <a:lnTo>
                  <a:pt x="2725420" y="441960"/>
                </a:lnTo>
                <a:lnTo>
                  <a:pt x="2753360" y="444500"/>
                </a:lnTo>
                <a:lnTo>
                  <a:pt x="2809240" y="459740"/>
                </a:lnTo>
                <a:lnTo>
                  <a:pt x="2862580" y="469900"/>
                </a:lnTo>
                <a:lnTo>
                  <a:pt x="2890520" y="472440"/>
                </a:lnTo>
                <a:lnTo>
                  <a:pt x="2918460" y="477520"/>
                </a:lnTo>
                <a:lnTo>
                  <a:pt x="2943860" y="477520"/>
                </a:lnTo>
                <a:lnTo>
                  <a:pt x="2971800" y="480060"/>
                </a:lnTo>
                <a:lnTo>
                  <a:pt x="2999740" y="487680"/>
                </a:lnTo>
                <a:lnTo>
                  <a:pt x="3027680" y="492760"/>
                </a:lnTo>
                <a:lnTo>
                  <a:pt x="3053080" y="495300"/>
                </a:lnTo>
                <a:lnTo>
                  <a:pt x="3081020" y="497840"/>
                </a:lnTo>
                <a:lnTo>
                  <a:pt x="3108960" y="497840"/>
                </a:lnTo>
                <a:lnTo>
                  <a:pt x="3134360" y="497840"/>
                </a:lnTo>
                <a:lnTo>
                  <a:pt x="3162300" y="500380"/>
                </a:lnTo>
                <a:lnTo>
                  <a:pt x="3190240" y="502920"/>
                </a:lnTo>
                <a:lnTo>
                  <a:pt x="3218180" y="505460"/>
                </a:lnTo>
                <a:lnTo>
                  <a:pt x="3243580" y="505460"/>
                </a:lnTo>
                <a:lnTo>
                  <a:pt x="3271520" y="505460"/>
                </a:lnTo>
                <a:lnTo>
                  <a:pt x="3299460" y="505460"/>
                </a:lnTo>
                <a:lnTo>
                  <a:pt x="3327400" y="505460"/>
                </a:lnTo>
                <a:lnTo>
                  <a:pt x="3352800" y="510540"/>
                </a:lnTo>
                <a:lnTo>
                  <a:pt x="3380740" y="518160"/>
                </a:lnTo>
                <a:lnTo>
                  <a:pt x="3408680" y="525780"/>
                </a:lnTo>
                <a:lnTo>
                  <a:pt x="3436620" y="530860"/>
                </a:lnTo>
                <a:lnTo>
                  <a:pt x="3462020" y="535940"/>
                </a:lnTo>
                <a:lnTo>
                  <a:pt x="3489960" y="538480"/>
                </a:lnTo>
                <a:lnTo>
                  <a:pt x="3517900" y="543560"/>
                </a:lnTo>
                <a:lnTo>
                  <a:pt x="3543300" y="551180"/>
                </a:lnTo>
                <a:lnTo>
                  <a:pt x="3571240" y="556260"/>
                </a:lnTo>
                <a:lnTo>
                  <a:pt x="3599180" y="561340"/>
                </a:lnTo>
                <a:lnTo>
                  <a:pt x="3627120" y="563880"/>
                </a:lnTo>
                <a:lnTo>
                  <a:pt x="3652520" y="568960"/>
                </a:lnTo>
                <a:lnTo>
                  <a:pt x="3680460" y="571500"/>
                </a:lnTo>
                <a:lnTo>
                  <a:pt x="3708400" y="571500"/>
                </a:lnTo>
                <a:lnTo>
                  <a:pt x="3736340" y="568960"/>
                </a:lnTo>
                <a:lnTo>
                  <a:pt x="3761740" y="571500"/>
                </a:lnTo>
                <a:lnTo>
                  <a:pt x="3789680" y="568960"/>
                </a:lnTo>
                <a:lnTo>
                  <a:pt x="3817620" y="571500"/>
                </a:lnTo>
                <a:lnTo>
                  <a:pt x="3845560" y="576580"/>
                </a:lnTo>
                <a:lnTo>
                  <a:pt x="3870960" y="581660"/>
                </a:lnTo>
                <a:lnTo>
                  <a:pt x="3898900" y="581660"/>
                </a:lnTo>
                <a:lnTo>
                  <a:pt x="3926840" y="584200"/>
                </a:lnTo>
                <a:lnTo>
                  <a:pt x="3952240" y="589280"/>
                </a:lnTo>
                <a:lnTo>
                  <a:pt x="3980180" y="589280"/>
                </a:lnTo>
                <a:lnTo>
                  <a:pt x="4008120" y="584200"/>
                </a:lnTo>
                <a:lnTo>
                  <a:pt x="4036060" y="574040"/>
                </a:lnTo>
                <a:lnTo>
                  <a:pt x="4061460" y="563880"/>
                </a:lnTo>
                <a:lnTo>
                  <a:pt x="4089400" y="556260"/>
                </a:lnTo>
                <a:lnTo>
                  <a:pt x="4117340" y="548640"/>
                </a:lnTo>
                <a:lnTo>
                  <a:pt x="4145280" y="548640"/>
                </a:lnTo>
                <a:lnTo>
                  <a:pt x="4170680" y="548640"/>
                </a:lnTo>
                <a:lnTo>
                  <a:pt x="4198620" y="543560"/>
                </a:lnTo>
                <a:lnTo>
                  <a:pt x="4226560" y="546100"/>
                </a:lnTo>
                <a:lnTo>
                  <a:pt x="4254500" y="548640"/>
                </a:lnTo>
                <a:lnTo>
                  <a:pt x="4279900" y="553720"/>
                </a:lnTo>
                <a:lnTo>
                  <a:pt x="4307840" y="558800"/>
                </a:lnTo>
                <a:lnTo>
                  <a:pt x="4335780" y="568960"/>
                </a:lnTo>
                <a:lnTo>
                  <a:pt x="4361180" y="568960"/>
                </a:lnTo>
                <a:lnTo>
                  <a:pt x="4389120" y="566420"/>
                </a:lnTo>
                <a:lnTo>
                  <a:pt x="4417060" y="561340"/>
                </a:lnTo>
                <a:lnTo>
                  <a:pt x="4445000" y="563880"/>
                </a:lnTo>
                <a:lnTo>
                  <a:pt x="4470400" y="568960"/>
                </a:lnTo>
              </a:path>
            </a:pathLst>
          </a:custGeom>
          <a:ln w="38100">
            <a:solidFill>
              <a:srgbClr val="FD5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 txBox="1"/>
          <p:nvPr/>
        </p:nvSpPr>
        <p:spPr>
          <a:xfrm>
            <a:off x="956786" y="3836908"/>
            <a:ext cx="289560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-11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6785" y="1669257"/>
            <a:ext cx="290513" cy="185069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67151" algn="ctr">
              <a:spcBef>
                <a:spcPts val="75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spcBef>
                <a:spcPts val="30"/>
              </a:spcBef>
            </a:pPr>
            <a:endParaRPr sz="1538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spcBef>
                <a:spcPts val="34"/>
              </a:spcBef>
            </a:pPr>
            <a:endParaRPr sz="1538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spcBef>
                <a:spcPts val="30"/>
              </a:spcBef>
            </a:pPr>
            <a:endParaRPr sz="1538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65371" y="1127284"/>
            <a:ext cx="18049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65371" y="584788"/>
            <a:ext cx="18049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11" dirty="0">
                <a:solidFill>
                  <a:srgbClr val="3E3E3E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08544" y="4016333"/>
            <a:ext cx="7630294" cy="221933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26194" algn="ctr">
              <a:lnSpc>
                <a:spcPts val="1073"/>
              </a:lnSpc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endParaRPr sz="1050">
              <a:latin typeface="Calibri"/>
              <a:cs typeface="Calibri"/>
            </a:endParaRPr>
          </a:p>
          <a:p>
            <a:pPr marL="26194"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endParaRPr sz="1050">
              <a:latin typeface="Calibri"/>
              <a:cs typeface="Calibri"/>
            </a:endParaRPr>
          </a:p>
          <a:p>
            <a:pPr marL="26194" algn="ctr">
              <a:spcBef>
                <a:spcPts val="191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  <a:p>
            <a:pPr marL="92392"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-3</a:t>
            </a:r>
            <a:endParaRPr sz="1050">
              <a:latin typeface="Calibri"/>
              <a:cs typeface="Calibri"/>
            </a:endParaRPr>
          </a:p>
          <a:p>
            <a:pPr marL="134779" algn="ctr">
              <a:spcBef>
                <a:spcPts val="191"/>
              </a:spcBef>
            </a:pP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  <a:p>
            <a:pPr marL="65723"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15</a:t>
            </a:r>
            <a:endParaRPr sz="1050">
              <a:latin typeface="Calibri"/>
              <a:cs typeface="Calibri"/>
            </a:endParaRPr>
          </a:p>
          <a:p>
            <a:pPr marL="65723" algn="ctr">
              <a:spcBef>
                <a:spcPts val="191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24</a:t>
            </a:r>
            <a:endParaRPr sz="1050">
              <a:latin typeface="Calibri"/>
              <a:cs typeface="Calibri"/>
            </a:endParaRPr>
          </a:p>
          <a:p>
            <a:pPr marL="65723"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33</a:t>
            </a:r>
            <a:endParaRPr sz="1050">
              <a:latin typeface="Calibri"/>
              <a:cs typeface="Calibri"/>
            </a:endParaRPr>
          </a:p>
          <a:p>
            <a:pPr marL="65723" algn="ctr">
              <a:spcBef>
                <a:spcPts val="191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42</a:t>
            </a:r>
            <a:endParaRPr sz="1050">
              <a:latin typeface="Calibri"/>
              <a:cs typeface="Calibri"/>
            </a:endParaRPr>
          </a:p>
          <a:p>
            <a:pPr marL="65723"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51</a:t>
            </a:r>
            <a:endParaRPr sz="1050">
              <a:latin typeface="Calibri"/>
              <a:cs typeface="Calibri"/>
            </a:endParaRPr>
          </a:p>
          <a:p>
            <a:pPr marL="65723" algn="ctr">
              <a:spcBef>
                <a:spcPts val="191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60</a:t>
            </a:r>
            <a:endParaRPr sz="1050">
              <a:latin typeface="Calibri"/>
              <a:cs typeface="Calibri"/>
            </a:endParaRPr>
          </a:p>
          <a:p>
            <a:pPr marL="65723"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69</a:t>
            </a:r>
            <a:endParaRPr sz="1050">
              <a:latin typeface="Calibri"/>
              <a:cs typeface="Calibri"/>
            </a:endParaRPr>
          </a:p>
          <a:p>
            <a:pPr marL="65723" algn="ctr">
              <a:spcBef>
                <a:spcPts val="191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78</a:t>
            </a:r>
            <a:endParaRPr sz="1050">
              <a:latin typeface="Calibri"/>
              <a:cs typeface="Calibri"/>
            </a:endParaRPr>
          </a:p>
          <a:p>
            <a:pPr marL="65723"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87</a:t>
            </a:r>
            <a:endParaRPr sz="1050">
              <a:latin typeface="Calibri"/>
              <a:cs typeface="Calibri"/>
            </a:endParaRPr>
          </a:p>
          <a:p>
            <a:pPr marL="65723" algn="ctr">
              <a:spcBef>
                <a:spcPts val="191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96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88"/>
              </a:spcBef>
            </a:pPr>
            <a:r>
              <a:rPr sz="1050" spc="-11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88"/>
              </a:spcBef>
            </a:pPr>
            <a:r>
              <a:rPr sz="1050" spc="-11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91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91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91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9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6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8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91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7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7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8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9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91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91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91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9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91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8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91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6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7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7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8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91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9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91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91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endParaRPr sz="1050">
              <a:latin typeface="Calibri"/>
              <a:cs typeface="Calibri"/>
            </a:endParaRPr>
          </a:p>
          <a:p>
            <a:pPr algn="ctr">
              <a:spcBef>
                <a:spcPts val="188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4327" y="1540831"/>
            <a:ext cx="156068" cy="941546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9525">
              <a:lnSpc>
                <a:spcPts val="1215"/>
              </a:lnSpc>
            </a:pPr>
            <a:r>
              <a:rPr sz="1200" b="1" spc="-8" dirty="0">
                <a:solidFill>
                  <a:srgbClr val="3E3E3E"/>
                </a:solidFill>
                <a:latin typeface="Calibri"/>
                <a:cs typeface="Calibri"/>
              </a:rPr>
              <a:t>ADR 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r>
              <a:rPr sz="1200" b="1" spc="-41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200" b="1" spc="-4" dirty="0">
                <a:solidFill>
                  <a:srgbClr val="3E3E3E"/>
                </a:solidFill>
                <a:latin typeface="Calibri"/>
                <a:cs typeface="Calibri"/>
              </a:rPr>
              <a:t>Decline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754755" y="4461748"/>
            <a:ext cx="1995488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200" b="1" spc="-11" dirty="0">
                <a:solidFill>
                  <a:srgbClr val="3E3E3E"/>
                </a:solidFill>
                <a:latin typeface="Calibri"/>
                <a:cs typeface="Calibri"/>
              </a:rPr>
              <a:t>Days </a:t>
            </a:r>
            <a:r>
              <a:rPr sz="1200" b="1" spc="-8" dirty="0">
                <a:solidFill>
                  <a:srgbClr val="3E3E3E"/>
                </a:solidFill>
                <a:latin typeface="Calibri"/>
                <a:cs typeface="Calibri"/>
              </a:rPr>
              <a:t>After </a:t>
            </a:r>
            <a:r>
              <a:rPr sz="1200" b="1" spc="-4" dirty="0">
                <a:solidFill>
                  <a:srgbClr val="3E3E3E"/>
                </a:solidFill>
                <a:latin typeface="Calibri"/>
                <a:cs typeface="Calibri"/>
              </a:rPr>
              <a:t>Rogue </a:t>
            </a:r>
            <a:r>
              <a:rPr sz="1200" b="1" spc="-8" dirty="0">
                <a:solidFill>
                  <a:srgbClr val="3E3E3E"/>
                </a:solidFill>
                <a:latin typeface="Calibri"/>
                <a:cs typeface="Calibri"/>
              </a:rPr>
              <a:t>Dropped</a:t>
            </a:r>
            <a:r>
              <a:rPr sz="1200" b="1" dirty="0">
                <a:solidFill>
                  <a:srgbClr val="3E3E3E"/>
                </a:solidFill>
                <a:latin typeface="Calibri"/>
                <a:cs typeface="Calibri"/>
              </a:rPr>
              <a:t> 10%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3288696" y="262128"/>
            <a:ext cx="263842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800" spc="-4" dirty="0"/>
              <a:t>All Chicago </a:t>
            </a:r>
            <a:r>
              <a:rPr sz="1800" dirty="0"/>
              <a:t>Comp</a:t>
            </a:r>
            <a:r>
              <a:rPr sz="1800" spc="-53" dirty="0"/>
              <a:t> </a:t>
            </a:r>
            <a:r>
              <a:rPr sz="1800" dirty="0"/>
              <a:t>Sets</a:t>
            </a:r>
            <a:endParaRPr sz="1800"/>
          </a:p>
        </p:txBody>
      </p:sp>
      <p:sp>
        <p:nvSpPr>
          <p:cNvPr id="25" name="object 25"/>
          <p:cNvSpPr/>
          <p:nvPr/>
        </p:nvSpPr>
        <p:spPr>
          <a:xfrm>
            <a:off x="1763078" y="3603307"/>
            <a:ext cx="18288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38100">
            <a:solidFill>
              <a:srgbClr val="84BC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6" name="object 26"/>
          <p:cNvSpPr txBox="1"/>
          <p:nvPr/>
        </p:nvSpPr>
        <p:spPr>
          <a:xfrm>
            <a:off x="1956910" y="3499675"/>
            <a:ext cx="8667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443163" y="3603307"/>
            <a:ext cx="18288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38100">
            <a:solidFill>
              <a:srgbClr val="018575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8" name="object 28"/>
          <p:cNvSpPr txBox="1"/>
          <p:nvPr/>
        </p:nvSpPr>
        <p:spPr>
          <a:xfrm>
            <a:off x="2636044" y="3499675"/>
            <a:ext cx="8667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121343" y="3603307"/>
            <a:ext cx="18288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38100">
            <a:solidFill>
              <a:srgbClr val="00548B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0" name="object 30"/>
          <p:cNvSpPr txBox="1"/>
          <p:nvPr/>
        </p:nvSpPr>
        <p:spPr>
          <a:xfrm>
            <a:off x="3315175" y="3499675"/>
            <a:ext cx="8667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801428" y="3603307"/>
            <a:ext cx="18288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38100">
            <a:solidFill>
              <a:srgbClr val="FD5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2" name="object 32"/>
          <p:cNvSpPr txBox="1"/>
          <p:nvPr/>
        </p:nvSpPr>
        <p:spPr>
          <a:xfrm>
            <a:off x="3994309" y="3499675"/>
            <a:ext cx="8667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72125" y="1209866"/>
            <a:ext cx="2792253" cy="495970"/>
          </a:xfrm>
          <a:prstGeom prst="rect">
            <a:avLst/>
          </a:prstGeom>
        </p:spPr>
        <p:txBody>
          <a:bodyPr vert="horz" wrap="square" lIns="0" tIns="8573" rIns="0" bIns="0" rtlCol="0">
            <a:spAutoFit/>
          </a:bodyPr>
          <a:lstStyle/>
          <a:p>
            <a:pPr marL="9525">
              <a:lnSpc>
                <a:spcPts val="1927"/>
              </a:lnSpc>
              <a:spcBef>
                <a:spcPts val="68"/>
              </a:spcBef>
            </a:pPr>
            <a:r>
              <a:rPr sz="1613" b="1" spc="-15" dirty="0">
                <a:solidFill>
                  <a:srgbClr val="3E3E3E"/>
                </a:solidFill>
                <a:latin typeface="Calibri"/>
                <a:cs typeface="Calibri"/>
              </a:rPr>
              <a:t>Rogue </a:t>
            </a:r>
            <a:r>
              <a:rPr sz="1613" b="1" spc="-11" dirty="0">
                <a:solidFill>
                  <a:srgbClr val="3E3E3E"/>
                </a:solidFill>
                <a:latin typeface="Calibri"/>
                <a:cs typeface="Calibri"/>
              </a:rPr>
              <a:t>hotels </a:t>
            </a:r>
            <a:r>
              <a:rPr sz="1613" b="1" spc="-8" dirty="0">
                <a:solidFill>
                  <a:srgbClr val="3E3E3E"/>
                </a:solidFill>
                <a:latin typeface="Calibri"/>
                <a:cs typeface="Calibri"/>
              </a:rPr>
              <a:t>and second</a:t>
            </a:r>
            <a:r>
              <a:rPr sz="1613" b="1" spc="-23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613" b="1" spc="-11" dirty="0">
                <a:solidFill>
                  <a:srgbClr val="3E3E3E"/>
                </a:solidFill>
                <a:latin typeface="Calibri"/>
                <a:cs typeface="Calibri"/>
              </a:rPr>
              <a:t>movers</a:t>
            </a:r>
            <a:endParaRPr sz="1613">
              <a:latin typeface="Calibri"/>
              <a:cs typeface="Calibri"/>
            </a:endParaRPr>
          </a:p>
          <a:p>
            <a:pPr marL="9525">
              <a:lnSpc>
                <a:spcPts val="1927"/>
              </a:lnSpc>
            </a:pPr>
            <a:r>
              <a:rPr sz="1613" b="1" spc="-11" dirty="0">
                <a:solidFill>
                  <a:srgbClr val="3E3E3E"/>
                </a:solidFill>
                <a:latin typeface="Calibri"/>
                <a:cs typeface="Calibri"/>
              </a:rPr>
              <a:t>suffered ~20% </a:t>
            </a:r>
            <a:r>
              <a:rPr sz="1613" b="1" spc="-34" dirty="0">
                <a:solidFill>
                  <a:srgbClr val="3E3E3E"/>
                </a:solidFill>
                <a:latin typeface="Calibri"/>
                <a:cs typeface="Calibri"/>
              </a:rPr>
              <a:t>Total </a:t>
            </a:r>
            <a:r>
              <a:rPr sz="1613" b="1" spc="-8" dirty="0">
                <a:solidFill>
                  <a:srgbClr val="3E3E3E"/>
                </a:solidFill>
                <a:latin typeface="Calibri"/>
                <a:cs typeface="Calibri"/>
              </a:rPr>
              <a:t>ADR</a:t>
            </a:r>
            <a:r>
              <a:rPr sz="1613" b="1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613" b="1" spc="-11" dirty="0">
                <a:solidFill>
                  <a:srgbClr val="3E3E3E"/>
                </a:solidFill>
                <a:latin typeface="Calibri"/>
                <a:cs typeface="Calibri"/>
              </a:rPr>
              <a:t>Drop</a:t>
            </a:r>
            <a:endParaRPr sz="1613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954774" y="1732026"/>
            <a:ext cx="804386" cy="1608296"/>
          </a:xfrm>
          <a:custGeom>
            <a:avLst/>
            <a:gdLst/>
            <a:ahLst/>
            <a:cxnLst/>
            <a:rect l="l" t="t" r="r" b="b"/>
            <a:pathLst>
              <a:path w="1072515" h="2144395">
                <a:moveTo>
                  <a:pt x="1004238" y="2049924"/>
                </a:moveTo>
                <a:lnTo>
                  <a:pt x="970026" y="2066798"/>
                </a:lnTo>
                <a:lnTo>
                  <a:pt x="1071879" y="2144014"/>
                </a:lnTo>
                <a:lnTo>
                  <a:pt x="1072262" y="2067052"/>
                </a:lnTo>
                <a:lnTo>
                  <a:pt x="1012698" y="2067052"/>
                </a:lnTo>
                <a:lnTo>
                  <a:pt x="1004238" y="2049924"/>
                </a:lnTo>
                <a:close/>
              </a:path>
              <a:path w="1072515" h="2144395">
                <a:moveTo>
                  <a:pt x="1038416" y="2033068"/>
                </a:moveTo>
                <a:lnTo>
                  <a:pt x="1004238" y="2049924"/>
                </a:lnTo>
                <a:lnTo>
                  <a:pt x="1012698" y="2067052"/>
                </a:lnTo>
                <a:lnTo>
                  <a:pt x="1046861" y="2050161"/>
                </a:lnTo>
                <a:lnTo>
                  <a:pt x="1038416" y="2033068"/>
                </a:lnTo>
                <a:close/>
              </a:path>
              <a:path w="1072515" h="2144395">
                <a:moveTo>
                  <a:pt x="1072515" y="2016252"/>
                </a:moveTo>
                <a:lnTo>
                  <a:pt x="1038416" y="2033068"/>
                </a:lnTo>
                <a:lnTo>
                  <a:pt x="1046861" y="2050161"/>
                </a:lnTo>
                <a:lnTo>
                  <a:pt x="1012698" y="2067052"/>
                </a:lnTo>
                <a:lnTo>
                  <a:pt x="1072262" y="2067052"/>
                </a:lnTo>
                <a:lnTo>
                  <a:pt x="1072515" y="2016252"/>
                </a:lnTo>
                <a:close/>
              </a:path>
              <a:path w="1072515" h="2144395">
                <a:moveTo>
                  <a:pt x="34036" y="0"/>
                </a:moveTo>
                <a:lnTo>
                  <a:pt x="0" y="16764"/>
                </a:lnTo>
                <a:lnTo>
                  <a:pt x="1004238" y="2049924"/>
                </a:lnTo>
                <a:lnTo>
                  <a:pt x="1038416" y="2033068"/>
                </a:lnTo>
                <a:lnTo>
                  <a:pt x="34036" y="0"/>
                </a:lnTo>
                <a:close/>
              </a:path>
            </a:pathLst>
          </a:custGeom>
          <a:solidFill>
            <a:srgbClr val="D2252F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5" name="object 35"/>
          <p:cNvSpPr txBox="1"/>
          <p:nvPr/>
        </p:nvSpPr>
        <p:spPr>
          <a:xfrm>
            <a:off x="7383304" y="4918233"/>
            <a:ext cx="1359694" cy="103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829"/>
              </a:lnSpc>
            </a:pPr>
            <a:r>
              <a:rPr sz="788" spc="4" dirty="0">
                <a:solidFill>
                  <a:srgbClr val="8B8B8B"/>
                </a:solidFill>
                <a:latin typeface="Calibri"/>
                <a:cs typeface="Calibri"/>
              </a:rPr>
              <a:t>© 2019 </a:t>
            </a:r>
            <a:r>
              <a:rPr sz="788" dirty="0">
                <a:solidFill>
                  <a:srgbClr val="8B8B8B"/>
                </a:solidFill>
                <a:latin typeface="Calibri"/>
                <a:cs typeface="Calibri"/>
              </a:rPr>
              <a:t>STR. All Rights</a:t>
            </a:r>
            <a:r>
              <a:rPr sz="788" spc="-41" dirty="0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sz="788" dirty="0">
                <a:solidFill>
                  <a:srgbClr val="8B8B8B"/>
                </a:solidFill>
                <a:latin typeface="Calibri"/>
                <a:cs typeface="Calibri"/>
              </a:rPr>
              <a:t>Reserved.</a:t>
            </a:r>
            <a:endParaRPr sz="78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0179" y="506730"/>
            <a:ext cx="6762750" cy="4130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/>
          <p:nvPr/>
        </p:nvSpPr>
        <p:spPr>
          <a:xfrm>
            <a:off x="3437572" y="1433513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408939" h="408939">
                <a:moveTo>
                  <a:pt x="0" y="204470"/>
                </a:moveTo>
                <a:lnTo>
                  <a:pt x="5401" y="157594"/>
                </a:lnTo>
                <a:lnTo>
                  <a:pt x="20786" y="114559"/>
                </a:lnTo>
                <a:lnTo>
                  <a:pt x="44926" y="76593"/>
                </a:lnTo>
                <a:lnTo>
                  <a:pt x="76593" y="44926"/>
                </a:lnTo>
                <a:lnTo>
                  <a:pt x="114559" y="20786"/>
                </a:lnTo>
                <a:lnTo>
                  <a:pt x="157594" y="5401"/>
                </a:lnTo>
                <a:lnTo>
                  <a:pt x="204470" y="0"/>
                </a:lnTo>
                <a:lnTo>
                  <a:pt x="251345" y="5401"/>
                </a:lnTo>
                <a:lnTo>
                  <a:pt x="294380" y="20786"/>
                </a:lnTo>
                <a:lnTo>
                  <a:pt x="332346" y="44926"/>
                </a:lnTo>
                <a:lnTo>
                  <a:pt x="364013" y="76593"/>
                </a:lnTo>
                <a:lnTo>
                  <a:pt x="388153" y="114559"/>
                </a:lnTo>
                <a:lnTo>
                  <a:pt x="403538" y="157594"/>
                </a:lnTo>
                <a:lnTo>
                  <a:pt x="408940" y="204470"/>
                </a:lnTo>
                <a:lnTo>
                  <a:pt x="403538" y="251345"/>
                </a:lnTo>
                <a:lnTo>
                  <a:pt x="388153" y="294380"/>
                </a:lnTo>
                <a:lnTo>
                  <a:pt x="364013" y="332346"/>
                </a:lnTo>
                <a:lnTo>
                  <a:pt x="332346" y="364013"/>
                </a:lnTo>
                <a:lnTo>
                  <a:pt x="294380" y="388153"/>
                </a:lnTo>
                <a:lnTo>
                  <a:pt x="251345" y="403538"/>
                </a:lnTo>
                <a:lnTo>
                  <a:pt x="204470" y="408939"/>
                </a:lnTo>
                <a:lnTo>
                  <a:pt x="157594" y="403538"/>
                </a:lnTo>
                <a:lnTo>
                  <a:pt x="114559" y="388153"/>
                </a:lnTo>
                <a:lnTo>
                  <a:pt x="76593" y="364013"/>
                </a:lnTo>
                <a:lnTo>
                  <a:pt x="44926" y="332346"/>
                </a:lnTo>
                <a:lnTo>
                  <a:pt x="20786" y="294380"/>
                </a:lnTo>
                <a:lnTo>
                  <a:pt x="5401" y="251345"/>
                </a:lnTo>
                <a:lnTo>
                  <a:pt x="0" y="20447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3744277" y="1520190"/>
            <a:ext cx="408623" cy="131445"/>
          </a:xfrm>
          <a:custGeom>
            <a:avLst/>
            <a:gdLst/>
            <a:ahLst/>
            <a:cxnLst/>
            <a:rect l="l" t="t" r="r" b="b"/>
            <a:pathLst>
              <a:path w="544829" h="175260">
                <a:moveTo>
                  <a:pt x="369188" y="0"/>
                </a:moveTo>
                <a:lnTo>
                  <a:pt x="369188" y="175259"/>
                </a:lnTo>
                <a:lnTo>
                  <a:pt x="486028" y="116839"/>
                </a:lnTo>
                <a:lnTo>
                  <a:pt x="398399" y="116839"/>
                </a:lnTo>
                <a:lnTo>
                  <a:pt x="398399" y="58419"/>
                </a:lnTo>
                <a:lnTo>
                  <a:pt x="486028" y="58419"/>
                </a:lnTo>
                <a:lnTo>
                  <a:pt x="369188" y="0"/>
                </a:lnTo>
                <a:close/>
              </a:path>
              <a:path w="544829" h="175260">
                <a:moveTo>
                  <a:pt x="369188" y="58419"/>
                </a:moveTo>
                <a:lnTo>
                  <a:pt x="0" y="58419"/>
                </a:lnTo>
                <a:lnTo>
                  <a:pt x="0" y="116839"/>
                </a:lnTo>
                <a:lnTo>
                  <a:pt x="369188" y="116839"/>
                </a:lnTo>
                <a:lnTo>
                  <a:pt x="369188" y="58419"/>
                </a:lnTo>
                <a:close/>
              </a:path>
              <a:path w="544829" h="175260">
                <a:moveTo>
                  <a:pt x="486028" y="58419"/>
                </a:moveTo>
                <a:lnTo>
                  <a:pt x="398399" y="58419"/>
                </a:lnTo>
                <a:lnTo>
                  <a:pt x="398399" y="116839"/>
                </a:lnTo>
                <a:lnTo>
                  <a:pt x="486028" y="116839"/>
                </a:lnTo>
                <a:lnTo>
                  <a:pt x="544449" y="87629"/>
                </a:lnTo>
                <a:lnTo>
                  <a:pt x="486028" y="5841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4153853" y="1433513"/>
            <a:ext cx="306705" cy="306705"/>
          </a:xfrm>
          <a:custGeom>
            <a:avLst/>
            <a:gdLst/>
            <a:ahLst/>
            <a:cxnLst/>
            <a:rect l="l" t="t" r="r" b="b"/>
            <a:pathLst>
              <a:path w="408939" h="408939">
                <a:moveTo>
                  <a:pt x="0" y="204470"/>
                </a:moveTo>
                <a:lnTo>
                  <a:pt x="5401" y="157594"/>
                </a:lnTo>
                <a:lnTo>
                  <a:pt x="20786" y="114559"/>
                </a:lnTo>
                <a:lnTo>
                  <a:pt x="44926" y="76593"/>
                </a:lnTo>
                <a:lnTo>
                  <a:pt x="76593" y="44926"/>
                </a:lnTo>
                <a:lnTo>
                  <a:pt x="114559" y="20786"/>
                </a:lnTo>
                <a:lnTo>
                  <a:pt x="157594" y="5401"/>
                </a:lnTo>
                <a:lnTo>
                  <a:pt x="204469" y="0"/>
                </a:lnTo>
                <a:lnTo>
                  <a:pt x="251345" y="5401"/>
                </a:lnTo>
                <a:lnTo>
                  <a:pt x="294380" y="20786"/>
                </a:lnTo>
                <a:lnTo>
                  <a:pt x="332346" y="44926"/>
                </a:lnTo>
                <a:lnTo>
                  <a:pt x="364013" y="76593"/>
                </a:lnTo>
                <a:lnTo>
                  <a:pt x="388153" y="114559"/>
                </a:lnTo>
                <a:lnTo>
                  <a:pt x="403538" y="157594"/>
                </a:lnTo>
                <a:lnTo>
                  <a:pt x="408939" y="204470"/>
                </a:lnTo>
                <a:lnTo>
                  <a:pt x="403538" y="251345"/>
                </a:lnTo>
                <a:lnTo>
                  <a:pt x="388153" y="294380"/>
                </a:lnTo>
                <a:lnTo>
                  <a:pt x="364013" y="332346"/>
                </a:lnTo>
                <a:lnTo>
                  <a:pt x="332346" y="364013"/>
                </a:lnTo>
                <a:lnTo>
                  <a:pt x="294380" y="388153"/>
                </a:lnTo>
                <a:lnTo>
                  <a:pt x="251345" y="403538"/>
                </a:lnTo>
                <a:lnTo>
                  <a:pt x="204469" y="408939"/>
                </a:lnTo>
                <a:lnTo>
                  <a:pt x="157594" y="403538"/>
                </a:lnTo>
                <a:lnTo>
                  <a:pt x="114559" y="388153"/>
                </a:lnTo>
                <a:lnTo>
                  <a:pt x="76593" y="364013"/>
                </a:lnTo>
                <a:lnTo>
                  <a:pt x="44926" y="332346"/>
                </a:lnTo>
                <a:lnTo>
                  <a:pt x="20786" y="294380"/>
                </a:lnTo>
                <a:lnTo>
                  <a:pt x="5401" y="251345"/>
                </a:lnTo>
                <a:lnTo>
                  <a:pt x="0" y="20447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7009448" y="1433513"/>
            <a:ext cx="308610" cy="306705"/>
          </a:xfrm>
          <a:custGeom>
            <a:avLst/>
            <a:gdLst/>
            <a:ahLst/>
            <a:cxnLst/>
            <a:rect l="l" t="t" r="r" b="b"/>
            <a:pathLst>
              <a:path w="411479" h="408939">
                <a:moveTo>
                  <a:pt x="0" y="204470"/>
                </a:moveTo>
                <a:lnTo>
                  <a:pt x="5431" y="157594"/>
                </a:lnTo>
                <a:lnTo>
                  <a:pt x="20905" y="114559"/>
                </a:lnTo>
                <a:lnTo>
                  <a:pt x="45186" y="76593"/>
                </a:lnTo>
                <a:lnTo>
                  <a:pt x="77044" y="44926"/>
                </a:lnTo>
                <a:lnTo>
                  <a:pt x="115244" y="20786"/>
                </a:lnTo>
                <a:lnTo>
                  <a:pt x="158553" y="5401"/>
                </a:lnTo>
                <a:lnTo>
                  <a:pt x="205740" y="0"/>
                </a:lnTo>
                <a:lnTo>
                  <a:pt x="252926" y="5401"/>
                </a:lnTo>
                <a:lnTo>
                  <a:pt x="296235" y="20786"/>
                </a:lnTo>
                <a:lnTo>
                  <a:pt x="334435" y="44926"/>
                </a:lnTo>
                <a:lnTo>
                  <a:pt x="366293" y="76593"/>
                </a:lnTo>
                <a:lnTo>
                  <a:pt x="390574" y="114559"/>
                </a:lnTo>
                <a:lnTo>
                  <a:pt x="406048" y="157594"/>
                </a:lnTo>
                <a:lnTo>
                  <a:pt x="411479" y="204470"/>
                </a:lnTo>
                <a:lnTo>
                  <a:pt x="406048" y="251345"/>
                </a:lnTo>
                <a:lnTo>
                  <a:pt x="390574" y="294380"/>
                </a:lnTo>
                <a:lnTo>
                  <a:pt x="366293" y="332346"/>
                </a:lnTo>
                <a:lnTo>
                  <a:pt x="334435" y="364013"/>
                </a:lnTo>
                <a:lnTo>
                  <a:pt x="296235" y="388153"/>
                </a:lnTo>
                <a:lnTo>
                  <a:pt x="252926" y="403538"/>
                </a:lnTo>
                <a:lnTo>
                  <a:pt x="205740" y="408939"/>
                </a:lnTo>
                <a:lnTo>
                  <a:pt x="158553" y="403538"/>
                </a:lnTo>
                <a:lnTo>
                  <a:pt x="115244" y="388153"/>
                </a:lnTo>
                <a:lnTo>
                  <a:pt x="77044" y="364013"/>
                </a:lnTo>
                <a:lnTo>
                  <a:pt x="45186" y="332346"/>
                </a:lnTo>
                <a:lnTo>
                  <a:pt x="20905" y="294380"/>
                </a:lnTo>
                <a:lnTo>
                  <a:pt x="5431" y="251345"/>
                </a:lnTo>
                <a:lnTo>
                  <a:pt x="0" y="20447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3744278" y="1520190"/>
            <a:ext cx="3265646" cy="131445"/>
          </a:xfrm>
          <a:custGeom>
            <a:avLst/>
            <a:gdLst/>
            <a:ahLst/>
            <a:cxnLst/>
            <a:rect l="l" t="t" r="r" b="b"/>
            <a:pathLst>
              <a:path w="4354195" h="175260">
                <a:moveTo>
                  <a:pt x="4178554" y="0"/>
                </a:moveTo>
                <a:lnTo>
                  <a:pt x="4178554" y="175259"/>
                </a:lnTo>
                <a:lnTo>
                  <a:pt x="4295393" y="116839"/>
                </a:lnTo>
                <a:lnTo>
                  <a:pt x="4207763" y="116839"/>
                </a:lnTo>
                <a:lnTo>
                  <a:pt x="4207763" y="58419"/>
                </a:lnTo>
                <a:lnTo>
                  <a:pt x="4295393" y="58419"/>
                </a:lnTo>
                <a:lnTo>
                  <a:pt x="4178554" y="0"/>
                </a:lnTo>
                <a:close/>
              </a:path>
              <a:path w="4354195" h="175260">
                <a:moveTo>
                  <a:pt x="4178554" y="58419"/>
                </a:moveTo>
                <a:lnTo>
                  <a:pt x="0" y="58419"/>
                </a:lnTo>
                <a:lnTo>
                  <a:pt x="0" y="116839"/>
                </a:lnTo>
                <a:lnTo>
                  <a:pt x="4178554" y="116839"/>
                </a:lnTo>
                <a:lnTo>
                  <a:pt x="4178554" y="58419"/>
                </a:lnTo>
                <a:close/>
              </a:path>
              <a:path w="4354195" h="175260">
                <a:moveTo>
                  <a:pt x="4295393" y="58419"/>
                </a:moveTo>
                <a:lnTo>
                  <a:pt x="4207763" y="58419"/>
                </a:lnTo>
                <a:lnTo>
                  <a:pt x="4207763" y="116839"/>
                </a:lnTo>
                <a:lnTo>
                  <a:pt x="4295393" y="116839"/>
                </a:lnTo>
                <a:lnTo>
                  <a:pt x="4353813" y="87629"/>
                </a:lnTo>
                <a:lnTo>
                  <a:pt x="4295393" y="5841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 txBox="1"/>
          <p:nvPr/>
        </p:nvSpPr>
        <p:spPr>
          <a:xfrm>
            <a:off x="3495675" y="1746409"/>
            <a:ext cx="971550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b="1" dirty="0">
                <a:latin typeface="Calibri"/>
                <a:cs typeface="Calibri"/>
              </a:rPr>
              <a:t>27</a:t>
            </a:r>
            <a:r>
              <a:rPr sz="2400" b="1" spc="-56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days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83304" y="4918233"/>
            <a:ext cx="1359694" cy="103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829"/>
              </a:lnSpc>
            </a:pPr>
            <a:r>
              <a:rPr sz="788" spc="4" dirty="0">
                <a:solidFill>
                  <a:srgbClr val="8B8B8B"/>
                </a:solidFill>
                <a:latin typeface="Calibri"/>
                <a:cs typeface="Calibri"/>
              </a:rPr>
              <a:t>© 2019 </a:t>
            </a:r>
            <a:r>
              <a:rPr sz="788" dirty="0">
                <a:solidFill>
                  <a:srgbClr val="8B8B8B"/>
                </a:solidFill>
                <a:latin typeface="Calibri"/>
                <a:cs typeface="Calibri"/>
              </a:rPr>
              <a:t>STR. All Rights</a:t>
            </a:r>
            <a:r>
              <a:rPr sz="788" spc="-41" dirty="0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sz="788" dirty="0">
                <a:solidFill>
                  <a:srgbClr val="8B8B8B"/>
                </a:solidFill>
                <a:latin typeface="Calibri"/>
                <a:cs typeface="Calibri"/>
              </a:rPr>
              <a:t>Reserved.</a:t>
            </a:r>
            <a:endParaRPr sz="788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24211" y="975884"/>
            <a:ext cx="1125855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b="1" dirty="0">
                <a:latin typeface="Calibri"/>
                <a:cs typeface="Calibri"/>
              </a:rPr>
              <a:t>130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days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9901"/>
            <a:ext cx="9144000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z="2400" spc="-11" dirty="0">
                <a:solidFill>
                  <a:srgbClr val="3E3E3E"/>
                </a:solidFill>
                <a:latin typeface="Franklin Gothic Book" panose="020B0503020102020204" pitchFamily="34" charset="0"/>
                <a:cs typeface="Calibri"/>
              </a:rPr>
              <a:t>3rd </a:t>
            </a:r>
            <a:r>
              <a:rPr sz="2400" dirty="0">
                <a:solidFill>
                  <a:srgbClr val="3E3E3E"/>
                </a:solidFill>
                <a:latin typeface="Franklin Gothic Book" panose="020B0503020102020204" pitchFamily="34" charset="0"/>
                <a:cs typeface="Calibri"/>
              </a:rPr>
              <a:t>and </a:t>
            </a:r>
            <a:r>
              <a:rPr sz="2400" spc="-4" dirty="0">
                <a:solidFill>
                  <a:srgbClr val="3E3E3E"/>
                </a:solidFill>
                <a:latin typeface="Franklin Gothic Book" panose="020B0503020102020204" pitchFamily="34" charset="0"/>
                <a:cs typeface="Calibri"/>
              </a:rPr>
              <a:t>4th </a:t>
            </a:r>
            <a:r>
              <a:rPr sz="2400" spc="-8" dirty="0">
                <a:solidFill>
                  <a:srgbClr val="3E3E3E"/>
                </a:solidFill>
                <a:latin typeface="Franklin Gothic Book" panose="020B0503020102020204" pitchFamily="34" charset="0"/>
                <a:cs typeface="Calibri"/>
              </a:rPr>
              <a:t>Hotels </a:t>
            </a:r>
            <a:r>
              <a:rPr sz="2400" spc="-30" dirty="0">
                <a:solidFill>
                  <a:srgbClr val="3E3E3E"/>
                </a:solidFill>
                <a:latin typeface="Franklin Gothic Book" panose="020B0503020102020204" pitchFamily="34" charset="0"/>
                <a:cs typeface="Calibri"/>
              </a:rPr>
              <a:t>Were </a:t>
            </a:r>
            <a:r>
              <a:rPr sz="2400" spc="-4" dirty="0">
                <a:solidFill>
                  <a:srgbClr val="3E3E3E"/>
                </a:solidFill>
                <a:latin typeface="Franklin Gothic Book" panose="020B0503020102020204" pitchFamily="34" charset="0"/>
                <a:cs typeface="Calibri"/>
              </a:rPr>
              <a:t>Willing </a:t>
            </a:r>
            <a:r>
              <a:rPr sz="2400" spc="-19" dirty="0">
                <a:solidFill>
                  <a:srgbClr val="3E3E3E"/>
                </a:solidFill>
                <a:latin typeface="Franklin Gothic Book" panose="020B0503020102020204" pitchFamily="34" charset="0"/>
                <a:cs typeface="Calibri"/>
              </a:rPr>
              <a:t>to </a:t>
            </a:r>
            <a:r>
              <a:rPr sz="2400" spc="-11" dirty="0">
                <a:solidFill>
                  <a:srgbClr val="3E3E3E"/>
                </a:solidFill>
                <a:latin typeface="Franklin Gothic Book" panose="020B0503020102020204" pitchFamily="34" charset="0"/>
                <a:cs typeface="Calibri"/>
              </a:rPr>
              <a:t>Sust</a:t>
            </a:r>
            <a:r>
              <a:rPr lang="en-US" sz="2400" spc="-11" dirty="0">
                <a:solidFill>
                  <a:srgbClr val="3E3E3E"/>
                </a:solidFill>
                <a:latin typeface="Franklin Gothic Book" panose="020B0503020102020204" pitchFamily="34" charset="0"/>
                <a:cs typeface="Calibri"/>
              </a:rPr>
              <a:t>a</a:t>
            </a:r>
            <a:r>
              <a:rPr sz="2400" spc="-11" dirty="0">
                <a:solidFill>
                  <a:srgbClr val="3E3E3E"/>
                </a:solidFill>
                <a:latin typeface="Franklin Gothic Book" panose="020B0503020102020204" pitchFamily="34" charset="0"/>
                <a:cs typeface="Calibri"/>
              </a:rPr>
              <a:t>in </a:t>
            </a:r>
            <a:r>
              <a:rPr lang="en-US" sz="2400" spc="-4" dirty="0">
                <a:solidFill>
                  <a:srgbClr val="3E3E3E"/>
                </a:solidFill>
                <a:latin typeface="Franklin Gothic Book" panose="020B0503020102020204" pitchFamily="34" charset="0"/>
                <a:cs typeface="Calibri"/>
              </a:rPr>
              <a:t>D</a:t>
            </a:r>
            <a:r>
              <a:rPr sz="2400" spc="-4" dirty="0">
                <a:solidFill>
                  <a:srgbClr val="3E3E3E"/>
                </a:solidFill>
                <a:latin typeface="Franklin Gothic Book" panose="020B0503020102020204" pitchFamily="34" charset="0"/>
                <a:cs typeface="Calibri"/>
              </a:rPr>
              <a:t>ouble </a:t>
            </a:r>
            <a:r>
              <a:rPr sz="2400" dirty="0">
                <a:solidFill>
                  <a:srgbClr val="3E3E3E"/>
                </a:solidFill>
                <a:latin typeface="Franklin Gothic Book" panose="020B0503020102020204" pitchFamily="34" charset="0"/>
                <a:cs typeface="Calibri"/>
              </a:rPr>
              <a:t>the </a:t>
            </a:r>
            <a:r>
              <a:rPr sz="2400" spc="-4" dirty="0">
                <a:solidFill>
                  <a:srgbClr val="3E3E3E"/>
                </a:solidFill>
                <a:latin typeface="Franklin Gothic Book" panose="020B0503020102020204" pitchFamily="34" charset="0"/>
                <a:cs typeface="Calibri"/>
              </a:rPr>
              <a:t>Occupancy</a:t>
            </a:r>
            <a:r>
              <a:rPr sz="2400" spc="-26" dirty="0">
                <a:solidFill>
                  <a:srgbClr val="3E3E3E"/>
                </a:solidFill>
                <a:latin typeface="Franklin Gothic Book" panose="020B0503020102020204" pitchFamily="34" charset="0"/>
                <a:cs typeface="Calibri"/>
              </a:rPr>
              <a:t> </a:t>
            </a:r>
            <a:r>
              <a:rPr sz="2400" dirty="0">
                <a:solidFill>
                  <a:srgbClr val="3E3E3E"/>
                </a:solidFill>
                <a:latin typeface="Franklin Gothic Book" panose="020B0503020102020204" pitchFamily="34" charset="0"/>
                <a:cs typeface="Calibri"/>
              </a:rPr>
              <a:t>Loss</a:t>
            </a:r>
            <a:endParaRPr sz="2400" dirty="0">
              <a:latin typeface="Franklin Gothic Book" panose="020B0503020102020204" pitchFamily="34" charset="0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62927" y="1509713"/>
            <a:ext cx="8020050" cy="0"/>
          </a:xfrm>
          <a:custGeom>
            <a:avLst/>
            <a:gdLst/>
            <a:ahLst/>
            <a:cxnLst/>
            <a:rect l="l" t="t" r="r" b="b"/>
            <a:pathLst>
              <a:path w="10693400">
                <a:moveTo>
                  <a:pt x="0" y="0"/>
                </a:moveTo>
                <a:lnTo>
                  <a:pt x="10693400" y="0"/>
                </a:lnTo>
              </a:path>
            </a:pathLst>
          </a:custGeom>
          <a:ln w="76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 txBox="1"/>
          <p:nvPr/>
        </p:nvSpPr>
        <p:spPr>
          <a:xfrm>
            <a:off x="1163954" y="1512570"/>
            <a:ext cx="802005" cy="366992"/>
          </a:xfrm>
          <a:prstGeom prst="rect">
            <a:avLst/>
          </a:prstGeom>
          <a:solidFill>
            <a:srgbClr val="009CDE"/>
          </a:solidFill>
        </p:spPr>
        <p:txBody>
          <a:bodyPr vert="horz" wrap="square" lIns="0" tIns="3334" rIns="0" bIns="0" rtlCol="0">
            <a:spAutoFit/>
          </a:bodyPr>
          <a:lstStyle/>
          <a:p>
            <a:pPr>
              <a:spcBef>
                <a:spcPts val="26"/>
              </a:spcBef>
            </a:pPr>
            <a:endParaRPr sz="1163">
              <a:latin typeface="Times New Roman"/>
              <a:cs typeface="Times New Roman"/>
            </a:endParaRPr>
          </a:p>
          <a:p>
            <a:pPr marL="223361">
              <a:spcBef>
                <a:spcPts val="4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-7.2%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68015" y="1512570"/>
            <a:ext cx="802005" cy="393377"/>
          </a:xfrm>
          <a:prstGeom prst="rect">
            <a:avLst/>
          </a:prstGeom>
          <a:solidFill>
            <a:srgbClr val="009CDE"/>
          </a:solidFill>
        </p:spPr>
        <p:txBody>
          <a:bodyPr vert="horz" wrap="square" lIns="0" tIns="953" rIns="0" bIns="0" rtlCol="0">
            <a:spAutoFit/>
          </a:bodyPr>
          <a:lstStyle/>
          <a:p>
            <a:pPr>
              <a:spcBef>
                <a:spcPts val="8"/>
              </a:spcBef>
            </a:pPr>
            <a:endParaRPr sz="1350">
              <a:latin typeface="Times New Roman"/>
              <a:cs typeface="Times New Roman"/>
            </a:endParaRPr>
          </a:p>
          <a:p>
            <a:pPr marL="224790"/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-7.8%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73980" y="1512571"/>
            <a:ext cx="802005" cy="565539"/>
          </a:xfrm>
          <a:prstGeom prst="rect">
            <a:avLst/>
          </a:prstGeom>
          <a:solidFill>
            <a:srgbClr val="009CD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spcBef>
                <a:spcPts val="38"/>
              </a:spcBef>
            </a:pPr>
            <a:endParaRPr sz="1275">
              <a:latin typeface="Times New Roman"/>
              <a:cs typeface="Times New Roman"/>
            </a:endParaRPr>
          </a:p>
          <a:p>
            <a:pPr marL="184309"/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-12.1%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78039" y="1512570"/>
            <a:ext cx="802005" cy="682238"/>
          </a:xfrm>
          <a:prstGeom prst="rect">
            <a:avLst/>
          </a:prstGeom>
          <a:solidFill>
            <a:srgbClr val="009CDE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85738">
              <a:spcBef>
                <a:spcPts val="982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-15.0%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3954" y="2063116"/>
            <a:ext cx="802005" cy="934871"/>
          </a:xfrm>
          <a:prstGeom prst="rect">
            <a:avLst/>
          </a:prstGeom>
          <a:solidFill>
            <a:srgbClr val="D2252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</a:pPr>
            <a:endParaRPr sz="1275">
              <a:latin typeface="Times New Roman"/>
              <a:cs typeface="Times New Roman"/>
            </a:endParaRPr>
          </a:p>
          <a:p>
            <a:pPr marL="183356"/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-21.1%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68015" y="2112645"/>
            <a:ext cx="802005" cy="952248"/>
          </a:xfrm>
          <a:prstGeom prst="rect">
            <a:avLst/>
          </a:prstGeom>
          <a:solidFill>
            <a:srgbClr val="D2252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</a:pPr>
            <a:endParaRPr sz="1388">
              <a:latin typeface="Times New Roman"/>
              <a:cs typeface="Times New Roman"/>
            </a:endParaRPr>
          </a:p>
          <a:p>
            <a:pPr marL="184784"/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-21.5%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73980" y="2447926"/>
            <a:ext cx="802005" cy="802207"/>
          </a:xfrm>
          <a:prstGeom prst="rect">
            <a:avLst/>
          </a:prstGeom>
          <a:solidFill>
            <a:srgbClr val="D2252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spcBef>
                <a:spcPts val="34"/>
              </a:spcBef>
            </a:pPr>
            <a:endParaRPr sz="1613">
              <a:latin typeface="Times New Roman"/>
              <a:cs typeface="Times New Roman"/>
            </a:endParaRPr>
          </a:p>
          <a:p>
            <a:pPr marL="184309"/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-17.9%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78039" y="2667000"/>
            <a:ext cx="802005" cy="721416"/>
          </a:xfrm>
          <a:prstGeom prst="rect">
            <a:avLst/>
          </a:prstGeom>
          <a:solidFill>
            <a:srgbClr val="D2252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88">
              <a:latin typeface="Times New Roman"/>
              <a:cs typeface="Times New Roman"/>
            </a:endParaRPr>
          </a:p>
          <a:p>
            <a:pPr marL="185738"/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-15.8%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73041" y="1232297"/>
            <a:ext cx="4204811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  <a:tabLst>
                <a:tab pos="1993106" algn="l"/>
                <a:tab pos="4010025" algn="l"/>
              </a:tabLst>
            </a:pPr>
            <a:r>
              <a:rPr sz="1050" spc="-11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s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t	</a:t>
            </a:r>
            <a:r>
              <a:rPr sz="1050" spc="-11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n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d	</a:t>
            </a:r>
            <a:r>
              <a:rPr sz="1050" spc="-11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spc="8" dirty="0">
                <a:solidFill>
                  <a:srgbClr val="3E3E3E"/>
                </a:solidFill>
                <a:latin typeface="Calibri"/>
                <a:cs typeface="Calibri"/>
              </a:rPr>
              <a:t>r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d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80458" y="1232297"/>
            <a:ext cx="201454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11" dirty="0">
                <a:solidFill>
                  <a:srgbClr val="3E3E3E"/>
                </a:solidFill>
                <a:latin typeface="Calibri"/>
                <a:cs typeface="Calibri"/>
              </a:rPr>
              <a:t>4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t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h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71725" y="4391025"/>
            <a:ext cx="72390" cy="74295"/>
          </a:xfrm>
          <a:custGeom>
            <a:avLst/>
            <a:gdLst/>
            <a:ahLst/>
            <a:cxnLst/>
            <a:rect l="l" t="t" r="r" b="b"/>
            <a:pathLst>
              <a:path w="96520" h="99060">
                <a:moveTo>
                  <a:pt x="0" y="99059"/>
                </a:moveTo>
                <a:lnTo>
                  <a:pt x="96520" y="99059"/>
                </a:lnTo>
                <a:lnTo>
                  <a:pt x="9652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009CDE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 txBox="1"/>
          <p:nvPr/>
        </p:nvSpPr>
        <p:spPr>
          <a:xfrm>
            <a:off x="2468404" y="4326017"/>
            <a:ext cx="1968341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Occ 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 Change 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At 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Peak </a:t>
            </a: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RevPAR</a:t>
            </a:r>
            <a:r>
              <a:rPr sz="1050" spc="-79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Drop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47259" y="4391025"/>
            <a:ext cx="74295" cy="74295"/>
          </a:xfrm>
          <a:custGeom>
            <a:avLst/>
            <a:gdLst/>
            <a:ahLst/>
            <a:cxnLst/>
            <a:rect l="l" t="t" r="r" b="b"/>
            <a:pathLst>
              <a:path w="99060" h="99060">
                <a:moveTo>
                  <a:pt x="0" y="99059"/>
                </a:moveTo>
                <a:lnTo>
                  <a:pt x="99060" y="99059"/>
                </a:lnTo>
                <a:lnTo>
                  <a:pt x="99060" y="0"/>
                </a:lnTo>
                <a:lnTo>
                  <a:pt x="0" y="0"/>
                </a:lnTo>
                <a:lnTo>
                  <a:pt x="0" y="99059"/>
                </a:lnTo>
                <a:close/>
              </a:path>
            </a:pathLst>
          </a:custGeom>
          <a:solidFill>
            <a:srgbClr val="D2252F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 txBox="1"/>
          <p:nvPr/>
        </p:nvSpPr>
        <p:spPr>
          <a:xfrm>
            <a:off x="4845082" y="4326017"/>
            <a:ext cx="1987391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ADR % Change 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at 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Peak </a:t>
            </a: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RevPAR</a:t>
            </a:r>
            <a:r>
              <a:rPr sz="1050" spc="-9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Drop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83304" y="4918233"/>
            <a:ext cx="1359694" cy="103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829"/>
              </a:lnSpc>
            </a:pPr>
            <a:r>
              <a:rPr sz="788" spc="4" dirty="0">
                <a:solidFill>
                  <a:srgbClr val="8B8B8B"/>
                </a:solidFill>
                <a:latin typeface="Calibri"/>
                <a:cs typeface="Calibri"/>
              </a:rPr>
              <a:t>© 2019 </a:t>
            </a:r>
            <a:r>
              <a:rPr sz="788" dirty="0">
                <a:solidFill>
                  <a:srgbClr val="8B8B8B"/>
                </a:solidFill>
                <a:latin typeface="Calibri"/>
                <a:cs typeface="Calibri"/>
              </a:rPr>
              <a:t>STR. All Rights</a:t>
            </a:r>
            <a:r>
              <a:rPr sz="788" spc="-41" dirty="0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sz="788" dirty="0">
                <a:solidFill>
                  <a:srgbClr val="8B8B8B"/>
                </a:solidFill>
                <a:latin typeface="Calibri"/>
                <a:cs typeface="Calibri"/>
              </a:rPr>
              <a:t>Reserved.</a:t>
            </a:r>
            <a:endParaRPr sz="78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4600" y="1885950"/>
            <a:ext cx="4860131" cy="50206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3200" spc="-83" dirty="0"/>
              <a:t>Did</a:t>
            </a:r>
            <a:r>
              <a:rPr sz="3200" spc="-225" dirty="0"/>
              <a:t> </a:t>
            </a:r>
            <a:r>
              <a:rPr sz="3200" spc="-86" dirty="0"/>
              <a:t>any</a:t>
            </a:r>
            <a:r>
              <a:rPr sz="3200" spc="-203" dirty="0"/>
              <a:t> </a:t>
            </a:r>
            <a:r>
              <a:rPr sz="3200" spc="-101" dirty="0"/>
              <a:t>hotels</a:t>
            </a:r>
            <a:r>
              <a:rPr sz="3200" spc="-203" dirty="0"/>
              <a:t> </a:t>
            </a:r>
            <a:r>
              <a:rPr sz="3200" spc="-86" dirty="0"/>
              <a:t>not</a:t>
            </a:r>
            <a:r>
              <a:rPr sz="3200" spc="-210" dirty="0"/>
              <a:t> </a:t>
            </a:r>
            <a:r>
              <a:rPr sz="3200" spc="-94" dirty="0"/>
              <a:t>drop</a:t>
            </a:r>
            <a:r>
              <a:rPr sz="3200" spc="-206" dirty="0"/>
              <a:t> </a:t>
            </a:r>
            <a:r>
              <a:rPr sz="3200" spc="-94" dirty="0"/>
              <a:t>ADR?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255" y="503872"/>
            <a:ext cx="6360319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spc="-8" dirty="0">
                <a:solidFill>
                  <a:srgbClr val="3E3E3E"/>
                </a:solidFill>
                <a:latin typeface="Calibri"/>
                <a:cs typeface="Calibri"/>
              </a:rPr>
              <a:t>Hotels That </a:t>
            </a:r>
            <a:r>
              <a:rPr sz="2400" spc="-4" dirty="0">
                <a:solidFill>
                  <a:srgbClr val="3E3E3E"/>
                </a:solidFill>
                <a:latin typeface="Calibri"/>
                <a:cs typeface="Calibri"/>
              </a:rPr>
              <a:t>Didn’t </a:t>
            </a:r>
            <a:r>
              <a:rPr sz="2400" dirty="0">
                <a:solidFill>
                  <a:srgbClr val="3E3E3E"/>
                </a:solidFill>
                <a:latin typeface="Calibri"/>
                <a:cs typeface="Calibri"/>
              </a:rPr>
              <a:t>Slash ADR </a:t>
            </a:r>
            <a:r>
              <a:rPr sz="2400" spc="-8" dirty="0">
                <a:solidFill>
                  <a:srgbClr val="3E3E3E"/>
                </a:solidFill>
                <a:latin typeface="Calibri"/>
                <a:cs typeface="Calibri"/>
              </a:rPr>
              <a:t>Lost More</a:t>
            </a:r>
            <a:r>
              <a:rPr sz="2400" spc="19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400" spc="-4" dirty="0">
                <a:solidFill>
                  <a:srgbClr val="3E3E3E"/>
                </a:solidFill>
                <a:latin typeface="Calibri"/>
                <a:cs typeface="Calibri"/>
              </a:rPr>
              <a:t>Demand…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3448" y="4285297"/>
            <a:ext cx="7669530" cy="0"/>
          </a:xfrm>
          <a:custGeom>
            <a:avLst/>
            <a:gdLst/>
            <a:ahLst/>
            <a:cxnLst/>
            <a:rect l="l" t="t" r="r" b="b"/>
            <a:pathLst>
              <a:path w="10226040">
                <a:moveTo>
                  <a:pt x="0" y="0"/>
                </a:moveTo>
                <a:lnTo>
                  <a:pt x="10226040" y="0"/>
                </a:lnTo>
              </a:path>
            </a:pathLst>
          </a:custGeom>
          <a:ln w="762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913448" y="1751647"/>
            <a:ext cx="7669530" cy="0"/>
          </a:xfrm>
          <a:custGeom>
            <a:avLst/>
            <a:gdLst/>
            <a:ahLst/>
            <a:cxnLst/>
            <a:rect l="l" t="t" r="r" b="b"/>
            <a:pathLst>
              <a:path w="10226040">
                <a:moveTo>
                  <a:pt x="0" y="0"/>
                </a:moveTo>
                <a:lnTo>
                  <a:pt x="10226040" y="0"/>
                </a:lnTo>
              </a:path>
            </a:pathLst>
          </a:custGeom>
          <a:ln w="762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913448" y="1328738"/>
            <a:ext cx="7669530" cy="0"/>
          </a:xfrm>
          <a:custGeom>
            <a:avLst/>
            <a:gdLst/>
            <a:ahLst/>
            <a:cxnLst/>
            <a:rect l="l" t="t" r="r" b="b"/>
            <a:pathLst>
              <a:path w="10226040">
                <a:moveTo>
                  <a:pt x="0" y="0"/>
                </a:moveTo>
                <a:lnTo>
                  <a:pt x="10226040" y="0"/>
                </a:lnTo>
              </a:path>
            </a:pathLst>
          </a:custGeom>
          <a:ln w="762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904875" y="1823084"/>
            <a:ext cx="7686675" cy="2268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 txBox="1"/>
          <p:nvPr/>
        </p:nvSpPr>
        <p:spPr>
          <a:xfrm>
            <a:off x="509587" y="2070211"/>
            <a:ext cx="290513" cy="236410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18110">
              <a:spcBef>
                <a:spcPts val="75"/>
              </a:spcBef>
            </a:pPr>
            <a:r>
              <a:rPr sz="1050" spc="-11" dirty="0">
                <a:solidFill>
                  <a:srgbClr val="3E3E3E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118110">
              <a:spcBef>
                <a:spcPts val="863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0%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marL="67151" algn="ctr">
              <a:spcBef>
                <a:spcPts val="85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algn="ctr">
              <a:spcBef>
                <a:spcPts val="85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algn="ctr">
              <a:spcBef>
                <a:spcPts val="85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algn="ctr">
              <a:spcBef>
                <a:spcPts val="859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0545" y="1647778"/>
            <a:ext cx="250031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11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0544" y="1225582"/>
            <a:ext cx="249555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7710" y="4356021"/>
            <a:ext cx="38195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Sep</a:t>
            </a:r>
            <a:r>
              <a:rPr sz="1050" spc="-49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08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43335" y="4356021"/>
            <a:ext cx="38957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Dec</a:t>
            </a:r>
            <a:r>
              <a:rPr sz="105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08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43912" y="4356021"/>
            <a:ext cx="40862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Mar</a:t>
            </a:r>
            <a:r>
              <a:rPr sz="1050" spc="-49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09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92780" y="4356021"/>
            <a:ext cx="36671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Jun</a:t>
            </a:r>
            <a:r>
              <a:rPr sz="1050" spc="-49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09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13359" y="4356021"/>
            <a:ext cx="38195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Sep</a:t>
            </a:r>
            <a:r>
              <a:rPr sz="1050" spc="-49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09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28889" y="4356021"/>
            <a:ext cx="38957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Dec</a:t>
            </a:r>
            <a:r>
              <a:rPr sz="105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09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29275" y="4356021"/>
            <a:ext cx="40862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Mar</a:t>
            </a:r>
            <a:r>
              <a:rPr sz="1050" spc="-49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10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78429" y="4356021"/>
            <a:ext cx="36671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Jun</a:t>
            </a:r>
            <a:r>
              <a:rPr sz="1050" spc="-49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10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99007" y="4356021"/>
            <a:ext cx="38195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Sep</a:t>
            </a:r>
            <a:r>
              <a:rPr sz="1050" spc="-49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14632" y="4356021"/>
            <a:ext cx="38957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Dec</a:t>
            </a:r>
            <a:r>
              <a:rPr sz="105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10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64017" y="1597342"/>
            <a:ext cx="182880" cy="0"/>
          </a:xfrm>
          <a:custGeom>
            <a:avLst/>
            <a:gdLst/>
            <a:ahLst/>
            <a:cxnLst/>
            <a:rect l="l" t="t" r="r" b="b"/>
            <a:pathLst>
              <a:path w="243839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38100">
            <a:solidFill>
              <a:srgbClr val="00548B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1" name="object 21"/>
          <p:cNvSpPr txBox="1"/>
          <p:nvPr/>
        </p:nvSpPr>
        <p:spPr>
          <a:xfrm>
            <a:off x="1856422" y="1493044"/>
            <a:ext cx="154828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Hotels 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With </a:t>
            </a: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ADR Drop</a:t>
            </a:r>
            <a:r>
              <a:rPr sz="1050" spc="-56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&gt;10%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70494" y="4823222"/>
            <a:ext cx="623888" cy="130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031"/>
              </a:lnSpc>
            </a:pPr>
            <a:r>
              <a:rPr sz="1013" spc="-11" dirty="0">
                <a:solidFill>
                  <a:srgbClr val="3E3E3E"/>
                </a:solidFill>
                <a:latin typeface="Calibri"/>
                <a:cs typeface="Calibri"/>
              </a:rPr>
              <a:t>Source:</a:t>
            </a:r>
            <a:r>
              <a:rPr sz="1013" spc="-56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13" spc="-4" dirty="0">
                <a:solidFill>
                  <a:srgbClr val="3E3E3E"/>
                </a:solidFill>
                <a:latin typeface="Calibri"/>
                <a:cs typeface="Calibri"/>
              </a:rPr>
              <a:t>STR</a:t>
            </a:r>
            <a:endParaRPr sz="1013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83304" y="4918233"/>
            <a:ext cx="1359694" cy="103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829"/>
              </a:lnSpc>
            </a:pPr>
            <a:r>
              <a:rPr sz="788" spc="4" dirty="0">
                <a:solidFill>
                  <a:srgbClr val="8B8B8B"/>
                </a:solidFill>
                <a:latin typeface="Calibri"/>
                <a:cs typeface="Calibri"/>
              </a:rPr>
              <a:t>© 2019 </a:t>
            </a:r>
            <a:r>
              <a:rPr sz="788" dirty="0">
                <a:solidFill>
                  <a:srgbClr val="8B8B8B"/>
                </a:solidFill>
                <a:latin typeface="Calibri"/>
                <a:cs typeface="Calibri"/>
              </a:rPr>
              <a:t>STR. All Rights</a:t>
            </a:r>
            <a:r>
              <a:rPr sz="788" spc="-41" dirty="0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sz="788" dirty="0">
                <a:solidFill>
                  <a:srgbClr val="8B8B8B"/>
                </a:solidFill>
                <a:latin typeface="Calibri"/>
                <a:cs typeface="Calibri"/>
              </a:rPr>
              <a:t>Reserved.</a:t>
            </a:r>
            <a:endParaRPr sz="788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56422" y="1773079"/>
            <a:ext cx="154828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Hotels 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With </a:t>
            </a: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ADR Drop</a:t>
            </a:r>
            <a:r>
              <a:rPr sz="1050" spc="-56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&lt;10%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8831" y="1879658"/>
            <a:ext cx="234038" cy="179070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9525">
              <a:lnSpc>
                <a:spcPts val="1785"/>
              </a:lnSpc>
            </a:pPr>
            <a:r>
              <a:rPr b="1" spc="-4" dirty="0">
                <a:solidFill>
                  <a:srgbClr val="3E3E3E"/>
                </a:solidFill>
                <a:latin typeface="Calibri"/>
                <a:cs typeface="Calibri"/>
              </a:rPr>
              <a:t>Demand </a:t>
            </a:r>
            <a:r>
              <a:rPr b="1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r>
              <a:rPr b="1" spc="-53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b="1" spc="-8" dirty="0">
                <a:solidFill>
                  <a:srgbClr val="3E3E3E"/>
                </a:solidFill>
                <a:latin typeface="Calibri"/>
                <a:cs typeface="Calibri"/>
              </a:rPr>
              <a:t>Change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6255" y="503872"/>
            <a:ext cx="6182678" cy="3789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400" dirty="0">
                <a:solidFill>
                  <a:srgbClr val="3E3E3E"/>
                </a:solidFill>
                <a:latin typeface="Calibri"/>
                <a:cs typeface="Calibri"/>
              </a:rPr>
              <a:t>…But Experienced Less </a:t>
            </a:r>
            <a:r>
              <a:rPr sz="2400" spc="-4" dirty="0">
                <a:solidFill>
                  <a:srgbClr val="3E3E3E"/>
                </a:solidFill>
                <a:latin typeface="Calibri"/>
                <a:cs typeface="Calibri"/>
              </a:rPr>
              <a:t>Extreme </a:t>
            </a:r>
            <a:r>
              <a:rPr sz="2400" spc="-38" dirty="0">
                <a:solidFill>
                  <a:srgbClr val="3E3E3E"/>
                </a:solidFill>
                <a:latin typeface="Calibri"/>
                <a:cs typeface="Calibri"/>
              </a:rPr>
              <a:t>RevPAR</a:t>
            </a:r>
            <a:r>
              <a:rPr sz="2400" spc="-3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400" spc="-4" dirty="0">
                <a:solidFill>
                  <a:srgbClr val="3E3E3E"/>
                </a:solidFill>
                <a:latin typeface="Calibri"/>
                <a:cs typeface="Calibri"/>
              </a:rPr>
              <a:t>Declines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3448" y="4285297"/>
            <a:ext cx="7669530" cy="0"/>
          </a:xfrm>
          <a:custGeom>
            <a:avLst/>
            <a:gdLst/>
            <a:ahLst/>
            <a:cxnLst/>
            <a:rect l="l" t="t" r="r" b="b"/>
            <a:pathLst>
              <a:path w="10226040">
                <a:moveTo>
                  <a:pt x="0" y="0"/>
                </a:moveTo>
                <a:lnTo>
                  <a:pt x="10226040" y="0"/>
                </a:lnTo>
              </a:path>
            </a:pathLst>
          </a:custGeom>
          <a:ln w="762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913448" y="1328738"/>
            <a:ext cx="7669530" cy="0"/>
          </a:xfrm>
          <a:custGeom>
            <a:avLst/>
            <a:gdLst/>
            <a:ahLst/>
            <a:cxnLst/>
            <a:rect l="l" t="t" r="r" b="b"/>
            <a:pathLst>
              <a:path w="10226040">
                <a:moveTo>
                  <a:pt x="0" y="0"/>
                </a:moveTo>
                <a:lnTo>
                  <a:pt x="10226040" y="0"/>
                </a:lnTo>
              </a:path>
            </a:pathLst>
          </a:custGeom>
          <a:ln w="762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904875" y="1499234"/>
            <a:ext cx="7686675" cy="24631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 txBox="1"/>
          <p:nvPr/>
        </p:nvSpPr>
        <p:spPr>
          <a:xfrm>
            <a:off x="509587" y="1965007"/>
            <a:ext cx="290513" cy="245644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18110">
              <a:spcBef>
                <a:spcPts val="75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0%</a:t>
            </a:r>
            <a:endParaRPr sz="1050">
              <a:latin typeface="Calibri"/>
              <a:cs typeface="Calibri"/>
            </a:endParaRPr>
          </a:p>
          <a:p>
            <a:pPr>
              <a:spcBef>
                <a:spcPts val="11"/>
              </a:spcBef>
            </a:pPr>
            <a:endParaRPr sz="1425">
              <a:latin typeface="Times New Roman"/>
              <a:cs typeface="Times New Roman"/>
            </a:endParaRPr>
          </a:p>
          <a:p>
            <a:pPr marL="67151" algn="ctr"/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spcBef>
                <a:spcPts val="11"/>
              </a:spcBef>
            </a:pPr>
            <a:endParaRPr sz="1425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spcBef>
                <a:spcPts val="11"/>
              </a:spcBef>
            </a:pPr>
            <a:endParaRPr sz="1425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spcBef>
                <a:spcPts val="11"/>
              </a:spcBef>
            </a:pPr>
            <a:endParaRPr sz="1425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spcBef>
                <a:spcPts val="15"/>
              </a:spcBef>
            </a:pPr>
            <a:endParaRPr sz="1425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2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5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  <a:p>
            <a:pPr>
              <a:spcBef>
                <a:spcPts val="11"/>
              </a:spcBef>
            </a:pPr>
            <a:endParaRPr sz="1425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-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3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70494" y="4823222"/>
            <a:ext cx="623888" cy="130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031"/>
              </a:lnSpc>
            </a:pPr>
            <a:r>
              <a:rPr sz="1013" spc="-11" dirty="0">
                <a:solidFill>
                  <a:srgbClr val="3E3E3E"/>
                </a:solidFill>
                <a:latin typeface="Calibri"/>
                <a:cs typeface="Calibri"/>
              </a:rPr>
              <a:t>Source:</a:t>
            </a:r>
            <a:r>
              <a:rPr sz="1013" spc="-56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13" spc="-4" dirty="0">
                <a:solidFill>
                  <a:srgbClr val="3E3E3E"/>
                </a:solidFill>
                <a:latin typeface="Calibri"/>
                <a:cs typeface="Calibri"/>
              </a:rPr>
              <a:t>STR</a:t>
            </a:r>
            <a:endParaRPr sz="1013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83304" y="4918233"/>
            <a:ext cx="1359694" cy="103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829"/>
              </a:lnSpc>
            </a:pPr>
            <a:r>
              <a:rPr sz="788" spc="4" dirty="0">
                <a:solidFill>
                  <a:srgbClr val="8B8B8B"/>
                </a:solidFill>
                <a:latin typeface="Calibri"/>
                <a:cs typeface="Calibri"/>
              </a:rPr>
              <a:t>© 2019 </a:t>
            </a:r>
            <a:r>
              <a:rPr sz="788" dirty="0">
                <a:solidFill>
                  <a:srgbClr val="8B8B8B"/>
                </a:solidFill>
                <a:latin typeface="Calibri"/>
                <a:cs typeface="Calibri"/>
              </a:rPr>
              <a:t>STR. All Rights</a:t>
            </a:r>
            <a:r>
              <a:rPr sz="788" spc="-41" dirty="0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sz="788" dirty="0">
                <a:solidFill>
                  <a:srgbClr val="8B8B8B"/>
                </a:solidFill>
                <a:latin typeface="Calibri"/>
                <a:cs typeface="Calibri"/>
              </a:rPr>
              <a:t>Reserved.</a:t>
            </a:r>
            <a:endParaRPr sz="788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173" y="1595438"/>
            <a:ext cx="18049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5%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0544" y="1225582"/>
            <a:ext cx="249555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</a:t>
            </a:r>
            <a:r>
              <a:rPr sz="1050" spc="4" dirty="0">
                <a:solidFill>
                  <a:srgbClr val="3E3E3E"/>
                </a:solidFill>
                <a:latin typeface="Calibri"/>
                <a:cs typeface="Calibri"/>
              </a:rPr>
              <a:t>0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7710" y="4356021"/>
            <a:ext cx="38195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Sep</a:t>
            </a:r>
            <a:r>
              <a:rPr sz="1050" spc="-49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08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3335" y="4356021"/>
            <a:ext cx="38957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Dec</a:t>
            </a:r>
            <a:r>
              <a:rPr sz="105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08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43912" y="4356021"/>
            <a:ext cx="40862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Mar</a:t>
            </a:r>
            <a:r>
              <a:rPr sz="1050" spc="-49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09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92780" y="4356021"/>
            <a:ext cx="36671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Jun</a:t>
            </a:r>
            <a:r>
              <a:rPr sz="1050" spc="-49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09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13359" y="4356021"/>
            <a:ext cx="38195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Sep</a:t>
            </a:r>
            <a:r>
              <a:rPr sz="1050" spc="-49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09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28889" y="4356021"/>
            <a:ext cx="38957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Dec</a:t>
            </a:r>
            <a:r>
              <a:rPr sz="105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09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29275" y="4356021"/>
            <a:ext cx="40862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Mar</a:t>
            </a:r>
            <a:r>
              <a:rPr sz="1050" spc="-49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10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78429" y="4356021"/>
            <a:ext cx="36671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Jun</a:t>
            </a:r>
            <a:r>
              <a:rPr sz="1050" spc="-49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10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99007" y="4356021"/>
            <a:ext cx="38195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Sep</a:t>
            </a:r>
            <a:r>
              <a:rPr sz="1050" spc="-49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spc="-8" dirty="0">
                <a:solidFill>
                  <a:srgbClr val="3E3E3E"/>
                </a:solidFill>
                <a:latin typeface="Calibri"/>
                <a:cs typeface="Calibri"/>
              </a:rPr>
              <a:t>10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14632" y="4356021"/>
            <a:ext cx="38957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Dec</a:t>
            </a:r>
            <a:r>
              <a:rPr sz="1050" spc="-6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10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56422" y="1493044"/>
            <a:ext cx="154828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Hotels 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With </a:t>
            </a: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ADR Drop</a:t>
            </a:r>
            <a:r>
              <a:rPr sz="1050" spc="-56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&gt;10%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56422" y="1773079"/>
            <a:ext cx="154828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Hotels 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With </a:t>
            </a:r>
            <a:r>
              <a:rPr sz="1050" spc="-4" dirty="0">
                <a:solidFill>
                  <a:srgbClr val="3E3E3E"/>
                </a:solidFill>
                <a:latin typeface="Calibri"/>
                <a:cs typeface="Calibri"/>
              </a:rPr>
              <a:t>ADR Drop</a:t>
            </a:r>
            <a:r>
              <a:rPr sz="1050" spc="-56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E3E3E"/>
                </a:solidFill>
                <a:latin typeface="Calibri"/>
                <a:cs typeface="Calibri"/>
              </a:rPr>
              <a:t>&lt;10%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7640" y="1918870"/>
            <a:ext cx="234038" cy="1709261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9525">
              <a:lnSpc>
                <a:spcPts val="1785"/>
              </a:lnSpc>
            </a:pPr>
            <a:r>
              <a:rPr b="1" spc="-30" dirty="0">
                <a:solidFill>
                  <a:srgbClr val="3E3E3E"/>
                </a:solidFill>
                <a:latin typeface="Calibri"/>
                <a:cs typeface="Calibri"/>
              </a:rPr>
              <a:t>RevPAR </a:t>
            </a:r>
            <a:r>
              <a:rPr b="1" dirty="0">
                <a:solidFill>
                  <a:srgbClr val="3E3E3E"/>
                </a:solidFill>
                <a:latin typeface="Calibri"/>
                <a:cs typeface="Calibri"/>
              </a:rPr>
              <a:t>%</a:t>
            </a:r>
            <a:r>
              <a:rPr b="1" spc="-19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b="1" spc="-8" dirty="0">
                <a:solidFill>
                  <a:srgbClr val="3E3E3E"/>
                </a:solidFill>
                <a:latin typeface="Calibri"/>
                <a:cs typeface="Calibri"/>
              </a:rPr>
              <a:t>Change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50188" y="2038350"/>
            <a:ext cx="7108012" cy="821587"/>
          </a:xfrm>
          <a:prstGeom prst="rect">
            <a:avLst/>
          </a:prstGeom>
        </p:spPr>
        <p:txBody>
          <a:bodyPr vert="horz" wrap="square" lIns="0" tIns="445341" rIns="0" bIns="0" rtlCol="0">
            <a:spAutoFit/>
          </a:bodyPr>
          <a:lstStyle/>
          <a:p>
            <a:pPr marL="916781" marR="3810" indent="-794385">
              <a:lnSpc>
                <a:spcPts val="2909"/>
              </a:lnSpc>
              <a:spcBef>
                <a:spcPts val="446"/>
              </a:spcBef>
            </a:pPr>
            <a:r>
              <a:rPr sz="3200" spc="-8" dirty="0"/>
              <a:t>Labor </a:t>
            </a:r>
            <a:r>
              <a:rPr sz="3200" spc="-4" dirty="0"/>
              <a:t>Costs </a:t>
            </a:r>
            <a:r>
              <a:rPr sz="3200" dirty="0"/>
              <a:t>and </a:t>
            </a:r>
            <a:r>
              <a:rPr sz="3200" spc="-4" dirty="0"/>
              <a:t>Profits</a:t>
            </a:r>
            <a:r>
              <a:rPr lang="en-US" sz="3200" spc="-4" dirty="0"/>
              <a:t> </a:t>
            </a:r>
            <a:r>
              <a:rPr sz="3200" dirty="0"/>
              <a:t>in a</a:t>
            </a:r>
            <a:r>
              <a:rPr sz="3200" spc="-4" dirty="0"/>
              <a:t> Downturn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04187" y="158750"/>
            <a:ext cx="738188" cy="7381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/>
          <p:nvPr/>
        </p:nvSpPr>
        <p:spPr>
          <a:xfrm>
            <a:off x="982979" y="1864995"/>
            <a:ext cx="7096125" cy="2967990"/>
          </a:xfrm>
          <a:custGeom>
            <a:avLst/>
            <a:gdLst/>
            <a:ahLst/>
            <a:cxnLst/>
            <a:rect l="l" t="t" r="r" b="b"/>
            <a:pathLst>
              <a:path w="9461500" h="3957320">
                <a:moveTo>
                  <a:pt x="0" y="3957320"/>
                </a:moveTo>
                <a:lnTo>
                  <a:pt x="9461500" y="3957320"/>
                </a:lnTo>
                <a:lnTo>
                  <a:pt x="9461500" y="0"/>
                </a:lnTo>
                <a:lnTo>
                  <a:pt x="0" y="0"/>
                </a:lnTo>
                <a:lnTo>
                  <a:pt x="0" y="395732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1268729" y="1863091"/>
            <a:ext cx="670560" cy="5219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2449831" y="1863091"/>
            <a:ext cx="672464" cy="13906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3632835" y="1863091"/>
            <a:ext cx="670559" cy="13354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4815841" y="1863090"/>
            <a:ext cx="670559" cy="20878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5998845" y="1863091"/>
            <a:ext cx="670559" cy="25774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/>
          <p:nvPr/>
        </p:nvSpPr>
        <p:spPr>
          <a:xfrm>
            <a:off x="7179944" y="1863091"/>
            <a:ext cx="672465" cy="70865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/>
          <p:nvPr/>
        </p:nvSpPr>
        <p:spPr>
          <a:xfrm>
            <a:off x="1274445" y="1863091"/>
            <a:ext cx="600075" cy="48767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/>
          <p:nvPr/>
        </p:nvSpPr>
        <p:spPr>
          <a:xfrm>
            <a:off x="2457450" y="1863091"/>
            <a:ext cx="600075" cy="135635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object 12"/>
          <p:cNvSpPr/>
          <p:nvPr/>
        </p:nvSpPr>
        <p:spPr>
          <a:xfrm>
            <a:off x="3640455" y="1863091"/>
            <a:ext cx="600075" cy="129920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/>
          <p:nvPr/>
        </p:nvSpPr>
        <p:spPr>
          <a:xfrm>
            <a:off x="4821556" y="1863091"/>
            <a:ext cx="601979" cy="205168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/>
          <p:nvPr/>
        </p:nvSpPr>
        <p:spPr>
          <a:xfrm>
            <a:off x="6004560" y="1863089"/>
            <a:ext cx="600075" cy="254127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/>
          <p:nvPr/>
        </p:nvSpPr>
        <p:spPr>
          <a:xfrm>
            <a:off x="7187564" y="1863091"/>
            <a:ext cx="600075" cy="67246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16"/>
          <p:cNvSpPr/>
          <p:nvPr/>
        </p:nvSpPr>
        <p:spPr>
          <a:xfrm>
            <a:off x="983933" y="1864042"/>
            <a:ext cx="7094220" cy="0"/>
          </a:xfrm>
          <a:custGeom>
            <a:avLst/>
            <a:gdLst/>
            <a:ahLst/>
            <a:cxnLst/>
            <a:rect l="l" t="t" r="r" b="b"/>
            <a:pathLst>
              <a:path w="9458960">
                <a:moveTo>
                  <a:pt x="0" y="0"/>
                </a:moveTo>
                <a:lnTo>
                  <a:pt x="9458960" y="0"/>
                </a:lnTo>
              </a:path>
            </a:pathLst>
          </a:custGeom>
          <a:ln w="7620">
            <a:solidFill>
              <a:srgbClr val="E1E1E1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 txBox="1"/>
          <p:nvPr/>
        </p:nvSpPr>
        <p:spPr>
          <a:xfrm>
            <a:off x="1459897" y="2009299"/>
            <a:ext cx="22955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solidFill>
                  <a:srgbClr val="FFFFFF"/>
                </a:solidFill>
                <a:latin typeface="Calibri"/>
                <a:cs typeface="Calibri"/>
              </a:rPr>
              <a:t>-6</a:t>
            </a: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.5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10325" y="2443639"/>
            <a:ext cx="29622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solidFill>
                  <a:srgbClr val="FFFFFF"/>
                </a:solidFill>
                <a:latin typeface="Calibri"/>
                <a:cs typeface="Calibri"/>
              </a:rPr>
              <a:t>-18</a:t>
            </a: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.2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93141" y="2415730"/>
            <a:ext cx="29622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solidFill>
                  <a:srgbClr val="FFFFFF"/>
                </a:solidFill>
                <a:latin typeface="Calibri"/>
                <a:cs typeface="Calibri"/>
              </a:rPr>
              <a:t>-17</a:t>
            </a: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.4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75860" y="2792254"/>
            <a:ext cx="29622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solidFill>
                  <a:srgbClr val="FFFFFF"/>
                </a:solidFill>
                <a:latin typeface="Calibri"/>
                <a:cs typeface="Calibri"/>
              </a:rPr>
              <a:t>-27</a:t>
            </a: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.6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58579" y="3036808"/>
            <a:ext cx="29622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050" b="1" spc="-11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.2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73779" y="2102168"/>
            <a:ext cx="229553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solidFill>
                  <a:srgbClr val="FFFFFF"/>
                </a:solidFill>
                <a:latin typeface="Calibri"/>
                <a:cs typeface="Calibri"/>
              </a:rPr>
              <a:t>-9</a:t>
            </a:r>
            <a:r>
              <a:rPr sz="1050" b="1" dirty="0">
                <a:solidFill>
                  <a:srgbClr val="FFFFFF"/>
                </a:solidFill>
                <a:latin typeface="Calibri"/>
                <a:cs typeface="Calibri"/>
              </a:rPr>
              <a:t>.0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36358" y="1588294"/>
            <a:ext cx="47767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2E2E2E"/>
                </a:solidFill>
                <a:latin typeface="Calibri"/>
                <a:cs typeface="Calibri"/>
              </a:rPr>
              <a:t>Dem</a:t>
            </a:r>
            <a:r>
              <a:rPr sz="1050" spc="-8" dirty="0">
                <a:solidFill>
                  <a:srgbClr val="2E2E2E"/>
                </a:solidFill>
                <a:latin typeface="Calibri"/>
                <a:cs typeface="Calibri"/>
              </a:rPr>
              <a:t>a</a:t>
            </a:r>
            <a:r>
              <a:rPr sz="1050" dirty="0">
                <a:solidFill>
                  <a:srgbClr val="2E2E2E"/>
                </a:solidFill>
                <a:latin typeface="Calibri"/>
                <a:cs typeface="Calibri"/>
              </a:rPr>
              <a:t>nd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11717" y="1588294"/>
            <a:ext cx="89296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dirty="0">
                <a:solidFill>
                  <a:srgbClr val="2E2E2E"/>
                </a:solidFill>
                <a:latin typeface="Calibri"/>
                <a:cs typeface="Calibri"/>
              </a:rPr>
              <a:t>Rooms</a:t>
            </a:r>
            <a:r>
              <a:rPr sz="1050" spc="-49" dirty="0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sz="1050" spc="-4" dirty="0">
                <a:solidFill>
                  <a:srgbClr val="2E2E2E"/>
                </a:solidFill>
                <a:latin typeface="Calibri"/>
                <a:cs typeface="Calibri"/>
              </a:rPr>
              <a:t>Revenue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543015" y="1588294"/>
            <a:ext cx="795814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2E2E2E"/>
                </a:solidFill>
                <a:latin typeface="Calibri"/>
                <a:cs typeface="Calibri"/>
              </a:rPr>
              <a:t>Total</a:t>
            </a:r>
            <a:r>
              <a:rPr sz="1050" spc="-38" dirty="0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sz="1050" spc="-4" dirty="0">
                <a:solidFill>
                  <a:srgbClr val="2E2E2E"/>
                </a:solidFill>
                <a:latin typeface="Calibri"/>
                <a:cs typeface="Calibri"/>
              </a:rPr>
              <a:t>Revenue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93482" y="1588294"/>
            <a:ext cx="261461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dirty="0">
                <a:solidFill>
                  <a:srgbClr val="2E2E2E"/>
                </a:solidFill>
                <a:latin typeface="Calibri"/>
                <a:cs typeface="Calibri"/>
              </a:rPr>
              <a:t>G</a:t>
            </a:r>
            <a:r>
              <a:rPr sz="1050" spc="4" dirty="0">
                <a:solidFill>
                  <a:srgbClr val="2E2E2E"/>
                </a:solidFill>
                <a:latin typeface="Calibri"/>
                <a:cs typeface="Calibri"/>
              </a:rPr>
              <a:t>O</a:t>
            </a:r>
            <a:r>
              <a:rPr sz="1050" dirty="0">
                <a:solidFill>
                  <a:srgbClr val="2E2E2E"/>
                </a:solidFill>
                <a:latin typeface="Calibri"/>
                <a:cs typeface="Calibri"/>
              </a:rPr>
              <a:t>P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099048" y="1588294"/>
            <a:ext cx="414814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2E2E2E"/>
                </a:solidFill>
                <a:latin typeface="Calibri"/>
                <a:cs typeface="Calibri"/>
              </a:rPr>
              <a:t>EB</a:t>
            </a:r>
            <a:r>
              <a:rPr sz="1050" spc="4" dirty="0">
                <a:solidFill>
                  <a:srgbClr val="2E2E2E"/>
                </a:solidFill>
                <a:latin typeface="Calibri"/>
                <a:cs typeface="Calibri"/>
              </a:rPr>
              <a:t>I</a:t>
            </a:r>
            <a:r>
              <a:rPr sz="1050" spc="-4" dirty="0">
                <a:solidFill>
                  <a:srgbClr val="2E2E2E"/>
                </a:solidFill>
                <a:latin typeface="Calibri"/>
                <a:cs typeface="Calibri"/>
              </a:rPr>
              <a:t>TDA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13544" y="1588294"/>
            <a:ext cx="951071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2E2E2E"/>
                </a:solidFill>
                <a:latin typeface="Calibri"/>
                <a:cs typeface="Calibri"/>
              </a:rPr>
              <a:t>Total Labor</a:t>
            </a:r>
            <a:r>
              <a:rPr sz="1050" spc="-45" dirty="0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sz="1050" spc="-4" dirty="0">
                <a:solidFill>
                  <a:srgbClr val="2E2E2E"/>
                </a:solidFill>
                <a:latin typeface="Calibri"/>
                <a:cs typeface="Calibri"/>
              </a:rPr>
              <a:t>Costs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874044" y="3825050"/>
            <a:ext cx="973455" cy="376129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89535" marR="3810" indent="-80010">
              <a:lnSpc>
                <a:spcPct val="102000"/>
              </a:lnSpc>
              <a:spcBef>
                <a:spcPts val="45"/>
              </a:spcBef>
            </a:pPr>
            <a:r>
              <a:rPr sz="1200" dirty="0">
                <a:solidFill>
                  <a:srgbClr val="2E2E2E"/>
                </a:solidFill>
                <a:latin typeface="Calibri"/>
                <a:cs typeface="Calibri"/>
              </a:rPr>
              <a:t>2009 </a:t>
            </a:r>
            <a:r>
              <a:rPr sz="1200" spc="-8" dirty="0">
                <a:solidFill>
                  <a:srgbClr val="2E2E2E"/>
                </a:solidFill>
                <a:latin typeface="Calibri"/>
                <a:cs typeface="Calibri"/>
              </a:rPr>
              <a:t>U.S.</a:t>
            </a:r>
            <a:r>
              <a:rPr sz="1200" spc="-83" dirty="0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sz="1200" spc="-8" dirty="0">
                <a:solidFill>
                  <a:srgbClr val="2E2E2E"/>
                </a:solidFill>
                <a:latin typeface="Calibri"/>
                <a:cs typeface="Calibri"/>
              </a:rPr>
              <a:t>Hotel  </a:t>
            </a:r>
            <a:r>
              <a:rPr sz="1200" spc="-11" dirty="0">
                <a:solidFill>
                  <a:srgbClr val="2E2E2E"/>
                </a:solidFill>
                <a:latin typeface="Calibri"/>
                <a:cs typeface="Calibri"/>
              </a:rPr>
              <a:t>Performance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516255" y="320468"/>
            <a:ext cx="7271384" cy="74828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z="2400" spc="-4" dirty="0">
                <a:solidFill>
                  <a:srgbClr val="3E3E3E"/>
                </a:solidFill>
                <a:latin typeface="Calibri"/>
                <a:cs typeface="Calibri"/>
              </a:rPr>
              <a:t>Demand, </a:t>
            </a:r>
            <a:r>
              <a:rPr sz="2400" spc="-8" dirty="0">
                <a:solidFill>
                  <a:srgbClr val="3E3E3E"/>
                </a:solidFill>
                <a:latin typeface="Calibri"/>
                <a:cs typeface="Calibri"/>
              </a:rPr>
              <a:t>Revenue </a:t>
            </a:r>
            <a:r>
              <a:rPr sz="2400" spc="-4" dirty="0">
                <a:solidFill>
                  <a:srgbClr val="3E3E3E"/>
                </a:solidFill>
                <a:latin typeface="Calibri"/>
                <a:cs typeface="Calibri"/>
              </a:rPr>
              <a:t>Declines </a:t>
            </a:r>
            <a:r>
              <a:rPr sz="2400" dirty="0">
                <a:solidFill>
                  <a:srgbClr val="3E3E3E"/>
                </a:solidFill>
                <a:latin typeface="Calibri"/>
                <a:cs typeface="Calibri"/>
              </a:rPr>
              <a:t>led </a:t>
            </a:r>
            <a:r>
              <a:rPr sz="2400" spc="-19" dirty="0">
                <a:solidFill>
                  <a:srgbClr val="3E3E3E"/>
                </a:solidFill>
                <a:latin typeface="Calibri"/>
                <a:cs typeface="Calibri"/>
              </a:rPr>
              <a:t>to </a:t>
            </a:r>
            <a:r>
              <a:rPr sz="2400" dirty="0">
                <a:solidFill>
                  <a:srgbClr val="3E3E3E"/>
                </a:solidFill>
                <a:latin typeface="Calibri"/>
                <a:cs typeface="Calibri"/>
              </a:rPr>
              <a:t>Amplified  </a:t>
            </a:r>
            <a:r>
              <a:rPr sz="2400" spc="-4" dirty="0">
                <a:solidFill>
                  <a:srgbClr val="3E3E3E"/>
                </a:solidFill>
                <a:latin typeface="Calibri"/>
                <a:cs typeface="Calibri"/>
              </a:rPr>
              <a:t>Profit Declines </a:t>
            </a:r>
            <a:r>
              <a:rPr sz="2400" dirty="0">
                <a:solidFill>
                  <a:srgbClr val="3E3E3E"/>
                </a:solidFill>
                <a:latin typeface="Calibri"/>
                <a:cs typeface="Calibri"/>
              </a:rPr>
              <a:t>in</a:t>
            </a:r>
            <a:r>
              <a:rPr sz="2400" spc="-11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E3E3E"/>
                </a:solidFill>
                <a:latin typeface="Calibri"/>
                <a:cs typeface="Calibri"/>
              </a:rPr>
              <a:t>2009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812280" y="2377441"/>
            <a:ext cx="1276350" cy="1278254"/>
          </a:xfrm>
          <a:custGeom>
            <a:avLst/>
            <a:gdLst/>
            <a:ahLst/>
            <a:cxnLst/>
            <a:rect l="l" t="t" r="r" b="b"/>
            <a:pathLst>
              <a:path w="1701800" h="1704339">
                <a:moveTo>
                  <a:pt x="0" y="852169"/>
                </a:moveTo>
                <a:lnTo>
                  <a:pt x="1347" y="803810"/>
                </a:lnTo>
                <a:lnTo>
                  <a:pt x="5340" y="756159"/>
                </a:lnTo>
                <a:lnTo>
                  <a:pt x="11908" y="709288"/>
                </a:lnTo>
                <a:lnTo>
                  <a:pt x="20979" y="663268"/>
                </a:lnTo>
                <a:lnTo>
                  <a:pt x="32480" y="618173"/>
                </a:lnTo>
                <a:lnTo>
                  <a:pt x="46340" y="574073"/>
                </a:lnTo>
                <a:lnTo>
                  <a:pt x="62487" y="531040"/>
                </a:lnTo>
                <a:lnTo>
                  <a:pt x="80850" y="489147"/>
                </a:lnTo>
                <a:lnTo>
                  <a:pt x="101355" y="448466"/>
                </a:lnTo>
                <a:lnTo>
                  <a:pt x="123932" y="409068"/>
                </a:lnTo>
                <a:lnTo>
                  <a:pt x="148509" y="371025"/>
                </a:lnTo>
                <a:lnTo>
                  <a:pt x="175014" y="334409"/>
                </a:lnTo>
                <a:lnTo>
                  <a:pt x="203374" y="299293"/>
                </a:lnTo>
                <a:lnTo>
                  <a:pt x="233518" y="265747"/>
                </a:lnTo>
                <a:lnTo>
                  <a:pt x="265375" y="233845"/>
                </a:lnTo>
                <a:lnTo>
                  <a:pt x="298872" y="203657"/>
                </a:lnTo>
                <a:lnTo>
                  <a:pt x="333937" y="175257"/>
                </a:lnTo>
                <a:lnTo>
                  <a:pt x="370499" y="148715"/>
                </a:lnTo>
                <a:lnTo>
                  <a:pt x="408485" y="124103"/>
                </a:lnTo>
                <a:lnTo>
                  <a:pt x="447824" y="101494"/>
                </a:lnTo>
                <a:lnTo>
                  <a:pt x="488445" y="80960"/>
                </a:lnTo>
                <a:lnTo>
                  <a:pt x="530274" y="62572"/>
                </a:lnTo>
                <a:lnTo>
                  <a:pt x="573241" y="46403"/>
                </a:lnTo>
                <a:lnTo>
                  <a:pt x="617273" y="32524"/>
                </a:lnTo>
                <a:lnTo>
                  <a:pt x="662299" y="21007"/>
                </a:lnTo>
                <a:lnTo>
                  <a:pt x="708246" y="11924"/>
                </a:lnTo>
                <a:lnTo>
                  <a:pt x="755043" y="5347"/>
                </a:lnTo>
                <a:lnTo>
                  <a:pt x="802618" y="1348"/>
                </a:lnTo>
                <a:lnTo>
                  <a:pt x="850900" y="0"/>
                </a:lnTo>
                <a:lnTo>
                  <a:pt x="899181" y="1348"/>
                </a:lnTo>
                <a:lnTo>
                  <a:pt x="946756" y="5347"/>
                </a:lnTo>
                <a:lnTo>
                  <a:pt x="993553" y="11924"/>
                </a:lnTo>
                <a:lnTo>
                  <a:pt x="1039500" y="21007"/>
                </a:lnTo>
                <a:lnTo>
                  <a:pt x="1084526" y="32524"/>
                </a:lnTo>
                <a:lnTo>
                  <a:pt x="1128558" y="46403"/>
                </a:lnTo>
                <a:lnTo>
                  <a:pt x="1171525" y="62572"/>
                </a:lnTo>
                <a:lnTo>
                  <a:pt x="1213354" y="80960"/>
                </a:lnTo>
                <a:lnTo>
                  <a:pt x="1253975" y="101494"/>
                </a:lnTo>
                <a:lnTo>
                  <a:pt x="1293314" y="124103"/>
                </a:lnTo>
                <a:lnTo>
                  <a:pt x="1331300" y="148715"/>
                </a:lnTo>
                <a:lnTo>
                  <a:pt x="1367862" y="175257"/>
                </a:lnTo>
                <a:lnTo>
                  <a:pt x="1402927" y="203657"/>
                </a:lnTo>
                <a:lnTo>
                  <a:pt x="1436424" y="233845"/>
                </a:lnTo>
                <a:lnTo>
                  <a:pt x="1468281" y="265747"/>
                </a:lnTo>
                <a:lnTo>
                  <a:pt x="1498425" y="299293"/>
                </a:lnTo>
                <a:lnTo>
                  <a:pt x="1526785" y="334409"/>
                </a:lnTo>
                <a:lnTo>
                  <a:pt x="1553290" y="371025"/>
                </a:lnTo>
                <a:lnTo>
                  <a:pt x="1577867" y="409068"/>
                </a:lnTo>
                <a:lnTo>
                  <a:pt x="1600444" y="448466"/>
                </a:lnTo>
                <a:lnTo>
                  <a:pt x="1620949" y="489147"/>
                </a:lnTo>
                <a:lnTo>
                  <a:pt x="1639312" y="531040"/>
                </a:lnTo>
                <a:lnTo>
                  <a:pt x="1655459" y="574073"/>
                </a:lnTo>
                <a:lnTo>
                  <a:pt x="1669319" y="618173"/>
                </a:lnTo>
                <a:lnTo>
                  <a:pt x="1680820" y="663268"/>
                </a:lnTo>
                <a:lnTo>
                  <a:pt x="1689891" y="709288"/>
                </a:lnTo>
                <a:lnTo>
                  <a:pt x="1696459" y="756159"/>
                </a:lnTo>
                <a:lnTo>
                  <a:pt x="1700452" y="803810"/>
                </a:lnTo>
                <a:lnTo>
                  <a:pt x="1701800" y="852169"/>
                </a:lnTo>
                <a:lnTo>
                  <a:pt x="1700452" y="900529"/>
                </a:lnTo>
                <a:lnTo>
                  <a:pt x="1696459" y="948180"/>
                </a:lnTo>
                <a:lnTo>
                  <a:pt x="1689891" y="995051"/>
                </a:lnTo>
                <a:lnTo>
                  <a:pt x="1680820" y="1041071"/>
                </a:lnTo>
                <a:lnTo>
                  <a:pt x="1669319" y="1086166"/>
                </a:lnTo>
                <a:lnTo>
                  <a:pt x="1655459" y="1130266"/>
                </a:lnTo>
                <a:lnTo>
                  <a:pt x="1639312" y="1173299"/>
                </a:lnTo>
                <a:lnTo>
                  <a:pt x="1620949" y="1215192"/>
                </a:lnTo>
                <a:lnTo>
                  <a:pt x="1600444" y="1255873"/>
                </a:lnTo>
                <a:lnTo>
                  <a:pt x="1577867" y="1295271"/>
                </a:lnTo>
                <a:lnTo>
                  <a:pt x="1553290" y="1333314"/>
                </a:lnTo>
                <a:lnTo>
                  <a:pt x="1526785" y="1369930"/>
                </a:lnTo>
                <a:lnTo>
                  <a:pt x="1498425" y="1405046"/>
                </a:lnTo>
                <a:lnTo>
                  <a:pt x="1468281" y="1438592"/>
                </a:lnTo>
                <a:lnTo>
                  <a:pt x="1436424" y="1470494"/>
                </a:lnTo>
                <a:lnTo>
                  <a:pt x="1402927" y="1500682"/>
                </a:lnTo>
                <a:lnTo>
                  <a:pt x="1367862" y="1529082"/>
                </a:lnTo>
                <a:lnTo>
                  <a:pt x="1331300" y="1555624"/>
                </a:lnTo>
                <a:lnTo>
                  <a:pt x="1293314" y="1580236"/>
                </a:lnTo>
                <a:lnTo>
                  <a:pt x="1253975" y="1602845"/>
                </a:lnTo>
                <a:lnTo>
                  <a:pt x="1213354" y="1623379"/>
                </a:lnTo>
                <a:lnTo>
                  <a:pt x="1171525" y="1641767"/>
                </a:lnTo>
                <a:lnTo>
                  <a:pt x="1128558" y="1657936"/>
                </a:lnTo>
                <a:lnTo>
                  <a:pt x="1084526" y="1671815"/>
                </a:lnTo>
                <a:lnTo>
                  <a:pt x="1039500" y="1683332"/>
                </a:lnTo>
                <a:lnTo>
                  <a:pt x="993553" y="1692415"/>
                </a:lnTo>
                <a:lnTo>
                  <a:pt x="946756" y="1698992"/>
                </a:lnTo>
                <a:lnTo>
                  <a:pt x="899181" y="1702991"/>
                </a:lnTo>
                <a:lnTo>
                  <a:pt x="850900" y="1704339"/>
                </a:lnTo>
                <a:lnTo>
                  <a:pt x="802618" y="1702991"/>
                </a:lnTo>
                <a:lnTo>
                  <a:pt x="755043" y="1698992"/>
                </a:lnTo>
                <a:lnTo>
                  <a:pt x="708246" y="1692415"/>
                </a:lnTo>
                <a:lnTo>
                  <a:pt x="662299" y="1683332"/>
                </a:lnTo>
                <a:lnTo>
                  <a:pt x="617273" y="1671815"/>
                </a:lnTo>
                <a:lnTo>
                  <a:pt x="573241" y="1657936"/>
                </a:lnTo>
                <a:lnTo>
                  <a:pt x="530274" y="1641767"/>
                </a:lnTo>
                <a:lnTo>
                  <a:pt x="488445" y="1623379"/>
                </a:lnTo>
                <a:lnTo>
                  <a:pt x="447824" y="1602845"/>
                </a:lnTo>
                <a:lnTo>
                  <a:pt x="408485" y="1580236"/>
                </a:lnTo>
                <a:lnTo>
                  <a:pt x="370499" y="1555624"/>
                </a:lnTo>
                <a:lnTo>
                  <a:pt x="333937" y="1529082"/>
                </a:lnTo>
                <a:lnTo>
                  <a:pt x="298872" y="1500682"/>
                </a:lnTo>
                <a:lnTo>
                  <a:pt x="265375" y="1470494"/>
                </a:lnTo>
                <a:lnTo>
                  <a:pt x="233518" y="1438592"/>
                </a:lnTo>
                <a:lnTo>
                  <a:pt x="203374" y="1405046"/>
                </a:lnTo>
                <a:lnTo>
                  <a:pt x="175014" y="1369930"/>
                </a:lnTo>
                <a:lnTo>
                  <a:pt x="148509" y="1333314"/>
                </a:lnTo>
                <a:lnTo>
                  <a:pt x="123932" y="1295271"/>
                </a:lnTo>
                <a:lnTo>
                  <a:pt x="101355" y="1255873"/>
                </a:lnTo>
                <a:lnTo>
                  <a:pt x="80850" y="1215192"/>
                </a:lnTo>
                <a:lnTo>
                  <a:pt x="62487" y="1173299"/>
                </a:lnTo>
                <a:lnTo>
                  <a:pt x="46340" y="1130266"/>
                </a:lnTo>
                <a:lnTo>
                  <a:pt x="32480" y="1086166"/>
                </a:lnTo>
                <a:lnTo>
                  <a:pt x="20979" y="1041071"/>
                </a:lnTo>
                <a:lnTo>
                  <a:pt x="11908" y="995051"/>
                </a:lnTo>
                <a:lnTo>
                  <a:pt x="5340" y="948180"/>
                </a:lnTo>
                <a:lnTo>
                  <a:pt x="1347" y="900529"/>
                </a:lnTo>
                <a:lnTo>
                  <a:pt x="0" y="852169"/>
                </a:lnTo>
                <a:close/>
              </a:path>
            </a:pathLst>
          </a:custGeom>
          <a:ln w="50799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2" name="object 32"/>
          <p:cNvSpPr txBox="1"/>
          <p:nvPr/>
        </p:nvSpPr>
        <p:spPr>
          <a:xfrm>
            <a:off x="7080408" y="2718387"/>
            <a:ext cx="740093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8" algn="ctr">
              <a:spcBef>
                <a:spcPts val="75"/>
              </a:spcBef>
            </a:pPr>
            <a:r>
              <a:rPr b="1" dirty="0">
                <a:solidFill>
                  <a:srgbClr val="3E3E3E"/>
                </a:solidFill>
                <a:latin typeface="Calibri"/>
                <a:cs typeface="Calibri"/>
              </a:rPr>
              <a:t>0.49x</a:t>
            </a:r>
            <a:endParaRPr>
              <a:latin typeface="Calibri"/>
              <a:cs typeface="Calibri"/>
            </a:endParaRPr>
          </a:p>
          <a:p>
            <a:pPr algn="ctr">
              <a:spcBef>
                <a:spcPts val="4"/>
              </a:spcBef>
            </a:pPr>
            <a:r>
              <a:rPr b="1" spc="-26" dirty="0">
                <a:solidFill>
                  <a:srgbClr val="3E3E3E"/>
                </a:solidFill>
                <a:latin typeface="Calibri"/>
                <a:cs typeface="Calibri"/>
              </a:rPr>
              <a:t>R</a:t>
            </a:r>
            <a:r>
              <a:rPr b="1" spc="-23" dirty="0">
                <a:solidFill>
                  <a:srgbClr val="3E3E3E"/>
                </a:solidFill>
                <a:latin typeface="Calibri"/>
                <a:cs typeface="Calibri"/>
              </a:rPr>
              <a:t>e</a:t>
            </a:r>
            <a:r>
              <a:rPr b="1" spc="-4" dirty="0">
                <a:solidFill>
                  <a:srgbClr val="3E3E3E"/>
                </a:solidFill>
                <a:latin typeface="Calibri"/>
                <a:cs typeface="Calibri"/>
              </a:rPr>
              <a:t>v</a:t>
            </a:r>
            <a:r>
              <a:rPr b="1" spc="-116" dirty="0">
                <a:solidFill>
                  <a:srgbClr val="3E3E3E"/>
                </a:solidFill>
                <a:latin typeface="Calibri"/>
                <a:cs typeface="Calibri"/>
              </a:rPr>
              <a:t>P</a:t>
            </a:r>
            <a:r>
              <a:rPr b="1" dirty="0">
                <a:solidFill>
                  <a:srgbClr val="3E3E3E"/>
                </a:solidFill>
                <a:latin typeface="Calibri"/>
                <a:cs typeface="Calibri"/>
              </a:rPr>
              <a:t>AR</a:t>
            </a:r>
            <a:endParaRPr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491990" y="3560444"/>
            <a:ext cx="1276350" cy="1276350"/>
          </a:xfrm>
          <a:custGeom>
            <a:avLst/>
            <a:gdLst/>
            <a:ahLst/>
            <a:cxnLst/>
            <a:rect l="l" t="t" r="r" b="b"/>
            <a:pathLst>
              <a:path w="1701800" h="1701800">
                <a:moveTo>
                  <a:pt x="0" y="850899"/>
                </a:moveTo>
                <a:lnTo>
                  <a:pt x="1347" y="802618"/>
                </a:lnTo>
                <a:lnTo>
                  <a:pt x="5340" y="755043"/>
                </a:lnTo>
                <a:lnTo>
                  <a:pt x="11908" y="708246"/>
                </a:lnTo>
                <a:lnTo>
                  <a:pt x="20979" y="662299"/>
                </a:lnTo>
                <a:lnTo>
                  <a:pt x="32480" y="617273"/>
                </a:lnTo>
                <a:lnTo>
                  <a:pt x="46340" y="573241"/>
                </a:lnTo>
                <a:lnTo>
                  <a:pt x="62487" y="530274"/>
                </a:lnTo>
                <a:lnTo>
                  <a:pt x="80850" y="488445"/>
                </a:lnTo>
                <a:lnTo>
                  <a:pt x="101355" y="447824"/>
                </a:lnTo>
                <a:lnTo>
                  <a:pt x="123932" y="408485"/>
                </a:lnTo>
                <a:lnTo>
                  <a:pt x="148509" y="370499"/>
                </a:lnTo>
                <a:lnTo>
                  <a:pt x="175014" y="333937"/>
                </a:lnTo>
                <a:lnTo>
                  <a:pt x="203374" y="298872"/>
                </a:lnTo>
                <a:lnTo>
                  <a:pt x="233518" y="265375"/>
                </a:lnTo>
                <a:lnTo>
                  <a:pt x="265375" y="233518"/>
                </a:lnTo>
                <a:lnTo>
                  <a:pt x="298872" y="203374"/>
                </a:lnTo>
                <a:lnTo>
                  <a:pt x="333937" y="175014"/>
                </a:lnTo>
                <a:lnTo>
                  <a:pt x="370499" y="148509"/>
                </a:lnTo>
                <a:lnTo>
                  <a:pt x="408485" y="123932"/>
                </a:lnTo>
                <a:lnTo>
                  <a:pt x="447824" y="101355"/>
                </a:lnTo>
                <a:lnTo>
                  <a:pt x="488445" y="80850"/>
                </a:lnTo>
                <a:lnTo>
                  <a:pt x="530274" y="62487"/>
                </a:lnTo>
                <a:lnTo>
                  <a:pt x="573241" y="46340"/>
                </a:lnTo>
                <a:lnTo>
                  <a:pt x="617273" y="32480"/>
                </a:lnTo>
                <a:lnTo>
                  <a:pt x="662299" y="20979"/>
                </a:lnTo>
                <a:lnTo>
                  <a:pt x="708246" y="11908"/>
                </a:lnTo>
                <a:lnTo>
                  <a:pt x="755043" y="5340"/>
                </a:lnTo>
                <a:lnTo>
                  <a:pt x="802618" y="1347"/>
                </a:lnTo>
                <a:lnTo>
                  <a:pt x="850900" y="0"/>
                </a:lnTo>
                <a:lnTo>
                  <a:pt x="899181" y="1347"/>
                </a:lnTo>
                <a:lnTo>
                  <a:pt x="946756" y="5340"/>
                </a:lnTo>
                <a:lnTo>
                  <a:pt x="993553" y="11908"/>
                </a:lnTo>
                <a:lnTo>
                  <a:pt x="1039500" y="20979"/>
                </a:lnTo>
                <a:lnTo>
                  <a:pt x="1084526" y="32480"/>
                </a:lnTo>
                <a:lnTo>
                  <a:pt x="1128558" y="46340"/>
                </a:lnTo>
                <a:lnTo>
                  <a:pt x="1171525" y="62487"/>
                </a:lnTo>
                <a:lnTo>
                  <a:pt x="1213354" y="80850"/>
                </a:lnTo>
                <a:lnTo>
                  <a:pt x="1253975" y="101355"/>
                </a:lnTo>
                <a:lnTo>
                  <a:pt x="1293314" y="123932"/>
                </a:lnTo>
                <a:lnTo>
                  <a:pt x="1331300" y="148509"/>
                </a:lnTo>
                <a:lnTo>
                  <a:pt x="1367862" y="175014"/>
                </a:lnTo>
                <a:lnTo>
                  <a:pt x="1402927" y="203374"/>
                </a:lnTo>
                <a:lnTo>
                  <a:pt x="1436424" y="233518"/>
                </a:lnTo>
                <a:lnTo>
                  <a:pt x="1468281" y="265375"/>
                </a:lnTo>
                <a:lnTo>
                  <a:pt x="1498425" y="298872"/>
                </a:lnTo>
                <a:lnTo>
                  <a:pt x="1526785" y="333937"/>
                </a:lnTo>
                <a:lnTo>
                  <a:pt x="1553290" y="370499"/>
                </a:lnTo>
                <a:lnTo>
                  <a:pt x="1577867" y="408485"/>
                </a:lnTo>
                <a:lnTo>
                  <a:pt x="1600444" y="447824"/>
                </a:lnTo>
                <a:lnTo>
                  <a:pt x="1620949" y="488445"/>
                </a:lnTo>
                <a:lnTo>
                  <a:pt x="1639312" y="530274"/>
                </a:lnTo>
                <a:lnTo>
                  <a:pt x="1655459" y="573241"/>
                </a:lnTo>
                <a:lnTo>
                  <a:pt x="1669319" y="617273"/>
                </a:lnTo>
                <a:lnTo>
                  <a:pt x="1680820" y="662299"/>
                </a:lnTo>
                <a:lnTo>
                  <a:pt x="1689891" y="708246"/>
                </a:lnTo>
                <a:lnTo>
                  <a:pt x="1696459" y="755043"/>
                </a:lnTo>
                <a:lnTo>
                  <a:pt x="1700452" y="802618"/>
                </a:lnTo>
                <a:lnTo>
                  <a:pt x="1701800" y="850899"/>
                </a:lnTo>
                <a:lnTo>
                  <a:pt x="1700452" y="899184"/>
                </a:lnTo>
                <a:lnTo>
                  <a:pt x="1696459" y="946763"/>
                </a:lnTo>
                <a:lnTo>
                  <a:pt x="1689891" y="993563"/>
                </a:lnTo>
                <a:lnTo>
                  <a:pt x="1680820" y="1039512"/>
                </a:lnTo>
                <a:lnTo>
                  <a:pt x="1669319" y="1084540"/>
                </a:lnTo>
                <a:lnTo>
                  <a:pt x="1655459" y="1128573"/>
                </a:lnTo>
                <a:lnTo>
                  <a:pt x="1639312" y="1171541"/>
                </a:lnTo>
                <a:lnTo>
                  <a:pt x="1620949" y="1213371"/>
                </a:lnTo>
                <a:lnTo>
                  <a:pt x="1600444" y="1253992"/>
                </a:lnTo>
                <a:lnTo>
                  <a:pt x="1577867" y="1293331"/>
                </a:lnTo>
                <a:lnTo>
                  <a:pt x="1553290" y="1331317"/>
                </a:lnTo>
                <a:lnTo>
                  <a:pt x="1526785" y="1367878"/>
                </a:lnTo>
                <a:lnTo>
                  <a:pt x="1498425" y="1402943"/>
                </a:lnTo>
                <a:lnTo>
                  <a:pt x="1468281" y="1436439"/>
                </a:lnTo>
                <a:lnTo>
                  <a:pt x="1436424" y="1468294"/>
                </a:lnTo>
                <a:lnTo>
                  <a:pt x="1402927" y="1498438"/>
                </a:lnTo>
                <a:lnTo>
                  <a:pt x="1367862" y="1526797"/>
                </a:lnTo>
                <a:lnTo>
                  <a:pt x="1331300" y="1553300"/>
                </a:lnTo>
                <a:lnTo>
                  <a:pt x="1293314" y="1577875"/>
                </a:lnTo>
                <a:lnTo>
                  <a:pt x="1253975" y="1600451"/>
                </a:lnTo>
                <a:lnTo>
                  <a:pt x="1213354" y="1620956"/>
                </a:lnTo>
                <a:lnTo>
                  <a:pt x="1171525" y="1639317"/>
                </a:lnTo>
                <a:lnTo>
                  <a:pt x="1128558" y="1655463"/>
                </a:lnTo>
                <a:lnTo>
                  <a:pt x="1084526" y="1669322"/>
                </a:lnTo>
                <a:lnTo>
                  <a:pt x="1039500" y="1680822"/>
                </a:lnTo>
                <a:lnTo>
                  <a:pt x="993553" y="1689892"/>
                </a:lnTo>
                <a:lnTo>
                  <a:pt x="946756" y="1696459"/>
                </a:lnTo>
                <a:lnTo>
                  <a:pt x="899181" y="1700453"/>
                </a:lnTo>
                <a:lnTo>
                  <a:pt x="850900" y="1701800"/>
                </a:lnTo>
                <a:lnTo>
                  <a:pt x="802618" y="1700453"/>
                </a:lnTo>
                <a:lnTo>
                  <a:pt x="755043" y="1696459"/>
                </a:lnTo>
                <a:lnTo>
                  <a:pt x="708246" y="1689892"/>
                </a:lnTo>
                <a:lnTo>
                  <a:pt x="662299" y="1680822"/>
                </a:lnTo>
                <a:lnTo>
                  <a:pt x="617273" y="1669322"/>
                </a:lnTo>
                <a:lnTo>
                  <a:pt x="573241" y="1655463"/>
                </a:lnTo>
                <a:lnTo>
                  <a:pt x="530274" y="1639317"/>
                </a:lnTo>
                <a:lnTo>
                  <a:pt x="488445" y="1620956"/>
                </a:lnTo>
                <a:lnTo>
                  <a:pt x="447824" y="1600451"/>
                </a:lnTo>
                <a:lnTo>
                  <a:pt x="408485" y="1577875"/>
                </a:lnTo>
                <a:lnTo>
                  <a:pt x="370499" y="1553300"/>
                </a:lnTo>
                <a:lnTo>
                  <a:pt x="333937" y="1526797"/>
                </a:lnTo>
                <a:lnTo>
                  <a:pt x="298872" y="1498438"/>
                </a:lnTo>
                <a:lnTo>
                  <a:pt x="265375" y="1468294"/>
                </a:lnTo>
                <a:lnTo>
                  <a:pt x="233518" y="1436439"/>
                </a:lnTo>
                <a:lnTo>
                  <a:pt x="203374" y="1402943"/>
                </a:lnTo>
                <a:lnTo>
                  <a:pt x="175014" y="1367878"/>
                </a:lnTo>
                <a:lnTo>
                  <a:pt x="148509" y="1331317"/>
                </a:lnTo>
                <a:lnTo>
                  <a:pt x="123932" y="1293331"/>
                </a:lnTo>
                <a:lnTo>
                  <a:pt x="101355" y="1253992"/>
                </a:lnTo>
                <a:lnTo>
                  <a:pt x="80850" y="1213371"/>
                </a:lnTo>
                <a:lnTo>
                  <a:pt x="62487" y="1171541"/>
                </a:lnTo>
                <a:lnTo>
                  <a:pt x="46340" y="1128573"/>
                </a:lnTo>
                <a:lnTo>
                  <a:pt x="32480" y="1084540"/>
                </a:lnTo>
                <a:lnTo>
                  <a:pt x="20979" y="1039512"/>
                </a:lnTo>
                <a:lnTo>
                  <a:pt x="11908" y="993563"/>
                </a:lnTo>
                <a:lnTo>
                  <a:pt x="5340" y="946763"/>
                </a:lnTo>
                <a:lnTo>
                  <a:pt x="1347" y="899184"/>
                </a:lnTo>
                <a:lnTo>
                  <a:pt x="0" y="850899"/>
                </a:lnTo>
                <a:close/>
              </a:path>
            </a:pathLst>
          </a:custGeom>
          <a:ln w="5080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4" name="object 34"/>
          <p:cNvSpPr txBox="1"/>
          <p:nvPr/>
        </p:nvSpPr>
        <p:spPr>
          <a:xfrm>
            <a:off x="4759928" y="3901154"/>
            <a:ext cx="740093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3" algn="ctr">
              <a:spcBef>
                <a:spcPts val="75"/>
              </a:spcBef>
            </a:pPr>
            <a:r>
              <a:rPr b="1" dirty="0">
                <a:solidFill>
                  <a:srgbClr val="3E3E3E"/>
                </a:solidFill>
                <a:latin typeface="Calibri"/>
                <a:cs typeface="Calibri"/>
              </a:rPr>
              <a:t>1.5x</a:t>
            </a:r>
            <a:endParaRPr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b="1" spc="-26" dirty="0">
                <a:solidFill>
                  <a:srgbClr val="3E3E3E"/>
                </a:solidFill>
                <a:latin typeface="Calibri"/>
                <a:cs typeface="Calibri"/>
              </a:rPr>
              <a:t>R</a:t>
            </a:r>
            <a:r>
              <a:rPr b="1" spc="-23" dirty="0">
                <a:solidFill>
                  <a:srgbClr val="3E3E3E"/>
                </a:solidFill>
                <a:latin typeface="Calibri"/>
                <a:cs typeface="Calibri"/>
              </a:rPr>
              <a:t>e</a:t>
            </a:r>
            <a:r>
              <a:rPr b="1" spc="-4" dirty="0">
                <a:solidFill>
                  <a:srgbClr val="3E3E3E"/>
                </a:solidFill>
                <a:latin typeface="Calibri"/>
                <a:cs typeface="Calibri"/>
              </a:rPr>
              <a:t>v</a:t>
            </a:r>
            <a:r>
              <a:rPr b="1" spc="-116" dirty="0">
                <a:solidFill>
                  <a:srgbClr val="3E3E3E"/>
                </a:solidFill>
                <a:latin typeface="Calibri"/>
                <a:cs typeface="Calibri"/>
              </a:rPr>
              <a:t>P</a:t>
            </a:r>
            <a:r>
              <a:rPr b="1" dirty="0">
                <a:solidFill>
                  <a:srgbClr val="3E3E3E"/>
                </a:solidFill>
                <a:latin typeface="Calibri"/>
                <a:cs typeface="Calibri"/>
              </a:rPr>
              <a:t>AR</a:t>
            </a:r>
            <a:endParaRPr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83304" y="4918233"/>
            <a:ext cx="1359694" cy="103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829"/>
              </a:lnSpc>
            </a:pPr>
            <a:r>
              <a:rPr sz="788" spc="4" dirty="0">
                <a:solidFill>
                  <a:srgbClr val="8B8B8B"/>
                </a:solidFill>
                <a:latin typeface="Calibri"/>
                <a:cs typeface="Calibri"/>
              </a:rPr>
              <a:t>© 2019 </a:t>
            </a:r>
            <a:r>
              <a:rPr sz="788" dirty="0">
                <a:solidFill>
                  <a:srgbClr val="8B8B8B"/>
                </a:solidFill>
                <a:latin typeface="Calibri"/>
                <a:cs typeface="Calibri"/>
              </a:rPr>
              <a:t>STR. All Rights</a:t>
            </a:r>
            <a:r>
              <a:rPr sz="788" spc="-41" dirty="0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sz="788" dirty="0">
                <a:solidFill>
                  <a:srgbClr val="8B8B8B"/>
                </a:solidFill>
                <a:latin typeface="Calibri"/>
                <a:cs typeface="Calibri"/>
              </a:rPr>
              <a:t>Reserved.</a:t>
            </a:r>
            <a:endParaRPr sz="78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04187" y="158750"/>
            <a:ext cx="738188" cy="7381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/>
          <p:nvPr/>
        </p:nvSpPr>
        <p:spPr>
          <a:xfrm>
            <a:off x="1089660" y="2293620"/>
            <a:ext cx="6993255" cy="2217420"/>
          </a:xfrm>
          <a:custGeom>
            <a:avLst/>
            <a:gdLst/>
            <a:ahLst/>
            <a:cxnLst/>
            <a:rect l="l" t="t" r="r" b="b"/>
            <a:pathLst>
              <a:path w="9324340" h="2956560">
                <a:moveTo>
                  <a:pt x="0" y="2956560"/>
                </a:moveTo>
                <a:lnTo>
                  <a:pt x="9324340" y="2956560"/>
                </a:lnTo>
                <a:lnTo>
                  <a:pt x="9324340" y="0"/>
                </a:lnTo>
                <a:lnTo>
                  <a:pt x="0" y="0"/>
                </a:lnTo>
                <a:lnTo>
                  <a:pt x="0" y="295656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1369696" y="2402204"/>
            <a:ext cx="662939" cy="5981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2535556" y="2402204"/>
            <a:ext cx="662939" cy="7905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3701415" y="2402205"/>
            <a:ext cx="662940" cy="7677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4867275" y="2402204"/>
            <a:ext cx="662940" cy="13220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6033135" y="2402204"/>
            <a:ext cx="662940" cy="1295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/>
          <p:nvPr/>
        </p:nvSpPr>
        <p:spPr>
          <a:xfrm>
            <a:off x="7198995" y="2402204"/>
            <a:ext cx="661034" cy="4629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0" name="object 10"/>
          <p:cNvSpPr/>
          <p:nvPr/>
        </p:nvSpPr>
        <p:spPr>
          <a:xfrm>
            <a:off x="1377315" y="2436496"/>
            <a:ext cx="592455" cy="52958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/>
          <p:nvPr/>
        </p:nvSpPr>
        <p:spPr>
          <a:xfrm>
            <a:off x="2543176" y="2436496"/>
            <a:ext cx="592454" cy="72199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" name="object 12"/>
          <p:cNvSpPr/>
          <p:nvPr/>
        </p:nvSpPr>
        <p:spPr>
          <a:xfrm>
            <a:off x="3709034" y="2436496"/>
            <a:ext cx="590550" cy="69722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/>
          <p:nvPr/>
        </p:nvSpPr>
        <p:spPr>
          <a:xfrm>
            <a:off x="4872990" y="2436495"/>
            <a:ext cx="592455" cy="125158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" name="object 14"/>
          <p:cNvSpPr/>
          <p:nvPr/>
        </p:nvSpPr>
        <p:spPr>
          <a:xfrm>
            <a:off x="6038850" y="2436495"/>
            <a:ext cx="592455" cy="122491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/>
          <p:nvPr/>
        </p:nvSpPr>
        <p:spPr>
          <a:xfrm>
            <a:off x="7204710" y="2436496"/>
            <a:ext cx="592455" cy="39433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16"/>
          <p:cNvSpPr/>
          <p:nvPr/>
        </p:nvSpPr>
        <p:spPr>
          <a:xfrm>
            <a:off x="1090613" y="2441257"/>
            <a:ext cx="6993255" cy="0"/>
          </a:xfrm>
          <a:custGeom>
            <a:avLst/>
            <a:gdLst/>
            <a:ahLst/>
            <a:cxnLst/>
            <a:rect l="l" t="t" r="r" b="b"/>
            <a:pathLst>
              <a:path w="9324340">
                <a:moveTo>
                  <a:pt x="0" y="0"/>
                </a:moveTo>
                <a:lnTo>
                  <a:pt x="9324340" y="0"/>
                </a:lnTo>
              </a:path>
            </a:pathLst>
          </a:custGeom>
          <a:ln w="7620">
            <a:solidFill>
              <a:srgbClr val="E1E1E1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 txBox="1"/>
          <p:nvPr/>
        </p:nvSpPr>
        <p:spPr>
          <a:xfrm>
            <a:off x="1550384" y="2592228"/>
            <a:ext cx="252413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spcBef>
                <a:spcPts val="75"/>
              </a:spcBef>
            </a:pPr>
            <a:r>
              <a:rPr sz="1200" b="1" spc="8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200" b="1" spc="4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r>
              <a:rPr sz="1200" b="1" spc="-8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16053" y="2688240"/>
            <a:ext cx="252889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spcBef>
                <a:spcPts val="75"/>
              </a:spcBef>
            </a:pPr>
            <a:r>
              <a:rPr sz="1200" b="1" spc="8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200" b="1" spc="4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r>
              <a:rPr sz="1200" b="1" spc="-8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81913" y="2675810"/>
            <a:ext cx="252889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spcBef>
                <a:spcPts val="75"/>
              </a:spcBef>
            </a:pPr>
            <a:r>
              <a:rPr sz="1200" b="1" spc="4" dirty="0">
                <a:solidFill>
                  <a:srgbClr val="FFFFFF"/>
                </a:solidFill>
                <a:latin typeface="Calibri"/>
                <a:cs typeface="Calibri"/>
              </a:rPr>
              <a:t>-9</a:t>
            </a:r>
            <a:r>
              <a:rPr sz="1200" b="1" spc="-8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09674" y="2953512"/>
            <a:ext cx="330518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spcBef>
                <a:spcPts val="75"/>
              </a:spcBef>
            </a:pPr>
            <a:r>
              <a:rPr sz="1200" b="1" spc="8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200" b="1" spc="4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r>
              <a:rPr sz="1200" b="1" spc="-8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75533" y="2940558"/>
            <a:ext cx="330518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spcBef>
                <a:spcPts val="75"/>
              </a:spcBef>
            </a:pPr>
            <a:r>
              <a:rPr sz="1200" b="1" spc="8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1200" b="1" spc="4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r>
              <a:rPr sz="1200" b="1" spc="-8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79302" y="2524125"/>
            <a:ext cx="252413" cy="19428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spcBef>
                <a:spcPts val="75"/>
              </a:spcBef>
            </a:pPr>
            <a:r>
              <a:rPr sz="1200" b="1" spc="4" dirty="0">
                <a:solidFill>
                  <a:srgbClr val="FFFFFF"/>
                </a:solidFill>
                <a:latin typeface="Calibri"/>
                <a:cs typeface="Calibri"/>
              </a:rPr>
              <a:t>-5</a:t>
            </a:r>
            <a:r>
              <a:rPr sz="1200" b="1" spc="-8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12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34465" y="2017109"/>
            <a:ext cx="477679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2E2E2E"/>
                </a:solidFill>
                <a:latin typeface="Calibri"/>
                <a:cs typeface="Calibri"/>
              </a:rPr>
              <a:t>Dem</a:t>
            </a:r>
            <a:r>
              <a:rPr sz="1050" spc="-8" dirty="0">
                <a:solidFill>
                  <a:srgbClr val="2E2E2E"/>
                </a:solidFill>
                <a:latin typeface="Calibri"/>
                <a:cs typeface="Calibri"/>
              </a:rPr>
              <a:t>a</a:t>
            </a:r>
            <a:r>
              <a:rPr sz="1050" dirty="0">
                <a:solidFill>
                  <a:srgbClr val="2E2E2E"/>
                </a:solidFill>
                <a:latin typeface="Calibri"/>
                <a:cs typeface="Calibri"/>
              </a:rPr>
              <a:t>nd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43949" y="2017109"/>
            <a:ext cx="39147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dirty="0">
                <a:solidFill>
                  <a:srgbClr val="2E2E2E"/>
                </a:solidFill>
                <a:latin typeface="Calibri"/>
                <a:cs typeface="Calibri"/>
              </a:rPr>
              <a:t>Rooms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07308" y="2017109"/>
            <a:ext cx="795814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2E2E2E"/>
                </a:solidFill>
                <a:latin typeface="Calibri"/>
                <a:cs typeface="Calibri"/>
              </a:rPr>
              <a:t>Total</a:t>
            </a:r>
            <a:r>
              <a:rPr sz="1050" spc="-38" dirty="0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sz="1050" spc="-4" dirty="0">
                <a:solidFill>
                  <a:srgbClr val="2E2E2E"/>
                </a:solidFill>
                <a:latin typeface="Calibri"/>
                <a:cs typeface="Calibri"/>
              </a:rPr>
              <a:t>Revenue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40631" y="2017109"/>
            <a:ext cx="261461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dirty="0">
                <a:solidFill>
                  <a:srgbClr val="2E2E2E"/>
                </a:solidFill>
                <a:latin typeface="Calibri"/>
                <a:cs typeface="Calibri"/>
              </a:rPr>
              <a:t>G</a:t>
            </a:r>
            <a:r>
              <a:rPr sz="1050" spc="4" dirty="0">
                <a:solidFill>
                  <a:srgbClr val="2E2E2E"/>
                </a:solidFill>
                <a:latin typeface="Calibri"/>
                <a:cs typeface="Calibri"/>
              </a:rPr>
              <a:t>O</a:t>
            </a:r>
            <a:r>
              <a:rPr sz="1050" dirty="0">
                <a:solidFill>
                  <a:srgbClr val="2E2E2E"/>
                </a:solidFill>
                <a:latin typeface="Calibri"/>
                <a:cs typeface="Calibri"/>
              </a:rPr>
              <a:t>P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29338" y="2017109"/>
            <a:ext cx="414814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2E2E2E"/>
                </a:solidFill>
                <a:latin typeface="Calibri"/>
                <a:cs typeface="Calibri"/>
              </a:rPr>
              <a:t>EB</a:t>
            </a:r>
            <a:r>
              <a:rPr sz="1050" spc="4" dirty="0">
                <a:solidFill>
                  <a:srgbClr val="2E2E2E"/>
                </a:solidFill>
                <a:latin typeface="Calibri"/>
                <a:cs typeface="Calibri"/>
              </a:rPr>
              <a:t>I</a:t>
            </a:r>
            <a:r>
              <a:rPr sz="1050" spc="-4" dirty="0">
                <a:solidFill>
                  <a:srgbClr val="2E2E2E"/>
                </a:solidFill>
                <a:latin typeface="Calibri"/>
                <a:cs typeface="Calibri"/>
              </a:rPr>
              <a:t>TDA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26878" y="2017109"/>
            <a:ext cx="951071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2E2E2E"/>
                </a:solidFill>
                <a:latin typeface="Calibri"/>
                <a:cs typeface="Calibri"/>
              </a:rPr>
              <a:t>Total Labor</a:t>
            </a:r>
            <a:r>
              <a:rPr sz="1050" spc="-45" dirty="0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sz="1050" spc="-4" dirty="0">
                <a:solidFill>
                  <a:srgbClr val="2E2E2E"/>
                </a:solidFill>
                <a:latin typeface="Calibri"/>
                <a:cs typeface="Calibri"/>
              </a:rPr>
              <a:t>Costs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30476" y="3776948"/>
            <a:ext cx="963930" cy="375648"/>
          </a:xfrm>
          <a:prstGeom prst="rect">
            <a:avLst/>
          </a:prstGeom>
        </p:spPr>
        <p:txBody>
          <a:bodyPr vert="horz" wrap="square" lIns="0" tIns="5239" rIns="0" bIns="0" rtlCol="0">
            <a:spAutoFit/>
          </a:bodyPr>
          <a:lstStyle/>
          <a:p>
            <a:pPr marL="80010" marR="3810" indent="-80010">
              <a:lnSpc>
                <a:spcPct val="102200"/>
              </a:lnSpc>
              <a:spcBef>
                <a:spcPts val="41"/>
              </a:spcBef>
            </a:pPr>
            <a:r>
              <a:rPr sz="1200" dirty="0">
                <a:solidFill>
                  <a:srgbClr val="2E2E2E"/>
                </a:solidFill>
                <a:latin typeface="Calibri"/>
                <a:cs typeface="Calibri"/>
              </a:rPr>
              <a:t>2001 </a:t>
            </a:r>
            <a:r>
              <a:rPr sz="1200" spc="-8" dirty="0">
                <a:solidFill>
                  <a:srgbClr val="2E2E2E"/>
                </a:solidFill>
                <a:latin typeface="Calibri"/>
                <a:cs typeface="Calibri"/>
              </a:rPr>
              <a:t>U.S.</a:t>
            </a:r>
            <a:r>
              <a:rPr sz="1200" spc="-83" dirty="0">
                <a:solidFill>
                  <a:srgbClr val="2E2E2E"/>
                </a:solidFill>
                <a:latin typeface="Calibri"/>
                <a:cs typeface="Calibri"/>
              </a:rPr>
              <a:t> </a:t>
            </a:r>
            <a:r>
              <a:rPr sz="1200" spc="-8" dirty="0">
                <a:solidFill>
                  <a:srgbClr val="2E2E2E"/>
                </a:solidFill>
                <a:latin typeface="Calibri"/>
                <a:cs typeface="Calibri"/>
              </a:rPr>
              <a:t>Hotel  </a:t>
            </a:r>
            <a:r>
              <a:rPr sz="1200" spc="-11" dirty="0">
                <a:solidFill>
                  <a:srgbClr val="2E2E2E"/>
                </a:solidFill>
                <a:latin typeface="Calibri"/>
                <a:cs typeface="Calibri"/>
              </a:rPr>
              <a:t>Performance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516255" y="320468"/>
            <a:ext cx="5973604" cy="748282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z="2400" dirty="0">
                <a:solidFill>
                  <a:srgbClr val="3E3E3E"/>
                </a:solidFill>
                <a:latin typeface="Calibri"/>
                <a:cs typeface="Calibri"/>
              </a:rPr>
              <a:t>Similar </a:t>
            </a:r>
            <a:r>
              <a:rPr sz="2400" spc="-8" dirty="0">
                <a:solidFill>
                  <a:srgbClr val="3E3E3E"/>
                </a:solidFill>
                <a:latin typeface="Calibri"/>
                <a:cs typeface="Calibri"/>
              </a:rPr>
              <a:t>Performance </a:t>
            </a:r>
            <a:r>
              <a:rPr sz="2400" dirty="0">
                <a:solidFill>
                  <a:srgbClr val="3E3E3E"/>
                </a:solidFill>
                <a:latin typeface="Calibri"/>
                <a:cs typeface="Calibri"/>
              </a:rPr>
              <a:t>in </a:t>
            </a:r>
            <a:r>
              <a:rPr sz="2400" spc="-4" dirty="0">
                <a:solidFill>
                  <a:srgbClr val="3E3E3E"/>
                </a:solidFill>
                <a:latin typeface="Calibri"/>
                <a:cs typeface="Calibri"/>
              </a:rPr>
              <a:t>2001, although declines  </a:t>
            </a:r>
            <a:r>
              <a:rPr sz="2400" spc="-11" dirty="0">
                <a:solidFill>
                  <a:srgbClr val="3E3E3E"/>
                </a:solidFill>
                <a:latin typeface="Calibri"/>
                <a:cs typeface="Calibri"/>
              </a:rPr>
              <a:t>were </a:t>
            </a:r>
            <a:r>
              <a:rPr sz="2400" dirty="0">
                <a:solidFill>
                  <a:srgbClr val="3E3E3E"/>
                </a:solidFill>
                <a:latin typeface="Calibri"/>
                <a:cs typeface="Calibri"/>
              </a:rPr>
              <a:t>less</a:t>
            </a:r>
            <a:r>
              <a:rPr sz="2400" spc="-4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2400" spc="-11" dirty="0">
                <a:solidFill>
                  <a:srgbClr val="3E3E3E"/>
                </a:solidFill>
                <a:latin typeface="Calibri"/>
                <a:cs typeface="Calibri"/>
              </a:rPr>
              <a:t>extreme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892289" y="2764156"/>
            <a:ext cx="1276350" cy="1278254"/>
          </a:xfrm>
          <a:custGeom>
            <a:avLst/>
            <a:gdLst/>
            <a:ahLst/>
            <a:cxnLst/>
            <a:rect l="l" t="t" r="r" b="b"/>
            <a:pathLst>
              <a:path w="1701800" h="1704339">
                <a:moveTo>
                  <a:pt x="0" y="852170"/>
                </a:moveTo>
                <a:lnTo>
                  <a:pt x="1347" y="803810"/>
                </a:lnTo>
                <a:lnTo>
                  <a:pt x="5340" y="756159"/>
                </a:lnTo>
                <a:lnTo>
                  <a:pt x="11908" y="709288"/>
                </a:lnTo>
                <a:lnTo>
                  <a:pt x="20979" y="663268"/>
                </a:lnTo>
                <a:lnTo>
                  <a:pt x="32480" y="618173"/>
                </a:lnTo>
                <a:lnTo>
                  <a:pt x="46340" y="574073"/>
                </a:lnTo>
                <a:lnTo>
                  <a:pt x="62487" y="531040"/>
                </a:lnTo>
                <a:lnTo>
                  <a:pt x="80850" y="489147"/>
                </a:lnTo>
                <a:lnTo>
                  <a:pt x="101355" y="448466"/>
                </a:lnTo>
                <a:lnTo>
                  <a:pt x="123932" y="409068"/>
                </a:lnTo>
                <a:lnTo>
                  <a:pt x="148509" y="371025"/>
                </a:lnTo>
                <a:lnTo>
                  <a:pt x="175014" y="334409"/>
                </a:lnTo>
                <a:lnTo>
                  <a:pt x="203374" y="299293"/>
                </a:lnTo>
                <a:lnTo>
                  <a:pt x="233518" y="265747"/>
                </a:lnTo>
                <a:lnTo>
                  <a:pt x="265375" y="233845"/>
                </a:lnTo>
                <a:lnTo>
                  <a:pt x="298872" y="203657"/>
                </a:lnTo>
                <a:lnTo>
                  <a:pt x="333937" y="175257"/>
                </a:lnTo>
                <a:lnTo>
                  <a:pt x="370499" y="148715"/>
                </a:lnTo>
                <a:lnTo>
                  <a:pt x="408485" y="124103"/>
                </a:lnTo>
                <a:lnTo>
                  <a:pt x="447824" y="101494"/>
                </a:lnTo>
                <a:lnTo>
                  <a:pt x="488445" y="80960"/>
                </a:lnTo>
                <a:lnTo>
                  <a:pt x="530274" y="62572"/>
                </a:lnTo>
                <a:lnTo>
                  <a:pt x="573241" y="46403"/>
                </a:lnTo>
                <a:lnTo>
                  <a:pt x="617273" y="32524"/>
                </a:lnTo>
                <a:lnTo>
                  <a:pt x="662299" y="21007"/>
                </a:lnTo>
                <a:lnTo>
                  <a:pt x="708246" y="11924"/>
                </a:lnTo>
                <a:lnTo>
                  <a:pt x="755043" y="5347"/>
                </a:lnTo>
                <a:lnTo>
                  <a:pt x="802618" y="1348"/>
                </a:lnTo>
                <a:lnTo>
                  <a:pt x="850900" y="0"/>
                </a:lnTo>
                <a:lnTo>
                  <a:pt x="899181" y="1348"/>
                </a:lnTo>
                <a:lnTo>
                  <a:pt x="946756" y="5347"/>
                </a:lnTo>
                <a:lnTo>
                  <a:pt x="993553" y="11924"/>
                </a:lnTo>
                <a:lnTo>
                  <a:pt x="1039500" y="21007"/>
                </a:lnTo>
                <a:lnTo>
                  <a:pt x="1084526" y="32524"/>
                </a:lnTo>
                <a:lnTo>
                  <a:pt x="1128558" y="46403"/>
                </a:lnTo>
                <a:lnTo>
                  <a:pt x="1171525" y="62572"/>
                </a:lnTo>
                <a:lnTo>
                  <a:pt x="1213354" y="80960"/>
                </a:lnTo>
                <a:lnTo>
                  <a:pt x="1253975" y="101494"/>
                </a:lnTo>
                <a:lnTo>
                  <a:pt x="1293314" y="124103"/>
                </a:lnTo>
                <a:lnTo>
                  <a:pt x="1331300" y="148715"/>
                </a:lnTo>
                <a:lnTo>
                  <a:pt x="1367862" y="175257"/>
                </a:lnTo>
                <a:lnTo>
                  <a:pt x="1402927" y="203657"/>
                </a:lnTo>
                <a:lnTo>
                  <a:pt x="1436424" y="233845"/>
                </a:lnTo>
                <a:lnTo>
                  <a:pt x="1468281" y="265747"/>
                </a:lnTo>
                <a:lnTo>
                  <a:pt x="1498425" y="299293"/>
                </a:lnTo>
                <a:lnTo>
                  <a:pt x="1526785" y="334409"/>
                </a:lnTo>
                <a:lnTo>
                  <a:pt x="1553290" y="371025"/>
                </a:lnTo>
                <a:lnTo>
                  <a:pt x="1577867" y="409068"/>
                </a:lnTo>
                <a:lnTo>
                  <a:pt x="1600444" y="448466"/>
                </a:lnTo>
                <a:lnTo>
                  <a:pt x="1620949" y="489147"/>
                </a:lnTo>
                <a:lnTo>
                  <a:pt x="1639312" y="531040"/>
                </a:lnTo>
                <a:lnTo>
                  <a:pt x="1655459" y="574073"/>
                </a:lnTo>
                <a:lnTo>
                  <a:pt x="1669319" y="618173"/>
                </a:lnTo>
                <a:lnTo>
                  <a:pt x="1680820" y="663268"/>
                </a:lnTo>
                <a:lnTo>
                  <a:pt x="1689891" y="709288"/>
                </a:lnTo>
                <a:lnTo>
                  <a:pt x="1696459" y="756159"/>
                </a:lnTo>
                <a:lnTo>
                  <a:pt x="1700452" y="803810"/>
                </a:lnTo>
                <a:lnTo>
                  <a:pt x="1701800" y="852170"/>
                </a:lnTo>
                <a:lnTo>
                  <a:pt x="1700452" y="900529"/>
                </a:lnTo>
                <a:lnTo>
                  <a:pt x="1696459" y="948180"/>
                </a:lnTo>
                <a:lnTo>
                  <a:pt x="1689891" y="995051"/>
                </a:lnTo>
                <a:lnTo>
                  <a:pt x="1680820" y="1041071"/>
                </a:lnTo>
                <a:lnTo>
                  <a:pt x="1669319" y="1086166"/>
                </a:lnTo>
                <a:lnTo>
                  <a:pt x="1655459" y="1130266"/>
                </a:lnTo>
                <a:lnTo>
                  <a:pt x="1639312" y="1173299"/>
                </a:lnTo>
                <a:lnTo>
                  <a:pt x="1620949" y="1215192"/>
                </a:lnTo>
                <a:lnTo>
                  <a:pt x="1600444" y="1255873"/>
                </a:lnTo>
                <a:lnTo>
                  <a:pt x="1577867" y="1295271"/>
                </a:lnTo>
                <a:lnTo>
                  <a:pt x="1553290" y="1333314"/>
                </a:lnTo>
                <a:lnTo>
                  <a:pt x="1526785" y="1369930"/>
                </a:lnTo>
                <a:lnTo>
                  <a:pt x="1498425" y="1405046"/>
                </a:lnTo>
                <a:lnTo>
                  <a:pt x="1468281" y="1438592"/>
                </a:lnTo>
                <a:lnTo>
                  <a:pt x="1436424" y="1470494"/>
                </a:lnTo>
                <a:lnTo>
                  <a:pt x="1402927" y="1500682"/>
                </a:lnTo>
                <a:lnTo>
                  <a:pt x="1367862" y="1529082"/>
                </a:lnTo>
                <a:lnTo>
                  <a:pt x="1331300" y="1555624"/>
                </a:lnTo>
                <a:lnTo>
                  <a:pt x="1293314" y="1580236"/>
                </a:lnTo>
                <a:lnTo>
                  <a:pt x="1253975" y="1602845"/>
                </a:lnTo>
                <a:lnTo>
                  <a:pt x="1213354" y="1623379"/>
                </a:lnTo>
                <a:lnTo>
                  <a:pt x="1171525" y="1641767"/>
                </a:lnTo>
                <a:lnTo>
                  <a:pt x="1128558" y="1657936"/>
                </a:lnTo>
                <a:lnTo>
                  <a:pt x="1084526" y="1671815"/>
                </a:lnTo>
                <a:lnTo>
                  <a:pt x="1039500" y="1683332"/>
                </a:lnTo>
                <a:lnTo>
                  <a:pt x="993553" y="1692415"/>
                </a:lnTo>
                <a:lnTo>
                  <a:pt x="946756" y="1698992"/>
                </a:lnTo>
                <a:lnTo>
                  <a:pt x="899181" y="1702991"/>
                </a:lnTo>
                <a:lnTo>
                  <a:pt x="850900" y="1704340"/>
                </a:lnTo>
                <a:lnTo>
                  <a:pt x="802618" y="1702991"/>
                </a:lnTo>
                <a:lnTo>
                  <a:pt x="755043" y="1698992"/>
                </a:lnTo>
                <a:lnTo>
                  <a:pt x="708246" y="1692415"/>
                </a:lnTo>
                <a:lnTo>
                  <a:pt x="662299" y="1683332"/>
                </a:lnTo>
                <a:lnTo>
                  <a:pt x="617273" y="1671815"/>
                </a:lnTo>
                <a:lnTo>
                  <a:pt x="573241" y="1657936"/>
                </a:lnTo>
                <a:lnTo>
                  <a:pt x="530274" y="1641767"/>
                </a:lnTo>
                <a:lnTo>
                  <a:pt x="488445" y="1623379"/>
                </a:lnTo>
                <a:lnTo>
                  <a:pt x="447824" y="1602845"/>
                </a:lnTo>
                <a:lnTo>
                  <a:pt x="408485" y="1580236"/>
                </a:lnTo>
                <a:lnTo>
                  <a:pt x="370499" y="1555624"/>
                </a:lnTo>
                <a:lnTo>
                  <a:pt x="333937" y="1529082"/>
                </a:lnTo>
                <a:lnTo>
                  <a:pt x="298872" y="1500682"/>
                </a:lnTo>
                <a:lnTo>
                  <a:pt x="265375" y="1470494"/>
                </a:lnTo>
                <a:lnTo>
                  <a:pt x="233518" y="1438592"/>
                </a:lnTo>
                <a:lnTo>
                  <a:pt x="203374" y="1405046"/>
                </a:lnTo>
                <a:lnTo>
                  <a:pt x="175014" y="1369930"/>
                </a:lnTo>
                <a:lnTo>
                  <a:pt x="148509" y="1333314"/>
                </a:lnTo>
                <a:lnTo>
                  <a:pt x="123932" y="1295271"/>
                </a:lnTo>
                <a:lnTo>
                  <a:pt x="101355" y="1255873"/>
                </a:lnTo>
                <a:lnTo>
                  <a:pt x="80850" y="1215192"/>
                </a:lnTo>
                <a:lnTo>
                  <a:pt x="62487" y="1173299"/>
                </a:lnTo>
                <a:lnTo>
                  <a:pt x="46340" y="1130266"/>
                </a:lnTo>
                <a:lnTo>
                  <a:pt x="32480" y="1086166"/>
                </a:lnTo>
                <a:lnTo>
                  <a:pt x="20979" y="1041071"/>
                </a:lnTo>
                <a:lnTo>
                  <a:pt x="11908" y="995051"/>
                </a:lnTo>
                <a:lnTo>
                  <a:pt x="5340" y="948180"/>
                </a:lnTo>
                <a:lnTo>
                  <a:pt x="1347" y="900529"/>
                </a:lnTo>
                <a:lnTo>
                  <a:pt x="0" y="852170"/>
                </a:lnTo>
                <a:close/>
              </a:path>
            </a:pathLst>
          </a:custGeom>
          <a:ln w="5080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2" name="object 32"/>
          <p:cNvSpPr txBox="1"/>
          <p:nvPr/>
        </p:nvSpPr>
        <p:spPr>
          <a:xfrm>
            <a:off x="7169944" y="3105913"/>
            <a:ext cx="730568" cy="56874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R="476" algn="ctr">
              <a:lnSpc>
                <a:spcPts val="2160"/>
              </a:lnSpc>
              <a:spcBef>
                <a:spcPts val="75"/>
              </a:spcBef>
            </a:pPr>
            <a:r>
              <a:rPr b="1" dirty="0">
                <a:solidFill>
                  <a:srgbClr val="3E3E3E"/>
                </a:solidFill>
                <a:latin typeface="Calibri"/>
                <a:cs typeface="Calibri"/>
              </a:rPr>
              <a:t>0.54x</a:t>
            </a:r>
            <a:endParaRPr>
              <a:latin typeface="Calibri"/>
              <a:cs typeface="Calibri"/>
            </a:endParaRPr>
          </a:p>
          <a:p>
            <a:pPr marR="3810" algn="ctr"/>
            <a:r>
              <a:rPr b="1" spc="-26" dirty="0">
                <a:solidFill>
                  <a:srgbClr val="3E3E3E"/>
                </a:solidFill>
                <a:latin typeface="Calibri"/>
                <a:cs typeface="Calibri"/>
              </a:rPr>
              <a:t>R</a:t>
            </a:r>
            <a:r>
              <a:rPr b="1" spc="-23" dirty="0">
                <a:solidFill>
                  <a:srgbClr val="3E3E3E"/>
                </a:solidFill>
                <a:latin typeface="Calibri"/>
                <a:cs typeface="Calibri"/>
              </a:rPr>
              <a:t>e</a:t>
            </a:r>
            <a:r>
              <a:rPr b="1" spc="-4" dirty="0">
                <a:solidFill>
                  <a:srgbClr val="3E3E3E"/>
                </a:solidFill>
                <a:latin typeface="Calibri"/>
                <a:cs typeface="Calibri"/>
              </a:rPr>
              <a:t>v</a:t>
            </a:r>
            <a:r>
              <a:rPr b="1" spc="-116" dirty="0">
                <a:solidFill>
                  <a:srgbClr val="3E3E3E"/>
                </a:solidFill>
                <a:latin typeface="Calibri"/>
                <a:cs typeface="Calibri"/>
              </a:rPr>
              <a:t>P</a:t>
            </a:r>
            <a:r>
              <a:rPr b="1" dirty="0">
                <a:solidFill>
                  <a:srgbClr val="3E3E3E"/>
                </a:solidFill>
                <a:latin typeface="Calibri"/>
                <a:cs typeface="Calibri"/>
              </a:rPr>
              <a:t>AR</a:t>
            </a:r>
            <a:endParaRPr>
              <a:latin typeface="Calibri"/>
              <a:cs typeface="Calibri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537709" y="3524250"/>
            <a:ext cx="1276350" cy="1276350"/>
          </a:xfrm>
          <a:custGeom>
            <a:avLst/>
            <a:gdLst/>
            <a:ahLst/>
            <a:cxnLst/>
            <a:rect l="l" t="t" r="r" b="b"/>
            <a:pathLst>
              <a:path w="1701800" h="1701800">
                <a:moveTo>
                  <a:pt x="0" y="850900"/>
                </a:moveTo>
                <a:lnTo>
                  <a:pt x="1347" y="802618"/>
                </a:lnTo>
                <a:lnTo>
                  <a:pt x="5340" y="755043"/>
                </a:lnTo>
                <a:lnTo>
                  <a:pt x="11908" y="708246"/>
                </a:lnTo>
                <a:lnTo>
                  <a:pt x="20979" y="662299"/>
                </a:lnTo>
                <a:lnTo>
                  <a:pt x="32480" y="617273"/>
                </a:lnTo>
                <a:lnTo>
                  <a:pt x="46340" y="573241"/>
                </a:lnTo>
                <a:lnTo>
                  <a:pt x="62487" y="530274"/>
                </a:lnTo>
                <a:lnTo>
                  <a:pt x="80850" y="488445"/>
                </a:lnTo>
                <a:lnTo>
                  <a:pt x="101355" y="447824"/>
                </a:lnTo>
                <a:lnTo>
                  <a:pt x="123932" y="408485"/>
                </a:lnTo>
                <a:lnTo>
                  <a:pt x="148509" y="370499"/>
                </a:lnTo>
                <a:lnTo>
                  <a:pt x="175014" y="333937"/>
                </a:lnTo>
                <a:lnTo>
                  <a:pt x="203374" y="298872"/>
                </a:lnTo>
                <a:lnTo>
                  <a:pt x="233518" y="265375"/>
                </a:lnTo>
                <a:lnTo>
                  <a:pt x="265375" y="233518"/>
                </a:lnTo>
                <a:lnTo>
                  <a:pt x="298872" y="203374"/>
                </a:lnTo>
                <a:lnTo>
                  <a:pt x="333937" y="175014"/>
                </a:lnTo>
                <a:lnTo>
                  <a:pt x="370499" y="148509"/>
                </a:lnTo>
                <a:lnTo>
                  <a:pt x="408485" y="123932"/>
                </a:lnTo>
                <a:lnTo>
                  <a:pt x="447824" y="101355"/>
                </a:lnTo>
                <a:lnTo>
                  <a:pt x="488445" y="80850"/>
                </a:lnTo>
                <a:lnTo>
                  <a:pt x="530274" y="62487"/>
                </a:lnTo>
                <a:lnTo>
                  <a:pt x="573241" y="46340"/>
                </a:lnTo>
                <a:lnTo>
                  <a:pt x="617273" y="32480"/>
                </a:lnTo>
                <a:lnTo>
                  <a:pt x="662299" y="20979"/>
                </a:lnTo>
                <a:lnTo>
                  <a:pt x="708246" y="11908"/>
                </a:lnTo>
                <a:lnTo>
                  <a:pt x="755043" y="5340"/>
                </a:lnTo>
                <a:lnTo>
                  <a:pt x="802618" y="1347"/>
                </a:lnTo>
                <a:lnTo>
                  <a:pt x="850900" y="0"/>
                </a:lnTo>
                <a:lnTo>
                  <a:pt x="899181" y="1347"/>
                </a:lnTo>
                <a:lnTo>
                  <a:pt x="946756" y="5340"/>
                </a:lnTo>
                <a:lnTo>
                  <a:pt x="993553" y="11908"/>
                </a:lnTo>
                <a:lnTo>
                  <a:pt x="1039500" y="20979"/>
                </a:lnTo>
                <a:lnTo>
                  <a:pt x="1084526" y="32480"/>
                </a:lnTo>
                <a:lnTo>
                  <a:pt x="1128558" y="46340"/>
                </a:lnTo>
                <a:lnTo>
                  <a:pt x="1171525" y="62487"/>
                </a:lnTo>
                <a:lnTo>
                  <a:pt x="1213354" y="80850"/>
                </a:lnTo>
                <a:lnTo>
                  <a:pt x="1253975" y="101355"/>
                </a:lnTo>
                <a:lnTo>
                  <a:pt x="1293314" y="123932"/>
                </a:lnTo>
                <a:lnTo>
                  <a:pt x="1331300" y="148509"/>
                </a:lnTo>
                <a:lnTo>
                  <a:pt x="1367862" y="175014"/>
                </a:lnTo>
                <a:lnTo>
                  <a:pt x="1402927" y="203374"/>
                </a:lnTo>
                <a:lnTo>
                  <a:pt x="1436424" y="233518"/>
                </a:lnTo>
                <a:lnTo>
                  <a:pt x="1468281" y="265375"/>
                </a:lnTo>
                <a:lnTo>
                  <a:pt x="1498425" y="298872"/>
                </a:lnTo>
                <a:lnTo>
                  <a:pt x="1526785" y="333937"/>
                </a:lnTo>
                <a:lnTo>
                  <a:pt x="1553290" y="370499"/>
                </a:lnTo>
                <a:lnTo>
                  <a:pt x="1577867" y="408485"/>
                </a:lnTo>
                <a:lnTo>
                  <a:pt x="1600444" y="447824"/>
                </a:lnTo>
                <a:lnTo>
                  <a:pt x="1620949" y="488445"/>
                </a:lnTo>
                <a:lnTo>
                  <a:pt x="1639312" y="530274"/>
                </a:lnTo>
                <a:lnTo>
                  <a:pt x="1655459" y="573241"/>
                </a:lnTo>
                <a:lnTo>
                  <a:pt x="1669319" y="617273"/>
                </a:lnTo>
                <a:lnTo>
                  <a:pt x="1680820" y="662299"/>
                </a:lnTo>
                <a:lnTo>
                  <a:pt x="1689891" y="708246"/>
                </a:lnTo>
                <a:lnTo>
                  <a:pt x="1696459" y="755043"/>
                </a:lnTo>
                <a:lnTo>
                  <a:pt x="1700452" y="802618"/>
                </a:lnTo>
                <a:lnTo>
                  <a:pt x="1701800" y="850900"/>
                </a:lnTo>
                <a:lnTo>
                  <a:pt x="1700452" y="899184"/>
                </a:lnTo>
                <a:lnTo>
                  <a:pt x="1696459" y="946763"/>
                </a:lnTo>
                <a:lnTo>
                  <a:pt x="1689891" y="993563"/>
                </a:lnTo>
                <a:lnTo>
                  <a:pt x="1680820" y="1039512"/>
                </a:lnTo>
                <a:lnTo>
                  <a:pt x="1669319" y="1084540"/>
                </a:lnTo>
                <a:lnTo>
                  <a:pt x="1655459" y="1128573"/>
                </a:lnTo>
                <a:lnTo>
                  <a:pt x="1639312" y="1171541"/>
                </a:lnTo>
                <a:lnTo>
                  <a:pt x="1620949" y="1213371"/>
                </a:lnTo>
                <a:lnTo>
                  <a:pt x="1600444" y="1253992"/>
                </a:lnTo>
                <a:lnTo>
                  <a:pt x="1577867" y="1293331"/>
                </a:lnTo>
                <a:lnTo>
                  <a:pt x="1553290" y="1331317"/>
                </a:lnTo>
                <a:lnTo>
                  <a:pt x="1526785" y="1367878"/>
                </a:lnTo>
                <a:lnTo>
                  <a:pt x="1498425" y="1402943"/>
                </a:lnTo>
                <a:lnTo>
                  <a:pt x="1468281" y="1436439"/>
                </a:lnTo>
                <a:lnTo>
                  <a:pt x="1436424" y="1468294"/>
                </a:lnTo>
                <a:lnTo>
                  <a:pt x="1402927" y="1498438"/>
                </a:lnTo>
                <a:lnTo>
                  <a:pt x="1367862" y="1526797"/>
                </a:lnTo>
                <a:lnTo>
                  <a:pt x="1331300" y="1553300"/>
                </a:lnTo>
                <a:lnTo>
                  <a:pt x="1293314" y="1577875"/>
                </a:lnTo>
                <a:lnTo>
                  <a:pt x="1253975" y="1600451"/>
                </a:lnTo>
                <a:lnTo>
                  <a:pt x="1213354" y="1620956"/>
                </a:lnTo>
                <a:lnTo>
                  <a:pt x="1171525" y="1639317"/>
                </a:lnTo>
                <a:lnTo>
                  <a:pt x="1128558" y="1655463"/>
                </a:lnTo>
                <a:lnTo>
                  <a:pt x="1084526" y="1669322"/>
                </a:lnTo>
                <a:lnTo>
                  <a:pt x="1039500" y="1680822"/>
                </a:lnTo>
                <a:lnTo>
                  <a:pt x="993553" y="1689892"/>
                </a:lnTo>
                <a:lnTo>
                  <a:pt x="946756" y="1696459"/>
                </a:lnTo>
                <a:lnTo>
                  <a:pt x="899181" y="1700453"/>
                </a:lnTo>
                <a:lnTo>
                  <a:pt x="850900" y="1701800"/>
                </a:lnTo>
                <a:lnTo>
                  <a:pt x="802618" y="1700453"/>
                </a:lnTo>
                <a:lnTo>
                  <a:pt x="755043" y="1696459"/>
                </a:lnTo>
                <a:lnTo>
                  <a:pt x="708246" y="1689892"/>
                </a:lnTo>
                <a:lnTo>
                  <a:pt x="662299" y="1680822"/>
                </a:lnTo>
                <a:lnTo>
                  <a:pt x="617273" y="1669322"/>
                </a:lnTo>
                <a:lnTo>
                  <a:pt x="573241" y="1655463"/>
                </a:lnTo>
                <a:lnTo>
                  <a:pt x="530274" y="1639317"/>
                </a:lnTo>
                <a:lnTo>
                  <a:pt x="488445" y="1620956"/>
                </a:lnTo>
                <a:lnTo>
                  <a:pt x="447824" y="1600451"/>
                </a:lnTo>
                <a:lnTo>
                  <a:pt x="408485" y="1577875"/>
                </a:lnTo>
                <a:lnTo>
                  <a:pt x="370499" y="1553300"/>
                </a:lnTo>
                <a:lnTo>
                  <a:pt x="333937" y="1526797"/>
                </a:lnTo>
                <a:lnTo>
                  <a:pt x="298872" y="1498438"/>
                </a:lnTo>
                <a:lnTo>
                  <a:pt x="265375" y="1468294"/>
                </a:lnTo>
                <a:lnTo>
                  <a:pt x="233518" y="1436439"/>
                </a:lnTo>
                <a:lnTo>
                  <a:pt x="203374" y="1402943"/>
                </a:lnTo>
                <a:lnTo>
                  <a:pt x="175014" y="1367878"/>
                </a:lnTo>
                <a:lnTo>
                  <a:pt x="148509" y="1331317"/>
                </a:lnTo>
                <a:lnTo>
                  <a:pt x="123932" y="1293331"/>
                </a:lnTo>
                <a:lnTo>
                  <a:pt x="101355" y="1253992"/>
                </a:lnTo>
                <a:lnTo>
                  <a:pt x="80850" y="1213371"/>
                </a:lnTo>
                <a:lnTo>
                  <a:pt x="62487" y="1171541"/>
                </a:lnTo>
                <a:lnTo>
                  <a:pt x="46340" y="1128573"/>
                </a:lnTo>
                <a:lnTo>
                  <a:pt x="32480" y="1084540"/>
                </a:lnTo>
                <a:lnTo>
                  <a:pt x="20979" y="1039512"/>
                </a:lnTo>
                <a:lnTo>
                  <a:pt x="11908" y="993563"/>
                </a:lnTo>
                <a:lnTo>
                  <a:pt x="5340" y="946763"/>
                </a:lnTo>
                <a:lnTo>
                  <a:pt x="1347" y="899184"/>
                </a:lnTo>
                <a:lnTo>
                  <a:pt x="0" y="850900"/>
                </a:lnTo>
                <a:close/>
              </a:path>
            </a:pathLst>
          </a:custGeom>
          <a:ln w="50800">
            <a:solidFill>
              <a:srgbClr val="3E3E3E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4" name="object 34"/>
          <p:cNvSpPr txBox="1"/>
          <p:nvPr/>
        </p:nvSpPr>
        <p:spPr>
          <a:xfrm>
            <a:off x="4814602" y="3864769"/>
            <a:ext cx="730568" cy="5636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spcBef>
                <a:spcPts val="75"/>
              </a:spcBef>
            </a:pPr>
            <a:r>
              <a:rPr b="1" dirty="0">
                <a:solidFill>
                  <a:srgbClr val="3E3E3E"/>
                </a:solidFill>
                <a:latin typeface="Calibri"/>
                <a:cs typeface="Calibri"/>
              </a:rPr>
              <a:t>1.75x</a:t>
            </a:r>
            <a:endParaRPr>
              <a:latin typeface="Calibri"/>
              <a:cs typeface="Calibri"/>
            </a:endParaRPr>
          </a:p>
          <a:p>
            <a:pPr marR="3810" algn="ctr"/>
            <a:r>
              <a:rPr b="1" spc="-26" dirty="0">
                <a:solidFill>
                  <a:srgbClr val="3E3E3E"/>
                </a:solidFill>
                <a:latin typeface="Calibri"/>
                <a:cs typeface="Calibri"/>
              </a:rPr>
              <a:t>R</a:t>
            </a:r>
            <a:r>
              <a:rPr b="1" spc="-23" dirty="0">
                <a:solidFill>
                  <a:srgbClr val="3E3E3E"/>
                </a:solidFill>
                <a:latin typeface="Calibri"/>
                <a:cs typeface="Calibri"/>
              </a:rPr>
              <a:t>e</a:t>
            </a:r>
            <a:r>
              <a:rPr b="1" spc="-4" dirty="0">
                <a:solidFill>
                  <a:srgbClr val="3E3E3E"/>
                </a:solidFill>
                <a:latin typeface="Calibri"/>
                <a:cs typeface="Calibri"/>
              </a:rPr>
              <a:t>v</a:t>
            </a:r>
            <a:r>
              <a:rPr b="1" spc="-116" dirty="0">
                <a:solidFill>
                  <a:srgbClr val="3E3E3E"/>
                </a:solidFill>
                <a:latin typeface="Calibri"/>
                <a:cs typeface="Calibri"/>
              </a:rPr>
              <a:t>P</a:t>
            </a:r>
            <a:r>
              <a:rPr b="1" dirty="0">
                <a:solidFill>
                  <a:srgbClr val="3E3E3E"/>
                </a:solidFill>
                <a:latin typeface="Calibri"/>
                <a:cs typeface="Calibri"/>
              </a:rPr>
              <a:t>AR</a:t>
            </a:r>
            <a:endParaRPr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83304" y="4918233"/>
            <a:ext cx="1359694" cy="103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829"/>
              </a:lnSpc>
            </a:pPr>
            <a:r>
              <a:rPr sz="788" spc="4" dirty="0">
                <a:solidFill>
                  <a:srgbClr val="8B8B8B"/>
                </a:solidFill>
                <a:latin typeface="Calibri"/>
                <a:cs typeface="Calibri"/>
              </a:rPr>
              <a:t>© 2019 </a:t>
            </a:r>
            <a:r>
              <a:rPr sz="788" dirty="0">
                <a:solidFill>
                  <a:srgbClr val="8B8B8B"/>
                </a:solidFill>
                <a:latin typeface="Calibri"/>
                <a:cs typeface="Calibri"/>
              </a:rPr>
              <a:t>STR. All Rights</a:t>
            </a:r>
            <a:r>
              <a:rPr sz="788" spc="-41" dirty="0">
                <a:solidFill>
                  <a:srgbClr val="8B8B8B"/>
                </a:solidFill>
                <a:latin typeface="Calibri"/>
                <a:cs typeface="Calibri"/>
              </a:rPr>
              <a:t> </a:t>
            </a:r>
            <a:r>
              <a:rPr sz="788" dirty="0">
                <a:solidFill>
                  <a:srgbClr val="8B8B8B"/>
                </a:solidFill>
                <a:latin typeface="Calibri"/>
                <a:cs typeface="Calibri"/>
              </a:rPr>
              <a:t>Reserved.</a:t>
            </a:r>
            <a:endParaRPr sz="78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477AE0-CA19-494E-864D-FA9167EDD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92443"/>
          </a:xfrm>
        </p:spPr>
        <p:txBody>
          <a:bodyPr/>
          <a:lstStyle/>
          <a:p>
            <a:r>
              <a:rPr lang="en-US" sz="3200" dirty="0"/>
              <a:t>We have been preparing for this moment…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E452C6-20AB-4037-848A-4F8550A95A22}"/>
              </a:ext>
            </a:extLst>
          </p:cNvPr>
          <p:cNvSpPr txBox="1"/>
          <p:nvPr/>
        </p:nvSpPr>
        <p:spPr>
          <a:xfrm>
            <a:off x="685800" y="964347"/>
            <a:ext cx="8001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Franklin Gothic Book" panose="020B0503020102020204" pitchFamily="34" charset="0"/>
              </a:rPr>
              <a:t>The Sales Team has been working on deeper and higher order business</a:t>
            </a:r>
          </a:p>
          <a:p>
            <a:endParaRPr lang="en-US" sz="2800" dirty="0">
              <a:latin typeface="Franklin Gothic Book" panose="020B0503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Franklin Gothic Book" panose="020B0503020102020204" pitchFamily="34" charset="0"/>
              </a:rPr>
              <a:t>….Because of that we should have a larger pipeline of business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Franklin Gothic Book" panose="020B0503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Franklin Gothic Book" panose="020B0503020102020204" pitchFamily="34" charset="0"/>
              </a:rPr>
              <a:t>Strategic Revenue Management Team</a:t>
            </a:r>
          </a:p>
        </p:txBody>
      </p:sp>
    </p:spTree>
    <p:extLst>
      <p:ext uri="{BB962C8B-B14F-4D97-AF65-F5344CB8AC3E}">
        <p14:creationId xmlns:p14="http://schemas.microsoft.com/office/powerpoint/2010/main" val="1170013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hut Up - Penguin Slap">
            <a:hlinkClick r:id="" action="ppaction://media"/>
            <a:extLst>
              <a:ext uri="{FF2B5EF4-FFF2-40B4-BE49-F238E27FC236}">
                <a16:creationId xmlns:a16="http://schemas.microsoft.com/office/drawing/2014/main" id="{0A18758D-9481-479D-AFC8-922F559496B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-10886"/>
            <a:ext cx="9143999" cy="517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35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5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2AF43-1F00-4A47-9A38-A57D0BB4F0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230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6D4CE-63EA-493F-95B4-1DE145925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Readiness?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F0078A-2532-41A1-9795-D299FDB85497}"/>
              </a:ext>
            </a:extLst>
          </p:cNvPr>
          <p:cNvSpPr txBox="1"/>
          <p:nvPr/>
        </p:nvSpPr>
        <p:spPr>
          <a:xfrm>
            <a:off x="1066800" y="1047750"/>
            <a:ext cx="739140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Book" panose="020B0503020102020204" pitchFamily="34" charset="0"/>
              </a:rPr>
              <a:t>Having the right mind-set</a:t>
            </a:r>
          </a:p>
          <a:p>
            <a:endParaRPr lang="en-US" sz="2400" dirty="0">
              <a:latin typeface="Franklin Gothic Book" panose="020B0503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Book" panose="020B0503020102020204" pitchFamily="34" charset="0"/>
              </a:rPr>
              <a:t>Take a look at the top and target accounts at the hotel.     Do we have deeper relationships beyond the travel or meeting planner?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Franklin Gothic Book" panose="020B05030201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Franklin Gothic Book" panose="020B0503020102020204" pitchFamily="34" charset="0"/>
              </a:rPr>
              <a:t>Have a conversations looking at </a:t>
            </a:r>
            <a:r>
              <a:rPr lang="en-US" sz="2400" dirty="0" err="1">
                <a:latin typeface="Franklin Gothic Book" panose="020B0503020102020204" pitchFamily="34" charset="0"/>
              </a:rPr>
              <a:t>VUCA</a:t>
            </a:r>
            <a:r>
              <a:rPr lang="en-US" sz="2400" dirty="0">
                <a:latin typeface="Franklin Gothic Book" panose="020B0503020102020204" pitchFamily="34" charset="0"/>
              </a:rPr>
              <a:t>, exposure, and strategy within the power team of Operations - Sales – Revenue Management </a:t>
            </a:r>
            <a:r>
              <a:rPr lang="en-US" sz="2400" i="1" u="sng" dirty="0">
                <a:latin typeface="Franklin Gothic Book" panose="020B0503020102020204" pitchFamily="34" charset="0"/>
              </a:rPr>
              <a:t>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483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 descr="shutterstock_330442775.jpg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" b="1185"/>
          <a:stretch>
            <a:fillRect/>
          </a:stretch>
        </p:blipFill>
        <p:spPr>
          <a:xfrm>
            <a:off x="0" y="685800"/>
            <a:ext cx="9144000" cy="4457700"/>
          </a:xfr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6467" y="120650"/>
            <a:ext cx="7995798" cy="438150"/>
          </a:xfrm>
          <a:pattFill prst="dotDmnd">
            <a:fgClr>
              <a:schemeClr val="bg1">
                <a:lumMod val="65000"/>
              </a:schemeClr>
            </a:fgClr>
            <a:bgClr>
              <a:schemeClr val="bg1">
                <a:lumMod val="85000"/>
              </a:schemeClr>
            </a:bgClr>
          </a:pattFill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THANK YOU!</a:t>
            </a:r>
          </a:p>
        </p:txBody>
      </p:sp>
      <p:sp>
        <p:nvSpPr>
          <p:cNvPr id="30" name="Rectangle 9"/>
          <p:cNvSpPr>
            <a:spLocks noChangeArrowheads="1"/>
          </p:cNvSpPr>
          <p:nvPr/>
        </p:nvSpPr>
        <p:spPr bwMode="gray">
          <a:xfrm>
            <a:off x="355601" y="387350"/>
            <a:ext cx="8544929" cy="532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EAEAEA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53882" dir="2700000" algn="ctr" rotWithShape="0">
                    <a:srgbClr val="B2B2B2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108000" tIns="108000" rIns="72000" bIns="72000" anchor="t" anchorCtr="0"/>
          <a:lstStyle/>
          <a:p>
            <a:pPr eaLnBrk="1" hangingPunct="1">
              <a:lnSpc>
                <a:spcPct val="90000"/>
              </a:lnSpc>
              <a:spcBef>
                <a:spcPct val="25000"/>
              </a:spcBef>
              <a:defRPr/>
            </a:pPr>
            <a:endParaRPr lang="en-US" noProof="1">
              <a:latin typeface="Avenir Medium"/>
              <a:cs typeface="Avenir Medium"/>
            </a:endParaRPr>
          </a:p>
          <a:p>
            <a:pPr marL="171450" indent="-171450">
              <a:lnSpc>
                <a:spcPct val="90000"/>
              </a:lnSpc>
              <a:spcBef>
                <a:spcPct val="25000"/>
              </a:spcBef>
              <a:buFont typeface="Arial" charset="0"/>
              <a:buChar char="•"/>
              <a:defRPr/>
            </a:pPr>
            <a:endParaRPr lang="en-US" sz="2400" noProof="1">
              <a:latin typeface="Avenir Medium"/>
              <a:cs typeface="Avenir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86851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409FC017C7BF40961EF880411E08B5" ma:contentTypeVersion="13" ma:contentTypeDescription="Create a new document." ma:contentTypeScope="" ma:versionID="b5bca213ef9ff2908ccf7086a37359b6">
  <xsd:schema xmlns:xsd="http://www.w3.org/2001/XMLSchema" xmlns:xs="http://www.w3.org/2001/XMLSchema" xmlns:p="http://schemas.microsoft.com/office/2006/metadata/properties" xmlns:ns2="5f895480-74b7-4295-beb1-000abdb77711" xmlns:ns3="f9f3b592-2a1e-4fc9-8218-81ad9cd05aa6" targetNamespace="http://schemas.microsoft.com/office/2006/metadata/properties" ma:root="true" ma:fieldsID="dfe532681b131c6d2700ace22e453e6a" ns2:_="" ns3:_="">
    <xsd:import namespace="5f895480-74b7-4295-beb1-000abdb77711"/>
    <xsd:import namespace="f9f3b592-2a1e-4fc9-8218-81ad9cd05a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895480-74b7-4295-beb1-000abdb777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f3b592-2a1e-4fc9-8218-81ad9cd05aa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83C676-404B-4786-9422-0F560B5C59AE}"/>
</file>

<file path=customXml/itemProps2.xml><?xml version="1.0" encoding="utf-8"?>
<ds:datastoreItem xmlns:ds="http://schemas.openxmlformats.org/officeDocument/2006/customXml" ds:itemID="{67B3FAD2-7AB5-4ED3-9666-41FDDA0BEB0E}"/>
</file>

<file path=customXml/itemProps3.xml><?xml version="1.0" encoding="utf-8"?>
<ds:datastoreItem xmlns:ds="http://schemas.openxmlformats.org/officeDocument/2006/customXml" ds:itemID="{02E63277-77CC-4585-8236-AB76C2F5585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2290</TotalTime>
  <Words>723</Words>
  <Application>Microsoft Macintosh PowerPoint</Application>
  <PresentationFormat>On-screen Show (16:9)</PresentationFormat>
  <Paragraphs>307</Paragraphs>
  <Slides>20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ＭＳ 明朝</vt:lpstr>
      <vt:lpstr>Arial</vt:lpstr>
      <vt:lpstr>Avenir Medium</vt:lpstr>
      <vt:lpstr>Calibri</vt:lpstr>
      <vt:lpstr>Franklin Gothic Book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ADR Pricing Psychology in a Downturn</vt:lpstr>
      <vt:lpstr>Sample Chicago Comp Set</vt:lpstr>
      <vt:lpstr>PowerPoint Presentation</vt:lpstr>
      <vt:lpstr>All Chicago Comp Sets</vt:lpstr>
      <vt:lpstr>PowerPoint Presentation</vt:lpstr>
      <vt:lpstr>3rd and 4th Hotels Were Willing to Sustain Double the Occupancy Loss</vt:lpstr>
      <vt:lpstr>Did any hotels not drop ADR?</vt:lpstr>
      <vt:lpstr>Hotels That Didn’t Slash ADR Lost More Demand…</vt:lpstr>
      <vt:lpstr>…But Experienced Less Extreme RevPAR Declines</vt:lpstr>
      <vt:lpstr>Labor Costs and Profits in a Downturn</vt:lpstr>
      <vt:lpstr>Demand, Revenue Declines led to Amplified  Profit Declines in 2009</vt:lpstr>
      <vt:lpstr>Similar Performance in 2001, although declines  were less extreme</vt:lpstr>
      <vt:lpstr>We have been preparing for this moment…</vt:lpstr>
      <vt:lpstr>PowerPoint Presentation</vt:lpstr>
      <vt:lpstr>PowerPoint Presentation</vt:lpstr>
      <vt:lpstr>Readiness? </vt:lpstr>
      <vt:lpstr>THANK YOU!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Kate Burda</cp:lastModifiedBy>
  <cp:revision>161</cp:revision>
  <cp:lastPrinted>2017-07-14T14:02:36Z</cp:lastPrinted>
  <dcterms:created xsi:type="dcterms:W3CDTF">2017-06-26T23:27:42Z</dcterms:created>
  <dcterms:modified xsi:type="dcterms:W3CDTF">2019-10-28T17:36:12Z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0x01010075409FC017C7BF40961EF880411E08B5</vt:lpwstr>
  </property>
</Properties>
</file>