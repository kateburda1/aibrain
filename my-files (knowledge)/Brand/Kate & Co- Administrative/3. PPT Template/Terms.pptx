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-172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printerSettings" Target="printerSettings/printerSettings1.bin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8CA4-C28F-9E4F-B478-CDC8CC26E7C3}" type="datetimeFigureOut">
              <a:rPr lang="en-US" smtClean="0"/>
              <a:t>11/7/16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A0D40-4266-4943-9DDC-89EC6D5F8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626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8CA4-C28F-9E4F-B478-CDC8CC26E7C3}" type="datetimeFigureOut">
              <a:rPr lang="en-US" smtClean="0"/>
              <a:t>11/7/16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A0D40-4266-4943-9DDC-89EC6D5F8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02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8CA4-C28F-9E4F-B478-CDC8CC26E7C3}" type="datetimeFigureOut">
              <a:rPr lang="en-US" smtClean="0"/>
              <a:t>11/7/16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A0D40-4266-4943-9DDC-89EC6D5F8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20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8CA4-C28F-9E4F-B478-CDC8CC26E7C3}" type="datetimeFigureOut">
              <a:rPr lang="en-US" smtClean="0"/>
              <a:t>11/7/16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A0D40-4266-4943-9DDC-89EC6D5F8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789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8CA4-C28F-9E4F-B478-CDC8CC26E7C3}" type="datetimeFigureOut">
              <a:rPr lang="en-US" smtClean="0"/>
              <a:t>11/7/16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A0D40-4266-4943-9DDC-89EC6D5F8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822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8CA4-C28F-9E4F-B478-CDC8CC26E7C3}" type="datetimeFigureOut">
              <a:rPr lang="en-US" smtClean="0"/>
              <a:t>11/7/16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A0D40-4266-4943-9DDC-89EC6D5F8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664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8CA4-C28F-9E4F-B478-CDC8CC26E7C3}" type="datetimeFigureOut">
              <a:rPr lang="en-US" smtClean="0"/>
              <a:t>11/7/16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A0D40-4266-4943-9DDC-89EC6D5F8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220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8CA4-C28F-9E4F-B478-CDC8CC26E7C3}" type="datetimeFigureOut">
              <a:rPr lang="en-US" smtClean="0"/>
              <a:t>11/7/16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A0D40-4266-4943-9DDC-89EC6D5F8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547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8CA4-C28F-9E4F-B478-CDC8CC26E7C3}" type="datetimeFigureOut">
              <a:rPr lang="en-US" smtClean="0"/>
              <a:t>11/7/16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A0D40-4266-4943-9DDC-89EC6D5F8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484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8CA4-C28F-9E4F-B478-CDC8CC26E7C3}" type="datetimeFigureOut">
              <a:rPr lang="en-US" smtClean="0"/>
              <a:t>11/7/16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A0D40-4266-4943-9DDC-89EC6D5F8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376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8CA4-C28F-9E4F-B478-CDC8CC26E7C3}" type="datetimeFigureOut">
              <a:rPr lang="en-US" smtClean="0"/>
              <a:t>11/7/16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A0D40-4266-4943-9DDC-89EC6D5F8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223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88CA4-C28F-9E4F-B478-CDC8CC26E7C3}" type="datetimeFigureOut">
              <a:rPr lang="en-US" smtClean="0"/>
              <a:t>11/7/16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2A0D40-4266-4943-9DDC-89EC6D5F8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849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671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4000" cy="660400"/>
          </a:xfrm>
          <a:custGeom>
            <a:avLst/>
            <a:gdLst/>
            <a:ahLst/>
            <a:cxnLst/>
            <a:rect l="l" t="t" r="r" b="b"/>
            <a:pathLst>
              <a:path w="9144000" h="660400">
                <a:moveTo>
                  <a:pt x="0" y="0"/>
                </a:moveTo>
                <a:lnTo>
                  <a:pt x="9143998" y="0"/>
                </a:lnTo>
                <a:lnTo>
                  <a:pt x="9143998" y="660398"/>
                </a:lnTo>
                <a:lnTo>
                  <a:pt x="0" y="66039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1"/>
            <a:ext cx="9143998" cy="6603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94785"/>
            <a:ext cx="914400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5780">
              <a:lnSpc>
                <a:spcPct val="100000"/>
              </a:lnSpc>
            </a:pPr>
            <a:r>
              <a:rPr sz="3200" spc="-25" dirty="0"/>
              <a:t>Revenue </a:t>
            </a:r>
            <a:r>
              <a:rPr sz="3200" spc="-5" dirty="0"/>
              <a:t>Performance</a:t>
            </a:r>
            <a:r>
              <a:rPr sz="3200" spc="-15" dirty="0"/>
              <a:t> Investment</a:t>
            </a:r>
            <a:endParaRPr sz="3200" dirty="0"/>
          </a:p>
        </p:txBody>
      </p:sp>
      <p:sp>
        <p:nvSpPr>
          <p:cNvPr id="5" name="object 5"/>
          <p:cNvSpPr txBox="1"/>
          <p:nvPr/>
        </p:nvSpPr>
        <p:spPr>
          <a:xfrm>
            <a:off x="427692" y="752225"/>
            <a:ext cx="6939915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85115" algn="l"/>
              </a:tabLst>
            </a:pPr>
            <a:r>
              <a:rPr sz="1600" dirty="0">
                <a:latin typeface="Arial"/>
                <a:cs typeface="Arial"/>
              </a:rPr>
              <a:t>•</a:t>
            </a:r>
            <a:r>
              <a:rPr sz="1600" dirty="0">
                <a:latin typeface="Helvetica"/>
                <a:cs typeface="Helvetica"/>
              </a:rPr>
              <a:t> 	</a:t>
            </a:r>
            <a:r>
              <a:rPr sz="1400" dirty="0">
                <a:latin typeface="Franklin Gothic Book"/>
                <a:cs typeface="Franklin Gothic Book"/>
              </a:rPr>
              <a:t>Engagement is based upon </a:t>
            </a:r>
            <a:r>
              <a:rPr sz="1400" spc="-5" dirty="0">
                <a:latin typeface="Franklin Gothic Book"/>
                <a:cs typeface="Franklin Gothic Book"/>
              </a:rPr>
              <a:t>monthly retainer </a:t>
            </a:r>
            <a:r>
              <a:rPr sz="1400" dirty="0">
                <a:latin typeface="Franklin Gothic Book"/>
                <a:cs typeface="Franklin Gothic Book"/>
              </a:rPr>
              <a:t>of </a:t>
            </a:r>
            <a:r>
              <a:rPr sz="1400" spc="-10" dirty="0">
                <a:latin typeface="Franklin Gothic Book"/>
                <a:cs typeface="Franklin Gothic Book"/>
              </a:rPr>
              <a:t>work </a:t>
            </a:r>
            <a:r>
              <a:rPr sz="1400" dirty="0">
                <a:latin typeface="Franklin Gothic Book"/>
                <a:cs typeface="Franklin Gothic Book"/>
              </a:rPr>
              <a:t>outlined in Scope of </a:t>
            </a:r>
            <a:r>
              <a:rPr sz="1400" spc="-10" dirty="0">
                <a:latin typeface="Franklin Gothic Book"/>
                <a:cs typeface="Franklin Gothic Book"/>
              </a:rPr>
              <a:t>Work/</a:t>
            </a:r>
            <a:r>
              <a:rPr sz="1400" dirty="0">
                <a:latin typeface="Franklin Gothic Book"/>
                <a:cs typeface="Franklin Gothic Book"/>
              </a:rPr>
              <a:t> </a:t>
            </a:r>
            <a:r>
              <a:rPr sz="1400" spc="-5" dirty="0" smtClean="0">
                <a:latin typeface="Franklin Gothic Book"/>
                <a:cs typeface="Franklin Gothic Book"/>
              </a:rPr>
              <a:t>Proposal</a:t>
            </a:r>
            <a:endParaRPr sz="1400" dirty="0">
              <a:latin typeface="Franklin Gothic Book"/>
              <a:cs typeface="Franklin Gothic Book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450899" y="1153985"/>
            <a:ext cx="8229600" cy="1586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7815" marR="564515" indent="-285750">
              <a:lnSpc>
                <a:spcPct val="113100"/>
              </a:lnSpc>
            </a:pPr>
            <a:r>
              <a:rPr sz="1400" spc="-5" dirty="0">
                <a:latin typeface="Franklin Gothic Book"/>
                <a:cs typeface="Franklin Gothic Book"/>
              </a:rPr>
              <a:t>Monthly retainer </a:t>
            </a:r>
            <a:r>
              <a:rPr sz="1400" dirty="0">
                <a:latin typeface="Franklin Gothic Book"/>
                <a:cs typeface="Franklin Gothic Book"/>
              </a:rPr>
              <a:t>is $6800, this includes; one </a:t>
            </a:r>
            <a:r>
              <a:rPr sz="1400" spc="-5" dirty="0">
                <a:latin typeface="Franklin Gothic Book"/>
                <a:cs typeface="Franklin Gothic Book"/>
              </a:rPr>
              <a:t>week </a:t>
            </a:r>
            <a:r>
              <a:rPr sz="1400" dirty="0">
                <a:latin typeface="Franklin Gothic Book"/>
                <a:cs typeface="Franklin Gothic Book"/>
              </a:rPr>
              <a:t>of </a:t>
            </a:r>
            <a:r>
              <a:rPr sz="1400" spc="-5" dirty="0">
                <a:latin typeface="Franklin Gothic Book"/>
                <a:cs typeface="Franklin Gothic Book"/>
              </a:rPr>
              <a:t>on-site </a:t>
            </a:r>
            <a:r>
              <a:rPr sz="1400" spc="-5" dirty="0" smtClean="0">
                <a:latin typeface="Franklin Gothic Book"/>
                <a:cs typeface="Franklin Gothic Book"/>
              </a:rPr>
              <a:t>work</a:t>
            </a:r>
            <a:r>
              <a:rPr lang="en-US" sz="1400" spc="-5" dirty="0" smtClean="0">
                <a:latin typeface="Franklin Gothic Book"/>
                <a:cs typeface="Franklin Gothic Book"/>
              </a:rPr>
              <a:t> </a:t>
            </a:r>
            <a:r>
              <a:rPr sz="1400" spc="-5" dirty="0" smtClean="0">
                <a:latin typeface="Franklin Gothic Book"/>
                <a:cs typeface="Franklin Gothic Book"/>
              </a:rPr>
              <a:t>, </a:t>
            </a:r>
            <a:r>
              <a:rPr sz="1400" dirty="0">
                <a:latin typeface="Franklin Gothic Book"/>
                <a:cs typeface="Franklin Gothic Book"/>
              </a:rPr>
              <a:t>one-on-one calls with </a:t>
            </a:r>
            <a:r>
              <a:rPr sz="1400" spc="-10" dirty="0">
                <a:latin typeface="Franklin Gothic Book"/>
                <a:cs typeface="Franklin Gothic Book"/>
              </a:rPr>
              <a:t>team  </a:t>
            </a:r>
            <a:r>
              <a:rPr sz="1400" dirty="0">
                <a:latin typeface="Franklin Gothic Book"/>
                <a:cs typeface="Franklin Gothic Book"/>
              </a:rPr>
              <a:t>members </a:t>
            </a:r>
            <a:r>
              <a:rPr sz="1400" spc="-10" dirty="0">
                <a:latin typeface="Franklin Gothic Book"/>
                <a:cs typeface="Franklin Gothic Book"/>
              </a:rPr>
              <a:t>bi-weekly, </a:t>
            </a:r>
            <a:r>
              <a:rPr sz="1400" dirty="0">
                <a:latin typeface="Franklin Gothic Book"/>
                <a:cs typeface="Franklin Gothic Book"/>
              </a:rPr>
              <a:t>preparation, </a:t>
            </a:r>
            <a:r>
              <a:rPr sz="1400" spc="-10" dirty="0">
                <a:latin typeface="Franklin Gothic Book"/>
                <a:cs typeface="Franklin Gothic Book"/>
              </a:rPr>
              <a:t>follow </a:t>
            </a:r>
            <a:r>
              <a:rPr sz="1400" dirty="0">
                <a:latin typeface="Franklin Gothic Book"/>
                <a:cs typeface="Franklin Gothic Book"/>
              </a:rPr>
              <a:t>up, and </a:t>
            </a:r>
            <a:r>
              <a:rPr sz="1400" spc="-5" dirty="0">
                <a:latin typeface="Franklin Gothic Book"/>
                <a:cs typeface="Franklin Gothic Book"/>
              </a:rPr>
              <a:t>development</a:t>
            </a:r>
            <a:r>
              <a:rPr sz="1400" spc="-55" dirty="0">
                <a:latin typeface="Franklin Gothic Book"/>
                <a:cs typeface="Franklin Gothic Book"/>
              </a:rPr>
              <a:t> </a:t>
            </a:r>
            <a:r>
              <a:rPr sz="1400" dirty="0">
                <a:latin typeface="Franklin Gothic Book"/>
                <a:cs typeface="Franklin Gothic Book"/>
              </a:rPr>
              <a:t>time</a:t>
            </a:r>
            <a:r>
              <a:rPr sz="1400" dirty="0" smtClean="0">
                <a:latin typeface="Franklin Gothic Book"/>
                <a:cs typeface="Franklin Gothic Book"/>
              </a:rPr>
              <a:t>.</a:t>
            </a:r>
            <a:endParaRPr lang="en-US" sz="1400" dirty="0" smtClean="0">
              <a:latin typeface="Franklin Gothic Book"/>
              <a:cs typeface="Franklin Gothic Book"/>
            </a:endParaRPr>
          </a:p>
          <a:p>
            <a:pPr marL="697865" marR="564515" lvl="1">
              <a:lnSpc>
                <a:spcPct val="113100"/>
              </a:lnSpc>
            </a:pPr>
            <a:r>
              <a:rPr sz="1400" spc="-5" dirty="0" smtClean="0">
                <a:latin typeface="Franklin Gothic Book"/>
                <a:cs typeface="Franklin Gothic Book"/>
              </a:rPr>
              <a:t>Retainer </a:t>
            </a:r>
            <a:r>
              <a:rPr sz="1400" dirty="0">
                <a:latin typeface="Franklin Gothic Book"/>
                <a:cs typeface="Franklin Gothic Book"/>
              </a:rPr>
              <a:t>billed </a:t>
            </a:r>
            <a:r>
              <a:rPr sz="1400" spc="-10" dirty="0">
                <a:latin typeface="Franklin Gothic Book"/>
                <a:cs typeface="Franklin Gothic Book"/>
              </a:rPr>
              <a:t>monthly, </a:t>
            </a:r>
            <a:r>
              <a:rPr sz="1400" spc="-5" dirty="0">
                <a:latin typeface="Franklin Gothic Book"/>
                <a:cs typeface="Franklin Gothic Book"/>
              </a:rPr>
              <a:t>preferrably through automatic</a:t>
            </a:r>
            <a:r>
              <a:rPr sz="1400" dirty="0">
                <a:latin typeface="Franklin Gothic Book"/>
                <a:cs typeface="Franklin Gothic Book"/>
              </a:rPr>
              <a:t> </a:t>
            </a:r>
            <a:r>
              <a:rPr sz="1400" dirty="0" smtClean="0">
                <a:latin typeface="Franklin Gothic Book"/>
                <a:cs typeface="Franklin Gothic Book"/>
              </a:rPr>
              <a:t>deposit.</a:t>
            </a:r>
            <a:endParaRPr lang="en-US" sz="1400" dirty="0" smtClean="0">
              <a:latin typeface="Franklin Gothic Book"/>
              <a:cs typeface="Franklin Gothic Book"/>
            </a:endParaRPr>
          </a:p>
          <a:p>
            <a:pPr marL="697865" marR="564515" lvl="1">
              <a:lnSpc>
                <a:spcPct val="113100"/>
              </a:lnSpc>
            </a:pPr>
            <a:r>
              <a:rPr sz="1400" spc="-5" dirty="0" smtClean="0">
                <a:latin typeface="Franklin Gothic Book"/>
                <a:cs typeface="Franklin Gothic Book"/>
              </a:rPr>
              <a:t>Monthly </a:t>
            </a:r>
            <a:r>
              <a:rPr sz="1400" spc="-5" dirty="0">
                <a:latin typeface="Franklin Gothic Book"/>
                <a:cs typeface="Franklin Gothic Book"/>
              </a:rPr>
              <a:t>retainer </a:t>
            </a:r>
            <a:r>
              <a:rPr sz="1400" dirty="0">
                <a:latin typeface="Franklin Gothic Book"/>
                <a:cs typeface="Franklin Gothic Book"/>
              </a:rPr>
              <a:t>does </a:t>
            </a:r>
            <a:r>
              <a:rPr sz="1400" spc="-5" dirty="0">
                <a:latin typeface="Franklin Gothic Book"/>
                <a:cs typeface="Franklin Gothic Book"/>
              </a:rPr>
              <a:t>not </a:t>
            </a:r>
            <a:r>
              <a:rPr sz="1400" dirty="0">
                <a:latin typeface="Franklin Gothic Book"/>
                <a:cs typeface="Franklin Gothic Book"/>
              </a:rPr>
              <a:t>include </a:t>
            </a:r>
            <a:r>
              <a:rPr sz="1400" spc="-10" dirty="0">
                <a:latin typeface="Franklin Gothic Book"/>
                <a:cs typeface="Franklin Gothic Book"/>
              </a:rPr>
              <a:t>travel </a:t>
            </a:r>
            <a:r>
              <a:rPr sz="1400" spc="-5" dirty="0">
                <a:latin typeface="Franklin Gothic Book"/>
                <a:cs typeface="Franklin Gothic Book"/>
              </a:rPr>
              <a:t>expenses </a:t>
            </a:r>
            <a:r>
              <a:rPr sz="1400" spc="-15" dirty="0">
                <a:latin typeface="Franklin Gothic Book"/>
                <a:cs typeface="Franklin Gothic Book"/>
              </a:rPr>
              <a:t>for </a:t>
            </a:r>
            <a:r>
              <a:rPr sz="1400" dirty="0">
                <a:latin typeface="Franklin Gothic Book"/>
                <a:cs typeface="Franklin Gothic Book"/>
              </a:rPr>
              <a:t>the </a:t>
            </a:r>
            <a:r>
              <a:rPr sz="1400" spc="-5" dirty="0">
                <a:latin typeface="Franklin Gothic Book"/>
                <a:cs typeface="Franklin Gothic Book"/>
              </a:rPr>
              <a:t>on-site</a:t>
            </a:r>
            <a:r>
              <a:rPr sz="1400" spc="40" dirty="0">
                <a:latin typeface="Franklin Gothic Book"/>
                <a:cs typeface="Franklin Gothic Book"/>
              </a:rPr>
              <a:t> </a:t>
            </a:r>
            <a:r>
              <a:rPr sz="1400" spc="-5" dirty="0" smtClean="0">
                <a:latin typeface="Franklin Gothic Book"/>
                <a:cs typeface="Franklin Gothic Book"/>
              </a:rPr>
              <a:t>work.</a:t>
            </a:r>
            <a:endParaRPr lang="en-US" sz="1400" spc="-5" dirty="0" smtClean="0">
              <a:latin typeface="Franklin Gothic Book"/>
              <a:cs typeface="Franklin Gothic Book"/>
            </a:endParaRPr>
          </a:p>
          <a:p>
            <a:pPr marL="697865" marR="564515" lvl="1">
              <a:lnSpc>
                <a:spcPct val="113100"/>
              </a:lnSpc>
            </a:pPr>
            <a:r>
              <a:rPr sz="1400" dirty="0" smtClean="0">
                <a:latin typeface="Franklin Gothic Book"/>
                <a:cs typeface="Franklin Gothic Book"/>
              </a:rPr>
              <a:t>Other </a:t>
            </a:r>
            <a:r>
              <a:rPr sz="1400" spc="-10" dirty="0">
                <a:latin typeface="Franklin Gothic Book"/>
                <a:cs typeface="Franklin Gothic Book"/>
              </a:rPr>
              <a:t>work </a:t>
            </a:r>
            <a:r>
              <a:rPr sz="1400" dirty="0">
                <a:latin typeface="Franklin Gothic Book"/>
                <a:cs typeface="Franklin Gothic Book"/>
              </a:rPr>
              <a:t>that </a:t>
            </a:r>
            <a:r>
              <a:rPr sz="1400" spc="-15" dirty="0">
                <a:latin typeface="Franklin Gothic Book"/>
                <a:cs typeface="Franklin Gothic Book"/>
              </a:rPr>
              <a:t>may </a:t>
            </a:r>
            <a:r>
              <a:rPr sz="1400" dirty="0">
                <a:latin typeface="Franklin Gothic Book"/>
                <a:cs typeface="Franklin Gothic Book"/>
              </a:rPr>
              <a:t>present itself </a:t>
            </a:r>
            <a:r>
              <a:rPr sz="1400" spc="-5" dirty="0">
                <a:latin typeface="Franklin Gothic Book"/>
                <a:cs typeface="Franklin Gothic Book"/>
              </a:rPr>
              <a:t>through </a:t>
            </a:r>
            <a:r>
              <a:rPr sz="1400" dirty="0">
                <a:latin typeface="Franklin Gothic Book"/>
                <a:cs typeface="Franklin Gothic Book"/>
              </a:rPr>
              <a:t>engagement, but </a:t>
            </a:r>
            <a:r>
              <a:rPr sz="1400" spc="-5" dirty="0">
                <a:latin typeface="Franklin Gothic Book"/>
                <a:cs typeface="Franklin Gothic Book"/>
              </a:rPr>
              <a:t>not </a:t>
            </a:r>
            <a:r>
              <a:rPr sz="1400" dirty="0">
                <a:latin typeface="Franklin Gothic Book"/>
                <a:cs typeface="Franklin Gothic Book"/>
              </a:rPr>
              <a:t>within scope of </a:t>
            </a:r>
            <a:r>
              <a:rPr sz="1400" spc="-10" dirty="0">
                <a:latin typeface="Franklin Gothic Book"/>
                <a:cs typeface="Franklin Gothic Book"/>
              </a:rPr>
              <a:t>work </a:t>
            </a:r>
            <a:r>
              <a:rPr sz="1400" dirty="0">
                <a:latin typeface="Franklin Gothic Book"/>
                <a:cs typeface="Franklin Gothic Book"/>
              </a:rPr>
              <a:t>will be  </a:t>
            </a:r>
            <a:r>
              <a:rPr sz="1400" spc="-5" dirty="0">
                <a:latin typeface="Franklin Gothic Book"/>
                <a:cs typeface="Franklin Gothic Book"/>
              </a:rPr>
              <a:t>commmunicated, </a:t>
            </a:r>
            <a:r>
              <a:rPr sz="1400" dirty="0">
                <a:latin typeface="Franklin Gothic Book"/>
                <a:cs typeface="Franklin Gothic Book"/>
              </a:rPr>
              <a:t>agreed upon and billed</a:t>
            </a:r>
            <a:r>
              <a:rPr sz="1400" spc="-25" dirty="0">
                <a:latin typeface="Franklin Gothic Book"/>
                <a:cs typeface="Franklin Gothic Book"/>
              </a:rPr>
              <a:t> </a:t>
            </a:r>
            <a:r>
              <a:rPr sz="1400" spc="-10" dirty="0">
                <a:latin typeface="Franklin Gothic Book"/>
                <a:cs typeface="Franklin Gothic Book"/>
              </a:rPr>
              <a:t>seperately.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50899" y="2805704"/>
            <a:ext cx="8201025" cy="1385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00" marR="173355" indent="-279400">
              <a:lnSpc>
                <a:spcPts val="1480"/>
              </a:lnSpc>
              <a:tabLst>
                <a:tab pos="297815" algn="l"/>
              </a:tabLst>
            </a:pPr>
            <a:r>
              <a:rPr sz="1400" dirty="0">
                <a:latin typeface="Arial"/>
                <a:cs typeface="Arial"/>
              </a:rPr>
              <a:t>•</a:t>
            </a:r>
            <a:r>
              <a:rPr sz="1400" dirty="0">
                <a:latin typeface="Helvetica"/>
                <a:cs typeface="Helvetica"/>
              </a:rPr>
              <a:t> 		</a:t>
            </a:r>
            <a:r>
              <a:rPr sz="1400" dirty="0">
                <a:latin typeface="Franklin Gothic Book"/>
                <a:cs typeface="Franklin Gothic Book"/>
              </a:rPr>
              <a:t>Engagement also includes one-on-one </a:t>
            </a:r>
            <a:r>
              <a:rPr sz="1400" spc="-10" dirty="0">
                <a:latin typeface="Franklin Gothic Book"/>
                <a:cs typeface="Franklin Gothic Book"/>
              </a:rPr>
              <a:t>executive </a:t>
            </a:r>
            <a:r>
              <a:rPr sz="1400" spc="-15" dirty="0">
                <a:latin typeface="Franklin Gothic Book"/>
                <a:cs typeface="Franklin Gothic Book"/>
              </a:rPr>
              <a:t>level </a:t>
            </a:r>
            <a:r>
              <a:rPr sz="1400" dirty="0" smtClean="0">
                <a:latin typeface="Franklin Gothic Book"/>
                <a:cs typeface="Franklin Gothic Book"/>
              </a:rPr>
              <a:t>coaching</a:t>
            </a:r>
            <a:endParaRPr lang="en-US" sz="1400" dirty="0" smtClean="0">
              <a:latin typeface="Franklin Gothic Book"/>
              <a:cs typeface="Franklin Gothic Book"/>
            </a:endParaRPr>
          </a:p>
          <a:p>
            <a:pPr marL="292100" marR="173355" indent="-279400">
              <a:lnSpc>
                <a:spcPts val="1480"/>
              </a:lnSpc>
              <a:tabLst>
                <a:tab pos="297815" algn="l"/>
              </a:tabLst>
            </a:pPr>
            <a:endParaRPr sz="11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97815" algn="l"/>
              </a:tabLst>
            </a:pPr>
            <a:r>
              <a:rPr sz="1400" dirty="0">
                <a:latin typeface="Arial"/>
                <a:cs typeface="Arial"/>
              </a:rPr>
              <a:t>•</a:t>
            </a:r>
            <a:r>
              <a:rPr sz="1400" dirty="0">
                <a:latin typeface="Helvetica"/>
                <a:cs typeface="Helvetica"/>
              </a:rPr>
              <a:t> 	</a:t>
            </a:r>
            <a:r>
              <a:rPr sz="1400" dirty="0">
                <a:latin typeface="Franklin Gothic Book"/>
                <a:cs typeface="Franklin Gothic Book"/>
              </a:rPr>
              <a:t>Engagement will </a:t>
            </a:r>
            <a:r>
              <a:rPr sz="1400" spc="-5" dirty="0">
                <a:latin typeface="Franklin Gothic Book"/>
                <a:cs typeface="Franklin Gothic Book"/>
              </a:rPr>
              <a:t>neccessitate </a:t>
            </a:r>
            <a:r>
              <a:rPr sz="1400" dirty="0">
                <a:latin typeface="Franklin Gothic Book"/>
                <a:cs typeface="Franklin Gothic Book"/>
              </a:rPr>
              <a:t>access of </a:t>
            </a:r>
            <a:r>
              <a:rPr sz="1400" spc="-5" dirty="0">
                <a:latin typeface="Franklin Gothic Book"/>
                <a:cs typeface="Franklin Gothic Book"/>
              </a:rPr>
              <a:t>systems, tools, </a:t>
            </a:r>
            <a:r>
              <a:rPr sz="1400" dirty="0">
                <a:latin typeface="Franklin Gothic Book"/>
                <a:cs typeface="Franklin Gothic Book"/>
              </a:rPr>
              <a:t>and IT </a:t>
            </a:r>
            <a:r>
              <a:rPr sz="1400" spc="-10" dirty="0">
                <a:latin typeface="Franklin Gothic Book"/>
                <a:cs typeface="Franklin Gothic Book"/>
              </a:rPr>
              <a:t>team </a:t>
            </a:r>
            <a:r>
              <a:rPr sz="1400" dirty="0">
                <a:latin typeface="Franklin Gothic Book"/>
                <a:cs typeface="Franklin Gothic Book"/>
              </a:rPr>
              <a:t>members.</a:t>
            </a: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 dirty="0">
              <a:latin typeface="Times New Roman"/>
              <a:cs typeface="Times New Roman"/>
            </a:endParaRPr>
          </a:p>
          <a:p>
            <a:pPr marL="177800" marR="5080" indent="-165100">
              <a:lnSpc>
                <a:spcPct val="91700"/>
              </a:lnSpc>
              <a:tabLst>
                <a:tab pos="272415" algn="l"/>
                <a:tab pos="6443345" algn="l"/>
              </a:tabLst>
            </a:pPr>
            <a:r>
              <a:rPr sz="1400" dirty="0">
                <a:latin typeface="Arial"/>
                <a:cs typeface="Arial"/>
              </a:rPr>
              <a:t>•</a:t>
            </a:r>
            <a:r>
              <a:rPr sz="1400" dirty="0">
                <a:latin typeface="Helvetica"/>
                <a:cs typeface="Helvetica"/>
              </a:rPr>
              <a:t> 		</a:t>
            </a:r>
            <a:r>
              <a:rPr sz="1400" dirty="0">
                <a:latin typeface="Franklin Gothic Book"/>
                <a:cs typeface="Franklin Gothic Book"/>
              </a:rPr>
              <a:t>The</a:t>
            </a:r>
            <a:r>
              <a:rPr sz="1400" spc="-35" dirty="0">
                <a:latin typeface="Franklin Gothic Book"/>
                <a:cs typeface="Franklin Gothic Book"/>
              </a:rPr>
              <a:t> </a:t>
            </a:r>
            <a:r>
              <a:rPr sz="1400" spc="-10" dirty="0">
                <a:latin typeface="Franklin Gothic Book"/>
                <a:cs typeface="Franklin Gothic Book"/>
              </a:rPr>
              <a:t>expected</a:t>
            </a:r>
            <a:r>
              <a:rPr sz="1400" spc="-35" dirty="0">
                <a:latin typeface="Franklin Gothic Book"/>
                <a:cs typeface="Franklin Gothic Book"/>
              </a:rPr>
              <a:t> </a:t>
            </a:r>
            <a:r>
              <a:rPr sz="1400" dirty="0">
                <a:latin typeface="Franklin Gothic Book"/>
                <a:cs typeface="Franklin Gothic Book"/>
              </a:rPr>
              <a:t>time  frame of engagement is no </a:t>
            </a:r>
            <a:r>
              <a:rPr sz="1400" spc="-5" dirty="0">
                <a:latin typeface="Franklin Gothic Book"/>
                <a:cs typeface="Franklin Gothic Book"/>
              </a:rPr>
              <a:t>later </a:t>
            </a:r>
            <a:r>
              <a:rPr sz="1400" dirty="0">
                <a:latin typeface="Franklin Gothic Book"/>
                <a:cs typeface="Franklin Gothic Book"/>
              </a:rPr>
              <a:t>than </a:t>
            </a:r>
            <a:r>
              <a:rPr lang="en-US" sz="1400" spc="-5" dirty="0" smtClean="0">
                <a:latin typeface="Franklin Gothic Book"/>
                <a:cs typeface="Franklin Gothic Book"/>
              </a:rPr>
              <a:t>January 2017</a:t>
            </a:r>
            <a:r>
              <a:rPr sz="1400" spc="-25" dirty="0" smtClean="0">
                <a:latin typeface="Franklin Gothic Book"/>
                <a:cs typeface="Franklin Gothic Book"/>
              </a:rPr>
              <a:t>-</a:t>
            </a:r>
            <a:r>
              <a:rPr sz="1400" spc="35" dirty="0" smtClean="0">
                <a:latin typeface="Franklin Gothic Book"/>
                <a:cs typeface="Franklin Gothic Book"/>
              </a:rPr>
              <a:t> </a:t>
            </a:r>
            <a:r>
              <a:rPr lang="en-US" sz="1400" dirty="0" smtClean="0">
                <a:latin typeface="Franklin Gothic Book"/>
                <a:cs typeface="Franklin Gothic Book"/>
              </a:rPr>
              <a:t>December</a:t>
            </a:r>
            <a:r>
              <a:rPr sz="1400" dirty="0" smtClean="0">
                <a:latin typeface="Franklin Gothic Book"/>
                <a:cs typeface="Franklin Gothic Book"/>
              </a:rPr>
              <a:t> </a:t>
            </a:r>
            <a:r>
              <a:rPr sz="1400" spc="-65" dirty="0" smtClean="0">
                <a:latin typeface="Franklin Gothic Book"/>
                <a:cs typeface="Franklin Gothic Book"/>
              </a:rPr>
              <a:t>2017.</a:t>
            </a:r>
            <a:r>
              <a:rPr lang="en-US" sz="1400" spc="-65" dirty="0" smtClean="0">
                <a:latin typeface="Franklin Gothic Book"/>
                <a:cs typeface="Franklin Gothic Book"/>
              </a:rPr>
              <a:t> </a:t>
            </a:r>
            <a:r>
              <a:rPr lang="en-US" sz="1400" spc="-65" dirty="0">
                <a:latin typeface="Franklin Gothic Book"/>
                <a:cs typeface="Franklin Gothic Book"/>
              </a:rPr>
              <a:t> </a:t>
            </a:r>
            <a:r>
              <a:rPr lang="en-US" sz="1400" spc="-65" dirty="0" smtClean="0">
                <a:latin typeface="Franklin Gothic Book"/>
                <a:cs typeface="Franklin Gothic Book"/>
              </a:rPr>
              <a:t> </a:t>
            </a:r>
            <a:r>
              <a:rPr sz="1400" dirty="0" smtClean="0">
                <a:latin typeface="Franklin Gothic Book"/>
                <a:cs typeface="Franklin Gothic Book"/>
              </a:rPr>
              <a:t>The </a:t>
            </a:r>
            <a:r>
              <a:rPr sz="1400" dirty="0">
                <a:latin typeface="Franklin Gothic Book"/>
                <a:cs typeface="Franklin Gothic Book"/>
              </a:rPr>
              <a:t>timeline</a:t>
            </a:r>
            <a:r>
              <a:rPr sz="1400" spc="-70" dirty="0">
                <a:latin typeface="Franklin Gothic Book"/>
                <a:cs typeface="Franklin Gothic Book"/>
              </a:rPr>
              <a:t> </a:t>
            </a:r>
            <a:r>
              <a:rPr sz="1400" dirty="0">
                <a:latin typeface="Franklin Gothic Book"/>
                <a:cs typeface="Franklin Gothic Book"/>
              </a:rPr>
              <a:t>outlined</a:t>
            </a:r>
            <a:r>
              <a:rPr sz="1400" spc="-35" dirty="0">
                <a:latin typeface="Franklin Gothic Book"/>
                <a:cs typeface="Franklin Gothic Book"/>
              </a:rPr>
              <a:t> </a:t>
            </a:r>
            <a:r>
              <a:rPr sz="1400" dirty="0">
                <a:latin typeface="Franklin Gothic Book"/>
                <a:cs typeface="Franklin Gothic Book"/>
              </a:rPr>
              <a:t>is  </a:t>
            </a:r>
            <a:r>
              <a:rPr sz="1400" spc="-10" dirty="0">
                <a:latin typeface="Franklin Gothic Book"/>
                <a:cs typeface="Franklin Gothic Book"/>
              </a:rPr>
              <a:t>projected </a:t>
            </a:r>
            <a:r>
              <a:rPr sz="1400" dirty="0">
                <a:latin typeface="Franklin Gothic Book"/>
                <a:cs typeface="Franklin Gothic Book"/>
              </a:rPr>
              <a:t>and </a:t>
            </a:r>
            <a:r>
              <a:rPr sz="1400" spc="-5" dirty="0">
                <a:latin typeface="Franklin Gothic Book"/>
                <a:cs typeface="Franklin Gothic Book"/>
              </a:rPr>
              <a:t>anticipated </a:t>
            </a:r>
            <a:r>
              <a:rPr sz="1400" spc="-15" dirty="0">
                <a:latin typeface="Franklin Gothic Book"/>
                <a:cs typeface="Franklin Gothic Book"/>
              </a:rPr>
              <a:t>to </a:t>
            </a:r>
            <a:r>
              <a:rPr sz="1400" spc="-10" dirty="0">
                <a:latin typeface="Franklin Gothic Book"/>
                <a:cs typeface="Franklin Gothic Book"/>
              </a:rPr>
              <a:t>take twelve </a:t>
            </a:r>
            <a:r>
              <a:rPr sz="1400" dirty="0">
                <a:latin typeface="Franklin Gothic Book"/>
                <a:cs typeface="Franklin Gothic Book"/>
              </a:rPr>
              <a:t>months </a:t>
            </a:r>
            <a:r>
              <a:rPr sz="1400" spc="-5" dirty="0">
                <a:latin typeface="Franklin Gothic Book"/>
                <a:cs typeface="Franklin Gothic Book"/>
              </a:rPr>
              <a:t>given robust </a:t>
            </a:r>
            <a:r>
              <a:rPr sz="1400" dirty="0">
                <a:latin typeface="Franklin Gothic Book"/>
                <a:cs typeface="Franklin Gothic Book"/>
              </a:rPr>
              <a:t>nature of </a:t>
            </a:r>
            <a:r>
              <a:rPr sz="1400" spc="-5" dirty="0">
                <a:latin typeface="Franklin Gothic Book"/>
                <a:cs typeface="Franklin Gothic Book"/>
              </a:rPr>
              <a:t>work, </a:t>
            </a:r>
            <a:r>
              <a:rPr sz="1400" dirty="0">
                <a:latin typeface="Franklin Gothic Book"/>
                <a:cs typeface="Franklin Gothic Book"/>
              </a:rPr>
              <a:t>learning curve, </a:t>
            </a:r>
            <a:r>
              <a:rPr sz="1400" spc="-5" dirty="0">
                <a:latin typeface="Franklin Gothic Book"/>
                <a:cs typeface="Franklin Gothic Book"/>
              </a:rPr>
              <a:t>corporate  </a:t>
            </a:r>
            <a:r>
              <a:rPr sz="1400" dirty="0">
                <a:latin typeface="Franklin Gothic Book"/>
                <a:cs typeface="Franklin Gothic Book"/>
              </a:rPr>
              <a:t>commitment outside of this</a:t>
            </a:r>
            <a:r>
              <a:rPr sz="1400" spc="-100" dirty="0">
                <a:latin typeface="Franklin Gothic Book"/>
                <a:cs typeface="Franklin Gothic Book"/>
              </a:rPr>
              <a:t> </a:t>
            </a:r>
            <a:r>
              <a:rPr sz="1400" dirty="0">
                <a:latin typeface="Franklin Gothic Book"/>
                <a:cs typeface="Franklin Gothic Book"/>
              </a:rPr>
              <a:t>engagement.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50899" y="4648871"/>
            <a:ext cx="2327910" cy="14575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0" marR="390525" indent="-381000">
              <a:lnSpc>
                <a:spcPct val="123600"/>
              </a:lnSpc>
              <a:tabLst>
                <a:tab pos="272415" algn="l"/>
              </a:tabLst>
            </a:pPr>
            <a:r>
              <a:rPr sz="1400" dirty="0">
                <a:latin typeface="Arial"/>
                <a:cs typeface="Arial"/>
              </a:rPr>
              <a:t>•</a:t>
            </a:r>
            <a:r>
              <a:rPr sz="1400" dirty="0">
                <a:latin typeface="Helvetica"/>
                <a:cs typeface="Helvetica"/>
              </a:rPr>
              <a:t> 	</a:t>
            </a:r>
            <a:r>
              <a:rPr lang="en-US" sz="1400" dirty="0" smtClean="0">
                <a:latin typeface="Franklin Gothic Book"/>
                <a:cs typeface="Franklin Gothic Book"/>
              </a:rPr>
              <a:t>CHMWarnick </a:t>
            </a:r>
            <a:r>
              <a:rPr sz="1400" dirty="0" smtClean="0">
                <a:latin typeface="Franklin Gothic Book"/>
                <a:cs typeface="Franklin Gothic Book"/>
              </a:rPr>
              <a:t>will</a:t>
            </a:r>
            <a:r>
              <a:rPr sz="1400" spc="-45" dirty="0" smtClean="0">
                <a:latin typeface="Franklin Gothic Book"/>
                <a:cs typeface="Franklin Gothic Book"/>
              </a:rPr>
              <a:t> </a:t>
            </a:r>
            <a:r>
              <a:rPr sz="1400" spc="-5" dirty="0">
                <a:latin typeface="Franklin Gothic Book"/>
                <a:cs typeface="Franklin Gothic Book"/>
              </a:rPr>
              <a:t>receive: </a:t>
            </a:r>
            <a:r>
              <a:rPr sz="1400" dirty="0">
                <a:latin typeface="Franklin Gothic Book"/>
                <a:cs typeface="Franklin Gothic Book"/>
              </a:rPr>
              <a:t> </a:t>
            </a:r>
            <a:endParaRPr lang="en-US" sz="1400" dirty="0" smtClean="0">
              <a:latin typeface="Franklin Gothic Book"/>
              <a:cs typeface="Franklin Gothic Book"/>
            </a:endParaRPr>
          </a:p>
          <a:p>
            <a:pPr marL="393700" marR="390525" indent="-381000">
              <a:lnSpc>
                <a:spcPct val="123600"/>
              </a:lnSpc>
              <a:tabLst>
                <a:tab pos="272415" algn="l"/>
              </a:tabLst>
            </a:pPr>
            <a:r>
              <a:rPr lang="en-US" sz="1400" dirty="0">
                <a:latin typeface="Franklin Gothic Book"/>
                <a:cs typeface="Franklin Gothic Book"/>
              </a:rPr>
              <a:t>	</a:t>
            </a:r>
            <a:r>
              <a:rPr lang="en-US" sz="1400" dirty="0" smtClean="0">
                <a:latin typeface="Franklin Gothic Book"/>
                <a:cs typeface="Franklin Gothic Book"/>
              </a:rPr>
              <a:t>	</a:t>
            </a:r>
            <a:r>
              <a:rPr sz="1200" dirty="0" smtClean="0">
                <a:latin typeface="Franklin Gothic Book"/>
                <a:cs typeface="Franklin Gothic Book"/>
              </a:rPr>
              <a:t>Status </a:t>
            </a:r>
            <a:r>
              <a:rPr sz="1200" spc="-5" dirty="0">
                <a:latin typeface="Franklin Gothic Book"/>
                <a:cs typeface="Franklin Gothic Book"/>
              </a:rPr>
              <a:t>Updates:  </a:t>
            </a:r>
            <a:r>
              <a:rPr sz="1200" dirty="0">
                <a:latin typeface="Franklin Gothic Book"/>
                <a:cs typeface="Franklin Gothic Book"/>
              </a:rPr>
              <a:t>Monthly </a:t>
            </a:r>
            <a:r>
              <a:rPr sz="1200" spc="-5" dirty="0">
                <a:latin typeface="Franklin Gothic Book"/>
                <a:cs typeface="Franklin Gothic Book"/>
              </a:rPr>
              <a:t>progress</a:t>
            </a:r>
            <a:r>
              <a:rPr sz="1200" spc="-80" dirty="0">
                <a:latin typeface="Franklin Gothic Book"/>
                <a:cs typeface="Franklin Gothic Book"/>
              </a:rPr>
              <a:t> </a:t>
            </a:r>
            <a:r>
              <a:rPr sz="1200" spc="5" dirty="0">
                <a:latin typeface="Franklin Gothic Book"/>
                <a:cs typeface="Franklin Gothic Book"/>
              </a:rPr>
              <a:t>report</a:t>
            </a:r>
            <a:endParaRPr sz="1200" dirty="0">
              <a:latin typeface="Franklin Gothic Book"/>
              <a:cs typeface="Franklin Gothic Book"/>
            </a:endParaRPr>
          </a:p>
          <a:p>
            <a:pPr marL="393700" marR="5080">
              <a:lnSpc>
                <a:spcPts val="1700"/>
              </a:lnSpc>
            </a:pPr>
            <a:r>
              <a:rPr sz="1200" spc="-5" dirty="0">
                <a:latin typeface="Franklin Gothic Book"/>
                <a:cs typeface="Franklin Gothic Book"/>
              </a:rPr>
              <a:t>On-Site </a:t>
            </a:r>
            <a:r>
              <a:rPr sz="1200" dirty="0">
                <a:latin typeface="Franklin Gothic Book"/>
                <a:cs typeface="Franklin Gothic Book"/>
              </a:rPr>
              <a:t>Report after each</a:t>
            </a:r>
            <a:r>
              <a:rPr sz="1200" spc="-70" dirty="0">
                <a:latin typeface="Franklin Gothic Book"/>
                <a:cs typeface="Franklin Gothic Book"/>
              </a:rPr>
              <a:t> </a:t>
            </a:r>
            <a:r>
              <a:rPr sz="1200" dirty="0">
                <a:latin typeface="Franklin Gothic Book"/>
                <a:cs typeface="Franklin Gothic Book"/>
              </a:rPr>
              <a:t>visit  Monthly</a:t>
            </a:r>
            <a:r>
              <a:rPr sz="1200" spc="-100" dirty="0">
                <a:latin typeface="Franklin Gothic Book"/>
                <a:cs typeface="Franklin Gothic Book"/>
              </a:rPr>
              <a:t> </a:t>
            </a:r>
            <a:r>
              <a:rPr sz="1200" dirty="0" smtClean="0">
                <a:latin typeface="Franklin Gothic Book"/>
                <a:cs typeface="Franklin Gothic Book"/>
              </a:rPr>
              <a:t>Schedule</a:t>
            </a:r>
            <a:endParaRPr lang="en-US" sz="1200" dirty="0" smtClean="0">
              <a:latin typeface="Franklin Gothic Book"/>
              <a:cs typeface="Franklin Gothic Book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023483" y="4536723"/>
            <a:ext cx="5709285" cy="1569720"/>
          </a:xfrm>
          <a:custGeom>
            <a:avLst/>
            <a:gdLst/>
            <a:ahLst/>
            <a:cxnLst/>
            <a:rect l="l" t="t" r="r" b="b"/>
            <a:pathLst>
              <a:path w="5709284" h="1569720">
                <a:moveTo>
                  <a:pt x="0" y="0"/>
                </a:moveTo>
                <a:lnTo>
                  <a:pt x="5709080" y="0"/>
                </a:lnTo>
                <a:lnTo>
                  <a:pt x="5709080" y="1569659"/>
                </a:lnTo>
                <a:lnTo>
                  <a:pt x="0" y="156965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8F1F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114924" y="4565544"/>
            <a:ext cx="2306320" cy="14790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200" dirty="0">
                <a:latin typeface="Calibri"/>
                <a:cs typeface="Calibri"/>
              </a:rPr>
              <a:t>Tools and Programs outlined</a:t>
            </a:r>
            <a:r>
              <a:rPr sz="1200" spc="-8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SOW:  </a:t>
            </a:r>
            <a:r>
              <a:rPr sz="1200" u="sng" spc="-5" dirty="0">
                <a:latin typeface="Calibri"/>
                <a:cs typeface="Calibri"/>
              </a:rPr>
              <a:t>Science</a:t>
            </a:r>
            <a:endParaRPr sz="1200" dirty="0">
              <a:latin typeface="Calibri"/>
              <a:cs typeface="Calibri"/>
            </a:endParaRPr>
          </a:p>
          <a:p>
            <a:pPr>
              <a:lnSpc>
                <a:spcPts val="1360"/>
              </a:lnSpc>
            </a:pPr>
            <a:r>
              <a:rPr sz="1200" dirty="0">
                <a:latin typeface="Calibri"/>
                <a:cs typeface="Calibri"/>
              </a:rPr>
              <a:t>RevPAR Quadrant based</a:t>
            </a:r>
            <a:r>
              <a:rPr sz="1200" spc="-10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</a:p>
          <a:p>
            <a:pPr marR="953769" algn="ctr">
              <a:lnSpc>
                <a:spcPts val="1420"/>
              </a:lnSpc>
              <a:spcBef>
                <a:spcPts val="60"/>
              </a:spcBef>
            </a:pPr>
            <a:r>
              <a:rPr sz="1200" i="1" u="sng" dirty="0">
                <a:latin typeface="Calibri"/>
                <a:cs typeface="Calibri"/>
              </a:rPr>
              <a:t>Worthwhile</a:t>
            </a:r>
            <a:r>
              <a:rPr sz="1200" i="1" u="sng" spc="-100" dirty="0">
                <a:latin typeface="Calibri"/>
                <a:cs typeface="Calibri"/>
              </a:rPr>
              <a:t> </a:t>
            </a:r>
            <a:r>
              <a:rPr sz="1200" i="1" u="sng" dirty="0">
                <a:latin typeface="Calibri"/>
                <a:cs typeface="Calibri"/>
              </a:rPr>
              <a:t>work</a:t>
            </a:r>
            <a:endParaRPr sz="1200" dirty="0">
              <a:latin typeface="Calibri"/>
              <a:cs typeface="Calibri"/>
            </a:endParaRPr>
          </a:p>
          <a:p>
            <a:pPr>
              <a:lnSpc>
                <a:spcPts val="1420"/>
              </a:lnSpc>
            </a:pPr>
            <a:r>
              <a:rPr sz="1200" spc="10" dirty="0" smtClean="0">
                <a:latin typeface="Calibri"/>
                <a:cs typeface="Calibri"/>
              </a:rPr>
              <a:t>Op</a:t>
            </a:r>
            <a:r>
              <a:rPr lang="en-US" sz="1200" spc="10" dirty="0" smtClean="0">
                <a:latin typeface="Calibri"/>
                <a:cs typeface="Calibri"/>
              </a:rPr>
              <a:t>ti</a:t>
            </a:r>
            <a:r>
              <a:rPr sz="1200" spc="10" dirty="0" smtClean="0">
                <a:latin typeface="Calibri"/>
                <a:cs typeface="Calibri"/>
              </a:rPr>
              <a:t>mal </a:t>
            </a:r>
            <a:r>
              <a:rPr sz="1200" dirty="0">
                <a:latin typeface="Calibri"/>
                <a:cs typeface="Calibri"/>
              </a:rPr>
              <a:t>Mix</a:t>
            </a:r>
            <a:r>
              <a:rPr sz="1200" spc="-100" dirty="0">
                <a:latin typeface="Calibri"/>
                <a:cs typeface="Calibri"/>
              </a:rPr>
              <a:t> </a:t>
            </a:r>
            <a:r>
              <a:rPr sz="1200" spc="10" dirty="0" smtClean="0">
                <a:latin typeface="Calibri"/>
                <a:cs typeface="Calibri"/>
              </a:rPr>
              <a:t>Pla</a:t>
            </a:r>
            <a:r>
              <a:rPr lang="en-US" sz="1200" spc="10" dirty="0" smtClean="0">
                <a:latin typeface="Calibri"/>
                <a:cs typeface="Calibri"/>
              </a:rPr>
              <a:t>tf</a:t>
            </a:r>
            <a:r>
              <a:rPr sz="1200" spc="10" dirty="0" smtClean="0">
                <a:latin typeface="Calibri"/>
                <a:cs typeface="Calibri"/>
              </a:rPr>
              <a:t>orm</a:t>
            </a:r>
            <a:endParaRPr sz="1200" dirty="0">
              <a:latin typeface="Calibri"/>
              <a:cs typeface="Calibri"/>
            </a:endParaRPr>
          </a:p>
          <a:p>
            <a:pPr marR="237490">
              <a:lnSpc>
                <a:spcPts val="1400"/>
              </a:lnSpc>
              <a:spcBef>
                <a:spcPts val="140"/>
              </a:spcBef>
            </a:pPr>
            <a:r>
              <a:rPr sz="1200" spc="10" dirty="0" smtClean="0">
                <a:latin typeface="Calibri"/>
                <a:cs typeface="Calibri"/>
              </a:rPr>
              <a:t>Op</a:t>
            </a:r>
            <a:r>
              <a:rPr lang="en-US" sz="1200" spc="10" dirty="0" smtClean="0">
                <a:latin typeface="Calibri"/>
                <a:cs typeface="Calibri"/>
              </a:rPr>
              <a:t>ti</a:t>
            </a:r>
            <a:r>
              <a:rPr sz="1200" spc="10" dirty="0" smtClean="0">
                <a:latin typeface="Calibri"/>
                <a:cs typeface="Calibri"/>
              </a:rPr>
              <a:t>mal </a:t>
            </a:r>
            <a:r>
              <a:rPr sz="1200" dirty="0">
                <a:latin typeface="Calibri"/>
                <a:cs typeface="Calibri"/>
              </a:rPr>
              <a:t>Account Pricing</a:t>
            </a:r>
            <a:r>
              <a:rPr sz="1200" spc="-100" dirty="0">
                <a:latin typeface="Calibri"/>
                <a:cs typeface="Calibri"/>
              </a:rPr>
              <a:t> </a:t>
            </a:r>
            <a:r>
              <a:rPr sz="1200" spc="10" dirty="0" smtClean="0">
                <a:latin typeface="Calibri"/>
                <a:cs typeface="Calibri"/>
              </a:rPr>
              <a:t>Pla</a:t>
            </a:r>
            <a:r>
              <a:rPr lang="en-US" sz="1200" spc="10" dirty="0" smtClean="0">
                <a:latin typeface="Calibri"/>
                <a:cs typeface="Calibri"/>
              </a:rPr>
              <a:t>tf</a:t>
            </a:r>
            <a:r>
              <a:rPr sz="1200" spc="10" dirty="0" smtClean="0">
                <a:latin typeface="Calibri"/>
                <a:cs typeface="Calibri"/>
              </a:rPr>
              <a:t>orm  </a:t>
            </a:r>
            <a:r>
              <a:rPr sz="1200" dirty="0">
                <a:latin typeface="Calibri"/>
                <a:cs typeface="Calibri"/>
              </a:rPr>
              <a:t>Budget Breakdown /</a:t>
            </a:r>
            <a:r>
              <a:rPr sz="1200" spc="-80" dirty="0">
                <a:latin typeface="Calibri"/>
                <a:cs typeface="Calibri"/>
              </a:rPr>
              <a:t> </a:t>
            </a:r>
            <a:r>
              <a:rPr sz="1200" spc="5" dirty="0" smtClean="0">
                <a:latin typeface="Calibri"/>
                <a:cs typeface="Calibri"/>
              </a:rPr>
              <a:t>Marke</a:t>
            </a:r>
            <a:r>
              <a:rPr lang="en-US" sz="1200" spc="5" dirty="0" smtClean="0">
                <a:latin typeface="Calibri"/>
                <a:cs typeface="Calibri"/>
              </a:rPr>
              <a:t>ti</a:t>
            </a:r>
            <a:r>
              <a:rPr sz="1200" spc="5" dirty="0" smtClean="0">
                <a:latin typeface="Calibri"/>
                <a:cs typeface="Calibri"/>
              </a:rPr>
              <a:t>ng</a:t>
            </a:r>
            <a:endParaRPr sz="1200" dirty="0">
              <a:latin typeface="Calibri"/>
              <a:cs typeface="Calibri"/>
            </a:endParaRPr>
          </a:p>
          <a:p>
            <a:pPr marR="202565" algn="ctr">
              <a:lnSpc>
                <a:spcPts val="1360"/>
              </a:lnSpc>
            </a:pPr>
            <a:r>
              <a:rPr sz="1200" dirty="0">
                <a:latin typeface="Calibri"/>
                <a:cs typeface="Calibri"/>
              </a:rPr>
              <a:t>Plan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404382" y="4794393"/>
            <a:ext cx="1777364" cy="1151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20"/>
              </a:lnSpc>
            </a:pPr>
            <a:r>
              <a:rPr sz="1200" u="sng" spc="-5" dirty="0">
                <a:latin typeface="Calibri"/>
                <a:cs typeface="Calibri"/>
              </a:rPr>
              <a:t>Process</a:t>
            </a:r>
            <a:endParaRPr sz="1200" dirty="0">
              <a:latin typeface="Calibri"/>
              <a:cs typeface="Calibri"/>
            </a:endParaRPr>
          </a:p>
          <a:p>
            <a:pPr>
              <a:lnSpc>
                <a:spcPts val="1400"/>
              </a:lnSpc>
              <a:spcBef>
                <a:spcPts val="60"/>
              </a:spcBef>
            </a:pPr>
            <a:r>
              <a:rPr sz="1200" dirty="0">
                <a:latin typeface="Calibri"/>
                <a:cs typeface="Calibri"/>
              </a:rPr>
              <a:t>“Connect” Sales Training  Market / Account Share</a:t>
            </a:r>
            <a:r>
              <a:rPr sz="1200" spc="-10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Plan</a:t>
            </a:r>
          </a:p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1200" dirty="0">
                <a:latin typeface="Calibri"/>
                <a:cs typeface="Calibri"/>
              </a:rPr>
              <a:t>Wallet share</a:t>
            </a:r>
            <a:r>
              <a:rPr sz="1200" spc="17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Plan</a:t>
            </a:r>
          </a:p>
          <a:p>
            <a:pPr marR="111125">
              <a:lnSpc>
                <a:spcPts val="1700"/>
              </a:lnSpc>
              <a:spcBef>
                <a:spcPts val="40"/>
              </a:spcBef>
            </a:pPr>
            <a:r>
              <a:rPr sz="1200" dirty="0">
                <a:latin typeface="Franklin Gothic Book"/>
                <a:cs typeface="Franklin Gothic Book"/>
              </a:rPr>
              <a:t>Sales “Connect”</a:t>
            </a:r>
            <a:r>
              <a:rPr sz="1200" spc="-90" dirty="0">
                <a:latin typeface="Franklin Gothic Book"/>
                <a:cs typeface="Franklin Gothic Book"/>
              </a:rPr>
              <a:t> </a:t>
            </a:r>
            <a:r>
              <a:rPr sz="1200" spc="-5" dirty="0">
                <a:latin typeface="Franklin Gothic Book"/>
                <a:cs typeface="Franklin Gothic Book"/>
              </a:rPr>
              <a:t>Playbook  </a:t>
            </a:r>
            <a:r>
              <a:rPr sz="1200" dirty="0">
                <a:latin typeface="Franklin Gothic Book"/>
                <a:cs typeface="Franklin Gothic Book"/>
              </a:rPr>
              <a:t>GM “Connect”</a:t>
            </a:r>
            <a:r>
              <a:rPr sz="1200" spc="-90" dirty="0">
                <a:latin typeface="Franklin Gothic Book"/>
                <a:cs typeface="Franklin Gothic Book"/>
              </a:rPr>
              <a:t> </a:t>
            </a:r>
            <a:r>
              <a:rPr sz="1200" spc="-5" dirty="0">
                <a:latin typeface="Franklin Gothic Book"/>
                <a:cs typeface="Franklin Gothic Book"/>
              </a:rPr>
              <a:t>Playbook</a:t>
            </a:r>
            <a:endParaRPr sz="1200" dirty="0">
              <a:latin typeface="Franklin Gothic Book"/>
              <a:cs typeface="Franklin Gothic Boo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67607" y="4835763"/>
            <a:ext cx="1268095" cy="1275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20"/>
              </a:lnSpc>
            </a:pPr>
            <a:r>
              <a:rPr sz="1200" u="sng" dirty="0">
                <a:latin typeface="Calibri"/>
                <a:cs typeface="Calibri"/>
              </a:rPr>
              <a:t>Art</a:t>
            </a:r>
            <a:endParaRPr sz="1200" dirty="0">
              <a:latin typeface="Calibri"/>
              <a:cs typeface="Calibri"/>
            </a:endParaRPr>
          </a:p>
          <a:p>
            <a:pPr>
              <a:lnSpc>
                <a:spcPts val="1420"/>
              </a:lnSpc>
            </a:pPr>
            <a:r>
              <a:rPr sz="1200" dirty="0">
                <a:latin typeface="Calibri"/>
                <a:cs typeface="Calibri"/>
              </a:rPr>
              <a:t>NCG Talent</a:t>
            </a:r>
            <a:r>
              <a:rPr sz="1200" spc="-100" dirty="0">
                <a:latin typeface="Calibri"/>
                <a:cs typeface="Calibri"/>
              </a:rPr>
              <a:t> </a:t>
            </a:r>
            <a:r>
              <a:rPr sz="1200" dirty="0" smtClean="0">
                <a:latin typeface="Calibri"/>
                <a:cs typeface="Calibri"/>
              </a:rPr>
              <a:t>Pathway</a:t>
            </a:r>
            <a:endParaRPr lang="en-US" sz="1200" dirty="0" smtClean="0">
              <a:latin typeface="Calibri"/>
              <a:cs typeface="Calibri"/>
            </a:endParaRPr>
          </a:p>
          <a:p>
            <a:pPr>
              <a:lnSpc>
                <a:spcPts val="1420"/>
              </a:lnSpc>
            </a:pPr>
            <a:endParaRPr lang="en-US" sz="1200" dirty="0">
              <a:latin typeface="Calibri"/>
              <a:cs typeface="Calibri"/>
            </a:endParaRPr>
          </a:p>
          <a:p>
            <a:pPr>
              <a:lnSpc>
                <a:spcPts val="1420"/>
              </a:lnSpc>
            </a:pPr>
            <a:r>
              <a:rPr lang="en-US" sz="1200" u="sng" dirty="0" smtClean="0">
                <a:latin typeface="Calibri"/>
                <a:cs typeface="Calibri"/>
              </a:rPr>
              <a:t>Sales Operations</a:t>
            </a:r>
          </a:p>
          <a:p>
            <a:pPr>
              <a:lnSpc>
                <a:spcPts val="1420"/>
              </a:lnSpc>
            </a:pPr>
            <a:r>
              <a:rPr lang="en-US" sz="1200" dirty="0" smtClean="0">
                <a:latin typeface="Calibri"/>
                <a:cs typeface="Calibri"/>
              </a:rPr>
              <a:t>NCG Storyboard</a:t>
            </a:r>
          </a:p>
          <a:p>
            <a:pPr>
              <a:lnSpc>
                <a:spcPts val="1420"/>
              </a:lnSpc>
            </a:pPr>
            <a:r>
              <a:rPr lang="en-US" sz="1200" dirty="0" smtClean="0">
                <a:latin typeface="Calibri"/>
                <a:cs typeface="Calibri"/>
              </a:rPr>
              <a:t>30-60-90 Updates</a:t>
            </a:r>
          </a:p>
          <a:p>
            <a:pPr>
              <a:lnSpc>
                <a:spcPts val="1420"/>
              </a:lnSpc>
            </a:pPr>
            <a:endParaRPr sz="1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980464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7778" y="248923"/>
            <a:ext cx="1214755" cy="167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dirty="0">
                <a:latin typeface="Calibri"/>
                <a:cs typeface="Calibri"/>
              </a:rPr>
              <a:t>CLIENT</a:t>
            </a:r>
            <a:r>
              <a:rPr sz="1000" spc="-10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INFORMATION: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7778" y="401323"/>
            <a:ext cx="473709" cy="320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000" dirty="0">
                <a:latin typeface="Calibri"/>
                <a:cs typeface="Calibri"/>
              </a:rPr>
              <a:t>Name:  Address: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2178" y="401323"/>
            <a:ext cx="1181735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000" dirty="0" smtClean="0">
                <a:latin typeface="Calibri"/>
                <a:cs typeface="Calibri"/>
              </a:rPr>
              <a:t>CHSM Warnick</a:t>
            </a:r>
            <a:endParaRPr sz="1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endParaRPr sz="10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9038" y="3637537"/>
            <a:ext cx="8502015" cy="2585720"/>
          </a:xfrm>
          <a:custGeom>
            <a:avLst/>
            <a:gdLst/>
            <a:ahLst/>
            <a:cxnLst/>
            <a:rect l="l" t="t" r="r" b="b"/>
            <a:pathLst>
              <a:path w="8502015" h="2585720">
                <a:moveTo>
                  <a:pt x="0" y="0"/>
                </a:moveTo>
                <a:lnTo>
                  <a:pt x="8501770" y="0"/>
                </a:lnTo>
                <a:lnTo>
                  <a:pt x="8501770" y="2585323"/>
                </a:lnTo>
                <a:lnTo>
                  <a:pt x="0" y="2585323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07778" y="1163323"/>
            <a:ext cx="8685530" cy="3110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661025">
              <a:lnSpc>
                <a:spcPct val="100000"/>
              </a:lnSpc>
            </a:pPr>
            <a:r>
              <a:rPr sz="1000" dirty="0">
                <a:latin typeface="Calibri"/>
                <a:cs typeface="Calibri"/>
              </a:rPr>
              <a:t>Contact Name: </a:t>
            </a:r>
            <a:r>
              <a:rPr lang="en-US" sz="1000" dirty="0" smtClean="0">
                <a:latin typeface="Calibri"/>
                <a:cs typeface="Calibri"/>
              </a:rPr>
              <a:t>Richard Warnick</a:t>
            </a:r>
          </a:p>
          <a:p>
            <a:pPr marL="12700" marR="5661025">
              <a:lnSpc>
                <a:spcPct val="100000"/>
              </a:lnSpc>
            </a:pPr>
            <a:r>
              <a:rPr sz="1000" dirty="0" smtClean="0">
                <a:latin typeface="Calibri"/>
                <a:cs typeface="Calibri"/>
              </a:rPr>
              <a:t>Title</a:t>
            </a:r>
            <a:r>
              <a:rPr sz="1000" dirty="0">
                <a:latin typeface="Calibri"/>
                <a:cs typeface="Calibri"/>
              </a:rPr>
              <a:t>: </a:t>
            </a:r>
            <a:r>
              <a:rPr lang="en-US" sz="1000" dirty="0" smtClean="0">
                <a:latin typeface="Calibri"/>
                <a:cs typeface="Calibri"/>
              </a:rPr>
              <a:t>Managing Director / Co-Chair</a:t>
            </a:r>
            <a:endParaRPr sz="1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Calibri"/>
                <a:cs typeface="Calibri"/>
              </a:rPr>
              <a:t>Telephone:</a:t>
            </a:r>
            <a:r>
              <a:rPr sz="1000" spc="-65" dirty="0">
                <a:latin typeface="Calibri"/>
                <a:cs typeface="Calibri"/>
              </a:rPr>
              <a:t> </a:t>
            </a:r>
            <a:endParaRPr lang="en-US" sz="1000" spc="-65" dirty="0" smtClean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00" dirty="0" smtClean="0">
                <a:latin typeface="Calibri"/>
                <a:cs typeface="Calibri"/>
              </a:rPr>
              <a:t>E</a:t>
            </a:r>
            <a:r>
              <a:rPr sz="1000" dirty="0">
                <a:latin typeface="Calibri"/>
                <a:cs typeface="Calibri"/>
              </a:rPr>
              <a:t>-mail: </a:t>
            </a:r>
            <a:r>
              <a:rPr lang="en-US" sz="1000" dirty="0">
                <a:latin typeface="Calibri"/>
                <a:cs typeface="Calibri"/>
              </a:rPr>
              <a:t> </a:t>
            </a:r>
            <a:r>
              <a:rPr lang="en-US" sz="1000" dirty="0" smtClean="0">
                <a:latin typeface="Calibri"/>
                <a:cs typeface="Calibri"/>
              </a:rPr>
              <a:t>Rwarnick@chmwarnick.com</a:t>
            </a:r>
            <a:endParaRPr sz="1000" dirty="0">
              <a:latin typeface="Calibri"/>
              <a:cs typeface="Calibri"/>
            </a:endParaRPr>
          </a:p>
          <a:p>
            <a:pPr marL="12700" marR="7294880">
              <a:lnSpc>
                <a:spcPct val="200000"/>
              </a:lnSpc>
            </a:pPr>
            <a:r>
              <a:rPr sz="1000" dirty="0">
                <a:latin typeface="Calibri"/>
                <a:cs typeface="Calibri"/>
              </a:rPr>
              <a:t>Accounts Payable</a:t>
            </a:r>
            <a:r>
              <a:rPr sz="1000" spc="-10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Contact:  AGREEMENT:</a:t>
            </a:r>
          </a:p>
          <a:p>
            <a:pPr marL="12700" marR="5080">
              <a:lnSpc>
                <a:spcPct val="100000"/>
              </a:lnSpc>
            </a:pPr>
            <a:r>
              <a:rPr sz="1000" dirty="0">
                <a:latin typeface="Calibri"/>
                <a:cs typeface="Calibri"/>
              </a:rPr>
              <a:t>Client </a:t>
            </a:r>
            <a:r>
              <a:rPr sz="1000" spc="5" dirty="0" smtClean="0">
                <a:latin typeface="Calibri"/>
                <a:cs typeface="Calibri"/>
              </a:rPr>
              <a:t>iden</a:t>
            </a:r>
            <a:r>
              <a:rPr lang="en-US" sz="1000" spc="5" dirty="0" smtClean="0">
                <a:latin typeface="Calibri"/>
                <a:cs typeface="Calibri"/>
              </a:rPr>
              <a:t>ti</a:t>
            </a:r>
            <a:r>
              <a:rPr sz="1000" spc="5" dirty="0" smtClean="0">
                <a:latin typeface="Calibri"/>
                <a:cs typeface="Calibri"/>
              </a:rPr>
              <a:t>ﬁed </a:t>
            </a:r>
            <a:r>
              <a:rPr sz="1000" dirty="0">
                <a:latin typeface="Calibri"/>
                <a:cs typeface="Calibri"/>
              </a:rPr>
              <a:t>above agrees to engage Kate Burda &amp; Co to furnish speciﬁc </a:t>
            </a:r>
            <a:r>
              <a:rPr sz="1000" spc="5" dirty="0" smtClean="0">
                <a:latin typeface="Calibri"/>
                <a:cs typeface="Calibri"/>
              </a:rPr>
              <a:t>Consul</a:t>
            </a:r>
            <a:r>
              <a:rPr lang="en-US" sz="1000" spc="5" dirty="0" smtClean="0">
                <a:latin typeface="Calibri"/>
                <a:cs typeface="Calibri"/>
              </a:rPr>
              <a:t>ti</a:t>
            </a:r>
            <a:r>
              <a:rPr sz="1000" spc="5" dirty="0" smtClean="0">
                <a:latin typeface="Calibri"/>
                <a:cs typeface="Calibri"/>
              </a:rPr>
              <a:t>ng</a:t>
            </a:r>
            <a:r>
              <a:rPr sz="1000" spc="5" dirty="0">
                <a:latin typeface="Calibri"/>
                <a:cs typeface="Calibri"/>
              </a:rPr>
              <a:t>, </a:t>
            </a:r>
            <a:r>
              <a:rPr sz="1000" dirty="0">
                <a:latin typeface="Calibri"/>
                <a:cs typeface="Calibri"/>
              </a:rPr>
              <a:t>Revenue Leadership, Revenue Strategy, and Revenue Engagement </a:t>
            </a:r>
            <a:r>
              <a:rPr sz="1000" spc="10" dirty="0">
                <a:latin typeface="Calibri"/>
                <a:cs typeface="Calibri"/>
              </a:rPr>
              <a:t>(</a:t>
            </a:r>
            <a:r>
              <a:rPr sz="1000" spc="10" dirty="0" smtClean="0">
                <a:latin typeface="Calibri"/>
                <a:cs typeface="Calibri"/>
              </a:rPr>
              <a:t>here</a:t>
            </a:r>
            <a:r>
              <a:rPr lang="en-US" sz="1000" spc="10" dirty="0" smtClean="0">
                <a:latin typeface="Calibri"/>
                <a:cs typeface="Calibri"/>
              </a:rPr>
              <a:t> in aft</a:t>
            </a:r>
            <a:r>
              <a:rPr sz="1000" spc="10" dirty="0" smtClean="0">
                <a:latin typeface="Calibri"/>
                <a:cs typeface="Calibri"/>
              </a:rPr>
              <a:t>er  </a:t>
            </a:r>
            <a:r>
              <a:rPr sz="1000" dirty="0">
                <a:latin typeface="Calibri"/>
                <a:cs typeface="Calibri"/>
              </a:rPr>
              <a:t>“Services”) upon the Standard Terms and </a:t>
            </a:r>
            <a:r>
              <a:rPr sz="1000" spc="5" dirty="0" smtClean="0">
                <a:latin typeface="Calibri"/>
                <a:cs typeface="Calibri"/>
              </a:rPr>
              <a:t>Condi</a:t>
            </a:r>
            <a:r>
              <a:rPr lang="en-US" sz="1000" spc="5" dirty="0" smtClean="0">
                <a:latin typeface="Calibri"/>
                <a:cs typeface="Calibri"/>
              </a:rPr>
              <a:t>ti</a:t>
            </a:r>
            <a:r>
              <a:rPr sz="1000" spc="5" dirty="0" smtClean="0">
                <a:latin typeface="Calibri"/>
                <a:cs typeface="Calibri"/>
              </a:rPr>
              <a:t>ons </a:t>
            </a:r>
            <a:r>
              <a:rPr sz="1000" spc="20" dirty="0">
                <a:latin typeface="Calibri"/>
                <a:cs typeface="Calibri"/>
              </a:rPr>
              <a:t>agached </a:t>
            </a:r>
            <a:r>
              <a:rPr sz="1000" dirty="0">
                <a:latin typeface="Calibri"/>
                <a:cs typeface="Calibri"/>
              </a:rPr>
              <a:t>hereto. Kate Burda &amp; Co shall perform the Services as set forth in the </a:t>
            </a:r>
            <a:r>
              <a:rPr sz="1000" spc="20" dirty="0">
                <a:latin typeface="Calibri"/>
                <a:cs typeface="Calibri"/>
              </a:rPr>
              <a:t>agached </a:t>
            </a:r>
            <a:r>
              <a:rPr sz="1000" dirty="0">
                <a:latin typeface="Calibri"/>
                <a:cs typeface="Calibri"/>
              </a:rPr>
              <a:t>Work Scope and</a:t>
            </a:r>
            <a:r>
              <a:rPr sz="1000" spc="-9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Schedule.  In return </a:t>
            </a:r>
            <a:r>
              <a:rPr lang="en-US" sz="1000" dirty="0" smtClean="0">
                <a:latin typeface="Calibri"/>
                <a:cs typeface="Calibri"/>
              </a:rPr>
              <a:t>CHMWarncik</a:t>
            </a:r>
            <a:r>
              <a:rPr sz="1000" dirty="0" smtClean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agrees to the set forth in the Revenue Performance</a:t>
            </a:r>
            <a:r>
              <a:rPr sz="1000" spc="-10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Investment.</a:t>
            </a: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latin typeface="Calibri"/>
                <a:cs typeface="Calibri"/>
              </a:rPr>
              <a:t>Time frame of engagement</a:t>
            </a:r>
            <a:r>
              <a:rPr sz="1000" dirty="0" smtClean="0">
                <a:latin typeface="Calibri"/>
                <a:cs typeface="Calibri"/>
              </a:rPr>
              <a:t>:</a:t>
            </a:r>
            <a:endParaRPr lang="en-US" sz="1000" dirty="0" smtClean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endParaRPr sz="1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latin typeface="Calibri"/>
                <a:cs typeface="Calibri"/>
              </a:rPr>
              <a:t>This Agreement </a:t>
            </a:r>
            <a:r>
              <a:rPr sz="1000" spc="5" dirty="0" smtClean="0">
                <a:latin typeface="Calibri"/>
                <a:cs typeface="Calibri"/>
              </a:rPr>
              <a:t>cons</a:t>
            </a:r>
            <a:r>
              <a:rPr lang="en-US" sz="1000" spc="5" dirty="0" smtClean="0">
                <a:latin typeface="Calibri"/>
                <a:cs typeface="Calibri"/>
              </a:rPr>
              <a:t>ti</a:t>
            </a:r>
            <a:r>
              <a:rPr sz="1000" spc="5" dirty="0" smtClean="0">
                <a:latin typeface="Calibri"/>
                <a:cs typeface="Calibri"/>
              </a:rPr>
              <a:t>tutes </a:t>
            </a:r>
            <a:r>
              <a:rPr sz="1000" dirty="0">
                <a:latin typeface="Calibri"/>
                <a:cs typeface="Calibri"/>
              </a:rPr>
              <a:t>the </a:t>
            </a:r>
            <a:r>
              <a:rPr sz="1000" spc="10" dirty="0" smtClean="0">
                <a:latin typeface="Calibri"/>
                <a:cs typeface="Calibri"/>
              </a:rPr>
              <a:t>en</a:t>
            </a:r>
            <a:r>
              <a:rPr lang="en-US" sz="1000" spc="10" dirty="0" smtClean="0">
                <a:latin typeface="Calibri"/>
                <a:cs typeface="Calibri"/>
              </a:rPr>
              <a:t>ti</a:t>
            </a:r>
            <a:r>
              <a:rPr sz="1000" spc="10" dirty="0" smtClean="0">
                <a:latin typeface="Calibri"/>
                <a:cs typeface="Calibri"/>
              </a:rPr>
              <a:t>re </a:t>
            </a:r>
            <a:r>
              <a:rPr sz="1000" dirty="0">
                <a:latin typeface="Calibri"/>
                <a:cs typeface="Calibri"/>
              </a:rPr>
              <a:t>agreement between Client and Kate Burda &amp; Co and replaces all prior oral or </a:t>
            </a:r>
            <a:r>
              <a:rPr sz="1000" spc="25" dirty="0">
                <a:latin typeface="Calibri"/>
                <a:cs typeface="Calibri"/>
              </a:rPr>
              <a:t>wrigen </a:t>
            </a:r>
            <a:r>
              <a:rPr sz="1000" dirty="0">
                <a:latin typeface="Calibri"/>
                <a:cs typeface="Calibri"/>
              </a:rPr>
              <a:t>communica2ons between the</a:t>
            </a:r>
            <a:r>
              <a:rPr sz="1000" spc="-65" dirty="0">
                <a:latin typeface="Calibri"/>
                <a:cs typeface="Calibri"/>
              </a:rPr>
              <a:t> </a:t>
            </a:r>
            <a:r>
              <a:rPr sz="1000" spc="5" dirty="0" smtClean="0">
                <a:latin typeface="Calibri"/>
                <a:cs typeface="Calibri"/>
              </a:rPr>
              <a:t>par</a:t>
            </a:r>
            <a:r>
              <a:rPr lang="en-US" sz="1000" spc="5" dirty="0" smtClean="0">
                <a:latin typeface="Calibri"/>
                <a:cs typeface="Calibri"/>
              </a:rPr>
              <a:t>ti</a:t>
            </a:r>
            <a:r>
              <a:rPr sz="1000" spc="5" dirty="0" smtClean="0">
                <a:latin typeface="Calibri"/>
                <a:cs typeface="Calibri"/>
              </a:rPr>
              <a:t>es</a:t>
            </a:r>
            <a:r>
              <a:rPr sz="1000" spc="5" dirty="0">
                <a:latin typeface="Calibri"/>
                <a:cs typeface="Calibri"/>
              </a:rPr>
              <a:t>.</a:t>
            </a:r>
            <a:endParaRPr sz="1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900" dirty="0">
                <a:latin typeface="Calibri"/>
                <a:cs typeface="Calibri"/>
              </a:rPr>
              <a:t>SIGNATURES:</a:t>
            </a: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850" dirty="0">
              <a:latin typeface="Times New Roman"/>
              <a:cs typeface="Times New Roman"/>
            </a:endParaRPr>
          </a:p>
          <a:p>
            <a:pPr marL="12700" marR="506730">
              <a:lnSpc>
                <a:spcPct val="101899"/>
              </a:lnSpc>
            </a:pPr>
            <a:r>
              <a:rPr sz="900" i="1" dirty="0">
                <a:latin typeface="Calibri"/>
                <a:cs typeface="Calibri"/>
              </a:rPr>
              <a:t>By signing below, the undersigned </a:t>
            </a:r>
            <a:r>
              <a:rPr sz="900" i="1" spc="5" dirty="0" smtClean="0">
                <a:latin typeface="Calibri"/>
                <a:cs typeface="Calibri"/>
              </a:rPr>
              <a:t>cer</a:t>
            </a:r>
            <a:r>
              <a:rPr lang="en-US" sz="900" i="1" spc="5" dirty="0" smtClean="0">
                <a:latin typeface="Calibri"/>
                <a:cs typeface="Calibri"/>
              </a:rPr>
              <a:t>ti</a:t>
            </a:r>
            <a:r>
              <a:rPr sz="900" i="1" spc="5" dirty="0" smtClean="0">
                <a:latin typeface="Calibri"/>
                <a:cs typeface="Calibri"/>
              </a:rPr>
              <a:t>fy </a:t>
            </a:r>
            <a:r>
              <a:rPr sz="900" i="1" dirty="0">
                <a:latin typeface="Calibri"/>
                <a:cs typeface="Calibri"/>
              </a:rPr>
              <a:t>that they have read and understand, and agree to be legally bound by, the terms and </a:t>
            </a:r>
            <a:r>
              <a:rPr sz="900" i="1" spc="5" dirty="0">
                <a:latin typeface="Calibri"/>
                <a:cs typeface="Calibri"/>
              </a:rPr>
              <a:t>condi6ons </a:t>
            </a:r>
            <a:r>
              <a:rPr sz="900" i="1" dirty="0">
                <a:latin typeface="Calibri"/>
                <a:cs typeface="Calibri"/>
              </a:rPr>
              <a:t>of this Agreement, including the</a:t>
            </a:r>
            <a:r>
              <a:rPr sz="900" i="1" spc="-95" dirty="0">
                <a:latin typeface="Calibri"/>
                <a:cs typeface="Calibri"/>
              </a:rPr>
              <a:t> </a:t>
            </a:r>
            <a:r>
              <a:rPr sz="900" i="1" dirty="0">
                <a:latin typeface="Calibri"/>
                <a:cs typeface="Calibri"/>
              </a:rPr>
              <a:t>terms  and </a:t>
            </a:r>
            <a:r>
              <a:rPr sz="900" i="1" spc="5" dirty="0" smtClean="0">
                <a:latin typeface="Calibri"/>
                <a:cs typeface="Calibri"/>
              </a:rPr>
              <a:t>condi</a:t>
            </a:r>
            <a:r>
              <a:rPr lang="en-US" sz="900" i="1" spc="5" dirty="0" smtClean="0">
                <a:latin typeface="Calibri"/>
                <a:cs typeface="Calibri"/>
              </a:rPr>
              <a:t>ti</a:t>
            </a:r>
            <a:r>
              <a:rPr sz="900" i="1" spc="5" dirty="0" smtClean="0">
                <a:latin typeface="Calibri"/>
                <a:cs typeface="Calibri"/>
              </a:rPr>
              <a:t>ons </a:t>
            </a:r>
            <a:r>
              <a:rPr sz="900" i="1" dirty="0">
                <a:latin typeface="Calibri"/>
                <a:cs typeface="Calibri"/>
              </a:rPr>
              <a:t>contained in any </a:t>
            </a:r>
            <a:r>
              <a:rPr sz="900" i="1" spc="15" dirty="0" smtClean="0">
                <a:latin typeface="Calibri"/>
                <a:cs typeface="Calibri"/>
              </a:rPr>
              <a:t>a</a:t>
            </a:r>
            <a:r>
              <a:rPr lang="en-US" sz="900" i="1" spc="15" dirty="0" smtClean="0">
                <a:latin typeface="Calibri"/>
                <a:cs typeface="Calibri"/>
              </a:rPr>
              <a:t>tt</a:t>
            </a:r>
            <a:r>
              <a:rPr sz="900" i="1" spc="15" dirty="0" smtClean="0">
                <a:latin typeface="Calibri"/>
                <a:cs typeface="Calibri"/>
              </a:rPr>
              <a:t>ached </a:t>
            </a:r>
            <a:r>
              <a:rPr sz="900" i="1" dirty="0">
                <a:latin typeface="Calibri"/>
                <a:cs typeface="Calibri"/>
              </a:rPr>
              <a:t>Work Scope and Fee</a:t>
            </a:r>
            <a:r>
              <a:rPr sz="900" i="1" spc="-105" dirty="0">
                <a:latin typeface="Calibri"/>
                <a:cs typeface="Calibri"/>
              </a:rPr>
              <a:t> </a:t>
            </a:r>
            <a:r>
              <a:rPr sz="900" i="1" dirty="0">
                <a:latin typeface="Calibri"/>
                <a:cs typeface="Calibri"/>
              </a:rPr>
              <a:t>Schedules.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0478" y="4356357"/>
            <a:ext cx="1653634" cy="138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900" dirty="0" smtClean="0">
                <a:latin typeface="Calibri"/>
                <a:cs typeface="Calibri"/>
              </a:rPr>
              <a:t>CHMW Warnick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78079" y="4353751"/>
            <a:ext cx="1377315" cy="561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1899"/>
              </a:lnSpc>
            </a:pPr>
            <a:r>
              <a:rPr sz="900" dirty="0">
                <a:latin typeface="Calibri"/>
                <a:cs typeface="Calibri"/>
              </a:rPr>
              <a:t>KATE BURDA &amp;</a:t>
            </a:r>
            <a:r>
              <a:rPr sz="900" spc="-7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Company,</a:t>
            </a:r>
            <a:r>
              <a:rPr sz="900" spc="-2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LLC  639 Timbercrest Circle  Highland Village, TX 75077  972.567.7792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0478" y="5054857"/>
            <a:ext cx="181356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tabLst>
                <a:tab pos="1812925" algn="l"/>
              </a:tabLst>
            </a:pPr>
            <a:r>
              <a:rPr sz="900" dirty="0">
                <a:latin typeface="Calibri"/>
                <a:cs typeface="Calibri"/>
              </a:rPr>
              <a:t>Date: </a:t>
            </a:r>
            <a:r>
              <a:rPr sz="900" u="sng" dirty="0">
                <a:latin typeface="Times New Roman"/>
                <a:cs typeface="Times New Roman"/>
              </a:rPr>
              <a:t> 	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78079" y="5054857"/>
            <a:ext cx="167386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tabLst>
                <a:tab pos="1673225" algn="l"/>
              </a:tabLst>
            </a:pPr>
            <a:r>
              <a:rPr sz="900" dirty="0">
                <a:latin typeface="Calibri"/>
                <a:cs typeface="Calibri"/>
              </a:rPr>
              <a:t>Date:</a:t>
            </a:r>
            <a:r>
              <a:rPr sz="900" u="sng" dirty="0">
                <a:latin typeface="Times New Roman"/>
                <a:cs typeface="Times New Roman"/>
              </a:rPr>
              <a:t> 	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0478" y="5461257"/>
            <a:ext cx="182118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tabLst>
                <a:tab pos="1820545" algn="l"/>
              </a:tabLst>
            </a:pPr>
            <a:r>
              <a:rPr sz="900" dirty="0">
                <a:latin typeface="Calibri"/>
                <a:cs typeface="Calibri"/>
              </a:rPr>
              <a:t>By: </a:t>
            </a:r>
            <a:r>
              <a:rPr sz="900" u="sng" dirty="0">
                <a:latin typeface="Times New Roman"/>
                <a:cs typeface="Times New Roman"/>
              </a:rPr>
              <a:t> 	</a:t>
            </a:r>
            <a:endParaRPr sz="900" dirty="0">
              <a:latin typeface="Times New Roman"/>
              <a:cs typeface="Times New Roman"/>
            </a:endParaRPr>
          </a:p>
          <a:p>
            <a:pPr marL="180340">
              <a:lnSpc>
                <a:spcPct val="100000"/>
              </a:lnSpc>
              <a:spcBef>
                <a:spcPts val="20"/>
              </a:spcBef>
            </a:pPr>
            <a:r>
              <a:rPr sz="900" dirty="0">
                <a:latin typeface="Calibri"/>
                <a:cs typeface="Calibri"/>
              </a:rPr>
              <a:t>(Authorized</a:t>
            </a:r>
            <a:r>
              <a:rPr sz="900" spc="-10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Signature)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78079" y="5458651"/>
            <a:ext cx="1681480" cy="421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4940" indent="-155575">
              <a:lnSpc>
                <a:spcPct val="101899"/>
              </a:lnSpc>
              <a:tabLst>
                <a:tab pos="1668780" algn="l"/>
              </a:tabLst>
            </a:pPr>
            <a:r>
              <a:rPr sz="900" dirty="0">
                <a:latin typeface="Calibri"/>
                <a:cs typeface="Calibri"/>
              </a:rPr>
              <a:t>By: </a:t>
            </a:r>
            <a:r>
              <a:rPr sz="900" u="sng" dirty="0">
                <a:latin typeface="Times New Roman"/>
                <a:cs typeface="Times New Roman"/>
              </a:rPr>
              <a:t>	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Calibri"/>
                <a:cs typeface="Calibri"/>
              </a:rPr>
              <a:t>Kate</a:t>
            </a:r>
            <a:r>
              <a:rPr sz="900" spc="-10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Burda</a:t>
            </a:r>
            <a:endParaRPr sz="900">
              <a:latin typeface="Calibri"/>
              <a:cs typeface="Calibri"/>
            </a:endParaRPr>
          </a:p>
          <a:p>
            <a:pPr marL="154940">
              <a:lnSpc>
                <a:spcPct val="100000"/>
              </a:lnSpc>
              <a:spcBef>
                <a:spcPts val="20"/>
              </a:spcBef>
            </a:pPr>
            <a:r>
              <a:rPr sz="900" dirty="0">
                <a:latin typeface="Calibri"/>
                <a:cs typeface="Calibri"/>
              </a:rPr>
              <a:t>Principal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0478" y="5867658"/>
            <a:ext cx="179705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340">
              <a:lnSpc>
                <a:spcPct val="100000"/>
              </a:lnSpc>
            </a:pPr>
            <a:r>
              <a:rPr sz="900" dirty="0">
                <a:latin typeface="Calibri"/>
                <a:cs typeface="Calibri"/>
              </a:rPr>
              <a:t>(Print)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tabLst>
                <a:tab pos="1796414" algn="l"/>
              </a:tabLst>
            </a:pPr>
            <a:r>
              <a:rPr sz="900" dirty="0">
                <a:latin typeface="Calibri"/>
                <a:cs typeface="Calibri"/>
              </a:rPr>
              <a:t>Title: </a:t>
            </a:r>
            <a:r>
              <a:rPr sz="900" u="sng" dirty="0">
                <a:latin typeface="Times New Roman"/>
                <a:cs typeface="Times New Roman"/>
              </a:rPr>
              <a:t> 	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75538" y="5871617"/>
            <a:ext cx="1651000" cy="0"/>
          </a:xfrm>
          <a:custGeom>
            <a:avLst/>
            <a:gdLst/>
            <a:ahLst/>
            <a:cxnLst/>
            <a:rect l="l" t="t" r="r" b="b"/>
            <a:pathLst>
              <a:path w="1651000">
                <a:moveTo>
                  <a:pt x="0" y="0"/>
                </a:moveTo>
                <a:lnTo>
                  <a:pt x="1650720" y="0"/>
                </a:lnTo>
              </a:path>
            </a:pathLst>
          </a:custGeom>
          <a:ln w="74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14578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4944" y="752885"/>
            <a:ext cx="8815723" cy="58503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spcBef>
                <a:spcPts val="40"/>
              </a:spcBef>
            </a:pPr>
            <a:endParaRPr sz="1050" dirty="0">
              <a:latin typeface="Franklin Gothic Book"/>
              <a:cs typeface="Franklin Gothic Book"/>
            </a:endParaRPr>
          </a:p>
          <a:p>
            <a:pPr marL="12700" marR="53975">
              <a:buAutoNum type="arabicPeriod"/>
              <a:tabLst>
                <a:tab pos="114300" algn="l"/>
              </a:tabLst>
            </a:pPr>
            <a:r>
              <a:rPr sz="1050" b="1" dirty="0">
                <a:latin typeface="Franklin Gothic Book"/>
                <a:cs typeface="Franklin Gothic Book"/>
              </a:rPr>
              <a:t>Where </a:t>
            </a:r>
            <a:r>
              <a:rPr sz="1050" b="1" spc="-5" dirty="0">
                <a:latin typeface="Franklin Gothic Book"/>
                <a:cs typeface="Franklin Gothic Book"/>
              </a:rPr>
              <a:t>Services </a:t>
            </a:r>
            <a:r>
              <a:rPr sz="1050" b="1" dirty="0">
                <a:latin typeface="Franklin Gothic Book"/>
                <a:cs typeface="Franklin Gothic Book"/>
              </a:rPr>
              <a:t>may be </a:t>
            </a:r>
            <a:r>
              <a:rPr sz="1050" b="1" spc="-5" dirty="0">
                <a:latin typeface="Franklin Gothic Book"/>
                <a:cs typeface="Franklin Gothic Book"/>
              </a:rPr>
              <a:t>Performed: </a:t>
            </a:r>
            <a:r>
              <a:rPr sz="1050" dirty="0">
                <a:latin typeface="Franklin Gothic Book"/>
                <a:cs typeface="Franklin Gothic Book"/>
              </a:rPr>
              <a:t>The </a:t>
            </a:r>
            <a:r>
              <a:rPr sz="1050" dirty="0" smtClean="0">
                <a:latin typeface="Franklin Gothic Book"/>
                <a:cs typeface="Franklin Gothic Book"/>
              </a:rPr>
              <a:t>consul</a:t>
            </a:r>
            <a:r>
              <a:rPr lang="en-US" sz="1050" dirty="0" smtClean="0">
                <a:latin typeface="Franklin Gothic Book"/>
                <a:cs typeface="Franklin Gothic Book"/>
              </a:rPr>
              <a:t>t</a:t>
            </a:r>
            <a:r>
              <a:rPr sz="1050" dirty="0" smtClean="0">
                <a:latin typeface="Franklin Gothic Book"/>
                <a:cs typeface="Franklin Gothic Book"/>
              </a:rPr>
              <a:t>ng </a:t>
            </a:r>
            <a:r>
              <a:rPr sz="1050" dirty="0">
                <a:latin typeface="Franklin Gothic Book"/>
                <a:cs typeface="Franklin Gothic Book"/>
              </a:rPr>
              <a:t>services of Kate Burda &amp; Co may be performed at their oﬃces, the oﬃces of the Client or any other </a:t>
            </a:r>
            <a:r>
              <a:rPr lang="en-US" sz="1050" dirty="0" smtClean="0">
                <a:latin typeface="Franklin Gothic Book"/>
                <a:cs typeface="Franklin Gothic Book"/>
              </a:rPr>
              <a:t>	</a:t>
            </a:r>
            <a:r>
              <a:rPr sz="1050" dirty="0" smtClean="0">
                <a:latin typeface="Franklin Gothic Book"/>
                <a:cs typeface="Franklin Gothic Book"/>
              </a:rPr>
              <a:t>places </a:t>
            </a:r>
            <a:r>
              <a:rPr sz="1050" dirty="0">
                <a:latin typeface="Franklin Gothic Book"/>
                <a:cs typeface="Franklin Gothic Book"/>
              </a:rPr>
              <a:t>that </a:t>
            </a:r>
            <a:r>
              <a:rPr sz="1050" dirty="0" smtClean="0">
                <a:latin typeface="Franklin Gothic Book"/>
                <a:cs typeface="Franklin Gothic Book"/>
              </a:rPr>
              <a:t>are </a:t>
            </a:r>
            <a:r>
              <a:rPr sz="1050" dirty="0">
                <a:latin typeface="Franklin Gothic Book"/>
                <a:cs typeface="Franklin Gothic Book"/>
              </a:rPr>
              <a:t>appropriate </a:t>
            </a:r>
            <a:r>
              <a:rPr sz="1050" dirty="0" smtClean="0">
                <a:latin typeface="Franklin Gothic Book"/>
                <a:cs typeface="Franklin Gothic Book"/>
              </a:rPr>
              <a:t>as </a:t>
            </a:r>
            <a:r>
              <a:rPr sz="1050" dirty="0">
                <a:latin typeface="Franklin Gothic Book"/>
                <a:cs typeface="Franklin Gothic Book"/>
              </a:rPr>
              <a:t>determined by  Kate Burda &amp; Co and approved by</a:t>
            </a:r>
            <a:r>
              <a:rPr sz="1050" spc="-100" dirty="0">
                <a:latin typeface="Franklin Gothic Book"/>
                <a:cs typeface="Franklin Gothic Book"/>
              </a:rPr>
              <a:t> </a:t>
            </a:r>
            <a:r>
              <a:rPr sz="1050" dirty="0">
                <a:latin typeface="Franklin Gothic Book"/>
                <a:cs typeface="Franklin Gothic Book"/>
              </a:rPr>
              <a:t>Client</a:t>
            </a:r>
            <a:r>
              <a:rPr sz="1050" dirty="0" smtClean="0">
                <a:latin typeface="Franklin Gothic Book"/>
                <a:cs typeface="Franklin Gothic Book"/>
              </a:rPr>
              <a:t>.</a:t>
            </a:r>
            <a:endParaRPr lang="en-US" sz="1050" dirty="0" smtClean="0">
              <a:latin typeface="Franklin Gothic Book"/>
              <a:cs typeface="Franklin Gothic Book"/>
            </a:endParaRPr>
          </a:p>
          <a:p>
            <a:pPr marL="12700" marR="53975">
              <a:tabLst>
                <a:tab pos="114300" algn="l"/>
              </a:tabLst>
            </a:pPr>
            <a:endParaRPr sz="1050" dirty="0">
              <a:latin typeface="Franklin Gothic Book"/>
              <a:cs typeface="Franklin Gothic Book"/>
            </a:endParaRPr>
          </a:p>
          <a:p>
            <a:pPr marL="12700" marR="5080">
              <a:spcBef>
                <a:spcPts val="20"/>
              </a:spcBef>
              <a:buAutoNum type="arabicPeriod"/>
              <a:tabLst>
                <a:tab pos="114300" algn="l"/>
              </a:tabLst>
            </a:pPr>
            <a:r>
              <a:rPr sz="1050" b="1" spc="-5" dirty="0">
                <a:latin typeface="Franklin Gothic Book"/>
                <a:cs typeface="Franklin Gothic Book"/>
              </a:rPr>
              <a:t>Personnel </a:t>
            </a:r>
            <a:r>
              <a:rPr sz="1050" b="1" dirty="0">
                <a:latin typeface="Franklin Gothic Book"/>
                <a:cs typeface="Franklin Gothic Book"/>
              </a:rPr>
              <a:t>for </a:t>
            </a:r>
            <a:r>
              <a:rPr sz="1050" b="1" spc="-5" dirty="0">
                <a:latin typeface="Franklin Gothic Book"/>
                <a:cs typeface="Franklin Gothic Book"/>
              </a:rPr>
              <a:t>Performance </a:t>
            </a:r>
            <a:r>
              <a:rPr sz="1050" b="1" dirty="0">
                <a:latin typeface="Franklin Gothic Book"/>
                <a:cs typeface="Franklin Gothic Book"/>
              </a:rPr>
              <a:t>of </a:t>
            </a:r>
            <a:r>
              <a:rPr sz="1050" b="1" spc="-5" dirty="0">
                <a:latin typeface="Franklin Gothic Book"/>
                <a:cs typeface="Franklin Gothic Book"/>
              </a:rPr>
              <a:t>Services: </a:t>
            </a:r>
            <a:r>
              <a:rPr sz="1050" dirty="0">
                <a:latin typeface="Franklin Gothic Book"/>
                <a:cs typeface="Franklin Gothic Book"/>
              </a:rPr>
              <a:t>The personnel within Kate Burda &amp; Co and sub-contractors who will </a:t>
            </a:r>
            <a:r>
              <a:rPr sz="1050" dirty="0" smtClean="0">
                <a:latin typeface="Franklin Gothic Book"/>
                <a:cs typeface="Franklin Gothic Book"/>
              </a:rPr>
              <a:t>par</a:t>
            </a:r>
            <a:r>
              <a:rPr lang="en-US" sz="1050" dirty="0" smtClean="0">
                <a:latin typeface="Franklin Gothic Book"/>
                <a:cs typeface="Franklin Gothic Book"/>
              </a:rPr>
              <a:t>ti</a:t>
            </a:r>
            <a:r>
              <a:rPr sz="1050" dirty="0" smtClean="0">
                <a:latin typeface="Franklin Gothic Book"/>
                <a:cs typeface="Franklin Gothic Book"/>
              </a:rPr>
              <a:t>cipate </a:t>
            </a:r>
            <a:r>
              <a:rPr sz="1050" dirty="0">
                <a:latin typeface="Franklin Gothic Book"/>
                <a:cs typeface="Franklin Gothic Book"/>
              </a:rPr>
              <a:t>in the delivery of services under this </a:t>
            </a:r>
            <a:r>
              <a:rPr lang="en-US" sz="1050" dirty="0" smtClean="0">
                <a:latin typeface="Franklin Gothic Book"/>
                <a:cs typeface="Franklin Gothic Book"/>
              </a:rPr>
              <a:t>	</a:t>
            </a:r>
            <a:r>
              <a:rPr sz="1050" dirty="0" smtClean="0">
                <a:latin typeface="Franklin Gothic Book"/>
                <a:cs typeface="Franklin Gothic Book"/>
              </a:rPr>
              <a:t>Agreement </a:t>
            </a:r>
            <a:r>
              <a:rPr sz="1050" dirty="0">
                <a:latin typeface="Franklin Gothic Book"/>
                <a:cs typeface="Franklin Gothic Book"/>
              </a:rPr>
              <a:t>will be those </a:t>
            </a:r>
            <a:r>
              <a:rPr sz="1050" dirty="0" smtClean="0">
                <a:latin typeface="Franklin Gothic Book"/>
                <a:cs typeface="Franklin Gothic Book"/>
              </a:rPr>
              <a:t>described </a:t>
            </a:r>
            <a:r>
              <a:rPr sz="1050" dirty="0">
                <a:latin typeface="Franklin Gothic Book"/>
                <a:cs typeface="Franklin Gothic Book"/>
              </a:rPr>
              <a:t>in the  relevant </a:t>
            </a:r>
            <a:r>
              <a:rPr sz="1050" spc="10" dirty="0" smtClean="0">
                <a:latin typeface="Franklin Gothic Book"/>
                <a:cs typeface="Franklin Gothic Book"/>
              </a:rPr>
              <a:t>A</a:t>
            </a:r>
            <a:r>
              <a:rPr lang="en-US" sz="1050" spc="10" dirty="0" smtClean="0">
                <a:latin typeface="Franklin Gothic Book"/>
                <a:cs typeface="Franklin Gothic Book"/>
              </a:rPr>
              <a:t>tt</a:t>
            </a:r>
            <a:r>
              <a:rPr sz="1050" spc="10" dirty="0" smtClean="0">
                <a:latin typeface="Franklin Gothic Book"/>
                <a:cs typeface="Franklin Gothic Book"/>
              </a:rPr>
              <a:t>achments </a:t>
            </a:r>
            <a:r>
              <a:rPr sz="1050" dirty="0">
                <a:latin typeface="Franklin Gothic Book"/>
                <a:cs typeface="Franklin Gothic Book"/>
              </a:rPr>
              <a:t>and others as mutually agreed upon by the</a:t>
            </a:r>
            <a:r>
              <a:rPr sz="1050" spc="-75" dirty="0">
                <a:latin typeface="Franklin Gothic Book"/>
                <a:cs typeface="Franklin Gothic Book"/>
              </a:rPr>
              <a:t> </a:t>
            </a:r>
            <a:r>
              <a:rPr sz="1050" spc="5" dirty="0" smtClean="0">
                <a:latin typeface="Franklin Gothic Book"/>
                <a:cs typeface="Franklin Gothic Book"/>
              </a:rPr>
              <a:t>par</a:t>
            </a:r>
            <a:r>
              <a:rPr lang="en-US" sz="1050" spc="5" dirty="0" smtClean="0">
                <a:latin typeface="Franklin Gothic Book"/>
                <a:cs typeface="Franklin Gothic Book"/>
              </a:rPr>
              <a:t>ti</a:t>
            </a:r>
            <a:r>
              <a:rPr sz="1050" spc="5" dirty="0" smtClean="0">
                <a:latin typeface="Franklin Gothic Book"/>
                <a:cs typeface="Franklin Gothic Book"/>
              </a:rPr>
              <a:t>es</a:t>
            </a:r>
            <a:r>
              <a:rPr sz="1050" spc="5" dirty="0" smtClean="0">
                <a:latin typeface="Franklin Gothic Book"/>
                <a:cs typeface="Franklin Gothic Book"/>
              </a:rPr>
              <a:t>.</a:t>
            </a:r>
            <a:endParaRPr lang="en-US" sz="1050" spc="5" dirty="0" smtClean="0">
              <a:latin typeface="Franklin Gothic Book"/>
              <a:cs typeface="Franklin Gothic Book"/>
            </a:endParaRPr>
          </a:p>
          <a:p>
            <a:pPr marL="12700" marR="5080">
              <a:spcBef>
                <a:spcPts val="20"/>
              </a:spcBef>
              <a:buAutoNum type="arabicPeriod"/>
              <a:tabLst>
                <a:tab pos="114300" algn="l"/>
              </a:tabLst>
            </a:pPr>
            <a:endParaRPr sz="1050" dirty="0">
              <a:latin typeface="Franklin Gothic Book"/>
              <a:cs typeface="Franklin Gothic Book"/>
            </a:endParaRPr>
          </a:p>
          <a:p>
            <a:pPr marL="113664" indent="-100965">
              <a:buAutoNum type="arabicPeriod"/>
              <a:tabLst>
                <a:tab pos="114300" algn="l"/>
              </a:tabLst>
            </a:pPr>
            <a:r>
              <a:rPr sz="1050" b="1" spc="-10" dirty="0" smtClean="0">
                <a:latin typeface="Franklin Gothic Book"/>
                <a:cs typeface="Franklin Gothic Book"/>
              </a:rPr>
              <a:t>Compensa</a:t>
            </a:r>
            <a:r>
              <a:rPr lang="en-US" sz="1050" b="1" spc="-10" dirty="0" smtClean="0">
                <a:latin typeface="Franklin Gothic Book"/>
                <a:cs typeface="Franklin Gothic Book"/>
              </a:rPr>
              <a:t>ti</a:t>
            </a:r>
            <a:r>
              <a:rPr sz="1050" b="1" spc="-10" dirty="0" smtClean="0">
                <a:latin typeface="Franklin Gothic Book"/>
                <a:cs typeface="Franklin Gothic Book"/>
              </a:rPr>
              <a:t>on</a:t>
            </a:r>
            <a:r>
              <a:rPr sz="1050" b="1" spc="-10" dirty="0">
                <a:latin typeface="Franklin Gothic Book"/>
                <a:cs typeface="Franklin Gothic Book"/>
              </a:rPr>
              <a:t>: </a:t>
            </a:r>
            <a:r>
              <a:rPr sz="1050" dirty="0">
                <a:latin typeface="Franklin Gothic Book"/>
                <a:cs typeface="Franklin Gothic Book"/>
              </a:rPr>
              <a:t>Client shall pay charges for Services rendered by Kate Burda &amp; Co in accordance with the fee schedule set forth in Appendix B or, if no fee schedule is set forth in the</a:t>
            </a:r>
            <a:r>
              <a:rPr sz="1050" spc="-60" dirty="0">
                <a:latin typeface="Franklin Gothic Book"/>
                <a:cs typeface="Franklin Gothic Book"/>
              </a:rPr>
              <a:t> </a:t>
            </a:r>
            <a:r>
              <a:rPr sz="1050" dirty="0">
                <a:latin typeface="Franklin Gothic Book"/>
                <a:cs typeface="Franklin Gothic Book"/>
              </a:rPr>
              <a:t>“Investment</a:t>
            </a:r>
            <a:r>
              <a:rPr sz="1050" dirty="0" smtClean="0">
                <a:latin typeface="Franklin Gothic Book"/>
                <a:cs typeface="Franklin Gothic Book"/>
              </a:rPr>
              <a:t>”</a:t>
            </a:r>
            <a:r>
              <a:rPr sz="1050" spc="5" dirty="0" smtClean="0">
                <a:latin typeface="Franklin Gothic Book"/>
                <a:cs typeface="Franklin Gothic Book"/>
              </a:rPr>
              <a:t>por</a:t>
            </a:r>
            <a:r>
              <a:rPr lang="en-US" sz="1050" spc="5" dirty="0" smtClean="0">
                <a:latin typeface="Franklin Gothic Book"/>
                <a:cs typeface="Franklin Gothic Book"/>
              </a:rPr>
              <a:t>ti</a:t>
            </a:r>
            <a:r>
              <a:rPr sz="1050" spc="5" dirty="0" smtClean="0">
                <a:latin typeface="Franklin Gothic Book"/>
                <a:cs typeface="Franklin Gothic Book"/>
              </a:rPr>
              <a:t>on </a:t>
            </a:r>
            <a:r>
              <a:rPr sz="1050" dirty="0">
                <a:latin typeface="Franklin Gothic Book"/>
                <a:cs typeface="Franklin Gothic Book"/>
              </a:rPr>
              <a:t>of the proposal, in accordance with Kate Burda &amp; Co standard rates, minimums, and fee policies that are in eﬀect when the Services are rendered. All out-of-pocket expenses incurred by Kate  Burda &amp; Co in the course of rendering Services will be added to invoices, including travel, meals, lodging, supplies, and incidental expenses. Services provided on a </a:t>
            </a:r>
            <a:r>
              <a:rPr lang="en-US" sz="1050" spc="10" dirty="0" smtClean="0">
                <a:latin typeface="Franklin Gothic Book"/>
                <a:cs typeface="Franklin Gothic Book"/>
              </a:rPr>
              <a:t>ti</a:t>
            </a:r>
            <a:r>
              <a:rPr sz="1050" spc="10" dirty="0" smtClean="0">
                <a:latin typeface="Franklin Gothic Book"/>
                <a:cs typeface="Franklin Gothic Book"/>
              </a:rPr>
              <a:t>me </a:t>
            </a:r>
            <a:r>
              <a:rPr sz="1050" dirty="0">
                <a:latin typeface="Franklin Gothic Book"/>
                <a:cs typeface="Franklin Gothic Book"/>
              </a:rPr>
              <a:t>and materials basis and/or any  expenses should be invoiced monthly. Client shall pay to Kate Burda &amp; Co the amounts speciﬁed in each invoice issued by Kate Burda &amp; Co within the terms speciﬁed in the invoice. Amounts not</a:t>
            </a:r>
            <a:r>
              <a:rPr sz="1050" spc="-85" dirty="0">
                <a:latin typeface="Franklin Gothic Book"/>
                <a:cs typeface="Franklin Gothic Book"/>
              </a:rPr>
              <a:t> </a:t>
            </a:r>
            <a:r>
              <a:rPr lang="en-US" sz="1050" spc="5" dirty="0" smtClean="0">
                <a:latin typeface="Franklin Gothic Book"/>
                <a:cs typeface="Franklin Gothic Book"/>
              </a:rPr>
              <a:t>ti</a:t>
            </a:r>
            <a:r>
              <a:rPr sz="1050" spc="5" dirty="0" smtClean="0">
                <a:latin typeface="Franklin Gothic Book"/>
                <a:cs typeface="Franklin Gothic Book"/>
              </a:rPr>
              <a:t>mely  </a:t>
            </a:r>
            <a:r>
              <a:rPr sz="1050" dirty="0">
                <a:latin typeface="Franklin Gothic Book"/>
                <a:cs typeface="Franklin Gothic Book"/>
              </a:rPr>
              <a:t>paid shall bear interest at the lesser of (i) one and one-half percent (1.5%) per month or (ii) the maximum amount allowed by law. Kate Burda &amp; Co may suspend the provision of Services during any  period when Client has failed to </a:t>
            </a:r>
            <a:r>
              <a:rPr lang="en-US" sz="1050" spc="5" dirty="0" smtClean="0">
                <a:latin typeface="Franklin Gothic Book"/>
                <a:cs typeface="Franklin Gothic Book"/>
              </a:rPr>
              <a:t>ti</a:t>
            </a:r>
            <a:r>
              <a:rPr sz="1050" spc="5" dirty="0" smtClean="0">
                <a:latin typeface="Franklin Gothic Book"/>
                <a:cs typeface="Franklin Gothic Book"/>
              </a:rPr>
              <a:t>mely </a:t>
            </a:r>
            <a:r>
              <a:rPr sz="1050" dirty="0">
                <a:latin typeface="Franklin Gothic Book"/>
                <a:cs typeface="Franklin Gothic Book"/>
              </a:rPr>
              <a:t>pay Kate Burda &amp; Co any amount owed under this Agreement hereunder. In any </a:t>
            </a:r>
            <a:r>
              <a:rPr sz="1050" spc="5" dirty="0" smtClean="0">
                <a:latin typeface="Franklin Gothic Book"/>
                <a:cs typeface="Franklin Gothic Book"/>
              </a:rPr>
              <a:t>ac</a:t>
            </a:r>
            <a:r>
              <a:rPr lang="en-US" sz="1050" spc="5" dirty="0" smtClean="0">
                <a:latin typeface="Franklin Gothic Book"/>
                <a:cs typeface="Franklin Gothic Book"/>
              </a:rPr>
              <a:t>ti</a:t>
            </a:r>
            <a:r>
              <a:rPr sz="1050" spc="5" dirty="0" smtClean="0">
                <a:latin typeface="Franklin Gothic Book"/>
                <a:cs typeface="Franklin Gothic Book"/>
              </a:rPr>
              <a:t>on rela</a:t>
            </a:r>
            <a:r>
              <a:rPr lang="en-US" sz="1050" spc="5" dirty="0" smtClean="0">
                <a:latin typeface="Franklin Gothic Book"/>
                <a:cs typeface="Franklin Gothic Book"/>
              </a:rPr>
              <a:t>ti</a:t>
            </a:r>
            <a:r>
              <a:rPr sz="1050" spc="5" dirty="0" smtClean="0">
                <a:latin typeface="Franklin Gothic Book"/>
                <a:cs typeface="Franklin Gothic Book"/>
              </a:rPr>
              <a:t>ng </a:t>
            </a:r>
            <a:r>
              <a:rPr sz="1050" dirty="0">
                <a:latin typeface="Franklin Gothic Book"/>
                <a:cs typeface="Franklin Gothic Book"/>
              </a:rPr>
              <a:t>to </a:t>
            </a:r>
            <a:r>
              <a:rPr sz="1050" dirty="0" smtClean="0">
                <a:latin typeface="Franklin Gothic Book"/>
                <a:cs typeface="Franklin Gothic Book"/>
              </a:rPr>
              <a:t>collec</a:t>
            </a:r>
            <a:r>
              <a:rPr lang="en-US" sz="1050" dirty="0" smtClean="0">
                <a:latin typeface="Franklin Gothic Book"/>
                <a:cs typeface="Franklin Gothic Book"/>
              </a:rPr>
              <a:t>ti</a:t>
            </a:r>
            <a:r>
              <a:rPr sz="1050" dirty="0" smtClean="0">
                <a:latin typeface="Franklin Gothic Book"/>
                <a:cs typeface="Franklin Gothic Book"/>
              </a:rPr>
              <a:t>ng </a:t>
            </a:r>
            <a:r>
              <a:rPr sz="1050" dirty="0">
                <a:latin typeface="Franklin Gothic Book"/>
                <a:cs typeface="Franklin Gothic Book"/>
              </a:rPr>
              <a:t>an amount owed by Client under this Agreement,  Kate Burda &amp; Co shall be </a:t>
            </a:r>
            <a:r>
              <a:rPr sz="1050" spc="5" dirty="0" smtClean="0">
                <a:latin typeface="Franklin Gothic Book"/>
                <a:cs typeface="Franklin Gothic Book"/>
              </a:rPr>
              <a:t>en</a:t>
            </a:r>
            <a:r>
              <a:rPr lang="en-US" sz="1050" spc="5" dirty="0" smtClean="0">
                <a:latin typeface="Franklin Gothic Book"/>
                <a:cs typeface="Franklin Gothic Book"/>
              </a:rPr>
              <a:t>ti</a:t>
            </a:r>
            <a:r>
              <a:rPr sz="1050" spc="5" dirty="0" smtClean="0">
                <a:latin typeface="Franklin Gothic Book"/>
                <a:cs typeface="Franklin Gothic Book"/>
              </a:rPr>
              <a:t>tled </a:t>
            </a:r>
            <a:r>
              <a:rPr sz="1050" dirty="0">
                <a:latin typeface="Franklin Gothic Book"/>
                <a:cs typeface="Franklin Gothic Book"/>
              </a:rPr>
              <a:t>to recover its costs of </a:t>
            </a:r>
            <a:r>
              <a:rPr sz="1050" dirty="0" smtClean="0">
                <a:latin typeface="Franklin Gothic Book"/>
                <a:cs typeface="Franklin Gothic Book"/>
              </a:rPr>
              <a:t>collec</a:t>
            </a:r>
            <a:r>
              <a:rPr lang="en-US" sz="1050" dirty="0" smtClean="0">
                <a:latin typeface="Franklin Gothic Book"/>
                <a:cs typeface="Franklin Gothic Book"/>
              </a:rPr>
              <a:t>ti</a:t>
            </a:r>
            <a:r>
              <a:rPr sz="1050" dirty="0" smtClean="0">
                <a:latin typeface="Franklin Gothic Book"/>
                <a:cs typeface="Franklin Gothic Book"/>
              </a:rPr>
              <a:t>on</a:t>
            </a:r>
            <a:r>
              <a:rPr sz="1050" dirty="0">
                <a:latin typeface="Franklin Gothic Book"/>
                <a:cs typeface="Franklin Gothic Book"/>
              </a:rPr>
              <a:t>, including </a:t>
            </a:r>
            <a:r>
              <a:rPr sz="1050" spc="10" dirty="0">
                <a:latin typeface="Franklin Gothic Book"/>
                <a:cs typeface="Franklin Gothic Book"/>
              </a:rPr>
              <a:t>agorneys' </a:t>
            </a:r>
            <a:r>
              <a:rPr sz="1050" dirty="0">
                <a:latin typeface="Franklin Gothic Book"/>
                <a:cs typeface="Franklin Gothic Book"/>
              </a:rPr>
              <a:t>fees and other legal costs. Except as otherwise set forth investment / page 13. Kate Burda &amp; Co may, in its sole  </a:t>
            </a:r>
            <a:r>
              <a:rPr sz="1050" dirty="0" smtClean="0">
                <a:latin typeface="Franklin Gothic Book"/>
                <a:cs typeface="Franklin Gothic Book"/>
              </a:rPr>
              <a:t>discre</a:t>
            </a:r>
            <a:r>
              <a:rPr lang="en-US" sz="1050" dirty="0" smtClean="0">
                <a:latin typeface="Franklin Gothic Book"/>
                <a:cs typeface="Franklin Gothic Book"/>
              </a:rPr>
              <a:t>ti</a:t>
            </a:r>
            <a:r>
              <a:rPr sz="1050" dirty="0" smtClean="0">
                <a:latin typeface="Franklin Gothic Book"/>
                <a:cs typeface="Franklin Gothic Book"/>
              </a:rPr>
              <a:t>on</a:t>
            </a:r>
            <a:r>
              <a:rPr sz="1050" dirty="0">
                <a:latin typeface="Franklin Gothic Book"/>
                <a:cs typeface="Franklin Gothic Book"/>
              </a:rPr>
              <a:t>, change the rates of </a:t>
            </a:r>
            <a:r>
              <a:rPr sz="1050" dirty="0" smtClean="0">
                <a:latin typeface="Franklin Gothic Book"/>
                <a:cs typeface="Franklin Gothic Book"/>
              </a:rPr>
              <a:t>compensa</a:t>
            </a:r>
            <a:r>
              <a:rPr lang="en-US" sz="1050" dirty="0" smtClean="0">
                <a:latin typeface="Franklin Gothic Book"/>
                <a:cs typeface="Franklin Gothic Book"/>
              </a:rPr>
              <a:t>ti</a:t>
            </a:r>
            <a:r>
              <a:rPr sz="1050" dirty="0" smtClean="0">
                <a:latin typeface="Franklin Gothic Book"/>
                <a:cs typeface="Franklin Gothic Book"/>
              </a:rPr>
              <a:t>on </a:t>
            </a:r>
            <a:r>
              <a:rPr sz="1050" dirty="0">
                <a:latin typeface="Franklin Gothic Book"/>
                <a:cs typeface="Franklin Gothic Book"/>
              </a:rPr>
              <a:t>for any fees that are outlined in the proposal upon sixty (60) days' prior </a:t>
            </a:r>
            <a:r>
              <a:rPr sz="1050" spc="20" dirty="0" smtClean="0">
                <a:latin typeface="Franklin Gothic Book"/>
                <a:cs typeface="Franklin Gothic Book"/>
              </a:rPr>
              <a:t>wri</a:t>
            </a:r>
            <a:r>
              <a:rPr lang="en-US" sz="1050" spc="20" dirty="0" smtClean="0">
                <a:latin typeface="Franklin Gothic Book"/>
                <a:cs typeface="Franklin Gothic Book"/>
              </a:rPr>
              <a:t>tt</a:t>
            </a:r>
            <a:r>
              <a:rPr sz="1050" spc="20" dirty="0" smtClean="0">
                <a:latin typeface="Franklin Gothic Book"/>
                <a:cs typeface="Franklin Gothic Book"/>
              </a:rPr>
              <a:t>en </a:t>
            </a:r>
            <a:r>
              <a:rPr sz="1050" spc="5" dirty="0" smtClean="0">
                <a:latin typeface="Franklin Gothic Book"/>
                <a:cs typeface="Franklin Gothic Book"/>
              </a:rPr>
              <a:t>no</a:t>
            </a:r>
            <a:r>
              <a:rPr lang="en-US" sz="1050" spc="5" dirty="0" smtClean="0">
                <a:latin typeface="Franklin Gothic Book"/>
                <a:cs typeface="Franklin Gothic Book"/>
              </a:rPr>
              <a:t>ti</a:t>
            </a:r>
            <a:r>
              <a:rPr sz="1050" spc="5" dirty="0" smtClean="0">
                <a:latin typeface="Franklin Gothic Book"/>
                <a:cs typeface="Franklin Gothic Book"/>
              </a:rPr>
              <a:t>ce </a:t>
            </a:r>
            <a:r>
              <a:rPr sz="1050" dirty="0">
                <a:latin typeface="Franklin Gothic Book"/>
                <a:cs typeface="Franklin Gothic Book"/>
              </a:rPr>
              <a:t>to</a:t>
            </a:r>
            <a:r>
              <a:rPr sz="1050" spc="-20" dirty="0">
                <a:latin typeface="Franklin Gothic Book"/>
                <a:cs typeface="Franklin Gothic Book"/>
              </a:rPr>
              <a:t> </a:t>
            </a:r>
            <a:r>
              <a:rPr sz="1050" dirty="0">
                <a:latin typeface="Franklin Gothic Book"/>
                <a:cs typeface="Franklin Gothic Book"/>
              </a:rPr>
              <a:t>Client</a:t>
            </a:r>
            <a:r>
              <a:rPr sz="1050" dirty="0" smtClean="0">
                <a:latin typeface="Franklin Gothic Book"/>
                <a:cs typeface="Franklin Gothic Book"/>
              </a:rPr>
              <a:t>.</a:t>
            </a:r>
            <a:endParaRPr lang="en-US" sz="1050" dirty="0" smtClean="0">
              <a:latin typeface="Franklin Gothic Book"/>
              <a:cs typeface="Franklin Gothic Book"/>
            </a:endParaRPr>
          </a:p>
          <a:p>
            <a:pPr marL="12699">
              <a:tabLst>
                <a:tab pos="114300" algn="l"/>
              </a:tabLst>
            </a:pPr>
            <a:endParaRPr sz="1050" dirty="0">
              <a:latin typeface="Franklin Gothic Book"/>
              <a:cs typeface="Franklin Gothic Book"/>
            </a:endParaRPr>
          </a:p>
          <a:p>
            <a:pPr marL="114300" indent="-101600">
              <a:spcBef>
                <a:spcPts val="40"/>
              </a:spcBef>
              <a:buAutoNum type="arabicPeriod" startAt="4"/>
              <a:tabLst>
                <a:tab pos="114300" algn="l"/>
              </a:tabLst>
            </a:pPr>
            <a:r>
              <a:rPr sz="1050" b="1" dirty="0">
                <a:latin typeface="Franklin Gothic Book"/>
                <a:cs typeface="Franklin Gothic Book"/>
              </a:rPr>
              <a:t>Complete Agreement: </a:t>
            </a:r>
            <a:r>
              <a:rPr sz="1050" dirty="0">
                <a:latin typeface="Franklin Gothic Book"/>
                <a:cs typeface="Franklin Gothic Book"/>
              </a:rPr>
              <a:t>This Agreement sets forth the </a:t>
            </a:r>
            <a:r>
              <a:rPr sz="1050" spc="5" dirty="0" smtClean="0">
                <a:latin typeface="Franklin Gothic Book"/>
                <a:cs typeface="Franklin Gothic Book"/>
              </a:rPr>
              <a:t>en</a:t>
            </a:r>
            <a:r>
              <a:rPr lang="en-US" sz="1050" spc="5" dirty="0" smtClean="0">
                <a:latin typeface="Franklin Gothic Book"/>
                <a:cs typeface="Franklin Gothic Book"/>
              </a:rPr>
              <a:t>tir</a:t>
            </a:r>
            <a:r>
              <a:rPr sz="1050" spc="5" dirty="0" smtClean="0">
                <a:latin typeface="Franklin Gothic Book"/>
                <a:cs typeface="Franklin Gothic Book"/>
              </a:rPr>
              <a:t>e </a:t>
            </a:r>
            <a:r>
              <a:rPr sz="1050" dirty="0">
                <a:latin typeface="Franklin Gothic Book"/>
                <a:cs typeface="Franklin Gothic Book"/>
              </a:rPr>
              <a:t>understanding of the </a:t>
            </a:r>
            <a:r>
              <a:rPr sz="1050" spc="5" dirty="0" smtClean="0">
                <a:latin typeface="Franklin Gothic Book"/>
                <a:cs typeface="Franklin Gothic Book"/>
              </a:rPr>
              <a:t>par</a:t>
            </a:r>
            <a:r>
              <a:rPr lang="en-US" sz="1050" spc="5" dirty="0" smtClean="0">
                <a:latin typeface="Franklin Gothic Book"/>
                <a:cs typeface="Franklin Gothic Book"/>
              </a:rPr>
              <a:t>ti</a:t>
            </a:r>
            <a:r>
              <a:rPr sz="1050" spc="5" dirty="0" smtClean="0">
                <a:latin typeface="Franklin Gothic Book"/>
                <a:cs typeface="Franklin Gothic Book"/>
              </a:rPr>
              <a:t>es </a:t>
            </a:r>
            <a:r>
              <a:rPr sz="1050" dirty="0">
                <a:latin typeface="Franklin Gothic Book"/>
                <a:cs typeface="Franklin Gothic Book"/>
              </a:rPr>
              <a:t>as to its subject </a:t>
            </a:r>
            <a:r>
              <a:rPr sz="1050" spc="25" dirty="0">
                <a:latin typeface="Franklin Gothic Book"/>
                <a:cs typeface="Franklin Gothic Book"/>
              </a:rPr>
              <a:t>mager </a:t>
            </a:r>
            <a:r>
              <a:rPr sz="1050" dirty="0">
                <a:latin typeface="Franklin Gothic Book"/>
                <a:cs typeface="Franklin Gothic Book"/>
              </a:rPr>
              <a:t>and may not be modiﬁed except in </a:t>
            </a:r>
            <a:r>
              <a:rPr sz="1050" spc="5" dirty="0" smtClean="0">
                <a:latin typeface="Franklin Gothic Book"/>
                <a:cs typeface="Franklin Gothic Book"/>
              </a:rPr>
              <a:t>wri</a:t>
            </a:r>
            <a:r>
              <a:rPr lang="en-US" sz="1050" spc="5" dirty="0" smtClean="0">
                <a:latin typeface="Franklin Gothic Book"/>
                <a:cs typeface="Franklin Gothic Book"/>
              </a:rPr>
              <a:t>ti</a:t>
            </a:r>
            <a:r>
              <a:rPr sz="1050" spc="5" dirty="0" smtClean="0">
                <a:latin typeface="Franklin Gothic Book"/>
                <a:cs typeface="Franklin Gothic Book"/>
              </a:rPr>
              <a:t>ng </a:t>
            </a:r>
            <a:r>
              <a:rPr sz="1050" dirty="0">
                <a:latin typeface="Franklin Gothic Book"/>
                <a:cs typeface="Franklin Gothic Book"/>
              </a:rPr>
              <a:t>by both</a:t>
            </a:r>
            <a:r>
              <a:rPr sz="1050" spc="-95" dirty="0">
                <a:latin typeface="Franklin Gothic Book"/>
                <a:cs typeface="Franklin Gothic Book"/>
              </a:rPr>
              <a:t> </a:t>
            </a:r>
            <a:r>
              <a:rPr sz="1050" spc="5" dirty="0" smtClean="0">
                <a:latin typeface="Franklin Gothic Book"/>
                <a:cs typeface="Franklin Gothic Book"/>
              </a:rPr>
              <a:t>par</a:t>
            </a:r>
            <a:r>
              <a:rPr lang="en-US" sz="1050" spc="5" dirty="0" smtClean="0">
                <a:latin typeface="Franklin Gothic Book"/>
                <a:cs typeface="Franklin Gothic Book"/>
              </a:rPr>
              <a:t>ti</a:t>
            </a:r>
            <a:r>
              <a:rPr sz="1050" spc="5" dirty="0" smtClean="0">
                <a:latin typeface="Franklin Gothic Book"/>
                <a:cs typeface="Franklin Gothic Book"/>
              </a:rPr>
              <a:t>es</a:t>
            </a:r>
            <a:r>
              <a:rPr sz="1050" spc="5" dirty="0" smtClean="0">
                <a:latin typeface="Franklin Gothic Book"/>
                <a:cs typeface="Franklin Gothic Book"/>
              </a:rPr>
              <a:t>.</a:t>
            </a:r>
            <a:endParaRPr lang="en-US" sz="1050" spc="5" dirty="0" smtClean="0">
              <a:latin typeface="Franklin Gothic Book"/>
              <a:cs typeface="Franklin Gothic Book"/>
            </a:endParaRPr>
          </a:p>
          <a:p>
            <a:pPr marL="114300" indent="-101600">
              <a:spcBef>
                <a:spcPts val="40"/>
              </a:spcBef>
              <a:buAutoNum type="arabicPeriod" startAt="4"/>
              <a:tabLst>
                <a:tab pos="114300" algn="l"/>
              </a:tabLst>
            </a:pPr>
            <a:endParaRPr sz="1050" dirty="0">
              <a:latin typeface="Franklin Gothic Book"/>
              <a:cs typeface="Franklin Gothic Book"/>
            </a:endParaRPr>
          </a:p>
          <a:p>
            <a:pPr marL="12700" marR="141605">
              <a:spcBef>
                <a:spcPts val="50"/>
              </a:spcBef>
              <a:buAutoNum type="arabicPeriod" startAt="4"/>
              <a:tabLst>
                <a:tab pos="114300" algn="l"/>
              </a:tabLst>
            </a:pPr>
            <a:r>
              <a:rPr sz="1050" b="1" dirty="0">
                <a:latin typeface="Franklin Gothic Book"/>
                <a:cs typeface="Franklin Gothic Book"/>
              </a:rPr>
              <a:t>Independent Contractor </a:t>
            </a:r>
            <a:r>
              <a:rPr sz="1050" b="1" spc="-10" dirty="0" smtClean="0">
                <a:latin typeface="Franklin Gothic Book"/>
                <a:cs typeface="Franklin Gothic Book"/>
              </a:rPr>
              <a:t>Rela</a:t>
            </a:r>
            <a:r>
              <a:rPr lang="en-US" sz="1050" b="1" spc="-10" dirty="0" smtClean="0">
                <a:latin typeface="Franklin Gothic Book"/>
                <a:cs typeface="Franklin Gothic Book"/>
              </a:rPr>
              <a:t>ti</a:t>
            </a:r>
            <a:r>
              <a:rPr sz="1050" b="1" spc="-10" dirty="0" smtClean="0">
                <a:latin typeface="Franklin Gothic Book"/>
                <a:cs typeface="Franklin Gothic Book"/>
              </a:rPr>
              <a:t>onship</a:t>
            </a:r>
            <a:r>
              <a:rPr sz="1050" spc="-10" dirty="0">
                <a:latin typeface="Franklin Gothic Book"/>
                <a:cs typeface="Franklin Gothic Book"/>
              </a:rPr>
              <a:t>: </a:t>
            </a:r>
            <a:r>
              <a:rPr sz="1050" dirty="0">
                <a:latin typeface="Franklin Gothic Book"/>
                <a:cs typeface="Franklin Gothic Book"/>
              </a:rPr>
              <a:t>The </a:t>
            </a:r>
            <a:r>
              <a:rPr sz="1050" dirty="0" smtClean="0">
                <a:latin typeface="Franklin Gothic Book"/>
                <a:cs typeface="Franklin Gothic Book"/>
              </a:rPr>
              <a:t>rela</a:t>
            </a:r>
            <a:r>
              <a:rPr lang="en-US" sz="1050" dirty="0" smtClean="0">
                <a:latin typeface="Franklin Gothic Book"/>
                <a:cs typeface="Franklin Gothic Book"/>
              </a:rPr>
              <a:t>ti</a:t>
            </a:r>
            <a:r>
              <a:rPr sz="1050" dirty="0" smtClean="0">
                <a:latin typeface="Franklin Gothic Book"/>
                <a:cs typeface="Franklin Gothic Book"/>
              </a:rPr>
              <a:t>onship </a:t>
            </a:r>
            <a:r>
              <a:rPr sz="1050" dirty="0">
                <a:latin typeface="Franklin Gothic Book"/>
                <a:cs typeface="Franklin Gothic Book"/>
              </a:rPr>
              <a:t>of Kate Burda &amp; Co to the Client is that of an independent contractor under contract with the </a:t>
            </a:r>
            <a:r>
              <a:rPr lang="en-US" sz="1050" dirty="0" smtClean="0">
                <a:latin typeface="Franklin Gothic Book"/>
                <a:cs typeface="Franklin Gothic Book"/>
              </a:rPr>
              <a:t>	</a:t>
            </a:r>
            <a:r>
              <a:rPr sz="1050" dirty="0" smtClean="0">
                <a:latin typeface="Franklin Gothic Book"/>
                <a:cs typeface="Franklin Gothic Book"/>
              </a:rPr>
              <a:t>Client </a:t>
            </a:r>
            <a:r>
              <a:rPr sz="1050" dirty="0">
                <a:latin typeface="Franklin Gothic Book"/>
                <a:cs typeface="Franklin Gothic Book"/>
              </a:rPr>
              <a:t>and </a:t>
            </a:r>
            <a:r>
              <a:rPr sz="1050" dirty="0" smtClean="0">
                <a:latin typeface="Franklin Gothic Book"/>
                <a:cs typeface="Franklin Gothic Book"/>
              </a:rPr>
              <a:t>not </a:t>
            </a:r>
            <a:r>
              <a:rPr sz="1050" dirty="0">
                <a:latin typeface="Franklin Gothic Book"/>
                <a:cs typeface="Franklin Gothic Book"/>
              </a:rPr>
              <a:t>that of </a:t>
            </a:r>
            <a:r>
              <a:rPr sz="1050" dirty="0" smtClean="0">
                <a:latin typeface="Franklin Gothic Book"/>
                <a:cs typeface="Franklin Gothic Book"/>
              </a:rPr>
              <a:t>a</a:t>
            </a:r>
            <a:r>
              <a:rPr lang="en-US" sz="1050" dirty="0" smtClean="0">
                <a:latin typeface="Franklin Gothic Book"/>
                <a:cs typeface="Franklin Gothic Book"/>
              </a:rPr>
              <a:t>n</a:t>
            </a:r>
            <a:r>
              <a:rPr sz="1050" dirty="0" smtClean="0">
                <a:latin typeface="Franklin Gothic Book"/>
                <a:cs typeface="Franklin Gothic Book"/>
              </a:rPr>
              <a:t> </a:t>
            </a:r>
            <a:r>
              <a:rPr sz="1050" dirty="0">
                <a:latin typeface="Franklin Gothic Book"/>
                <a:cs typeface="Franklin Gothic Book"/>
              </a:rPr>
              <a:t>agent, servant or  employee. Consistent with this </a:t>
            </a:r>
            <a:r>
              <a:rPr sz="1050" dirty="0" smtClean="0">
                <a:latin typeface="Franklin Gothic Book"/>
                <a:cs typeface="Franklin Gothic Book"/>
              </a:rPr>
              <a:t>rela</a:t>
            </a:r>
            <a:r>
              <a:rPr lang="en-US" sz="1050" dirty="0" smtClean="0">
                <a:latin typeface="Franklin Gothic Book"/>
                <a:cs typeface="Franklin Gothic Book"/>
              </a:rPr>
              <a:t>ti</a:t>
            </a:r>
            <a:r>
              <a:rPr sz="1050" dirty="0" smtClean="0">
                <a:latin typeface="Franklin Gothic Book"/>
                <a:cs typeface="Franklin Gothic Book"/>
              </a:rPr>
              <a:t>onship</a:t>
            </a:r>
            <a:r>
              <a:rPr sz="1050" dirty="0">
                <a:latin typeface="Franklin Gothic Book"/>
                <a:cs typeface="Franklin Gothic Book"/>
              </a:rPr>
              <a:t>, neither party to this Agreement has the authority to act for, </a:t>
            </a:r>
            <a:r>
              <a:rPr lang="en-US" sz="1050" dirty="0" smtClean="0">
                <a:latin typeface="Franklin Gothic Book"/>
                <a:cs typeface="Franklin Gothic Book"/>
              </a:rPr>
              <a:t>	</a:t>
            </a:r>
            <a:r>
              <a:rPr sz="1050" dirty="0" smtClean="0">
                <a:latin typeface="Franklin Gothic Book"/>
                <a:cs typeface="Franklin Gothic Book"/>
              </a:rPr>
              <a:t>represent </a:t>
            </a:r>
            <a:r>
              <a:rPr sz="1050" dirty="0">
                <a:latin typeface="Franklin Gothic Book"/>
                <a:cs typeface="Franklin Gothic Book"/>
              </a:rPr>
              <a:t>or bind the </a:t>
            </a:r>
            <a:r>
              <a:rPr sz="1050" dirty="0" smtClean="0">
                <a:latin typeface="Franklin Gothic Book"/>
                <a:cs typeface="Franklin Gothic Book"/>
              </a:rPr>
              <a:t>other </a:t>
            </a:r>
            <a:r>
              <a:rPr sz="1050" dirty="0">
                <a:latin typeface="Franklin Gothic Book"/>
                <a:cs typeface="Franklin Gothic Book"/>
              </a:rPr>
              <a:t>party in any manner without </a:t>
            </a:r>
            <a:r>
              <a:rPr sz="1050" dirty="0" smtClean="0">
                <a:latin typeface="Franklin Gothic Book"/>
                <a:cs typeface="Franklin Gothic Book"/>
              </a:rPr>
              <a:t>obtaining </a:t>
            </a:r>
            <a:r>
              <a:rPr sz="1050" dirty="0">
                <a:latin typeface="Franklin Gothic Book"/>
                <a:cs typeface="Franklin Gothic Book"/>
              </a:rPr>
              <a:t>that party’s prior</a:t>
            </a:r>
            <a:r>
              <a:rPr sz="1050" spc="-50" dirty="0">
                <a:latin typeface="Franklin Gothic Book"/>
                <a:cs typeface="Franklin Gothic Book"/>
              </a:rPr>
              <a:t> </a:t>
            </a:r>
            <a:r>
              <a:rPr sz="1050" spc="20" dirty="0" smtClean="0">
                <a:latin typeface="Franklin Gothic Book"/>
                <a:cs typeface="Franklin Gothic Book"/>
              </a:rPr>
              <a:t>wri</a:t>
            </a:r>
            <a:r>
              <a:rPr lang="en-US" sz="1050" spc="20" dirty="0" smtClean="0">
                <a:latin typeface="Franklin Gothic Book"/>
                <a:cs typeface="Franklin Gothic Book"/>
              </a:rPr>
              <a:t>tt</a:t>
            </a:r>
            <a:r>
              <a:rPr sz="1050" spc="20" dirty="0" smtClean="0">
                <a:latin typeface="Franklin Gothic Book"/>
                <a:cs typeface="Franklin Gothic Book"/>
              </a:rPr>
              <a:t>en  </a:t>
            </a:r>
            <a:r>
              <a:rPr sz="1050" dirty="0">
                <a:latin typeface="Franklin Gothic Book"/>
                <a:cs typeface="Franklin Gothic Book"/>
              </a:rPr>
              <a:t>consent or</a:t>
            </a:r>
            <a:r>
              <a:rPr sz="1050" spc="-100" dirty="0">
                <a:latin typeface="Franklin Gothic Book"/>
                <a:cs typeface="Franklin Gothic Book"/>
              </a:rPr>
              <a:t> </a:t>
            </a:r>
            <a:r>
              <a:rPr sz="1050" dirty="0">
                <a:latin typeface="Franklin Gothic Book"/>
                <a:cs typeface="Franklin Gothic Book"/>
              </a:rPr>
              <a:t>approval</a:t>
            </a:r>
            <a:r>
              <a:rPr sz="1050" dirty="0" smtClean="0">
                <a:latin typeface="Franklin Gothic Book"/>
                <a:cs typeface="Franklin Gothic Book"/>
              </a:rPr>
              <a:t>.</a:t>
            </a:r>
            <a:endParaRPr lang="en-US" sz="1050" dirty="0" smtClean="0">
              <a:latin typeface="Franklin Gothic Book"/>
              <a:cs typeface="Franklin Gothic Book"/>
            </a:endParaRPr>
          </a:p>
          <a:p>
            <a:pPr marL="12700" marR="141605">
              <a:spcBef>
                <a:spcPts val="50"/>
              </a:spcBef>
              <a:buAutoNum type="arabicPeriod" startAt="4"/>
              <a:tabLst>
                <a:tab pos="114300" algn="l"/>
              </a:tabLst>
            </a:pPr>
            <a:endParaRPr sz="1050" dirty="0">
              <a:latin typeface="Franklin Gothic Book"/>
              <a:cs typeface="Franklin Gothic Book"/>
            </a:endParaRPr>
          </a:p>
          <a:p>
            <a:pPr marL="113664" indent="-100965">
              <a:buAutoNum type="arabicPeriod" startAt="4"/>
              <a:tabLst>
                <a:tab pos="114300" algn="l"/>
              </a:tabLst>
            </a:pPr>
            <a:r>
              <a:rPr sz="1050" b="1" spc="-5" dirty="0">
                <a:latin typeface="Franklin Gothic Book"/>
                <a:cs typeface="Franklin Gothic Book"/>
              </a:rPr>
              <a:t>Proprietary </a:t>
            </a:r>
            <a:r>
              <a:rPr sz="1050" b="1" spc="-10" dirty="0" smtClean="0">
                <a:latin typeface="Franklin Gothic Book"/>
                <a:cs typeface="Franklin Gothic Book"/>
              </a:rPr>
              <a:t>Informa</a:t>
            </a:r>
            <a:r>
              <a:rPr lang="en-US" sz="1050" b="1" spc="-10" dirty="0" smtClean="0">
                <a:latin typeface="Franklin Gothic Book"/>
                <a:cs typeface="Franklin Gothic Book"/>
              </a:rPr>
              <a:t>ti</a:t>
            </a:r>
            <a:r>
              <a:rPr sz="1050" b="1" spc="-10" dirty="0" smtClean="0">
                <a:latin typeface="Franklin Gothic Book"/>
                <a:cs typeface="Franklin Gothic Book"/>
              </a:rPr>
              <a:t>on</a:t>
            </a:r>
            <a:r>
              <a:rPr sz="1050" spc="-10" dirty="0">
                <a:latin typeface="Franklin Gothic Book"/>
                <a:cs typeface="Franklin Gothic Book"/>
              </a:rPr>
              <a:t>: </a:t>
            </a:r>
            <a:r>
              <a:rPr sz="1050" dirty="0">
                <a:latin typeface="Franklin Gothic Book"/>
                <a:cs typeface="Franklin Gothic Book"/>
              </a:rPr>
              <a:t>The techniques and ideas provided by Kate Burda &amp; Co under this Agreement </a:t>
            </a:r>
            <a:r>
              <a:rPr sz="1050" dirty="0" smtClean="0">
                <a:latin typeface="Franklin Gothic Book"/>
                <a:cs typeface="Franklin Gothic Book"/>
              </a:rPr>
              <a:t>cons</a:t>
            </a:r>
            <a:r>
              <a:rPr lang="en-US" sz="1050" dirty="0" smtClean="0">
                <a:latin typeface="Franklin Gothic Book"/>
                <a:cs typeface="Franklin Gothic Book"/>
              </a:rPr>
              <a:t>ti</a:t>
            </a:r>
            <a:r>
              <a:rPr sz="1050" dirty="0" smtClean="0">
                <a:latin typeface="Franklin Gothic Book"/>
                <a:cs typeface="Franklin Gothic Book"/>
              </a:rPr>
              <a:t>tute conﬁden</a:t>
            </a:r>
            <a:r>
              <a:rPr lang="en-US" sz="1050" dirty="0" smtClean="0">
                <a:latin typeface="Franklin Gothic Book"/>
                <a:cs typeface="Franklin Gothic Book"/>
              </a:rPr>
              <a:t>ti</a:t>
            </a:r>
            <a:r>
              <a:rPr sz="1050" dirty="0" smtClean="0">
                <a:latin typeface="Franklin Gothic Book"/>
                <a:cs typeface="Franklin Gothic Book"/>
              </a:rPr>
              <a:t>al </a:t>
            </a:r>
            <a:r>
              <a:rPr sz="1050" dirty="0">
                <a:latin typeface="Franklin Gothic Book"/>
                <a:cs typeface="Franklin Gothic Book"/>
              </a:rPr>
              <a:t>proprietary </a:t>
            </a:r>
            <a:r>
              <a:rPr sz="1050" dirty="0" smtClean="0">
                <a:latin typeface="Franklin Gothic Book"/>
                <a:cs typeface="Franklin Gothic Book"/>
              </a:rPr>
              <a:t>informa</a:t>
            </a:r>
            <a:r>
              <a:rPr lang="en-US" sz="1050" dirty="0" smtClean="0">
                <a:latin typeface="Franklin Gothic Book"/>
                <a:cs typeface="Franklin Gothic Book"/>
              </a:rPr>
              <a:t>ti</a:t>
            </a:r>
            <a:r>
              <a:rPr sz="1050" dirty="0" smtClean="0">
                <a:latin typeface="Franklin Gothic Book"/>
                <a:cs typeface="Franklin Gothic Book"/>
              </a:rPr>
              <a:t>on </a:t>
            </a:r>
            <a:r>
              <a:rPr lang="en-US" sz="1050" dirty="0" smtClean="0">
                <a:latin typeface="Franklin Gothic Book"/>
                <a:cs typeface="Franklin Gothic Book"/>
              </a:rPr>
              <a:t>	</a:t>
            </a:r>
            <a:r>
              <a:rPr sz="1050" dirty="0" smtClean="0">
                <a:latin typeface="Franklin Gothic Book"/>
                <a:cs typeface="Franklin Gothic Book"/>
              </a:rPr>
              <a:t>belonging </a:t>
            </a:r>
            <a:r>
              <a:rPr sz="1050" dirty="0">
                <a:latin typeface="Franklin Gothic Book"/>
                <a:cs typeface="Franklin Gothic Book"/>
              </a:rPr>
              <a:t>to Kate Burda &amp; Co that are</a:t>
            </a:r>
            <a:r>
              <a:rPr sz="1050" spc="110" dirty="0">
                <a:latin typeface="Franklin Gothic Book"/>
                <a:cs typeface="Franklin Gothic Book"/>
              </a:rPr>
              <a:t> </a:t>
            </a:r>
            <a:r>
              <a:rPr sz="1050" dirty="0" smtClean="0">
                <a:latin typeface="Franklin Gothic Book"/>
                <a:cs typeface="Franklin Gothic Book"/>
              </a:rPr>
              <a:t>made</a:t>
            </a:r>
            <a:r>
              <a:rPr lang="en-US" sz="1050" dirty="0" smtClean="0">
                <a:latin typeface="Franklin Gothic Book"/>
                <a:cs typeface="Franklin Gothic Book"/>
              </a:rPr>
              <a:t> </a:t>
            </a:r>
            <a:r>
              <a:rPr sz="1050" dirty="0" smtClean="0">
                <a:latin typeface="Franklin Gothic Book"/>
                <a:cs typeface="Franklin Gothic Book"/>
              </a:rPr>
              <a:t>available </a:t>
            </a:r>
            <a:r>
              <a:rPr sz="1050" dirty="0">
                <a:latin typeface="Franklin Gothic Book"/>
                <a:cs typeface="Franklin Gothic Book"/>
              </a:rPr>
              <a:t>to the Client for its use under this Agreement. Employees and staﬀ of the Client may only use this </a:t>
            </a:r>
            <a:r>
              <a:rPr sz="1050" dirty="0" smtClean="0">
                <a:latin typeface="Franklin Gothic Book"/>
                <a:cs typeface="Franklin Gothic Book"/>
              </a:rPr>
              <a:t>informa</a:t>
            </a:r>
            <a:r>
              <a:rPr lang="en-US" sz="1050" dirty="0" smtClean="0">
                <a:latin typeface="Franklin Gothic Book"/>
                <a:cs typeface="Franklin Gothic Book"/>
              </a:rPr>
              <a:t>ti</a:t>
            </a:r>
            <a:r>
              <a:rPr sz="1050" dirty="0" smtClean="0">
                <a:latin typeface="Franklin Gothic Book"/>
                <a:cs typeface="Franklin Gothic Book"/>
              </a:rPr>
              <a:t>on </a:t>
            </a:r>
            <a:r>
              <a:rPr sz="1050" dirty="0">
                <a:latin typeface="Franklin Gothic Book"/>
                <a:cs typeface="Franklin Gothic Book"/>
              </a:rPr>
              <a:t>in </a:t>
            </a:r>
            <a:r>
              <a:rPr sz="1050" dirty="0" smtClean="0">
                <a:latin typeface="Franklin Gothic Book"/>
                <a:cs typeface="Franklin Gothic Book"/>
              </a:rPr>
              <a:t>connec</a:t>
            </a:r>
            <a:r>
              <a:rPr lang="en-US" sz="1050" dirty="0" smtClean="0">
                <a:latin typeface="Franklin Gothic Book"/>
                <a:cs typeface="Franklin Gothic Book"/>
              </a:rPr>
              <a:t>ti</a:t>
            </a:r>
            <a:r>
              <a:rPr sz="1050" dirty="0" smtClean="0">
                <a:latin typeface="Franklin Gothic Book"/>
                <a:cs typeface="Franklin Gothic Book"/>
              </a:rPr>
              <a:t>on </a:t>
            </a:r>
            <a:r>
              <a:rPr sz="1050" dirty="0">
                <a:latin typeface="Franklin Gothic Book"/>
                <a:cs typeface="Franklin Gothic Book"/>
              </a:rPr>
              <a:t>with the work that they do for the Client. The Client agrees to  take all reasonable steps necessary to safeguard the </a:t>
            </a:r>
            <a:r>
              <a:rPr sz="1050" dirty="0" smtClean="0">
                <a:latin typeface="Franklin Gothic Book"/>
                <a:cs typeface="Franklin Gothic Book"/>
              </a:rPr>
              <a:t>conﬁden</a:t>
            </a:r>
            <a:r>
              <a:rPr lang="en-US" sz="1050" dirty="0" smtClean="0">
                <a:latin typeface="Franklin Gothic Book"/>
                <a:cs typeface="Franklin Gothic Book"/>
              </a:rPr>
              <a:t>ti</a:t>
            </a:r>
            <a:r>
              <a:rPr sz="1050" dirty="0" smtClean="0">
                <a:latin typeface="Franklin Gothic Book"/>
                <a:cs typeface="Franklin Gothic Book"/>
              </a:rPr>
              <a:t>ality </a:t>
            </a:r>
            <a:r>
              <a:rPr sz="1050" dirty="0">
                <a:latin typeface="Franklin Gothic Book"/>
                <a:cs typeface="Franklin Gothic Book"/>
              </a:rPr>
              <a:t>of these techniques and ideas. The Client grants to Kate Burda &amp; Co the right to use the </a:t>
            </a:r>
            <a:r>
              <a:rPr sz="1050" spc="5" dirty="0" smtClean="0">
                <a:latin typeface="Franklin Gothic Book"/>
                <a:cs typeface="Franklin Gothic Book"/>
              </a:rPr>
              <a:t>sta</a:t>
            </a:r>
            <a:r>
              <a:rPr lang="en-US" sz="1050" spc="5" dirty="0" smtClean="0">
                <a:latin typeface="Franklin Gothic Book"/>
                <a:cs typeface="Franklin Gothic Book"/>
              </a:rPr>
              <a:t>ti</a:t>
            </a:r>
            <a:r>
              <a:rPr sz="1050" spc="5" dirty="0" smtClean="0">
                <a:latin typeface="Franklin Gothic Book"/>
                <a:cs typeface="Franklin Gothic Book"/>
              </a:rPr>
              <a:t>s</a:t>
            </a:r>
            <a:r>
              <a:rPr lang="en-US" sz="1050" spc="5" dirty="0" smtClean="0">
                <a:latin typeface="Franklin Gothic Book"/>
                <a:cs typeface="Franklin Gothic Book"/>
              </a:rPr>
              <a:t>ti</a:t>
            </a:r>
            <a:r>
              <a:rPr sz="1050" spc="5" dirty="0" smtClean="0">
                <a:latin typeface="Franklin Gothic Book"/>
                <a:cs typeface="Franklin Gothic Book"/>
              </a:rPr>
              <a:t>cal </a:t>
            </a:r>
            <a:r>
              <a:rPr sz="1050" dirty="0">
                <a:latin typeface="Franklin Gothic Book"/>
                <a:cs typeface="Franklin Gothic Book"/>
              </a:rPr>
              <a:t>results of any sales campaign</a:t>
            </a:r>
            <a:r>
              <a:rPr sz="1050" spc="-30" dirty="0">
                <a:latin typeface="Franklin Gothic Book"/>
                <a:cs typeface="Franklin Gothic Book"/>
              </a:rPr>
              <a:t> </a:t>
            </a:r>
            <a:r>
              <a:rPr sz="1050" dirty="0">
                <a:latin typeface="Franklin Gothic Book"/>
                <a:cs typeface="Franklin Gothic Book"/>
              </a:rPr>
              <a:t>or  </a:t>
            </a:r>
            <a:r>
              <a:rPr sz="1050" spc="10" dirty="0" smtClean="0">
                <a:latin typeface="Franklin Gothic Book"/>
                <a:cs typeface="Franklin Gothic Book"/>
              </a:rPr>
              <a:t>ac</a:t>
            </a:r>
            <a:r>
              <a:rPr lang="en-US" sz="1050" spc="10" dirty="0" smtClean="0">
                <a:latin typeface="Franklin Gothic Book"/>
                <a:cs typeface="Franklin Gothic Book"/>
              </a:rPr>
              <a:t>tiv</a:t>
            </a:r>
            <a:r>
              <a:rPr sz="1050" spc="10" dirty="0" smtClean="0">
                <a:latin typeface="Franklin Gothic Book"/>
                <a:cs typeface="Franklin Gothic Book"/>
              </a:rPr>
              <a:t>i</a:t>
            </a:r>
            <a:r>
              <a:rPr lang="en-US" sz="1050" spc="10" dirty="0" smtClean="0">
                <a:latin typeface="Franklin Gothic Book"/>
                <a:cs typeface="Franklin Gothic Book"/>
              </a:rPr>
              <a:t>ti</a:t>
            </a:r>
            <a:r>
              <a:rPr sz="1050" spc="10" dirty="0" smtClean="0">
                <a:latin typeface="Franklin Gothic Book"/>
                <a:cs typeface="Franklin Gothic Book"/>
              </a:rPr>
              <a:t>es </a:t>
            </a:r>
            <a:r>
              <a:rPr sz="1050" dirty="0">
                <a:latin typeface="Franklin Gothic Book"/>
                <a:cs typeface="Franklin Gothic Book"/>
              </a:rPr>
              <a:t>planned and executed during the term of this agreement, as necessary to create</a:t>
            </a:r>
            <a:r>
              <a:rPr sz="1050" spc="-110" dirty="0">
                <a:latin typeface="Franklin Gothic Book"/>
                <a:cs typeface="Franklin Gothic Book"/>
              </a:rPr>
              <a:t> </a:t>
            </a:r>
            <a:r>
              <a:rPr sz="1050" dirty="0">
                <a:latin typeface="Franklin Gothic Book"/>
                <a:cs typeface="Franklin Gothic Book"/>
              </a:rPr>
              <a:t>results</a:t>
            </a:r>
            <a:r>
              <a:rPr sz="1050" dirty="0" smtClean="0">
                <a:latin typeface="Franklin Gothic Book"/>
                <a:cs typeface="Franklin Gothic Book"/>
              </a:rPr>
              <a:t>.</a:t>
            </a:r>
            <a:endParaRPr lang="en-US" sz="1050" dirty="0" smtClean="0">
              <a:latin typeface="Franklin Gothic Book"/>
              <a:cs typeface="Franklin Gothic Book"/>
            </a:endParaRPr>
          </a:p>
          <a:p>
            <a:pPr marL="113664" indent="-100965">
              <a:buAutoNum type="arabicPeriod" startAt="4"/>
              <a:tabLst>
                <a:tab pos="114300" algn="l"/>
              </a:tabLst>
            </a:pPr>
            <a:endParaRPr sz="1050" dirty="0">
              <a:latin typeface="Franklin Gothic Book"/>
              <a:cs typeface="Franklin Gothic Book"/>
            </a:endParaRPr>
          </a:p>
          <a:p>
            <a:pPr marL="12700" marR="75565">
              <a:spcBef>
                <a:spcPts val="50"/>
              </a:spcBef>
              <a:buAutoNum type="arabicPeriod" startAt="7"/>
              <a:tabLst>
                <a:tab pos="114300" algn="l"/>
              </a:tabLst>
            </a:pPr>
            <a:r>
              <a:rPr sz="1050" b="1" dirty="0">
                <a:latin typeface="Franklin Gothic Book"/>
                <a:cs typeface="Franklin Gothic Book"/>
              </a:rPr>
              <a:t>Ownership of </a:t>
            </a:r>
            <a:r>
              <a:rPr sz="1050" b="1" spc="10" dirty="0" smtClean="0">
                <a:latin typeface="Franklin Gothic Book"/>
                <a:cs typeface="Franklin Gothic Book"/>
              </a:rPr>
              <a:t>Wri</a:t>
            </a:r>
            <a:r>
              <a:rPr lang="en-US" sz="1050" b="1" spc="10" dirty="0" smtClean="0">
                <a:latin typeface="Franklin Gothic Book"/>
                <a:cs typeface="Franklin Gothic Book"/>
              </a:rPr>
              <a:t>tt</a:t>
            </a:r>
            <a:r>
              <a:rPr sz="1050" b="1" spc="10" dirty="0" smtClean="0">
                <a:latin typeface="Franklin Gothic Book"/>
                <a:cs typeface="Franklin Gothic Book"/>
              </a:rPr>
              <a:t>en </a:t>
            </a:r>
            <a:r>
              <a:rPr sz="1050" b="1" dirty="0">
                <a:latin typeface="Franklin Gothic Book"/>
                <a:cs typeface="Franklin Gothic Book"/>
              </a:rPr>
              <a:t>Work: </a:t>
            </a:r>
            <a:r>
              <a:rPr sz="1050" dirty="0">
                <a:latin typeface="Franklin Gothic Book"/>
                <a:cs typeface="Franklin Gothic Book"/>
              </a:rPr>
              <a:t>All </a:t>
            </a:r>
            <a:r>
              <a:rPr sz="1050" spc="20" dirty="0" smtClean="0">
                <a:latin typeface="Franklin Gothic Book"/>
                <a:cs typeface="Franklin Gothic Book"/>
              </a:rPr>
              <a:t>wri</a:t>
            </a:r>
            <a:r>
              <a:rPr lang="en-US" sz="1050" spc="20" dirty="0" smtClean="0">
                <a:latin typeface="Franklin Gothic Book"/>
                <a:cs typeface="Franklin Gothic Book"/>
              </a:rPr>
              <a:t>tt</a:t>
            </a:r>
            <a:r>
              <a:rPr sz="1050" spc="20" dirty="0" smtClean="0">
                <a:latin typeface="Franklin Gothic Book"/>
                <a:cs typeface="Franklin Gothic Book"/>
              </a:rPr>
              <a:t>en </a:t>
            </a:r>
            <a:r>
              <a:rPr sz="1050" dirty="0">
                <a:latin typeface="Franklin Gothic Book"/>
                <a:cs typeface="Franklin Gothic Book"/>
              </a:rPr>
              <a:t>work products produced by Kate Burda &amp; Co pursuant to this Agreement shall become the property of the Client, </a:t>
            </a:r>
            <a:r>
              <a:rPr lang="en-US" sz="1050" dirty="0" smtClean="0">
                <a:latin typeface="Franklin Gothic Book"/>
                <a:cs typeface="Franklin Gothic Book"/>
              </a:rPr>
              <a:t>	</a:t>
            </a:r>
            <a:r>
              <a:rPr sz="1050" dirty="0" smtClean="0">
                <a:latin typeface="Franklin Gothic Book"/>
                <a:cs typeface="Franklin Gothic Book"/>
              </a:rPr>
              <a:t>except </a:t>
            </a:r>
            <a:r>
              <a:rPr sz="1050" dirty="0">
                <a:latin typeface="Franklin Gothic Book"/>
                <a:cs typeface="Franklin Gothic Book"/>
              </a:rPr>
              <a:t>for </a:t>
            </a:r>
            <a:r>
              <a:rPr sz="1050" dirty="0" smtClean="0">
                <a:latin typeface="Franklin Gothic Book"/>
                <a:cs typeface="Franklin Gothic Book"/>
              </a:rPr>
              <a:t>analy</a:t>
            </a:r>
            <a:r>
              <a:rPr lang="en-US" sz="1050" dirty="0" smtClean="0">
                <a:latin typeface="Franklin Gothic Book"/>
                <a:cs typeface="Franklin Gothic Book"/>
              </a:rPr>
              <a:t>ti</a:t>
            </a:r>
            <a:r>
              <a:rPr sz="1050" dirty="0" smtClean="0">
                <a:latin typeface="Franklin Gothic Book"/>
                <a:cs typeface="Franklin Gothic Book"/>
              </a:rPr>
              <a:t>cal </a:t>
            </a:r>
            <a:r>
              <a:rPr sz="1050" dirty="0">
                <a:latin typeface="Franklin Gothic Book"/>
                <a:cs typeface="Franklin Gothic Book"/>
              </a:rPr>
              <a:t>survey </a:t>
            </a:r>
            <a:r>
              <a:rPr sz="1050" dirty="0" smtClean="0">
                <a:latin typeface="Franklin Gothic Book"/>
                <a:cs typeface="Franklin Gothic Book"/>
              </a:rPr>
              <a:t>protocols</a:t>
            </a:r>
            <a:r>
              <a:rPr sz="1050" spc="-60" dirty="0" smtClean="0">
                <a:latin typeface="Franklin Gothic Book"/>
                <a:cs typeface="Franklin Gothic Book"/>
              </a:rPr>
              <a:t> </a:t>
            </a:r>
            <a:r>
              <a:rPr sz="1050" dirty="0">
                <a:latin typeface="Franklin Gothic Book"/>
                <a:cs typeface="Franklin Gothic Book"/>
              </a:rPr>
              <a:t>and  </a:t>
            </a:r>
            <a:r>
              <a:rPr sz="1050" dirty="0" smtClean="0">
                <a:latin typeface="Franklin Gothic Book"/>
                <a:cs typeface="Franklin Gothic Book"/>
              </a:rPr>
              <a:t>predic</a:t>
            </a:r>
            <a:r>
              <a:rPr lang="en-US" sz="1050" dirty="0" smtClean="0">
                <a:latin typeface="Franklin Gothic Book"/>
                <a:cs typeface="Franklin Gothic Book"/>
              </a:rPr>
              <a:t>ti</a:t>
            </a:r>
            <a:r>
              <a:rPr sz="1050" dirty="0" smtClean="0">
                <a:latin typeface="Franklin Gothic Book"/>
                <a:cs typeface="Franklin Gothic Book"/>
              </a:rPr>
              <a:t>ve </a:t>
            </a:r>
            <a:r>
              <a:rPr sz="1050" dirty="0">
                <a:latin typeface="Franklin Gothic Book"/>
                <a:cs typeface="Franklin Gothic Book"/>
              </a:rPr>
              <a:t>models which, even though non-proprietary and distributed to the Client for its use shall remain the </a:t>
            </a:r>
            <a:r>
              <a:rPr lang="en-US" sz="1050" dirty="0" smtClean="0">
                <a:latin typeface="Franklin Gothic Book"/>
                <a:cs typeface="Franklin Gothic Book"/>
              </a:rPr>
              <a:t>	</a:t>
            </a:r>
            <a:r>
              <a:rPr sz="1050" dirty="0" smtClean="0">
                <a:latin typeface="Franklin Gothic Book"/>
                <a:cs typeface="Franklin Gothic Book"/>
              </a:rPr>
              <a:t>property </a:t>
            </a:r>
            <a:r>
              <a:rPr sz="1050" dirty="0">
                <a:latin typeface="Franklin Gothic Book"/>
                <a:cs typeface="Franklin Gothic Book"/>
              </a:rPr>
              <a:t>of and </a:t>
            </a:r>
            <a:r>
              <a:rPr sz="1050" dirty="0" smtClean="0">
                <a:latin typeface="Franklin Gothic Book"/>
                <a:cs typeface="Franklin Gothic Book"/>
              </a:rPr>
              <a:t>under </a:t>
            </a:r>
            <a:r>
              <a:rPr sz="1050" dirty="0">
                <a:latin typeface="Franklin Gothic Book"/>
                <a:cs typeface="Franklin Gothic Book"/>
              </a:rPr>
              <a:t>copyright to Kate Burda &amp; Co its </a:t>
            </a:r>
            <a:r>
              <a:rPr sz="1050" dirty="0" smtClean="0">
                <a:latin typeface="Franklin Gothic Book"/>
                <a:cs typeface="Franklin Gothic Book"/>
              </a:rPr>
              <a:t>agents</a:t>
            </a:r>
            <a:r>
              <a:rPr sz="1050" dirty="0">
                <a:latin typeface="Franklin Gothic Book"/>
                <a:cs typeface="Franklin Gothic Book"/>
              </a:rPr>
              <a:t>, or contractors. Raw  survey data and interview notes are the property of Kate Burda &amp;</a:t>
            </a:r>
            <a:r>
              <a:rPr sz="1050" spc="-100" dirty="0">
                <a:latin typeface="Franklin Gothic Book"/>
                <a:cs typeface="Franklin Gothic Book"/>
              </a:rPr>
              <a:t> </a:t>
            </a:r>
            <a:r>
              <a:rPr sz="1050" dirty="0">
                <a:latin typeface="Franklin Gothic Book"/>
                <a:cs typeface="Franklin Gothic Book"/>
              </a:rPr>
              <a:t>Co</a:t>
            </a:r>
            <a:r>
              <a:rPr sz="1050" dirty="0" smtClean="0">
                <a:latin typeface="Franklin Gothic Book"/>
                <a:cs typeface="Franklin Gothic Book"/>
              </a:rPr>
              <a:t>.</a:t>
            </a:r>
            <a:endParaRPr lang="en-US" sz="1050" dirty="0" smtClean="0">
              <a:latin typeface="Franklin Gothic Book"/>
              <a:cs typeface="Franklin Gothic Book"/>
            </a:endParaRPr>
          </a:p>
          <a:p>
            <a:pPr marL="12700" marR="75565">
              <a:spcBef>
                <a:spcPts val="50"/>
              </a:spcBef>
              <a:tabLst>
                <a:tab pos="114300" algn="l"/>
              </a:tabLst>
            </a:pPr>
            <a:endParaRPr sz="1000" dirty="0">
              <a:latin typeface="Franklin Gothic Book"/>
              <a:cs typeface="Franklin Gothic Book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57200" y="274637"/>
            <a:ext cx="8229600" cy="341811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smtClean="0">
                <a:latin typeface="Franklin Gothic Book"/>
                <a:cs typeface="Franklin Gothic Book"/>
              </a:rPr>
              <a:t>Terms and Conditions</a:t>
            </a:r>
            <a:endParaRPr lang="en-US" sz="2400" dirty="0">
              <a:latin typeface="Franklin Gothic Book"/>
              <a:cs typeface="Franklin Gothic Book"/>
            </a:endParaRPr>
          </a:p>
        </p:txBody>
      </p:sp>
    </p:spTree>
    <p:extLst>
      <p:ext uri="{BB962C8B-B14F-4D97-AF65-F5344CB8AC3E}">
        <p14:creationId xmlns:p14="http://schemas.microsoft.com/office/powerpoint/2010/main" val="2602107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41811"/>
          </a:xfrm>
        </p:spPr>
        <p:txBody>
          <a:bodyPr>
            <a:noAutofit/>
          </a:bodyPr>
          <a:lstStyle/>
          <a:p>
            <a:r>
              <a:rPr lang="en-US" sz="1800" dirty="0" smtClean="0">
                <a:latin typeface="Franklin Gothic Book"/>
                <a:cs typeface="Franklin Gothic Book"/>
              </a:rPr>
              <a:t>Terms and Conditions</a:t>
            </a:r>
            <a:br>
              <a:rPr lang="en-US" sz="1800" dirty="0" smtClean="0">
                <a:latin typeface="Franklin Gothic Book"/>
                <a:cs typeface="Franklin Gothic Book"/>
              </a:rPr>
            </a:br>
            <a:r>
              <a:rPr lang="en-US" sz="1800" dirty="0" smtClean="0">
                <a:latin typeface="Franklin Gothic Book"/>
                <a:cs typeface="Franklin Gothic Book"/>
              </a:rPr>
              <a:t>(cont.)</a:t>
            </a:r>
            <a:endParaRPr lang="en-US" sz="1800" dirty="0">
              <a:latin typeface="Franklin Gothic Book"/>
              <a:cs typeface="Franklin Gothic Book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1" y="776726"/>
            <a:ext cx="8229600" cy="5660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37465">
              <a:spcBef>
                <a:spcPts val="50"/>
              </a:spcBef>
              <a:tabLst>
                <a:tab pos="114300" algn="l"/>
              </a:tabLst>
            </a:pPr>
            <a:r>
              <a:rPr lang="en-US" sz="1050" b="1" spc="-10" dirty="0" smtClean="0">
                <a:latin typeface="Franklin Gothic Book"/>
                <a:cs typeface="Franklin Gothic Book"/>
              </a:rPr>
              <a:t>8. Termination </a:t>
            </a:r>
            <a:r>
              <a:rPr lang="en-US" sz="1050" b="1" dirty="0">
                <a:latin typeface="Franklin Gothic Book"/>
                <a:cs typeface="Franklin Gothic Book"/>
              </a:rPr>
              <a:t>of Agreement</a:t>
            </a:r>
            <a:r>
              <a:rPr lang="en-US" sz="1050" dirty="0">
                <a:latin typeface="Franklin Gothic Book"/>
                <a:cs typeface="Franklin Gothic Book"/>
              </a:rPr>
              <a:t>: Either party may terminate this Agreement for any reason upon </a:t>
            </a:r>
            <a:r>
              <a:rPr lang="en-US" sz="1050" spc="20" dirty="0">
                <a:latin typeface="Franklin Gothic Book"/>
                <a:cs typeface="Franklin Gothic Book"/>
              </a:rPr>
              <a:t>written </a:t>
            </a:r>
            <a:r>
              <a:rPr lang="en-US" sz="1050" spc="5" dirty="0">
                <a:latin typeface="Franklin Gothic Book"/>
                <a:cs typeface="Franklin Gothic Book"/>
              </a:rPr>
              <a:t>notice </a:t>
            </a:r>
            <a:r>
              <a:rPr lang="en-US" sz="1050" dirty="0">
                <a:latin typeface="Franklin Gothic Book"/>
                <a:cs typeface="Franklin Gothic Book"/>
              </a:rPr>
              <a:t>by registered or </a:t>
            </a:r>
            <a:r>
              <a:rPr lang="en-US" sz="1050" spc="5" dirty="0">
                <a:latin typeface="Franklin Gothic Book"/>
                <a:cs typeface="Franklin Gothic Book"/>
              </a:rPr>
              <a:t>certiﬁed </a:t>
            </a:r>
            <a:r>
              <a:rPr lang="en-US" sz="1050" dirty="0">
                <a:latin typeface="Franklin Gothic Book"/>
                <a:cs typeface="Franklin Gothic Book"/>
              </a:rPr>
              <a:t>mail, 	</a:t>
            </a:r>
            <a:r>
              <a:rPr lang="en-US" sz="1050" dirty="0" smtClean="0">
                <a:latin typeface="Franklin Gothic Book"/>
                <a:cs typeface="Franklin Gothic Book"/>
              </a:rPr>
              <a:t>return </a:t>
            </a:r>
            <a:r>
              <a:rPr lang="en-US" sz="1050" dirty="0">
                <a:latin typeface="Franklin Gothic Book"/>
                <a:cs typeface="Franklin Gothic Book"/>
              </a:rPr>
              <a:t>requested addressed to the other party. If this  Agreement is terminated by the Client for any reason, the Client in all such </a:t>
            </a:r>
            <a:r>
              <a:rPr lang="en-US" sz="1050" dirty="0" smtClean="0">
                <a:latin typeface="Franklin Gothic Book"/>
                <a:cs typeface="Franklin Gothic Book"/>
              </a:rPr>
              <a:t>	terminations </a:t>
            </a:r>
            <a:r>
              <a:rPr lang="en-US" sz="1050" dirty="0">
                <a:latin typeface="Franklin Gothic Book"/>
                <a:cs typeface="Franklin Gothic Book"/>
              </a:rPr>
              <a:t>shall be liable and shall pay to Kate Burda &amp; Co at the </a:t>
            </a:r>
            <a:r>
              <a:rPr lang="en-US" sz="1050" spc="5" dirty="0">
                <a:latin typeface="Franklin Gothic Book"/>
                <a:cs typeface="Franklin Gothic Book"/>
              </a:rPr>
              <a:t>eﬀective </a:t>
            </a:r>
            <a:r>
              <a:rPr lang="en-US" sz="1050" dirty="0">
                <a:latin typeface="Franklin Gothic Book"/>
                <a:cs typeface="Franklin Gothic Book"/>
              </a:rPr>
              <a:t>date of termination all payments required to</a:t>
            </a:r>
            <a:r>
              <a:rPr lang="en-US" sz="1050" spc="-20" dirty="0">
                <a:latin typeface="Franklin Gothic Book"/>
                <a:cs typeface="Franklin Gothic Book"/>
              </a:rPr>
              <a:t> </a:t>
            </a:r>
            <a:r>
              <a:rPr lang="en-US" sz="1050" dirty="0">
                <a:latin typeface="Franklin Gothic Book"/>
                <a:cs typeface="Franklin Gothic Book"/>
              </a:rPr>
              <a:t>be  made </a:t>
            </a:r>
            <a:r>
              <a:rPr lang="en-US" sz="1050" dirty="0" smtClean="0">
                <a:latin typeface="Franklin Gothic Book"/>
                <a:cs typeface="Franklin Gothic Book"/>
              </a:rPr>
              <a:t>	under </a:t>
            </a:r>
            <a:r>
              <a:rPr lang="en-US" sz="1050" dirty="0">
                <a:latin typeface="Franklin Gothic Book"/>
                <a:cs typeface="Franklin Gothic Book"/>
              </a:rPr>
              <a:t>the terms of the payment schedule set out in the </a:t>
            </a:r>
            <a:r>
              <a:rPr lang="en-US" sz="1050" spc="10" dirty="0">
                <a:latin typeface="Franklin Gothic Book"/>
                <a:cs typeface="Franklin Gothic Book"/>
              </a:rPr>
              <a:t>attachments, </a:t>
            </a:r>
            <a:r>
              <a:rPr lang="en-US" sz="1050" dirty="0">
                <a:latin typeface="Franklin Gothic Book"/>
                <a:cs typeface="Franklin Gothic Book"/>
              </a:rPr>
              <a:t>plus reasonable expenses.  </a:t>
            </a:r>
            <a:r>
              <a:rPr lang="en-US" sz="1050" spc="5" dirty="0">
                <a:latin typeface="Franklin Gothic Book"/>
                <a:cs typeface="Franklin Gothic Book"/>
              </a:rPr>
              <a:t>Notice </a:t>
            </a:r>
            <a:r>
              <a:rPr lang="en-US" sz="1050" dirty="0">
                <a:latin typeface="Franklin Gothic Book"/>
                <a:cs typeface="Franklin Gothic Book"/>
              </a:rPr>
              <a:t>must be given 60 days prior to </a:t>
            </a:r>
            <a:r>
              <a:rPr lang="en-US" sz="1050" dirty="0" smtClean="0">
                <a:latin typeface="Franklin Gothic Book"/>
                <a:cs typeface="Franklin Gothic Book"/>
              </a:rPr>
              <a:t>	</a:t>
            </a:r>
            <a:r>
              <a:rPr lang="en-US" sz="1050" spc="5" dirty="0" smtClean="0">
                <a:latin typeface="Franklin Gothic Book"/>
                <a:cs typeface="Franklin Gothic Book"/>
              </a:rPr>
              <a:t>eﬀective </a:t>
            </a:r>
            <a:r>
              <a:rPr lang="en-US" sz="1050" dirty="0">
                <a:latin typeface="Franklin Gothic Book"/>
                <a:cs typeface="Franklin Gothic Book"/>
              </a:rPr>
              <a:t>termination date of</a:t>
            </a:r>
            <a:r>
              <a:rPr lang="en-US" sz="1050" spc="-40" dirty="0">
                <a:latin typeface="Franklin Gothic Book"/>
                <a:cs typeface="Franklin Gothic Book"/>
              </a:rPr>
              <a:t> </a:t>
            </a:r>
            <a:r>
              <a:rPr lang="en-US" sz="1050" dirty="0">
                <a:latin typeface="Franklin Gothic Book"/>
                <a:cs typeface="Franklin Gothic Book"/>
              </a:rPr>
              <a:t>agreement.</a:t>
            </a:r>
          </a:p>
          <a:p>
            <a:pPr marL="12700" marR="37465">
              <a:spcBef>
                <a:spcPts val="50"/>
              </a:spcBef>
              <a:buAutoNum type="arabicPeriod" startAt="7"/>
              <a:tabLst>
                <a:tab pos="114300" algn="l"/>
              </a:tabLst>
            </a:pPr>
            <a:endParaRPr lang="en-US" sz="1050" dirty="0">
              <a:latin typeface="Franklin Gothic Book"/>
              <a:cs typeface="Franklin Gothic Book"/>
            </a:endParaRPr>
          </a:p>
          <a:p>
            <a:pPr marL="12699">
              <a:tabLst>
                <a:tab pos="114300" algn="l"/>
              </a:tabLst>
            </a:pPr>
            <a:r>
              <a:rPr lang="en-US" sz="1050" b="1" dirty="0" smtClean="0">
                <a:latin typeface="Franklin Gothic Book"/>
                <a:cs typeface="Franklin Gothic Book"/>
              </a:rPr>
              <a:t>9. Client </a:t>
            </a:r>
            <a:r>
              <a:rPr lang="en-US" sz="1050" b="1" dirty="0">
                <a:latin typeface="Franklin Gothic Book"/>
                <a:cs typeface="Franklin Gothic Book"/>
              </a:rPr>
              <a:t>Duty to </a:t>
            </a:r>
            <a:r>
              <a:rPr lang="en-US" sz="1050" b="1" spc="-5" dirty="0">
                <a:latin typeface="Franklin Gothic Book"/>
                <a:cs typeface="Franklin Gothic Book"/>
              </a:rPr>
              <a:t>Co-operate</a:t>
            </a:r>
            <a:r>
              <a:rPr lang="en-US" sz="1050" spc="-5" dirty="0">
                <a:latin typeface="Franklin Gothic Book"/>
                <a:cs typeface="Franklin Gothic Book"/>
              </a:rPr>
              <a:t>: </a:t>
            </a:r>
            <a:r>
              <a:rPr lang="en-US" sz="1050" dirty="0">
                <a:latin typeface="Franklin Gothic Book"/>
                <a:cs typeface="Franklin Gothic Book"/>
              </a:rPr>
              <a:t>To enable Kate Burda &amp; Co to furnish the consulting services called for under this Agreement, the Client agrees </a:t>
            </a:r>
            <a:r>
              <a:rPr lang="en-US" sz="1050" dirty="0" smtClean="0">
                <a:latin typeface="Franklin Gothic Book"/>
                <a:cs typeface="Franklin Gothic Book"/>
              </a:rPr>
              <a:t>	to </a:t>
            </a:r>
            <a:r>
              <a:rPr lang="en-US" sz="1050" dirty="0">
                <a:latin typeface="Franklin Gothic Book"/>
                <a:cs typeface="Franklin Gothic Book"/>
              </a:rPr>
              <a:t>provide Kate Burda &amp; Co with the services</a:t>
            </a:r>
            <a:r>
              <a:rPr lang="en-US" sz="1050" spc="-25" dirty="0">
                <a:latin typeface="Franklin Gothic Book"/>
                <a:cs typeface="Franklin Gothic Book"/>
              </a:rPr>
              <a:t> </a:t>
            </a:r>
            <a:r>
              <a:rPr lang="en-US" sz="1050" dirty="0">
                <a:latin typeface="Franklin Gothic Book"/>
                <a:cs typeface="Franklin Gothic Book"/>
              </a:rPr>
              <a:t>and documentation described in the</a:t>
            </a:r>
            <a:r>
              <a:rPr lang="en-US" sz="1050" spc="-30" dirty="0">
                <a:latin typeface="Franklin Gothic Book"/>
                <a:cs typeface="Franklin Gothic Book"/>
              </a:rPr>
              <a:t> </a:t>
            </a:r>
            <a:r>
              <a:rPr lang="en-US" sz="1050" spc="10" dirty="0">
                <a:latin typeface="Franklin Gothic Book"/>
                <a:cs typeface="Franklin Gothic Book"/>
              </a:rPr>
              <a:t>Attachments</a:t>
            </a:r>
          </a:p>
          <a:p>
            <a:pPr marL="113664" indent="-100965">
              <a:lnSpc>
                <a:spcPts val="900"/>
              </a:lnSpc>
              <a:buAutoNum type="arabicPeriod" startAt="7"/>
              <a:tabLst>
                <a:tab pos="114300" algn="l"/>
              </a:tabLst>
            </a:pPr>
            <a:endParaRPr lang="en-US" sz="1050" dirty="0">
              <a:latin typeface="Franklin Gothic Book"/>
              <a:cs typeface="Franklin Gothic Book"/>
            </a:endParaRPr>
          </a:p>
          <a:p>
            <a:pPr marL="12700" marR="40640">
              <a:lnSpc>
                <a:spcPct val="97200"/>
              </a:lnSpc>
              <a:spcBef>
                <a:spcPts val="65"/>
              </a:spcBef>
              <a:buFontTx/>
              <a:buAutoNum type="arabicPeriod" startAt="10"/>
              <a:tabLst>
                <a:tab pos="165735" algn="l"/>
              </a:tabLst>
            </a:pPr>
            <a:r>
              <a:rPr lang="en-US" sz="1050" b="1" dirty="0">
                <a:latin typeface="Franklin Gothic Book"/>
                <a:cs typeface="Franklin Gothic Book"/>
              </a:rPr>
              <a:t> </a:t>
            </a:r>
            <a:r>
              <a:rPr lang="en-US" sz="1050" b="1" spc="-10" dirty="0">
                <a:cs typeface="Calibri"/>
              </a:rPr>
              <a:t>Indemniﬁcation</a:t>
            </a:r>
            <a:r>
              <a:rPr lang="en-US" sz="1050" spc="-10" dirty="0">
                <a:cs typeface="Calibri"/>
              </a:rPr>
              <a:t>: </a:t>
            </a:r>
            <a:r>
              <a:rPr lang="en-US" sz="1050" dirty="0">
                <a:cs typeface="Calibri"/>
              </a:rPr>
              <a:t>The Client agrees to indemnify and hold Kate Burda &amp; Co harmless from all claims, losses, expenses, fees including </a:t>
            </a:r>
            <a:r>
              <a:rPr lang="en-US" sz="1050" dirty="0" smtClean="0">
                <a:cs typeface="Calibri"/>
              </a:rPr>
              <a:t>	</a:t>
            </a:r>
            <a:r>
              <a:rPr lang="en-US" sz="1050" spc="15" dirty="0" smtClean="0">
                <a:cs typeface="Calibri"/>
              </a:rPr>
              <a:t>attorney </a:t>
            </a:r>
            <a:r>
              <a:rPr lang="en-US" sz="1050" dirty="0">
                <a:cs typeface="Calibri"/>
              </a:rPr>
              <a:t>fees, costs, and judgments that may be asserted  against Kate Burda &amp; Co that result from the acts or omissions of the Client, the </a:t>
            </a:r>
            <a:r>
              <a:rPr lang="en-US" sz="1050" dirty="0" smtClean="0">
                <a:cs typeface="Calibri"/>
              </a:rPr>
              <a:t>	Client’s </a:t>
            </a:r>
            <a:r>
              <a:rPr lang="en-US" sz="1050" dirty="0">
                <a:cs typeface="Calibri"/>
              </a:rPr>
              <a:t>employees and the Client’s agents. Kate Burda &amp; Co agrees to indemnify and hold Client harmless from all claims,  losses, expenses, </a:t>
            </a:r>
            <a:r>
              <a:rPr lang="en-US" sz="1050" dirty="0" smtClean="0">
                <a:cs typeface="Calibri"/>
              </a:rPr>
              <a:t>	fees </a:t>
            </a:r>
            <a:r>
              <a:rPr lang="en-US" sz="1050" dirty="0">
                <a:cs typeface="Calibri"/>
              </a:rPr>
              <a:t>including </a:t>
            </a:r>
            <a:r>
              <a:rPr lang="en-US" sz="1050" spc="15" dirty="0" smtClean="0">
                <a:cs typeface="Calibri"/>
              </a:rPr>
              <a:t>attorney </a:t>
            </a:r>
            <a:r>
              <a:rPr lang="en-US" sz="1050" dirty="0">
                <a:cs typeface="Calibri"/>
              </a:rPr>
              <a:t>fees, costs, and judgments that may be asserted against Client that result from the acts or omissions of Kate Burda &amp; </a:t>
            </a:r>
            <a:r>
              <a:rPr lang="en-US" sz="1050" dirty="0" smtClean="0">
                <a:cs typeface="Calibri"/>
              </a:rPr>
              <a:t>	Co</a:t>
            </a:r>
            <a:r>
              <a:rPr lang="en-US" sz="1050" dirty="0">
                <a:cs typeface="Calibri"/>
              </a:rPr>
              <a:t>, Kate Burda &amp; Co employees and</a:t>
            </a:r>
            <a:r>
              <a:rPr lang="en-US" sz="1050" spc="-90" dirty="0">
                <a:cs typeface="Calibri"/>
              </a:rPr>
              <a:t> </a:t>
            </a:r>
            <a:r>
              <a:rPr lang="en-US" sz="1050" dirty="0">
                <a:cs typeface="Calibri"/>
              </a:rPr>
              <a:t>Kate Burda &amp; Co</a:t>
            </a:r>
            <a:r>
              <a:rPr lang="en-US" sz="1050" spc="-100" dirty="0">
                <a:cs typeface="Calibri"/>
              </a:rPr>
              <a:t> </a:t>
            </a:r>
            <a:r>
              <a:rPr lang="en-US" sz="1050" dirty="0">
                <a:cs typeface="Calibri"/>
              </a:rPr>
              <a:t>agents.</a:t>
            </a:r>
          </a:p>
          <a:p>
            <a:pPr marL="12700" marR="40640">
              <a:spcBef>
                <a:spcPts val="65"/>
              </a:spcBef>
              <a:tabLst>
                <a:tab pos="165735" algn="l"/>
              </a:tabLst>
            </a:pPr>
            <a:endParaRPr lang="en-US" sz="1050" dirty="0">
              <a:latin typeface="Franklin Gothic Book"/>
              <a:cs typeface="Franklin Gothic Book"/>
            </a:endParaRPr>
          </a:p>
          <a:p>
            <a:pPr marL="12700" marR="34925">
              <a:buAutoNum type="arabicPeriod" startAt="10"/>
              <a:tabLst>
                <a:tab pos="165735" algn="l"/>
              </a:tabLst>
            </a:pPr>
            <a:r>
              <a:rPr lang="en-US" sz="1050" b="1" spc="-5" dirty="0">
                <a:latin typeface="Franklin Gothic Book"/>
                <a:cs typeface="Franklin Gothic Book"/>
              </a:rPr>
              <a:t>Guarantees</a:t>
            </a:r>
            <a:r>
              <a:rPr lang="en-US" sz="1050" spc="-5" dirty="0">
                <a:latin typeface="Franklin Gothic Book"/>
                <a:cs typeface="Franklin Gothic Book"/>
              </a:rPr>
              <a:t>: </a:t>
            </a:r>
            <a:r>
              <a:rPr lang="en-US" sz="1050" dirty="0">
                <a:latin typeface="Franklin Gothic Book"/>
                <a:cs typeface="Franklin Gothic Book"/>
              </a:rPr>
              <a:t>Kate Burda &amp; Co does not guarantee achieving any revenue goals or projections, nor does it guarantee achieving any </a:t>
            </a:r>
            <a:r>
              <a:rPr lang="en-US" sz="1050" dirty="0" smtClean="0">
                <a:latin typeface="Franklin Gothic Book"/>
                <a:cs typeface="Franklin Gothic Book"/>
              </a:rPr>
              <a:t>	speciﬁc </a:t>
            </a:r>
            <a:r>
              <a:rPr lang="en-US" sz="1050" dirty="0">
                <a:latin typeface="Franklin Gothic Book"/>
                <a:cs typeface="Franklin Gothic Book"/>
              </a:rPr>
              <a:t>performance objectives either set forth </a:t>
            </a:r>
            <a:r>
              <a:rPr lang="en-US" sz="1050" dirty="0" smtClean="0">
                <a:latin typeface="Franklin Gothic Book"/>
                <a:cs typeface="Franklin Gothic Book"/>
              </a:rPr>
              <a:t>by </a:t>
            </a:r>
            <a:r>
              <a:rPr lang="en-US" sz="1050" dirty="0">
                <a:latin typeface="Franklin Gothic Book"/>
                <a:cs typeface="Franklin Gothic Book"/>
              </a:rPr>
              <a:t>Client or made  by Kate Burda &amp; Co in the course of bidding, planning </a:t>
            </a:r>
            <a:r>
              <a:rPr lang="en-US" sz="1050" dirty="0" smtClean="0">
                <a:latin typeface="Franklin Gothic Book"/>
                <a:cs typeface="Franklin Gothic Book"/>
              </a:rPr>
              <a:t>or </a:t>
            </a:r>
            <a:r>
              <a:rPr lang="en-US" sz="1050" dirty="0">
                <a:latin typeface="Franklin Gothic Book"/>
                <a:cs typeface="Franklin Gothic Book"/>
              </a:rPr>
              <a:t>managing </a:t>
            </a:r>
            <a:r>
              <a:rPr lang="en-US" sz="1050" dirty="0" smtClean="0">
                <a:latin typeface="Franklin Gothic Book"/>
                <a:cs typeface="Franklin Gothic Book"/>
              </a:rPr>
              <a:t>	the </a:t>
            </a:r>
            <a:r>
              <a:rPr lang="en-US" sz="1050" dirty="0">
                <a:latin typeface="Franklin Gothic Book"/>
                <a:cs typeface="Franklin Gothic Book"/>
              </a:rPr>
              <a:t>sales campaign or work covered under the terms of this</a:t>
            </a:r>
            <a:r>
              <a:rPr lang="en-US" sz="1050" spc="-100" dirty="0">
                <a:latin typeface="Franklin Gothic Book"/>
                <a:cs typeface="Franklin Gothic Book"/>
              </a:rPr>
              <a:t> </a:t>
            </a:r>
            <a:r>
              <a:rPr lang="en-US" sz="1050" dirty="0">
                <a:latin typeface="Franklin Gothic Book"/>
                <a:cs typeface="Franklin Gothic Book"/>
              </a:rPr>
              <a:t>agreement.</a:t>
            </a:r>
          </a:p>
          <a:p>
            <a:pPr marL="12700" marR="34925">
              <a:tabLst>
                <a:tab pos="165735" algn="l"/>
              </a:tabLst>
            </a:pPr>
            <a:endParaRPr lang="en-US" sz="1050" dirty="0">
              <a:latin typeface="Franklin Gothic Book"/>
              <a:cs typeface="Franklin Gothic Book"/>
            </a:endParaRPr>
          </a:p>
          <a:p>
            <a:pPr marL="165735" indent="-153035">
              <a:buAutoNum type="arabicPeriod" startAt="10"/>
              <a:tabLst>
                <a:tab pos="165735" algn="l"/>
              </a:tabLst>
            </a:pPr>
            <a:r>
              <a:rPr lang="en-US" sz="1050" b="1" spc="-5" dirty="0">
                <a:latin typeface="Franklin Gothic Book"/>
                <a:cs typeface="Franklin Gothic Book"/>
              </a:rPr>
              <a:t>Legal </a:t>
            </a:r>
            <a:r>
              <a:rPr lang="en-US" sz="1050" b="1" spc="-15" dirty="0">
                <a:latin typeface="Franklin Gothic Book"/>
                <a:cs typeface="Franklin Gothic Book"/>
              </a:rPr>
              <a:t>action</a:t>
            </a:r>
            <a:r>
              <a:rPr lang="en-US" sz="1050" spc="-15" dirty="0">
                <a:latin typeface="Franklin Gothic Book"/>
                <a:cs typeface="Franklin Gothic Book"/>
              </a:rPr>
              <a:t>: </a:t>
            </a:r>
            <a:r>
              <a:rPr lang="en-US" sz="1050" dirty="0">
                <a:latin typeface="Franklin Gothic Book"/>
                <a:cs typeface="Franklin Gothic Book"/>
              </a:rPr>
              <a:t>If any legal </a:t>
            </a:r>
            <a:r>
              <a:rPr lang="en-US" sz="1050" spc="5" dirty="0">
                <a:latin typeface="Franklin Gothic Book"/>
                <a:cs typeface="Franklin Gothic Book"/>
              </a:rPr>
              <a:t>action </a:t>
            </a:r>
            <a:r>
              <a:rPr lang="en-US" sz="1050" dirty="0">
                <a:latin typeface="Franklin Gothic Book"/>
                <a:cs typeface="Franklin Gothic Book"/>
              </a:rPr>
              <a:t>is brought for the enforcement of this agreement, or because of any alleged dispute, default, mistake or misrepresentation or otherwise in connection with</a:t>
            </a:r>
            <a:r>
              <a:rPr lang="en-US" sz="1050" spc="30" dirty="0">
                <a:latin typeface="Franklin Gothic Book"/>
                <a:cs typeface="Franklin Gothic Book"/>
              </a:rPr>
              <a:t> </a:t>
            </a:r>
            <a:r>
              <a:rPr lang="en-US" sz="1050" dirty="0">
                <a:latin typeface="Franklin Gothic Book"/>
                <a:cs typeface="Franklin Gothic Book"/>
              </a:rPr>
              <a:t>any provisions of this agreement, the successful or prevailing party or </a:t>
            </a:r>
            <a:r>
              <a:rPr lang="en-US" sz="1050" spc="5" dirty="0">
                <a:latin typeface="Franklin Gothic Book"/>
                <a:cs typeface="Franklin Gothic Book"/>
              </a:rPr>
              <a:t>parties </a:t>
            </a:r>
            <a:r>
              <a:rPr lang="en-US" sz="1050" dirty="0">
                <a:latin typeface="Franklin Gothic Book"/>
                <a:cs typeface="Franklin Gothic Book"/>
              </a:rPr>
              <a:t>shall be </a:t>
            </a:r>
            <a:r>
              <a:rPr lang="en-US" sz="1050" spc="5" dirty="0">
                <a:latin typeface="Franklin Gothic Book"/>
                <a:cs typeface="Franklin Gothic Book"/>
              </a:rPr>
              <a:t>entitled </a:t>
            </a:r>
            <a:r>
              <a:rPr lang="en-US" sz="1050" dirty="0">
                <a:latin typeface="Franklin Gothic Book"/>
                <a:cs typeface="Franklin Gothic Book"/>
              </a:rPr>
              <a:t>to recover reasonable legal </a:t>
            </a:r>
            <a:r>
              <a:rPr lang="en-US" sz="1050" spc="15" dirty="0" smtClean="0">
                <a:latin typeface="Franklin Gothic Book"/>
                <a:cs typeface="Franklin Gothic Book"/>
              </a:rPr>
              <a:t>attorney </a:t>
            </a:r>
            <a:r>
              <a:rPr lang="en-US" sz="1050" dirty="0">
                <a:latin typeface="Franklin Gothic Book"/>
                <a:cs typeface="Franklin Gothic Book"/>
              </a:rPr>
              <a:t>fees and other costs incurred in </a:t>
            </a:r>
            <a:r>
              <a:rPr lang="en-US" sz="1050" spc="5" dirty="0">
                <a:latin typeface="Franklin Gothic Book"/>
                <a:cs typeface="Franklin Gothic Book"/>
              </a:rPr>
              <a:t>addition </a:t>
            </a:r>
            <a:r>
              <a:rPr lang="en-US" sz="1050" dirty="0">
                <a:latin typeface="Franklin Gothic Book"/>
                <a:cs typeface="Franklin Gothic Book"/>
              </a:rPr>
              <a:t>to any other relief to which</a:t>
            </a:r>
            <a:r>
              <a:rPr lang="en-US" sz="1050" spc="-85" dirty="0">
                <a:latin typeface="Franklin Gothic Book"/>
                <a:cs typeface="Franklin Gothic Book"/>
              </a:rPr>
              <a:t> </a:t>
            </a:r>
            <a:r>
              <a:rPr lang="en-US" sz="1050" dirty="0">
                <a:latin typeface="Franklin Gothic Book"/>
                <a:cs typeface="Franklin Gothic Book"/>
              </a:rPr>
              <a:t>such  </a:t>
            </a:r>
            <a:r>
              <a:rPr lang="en-US" sz="1050" spc="5" dirty="0">
                <a:latin typeface="Franklin Gothic Book"/>
                <a:cs typeface="Franklin Gothic Book"/>
              </a:rPr>
              <a:t>parties </a:t>
            </a:r>
            <a:r>
              <a:rPr lang="en-US" sz="1050" dirty="0">
                <a:latin typeface="Franklin Gothic Book"/>
                <a:cs typeface="Franklin Gothic Book"/>
              </a:rPr>
              <a:t>may be </a:t>
            </a:r>
            <a:r>
              <a:rPr lang="en-US" sz="1050" spc="5" dirty="0">
                <a:latin typeface="Franklin Gothic Book"/>
                <a:cs typeface="Franklin Gothic Book"/>
              </a:rPr>
              <a:t>entitled. </a:t>
            </a:r>
            <a:r>
              <a:rPr lang="en-US" sz="1050" dirty="0">
                <a:latin typeface="Franklin Gothic Book"/>
                <a:cs typeface="Franklin Gothic Book"/>
              </a:rPr>
              <a:t>It is further agreed that the sole jurisdiction with respect to any such legal </a:t>
            </a:r>
            <a:r>
              <a:rPr lang="en-US" sz="1050" spc="5" dirty="0">
                <a:latin typeface="Franklin Gothic Book"/>
                <a:cs typeface="Franklin Gothic Book"/>
              </a:rPr>
              <a:t>action </a:t>
            </a:r>
            <a:r>
              <a:rPr lang="en-US" sz="1050" dirty="0">
                <a:latin typeface="Franklin Gothic Book"/>
                <a:cs typeface="Franklin Gothic Book"/>
              </a:rPr>
              <a:t>shall be in the County of Denton, State of</a:t>
            </a:r>
            <a:r>
              <a:rPr lang="en-US" sz="1050" spc="-50" dirty="0">
                <a:latin typeface="Franklin Gothic Book"/>
                <a:cs typeface="Franklin Gothic Book"/>
              </a:rPr>
              <a:t> </a:t>
            </a:r>
            <a:r>
              <a:rPr lang="en-US" sz="1050" dirty="0">
                <a:latin typeface="Franklin Gothic Book"/>
                <a:cs typeface="Franklin Gothic Book"/>
              </a:rPr>
              <a:t>Texas</a:t>
            </a:r>
            <a:r>
              <a:rPr lang="en-US" sz="1050" dirty="0" smtClean="0">
                <a:latin typeface="Franklin Gothic Book"/>
                <a:cs typeface="Franklin Gothic Book"/>
              </a:rPr>
              <a:t>.</a:t>
            </a:r>
          </a:p>
          <a:p>
            <a:pPr marL="165735" indent="-153035">
              <a:buAutoNum type="arabicPeriod" startAt="10"/>
              <a:tabLst>
                <a:tab pos="165735" algn="l"/>
              </a:tabLst>
            </a:pPr>
            <a:endParaRPr lang="en-US" sz="1050" dirty="0">
              <a:latin typeface="Franklin Gothic Book"/>
              <a:cs typeface="Franklin Gothic Book"/>
            </a:endParaRPr>
          </a:p>
          <a:p>
            <a:pPr marL="12700" marR="146685">
              <a:spcBef>
                <a:spcPts val="20"/>
              </a:spcBef>
              <a:buAutoNum type="arabicPeriod" startAt="13"/>
              <a:tabLst>
                <a:tab pos="165735" algn="l"/>
              </a:tabLst>
            </a:pPr>
            <a:r>
              <a:rPr lang="en-US" sz="1050" b="1" spc="-15" dirty="0">
                <a:latin typeface="Franklin Gothic Book"/>
                <a:cs typeface="Franklin Gothic Book"/>
              </a:rPr>
              <a:t>Notice</a:t>
            </a:r>
            <a:r>
              <a:rPr lang="en-US" sz="1050" spc="-15" dirty="0">
                <a:latin typeface="Franklin Gothic Book"/>
                <a:cs typeface="Franklin Gothic Book"/>
              </a:rPr>
              <a:t>: </a:t>
            </a:r>
            <a:r>
              <a:rPr lang="en-US" sz="1050" dirty="0">
                <a:latin typeface="Franklin Gothic Book"/>
                <a:cs typeface="Franklin Gothic Book"/>
              </a:rPr>
              <a:t>All </a:t>
            </a:r>
            <a:r>
              <a:rPr lang="en-US" sz="1050" spc="5" dirty="0">
                <a:latin typeface="Franklin Gothic Book"/>
                <a:cs typeface="Franklin Gothic Book"/>
              </a:rPr>
              <a:t>notices </a:t>
            </a:r>
            <a:r>
              <a:rPr lang="en-US" sz="1050" dirty="0">
                <a:latin typeface="Franklin Gothic Book"/>
                <a:cs typeface="Franklin Gothic Book"/>
              </a:rPr>
              <a:t>required to be given by one party to the other under this Agreement shall be by either commercial overnight </a:t>
            </a:r>
            <a:r>
              <a:rPr lang="en-US" sz="1050" dirty="0" smtClean="0">
                <a:latin typeface="Franklin Gothic Book"/>
                <a:cs typeface="Franklin Gothic Book"/>
              </a:rPr>
              <a:t>to </a:t>
            </a:r>
            <a:r>
              <a:rPr lang="en-US" sz="1050" dirty="0">
                <a:latin typeface="Franklin Gothic Book"/>
                <a:cs typeface="Franklin Gothic Book"/>
              </a:rPr>
              <a:t>such </a:t>
            </a:r>
            <a:r>
              <a:rPr lang="en-US" sz="1050" dirty="0" smtClean="0">
                <a:latin typeface="Franklin Gothic Book"/>
                <a:cs typeface="Franklin Gothic Book"/>
              </a:rPr>
              <a:t>	other </a:t>
            </a:r>
            <a:r>
              <a:rPr lang="en-US" sz="1050" dirty="0">
                <a:latin typeface="Franklin Gothic Book"/>
                <a:cs typeface="Franklin Gothic Book"/>
              </a:rPr>
              <a:t>address as the party to receive the </a:t>
            </a:r>
            <a:r>
              <a:rPr lang="en-US" sz="1050" spc="5" dirty="0" smtClean="0">
                <a:latin typeface="Franklin Gothic Book"/>
                <a:cs typeface="Franklin Gothic Book"/>
              </a:rPr>
              <a:t>notice </a:t>
            </a:r>
            <a:r>
              <a:rPr lang="en-US" sz="1050" dirty="0">
                <a:latin typeface="Franklin Gothic Book"/>
                <a:cs typeface="Franklin Gothic Book"/>
              </a:rPr>
              <a:t>has designated by </a:t>
            </a:r>
            <a:r>
              <a:rPr lang="en-US" sz="1050" spc="5" dirty="0">
                <a:latin typeface="Franklin Gothic Book"/>
                <a:cs typeface="Franklin Gothic Book"/>
              </a:rPr>
              <a:t>notice </a:t>
            </a:r>
            <a:r>
              <a:rPr lang="en-US" sz="1050" dirty="0">
                <a:latin typeface="Franklin Gothic Book"/>
                <a:cs typeface="Franklin Gothic Book"/>
              </a:rPr>
              <a:t>to the other</a:t>
            </a:r>
            <a:r>
              <a:rPr lang="en-US" sz="1050" spc="-35" dirty="0">
                <a:latin typeface="Franklin Gothic Book"/>
                <a:cs typeface="Franklin Gothic Book"/>
              </a:rPr>
              <a:t> </a:t>
            </a:r>
            <a:r>
              <a:rPr lang="en-US" sz="1050" dirty="0">
                <a:latin typeface="Franklin Gothic Book"/>
                <a:cs typeface="Franklin Gothic Book"/>
              </a:rPr>
              <a:t>party</a:t>
            </a:r>
            <a:r>
              <a:rPr lang="en-US" sz="1050" dirty="0" smtClean="0">
                <a:latin typeface="Franklin Gothic Book"/>
                <a:cs typeface="Franklin Gothic Book"/>
              </a:rPr>
              <a:t>.</a:t>
            </a:r>
          </a:p>
          <a:p>
            <a:pPr marL="12700" marR="146685">
              <a:spcBef>
                <a:spcPts val="20"/>
              </a:spcBef>
              <a:buAutoNum type="arabicPeriod" startAt="13"/>
              <a:tabLst>
                <a:tab pos="165735" algn="l"/>
              </a:tabLst>
            </a:pPr>
            <a:endParaRPr lang="en-US" sz="1050" dirty="0">
              <a:latin typeface="Franklin Gothic Book"/>
              <a:cs typeface="Franklin Gothic Book"/>
            </a:endParaRPr>
          </a:p>
          <a:p>
            <a:pPr marL="165735" indent="-153035">
              <a:buAutoNum type="arabicPeriod" startAt="13"/>
              <a:tabLst>
                <a:tab pos="165735" algn="l"/>
              </a:tabLst>
            </a:pPr>
            <a:r>
              <a:rPr lang="en-US" sz="1050" b="1" dirty="0">
                <a:latin typeface="Franklin Gothic Book"/>
                <a:cs typeface="Franklin Gothic Book"/>
              </a:rPr>
              <a:t>Liability</a:t>
            </a:r>
            <a:r>
              <a:rPr lang="en-US" sz="1050" dirty="0">
                <a:latin typeface="Franklin Gothic Book"/>
                <a:cs typeface="Franklin Gothic Book"/>
              </a:rPr>
              <a:t>: In no event shall Kate Burda &amp; Co be liable to the Client or to customers of the Client for any damages related to any failure or delay of Kate Burda &amp; Co in the delivery of the</a:t>
            </a:r>
            <a:r>
              <a:rPr lang="en-US" sz="1050" spc="-100" dirty="0">
                <a:latin typeface="Franklin Gothic Book"/>
                <a:cs typeface="Franklin Gothic Book"/>
              </a:rPr>
              <a:t> </a:t>
            </a:r>
            <a:r>
              <a:rPr lang="en-US" sz="1050" dirty="0">
                <a:latin typeface="Franklin Gothic Book"/>
                <a:cs typeface="Franklin Gothic Book"/>
              </a:rPr>
              <a:t>services under this agreement or any Work Plan, </a:t>
            </a:r>
            <a:r>
              <a:rPr lang="en-US" sz="1050" spc="5" dirty="0">
                <a:latin typeface="Franklin Gothic Book"/>
                <a:cs typeface="Franklin Gothic Book"/>
              </a:rPr>
              <a:t>resulting </a:t>
            </a:r>
            <a:r>
              <a:rPr lang="en-US" sz="1050" dirty="0">
                <a:latin typeface="Franklin Gothic Book"/>
                <a:cs typeface="Franklin Gothic Book"/>
              </a:rPr>
              <a:t>from, including without limitation, delays caused by Acts of God, Fire, War, Riots, Strikes, Acts of Terrorism, Quarantines or</a:t>
            </a:r>
            <a:r>
              <a:rPr lang="en-US" sz="1050" spc="-25" dirty="0">
                <a:latin typeface="Franklin Gothic Book"/>
                <a:cs typeface="Franklin Gothic Book"/>
              </a:rPr>
              <a:t> </a:t>
            </a:r>
            <a:r>
              <a:rPr lang="en-US" sz="1050" dirty="0">
                <a:latin typeface="Franklin Gothic Book"/>
                <a:cs typeface="Franklin Gothic Book"/>
              </a:rPr>
              <a:t>Embargoes</a:t>
            </a:r>
            <a:r>
              <a:rPr lang="en-US" sz="1050" dirty="0" smtClean="0">
                <a:latin typeface="Franklin Gothic Book"/>
                <a:cs typeface="Franklin Gothic Book"/>
              </a:rPr>
              <a:t>.</a:t>
            </a:r>
          </a:p>
          <a:p>
            <a:pPr marL="12700">
              <a:tabLst>
                <a:tab pos="165735" algn="l"/>
              </a:tabLst>
            </a:pPr>
            <a:endParaRPr lang="en-US" sz="1050" dirty="0">
              <a:latin typeface="Franklin Gothic Book"/>
              <a:cs typeface="Franklin Gothic Book"/>
            </a:endParaRPr>
          </a:p>
          <a:p>
            <a:pPr marL="165735" indent="-153035">
              <a:buAutoNum type="arabicPeriod" startAt="15"/>
              <a:tabLst>
                <a:tab pos="165735" algn="l"/>
              </a:tabLst>
            </a:pPr>
            <a:r>
              <a:rPr lang="en-US" sz="1050" b="1" spc="-5" dirty="0">
                <a:latin typeface="Franklin Gothic Book"/>
                <a:cs typeface="Franklin Gothic Book"/>
              </a:rPr>
              <a:t>Severability: </a:t>
            </a:r>
            <a:r>
              <a:rPr lang="en-US" sz="1050" dirty="0">
                <a:latin typeface="Franklin Gothic Book"/>
                <a:cs typeface="Franklin Gothic Book"/>
              </a:rPr>
              <a:t>If any provision of this Agreement is held invalid or otherwise unenforceable, the enforceability of the remaining provisions shall not be impaired</a:t>
            </a:r>
            <a:r>
              <a:rPr lang="en-US" sz="1050" spc="-40" dirty="0">
                <a:latin typeface="Franklin Gothic Book"/>
                <a:cs typeface="Franklin Gothic Book"/>
              </a:rPr>
              <a:t> </a:t>
            </a:r>
            <a:r>
              <a:rPr lang="en-US" sz="1050" dirty="0">
                <a:latin typeface="Franklin Gothic Book"/>
                <a:cs typeface="Franklin Gothic Book"/>
              </a:rPr>
              <a:t>thereby.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132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409FC017C7BF40961EF880411E08B5" ma:contentTypeVersion="13" ma:contentTypeDescription="Create a new document." ma:contentTypeScope="" ma:versionID="b5bca213ef9ff2908ccf7086a37359b6">
  <xsd:schema xmlns:xsd="http://www.w3.org/2001/XMLSchema" xmlns:xs="http://www.w3.org/2001/XMLSchema" xmlns:p="http://schemas.microsoft.com/office/2006/metadata/properties" xmlns:ns2="5f895480-74b7-4295-beb1-000abdb77711" xmlns:ns3="f9f3b592-2a1e-4fc9-8218-81ad9cd05aa6" targetNamespace="http://schemas.microsoft.com/office/2006/metadata/properties" ma:root="true" ma:fieldsID="dfe532681b131c6d2700ace22e453e6a" ns2:_="" ns3:_="">
    <xsd:import namespace="5f895480-74b7-4295-beb1-000abdb77711"/>
    <xsd:import namespace="f9f3b592-2a1e-4fc9-8218-81ad9cd05a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895480-74b7-4295-beb1-000abdb777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f3b592-2a1e-4fc9-8218-81ad9cd05aa6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E3A1F3A-E2E6-4A72-8EB8-EB2560EAAC86}"/>
</file>

<file path=customXml/itemProps2.xml><?xml version="1.0" encoding="utf-8"?>
<ds:datastoreItem xmlns:ds="http://schemas.openxmlformats.org/officeDocument/2006/customXml" ds:itemID="{96C4717A-4978-495F-ADA8-E85DE8986B48}"/>
</file>

<file path=customXml/itemProps3.xml><?xml version="1.0" encoding="utf-8"?>
<ds:datastoreItem xmlns:ds="http://schemas.openxmlformats.org/officeDocument/2006/customXml" ds:itemID="{4243D929-A908-4D4E-B1ED-58446826F0BA}"/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437</Words>
  <Application>Microsoft Macintosh PowerPoint</Application>
  <PresentationFormat>On-screen Show (4:3)</PresentationFormat>
  <Paragraphs>88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Revenue Performance Investment</vt:lpstr>
      <vt:lpstr>PowerPoint Presentation</vt:lpstr>
      <vt:lpstr>PowerPoint Presentation</vt:lpstr>
      <vt:lpstr>Terms and Conditions (cont.)</vt:lpstr>
    </vt:vector>
  </TitlesOfParts>
  <Company>Turning Point Consulting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Kate Burda</dc:creator>
  <cp:lastModifiedBy>Kate Burda</cp:lastModifiedBy>
  <cp:revision>2</cp:revision>
  <dcterms:created xsi:type="dcterms:W3CDTF">2016-11-08T00:08:18Z</dcterms:created>
  <dcterms:modified xsi:type="dcterms:W3CDTF">2016-11-08T00:26:13Z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0x01010075409FC017C7BF40961EF880411E08B5</vt:lpwstr>
  </property>
</Properties>
</file>