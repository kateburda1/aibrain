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4" r:id="rId1"/>
    <p:sldMasterId id="2147483801" r:id="rId2"/>
  </p:sldMasterIdLst>
  <p:notesMasterIdLst>
    <p:notesMasterId r:id="rId4"/>
  </p:notesMasterIdLst>
  <p:handoutMasterIdLst>
    <p:handoutMasterId r:id="rId5"/>
  </p:handoutMasterIdLst>
  <p:sldIdLst>
    <p:sldId id="433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B51072"/>
    <a:srgbClr val="FF2F92"/>
    <a:srgbClr val="FF2600"/>
    <a:srgbClr val="FFFFFF"/>
    <a:srgbClr val="B53A41"/>
    <a:srgbClr val="FF8AD8"/>
    <a:srgbClr val="F0F0F0"/>
    <a:srgbClr val="E97594"/>
    <a:srgbClr val="BA3967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3469"/>
  </p:normalViewPr>
  <p:slideViewPr>
    <p:cSldViewPr snapToGrid="0" snapToObjects="1">
      <p:cViewPr varScale="1">
        <p:scale>
          <a:sx n="153" d="100"/>
          <a:sy n="153" d="100"/>
        </p:scale>
        <p:origin x="1544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8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B8B00-F935-184D-80CA-7895733B20D0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1FA2C-0F2F-1A40-9FC7-4D3BE3EF0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4024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70DCC-EECA-5045-A891-3C7ED29B474E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204A1-840D-CA41-9990-2FBF1DA0CC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5800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B9CBC6-8EE6-874D-840D-200DDD68E685}"/>
              </a:ext>
            </a:extLst>
          </p:cNvPr>
          <p:cNvSpPr txBox="1">
            <a:spLocks/>
          </p:cNvSpPr>
          <p:nvPr userDrawn="1"/>
        </p:nvSpPr>
        <p:spPr>
          <a:xfrm>
            <a:off x="0" y="2"/>
            <a:ext cx="9144000" cy="701747"/>
          </a:xfrm>
          <a:prstGeom prst="rect">
            <a:avLst/>
          </a:prstGeom>
          <a:pattFill prst="pct25">
            <a:fgClr>
              <a:srgbClr val="89204A"/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Book"/>
                <a:ea typeface="+mj-ea"/>
                <a:cs typeface="Franklin Gothic Book"/>
              </a:defRPr>
            </a:lvl1pPr>
          </a:lstStyle>
          <a:p>
            <a:pPr algn="ctr"/>
            <a:endParaRPr lang="en-US" sz="3200" kern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828" y="149260"/>
            <a:ext cx="7772400" cy="4553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(#)</a:t>
            </a:r>
          </a:p>
        </p:txBody>
      </p:sp>
    </p:spTree>
    <p:extLst>
      <p:ext uri="{BB962C8B-B14F-4D97-AF65-F5344CB8AC3E}">
        <p14:creationId xmlns:p14="http://schemas.microsoft.com/office/powerpoint/2010/main" val="41233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utterstock_42161080.jpg">
            <a:extLst>
              <a:ext uri="{FF2B5EF4-FFF2-40B4-BE49-F238E27FC236}">
                <a16:creationId xmlns:a16="http://schemas.microsoft.com/office/drawing/2014/main" id="{6829F9F2-DA0A-5E45-B5D5-F68A2413DD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39"/>
                    </a14:imgEffect>
                    <a14:imgEffect>
                      <a14:saturation sat="1740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84"/>
          <a:stretch/>
        </p:blipFill>
        <p:spPr>
          <a:xfrm>
            <a:off x="-1" y="495301"/>
            <a:ext cx="9144001" cy="38957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9A6002-94A3-664E-9F3E-05DEF1EFDC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2302904"/>
            <a:ext cx="9144002" cy="743497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228600" tIns="45720" rIns="914400" bIns="45720" anchor="ctr" anchorCtr="0" upright="1">
            <a:no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400" dirty="0">
              <a:solidFill>
                <a:schemeClr val="bg1"/>
              </a:solidFill>
              <a:latin typeface="Franklin Gothic Book"/>
              <a:ea typeface="ＭＳ 明朝"/>
              <a:cs typeface="Franklin Gothic Book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CFAB8-C889-F04A-A58D-87D5D4DC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02904"/>
            <a:ext cx="8229600" cy="752184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1F0ED9-5A4A-E346-AEB9-15A899DDFD93}"/>
              </a:ext>
            </a:extLst>
          </p:cNvPr>
          <p:cNvSpPr txBox="1">
            <a:spLocks/>
          </p:cNvSpPr>
          <p:nvPr userDrawn="1"/>
        </p:nvSpPr>
        <p:spPr>
          <a:xfrm>
            <a:off x="0" y="2"/>
            <a:ext cx="9144000" cy="495299"/>
          </a:xfrm>
          <a:prstGeom prst="rect">
            <a:avLst/>
          </a:prstGeom>
          <a:solidFill>
            <a:srgbClr val="89204A"/>
          </a:solidFill>
        </p:spPr>
        <p:txBody>
          <a:bodyPr wrap="square" lIns="0" tIns="0" rIns="0" bIns="0" anchor="ctr"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Book"/>
                <a:ea typeface="+mj-ea"/>
                <a:cs typeface="Franklin Gothic Book"/>
              </a:defRPr>
            </a:lvl1pPr>
          </a:lstStyle>
          <a:p>
            <a:pPr algn="ctr"/>
            <a:endParaRPr lang="en-US" sz="3200" kern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B4155-49F9-A043-8F2C-AAFF6A6AAE8C}"/>
              </a:ext>
            </a:extLst>
          </p:cNvPr>
          <p:cNvSpPr/>
          <p:nvPr userDrawn="1"/>
        </p:nvSpPr>
        <p:spPr>
          <a:xfrm>
            <a:off x="-2" y="3603181"/>
            <a:ext cx="9144000" cy="11057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08D31-0345-4745-BE2E-0D84B812FBBA}"/>
              </a:ext>
            </a:extLst>
          </p:cNvPr>
          <p:cNvSpPr txBox="1"/>
          <p:nvPr userDrawn="1"/>
        </p:nvSpPr>
        <p:spPr>
          <a:xfrm>
            <a:off x="0" y="3718998"/>
            <a:ext cx="46074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4945">
              <a:lnSpc>
                <a:spcPct val="100000"/>
              </a:lnSpc>
            </a:pPr>
            <a:r>
              <a:rPr lang="en-US" sz="1200" dirty="0">
                <a:solidFill>
                  <a:srgbClr val="595959"/>
                </a:solidFill>
                <a:latin typeface="Franklin Gothic Book" panose="020B0503020102020204" pitchFamily="34" charset="0"/>
                <a:cs typeface="Franklin Gothic Book"/>
              </a:rPr>
              <a:t>Prepared</a:t>
            </a:r>
            <a:r>
              <a:rPr lang="en-US" sz="1200" spc="-5" dirty="0">
                <a:solidFill>
                  <a:srgbClr val="595959"/>
                </a:solidFill>
                <a:latin typeface="Franklin Gothic Book" panose="020B0503020102020204" pitchFamily="34" charset="0"/>
                <a:cs typeface="Franklin Gothic Book"/>
              </a:rPr>
              <a:t> </a:t>
            </a:r>
            <a:r>
              <a:rPr lang="en-US" sz="1200" spc="-10" dirty="0">
                <a:solidFill>
                  <a:srgbClr val="595959"/>
                </a:solidFill>
                <a:latin typeface="Franklin Gothic Book" panose="020B0503020102020204" pitchFamily="34" charset="0"/>
                <a:cs typeface="Franklin Gothic Book"/>
              </a:rPr>
              <a:t>for:</a:t>
            </a:r>
            <a:endParaRPr lang="en-US" sz="1200" dirty="0">
              <a:latin typeface="Franklin Gothic Book" panose="020B0503020102020204" pitchFamily="34" charset="0"/>
              <a:cs typeface="Franklin Gothic Book"/>
            </a:endParaRPr>
          </a:p>
          <a:p>
            <a:pPr marL="194945">
              <a:lnSpc>
                <a:spcPct val="100000"/>
              </a:lnSpc>
            </a:pPr>
            <a:endParaRPr lang="en-US" dirty="0">
              <a:latin typeface="Franklin Gothic Book" panose="020B0503020102020204" pitchFamily="34" charset="0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41456-C559-E24F-ADFB-E770AA5D43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8125" y="4453644"/>
            <a:ext cx="867746" cy="9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2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33EA-42D0-C744-A8C9-FF8C8A4C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1" y="1418091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A505B-3D64-F040-AE6A-C220B49E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3458A-C6B1-F342-8443-ECF68B31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9502-2890-7448-A23F-E1B2E482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(#)</a:t>
            </a:r>
          </a:p>
        </p:txBody>
      </p:sp>
    </p:spTree>
    <p:extLst>
      <p:ext uri="{BB962C8B-B14F-4D97-AF65-F5344CB8AC3E}">
        <p14:creationId xmlns:p14="http://schemas.microsoft.com/office/powerpoint/2010/main" val="152865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3799"/>
            <a:ext cx="8229600" cy="33944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0041" y="4417680"/>
            <a:ext cx="863917" cy="97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6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83148"/>
            <a:ext cx="7772400" cy="1021556"/>
          </a:xfrm>
        </p:spPr>
        <p:txBody>
          <a:bodyPr anchor="t">
            <a:normAutofit/>
          </a:bodyPr>
          <a:lstStyle>
            <a:lvl1pPr algn="l">
              <a:defRPr sz="36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7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5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1154" y="4418712"/>
            <a:ext cx="961697" cy="9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4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61604"/>
            <a:ext cx="8229600" cy="372090"/>
          </a:xfrm>
        </p:spPr>
        <p:txBody>
          <a:bodyPr/>
          <a:lstStyle/>
          <a:p>
            <a:r>
              <a:rPr lang="en-US" dirty="0"/>
              <a:t>Click to edit Master title </a:t>
            </a:r>
            <a:r>
              <a:rPr lang="en-US" dirty="0" err="1"/>
              <a:t>sle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3483" y="4316248"/>
            <a:ext cx="977032" cy="117587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0" y="-65988"/>
            <a:ext cx="9144000" cy="561289"/>
          </a:xfrm>
          <a:prstGeom prst="rect">
            <a:avLst/>
          </a:prstGeom>
          <a:pattFill prst="pct20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>
            <a:no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Book"/>
                <a:ea typeface="+mj-ea"/>
                <a:cs typeface="Franklin Gothic Book"/>
              </a:defRPr>
            </a:lvl1pPr>
          </a:lstStyle>
          <a:p>
            <a:pPr algn="ctr"/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54589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0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1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026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47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885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12/14/15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22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9460" y="3931143"/>
            <a:ext cx="2895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8320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58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>
                <a:latin typeface="Franklin Gothic Book" panose="020B0503020102020204" pitchFamily="34" charset="0"/>
              </a:defRPr>
            </a:lvl1pPr>
            <a:lvl2pPr>
              <a:defRPr sz="1800">
                <a:latin typeface="Franklin Gothic Book" panose="020B0503020102020204" pitchFamily="34" charset="0"/>
              </a:defRPr>
            </a:lvl2pPr>
            <a:lvl3pPr>
              <a:defRPr sz="1500">
                <a:latin typeface="Franklin Gothic Book" panose="020B0503020102020204" pitchFamily="34" charset="0"/>
              </a:defRPr>
            </a:lvl3pPr>
            <a:lvl4pPr>
              <a:defRPr sz="1350">
                <a:latin typeface="Franklin Gothic Book" panose="020B0503020102020204" pitchFamily="34" charset="0"/>
              </a:defRPr>
            </a:lvl4pPr>
            <a:lvl5pPr>
              <a:defRPr sz="1350">
                <a:latin typeface="Franklin Gothic Book" panose="020B05030201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>
                <a:latin typeface="Franklin Gothic Book" panose="020B0503020102020204" pitchFamily="34" charset="0"/>
              </a:defRPr>
            </a:lvl1pPr>
            <a:lvl2pPr>
              <a:defRPr sz="1800">
                <a:latin typeface="Franklin Gothic Book" panose="020B0503020102020204" pitchFamily="34" charset="0"/>
              </a:defRPr>
            </a:lvl2pPr>
            <a:lvl3pPr>
              <a:defRPr sz="1500">
                <a:latin typeface="Franklin Gothic Book" panose="020B0503020102020204" pitchFamily="34" charset="0"/>
              </a:defRPr>
            </a:lvl3pPr>
            <a:lvl4pPr>
              <a:defRPr sz="1350">
                <a:latin typeface="Franklin Gothic Book" panose="020B0503020102020204" pitchFamily="34" charset="0"/>
              </a:defRPr>
            </a:lvl4pPr>
            <a:lvl5pPr>
              <a:defRPr sz="1350">
                <a:latin typeface="Franklin Gothic Book" panose="020B05030201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5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21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314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367693"/>
            <a:ext cx="2895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524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>
                <a:latin typeface="Franklin Gothic Book" panose="020B0503020102020204" pitchFamily="34" charset="0"/>
              </a:defRPr>
            </a:lvl1pPr>
            <a:lvl2pPr>
              <a:defRPr sz="2100">
                <a:latin typeface="Franklin Gothic Book" panose="020B0503020102020204" pitchFamily="34" charset="0"/>
              </a:defRPr>
            </a:lvl2pPr>
            <a:lvl3pPr>
              <a:defRPr sz="1800">
                <a:latin typeface="Franklin Gothic Book" panose="020B0503020102020204" pitchFamily="34" charset="0"/>
              </a:defRPr>
            </a:lvl3pPr>
            <a:lvl4pPr>
              <a:defRPr sz="1500">
                <a:latin typeface="Franklin Gothic Book" panose="020B0503020102020204" pitchFamily="34" charset="0"/>
              </a:defRPr>
            </a:lvl4pPr>
            <a:lvl5pPr>
              <a:defRPr sz="1500">
                <a:latin typeface="Franklin Gothic Book" panose="020B0503020102020204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>
                <a:latin typeface="Franklin Gothic Book" panose="020B0503020102020204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13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749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73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F24D-EB19-4AE0-B015-2BEA6D5224F2}" type="datetimeFigureOut">
              <a:rPr lang="en-US" smtClean="0"/>
              <a:t>11/5/22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9BD3-E57B-4194-A545-2804EB95D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942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2150"/>
            <a:ext cx="6761612" cy="5847908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9144000" cy="4457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71450"/>
            <a:ext cx="7772400" cy="400049"/>
          </a:xfrm>
        </p:spPr>
        <p:txBody>
          <a:bodyPr/>
          <a:lstStyle>
            <a:lvl1pPr algn="r">
              <a:defRPr sz="1575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0" name="Picture Placeholder 2" descr="shutterstock_330442775.jpg">
            <a:extLst>
              <a:ext uri="{FF2B5EF4-FFF2-40B4-BE49-F238E27FC236}">
                <a16:creationId xmlns:a16="http://schemas.microsoft.com/office/drawing/2014/main" id="{3BDABE7B-66AF-FC4B-8ABD-A89921967A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85799"/>
            <a:ext cx="9144000" cy="459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24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32pt bullet sub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112839" y="273144"/>
            <a:ext cx="6142037" cy="48125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100" b="1" i="0" baseline="0">
                <a:solidFill>
                  <a:srgbClr val="000000"/>
                </a:solidFill>
                <a:latin typeface="Arial" pitchFamily="34" charset="0"/>
              </a:defRPr>
            </a:lvl1pPr>
            <a:lvl2pPr marL="0" indent="0">
              <a:buNone/>
              <a:defRPr sz="2400" b="1" i="0" baseline="0">
                <a:latin typeface="Arial" pitchFamily="34" charset="0"/>
              </a:defRPr>
            </a:lvl2pPr>
            <a:lvl3pPr marL="0" indent="0">
              <a:buNone/>
              <a:defRPr sz="2400" b="1" i="0" baseline="0">
                <a:latin typeface="Arial" pitchFamily="34" charset="0"/>
              </a:defRPr>
            </a:lvl3pPr>
            <a:lvl4pPr marL="0" indent="0">
              <a:buNone/>
              <a:defRPr sz="2400" b="1" i="0" baseline="0">
                <a:latin typeface="Arial" pitchFamily="34" charset="0"/>
              </a:defRPr>
            </a:lvl4pPr>
            <a:lvl5pPr marL="0" indent="0">
              <a:buNone/>
              <a:defRPr sz="2400" b="1" i="0" baseline="0">
                <a:latin typeface="Arial" pitchFamily="34" charset="0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</p:txBody>
      </p:sp>
      <p:sp>
        <p:nvSpPr>
          <p:cNvPr id="4" name="Content Placeholder 8"/>
          <p:cNvSpPr>
            <a:spLocks noGrp="1"/>
          </p:cNvSpPr>
          <p:nvPr>
            <p:ph sz="quarter" idx="16"/>
          </p:nvPr>
        </p:nvSpPr>
        <p:spPr>
          <a:xfrm>
            <a:off x="504825" y="1554479"/>
            <a:ext cx="8243888" cy="2868454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Font typeface="Wingdings" pitchFamily="2" charset="2"/>
              <a:buChar char="§"/>
              <a:defRPr sz="21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  <a:lvl2pPr>
              <a:spcAft>
                <a:spcPts val="450"/>
              </a:spcAft>
              <a:defRPr sz="15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504826" y="1057276"/>
            <a:ext cx="7512050" cy="37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0" indent="0"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904407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785" y="4773989"/>
            <a:ext cx="2895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0" y="0"/>
            <a:ext cx="9144000" cy="495300"/>
          </a:xfrm>
          <a:prstGeom prst="rect">
            <a:avLst/>
          </a:prstGeom>
          <a:pattFill prst="dotDmnd">
            <a:fgClr>
              <a:schemeClr val="bg1">
                <a:lumMod val="6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 vert="horz" lIns="68580" tIns="34290" rIns="68580" bIns="3429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>
              <a:latin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32180908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437475" cy="51435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257301"/>
            <a:ext cx="7772400" cy="2288381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Insert Title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4000500"/>
            <a:ext cx="7772400" cy="285750"/>
          </a:xfrm>
        </p:spPr>
        <p:txBody>
          <a:bodyPr anchor="t">
            <a:normAutofit/>
          </a:bodyPr>
          <a:lstStyle>
            <a:lvl1pPr marL="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72430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12/14/15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(#)</a:t>
            </a:r>
          </a:p>
        </p:txBody>
      </p:sp>
    </p:spTree>
    <p:extLst>
      <p:ext uri="{BB962C8B-B14F-4D97-AF65-F5344CB8AC3E}">
        <p14:creationId xmlns:p14="http://schemas.microsoft.com/office/powerpoint/2010/main" val="329107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800" r:id="rId2"/>
    <p:sldLayoutId id="2147483799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4/18/2016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(1)</a:t>
            </a:r>
          </a:p>
        </p:txBody>
      </p:sp>
      <p:pic>
        <p:nvPicPr>
          <p:cNvPr id="7" name="Picture 6"/>
          <p:cNvPicPr/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78594" y="4731545"/>
            <a:ext cx="587349" cy="309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18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8C89-8F13-3C00-127E-C02CFED7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Execs are Unsatisfied with Interactions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3850E-B050-312A-0BA1-B7136F9755E0}"/>
              </a:ext>
            </a:extLst>
          </p:cNvPr>
          <p:cNvSpPr txBox="1"/>
          <p:nvPr/>
        </p:nvSpPr>
        <p:spPr>
          <a:xfrm>
            <a:off x="2223902" y="549317"/>
            <a:ext cx="48881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“Are salespeople frequently prepared for your meetings in the following ways?”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189F93-ED27-0A52-8C55-C2E782192214}"/>
              </a:ext>
            </a:extLst>
          </p:cNvPr>
          <p:cNvSpPr/>
          <p:nvPr/>
        </p:nvSpPr>
        <p:spPr>
          <a:xfrm>
            <a:off x="7825445" y="812098"/>
            <a:ext cx="151558" cy="1374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A1CC47-B85F-EF00-D81D-A1C792E7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024" y="1005931"/>
            <a:ext cx="152400" cy="1397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6CAF4C-8990-AF19-8389-0D0EAC9AFBF1}"/>
              </a:ext>
            </a:extLst>
          </p:cNvPr>
          <p:cNvSpPr txBox="1"/>
          <p:nvPr/>
        </p:nvSpPr>
        <p:spPr>
          <a:xfrm>
            <a:off x="7977003" y="755756"/>
            <a:ext cx="4597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Franklin Gothic Book" panose="020B0503020102020204" pitchFamily="34" charset="0"/>
              </a:rPr>
              <a:t>Yes</a:t>
            </a:r>
          </a:p>
          <a:p>
            <a:endParaRPr lang="en-US" sz="500" dirty="0">
              <a:latin typeface="Franklin Gothic Book" panose="020B0503020102020204" pitchFamily="34" charset="0"/>
            </a:endParaRPr>
          </a:p>
          <a:p>
            <a:r>
              <a:rPr lang="en-US" sz="800" dirty="0">
                <a:latin typeface="Franklin Gothic Book" panose="020B0503020102020204" pitchFamily="34" charset="0"/>
              </a:rPr>
              <a:t>No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00B0C-3BC6-CC46-D01D-9647FA4A5C0C}"/>
              </a:ext>
            </a:extLst>
          </p:cNvPr>
          <p:cNvSpPr txBox="1"/>
          <p:nvPr/>
        </p:nvSpPr>
        <p:spPr>
          <a:xfrm>
            <a:off x="1338762" y="1013242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Knowledgeable about their own company and 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6B3AE-B55D-8A23-4826-E9ED2AF40889}"/>
              </a:ext>
            </a:extLst>
          </p:cNvPr>
          <p:cNvSpPr txBox="1"/>
          <p:nvPr/>
        </p:nvSpPr>
        <p:spPr>
          <a:xfrm>
            <a:off x="1338762" y="1511288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Knowledgeable about my industry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F7831-222F-2EC9-5324-1FDDF5E8D327}"/>
              </a:ext>
            </a:extLst>
          </p:cNvPr>
          <p:cNvSpPr txBox="1"/>
          <p:nvPr/>
        </p:nvSpPr>
        <p:spPr>
          <a:xfrm>
            <a:off x="1076061" y="3008966"/>
            <a:ext cx="22026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Can relate to my role and responsibilities in the organization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15A80E-E1B7-F7C3-9452-462A83650097}"/>
              </a:ext>
            </a:extLst>
          </p:cNvPr>
          <p:cNvSpPr txBox="1"/>
          <p:nvPr/>
        </p:nvSpPr>
        <p:spPr>
          <a:xfrm>
            <a:off x="1338762" y="2009334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Prepared for the questions that I 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03983A-B2D6-EC87-19A4-6E3CAC1F2B4A}"/>
              </a:ext>
            </a:extLst>
          </p:cNvPr>
          <p:cNvSpPr txBox="1"/>
          <p:nvPr/>
        </p:nvSpPr>
        <p:spPr>
          <a:xfrm>
            <a:off x="1338761" y="2539413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Knowledgeable about my specific business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4BAE8-E773-C218-65DF-95F43F4A8E9C}"/>
              </a:ext>
            </a:extLst>
          </p:cNvPr>
          <p:cNvSpPr txBox="1"/>
          <p:nvPr/>
        </p:nvSpPr>
        <p:spPr>
          <a:xfrm>
            <a:off x="1338762" y="3503472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Understands my issues and where they can help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4826E-5EDC-3A4D-62E6-305034D6AB09}"/>
              </a:ext>
            </a:extLst>
          </p:cNvPr>
          <p:cNvSpPr txBox="1"/>
          <p:nvPr/>
        </p:nvSpPr>
        <p:spPr>
          <a:xfrm>
            <a:off x="1338762" y="4001518"/>
            <a:ext cx="19399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latin typeface="Franklin Gothic Book" panose="020B0503020102020204" pitchFamily="34" charset="0"/>
              </a:rPr>
              <a:t>Has relevant examples or case studies to share with 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EC74A-F992-95A1-C528-6EFABF32AC74}"/>
              </a:ext>
            </a:extLst>
          </p:cNvPr>
          <p:cNvSpPr txBox="1"/>
          <p:nvPr/>
        </p:nvSpPr>
        <p:spPr>
          <a:xfrm>
            <a:off x="5436722" y="4752129"/>
            <a:ext cx="41215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Franklin Gothic Book" panose="020B0503020102020204" pitchFamily="34" charset="0"/>
              </a:rPr>
              <a:t>Source: Forrester’s Q4 2013 North American and Europe Executive Buyer Insight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ECEEFA-2378-FF4B-C99A-9DD393E29F74}"/>
              </a:ext>
            </a:extLst>
          </p:cNvPr>
          <p:cNvSpPr txBox="1"/>
          <p:nvPr/>
        </p:nvSpPr>
        <p:spPr>
          <a:xfrm>
            <a:off x="348583" y="4629019"/>
            <a:ext cx="3061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latin typeface="Franklin Gothic Book" panose="020B0503020102020204" pitchFamily="34" charset="0"/>
              </a:rPr>
              <a:t>Base: 319 executive- level buyers at global companies with 100 or more employees. Percentages may not total 100 due to rounding.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C7B0DD-B1E0-B18B-2C3E-8B750448A153}"/>
              </a:ext>
            </a:extLst>
          </p:cNvPr>
          <p:cNvSpPr/>
          <p:nvPr/>
        </p:nvSpPr>
        <p:spPr>
          <a:xfrm>
            <a:off x="3349428" y="1070931"/>
            <a:ext cx="2429984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7CF31D-C885-8C27-1D20-F263E2D28C4F}"/>
              </a:ext>
            </a:extLst>
          </p:cNvPr>
          <p:cNvSpPr/>
          <p:nvPr/>
        </p:nvSpPr>
        <p:spPr>
          <a:xfrm>
            <a:off x="3349429" y="1243239"/>
            <a:ext cx="1369078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CBE282-13A9-9CC4-8400-1E537DEBC661}"/>
              </a:ext>
            </a:extLst>
          </p:cNvPr>
          <p:cNvSpPr/>
          <p:nvPr/>
        </p:nvSpPr>
        <p:spPr>
          <a:xfrm>
            <a:off x="3349428" y="1578751"/>
            <a:ext cx="1732817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BA93EB-4843-0C03-CFC2-A66856EAA80F}"/>
              </a:ext>
            </a:extLst>
          </p:cNvPr>
          <p:cNvSpPr/>
          <p:nvPr/>
        </p:nvSpPr>
        <p:spPr>
          <a:xfrm>
            <a:off x="3349429" y="2091133"/>
            <a:ext cx="1222572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2CCAF2-64D4-4295-F525-42CE666B80D4}"/>
              </a:ext>
            </a:extLst>
          </p:cNvPr>
          <p:cNvSpPr/>
          <p:nvPr/>
        </p:nvSpPr>
        <p:spPr>
          <a:xfrm>
            <a:off x="3349429" y="2261086"/>
            <a:ext cx="2783620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0094FA-9438-0AF9-3072-FEF7EBC909CD}"/>
              </a:ext>
            </a:extLst>
          </p:cNvPr>
          <p:cNvSpPr/>
          <p:nvPr/>
        </p:nvSpPr>
        <p:spPr>
          <a:xfrm>
            <a:off x="3349429" y="2592248"/>
            <a:ext cx="924508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D0E7D1-C49F-44AE-81DA-5785A54E4134}"/>
              </a:ext>
            </a:extLst>
          </p:cNvPr>
          <p:cNvSpPr/>
          <p:nvPr/>
        </p:nvSpPr>
        <p:spPr>
          <a:xfrm>
            <a:off x="3349429" y="2758224"/>
            <a:ext cx="2995800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3B081F-3417-A9AC-A305-E8A0CA2378EF}"/>
              </a:ext>
            </a:extLst>
          </p:cNvPr>
          <p:cNvSpPr/>
          <p:nvPr/>
        </p:nvSpPr>
        <p:spPr>
          <a:xfrm>
            <a:off x="3349428" y="3093293"/>
            <a:ext cx="858833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CA7869-27D8-3B42-FAC7-E09BFFA0D144}"/>
              </a:ext>
            </a:extLst>
          </p:cNvPr>
          <p:cNvSpPr/>
          <p:nvPr/>
        </p:nvSpPr>
        <p:spPr>
          <a:xfrm>
            <a:off x="3349428" y="3257466"/>
            <a:ext cx="3086735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A78BF9-724D-D49E-BEE1-34E21085F3A2}"/>
              </a:ext>
            </a:extLst>
          </p:cNvPr>
          <p:cNvSpPr/>
          <p:nvPr/>
        </p:nvSpPr>
        <p:spPr>
          <a:xfrm>
            <a:off x="3349429" y="3587184"/>
            <a:ext cx="752742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B57A44-86EB-630D-1A85-9E039C36D774}"/>
              </a:ext>
            </a:extLst>
          </p:cNvPr>
          <p:cNvSpPr/>
          <p:nvPr/>
        </p:nvSpPr>
        <p:spPr>
          <a:xfrm>
            <a:off x="3349428" y="3746607"/>
            <a:ext cx="3280394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983B77-3EBE-DDC8-8F68-0395CFF4DF5A}"/>
              </a:ext>
            </a:extLst>
          </p:cNvPr>
          <p:cNvSpPr/>
          <p:nvPr/>
        </p:nvSpPr>
        <p:spPr>
          <a:xfrm>
            <a:off x="3349428" y="4082467"/>
            <a:ext cx="666859" cy="1397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79A7C3-5F20-B4D4-A11C-68ECA87A9C25}"/>
              </a:ext>
            </a:extLst>
          </p:cNvPr>
          <p:cNvSpPr/>
          <p:nvPr/>
        </p:nvSpPr>
        <p:spPr>
          <a:xfrm>
            <a:off x="3349428" y="4249368"/>
            <a:ext cx="3324176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000D71-40B6-21A7-DFA5-83830C7152E1}"/>
              </a:ext>
            </a:extLst>
          </p:cNvPr>
          <p:cNvSpPr/>
          <p:nvPr/>
        </p:nvSpPr>
        <p:spPr>
          <a:xfrm>
            <a:off x="3349428" y="1753286"/>
            <a:ext cx="2207699" cy="139700"/>
          </a:xfrm>
          <a:prstGeom prst="rect">
            <a:avLst/>
          </a:prstGeom>
          <a:solidFill>
            <a:srgbClr val="B51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144052-AFBA-BA76-367B-6743CF2D516C}"/>
              </a:ext>
            </a:extLst>
          </p:cNvPr>
          <p:cNvSpPr txBox="1"/>
          <p:nvPr/>
        </p:nvSpPr>
        <p:spPr>
          <a:xfrm>
            <a:off x="5751626" y="1036985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62%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4BC64-C366-1101-897E-3AD9C8B56A08}"/>
              </a:ext>
            </a:extLst>
          </p:cNvPr>
          <p:cNvSpPr txBox="1"/>
          <p:nvPr/>
        </p:nvSpPr>
        <p:spPr>
          <a:xfrm>
            <a:off x="4718507" y="121133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37%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6BC3B3-59A0-8FE4-7290-ADD1115AB05A}"/>
              </a:ext>
            </a:extLst>
          </p:cNvPr>
          <p:cNvSpPr txBox="1"/>
          <p:nvPr/>
        </p:nvSpPr>
        <p:spPr>
          <a:xfrm>
            <a:off x="5152968" y="1530511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42%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A31115-5FFA-F065-4E6B-526541F853F4}"/>
              </a:ext>
            </a:extLst>
          </p:cNvPr>
          <p:cNvSpPr txBox="1"/>
          <p:nvPr/>
        </p:nvSpPr>
        <p:spPr>
          <a:xfrm>
            <a:off x="5594173" y="1721017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57%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98C9DF-81B7-1146-745E-534A6FF715C3}"/>
              </a:ext>
            </a:extLst>
          </p:cNvPr>
          <p:cNvSpPr txBox="1"/>
          <p:nvPr/>
        </p:nvSpPr>
        <p:spPr>
          <a:xfrm>
            <a:off x="4598103" y="204290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30%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DCA5B2-8864-BFB2-ECD7-53B96E3F7152}"/>
              </a:ext>
            </a:extLst>
          </p:cNvPr>
          <p:cNvSpPr txBox="1"/>
          <p:nvPr/>
        </p:nvSpPr>
        <p:spPr>
          <a:xfrm>
            <a:off x="6112841" y="2221721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E604EC-48F9-1E3D-8EEC-4395006CADE4}"/>
              </a:ext>
            </a:extLst>
          </p:cNvPr>
          <p:cNvSpPr txBox="1"/>
          <p:nvPr/>
        </p:nvSpPr>
        <p:spPr>
          <a:xfrm>
            <a:off x="4250363" y="2549480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24%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32553E-5AAD-71B0-EC7B-C7872070178E}"/>
              </a:ext>
            </a:extLst>
          </p:cNvPr>
          <p:cNvSpPr txBox="1"/>
          <p:nvPr/>
        </p:nvSpPr>
        <p:spPr>
          <a:xfrm>
            <a:off x="6321234" y="2708522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75%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36DBB7-F8C4-B18C-2F99-56389B785253}"/>
              </a:ext>
            </a:extLst>
          </p:cNvPr>
          <p:cNvSpPr txBox="1"/>
          <p:nvPr/>
        </p:nvSpPr>
        <p:spPr>
          <a:xfrm>
            <a:off x="4208261" y="304510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23%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17317-6749-7172-25FD-0BF87719074E}"/>
              </a:ext>
            </a:extLst>
          </p:cNvPr>
          <p:cNvSpPr txBox="1"/>
          <p:nvPr/>
        </p:nvSpPr>
        <p:spPr>
          <a:xfrm>
            <a:off x="6399960" y="3207432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76%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EF9D0-3B72-F34C-7237-5E3F20CB6BA2}"/>
              </a:ext>
            </a:extLst>
          </p:cNvPr>
          <p:cNvSpPr txBox="1"/>
          <p:nvPr/>
        </p:nvSpPr>
        <p:spPr>
          <a:xfrm>
            <a:off x="4102171" y="3541264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22%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DF5D9C-9BA0-479D-9218-FCC851E6B55E}"/>
              </a:ext>
            </a:extLst>
          </p:cNvPr>
          <p:cNvSpPr txBox="1"/>
          <p:nvPr/>
        </p:nvSpPr>
        <p:spPr>
          <a:xfrm>
            <a:off x="6578039" y="3708735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77%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03E609-CA65-FF7B-A5F1-64A3648A9EBB}"/>
              </a:ext>
            </a:extLst>
          </p:cNvPr>
          <p:cNvSpPr txBox="1"/>
          <p:nvPr/>
        </p:nvSpPr>
        <p:spPr>
          <a:xfrm>
            <a:off x="4008710" y="4050615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21%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D84CA4-6A3D-23EE-7BA2-9288EA3F1433}"/>
              </a:ext>
            </a:extLst>
          </p:cNvPr>
          <p:cNvSpPr txBox="1"/>
          <p:nvPr/>
        </p:nvSpPr>
        <p:spPr>
          <a:xfrm>
            <a:off x="6673604" y="4213069"/>
            <a:ext cx="459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Franklin Gothic Book" panose="020B0503020102020204" pitchFamily="34" charset="0"/>
              </a:rPr>
              <a:t>78%</a:t>
            </a:r>
          </a:p>
        </p:txBody>
      </p:sp>
    </p:spTree>
    <p:extLst>
      <p:ext uri="{BB962C8B-B14F-4D97-AF65-F5344CB8AC3E}">
        <p14:creationId xmlns:p14="http://schemas.microsoft.com/office/powerpoint/2010/main" val="148929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31181</TotalTime>
  <Words>135</Words>
  <Application>Microsoft Macintosh PowerPoint</Application>
  <PresentationFormat>On-screen Show (16:9)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Wingdings</vt:lpstr>
      <vt:lpstr>Office Theme</vt:lpstr>
      <vt:lpstr>2_Office Theme</vt:lpstr>
      <vt:lpstr>Execs are Unsatisfied with Interactions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666</cp:revision>
  <cp:lastPrinted>2022-07-25T18:36:33Z</cp:lastPrinted>
  <dcterms:created xsi:type="dcterms:W3CDTF">2015-12-09T20:56:52Z</dcterms:created>
  <dcterms:modified xsi:type="dcterms:W3CDTF">2022-11-08T15:42:36Z</dcterms:modified>
</cp:coreProperties>
</file>