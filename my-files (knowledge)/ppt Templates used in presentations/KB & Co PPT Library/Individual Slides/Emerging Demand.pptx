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  <p:sldMasterId id="2147483674" r:id="rId6"/>
  </p:sldMasterIdLst>
  <p:notesMasterIdLst>
    <p:notesMasterId r:id="rId8"/>
  </p:notesMasterIdLst>
  <p:sldIdLst>
    <p:sldId id="451" r:id="rId7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E54"/>
    <a:srgbClr val="E21289"/>
    <a:srgbClr val="97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5"/>
    <p:restoredTop sz="63946"/>
  </p:normalViewPr>
  <p:slideViewPr>
    <p:cSldViewPr snapToGrid="0" snapToObjects="1">
      <p:cViewPr varScale="1">
        <p:scale>
          <a:sx n="100" d="100"/>
          <a:sy n="100" d="100"/>
        </p:scale>
        <p:origin x="3040" y="168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E6296B-D73B-CD47-9B14-40EF4BCA9BD2}" type="doc">
      <dgm:prSet loTypeId="urn:microsoft.com/office/officeart/2009/3/layout/IncreasingArrows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CAB257-F1F2-BF43-90DB-9B97C6F856D1}">
      <dgm:prSet phldrT="[Text]" custT="1"/>
      <dgm:spPr>
        <a:solidFill>
          <a:schemeClr val="bg1"/>
        </a:solidFill>
        <a:ln>
          <a:solidFill>
            <a:srgbClr val="BA1C7F"/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  <a:latin typeface="Franklin Gothic Medium"/>
              <a:cs typeface="Franklin Gothic Medium"/>
            </a:rPr>
            <a:t>Sales</a:t>
          </a:r>
        </a:p>
      </dgm:t>
    </dgm:pt>
    <dgm:pt modelId="{9F71B84F-841A-E047-80AA-900E41E49EBD}" type="parTrans" cxnId="{11CD6273-709E-CA4D-AA5C-6BCB6F255625}">
      <dgm:prSet/>
      <dgm:spPr/>
      <dgm:t>
        <a:bodyPr/>
        <a:lstStyle/>
        <a:p>
          <a:endParaRPr lang="en-US"/>
        </a:p>
      </dgm:t>
    </dgm:pt>
    <dgm:pt modelId="{89C81E2A-742E-BB4B-8431-341491BC6AAD}" type="sibTrans" cxnId="{11CD6273-709E-CA4D-AA5C-6BCB6F255625}">
      <dgm:prSet/>
      <dgm:spPr/>
      <dgm:t>
        <a:bodyPr/>
        <a:lstStyle/>
        <a:p>
          <a:endParaRPr lang="en-US"/>
        </a:p>
      </dgm:t>
    </dgm:pt>
    <dgm:pt modelId="{831BD815-D73F-284E-AF27-2C5720824A23}">
      <dgm:prSet phldrT="[Text]" custT="1"/>
      <dgm:spPr>
        <a:solidFill>
          <a:schemeClr val="bg1"/>
        </a:solidFill>
        <a:ln>
          <a:solidFill>
            <a:srgbClr val="BA1C7F"/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  <a:latin typeface="Franklin Gothic Medium"/>
              <a:cs typeface="Franklin Gothic Medium"/>
            </a:rPr>
            <a:t>Marketing</a:t>
          </a:r>
        </a:p>
      </dgm:t>
    </dgm:pt>
    <dgm:pt modelId="{97BD0FFA-DCB2-3743-A4E4-17A4BCFF8A34}" type="parTrans" cxnId="{5E36C778-750E-F445-8076-3BDF31627B95}">
      <dgm:prSet/>
      <dgm:spPr/>
      <dgm:t>
        <a:bodyPr/>
        <a:lstStyle/>
        <a:p>
          <a:endParaRPr lang="en-US"/>
        </a:p>
      </dgm:t>
    </dgm:pt>
    <dgm:pt modelId="{179A756A-C013-FA42-97D8-AB57EBF783AF}" type="sibTrans" cxnId="{5E36C778-750E-F445-8076-3BDF31627B95}">
      <dgm:prSet/>
      <dgm:spPr/>
      <dgm:t>
        <a:bodyPr/>
        <a:lstStyle/>
        <a:p>
          <a:endParaRPr lang="en-US"/>
        </a:p>
      </dgm:t>
    </dgm:pt>
    <dgm:pt modelId="{BEA64A0A-6632-3D4E-B4A8-0BEAE33C8864}">
      <dgm:prSet phldrT="[Text]" custT="1"/>
      <dgm:spPr>
        <a:solidFill>
          <a:schemeClr val="bg1"/>
        </a:solidFill>
        <a:ln>
          <a:solidFill>
            <a:srgbClr val="BA1C7F"/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  <a:latin typeface="Franklin Gothic Medium"/>
              <a:cs typeface="Franklin Gothic Medium"/>
            </a:rPr>
            <a:t>Rev. Mgmt</a:t>
          </a:r>
        </a:p>
      </dgm:t>
    </dgm:pt>
    <dgm:pt modelId="{E29B5CB7-786E-9B4B-B357-7E450ED03DAF}" type="parTrans" cxnId="{36F75157-96AF-B240-B6C3-B027F6B560DE}">
      <dgm:prSet/>
      <dgm:spPr/>
      <dgm:t>
        <a:bodyPr/>
        <a:lstStyle/>
        <a:p>
          <a:endParaRPr lang="en-US"/>
        </a:p>
      </dgm:t>
    </dgm:pt>
    <dgm:pt modelId="{4FB5BABF-D020-A94B-9944-4C2081645088}" type="sibTrans" cxnId="{36F75157-96AF-B240-B6C3-B027F6B560DE}">
      <dgm:prSet/>
      <dgm:spPr/>
      <dgm:t>
        <a:bodyPr/>
        <a:lstStyle/>
        <a:p>
          <a:endParaRPr lang="en-US"/>
        </a:p>
      </dgm:t>
    </dgm:pt>
    <dgm:pt modelId="{487F873E-CEDD-1748-ADE3-0AA211A91274}" type="pres">
      <dgm:prSet presAssocID="{BCE6296B-D73B-CD47-9B14-40EF4BCA9BD2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0C0DC61B-37F4-6248-91FB-08AECD31EF78}" type="pres">
      <dgm:prSet presAssocID="{06CAB257-F1F2-BF43-90DB-9B97C6F856D1}" presName="parentText1" presStyleLbl="node1" presStyleIdx="0" presStyleCnt="3" custScaleY="136516">
        <dgm:presLayoutVars>
          <dgm:chMax/>
          <dgm:chPref val="3"/>
          <dgm:bulletEnabled val="1"/>
        </dgm:presLayoutVars>
      </dgm:prSet>
      <dgm:spPr/>
    </dgm:pt>
    <dgm:pt modelId="{640ECC18-FF71-FC4D-B4E2-345CA264C731}" type="pres">
      <dgm:prSet presAssocID="{831BD815-D73F-284E-AF27-2C5720824A23}" presName="parentText2" presStyleLbl="node1" presStyleIdx="1" presStyleCnt="3" custScaleY="145105">
        <dgm:presLayoutVars>
          <dgm:chMax/>
          <dgm:chPref val="3"/>
          <dgm:bulletEnabled val="1"/>
        </dgm:presLayoutVars>
      </dgm:prSet>
      <dgm:spPr/>
    </dgm:pt>
    <dgm:pt modelId="{62A469E4-8FE2-4E46-B9BA-A36D6F5123C4}" type="pres">
      <dgm:prSet presAssocID="{BEA64A0A-6632-3D4E-B4A8-0BEAE33C8864}" presName="parentText3" presStyleLbl="node1" presStyleIdx="2" presStyleCnt="3" custScaleY="147667">
        <dgm:presLayoutVars>
          <dgm:chMax/>
          <dgm:chPref val="3"/>
          <dgm:bulletEnabled val="1"/>
        </dgm:presLayoutVars>
      </dgm:prSet>
      <dgm:spPr/>
    </dgm:pt>
  </dgm:ptLst>
  <dgm:cxnLst>
    <dgm:cxn modelId="{D3148401-4DD3-8D4D-9193-4AF3A957F8A0}" type="presOf" srcId="{06CAB257-F1F2-BF43-90DB-9B97C6F856D1}" destId="{0C0DC61B-37F4-6248-91FB-08AECD31EF78}" srcOrd="0" destOrd="0" presId="urn:microsoft.com/office/officeart/2009/3/layout/IncreasingArrowsProcess"/>
    <dgm:cxn modelId="{E7B85C2C-159E-E246-B951-25C69DCC5F89}" type="presOf" srcId="{831BD815-D73F-284E-AF27-2C5720824A23}" destId="{640ECC18-FF71-FC4D-B4E2-345CA264C731}" srcOrd="0" destOrd="0" presId="urn:microsoft.com/office/officeart/2009/3/layout/IncreasingArrowsProcess"/>
    <dgm:cxn modelId="{36070443-0071-D444-A311-A3AEFCFA963C}" type="presOf" srcId="{BCE6296B-D73B-CD47-9B14-40EF4BCA9BD2}" destId="{487F873E-CEDD-1748-ADE3-0AA211A91274}" srcOrd="0" destOrd="0" presId="urn:microsoft.com/office/officeart/2009/3/layout/IncreasingArrowsProcess"/>
    <dgm:cxn modelId="{36F75157-96AF-B240-B6C3-B027F6B560DE}" srcId="{BCE6296B-D73B-CD47-9B14-40EF4BCA9BD2}" destId="{BEA64A0A-6632-3D4E-B4A8-0BEAE33C8864}" srcOrd="2" destOrd="0" parTransId="{E29B5CB7-786E-9B4B-B357-7E450ED03DAF}" sibTransId="{4FB5BABF-D020-A94B-9944-4C2081645088}"/>
    <dgm:cxn modelId="{C5BAE669-7EAC-5C4F-9DA8-61DC7998BD9C}" type="presOf" srcId="{BEA64A0A-6632-3D4E-B4A8-0BEAE33C8864}" destId="{62A469E4-8FE2-4E46-B9BA-A36D6F5123C4}" srcOrd="0" destOrd="0" presId="urn:microsoft.com/office/officeart/2009/3/layout/IncreasingArrowsProcess"/>
    <dgm:cxn modelId="{11CD6273-709E-CA4D-AA5C-6BCB6F255625}" srcId="{BCE6296B-D73B-CD47-9B14-40EF4BCA9BD2}" destId="{06CAB257-F1F2-BF43-90DB-9B97C6F856D1}" srcOrd="0" destOrd="0" parTransId="{9F71B84F-841A-E047-80AA-900E41E49EBD}" sibTransId="{89C81E2A-742E-BB4B-8431-341491BC6AAD}"/>
    <dgm:cxn modelId="{5E36C778-750E-F445-8076-3BDF31627B95}" srcId="{BCE6296B-D73B-CD47-9B14-40EF4BCA9BD2}" destId="{831BD815-D73F-284E-AF27-2C5720824A23}" srcOrd="1" destOrd="0" parTransId="{97BD0FFA-DCB2-3743-A4E4-17A4BCFF8A34}" sibTransId="{179A756A-C013-FA42-97D8-AB57EBF783AF}"/>
    <dgm:cxn modelId="{6EB93BA4-455A-3048-8788-3BA354040825}" type="presParOf" srcId="{487F873E-CEDD-1748-ADE3-0AA211A91274}" destId="{0C0DC61B-37F4-6248-91FB-08AECD31EF78}" srcOrd="0" destOrd="0" presId="urn:microsoft.com/office/officeart/2009/3/layout/IncreasingArrowsProcess"/>
    <dgm:cxn modelId="{35EF59E6-55A4-574E-B471-D3662AE37845}" type="presParOf" srcId="{487F873E-CEDD-1748-ADE3-0AA211A91274}" destId="{640ECC18-FF71-FC4D-B4E2-345CA264C731}" srcOrd="1" destOrd="0" presId="urn:microsoft.com/office/officeart/2009/3/layout/IncreasingArrowsProcess"/>
    <dgm:cxn modelId="{BC92C38D-0888-B141-B70B-6724753E3523}" type="presParOf" srcId="{487F873E-CEDD-1748-ADE3-0AA211A91274}" destId="{62A469E4-8FE2-4E46-B9BA-A36D6F5123C4}" srcOrd="2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0DC61B-37F4-6248-91FB-08AECD31EF78}">
      <dsp:nvSpPr>
        <dsp:cNvPr id="0" name=""/>
        <dsp:cNvSpPr/>
      </dsp:nvSpPr>
      <dsp:spPr>
        <a:xfrm>
          <a:off x="0" y="608821"/>
          <a:ext cx="7086600" cy="1408953"/>
        </a:xfrm>
        <a:prstGeom prst="rightArrow">
          <a:avLst>
            <a:gd name="adj1" fmla="val 50000"/>
            <a:gd name="adj2" fmla="val 50000"/>
          </a:avLst>
        </a:prstGeom>
        <a:solidFill>
          <a:schemeClr val="bg1"/>
        </a:solidFill>
        <a:ln w="25400" cap="flat" cmpd="sng" algn="ctr">
          <a:solidFill>
            <a:srgbClr val="BA1C7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254000" bIns="163843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  <a:latin typeface="Franklin Gothic Medium"/>
              <a:cs typeface="Franklin Gothic Medium"/>
            </a:rPr>
            <a:t>Sales</a:t>
          </a:r>
        </a:p>
      </dsp:txBody>
      <dsp:txXfrm>
        <a:off x="0" y="961059"/>
        <a:ext cx="6734362" cy="704477"/>
      </dsp:txXfrm>
    </dsp:sp>
    <dsp:sp modelId="{640ECC18-FF71-FC4D-B4E2-345CA264C731}">
      <dsp:nvSpPr>
        <dsp:cNvPr id="0" name=""/>
        <dsp:cNvSpPr/>
      </dsp:nvSpPr>
      <dsp:spPr>
        <a:xfrm>
          <a:off x="2182672" y="908525"/>
          <a:ext cx="4903927" cy="1497598"/>
        </a:xfrm>
        <a:prstGeom prst="rightArrow">
          <a:avLst>
            <a:gd name="adj1" fmla="val 50000"/>
            <a:gd name="adj2" fmla="val 50000"/>
          </a:avLst>
        </a:prstGeom>
        <a:solidFill>
          <a:schemeClr val="bg1"/>
        </a:solidFill>
        <a:ln w="25400" cap="flat" cmpd="sng" algn="ctr">
          <a:solidFill>
            <a:srgbClr val="BA1C7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254000" bIns="163843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  <a:latin typeface="Franklin Gothic Medium"/>
              <a:cs typeface="Franklin Gothic Medium"/>
            </a:rPr>
            <a:t>Marketing</a:t>
          </a:r>
        </a:p>
      </dsp:txBody>
      <dsp:txXfrm>
        <a:off x="2182672" y="1282925"/>
        <a:ext cx="4529528" cy="748799"/>
      </dsp:txXfrm>
    </dsp:sp>
    <dsp:sp modelId="{62A469E4-8FE2-4E46-B9BA-A36D6F5123C4}">
      <dsp:nvSpPr>
        <dsp:cNvPr id="0" name=""/>
        <dsp:cNvSpPr/>
      </dsp:nvSpPr>
      <dsp:spPr>
        <a:xfrm>
          <a:off x="4365345" y="1239330"/>
          <a:ext cx="2721254" cy="1524040"/>
        </a:xfrm>
        <a:prstGeom prst="rightArrow">
          <a:avLst>
            <a:gd name="adj1" fmla="val 50000"/>
            <a:gd name="adj2" fmla="val 50000"/>
          </a:avLst>
        </a:prstGeom>
        <a:solidFill>
          <a:schemeClr val="bg1"/>
        </a:solidFill>
        <a:ln w="25400" cap="flat" cmpd="sng" algn="ctr">
          <a:solidFill>
            <a:srgbClr val="BA1C7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254000" bIns="163843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  <a:latin typeface="Franklin Gothic Medium"/>
              <a:cs typeface="Franklin Gothic Medium"/>
            </a:rPr>
            <a:t>Rev. Mgmt</a:t>
          </a:r>
        </a:p>
      </dsp:txBody>
      <dsp:txXfrm>
        <a:off x="4365345" y="1620340"/>
        <a:ext cx="2340244" cy="762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3358F-61C6-1B4F-B604-6507434D0F38}" type="datetimeFigureOut">
              <a:rPr lang="en-US" smtClean="0"/>
              <a:t>8/28/23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F7AA2-CD4B-B647-91DF-6F7A48C42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for today we are discussing sales and marketing.  And leaving out revenue management. I love the three equally... but it is sales and marketing that need to be the work horses in this environment</a:t>
            </a:r>
          </a:p>
          <a:p>
            <a:endParaRPr lang="en-US" dirty="0"/>
          </a:p>
          <a:p>
            <a:r>
              <a:rPr lang="en-US" dirty="0"/>
              <a:t>Why?   Because Revenue management manages existing demand. HIT Sales and Marketing create demand.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last year and through 2021 we are in a situation where we must create demand.  To do so... sales and marketing have to reinvent themselves in order to be successful in this pursuit of demand creation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678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 algn="ctr">
              <a:defRPr sz="27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7" name="bk object 16">
            <a:extLst>
              <a:ext uri="{FF2B5EF4-FFF2-40B4-BE49-F238E27FC236}">
                <a16:creationId xmlns:a16="http://schemas.microsoft.com/office/drawing/2014/main" id="{48414A04-2698-0A4B-8456-3ED15481069F}"/>
              </a:ext>
            </a:extLst>
          </p:cNvPr>
          <p:cNvSpPr/>
          <p:nvPr userDrawn="1"/>
        </p:nvSpPr>
        <p:spPr>
          <a:xfrm>
            <a:off x="4199404" y="4411980"/>
            <a:ext cx="745191" cy="742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001284" y="4411980"/>
            <a:ext cx="745191" cy="742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9" name="bk object 29"/>
          <p:cNvSpPr/>
          <p:nvPr/>
        </p:nvSpPr>
        <p:spPr>
          <a:xfrm>
            <a:off x="0" y="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660398"/>
                </a:moveTo>
                <a:lnTo>
                  <a:pt x="9143998" y="660398"/>
                </a:lnTo>
                <a:lnTo>
                  <a:pt x="9143998" y="0"/>
                </a:lnTo>
                <a:lnTo>
                  <a:pt x="0" y="0"/>
                </a:lnTo>
                <a:lnTo>
                  <a:pt x="0" y="66039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0" name="bk object 30"/>
          <p:cNvSpPr/>
          <p:nvPr/>
        </p:nvSpPr>
        <p:spPr>
          <a:xfrm>
            <a:off x="0" y="1"/>
            <a:ext cx="9143998" cy="495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2200" y="39901"/>
            <a:ext cx="4295749" cy="415498"/>
          </a:xfrm>
        </p:spPr>
        <p:txBody>
          <a:bodyPr lIns="0" tIns="0" rIns="0" bIns="0"/>
          <a:lstStyle>
            <a:lvl1pPr algn="ctr">
              <a:defRPr sz="27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529840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90550"/>
            <a:ext cx="9144000" cy="4552950"/>
          </a:xfrm>
          <a:custGeom>
            <a:avLst/>
            <a:gdLst/>
            <a:ahLst/>
            <a:cxnLst/>
            <a:rect l="l" t="t" r="r" b="b"/>
            <a:pathLst>
              <a:path w="9144000" h="5943600">
                <a:moveTo>
                  <a:pt x="0" y="5943598"/>
                </a:moveTo>
                <a:lnTo>
                  <a:pt x="9143998" y="5943598"/>
                </a:lnTo>
                <a:lnTo>
                  <a:pt x="9143998" y="0"/>
                </a:lnTo>
                <a:lnTo>
                  <a:pt x="0" y="0"/>
                </a:lnTo>
                <a:lnTo>
                  <a:pt x="0" y="5943598"/>
                </a:lnTo>
                <a:close/>
              </a:path>
            </a:pathLst>
          </a:custGeom>
          <a:solidFill>
            <a:srgbClr val="D4D2D2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152400" y="0"/>
            <a:ext cx="914400" cy="1047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0" y="108377"/>
            <a:ext cx="4295749" cy="415498"/>
          </a:xfrm>
        </p:spPr>
        <p:txBody>
          <a:bodyPr lIns="0" tIns="0" rIns="0" bIns="0"/>
          <a:lstStyle>
            <a:lvl1pPr algn="r">
              <a:defRPr sz="2700" b="0" i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bk object 16">
            <a:extLst>
              <a:ext uri="{FF2B5EF4-FFF2-40B4-BE49-F238E27FC236}">
                <a16:creationId xmlns:a16="http://schemas.microsoft.com/office/drawing/2014/main" id="{230A8D8E-9327-9E44-B756-B2A99F849969}"/>
              </a:ext>
            </a:extLst>
          </p:cNvPr>
          <p:cNvSpPr/>
          <p:nvPr userDrawn="1"/>
        </p:nvSpPr>
        <p:spPr>
          <a:xfrm>
            <a:off x="4199404" y="4411980"/>
            <a:ext cx="745191" cy="742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9781" y="522585"/>
            <a:ext cx="5963025" cy="47525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500">
                <a:solidFill>
                  <a:srgbClr val="1D5A79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839780" y="1034877"/>
            <a:ext cx="6375180" cy="3586039"/>
          </a:xfrm>
          <a:prstGeom prst="rect">
            <a:avLst/>
          </a:prstGeom>
        </p:spPr>
        <p:txBody>
          <a:bodyPr/>
          <a:lstStyle>
            <a:lvl1pPr marL="0" marR="0" indent="0" algn="just" defTabSz="685800" rtl="0" eaLnBrk="1" fontAlgn="auto" latinLnBrk="0" hangingPunct="1">
              <a:lnSpc>
                <a:spcPts val="1275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013" smtClean="0">
                <a:solidFill>
                  <a:schemeClr val="accent3"/>
                </a:solidFill>
                <a:effectLst/>
                <a:latin typeface="Palatino Linotype" pitchFamily="18" charset="0"/>
                <a:cs typeface="Palatino Linotype" pitchFamily="18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ts val="13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edit Master text style. </a:t>
            </a:r>
          </a:p>
        </p:txBody>
      </p:sp>
    </p:spTree>
    <p:extLst>
      <p:ext uri="{BB962C8B-B14F-4D97-AF65-F5344CB8AC3E}">
        <p14:creationId xmlns:p14="http://schemas.microsoft.com/office/powerpoint/2010/main" val="384212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85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685800"/>
            <a:ext cx="9144000" cy="44577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71451"/>
            <a:ext cx="7772400" cy="323165"/>
          </a:xfrm>
        </p:spPr>
        <p:txBody>
          <a:bodyPr/>
          <a:lstStyle>
            <a:lvl1pPr algn="r">
              <a:defRPr sz="1575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145" y="-537260"/>
            <a:ext cx="1295522" cy="1817468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82000" y="4783455"/>
            <a:ext cx="304800" cy="184666"/>
          </a:xfrm>
        </p:spPr>
        <p:txBody>
          <a:bodyPr lIns="0" tIns="0" rIns="0" bIns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0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4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BFB149-21F3-43A0-BCBA-7F533E8145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E720B6-87B7-44CC-9472-EBF5A775DC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1DD30B-73BF-4293-B13D-C2E43FA4C9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D71028-BE51-4259-AD91-E6F45F2C02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735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7443E4-0DF1-4048-9A10-1FBAE75D17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F1920C-1E34-4F20-8C3B-2D8F6CAD7E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AA293B-F7DB-4368-BD59-D54428A253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8650B2-D8E8-49E5-9B0A-DFC79D9E5D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47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143000"/>
            <a:ext cx="42672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2672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2DD31A-0772-4FA6-8A79-8FBD2CCFDC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B4265D-3B0B-4FB1-8E1E-88D02A86BE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909D8-4A44-4182-9376-945C454D7B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3476F0-CD0E-4BF9-8CB4-5BADDBEE7D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139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8806"/>
            <a:ext cx="3868737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D76FDFE-FCE7-46D8-ACCB-FBC6251B65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5096137-6494-401C-B181-E91FE77EEB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93F1272-81D0-423A-8C24-BA9E289C5B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CB637-2D88-4884-918E-B32BE65834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277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6051573-1F5E-4A4C-94F1-9445CE5779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489C987-4A68-4C01-A9D0-EA936EAB8F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26725FF-195B-4D20-9966-3F499E96B7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0EADD-DA91-49EA-8A01-F205399EB8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86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8F09817-EF0F-4279-9559-9E804FC8E3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DCBCD3F-47FF-4239-9BA4-598E24237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40FC8CC-2169-456A-BD6C-29F3C8959A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BC8FA-06C2-4868-A8FD-51CF5E2D71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76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FD154-B9B6-4B9C-A6C0-0819D83FCE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3C9C8-7717-44BF-AC4E-1409A60B71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C65DC4-4D09-4A21-9F55-F025A211EC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AAD5E2-CF0B-43E4-BE66-D56599B60C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61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C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7225C-6740-47FD-8769-03787FC901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DDA6D-84D7-4A75-B12D-CF37A2DF7A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0C25D4-0A7B-473B-B2B8-9F2DE1C981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72A58-5CA2-4231-ADDE-D38EC35607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915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D2175A-F5DF-4E47-A450-F0309AC591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BD656F-F71C-4BF8-A28C-4F3E6A2BDA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85F3B5-481E-4F2D-9488-8F88F42CF9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09464-2579-42C6-B04D-A18524E282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2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171450"/>
            <a:ext cx="2171700" cy="4400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71450"/>
            <a:ext cx="63627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ADC288-E4AC-4D3D-B44E-2E6D80C6C9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EF953B-8C5B-42C4-8561-F16175EF40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05E6AA-10A1-4028-BF8E-4BDA27A4A7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BBFF92-9145-4AF6-9C0B-B85795AA4C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129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171450"/>
            <a:ext cx="7772400" cy="8001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4267200" cy="1657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267200" cy="1657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28600" y="2914650"/>
            <a:ext cx="4267200" cy="1657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2914650"/>
            <a:ext cx="4267200" cy="1657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0399E20-CFD1-41F9-8910-C0A3C09CE5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32BDA9D-B41C-483E-9D30-4211086F10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0CCB471-4E2F-470B-9A3A-96C9FC4DC7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F10D5C-C67C-4C59-9DBC-0855013DAB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39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1450"/>
            <a:ext cx="7772400" cy="8001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143000"/>
            <a:ext cx="42672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143000"/>
            <a:ext cx="42672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90D57C-9953-4C3D-AD8B-EC070096AA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2CE8A3-0AE7-4492-A231-32B4F98E49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EE7B9B-526D-4D64-B424-BD78BA7E2F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6D3501-177B-4993-9D86-F864DE8F51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45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1028700"/>
            <a:ext cx="5029200" cy="3543300"/>
          </a:xfrm>
        </p:spPr>
        <p:txBody>
          <a:bodyPr/>
          <a:lstStyle>
            <a:lvl1pPr>
              <a:lnSpc>
                <a:spcPts val="2250"/>
              </a:lnSpc>
              <a:spcBef>
                <a:spcPts val="750"/>
              </a:spcBef>
              <a:defRPr sz="1800"/>
            </a:lvl1pPr>
            <a:lvl2pPr>
              <a:lnSpc>
                <a:spcPts val="2250"/>
              </a:lnSpc>
              <a:spcBef>
                <a:spcPts val="750"/>
              </a:spcBef>
              <a:defRPr sz="1500"/>
            </a:lvl2pPr>
            <a:lvl3pPr>
              <a:lnSpc>
                <a:spcPts val="1950"/>
              </a:lnSpc>
              <a:spcBef>
                <a:spcPts val="750"/>
              </a:spcBef>
              <a:defRPr sz="1350"/>
            </a:lvl3pPr>
            <a:lvl4pPr>
              <a:lnSpc>
                <a:spcPts val="2250"/>
              </a:lnSpc>
              <a:spcBef>
                <a:spcPts val="750"/>
              </a:spcBef>
              <a:defRPr sz="1200"/>
            </a:lvl4pPr>
            <a:lvl5pPr>
              <a:lnSpc>
                <a:spcPts val="2250"/>
              </a:lnSpc>
              <a:spcBef>
                <a:spcPts val="75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715000" y="1028700"/>
            <a:ext cx="2971800" cy="35433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0354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4126" y="24764"/>
            <a:ext cx="4295749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2100" y="1268244"/>
            <a:ext cx="828103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39780" y="2056028"/>
            <a:ext cx="637518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8458" y="2287143"/>
            <a:ext cx="1359707" cy="2856357"/>
          </a:xfrm>
          <a:prstGeom prst="rect">
            <a:avLst/>
          </a:prstGeom>
          <a:solidFill>
            <a:srgbClr val="1D5A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TextBox 12"/>
          <p:cNvSpPr txBox="1"/>
          <p:nvPr/>
        </p:nvSpPr>
        <p:spPr>
          <a:xfrm>
            <a:off x="503829" y="2400986"/>
            <a:ext cx="349198" cy="2685363"/>
          </a:xfrm>
          <a:prstGeom prst="rect">
            <a:avLst/>
          </a:prstGeom>
          <a:noFill/>
        </p:spPr>
        <p:txBody>
          <a:bodyPr vert="vert270" wrap="square" rtlCol="0" anchor="ctr">
            <a:spAutoFit/>
          </a:bodyPr>
          <a:lstStyle/>
          <a:p>
            <a:pPr algn="ctr"/>
            <a:r>
              <a:rPr lang="en-US" sz="1069" b="1">
                <a:solidFill>
                  <a:schemeClr val="bg1"/>
                </a:solidFill>
                <a:latin typeface="Palatino Linotype" pitchFamily="18" charset="0"/>
              </a:rPr>
              <a:t> </a:t>
            </a:r>
            <a:r>
              <a:rPr lang="en-US" sz="1069" b="1" cap="all">
                <a:solidFill>
                  <a:schemeClr val="bg1"/>
                </a:solidFill>
                <a:latin typeface="Palatino Linotype" pitchFamily="18" charset="0"/>
              </a:rPr>
              <a:t>JH Hospitality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44" t="5342" r="6241" b="6344"/>
          <a:stretch/>
        </p:blipFill>
        <p:spPr>
          <a:xfrm>
            <a:off x="-2" y="1264183"/>
            <a:ext cx="1351251" cy="10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2400" kern="1200" spc="-113">
          <a:solidFill>
            <a:schemeClr val="accent3"/>
          </a:solidFill>
          <a:latin typeface="Palatino Linotype" pitchFamily="18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9">
            <a:extLst>
              <a:ext uri="{FF2B5EF4-FFF2-40B4-BE49-F238E27FC236}">
                <a16:creationId xmlns:a16="http://schemas.microsoft.com/office/drawing/2014/main" id="{3D14B80D-EB6D-4470-826F-A4DD0503F8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14300"/>
            <a:ext cx="9144000" cy="914400"/>
          </a:xfrm>
          <a:prstGeom prst="rect">
            <a:avLst/>
          </a:prstGeom>
          <a:solidFill>
            <a:srgbClr val="BCBCBC"/>
          </a:solidFill>
          <a:ln>
            <a:noFill/>
          </a:ln>
          <a:effectLst>
            <a:outerShdw dist="38083" dir="5400000" algn="ctr" rotWithShape="0">
              <a:srgbClr val="808080">
                <a:alpha val="14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CA" altLang="en-US" sz="1500"/>
          </a:p>
        </p:txBody>
      </p:sp>
      <p:sp>
        <p:nvSpPr>
          <p:cNvPr id="9219" name="Rectangle 10">
            <a:extLst>
              <a:ext uri="{FF2B5EF4-FFF2-40B4-BE49-F238E27FC236}">
                <a16:creationId xmlns:a16="http://schemas.microsoft.com/office/drawing/2014/main" id="{474ED7BB-1B26-42F7-94DE-324A092414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5" y="228600"/>
            <a:ext cx="9144000" cy="685800"/>
          </a:xfrm>
          <a:prstGeom prst="rect">
            <a:avLst/>
          </a:prstGeom>
          <a:solidFill>
            <a:srgbClr val="0031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D3D3D"/>
                </a:solidFill>
                <a:latin typeface="Trebuchet MS" panose="020B0603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CA" altLang="en-US" sz="15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4129574B-90B3-4550-85B5-F629A5295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1450"/>
            <a:ext cx="77724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83EDBA48-6CA5-4CD0-B9F0-3C29216E3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143000"/>
            <a:ext cx="86868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FCAC9E-5CE3-4EA8-AA07-6FC000BA7B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A2D2249-E074-4960-B5EA-08AF860478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C24AC09-59E8-4338-998A-8572F855B5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3622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fld id="{A0FE0583-852E-42E1-B3BC-B08DB0111903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4105" name="Picture 11" descr="F-Grey">
            <a:extLst>
              <a:ext uri="{FF2B5EF4-FFF2-40B4-BE49-F238E27FC236}">
                <a16:creationId xmlns:a16="http://schemas.microsoft.com/office/drawing/2014/main" id="{37FF7122-B803-4442-923E-67ACE7AA31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3" t="12505" r="29137" b="27052"/>
          <a:stretch>
            <a:fillRect/>
          </a:stretch>
        </p:blipFill>
        <p:spPr bwMode="auto">
          <a:xfrm>
            <a:off x="6781800" y="3486150"/>
            <a:ext cx="23622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411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026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b="1" kern="1200">
          <a:solidFill>
            <a:srgbClr val="F3F3F3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3F3F3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3F3F3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3F3F3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3F3F3"/>
          </a:solidFill>
          <a:latin typeface="Trebuchet MS" panose="020B0603020202020204" pitchFamily="34" charset="0"/>
          <a:ea typeface="ＭＳ Ｐゴシック" panose="020B0600070205080204" pitchFamily="34" charset="-128"/>
        </a:defRPr>
      </a:lvl5pPr>
      <a:lvl6pPr marL="342900" algn="ctr" rtl="0" fontAlgn="base">
        <a:spcBef>
          <a:spcPct val="0"/>
        </a:spcBef>
        <a:spcAft>
          <a:spcPct val="0"/>
        </a:spcAft>
        <a:defRPr sz="2700" b="1">
          <a:solidFill>
            <a:srgbClr val="F3F3F3"/>
          </a:solidFill>
          <a:latin typeface="Trebuchet MS" panose="020B0603020202020204" pitchFamily="34" charset="0"/>
          <a:ea typeface="MS PGothic" panose="020B0600070205080204" pitchFamily="34" charset="-128"/>
        </a:defRPr>
      </a:lvl6pPr>
      <a:lvl7pPr marL="685800" algn="ctr" rtl="0" fontAlgn="base">
        <a:spcBef>
          <a:spcPct val="0"/>
        </a:spcBef>
        <a:spcAft>
          <a:spcPct val="0"/>
        </a:spcAft>
        <a:defRPr sz="2700" b="1">
          <a:solidFill>
            <a:srgbClr val="F3F3F3"/>
          </a:solidFill>
          <a:latin typeface="Trebuchet MS" panose="020B0603020202020204" pitchFamily="34" charset="0"/>
          <a:ea typeface="MS PGothic" panose="020B0600070205080204" pitchFamily="34" charset="-128"/>
        </a:defRPr>
      </a:lvl7pPr>
      <a:lvl8pPr marL="1028700" algn="ctr" rtl="0" fontAlgn="base">
        <a:spcBef>
          <a:spcPct val="0"/>
        </a:spcBef>
        <a:spcAft>
          <a:spcPct val="0"/>
        </a:spcAft>
        <a:defRPr sz="2700" b="1">
          <a:solidFill>
            <a:srgbClr val="F3F3F3"/>
          </a:solidFill>
          <a:latin typeface="Trebuchet MS" panose="020B0603020202020204" pitchFamily="34" charset="0"/>
          <a:ea typeface="MS PGothic" panose="020B0600070205080204" pitchFamily="34" charset="-128"/>
        </a:defRPr>
      </a:lvl8pPr>
      <a:lvl9pPr marL="1371600" algn="ctr" rtl="0" fontAlgn="base">
        <a:spcBef>
          <a:spcPct val="0"/>
        </a:spcBef>
        <a:spcAft>
          <a:spcPct val="0"/>
        </a:spcAft>
        <a:defRPr sz="2700" b="1">
          <a:solidFill>
            <a:srgbClr val="F3F3F3"/>
          </a:solidFill>
          <a:latin typeface="Trebuchet MS" panose="020B0603020202020204" pitchFamily="34" charset="0"/>
          <a:ea typeface="MS PGothic" panose="020B0600070205080204" pitchFamily="34" charset="-128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kern="1200">
          <a:solidFill>
            <a:srgbClr val="3D3D3D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kern="1200">
          <a:solidFill>
            <a:srgbClr val="3D3D3D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814388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kern="1200">
          <a:solidFill>
            <a:srgbClr val="3D3D3D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1071563" indent="-17145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rgbClr val="3D3D3D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1328738" indent="-171450" algn="l" rtl="0" eaLnBrk="0" fontAlgn="base" hangingPunct="0">
        <a:spcBef>
          <a:spcPct val="20000"/>
        </a:spcBef>
        <a:spcAft>
          <a:spcPct val="0"/>
        </a:spcAft>
        <a:buChar char="»"/>
        <a:defRPr kern="1200">
          <a:solidFill>
            <a:srgbClr val="3D3D3D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1180" y="36265"/>
            <a:ext cx="5248249" cy="415498"/>
          </a:xfrm>
          <a:pattFill prst="dotDmnd">
            <a:fgClr>
              <a:schemeClr val="bg1">
                <a:lumMod val="6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>
            <a:noAutofit/>
          </a:bodyPr>
          <a:lstStyle/>
          <a:p>
            <a:pPr algn="ctr"/>
            <a:r>
              <a:rPr lang="en-US" sz="2800" dirty="0"/>
              <a:t>Emerging vs. Established Demand</a:t>
            </a:r>
          </a:p>
        </p:txBody>
      </p:sp>
      <p:sp>
        <p:nvSpPr>
          <p:cNvPr id="30" name="Rectangle 9"/>
          <p:cNvSpPr>
            <a:spLocks noChangeArrowheads="1"/>
          </p:cNvSpPr>
          <p:nvPr/>
        </p:nvSpPr>
        <p:spPr bwMode="gray">
          <a:xfrm>
            <a:off x="1409700" y="1002030"/>
            <a:ext cx="6408697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53882" dir="2700000" algn="ctr" rotWithShape="0">
                    <a:srgbClr val="B2B2B2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000" tIns="81000" rIns="54000" bIns="54000" anchor="t" anchorCtr="0"/>
          <a:lstStyle/>
          <a:p>
            <a:pPr eaLnBrk="1" hangingPunct="1">
              <a:lnSpc>
                <a:spcPct val="90000"/>
              </a:lnSpc>
              <a:spcBef>
                <a:spcPct val="25000"/>
              </a:spcBef>
              <a:defRPr/>
            </a:pPr>
            <a:endParaRPr lang="en-US" sz="1350" noProof="1">
              <a:latin typeface="Avenir Medium"/>
              <a:cs typeface="Avenir Medium"/>
            </a:endParaRPr>
          </a:p>
          <a:p>
            <a:pPr marL="128588" indent="-128588">
              <a:lnSpc>
                <a:spcPct val="90000"/>
              </a:lnSpc>
              <a:spcBef>
                <a:spcPct val="25000"/>
              </a:spcBef>
              <a:buFont typeface="Arial" charset="0"/>
              <a:buChar char="•"/>
              <a:defRPr/>
            </a:pPr>
            <a:endParaRPr lang="en-US" noProof="1">
              <a:latin typeface="Avenir Medium"/>
              <a:cs typeface="Avenir Medium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1533362" y="1524964"/>
            <a:ext cx="411181" cy="281051"/>
          </a:xfrm>
          <a:prstGeom prst="rightArrow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361817495"/>
              </p:ext>
            </p:extLst>
          </p:nvPr>
        </p:nvGraphicFramePr>
        <p:xfrm>
          <a:off x="609600" y="551038"/>
          <a:ext cx="7086600" cy="3372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3677644"/>
            <a:ext cx="31742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Creates demand or identifies </a:t>
            </a:r>
            <a:r>
              <a:rPr lang="en-US" sz="2100" b="1" i="1" u="sng" dirty="0"/>
              <a:t>Emerging </a:t>
            </a:r>
            <a:r>
              <a:rPr lang="en-US" sz="2100" dirty="0"/>
              <a:t>Demand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533400" y="3562350"/>
            <a:ext cx="4244303" cy="0"/>
          </a:xfrm>
          <a:prstGeom prst="straightConnector1">
            <a:avLst/>
          </a:prstGeom>
          <a:ln w="38100">
            <a:solidFill>
              <a:srgbClr val="771F4C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>
            <a:off x="4953000" y="3562350"/>
            <a:ext cx="2461297" cy="0"/>
          </a:xfrm>
          <a:prstGeom prst="straightConnector1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77703" y="3739568"/>
            <a:ext cx="24612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Manages </a:t>
            </a:r>
            <a:r>
              <a:rPr lang="en-US" sz="2100" b="1" i="1" u="sng" dirty="0"/>
              <a:t>Established</a:t>
            </a:r>
            <a:r>
              <a:rPr lang="en-US" sz="2100" b="1" dirty="0"/>
              <a:t> </a:t>
            </a:r>
            <a:r>
              <a:rPr lang="en-US" sz="2100" dirty="0"/>
              <a:t>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4300" y="1821635"/>
            <a:ext cx="1848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latin typeface="Franklin Gothic Medium"/>
                <a:cs typeface="Franklin Gothic Medium"/>
              </a:rPr>
              <a:t>Revenue Growth</a:t>
            </a:r>
          </a:p>
        </p:txBody>
      </p:sp>
    </p:spTree>
    <p:extLst>
      <p:ext uri="{BB962C8B-B14F-4D97-AF65-F5344CB8AC3E}">
        <p14:creationId xmlns:p14="http://schemas.microsoft.com/office/powerpoint/2010/main" val="423262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C_JH_VERSION_3">
  <a:themeElements>
    <a:clrScheme name="Custom 5">
      <a:dk1>
        <a:srgbClr val="71685C"/>
      </a:dk1>
      <a:lt1>
        <a:sysClr val="window" lastClr="FFFFFF"/>
      </a:lt1>
      <a:dk2>
        <a:srgbClr val="3F739B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9FD281"/>
      </a:accent4>
      <a:accent5>
        <a:srgbClr val="EB5605"/>
      </a:accent5>
      <a:accent6>
        <a:srgbClr val="F4B17D"/>
      </a:accent6>
      <a:hlink>
        <a:srgbClr val="2F5674"/>
      </a:hlink>
      <a:folHlink>
        <a:srgbClr val="4A7C2C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4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rebuchet MS"/>
        <a:ea typeface="MS PGothic"/>
        <a:cs typeface=""/>
      </a:majorFont>
      <a:minorFont>
        <a:latin typeface="Trebuchet MS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rgbClr val="3D3D3D"/>
            </a:solidFill>
            <a:effectLst/>
            <a:latin typeface="Trebuchet MS" panose="020B0603020202020204" pitchFamily="34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rgbClr val="3D3D3D"/>
            </a:solidFill>
            <a:effectLst/>
            <a:latin typeface="Trebuchet MS" panose="020B0603020202020204" pitchFamily="34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D0FDE7-BF74-4415-90C1-6306CAD389F3}">
  <ds:schemaRefs>
    <ds:schemaRef ds:uri="http://purl.org/dc/dcmitype/"/>
    <ds:schemaRef ds:uri="http://purl.org/dc/elements/1.1/"/>
    <ds:schemaRef ds:uri="http://schemas.microsoft.com/office/2006/metadata/properties"/>
    <ds:schemaRef ds:uri="5f895480-74b7-4295-beb1-000abdb77711"/>
    <ds:schemaRef ds:uri="http://schemas.microsoft.com/office/2006/documentManagement/types"/>
    <ds:schemaRef ds:uri="http://schemas.openxmlformats.org/package/2006/metadata/core-properties"/>
    <ds:schemaRef ds:uri="f9f3b592-2a1e-4fc9-8218-81ad9cd05aa6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2E6B28B-19AA-420D-8D58-ABD7738469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895480-74b7-4295-beb1-000abdb77711"/>
    <ds:schemaRef ds:uri="f9f3b592-2a1e-4fc9-8218-81ad9cd05a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F1D168-2FDF-45BD-B843-0548C44B80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114</Words>
  <Application>Microsoft Macintosh PowerPoint</Application>
  <PresentationFormat>On-screen Show (16:9)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Avenir Medium</vt:lpstr>
      <vt:lpstr>Calibri</vt:lpstr>
      <vt:lpstr>Franklin Gothic Book</vt:lpstr>
      <vt:lpstr>Franklin Gothic Medium</vt:lpstr>
      <vt:lpstr>Palatino Linotype</vt:lpstr>
      <vt:lpstr>Trebuchet MS</vt:lpstr>
      <vt:lpstr>Office Theme</vt:lpstr>
      <vt:lpstr>MC_JH_VERSION_3</vt:lpstr>
      <vt:lpstr>24_Blank Presentation</vt:lpstr>
      <vt:lpstr>Emerging vs. Established Demand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3</cp:revision>
  <cp:lastPrinted>2020-04-27T21:38:29Z</cp:lastPrinted>
  <dcterms:created xsi:type="dcterms:W3CDTF">2020-04-27T16:06:42Z</dcterms:created>
  <dcterms:modified xsi:type="dcterms:W3CDTF">2023-08-28T23:03:50Z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