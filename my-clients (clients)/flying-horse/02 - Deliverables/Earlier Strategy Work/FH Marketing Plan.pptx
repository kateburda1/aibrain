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4135" r:id="rId5"/>
    <p:sldId id="4189" r:id="rId6"/>
    <p:sldId id="418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EDCF9C9-6838-2F01-F3FC-EFCE4582AF9F}" name="Tristan Carty" initials="TC" userId="S::tristan@thecartycollective.com::aaecc192-4e53-4f1c-81a5-906a3d1806c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52372"/>
    <a:srgbClr val="B51072"/>
    <a:srgbClr val="D51067"/>
    <a:srgbClr val="D564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479EE0-7E7D-424D-94B0-0DF423A9D3EC}" v="199" dt="2025-07-09T17:14:11.5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/>
    <p:restoredTop sz="94833"/>
  </p:normalViewPr>
  <p:slideViewPr>
    <p:cSldViewPr snapToGrid="0">
      <p:cViewPr varScale="1">
        <p:scale>
          <a:sx n="103" d="100"/>
          <a:sy n="103" d="100"/>
        </p:scale>
        <p:origin x="13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E77D29B-A84F-8DAF-4DD9-5C3978B9AB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08C45E-2DEE-9C8D-4F99-67548FB7399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B41864-CD90-3244-B677-A2D5FE685BF9}" type="datetimeFigureOut">
              <a:rPr lang="en-US" smtClean="0"/>
              <a:t>7/9/25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50AB63-638E-DD7B-CF4F-618583AB465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C72759-57D7-02D6-54C1-4600A56F841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6CF653-701A-1840-AE7C-78D8E3A50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581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86B9B4-CBC9-3A48-9A9C-455003932958}" type="datetimeFigureOut">
              <a:rPr lang="en-US" smtClean="0"/>
              <a:t>7/9/25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8F6C56-3E14-034D-AF27-6C904A40B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381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F6C56-3E14-034D-AF27-6C904A40B66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39710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F825C-F5E4-1B7D-E504-DCA4E438FD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23DAC0-5EE8-06A8-EA9F-03470AB51F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59945F-36F7-99DE-3752-71C5FFDFF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7/9/25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C03AE-7DEC-0FD1-EF26-0C4D97454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DCE4C-B2C3-B032-ECCD-C64EDDE30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527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16BC8-E775-CA73-A9DB-F2818C431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8340C-3E26-C2DE-51B9-99177BC72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F8ECB-31A2-E00F-8512-84384FF55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7/9/25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EAAF3-B3B7-05B3-ACC6-E6E744F7F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C2122-FAA1-9C76-35E7-9686C2BBA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67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25716-752C-ACBC-A090-03C691D63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0FE9C3-1D3F-DF64-479C-0C0D948D95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541982-23C2-8D5B-A7FD-57C073D99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7/9/25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950077-7C40-ADA4-47D4-2B193D321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C6976-8248-AE96-9C52-CB230AC51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958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5A103-A14D-F7E0-07FA-015F53EF9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BA737-868B-3B1A-3AB3-884EE18C0C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A051DF-E35C-E592-0252-F87D168A9C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23C2A0-24D4-E4E0-0749-9384302C5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7/9/25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C6063D-9FBC-C034-E425-1A39A3B22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49338A-837D-968D-5396-9CB50070D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397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B45D7-A65A-512B-3010-6F61F3108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90EDDB-C065-8383-902D-0E3FF7C2A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621A7D-01D2-B6C1-BE24-FDDA9B1A8D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4BA3CD-AE96-8DF8-1293-70DB272E36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D4A757-8389-B31E-8F26-E06CEAEDD7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8CC1EC-6AE0-DF42-0550-E3EDDEE13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7/9/25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6C73C6-F740-DCA2-86A2-9A6BE0637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2A308D-1C73-6310-3440-97565633B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910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0C5EF-AC39-B2FB-30CE-8360CF777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F46F6C-29BF-239E-2507-FAEB360F5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7/9/25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F10048-BAC3-508D-C518-32466EFF9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E12363-2680-F1E9-B937-023F13CC66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736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CA0C81-4B14-87A6-52CD-D45ADDE1A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7/9/25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BC8E38-11C0-9080-CB65-1A71AA59A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7EE7DC-D57E-D899-B97A-295AAD6716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050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CCCD1-902E-2973-FE0F-A431829F4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B8E58-58E4-5966-CC5B-73B82EB27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7DB433-0909-ACF3-5661-ACB8DF397B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17D3AE-D6DA-168B-8B19-619CA15E5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7/9/25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CCB074-48F2-6E75-C539-4C207B518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3800FD-4994-13E7-6AC5-E5D086745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375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0C78B-2C50-6A69-682A-ACC7C3E81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39889B-AFDB-821D-050C-B99FA2B118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A9CB8A-E14C-F7DC-549F-BC39A04C91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C17124-6E91-38DB-FF22-352D1D40A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7/9/25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3EF5AB-6238-0E11-C6BC-4228674A2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A24D13-6EC4-D52A-7AC9-3F75243D8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041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E4C57-E42E-0592-F949-1B238DE95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B91ACA-62B9-6C02-C611-F7178423CD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E0836-8D93-73D1-3F68-53235637B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7/9/25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4A98AE-92EB-2341-F0E1-29391AF32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C988C-8FAA-63C3-E577-E11FF91F4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787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BCC19B-2113-DDB2-F0CA-956A1DAF0E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2D7049-D5C6-2574-8246-E3AA62A195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AD8DD-EF49-6528-1DAB-805B88512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7/9/25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556047-AA88-E394-47CF-FA2B25D0E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955A95-AAD8-CAFF-F395-83C566A08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7073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7/9/25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0D43EF-5490-42E6-6E1F-DEF33529BF4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7121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50708" y="911763"/>
            <a:ext cx="3490585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1"/>
            <a:ext cx="853440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7/9/25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8945F7-1706-4613-BF31-568E85A47E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6553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8966200" y="2489200"/>
            <a:ext cx="3225800" cy="4368800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3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 defTabSz="914400"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75193689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8F1552B-B7F6-4E4C-B4A3-EC8BAFED2EC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5D163DC-5EF7-4A7C-9A04-A084CF18C74E}" type="datetime1">
              <a:rPr lang="en-IN" smtClean="0"/>
              <a:t>09/07/25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2B023A1-930B-4BB8-89A1-8E397D1ACAD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CD29B61-8897-49B8-94E9-83FF61E6A2A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6646B31-EC42-4AA4-A03D-41379B95B1BF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2FECAC85-80BC-403D-BEEB-05A85910D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5429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3A3F80-B0DC-5073-EAAC-569125EC1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ABFD91-C27E-B00C-8CDB-60EB6AECBE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9D7B8-A44E-0B01-9433-C497DEE559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Franklin Gothic Book" panose="020B0503020102020204" pitchFamily="34" charset="0"/>
              </a:defRPr>
            </a:lvl1pPr>
          </a:lstStyle>
          <a:p>
            <a:fld id="{2F094B0E-DFF7-024B-A1B7-263AA7331561}" type="datetimeFigureOut">
              <a:rPr lang="en-US" smtClean="0"/>
              <a:pPr/>
              <a:t>7/9/25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2E797E-D5B9-035C-BF2F-5DA9B04DBB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Franklin Gothic Book" panose="020B05030201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DE664-9CDB-B813-BF13-005E69CF66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Franklin Gothic Book" panose="020B0503020102020204" pitchFamily="34" charset="0"/>
              </a:defRPr>
            </a:lvl1pPr>
          </a:lstStyle>
          <a:p>
            <a:fld id="{2ADE4FCF-A6C5-1446-A3B3-DDF1BB57728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491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8" r:id="rId12"/>
    <p:sldLayoutId id="2147483671" r:id="rId13"/>
    <p:sldLayoutId id="2147483672" r:id="rId14"/>
    <p:sldLayoutId id="214748367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Franklin Gothic Book" panose="020B0503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hyperlink" Target="mailto:Kate@kateburda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horses running in a field&#10;&#10;AI-generated content may be incorrect.">
            <a:extLst>
              <a:ext uri="{FF2B5EF4-FFF2-40B4-BE49-F238E27FC236}">
                <a16:creationId xmlns:a16="http://schemas.microsoft.com/office/drawing/2014/main" id="{0E3D4AE9-0FF2-158D-2AF9-ADE13AEF82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769" y="-36109"/>
            <a:ext cx="12207538" cy="6894109"/>
          </a:xfrm>
          <a:prstGeom prst="rect">
            <a:avLst/>
          </a:prstGeom>
        </p:spPr>
      </p:pic>
      <p:sp>
        <p:nvSpPr>
          <p:cNvPr id="2" name="object 2"/>
          <p:cNvSpPr/>
          <p:nvPr/>
        </p:nvSpPr>
        <p:spPr>
          <a:xfrm>
            <a:off x="-15538" y="5605153"/>
            <a:ext cx="12207538" cy="1252847"/>
          </a:xfrm>
          <a:custGeom>
            <a:avLst/>
            <a:gdLst/>
            <a:ahLst/>
            <a:cxnLst/>
            <a:rect l="l" t="t" r="r" b="b"/>
            <a:pathLst>
              <a:path w="9144000" h="895985">
                <a:moveTo>
                  <a:pt x="0" y="0"/>
                </a:moveTo>
                <a:lnTo>
                  <a:pt x="9143998" y="0"/>
                </a:lnTo>
                <a:lnTo>
                  <a:pt x="9143998" y="895986"/>
                </a:lnTo>
                <a:lnTo>
                  <a:pt x="0" y="895986"/>
                </a:lnTo>
                <a:lnTo>
                  <a:pt x="0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lvl="1"/>
            <a:endParaRPr lang="en-US" sz="2400" dirty="0"/>
          </a:p>
          <a:p>
            <a:r>
              <a:rPr lang="en-US" sz="2400" dirty="0">
                <a:latin typeface="Franklin Gothic Book" panose="020B0503020102020204" pitchFamily="34" charset="0"/>
              </a:rPr>
              <a:t>  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Prepared for:   Our Team</a:t>
            </a:r>
          </a:p>
          <a:p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Franklin Gothic Book" panose="020B0503020102020204" pitchFamily="34" charset="0"/>
            </a:endParaRPr>
          </a:p>
          <a:p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Franklin Gothic Book" panose="020B0503020102020204" pitchFamily="34" charset="0"/>
            </a:endParaRPr>
          </a:p>
          <a:p>
            <a:endParaRPr sz="2400" dirty="0">
              <a:solidFill>
                <a:schemeClr val="tx1">
                  <a:lumMod val="75000"/>
                  <a:lumOff val="25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20" y="-2344"/>
            <a:ext cx="12184380" cy="449532"/>
          </a:xfrm>
          <a:custGeom>
            <a:avLst/>
            <a:gdLst/>
            <a:ahLst/>
            <a:cxnLst/>
            <a:rect l="l" t="t" r="r" b="b"/>
            <a:pathLst>
              <a:path w="9138285" h="336550">
                <a:moveTo>
                  <a:pt x="0" y="0"/>
                </a:moveTo>
                <a:lnTo>
                  <a:pt x="9138053" y="0"/>
                </a:lnTo>
                <a:lnTo>
                  <a:pt x="9138053" y="336378"/>
                </a:lnTo>
                <a:lnTo>
                  <a:pt x="0" y="336378"/>
                </a:lnTo>
                <a:lnTo>
                  <a:pt x="0" y="0"/>
                </a:lnTo>
                <a:close/>
              </a:path>
            </a:pathLst>
          </a:custGeom>
          <a:solidFill>
            <a:srgbClr val="A0155E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7" name="object 7"/>
          <p:cNvSpPr/>
          <p:nvPr/>
        </p:nvSpPr>
        <p:spPr>
          <a:xfrm>
            <a:off x="7930" y="3643579"/>
            <a:ext cx="12184380" cy="939307"/>
          </a:xfrm>
          <a:custGeom>
            <a:avLst/>
            <a:gdLst/>
            <a:ahLst/>
            <a:cxnLst/>
            <a:rect l="l" t="t" r="r" b="b"/>
            <a:pathLst>
              <a:path w="9138285" h="632460">
                <a:moveTo>
                  <a:pt x="0" y="0"/>
                </a:moveTo>
                <a:lnTo>
                  <a:pt x="9138053" y="0"/>
                </a:lnTo>
                <a:lnTo>
                  <a:pt x="9138053" y="632460"/>
                </a:lnTo>
                <a:lnTo>
                  <a:pt x="0" y="63246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199"/>
            </a:srgbClr>
          </a:solidFill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8" name="object 8"/>
          <p:cNvSpPr txBox="1"/>
          <p:nvPr/>
        </p:nvSpPr>
        <p:spPr>
          <a:xfrm>
            <a:off x="295794" y="3715104"/>
            <a:ext cx="11794605" cy="57109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lang="en-US" sz="3600" dirty="0">
                <a:solidFill>
                  <a:srgbClr val="FFFFFF"/>
                </a:solidFill>
                <a:latin typeface="Franklin Gothic Book" panose="020B0503020102020204" pitchFamily="34" charset="0"/>
                <a:cs typeface="Arial"/>
              </a:rPr>
              <a:t>Flying Horse Marketing Plan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3200" y="6387049"/>
            <a:ext cx="7645400" cy="25049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lnSpc>
                <a:spcPts val="933"/>
              </a:lnSpc>
              <a:spcBef>
                <a:spcPts val="1820"/>
              </a:spcBef>
            </a:pPr>
            <a:r>
              <a:rPr sz="1067" spc="-33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All </a:t>
            </a:r>
            <a:r>
              <a:rPr sz="1067" spc="-13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materials </a:t>
            </a:r>
            <a:r>
              <a:rPr sz="1067" spc="-27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and </a:t>
            </a:r>
            <a:r>
              <a:rPr sz="1067" spc="-20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methodologies are </a:t>
            </a:r>
            <a:r>
              <a:rPr sz="933" spc="-33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copy </a:t>
            </a:r>
            <a:r>
              <a:rPr sz="1067" spc="-7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written </a:t>
            </a:r>
            <a:r>
              <a:rPr sz="1067" spc="-27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and </a:t>
            </a:r>
            <a:r>
              <a:rPr sz="1067" spc="-13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protected Intellectual </a:t>
            </a:r>
            <a:r>
              <a:rPr sz="1067" spc="-27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Property </a:t>
            </a:r>
            <a:r>
              <a:rPr sz="1067" spc="-7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of </a:t>
            </a:r>
            <a:r>
              <a:rPr sz="1067" spc="-20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Kate </a:t>
            </a:r>
            <a:r>
              <a:rPr sz="1067" spc="-27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Burda </a:t>
            </a:r>
            <a:r>
              <a:rPr sz="1067" spc="-7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&amp; </a:t>
            </a:r>
            <a:r>
              <a:rPr sz="1067" spc="-47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Company </a:t>
            </a:r>
            <a:r>
              <a:rPr sz="1067" spc="-27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and </a:t>
            </a:r>
            <a:r>
              <a:rPr sz="1067" spc="-13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for </a:t>
            </a:r>
            <a:r>
              <a:rPr sz="1067" spc="-7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the </a:t>
            </a:r>
            <a:r>
              <a:rPr sz="1067" spc="-33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express </a:t>
            </a:r>
            <a:r>
              <a:rPr sz="1067" spc="-27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purpose </a:t>
            </a:r>
            <a:r>
              <a:rPr lang="en-US" sz="1067" spc="-13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for PTG, </a:t>
            </a:r>
            <a:r>
              <a:rPr sz="1067" spc="-33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systems,  </a:t>
            </a:r>
            <a:r>
              <a:rPr sz="1067" spc="-27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and </a:t>
            </a:r>
            <a:r>
              <a:rPr sz="1067" spc="-20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constructs are </a:t>
            </a:r>
            <a:r>
              <a:rPr sz="1067" spc="-13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not for </a:t>
            </a:r>
            <a:r>
              <a:rPr sz="1067" spc="-20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external </a:t>
            </a:r>
            <a:r>
              <a:rPr sz="1067" spc="-7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distribution </a:t>
            </a:r>
            <a:r>
              <a:rPr sz="1067" spc="-27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and </a:t>
            </a:r>
            <a:r>
              <a:rPr sz="1067" spc="-20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are</a:t>
            </a:r>
            <a:r>
              <a:rPr sz="1067" spc="-73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 </a:t>
            </a:r>
            <a:r>
              <a:rPr sz="1067" spc="-13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protected.</a:t>
            </a:r>
            <a:endParaRPr sz="1067" dirty="0">
              <a:latin typeface="Franklin Gothic Book" panose="020B0503020102020204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5470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8C47A32-183E-8DF8-C23F-2488A7B038E0}"/>
              </a:ext>
            </a:extLst>
          </p:cNvPr>
          <p:cNvSpPr/>
          <p:nvPr/>
        </p:nvSpPr>
        <p:spPr>
          <a:xfrm>
            <a:off x="210065" y="333632"/>
            <a:ext cx="11664778" cy="40777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B523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Positioning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73B51D-DB6E-5BEB-3C1B-B31536E606B3}"/>
              </a:ext>
            </a:extLst>
          </p:cNvPr>
          <p:cNvSpPr/>
          <p:nvPr/>
        </p:nvSpPr>
        <p:spPr>
          <a:xfrm>
            <a:off x="210065" y="844377"/>
            <a:ext cx="11664778" cy="40777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B523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Comp Set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8C4D28-6B81-3787-98E7-2CE7DD8C089D}"/>
              </a:ext>
            </a:extLst>
          </p:cNvPr>
          <p:cNvSpPr/>
          <p:nvPr/>
        </p:nvSpPr>
        <p:spPr>
          <a:xfrm>
            <a:off x="210065" y="1355122"/>
            <a:ext cx="11664778" cy="40777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B523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Headwinds / Tailwinds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563300-FB63-D0BC-4C06-1E4024B53493}"/>
              </a:ext>
            </a:extLst>
          </p:cNvPr>
          <p:cNvSpPr/>
          <p:nvPr/>
        </p:nvSpPr>
        <p:spPr>
          <a:xfrm>
            <a:off x="210065" y="1946183"/>
            <a:ext cx="11664778" cy="40777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B523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Ideal Customer Profile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0FAE97-DB79-0F27-F38F-B1CB7717E7C4}"/>
              </a:ext>
            </a:extLst>
          </p:cNvPr>
          <p:cNvSpPr/>
          <p:nvPr/>
        </p:nvSpPr>
        <p:spPr>
          <a:xfrm>
            <a:off x="210065" y="2537244"/>
            <a:ext cx="1668163" cy="3707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Franklin Gothic Book" panose="020B0503020102020204" pitchFamily="34" charset="0"/>
              </a:rPr>
              <a:t>Group Corporate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CC5D7A-2BF5-7B7B-795E-ADE12CEDFC46}"/>
              </a:ext>
            </a:extLst>
          </p:cNvPr>
          <p:cNvSpPr/>
          <p:nvPr/>
        </p:nvSpPr>
        <p:spPr>
          <a:xfrm>
            <a:off x="2209388" y="2537244"/>
            <a:ext cx="1668163" cy="3707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Franklin Gothic Book" panose="020B0503020102020204" pitchFamily="34" charset="0"/>
              </a:rPr>
              <a:t>Group- SMERFE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6A8873-69B6-E736-3373-2BC1FA770605}"/>
              </a:ext>
            </a:extLst>
          </p:cNvPr>
          <p:cNvSpPr/>
          <p:nvPr/>
        </p:nvSpPr>
        <p:spPr>
          <a:xfrm>
            <a:off x="4208711" y="2537244"/>
            <a:ext cx="1668163" cy="3707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Transient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2BA778-B0F7-AF94-67BF-A14CADE83BA0}"/>
              </a:ext>
            </a:extLst>
          </p:cNvPr>
          <p:cNvSpPr/>
          <p:nvPr/>
        </p:nvSpPr>
        <p:spPr>
          <a:xfrm>
            <a:off x="6208034" y="2537244"/>
            <a:ext cx="1668163" cy="3707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Catering Wedding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02BE53-FF20-B718-A9B9-B2DB6515E264}"/>
              </a:ext>
            </a:extLst>
          </p:cNvPr>
          <p:cNvSpPr/>
          <p:nvPr/>
        </p:nvSpPr>
        <p:spPr>
          <a:xfrm>
            <a:off x="10206680" y="2537244"/>
            <a:ext cx="1668163" cy="37070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Catering Corp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21898-B11D-6252-A452-849839150842}"/>
              </a:ext>
            </a:extLst>
          </p:cNvPr>
          <p:cNvSpPr/>
          <p:nvPr/>
        </p:nvSpPr>
        <p:spPr>
          <a:xfrm>
            <a:off x="8207357" y="2537244"/>
            <a:ext cx="1668163" cy="37070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Catering Social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5983B2-E33B-6BDC-63A7-8D3CA2659E03}"/>
              </a:ext>
            </a:extLst>
          </p:cNvPr>
          <p:cNvSpPr/>
          <p:nvPr/>
        </p:nvSpPr>
        <p:spPr>
          <a:xfrm>
            <a:off x="247136" y="3091234"/>
            <a:ext cx="1668163" cy="3707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Customer Buying Journey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55CF36C-2743-669F-E101-BD76844AF6FE}"/>
              </a:ext>
            </a:extLst>
          </p:cNvPr>
          <p:cNvSpPr/>
          <p:nvPr/>
        </p:nvSpPr>
        <p:spPr>
          <a:xfrm>
            <a:off x="2246459" y="3091234"/>
            <a:ext cx="1668163" cy="3707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Franklin Gothic Book" panose="020B0503020102020204" pitchFamily="34" charset="0"/>
              </a:rPr>
              <a:t>Customer Buying Journey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39BDC5-148A-94E9-44C3-C922FFE50CA1}"/>
              </a:ext>
            </a:extLst>
          </p:cNvPr>
          <p:cNvSpPr/>
          <p:nvPr/>
        </p:nvSpPr>
        <p:spPr>
          <a:xfrm>
            <a:off x="4245782" y="3091234"/>
            <a:ext cx="1668163" cy="3707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Customer Buying Journey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03DACD4-940F-E220-4E3A-1FB56715863F}"/>
              </a:ext>
            </a:extLst>
          </p:cNvPr>
          <p:cNvSpPr/>
          <p:nvPr/>
        </p:nvSpPr>
        <p:spPr>
          <a:xfrm>
            <a:off x="6245105" y="3091234"/>
            <a:ext cx="1668163" cy="3707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Customer Buying Journey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82D238F-9937-2AF8-653B-386A082DF8DA}"/>
              </a:ext>
            </a:extLst>
          </p:cNvPr>
          <p:cNvSpPr/>
          <p:nvPr/>
        </p:nvSpPr>
        <p:spPr>
          <a:xfrm>
            <a:off x="10243751" y="3091234"/>
            <a:ext cx="1668163" cy="37070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Customer Buying Journey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2AD786E-7821-DB66-6DCC-9733FC397A6F}"/>
              </a:ext>
            </a:extLst>
          </p:cNvPr>
          <p:cNvSpPr/>
          <p:nvPr/>
        </p:nvSpPr>
        <p:spPr>
          <a:xfrm>
            <a:off x="8244428" y="3091234"/>
            <a:ext cx="1668163" cy="37070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Customer Buying Journey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A79FD72-8B6A-82A9-350E-A4DA8D91BF3E}"/>
              </a:ext>
            </a:extLst>
          </p:cNvPr>
          <p:cNvSpPr/>
          <p:nvPr/>
        </p:nvSpPr>
        <p:spPr>
          <a:xfrm>
            <a:off x="259494" y="3682295"/>
            <a:ext cx="1668163" cy="3707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Personas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A7DA46D-A7AB-A35F-2FA2-1870DCB07997}"/>
              </a:ext>
            </a:extLst>
          </p:cNvPr>
          <p:cNvSpPr/>
          <p:nvPr/>
        </p:nvSpPr>
        <p:spPr>
          <a:xfrm>
            <a:off x="2258817" y="3682295"/>
            <a:ext cx="1668163" cy="3707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Franklin Gothic Book" panose="020B0503020102020204" pitchFamily="34" charset="0"/>
              </a:rPr>
              <a:t>Personas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1D4CE1A-7136-A911-4072-B116CF2D890D}"/>
              </a:ext>
            </a:extLst>
          </p:cNvPr>
          <p:cNvSpPr/>
          <p:nvPr/>
        </p:nvSpPr>
        <p:spPr>
          <a:xfrm>
            <a:off x="4258140" y="3682295"/>
            <a:ext cx="1668163" cy="3707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Personas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DA0B355-494A-27FA-2CEE-E7D3378EE14C}"/>
              </a:ext>
            </a:extLst>
          </p:cNvPr>
          <p:cNvSpPr/>
          <p:nvPr/>
        </p:nvSpPr>
        <p:spPr>
          <a:xfrm>
            <a:off x="6257463" y="3682295"/>
            <a:ext cx="1668163" cy="3707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Personas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FAE2709-EF80-214D-CA5A-A9CF46C02A28}"/>
              </a:ext>
            </a:extLst>
          </p:cNvPr>
          <p:cNvSpPr/>
          <p:nvPr/>
        </p:nvSpPr>
        <p:spPr>
          <a:xfrm>
            <a:off x="10256109" y="3682295"/>
            <a:ext cx="1668163" cy="37070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Personas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569B998-A578-6A9D-ACAD-1D64E263AF53}"/>
              </a:ext>
            </a:extLst>
          </p:cNvPr>
          <p:cNvSpPr/>
          <p:nvPr/>
        </p:nvSpPr>
        <p:spPr>
          <a:xfrm>
            <a:off x="8256786" y="3682295"/>
            <a:ext cx="1668163" cy="37070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Personas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FC8BF86-2443-0379-9CA4-5E7AF63148DE}"/>
              </a:ext>
            </a:extLst>
          </p:cNvPr>
          <p:cNvSpPr/>
          <p:nvPr/>
        </p:nvSpPr>
        <p:spPr>
          <a:xfrm>
            <a:off x="259494" y="4273356"/>
            <a:ext cx="1668163" cy="3707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Value Prop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4BDCB7F-1A27-262E-96AC-3DD38C88B1CA}"/>
              </a:ext>
            </a:extLst>
          </p:cNvPr>
          <p:cNvSpPr/>
          <p:nvPr/>
        </p:nvSpPr>
        <p:spPr>
          <a:xfrm>
            <a:off x="2258817" y="4273356"/>
            <a:ext cx="1668163" cy="3707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Franklin Gothic Book" panose="020B0503020102020204" pitchFamily="34" charset="0"/>
              </a:rPr>
              <a:t>Value Prop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A353891-8217-C178-B584-E5979128BE0D}"/>
              </a:ext>
            </a:extLst>
          </p:cNvPr>
          <p:cNvSpPr/>
          <p:nvPr/>
        </p:nvSpPr>
        <p:spPr>
          <a:xfrm>
            <a:off x="4258140" y="4273356"/>
            <a:ext cx="1668163" cy="3707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Value Prop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D15C1EF-5A5F-9000-3F17-3FC45AB7B009}"/>
              </a:ext>
            </a:extLst>
          </p:cNvPr>
          <p:cNvSpPr/>
          <p:nvPr/>
        </p:nvSpPr>
        <p:spPr>
          <a:xfrm>
            <a:off x="6257463" y="4273356"/>
            <a:ext cx="1668163" cy="3707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Value Prop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0C2ED5-CBC9-89C5-5EA9-6ED4C8C3B9C6}"/>
              </a:ext>
            </a:extLst>
          </p:cNvPr>
          <p:cNvSpPr/>
          <p:nvPr/>
        </p:nvSpPr>
        <p:spPr>
          <a:xfrm>
            <a:off x="10256109" y="4273356"/>
            <a:ext cx="1668163" cy="37070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Value Prop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BB9809E-2DCD-3821-D11A-50AB27B8B7E9}"/>
              </a:ext>
            </a:extLst>
          </p:cNvPr>
          <p:cNvSpPr/>
          <p:nvPr/>
        </p:nvSpPr>
        <p:spPr>
          <a:xfrm>
            <a:off x="8256786" y="4273356"/>
            <a:ext cx="1668163" cy="37070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Value Prop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F946F9D-9A31-FAF8-C5E9-54CC4F566B1F}"/>
              </a:ext>
            </a:extLst>
          </p:cNvPr>
          <p:cNvSpPr/>
          <p:nvPr/>
        </p:nvSpPr>
        <p:spPr>
          <a:xfrm>
            <a:off x="263611" y="4850002"/>
            <a:ext cx="11664778" cy="40777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B523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Brand Voice</a:t>
            </a:r>
          </a:p>
        </p:txBody>
      </p:sp>
      <p:sp>
        <p:nvSpPr>
          <p:cNvPr id="33" name="Triangle 32">
            <a:extLst>
              <a:ext uri="{FF2B5EF4-FFF2-40B4-BE49-F238E27FC236}">
                <a16:creationId xmlns:a16="http://schemas.microsoft.com/office/drawing/2014/main" id="{94D62CED-2A60-9215-A02C-0C2A8D9D9DC6}"/>
              </a:ext>
            </a:extLst>
          </p:cNvPr>
          <p:cNvSpPr/>
          <p:nvPr/>
        </p:nvSpPr>
        <p:spPr>
          <a:xfrm rot="10800000">
            <a:off x="210065" y="5403992"/>
            <a:ext cx="11685370" cy="864973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BA24BDD-2151-EFF4-A024-D58FDB5EB3F5}"/>
              </a:ext>
            </a:extLst>
          </p:cNvPr>
          <p:cNvSpPr txBox="1"/>
          <p:nvPr/>
        </p:nvSpPr>
        <p:spPr>
          <a:xfrm>
            <a:off x="4644904" y="5588650"/>
            <a:ext cx="31262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Franklin Gothic Book" panose="020B0503020102020204" pitchFamily="34" charset="0"/>
              </a:rPr>
              <a:t>Outreach</a:t>
            </a:r>
          </a:p>
        </p:txBody>
      </p:sp>
    </p:spTree>
    <p:extLst>
      <p:ext uri="{BB962C8B-B14F-4D97-AF65-F5344CB8AC3E}">
        <p14:creationId xmlns:p14="http://schemas.microsoft.com/office/powerpoint/2010/main" val="2706093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8876" y="316991"/>
            <a:ext cx="692099" cy="280415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" name="object 3"/>
          <p:cNvSpPr/>
          <p:nvPr/>
        </p:nvSpPr>
        <p:spPr>
          <a:xfrm>
            <a:off x="8128" y="990600"/>
            <a:ext cx="12192000" cy="5943600"/>
          </a:xfrm>
          <a:prstGeom prst="rect">
            <a:avLst/>
          </a:pr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625600" y="110094"/>
            <a:ext cx="10464800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7619810">
              <a:lnSpc>
                <a:spcPct val="100000"/>
              </a:lnSpc>
              <a:spcBef>
                <a:spcPts val="133"/>
              </a:spcBef>
            </a:pPr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Thank you</a:t>
            </a:r>
            <a:endParaRPr b="1">
              <a:solidFill>
                <a:schemeClr val="tx1">
                  <a:lumMod val="65000"/>
                  <a:lumOff val="35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B13CE9-19D8-E445-88A5-5693927D9EB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9859775" y="6673334"/>
            <a:ext cx="2103120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Franklin Gothic Book" panose="020B05030201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53B743-CF7F-7189-412B-FD64DC46208D}"/>
              </a:ext>
            </a:extLst>
          </p:cNvPr>
          <p:cNvSpPr/>
          <p:nvPr/>
        </p:nvSpPr>
        <p:spPr>
          <a:xfrm>
            <a:off x="4280192" y="1353412"/>
            <a:ext cx="3631615" cy="4513988"/>
          </a:xfrm>
          <a:prstGeom prst="rect">
            <a:avLst/>
          </a:prstGeom>
          <a:solidFill>
            <a:srgbClr val="FFFFFF">
              <a:alpha val="7058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BEABB6-E33D-10C4-4857-D44079BAB1B2}"/>
              </a:ext>
            </a:extLst>
          </p:cNvPr>
          <p:cNvSpPr txBox="1"/>
          <p:nvPr/>
        </p:nvSpPr>
        <p:spPr>
          <a:xfrm>
            <a:off x="4280191" y="2136338"/>
            <a:ext cx="363161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500" dirty="0">
                <a:solidFill>
                  <a:srgbClr val="D510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KATE BURDA</a:t>
            </a:r>
          </a:p>
          <a:p>
            <a:pPr algn="ctr">
              <a:spcAft>
                <a:spcPts val="600"/>
              </a:spcAft>
            </a:pPr>
            <a:r>
              <a:rPr lang="en-US" sz="2000" dirty="0">
                <a:solidFill>
                  <a:srgbClr val="D510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kate@kateburda.com</a:t>
            </a:r>
          </a:p>
          <a:p>
            <a:pPr algn="ctr">
              <a:spcAft>
                <a:spcPts val="600"/>
              </a:spcAft>
            </a:pPr>
            <a:r>
              <a:rPr lang="en-US" sz="2000" dirty="0">
                <a:solidFill>
                  <a:srgbClr val="D510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972-567-7792</a:t>
            </a:r>
          </a:p>
          <a:p>
            <a:pPr algn="ctr">
              <a:spcAft>
                <a:spcPts val="600"/>
              </a:spcAft>
            </a:pPr>
            <a:endParaRPr lang="en-US" sz="2400" dirty="0">
              <a:solidFill>
                <a:srgbClr val="D51067"/>
              </a:solidFill>
              <a:latin typeface="Arial" panose="020B0604020202020204" pitchFamily="34" charset="0"/>
              <a:cs typeface="Arial" panose="020B0604020202020204" pitchFamily="34" charset="0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ctr">
              <a:spcAft>
                <a:spcPts val="600"/>
              </a:spcAft>
            </a:pPr>
            <a:endParaRPr lang="en-US" sz="2400" dirty="0">
              <a:solidFill>
                <a:srgbClr val="D51067"/>
              </a:solidFill>
              <a:latin typeface="Arial" panose="020B0604020202020204" pitchFamily="34" charset="0"/>
              <a:cs typeface="Arial" panose="020B0604020202020204" pitchFamily="34" charset="0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ctr">
              <a:spcAft>
                <a:spcPts val="600"/>
              </a:spcAft>
            </a:pPr>
            <a:r>
              <a:rPr lang="en-US" sz="2400" spc="300" dirty="0">
                <a:solidFill>
                  <a:srgbClr val="D510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kateburda.com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50980CCDCA474BBA53C0A951F1A841" ma:contentTypeVersion="16" ma:contentTypeDescription="Create a new document." ma:contentTypeScope="" ma:versionID="dc40de2dda6ec0bedf0d42fce57c906b">
  <xsd:schema xmlns:xsd="http://www.w3.org/2001/XMLSchema" xmlns:xs="http://www.w3.org/2001/XMLSchema" xmlns:p="http://schemas.microsoft.com/office/2006/metadata/properties" xmlns:ns2="c71a9731-672f-4449-b3b2-914e5de0f80c" xmlns:ns3="2587ec5f-2b5f-42cc-868a-c05f4ba18fb4" targetNamespace="http://schemas.microsoft.com/office/2006/metadata/properties" ma:root="true" ma:fieldsID="6533da04a3eab8972e13b1649a227fe9" ns2:_="" ns3:_="">
    <xsd:import namespace="c71a9731-672f-4449-b3b2-914e5de0f80c"/>
    <xsd:import namespace="2587ec5f-2b5f-42cc-868a-c05f4ba18fb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LengthInSecond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Location" minOccurs="0"/>
                <xsd:element ref="ns2:MediaServiceOCR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1a9731-672f-4449-b3b2-914e5de0f80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6c1a3be1-ca2c-4a81-85c0-f6ae1659780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87ec5f-2b5f-42cc-868a-c05f4ba18fb4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266b662a-a866-41db-8c08-3777baa07030}" ma:internalName="TaxCatchAll" ma:showField="CatchAllData" ma:web="2587ec5f-2b5f-42cc-868a-c05f4ba18fb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587ec5f-2b5f-42cc-868a-c05f4ba18fb4" xsi:nil="true"/>
    <lcf76f155ced4ddcb4097134ff3c332f xmlns="c71a9731-672f-4449-b3b2-914e5de0f80c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F08C068-B014-4ADC-BC15-8E699D35F16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1a9731-672f-4449-b3b2-914e5de0f80c"/>
    <ds:schemaRef ds:uri="2587ec5f-2b5f-42cc-868a-c05f4ba18fb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E0FAEA2-6084-4129-BDC6-4E43C4811D79}">
  <ds:schemaRefs>
    <ds:schemaRef ds:uri="http://www.w3.org/XML/1998/namespace"/>
    <ds:schemaRef ds:uri="c71a9731-672f-4449-b3b2-914e5de0f80c"/>
    <ds:schemaRef ds:uri="2587ec5f-2b5f-42cc-868a-c05f4ba18fb4"/>
    <ds:schemaRef ds:uri="http://purl.org/dc/elements/1.1/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E4E7FD7A-5011-4260-8E03-18553EDCD99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16721</TotalTime>
  <Words>121</Words>
  <Application>Microsoft Macintosh PowerPoint</Application>
  <PresentationFormat>Widescreen</PresentationFormat>
  <Paragraphs>44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Franklin Gothic Book</vt:lpstr>
      <vt:lpstr>Office Theme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Kate Burda</dc:creator>
  <cp:lastModifiedBy>Kate Burda</cp:lastModifiedBy>
  <cp:revision>14</cp:revision>
  <cp:lastPrinted>2025-02-05T17:05:26Z</cp:lastPrinted>
  <dcterms:created xsi:type="dcterms:W3CDTF">2023-07-29T16:22:48Z</dcterms:created>
  <dcterms:modified xsi:type="dcterms:W3CDTF">2025-07-09T17:14:40Z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0x0101006C50980CCDCA474BBA53C0A951F1A841</vt:lpwstr>
  </property>
  <property fmtid="{D5CDD505-2E9C-101B-9397-08002B2CF9AE}" pid="3" name="MediaServiceImageTags">
    <vt:lpwstr/>
  </property>
</Properties>
</file>